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4999171" r:id="rId2"/>
    <p:sldId id="14999179" r:id="rId3"/>
    <p:sldId id="14999180" r:id="rId4"/>
    <p:sldId id="14999159" r:id="rId5"/>
  </p:sldIdLst>
  <p:sldSz cx="9144000" cy="5143500" type="screen16x9"/>
  <p:notesSz cx="6807200" cy="9939338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701" userDrawn="1">
          <p15:clr>
            <a:srgbClr val="A4A3A4"/>
          </p15:clr>
        </p15:guide>
        <p15:guide id="2" orient="horz" pos="2346" userDrawn="1">
          <p15:clr>
            <a:srgbClr val="A4A3A4"/>
          </p15:clr>
        </p15:guide>
        <p15:guide id="3" orient="horz" pos="1688" userDrawn="1">
          <p15:clr>
            <a:srgbClr val="A4A3A4"/>
          </p15:clr>
        </p15:guide>
        <p15:guide id="4" pos="5670" userDrawn="1">
          <p15:clr>
            <a:srgbClr val="A4A3A4"/>
          </p15:clr>
        </p15:guide>
        <p15:guide id="5" orient="horz" pos="14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 yohann" initials="wy" lastIdx="1" clrIdx="0"/>
  <p:cmAuthor id="2" name="Luke Lu" initials="L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66"/>
    <a:srgbClr val="F4C7CB"/>
    <a:srgbClr val="000000"/>
    <a:srgbClr val="FFD1D1"/>
    <a:srgbClr val="FCF2F2"/>
    <a:srgbClr val="FFDADA"/>
    <a:srgbClr val="FFFFFF"/>
    <a:srgbClr val="E7E6E6"/>
    <a:srgbClr val="FFF9DD"/>
    <a:srgbClr val="DD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1" autoAdjust="0"/>
    <p:restoredTop sz="94416" autoAdjust="0"/>
  </p:normalViewPr>
  <p:slideViewPr>
    <p:cSldViewPr snapToGrid="0" showGuides="1">
      <p:cViewPr>
        <p:scale>
          <a:sx n="75" d="100"/>
          <a:sy n="75" d="100"/>
        </p:scale>
        <p:origin x="36" y="-1424"/>
      </p:cViewPr>
      <p:guideLst>
        <p:guide pos="1701"/>
        <p:guide orient="horz" pos="2346"/>
        <p:guide orient="horz" pos="1688"/>
        <p:guide pos="5670"/>
        <p:guide orient="horz" pos="1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3448" y="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C94BE-2FCD-E14D-BE46-75045743C492}" type="datetime1">
              <a:rPr kumimoji="1" lang="zh-CN" altLang="en-US" smtClean="0"/>
              <a:t>2026/5/12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5C933-74A5-4A4D-B3F1-D428FDB7A8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DBD08E20-E2E4-BC43-9479-D71B4713CF91}" type="datetime1">
              <a:rPr kumimoji="1" lang="zh-CN" altLang="en-US" smtClean="0"/>
              <a:t>2026/5/10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10192-B253-41D5-A493-1466DCB1FD7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1" name="备注占位符 10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阶段一：洞察发现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阶段二：榜单生产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阶段三：内容理解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阶段四：投放上线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阶段五：效果复盘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2026/5/10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454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阶段一：洞察发现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阶段二：榜单生产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阶段三：内容理解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阶段四：投放上线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阶段五：效果复盘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591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effectLst/>
                <a:latin typeface="+mn-ea"/>
              </a:rPr>
              <a:t>点击率：其他</a:t>
            </a:r>
            <a:r>
              <a:rPr lang="en-US" altLang="zh-CN" sz="1200" dirty="0" err="1">
                <a:effectLst/>
                <a:latin typeface="+mn-ea"/>
              </a:rPr>
              <a:t>sug</a:t>
            </a:r>
            <a:r>
              <a:rPr lang="zh-CN" altLang="en-US" sz="1200" dirty="0">
                <a:effectLst/>
                <a:latin typeface="+mn-ea"/>
              </a:rPr>
              <a:t>中，若卡控日均曝光</a:t>
            </a:r>
            <a:r>
              <a:rPr lang="en-US" altLang="zh-CN" sz="1200" dirty="0">
                <a:effectLst/>
                <a:latin typeface="+mn-ea"/>
              </a:rPr>
              <a:t>UV</a:t>
            </a:r>
            <a:r>
              <a:rPr lang="zh-CN" altLang="en-US" sz="1200" dirty="0">
                <a:effectLst/>
                <a:latin typeface="+mn-ea"/>
              </a:rPr>
              <a:t>量级高于</a:t>
            </a:r>
            <a:r>
              <a:rPr lang="en-US" altLang="zh-CN" sz="1200" dirty="0">
                <a:effectLst/>
                <a:latin typeface="+mn-ea"/>
              </a:rPr>
              <a:t>1w</a:t>
            </a:r>
            <a:r>
              <a:rPr lang="zh-CN" altLang="en-US" sz="1200" dirty="0">
                <a:effectLst/>
                <a:latin typeface="+mn-ea"/>
              </a:rPr>
              <a:t>，则高于其他投放</a:t>
            </a:r>
            <a:r>
              <a:rPr lang="en-US" altLang="zh-CN" sz="1200" dirty="0">
                <a:effectLst/>
                <a:latin typeface="+mn-ea"/>
              </a:rPr>
              <a:t>3.32pp</a:t>
            </a:r>
            <a:r>
              <a:rPr lang="zh-CN" altLang="en-US" sz="1200" dirty="0">
                <a:effectLst/>
                <a:latin typeface="+mn-ea"/>
              </a:rPr>
              <a:t>（可比的情况下，更好）</a:t>
            </a:r>
            <a:endParaRPr lang="en-US" altLang="zh-CN" sz="1200" dirty="0">
              <a:effectLst/>
              <a:latin typeface="+mn-ea"/>
            </a:endParaRPr>
          </a:p>
          <a:p>
            <a:endParaRPr lang="en-US" altLang="zh-CN" sz="1200" dirty="0">
              <a:effectLst/>
              <a:latin typeface="+mn-ea"/>
            </a:endParaRPr>
          </a:p>
          <a:p>
            <a:endParaRPr lang="en-US" altLang="zh-CN" sz="1200" dirty="0">
              <a:effectLst/>
              <a:latin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effectLst/>
                <a:latin typeface="+mn-ea"/>
              </a:rPr>
              <a:t>榜单落地页</a:t>
            </a:r>
            <a:r>
              <a:rPr lang="en-US" altLang="zh-CN" sz="1200" b="1" dirty="0">
                <a:effectLst/>
                <a:latin typeface="+mn-ea"/>
              </a:rPr>
              <a:t>UV</a:t>
            </a:r>
            <a:r>
              <a:rPr lang="zh-CN" altLang="en-US" sz="1200" b="1" dirty="0">
                <a:effectLst/>
                <a:latin typeface="+mn-ea"/>
              </a:rPr>
              <a:t>：</a:t>
            </a:r>
            <a:r>
              <a:rPr lang="en-US" altLang="zh-CN" b="1" dirty="0"/>
              <a:t>603,860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意向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UV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：绝对值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248,270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支付：</a:t>
            </a:r>
            <a:r>
              <a:rPr lang="en-US" altLang="zh-CN" dirty="0"/>
              <a:t>17,146</a:t>
            </a:r>
            <a:r>
              <a:rPr lang="zh-CN" altLang="en-US" dirty="0"/>
              <a:t>，支付订单量：</a:t>
            </a:r>
            <a:r>
              <a:rPr lang="en-US" altLang="zh-CN" dirty="0"/>
              <a:t>19,733</a:t>
            </a:r>
            <a:r>
              <a:rPr lang="zh-CN" altLang="en-US" dirty="0"/>
              <a:t>，支付</a:t>
            </a:r>
            <a:r>
              <a:rPr lang="en-US" altLang="zh-CN" dirty="0"/>
              <a:t>GTV</a:t>
            </a:r>
            <a:r>
              <a:rPr lang="zh-CN" altLang="en-US" dirty="0"/>
              <a:t>：绝对值</a:t>
            </a:r>
            <a:r>
              <a:rPr lang="en-US" altLang="zh-CN" dirty="0"/>
              <a:t>2,205,38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r>
              <a:rPr lang="zh-CN" altLang="en-US" sz="1200" dirty="0"/>
              <a:t>其他投放</a:t>
            </a:r>
            <a:r>
              <a:rPr lang="en-US" altLang="zh-CN" sz="1200" dirty="0" err="1"/>
              <a:t>sug</a:t>
            </a:r>
            <a:r>
              <a:rPr lang="zh-CN" altLang="en-US" sz="1200" dirty="0"/>
              <a:t>如：</a:t>
            </a:r>
            <a:endParaRPr lang="en-US" altLang="zh-CN" sz="1200" dirty="0"/>
          </a:p>
          <a:p>
            <a:r>
              <a:rPr lang="zh-CN" altLang="en-US" sz="1200" dirty="0"/>
              <a:t>夜宵不打烊</a:t>
            </a:r>
            <a:endParaRPr lang="en-US" altLang="zh-CN" sz="1200" dirty="0"/>
          </a:p>
          <a:p>
            <a:r>
              <a:rPr lang="zh-CN" altLang="en-US" sz="1200" dirty="0"/>
              <a:t>快餐情报局</a:t>
            </a:r>
          </a:p>
          <a:p>
            <a:r>
              <a:rPr lang="zh-CN" altLang="en-US" sz="1200" dirty="0"/>
              <a:t>深夜美食市集</a:t>
            </a:r>
            <a:endParaRPr lang="en-US" altLang="zh-CN" sz="1200" dirty="0"/>
          </a:p>
          <a:p>
            <a:r>
              <a:rPr lang="zh-CN" altLang="en-US" sz="1200" dirty="0"/>
              <a:t>喝羊汤 抢</a:t>
            </a:r>
            <a:r>
              <a:rPr lang="en-US" altLang="zh-CN" sz="1200" dirty="0"/>
              <a:t>18-18</a:t>
            </a:r>
            <a:r>
              <a:rPr lang="zh-CN" altLang="en-US" sz="1200" dirty="0"/>
              <a:t>神券</a:t>
            </a:r>
          </a:p>
          <a:p>
            <a:r>
              <a:rPr lang="zh-CN" altLang="en-US" sz="1200" dirty="0"/>
              <a:t>自助餐</a:t>
            </a:r>
            <a:r>
              <a:rPr lang="en-US" altLang="zh-CN" sz="1200" dirty="0"/>
              <a:t>20</a:t>
            </a:r>
            <a:r>
              <a:rPr lang="zh-CN" altLang="en-US" sz="1200" dirty="0"/>
              <a:t>元券</a:t>
            </a:r>
          </a:p>
          <a:p>
            <a:r>
              <a:rPr lang="zh-CN" altLang="en-US" sz="1200" dirty="0"/>
              <a:t>奶茶</a:t>
            </a:r>
            <a:r>
              <a:rPr lang="en-US" altLang="zh-CN" sz="1200" dirty="0"/>
              <a:t>20</a:t>
            </a:r>
            <a:r>
              <a:rPr lang="zh-CN" altLang="en-US" sz="1200" dirty="0"/>
              <a:t>元券</a:t>
            </a:r>
          </a:p>
          <a:p>
            <a:r>
              <a:rPr lang="zh-CN" altLang="en-US" sz="1200" dirty="0"/>
              <a:t>烧烤</a:t>
            </a:r>
            <a:r>
              <a:rPr lang="en-US" altLang="zh-CN" sz="1200" dirty="0"/>
              <a:t>20</a:t>
            </a:r>
            <a:r>
              <a:rPr lang="zh-CN" altLang="en-US" sz="1200" dirty="0"/>
              <a:t>元券</a:t>
            </a:r>
          </a:p>
          <a:p>
            <a:r>
              <a:rPr lang="zh-CN" altLang="en-US" sz="1200" dirty="0"/>
              <a:t>烤肉</a:t>
            </a:r>
            <a:r>
              <a:rPr lang="en-US" altLang="zh-CN" sz="1200" dirty="0"/>
              <a:t>20</a:t>
            </a:r>
            <a:r>
              <a:rPr lang="zh-CN" altLang="en-US" sz="1200" dirty="0"/>
              <a:t>元券</a:t>
            </a:r>
          </a:p>
          <a:p>
            <a:endParaRPr lang="zh-CN" alt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2026/5/10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987426"/>
            <a:ext cx="8639999" cy="3595025"/>
          </a:xfrm>
          <a:prstGeom prst="rect">
            <a:avLst/>
          </a:prstGeom>
        </p:spPr>
        <p:txBody>
          <a:bodyPr tIns="90000" bIns="90000"/>
          <a:lstStyle>
            <a:lvl1pPr>
              <a:lnSpc>
                <a:spcPct val="120000"/>
              </a:lnSpc>
              <a:spcBef>
                <a:spcPts val="1200"/>
              </a:spcBef>
              <a:buClr>
                <a:srgbClr val="FFD100"/>
              </a:buClr>
              <a:defRPr sz="1800" b="0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目录一
目录二
目录三
目录四
目录五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384306" y="288001"/>
            <a:ext cx="7285837" cy="4273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kumimoji="1" lang="zh-CN" altLang="en-US" sz="24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252000" y="298634"/>
            <a:ext cx="45719" cy="427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goal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1813560" y="1424941"/>
            <a:ext cx="7078234" cy="346138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10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标题 2"/>
          <p:cNvSpPr>
            <a:spLocks noGrp="1"/>
          </p:cNvSpPr>
          <p:nvPr>
            <p:ph type="title" hasCustomPrompt="1"/>
          </p:nvPr>
        </p:nvSpPr>
        <p:spPr>
          <a:xfrm>
            <a:off x="308705" y="439480"/>
            <a:ext cx="8584470" cy="85592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6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en-US" altLang="zh-CN" dirty="0"/>
              <a:t>TGX:</a:t>
            </a:r>
            <a:r>
              <a:rPr lang="zh-CN" altLang="en-US" dirty="0"/>
              <a:t> </a:t>
            </a:r>
            <a:r>
              <a:rPr lang="en-US" altLang="zh-CN" dirty="0"/>
              <a:t>XXXXXXX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6"/>
            <a:ext cx="8583088" cy="2660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en-US" altLang="zh-CN" dirty="0">
                <a:solidFill>
                  <a:schemeClr val="bg1">
                    <a:lumMod val="50000"/>
                  </a:schemeClr>
                </a:solidFill>
              </a:rPr>
              <a:t>4 </a:t>
            </a:r>
            <a:r>
              <a:rPr kumimoji="1" lang="en-US" altLang="zh-CN" dirty="0" err="1">
                <a:solidFill>
                  <a:schemeClr val="bg1">
                    <a:lumMod val="50000"/>
                  </a:schemeClr>
                </a:solidFill>
              </a:rPr>
              <a:t>Teamgoal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进展同步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250826" y="123826"/>
            <a:ext cx="57881" cy="11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50824" y="1424941"/>
            <a:ext cx="1417956" cy="3461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请使用这个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308705" y="439480"/>
            <a:ext cx="8584470" cy="547945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8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252207" y="1131888"/>
            <a:ext cx="8639588" cy="3516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buClr>
                <a:schemeClr val="accent1"/>
              </a:buClr>
              <a:defRPr sz="14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4"/>
            <a:ext cx="8583088" cy="2660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单击此处添加副标题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单标题_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252000" y="288001"/>
            <a:ext cx="7664380" cy="427313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252207" y="871728"/>
            <a:ext cx="8639588" cy="377647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defRPr sz="1400"/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354104" y="2045244"/>
            <a:ext cx="6435792" cy="57653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000" b="1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单击此处添加章节标题</a:t>
            </a:r>
          </a:p>
        </p:txBody>
      </p:sp>
      <p:sp>
        <p:nvSpPr>
          <p:cNvPr id="5" name="矩形"/>
          <p:cNvSpPr/>
          <p:nvPr userDrawn="1"/>
        </p:nvSpPr>
        <p:spPr>
          <a:xfrm>
            <a:off x="-5052" y="4061865"/>
            <a:ext cx="9149052" cy="108163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1174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tags" Target="../tags/tag2.xml"/><Relationship Id="rId10" Type="http://schemas.openxmlformats.org/officeDocument/2006/relationships/oleObject" Target="../embeddings/oleObject1.bin"/><Relationship Id="rId1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0" imgH="0" progId="TCLayout.ActiveDocument.1">
                  <p:embed/>
                </p:oleObj>
              </mc:Choice>
              <mc:Fallback>
                <p:oleObj name="think-cell 幻灯片" r:id="rId10" imgW="0" imgH="0" progId="TCLayout.ActiveDocument.1">
                  <p:embed/>
                  <p:pic>
                    <p:nvPicPr>
                      <p:cNvPr id="0" name="对象 4" hidden="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7" name="文本占位符 11"/>
          <p:cNvSpPr txBox="1"/>
          <p:nvPr userDrawn="1"/>
        </p:nvSpPr>
        <p:spPr>
          <a:xfrm>
            <a:off x="7736320" y="4739965"/>
            <a:ext cx="1078947" cy="251811"/>
          </a:xfrm>
          <a:prstGeom prst="rect">
            <a:avLst/>
          </a:prstGeom>
        </p:spPr>
        <p:txBody>
          <a:bodyPr wrap="none" anchor="ctr"/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48968B-9B7E-4AEF-AF8F-76389AEE4EF7}" type="slidenum">
              <a:rPr kumimoji="1" lang="zh-CN" altLang="en-US" sz="1000" baseline="0" smtClean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rPr>
              <a:t>‹#›</a:t>
            </a:fld>
            <a:endParaRPr kumimoji="1" lang="zh-CN" altLang="en-US" sz="1000"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6" name="标题占位符 5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n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ly.sankuai.com/#/layout/hotspot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AI+</a:t>
            </a:r>
            <a:r>
              <a:rPr lang="zh-CN" altLang="en-US" dirty="0">
                <a:effectLst/>
              </a:rPr>
              <a:t>榜单全景图</a:t>
            </a:r>
          </a:p>
        </p:txBody>
      </p:sp>
    </p:spTree>
    <p:extLst>
      <p:ext uri="{BB962C8B-B14F-4D97-AF65-F5344CB8AC3E}">
        <p14:creationId xmlns:p14="http://schemas.microsoft.com/office/powerpoint/2010/main" val="343143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2A2EE7A6-1358-7D1B-726A-50E7C7E56D67}"/>
              </a:ext>
            </a:extLst>
          </p:cNvPr>
          <p:cNvCxnSpPr>
            <a:cxnSpLocks/>
            <a:stCxn id="2" idx="3"/>
            <a:endCxn id="152" idx="1"/>
          </p:cNvCxnSpPr>
          <p:nvPr/>
        </p:nvCxnSpPr>
        <p:spPr>
          <a:xfrm>
            <a:off x="1949052" y="1236210"/>
            <a:ext cx="52524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E817324-0C4E-750B-F7F0-B03CAAFC1610}"/>
              </a:ext>
            </a:extLst>
          </p:cNvPr>
          <p:cNvSpPr/>
          <p:nvPr/>
        </p:nvSpPr>
        <p:spPr>
          <a:xfrm>
            <a:off x="2543488" y="2649787"/>
            <a:ext cx="1735854" cy="704675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9AC15C-0B6E-61BA-A90F-A423B09446B0}"/>
              </a:ext>
            </a:extLst>
          </p:cNvPr>
          <p:cNvSpPr/>
          <p:nvPr/>
        </p:nvSpPr>
        <p:spPr>
          <a:xfrm>
            <a:off x="2536604" y="1510140"/>
            <a:ext cx="1738029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数据分析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C8E0F8-060D-B815-135C-F9F92779C6F9}"/>
              </a:ext>
            </a:extLst>
          </p:cNvPr>
          <p:cNvSpPr/>
          <p:nvPr/>
        </p:nvSpPr>
        <p:spPr>
          <a:xfrm>
            <a:off x="4864769" y="4560524"/>
            <a:ext cx="174467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榜单生成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05D0DB-917D-727E-6D12-15F082ECE223}"/>
              </a:ext>
            </a:extLst>
          </p:cNvPr>
          <p:cNvSpPr/>
          <p:nvPr/>
        </p:nvSpPr>
        <p:spPr>
          <a:xfrm>
            <a:off x="4871363" y="1510982"/>
            <a:ext cx="1738799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榜单生产排序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8334DB5-BCE4-3416-D510-3428552CE9C9}"/>
              </a:ext>
            </a:extLst>
          </p:cNvPr>
          <p:cNvSpPr/>
          <p:nvPr/>
        </p:nvSpPr>
        <p:spPr>
          <a:xfrm>
            <a:off x="3431770" y="2877528"/>
            <a:ext cx="797023" cy="36689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评论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UGC Skill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19B7AE-0C0B-8817-18DA-A02DFDC15A41}"/>
              </a:ext>
            </a:extLst>
          </p:cNvPr>
          <p:cNvSpPr/>
          <p:nvPr/>
        </p:nvSpPr>
        <p:spPr>
          <a:xfrm>
            <a:off x="211806" y="1503718"/>
            <a:ext cx="1738029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趋势探测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CDAB24-D031-297E-2EDE-0D1770F822AC}"/>
              </a:ext>
            </a:extLst>
          </p:cNvPr>
          <p:cNvSpPr/>
          <p:nvPr/>
        </p:nvSpPr>
        <p:spPr>
          <a:xfrm>
            <a:off x="245144" y="4117677"/>
            <a:ext cx="1737397" cy="3668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供给关联映射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44E68BE-546A-D95E-78FB-110AD4D436FB}"/>
              </a:ext>
            </a:extLst>
          </p:cNvPr>
          <p:cNvSpPr/>
          <p:nvPr/>
        </p:nvSpPr>
        <p:spPr>
          <a:xfrm>
            <a:off x="2600371" y="2879534"/>
            <a:ext cx="797023" cy="36689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B(D)GC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93137A-708A-15B7-01B1-DFD21863339F}"/>
              </a:ext>
            </a:extLst>
          </p:cNvPr>
          <p:cNvSpPr/>
          <p:nvPr/>
        </p:nvSpPr>
        <p:spPr>
          <a:xfrm>
            <a:off x="2543488" y="3394536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关键词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42CF0F-8E0E-4BB0-8674-9393F939B159}"/>
              </a:ext>
            </a:extLst>
          </p:cNvPr>
          <p:cNvSpPr/>
          <p:nvPr/>
        </p:nvSpPr>
        <p:spPr>
          <a:xfrm>
            <a:off x="3432035" y="3388872"/>
            <a:ext cx="853906" cy="3066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标签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5EC564-B945-D7C7-734E-6549C4F4DFAC}"/>
              </a:ext>
            </a:extLst>
          </p:cNvPr>
          <p:cNvSpPr/>
          <p:nvPr/>
        </p:nvSpPr>
        <p:spPr>
          <a:xfrm>
            <a:off x="2543488" y="3725477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LLM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语义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F7AD90F-FAA4-7AE3-9A1F-842A70C06522}"/>
              </a:ext>
            </a:extLst>
          </p:cNvPr>
          <p:cNvSpPr/>
          <p:nvPr/>
        </p:nvSpPr>
        <p:spPr>
          <a:xfrm>
            <a:off x="3432035" y="3725476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多模态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204969-8D14-DA82-B407-5D6C0CD3B9DD}"/>
              </a:ext>
            </a:extLst>
          </p:cNvPr>
          <p:cNvSpPr/>
          <p:nvPr/>
        </p:nvSpPr>
        <p:spPr>
          <a:xfrm>
            <a:off x="5755541" y="4965093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页面模板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015FADC-7CA4-AC99-2D87-40D8155AAB3D}"/>
              </a:ext>
            </a:extLst>
          </p:cNvPr>
          <p:cNvSpPr/>
          <p:nvPr/>
        </p:nvSpPr>
        <p:spPr>
          <a:xfrm>
            <a:off x="2536604" y="1922445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TG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核心指标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365F88D-F029-ADDB-9200-970B6B450589}"/>
              </a:ext>
            </a:extLst>
          </p:cNvPr>
          <p:cNvSpPr/>
          <p:nvPr/>
        </p:nvSpPr>
        <p:spPr>
          <a:xfrm>
            <a:off x="7233748" y="3871247"/>
            <a:ext cx="1743052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商家服务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E2BCCB2-FB2E-21D4-1F13-23041B57535B}"/>
              </a:ext>
            </a:extLst>
          </p:cNvPr>
          <p:cNvSpPr/>
          <p:nvPr/>
        </p:nvSpPr>
        <p:spPr>
          <a:xfrm>
            <a:off x="7233748" y="4597958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反馈沟通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870D4AF-03C8-FB94-4298-A0F2F85E8604}"/>
              </a:ext>
            </a:extLst>
          </p:cNvPr>
          <p:cNvSpPr/>
          <p:nvPr/>
        </p:nvSpPr>
        <p:spPr>
          <a:xfrm>
            <a:off x="7237828" y="4270138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商家圈选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02FD630-F4AA-4260-2638-9C1744A474A6}"/>
              </a:ext>
            </a:extLst>
          </p:cNvPr>
          <p:cNvSpPr/>
          <p:nvPr/>
        </p:nvSpPr>
        <p:spPr>
          <a:xfrm>
            <a:off x="8122894" y="4266473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物料制作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66DF3F1-932D-BB4E-2B60-D502BFDB8D44}"/>
              </a:ext>
            </a:extLst>
          </p:cNvPr>
          <p:cNvSpPr/>
          <p:nvPr/>
        </p:nvSpPr>
        <p:spPr>
          <a:xfrm>
            <a:off x="8122580" y="4603390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分析报告</a:t>
            </a:r>
          </a:p>
        </p:txBody>
      </p:sp>
      <p:sp>
        <p:nvSpPr>
          <p:cNvPr id="44" name="标题 3">
            <a:extLst>
              <a:ext uri="{FF2B5EF4-FFF2-40B4-BE49-F238E27FC236}">
                <a16:creationId xmlns:a16="http://schemas.microsoft.com/office/drawing/2014/main" id="{6EEA65FF-3986-7069-3D65-7B1E68954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2" y="15438"/>
            <a:ext cx="3642978" cy="427313"/>
          </a:xfrm>
        </p:spPr>
        <p:txBody>
          <a:bodyPr>
            <a:normAutofit/>
          </a:bodyPr>
          <a:lstStyle/>
          <a:p>
            <a:r>
              <a:rPr lang="zh-CN" altLang="en-US" sz="2100" dirty="0">
                <a:latin typeface="+mn-ea"/>
                <a:ea typeface="+mn-ea"/>
              </a:rPr>
              <a:t>榜单全链路智能运营架构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BC73008-C67A-680B-1106-CD60EDA1D20D}"/>
              </a:ext>
            </a:extLst>
          </p:cNvPr>
          <p:cNvSpPr/>
          <p:nvPr/>
        </p:nvSpPr>
        <p:spPr>
          <a:xfrm>
            <a:off x="217421" y="1926862"/>
            <a:ext cx="853200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站内异动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DB321C0-EEDB-31DA-1197-2F14D74779CA}"/>
              </a:ext>
            </a:extLst>
          </p:cNvPr>
          <p:cNvSpPr/>
          <p:nvPr/>
        </p:nvSpPr>
        <p:spPr>
          <a:xfrm>
            <a:off x="1096635" y="1926861"/>
            <a:ext cx="853200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站外趋势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6E18518-8809-CBED-8D27-473F26C1FDD7}"/>
              </a:ext>
            </a:extLst>
          </p:cNvPr>
          <p:cNvSpPr/>
          <p:nvPr/>
        </p:nvSpPr>
        <p:spPr>
          <a:xfrm>
            <a:off x="7237557" y="5145024"/>
            <a:ext cx="1738029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异动监测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A7E3669-E064-60AA-BEDC-E26E6222B455}"/>
              </a:ext>
            </a:extLst>
          </p:cNvPr>
          <p:cNvSpPr/>
          <p:nvPr/>
        </p:nvSpPr>
        <p:spPr>
          <a:xfrm>
            <a:off x="7202315" y="1510593"/>
            <a:ext cx="1738029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动线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资源对接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D25A42A-870A-2FA2-EADD-2F5D84CAFD07}"/>
              </a:ext>
            </a:extLst>
          </p:cNvPr>
          <p:cNvSpPr/>
          <p:nvPr/>
        </p:nvSpPr>
        <p:spPr>
          <a:xfrm>
            <a:off x="4870762" y="2272098"/>
            <a:ext cx="856139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规则试算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81FB9A1-6285-4E7B-7DE8-B4304660E9D4}"/>
              </a:ext>
            </a:extLst>
          </p:cNvPr>
          <p:cNvSpPr/>
          <p:nvPr/>
        </p:nvSpPr>
        <p:spPr>
          <a:xfrm>
            <a:off x="5753915" y="1922445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规则建议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08F0142B-D68F-836B-0A1C-A714F14C84EA}"/>
              </a:ext>
            </a:extLst>
          </p:cNvPr>
          <p:cNvSpPr/>
          <p:nvPr/>
        </p:nvSpPr>
        <p:spPr>
          <a:xfrm>
            <a:off x="4871363" y="2615010"/>
            <a:ext cx="8460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报告生成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8D6F19E-8D6F-A71F-1A59-EB1E025E69CB}"/>
              </a:ext>
            </a:extLst>
          </p:cNvPr>
          <p:cNvSpPr/>
          <p:nvPr/>
        </p:nvSpPr>
        <p:spPr>
          <a:xfrm>
            <a:off x="5765013" y="5309360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配置生成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1DE4A80-E7CC-9E79-4ADB-726B58350A9B}"/>
              </a:ext>
            </a:extLst>
          </p:cNvPr>
          <p:cNvSpPr/>
          <p:nvPr/>
        </p:nvSpPr>
        <p:spPr>
          <a:xfrm>
            <a:off x="5753915" y="2611686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标注反馈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303865F-AF2A-6680-27C0-F93E095734DA}"/>
              </a:ext>
            </a:extLst>
          </p:cNvPr>
          <p:cNvSpPr/>
          <p:nvPr/>
        </p:nvSpPr>
        <p:spPr>
          <a:xfrm>
            <a:off x="2541976" y="2272064"/>
            <a:ext cx="848534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分析报告</a:t>
            </a:r>
          </a:p>
        </p:txBody>
      </p:sp>
      <p:sp>
        <p:nvSpPr>
          <p:cNvPr id="77" name="标题 3">
            <a:extLst>
              <a:ext uri="{FF2B5EF4-FFF2-40B4-BE49-F238E27FC236}">
                <a16:creationId xmlns:a16="http://schemas.microsoft.com/office/drawing/2014/main" id="{4AE2A82A-DAD9-51D8-16BA-307E2C8C9FFC}"/>
              </a:ext>
            </a:extLst>
          </p:cNvPr>
          <p:cNvSpPr txBox="1">
            <a:spLocks/>
          </p:cNvSpPr>
          <p:nvPr/>
        </p:nvSpPr>
        <p:spPr>
          <a:xfrm>
            <a:off x="159402" y="-809680"/>
            <a:ext cx="8504026" cy="427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r>
              <a:rPr lang="zh-CN" altLang="en-US" sz="2100" dirty="0">
                <a:latin typeface="+mn-ea"/>
                <a:ea typeface="+mn-ea"/>
              </a:rPr>
              <a:t>哪些环节是人，哪些环节是机器。哪些是内部必备</a:t>
            </a:r>
            <a:r>
              <a:rPr lang="en-US" altLang="zh-CN" sz="2100" dirty="0">
                <a:latin typeface="+mn-ea"/>
                <a:ea typeface="+mn-ea"/>
              </a:rPr>
              <a:t>skill</a:t>
            </a:r>
            <a:r>
              <a:rPr lang="zh-CN" altLang="en-US" sz="2100" dirty="0">
                <a:latin typeface="+mn-ea"/>
                <a:ea typeface="+mn-ea"/>
              </a:rPr>
              <a:t>，哪些和外部</a:t>
            </a:r>
            <a:r>
              <a:rPr lang="en-US" altLang="zh-CN" sz="2100" dirty="0">
                <a:latin typeface="+mn-ea"/>
                <a:ea typeface="+mn-ea"/>
              </a:rPr>
              <a:t>skill</a:t>
            </a:r>
            <a:r>
              <a:rPr lang="zh-CN" altLang="en-US" sz="2100" dirty="0">
                <a:latin typeface="+mn-ea"/>
                <a:ea typeface="+mn-ea"/>
              </a:rPr>
              <a:t>交互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1F2BDDD2-94F9-CC6D-51B3-9A17D4F7E4A4}"/>
              </a:ext>
            </a:extLst>
          </p:cNvPr>
          <p:cNvSpPr/>
          <p:nvPr/>
        </p:nvSpPr>
        <p:spPr>
          <a:xfrm>
            <a:off x="4871363" y="1922445"/>
            <a:ext cx="855538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价值判断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3B6D687-5CC8-7EC1-D267-8EA65FC41CD4}"/>
              </a:ext>
            </a:extLst>
          </p:cNvPr>
          <p:cNvSpPr/>
          <p:nvPr/>
        </p:nvSpPr>
        <p:spPr>
          <a:xfrm>
            <a:off x="211024" y="1052761"/>
            <a:ext cx="1738028" cy="36689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需求洞察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13AB11D-AE14-30C0-3407-60FAC714B53D}"/>
              </a:ext>
            </a:extLst>
          </p:cNvPr>
          <p:cNvSpPr/>
          <p:nvPr/>
        </p:nvSpPr>
        <p:spPr>
          <a:xfrm>
            <a:off x="2541193" y="1052761"/>
            <a:ext cx="1738800" cy="36689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分析决策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C2F1CB4-007E-86C1-9A87-02377631D152}"/>
              </a:ext>
            </a:extLst>
          </p:cNvPr>
          <p:cNvSpPr txBox="1"/>
          <p:nvPr/>
        </p:nvSpPr>
        <p:spPr>
          <a:xfrm>
            <a:off x="2632185" y="2606717"/>
            <a:ext cx="1518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供给理解挖掘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D1315A9C-DFE7-6723-B1A6-5010F0360210}"/>
              </a:ext>
            </a:extLst>
          </p:cNvPr>
          <p:cNvSpPr/>
          <p:nvPr/>
        </p:nvSpPr>
        <p:spPr>
          <a:xfrm>
            <a:off x="7202586" y="1924132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动线配置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5FD781A-0E7E-C125-A84A-5ACA8D64CFE2}"/>
              </a:ext>
            </a:extLst>
          </p:cNvPr>
          <p:cNvSpPr/>
          <p:nvPr/>
        </p:nvSpPr>
        <p:spPr>
          <a:xfrm>
            <a:off x="8090150" y="1922445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资源投放</a:t>
            </a:r>
          </a:p>
        </p:txBody>
      </p:sp>
      <p:pic>
        <p:nvPicPr>
          <p:cNvPr id="100" name="图片 99" descr="图标&#10;&#10;AI 生成的内容可能不正确。">
            <a:extLst>
              <a:ext uri="{FF2B5EF4-FFF2-40B4-BE49-F238E27FC236}">
                <a16:creationId xmlns:a16="http://schemas.microsoft.com/office/drawing/2014/main" id="{06CAB38D-420C-47C5-1BEA-7E450EF1F74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144639" y="2328116"/>
            <a:ext cx="255423" cy="255423"/>
          </a:xfrm>
          <a:prstGeom prst="rect">
            <a:avLst/>
          </a:prstGeom>
        </p:spPr>
      </p:pic>
      <p:pic>
        <p:nvPicPr>
          <p:cNvPr id="102" name="图片 101" descr="图标&#10;&#10;AI 生成的内容可能不正确。">
            <a:extLst>
              <a:ext uri="{FF2B5EF4-FFF2-40B4-BE49-F238E27FC236}">
                <a16:creationId xmlns:a16="http://schemas.microsoft.com/office/drawing/2014/main" id="{53F6EC26-8924-25C4-5C66-D826B1D502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291337" y="2139095"/>
            <a:ext cx="429237" cy="429237"/>
          </a:xfrm>
          <a:prstGeom prst="rect">
            <a:avLst/>
          </a:prstGeom>
        </p:spPr>
      </p:pic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F0C326CD-335E-8F5E-BED4-4B1DD5B192F6}"/>
              </a:ext>
            </a:extLst>
          </p:cNvPr>
          <p:cNvSpPr/>
          <p:nvPr/>
        </p:nvSpPr>
        <p:spPr>
          <a:xfrm>
            <a:off x="4871362" y="1052761"/>
            <a:ext cx="1738800" cy="36689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榜单建设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5EAE2ADE-4BEA-98D0-F48A-3BC629744ADA}"/>
              </a:ext>
            </a:extLst>
          </p:cNvPr>
          <p:cNvSpPr/>
          <p:nvPr/>
        </p:nvSpPr>
        <p:spPr>
          <a:xfrm>
            <a:off x="7237828" y="5525117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新快爬榜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307D1555-869C-5DBF-5CE0-7D6436F9684F}"/>
              </a:ext>
            </a:extLst>
          </p:cNvPr>
          <p:cNvSpPr/>
          <p:nvPr/>
        </p:nvSpPr>
        <p:spPr>
          <a:xfrm>
            <a:off x="8118962" y="5527880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321DAB1B-5464-64FE-8AA1-CEB1951009D3}"/>
              </a:ext>
            </a:extLst>
          </p:cNvPr>
          <p:cNvSpPr/>
          <p:nvPr/>
        </p:nvSpPr>
        <p:spPr>
          <a:xfrm>
            <a:off x="250407" y="4520914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门店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7C785C0-F4DD-7B78-6AE0-5E432EBA8B70}"/>
              </a:ext>
            </a:extLst>
          </p:cNvPr>
          <p:cNvSpPr/>
          <p:nvPr/>
        </p:nvSpPr>
        <p:spPr>
          <a:xfrm>
            <a:off x="1120951" y="4520828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菜品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A3BDCCFB-88ED-9B8C-198C-13214C6C601B}"/>
              </a:ext>
            </a:extLst>
          </p:cNvPr>
          <p:cNvSpPr/>
          <p:nvPr/>
        </p:nvSpPr>
        <p:spPr>
          <a:xfrm>
            <a:off x="250054" y="4850150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Deal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B7894ACC-B08D-A1DA-99CA-65A4AB259696}"/>
              </a:ext>
            </a:extLst>
          </p:cNvPr>
          <p:cNvSpPr/>
          <p:nvPr/>
        </p:nvSpPr>
        <p:spPr>
          <a:xfrm>
            <a:off x="4864769" y="3039621"/>
            <a:ext cx="1744678" cy="3668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产研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设计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测试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185004CB-56C8-D533-3644-6D6F08865183}"/>
              </a:ext>
            </a:extLst>
          </p:cNvPr>
          <p:cNvSpPr/>
          <p:nvPr/>
        </p:nvSpPr>
        <p:spPr>
          <a:xfrm>
            <a:off x="2536604" y="4118404"/>
            <a:ext cx="1763093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用户分析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924637E0-DEB4-B310-69CB-C2234BD2A0E6}"/>
              </a:ext>
            </a:extLst>
          </p:cNvPr>
          <p:cNvSpPr/>
          <p:nvPr/>
        </p:nvSpPr>
        <p:spPr>
          <a:xfrm>
            <a:off x="2536604" y="4865777"/>
            <a:ext cx="1763092" cy="3668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竞对分析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2" name="矩形: 圆角 151">
            <a:extLst>
              <a:ext uri="{FF2B5EF4-FFF2-40B4-BE49-F238E27FC236}">
                <a16:creationId xmlns:a16="http://schemas.microsoft.com/office/drawing/2014/main" id="{5986D27A-CBC8-CFE9-D37D-D20F207B8D55}"/>
              </a:ext>
            </a:extLst>
          </p:cNvPr>
          <p:cNvSpPr/>
          <p:nvPr/>
        </p:nvSpPr>
        <p:spPr>
          <a:xfrm>
            <a:off x="7201532" y="1052761"/>
            <a:ext cx="1738800" cy="36689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运营工具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B09B4DFB-5B67-A845-65C8-490D99FB4D96}"/>
              </a:ext>
            </a:extLst>
          </p:cNvPr>
          <p:cNvSpPr/>
          <p:nvPr/>
        </p:nvSpPr>
        <p:spPr>
          <a:xfrm>
            <a:off x="3425436" y="1924041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生态指标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02403D66-E879-AA99-CFE6-B49876F12347}"/>
              </a:ext>
            </a:extLst>
          </p:cNvPr>
          <p:cNvSpPr/>
          <p:nvPr/>
        </p:nvSpPr>
        <p:spPr>
          <a:xfrm>
            <a:off x="2543488" y="4516029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用户画像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09F1A67A-C384-7A69-B8CD-0E758A7EFC6A}"/>
              </a:ext>
            </a:extLst>
          </p:cNvPr>
          <p:cNvSpPr/>
          <p:nvPr/>
        </p:nvSpPr>
        <p:spPr>
          <a:xfrm>
            <a:off x="3425436" y="4516159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行为序列</a:t>
            </a: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FD9C785D-D8F8-1CA5-8AEC-EBECF10565DD}"/>
              </a:ext>
            </a:extLst>
          </p:cNvPr>
          <p:cNvSpPr/>
          <p:nvPr/>
        </p:nvSpPr>
        <p:spPr>
          <a:xfrm>
            <a:off x="7217026" y="2272064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ROI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预估</a:t>
            </a: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C3856A4B-5DD5-AE9B-E1CB-83D19A99DB5A}"/>
              </a:ext>
            </a:extLst>
          </p:cNvPr>
          <p:cNvSpPr/>
          <p:nvPr/>
        </p:nvSpPr>
        <p:spPr>
          <a:xfrm>
            <a:off x="7237828" y="5852153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问题定位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8EDC4E90-3BDF-E8C5-AD82-3626B378C316}"/>
              </a:ext>
            </a:extLst>
          </p:cNvPr>
          <p:cNvSpPr/>
          <p:nvPr/>
        </p:nvSpPr>
        <p:spPr>
          <a:xfrm>
            <a:off x="8118962" y="5846383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策略建议</a:t>
            </a: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263067E4-61EF-CF75-CC92-B6A957D011E0}"/>
              </a:ext>
            </a:extLst>
          </p:cNvPr>
          <p:cNvSpPr/>
          <p:nvPr/>
        </p:nvSpPr>
        <p:spPr>
          <a:xfrm>
            <a:off x="5759594" y="2265436"/>
            <a:ext cx="842548" cy="3145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供给挖掘</a:t>
            </a: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034B115F-F50F-794F-8409-DFA440FB49B3}"/>
              </a:ext>
            </a:extLst>
          </p:cNvPr>
          <p:cNvSpPr/>
          <p:nvPr/>
        </p:nvSpPr>
        <p:spPr>
          <a:xfrm>
            <a:off x="4871362" y="3796279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UE/UI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141C00AE-24C6-C2E1-FE70-05FBA762D620}"/>
              </a:ext>
            </a:extLst>
          </p:cNvPr>
          <p:cNvSpPr/>
          <p:nvPr/>
        </p:nvSpPr>
        <p:spPr>
          <a:xfrm>
            <a:off x="5765013" y="3791362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技术架构</a:t>
            </a: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396D6087-BA46-1F16-25F1-E729B78090AB}"/>
              </a:ext>
            </a:extLst>
          </p:cNvPr>
          <p:cNvSpPr/>
          <p:nvPr/>
        </p:nvSpPr>
        <p:spPr>
          <a:xfrm>
            <a:off x="5768773" y="3455628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产品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PRD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5453E648-8AFF-8B13-BF0A-E1079C950926}"/>
              </a:ext>
            </a:extLst>
          </p:cNvPr>
          <p:cNvSpPr/>
          <p:nvPr/>
        </p:nvSpPr>
        <p:spPr>
          <a:xfrm>
            <a:off x="5765327" y="4139484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评审验收</a:t>
            </a: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B07254F0-FE84-5BBF-A15A-F5245175BBA7}"/>
              </a:ext>
            </a:extLst>
          </p:cNvPr>
          <p:cNvSpPr/>
          <p:nvPr/>
        </p:nvSpPr>
        <p:spPr>
          <a:xfrm>
            <a:off x="4881027" y="3453034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整体调度</a:t>
            </a: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75175C57-5E3E-1131-BE59-7CBAFE2E29CB}"/>
              </a:ext>
            </a:extLst>
          </p:cNvPr>
          <p:cNvSpPr/>
          <p:nvPr/>
        </p:nvSpPr>
        <p:spPr>
          <a:xfrm>
            <a:off x="4881027" y="4140890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代码用例</a:t>
            </a: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D055FD88-0117-D30A-DC82-6F210F3AC0A6}"/>
              </a:ext>
            </a:extLst>
          </p:cNvPr>
          <p:cNvSpPr/>
          <p:nvPr/>
        </p:nvSpPr>
        <p:spPr>
          <a:xfrm>
            <a:off x="7236148" y="2687887"/>
            <a:ext cx="1743052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用户运营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B0D2ACE9-AA48-5183-7906-0F8EAD3D845C}"/>
              </a:ext>
            </a:extLst>
          </p:cNvPr>
          <p:cNvSpPr/>
          <p:nvPr/>
        </p:nvSpPr>
        <p:spPr>
          <a:xfrm>
            <a:off x="7236148" y="3414598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体验收集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2305DFED-DE8B-F133-F391-2B9E49D5173E}"/>
              </a:ext>
            </a:extLst>
          </p:cNvPr>
          <p:cNvSpPr/>
          <p:nvPr/>
        </p:nvSpPr>
        <p:spPr>
          <a:xfrm>
            <a:off x="7240228" y="3086778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用户圈选</a:t>
            </a: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A6C18295-F861-BA2A-EE31-6D683BB43B77}"/>
              </a:ext>
            </a:extLst>
          </p:cNvPr>
          <p:cNvSpPr/>
          <p:nvPr/>
        </p:nvSpPr>
        <p:spPr>
          <a:xfrm>
            <a:off x="8125294" y="3083113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活动策略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E0E5EE0C-7459-7855-FD4E-DF0F12E923DD}"/>
              </a:ext>
            </a:extLst>
          </p:cNvPr>
          <p:cNvSpPr/>
          <p:nvPr/>
        </p:nvSpPr>
        <p:spPr>
          <a:xfrm>
            <a:off x="8125294" y="3412461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用户触达</a:t>
            </a: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74CC4E49-664A-C67F-6246-2D8F31FE1CA5}"/>
              </a:ext>
            </a:extLst>
          </p:cNvPr>
          <p:cNvSpPr/>
          <p:nvPr/>
        </p:nvSpPr>
        <p:spPr>
          <a:xfrm>
            <a:off x="217421" y="2276738"/>
            <a:ext cx="853200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需求挖掘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06CBCD27-8207-56B2-8C19-191BB7904578}"/>
              </a:ext>
            </a:extLst>
          </p:cNvPr>
          <p:cNvSpPr/>
          <p:nvPr/>
        </p:nvSpPr>
        <p:spPr>
          <a:xfrm>
            <a:off x="4865440" y="5310773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试点圈选</a:t>
            </a: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49E51B62-122A-9628-1DE8-359524BCF0D0}"/>
              </a:ext>
            </a:extLst>
          </p:cNvPr>
          <p:cNvSpPr/>
          <p:nvPr/>
        </p:nvSpPr>
        <p:spPr>
          <a:xfrm>
            <a:off x="3425436" y="2265435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信息查询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661869CA-9A93-095B-1CF2-C4E4F13E9C62}"/>
              </a:ext>
            </a:extLst>
          </p:cNvPr>
          <p:cNvSpPr/>
          <p:nvPr/>
        </p:nvSpPr>
        <p:spPr>
          <a:xfrm>
            <a:off x="1103359" y="2269806"/>
            <a:ext cx="853200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6A08A602-461A-15C4-57B4-130BD828E4B0}"/>
              </a:ext>
            </a:extLst>
          </p:cNvPr>
          <p:cNvCxnSpPr>
            <a:cxnSpLocks/>
            <a:stCxn id="176" idx="2"/>
          </p:cNvCxnSpPr>
          <p:nvPr/>
        </p:nvCxnSpPr>
        <p:spPr>
          <a:xfrm>
            <a:off x="1529959" y="2570825"/>
            <a:ext cx="0" cy="1492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本框 183">
            <a:extLst>
              <a:ext uri="{FF2B5EF4-FFF2-40B4-BE49-F238E27FC236}">
                <a16:creationId xmlns:a16="http://schemas.microsoft.com/office/drawing/2014/main" id="{623772B7-9127-2110-35D5-3F2045D06EA0}"/>
              </a:ext>
            </a:extLst>
          </p:cNvPr>
          <p:cNvSpPr txBox="1"/>
          <p:nvPr/>
        </p:nvSpPr>
        <p:spPr>
          <a:xfrm>
            <a:off x="1040191" y="2306849"/>
            <a:ext cx="9660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供给关联映射</a:t>
            </a: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D2C23625-6009-0818-678E-EE97BD4BBABC}"/>
              </a:ext>
            </a:extLst>
          </p:cNvPr>
          <p:cNvSpPr/>
          <p:nvPr/>
        </p:nvSpPr>
        <p:spPr>
          <a:xfrm>
            <a:off x="1126383" y="4850150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体验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服务</a:t>
            </a:r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8328DBAB-C2A7-E377-06DA-AC09CE042198}"/>
              </a:ext>
            </a:extLst>
          </p:cNvPr>
          <p:cNvSpPr/>
          <p:nvPr/>
        </p:nvSpPr>
        <p:spPr>
          <a:xfrm>
            <a:off x="5634321" y="825040"/>
            <a:ext cx="383826" cy="12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248577AE-B8B4-30C9-8AAD-77BC09C9AB7C}"/>
              </a:ext>
            </a:extLst>
          </p:cNvPr>
          <p:cNvSpPr/>
          <p:nvPr/>
        </p:nvSpPr>
        <p:spPr>
          <a:xfrm>
            <a:off x="7679730" y="834016"/>
            <a:ext cx="383826" cy="126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54D4F286-897F-2C17-88AA-5CB82E91B726}"/>
              </a:ext>
            </a:extLst>
          </p:cNvPr>
          <p:cNvSpPr txBox="1"/>
          <p:nvPr/>
        </p:nvSpPr>
        <p:spPr>
          <a:xfrm>
            <a:off x="5634321" y="773694"/>
            <a:ext cx="222380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榜单项目组建设（</a:t>
            </a:r>
            <a:r>
              <a:rPr lang="zh-CN" altLang="en-US" sz="900" dirty="0">
                <a:solidFill>
                  <a:schemeClr val="accent3"/>
                </a:solidFill>
                <a:latin typeface="+mn-ea"/>
              </a:rPr>
              <a:t>●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建设中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)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4C3A4BE6-8A0A-859B-907F-9314AB75B773}"/>
              </a:ext>
            </a:extLst>
          </p:cNvPr>
          <p:cNvSpPr txBox="1"/>
          <p:nvPr/>
        </p:nvSpPr>
        <p:spPr>
          <a:xfrm>
            <a:off x="7943989" y="790834"/>
            <a:ext cx="12000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latin typeface="+mn-ea"/>
              </a:rPr>
              <a:t>协同方提供</a:t>
            </a:r>
            <a:r>
              <a:rPr lang="en-US" altLang="zh-CN" sz="900" dirty="0" err="1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4E98596B-A05D-4666-ABC2-09B953D6D79B}"/>
              </a:ext>
            </a:extLst>
          </p:cNvPr>
          <p:cNvSpPr/>
          <p:nvPr/>
        </p:nvSpPr>
        <p:spPr>
          <a:xfrm>
            <a:off x="4865440" y="4969485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数据生成</a:t>
            </a: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206C2F3E-E2F8-7541-C312-6593773DDC91}"/>
              </a:ext>
            </a:extLst>
          </p:cNvPr>
          <p:cNvSpPr/>
          <p:nvPr/>
        </p:nvSpPr>
        <p:spPr>
          <a:xfrm>
            <a:off x="8094336" y="2265434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效果复盘</a:t>
            </a:r>
          </a:p>
        </p:txBody>
      </p:sp>
      <p:pic>
        <p:nvPicPr>
          <p:cNvPr id="204" name="图片 203" descr="图标&#10;&#10;AI 生成的内容可能不正确。">
            <a:extLst>
              <a:ext uri="{FF2B5EF4-FFF2-40B4-BE49-F238E27FC236}">
                <a16:creationId xmlns:a16="http://schemas.microsoft.com/office/drawing/2014/main" id="{8944899E-1E10-2F7D-68E8-A3ACC6A56BE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696415" y="2139095"/>
            <a:ext cx="255423" cy="255423"/>
          </a:xfrm>
          <a:prstGeom prst="rect">
            <a:avLst/>
          </a:prstGeom>
        </p:spPr>
      </p:pic>
      <p:sp>
        <p:nvSpPr>
          <p:cNvPr id="206" name="文本框 205">
            <a:extLst>
              <a:ext uri="{FF2B5EF4-FFF2-40B4-BE49-F238E27FC236}">
                <a16:creationId xmlns:a16="http://schemas.microsoft.com/office/drawing/2014/main" id="{15FF8F39-D1AB-2336-72C6-D2B0934F4120}"/>
              </a:ext>
            </a:extLst>
          </p:cNvPr>
          <p:cNvSpPr txBox="1"/>
          <p:nvPr/>
        </p:nvSpPr>
        <p:spPr>
          <a:xfrm>
            <a:off x="8062871" y="5577917"/>
            <a:ext cx="9660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负面信号操作</a:t>
            </a:r>
          </a:p>
        </p:txBody>
      </p:sp>
      <p:pic>
        <p:nvPicPr>
          <p:cNvPr id="205" name="图片 204" descr="图标&#10;&#10;AI 生成的内容可能不正确。">
            <a:extLst>
              <a:ext uri="{FF2B5EF4-FFF2-40B4-BE49-F238E27FC236}">
                <a16:creationId xmlns:a16="http://schemas.microsoft.com/office/drawing/2014/main" id="{4ACBD4E8-52C0-09EA-F02F-F1D7B59F632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400062" y="3002241"/>
            <a:ext cx="255423" cy="255423"/>
          </a:xfrm>
          <a:prstGeom prst="rect">
            <a:avLst/>
          </a:prstGeom>
        </p:spPr>
      </p:pic>
      <p:pic>
        <p:nvPicPr>
          <p:cNvPr id="207" name="图片 206" descr="图标&#10;&#10;AI 生成的内容可能不正确。">
            <a:extLst>
              <a:ext uri="{FF2B5EF4-FFF2-40B4-BE49-F238E27FC236}">
                <a16:creationId xmlns:a16="http://schemas.microsoft.com/office/drawing/2014/main" id="{F79E3F38-3510-6DA3-8A54-BAD6BCFA6B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441950" y="2049963"/>
            <a:ext cx="255423" cy="255423"/>
          </a:xfrm>
          <a:prstGeom prst="rect">
            <a:avLst/>
          </a:prstGeom>
        </p:spPr>
      </p:pic>
      <p:pic>
        <p:nvPicPr>
          <p:cNvPr id="208" name="图片 207" descr="图标&#10;&#10;AI 生成的内容可能不正确。">
            <a:extLst>
              <a:ext uri="{FF2B5EF4-FFF2-40B4-BE49-F238E27FC236}">
                <a16:creationId xmlns:a16="http://schemas.microsoft.com/office/drawing/2014/main" id="{6861631D-0D99-67CF-9D5C-0FBE323DF29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533504" y="1987086"/>
            <a:ext cx="255423" cy="255423"/>
          </a:xfrm>
          <a:prstGeom prst="rect">
            <a:avLst/>
          </a:prstGeom>
        </p:spPr>
      </p:pic>
      <p:pic>
        <p:nvPicPr>
          <p:cNvPr id="209" name="图片 208" descr="图标&#10;&#10;AI 生成的内容可能不正确。">
            <a:extLst>
              <a:ext uri="{FF2B5EF4-FFF2-40B4-BE49-F238E27FC236}">
                <a16:creationId xmlns:a16="http://schemas.microsoft.com/office/drawing/2014/main" id="{11A575B7-8277-41E1-FF49-1320894128C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088169" y="2075930"/>
            <a:ext cx="255423" cy="255423"/>
          </a:xfrm>
          <a:prstGeom prst="rect">
            <a:avLst/>
          </a:prstGeom>
        </p:spPr>
      </p:pic>
      <p:sp>
        <p:nvSpPr>
          <p:cNvPr id="211" name="矩形 210">
            <a:extLst>
              <a:ext uri="{FF2B5EF4-FFF2-40B4-BE49-F238E27FC236}">
                <a16:creationId xmlns:a16="http://schemas.microsoft.com/office/drawing/2014/main" id="{570C8533-C667-7BFE-0E33-20861D31C97D}"/>
              </a:ext>
            </a:extLst>
          </p:cNvPr>
          <p:cNvSpPr/>
          <p:nvPr/>
        </p:nvSpPr>
        <p:spPr>
          <a:xfrm>
            <a:off x="10573239" y="564906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效果分析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740ED388-6BE5-B44D-2489-8057B627B436}"/>
              </a:ext>
            </a:extLst>
          </p:cNvPr>
          <p:cNvSpPr/>
          <p:nvPr/>
        </p:nvSpPr>
        <p:spPr>
          <a:xfrm>
            <a:off x="10627349" y="925052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目标监测</a:t>
            </a: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BBF7C345-44D6-01DE-4FEC-3489C46CE77B}"/>
              </a:ext>
            </a:extLst>
          </p:cNvPr>
          <p:cNvSpPr/>
          <p:nvPr/>
        </p:nvSpPr>
        <p:spPr>
          <a:xfrm>
            <a:off x="11514206" y="982712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归因分析</a:t>
            </a:r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77017FA5-1786-498D-E85D-869FC573A79F}"/>
              </a:ext>
            </a:extLst>
          </p:cNvPr>
          <p:cNvSpPr/>
          <p:nvPr/>
        </p:nvSpPr>
        <p:spPr>
          <a:xfrm>
            <a:off x="10635001" y="1279265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建议生成</a:t>
            </a:r>
          </a:p>
        </p:txBody>
      </p: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F5828D0E-805C-130B-186D-D9A533E6F16C}"/>
              </a:ext>
            </a:extLst>
          </p:cNvPr>
          <p:cNvSpPr/>
          <p:nvPr/>
        </p:nvSpPr>
        <p:spPr>
          <a:xfrm>
            <a:off x="10514960" y="104777"/>
            <a:ext cx="1738800" cy="36689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效果复盘</a:t>
            </a:r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D33DDADB-C3CB-C15B-144D-724B4BD84697}"/>
              </a:ext>
            </a:extLst>
          </p:cNvPr>
          <p:cNvSpPr txBox="1"/>
          <p:nvPr/>
        </p:nvSpPr>
        <p:spPr>
          <a:xfrm>
            <a:off x="159401" y="392783"/>
            <a:ext cx="77749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effectLst/>
              </a:rPr>
              <a:t>完善榜单运营</a:t>
            </a:r>
            <a:r>
              <a:rPr lang="en-US" altLang="zh-CN" sz="1200" dirty="0">
                <a:effectLst/>
              </a:rPr>
              <a:t>skill</a:t>
            </a:r>
            <a:r>
              <a:rPr lang="zh-CN" altLang="en-US" sz="1200" dirty="0">
                <a:effectLst/>
              </a:rPr>
              <a:t>全景图，探索从原子化</a:t>
            </a:r>
            <a:r>
              <a:rPr lang="en-US" altLang="zh-CN" sz="1200" dirty="0">
                <a:effectLst/>
              </a:rPr>
              <a:t>Skill</a:t>
            </a:r>
            <a:r>
              <a:rPr lang="zh-CN" altLang="en-US" sz="1200" dirty="0">
                <a:effectLst/>
              </a:rPr>
              <a:t>到全流程</a:t>
            </a:r>
            <a:r>
              <a:rPr lang="en-US" altLang="zh-CN" sz="1200" dirty="0">
                <a:effectLst/>
              </a:rPr>
              <a:t>AI</a:t>
            </a:r>
            <a:r>
              <a:rPr lang="zh-CN" altLang="en-US" sz="1200" dirty="0">
                <a:effectLst/>
              </a:rPr>
              <a:t>贯通。组建</a:t>
            </a:r>
            <a:r>
              <a:rPr lang="en-US" altLang="zh-CN" sz="1200" dirty="0">
                <a:effectLst/>
              </a:rPr>
              <a:t>AI at work</a:t>
            </a:r>
            <a:r>
              <a:rPr lang="zh-CN" altLang="en-US" sz="1200" dirty="0">
                <a:effectLst/>
              </a:rPr>
              <a:t>专项攻坚小队，提升运营效率</a:t>
            </a:r>
            <a:endParaRPr lang="en-US" altLang="zh-CN" sz="1200" dirty="0"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验证是否可以体系化、可复制、强稳定地跑通</a:t>
            </a:r>
            <a:endParaRPr lang="zh-CN" altLang="en-US" sz="1200" dirty="0">
              <a:effectLst/>
            </a:endParaRP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A18189AA-C361-26AE-AD75-125827126087}"/>
              </a:ext>
            </a:extLst>
          </p:cNvPr>
          <p:cNvSpPr txBox="1"/>
          <p:nvPr/>
        </p:nvSpPr>
        <p:spPr>
          <a:xfrm>
            <a:off x="3397394" y="2891485"/>
            <a:ext cx="4049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chemeClr val="accent3"/>
                </a:solidFill>
                <a:latin typeface="+mn-ea"/>
              </a:rPr>
              <a:t>●</a:t>
            </a:r>
            <a:endParaRPr lang="zh-CN" altLang="en-US" sz="900" dirty="0">
              <a:solidFill>
                <a:schemeClr val="accent3"/>
              </a:solidFill>
            </a:endParaRPr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CB7E7A8C-2ACA-4FE8-DA1D-7C7723F7A1A2}"/>
              </a:ext>
            </a:extLst>
          </p:cNvPr>
          <p:cNvSpPr txBox="1"/>
          <p:nvPr/>
        </p:nvSpPr>
        <p:spPr>
          <a:xfrm>
            <a:off x="2632185" y="1603107"/>
            <a:ext cx="4049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chemeClr val="accent3"/>
                </a:solidFill>
                <a:latin typeface="+mn-ea"/>
              </a:rPr>
              <a:t>●</a:t>
            </a:r>
            <a:endParaRPr lang="zh-CN" altLang="en-US" sz="900" dirty="0">
              <a:solidFill>
                <a:schemeClr val="accent3"/>
              </a:solidFill>
            </a:endParaRPr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ACC9423F-C1F8-9B10-6B8B-13613F9DE239}"/>
              </a:ext>
            </a:extLst>
          </p:cNvPr>
          <p:cNvSpPr txBox="1"/>
          <p:nvPr/>
        </p:nvSpPr>
        <p:spPr>
          <a:xfrm>
            <a:off x="4823302" y="1599204"/>
            <a:ext cx="4049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chemeClr val="accent3"/>
                </a:solidFill>
                <a:latin typeface="+mn-ea"/>
              </a:rPr>
              <a:t>●</a:t>
            </a:r>
            <a:endParaRPr lang="zh-CN" altLang="en-US" sz="900" dirty="0">
              <a:solidFill>
                <a:schemeClr val="accent3"/>
              </a:solidFill>
            </a:endParaRPr>
          </a:p>
        </p:txBody>
      </p:sp>
      <p:sp>
        <p:nvSpPr>
          <p:cNvPr id="255" name="文本框 254">
            <a:extLst>
              <a:ext uri="{FF2B5EF4-FFF2-40B4-BE49-F238E27FC236}">
                <a16:creationId xmlns:a16="http://schemas.microsoft.com/office/drawing/2014/main" id="{4A804492-6E8C-58DA-9642-CC96944E2854}"/>
              </a:ext>
            </a:extLst>
          </p:cNvPr>
          <p:cNvSpPr txBox="1"/>
          <p:nvPr/>
        </p:nvSpPr>
        <p:spPr>
          <a:xfrm>
            <a:off x="4897414" y="4628556"/>
            <a:ext cx="4049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chemeClr val="accent3"/>
                </a:solidFill>
                <a:latin typeface="+mn-ea"/>
              </a:rPr>
              <a:t>●</a:t>
            </a:r>
            <a:endParaRPr lang="zh-CN" altLang="en-US" sz="900" dirty="0">
              <a:solidFill>
                <a:schemeClr val="accent3"/>
              </a:solidFill>
            </a:endParaRPr>
          </a:p>
        </p:txBody>
      </p:sp>
      <p:sp>
        <p:nvSpPr>
          <p:cNvPr id="256" name="文本框 255">
            <a:extLst>
              <a:ext uri="{FF2B5EF4-FFF2-40B4-BE49-F238E27FC236}">
                <a16:creationId xmlns:a16="http://schemas.microsoft.com/office/drawing/2014/main" id="{77855BBB-8536-7FE7-CADC-744ACAB8EC98}"/>
              </a:ext>
            </a:extLst>
          </p:cNvPr>
          <p:cNvSpPr txBox="1"/>
          <p:nvPr/>
        </p:nvSpPr>
        <p:spPr>
          <a:xfrm>
            <a:off x="7136909" y="1603737"/>
            <a:ext cx="4049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chemeClr val="accent3"/>
                </a:solidFill>
                <a:latin typeface="+mn-ea"/>
              </a:rPr>
              <a:t>●</a:t>
            </a:r>
            <a:endParaRPr lang="zh-CN" altLang="en-US" sz="9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53359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2A2EE7A6-1358-7D1B-726A-50E7C7E56D67}"/>
              </a:ext>
            </a:extLst>
          </p:cNvPr>
          <p:cNvCxnSpPr>
            <a:cxnSpLocks/>
            <a:stCxn id="2" idx="3"/>
            <a:endCxn id="152" idx="1"/>
          </p:cNvCxnSpPr>
          <p:nvPr/>
        </p:nvCxnSpPr>
        <p:spPr>
          <a:xfrm>
            <a:off x="12220812" y="957143"/>
            <a:ext cx="52524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E817324-0C4E-750B-F7F0-B03CAAFC1610}"/>
              </a:ext>
            </a:extLst>
          </p:cNvPr>
          <p:cNvSpPr/>
          <p:nvPr/>
        </p:nvSpPr>
        <p:spPr>
          <a:xfrm>
            <a:off x="12815248" y="2370720"/>
            <a:ext cx="1735854" cy="704675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9AC15C-0B6E-61BA-A90F-A423B09446B0}"/>
              </a:ext>
            </a:extLst>
          </p:cNvPr>
          <p:cNvSpPr/>
          <p:nvPr/>
        </p:nvSpPr>
        <p:spPr>
          <a:xfrm>
            <a:off x="12808364" y="1231073"/>
            <a:ext cx="1738029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数据分析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C8E0F8-060D-B815-135C-F9F92779C6F9}"/>
              </a:ext>
            </a:extLst>
          </p:cNvPr>
          <p:cNvSpPr/>
          <p:nvPr/>
        </p:nvSpPr>
        <p:spPr>
          <a:xfrm>
            <a:off x="15136529" y="4281457"/>
            <a:ext cx="174467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榜单生成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05D0DB-917D-727E-6D12-15F082ECE223}"/>
              </a:ext>
            </a:extLst>
          </p:cNvPr>
          <p:cNvSpPr/>
          <p:nvPr/>
        </p:nvSpPr>
        <p:spPr>
          <a:xfrm>
            <a:off x="15143123" y="1231915"/>
            <a:ext cx="1738799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榜单生产排序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8334DB5-BCE4-3416-D510-3428552CE9C9}"/>
              </a:ext>
            </a:extLst>
          </p:cNvPr>
          <p:cNvSpPr/>
          <p:nvPr/>
        </p:nvSpPr>
        <p:spPr>
          <a:xfrm>
            <a:off x="13703530" y="2598461"/>
            <a:ext cx="797023" cy="36689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评论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UGC Skill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19B7AE-0C0B-8817-18DA-A02DFDC15A41}"/>
              </a:ext>
            </a:extLst>
          </p:cNvPr>
          <p:cNvSpPr/>
          <p:nvPr/>
        </p:nvSpPr>
        <p:spPr>
          <a:xfrm>
            <a:off x="10483566" y="1224651"/>
            <a:ext cx="1738029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趋势探测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CDAB24-D031-297E-2EDE-0D1770F822AC}"/>
              </a:ext>
            </a:extLst>
          </p:cNvPr>
          <p:cNvSpPr/>
          <p:nvPr/>
        </p:nvSpPr>
        <p:spPr>
          <a:xfrm>
            <a:off x="10516904" y="3838610"/>
            <a:ext cx="1737397" cy="3668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供给关联映射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44E68BE-546A-D95E-78FB-110AD4D436FB}"/>
              </a:ext>
            </a:extLst>
          </p:cNvPr>
          <p:cNvSpPr/>
          <p:nvPr/>
        </p:nvSpPr>
        <p:spPr>
          <a:xfrm>
            <a:off x="12872131" y="2600467"/>
            <a:ext cx="797023" cy="36689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B(D)GC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93137A-708A-15B7-01B1-DFD21863339F}"/>
              </a:ext>
            </a:extLst>
          </p:cNvPr>
          <p:cNvSpPr/>
          <p:nvPr/>
        </p:nvSpPr>
        <p:spPr>
          <a:xfrm>
            <a:off x="12815248" y="3115469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关键词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42CF0F-8E0E-4BB0-8674-9393F939B159}"/>
              </a:ext>
            </a:extLst>
          </p:cNvPr>
          <p:cNvSpPr/>
          <p:nvPr/>
        </p:nvSpPr>
        <p:spPr>
          <a:xfrm>
            <a:off x="13703795" y="3109805"/>
            <a:ext cx="853906" cy="3066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标签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5EC564-B945-D7C7-734E-6549C4F4DFAC}"/>
              </a:ext>
            </a:extLst>
          </p:cNvPr>
          <p:cNvSpPr/>
          <p:nvPr/>
        </p:nvSpPr>
        <p:spPr>
          <a:xfrm>
            <a:off x="12815248" y="3446410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LLM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语义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F7AD90F-FAA4-7AE3-9A1F-842A70C06522}"/>
              </a:ext>
            </a:extLst>
          </p:cNvPr>
          <p:cNvSpPr/>
          <p:nvPr/>
        </p:nvSpPr>
        <p:spPr>
          <a:xfrm>
            <a:off x="13703795" y="3446409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多模态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204969-8D14-DA82-B407-5D6C0CD3B9DD}"/>
              </a:ext>
            </a:extLst>
          </p:cNvPr>
          <p:cNvSpPr/>
          <p:nvPr/>
        </p:nvSpPr>
        <p:spPr>
          <a:xfrm>
            <a:off x="16027301" y="4686026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页面模板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015FADC-7CA4-AC99-2D87-40D8155AAB3D}"/>
              </a:ext>
            </a:extLst>
          </p:cNvPr>
          <p:cNvSpPr/>
          <p:nvPr/>
        </p:nvSpPr>
        <p:spPr>
          <a:xfrm>
            <a:off x="12808364" y="1643378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TG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核心指标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365F88D-F029-ADDB-9200-970B6B450589}"/>
              </a:ext>
            </a:extLst>
          </p:cNvPr>
          <p:cNvSpPr/>
          <p:nvPr/>
        </p:nvSpPr>
        <p:spPr>
          <a:xfrm>
            <a:off x="10662833" y="9497680"/>
            <a:ext cx="1743052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商家服务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E2BCCB2-FB2E-21D4-1F13-23041B57535B}"/>
              </a:ext>
            </a:extLst>
          </p:cNvPr>
          <p:cNvSpPr/>
          <p:nvPr/>
        </p:nvSpPr>
        <p:spPr>
          <a:xfrm>
            <a:off x="10662833" y="10224391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反馈沟通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870D4AF-03C8-FB94-4298-A0F2F85E8604}"/>
              </a:ext>
            </a:extLst>
          </p:cNvPr>
          <p:cNvSpPr/>
          <p:nvPr/>
        </p:nvSpPr>
        <p:spPr>
          <a:xfrm>
            <a:off x="10666913" y="9896571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商家圈选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02FD630-F4AA-4260-2638-9C1744A474A6}"/>
              </a:ext>
            </a:extLst>
          </p:cNvPr>
          <p:cNvSpPr/>
          <p:nvPr/>
        </p:nvSpPr>
        <p:spPr>
          <a:xfrm>
            <a:off x="11551979" y="9892906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物料制作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66DF3F1-932D-BB4E-2B60-D502BFDB8D44}"/>
              </a:ext>
            </a:extLst>
          </p:cNvPr>
          <p:cNvSpPr/>
          <p:nvPr/>
        </p:nvSpPr>
        <p:spPr>
          <a:xfrm>
            <a:off x="11551665" y="10229823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分析报告</a:t>
            </a:r>
          </a:p>
        </p:txBody>
      </p:sp>
      <p:sp>
        <p:nvSpPr>
          <p:cNvPr id="44" name="标题 3">
            <a:extLst>
              <a:ext uri="{FF2B5EF4-FFF2-40B4-BE49-F238E27FC236}">
                <a16:creationId xmlns:a16="http://schemas.microsoft.com/office/drawing/2014/main" id="{6EEA65FF-3986-7069-3D65-7B1E68954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12" y="72807"/>
            <a:ext cx="3642978" cy="427313"/>
          </a:xfrm>
        </p:spPr>
        <p:txBody>
          <a:bodyPr>
            <a:normAutofit/>
          </a:bodyPr>
          <a:lstStyle/>
          <a:p>
            <a:r>
              <a:rPr lang="en-US" altLang="zh-CN" sz="2100" dirty="0">
                <a:latin typeface="+mn-ea"/>
                <a:ea typeface="+mn-ea"/>
              </a:rPr>
              <a:t>Skill</a:t>
            </a:r>
            <a:r>
              <a:rPr lang="zh-CN" altLang="en-US" sz="2100" dirty="0">
                <a:latin typeface="+mn-ea"/>
                <a:ea typeface="+mn-ea"/>
              </a:rPr>
              <a:t>模块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BC73008-C67A-680B-1106-CD60EDA1D20D}"/>
              </a:ext>
            </a:extLst>
          </p:cNvPr>
          <p:cNvSpPr/>
          <p:nvPr/>
        </p:nvSpPr>
        <p:spPr>
          <a:xfrm>
            <a:off x="10489181" y="1647795"/>
            <a:ext cx="853200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站内异动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DB321C0-EEDB-31DA-1197-2F14D74779CA}"/>
              </a:ext>
            </a:extLst>
          </p:cNvPr>
          <p:cNvSpPr/>
          <p:nvPr/>
        </p:nvSpPr>
        <p:spPr>
          <a:xfrm>
            <a:off x="11368395" y="1647794"/>
            <a:ext cx="853200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站外趋势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6E18518-8809-CBED-8D27-473F26C1FDD7}"/>
              </a:ext>
            </a:extLst>
          </p:cNvPr>
          <p:cNvSpPr/>
          <p:nvPr/>
        </p:nvSpPr>
        <p:spPr>
          <a:xfrm>
            <a:off x="10666642" y="10771457"/>
            <a:ext cx="1738029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异动监测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A7E3669-E064-60AA-BEDC-E26E6222B455}"/>
              </a:ext>
            </a:extLst>
          </p:cNvPr>
          <p:cNvSpPr/>
          <p:nvPr/>
        </p:nvSpPr>
        <p:spPr>
          <a:xfrm>
            <a:off x="17474075" y="1231526"/>
            <a:ext cx="1738029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动线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资源对接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D25A42A-870A-2FA2-EADD-2F5D84CAFD07}"/>
              </a:ext>
            </a:extLst>
          </p:cNvPr>
          <p:cNvSpPr/>
          <p:nvPr/>
        </p:nvSpPr>
        <p:spPr>
          <a:xfrm>
            <a:off x="15142522" y="1993031"/>
            <a:ext cx="856139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规则试算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81FB9A1-6285-4E7B-7DE8-B4304660E9D4}"/>
              </a:ext>
            </a:extLst>
          </p:cNvPr>
          <p:cNvSpPr/>
          <p:nvPr/>
        </p:nvSpPr>
        <p:spPr>
          <a:xfrm>
            <a:off x="16025675" y="1643378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规则建议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08F0142B-D68F-836B-0A1C-A714F14C84EA}"/>
              </a:ext>
            </a:extLst>
          </p:cNvPr>
          <p:cNvSpPr/>
          <p:nvPr/>
        </p:nvSpPr>
        <p:spPr>
          <a:xfrm>
            <a:off x="15143123" y="2335943"/>
            <a:ext cx="8460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报告生成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8D6F19E-8D6F-A71F-1A59-EB1E025E69CB}"/>
              </a:ext>
            </a:extLst>
          </p:cNvPr>
          <p:cNvSpPr/>
          <p:nvPr/>
        </p:nvSpPr>
        <p:spPr>
          <a:xfrm>
            <a:off x="16036773" y="5030293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配置生成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1DE4A80-E7CC-9E79-4ADB-726B58350A9B}"/>
              </a:ext>
            </a:extLst>
          </p:cNvPr>
          <p:cNvSpPr/>
          <p:nvPr/>
        </p:nvSpPr>
        <p:spPr>
          <a:xfrm>
            <a:off x="16025675" y="2332619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标注反馈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303865F-AF2A-6680-27C0-F93E095734DA}"/>
              </a:ext>
            </a:extLst>
          </p:cNvPr>
          <p:cNvSpPr/>
          <p:nvPr/>
        </p:nvSpPr>
        <p:spPr>
          <a:xfrm>
            <a:off x="12813736" y="1992997"/>
            <a:ext cx="848534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分析报告</a:t>
            </a:r>
          </a:p>
        </p:txBody>
      </p:sp>
      <p:sp>
        <p:nvSpPr>
          <p:cNvPr id="77" name="标题 3">
            <a:extLst>
              <a:ext uri="{FF2B5EF4-FFF2-40B4-BE49-F238E27FC236}">
                <a16:creationId xmlns:a16="http://schemas.microsoft.com/office/drawing/2014/main" id="{4AE2A82A-DAD9-51D8-16BA-307E2C8C9FFC}"/>
              </a:ext>
            </a:extLst>
          </p:cNvPr>
          <p:cNvSpPr txBox="1">
            <a:spLocks/>
          </p:cNvSpPr>
          <p:nvPr/>
        </p:nvSpPr>
        <p:spPr>
          <a:xfrm>
            <a:off x="159402" y="-809680"/>
            <a:ext cx="8504026" cy="427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r>
              <a:rPr lang="zh-CN" altLang="en-US" sz="2100" dirty="0">
                <a:latin typeface="+mn-ea"/>
                <a:ea typeface="+mn-ea"/>
              </a:rPr>
              <a:t>哪些环节是人，哪些环节是机器。哪些是内部必备</a:t>
            </a:r>
            <a:r>
              <a:rPr lang="en-US" altLang="zh-CN" sz="2100" dirty="0">
                <a:latin typeface="+mn-ea"/>
                <a:ea typeface="+mn-ea"/>
              </a:rPr>
              <a:t>skill</a:t>
            </a:r>
            <a:r>
              <a:rPr lang="zh-CN" altLang="en-US" sz="2100" dirty="0">
                <a:latin typeface="+mn-ea"/>
                <a:ea typeface="+mn-ea"/>
              </a:rPr>
              <a:t>，哪些和外部</a:t>
            </a:r>
            <a:r>
              <a:rPr lang="en-US" altLang="zh-CN" sz="2100" dirty="0">
                <a:latin typeface="+mn-ea"/>
                <a:ea typeface="+mn-ea"/>
              </a:rPr>
              <a:t>skill</a:t>
            </a:r>
            <a:r>
              <a:rPr lang="zh-CN" altLang="en-US" sz="2100" dirty="0">
                <a:latin typeface="+mn-ea"/>
                <a:ea typeface="+mn-ea"/>
              </a:rPr>
              <a:t>交互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1F2BDDD2-94F9-CC6D-51B3-9A17D4F7E4A4}"/>
              </a:ext>
            </a:extLst>
          </p:cNvPr>
          <p:cNvSpPr/>
          <p:nvPr/>
        </p:nvSpPr>
        <p:spPr>
          <a:xfrm>
            <a:off x="15143123" y="1643378"/>
            <a:ext cx="855538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价值判断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3B6D687-5CC8-7EC1-D267-8EA65FC41CD4}"/>
              </a:ext>
            </a:extLst>
          </p:cNvPr>
          <p:cNvSpPr/>
          <p:nvPr/>
        </p:nvSpPr>
        <p:spPr>
          <a:xfrm>
            <a:off x="10482784" y="773694"/>
            <a:ext cx="1738028" cy="36689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需求洞察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13AB11D-AE14-30C0-3407-60FAC714B53D}"/>
              </a:ext>
            </a:extLst>
          </p:cNvPr>
          <p:cNvSpPr/>
          <p:nvPr/>
        </p:nvSpPr>
        <p:spPr>
          <a:xfrm>
            <a:off x="12812953" y="773694"/>
            <a:ext cx="1738800" cy="36689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分析决策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C2F1CB4-007E-86C1-9A87-02377631D152}"/>
              </a:ext>
            </a:extLst>
          </p:cNvPr>
          <p:cNvSpPr txBox="1"/>
          <p:nvPr/>
        </p:nvSpPr>
        <p:spPr>
          <a:xfrm>
            <a:off x="12903945" y="2327650"/>
            <a:ext cx="1518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供给理解挖掘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D1315A9C-DFE7-6723-B1A6-5010F0360210}"/>
              </a:ext>
            </a:extLst>
          </p:cNvPr>
          <p:cNvSpPr/>
          <p:nvPr/>
        </p:nvSpPr>
        <p:spPr>
          <a:xfrm>
            <a:off x="17474346" y="1645065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动线配置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5FD781A-0E7E-C125-A84A-5ACA8D64CFE2}"/>
              </a:ext>
            </a:extLst>
          </p:cNvPr>
          <p:cNvSpPr/>
          <p:nvPr/>
        </p:nvSpPr>
        <p:spPr>
          <a:xfrm>
            <a:off x="18361910" y="1643378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资源投放</a:t>
            </a: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F0C326CD-335E-8F5E-BED4-4B1DD5B192F6}"/>
              </a:ext>
            </a:extLst>
          </p:cNvPr>
          <p:cNvSpPr/>
          <p:nvPr/>
        </p:nvSpPr>
        <p:spPr>
          <a:xfrm>
            <a:off x="15143122" y="773694"/>
            <a:ext cx="1738800" cy="36689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榜单建设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5EAE2ADE-4BEA-98D0-F48A-3BC629744ADA}"/>
              </a:ext>
            </a:extLst>
          </p:cNvPr>
          <p:cNvSpPr/>
          <p:nvPr/>
        </p:nvSpPr>
        <p:spPr>
          <a:xfrm>
            <a:off x="10666913" y="11151550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新快爬榜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307D1555-869C-5DBF-5CE0-7D6436F9684F}"/>
              </a:ext>
            </a:extLst>
          </p:cNvPr>
          <p:cNvSpPr/>
          <p:nvPr/>
        </p:nvSpPr>
        <p:spPr>
          <a:xfrm>
            <a:off x="11548047" y="11154313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321DAB1B-5464-64FE-8AA1-CEB1951009D3}"/>
              </a:ext>
            </a:extLst>
          </p:cNvPr>
          <p:cNvSpPr/>
          <p:nvPr/>
        </p:nvSpPr>
        <p:spPr>
          <a:xfrm>
            <a:off x="10522167" y="4241847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门店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7C785C0-F4DD-7B78-6AE0-5E432EBA8B70}"/>
              </a:ext>
            </a:extLst>
          </p:cNvPr>
          <p:cNvSpPr/>
          <p:nvPr/>
        </p:nvSpPr>
        <p:spPr>
          <a:xfrm>
            <a:off x="11392711" y="4241761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菜品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A3BDCCFB-88ED-9B8C-198C-13214C6C601B}"/>
              </a:ext>
            </a:extLst>
          </p:cNvPr>
          <p:cNvSpPr/>
          <p:nvPr/>
        </p:nvSpPr>
        <p:spPr>
          <a:xfrm>
            <a:off x="10521814" y="4571083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Deal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B7894ACC-B08D-A1DA-99CA-65A4AB259696}"/>
              </a:ext>
            </a:extLst>
          </p:cNvPr>
          <p:cNvSpPr/>
          <p:nvPr/>
        </p:nvSpPr>
        <p:spPr>
          <a:xfrm>
            <a:off x="15136529" y="2760554"/>
            <a:ext cx="1744678" cy="3668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产研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设计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测试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185004CB-56C8-D533-3644-6D6F08865183}"/>
              </a:ext>
            </a:extLst>
          </p:cNvPr>
          <p:cNvSpPr/>
          <p:nvPr/>
        </p:nvSpPr>
        <p:spPr>
          <a:xfrm>
            <a:off x="12808364" y="3839337"/>
            <a:ext cx="1763093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用户分析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924637E0-DEB4-B310-69CB-C2234BD2A0E6}"/>
              </a:ext>
            </a:extLst>
          </p:cNvPr>
          <p:cNvSpPr/>
          <p:nvPr/>
        </p:nvSpPr>
        <p:spPr>
          <a:xfrm>
            <a:off x="12808364" y="4586710"/>
            <a:ext cx="1763092" cy="3668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竞对分析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2" name="矩形: 圆角 151">
            <a:extLst>
              <a:ext uri="{FF2B5EF4-FFF2-40B4-BE49-F238E27FC236}">
                <a16:creationId xmlns:a16="http://schemas.microsoft.com/office/drawing/2014/main" id="{5986D27A-CBC8-CFE9-D37D-D20F207B8D55}"/>
              </a:ext>
            </a:extLst>
          </p:cNvPr>
          <p:cNvSpPr/>
          <p:nvPr/>
        </p:nvSpPr>
        <p:spPr>
          <a:xfrm>
            <a:off x="17473292" y="773694"/>
            <a:ext cx="1738800" cy="36689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运营工具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B09B4DFB-5B67-A845-65C8-490D99FB4D96}"/>
              </a:ext>
            </a:extLst>
          </p:cNvPr>
          <p:cNvSpPr/>
          <p:nvPr/>
        </p:nvSpPr>
        <p:spPr>
          <a:xfrm>
            <a:off x="13697196" y="1644974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生态指标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02403D66-E879-AA99-CFE6-B49876F12347}"/>
              </a:ext>
            </a:extLst>
          </p:cNvPr>
          <p:cNvSpPr/>
          <p:nvPr/>
        </p:nvSpPr>
        <p:spPr>
          <a:xfrm>
            <a:off x="12815248" y="4236962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用户画像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09F1A67A-C384-7A69-B8CD-0E758A7EFC6A}"/>
              </a:ext>
            </a:extLst>
          </p:cNvPr>
          <p:cNvSpPr/>
          <p:nvPr/>
        </p:nvSpPr>
        <p:spPr>
          <a:xfrm>
            <a:off x="13697196" y="4237092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行为序列</a:t>
            </a: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FD9C785D-D8F8-1CA5-8AEC-EBECF10565DD}"/>
              </a:ext>
            </a:extLst>
          </p:cNvPr>
          <p:cNvSpPr/>
          <p:nvPr/>
        </p:nvSpPr>
        <p:spPr>
          <a:xfrm>
            <a:off x="17488786" y="1992997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ROI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预估</a:t>
            </a: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C3856A4B-5DD5-AE9B-E1CB-83D19A99DB5A}"/>
              </a:ext>
            </a:extLst>
          </p:cNvPr>
          <p:cNvSpPr/>
          <p:nvPr/>
        </p:nvSpPr>
        <p:spPr>
          <a:xfrm>
            <a:off x="10666913" y="11478586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问题定位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8EDC4E90-3BDF-E8C5-AD82-3626B378C316}"/>
              </a:ext>
            </a:extLst>
          </p:cNvPr>
          <p:cNvSpPr/>
          <p:nvPr/>
        </p:nvSpPr>
        <p:spPr>
          <a:xfrm>
            <a:off x="11548047" y="11472816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策略建议</a:t>
            </a: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263067E4-61EF-CF75-CC92-B6A957D011E0}"/>
              </a:ext>
            </a:extLst>
          </p:cNvPr>
          <p:cNvSpPr/>
          <p:nvPr/>
        </p:nvSpPr>
        <p:spPr>
          <a:xfrm>
            <a:off x="16031354" y="1986369"/>
            <a:ext cx="842548" cy="3145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供给挖掘</a:t>
            </a: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034B115F-F50F-794F-8409-DFA440FB49B3}"/>
              </a:ext>
            </a:extLst>
          </p:cNvPr>
          <p:cNvSpPr/>
          <p:nvPr/>
        </p:nvSpPr>
        <p:spPr>
          <a:xfrm>
            <a:off x="15143122" y="3517212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UE/UI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141C00AE-24C6-C2E1-FE70-05FBA762D620}"/>
              </a:ext>
            </a:extLst>
          </p:cNvPr>
          <p:cNvSpPr/>
          <p:nvPr/>
        </p:nvSpPr>
        <p:spPr>
          <a:xfrm>
            <a:off x="16036773" y="3512295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技术架构</a:t>
            </a: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396D6087-BA46-1F16-25F1-E729B78090AB}"/>
              </a:ext>
            </a:extLst>
          </p:cNvPr>
          <p:cNvSpPr/>
          <p:nvPr/>
        </p:nvSpPr>
        <p:spPr>
          <a:xfrm>
            <a:off x="16040533" y="3176561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产品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PRD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5453E648-8AFF-8B13-BF0A-E1079C950926}"/>
              </a:ext>
            </a:extLst>
          </p:cNvPr>
          <p:cNvSpPr/>
          <p:nvPr/>
        </p:nvSpPr>
        <p:spPr>
          <a:xfrm>
            <a:off x="16037087" y="3860417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评审验收</a:t>
            </a: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B07254F0-FE84-5BBF-A15A-F5245175BBA7}"/>
              </a:ext>
            </a:extLst>
          </p:cNvPr>
          <p:cNvSpPr/>
          <p:nvPr/>
        </p:nvSpPr>
        <p:spPr>
          <a:xfrm>
            <a:off x="15152787" y="3173967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整体调度</a:t>
            </a: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75175C57-5E3E-1131-BE59-7CBAFE2E29CB}"/>
              </a:ext>
            </a:extLst>
          </p:cNvPr>
          <p:cNvSpPr/>
          <p:nvPr/>
        </p:nvSpPr>
        <p:spPr>
          <a:xfrm>
            <a:off x="15152787" y="3861823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代码用例</a:t>
            </a: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D055FD88-0117-D30A-DC82-6F210F3AC0A6}"/>
              </a:ext>
            </a:extLst>
          </p:cNvPr>
          <p:cNvSpPr/>
          <p:nvPr/>
        </p:nvSpPr>
        <p:spPr>
          <a:xfrm>
            <a:off x="17507908" y="2408820"/>
            <a:ext cx="1743052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用户运营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Skills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B0D2ACE9-AA48-5183-7906-0F8EAD3D845C}"/>
              </a:ext>
            </a:extLst>
          </p:cNvPr>
          <p:cNvSpPr/>
          <p:nvPr/>
        </p:nvSpPr>
        <p:spPr>
          <a:xfrm>
            <a:off x="17507908" y="3135531"/>
            <a:ext cx="853906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体验收集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2305DFED-DE8B-F133-F391-2B9E49D5173E}"/>
              </a:ext>
            </a:extLst>
          </p:cNvPr>
          <p:cNvSpPr/>
          <p:nvPr/>
        </p:nvSpPr>
        <p:spPr>
          <a:xfrm>
            <a:off x="17511988" y="2807711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用户圈选</a:t>
            </a: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A6C18295-F861-BA2A-EE31-6D683BB43B77}"/>
              </a:ext>
            </a:extLst>
          </p:cNvPr>
          <p:cNvSpPr/>
          <p:nvPr/>
        </p:nvSpPr>
        <p:spPr>
          <a:xfrm>
            <a:off x="18397054" y="2804046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活动策略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E0E5EE0C-7459-7855-FD4E-DF0F12E923DD}"/>
              </a:ext>
            </a:extLst>
          </p:cNvPr>
          <p:cNvSpPr/>
          <p:nvPr/>
        </p:nvSpPr>
        <p:spPr>
          <a:xfrm>
            <a:off x="18397054" y="3133394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用户触达</a:t>
            </a: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74CC4E49-664A-C67F-6246-2D8F31FE1CA5}"/>
              </a:ext>
            </a:extLst>
          </p:cNvPr>
          <p:cNvSpPr/>
          <p:nvPr/>
        </p:nvSpPr>
        <p:spPr>
          <a:xfrm>
            <a:off x="10489181" y="1997671"/>
            <a:ext cx="853200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需求挖掘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06CBCD27-8207-56B2-8C19-191BB7904578}"/>
              </a:ext>
            </a:extLst>
          </p:cNvPr>
          <p:cNvSpPr/>
          <p:nvPr/>
        </p:nvSpPr>
        <p:spPr>
          <a:xfrm>
            <a:off x="15137200" y="5031706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试点圈选</a:t>
            </a: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49E51B62-122A-9628-1DE8-359524BCF0D0}"/>
              </a:ext>
            </a:extLst>
          </p:cNvPr>
          <p:cNvSpPr/>
          <p:nvPr/>
        </p:nvSpPr>
        <p:spPr>
          <a:xfrm>
            <a:off x="13697196" y="1986368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信息查询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661869CA-9A93-095B-1CF2-C4E4F13E9C62}"/>
              </a:ext>
            </a:extLst>
          </p:cNvPr>
          <p:cNvSpPr/>
          <p:nvPr/>
        </p:nvSpPr>
        <p:spPr>
          <a:xfrm>
            <a:off x="11375119" y="1990739"/>
            <a:ext cx="853200" cy="301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6A08A602-461A-15C4-57B4-130BD828E4B0}"/>
              </a:ext>
            </a:extLst>
          </p:cNvPr>
          <p:cNvCxnSpPr>
            <a:cxnSpLocks/>
            <a:stCxn id="176" idx="2"/>
          </p:cNvCxnSpPr>
          <p:nvPr/>
        </p:nvCxnSpPr>
        <p:spPr>
          <a:xfrm>
            <a:off x="11801719" y="2291758"/>
            <a:ext cx="0" cy="1492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本框 183">
            <a:extLst>
              <a:ext uri="{FF2B5EF4-FFF2-40B4-BE49-F238E27FC236}">
                <a16:creationId xmlns:a16="http://schemas.microsoft.com/office/drawing/2014/main" id="{623772B7-9127-2110-35D5-3F2045D06EA0}"/>
              </a:ext>
            </a:extLst>
          </p:cNvPr>
          <p:cNvSpPr txBox="1"/>
          <p:nvPr/>
        </p:nvSpPr>
        <p:spPr>
          <a:xfrm>
            <a:off x="11311951" y="2027782"/>
            <a:ext cx="9660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供给关联映射</a:t>
            </a: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D2C23625-6009-0818-678E-EE97BD4BBABC}"/>
              </a:ext>
            </a:extLst>
          </p:cNvPr>
          <p:cNvSpPr/>
          <p:nvPr/>
        </p:nvSpPr>
        <p:spPr>
          <a:xfrm>
            <a:off x="11398143" y="4571083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体验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服务</a:t>
            </a:r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248577AE-B8B4-30C9-8AAD-77BC09C9AB7C}"/>
              </a:ext>
            </a:extLst>
          </p:cNvPr>
          <p:cNvSpPr/>
          <p:nvPr/>
        </p:nvSpPr>
        <p:spPr>
          <a:xfrm>
            <a:off x="17951490" y="554949"/>
            <a:ext cx="383826" cy="126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4E98596B-A05D-4666-ABC2-09B953D6D79B}"/>
              </a:ext>
            </a:extLst>
          </p:cNvPr>
          <p:cNvSpPr/>
          <p:nvPr/>
        </p:nvSpPr>
        <p:spPr>
          <a:xfrm>
            <a:off x="15137200" y="4690418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数据生成</a:t>
            </a: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206C2F3E-E2F8-7541-C312-6593773DDC91}"/>
              </a:ext>
            </a:extLst>
          </p:cNvPr>
          <p:cNvSpPr/>
          <p:nvPr/>
        </p:nvSpPr>
        <p:spPr>
          <a:xfrm>
            <a:off x="18366096" y="1986367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效果复盘</a:t>
            </a: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15FF8F39-D1AB-2336-72C6-D2B0934F4120}"/>
              </a:ext>
            </a:extLst>
          </p:cNvPr>
          <p:cNvSpPr txBox="1"/>
          <p:nvPr/>
        </p:nvSpPr>
        <p:spPr>
          <a:xfrm>
            <a:off x="11491956" y="11204350"/>
            <a:ext cx="9660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负面信号操作</a:t>
            </a: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A18189AA-C361-26AE-AD75-125827126087}"/>
              </a:ext>
            </a:extLst>
          </p:cNvPr>
          <p:cNvSpPr txBox="1"/>
          <p:nvPr/>
        </p:nvSpPr>
        <p:spPr>
          <a:xfrm>
            <a:off x="13669154" y="2612418"/>
            <a:ext cx="4049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chemeClr val="accent3"/>
                </a:solidFill>
                <a:latin typeface="+mn-ea"/>
              </a:rPr>
              <a:t>●</a:t>
            </a:r>
            <a:endParaRPr lang="zh-CN" altLang="en-US" sz="900" dirty="0">
              <a:solidFill>
                <a:schemeClr val="accent3"/>
              </a:solidFill>
            </a:endParaRPr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CB7E7A8C-2ACA-4FE8-DA1D-7C7723F7A1A2}"/>
              </a:ext>
            </a:extLst>
          </p:cNvPr>
          <p:cNvSpPr txBox="1"/>
          <p:nvPr/>
        </p:nvSpPr>
        <p:spPr>
          <a:xfrm>
            <a:off x="12903945" y="1324040"/>
            <a:ext cx="4049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chemeClr val="accent3"/>
                </a:solidFill>
                <a:latin typeface="+mn-ea"/>
              </a:rPr>
              <a:t>●</a:t>
            </a:r>
            <a:endParaRPr lang="zh-CN" altLang="en-US" sz="900" dirty="0">
              <a:solidFill>
                <a:schemeClr val="accent3"/>
              </a:solidFill>
            </a:endParaRPr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ACC9423F-C1F8-9B10-6B8B-13613F9DE239}"/>
              </a:ext>
            </a:extLst>
          </p:cNvPr>
          <p:cNvSpPr txBox="1"/>
          <p:nvPr/>
        </p:nvSpPr>
        <p:spPr>
          <a:xfrm>
            <a:off x="15095062" y="1320137"/>
            <a:ext cx="4049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chemeClr val="accent3"/>
                </a:solidFill>
                <a:latin typeface="+mn-ea"/>
              </a:rPr>
              <a:t>●</a:t>
            </a:r>
            <a:endParaRPr lang="zh-CN" altLang="en-US" sz="900" dirty="0">
              <a:solidFill>
                <a:schemeClr val="accent3"/>
              </a:solidFill>
            </a:endParaRPr>
          </a:p>
        </p:txBody>
      </p:sp>
      <p:sp>
        <p:nvSpPr>
          <p:cNvPr id="255" name="文本框 254">
            <a:extLst>
              <a:ext uri="{FF2B5EF4-FFF2-40B4-BE49-F238E27FC236}">
                <a16:creationId xmlns:a16="http://schemas.microsoft.com/office/drawing/2014/main" id="{4A804492-6E8C-58DA-9642-CC96944E2854}"/>
              </a:ext>
            </a:extLst>
          </p:cNvPr>
          <p:cNvSpPr txBox="1"/>
          <p:nvPr/>
        </p:nvSpPr>
        <p:spPr>
          <a:xfrm>
            <a:off x="15169174" y="4349489"/>
            <a:ext cx="4049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chemeClr val="accent3"/>
                </a:solidFill>
                <a:latin typeface="+mn-ea"/>
              </a:rPr>
              <a:t>●</a:t>
            </a:r>
            <a:endParaRPr lang="zh-CN" altLang="en-US" sz="900" dirty="0">
              <a:solidFill>
                <a:schemeClr val="accent3"/>
              </a:solidFill>
            </a:endParaRPr>
          </a:p>
        </p:txBody>
      </p:sp>
      <p:sp>
        <p:nvSpPr>
          <p:cNvPr id="256" name="文本框 255">
            <a:extLst>
              <a:ext uri="{FF2B5EF4-FFF2-40B4-BE49-F238E27FC236}">
                <a16:creationId xmlns:a16="http://schemas.microsoft.com/office/drawing/2014/main" id="{77855BBB-8536-7FE7-CADC-744ACAB8EC98}"/>
              </a:ext>
            </a:extLst>
          </p:cNvPr>
          <p:cNvSpPr txBox="1"/>
          <p:nvPr/>
        </p:nvSpPr>
        <p:spPr>
          <a:xfrm>
            <a:off x="17408669" y="1324670"/>
            <a:ext cx="4049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chemeClr val="accent3"/>
                </a:solidFill>
                <a:latin typeface="+mn-ea"/>
              </a:rPr>
              <a:t>●</a:t>
            </a:r>
            <a:endParaRPr lang="zh-CN" altLang="en-US" sz="900" dirty="0">
              <a:solidFill>
                <a:schemeClr val="accent3"/>
              </a:solidFill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19FB5FE-4254-E592-C45E-56C4C1D137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480518"/>
              </p:ext>
            </p:extLst>
          </p:nvPr>
        </p:nvGraphicFramePr>
        <p:xfrm>
          <a:off x="208205" y="681149"/>
          <a:ext cx="9519195" cy="149269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0728">
                  <a:extLst>
                    <a:ext uri="{9D8B030D-6E8A-4147-A177-3AD203B41FA5}">
                      <a16:colId xmlns:a16="http://schemas.microsoft.com/office/drawing/2014/main" val="2375782218"/>
                    </a:ext>
                  </a:extLst>
                </a:gridCol>
                <a:gridCol w="950586">
                  <a:extLst>
                    <a:ext uri="{9D8B030D-6E8A-4147-A177-3AD203B41FA5}">
                      <a16:colId xmlns:a16="http://schemas.microsoft.com/office/drawing/2014/main" val="3131976914"/>
                    </a:ext>
                  </a:extLst>
                </a:gridCol>
                <a:gridCol w="1877181">
                  <a:extLst>
                    <a:ext uri="{9D8B030D-6E8A-4147-A177-3AD203B41FA5}">
                      <a16:colId xmlns:a16="http://schemas.microsoft.com/office/drawing/2014/main" val="2981317632"/>
                    </a:ext>
                  </a:extLst>
                </a:gridCol>
                <a:gridCol w="1606211">
                  <a:extLst>
                    <a:ext uri="{9D8B030D-6E8A-4147-A177-3AD203B41FA5}">
                      <a16:colId xmlns:a16="http://schemas.microsoft.com/office/drawing/2014/main" val="76904218"/>
                    </a:ext>
                  </a:extLst>
                </a:gridCol>
                <a:gridCol w="1595699">
                  <a:extLst>
                    <a:ext uri="{9D8B030D-6E8A-4147-A177-3AD203B41FA5}">
                      <a16:colId xmlns:a16="http://schemas.microsoft.com/office/drawing/2014/main" val="4024481378"/>
                    </a:ext>
                  </a:extLst>
                </a:gridCol>
                <a:gridCol w="1445725">
                  <a:extLst>
                    <a:ext uri="{9D8B030D-6E8A-4147-A177-3AD203B41FA5}">
                      <a16:colId xmlns:a16="http://schemas.microsoft.com/office/drawing/2014/main" val="3587185380"/>
                    </a:ext>
                  </a:extLst>
                </a:gridCol>
                <a:gridCol w="1003065">
                  <a:extLst>
                    <a:ext uri="{9D8B030D-6E8A-4147-A177-3AD203B41FA5}">
                      <a16:colId xmlns:a16="http://schemas.microsoft.com/office/drawing/2014/main" val="2739842920"/>
                    </a:ext>
                  </a:extLst>
                </a:gridCol>
              </a:tblGrid>
              <a:tr h="308378"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latin typeface="+mn-ea"/>
                          <a:ea typeface="+mn-ea"/>
                        </a:rPr>
                        <a:t>模块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dirty="0">
                          <a:latin typeface="+mn-ea"/>
                          <a:ea typeface="+mn-ea"/>
                        </a:rPr>
                        <a:t>Skills</a:t>
                      </a:r>
                      <a:endParaRPr lang="zh-CN" altLang="en-US" sz="9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latin typeface="+mn-ea"/>
                          <a:ea typeface="+mn-ea"/>
                        </a:rPr>
                        <a:t>输入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latin typeface="+mn-ea"/>
                          <a:ea typeface="+mn-ea"/>
                        </a:rPr>
                        <a:t>输出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latin typeface="+mn-ea"/>
                          <a:ea typeface="+mn-ea"/>
                        </a:rPr>
                        <a:t>复用沉淀（可供输入引用及优化效果）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latin typeface="+mn-ea"/>
                          <a:ea typeface="+mn-ea"/>
                        </a:rPr>
                        <a:t>关联</a:t>
                      </a:r>
                      <a:r>
                        <a:rPr lang="en-US" altLang="zh-CN" sz="900" b="0" dirty="0">
                          <a:latin typeface="+mn-ea"/>
                          <a:ea typeface="+mn-ea"/>
                        </a:rPr>
                        <a:t>Skill</a:t>
                      </a:r>
                      <a:endParaRPr lang="zh-CN" altLang="en-US" sz="9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latin typeface="+mn-ea"/>
                          <a:ea typeface="+mn-ea"/>
                        </a:rPr>
                        <a:t>人的价值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9249809"/>
                  </a:ext>
                </a:extLst>
              </a:tr>
              <a:tr h="749569">
                <a:tc rowSpan="2"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趋势探测</a:t>
                      </a:r>
                      <a:r>
                        <a:rPr lang="en-US" sz="900" b="0" dirty="0">
                          <a:effectLst/>
                          <a:latin typeface="+mn-ea"/>
                          <a:ea typeface="+mn-ea"/>
                        </a:rPr>
                        <a:t>Skill</a:t>
                      </a:r>
                      <a:endParaRPr lang="zh-CN" altLang="en-US" sz="9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站内异动</a:t>
                      </a:r>
                      <a:endParaRPr lang="en-US" altLang="zh-CN" sz="900" b="0" dirty="0"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⭐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大搜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/POI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等流量场的数据表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/API/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仪表盘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新增评价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站内大搜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/POI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Top/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飙升的：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6858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Query/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主题词（如：“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Bistro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微醺”、“穷鬼套餐”）等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6858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，及趋势主题词聚类至品类词、菜品词、地址、场景、门店等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已有品、菜、地址、场景、门店定义、正负标注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异动定义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数据分析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供给关联</a:t>
                      </a:r>
                      <a:r>
                        <a:rPr lang="en-US" altLang="zh-CN" sz="900" b="0" dirty="0">
                          <a:effectLst/>
                          <a:latin typeface="+mn-ea"/>
                          <a:ea typeface="+mn-ea"/>
                        </a:rPr>
                        <a:t>Skill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异动监测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评价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UGC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挖掘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l" defTabSz="6858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定义、标注、确认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6039552"/>
                  </a:ext>
                </a:extLst>
              </a:tr>
              <a:tr h="6424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站外趋势</a:t>
                      </a:r>
                      <a:endParaRPr lang="en-US" altLang="zh-CN" sz="900" b="0" dirty="0"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⭐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站外（抖音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小红书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微博等）可登录爬取地址、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文杰已做的页面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供给算法平台页面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除上述外，还包括站外近期高赞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飙升餐饮类视频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笔记单条，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Tag/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话题，作者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账号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900" b="0" dirty="0">
                          <a:hlinkClick r:id="rId3" tooltip="https://supply.sankuai.com/#/layout/hotspots"/>
                        </a:rPr>
                        <a:t>https://supply.sankuai.com/#/layout/hotspots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3"/>
                        </a:rPr>
                        <a:t>https://supply.sankuai.com/#/layout/hotspots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趋势定义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92075" marR="0" lvl="0" indent="-9207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zh-CN" alt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2246873"/>
                  </a:ext>
                </a:extLst>
              </a:tr>
              <a:tr h="526813"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供给关联</a:t>
                      </a:r>
                      <a:r>
                        <a:rPr lang="en-US" altLang="zh-CN" sz="900" b="0" dirty="0">
                          <a:effectLst/>
                          <a:latin typeface="+mn-ea"/>
                          <a:ea typeface="+mn-ea"/>
                        </a:rPr>
                        <a:t>Skill</a:t>
                      </a:r>
                      <a:endParaRPr lang="zh-CN" altLang="en-US" sz="9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门店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菜品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/deal/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体验服务</a:t>
                      </a:r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映射</a:t>
                      </a:r>
                      <a:endParaRPr lang="en-US" altLang="zh-CN" sz="900" b="0" dirty="0"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⭐⭐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门店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菜品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/deal/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体验服务的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id/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链接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名字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长短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query/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标签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自然语言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门店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菜品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/deal/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体验表单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一个或多个门店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菜品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/deal/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体验服务的候选，以及概率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accent3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已有映射的定义、正负标注</a:t>
                      </a:r>
                      <a:endParaRPr lang="en-US" altLang="zh-CN" sz="900" b="0" kern="1200" dirty="0">
                        <a:solidFill>
                          <a:schemeClr val="accent3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accent3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待补充</a:t>
                      </a:r>
                      <a:endParaRPr lang="en-US" sz="900" b="0" kern="1200" dirty="0">
                        <a:solidFill>
                          <a:schemeClr val="accent3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900" b="0" kern="1200" dirty="0">
                        <a:solidFill>
                          <a:schemeClr val="accent3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定义、资产建设、标注、确认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3111856"/>
                  </a:ext>
                </a:extLst>
              </a:tr>
              <a:tr h="846263">
                <a:tc rowSpan="2"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数据分析</a:t>
                      </a:r>
                      <a:r>
                        <a:rPr lang="en-US" altLang="zh-CN" sz="900" b="0" dirty="0">
                          <a:effectLst/>
                          <a:latin typeface="+mn-ea"/>
                          <a:ea typeface="+mn-ea"/>
                        </a:rPr>
                        <a:t>Skill</a:t>
                      </a:r>
                      <a:endParaRPr lang="zh-CN" altLang="en-US" sz="9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数据查询</a:t>
                      </a:r>
                      <a:r>
                        <a:rPr lang="en-US" altLang="zh-CN" sz="900" b="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指标复盘</a:t>
                      </a:r>
                      <a:endParaRPr lang="en-US" altLang="zh-CN" sz="900" b="0" dirty="0"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⭐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需求自然语言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Text-to-SQL/SQL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（具体表单）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看板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数据字典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外部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标准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SQL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、宽表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查询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复盘结果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分析结论、建议、预警，形成文档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报告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成功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Prompt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集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数据字典定义、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SQL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集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表单集、看板集、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集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复盘指标集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历史优质分析文档、正确结果参考</a:t>
                      </a:r>
                      <a:endParaRPr 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确定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迭代需求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体系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布码、建表、清洗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确认、审核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8907427"/>
                  </a:ext>
                </a:extLst>
              </a:tr>
              <a:tr h="642455">
                <a:tc vMerge="1">
                  <a:txBody>
                    <a:bodyPr/>
                    <a:lstStyle/>
                    <a:p>
                      <a:endParaRPr lang="zh-CN" altLang="en-US" sz="9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价值分析</a:t>
                      </a:r>
                      <a:endParaRPr lang="en-US" altLang="zh-CN" sz="900" b="0" dirty="0"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⭐⭐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6858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除上述输入外：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92075" indent="-9207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价值判断自然语言描述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92075" indent="-9207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规则约束（如加分项、底线）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92075" indent="-9207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指标集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分析对比报告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取舍建议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价值及规则描述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价值判断指标集</a:t>
                      </a:r>
                      <a:endParaRPr 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价值观、业务理解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深入物理世界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与利益方的沟通、影响力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4389147"/>
                  </a:ext>
                </a:extLst>
              </a:tr>
              <a:tr h="1070274">
                <a:tc rowSpan="3"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评价</a:t>
                      </a:r>
                      <a:r>
                        <a:rPr lang="en-US" sz="900" b="0" dirty="0">
                          <a:effectLst/>
                          <a:latin typeface="+mn-ea"/>
                          <a:ea typeface="+mn-ea"/>
                        </a:rPr>
                        <a:t>UGC</a:t>
                      </a:r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挖掘 </a:t>
                      </a:r>
                      <a:r>
                        <a:rPr lang="en-US" sz="900" b="0" dirty="0">
                          <a:effectLst/>
                          <a:latin typeface="+mn-ea"/>
                          <a:ea typeface="+mn-ea"/>
                        </a:rPr>
                        <a:t>Skill</a:t>
                      </a:r>
                      <a:endParaRPr lang="zh-CN" altLang="en-US" sz="9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内容理解提取</a:t>
                      </a:r>
                      <a:endParaRPr lang="en-US" altLang="zh-CN" sz="900" b="0" dirty="0"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⭐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单条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多条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门店评价的图文、视频、语音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外部如点评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标签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主题相关性及概率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提及菜品等特定资产相关性及概率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信息量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真实性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美学等评分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标签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主题定义、字典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菜品等特定资产定义、字典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正负标注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l" defTabSz="6858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供给关联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  <a:endParaRPr lang="zh-CN" alt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物理世界供给理解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需求理解及价值判断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602766"/>
                  </a:ext>
                </a:extLst>
              </a:tr>
              <a:tr h="44014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相关评价聚合</a:t>
                      </a:r>
                      <a:endParaRPr lang="en-US" altLang="zh-CN" sz="900" b="0" dirty="0"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⭐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门店、待聚合标签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主题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菜品等特定资产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外部如点评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相关评价列表及相关性概率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信息量、美学等评分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zh-CN" alt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zh-CN" alt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zh-CN" alt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6978600"/>
                  </a:ext>
                </a:extLst>
              </a:tr>
              <a:tr h="44014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门店评价分析</a:t>
                      </a:r>
                      <a:endParaRPr lang="en-US" altLang="zh-CN" sz="900" b="0" dirty="0"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⭐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门店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分析需求及规则约束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外部如点评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整体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分主题的推荐理由、门店聚合标签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好评差评分析及运营建议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推荐理由等规则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分析报告模版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GC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挖掘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智能掌柜</a:t>
                      </a:r>
                      <a:r>
                        <a:rPr lang="en-US" altLang="zh-CN" sz="900" b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  <a:endParaRPr lang="zh-CN" alt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zh-CN" alt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9107906"/>
                  </a:ext>
                </a:extLst>
              </a:tr>
              <a:tr h="849899">
                <a:tc rowSpan="2"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用户分析</a:t>
                      </a:r>
                      <a:r>
                        <a:rPr lang="en-US" sz="900" b="0" dirty="0">
                          <a:effectLst/>
                          <a:latin typeface="+mn-ea"/>
                          <a:ea typeface="+mn-ea"/>
                        </a:rPr>
                        <a:t>Skill</a:t>
                      </a:r>
                      <a:endParaRPr lang="zh-CN" altLang="en-US" sz="9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用户画像</a:t>
                      </a:r>
                      <a:endParaRPr lang="en-US" altLang="zh-CN" sz="900" b="0" dirty="0"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900" b="0">
                          <a:effectLst/>
                          <a:latin typeface="+mn-ea"/>
                          <a:ea typeface="+mn-ea"/>
                        </a:rPr>
                        <a:t>⭐⭐</a:t>
                      </a:r>
                      <a:endParaRPr lang="zh-CN" altLang="en-US" sz="9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用户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id/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用户集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用户画像集、策略集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外部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  <a:endParaRPr lang="zh-CN" alt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用户行为序列及画像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用户需求预测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针对性用户策略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用户画像集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策略集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数据分析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趋势探测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供给关联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  <a:endParaRPr lang="zh-CN" alt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用户及需求理解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复杂策略的制定及沟通、影响力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8086577"/>
                  </a:ext>
                </a:extLst>
              </a:tr>
              <a:tr h="38755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用户圈选</a:t>
                      </a:r>
                      <a:endParaRPr lang="en-US" altLang="zh-CN" sz="900" b="0" dirty="0"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⭐</a:t>
                      </a:r>
                      <a:endParaRPr lang="en-US" altLang="zh-CN" sz="9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需求及用户策略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外部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及仪表盘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用户包及概率、圈选原因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zh-CN" alt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zh-CN" alt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zh-CN" alt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7604189"/>
                  </a:ext>
                </a:extLst>
              </a:tr>
              <a:tr h="1336306">
                <a:tc rowSpan="2"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榜单生产排序 </a:t>
                      </a:r>
                      <a:r>
                        <a:rPr lang="en-US" sz="900" b="0" dirty="0">
                          <a:effectLst/>
                          <a:latin typeface="+mn-ea"/>
                          <a:ea typeface="+mn-ea"/>
                        </a:rPr>
                        <a:t>Skil</a:t>
                      </a:r>
                      <a:r>
                        <a:rPr lang="en-US" altLang="zh-CN" sz="900" b="0" dirty="0">
                          <a:effectLst/>
                          <a:latin typeface="+mn-ea"/>
                          <a:ea typeface="+mn-ea"/>
                        </a:rPr>
                        <a:t>l</a:t>
                      </a:r>
                      <a:endParaRPr lang="zh-CN" altLang="en-US" sz="9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榜单需求分析</a:t>
                      </a:r>
                      <a:endParaRPr lang="en-US" altLang="zh-CN" sz="900" b="0" dirty="0"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⭐⭐⭐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榜单价值及定义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用户行为、未满足需求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用户调研、访谈等报告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榜单矩阵需求占位现状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供给现状数据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榜单需求及价值判断、分析报告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成榜及矩阵优化建议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用户需求及榜单需求占位现状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供需情况及机会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趋势探测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数据分析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用户分析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 indent="-9207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价值判断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92075" indent="-9207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供需理解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5417285"/>
                  </a:ext>
                </a:extLst>
              </a:tr>
              <a:tr h="44014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榜单试算</a:t>
                      </a:r>
                      <a:endParaRPr lang="en-US" altLang="zh-CN" sz="900" b="0" dirty="0"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⭐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榜单价值及用户需求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当前问题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榜单公式、数据字段、权重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榜单规则约束（如同品牌合并等）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正负标注、正负提报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供给现状数据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其它参考数据如交履等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拟合榜单结果及价值分析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公式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规则优化建议及价值对比报告（含需求满足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问题解决情况等）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门店上榜原因及数据明细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榜单规则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正负标注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case</a:t>
                      </a:r>
                      <a:endParaRPr lang="zh-CN" alt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数据分析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用户分析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zh-CN" alt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292573"/>
                  </a:ext>
                </a:extLst>
              </a:tr>
              <a:tr h="1105022"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 榜单生成</a:t>
                      </a:r>
                      <a:r>
                        <a:rPr lang="en-US" sz="900" b="0" dirty="0">
                          <a:effectLst/>
                          <a:latin typeface="+mn-ea"/>
                          <a:ea typeface="+mn-ea"/>
                        </a:rPr>
                        <a:t>Skill</a:t>
                      </a:r>
                      <a:endParaRPr lang="zh-CN" altLang="en-US" sz="9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榜单页面生成</a:t>
                      </a:r>
                      <a:endParaRPr lang="en-US" altLang="zh-CN" sz="900" b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⭐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榜单数据及计算逻辑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UE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模板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其它展示约束规则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其它参考设计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用户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id/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画像（个性化榜单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多端榜单页面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用户个性化榜单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榜单对应的元素（如头图、评价）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试点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灰度建议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UE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模板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设计约束及范式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榜单生产排序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用户分析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评价挖掘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品味及美感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9612"/>
                  </a:ext>
                </a:extLst>
              </a:tr>
              <a:tr h="873739">
                <a:tc rowSpan="2"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动线</a:t>
                      </a:r>
                      <a:r>
                        <a:rPr lang="en-US" altLang="zh-CN" sz="900" b="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资源对接 </a:t>
                      </a:r>
                      <a:r>
                        <a:rPr lang="en-US" altLang="zh-CN" sz="900" b="0" dirty="0">
                          <a:effectLst/>
                          <a:latin typeface="+mn-ea"/>
                          <a:ea typeface="+mn-ea"/>
                        </a:rPr>
                        <a:t>Skill</a:t>
                      </a:r>
                      <a:endParaRPr lang="zh-CN" altLang="en-US" sz="9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动线建设</a:t>
                      </a:r>
                      <a:endParaRPr lang="en-US" altLang="zh-CN" sz="900" b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⭐⭐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用户、动线、榜单占位现状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沟通、进展现状及难点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外部动线定位及战略策略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动线现状及机会分析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外部动线定位及战略策略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数据分析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用户分析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与协同方的沟通、影响力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8960759"/>
                  </a:ext>
                </a:extLst>
              </a:tr>
              <a:tr h="3349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资源投放</a:t>
                      </a:r>
                      <a:endParaRPr lang="en-US" altLang="zh-CN" sz="900" b="0" dirty="0"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⭐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榜单页面链接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投放策略（资源位、用户、预算等）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过往投放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SOP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及沉淀经验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外部</a:t>
                      </a:r>
                      <a:r>
                        <a:rPr lang="en-US" altLang="zh-CN" sz="900" b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Skiil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及数据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满足流量场、营销场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的输入文件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预估效果（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ROI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、点击率等）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投放执行详案（时间、资源匹配情况、匹配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query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等）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投放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SOP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及沉淀经验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数据分析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用户分析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950343"/>
                  </a:ext>
                </a:extLst>
              </a:tr>
              <a:tr h="334975">
                <a:tc rowSpan="2"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商家运营</a:t>
                      </a:r>
                      <a:r>
                        <a:rPr lang="en-US" altLang="zh-CN" sz="900" b="0" dirty="0" err="1">
                          <a:effectLst/>
                          <a:latin typeface="+mn-ea"/>
                          <a:ea typeface="+mn-ea"/>
                        </a:rPr>
                        <a:t>SKill</a:t>
                      </a:r>
                      <a:endParaRPr lang="zh-CN" altLang="en-US" sz="9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冲榜建议</a:t>
                      </a:r>
                      <a:endParaRPr lang="en-US" altLang="zh-CN" sz="900" b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⭐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门店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id/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名称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门店及竞品榜单情况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冲榜及运营建议报告（含用户评价反馈等）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上下榜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上下排名提醒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冲榜话术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成功案例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数据分析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评价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UGC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挖掘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异动监测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  <a:endParaRPr lang="zh-CN" alt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物理世界经营逻辑知识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5633173"/>
                  </a:ext>
                </a:extLst>
              </a:tr>
              <a:tr h="334975">
                <a:tc vMerge="1">
                  <a:txBody>
                    <a:bodyPr/>
                    <a:lstStyle/>
                    <a:p>
                      <a:endParaRPr lang="zh-CN" altLang="en-US" sz="9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物料制作</a:t>
                      </a:r>
                      <a:endParaRPr lang="en-US" altLang="zh-CN" sz="900" b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⭐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门店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id/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名称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榜单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门店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榜单物料生成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榜单整体物料生成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物料模板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供给关联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评价挖掘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  <a:endParaRPr lang="zh-CN" alt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品味及美感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4520122"/>
                  </a:ext>
                </a:extLst>
              </a:tr>
              <a:tr h="1105022"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异动监测</a:t>
                      </a:r>
                      <a:r>
                        <a:rPr lang="en-US" altLang="zh-CN" sz="900" b="0" dirty="0">
                          <a:effectLst/>
                          <a:latin typeface="+mn-ea"/>
                          <a:ea typeface="+mn-ea"/>
                        </a:rPr>
                        <a:t>Skill</a:t>
                      </a:r>
                      <a:endParaRPr lang="zh-CN" altLang="en-US" sz="9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异动监测</a:t>
                      </a:r>
                      <a:endParaRPr lang="en-US" altLang="zh-CN" sz="900" b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effectLst/>
                          <a:latin typeface="+mn-ea"/>
                          <a:ea typeface="+mn-ea"/>
                        </a:rPr>
                        <a:t>⭐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外部舆情（如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315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榜单现状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门店实时数据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预警信号及问题定位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分析报告、防范及操作建议（下榜、下动线等）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商家反馈话术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价值及异动定义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历史操作实践及操作规范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趋势探测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供给关联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榜单生成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动线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资源对接</a:t>
                      </a:r>
                      <a:r>
                        <a:rPr lang="en-US" altLang="zh-CN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Skill</a:t>
                      </a:r>
                      <a:endParaRPr lang="zh-CN" altLang="en-US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价值观及价值判断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indent="-85725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操作规范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20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196404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99AC15C-0B6E-61BA-A90F-A423B09446B0}"/>
              </a:ext>
            </a:extLst>
          </p:cNvPr>
          <p:cNvSpPr/>
          <p:nvPr/>
        </p:nvSpPr>
        <p:spPr>
          <a:xfrm>
            <a:off x="2881216" y="513736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数据分析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C8E0F8-060D-B815-135C-F9F92779C6F9}"/>
              </a:ext>
            </a:extLst>
          </p:cNvPr>
          <p:cNvSpPr/>
          <p:nvPr/>
        </p:nvSpPr>
        <p:spPr>
          <a:xfrm>
            <a:off x="5752386" y="529557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榜单生成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05D0DB-917D-727E-6D12-15F082ECE223}"/>
              </a:ext>
            </a:extLst>
          </p:cNvPr>
          <p:cNvSpPr/>
          <p:nvPr/>
        </p:nvSpPr>
        <p:spPr>
          <a:xfrm>
            <a:off x="2729792" y="2026794"/>
            <a:ext cx="2621756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榜单生产排序、规则调试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8334DB5-BCE4-3416-D510-3428552CE9C9}"/>
              </a:ext>
            </a:extLst>
          </p:cNvPr>
          <p:cNvSpPr/>
          <p:nvPr/>
        </p:nvSpPr>
        <p:spPr>
          <a:xfrm>
            <a:off x="3773997" y="3589175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B(D)GC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挖掘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19B7AE-0C0B-8817-18DA-A02DFDC15A41}"/>
              </a:ext>
            </a:extLst>
          </p:cNvPr>
          <p:cNvSpPr/>
          <p:nvPr/>
        </p:nvSpPr>
        <p:spPr>
          <a:xfrm>
            <a:off x="166806" y="670110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趋势探测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CDAB24-D031-297E-2EDE-0D1770F822AC}"/>
              </a:ext>
            </a:extLst>
          </p:cNvPr>
          <p:cNvSpPr/>
          <p:nvPr/>
        </p:nvSpPr>
        <p:spPr>
          <a:xfrm>
            <a:off x="159402" y="2141761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门店映射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44E68BE-546A-D95E-78FB-110AD4D436FB}"/>
              </a:ext>
            </a:extLst>
          </p:cNvPr>
          <p:cNvSpPr/>
          <p:nvPr/>
        </p:nvSpPr>
        <p:spPr>
          <a:xfrm>
            <a:off x="2425178" y="3582479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评论挖掘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93137A-708A-15B7-01B1-DFD21863339F}"/>
              </a:ext>
            </a:extLst>
          </p:cNvPr>
          <p:cNvSpPr/>
          <p:nvPr/>
        </p:nvSpPr>
        <p:spPr>
          <a:xfrm>
            <a:off x="1866767" y="4193266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关键词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42CF0F-8E0E-4BB0-8674-9393F939B159}"/>
              </a:ext>
            </a:extLst>
          </p:cNvPr>
          <p:cNvSpPr/>
          <p:nvPr/>
        </p:nvSpPr>
        <p:spPr>
          <a:xfrm>
            <a:off x="2771860" y="4191230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标签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5EC564-B945-D7C7-734E-6549C4F4DFAC}"/>
              </a:ext>
            </a:extLst>
          </p:cNvPr>
          <p:cNvSpPr/>
          <p:nvPr/>
        </p:nvSpPr>
        <p:spPr>
          <a:xfrm>
            <a:off x="3688586" y="4191229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LLM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语义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F7AD90F-FAA4-7AE3-9A1F-842A70C06522}"/>
              </a:ext>
            </a:extLst>
          </p:cNvPr>
          <p:cNvSpPr/>
          <p:nvPr/>
        </p:nvSpPr>
        <p:spPr>
          <a:xfrm>
            <a:off x="4622767" y="4191229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多模态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65C17A9-6DAF-3038-E6DF-E4DD45589EAE}"/>
              </a:ext>
            </a:extLst>
          </p:cNvPr>
          <p:cNvSpPr/>
          <p:nvPr/>
        </p:nvSpPr>
        <p:spPr>
          <a:xfrm>
            <a:off x="7711800" y="2924632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问题分析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204969-8D14-DA82-B407-5D6C0CD3B9DD}"/>
              </a:ext>
            </a:extLst>
          </p:cNvPr>
          <p:cNvSpPr/>
          <p:nvPr/>
        </p:nvSpPr>
        <p:spPr>
          <a:xfrm>
            <a:off x="6368414" y="933753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页面模板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015FADC-7CA4-AC99-2D87-40D8155AAB3D}"/>
              </a:ext>
            </a:extLst>
          </p:cNvPr>
          <p:cNvSpPr/>
          <p:nvPr/>
        </p:nvSpPr>
        <p:spPr>
          <a:xfrm>
            <a:off x="2755573" y="1260004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核心指标集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031C4EF-1A34-D173-30F7-332CC55F31C7}"/>
              </a:ext>
            </a:extLst>
          </p:cNvPr>
          <p:cNvSpPr/>
          <p:nvPr/>
        </p:nvSpPr>
        <p:spPr>
          <a:xfrm>
            <a:off x="3650195" y="1260003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数据表集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54C39B9-0196-EDB7-BF8E-BF19FC819C31}"/>
              </a:ext>
            </a:extLst>
          </p:cNvPr>
          <p:cNvSpPr/>
          <p:nvPr/>
        </p:nvSpPr>
        <p:spPr>
          <a:xfrm>
            <a:off x="4542492" y="1260003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标准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SQL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集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7A1629-9B74-F9E2-A4F1-78F18E444873}"/>
              </a:ext>
            </a:extLst>
          </p:cNvPr>
          <p:cNvSpPr/>
          <p:nvPr/>
        </p:nvSpPr>
        <p:spPr>
          <a:xfrm>
            <a:off x="7377915" y="4112710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用户画像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82C7756-896E-E27D-0ECD-C3918E06D2B2}"/>
              </a:ext>
            </a:extLst>
          </p:cNvPr>
          <p:cNvSpPr/>
          <p:nvPr/>
        </p:nvSpPr>
        <p:spPr>
          <a:xfrm>
            <a:off x="7400020" y="5122945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用户画像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34F2C9E-6C3B-A674-D941-D01655E83633}"/>
              </a:ext>
            </a:extLst>
          </p:cNvPr>
          <p:cNvSpPr/>
          <p:nvPr/>
        </p:nvSpPr>
        <p:spPr>
          <a:xfrm>
            <a:off x="7377915" y="4756994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用户画像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13C88E3-2EB6-763B-3CFC-07390BD81CCA}"/>
              </a:ext>
            </a:extLst>
          </p:cNvPr>
          <p:cNvSpPr/>
          <p:nvPr/>
        </p:nvSpPr>
        <p:spPr>
          <a:xfrm>
            <a:off x="8121302" y="4774515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用户画像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33F4D86-78E6-A638-99D6-7A9D0A98DF8B}"/>
              </a:ext>
            </a:extLst>
          </p:cNvPr>
          <p:cNvSpPr/>
          <p:nvPr/>
        </p:nvSpPr>
        <p:spPr>
          <a:xfrm>
            <a:off x="159402" y="4054736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趋势探测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365F88D-F029-ADDB-9200-970B6B450589}"/>
              </a:ext>
            </a:extLst>
          </p:cNvPr>
          <p:cNvSpPr/>
          <p:nvPr/>
        </p:nvSpPr>
        <p:spPr>
          <a:xfrm>
            <a:off x="187846" y="5062296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商家服务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2F18CAB-150A-7844-0E29-30869329AAE6}"/>
              </a:ext>
            </a:extLst>
          </p:cNvPr>
          <p:cNvSpPr/>
          <p:nvPr/>
        </p:nvSpPr>
        <p:spPr>
          <a:xfrm>
            <a:off x="1986399" y="5082726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商家服务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E2BCCB2-FB2E-21D4-1F13-23041B57535B}"/>
              </a:ext>
            </a:extLst>
          </p:cNvPr>
          <p:cNvSpPr/>
          <p:nvPr/>
        </p:nvSpPr>
        <p:spPr>
          <a:xfrm>
            <a:off x="201262" y="5709646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排名分析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870D4AF-03C8-FB94-4298-A0F2F85E8604}"/>
              </a:ext>
            </a:extLst>
          </p:cNvPr>
          <p:cNvSpPr/>
          <p:nvPr/>
        </p:nvSpPr>
        <p:spPr>
          <a:xfrm>
            <a:off x="188888" y="5709647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竞对分析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02FD630-F4AA-4260-2638-9C1744A474A6}"/>
              </a:ext>
            </a:extLst>
          </p:cNvPr>
          <p:cNvSpPr/>
          <p:nvPr/>
        </p:nvSpPr>
        <p:spPr>
          <a:xfrm>
            <a:off x="1132493" y="5709646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机会分析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66DF3F1-932D-BB4E-2B60-D502BFDB8D44}"/>
              </a:ext>
            </a:extLst>
          </p:cNvPr>
          <p:cNvSpPr/>
          <p:nvPr/>
        </p:nvSpPr>
        <p:spPr>
          <a:xfrm>
            <a:off x="1120564" y="5709646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运营建议</a:t>
            </a:r>
          </a:p>
        </p:txBody>
      </p:sp>
      <p:sp>
        <p:nvSpPr>
          <p:cNvPr id="44" name="标题 3">
            <a:extLst>
              <a:ext uri="{FF2B5EF4-FFF2-40B4-BE49-F238E27FC236}">
                <a16:creationId xmlns:a16="http://schemas.microsoft.com/office/drawing/2014/main" id="{6EEA65FF-3986-7069-3D65-7B1E68954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2" y="15438"/>
            <a:ext cx="7664380" cy="427313"/>
          </a:xfrm>
        </p:spPr>
        <p:txBody>
          <a:bodyPr>
            <a:normAutofit/>
          </a:bodyPr>
          <a:lstStyle/>
          <a:p>
            <a:r>
              <a:rPr lang="zh-CN" altLang="en-US" sz="2100" dirty="0">
                <a:latin typeface="+mn-ea"/>
                <a:ea typeface="+mn-ea"/>
              </a:rPr>
              <a:t>榜单运营全链路智能运营架构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BC73008-C67A-680B-1106-CD60EDA1D20D}"/>
              </a:ext>
            </a:extLst>
          </p:cNvPr>
          <p:cNvSpPr/>
          <p:nvPr/>
        </p:nvSpPr>
        <p:spPr>
          <a:xfrm>
            <a:off x="166806" y="1286835"/>
            <a:ext cx="646360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站内异动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DB321C0-EEDB-31DA-1197-2F14D74779CA}"/>
              </a:ext>
            </a:extLst>
          </p:cNvPr>
          <p:cNvSpPr/>
          <p:nvPr/>
        </p:nvSpPr>
        <p:spPr>
          <a:xfrm>
            <a:off x="851557" y="1286834"/>
            <a:ext cx="646360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站外趋势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CB2856D-B33B-F5B4-B386-49E3EE7D3EE8}"/>
              </a:ext>
            </a:extLst>
          </p:cNvPr>
          <p:cNvSpPr/>
          <p:nvPr/>
        </p:nvSpPr>
        <p:spPr>
          <a:xfrm>
            <a:off x="159402" y="2552568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菜品映射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3D0D3FE-8A4B-6C88-DE8D-131D74C3B82E}"/>
              </a:ext>
            </a:extLst>
          </p:cNvPr>
          <p:cNvSpPr/>
          <p:nvPr/>
        </p:nvSpPr>
        <p:spPr>
          <a:xfrm>
            <a:off x="159402" y="2963811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Deal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映射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6E18518-8809-CBED-8D27-473F26C1FDD7}"/>
              </a:ext>
            </a:extLst>
          </p:cNvPr>
          <p:cNvSpPr/>
          <p:nvPr/>
        </p:nvSpPr>
        <p:spPr>
          <a:xfrm>
            <a:off x="7711800" y="2446275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异动监测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2360E68-CEC4-7249-4AFA-1BE78DAD9676}"/>
              </a:ext>
            </a:extLst>
          </p:cNvPr>
          <p:cNvSpPr/>
          <p:nvPr/>
        </p:nvSpPr>
        <p:spPr>
          <a:xfrm>
            <a:off x="2881216" y="13017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供需判断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266E20D-9CF7-BB9E-CE94-B2A35F3C17F1}"/>
              </a:ext>
            </a:extLst>
          </p:cNvPr>
          <p:cNvSpPr/>
          <p:nvPr/>
        </p:nvSpPr>
        <p:spPr>
          <a:xfrm>
            <a:off x="3616347" y="2485034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单指数运算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D4AA1B6-1AFB-6A55-FBA2-73DCEE8037D9}"/>
              </a:ext>
            </a:extLst>
          </p:cNvPr>
          <p:cNvSpPr/>
          <p:nvPr/>
        </p:nvSpPr>
        <p:spPr>
          <a:xfrm>
            <a:off x="4497642" y="2485034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混合运算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3891E13-A491-B66F-2873-EBD8FE13481C}"/>
              </a:ext>
            </a:extLst>
          </p:cNvPr>
          <p:cNvSpPr/>
          <p:nvPr/>
        </p:nvSpPr>
        <p:spPr>
          <a:xfrm>
            <a:off x="2721749" y="2810490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版本比对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A7E3669-E064-60AA-BEDC-E26E6222B455}"/>
              </a:ext>
            </a:extLst>
          </p:cNvPr>
          <p:cNvSpPr/>
          <p:nvPr/>
        </p:nvSpPr>
        <p:spPr>
          <a:xfrm>
            <a:off x="5767148" y="1496724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资源投放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415B934-C724-F28C-F6CE-465A075BB9D8}"/>
              </a:ext>
            </a:extLst>
          </p:cNvPr>
          <p:cNvSpPr/>
          <p:nvPr/>
        </p:nvSpPr>
        <p:spPr>
          <a:xfrm>
            <a:off x="5767148" y="2301585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产品对接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70C8533-C667-7BFE-0E33-20861D31C97D}"/>
              </a:ext>
            </a:extLst>
          </p:cNvPr>
          <p:cNvSpPr/>
          <p:nvPr/>
        </p:nvSpPr>
        <p:spPr>
          <a:xfrm>
            <a:off x="7991299" y="1167434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效果分析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40ED388-6BE5-B44D-2489-8057B627B436}"/>
              </a:ext>
            </a:extLst>
          </p:cNvPr>
          <p:cNvSpPr/>
          <p:nvPr/>
        </p:nvSpPr>
        <p:spPr>
          <a:xfrm>
            <a:off x="7985405" y="1594980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目标监测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BF7C345-44D6-01DE-4FEC-3489C46CE77B}"/>
              </a:ext>
            </a:extLst>
          </p:cNvPr>
          <p:cNvSpPr/>
          <p:nvPr/>
        </p:nvSpPr>
        <p:spPr>
          <a:xfrm>
            <a:off x="8938391" y="1594980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问题分析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F5C1560-004A-D762-E032-02817BADE645}"/>
              </a:ext>
            </a:extLst>
          </p:cNvPr>
          <p:cNvSpPr/>
          <p:nvPr/>
        </p:nvSpPr>
        <p:spPr>
          <a:xfrm>
            <a:off x="7985405" y="1939017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建议生成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7017FA5-1786-498D-E85D-869FC573A79F}"/>
              </a:ext>
            </a:extLst>
          </p:cNvPr>
          <p:cNvSpPr/>
          <p:nvPr/>
        </p:nvSpPr>
        <p:spPr>
          <a:xfrm>
            <a:off x="8938391" y="1934097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方案生成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73EFD90-4FA0-9F75-B5EF-666C34B92DC2}"/>
              </a:ext>
            </a:extLst>
          </p:cNvPr>
          <p:cNvSpPr/>
          <p:nvPr/>
        </p:nvSpPr>
        <p:spPr>
          <a:xfrm>
            <a:off x="1866767" y="4550412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包含关系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D25A42A-870A-2FA2-EADD-2F5D84CAFD07}"/>
              </a:ext>
            </a:extLst>
          </p:cNvPr>
          <p:cNvSpPr/>
          <p:nvPr/>
        </p:nvSpPr>
        <p:spPr>
          <a:xfrm>
            <a:off x="3616347" y="2809001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价值判断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CFD6F38-836A-FD6B-3630-7A42AC95980B}"/>
              </a:ext>
            </a:extLst>
          </p:cNvPr>
          <p:cNvSpPr/>
          <p:nvPr/>
        </p:nvSpPr>
        <p:spPr>
          <a:xfrm>
            <a:off x="4505253" y="2803189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报告生成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CF6AFBA-B347-4F15-E830-53AC21265797}"/>
              </a:ext>
            </a:extLst>
          </p:cNvPr>
          <p:cNvSpPr/>
          <p:nvPr/>
        </p:nvSpPr>
        <p:spPr>
          <a:xfrm>
            <a:off x="201262" y="6056963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报告生成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5F80C13-EA0D-8BF6-6488-734E247A673A}"/>
              </a:ext>
            </a:extLst>
          </p:cNvPr>
          <p:cNvSpPr/>
          <p:nvPr/>
        </p:nvSpPr>
        <p:spPr>
          <a:xfrm>
            <a:off x="1120564" y="6047053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xxx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81FB9A1-6285-4E7B-7DE8-B4304660E9D4}"/>
              </a:ext>
            </a:extLst>
          </p:cNvPr>
          <p:cNvSpPr/>
          <p:nvPr/>
        </p:nvSpPr>
        <p:spPr>
          <a:xfrm>
            <a:off x="2721749" y="2485034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门槛设置</a:t>
            </a:r>
          </a:p>
        </p:txBody>
      </p: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C9DC551C-66B3-79C5-592E-93682891E16A}"/>
              </a:ext>
            </a:extLst>
          </p:cNvPr>
          <p:cNvCxnSpPr>
            <a:cxnSpLocks/>
            <a:stCxn id="11" idx="1"/>
            <a:endCxn id="9" idx="1"/>
          </p:cNvCxnSpPr>
          <p:nvPr/>
        </p:nvCxnSpPr>
        <p:spPr>
          <a:xfrm rot="10800000" flipH="1">
            <a:off x="2729792" y="697185"/>
            <a:ext cx="151424" cy="1513058"/>
          </a:xfrm>
          <a:prstGeom prst="bentConnector3">
            <a:avLst>
              <a:gd name="adj1" fmla="val -1509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08F0142B-D68F-836B-0A1C-A714F14C84EA}"/>
              </a:ext>
            </a:extLst>
          </p:cNvPr>
          <p:cNvSpPr/>
          <p:nvPr/>
        </p:nvSpPr>
        <p:spPr>
          <a:xfrm>
            <a:off x="2721749" y="3133024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数据生成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8D6F19E-8D6F-A71F-1A59-EB1E025E69CB}"/>
              </a:ext>
            </a:extLst>
          </p:cNvPr>
          <p:cNvSpPr/>
          <p:nvPr/>
        </p:nvSpPr>
        <p:spPr>
          <a:xfrm>
            <a:off x="5476117" y="932844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试点范围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779BF7E-36C4-9572-DB2B-DCF7D5FB3AA3}"/>
              </a:ext>
            </a:extLst>
          </p:cNvPr>
          <p:cNvSpPr/>
          <p:nvPr/>
        </p:nvSpPr>
        <p:spPr>
          <a:xfrm>
            <a:off x="7260711" y="931245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仿真模拟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1DE4A80-E7CC-9E79-4ADB-726B58350A9B}"/>
              </a:ext>
            </a:extLst>
          </p:cNvPr>
          <p:cNvSpPr/>
          <p:nvPr/>
        </p:nvSpPr>
        <p:spPr>
          <a:xfrm>
            <a:off x="3609479" y="3128351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规则建议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303865F-AF2A-6680-27C0-F93E095734DA}"/>
              </a:ext>
            </a:extLst>
          </p:cNvPr>
          <p:cNvSpPr/>
          <p:nvPr/>
        </p:nvSpPr>
        <p:spPr>
          <a:xfrm>
            <a:off x="2755573" y="1580369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分析建议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F19F08CE-26C5-C893-3228-91745929395A}"/>
              </a:ext>
            </a:extLst>
          </p:cNvPr>
          <p:cNvSpPr/>
          <p:nvPr/>
        </p:nvSpPr>
        <p:spPr>
          <a:xfrm>
            <a:off x="3650295" y="1587853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分析报告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CACB30E-937F-B7A8-3BCF-8B79B0DA575C}"/>
              </a:ext>
            </a:extLst>
          </p:cNvPr>
          <p:cNvSpPr/>
          <p:nvPr/>
        </p:nvSpPr>
        <p:spPr>
          <a:xfrm>
            <a:off x="4542492" y="1580368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区域密度分析</a:t>
            </a:r>
          </a:p>
        </p:txBody>
      </p:sp>
      <p:sp>
        <p:nvSpPr>
          <p:cNvPr id="77" name="标题 3">
            <a:extLst>
              <a:ext uri="{FF2B5EF4-FFF2-40B4-BE49-F238E27FC236}">
                <a16:creationId xmlns:a16="http://schemas.microsoft.com/office/drawing/2014/main" id="{4AE2A82A-DAD9-51D8-16BA-307E2C8C9FFC}"/>
              </a:ext>
            </a:extLst>
          </p:cNvPr>
          <p:cNvSpPr txBox="1">
            <a:spLocks/>
          </p:cNvSpPr>
          <p:nvPr/>
        </p:nvSpPr>
        <p:spPr>
          <a:xfrm>
            <a:off x="159402" y="-539210"/>
            <a:ext cx="8504026" cy="427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r>
              <a:rPr lang="zh-CN" altLang="en-US" sz="2100" dirty="0">
                <a:latin typeface="+mn-ea"/>
                <a:ea typeface="+mn-ea"/>
              </a:rPr>
              <a:t>哪些环节是人，哪些环节是机器。哪些是内部必备</a:t>
            </a:r>
            <a:r>
              <a:rPr lang="en-US" altLang="zh-CN" sz="2100" dirty="0">
                <a:latin typeface="+mn-ea"/>
                <a:ea typeface="+mn-ea"/>
              </a:rPr>
              <a:t>skill</a:t>
            </a:r>
            <a:r>
              <a:rPr lang="zh-CN" altLang="en-US" sz="2100" dirty="0">
                <a:latin typeface="+mn-ea"/>
                <a:ea typeface="+mn-ea"/>
              </a:rPr>
              <a:t>，哪些和外部</a:t>
            </a:r>
            <a:r>
              <a:rPr lang="en-US" altLang="zh-CN" sz="2100" dirty="0">
                <a:latin typeface="+mn-ea"/>
                <a:ea typeface="+mn-ea"/>
              </a:rPr>
              <a:t>skill</a:t>
            </a:r>
            <a:r>
              <a:rPr lang="zh-CN" altLang="en-US" sz="2100" dirty="0">
                <a:latin typeface="+mn-ea"/>
                <a:ea typeface="+mn-ea"/>
              </a:rPr>
              <a:t>交互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5BE174F6-7512-4D5E-457D-989AB6B6EC2B}"/>
              </a:ext>
            </a:extLst>
          </p:cNvPr>
          <p:cNvSpPr/>
          <p:nvPr/>
        </p:nvSpPr>
        <p:spPr>
          <a:xfrm>
            <a:off x="166566" y="1610886"/>
            <a:ext cx="646360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机会发现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1F2BDDD2-94F9-CC6D-51B3-9A17D4F7E4A4}"/>
              </a:ext>
            </a:extLst>
          </p:cNvPr>
          <p:cNvSpPr/>
          <p:nvPr/>
        </p:nvSpPr>
        <p:spPr>
          <a:xfrm>
            <a:off x="1827151" y="2478895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需求描述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BA8FD628-3C22-D643-2D8E-DBCE2C083DF3}"/>
              </a:ext>
            </a:extLst>
          </p:cNvPr>
          <p:cNvSpPr/>
          <p:nvPr/>
        </p:nvSpPr>
        <p:spPr>
          <a:xfrm>
            <a:off x="4497209" y="3141019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Case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标注迭代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E0C1C8B7-E8E8-2E01-5DDA-2714B3321C80}"/>
              </a:ext>
            </a:extLst>
          </p:cNvPr>
          <p:cNvSpPr/>
          <p:nvPr/>
        </p:nvSpPr>
        <p:spPr>
          <a:xfrm>
            <a:off x="5476117" y="1260002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链接生成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1BD56655-20FC-603A-B9E3-AD42FDC44434}"/>
              </a:ext>
            </a:extLst>
          </p:cNvPr>
          <p:cNvSpPr/>
          <p:nvPr/>
        </p:nvSpPr>
        <p:spPr>
          <a:xfrm>
            <a:off x="5769192" y="2892750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测试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3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0&quot;&gt;&lt;elem m_fUsage=&quot;2.30605181889226695802E+00&quot;&gt;&lt;m_msothmcolidx val=&quot;0&quot;/&gt;&lt;m_rgb r=&quot;FF&quot; g=&quot;DD&quot; b=&quot;3C&quot;/&gt;&lt;/elem&gt;&lt;elem m_fUsage=&quot;1.66791628982774908785E+00&quot;&gt;&lt;m_msothmcolidx val=&quot;0&quot;/&gt;&lt;m_rgb r=&quot;59&quot; g=&quot;8A&quot; b=&quot;39&quot;/&gt;&lt;/elem&gt;&lt;elem m_fUsage=&quot;1.31949000000000005173E+00&quot;&gt;&lt;m_msothmcolidx val=&quot;0&quot;/&gt;&lt;m_rgb r=&quot;81&quot; g=&quot;E1&quot; b=&quot;6B&quot;/&gt;&lt;/elem&gt;&lt;elem m_fUsage=&quot;1.20589113209464904308E+00&quot;&gt;&lt;m_msothmcolidx val=&quot;0&quot;/&gt;&lt;m_rgb r=&quot;F4&quot; g=&quot;80&quot; b=&quot;32&quot;/&gt;&lt;/elem&gt;&lt;elem m_fUsage=&quot;9.58879313086665852062E-01&quot;&gt;&lt;m_msothmcolidx val=&quot;0&quot;/&gt;&lt;m_rgb r=&quot;8D&quot; g=&quot;BA&quot; b=&quot;E2&quot;/&gt;&lt;/elem&gt;&lt;elem m_fUsage=&quot;9.03573802785075042010E-01&quot;&gt;&lt;m_msothmcolidx val=&quot;0&quot;/&gt;&lt;m_rgb r=&quot;FF&quot; g=&quot;E9&quot; b=&quot;7D&quot;/&gt;&lt;/elem&gt;&lt;elem m_fUsage=&quot;8.17887699000000023553E-01&quot;&gt;&lt;m_msothmcolidx val=&quot;0&quot;/&gt;&lt;m_rgb r=&quot;5F&quot; g=&quot;D5&quot; b=&quot;DE&quot;/&gt;&lt;/elem&gt;&lt;elem m_fUsage=&quot;2.54186582832900132001E-01&quot;&gt;&lt;m_msothmcolidx val=&quot;0&quot;/&gt;&lt;m_rgb r=&quot;FF&quot; g=&quot;B6&quot; b=&quot;5B&quot;/&gt;&lt;/elem&gt;&lt;elem m_fUsage=&quot;1.85302018885184188735E-01&quot;&gt;&lt;m_msothmcolidx val=&quot;0&quot;/&gt;&lt;m_rgb r=&quot;94&quot; g=&quot;E2&quot; b=&quot;E9&quot;/&gt;&lt;/elem&gt;&lt;elem m_fUsage=&quot;7.17897987691853145531E-02&quot;&gt;&lt;m_msothmcolidx val=&quot;0&quot;/&gt;&lt;m_rgb r=&quot;FF&quot; g=&quot;EF&quot; b=&quot;A2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美团点评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D100"/>
      </a:accent1>
      <a:accent2>
        <a:srgbClr val="FE8C00"/>
      </a:accent2>
      <a:accent3>
        <a:srgbClr val="FF4949"/>
      </a:accent3>
      <a:accent4>
        <a:srgbClr val="FF6600"/>
      </a:accent4>
      <a:accent5>
        <a:srgbClr val="0079FF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32775</TotalTime>
  <Words>2061</Words>
  <Application>Microsoft Office PowerPoint</Application>
  <PresentationFormat>全屏显示(16:9)</PresentationFormat>
  <Paragraphs>488</Paragraphs>
  <Slides>4</Slides>
  <Notes>3</Notes>
  <HiddenSlides>1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微软雅黑</vt:lpstr>
      <vt:lpstr>Arial</vt:lpstr>
      <vt:lpstr>Calibri</vt:lpstr>
      <vt:lpstr>Wingdings</vt:lpstr>
      <vt:lpstr>Office 主题​​</vt:lpstr>
      <vt:lpstr>think-cell 幻灯片</vt:lpstr>
      <vt:lpstr>PowerPoint 演示文稿</vt:lpstr>
      <vt:lpstr>榜单全链路智能运营架构</vt:lpstr>
      <vt:lpstr>Skill模块</vt:lpstr>
      <vt:lpstr>榜单运营全链路智能运营架构</vt:lpstr>
    </vt:vector>
  </TitlesOfParts>
  <Company>windows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到餐商户供给的分析框架</dc:title>
  <dc:creator>陈婧佳</dc:creator>
  <cp:lastModifiedBy>Han Su</cp:lastModifiedBy>
  <cp:revision>861</cp:revision>
  <cp:lastPrinted>2026-01-26T07:38:34Z</cp:lastPrinted>
  <dcterms:created xsi:type="dcterms:W3CDTF">2026-01-26T07:38:34Z</dcterms:created>
  <dcterms:modified xsi:type="dcterms:W3CDTF">2026-05-14T09:49:24Z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榜单矩阵运营规划分析-更新0127-20260204.pptx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s">
    <vt:lpwstr>bbff82dcc1bc37ebd6af553077252dd22d514886</vt:lpwstr>
  </property>
  <property fmtid="{D5CDD505-2E9C-101B-9397-08002B2CF9AE}" pid="7" name="ICV">
    <vt:lpwstr/>
  </property>
  <property fmtid="{D5CDD505-2E9C-101B-9397-08002B2CF9AE}" pid="8" name="KSOProductBuildVer">
    <vt:lpwstr>2052-0.0.0.0</vt:lpwstr>
  </property>
</Properties>
</file>