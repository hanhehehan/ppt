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d3f3be11f924627" Type="http://schemas.openxmlformats.org/officeDocument/2006/relationships/extended-properties" Target="docProps/app.xml"/><Relationship Id="Rdc69ba88c4b24eec" Type="http://schemas.openxmlformats.org/package/2006/relationships/metadata/core-properties" Target="docProps/core.xml"/><Relationship Id="Rdf8074e7264542ec" Type="http://schemas.openxmlformats.org/officeDocument/2006/relationships/officeDocument" Target="ppt/presentation.xml"/><Relationship Id="rId8075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d4d233319d40bc"/>
  </p:sldMasterIdLst>
  <p:notesMasterIdLst>
    <p:notesMasterId xmlns:r="http://schemas.openxmlformats.org/officeDocument/2006/relationships" r:id="Rf204303f331b455b"/>
  </p:notesMasterIdLst>
  <p:sldIdLst>
    <p:sldId xmlns:r="http://schemas.openxmlformats.org/officeDocument/2006/relationships" id="256" r:id="R6acc2e57831c4cf7"/>
  </p:sldIdLst>
  <p:sldSz cx="14630400" cy="9753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6acc2e57831c4cf7" Type="http://schemas.openxmlformats.org/officeDocument/2006/relationships/slide" Target="slides/slide1.xml"/><Relationship Id="R9593e928728b4811" Type="http://schemas.openxmlformats.org/officeDocument/2006/relationships/theme" Target="theme/theme1.xml"/><Relationship Id="Rac35cfec251049da" Type="http://schemas.openxmlformats.org/officeDocument/2006/relationships/presProps" Target="presProps.xml"/><Relationship Id="Rbd7989c41b494595" Type="http://schemas.openxmlformats.org/officeDocument/2006/relationships/tableStyles" Target="tableStyles.xml"/><Relationship Id="Rcfd4d233319d40bc" Type="http://schemas.openxmlformats.org/officeDocument/2006/relationships/slideMaster" Target="slideMasters/slideMaster1.xml"/><Relationship Id="Rf204303f331b455b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078afeadeaaf4c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1bcddd5fe394403" Type="http://schemas.openxmlformats.org/officeDocument/2006/relationships/notesMaster" Target="../notesMasters/notesMaster1.xml"/><Relationship Id="Rf237e5f86e864d78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4b46dfb2f3e4bb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b2f7b413196446f" Type="http://schemas.openxmlformats.org/officeDocument/2006/relationships/theme" Target="theme/theme2.xml"/><Relationship Id="Rf4f734d9cbcf43f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f734d9cbcf43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11ea74145db43c0" Type="http://schemas.openxmlformats.org/officeDocument/2006/relationships/notesSlide" Target="../notesSlides/notesSlide1.xml"/><Relationship Id="Rb127ce0c41fe435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ain-title">
            <a:extLst xmlns:a="http://schemas.openxmlformats.org/drawingml/2006/main">
              <a:ext uri="{FF2B5EF4-FFF2-40B4-BE49-F238E27FC236}">
                <a16:creationId xmlns:a16="http://schemas.microsoft.com/office/drawing/2014/main" id="{15562729-7C63-417D-9D2B-03C2A607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0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榜单生产流程：从人工串行到 AI 闭环</a:t>
            </a:r>
          </a:p>
        </p:txBody>
      </p:sp>
      <p:sp>
        <p:nvSpPr>
          <p:cNvPr id="2" name="l0-container">
            <a:extLst xmlns:a="http://schemas.openxmlformats.org/drawingml/2006/main">
              <a:ext uri="{FF2B5EF4-FFF2-40B4-BE49-F238E27FC236}">
                <a16:creationId xmlns:a16="http://schemas.microsoft.com/office/drawing/2014/main" id="{99A97887-8649-4471-88F7-F46D4687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57250"/>
            <a:ext cx="4419600" cy="7524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2E7D45"/>
            </a:solidFill>
            <a:prstDash val="solid"/>
          </a:ln>
        </p:spPr>
      </p:sp>
      <p:sp>
        <p:nvSpPr>
          <p:cNvPr id="3" name="l0-header-band">
            <a:extLst xmlns:a="http://schemas.openxmlformats.org/drawingml/2006/main">
              <a:ext uri="{FF2B5EF4-FFF2-40B4-BE49-F238E27FC236}">
                <a16:creationId xmlns:a16="http://schemas.microsoft.com/office/drawing/2014/main" id="{98BAD3C3-EA3A-4D57-8708-D54C7179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57250"/>
            <a:ext cx="44196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5E9"/>
          </a:solidFill>
          <a:ln xmlns:a="http://schemas.openxmlformats.org/drawingml/2006/main" w="0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7D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E7D45"/>
                </a:solidFill>
                <a:latin typeface="Arial"/>
                <a:ea typeface="Arial"/>
                <a:cs typeface="Arial"/>
              </a:rPr>
              <a:t>BEFORE · L0 人工流程｜手动串行</a:t>
            </a:r>
          </a:p>
        </p:txBody>
      </p:sp>
      <p:sp>
        <p:nvSpPr>
          <p:cNvPr id="4" name="l1-container">
            <a:extLst xmlns:a="http://schemas.openxmlformats.org/drawingml/2006/main">
              <a:ext uri="{FF2B5EF4-FFF2-40B4-BE49-F238E27FC236}">
                <a16:creationId xmlns:a16="http://schemas.microsoft.com/office/drawing/2014/main" id="{5601272B-968B-470C-A3CF-F9893A29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57250"/>
            <a:ext cx="4095750" cy="7524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D97706"/>
            </a:solidFill>
            <a:prstDash val="solid"/>
          </a:ln>
        </p:spPr>
      </p:sp>
      <p:sp>
        <p:nvSpPr>
          <p:cNvPr id="5" name="l1-header-band">
            <a:extLst xmlns:a="http://schemas.openxmlformats.org/drawingml/2006/main">
              <a:ext uri="{FF2B5EF4-FFF2-40B4-BE49-F238E27FC236}">
                <a16:creationId xmlns:a16="http://schemas.microsoft.com/office/drawing/2014/main" id="{FFAAD7AF-A08F-421B-BCE0-8580A0D2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57250"/>
            <a:ext cx="4095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2812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AFTER L1 · Skill｜人主导，AI辅助</a:t>
            </a:r>
          </a:p>
        </p:txBody>
      </p:sp>
      <p:sp>
        <p:nvSpPr>
          <p:cNvPr id="6" name="l2-container">
            <a:extLst xmlns:a="http://schemas.openxmlformats.org/drawingml/2006/main">
              <a:ext uri="{FF2B5EF4-FFF2-40B4-BE49-F238E27FC236}">
                <a16:creationId xmlns:a16="http://schemas.microsoft.com/office/drawing/2014/main" id="{3B72E463-F6D1-40AF-8763-E758B26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57250"/>
            <a:ext cx="5200650" cy="7524750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145A9E"/>
            </a:solidFill>
            <a:prstDash val="solid"/>
          </a:ln>
        </p:spPr>
      </p:sp>
      <p:sp>
        <p:nvSpPr>
          <p:cNvPr id="7" name="l2-header-band">
            <a:extLst xmlns:a="http://schemas.openxmlformats.org/drawingml/2006/main">
              <a:ext uri="{FF2B5EF4-FFF2-40B4-BE49-F238E27FC236}">
                <a16:creationId xmlns:a16="http://schemas.microsoft.com/office/drawing/2014/main" id="{9D8B78E7-50C5-4E12-91F0-14CDB9D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857250"/>
            <a:ext cx="52006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AFTER L2 · Agent｜AI主导，人辅助</a:t>
            </a:r>
          </a:p>
        </p:txBody>
      </p:sp>
      <p:sp>
        <p:nvSpPr>
          <p:cNvPr id="8" name="l0-card-1">
            <a:extLst xmlns:a="http://schemas.openxmlformats.org/drawingml/2006/main">
              <a:ext uri="{FF2B5EF4-FFF2-40B4-BE49-F238E27FC236}">
                <a16:creationId xmlns:a16="http://schemas.microsoft.com/office/drawing/2014/main" id="{6B7D6380-0363-4E72-9E81-DC0C5EA0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24000"/>
            <a:ext cx="4152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E7D45"/>
            </a:solidFill>
            <a:prstDash val="solid"/>
          </a:ln>
        </p:spPr>
      </p:sp>
      <p:sp>
        <p:nvSpPr>
          <p:cNvPr id="9" name="l0-title-1">
            <a:extLst xmlns:a="http://schemas.openxmlformats.org/drawingml/2006/main">
              <a:ext uri="{FF2B5EF4-FFF2-40B4-BE49-F238E27FC236}">
                <a16:creationId xmlns:a16="http://schemas.microsoft.com/office/drawing/2014/main" id="{13DD9E22-A0D3-4120-964C-CFAB825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2408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  需求探究   3pd</a:t>
            </a:r>
          </a:p>
        </p:txBody>
      </p:sp>
      <p:sp>
        <p:nvSpPr>
          <p:cNvPr id="10" name="l0-detail-1">
            <a:extLst xmlns:a="http://schemas.openxmlformats.org/drawingml/2006/main">
              <a:ext uri="{FF2B5EF4-FFF2-40B4-BE49-F238E27FC236}">
                <a16:creationId xmlns:a16="http://schemas.microsoft.com/office/drawing/2014/main" id="{F1BBCBFE-71D2-4D3B-8EF7-5E510381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8239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热点、竞品、销售反馈、人工记录</a:t>
            </a:r>
          </a:p>
        </p:txBody>
      </p:sp>
      <p:sp>
        <p:nvSpPr>
          <p:cNvPr id="11" name="l0-role-1-0">
            <a:extLst xmlns:a="http://schemas.openxmlformats.org/drawingml/2006/main">
              <a:ext uri="{FF2B5EF4-FFF2-40B4-BE49-F238E27FC236}">
                <a16:creationId xmlns:a16="http://schemas.microsoft.com/office/drawing/2014/main" id="{A5B8D6C1-5FCF-4998-8DC9-BF0A7ED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811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12" name="l1-card-1">
            <a:extLst xmlns:a="http://schemas.openxmlformats.org/drawingml/2006/main">
              <a:ext uri="{FF2B5EF4-FFF2-40B4-BE49-F238E27FC236}">
                <a16:creationId xmlns:a16="http://schemas.microsoft.com/office/drawing/2014/main" id="{493FC69B-2EC2-4BA0-A09F-04C75EA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24000"/>
            <a:ext cx="3829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13" name="l1-title-1">
            <a:extLst xmlns:a="http://schemas.openxmlformats.org/drawingml/2006/main">
              <a:ext uri="{FF2B5EF4-FFF2-40B4-BE49-F238E27FC236}">
                <a16:creationId xmlns:a16="http://schemas.microsoft.com/office/drawing/2014/main" id="{3681A31E-BE3B-4F8B-98DB-6A3D93BA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28775"/>
            <a:ext cx="2220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  需求探究</a:t>
            </a:r>
          </a:p>
        </p:txBody>
      </p:sp>
      <p:sp>
        <p:nvSpPr>
          <p:cNvPr id="14" name="l1-detail-1">
            <a:extLst xmlns:a="http://schemas.openxmlformats.org/drawingml/2006/main">
              <a:ext uri="{FF2B5EF4-FFF2-40B4-BE49-F238E27FC236}">
                <a16:creationId xmlns:a16="http://schemas.microsoft.com/office/drawing/2014/main" id="{74B1117F-33DE-4D5F-B1FD-5EBCB27C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52625"/>
            <a:ext cx="26037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热点采集 Skill + 需求材料整理</a:t>
            </a:r>
          </a:p>
        </p:txBody>
      </p:sp>
      <p:sp>
        <p:nvSpPr>
          <p:cNvPr id="15" name="l1-role-1-0">
            <a:extLst xmlns:a="http://schemas.openxmlformats.org/drawingml/2006/main">
              <a:ext uri="{FF2B5EF4-FFF2-40B4-BE49-F238E27FC236}">
                <a16:creationId xmlns:a16="http://schemas.microsoft.com/office/drawing/2014/main" id="{8ADF1516-99D1-4F36-B52D-C1F62FFA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811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16" name="l0-card-2">
            <a:extLst xmlns:a="http://schemas.openxmlformats.org/drawingml/2006/main">
              <a:ext uri="{FF2B5EF4-FFF2-40B4-BE49-F238E27FC236}">
                <a16:creationId xmlns:a16="http://schemas.microsoft.com/office/drawing/2014/main" id="{4E36DC72-F674-4A9B-90F2-24F034AF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05075"/>
            <a:ext cx="4152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E7D45"/>
            </a:solidFill>
            <a:prstDash val="solid"/>
          </a:ln>
        </p:spPr>
      </p:sp>
      <p:sp>
        <p:nvSpPr>
          <p:cNvPr id="17" name="l0-title-2">
            <a:extLst xmlns:a="http://schemas.openxmlformats.org/drawingml/2006/main">
              <a:ext uri="{FF2B5EF4-FFF2-40B4-BE49-F238E27FC236}">
                <a16:creationId xmlns:a16="http://schemas.microsoft.com/office/drawing/2014/main" id="{F5D9935E-06A4-412A-B8D5-5C2CF5D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408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  价值判断   3pd</a:t>
            </a:r>
          </a:p>
        </p:txBody>
      </p:sp>
      <p:sp>
        <p:nvSpPr>
          <p:cNvPr id="18" name="l0-detail-2">
            <a:extLst xmlns:a="http://schemas.openxmlformats.org/drawingml/2006/main">
              <a:ext uri="{FF2B5EF4-FFF2-40B4-BE49-F238E27FC236}">
                <a16:creationId xmlns:a16="http://schemas.microsoft.com/office/drawing/2014/main" id="{C41E73D5-4958-4EEE-AA69-2EFBD4E7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28239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人工经验、定义供给、线下对齐</a:t>
            </a:r>
          </a:p>
        </p:txBody>
      </p:sp>
      <p:sp>
        <p:nvSpPr>
          <p:cNvPr id="19" name="l0-role-2-0">
            <a:extLst xmlns:a="http://schemas.openxmlformats.org/drawingml/2006/main">
              <a:ext uri="{FF2B5EF4-FFF2-40B4-BE49-F238E27FC236}">
                <a16:creationId xmlns:a16="http://schemas.microsoft.com/office/drawing/2014/main" id="{64F7B24B-DE3B-40DD-BC07-E98232AE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6225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20" name="l1-card-2">
            <a:extLst xmlns:a="http://schemas.openxmlformats.org/drawingml/2006/main">
              <a:ext uri="{FF2B5EF4-FFF2-40B4-BE49-F238E27FC236}">
                <a16:creationId xmlns:a16="http://schemas.microsoft.com/office/drawing/2014/main" id="{A87AD765-78D6-4BB5-BA0F-F6BED764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05075"/>
            <a:ext cx="3829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21" name="l1-title-2">
            <a:extLst xmlns:a="http://schemas.openxmlformats.org/drawingml/2006/main">
              <a:ext uri="{FF2B5EF4-FFF2-40B4-BE49-F238E27FC236}">
                <a16:creationId xmlns:a16="http://schemas.microsoft.com/office/drawing/2014/main" id="{E09E1EC9-3A40-4E8C-99AE-2978ED0B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09850"/>
            <a:ext cx="2220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  价值判断</a:t>
            </a:r>
          </a:p>
        </p:txBody>
      </p:sp>
      <p:sp>
        <p:nvSpPr>
          <p:cNvPr id="22" name="l1-detail-2">
            <a:extLst xmlns:a="http://schemas.openxmlformats.org/drawingml/2006/main">
              <a:ext uri="{FF2B5EF4-FFF2-40B4-BE49-F238E27FC236}">
                <a16:creationId xmlns:a16="http://schemas.microsoft.com/office/drawing/2014/main" id="{6BE18767-3F4F-4784-A7DF-C89CC5B3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26037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供给分析 Skill + 价值判断辅助</a:t>
            </a:r>
          </a:p>
        </p:txBody>
      </p:sp>
      <p:sp>
        <p:nvSpPr>
          <p:cNvPr id="23" name="l1-role-2-0">
            <a:extLst xmlns:a="http://schemas.openxmlformats.org/drawingml/2006/main">
              <a:ext uri="{FF2B5EF4-FFF2-40B4-BE49-F238E27FC236}">
                <a16:creationId xmlns:a16="http://schemas.microsoft.com/office/drawing/2014/main" id="{3E18D733-CA0F-47EB-A21D-28D9435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24" name="l0-card-3">
            <a:extLst xmlns:a="http://schemas.openxmlformats.org/drawingml/2006/main">
              <a:ext uri="{FF2B5EF4-FFF2-40B4-BE49-F238E27FC236}">
                <a16:creationId xmlns:a16="http://schemas.microsoft.com/office/drawing/2014/main" id="{E146AA9E-C7B9-4BD3-A1D7-6622A09E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86150"/>
            <a:ext cx="4152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E7D45"/>
            </a:solidFill>
            <a:prstDash val="solid"/>
          </a:ln>
        </p:spPr>
      </p:sp>
      <p:sp>
        <p:nvSpPr>
          <p:cNvPr id="25" name="l0-title-3">
            <a:extLst xmlns:a="http://schemas.openxmlformats.org/drawingml/2006/main">
              <a:ext uri="{FF2B5EF4-FFF2-40B4-BE49-F238E27FC236}">
                <a16:creationId xmlns:a16="http://schemas.microsoft.com/office/drawing/2014/main" id="{5CDC78D2-832F-4B70-8D3D-C564D97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2408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  规划策略   8-10pd</a:t>
            </a:r>
          </a:p>
        </p:txBody>
      </p:sp>
      <p:sp>
        <p:nvSpPr>
          <p:cNvPr id="26" name="l0-detail-3">
            <a:extLst xmlns:a="http://schemas.openxmlformats.org/drawingml/2006/main">
              <a:ext uri="{FF2B5EF4-FFF2-40B4-BE49-F238E27FC236}">
                <a16:creationId xmlns:a16="http://schemas.microsoft.com/office/drawing/2014/main" id="{BD2EAB64-466C-4D35-BC8A-B392C055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14775"/>
            <a:ext cx="28239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规则、权重、对比</a:t>
            </a:r>
          </a:p>
        </p:txBody>
      </p:sp>
      <p:sp>
        <p:nvSpPr>
          <p:cNvPr id="27" name="l0-role-3-0">
            <a:extLst xmlns:a="http://schemas.openxmlformats.org/drawingml/2006/main">
              <a:ext uri="{FF2B5EF4-FFF2-40B4-BE49-F238E27FC236}">
                <a16:creationId xmlns:a16="http://schemas.microsoft.com/office/drawing/2014/main" id="{91C7CE3F-8D1A-48B8-8BA1-B03EFC32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4332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28" name="l0-role-3-1">
            <a:extLst xmlns:a="http://schemas.openxmlformats.org/drawingml/2006/main">
              <a:ext uri="{FF2B5EF4-FFF2-40B4-BE49-F238E27FC236}">
                <a16:creationId xmlns:a16="http://schemas.microsoft.com/office/drawing/2014/main" id="{8EF99515-AC36-455F-AD99-3C6F5B94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4332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数科</a:t>
            </a:r>
          </a:p>
        </p:txBody>
      </p:sp>
      <p:sp>
        <p:nvSpPr>
          <p:cNvPr id="29" name="l1-card-3">
            <a:extLst xmlns:a="http://schemas.openxmlformats.org/drawingml/2006/main">
              <a:ext uri="{FF2B5EF4-FFF2-40B4-BE49-F238E27FC236}">
                <a16:creationId xmlns:a16="http://schemas.microsoft.com/office/drawing/2014/main" id="{CBC6F647-AAF4-43F3-A397-7C3481BA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86150"/>
            <a:ext cx="3829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30" name="l1-title-3">
            <a:extLst xmlns:a="http://schemas.openxmlformats.org/drawingml/2006/main">
              <a:ext uri="{FF2B5EF4-FFF2-40B4-BE49-F238E27FC236}">
                <a16:creationId xmlns:a16="http://schemas.microsoft.com/office/drawing/2014/main" id="{8C0007C5-5390-4E25-9878-62390D3F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90925"/>
            <a:ext cx="2220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  规划策略</a:t>
            </a:r>
          </a:p>
        </p:txBody>
      </p:sp>
      <p:sp>
        <p:nvSpPr>
          <p:cNvPr id="31" name="l1-detail-3">
            <a:extLst xmlns:a="http://schemas.openxmlformats.org/drawingml/2006/main">
              <a:ext uri="{FF2B5EF4-FFF2-40B4-BE49-F238E27FC236}">
                <a16:creationId xmlns:a16="http://schemas.microsoft.com/office/drawing/2014/main" id="{EB6B8F3C-B4F5-4BDF-8D93-6A6C9FBF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14775"/>
            <a:ext cx="26037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试算 Skill + Benchmark 辅助调参</a:t>
            </a:r>
          </a:p>
        </p:txBody>
      </p:sp>
      <p:sp>
        <p:nvSpPr>
          <p:cNvPr id="32" name="l1-role-3-0">
            <a:extLst xmlns:a="http://schemas.openxmlformats.org/drawingml/2006/main">
              <a:ext uri="{FF2B5EF4-FFF2-40B4-BE49-F238E27FC236}">
                <a16:creationId xmlns:a16="http://schemas.microsoft.com/office/drawing/2014/main" id="{29B1A891-1D14-4DFE-9751-1087E6CA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4332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33" name="l1-role-3-1">
            <a:extLst xmlns:a="http://schemas.openxmlformats.org/drawingml/2006/main">
              <a:ext uri="{FF2B5EF4-FFF2-40B4-BE49-F238E27FC236}">
                <a16:creationId xmlns:a16="http://schemas.microsoft.com/office/drawing/2014/main" id="{A32D060E-6EB4-4015-8913-74B004A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4332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4288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数科</a:t>
            </a:r>
          </a:p>
        </p:txBody>
      </p:sp>
      <p:sp>
        <p:nvSpPr>
          <p:cNvPr id="34" name="l0-card-4">
            <a:extLst xmlns:a="http://schemas.openxmlformats.org/drawingml/2006/main">
              <a:ext uri="{FF2B5EF4-FFF2-40B4-BE49-F238E27FC236}">
                <a16:creationId xmlns:a16="http://schemas.microsoft.com/office/drawing/2014/main" id="{5A388C97-C826-45FE-AA00-1B04FF3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67225"/>
            <a:ext cx="4152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E7D45"/>
            </a:solidFill>
            <a:prstDash val="solid"/>
          </a:ln>
        </p:spPr>
      </p:sp>
      <p:sp>
        <p:nvSpPr>
          <p:cNvPr id="35" name="l0-title-4">
            <a:extLst xmlns:a="http://schemas.openxmlformats.org/drawingml/2006/main">
              <a:ext uri="{FF2B5EF4-FFF2-40B4-BE49-F238E27FC236}">
                <a16:creationId xmlns:a16="http://schemas.microsoft.com/office/drawing/2014/main" id="{8274C934-F9A4-4429-BE70-FBC722F3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2408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  资产生成   5-7pd</a:t>
            </a:r>
          </a:p>
        </p:txBody>
      </p:sp>
      <p:sp>
        <p:nvSpPr>
          <p:cNvPr id="36" name="l0-detail-4">
            <a:extLst xmlns:a="http://schemas.openxmlformats.org/drawingml/2006/main">
              <a:ext uri="{FF2B5EF4-FFF2-40B4-BE49-F238E27FC236}">
                <a16:creationId xmlns:a16="http://schemas.microsoft.com/office/drawing/2014/main" id="{588B9F87-F637-4E76-99E2-BDE4C27C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28239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内容、标签、候选</a:t>
            </a:r>
          </a:p>
        </p:txBody>
      </p:sp>
      <p:sp>
        <p:nvSpPr>
          <p:cNvPr id="37" name="l0-role-4-0">
            <a:extLst xmlns:a="http://schemas.openxmlformats.org/drawingml/2006/main">
              <a:ext uri="{FF2B5EF4-FFF2-40B4-BE49-F238E27FC236}">
                <a16:creationId xmlns:a16="http://schemas.microsoft.com/office/drawing/2014/main" id="{3898F224-9980-4F8A-8D30-33E9F6E5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72440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38" name="l0-role-4-1">
            <a:extLst xmlns:a="http://schemas.openxmlformats.org/drawingml/2006/main">
              <a:ext uri="{FF2B5EF4-FFF2-40B4-BE49-F238E27FC236}">
                <a16:creationId xmlns:a16="http://schemas.microsoft.com/office/drawing/2014/main" id="{1B9BA2F4-9DBF-4F3D-9AA0-F8917A8F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2440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研发</a:t>
            </a:r>
          </a:p>
        </p:txBody>
      </p:sp>
      <p:sp>
        <p:nvSpPr>
          <p:cNvPr id="39" name="l1-card-4">
            <a:extLst xmlns:a="http://schemas.openxmlformats.org/drawingml/2006/main">
              <a:ext uri="{FF2B5EF4-FFF2-40B4-BE49-F238E27FC236}">
                <a16:creationId xmlns:a16="http://schemas.microsoft.com/office/drawing/2014/main" id="{D98643D6-7142-49E9-B371-0D3B319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67225"/>
            <a:ext cx="3829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40" name="l1-title-4">
            <a:extLst xmlns:a="http://schemas.openxmlformats.org/drawingml/2006/main">
              <a:ext uri="{FF2B5EF4-FFF2-40B4-BE49-F238E27FC236}">
                <a16:creationId xmlns:a16="http://schemas.microsoft.com/office/drawing/2014/main" id="{7A71B4AA-BA90-42DB-B192-07D979F0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2220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4  资产生成</a:t>
            </a:r>
          </a:p>
        </p:txBody>
      </p:sp>
      <p:sp>
        <p:nvSpPr>
          <p:cNvPr id="41" name="l1-detail-4">
            <a:extLst xmlns:a="http://schemas.openxmlformats.org/drawingml/2006/main">
              <a:ext uri="{FF2B5EF4-FFF2-40B4-BE49-F238E27FC236}">
                <a16:creationId xmlns:a16="http://schemas.microsoft.com/office/drawing/2014/main" id="{38006CD5-6851-43BA-92FE-BC67F28F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95850"/>
            <a:ext cx="26037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内容生成 Skill + 资产预检</a:t>
            </a:r>
          </a:p>
        </p:txBody>
      </p:sp>
      <p:sp>
        <p:nvSpPr>
          <p:cNvPr id="42" name="l1-role-4-0">
            <a:extLst xmlns:a="http://schemas.openxmlformats.org/drawingml/2006/main">
              <a:ext uri="{FF2B5EF4-FFF2-40B4-BE49-F238E27FC236}">
                <a16:creationId xmlns:a16="http://schemas.microsoft.com/office/drawing/2014/main" id="{1935CA0F-2E81-47C6-B082-8457C747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72440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43" name="l1-role-4-1">
            <a:extLst xmlns:a="http://schemas.openxmlformats.org/drawingml/2006/main">
              <a:ext uri="{FF2B5EF4-FFF2-40B4-BE49-F238E27FC236}">
                <a16:creationId xmlns:a16="http://schemas.microsoft.com/office/drawing/2014/main" id="{5626DA12-E195-4659-B5DB-B33E7D93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4288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研发</a:t>
            </a:r>
          </a:p>
        </p:txBody>
      </p:sp>
      <p:sp>
        <p:nvSpPr>
          <p:cNvPr id="44" name="l0-card-5">
            <a:extLst xmlns:a="http://schemas.openxmlformats.org/drawingml/2006/main">
              <a:ext uri="{FF2B5EF4-FFF2-40B4-BE49-F238E27FC236}">
                <a16:creationId xmlns:a16="http://schemas.microsoft.com/office/drawing/2014/main" id="{2209C717-FD01-4A8D-8B5C-5E2EFF5C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448300"/>
            <a:ext cx="4152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E7D45"/>
            </a:solidFill>
            <a:prstDash val="solid"/>
          </a:ln>
        </p:spPr>
      </p:sp>
      <p:sp>
        <p:nvSpPr>
          <p:cNvPr id="45" name="l0-title-5">
            <a:extLst xmlns:a="http://schemas.openxmlformats.org/drawingml/2006/main">
              <a:ext uri="{FF2B5EF4-FFF2-40B4-BE49-F238E27FC236}">
                <a16:creationId xmlns:a16="http://schemas.microsoft.com/office/drawing/2014/main" id="{E7376377-44FC-4FAA-92C2-151810A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2408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  榜单生产   约1个月/榜单</a:t>
            </a:r>
          </a:p>
        </p:txBody>
      </p:sp>
      <p:sp>
        <p:nvSpPr>
          <p:cNvPr id="46" name="l0-detail-5">
            <a:extLst xmlns:a="http://schemas.openxmlformats.org/drawingml/2006/main">
              <a:ext uri="{FF2B5EF4-FFF2-40B4-BE49-F238E27FC236}">
                <a16:creationId xmlns:a16="http://schemas.microsoft.com/office/drawing/2014/main" id="{8BE608A7-87F4-4DEE-94D5-A3184D75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6925"/>
            <a:ext cx="28239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配置、联调、Review</a:t>
            </a:r>
          </a:p>
        </p:txBody>
      </p:sp>
      <p:sp>
        <p:nvSpPr>
          <p:cNvPr id="47" name="l0-role-5-0">
            <a:extLst xmlns:a="http://schemas.openxmlformats.org/drawingml/2006/main">
              <a:ext uri="{FF2B5EF4-FFF2-40B4-BE49-F238E27FC236}">
                <a16:creationId xmlns:a16="http://schemas.microsoft.com/office/drawing/2014/main" id="{A40EAA98-295D-474B-9396-AA9D88F6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054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产品</a:t>
            </a:r>
          </a:p>
        </p:txBody>
      </p:sp>
      <p:sp>
        <p:nvSpPr>
          <p:cNvPr id="48" name="l0-role-5-1">
            <a:extLst xmlns:a="http://schemas.openxmlformats.org/drawingml/2006/main">
              <a:ext uri="{FF2B5EF4-FFF2-40B4-BE49-F238E27FC236}">
                <a16:creationId xmlns:a16="http://schemas.microsoft.com/office/drawing/2014/main" id="{A10F4398-9ACF-419E-A9E5-843FF206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7054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研发</a:t>
            </a:r>
          </a:p>
        </p:txBody>
      </p:sp>
      <p:sp>
        <p:nvSpPr>
          <p:cNvPr id="49" name="l0-role-5-2">
            <a:extLst xmlns:a="http://schemas.openxmlformats.org/drawingml/2006/main">
              <a:ext uri="{FF2B5EF4-FFF2-40B4-BE49-F238E27FC236}">
                <a16:creationId xmlns:a16="http://schemas.microsoft.com/office/drawing/2014/main" id="{1E5889DE-FDDC-438F-BA59-71022F7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7054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50" name="l1-card-5">
            <a:extLst xmlns:a="http://schemas.openxmlformats.org/drawingml/2006/main">
              <a:ext uri="{FF2B5EF4-FFF2-40B4-BE49-F238E27FC236}">
                <a16:creationId xmlns:a16="http://schemas.microsoft.com/office/drawing/2014/main" id="{313A2B92-89CB-4DB5-AEB4-2696BFDB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48300"/>
            <a:ext cx="3829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51" name="l1-title-5">
            <a:extLst xmlns:a="http://schemas.openxmlformats.org/drawingml/2006/main">
              <a:ext uri="{FF2B5EF4-FFF2-40B4-BE49-F238E27FC236}">
                <a16:creationId xmlns:a16="http://schemas.microsoft.com/office/drawing/2014/main" id="{F9E1F26A-E6D2-4C6A-BBA7-83F2622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53075"/>
            <a:ext cx="2220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5  榜单生产</a:t>
            </a:r>
          </a:p>
        </p:txBody>
      </p:sp>
      <p:sp>
        <p:nvSpPr>
          <p:cNvPr id="52" name="l1-detail-5">
            <a:extLst xmlns:a="http://schemas.openxmlformats.org/drawingml/2006/main">
              <a:ext uri="{FF2B5EF4-FFF2-40B4-BE49-F238E27FC236}">
                <a16:creationId xmlns:a16="http://schemas.microsoft.com/office/drawing/2014/main" id="{E07CE836-7194-4ABB-A960-7324F296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876925"/>
            <a:ext cx="26037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榜单生产 Skill + 配置预览</a:t>
            </a:r>
          </a:p>
        </p:txBody>
      </p:sp>
      <p:sp>
        <p:nvSpPr>
          <p:cNvPr id="53" name="l1-role-5-0">
            <a:extLst xmlns:a="http://schemas.openxmlformats.org/drawingml/2006/main">
              <a:ext uri="{FF2B5EF4-FFF2-40B4-BE49-F238E27FC236}">
                <a16:creationId xmlns:a16="http://schemas.microsoft.com/office/drawing/2014/main" id="{68376180-8E7D-4C52-8E44-CA68F01B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054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4288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产品</a:t>
            </a:r>
          </a:p>
        </p:txBody>
      </p:sp>
      <p:sp>
        <p:nvSpPr>
          <p:cNvPr id="54" name="l1-role-5-1">
            <a:extLst xmlns:a="http://schemas.openxmlformats.org/drawingml/2006/main">
              <a:ext uri="{FF2B5EF4-FFF2-40B4-BE49-F238E27FC236}">
                <a16:creationId xmlns:a16="http://schemas.microsoft.com/office/drawing/2014/main" id="{9C091951-9F93-4478-9EAD-0D5D0B1A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7054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D9ECFA"/>
          </a:solidFill>
          <a:ln xmlns:a="http://schemas.openxmlformats.org/drawingml/2006/main" w="14288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研发</a:t>
            </a:r>
          </a:p>
        </p:txBody>
      </p:sp>
      <p:sp>
        <p:nvSpPr>
          <p:cNvPr id="55" name="l1-role-5-2">
            <a:extLst xmlns:a="http://schemas.openxmlformats.org/drawingml/2006/main">
              <a:ext uri="{FF2B5EF4-FFF2-40B4-BE49-F238E27FC236}">
                <a16:creationId xmlns:a16="http://schemas.microsoft.com/office/drawing/2014/main" id="{4E7C7740-35B0-4825-977E-CAD2BE16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0547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56" name="l0-card-6">
            <a:extLst xmlns:a="http://schemas.openxmlformats.org/drawingml/2006/main">
              <a:ext uri="{FF2B5EF4-FFF2-40B4-BE49-F238E27FC236}">
                <a16:creationId xmlns:a16="http://schemas.microsoft.com/office/drawing/2014/main" id="{2465FE6B-21E7-4567-B56C-6EC7C2E3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29375"/>
            <a:ext cx="4152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E7D45"/>
            </a:solidFill>
            <a:prstDash val="solid"/>
          </a:ln>
        </p:spPr>
      </p:sp>
      <p:sp>
        <p:nvSpPr>
          <p:cNvPr id="57" name="l0-title-6">
            <a:extLst xmlns:a="http://schemas.openxmlformats.org/drawingml/2006/main">
              <a:ext uri="{FF2B5EF4-FFF2-40B4-BE49-F238E27FC236}">
                <a16:creationId xmlns:a16="http://schemas.microsoft.com/office/drawing/2014/main" id="{B4F03DFF-9112-4882-9D3A-873F10F4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408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6  榜单投放   2-5pd/渠道</a:t>
            </a:r>
          </a:p>
        </p:txBody>
      </p:sp>
      <p:sp>
        <p:nvSpPr>
          <p:cNvPr id="58" name="l0-detail-6">
            <a:extLst xmlns:a="http://schemas.openxmlformats.org/drawingml/2006/main">
              <a:ext uri="{FF2B5EF4-FFF2-40B4-BE49-F238E27FC236}">
                <a16:creationId xmlns:a16="http://schemas.microsoft.com/office/drawing/2014/main" id="{2BE568CB-6772-447F-99AC-D68962F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0"/>
            <a:ext cx="28239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渠道、客群、投放</a:t>
            </a:r>
          </a:p>
        </p:txBody>
      </p:sp>
      <p:sp>
        <p:nvSpPr>
          <p:cNvPr id="59" name="l0-role-6-0">
            <a:extLst xmlns:a="http://schemas.openxmlformats.org/drawingml/2006/main">
              <a:ext uri="{FF2B5EF4-FFF2-40B4-BE49-F238E27FC236}">
                <a16:creationId xmlns:a16="http://schemas.microsoft.com/office/drawing/2014/main" id="{10CDF0D7-57F2-47BD-8C7D-E65F7321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68655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60" name="l1-card-6">
            <a:extLst xmlns:a="http://schemas.openxmlformats.org/drawingml/2006/main">
              <a:ext uri="{FF2B5EF4-FFF2-40B4-BE49-F238E27FC236}">
                <a16:creationId xmlns:a16="http://schemas.microsoft.com/office/drawing/2014/main" id="{10BD7A9B-2DFE-4DF4-BCAD-3F0F0DFD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29375"/>
            <a:ext cx="3829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61" name="l1-title-6">
            <a:extLst xmlns:a="http://schemas.openxmlformats.org/drawingml/2006/main">
              <a:ext uri="{FF2B5EF4-FFF2-40B4-BE49-F238E27FC236}">
                <a16:creationId xmlns:a16="http://schemas.microsoft.com/office/drawing/2014/main" id="{17B81E9A-F976-4929-A11C-C43BCE4F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34150"/>
            <a:ext cx="2220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6  榜单投放</a:t>
            </a:r>
          </a:p>
        </p:txBody>
      </p:sp>
      <p:sp>
        <p:nvSpPr>
          <p:cNvPr id="62" name="l1-detail-6">
            <a:extLst xmlns:a="http://schemas.openxmlformats.org/drawingml/2006/main">
              <a:ext uri="{FF2B5EF4-FFF2-40B4-BE49-F238E27FC236}">
                <a16:creationId xmlns:a16="http://schemas.microsoft.com/office/drawing/2014/main" id="{75E40C28-1D04-43D5-9DD6-349CDBD4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858000"/>
            <a:ext cx="26037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投放配置 Skill + 渠道清单</a:t>
            </a:r>
          </a:p>
        </p:txBody>
      </p:sp>
      <p:sp>
        <p:nvSpPr>
          <p:cNvPr id="63" name="l1-role-6-0">
            <a:extLst xmlns:a="http://schemas.openxmlformats.org/drawingml/2006/main">
              <a:ext uri="{FF2B5EF4-FFF2-40B4-BE49-F238E27FC236}">
                <a16:creationId xmlns:a16="http://schemas.microsoft.com/office/drawing/2014/main" id="{C7258C7D-0FC9-43A7-B440-2A42D6E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686550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64" name="l0-card-7">
            <a:extLst xmlns:a="http://schemas.openxmlformats.org/drawingml/2006/main">
              <a:ext uri="{FF2B5EF4-FFF2-40B4-BE49-F238E27FC236}">
                <a16:creationId xmlns:a16="http://schemas.microsoft.com/office/drawing/2014/main" id="{67F6ACDE-F8DC-4CF0-AC8F-55CFCA08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10450"/>
            <a:ext cx="4152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2E7D45"/>
            </a:solidFill>
            <a:prstDash val="solid"/>
          </a:ln>
        </p:spPr>
      </p:sp>
      <p:sp>
        <p:nvSpPr>
          <p:cNvPr id="65" name="l0-title-7">
            <a:extLst xmlns:a="http://schemas.openxmlformats.org/drawingml/2006/main">
              <a:ext uri="{FF2B5EF4-FFF2-40B4-BE49-F238E27FC236}">
                <a16:creationId xmlns:a16="http://schemas.microsoft.com/office/drawing/2014/main" id="{6C508AB3-4AA6-4060-B60E-1BA860A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15225"/>
            <a:ext cx="2408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7  数据监测   5-7pd</a:t>
            </a:r>
          </a:p>
        </p:txBody>
      </p:sp>
      <p:sp>
        <p:nvSpPr>
          <p:cNvPr id="66" name="l0-detail-7">
            <a:extLst xmlns:a="http://schemas.openxmlformats.org/drawingml/2006/main">
              <a:ext uri="{FF2B5EF4-FFF2-40B4-BE49-F238E27FC236}">
                <a16:creationId xmlns:a16="http://schemas.microsoft.com/office/drawing/2014/main" id="{4531711A-BB5B-4DE9-B092-FDB4F270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39075"/>
            <a:ext cx="28239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T+1、异常、复盘</a:t>
            </a:r>
          </a:p>
        </p:txBody>
      </p:sp>
      <p:sp>
        <p:nvSpPr>
          <p:cNvPr id="67" name="l0-role-7-0">
            <a:extLst xmlns:a="http://schemas.openxmlformats.org/drawingml/2006/main">
              <a:ext uri="{FF2B5EF4-FFF2-40B4-BE49-F238E27FC236}">
                <a16:creationId xmlns:a16="http://schemas.microsoft.com/office/drawing/2014/main" id="{E4E20C3D-1B4C-462A-8985-B4EBACC4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66762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sp>
        <p:nvSpPr>
          <p:cNvPr id="68" name="l1-card-7">
            <a:extLst xmlns:a="http://schemas.openxmlformats.org/drawingml/2006/main">
              <a:ext uri="{FF2B5EF4-FFF2-40B4-BE49-F238E27FC236}">
                <a16:creationId xmlns:a16="http://schemas.microsoft.com/office/drawing/2014/main" id="{9D11BA92-C50B-46AC-AE4F-A17EA6F8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410450"/>
            <a:ext cx="3829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69" name="l1-title-7">
            <a:extLst xmlns:a="http://schemas.openxmlformats.org/drawingml/2006/main">
              <a:ext uri="{FF2B5EF4-FFF2-40B4-BE49-F238E27FC236}">
                <a16:creationId xmlns:a16="http://schemas.microsoft.com/office/drawing/2014/main" id="{39E1FB9A-FFFC-43AA-8B05-FA2D50EF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515225"/>
            <a:ext cx="222084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7  数据监测</a:t>
            </a:r>
          </a:p>
        </p:txBody>
      </p:sp>
      <p:sp>
        <p:nvSpPr>
          <p:cNvPr id="70" name="l1-detail-7">
            <a:extLst xmlns:a="http://schemas.openxmlformats.org/drawingml/2006/main">
              <a:ext uri="{FF2B5EF4-FFF2-40B4-BE49-F238E27FC236}">
                <a16:creationId xmlns:a16="http://schemas.microsoft.com/office/drawing/2014/main" id="{0F8DBC00-9FC7-4160-A18B-2BF640B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839075"/>
            <a:ext cx="26037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监测报告 Skill + 异常摘要</a:t>
            </a:r>
          </a:p>
        </p:txBody>
      </p:sp>
      <p:sp>
        <p:nvSpPr>
          <p:cNvPr id="71" name="l1-role-7-0">
            <a:extLst xmlns:a="http://schemas.openxmlformats.org/drawingml/2006/main">
              <a:ext uri="{FF2B5EF4-FFF2-40B4-BE49-F238E27FC236}">
                <a16:creationId xmlns:a16="http://schemas.microsoft.com/office/drawing/2014/main" id="{AC47BF5A-627D-4F28-B2E7-FF27E16A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667625"/>
            <a:ext cx="457200" cy="323850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2E7D45"/>
          </a:solidFill>
          <a:ln xmlns:a="http://schemas.openxmlformats.org/drawingml/2006/main" w="14288">
            <a:solidFill>
              <a:srgbClr val="2E7D4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4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cxnSp>
        <p:nvCxnSpPr>
          <p:cNvPr id="184" name=""/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438400" y="23050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7D45"/>
            </a:solidFill>
            <a:prstDash val="solid"/>
            <a:tailEnd type="arrow" w="med" len="med"/>
          </a:ln>
        </p:spPr>
      </p:cxnSp>
      <p:cxnSp>
        <p:nvCxnSpPr>
          <p:cNvPr id="185" name=""/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905625" y="23050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186" name=""/>
          <p:cNvCxnSpPr>
            <a:stCxn xmlns:a="http://schemas.openxmlformats.org/drawingml/2006/main" id="16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2438400" y="32861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7D45"/>
            </a:solidFill>
            <a:prstDash val="solid"/>
            <a:tailEnd type="arrow" w="med" len="med"/>
          </a:ln>
        </p:spPr>
      </p:cxnSp>
      <p:cxnSp>
        <p:nvCxnSpPr>
          <p:cNvPr id="187" name=""/>
          <p:cNvCxnSpPr>
            <a:stCxn xmlns:a="http://schemas.openxmlformats.org/drawingml/2006/main" id="20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6905625" y="32861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188" name=""/>
          <p:cNvCxnSpPr>
            <a:stCxn xmlns:a="http://schemas.openxmlformats.org/drawingml/2006/main" id="24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2438400" y="42672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7D45"/>
            </a:solidFill>
            <a:prstDash val="solid"/>
            <a:tailEnd type="arrow" w="med" len="med"/>
          </a:ln>
        </p:spPr>
      </p:cxnSp>
      <p:cxnSp>
        <p:nvCxnSpPr>
          <p:cNvPr id="189" name=""/>
          <p:cNvCxnSpPr>
            <a:stCxn xmlns:a="http://schemas.openxmlformats.org/drawingml/2006/main" id="29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905625" y="42672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190" name=""/>
          <p:cNvCxnSpPr>
            <a:stCxn xmlns:a="http://schemas.openxmlformats.org/drawingml/2006/main" id="34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2438400" y="52482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7D45"/>
            </a:solidFill>
            <a:prstDash val="solid"/>
            <a:tailEnd type="arrow" w="med" len="med"/>
          </a:ln>
        </p:spPr>
      </p:cxnSp>
      <p:cxnSp>
        <p:nvCxnSpPr>
          <p:cNvPr id="191" name=""/>
          <p:cNvCxnSpPr>
            <a:stCxn xmlns:a="http://schemas.openxmlformats.org/drawingml/2006/main" id="3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6905625" y="52482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192" name=""/>
          <p:cNvCxnSpPr>
            <a:stCxn xmlns:a="http://schemas.openxmlformats.org/drawingml/2006/main" id="44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438400" y="62293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7D45"/>
            </a:solidFill>
            <a:prstDash val="solid"/>
            <a:tailEnd type="arrow" w="med" len="med"/>
          </a:ln>
        </p:spPr>
      </p:cxnSp>
      <p:cxnSp>
        <p:nvCxnSpPr>
          <p:cNvPr id="193" name=""/>
          <p:cNvCxnSpPr>
            <a:stCxn xmlns:a="http://schemas.openxmlformats.org/drawingml/2006/main" id="50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6905625" y="62293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  <a:tailEnd type="arrow" w="med" len="med"/>
          </a:ln>
        </p:spPr>
      </p:cxnSp>
      <p:cxnSp>
        <p:nvCxnSpPr>
          <p:cNvPr id="194" name=""/>
          <p:cNvCxnSpPr>
            <a:stCxn xmlns:a="http://schemas.openxmlformats.org/drawingml/2006/main" id="56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2438400" y="72104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E7D45"/>
            </a:solidFill>
            <a:prstDash val="solid"/>
            <a:tailEnd type="arrow" w="med" len="med"/>
          </a:ln>
        </p:spPr>
      </p:cxnSp>
      <p:cxnSp>
        <p:nvCxnSpPr>
          <p:cNvPr id="195" name=""/>
          <p:cNvCxnSpPr>
            <a:stCxn xmlns:a="http://schemas.openxmlformats.org/drawingml/2006/main" id="60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6905625" y="721042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  <a:tailEnd type="arrow" w="med" len="med"/>
          </a:ln>
        </p:spPr>
      </p:cxnSp>
      <p:sp>
        <p:nvSpPr>
          <p:cNvPr id="84" name="l2-main-agent">
            <a:extLst xmlns:a="http://schemas.openxmlformats.org/drawingml/2006/main">
              <a:ext uri="{FF2B5EF4-FFF2-40B4-BE49-F238E27FC236}">
                <a16:creationId xmlns:a16="http://schemas.microsoft.com/office/drawing/2014/main" id="{D323627D-FE24-45D0-9E52-618F113D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50495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0. 主 Agent</a:t>
            </a:r>
          </a:p>
          <a:p xmlns:a="http://schemas.openxmlformats.org/drawingml/2006/main">
            <a:pPr algn="ctr">
              <a:defRPr sz="1500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统一调度</a:t>
            </a:r>
          </a:p>
        </p:txBody>
      </p:sp>
      <p:sp>
        <p:nvSpPr>
          <p:cNvPr id="85" name="l2-business-agent-group">
            <a:extLst xmlns:a="http://schemas.openxmlformats.org/drawingml/2006/main">
              <a:ext uri="{FF2B5EF4-FFF2-40B4-BE49-F238E27FC236}">
                <a16:creationId xmlns:a16="http://schemas.microsoft.com/office/drawing/2014/main" id="{52165690-38BC-4269-8F93-DA1E36C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4743450" cy="4095750"/>
          </a:xfrm>
          <a:prstGeom xmlns:a="http://schemas.openxmlformats.org/drawingml/2006/main" prst="roundRect">
            <a:avLst>
              <a:gd name="adj" fmla="val 790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45A9E"/>
            </a:solidFill>
            <a:prstDash val="solid"/>
          </a:ln>
        </p:spPr>
      </p:sp>
      <p:sp>
        <p:nvSpPr>
          <p:cNvPr id="86" name="l2-business-agent-group-title">
            <a:extLst xmlns:a="http://schemas.openxmlformats.org/drawingml/2006/main">
              <a:ext uri="{FF2B5EF4-FFF2-40B4-BE49-F238E27FC236}">
                <a16:creationId xmlns:a16="http://schemas.microsoft.com/office/drawing/2014/main" id="{7741F646-1895-4B3C-B4AB-C79D4D7B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A9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5A9E"/>
                </a:solidFill>
                <a:latin typeface="Arial"/>
                <a:ea typeface="Arial"/>
                <a:cs typeface="Arial"/>
              </a:rPr>
              <a:t>业务 Agent 群</a:t>
            </a:r>
          </a:p>
        </p:txBody>
      </p:sp>
      <p:cxnSp>
        <p:nvCxnSpPr>
          <p:cNvPr id="199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11801475" y="21907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solid"/>
            <a:tailEnd type="arrow" w="med" len="med"/>
          </a:ln>
        </p:spPr>
      </p:cxnSp>
      <p:sp>
        <p:nvSpPr>
          <p:cNvPr id="88" name="l2-main-agent-arrow-label">
            <a:extLst xmlns:a="http://schemas.openxmlformats.org/drawingml/2006/main">
              <a:ext uri="{FF2B5EF4-FFF2-40B4-BE49-F238E27FC236}">
                <a16:creationId xmlns:a16="http://schemas.microsoft.com/office/drawing/2014/main" id="{FC0AB432-5B07-4746-BBEB-9082A79E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2669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统一调度</a:t>
            </a:r>
          </a:p>
        </p:txBody>
      </p:sp>
      <p:sp>
        <p:nvSpPr>
          <p:cNvPr id="89" name="l2-agent-insight">
            <a:extLst xmlns:a="http://schemas.openxmlformats.org/drawingml/2006/main">
              <a:ext uri="{FF2B5EF4-FFF2-40B4-BE49-F238E27FC236}">
                <a16:creationId xmlns:a16="http://schemas.microsoft.com/office/drawing/2014/main" id="{296442F8-49AA-4EC1-A730-1D050B78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714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1. 洞察分析 </a:t>
            </a: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需求探究 / 价值判断</a:t>
            </a:r>
          </a:p>
        </p:txBody>
      </p:sp>
      <p:sp>
        <p:nvSpPr>
          <p:cNvPr id="90" name="l2-agent-candidate">
            <a:extLst xmlns:a="http://schemas.openxmlformats.org/drawingml/2006/main">
              <a:ext uri="{FF2B5EF4-FFF2-40B4-BE49-F238E27FC236}">
                <a16:creationId xmlns:a16="http://schemas.microsoft.com/office/drawing/2014/main" id="{D1B950C6-EEE3-4B53-B222-B431576C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43250"/>
            <a:ext cx="16383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9830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2. 候选集生产 </a:t>
            </a: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规划策略 / 资产生成</a:t>
            </a:r>
          </a:p>
        </p:txBody>
      </p:sp>
      <p:sp>
        <p:nvSpPr>
          <p:cNvPr id="91" name="l2-agent-ranking">
            <a:extLst xmlns:a="http://schemas.openxmlformats.org/drawingml/2006/main">
              <a:ext uri="{FF2B5EF4-FFF2-40B4-BE49-F238E27FC236}">
                <a16:creationId xmlns:a16="http://schemas.microsoft.com/office/drawing/2014/main" id="{B7CA361F-4FA0-4B9C-8DE0-AA565446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772150"/>
            <a:ext cx="1809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3. 榜单生产与投放 </a:t>
            </a: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榜单生产 / 榜单投放</a:t>
            </a:r>
          </a:p>
        </p:txBody>
      </p:sp>
      <p:sp>
        <p:nvSpPr>
          <p:cNvPr id="92" name="l2-agent-monitor">
            <a:extLst xmlns:a="http://schemas.openxmlformats.org/drawingml/2006/main">
              <a:ext uri="{FF2B5EF4-FFF2-40B4-BE49-F238E27FC236}">
                <a16:creationId xmlns:a16="http://schemas.microsoft.com/office/drawing/2014/main" id="{473E83F3-8CE0-4234-875D-C0C5277F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72150"/>
            <a:ext cx="17335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4. 数据监测 </a:t>
            </a: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Agent</a:t>
            </a:r>
          </a:p>
          <a:p xmlns:a="http://schemas.openxmlformats.org/drawingml/2006/main">
            <a:pPr algn="ctr"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数据监测</a:t>
            </a:r>
          </a:p>
        </p:txBody>
      </p:sp>
      <p:sp>
        <p:nvSpPr>
          <p:cNvPr id="93" name="l2-ops-head">
            <a:extLst xmlns:a="http://schemas.openxmlformats.org/drawingml/2006/main">
              <a:ext uri="{FF2B5EF4-FFF2-40B4-BE49-F238E27FC236}">
                <a16:creationId xmlns:a16="http://schemas.microsoft.com/office/drawing/2014/main" id="{04BA5EE1-C985-436C-B94C-5B711859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438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A9E"/>
          </a:solidFill>
          <a:ln xmlns:a="http://schemas.openxmlformats.org/drawingml/2006/main" w="0">
            <a:solidFill>
              <a:srgbClr val="145A9E"/>
            </a:solidFill>
            <a:prstDash val="solid"/>
          </a:ln>
        </p:spPr>
      </p:sp>
      <p:sp>
        <p:nvSpPr>
          <p:cNvPr id="94" name="l2-ops-body">
            <a:extLst xmlns:a="http://schemas.openxmlformats.org/drawingml/2006/main">
              <a:ext uri="{FF2B5EF4-FFF2-40B4-BE49-F238E27FC236}">
                <a16:creationId xmlns:a16="http://schemas.microsoft.com/office/drawing/2014/main" id="{7E114956-BE6C-4B53-9E7D-90106BBC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857750"/>
            <a:ext cx="72390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45A9E"/>
          </a:solidFill>
          <a:ln xmlns:a="http://schemas.openxmlformats.org/drawingml/2006/main" w="0">
            <a:solidFill>
              <a:srgbClr val="145A9E"/>
            </a:solidFill>
            <a:prstDash val="solid"/>
          </a:ln>
        </p:spPr>
      </p:sp>
      <p:sp>
        <p:nvSpPr>
          <p:cNvPr id="95" name="l2-ops-anchor-transparent">
            <a:extLst xmlns:a="http://schemas.openxmlformats.org/drawingml/2006/main">
              <a:ext uri="{FF2B5EF4-FFF2-40B4-BE49-F238E27FC236}">
                <a16:creationId xmlns:a16="http://schemas.microsoft.com/office/drawing/2014/main" id="{E4F90DC5-0089-4BA8-AC74-7C351F9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400550"/>
            <a:ext cx="723900" cy="11430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l2-ops-label">
            <a:extLst xmlns:a="http://schemas.openxmlformats.org/drawingml/2006/main">
              <a:ext uri="{FF2B5EF4-FFF2-40B4-BE49-F238E27FC236}">
                <a16:creationId xmlns:a16="http://schemas.microsoft.com/office/drawing/2014/main" id="{99098810-F86F-4B49-A7D0-605511E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38162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运营</a:t>
            </a:r>
          </a:p>
        </p:txBody>
      </p:sp>
      <p:cxnSp>
        <p:nvCxnSpPr>
          <p:cNvPr id="209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11372850" y="348615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solid"/>
            <a:tailEnd type="arrow" w="med" len="med"/>
          </a:ln>
        </p:spPr>
      </p:cxnSp>
      <p:cxnSp>
        <p:nvCxnSpPr>
          <p:cNvPr id="210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 flipH="1">
            <a:off x="13134975" y="3829050"/>
            <a:ext cx="28575" cy="1943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solid"/>
            <a:tailEnd type="arrow" w="med" len="med"/>
          </a:ln>
        </p:spPr>
      </p:cxnSp>
      <p:cxnSp>
        <p:nvCxnSpPr>
          <p:cNvPr id="211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11391900" y="614362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dash"/>
            <a:tailEnd type="arrow" w="med" len="med"/>
          </a:ln>
        </p:spPr>
      </p:cxnSp>
      <p:cxnSp>
        <p:nvCxnSpPr>
          <p:cNvPr id="212" name=""/>
          <p:cNvCxnSpPr>
            <a:stCxn xmlns:a="http://schemas.openxmlformats.org/drawingml/2006/main" id="89" idx="2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0515600" y="3829050"/>
            <a:ext cx="8763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solid"/>
            <a:tailEnd type="arrow" w="med" len="med"/>
          </a:ln>
        </p:spPr>
      </p:cxnSp>
      <p:cxnSp>
        <p:nvCxnSpPr>
          <p:cNvPr id="213" name=""/>
          <p:cNvCxnSpPr>
            <a:stCxn xmlns:a="http://schemas.openxmlformats.org/drawingml/2006/main" id="90" idx="2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12115800" y="3829050"/>
            <a:ext cx="104775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solid"/>
            <a:tailEnd type="arrow" w="med" len="med"/>
          </a:ln>
        </p:spPr>
      </p:cxnSp>
      <p:cxnSp>
        <p:nvCxnSpPr>
          <p:cNvPr id="214" name=""/>
          <p:cNvCxnSpPr>
            <a:stCxn xmlns:a="http://schemas.openxmlformats.org/drawingml/2006/main" id="91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 flipV="1">
            <a:off x="12115800" y="4972050"/>
            <a:ext cx="11430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solid"/>
            <a:tailEnd type="arrow" w="med" len="med"/>
          </a:ln>
        </p:spPr>
      </p:cxnSp>
      <p:cxnSp>
        <p:nvCxnSpPr>
          <p:cNvPr id="215" name=""/>
          <p:cNvCxnSpPr>
            <a:stCxn xmlns:a="http://schemas.openxmlformats.org/drawingml/2006/main" id="92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 flipV="1">
            <a:off x="11391900" y="497205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45A9E"/>
            </a:solidFill>
            <a:prstDash val="solid"/>
            <a:tailEnd type="arrow" w="med" len="med"/>
          </a:ln>
        </p:spPr>
      </p:cxnSp>
      <p:sp>
        <p:nvSpPr>
          <p:cNvPr id="104" name="l2-label-topic">
            <a:extLst xmlns:a="http://schemas.openxmlformats.org/drawingml/2006/main">
              <a:ext uri="{FF2B5EF4-FFF2-40B4-BE49-F238E27FC236}">
                <a16:creationId xmlns:a16="http://schemas.microsoft.com/office/drawing/2014/main" id="{D3567C2E-65D0-4272-B13C-0DEF389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910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主题、供给规则</a:t>
            </a:r>
          </a:p>
        </p:txBody>
      </p:sp>
      <p:sp>
        <p:nvSpPr>
          <p:cNvPr id="105" name="l2-label-candidates">
            <a:extLst xmlns:a="http://schemas.openxmlformats.org/drawingml/2006/main">
              <a:ext uri="{FF2B5EF4-FFF2-40B4-BE49-F238E27FC236}">
                <a16:creationId xmlns:a16="http://schemas.microsoft.com/office/drawing/2014/main" id="{9266F574-B572-4915-9374-F43BAA12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1719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候选数据集</a:t>
            </a:r>
          </a:p>
        </p:txBody>
      </p:sp>
      <p:sp>
        <p:nvSpPr>
          <p:cNvPr id="106" name="l2-label-review">
            <a:extLst xmlns:a="http://schemas.openxmlformats.org/drawingml/2006/main">
              <a:ext uri="{FF2B5EF4-FFF2-40B4-BE49-F238E27FC236}">
                <a16:creationId xmlns:a16="http://schemas.microsoft.com/office/drawing/2014/main" id="{B7EEA16C-2167-4513-B38F-808E420C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3340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审核</a:t>
            </a:r>
          </a:p>
        </p:txBody>
      </p:sp>
      <p:sp>
        <p:nvSpPr>
          <p:cNvPr id="107" name="l2-label-report">
            <a:extLst xmlns:a="http://schemas.openxmlformats.org/drawingml/2006/main">
              <a:ext uri="{FF2B5EF4-FFF2-40B4-BE49-F238E27FC236}">
                <a16:creationId xmlns:a16="http://schemas.microsoft.com/office/drawing/2014/main" id="{5BBC54AF-6844-4E82-B832-53DC282B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530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监测报告</a:t>
            </a:r>
          </a:p>
        </p:txBody>
      </p:sp>
      <p:sp>
        <p:nvSpPr>
          <p:cNvPr id="108" name="l2-label-post-monitor">
            <a:extLst xmlns:a="http://schemas.openxmlformats.org/drawingml/2006/main">
              <a:ext uri="{FF2B5EF4-FFF2-40B4-BE49-F238E27FC236}">
                <a16:creationId xmlns:a16="http://schemas.microsoft.com/office/drawing/2014/main" id="{E99FC986-E270-4684-972D-ECEBAEE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6267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投放后监测</a:t>
            </a:r>
          </a:p>
        </p:txBody>
      </p:sp>
      <p:sp>
        <p:nvSpPr>
          <p:cNvPr id="109" name="l2-bottom-bar-1">
            <a:extLst xmlns:a="http://schemas.openxmlformats.org/drawingml/2006/main">
              <a:ext uri="{FF2B5EF4-FFF2-40B4-BE49-F238E27FC236}">
                <a16:creationId xmlns:a16="http://schemas.microsoft.com/office/drawing/2014/main" id="{888EFC48-649A-4748-88DE-AE1312C6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915150"/>
            <a:ext cx="49339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EF6FC"/>
          </a:solidFill>
          <a:ln xmlns:a="http://schemas.openxmlformats.org/drawingml/2006/main" w="14288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9525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人工介入：验收/调整/审核</a:t>
            </a:r>
          </a:p>
        </p:txBody>
      </p:sp>
      <p:sp>
        <p:nvSpPr>
          <p:cNvPr id="110" name="l2-bottom-bar-2">
            <a:extLst xmlns:a="http://schemas.openxmlformats.org/drawingml/2006/main">
              <a:ext uri="{FF2B5EF4-FFF2-40B4-BE49-F238E27FC236}">
                <a16:creationId xmlns:a16="http://schemas.microsoft.com/office/drawing/2014/main" id="{DADEB98B-D1B3-467B-A48B-7D71F44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334250"/>
            <a:ext cx="49339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EF6FC"/>
          </a:solidFill>
          <a:ln xmlns:a="http://schemas.openxmlformats.org/drawingml/2006/main" w="14288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9525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人工兜底：洞察信息低置信度/榜单验收不符合主题的bad case多/会话轮次超限</a:t>
            </a:r>
          </a:p>
        </p:txBody>
      </p:sp>
      <p:sp>
        <p:nvSpPr>
          <p:cNvPr id="111" name="l2-bottom-bar-3">
            <a:extLst xmlns:a="http://schemas.openxmlformats.org/drawingml/2006/main">
              <a:ext uri="{FF2B5EF4-FFF2-40B4-BE49-F238E27FC236}">
                <a16:creationId xmlns:a16="http://schemas.microsoft.com/office/drawing/2014/main" id="{F9789331-E51D-450B-B741-BFC694F3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753350"/>
            <a:ext cx="49339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EF6FC"/>
          </a:solidFill>
          <a:ln xmlns:a="http://schemas.openxmlformats.org/drawingml/2006/main" w="14288">
            <a:solidFill>
              <a:srgbClr val="145A9E"/>
            </a:solidFill>
            <a:prstDash val="solid"/>
          </a:ln>
        </p:spPr>
        <p:txBody>
          <a:bodyPr xmlns:a="http://schemas.openxmlformats.org/drawingml/2006/main" wrap="square" lIns="95250" tIns="28575" rIns="762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研发：建设agent底层基础/支持新逻辑开发</a:t>
            </a:r>
          </a:p>
        </p:txBody>
      </p:sp>
      <p:sp>
        <p:nvSpPr>
          <p:cNvPr id="112" name="bottom-summary">
            <a:extLst xmlns:a="http://schemas.openxmlformats.org/drawingml/2006/main">
              <a:ext uri="{FF2B5EF4-FFF2-40B4-BE49-F238E27FC236}">
                <a16:creationId xmlns:a16="http://schemas.microsoft.com/office/drawing/2014/main" id="{00A52FD4-2036-4D5B-8F37-34568FE2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648700"/>
            <a:ext cx="141732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8A5A16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L0 人工串行；L1 运营主导、Skill 辅助；L2 Agent 聚合推进，运营做关键确认。</a:t>
            </a:r>
          </a:p>
        </p:txBody>
      </p:sp>
    </p:spTree>
    <p:extLst>
      <p:ext uri="{BB962C8B-B14F-4D97-AF65-F5344CB8AC3E}">
        <p14:creationId xmlns:p14="http://schemas.microsoft.com/office/powerpoint/2010/main" val="1814189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2026-06-15T15:02:26.5250000Z</dcterms:created>
  <dcterms:modified xsi:type="dcterms:W3CDTF">2026-06-15T15:02:26.5250000Z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">
    <vt:lpwstr>ranking-workflow-l0-l1-l2-agent-loop-editable.pptx</vt:lpwstr>
  </property>
  <property fmtid="{D5CDD505-2E9C-101B-9397-08002B2CF9AE}" pid="3" name="o">
    <vt:lpwstr>ORG_INFO</vt:lpwstr>
  </property>
  <property fmtid="{D5CDD505-2E9C-101B-9397-08002B2CF9AE}" pid="4" name="d">
    <vt:lpwstr>XM</vt:lpwstr>
  </property>
  <property fmtid="{D5CDD505-2E9C-101B-9397-08002B2CF9AE}" pid="5" name="i">
    <vt:lpwstr>1</vt:lpwstr>
  </property>
  <property fmtid="{D5CDD505-2E9C-101B-9397-08002B2CF9AE}" pid="6" name="s">
    <vt:lpwstr>e8d0ac56e25a732f2327ed633a935c8693105cc3</vt:lpwstr>
  </property>
</Properties>
</file>