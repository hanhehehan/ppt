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4999171" r:id="rId2"/>
    <p:sldId id="14998990" r:id="rId3"/>
    <p:sldId id="14999201" r:id="rId4"/>
    <p:sldId id="14999188" r:id="rId5"/>
    <p:sldId id="14999117" r:id="rId6"/>
    <p:sldId id="14999193" r:id="rId7"/>
    <p:sldId id="14999185" r:id="rId8"/>
    <p:sldId id="14999190" r:id="rId9"/>
    <p:sldId id="14999151" r:id="rId10"/>
    <p:sldId id="14999178" r:id="rId11"/>
    <p:sldId id="14999182" r:id="rId12"/>
    <p:sldId id="14999186" r:id="rId13"/>
    <p:sldId id="14999202" r:id="rId14"/>
    <p:sldId id="14999203" r:id="rId15"/>
    <p:sldId id="14999204" r:id="rId16"/>
    <p:sldId id="14998923" r:id="rId17"/>
    <p:sldId id="14999172" r:id="rId18"/>
    <p:sldId id="14999167" r:id="rId19"/>
    <p:sldId id="14999169" r:id="rId20"/>
    <p:sldId id="14999157" r:id="rId21"/>
    <p:sldId id="14999119" r:id="rId22"/>
    <p:sldId id="14999129" r:id="rId23"/>
    <p:sldId id="14999205" r:id="rId24"/>
  </p:sldIdLst>
  <p:sldSz cx="9144000" cy="5143500" type="screen16x9"/>
  <p:notesSz cx="6807200" cy="9939338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66"/>
    <a:srgbClr val="F4C7CB"/>
    <a:srgbClr val="000000"/>
    <a:srgbClr val="FFD1D1"/>
    <a:srgbClr val="FCF2F2"/>
    <a:srgbClr val="FFDADA"/>
    <a:srgbClr val="FFFFFF"/>
    <a:srgbClr val="E7E6E6"/>
    <a:srgbClr val="FFF9DD"/>
    <a:srgbClr val="DD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84" autoAdjust="0"/>
    <p:restoredTop sz="90541" autoAdjust="0"/>
  </p:normalViewPr>
  <p:slideViewPr>
    <p:cSldViewPr snapToGrid="0" showGuides="1">
      <p:cViewPr varScale="1">
        <p:scale>
          <a:sx n="192" d="100"/>
          <a:sy n="192" d="100"/>
        </p:scale>
        <p:origin x="1326" y="156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file:///C:\Users\&#38771;&#26031;&#28085;\Desktop\&#35780;&#20215;&#25152;&#26377;&#25968;&#25454;\&#35780;&#20215;&#25991;&#26723;2.0&#29992;&#25968;&#25454;\&#32456;&#26497;-&#35780;&#20215;&#27719;&#24635;-0213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file:///C:\Users\&#38771;&#26031;&#28085;\Desktop\&#35780;&#20215;&#25152;&#26377;&#25968;&#25454;\&#35780;&#20215;&#25991;&#26723;2.0&#29992;&#25968;&#25454;\&#32456;&#26497;-&#35780;&#20215;&#27719;&#24635;-021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700" dirty="0">
                <a:latin typeface="+mn-ea"/>
                <a:ea typeface="+mn-ea"/>
              </a:rPr>
              <a:t>美团人气榜排名流量结构</a:t>
            </a:r>
            <a:r>
              <a:rPr lang="en-US" altLang="zh-CN" sz="700" dirty="0">
                <a:latin typeface="+mn-ea"/>
                <a:ea typeface="+mn-ea"/>
              </a:rPr>
              <a:t>-</a:t>
            </a:r>
            <a:r>
              <a:rPr lang="zh-CN" altLang="en-US" sz="700" dirty="0">
                <a:latin typeface="+mn-ea"/>
                <a:ea typeface="+mn-ea"/>
              </a:rPr>
              <a:t>高线</a:t>
            </a:r>
            <a:endParaRPr lang="zh-CN" sz="700" dirty="0">
              <a:latin typeface="+mn-ea"/>
              <a:ea typeface="+mn-ea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意向UV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Sheet1!$A$2:$A$51</c:f>
              <c:numCache>
                <c:formatCode>#,##0_ </c:formatCode>
                <c:ptCount val="50"/>
                <c:pt idx="0">
                  <c:v>8396.3276972624699</c:v>
                </c:pt>
                <c:pt idx="1">
                  <c:v>7523.4307568437998</c:v>
                </c:pt>
                <c:pt idx="2">
                  <c:v>8130.2560386473397</c:v>
                </c:pt>
                <c:pt idx="3">
                  <c:v>6333.6586151368701</c:v>
                </c:pt>
                <c:pt idx="4">
                  <c:v>5687.7423510466997</c:v>
                </c:pt>
                <c:pt idx="5">
                  <c:v>5089.92431561996</c:v>
                </c:pt>
                <c:pt idx="6">
                  <c:v>6888.7954911433098</c:v>
                </c:pt>
                <c:pt idx="7">
                  <c:v>4176.2439613526503</c:v>
                </c:pt>
                <c:pt idx="8">
                  <c:v>3913.8644444444399</c:v>
                </c:pt>
                <c:pt idx="9">
                  <c:v>4264.40518518518</c:v>
                </c:pt>
                <c:pt idx="10">
                  <c:v>3799.4653784218999</c:v>
                </c:pt>
                <c:pt idx="11">
                  <c:v>3828.9524959742298</c:v>
                </c:pt>
                <c:pt idx="12">
                  <c:v>4538.0120772946802</c:v>
                </c:pt>
                <c:pt idx="13">
                  <c:v>4493.1755233494296</c:v>
                </c:pt>
                <c:pt idx="14">
                  <c:v>3755.125</c:v>
                </c:pt>
                <c:pt idx="15">
                  <c:v>3964.3373590982301</c:v>
                </c:pt>
                <c:pt idx="16">
                  <c:v>4925.8111111111102</c:v>
                </c:pt>
                <c:pt idx="17">
                  <c:v>4024.8214814814801</c:v>
                </c:pt>
                <c:pt idx="18">
                  <c:v>4380.3219373219299</c:v>
                </c:pt>
                <c:pt idx="19">
                  <c:v>3249.8526570048298</c:v>
                </c:pt>
                <c:pt idx="20">
                  <c:v>3004.3260869565202</c:v>
                </c:pt>
                <c:pt idx="21">
                  <c:v>3483.2638888888901</c:v>
                </c:pt>
                <c:pt idx="22">
                  <c:v>2893.8800322061202</c:v>
                </c:pt>
                <c:pt idx="23">
                  <c:v>3849.8379629629599</c:v>
                </c:pt>
                <c:pt idx="24">
                  <c:v>2919.90821256038</c:v>
                </c:pt>
                <c:pt idx="25">
                  <c:v>3015.3022222222198</c:v>
                </c:pt>
                <c:pt idx="26">
                  <c:v>2656.2870370370301</c:v>
                </c:pt>
                <c:pt idx="27">
                  <c:v>3452.6578099838898</c:v>
                </c:pt>
                <c:pt idx="28">
                  <c:v>2987.7689210950098</c:v>
                </c:pt>
                <c:pt idx="29">
                  <c:v>3224.99537037037</c:v>
                </c:pt>
                <c:pt idx="30">
                  <c:v>2990.70289855072</c:v>
                </c:pt>
                <c:pt idx="31">
                  <c:v>4000.9468599033798</c:v>
                </c:pt>
                <c:pt idx="32">
                  <c:v>2733.1990740740698</c:v>
                </c:pt>
                <c:pt idx="33">
                  <c:v>2862.9340740740699</c:v>
                </c:pt>
                <c:pt idx="34">
                  <c:v>3713.0844444444401</c:v>
                </c:pt>
                <c:pt idx="35">
                  <c:v>3215.13768115942</c:v>
                </c:pt>
                <c:pt idx="36">
                  <c:v>2899.37037037037</c:v>
                </c:pt>
                <c:pt idx="37">
                  <c:v>2880.3518518518499</c:v>
                </c:pt>
                <c:pt idx="38">
                  <c:v>2418.17283950617</c:v>
                </c:pt>
                <c:pt idx="39">
                  <c:v>2399.5138888888901</c:v>
                </c:pt>
                <c:pt idx="40">
                  <c:v>2575.1501976284499</c:v>
                </c:pt>
                <c:pt idx="41">
                  <c:v>2466.9120370370301</c:v>
                </c:pt>
                <c:pt idx="42">
                  <c:v>2690.76183574879</c:v>
                </c:pt>
                <c:pt idx="43">
                  <c:v>2114.6799999999998</c:v>
                </c:pt>
                <c:pt idx="44">
                  <c:v>2566.13105413105</c:v>
                </c:pt>
                <c:pt idx="45">
                  <c:v>2267.0231481481401</c:v>
                </c:pt>
                <c:pt idx="46">
                  <c:v>2534.9711111111101</c:v>
                </c:pt>
                <c:pt idx="47">
                  <c:v>2843.9166666666702</c:v>
                </c:pt>
                <c:pt idx="48">
                  <c:v>2127.0833333333298</c:v>
                </c:pt>
                <c:pt idx="49">
                  <c:v>2895.49818181818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13-4888-A811-91FDAF725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1057344"/>
        <c:axId val="701048224"/>
      </c:line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实付GTV</c:v>
                </c:pt>
              </c:strCache>
            </c:strRef>
          </c:tx>
          <c:spPr>
            <a:ln w="28575" cap="rnd">
              <a:solidFill>
                <a:schemeClr val="accent2">
                  <a:alpha val="40000"/>
                </a:schemeClr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36"/>
            <c:marker>
              <c:symbol val="square"/>
              <c:size val="2"/>
              <c:spPr>
                <a:solidFill>
                  <a:schemeClr val="bg1">
                    <a:alpha val="70000"/>
                  </a:schemeClr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752-493A-857A-B5785B0B9EC8}"/>
              </c:ext>
            </c:extLst>
          </c:dPt>
          <c:val>
            <c:numRef>
              <c:f>Sheet1!$B$2:$B$51</c:f>
              <c:numCache>
                <c:formatCode>#,##0_ </c:formatCode>
                <c:ptCount val="50"/>
                <c:pt idx="0">
                  <c:v>277737.37446666701</c:v>
                </c:pt>
                <c:pt idx="1">
                  <c:v>267071.93963333301</c:v>
                </c:pt>
                <c:pt idx="2">
                  <c:v>273833.80660000001</c:v>
                </c:pt>
                <c:pt idx="3">
                  <c:v>218392.73493333301</c:v>
                </c:pt>
                <c:pt idx="4">
                  <c:v>166336.690633333</c:v>
                </c:pt>
                <c:pt idx="5">
                  <c:v>203888.5987</c:v>
                </c:pt>
                <c:pt idx="6">
                  <c:v>217854.247733333</c:v>
                </c:pt>
                <c:pt idx="7">
                  <c:v>170389.71100000001</c:v>
                </c:pt>
                <c:pt idx="8">
                  <c:v>123778.672366667</c:v>
                </c:pt>
                <c:pt idx="9">
                  <c:v>200865.40256666701</c:v>
                </c:pt>
                <c:pt idx="10">
                  <c:v>158102.70093333299</c:v>
                </c:pt>
                <c:pt idx="11">
                  <c:v>140878.54043333299</c:v>
                </c:pt>
                <c:pt idx="12">
                  <c:v>155816.27753333299</c:v>
                </c:pt>
                <c:pt idx="13">
                  <c:v>115201.036833333</c:v>
                </c:pt>
                <c:pt idx="14">
                  <c:v>141802.73833333299</c:v>
                </c:pt>
                <c:pt idx="15">
                  <c:v>105112.206533333</c:v>
                </c:pt>
                <c:pt idx="16">
                  <c:v>147156.68100000001</c:v>
                </c:pt>
                <c:pt idx="17">
                  <c:v>238702.317366667</c:v>
                </c:pt>
                <c:pt idx="18">
                  <c:v>119690.790633333</c:v>
                </c:pt>
                <c:pt idx="19">
                  <c:v>73719.567033333296</c:v>
                </c:pt>
                <c:pt idx="20">
                  <c:v>102426.260233333</c:v>
                </c:pt>
                <c:pt idx="21">
                  <c:v>109419.71176666699</c:v>
                </c:pt>
                <c:pt idx="22">
                  <c:v>68021.345233333297</c:v>
                </c:pt>
                <c:pt idx="23">
                  <c:v>106276.491366667</c:v>
                </c:pt>
                <c:pt idx="24">
                  <c:v>83056.354800000001</c:v>
                </c:pt>
                <c:pt idx="25">
                  <c:v>111838.171966667</c:v>
                </c:pt>
                <c:pt idx="26">
                  <c:v>78279.067800000004</c:v>
                </c:pt>
                <c:pt idx="27">
                  <c:v>96599.173833333305</c:v>
                </c:pt>
                <c:pt idx="28">
                  <c:v>88091.561366666705</c:v>
                </c:pt>
                <c:pt idx="29">
                  <c:v>117041.539733333</c:v>
                </c:pt>
                <c:pt idx="30">
                  <c:v>98151.376466666698</c:v>
                </c:pt>
                <c:pt idx="31">
                  <c:v>83714.824999999997</c:v>
                </c:pt>
                <c:pt idx="32">
                  <c:v>101023.0555</c:v>
                </c:pt>
                <c:pt idx="33">
                  <c:v>72462.054000000004</c:v>
                </c:pt>
                <c:pt idx="34">
                  <c:v>90908.605966666699</c:v>
                </c:pt>
                <c:pt idx="35">
                  <c:v>100233.17690000001</c:v>
                </c:pt>
                <c:pt idx="36">
                  <c:v>208831.24683333299</c:v>
                </c:pt>
                <c:pt idx="37">
                  <c:v>85736.323033333305</c:v>
                </c:pt>
                <c:pt idx="38">
                  <c:v>82841.607499999998</c:v>
                </c:pt>
                <c:pt idx="39">
                  <c:v>69661.689133333304</c:v>
                </c:pt>
                <c:pt idx="40">
                  <c:v>80201.866566666693</c:v>
                </c:pt>
                <c:pt idx="41">
                  <c:v>83455.817766666703</c:v>
                </c:pt>
                <c:pt idx="42">
                  <c:v>75110.478733333293</c:v>
                </c:pt>
                <c:pt idx="43">
                  <c:v>70684.501266666703</c:v>
                </c:pt>
                <c:pt idx="44">
                  <c:v>105358.35846666701</c:v>
                </c:pt>
                <c:pt idx="45">
                  <c:v>69945.532233333302</c:v>
                </c:pt>
                <c:pt idx="46">
                  <c:v>65452.783966666699</c:v>
                </c:pt>
                <c:pt idx="47">
                  <c:v>91137.475833333301</c:v>
                </c:pt>
                <c:pt idx="48">
                  <c:v>63106.769533333303</c:v>
                </c:pt>
                <c:pt idx="49">
                  <c:v>87575.238766666705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13-4888-A811-91FDAF725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054032"/>
        <c:axId val="101060272"/>
      </c:lineChart>
      <c:catAx>
        <c:axId val="70105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48224"/>
        <c:crosses val="autoZero"/>
        <c:auto val="1"/>
        <c:lblAlgn val="ctr"/>
        <c:lblOffset val="100"/>
        <c:noMultiLvlLbl val="0"/>
      </c:catAx>
      <c:valAx>
        <c:axId val="70104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57344"/>
        <c:crosses val="autoZero"/>
        <c:crossBetween val="between"/>
      </c:valAx>
      <c:catAx>
        <c:axId val="101054032"/>
        <c:scaling>
          <c:orientation val="minMax"/>
        </c:scaling>
        <c:delete val="1"/>
        <c:axPos val="b"/>
        <c:majorTickMark val="out"/>
        <c:minorTickMark val="none"/>
        <c:tickLblPos val="nextTo"/>
        <c:crossAx val="101060272"/>
        <c:crosses val="autoZero"/>
        <c:auto val="1"/>
        <c:lblAlgn val="ctr"/>
        <c:lblOffset val="100"/>
        <c:noMultiLvlLbl val="0"/>
      </c:catAx>
      <c:valAx>
        <c:axId val="101060272"/>
        <c:scaling>
          <c:orientation val="minMax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105403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e5a170f-637c-47ad-ac0c-bc96e2906755}"/>
      </c:ext>
    </c:extLst>
  </c:chart>
  <c:spPr>
    <a:noFill/>
    <a:ln>
      <a:solidFill>
        <a:schemeClr val="bg1">
          <a:lumMod val="95000"/>
        </a:schemeClr>
      </a:solidFill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700" dirty="0"/>
              <a:t>美团人气榜排名流量结构</a:t>
            </a:r>
            <a:r>
              <a:rPr lang="en-US" altLang="zh-CN" sz="700" dirty="0"/>
              <a:t>-</a:t>
            </a:r>
            <a:r>
              <a:rPr lang="zh-CN" altLang="en-US" sz="700" dirty="0"/>
              <a:t>中低线</a:t>
            </a:r>
            <a:endParaRPr lang="zh-CN" sz="7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意向UV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Sheet1!$A$2:$A$51</c:f>
              <c:numCache>
                <c:formatCode>#,##0_ </c:formatCode>
                <c:ptCount val="50"/>
                <c:pt idx="0">
                  <c:v>2984.7948885976298</c:v>
                </c:pt>
                <c:pt idx="1">
                  <c:v>2323.28705939159</c:v>
                </c:pt>
                <c:pt idx="2">
                  <c:v>2417.0555194805202</c:v>
                </c:pt>
                <c:pt idx="3">
                  <c:v>2167.5800324675201</c:v>
                </c:pt>
                <c:pt idx="4">
                  <c:v>2018.4437001594899</c:v>
                </c:pt>
                <c:pt idx="5">
                  <c:v>2242.5303461356102</c:v>
                </c:pt>
                <c:pt idx="6">
                  <c:v>1890.7949646074601</c:v>
                </c:pt>
                <c:pt idx="7">
                  <c:v>1726.29269480519</c:v>
                </c:pt>
                <c:pt idx="8">
                  <c:v>1772.70172250315</c:v>
                </c:pt>
                <c:pt idx="9">
                  <c:v>1677.87186293435</c:v>
                </c:pt>
                <c:pt idx="10">
                  <c:v>1657.78258145363</c:v>
                </c:pt>
                <c:pt idx="11">
                  <c:v>1557.8713054187201</c:v>
                </c:pt>
                <c:pt idx="12">
                  <c:v>1588.18284242716</c:v>
                </c:pt>
                <c:pt idx="13">
                  <c:v>1522.77453769558</c:v>
                </c:pt>
                <c:pt idx="14">
                  <c:v>1459.6256016146499</c:v>
                </c:pt>
                <c:pt idx="15">
                  <c:v>1417.92770719903</c:v>
                </c:pt>
                <c:pt idx="16">
                  <c:v>1475.0800701344201</c:v>
                </c:pt>
                <c:pt idx="17">
                  <c:v>1436.37473298749</c:v>
                </c:pt>
                <c:pt idx="18">
                  <c:v>1426.1897220928399</c:v>
                </c:pt>
                <c:pt idx="19">
                  <c:v>1338.38822326124</c:v>
                </c:pt>
                <c:pt idx="20">
                  <c:v>1378.72446174988</c:v>
                </c:pt>
                <c:pt idx="21">
                  <c:v>1259.8461779448601</c:v>
                </c:pt>
                <c:pt idx="22">
                  <c:v>1183.9623027469299</c:v>
                </c:pt>
                <c:pt idx="23">
                  <c:v>1191.38806086011</c:v>
                </c:pt>
                <c:pt idx="24">
                  <c:v>1236.54420624912</c:v>
                </c:pt>
                <c:pt idx="25">
                  <c:v>1200.3275131502</c:v>
                </c:pt>
                <c:pt idx="26">
                  <c:v>1222.4910768300099</c:v>
                </c:pt>
                <c:pt idx="27">
                  <c:v>1150.3555555555499</c:v>
                </c:pt>
                <c:pt idx="28">
                  <c:v>1257.40120537076</c:v>
                </c:pt>
                <c:pt idx="29">
                  <c:v>1251.66213921901</c:v>
                </c:pt>
                <c:pt idx="30">
                  <c:v>1198.13134672821</c:v>
                </c:pt>
                <c:pt idx="31">
                  <c:v>1229.1439265536701</c:v>
                </c:pt>
                <c:pt idx="32">
                  <c:v>1127.1178360655699</c:v>
                </c:pt>
                <c:pt idx="33">
                  <c:v>1135.3790322580601</c:v>
                </c:pt>
                <c:pt idx="34">
                  <c:v>1041.5976127320901</c:v>
                </c:pt>
                <c:pt idx="35">
                  <c:v>1180.24715142429</c:v>
                </c:pt>
                <c:pt idx="36">
                  <c:v>1114.01639344262</c:v>
                </c:pt>
                <c:pt idx="37">
                  <c:v>1020.65666666666</c:v>
                </c:pt>
                <c:pt idx="38">
                  <c:v>1067.11865729898</c:v>
                </c:pt>
                <c:pt idx="39">
                  <c:v>1114.58552631579</c:v>
                </c:pt>
                <c:pt idx="40">
                  <c:v>1027.7900393023799</c:v>
                </c:pt>
                <c:pt idx="41">
                  <c:v>986.79055059523796</c:v>
                </c:pt>
                <c:pt idx="42">
                  <c:v>1053.6099759615299</c:v>
                </c:pt>
                <c:pt idx="43">
                  <c:v>973.84280803806996</c:v>
                </c:pt>
                <c:pt idx="44">
                  <c:v>972.56930421421805</c:v>
                </c:pt>
                <c:pt idx="45">
                  <c:v>901.04751536884999</c:v>
                </c:pt>
                <c:pt idx="46">
                  <c:v>988.07146957520001</c:v>
                </c:pt>
                <c:pt idx="47">
                  <c:v>944.26269067266401</c:v>
                </c:pt>
                <c:pt idx="48">
                  <c:v>956.76201148619805</c:v>
                </c:pt>
                <c:pt idx="49">
                  <c:v>991.22856964084201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5E-4759-829B-BC116AD8BE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1057344"/>
        <c:axId val="701048224"/>
      </c:line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实付GTV</c:v>
                </c:pt>
              </c:strCache>
            </c:strRef>
          </c:tx>
          <c:spPr>
            <a:ln w="28575" cap="rnd">
              <a:solidFill>
                <a:schemeClr val="accent2">
                  <a:alpha val="40000"/>
                </a:schemeClr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Sheet1!$B$2:$B$51</c:f>
              <c:numCache>
                <c:formatCode>#,##0_ </c:formatCode>
                <c:ptCount val="50"/>
                <c:pt idx="0">
                  <c:v>133586.03335000001</c:v>
                </c:pt>
                <c:pt idx="1">
                  <c:v>93517.830849999998</c:v>
                </c:pt>
                <c:pt idx="2">
                  <c:v>92438.506200000003</c:v>
                </c:pt>
                <c:pt idx="3">
                  <c:v>83135.291249999995</c:v>
                </c:pt>
                <c:pt idx="4">
                  <c:v>81629.401150000005</c:v>
                </c:pt>
                <c:pt idx="5">
                  <c:v>79623.345249999998</c:v>
                </c:pt>
                <c:pt idx="6">
                  <c:v>66311.575100000002</c:v>
                </c:pt>
                <c:pt idx="7">
                  <c:v>68081.840249999994</c:v>
                </c:pt>
                <c:pt idx="8">
                  <c:v>65575.732749999996</c:v>
                </c:pt>
                <c:pt idx="9">
                  <c:v>62481.944799999997</c:v>
                </c:pt>
                <c:pt idx="10">
                  <c:v>57273.767950000001</c:v>
                </c:pt>
                <c:pt idx="11">
                  <c:v>57606.80745</c:v>
                </c:pt>
                <c:pt idx="12">
                  <c:v>58369.483650000002</c:v>
                </c:pt>
                <c:pt idx="13">
                  <c:v>55378.102500000001</c:v>
                </c:pt>
                <c:pt idx="14">
                  <c:v>50157.608749999999</c:v>
                </c:pt>
                <c:pt idx="15">
                  <c:v>48550.359799999998</c:v>
                </c:pt>
                <c:pt idx="16">
                  <c:v>50464.775000000001</c:v>
                </c:pt>
                <c:pt idx="17">
                  <c:v>45462.303500000002</c:v>
                </c:pt>
                <c:pt idx="18">
                  <c:v>46836.828600000001</c:v>
                </c:pt>
                <c:pt idx="19">
                  <c:v>44164.673750000002</c:v>
                </c:pt>
                <c:pt idx="20">
                  <c:v>46325.712749999999</c:v>
                </c:pt>
                <c:pt idx="21">
                  <c:v>42852.553249999997</c:v>
                </c:pt>
                <c:pt idx="22">
                  <c:v>40889.699650000002</c:v>
                </c:pt>
                <c:pt idx="23">
                  <c:v>38920.437700000002</c:v>
                </c:pt>
                <c:pt idx="24">
                  <c:v>40206.935299999997</c:v>
                </c:pt>
                <c:pt idx="25">
                  <c:v>38238.082549999999</c:v>
                </c:pt>
                <c:pt idx="26">
                  <c:v>38537.193950000001</c:v>
                </c:pt>
                <c:pt idx="27">
                  <c:v>36332.716</c:v>
                </c:pt>
                <c:pt idx="28">
                  <c:v>39549.324650000002</c:v>
                </c:pt>
                <c:pt idx="29">
                  <c:v>36762.56035</c:v>
                </c:pt>
                <c:pt idx="30">
                  <c:v>34804.787100000001</c:v>
                </c:pt>
                <c:pt idx="31">
                  <c:v>32742.28225</c:v>
                </c:pt>
                <c:pt idx="32">
                  <c:v>36181.210749999998</c:v>
                </c:pt>
                <c:pt idx="33">
                  <c:v>35521.378349999999</c:v>
                </c:pt>
                <c:pt idx="34">
                  <c:v>32569.7978</c:v>
                </c:pt>
                <c:pt idx="35">
                  <c:v>32590.276399999999</c:v>
                </c:pt>
                <c:pt idx="36">
                  <c:v>29971.49855</c:v>
                </c:pt>
                <c:pt idx="37">
                  <c:v>31521.71975</c:v>
                </c:pt>
                <c:pt idx="38">
                  <c:v>29530.09505</c:v>
                </c:pt>
                <c:pt idx="39">
                  <c:v>33180.347000000002</c:v>
                </c:pt>
                <c:pt idx="40">
                  <c:v>26928.2837</c:v>
                </c:pt>
                <c:pt idx="41">
                  <c:v>28063.922549999999</c:v>
                </c:pt>
                <c:pt idx="42">
                  <c:v>26088.098249999999</c:v>
                </c:pt>
                <c:pt idx="43">
                  <c:v>26047.546849999999</c:v>
                </c:pt>
                <c:pt idx="44">
                  <c:v>28236.422299999998</c:v>
                </c:pt>
                <c:pt idx="45">
                  <c:v>25884.720249999998</c:v>
                </c:pt>
                <c:pt idx="46">
                  <c:v>26729.701150000001</c:v>
                </c:pt>
                <c:pt idx="47">
                  <c:v>25498.76785</c:v>
                </c:pt>
                <c:pt idx="48">
                  <c:v>25622.5494</c:v>
                </c:pt>
                <c:pt idx="49">
                  <c:v>24490.893599999999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5E-4759-829B-BC116AD8BE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054032"/>
        <c:axId val="101060272"/>
      </c:lineChart>
      <c:catAx>
        <c:axId val="70105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48224"/>
        <c:crosses val="autoZero"/>
        <c:auto val="1"/>
        <c:lblAlgn val="ctr"/>
        <c:lblOffset val="100"/>
        <c:noMultiLvlLbl val="0"/>
      </c:catAx>
      <c:valAx>
        <c:axId val="701048224"/>
        <c:scaling>
          <c:orientation val="minMax"/>
          <c:max val="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57344"/>
        <c:crosses val="autoZero"/>
        <c:crossBetween val="between"/>
      </c:valAx>
      <c:catAx>
        <c:axId val="101054032"/>
        <c:scaling>
          <c:orientation val="minMax"/>
        </c:scaling>
        <c:delete val="1"/>
        <c:axPos val="b"/>
        <c:majorTickMark val="out"/>
        <c:minorTickMark val="none"/>
        <c:tickLblPos val="nextTo"/>
        <c:crossAx val="101060272"/>
        <c:crosses val="autoZero"/>
        <c:auto val="1"/>
        <c:lblAlgn val="ctr"/>
        <c:lblOffset val="100"/>
        <c:noMultiLvlLbl val="0"/>
      </c:catAx>
      <c:valAx>
        <c:axId val="101060272"/>
        <c:scaling>
          <c:orientation val="minMax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105403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00661dd-82c9-492f-89d5-ab6e245e9487}"/>
      </c:ext>
    </c:extLst>
  </c:chart>
  <c:spPr>
    <a:noFill/>
    <a:ln>
      <a:solidFill>
        <a:schemeClr val="bg1">
          <a:lumMod val="95000"/>
        </a:schemeClr>
      </a:solidFill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</a:rPr>
              <a:t>美团人气榜排名流量结构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</a:rPr>
              <a:t>下沉</a:t>
            </a:r>
            <a:endParaRPr lang="zh-CN" sz="700" dirty="0">
              <a:solidFill>
                <a:schemeClr val="bg1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意向UV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Sheet1!$A$2:$A$51</c:f>
              <c:numCache>
                <c:formatCode>#,##0_ </c:formatCode>
                <c:ptCount val="50"/>
                <c:pt idx="0">
                  <c:v>988.44682169272801</c:v>
                </c:pt>
                <c:pt idx="1">
                  <c:v>762.86880769553898</c:v>
                </c:pt>
                <c:pt idx="2">
                  <c:v>709.39242749992695</c:v>
                </c:pt>
                <c:pt idx="3">
                  <c:v>672.96603585134199</c:v>
                </c:pt>
                <c:pt idx="4">
                  <c:v>623.77245474935705</c:v>
                </c:pt>
                <c:pt idx="5">
                  <c:v>547.81961667902499</c:v>
                </c:pt>
                <c:pt idx="6">
                  <c:v>548.95281681703602</c:v>
                </c:pt>
                <c:pt idx="7">
                  <c:v>493.83755555555501</c:v>
                </c:pt>
                <c:pt idx="8">
                  <c:v>490.60567479929801</c:v>
                </c:pt>
                <c:pt idx="9">
                  <c:v>456.85727436193503</c:v>
                </c:pt>
                <c:pt idx="10">
                  <c:v>479.84270291875202</c:v>
                </c:pt>
                <c:pt idx="11">
                  <c:v>460.21454999129401</c:v>
                </c:pt>
                <c:pt idx="12">
                  <c:v>437.62749669065198</c:v>
                </c:pt>
                <c:pt idx="13">
                  <c:v>429.11259218017301</c:v>
                </c:pt>
                <c:pt idx="14">
                  <c:v>418.22610697988802</c:v>
                </c:pt>
                <c:pt idx="15">
                  <c:v>417.75116702672898</c:v>
                </c:pt>
                <c:pt idx="16">
                  <c:v>402.143829812626</c:v>
                </c:pt>
                <c:pt idx="17">
                  <c:v>374.95289354001898</c:v>
                </c:pt>
                <c:pt idx="18">
                  <c:v>388.01933133652</c:v>
                </c:pt>
                <c:pt idx="19">
                  <c:v>380.91975262698099</c:v>
                </c:pt>
                <c:pt idx="20">
                  <c:v>374.73454030501102</c:v>
                </c:pt>
                <c:pt idx="21">
                  <c:v>400.26149792288902</c:v>
                </c:pt>
                <c:pt idx="22">
                  <c:v>365.50483541615603</c:v>
                </c:pt>
                <c:pt idx="23">
                  <c:v>360.22758943010098</c:v>
                </c:pt>
                <c:pt idx="24">
                  <c:v>363.76192917600298</c:v>
                </c:pt>
                <c:pt idx="25">
                  <c:v>359.52687372685398</c:v>
                </c:pt>
                <c:pt idx="26">
                  <c:v>354.12927993981998</c:v>
                </c:pt>
                <c:pt idx="27">
                  <c:v>348.48937770355599</c:v>
                </c:pt>
                <c:pt idx="28">
                  <c:v>321.12253231402099</c:v>
                </c:pt>
                <c:pt idx="29">
                  <c:v>320.478636298136</c:v>
                </c:pt>
                <c:pt idx="30">
                  <c:v>334.439315062204</c:v>
                </c:pt>
                <c:pt idx="31">
                  <c:v>309.26395961178503</c:v>
                </c:pt>
                <c:pt idx="32">
                  <c:v>321.48204102791902</c:v>
                </c:pt>
                <c:pt idx="33">
                  <c:v>295.59509009475403</c:v>
                </c:pt>
                <c:pt idx="34">
                  <c:v>342.17840206164499</c:v>
                </c:pt>
                <c:pt idx="35">
                  <c:v>300.29465109006998</c:v>
                </c:pt>
                <c:pt idx="36">
                  <c:v>301.10680035698698</c:v>
                </c:pt>
                <c:pt idx="37">
                  <c:v>288.51330838443403</c:v>
                </c:pt>
                <c:pt idx="38">
                  <c:v>317.43588940110601</c:v>
                </c:pt>
                <c:pt idx="39">
                  <c:v>301.606041439058</c:v>
                </c:pt>
                <c:pt idx="40">
                  <c:v>287.40427037021999</c:v>
                </c:pt>
                <c:pt idx="41">
                  <c:v>289.15348018506199</c:v>
                </c:pt>
                <c:pt idx="42">
                  <c:v>309.09073107862599</c:v>
                </c:pt>
                <c:pt idx="43">
                  <c:v>269.517524188984</c:v>
                </c:pt>
                <c:pt idx="44">
                  <c:v>292.71200775663198</c:v>
                </c:pt>
                <c:pt idx="45">
                  <c:v>276.85477824763501</c:v>
                </c:pt>
                <c:pt idx="46">
                  <c:v>260.12066365007502</c:v>
                </c:pt>
                <c:pt idx="47">
                  <c:v>232.73349353288299</c:v>
                </c:pt>
                <c:pt idx="48">
                  <c:v>255.82555732138101</c:v>
                </c:pt>
                <c:pt idx="49">
                  <c:v>261.06748099570598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26-40EC-8EE8-15D287DF02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1057344"/>
        <c:axId val="701048224"/>
      </c:line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实付GTV</c:v>
                </c:pt>
              </c:strCache>
            </c:strRef>
          </c:tx>
          <c:spPr>
            <a:ln w="28575" cap="rnd">
              <a:solidFill>
                <a:schemeClr val="accent2">
                  <a:alpha val="40000"/>
                </a:schemeClr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Sheet1!$B$2:$B$51</c:f>
              <c:numCache>
                <c:formatCode>#,##0_ </c:formatCode>
                <c:ptCount val="50"/>
                <c:pt idx="0">
                  <c:v>51243.650966666697</c:v>
                </c:pt>
                <c:pt idx="1">
                  <c:v>37036.765866666698</c:v>
                </c:pt>
                <c:pt idx="2">
                  <c:v>30647.733033333301</c:v>
                </c:pt>
                <c:pt idx="3">
                  <c:v>27054.741033333299</c:v>
                </c:pt>
                <c:pt idx="4">
                  <c:v>24239.371533333298</c:v>
                </c:pt>
                <c:pt idx="5">
                  <c:v>22318.6596333333</c:v>
                </c:pt>
                <c:pt idx="6">
                  <c:v>20685.048233333298</c:v>
                </c:pt>
                <c:pt idx="7">
                  <c:v>18067.6142</c:v>
                </c:pt>
                <c:pt idx="8">
                  <c:v>17177.343133333299</c:v>
                </c:pt>
                <c:pt idx="9">
                  <c:v>15832.6223333333</c:v>
                </c:pt>
                <c:pt idx="10">
                  <c:v>16478.9754333333</c:v>
                </c:pt>
                <c:pt idx="11">
                  <c:v>16069.1119</c:v>
                </c:pt>
                <c:pt idx="12">
                  <c:v>13472.034900000001</c:v>
                </c:pt>
                <c:pt idx="13">
                  <c:v>14118.063599999999</c:v>
                </c:pt>
                <c:pt idx="14">
                  <c:v>12824.5222333333</c:v>
                </c:pt>
                <c:pt idx="15">
                  <c:v>12839.144</c:v>
                </c:pt>
                <c:pt idx="16">
                  <c:v>11319.738799999999</c:v>
                </c:pt>
                <c:pt idx="17">
                  <c:v>11251.156000000001</c:v>
                </c:pt>
                <c:pt idx="18">
                  <c:v>11022.780266666699</c:v>
                </c:pt>
                <c:pt idx="19">
                  <c:v>10919.309733333301</c:v>
                </c:pt>
                <c:pt idx="20">
                  <c:v>11527.885399999999</c:v>
                </c:pt>
                <c:pt idx="21">
                  <c:v>10296.7037</c:v>
                </c:pt>
                <c:pt idx="22">
                  <c:v>10681.6427666667</c:v>
                </c:pt>
                <c:pt idx="23">
                  <c:v>9888.8266333333304</c:v>
                </c:pt>
                <c:pt idx="24">
                  <c:v>8642.8056666666707</c:v>
                </c:pt>
                <c:pt idx="25">
                  <c:v>8772.5280666666695</c:v>
                </c:pt>
                <c:pt idx="26">
                  <c:v>9500.4011666666593</c:v>
                </c:pt>
                <c:pt idx="27">
                  <c:v>8442.1378666666697</c:v>
                </c:pt>
                <c:pt idx="28">
                  <c:v>8555.3587333333307</c:v>
                </c:pt>
                <c:pt idx="29">
                  <c:v>7975.3756666666704</c:v>
                </c:pt>
                <c:pt idx="30">
                  <c:v>7886.4937</c:v>
                </c:pt>
                <c:pt idx="31">
                  <c:v>7667.0316666666704</c:v>
                </c:pt>
                <c:pt idx="32">
                  <c:v>7618.7211666666699</c:v>
                </c:pt>
                <c:pt idx="33">
                  <c:v>6956.1043</c:v>
                </c:pt>
                <c:pt idx="34">
                  <c:v>7909.34893333333</c:v>
                </c:pt>
                <c:pt idx="35">
                  <c:v>6525.34306666667</c:v>
                </c:pt>
                <c:pt idx="36">
                  <c:v>7351.5500333333302</c:v>
                </c:pt>
                <c:pt idx="37">
                  <c:v>7237.4994666666698</c:v>
                </c:pt>
                <c:pt idx="38">
                  <c:v>7346.2712666666703</c:v>
                </c:pt>
                <c:pt idx="39">
                  <c:v>6386.6109999999999</c:v>
                </c:pt>
                <c:pt idx="40">
                  <c:v>5902.8263999999999</c:v>
                </c:pt>
                <c:pt idx="41">
                  <c:v>6447.1774666666697</c:v>
                </c:pt>
                <c:pt idx="42">
                  <c:v>6720.3262000000004</c:v>
                </c:pt>
                <c:pt idx="43">
                  <c:v>5489.4405333333298</c:v>
                </c:pt>
                <c:pt idx="44">
                  <c:v>5892.55173333333</c:v>
                </c:pt>
                <c:pt idx="45">
                  <c:v>5620.4050666666699</c:v>
                </c:pt>
                <c:pt idx="46">
                  <c:v>5018.1442333333298</c:v>
                </c:pt>
                <c:pt idx="47">
                  <c:v>5492.1397666666699</c:v>
                </c:pt>
                <c:pt idx="48">
                  <c:v>5147.7481333333299</c:v>
                </c:pt>
                <c:pt idx="49">
                  <c:v>5286.3811666666697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26-40EC-8EE8-15D287DF02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054032"/>
        <c:axId val="101060272"/>
      </c:lineChart>
      <c:catAx>
        <c:axId val="70105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48224"/>
        <c:crosses val="autoZero"/>
        <c:auto val="1"/>
        <c:lblAlgn val="ctr"/>
        <c:lblOffset val="100"/>
        <c:noMultiLvlLbl val="0"/>
      </c:catAx>
      <c:valAx>
        <c:axId val="701048224"/>
        <c:scaling>
          <c:orientation val="minMax"/>
          <c:max val="1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57344"/>
        <c:crosses val="autoZero"/>
        <c:crossBetween val="between"/>
      </c:valAx>
      <c:catAx>
        <c:axId val="101054032"/>
        <c:scaling>
          <c:orientation val="minMax"/>
        </c:scaling>
        <c:delete val="1"/>
        <c:axPos val="b"/>
        <c:majorTickMark val="out"/>
        <c:minorTickMark val="none"/>
        <c:tickLblPos val="nextTo"/>
        <c:crossAx val="101060272"/>
        <c:crosses val="autoZero"/>
        <c:auto val="1"/>
        <c:lblAlgn val="ctr"/>
        <c:lblOffset val="100"/>
        <c:noMultiLvlLbl val="0"/>
      </c:catAx>
      <c:valAx>
        <c:axId val="101060272"/>
        <c:scaling>
          <c:orientation val="minMax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105403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5106822-e623-48c3-b781-1f5c7eb2f3a7}"/>
      </c:ext>
    </c:extLst>
  </c:chart>
  <c:spPr>
    <a:noFill/>
    <a:ln>
      <a:solidFill>
        <a:schemeClr val="bg1">
          <a:lumMod val="95000"/>
        </a:schemeClr>
      </a:solidFill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r>
              <a:rPr lang="zh-CN" altLang="en-US" sz="700" dirty="0">
                <a:latin typeface="+mn-ea"/>
                <a:ea typeface="+mn-ea"/>
              </a:rPr>
              <a:t>点评热门榜排名流量结构</a:t>
            </a:r>
            <a:r>
              <a:rPr lang="en-US" altLang="zh-CN" sz="700" dirty="0">
                <a:latin typeface="+mn-ea"/>
                <a:ea typeface="+mn-ea"/>
              </a:rPr>
              <a:t>-</a:t>
            </a:r>
            <a:r>
              <a:rPr lang="zh-CN" altLang="en-US" sz="700" dirty="0">
                <a:latin typeface="+mn-ea"/>
                <a:ea typeface="+mn-ea"/>
              </a:rPr>
              <a:t>高线</a:t>
            </a:r>
            <a:endParaRPr lang="zh-CN" sz="700" dirty="0">
              <a:latin typeface="+mn-ea"/>
              <a:ea typeface="+mn-ea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意向UV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Sheet1!$A$2:$A$51</c:f>
              <c:numCache>
                <c:formatCode>#,##0_ </c:formatCode>
                <c:ptCount val="50"/>
                <c:pt idx="0">
                  <c:v>18925.319645732699</c:v>
                </c:pt>
                <c:pt idx="1">
                  <c:v>15149.0322061191</c:v>
                </c:pt>
                <c:pt idx="2">
                  <c:v>16808.421095008001</c:v>
                </c:pt>
                <c:pt idx="3">
                  <c:v>13615.9500805153</c:v>
                </c:pt>
                <c:pt idx="4">
                  <c:v>13958.5587761675</c:v>
                </c:pt>
                <c:pt idx="5">
                  <c:v>14809.4959742351</c:v>
                </c:pt>
                <c:pt idx="6">
                  <c:v>17477.739935587801</c:v>
                </c:pt>
                <c:pt idx="7">
                  <c:v>13516.557165861501</c:v>
                </c:pt>
                <c:pt idx="8">
                  <c:v>17825.129629629599</c:v>
                </c:pt>
                <c:pt idx="9">
                  <c:v>13411.924315619901</c:v>
                </c:pt>
                <c:pt idx="10">
                  <c:v>13765.7165861513</c:v>
                </c:pt>
                <c:pt idx="11">
                  <c:v>10504.6046698873</c:v>
                </c:pt>
                <c:pt idx="12">
                  <c:v>12621.192431562</c:v>
                </c:pt>
                <c:pt idx="13">
                  <c:v>8816.1980676328403</c:v>
                </c:pt>
                <c:pt idx="14">
                  <c:v>14290.8268921095</c:v>
                </c:pt>
                <c:pt idx="15">
                  <c:v>10484.8904991948</c:v>
                </c:pt>
                <c:pt idx="16">
                  <c:v>22367.629629629599</c:v>
                </c:pt>
                <c:pt idx="17">
                  <c:v>10443.2512077295</c:v>
                </c:pt>
                <c:pt idx="18">
                  <c:v>9746.1425120772892</c:v>
                </c:pt>
                <c:pt idx="19">
                  <c:v>9622.9492753623199</c:v>
                </c:pt>
                <c:pt idx="20">
                  <c:v>11143.46215781</c:v>
                </c:pt>
                <c:pt idx="21">
                  <c:v>12992.9903381642</c:v>
                </c:pt>
                <c:pt idx="22">
                  <c:v>9700.6626409017699</c:v>
                </c:pt>
                <c:pt idx="23">
                  <c:v>9732.7681159420299</c:v>
                </c:pt>
                <c:pt idx="24">
                  <c:v>11387.588566827701</c:v>
                </c:pt>
                <c:pt idx="25">
                  <c:v>10018.415458937199</c:v>
                </c:pt>
                <c:pt idx="26">
                  <c:v>11303.076489532999</c:v>
                </c:pt>
                <c:pt idx="27">
                  <c:v>10566.9396135266</c:v>
                </c:pt>
                <c:pt idx="28">
                  <c:v>7855.4315619967801</c:v>
                </c:pt>
                <c:pt idx="29">
                  <c:v>12603.333333333299</c:v>
                </c:pt>
                <c:pt idx="30">
                  <c:v>9017.6392914653807</c:v>
                </c:pt>
                <c:pt idx="31">
                  <c:v>8698.0257648953302</c:v>
                </c:pt>
                <c:pt idx="32">
                  <c:v>8414.6763285024099</c:v>
                </c:pt>
                <c:pt idx="33">
                  <c:v>8173.2681159420299</c:v>
                </c:pt>
                <c:pt idx="34">
                  <c:v>8298.0314009661797</c:v>
                </c:pt>
                <c:pt idx="35">
                  <c:v>7115.8043478260897</c:v>
                </c:pt>
                <c:pt idx="36">
                  <c:v>10851.9404186795</c:v>
                </c:pt>
                <c:pt idx="37">
                  <c:v>8174.4194847020899</c:v>
                </c:pt>
                <c:pt idx="38">
                  <c:v>8175.8800322061197</c:v>
                </c:pt>
                <c:pt idx="39">
                  <c:v>9644.7351046698695</c:v>
                </c:pt>
                <c:pt idx="40">
                  <c:v>7862.4170692431499</c:v>
                </c:pt>
                <c:pt idx="41">
                  <c:v>7899.1239935587701</c:v>
                </c:pt>
                <c:pt idx="42">
                  <c:v>8183.4621578099805</c:v>
                </c:pt>
                <c:pt idx="43">
                  <c:v>7199.8478260869497</c:v>
                </c:pt>
                <c:pt idx="44">
                  <c:v>7241.6014492753602</c:v>
                </c:pt>
                <c:pt idx="45">
                  <c:v>6399.2689210950102</c:v>
                </c:pt>
                <c:pt idx="46">
                  <c:v>5974.6988727858297</c:v>
                </c:pt>
                <c:pt idx="47">
                  <c:v>7784.2117552334903</c:v>
                </c:pt>
                <c:pt idx="48">
                  <c:v>6893.6497584541003</c:v>
                </c:pt>
                <c:pt idx="49">
                  <c:v>7734.2995169082096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41-455A-93A7-FB9B2443D2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1057344"/>
        <c:axId val="701048224"/>
      </c:line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实付GTV</c:v>
                </c:pt>
              </c:strCache>
            </c:strRef>
          </c:tx>
          <c:spPr>
            <a:ln w="28575" cap="rnd">
              <a:solidFill>
                <a:schemeClr val="accent2">
                  <a:alpha val="40000"/>
                </a:schemeClr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Sheet1!$B$2:$B$51</c:f>
              <c:numCache>
                <c:formatCode>#,##0_ </c:formatCode>
                <c:ptCount val="50"/>
                <c:pt idx="0">
                  <c:v>181156.009066667</c:v>
                </c:pt>
                <c:pt idx="1">
                  <c:v>148296.24489999999</c:v>
                </c:pt>
                <c:pt idx="2">
                  <c:v>234638.83609999999</c:v>
                </c:pt>
                <c:pt idx="3">
                  <c:v>129185.547766667</c:v>
                </c:pt>
                <c:pt idx="4">
                  <c:v>136363.3578</c:v>
                </c:pt>
                <c:pt idx="5">
                  <c:v>89546.892000000007</c:v>
                </c:pt>
                <c:pt idx="6">
                  <c:v>99709.474799999996</c:v>
                </c:pt>
                <c:pt idx="7">
                  <c:v>144382.98916666699</c:v>
                </c:pt>
                <c:pt idx="8">
                  <c:v>74564.810700000002</c:v>
                </c:pt>
                <c:pt idx="9">
                  <c:v>65492.799233333302</c:v>
                </c:pt>
                <c:pt idx="10">
                  <c:v>97582.010999999999</c:v>
                </c:pt>
                <c:pt idx="11">
                  <c:v>112922.310533333</c:v>
                </c:pt>
                <c:pt idx="12">
                  <c:v>207346.30886666701</c:v>
                </c:pt>
                <c:pt idx="13">
                  <c:v>105055.566866667</c:v>
                </c:pt>
                <c:pt idx="14">
                  <c:v>98468.918166666699</c:v>
                </c:pt>
                <c:pt idx="15">
                  <c:v>96953.199500000002</c:v>
                </c:pt>
                <c:pt idx="16">
                  <c:v>138530.98296666701</c:v>
                </c:pt>
                <c:pt idx="17">
                  <c:v>104689.492433333</c:v>
                </c:pt>
                <c:pt idx="18">
                  <c:v>69863.477700000003</c:v>
                </c:pt>
                <c:pt idx="19">
                  <c:v>149096.64063333301</c:v>
                </c:pt>
                <c:pt idx="20">
                  <c:v>73874.576533333297</c:v>
                </c:pt>
                <c:pt idx="21">
                  <c:v>145359.81866666701</c:v>
                </c:pt>
                <c:pt idx="22">
                  <c:v>150632.26809999999</c:v>
                </c:pt>
                <c:pt idx="23">
                  <c:v>132549.2782</c:v>
                </c:pt>
                <c:pt idx="24">
                  <c:v>150083.1539</c:v>
                </c:pt>
                <c:pt idx="25">
                  <c:v>107042.988233333</c:v>
                </c:pt>
                <c:pt idx="26">
                  <c:v>89022.431800000006</c:v>
                </c:pt>
                <c:pt idx="27">
                  <c:v>232131.27353333301</c:v>
                </c:pt>
                <c:pt idx="28">
                  <c:v>141310.428533333</c:v>
                </c:pt>
                <c:pt idx="29">
                  <c:v>126913.537133333</c:v>
                </c:pt>
                <c:pt idx="30">
                  <c:v>90871.749133333302</c:v>
                </c:pt>
                <c:pt idx="31">
                  <c:v>113778.116633333</c:v>
                </c:pt>
                <c:pt idx="32">
                  <c:v>125708.3893</c:v>
                </c:pt>
                <c:pt idx="33">
                  <c:v>124343.697266667</c:v>
                </c:pt>
                <c:pt idx="34">
                  <c:v>85526.0867</c:v>
                </c:pt>
                <c:pt idx="35">
                  <c:v>66190.711666666699</c:v>
                </c:pt>
                <c:pt idx="36">
                  <c:v>77578.652666666705</c:v>
                </c:pt>
                <c:pt idx="37">
                  <c:v>149565.72769999999</c:v>
                </c:pt>
                <c:pt idx="38">
                  <c:v>124442.05086666701</c:v>
                </c:pt>
                <c:pt idx="39">
                  <c:v>83366.252033333294</c:v>
                </c:pt>
                <c:pt idx="40">
                  <c:v>88696.284700000004</c:v>
                </c:pt>
                <c:pt idx="41">
                  <c:v>93627.168566666704</c:v>
                </c:pt>
                <c:pt idx="42">
                  <c:v>92311.185233333294</c:v>
                </c:pt>
                <c:pt idx="43">
                  <c:v>113266.92923333299</c:v>
                </c:pt>
                <c:pt idx="44">
                  <c:v>84740.730266666695</c:v>
                </c:pt>
                <c:pt idx="45">
                  <c:v>87434.530566666697</c:v>
                </c:pt>
                <c:pt idx="46">
                  <c:v>95279.803499999995</c:v>
                </c:pt>
                <c:pt idx="47">
                  <c:v>125867.717</c:v>
                </c:pt>
                <c:pt idx="48">
                  <c:v>76087.662700000001</c:v>
                </c:pt>
                <c:pt idx="49">
                  <c:v>60632.9047333333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41-455A-93A7-FB9B2443D2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054032"/>
        <c:axId val="101060272"/>
      </c:lineChart>
      <c:catAx>
        <c:axId val="70105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48224"/>
        <c:crosses val="autoZero"/>
        <c:auto val="1"/>
        <c:lblAlgn val="ctr"/>
        <c:lblOffset val="100"/>
        <c:noMultiLvlLbl val="0"/>
      </c:catAx>
      <c:valAx>
        <c:axId val="70104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57344"/>
        <c:crosses val="autoZero"/>
        <c:crossBetween val="between"/>
      </c:valAx>
      <c:catAx>
        <c:axId val="101054032"/>
        <c:scaling>
          <c:orientation val="minMax"/>
        </c:scaling>
        <c:delete val="1"/>
        <c:axPos val="b"/>
        <c:majorTickMark val="out"/>
        <c:minorTickMark val="none"/>
        <c:tickLblPos val="nextTo"/>
        <c:crossAx val="101060272"/>
        <c:crosses val="autoZero"/>
        <c:auto val="1"/>
        <c:lblAlgn val="ctr"/>
        <c:lblOffset val="100"/>
        <c:noMultiLvlLbl val="0"/>
      </c:catAx>
      <c:valAx>
        <c:axId val="101060272"/>
        <c:scaling>
          <c:orientation val="minMax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105403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27fbc15-4432-41dd-9698-f86f061cef04}"/>
      </c:ext>
    </c:extLst>
  </c:chart>
  <c:spPr>
    <a:noFill/>
    <a:ln>
      <a:solidFill>
        <a:schemeClr val="bg1">
          <a:lumMod val="95000"/>
        </a:schemeClr>
      </a:solidFill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r>
              <a:rPr lang="zh-CN" altLang="en-US" sz="700" dirty="0">
                <a:latin typeface="+mn-ea"/>
                <a:ea typeface="+mn-ea"/>
              </a:rPr>
              <a:t>点评销量榜排名流量结构</a:t>
            </a:r>
            <a:r>
              <a:rPr lang="en-US" altLang="zh-CN" sz="700" dirty="0">
                <a:latin typeface="+mn-ea"/>
                <a:ea typeface="+mn-ea"/>
              </a:rPr>
              <a:t>-</a:t>
            </a:r>
            <a:r>
              <a:rPr lang="zh-CN" altLang="en-US" sz="700" dirty="0">
                <a:latin typeface="+mn-ea"/>
                <a:ea typeface="+mn-ea"/>
              </a:rPr>
              <a:t>高线</a:t>
            </a:r>
            <a:endParaRPr lang="zh-CN" sz="700" dirty="0">
              <a:latin typeface="+mn-ea"/>
              <a:ea typeface="+mn-ea"/>
            </a:endParaRPr>
          </a:p>
        </c:rich>
      </c:tx>
      <c:layout>
        <c:manualLayout>
          <c:xMode val="edge"/>
          <c:yMode val="edge"/>
          <c:x val="0.110873941606653"/>
          <c:y val="4.09149704225571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意向UV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Sheet1!$A$2:$A$51</c:f>
              <c:numCache>
                <c:formatCode>#,##0</c:formatCode>
                <c:ptCount val="50"/>
                <c:pt idx="0">
                  <c:v>16830.914653784199</c:v>
                </c:pt>
                <c:pt idx="1">
                  <c:v>9515.1731078904904</c:v>
                </c:pt>
                <c:pt idx="2">
                  <c:v>8225.0676328502395</c:v>
                </c:pt>
                <c:pt idx="3">
                  <c:v>8468.7246376811599</c:v>
                </c:pt>
                <c:pt idx="4">
                  <c:v>9360.2971014492705</c:v>
                </c:pt>
                <c:pt idx="5">
                  <c:v>4994.66747181964</c:v>
                </c:pt>
                <c:pt idx="6">
                  <c:v>10236.529790660201</c:v>
                </c:pt>
                <c:pt idx="7">
                  <c:v>9521.8953301127203</c:v>
                </c:pt>
                <c:pt idx="8">
                  <c:v>7743.3099838969401</c:v>
                </c:pt>
                <c:pt idx="9">
                  <c:v>4857.49758454106</c:v>
                </c:pt>
                <c:pt idx="10">
                  <c:v>8800.4822866344603</c:v>
                </c:pt>
                <c:pt idx="11">
                  <c:v>5631.6884057971001</c:v>
                </c:pt>
                <c:pt idx="12">
                  <c:v>5563.1505636070797</c:v>
                </c:pt>
                <c:pt idx="13">
                  <c:v>4525.4074074074097</c:v>
                </c:pt>
                <c:pt idx="14">
                  <c:v>6205.7157809983901</c:v>
                </c:pt>
                <c:pt idx="15">
                  <c:v>4945.5491143317204</c:v>
                </c:pt>
                <c:pt idx="16">
                  <c:v>7580.1803542673097</c:v>
                </c:pt>
                <c:pt idx="17">
                  <c:v>4205.5797101449298</c:v>
                </c:pt>
                <c:pt idx="18">
                  <c:v>7065.1465378421899</c:v>
                </c:pt>
                <c:pt idx="19">
                  <c:v>5816.3381642512004</c:v>
                </c:pt>
                <c:pt idx="20">
                  <c:v>16799.336553945199</c:v>
                </c:pt>
                <c:pt idx="21">
                  <c:v>8723.1280193236707</c:v>
                </c:pt>
                <c:pt idx="22">
                  <c:v>5387.4967793880796</c:v>
                </c:pt>
                <c:pt idx="23">
                  <c:v>6295.9903381642498</c:v>
                </c:pt>
                <c:pt idx="24">
                  <c:v>5314.4935587761702</c:v>
                </c:pt>
                <c:pt idx="25">
                  <c:v>6172.9420289855098</c:v>
                </c:pt>
                <c:pt idx="26">
                  <c:v>5559.2528180354202</c:v>
                </c:pt>
                <c:pt idx="27">
                  <c:v>5009.3309178743903</c:v>
                </c:pt>
                <c:pt idx="28">
                  <c:v>7633.6223832528103</c:v>
                </c:pt>
                <c:pt idx="29">
                  <c:v>6018.7302737520104</c:v>
                </c:pt>
                <c:pt idx="30">
                  <c:v>4861.77053140096</c:v>
                </c:pt>
                <c:pt idx="31">
                  <c:v>7060.6561996779401</c:v>
                </c:pt>
                <c:pt idx="32">
                  <c:v>8008.2037037036998</c:v>
                </c:pt>
                <c:pt idx="33">
                  <c:v>7156.6771336553902</c:v>
                </c:pt>
                <c:pt idx="34">
                  <c:v>4422.9428341384801</c:v>
                </c:pt>
                <c:pt idx="35">
                  <c:v>4317.1296296296296</c:v>
                </c:pt>
                <c:pt idx="36">
                  <c:v>4124.4388083735903</c:v>
                </c:pt>
                <c:pt idx="37">
                  <c:v>4757.7640901771301</c:v>
                </c:pt>
                <c:pt idx="38">
                  <c:v>6579.1731078904904</c:v>
                </c:pt>
                <c:pt idx="39">
                  <c:v>4300.6070853462097</c:v>
                </c:pt>
                <c:pt idx="40">
                  <c:v>4007.1151368760002</c:v>
                </c:pt>
                <c:pt idx="41">
                  <c:v>5069.0547504025699</c:v>
                </c:pt>
                <c:pt idx="42">
                  <c:v>5944.8937198067597</c:v>
                </c:pt>
                <c:pt idx="43">
                  <c:v>3169.5732689210899</c:v>
                </c:pt>
                <c:pt idx="44">
                  <c:v>5103.2447665056297</c:v>
                </c:pt>
                <c:pt idx="45">
                  <c:v>6136.0120772946802</c:v>
                </c:pt>
                <c:pt idx="46">
                  <c:v>6173.1803542673097</c:v>
                </c:pt>
                <c:pt idx="47">
                  <c:v>4410.0032206119104</c:v>
                </c:pt>
                <c:pt idx="48">
                  <c:v>6580.1449275362302</c:v>
                </c:pt>
                <c:pt idx="49">
                  <c:v>4622.6167471819599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62-4261-BD68-6B20FEA4F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1057344"/>
        <c:axId val="701048224"/>
      </c:line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实付GTV</c:v>
                </c:pt>
              </c:strCache>
            </c:strRef>
          </c:tx>
          <c:spPr>
            <a:ln w="28575" cap="rnd">
              <a:solidFill>
                <a:schemeClr val="accent2">
                  <a:alpha val="40000"/>
                </a:schemeClr>
              </a:solidFill>
              <a:round/>
            </a:ln>
            <a:effectLst/>
          </c:spPr>
          <c:marker>
            <c:symbol val="square"/>
            <c:size val="2"/>
            <c:spPr>
              <a:solidFill>
                <a:schemeClr val="bg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Sheet1!$B$2:$B$51</c:f>
              <c:numCache>
                <c:formatCode>#,##0</c:formatCode>
                <c:ptCount val="50"/>
                <c:pt idx="0">
                  <c:v>401078.52159999998</c:v>
                </c:pt>
                <c:pt idx="1">
                  <c:v>370187.65360000002</c:v>
                </c:pt>
                <c:pt idx="2">
                  <c:v>243334.42989999999</c:v>
                </c:pt>
                <c:pt idx="3">
                  <c:v>225135.76240000001</c:v>
                </c:pt>
                <c:pt idx="4">
                  <c:v>173081.182</c:v>
                </c:pt>
                <c:pt idx="5">
                  <c:v>151873.83943333299</c:v>
                </c:pt>
                <c:pt idx="6">
                  <c:v>222720.07676666701</c:v>
                </c:pt>
                <c:pt idx="7">
                  <c:v>211034.44663333299</c:v>
                </c:pt>
                <c:pt idx="8">
                  <c:v>171666.202166667</c:v>
                </c:pt>
                <c:pt idx="9">
                  <c:v>155873.46013333299</c:v>
                </c:pt>
                <c:pt idx="10">
                  <c:v>126605.7153</c:v>
                </c:pt>
                <c:pt idx="11">
                  <c:v>194755.11983333301</c:v>
                </c:pt>
                <c:pt idx="12">
                  <c:v>133989.44936666699</c:v>
                </c:pt>
                <c:pt idx="13">
                  <c:v>132696.671366667</c:v>
                </c:pt>
                <c:pt idx="14">
                  <c:v>158413.136233333</c:v>
                </c:pt>
                <c:pt idx="15">
                  <c:v>184638.292766667</c:v>
                </c:pt>
                <c:pt idx="16">
                  <c:v>177235.34363333299</c:v>
                </c:pt>
                <c:pt idx="17">
                  <c:v>134202.96950000001</c:v>
                </c:pt>
                <c:pt idx="18">
                  <c:v>134167.31686666701</c:v>
                </c:pt>
                <c:pt idx="19">
                  <c:v>155172.80913333301</c:v>
                </c:pt>
                <c:pt idx="20">
                  <c:v>152420.981033333</c:v>
                </c:pt>
                <c:pt idx="21">
                  <c:v>192803.602533333</c:v>
                </c:pt>
                <c:pt idx="22">
                  <c:v>150416.55549999999</c:v>
                </c:pt>
                <c:pt idx="23">
                  <c:v>132858.423433333</c:v>
                </c:pt>
                <c:pt idx="24">
                  <c:v>144623.48370000001</c:v>
                </c:pt>
                <c:pt idx="25">
                  <c:v>150788.08913333301</c:v>
                </c:pt>
                <c:pt idx="26">
                  <c:v>149584.62043333301</c:v>
                </c:pt>
                <c:pt idx="27">
                  <c:v>100711.4492</c:v>
                </c:pt>
                <c:pt idx="28">
                  <c:v>114697.229333333</c:v>
                </c:pt>
                <c:pt idx="29">
                  <c:v>111946.452333333</c:v>
                </c:pt>
                <c:pt idx="30">
                  <c:v>121413.096733333</c:v>
                </c:pt>
                <c:pt idx="31">
                  <c:v>149948.63356666701</c:v>
                </c:pt>
                <c:pt idx="32">
                  <c:v>137522.37046666699</c:v>
                </c:pt>
                <c:pt idx="33">
                  <c:v>112518.74963333301</c:v>
                </c:pt>
                <c:pt idx="34">
                  <c:v>105725.24233333299</c:v>
                </c:pt>
                <c:pt idx="35">
                  <c:v>120372.42066666701</c:v>
                </c:pt>
                <c:pt idx="36">
                  <c:v>126528.416733333</c:v>
                </c:pt>
                <c:pt idx="37">
                  <c:v>177344.10870000001</c:v>
                </c:pt>
                <c:pt idx="38">
                  <c:v>121858.2708</c:v>
                </c:pt>
                <c:pt idx="39">
                  <c:v>112724.09493333301</c:v>
                </c:pt>
                <c:pt idx="40">
                  <c:v>95503.296733333307</c:v>
                </c:pt>
                <c:pt idx="41">
                  <c:v>119967.2779</c:v>
                </c:pt>
                <c:pt idx="42">
                  <c:v>119233.13159999999</c:v>
                </c:pt>
                <c:pt idx="43">
                  <c:v>103771.58053333301</c:v>
                </c:pt>
                <c:pt idx="44">
                  <c:v>118072.65536666699</c:v>
                </c:pt>
                <c:pt idx="45">
                  <c:v>147652.60986666699</c:v>
                </c:pt>
                <c:pt idx="46">
                  <c:v>118092.110733333</c:v>
                </c:pt>
                <c:pt idx="47">
                  <c:v>100849.8855</c:v>
                </c:pt>
                <c:pt idx="48">
                  <c:v>137672.477533333</c:v>
                </c:pt>
                <c:pt idx="49">
                  <c:v>81481.503400000001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62-4261-BD68-6B20FEA4F9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054032"/>
        <c:axId val="101060272"/>
      </c:lineChart>
      <c:catAx>
        <c:axId val="70105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48224"/>
        <c:crosses val="autoZero"/>
        <c:auto val="1"/>
        <c:lblAlgn val="ctr"/>
        <c:lblOffset val="100"/>
        <c:noMultiLvlLbl val="0"/>
      </c:catAx>
      <c:valAx>
        <c:axId val="70104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057344"/>
        <c:crosses val="autoZero"/>
        <c:crossBetween val="between"/>
      </c:valAx>
      <c:catAx>
        <c:axId val="101054032"/>
        <c:scaling>
          <c:orientation val="minMax"/>
        </c:scaling>
        <c:delete val="1"/>
        <c:axPos val="b"/>
        <c:majorTickMark val="out"/>
        <c:minorTickMark val="none"/>
        <c:tickLblPos val="nextTo"/>
        <c:crossAx val="101060272"/>
        <c:crosses val="autoZero"/>
        <c:auto val="1"/>
        <c:lblAlgn val="ctr"/>
        <c:lblOffset val="100"/>
        <c:noMultiLvlLbl val="0"/>
      </c:catAx>
      <c:valAx>
        <c:axId val="101060272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105403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532cd03-5671-4960-856d-429af568f358}"/>
      </c:ext>
    </c:extLst>
  </c:chart>
  <c:spPr>
    <a:noFill/>
    <a:ln>
      <a:solidFill>
        <a:schemeClr val="bg1">
          <a:lumMod val="95000"/>
        </a:schemeClr>
      </a:solidFill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美团侧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新增评论字图城市贡献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字图分布图!$BE$55</c:f>
              <c:strCache>
                <c:ptCount val="1"/>
                <c:pt idx="0">
                  <c:v>高线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cat>
            <c:strRef>
              <c:f>字图分布图!$BD$56:$BD$60</c:f>
              <c:strCache>
                <c:ptCount val="5"/>
                <c:pt idx="0">
                  <c:v>无字无图仅打分</c:v>
                </c:pt>
                <c:pt idx="1">
                  <c:v>(0-15]字+0图</c:v>
                </c:pt>
                <c:pt idx="2">
                  <c:v>(15-50]字+1图及以上</c:v>
                </c:pt>
                <c:pt idx="3">
                  <c:v>(50-100]字+3图及以上</c:v>
                </c:pt>
                <c:pt idx="4">
                  <c:v>100字以上+3图及以上</c:v>
                </c:pt>
              </c:strCache>
            </c:strRef>
          </c:cat>
          <c:val>
            <c:numRef>
              <c:f>字图分布图!$BE$56:$BE$60</c:f>
              <c:numCache>
                <c:formatCode>0%</c:formatCode>
                <c:ptCount val="5"/>
                <c:pt idx="0">
                  <c:v>9.8980992274907295E-2</c:v>
                </c:pt>
                <c:pt idx="1">
                  <c:v>3.3438138739624847E-2</c:v>
                </c:pt>
                <c:pt idx="2">
                  <c:v>0.10612804006384029</c:v>
                </c:pt>
                <c:pt idx="3">
                  <c:v>2.5065133095091705E-2</c:v>
                </c:pt>
                <c:pt idx="4">
                  <c:v>1.2092800033456233E-2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5-48ED-A4C3-813018DC2B9E}"/>
            </c:ext>
          </c:extLst>
        </c:ser>
        <c:ser>
          <c:idx val="1"/>
          <c:order val="1"/>
          <c:tx>
            <c:strRef>
              <c:f>字图分布图!$BF$55</c:f>
              <c:strCache>
                <c:ptCount val="1"/>
                <c:pt idx="0">
                  <c:v>中低线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  <a:effectLst/>
          </c:spPr>
          <c:invertIfNegative val="0"/>
          <c:cat>
            <c:strRef>
              <c:f>字图分布图!$BD$56:$BD$60</c:f>
              <c:strCache>
                <c:ptCount val="5"/>
                <c:pt idx="0">
                  <c:v>无字无图仅打分</c:v>
                </c:pt>
                <c:pt idx="1">
                  <c:v>(0-15]字+0图</c:v>
                </c:pt>
                <c:pt idx="2">
                  <c:v>(15-50]字+1图及以上</c:v>
                </c:pt>
                <c:pt idx="3">
                  <c:v>(50-100]字+3图及以上</c:v>
                </c:pt>
                <c:pt idx="4">
                  <c:v>100字以上+3图及以上</c:v>
                </c:pt>
              </c:strCache>
            </c:strRef>
          </c:cat>
          <c:val>
            <c:numRef>
              <c:f>字图分布图!$BF$56:$BF$60</c:f>
              <c:numCache>
                <c:formatCode>0%</c:formatCode>
                <c:ptCount val="5"/>
                <c:pt idx="0">
                  <c:v>0.23922494130079608</c:v>
                </c:pt>
                <c:pt idx="1">
                  <c:v>8.733776038661252E-2</c:v>
                </c:pt>
                <c:pt idx="2">
                  <c:v>0.31925530926709533</c:v>
                </c:pt>
                <c:pt idx="3">
                  <c:v>5.5875529941519952E-2</c:v>
                </c:pt>
                <c:pt idx="4">
                  <c:v>2.2601354897055732E-2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45-48ED-A4C3-813018DC2B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62103584"/>
        <c:axId val="962096512"/>
      </c:barChart>
      <c:catAx>
        <c:axId val="962103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962096512"/>
        <c:crosses val="autoZero"/>
        <c:auto val="1"/>
        <c:lblAlgn val="ctr"/>
        <c:lblOffset val="100"/>
        <c:noMultiLvlLbl val="0"/>
      </c:catAx>
      <c:valAx>
        <c:axId val="96209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96210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b="0" i="0" baseline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点评</a:t>
            </a:r>
            <a:r>
              <a:rPr lang="zh-CN" altLang="zh-CN" sz="1200" b="0" i="0" baseline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侧</a:t>
            </a:r>
            <a:r>
              <a:rPr lang="en-US" altLang="zh-CN" sz="1200" b="0" i="0" baseline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zh-CN" sz="1200" b="0" i="0" baseline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新增评论字图城市贡献</a:t>
            </a:r>
            <a:endParaRPr lang="zh-CN" altLang="zh-CN" sz="12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字图分布图!$BE$82</c:f>
              <c:strCache>
                <c:ptCount val="1"/>
                <c:pt idx="0">
                  <c:v>高线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/>
          </c:spPr>
          <c:invertIfNegative val="0"/>
          <c:cat>
            <c:strRef>
              <c:f>字图分布图!$BD$83:$BD$87</c:f>
              <c:strCache>
                <c:ptCount val="5"/>
                <c:pt idx="0">
                  <c:v>无字无图仅打分</c:v>
                </c:pt>
                <c:pt idx="1">
                  <c:v>(0-15]字+0图</c:v>
                </c:pt>
                <c:pt idx="2">
                  <c:v>(15-50]字+1图及以上</c:v>
                </c:pt>
                <c:pt idx="3">
                  <c:v>(50-100]字+3图及以上</c:v>
                </c:pt>
                <c:pt idx="4">
                  <c:v>100字以上+3图及以上</c:v>
                </c:pt>
              </c:strCache>
            </c:strRef>
          </c:cat>
          <c:val>
            <c:numRef>
              <c:f>字图分布图!$BE$83:$BE$87</c:f>
              <c:numCache>
                <c:formatCode>0%</c:formatCode>
                <c:ptCount val="5"/>
                <c:pt idx="0">
                  <c:v>4.8107945344972654E-2</c:v>
                </c:pt>
                <c:pt idx="1">
                  <c:v>2.6461008362426808E-2</c:v>
                </c:pt>
                <c:pt idx="2">
                  <c:v>0.1588206413171927</c:v>
                </c:pt>
                <c:pt idx="3">
                  <c:v>5.1466918387136705E-2</c:v>
                </c:pt>
                <c:pt idx="4">
                  <c:v>0.25484852644531253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69-482F-94D8-49157C13DCA9}"/>
            </c:ext>
          </c:extLst>
        </c:ser>
        <c:ser>
          <c:idx val="1"/>
          <c:order val="1"/>
          <c:tx>
            <c:strRef>
              <c:f>字图分布图!$BF$82</c:f>
              <c:strCache>
                <c:ptCount val="1"/>
                <c:pt idx="0">
                  <c:v>中低线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c:spPr>
          <c:invertIfNegative val="0"/>
          <c:cat>
            <c:strRef>
              <c:f>字图分布图!$BD$83:$BD$87</c:f>
              <c:strCache>
                <c:ptCount val="5"/>
                <c:pt idx="0">
                  <c:v>无字无图仅打分</c:v>
                </c:pt>
                <c:pt idx="1">
                  <c:v>(0-15]字+0图</c:v>
                </c:pt>
                <c:pt idx="2">
                  <c:v>(15-50]字+1图及以上</c:v>
                </c:pt>
                <c:pt idx="3">
                  <c:v>(50-100]字+3图及以上</c:v>
                </c:pt>
                <c:pt idx="4">
                  <c:v>100字以上+3图及以上</c:v>
                </c:pt>
              </c:strCache>
            </c:strRef>
          </c:cat>
          <c:val>
            <c:numRef>
              <c:f>字图分布图!$BF$83:$BF$87</c:f>
              <c:numCache>
                <c:formatCode>0%</c:formatCode>
                <c:ptCount val="5"/>
                <c:pt idx="0">
                  <c:v>3.1249126576138535E-2</c:v>
                </c:pt>
                <c:pt idx="1">
                  <c:v>2.4866024524296364E-2</c:v>
                </c:pt>
                <c:pt idx="2">
                  <c:v>0.19001655357649086</c:v>
                </c:pt>
                <c:pt idx="3">
                  <c:v>4.3708436210903825E-2</c:v>
                </c:pt>
                <c:pt idx="4">
                  <c:v>0.17045481925512898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69-482F-94D8-49157C13DC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07923504"/>
        <c:axId val="1307919760"/>
      </c:barChart>
      <c:catAx>
        <c:axId val="130792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307919760"/>
        <c:crosses val="autoZero"/>
        <c:auto val="1"/>
        <c:lblAlgn val="ctr"/>
        <c:lblOffset val="100"/>
        <c:noMultiLvlLbl val="0"/>
      </c:catAx>
      <c:valAx>
        <c:axId val="1307919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endParaRPr lang="zh-CN"/>
          </a:p>
        </c:txPr>
        <c:crossAx val="130792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品类，</a:t>
            </a: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050" dirty="0">
              <a:effectLst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dirty="0">
                <a:effectLst/>
              </a:rPr>
              <a:t>共</a:t>
            </a:r>
            <a:r>
              <a:rPr lang="en-US" altLang="zh-CN" sz="1050" dirty="0">
                <a:effectLst/>
              </a:rPr>
              <a:t>1187</a:t>
            </a:r>
            <a:r>
              <a:rPr lang="zh-CN" altLang="en-US" sz="1050" dirty="0">
                <a:effectLst/>
              </a:rPr>
              <a:t>个城市（高线</a:t>
            </a:r>
            <a:r>
              <a:rPr lang="en-US" altLang="zh-CN" sz="1050" dirty="0">
                <a:effectLst/>
              </a:rPr>
              <a:t>210</a:t>
            </a:r>
            <a:r>
              <a:rPr lang="zh-CN" altLang="en-US" sz="1050" dirty="0">
                <a:effectLst/>
              </a:rPr>
              <a:t>个，中低线</a:t>
            </a:r>
            <a:r>
              <a:rPr lang="en-US" altLang="zh-CN" sz="1050" dirty="0">
                <a:effectLst/>
              </a:rPr>
              <a:t>977</a:t>
            </a:r>
            <a:r>
              <a:rPr lang="zh-CN" altLang="en-US" sz="1050" dirty="0">
                <a:effectLst/>
              </a:rPr>
              <a:t>个），美团：点评到餐</a:t>
            </a:r>
            <a:r>
              <a:rPr lang="en-US" altLang="zh-CN" sz="1050" dirty="0">
                <a:effectLst/>
              </a:rPr>
              <a:t>DAU</a:t>
            </a:r>
            <a:r>
              <a:rPr lang="zh-CN" altLang="en-US" sz="1050" dirty="0">
                <a:effectLst/>
              </a:rPr>
              <a:t>占比</a:t>
            </a:r>
            <a:r>
              <a:rPr lang="en-US" altLang="zh-CN" sz="1050" dirty="0">
                <a:effectLst/>
              </a:rPr>
              <a:t>89%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11%</a:t>
            </a:r>
            <a:r>
              <a:rPr lang="zh-CN" altLang="en-US" sz="1050" dirty="0">
                <a:effectLst/>
              </a:rPr>
              <a:t>。高线</a:t>
            </a:r>
            <a:r>
              <a:rPr lang="en-US" altLang="zh-CN" sz="1050" dirty="0">
                <a:effectLst/>
              </a:rPr>
              <a:t>2</a:t>
            </a:r>
            <a:r>
              <a:rPr lang="zh-CN" altLang="en-US" sz="1050" dirty="0">
                <a:effectLst/>
              </a:rPr>
              <a:t>：</a:t>
            </a:r>
            <a:r>
              <a:rPr lang="en-US" altLang="zh-CN" sz="1050" dirty="0">
                <a:effectLst/>
              </a:rPr>
              <a:t>1</a:t>
            </a:r>
            <a:r>
              <a:rPr lang="zh-CN" altLang="en-US" sz="1050" dirty="0">
                <a:effectLst/>
              </a:rPr>
              <a:t>。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dirty="0">
                <a:latin typeface="+mn-ea"/>
              </a:rPr>
              <a:t>1. </a:t>
            </a:r>
            <a:r>
              <a:rPr lang="zh-CN" altLang="en-US" sz="800" b="1" dirty="0">
                <a:latin typeface="+mn-ea"/>
              </a:rPr>
              <a:t>荣誉评审：</a:t>
            </a:r>
            <a:r>
              <a:rPr lang="zh-CN" altLang="en-US" sz="800" b="0" dirty="0">
                <a:latin typeface="+mn-ea"/>
              </a:rPr>
              <a:t>黑珍珠</a:t>
            </a:r>
            <a:r>
              <a:rPr lang="en-US" altLang="zh-CN" sz="800" b="0" dirty="0">
                <a:latin typeface="+mn-ea"/>
              </a:rPr>
              <a:t>32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263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500-700+</a:t>
            </a:r>
            <a:r>
              <a:rPr lang="zh-CN" altLang="en-US" sz="800" b="0" dirty="0">
                <a:latin typeface="+mn-ea"/>
              </a:rPr>
              <a:t>），必吃榜</a:t>
            </a:r>
            <a:r>
              <a:rPr lang="en-US" altLang="zh-CN" sz="800" b="0" dirty="0">
                <a:latin typeface="+mn-ea"/>
              </a:rPr>
              <a:t>144</a:t>
            </a:r>
            <a:r>
              <a:rPr lang="zh-CN" altLang="en-US" sz="800" b="0" dirty="0">
                <a:latin typeface="+mn-ea"/>
              </a:rPr>
              <a:t>城（境内</a:t>
            </a:r>
            <a:r>
              <a:rPr lang="en-US" altLang="zh-CN" sz="800" b="0" dirty="0">
                <a:latin typeface="+mn-ea"/>
              </a:rPr>
              <a:t>116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2743</a:t>
            </a:r>
            <a:r>
              <a:rPr lang="zh-CN" altLang="en-US" sz="800" b="0" dirty="0">
                <a:latin typeface="+mn-ea"/>
              </a:rPr>
              <a:t>家），</a:t>
            </a:r>
            <a:r>
              <a:rPr lang="en-US" altLang="zh-CN" sz="800" b="0" dirty="0">
                <a:latin typeface="+mn-ea"/>
              </a:rPr>
              <a:t>D+</a:t>
            </a:r>
            <a:r>
              <a:rPr lang="zh-CN" altLang="en-US" sz="800" b="0" dirty="0">
                <a:latin typeface="+mn-ea"/>
              </a:rPr>
              <a:t>甄选榜</a:t>
            </a:r>
            <a:r>
              <a:rPr lang="en-US" altLang="zh-CN" sz="800" b="0" dirty="0">
                <a:latin typeface="+mn-ea"/>
              </a:rPr>
              <a:t>14</a:t>
            </a:r>
            <a:r>
              <a:rPr lang="zh-CN" altLang="en-US" sz="800" b="0" dirty="0">
                <a:latin typeface="+mn-ea"/>
              </a:rPr>
              <a:t>城</a:t>
            </a:r>
            <a:r>
              <a:rPr lang="en-US" altLang="zh-CN" sz="800" b="0" dirty="0">
                <a:latin typeface="+mn-ea"/>
              </a:rPr>
              <a:t>147</a:t>
            </a:r>
            <a:r>
              <a:rPr lang="zh-CN" altLang="en-US" sz="800" b="0" dirty="0">
                <a:latin typeface="+mn-ea"/>
              </a:rPr>
              <a:t>家（</a:t>
            </a:r>
            <a:r>
              <a:rPr lang="en-US" altLang="zh-CN" sz="800" b="0" dirty="0">
                <a:latin typeface="+mn-ea"/>
              </a:rPr>
              <a:t>300-700</a:t>
            </a:r>
            <a:r>
              <a:rPr lang="zh-CN" altLang="en-US" sz="800" b="0" dirty="0">
                <a:latin typeface="+mn-ea"/>
              </a:rPr>
              <a:t>元），心动榜三期</a:t>
            </a:r>
            <a:r>
              <a:rPr lang="en-US" altLang="zh-CN" sz="800" b="0" dirty="0">
                <a:latin typeface="+mn-ea"/>
              </a:rPr>
              <a:t>101</a:t>
            </a:r>
            <a:r>
              <a:rPr lang="zh-CN" altLang="en-US" sz="800" b="0" dirty="0">
                <a:latin typeface="+mn-ea"/>
              </a:rPr>
              <a:t>城市</a:t>
            </a:r>
            <a:r>
              <a:rPr lang="en-US" altLang="zh-CN" sz="800" b="0" dirty="0">
                <a:latin typeface="+mn-ea"/>
              </a:rPr>
              <a:t>3201</a:t>
            </a:r>
            <a:r>
              <a:rPr lang="zh-CN" altLang="en-US" sz="800" b="0" dirty="0">
                <a:latin typeface="+mn-ea"/>
              </a:rPr>
              <a:t>家。状元榜</a:t>
            </a:r>
            <a:r>
              <a:rPr lang="en-US" altLang="zh-CN" sz="800" b="0" dirty="0">
                <a:latin typeface="+mn-ea"/>
              </a:rPr>
              <a:t>370</a:t>
            </a:r>
            <a:r>
              <a:rPr lang="zh-CN" altLang="en-US" sz="800" b="0" dirty="0">
                <a:latin typeface="+mn-ea"/>
              </a:rPr>
              <a:t>城市（共</a:t>
            </a:r>
            <a:r>
              <a:rPr lang="en-US" altLang="zh-CN" sz="800" b="0" dirty="0">
                <a:latin typeface="+mn-ea"/>
              </a:rPr>
              <a:t>11,911</a:t>
            </a:r>
            <a:r>
              <a:rPr lang="zh-CN" altLang="en-US" sz="800" b="0" dirty="0">
                <a:latin typeface="+mn-ea"/>
              </a:rPr>
              <a:t>个）</a:t>
            </a:r>
            <a:endParaRPr lang="en-US" altLang="zh-CN" sz="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2. </a:t>
            </a:r>
            <a:r>
              <a:rPr lang="zh-CN" altLang="en-US" sz="1800" b="1" dirty="0">
                <a:latin typeface="+mn-ea"/>
              </a:rPr>
              <a:t>旅游、漂亮饭等氛围餐厅、时令等：</a:t>
            </a:r>
            <a:endParaRPr lang="en-US" altLang="zh-CN" sz="1800" b="1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美团当地人推荐扩至</a:t>
            </a:r>
            <a:r>
              <a:rPr lang="en-US" altLang="zh-CN" sz="1800" b="0" dirty="0">
                <a:latin typeface="+mn-ea"/>
              </a:rPr>
              <a:t>647</a:t>
            </a:r>
            <a:r>
              <a:rPr lang="zh-CN" altLang="en-US" sz="1800" b="0" dirty="0">
                <a:latin typeface="+mn-ea"/>
              </a:rPr>
              <a:t>城，特色菜扩至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城（主要为中低线旅游），点评同（原</a:t>
            </a:r>
            <a:r>
              <a:rPr lang="en-US" altLang="zh-CN" sz="1800" b="0" dirty="0">
                <a:latin typeface="+mn-ea"/>
              </a:rPr>
              <a:t>216</a:t>
            </a:r>
            <a:r>
              <a:rPr lang="zh-CN" altLang="en-US" sz="1800" b="0" dirty="0">
                <a:latin typeface="+mn-ea"/>
              </a:rPr>
              <a:t>个）。发现主题</a:t>
            </a:r>
            <a:r>
              <a:rPr lang="en-US" altLang="zh-CN" sz="1800" b="0" dirty="0">
                <a:latin typeface="+mn-ea"/>
              </a:rPr>
              <a:t>118</a:t>
            </a:r>
            <a:r>
              <a:rPr lang="zh-CN" altLang="en-US" sz="1800" b="0" dirty="0">
                <a:latin typeface="+mn-ea"/>
              </a:rPr>
              <a:t>城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点评市井烟火榜</a:t>
            </a:r>
            <a:r>
              <a:rPr lang="en-US" altLang="zh-CN" sz="1800" b="0" dirty="0">
                <a:latin typeface="+mn-ea"/>
              </a:rPr>
              <a:t>337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247</a:t>
            </a:r>
            <a:r>
              <a:rPr lang="zh-CN" altLang="en-US" sz="1800" b="0" dirty="0">
                <a:latin typeface="+mn-ea"/>
              </a:rPr>
              <a:t>城），老店榜</a:t>
            </a:r>
            <a:r>
              <a:rPr lang="en-US" altLang="zh-CN" sz="1800" b="0" dirty="0">
                <a:latin typeface="+mn-ea"/>
              </a:rPr>
              <a:t>240</a:t>
            </a:r>
            <a:r>
              <a:rPr lang="zh-CN" altLang="en-US" sz="1800" b="0" dirty="0">
                <a:latin typeface="+mn-ea"/>
              </a:rPr>
              <a:t>城市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155</a:t>
            </a:r>
            <a:r>
              <a:rPr lang="zh-CN" altLang="en-US" sz="1800" b="0" dirty="0">
                <a:latin typeface="+mn-ea"/>
              </a:rPr>
              <a:t>城市）、新店榜较多。特色美食榜：</a:t>
            </a:r>
            <a:r>
              <a:rPr lang="zh-CN" altLang="en-US" sz="2800" b="0" dirty="0"/>
              <a:t>首批覆盖西安等</a:t>
            </a:r>
            <a:r>
              <a:rPr lang="en-US" altLang="zh-CN" sz="2800" b="0" dirty="0"/>
              <a:t>11</a:t>
            </a:r>
            <a:r>
              <a:rPr lang="zh-CN" altLang="en-US" sz="2800" b="0" dirty="0"/>
              <a:t>城，扩城长沙、宁波、佛山（大概</a:t>
            </a:r>
            <a:r>
              <a:rPr lang="en-US" altLang="zh-CN" sz="2800" b="0" dirty="0"/>
              <a:t>14</a:t>
            </a:r>
            <a:r>
              <a:rPr lang="zh-CN" altLang="en-US" sz="2800" b="0" dirty="0"/>
              <a:t>）。</a:t>
            </a:r>
            <a:endParaRPr lang="en-US" altLang="zh-CN" sz="2800" b="0" dirty="0"/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烟火榜</a:t>
            </a:r>
            <a:r>
              <a:rPr lang="en-US" altLang="zh-CN" sz="1800" b="0" dirty="0">
                <a:latin typeface="+mn-ea"/>
              </a:rPr>
              <a:t>10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360</a:t>
            </a:r>
            <a:r>
              <a:rPr lang="zh-CN" altLang="en-US" sz="1800" b="0" dirty="0">
                <a:latin typeface="+mn-ea"/>
              </a:rPr>
              <a:t>家，</a:t>
            </a:r>
            <a:r>
              <a:rPr lang="en-US" altLang="zh-CN" sz="1800" b="0" dirty="0">
                <a:latin typeface="+mn-ea"/>
              </a:rPr>
              <a:t>D+</a:t>
            </a:r>
            <a:r>
              <a:rPr lang="zh-CN" altLang="en-US" sz="1800" b="0" dirty="0">
                <a:latin typeface="+mn-ea"/>
              </a:rPr>
              <a:t>本地人推荐</a:t>
            </a:r>
            <a:r>
              <a:rPr lang="en-US" altLang="zh-CN" sz="1800" b="0" dirty="0">
                <a:latin typeface="+mn-ea"/>
              </a:rPr>
              <a:t>17</a:t>
            </a:r>
            <a:r>
              <a:rPr lang="zh-CN" altLang="en-US" sz="1800" b="0" dirty="0">
                <a:latin typeface="+mn-ea"/>
              </a:rPr>
              <a:t>城。</a:t>
            </a:r>
            <a:endParaRPr lang="en-US" altLang="zh-CN" sz="1800" b="0" dirty="0">
              <a:latin typeface="+mn-ea"/>
            </a:endParaRPr>
          </a:p>
          <a:p>
            <a:pPr marL="800100" marR="0" lvl="1" indent="-34290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0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3. </a:t>
            </a:r>
            <a:r>
              <a:rPr lang="zh-CN" altLang="en-US" sz="1800" b="1" dirty="0">
                <a:latin typeface="+mn-ea"/>
              </a:rPr>
              <a:t>亲朋聚会、情侣约会、工作宴请、亲子 </a:t>
            </a:r>
            <a:r>
              <a:rPr lang="en-US" altLang="zh-CN" sz="1800" b="1" dirty="0">
                <a:latin typeface="+mn-ea"/>
              </a:rPr>
              <a:t>https://km.sankuai.com/collabpage/2734833943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美团：目前主要是夜宵榜（数百城），其余空缺。</a:t>
            </a:r>
            <a:endParaRPr lang="en-US" altLang="zh-CN" sz="1800" b="0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点评：聚餐去哪儿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。心动约会榜</a:t>
            </a:r>
            <a:r>
              <a:rPr lang="en-US" altLang="zh-CN" sz="1800" b="0" dirty="0">
                <a:latin typeface="+mn-ea"/>
              </a:rPr>
              <a:t>34</a:t>
            </a:r>
            <a:r>
              <a:rPr lang="zh-CN" altLang="en-US" sz="1800" b="0" dirty="0">
                <a:latin typeface="+mn-ea"/>
              </a:rPr>
              <a:t>城市，</a:t>
            </a:r>
            <a:r>
              <a:rPr lang="en-US" altLang="zh-CN" sz="1800" b="0" dirty="0">
                <a:latin typeface="+mn-ea"/>
              </a:rPr>
              <a:t>S-B</a:t>
            </a:r>
            <a:r>
              <a:rPr lang="zh-CN" altLang="en-US" sz="1800" b="0" dirty="0">
                <a:latin typeface="+mn-ea"/>
              </a:rPr>
              <a:t>。闺蜜约会餐厅</a:t>
            </a:r>
            <a:r>
              <a:rPr lang="en-US" altLang="zh-CN" sz="1800" b="0" dirty="0">
                <a:latin typeface="+mn-ea"/>
              </a:rPr>
              <a:t>189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S-D</a:t>
            </a:r>
            <a:r>
              <a:rPr lang="zh-CN" altLang="en-US" sz="1800" b="0" dirty="0">
                <a:latin typeface="+mn-ea"/>
              </a:rPr>
              <a:t>及以下（</a:t>
            </a:r>
            <a:r>
              <a:rPr lang="en-US" altLang="zh-CN" sz="1800" b="0" dirty="0">
                <a:latin typeface="+mn-ea"/>
              </a:rPr>
              <a:t>D</a:t>
            </a:r>
            <a:r>
              <a:rPr lang="zh-CN" altLang="en-US" sz="1800" b="0" dirty="0">
                <a:latin typeface="+mn-ea"/>
              </a:rPr>
              <a:t>及以下</a:t>
            </a:r>
            <a:r>
              <a:rPr lang="en-US" altLang="zh-CN" sz="1800" b="0" dirty="0">
                <a:latin typeface="+mn-ea"/>
              </a:rPr>
              <a:t>99</a:t>
            </a:r>
            <a:r>
              <a:rPr lang="zh-CN" altLang="en-US" sz="1800" b="0" dirty="0">
                <a:latin typeface="+mn-ea"/>
              </a:rPr>
              <a:t>城），商务宴请</a:t>
            </a:r>
            <a:r>
              <a:rPr lang="en-US" altLang="zh-CN" sz="1800" b="0" dirty="0">
                <a:latin typeface="+mn-ea"/>
              </a:rPr>
              <a:t>33</a:t>
            </a:r>
            <a:r>
              <a:rPr lang="zh-CN" altLang="en-US" sz="1800" b="0" dirty="0">
                <a:latin typeface="+mn-ea"/>
              </a:rPr>
              <a:t>城</a:t>
            </a:r>
            <a:r>
              <a:rPr lang="en-US" altLang="zh-CN" sz="1800" b="0" dirty="0">
                <a:latin typeface="+mn-ea"/>
              </a:rPr>
              <a:t>S-B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b="0" dirty="0">
                <a:latin typeface="+mn-ea"/>
              </a:rPr>
              <a:t>B+</a:t>
            </a:r>
            <a:r>
              <a:rPr lang="zh-CN" altLang="en-US" sz="1800" b="0" dirty="0">
                <a:latin typeface="+mn-ea"/>
              </a:rPr>
              <a:t>主题餐厅数百城</a:t>
            </a:r>
            <a:endParaRPr lang="en-US" altLang="zh-CN" sz="1800" b="1" dirty="0">
              <a:latin typeface="+mn-ea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+mn-ea"/>
              </a:rPr>
              <a:t>4. </a:t>
            </a:r>
            <a:r>
              <a:rPr lang="zh-CN" altLang="en-US" sz="1800" b="1" dirty="0">
                <a:latin typeface="+mn-ea"/>
              </a:rPr>
              <a:t>人气榜、好评榜、点评榜、高德榜的覆盖，基本比较全面</a:t>
            </a:r>
            <a:endParaRPr lang="en-US" altLang="zh-CN" sz="1800" b="1" dirty="0">
              <a:latin typeface="+mn-ea"/>
            </a:endParaRP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人气榜美团覆盖</a:t>
            </a:r>
            <a:r>
              <a:rPr lang="en-US" altLang="zh-CN" sz="1800" b="0" dirty="0">
                <a:latin typeface="+mn-ea"/>
              </a:rPr>
              <a:t>1183</a:t>
            </a:r>
            <a:r>
              <a:rPr lang="zh-CN" altLang="en-US" sz="1800" b="0" dirty="0">
                <a:latin typeface="+mn-ea"/>
              </a:rPr>
              <a:t>城市，点评销量榜</a:t>
            </a:r>
            <a:r>
              <a:rPr lang="en-US" altLang="zh-CN" sz="1800" b="0" dirty="0">
                <a:latin typeface="+mn-ea"/>
              </a:rPr>
              <a:t>841</a:t>
            </a:r>
          </a:p>
          <a:p>
            <a:pPr marL="742950" marR="0" lvl="1" indent="-28575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800" b="0" dirty="0">
                <a:latin typeface="+mn-ea"/>
              </a:rPr>
              <a:t>点评整体共</a:t>
            </a:r>
            <a:r>
              <a:rPr lang="en-US" altLang="zh-CN" sz="1800" b="0" dirty="0">
                <a:latin typeface="+mn-ea"/>
              </a:rPr>
              <a:t>2743</a:t>
            </a:r>
            <a:r>
              <a:rPr lang="zh-CN" altLang="en-US" sz="1800" b="0" dirty="0">
                <a:latin typeface="+mn-ea"/>
              </a:rPr>
              <a:t>海内外城市</a:t>
            </a:r>
            <a:endParaRPr lang="en-US" altLang="zh-CN" sz="1800" b="0" dirty="0">
              <a:latin typeface="+mn-ea"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异地出行、约会、亲子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欢聚。使用榜单的核心场景是“吃逛约聚游”，当前榜单能够满足基础找店需求，但仍可考虑一些细分场景需求，比如按“价格段”、“氛围环境”、“多人聚餐”等角度找店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r>
              <a:rPr lang="zh-CN" altLang="en-US" sz="2800" dirty="0"/>
              <a:t>美团</a:t>
            </a:r>
            <a:r>
              <a:rPr lang="en-US" altLang="zh-CN" sz="2800" dirty="0"/>
              <a:t>+</a:t>
            </a:r>
            <a:r>
              <a:rPr lang="zh-CN" altLang="en-US" sz="2800" dirty="0"/>
              <a:t>点评榜单主要的一共</a:t>
            </a:r>
            <a:r>
              <a:rPr lang="en-US" altLang="zh-CN" sz="2800" dirty="0"/>
              <a:t>17</a:t>
            </a:r>
            <a:r>
              <a:rPr lang="zh-CN" altLang="en-US" sz="2800" dirty="0"/>
              <a:t>个：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其中</a:t>
            </a:r>
            <a:r>
              <a:rPr lang="en-US" altLang="zh-CN" sz="2800" dirty="0"/>
              <a:t>2</a:t>
            </a:r>
            <a:r>
              <a:rPr lang="zh-CN" altLang="en-US" sz="2800" dirty="0"/>
              <a:t>个荣誉评选榜单（黑珍珠、必吃榜）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12</a:t>
            </a:r>
            <a:r>
              <a:rPr lang="zh-CN" altLang="en-US" sz="2800" dirty="0"/>
              <a:t>个指数榜单（美团：人气、好评、热订。点评：热门、好评、口味、环境、服务、销量、打卡人气、新店、奶茶新品</a:t>
            </a:r>
            <a:r>
              <a:rPr lang="en-US" altLang="zh-CN" sz="2800" dirty="0"/>
              <a:t>/</a:t>
            </a:r>
            <a:r>
              <a:rPr lang="zh-CN" altLang="en-US" sz="2800" dirty="0"/>
              <a:t>热门</a:t>
            </a:r>
            <a:r>
              <a:rPr lang="en-US" altLang="zh-CN" sz="2800" dirty="0"/>
              <a:t>/</a:t>
            </a:r>
            <a:r>
              <a:rPr lang="zh-CN" altLang="en-US" sz="2800" dirty="0"/>
              <a:t>好评榜）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/>
              <a:t>主题类榜单，比较有特色的</a:t>
            </a:r>
            <a:r>
              <a:rPr lang="en-US" altLang="zh-CN" sz="2800" dirty="0"/>
              <a:t>3</a:t>
            </a:r>
            <a:r>
              <a:rPr lang="zh-CN" altLang="en-US" sz="2800" dirty="0"/>
              <a:t>个是满足异地旅游场景的本地人推荐、特色菜、市井烟火榜。其它小场景数量比较多，如点评侧城市生活指南有</a:t>
            </a:r>
            <a:r>
              <a:rPr lang="en-US" altLang="zh-CN" sz="2800" dirty="0"/>
              <a:t>102</a:t>
            </a:r>
            <a:r>
              <a:rPr lang="zh-CN" altLang="en-US" sz="2800" dirty="0"/>
              <a:t>个餐相关主题，美团的夜宵、发现主题等</a:t>
            </a: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美团：供给、交易、履约服务、交易星评、明确意向流量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zh-CN" altLang="en-US" sz="1800" dirty="0">
                <a:solidFill>
                  <a:srgbClr val="000000"/>
                </a:solidFill>
                <a:effectLst/>
              </a:rPr>
              <a:t>点评：星评、打卡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D+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：流量、内容互动、内容生态（明星</a:t>
            </a:r>
            <a:r>
              <a:rPr lang="en-US" altLang="zh-CN" sz="1800" dirty="0">
                <a:solidFill>
                  <a:srgbClr val="000000"/>
                </a:solidFill>
                <a:effectLst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达人等）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800" dirty="0">
                <a:solidFill>
                  <a:srgbClr val="000000"/>
                </a:solidFill>
                <a:effectLst/>
              </a:rPr>
              <a:t>B+</a:t>
            </a:r>
            <a:r>
              <a:rPr lang="zh-CN" altLang="en-US" sz="1800" dirty="0">
                <a:solidFill>
                  <a:srgbClr val="000000"/>
                </a:solidFill>
                <a:effectLst/>
              </a:rPr>
              <a:t>：流量、导航数据、淘系资产（芝麻信用等）</a:t>
            </a:r>
            <a:endParaRPr lang="en-US" altLang="zh-CN" sz="1800" dirty="0">
              <a:solidFill>
                <a:srgbClr val="000000"/>
              </a:solidFill>
              <a:effectLst/>
            </a:endParaRPr>
          </a:p>
          <a:p>
            <a:pPr algn="l" eaLnBrk="1" fontAlgn="ctr" latinLnBrk="0" hangingPunct="1"/>
            <a:endParaRPr lang="zh-CN" altLang="en-US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当地特色菜即特色美食榜</a:t>
            </a:r>
            <a:endParaRPr lang="en-US" altLang="zh-CN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美团：黑珍珠、必吃榜、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当地人推荐、特色菜、热订榜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点评：必吃榜、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好评榜、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口味榜、环境榜、服务榜、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销量榜、打卡人气榜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市井烟火榜、老店榜、本地人早餐榜、当地人推荐、当地特色菜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特色美食榜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、新店榜单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热销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回头客（核销人数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复购）、收藏、点亮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、心动榜、甄选榜、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烟火榜、本地人推荐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B+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：状元榜（甄选、必吃）、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烟火小店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、轮胎磨损、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本地人爱去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、饮品甜点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下午茶、主题餐厅（约聚漂亮饭、音乐、观景、商务等）、热门、飙升。食仙（地方特色、城市热门、热门菜系、烹饪方式、自然馈赠、食在四级）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9186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+mn-ea"/>
              </a:rPr>
              <a:t>差异化核心资产</a:t>
            </a:r>
            <a:r>
              <a:rPr lang="en-US" altLang="zh-CN" sz="1200" b="0" dirty="0">
                <a:latin typeface="+mn-ea"/>
              </a:rPr>
              <a:t>+</a:t>
            </a:r>
            <a:r>
              <a:rPr lang="zh-CN" altLang="en-US" sz="1200" b="0" dirty="0">
                <a:latin typeface="+mn-ea"/>
              </a:rPr>
              <a:t>一站式交履综合决策服务。</a:t>
            </a:r>
            <a:r>
              <a:rPr lang="zh-CN" altLang="en-US" sz="1200" b="1" dirty="0">
                <a:latin typeface="+mn-ea"/>
              </a:rPr>
              <a:t>同时领导者要做全面拦截，谨防高德、抖音的主题场景榜单弯道超车</a:t>
            </a:r>
            <a:endParaRPr lang="en-US" altLang="zh-CN" sz="1200" b="1" dirty="0">
              <a:latin typeface="+mn-ea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chemeClr val="accent3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和点评的差异：人群、空间、综合产品</a:t>
            </a:r>
            <a:r>
              <a:rPr lang="en-US" altLang="zh-CN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服务价值</a:t>
            </a:r>
            <a:endParaRPr lang="en-US" altLang="zh-CN" sz="1200" dirty="0"/>
          </a:p>
          <a:p>
            <a:pPr defTabSz="457200"/>
            <a:r>
              <a:rPr lang="zh-CN" altLang="en-US" sz="1200" dirty="0"/>
              <a:t>备份数据：</a:t>
            </a:r>
            <a:endParaRPr lang="en-US" altLang="zh-CN" sz="1200" dirty="0"/>
          </a:p>
          <a:p>
            <a:pPr defTabSz="457200"/>
            <a:r>
              <a:rPr lang="zh-CN" altLang="en-US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行业</a:t>
            </a:r>
            <a:r>
              <a:rPr lang="en-US" altLang="zh-CN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需求（社零人数、人顿，决策需求用户规模）</a:t>
            </a:r>
            <a:endParaRPr lang="en-US" altLang="zh-CN" sz="1200" b="1" dirty="0">
              <a:solidFill>
                <a:schemeClr val="accent3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defTabSz="457200"/>
            <a:r>
              <a:rPr lang="zh-CN" altLang="en-US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公司</a:t>
            </a:r>
            <a:r>
              <a:rPr lang="en-US" altLang="zh-CN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/</a:t>
            </a:r>
            <a:r>
              <a:rPr lang="zh-CN" altLang="en-US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需求满足（到餐人数、人顿，决策需求用户规模）</a:t>
            </a:r>
            <a:endParaRPr lang="en-US" altLang="zh-CN" sz="1200" b="1" dirty="0">
              <a:solidFill>
                <a:schemeClr val="accent3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defTabSz="457200"/>
            <a:r>
              <a:rPr lang="zh-CN" altLang="en-US" sz="12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榜单（人数、人顿，决策需求用户规模）</a:t>
            </a:r>
            <a:endParaRPr lang="en-US" altLang="zh-CN" sz="1200" b="1" dirty="0">
              <a:solidFill>
                <a:schemeClr val="accent3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榜单密度（展示和供给，对店家牵引有用，对用户有用）？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用户决策需求（一定是榜单）？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AI</a:t>
            </a:r>
            <a:r>
              <a:rPr lang="zh-CN" altLang="en-US" sz="1200" dirty="0"/>
              <a:t>时代（对用户决策帮助与影响）？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榜单的价值（用户、平台、商户）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与点评求同还是存异（存异：</a:t>
            </a:r>
            <a:r>
              <a:rPr lang="en-US" altLang="zh-CN" sz="1200" dirty="0" err="1"/>
              <a:t>BDgc</a:t>
            </a:r>
            <a:r>
              <a:rPr lang="en-US" altLang="zh-CN" sz="1200" dirty="0"/>
              <a:t>+</a:t>
            </a:r>
            <a:r>
              <a:rPr lang="zh-CN" altLang="en-US" sz="1200" dirty="0"/>
              <a:t>交易</a:t>
            </a:r>
            <a:r>
              <a:rPr lang="en-US" altLang="zh-CN" sz="1200" dirty="0"/>
              <a:t>+</a:t>
            </a:r>
            <a:r>
              <a:rPr lang="en-US" altLang="zh-CN" sz="1200" dirty="0" err="1"/>
              <a:t>ugc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高线以点评为核心，低线城市以美团为突破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资产多样性：特色门店做出差异化（依赖</a:t>
            </a:r>
            <a:r>
              <a:rPr lang="en-US" altLang="zh-CN" sz="1200" dirty="0" err="1"/>
              <a:t>BDgc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0230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AF6-05BD-585F-A2C7-F6635734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A9C959-ADBB-28B4-A35A-7F63A0832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598E83-7A96-6D72-7808-D6F63204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FEFA6A-6D69-F73F-6932-8F5905132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9461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AOI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满足了对位置有细化需求的用户中约</a:t>
            </a:r>
            <a:r>
              <a:rPr lang="en-US" altLang="zh-CN" dirty="0">
                <a:effectLst/>
              </a:rPr>
              <a:t>8.6%</a:t>
            </a:r>
            <a:r>
              <a:rPr lang="zh-CN" altLang="en-US" dirty="0">
                <a:effectLst/>
              </a:rPr>
              <a:t>的景点找店的场景，其中异地场景下用户对热门景点的需求度更高（点击率</a:t>
            </a:r>
            <a:r>
              <a:rPr lang="en-US" altLang="zh-CN" dirty="0">
                <a:effectLst/>
              </a:rPr>
              <a:t>+4.2</a:t>
            </a:r>
            <a:r>
              <a:rPr lang="en" altLang="zh-CN" dirty="0">
                <a:effectLst/>
              </a:rPr>
              <a:t>pp</a:t>
            </a:r>
            <a:r>
              <a:rPr lang="zh-CN" altLang="en" dirty="0">
                <a:effectLst/>
              </a:rPr>
              <a:t>）；</a:t>
            </a:r>
            <a:r>
              <a:rPr lang="zh-CN" altLang="en-US" dirty="0">
                <a:effectLst/>
              </a:rPr>
              <a:t>同时异地场景下热门地标筛选后的意向率</a:t>
            </a:r>
            <a:r>
              <a:rPr lang="en-US" altLang="zh-CN" dirty="0">
                <a:effectLst/>
              </a:rPr>
              <a:t>25.3%</a:t>
            </a:r>
            <a:r>
              <a:rPr lang="zh-CN" altLang="en-US" dirty="0">
                <a:effectLst/>
              </a:rPr>
              <a:t>，对标同期榜单行政区的意向率高</a:t>
            </a:r>
            <a:r>
              <a:rPr lang="en-US" altLang="zh-CN" dirty="0">
                <a:effectLst/>
              </a:rPr>
              <a:t>23.1</a:t>
            </a:r>
            <a:r>
              <a:rPr lang="en" altLang="zh-CN" dirty="0">
                <a:effectLst/>
              </a:rPr>
              <a:t>pp</a:t>
            </a:r>
            <a:r>
              <a:rPr lang="zh-CN" altLang="en" dirty="0">
                <a:effectLst/>
              </a:rPr>
              <a:t>（</a:t>
            </a:r>
            <a:r>
              <a:rPr lang="zh-CN" altLang="en-US" dirty="0">
                <a:effectLst/>
              </a:rPr>
              <a:t>行政区筛选后意向率</a:t>
            </a:r>
            <a:r>
              <a:rPr lang="en-US" altLang="zh-CN" dirty="0">
                <a:effectLst/>
              </a:rPr>
              <a:t>2.2%</a:t>
            </a:r>
            <a:r>
              <a:rPr lang="zh-CN" altLang="en-US" dirty="0">
                <a:effectLst/>
              </a:rPr>
              <a:t>），更好的满足了景点找店的用户需求。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品类扩充：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累计覆盖商户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3,393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家，其中纯新增上榜商户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  <a:r>
              <a: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475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家（占比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43.4%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）。</a:t>
            </a:r>
            <a:r>
              <a: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根据品类数据持续扩展</a:t>
            </a:r>
            <a:endParaRPr lang="en-US" altLang="zh-CN" sz="1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云南德宏较去年增长超过</a:t>
            </a:r>
            <a:r>
              <a:rPr lang="en-US" altLang="zh-CN" sz="1200" dirty="0"/>
              <a:t>2</a:t>
            </a:r>
            <a:r>
              <a:rPr lang="zh-CN" altLang="en-US" sz="1200" dirty="0"/>
              <a:t>倍（小而美小城、地道美食，境内有热度增长显著目的地</a:t>
            </a:r>
            <a:r>
              <a:rPr lang="en-US" altLang="zh-CN" sz="1200" dirty="0"/>
              <a:t>top10</a:t>
            </a:r>
            <a:r>
              <a:rPr lang="zh-CN" altLang="en-US" sz="1200" dirty="0"/>
              <a:t>。特色年味儿</a:t>
            </a:r>
            <a:r>
              <a:rPr lang="en-US" altLang="zh-CN" sz="1200" dirty="0"/>
              <a:t>top10</a:t>
            </a:r>
            <a:r>
              <a:rPr lang="zh-CN" altLang="en-US" sz="1200" dirty="0"/>
              <a:t>，目瑙纵歌节。柠檬撒苤</a:t>
            </a:r>
            <a:r>
              <a:rPr lang="en-US" altLang="zh-CN" sz="1200" dirty="0"/>
              <a:t>pie</a:t>
            </a:r>
            <a:r>
              <a:rPr lang="zh-CN" altLang="en-US" sz="1200" dirty="0"/>
              <a:t>清爽解腻、火烧猪、过手米线），云南普洱（增速</a:t>
            </a:r>
            <a:r>
              <a:rPr lang="en-US" altLang="zh-CN" sz="1200" dirty="0"/>
              <a:t>top10</a:t>
            </a:r>
            <a:r>
              <a:rPr lang="zh-CN" altLang="en-US" sz="1200" dirty="0"/>
              <a:t>，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普洱特色烤鱼、“普洱酸醋米线”等特色美食</a:t>
            </a:r>
            <a:r>
              <a:rPr lang="zh-CN" altLang="en-US" sz="1200" dirty="0"/>
              <a:t>），小城过大年，四川宜宾（春晚分会场，如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李庄古镇</a:t>
            </a:r>
            <a:r>
              <a:rPr lang="zh-CN" altLang="en-US" sz="1200" dirty="0"/>
              <a:t>）、</a:t>
            </a:r>
            <a:endParaRPr lang="en-US" altLang="zh-CN" sz="1200" dirty="0"/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6645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1w</a:t>
            </a:r>
            <a:r>
              <a:rPr lang="zh-CN" altLang="en-US" dirty="0"/>
              <a:t>条评论打标耗时</a:t>
            </a:r>
            <a:r>
              <a:rPr lang="en-US" altLang="zh-CN" dirty="0"/>
              <a:t>0.8</a:t>
            </a:r>
            <a:r>
              <a:rPr lang="zh-CN" altLang="en-US" dirty="0"/>
              <a:t>小时，故</a:t>
            </a:r>
            <a:r>
              <a:rPr lang="en-US" altLang="zh-CN" dirty="0"/>
              <a:t>1w</a:t>
            </a:r>
            <a:r>
              <a:rPr lang="zh-CN" altLang="en-US" dirty="0"/>
              <a:t>家门店耗时</a:t>
            </a:r>
            <a:r>
              <a:rPr lang="en-US" altLang="zh-CN" dirty="0"/>
              <a:t>100*0.8=</a:t>
            </a:r>
            <a:r>
              <a:rPr lang="en-US" altLang="zh-CN" b="1" dirty="0"/>
              <a:t>80</a:t>
            </a:r>
            <a:r>
              <a:rPr lang="zh-CN" altLang="en-US" b="1" dirty="0"/>
              <a:t>小时。</a:t>
            </a:r>
            <a:r>
              <a:rPr lang="zh-CN" altLang="en-US" dirty="0"/>
              <a:t>打标采用</a:t>
            </a:r>
            <a:r>
              <a:rPr lang="en-US" altLang="zh-CN" dirty="0"/>
              <a:t>deepseek-v3</a:t>
            </a:r>
            <a:r>
              <a:rPr lang="zh-CN" altLang="en-US" dirty="0"/>
              <a:t>，需要占用</a:t>
            </a:r>
            <a:r>
              <a:rPr lang="en-US" altLang="zh-CN" dirty="0"/>
              <a:t>8</a:t>
            </a:r>
            <a:r>
              <a:rPr lang="zh-CN" altLang="en-US" dirty="0"/>
              <a:t>张卡，每张卡</a:t>
            </a:r>
            <a:r>
              <a:rPr lang="en-US" altLang="zh-CN" dirty="0"/>
              <a:t>5</a:t>
            </a:r>
            <a:r>
              <a:rPr lang="zh-CN" altLang="en-US" dirty="0"/>
              <a:t>元</a:t>
            </a:r>
            <a:r>
              <a:rPr lang="en-US" altLang="zh-CN" dirty="0"/>
              <a:t>/</a:t>
            </a:r>
            <a:r>
              <a:rPr lang="zh-CN" altLang="en-US" dirty="0"/>
              <a:t>小时，故</a:t>
            </a:r>
            <a:r>
              <a:rPr lang="en-US" altLang="zh-CN" dirty="0"/>
              <a:t>1w</a:t>
            </a:r>
            <a:r>
              <a:rPr lang="zh-CN" altLang="en-US" dirty="0"/>
              <a:t>家门店总花费</a:t>
            </a:r>
            <a:r>
              <a:rPr lang="en-US" altLang="zh-CN" dirty="0"/>
              <a:t>8*5*80=</a:t>
            </a:r>
            <a:r>
              <a:rPr lang="en-US" altLang="zh-CN" b="1" dirty="0"/>
              <a:t>3200</a:t>
            </a:r>
            <a:r>
              <a:rPr lang="zh-CN" altLang="en-US" b="1" dirty="0"/>
              <a:t>元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北京</a:t>
            </a:r>
            <a:r>
              <a:rPr lang="en-US" altLang="zh-CN" dirty="0"/>
              <a:t>21017</a:t>
            </a:r>
            <a:r>
              <a:rPr lang="zh-CN" altLang="en-US" dirty="0"/>
              <a:t>家门店：</a:t>
            </a:r>
            <a:r>
              <a:rPr lang="en-US" altLang="zh-CN" dirty="0"/>
              <a:t>2.1017*3200=</a:t>
            </a:r>
            <a:r>
              <a:rPr lang="en-US" altLang="zh-CN" b="1" dirty="0"/>
              <a:t>6725</a:t>
            </a:r>
            <a:r>
              <a:rPr lang="zh-CN" altLang="en-US" b="1" dirty="0"/>
              <a:t>元</a:t>
            </a:r>
            <a:endParaRPr lang="zh-CN" altLang="en-US" dirty="0"/>
          </a:p>
          <a:p>
            <a:r>
              <a:rPr lang="zh-CN" altLang="en-US" dirty="0"/>
              <a:t>全国圈选门店有</a:t>
            </a:r>
            <a:r>
              <a:rPr lang="en-US" altLang="zh-CN" dirty="0"/>
              <a:t>511080</a:t>
            </a:r>
            <a:r>
              <a:rPr lang="zh-CN" altLang="en-US" dirty="0"/>
              <a:t>家：</a:t>
            </a:r>
            <a:r>
              <a:rPr lang="en-US" altLang="zh-CN" dirty="0"/>
              <a:t>51.1080*3200=</a:t>
            </a:r>
            <a:r>
              <a:rPr lang="en-US" altLang="zh-CN" b="1" dirty="0"/>
              <a:t>163545</a:t>
            </a:r>
            <a:r>
              <a:rPr lang="zh-CN" altLang="en-US" b="1" dirty="0"/>
              <a:t>元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在到店决策上，一部分用户基于内在需求的场景驱动决策，一部分用户基于从众心理的数据驱动决策，颜色深的为重决策场景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决策成本 </a:t>
            </a:r>
            <a:r>
              <a:rPr lang="en-US" altLang="zh-CN" sz="1200" dirty="0"/>
              <a:t>= </a:t>
            </a:r>
            <a:r>
              <a:rPr lang="zh-CN" altLang="en-US" sz="1200" dirty="0"/>
              <a:t>客单价 </a:t>
            </a:r>
            <a:r>
              <a:rPr lang="en-US" altLang="zh-CN" sz="1200" dirty="0"/>
              <a:t>+ </a:t>
            </a:r>
            <a:r>
              <a:rPr lang="zh-CN" altLang="en-US" sz="1200" dirty="0"/>
              <a:t>场景 </a:t>
            </a:r>
            <a:r>
              <a:rPr lang="en-US" altLang="zh-CN" sz="1200" dirty="0"/>
              <a:t>+ </a:t>
            </a:r>
            <a:r>
              <a:rPr lang="zh-CN" altLang="en-US" sz="1200" dirty="0"/>
              <a:t>人群 </a:t>
            </a:r>
            <a:r>
              <a:rPr lang="en-US" altLang="zh-CN" sz="1200" dirty="0"/>
              <a:t>+ </a:t>
            </a:r>
            <a:r>
              <a:rPr lang="zh-CN" altLang="en-US" sz="1200" dirty="0"/>
              <a:t>信息量 </a:t>
            </a:r>
            <a:r>
              <a:rPr lang="en-US" altLang="zh-CN" sz="1200" dirty="0"/>
              <a:t>+ </a:t>
            </a:r>
            <a:r>
              <a:rPr lang="zh-CN" altLang="en-US" sz="1200" dirty="0"/>
              <a:t>代价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2761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入口每天带来多少到餐意向</a:t>
            </a:r>
            <a:r>
              <a:rPr lang="en-US" altLang="zh-CN" dirty="0">
                <a:effectLst/>
              </a:rPr>
              <a:t>UV</a:t>
            </a:r>
            <a:r>
              <a:rPr lang="zh-CN" altLang="en-US" dirty="0">
                <a:effectLst/>
              </a:rPr>
              <a:t>？就是意向 因为</a:t>
            </a:r>
            <a:r>
              <a:rPr lang="en-US" altLang="zh-CN" dirty="0">
                <a:effectLst/>
              </a:rPr>
              <a:t>DAU</a:t>
            </a:r>
            <a:r>
              <a:rPr lang="zh-CN" altLang="en-US" dirty="0">
                <a:effectLst/>
              </a:rPr>
              <a:t>不准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</a:rPr>
              <a:t>日均</a:t>
            </a:r>
            <a:r>
              <a:rPr lang="en-US" altLang="zh-CN" dirty="0">
                <a:effectLst/>
              </a:rPr>
              <a:t>GTV 75w</a:t>
            </a:r>
            <a:r>
              <a:rPr lang="zh-CN" altLang="en-US" dirty="0">
                <a:effectLst/>
              </a:rPr>
              <a:t>就能占比</a:t>
            </a:r>
            <a:r>
              <a:rPr lang="en-US" altLang="zh-CN" dirty="0">
                <a:effectLst/>
              </a:rPr>
              <a:t>21%</a:t>
            </a:r>
            <a:r>
              <a:rPr lang="zh-CN" altLang="en-US" dirty="0">
                <a:effectLst/>
              </a:rPr>
              <a:t>？</a:t>
            </a:r>
            <a:endParaRPr lang="en-US" altLang="zh-CN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effectLst/>
              </a:rPr>
              <a:t>POI</a:t>
            </a:r>
            <a:r>
              <a:rPr lang="zh-CN" altLang="en-US" dirty="0">
                <a:effectLst/>
              </a:rPr>
              <a:t>页是否有</a:t>
            </a:r>
            <a:r>
              <a:rPr lang="en-US" altLang="zh-CN" dirty="0">
                <a:effectLst/>
              </a:rPr>
              <a:t>AB</a:t>
            </a:r>
            <a:r>
              <a:rPr lang="zh-CN" altLang="en-US" dirty="0">
                <a:effectLst/>
              </a:rPr>
              <a:t>或前后比较</a:t>
            </a:r>
            <a:endParaRPr lang="en-US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9854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（落地页改版：看榜、矩阵、规则、验榜）</a:t>
            </a:r>
            <a:endParaRPr lang="en-US" altLang="zh-CN" sz="1200" dirty="0"/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0112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/>
              <a:t>荣誉</a:t>
            </a:r>
            <a:r>
              <a:rPr lang="zh-CN" altLang="en-US" sz="1200" dirty="0"/>
              <a:t>页：针对六城，荣誉页减少了榜单落地页</a:t>
            </a:r>
            <a:r>
              <a:rPr lang="en-US" altLang="zh-CN" sz="1200" dirty="0"/>
              <a:t>60%</a:t>
            </a:r>
            <a:r>
              <a:rPr lang="zh-CN" altLang="en-US" sz="1200" dirty="0"/>
              <a:t>的流量来源（日均减少</a:t>
            </a:r>
            <a:r>
              <a:rPr lang="en-US" altLang="zh-CN" sz="1200" dirty="0"/>
              <a:t>1.5w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dirty="0">
                <a:solidFill>
                  <a:schemeClr val="tx1"/>
                </a:solidFill>
                <a:latin typeface="+mn-ea"/>
                <a:ea typeface="+mn-ea"/>
              </a:rPr>
              <a:t>poi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</a:rPr>
              <a:t>找店成功率：</a:t>
            </a:r>
            <a:r>
              <a:rPr lang="zh-CN" altLang="en-US" dirty="0">
                <a:effectLst/>
              </a:rPr>
              <a:t>收藏分享点地图支付之类的一系列行为指标</a:t>
            </a:r>
            <a:endParaRPr lang="en-US" altLang="zh-CN" sz="1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荣誉标签城市：</a:t>
            </a:r>
            <a:r>
              <a:rPr lang="zh-CN" altLang="en-US" dirty="0"/>
              <a:t>重庆、深圳、哈尔滨、石家庄、南昌、洛阳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6432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AF6-05BD-585F-A2C7-F6635734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A9C959-ADBB-28B4-A35A-7F63A0832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598E83-7A96-6D72-7808-D6F63204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FEFA6A-6D69-F73F-6932-8F5905132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9760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AF6-05BD-585F-A2C7-F6635734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A9C959-ADBB-28B4-A35A-7F63A0832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598E83-7A96-6D72-7808-D6F63204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/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FEFA6A-6D69-F73F-6932-8F5905132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681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第</a:t>
            </a:r>
            <a:r>
              <a:rPr lang="en-US" altLang="zh-CN" dirty="0">
                <a:effectLst/>
              </a:rPr>
              <a:t>18</a:t>
            </a:r>
            <a:r>
              <a:rPr lang="zh-CN" altLang="en-US" dirty="0">
                <a:effectLst/>
              </a:rPr>
              <a:t>名这个：主要是由于高线中的</a:t>
            </a:r>
            <a:r>
              <a:rPr lang="en" altLang="zh-CN" dirty="0">
                <a:effectLst/>
              </a:rPr>
              <a:t>S</a:t>
            </a:r>
            <a:r>
              <a:rPr lang="zh-CN" altLang="en-US" dirty="0">
                <a:effectLst/>
              </a:rPr>
              <a:t>级城市凸起异常，查看带动高</a:t>
            </a:r>
            <a:r>
              <a:rPr lang="en" altLang="zh-CN" dirty="0" err="1">
                <a:effectLst/>
              </a:rPr>
              <a:t>gtv</a:t>
            </a:r>
            <a:r>
              <a:rPr lang="zh-CN" altLang="en-US" dirty="0">
                <a:effectLst/>
              </a:rPr>
              <a:t>的门店为：</a:t>
            </a:r>
            <a:r>
              <a:rPr lang="zh-CN" altLang="en-US" b="1" dirty="0">
                <a:effectLst/>
              </a:rPr>
              <a:t>铭门盛宴艺术海鲜姿造（世贸天阶店）北京</a:t>
            </a:r>
            <a:r>
              <a:rPr lang="zh-CN" altLang="en-US" dirty="0">
                <a:effectLst/>
              </a:rPr>
              <a:t>，这是一家客单价</a:t>
            </a:r>
            <a:r>
              <a:rPr lang="en-US" altLang="zh-CN" dirty="0">
                <a:effectLst/>
              </a:rPr>
              <a:t>400+</a:t>
            </a:r>
            <a:r>
              <a:rPr lang="zh-CN" altLang="en-US" dirty="0">
                <a:effectLst/>
              </a:rPr>
              <a:t>的海鲜自助，由于其在</a:t>
            </a:r>
            <a:r>
              <a:rPr lang="zh-CN" altLang="en-US" b="1" dirty="0">
                <a:effectLst/>
              </a:rPr>
              <a:t>全部</a:t>
            </a:r>
            <a:r>
              <a:rPr lang="en" altLang="zh-CN" b="1" dirty="0">
                <a:effectLst/>
              </a:rPr>
              <a:t>tab</a:t>
            </a:r>
            <a:r>
              <a:rPr lang="zh-CN" altLang="en-US" dirty="0">
                <a:effectLst/>
              </a:rPr>
              <a:t>下，排名没有非常靠前</a:t>
            </a:r>
            <a:r>
              <a:rPr lang="en-US" altLang="zh-CN" dirty="0">
                <a:effectLst/>
              </a:rPr>
              <a:t>(18</a:t>
            </a:r>
            <a:r>
              <a:rPr lang="zh-CN" altLang="en-US" dirty="0">
                <a:effectLst/>
              </a:rPr>
              <a:t>名），但它</a:t>
            </a:r>
            <a:r>
              <a:rPr lang="en" altLang="zh-CN" dirty="0" err="1">
                <a:effectLst/>
              </a:rPr>
              <a:t>gtv</a:t>
            </a:r>
            <a:r>
              <a:rPr lang="zh-CN" altLang="en-US" dirty="0">
                <a:effectLst/>
              </a:rPr>
              <a:t>确实很高，导致最终图片上的</a:t>
            </a:r>
            <a:r>
              <a:rPr lang="en" altLang="zh-CN" dirty="0" err="1">
                <a:effectLst/>
              </a:rPr>
              <a:t>gtv</a:t>
            </a:r>
            <a:r>
              <a:rPr lang="zh-CN" altLang="en-US" dirty="0">
                <a:effectLst/>
              </a:rPr>
              <a:t>会有一个异常凸起</a:t>
            </a: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第</a:t>
            </a:r>
            <a:r>
              <a:rPr lang="en-US" altLang="zh-CN" dirty="0">
                <a:effectLst/>
              </a:rPr>
              <a:t>37</a:t>
            </a:r>
            <a:r>
              <a:rPr lang="zh-CN" altLang="en-US" dirty="0">
                <a:effectLst/>
              </a:rPr>
              <a:t>名这个：主要是由于高线中的</a:t>
            </a:r>
            <a:r>
              <a:rPr lang="en" altLang="zh-CN" dirty="0">
                <a:effectLst/>
              </a:rPr>
              <a:t>S</a:t>
            </a:r>
            <a:r>
              <a:rPr lang="zh-CN" altLang="en-US" dirty="0">
                <a:effectLst/>
              </a:rPr>
              <a:t>级、</a:t>
            </a:r>
            <a:r>
              <a:rPr lang="en" altLang="zh-CN" dirty="0">
                <a:effectLst/>
              </a:rPr>
              <a:t>A</a:t>
            </a:r>
            <a:r>
              <a:rPr lang="zh-CN" altLang="en-US" dirty="0">
                <a:effectLst/>
              </a:rPr>
              <a:t>级城市凸起异常，其中</a:t>
            </a:r>
            <a:r>
              <a:rPr lang="en" altLang="zh-CN" dirty="0">
                <a:effectLst/>
              </a:rPr>
              <a:t>S</a:t>
            </a:r>
            <a:r>
              <a:rPr lang="zh-CN" altLang="en-US" dirty="0">
                <a:effectLst/>
              </a:rPr>
              <a:t>级：</a:t>
            </a:r>
            <a:r>
              <a:rPr lang="zh-CN" altLang="en-US" b="1" dirty="0">
                <a:effectLst/>
              </a:rPr>
              <a:t>上海</a:t>
            </a:r>
            <a:r>
              <a:rPr lang="en-US" altLang="zh-CN" b="1" dirty="0">
                <a:effectLst/>
              </a:rPr>
              <a:t>-</a:t>
            </a:r>
            <a:r>
              <a:rPr lang="zh-CN" altLang="en-US" b="1" dirty="0">
                <a:effectLst/>
              </a:rPr>
              <a:t>红子鸡凤凰楼（澳门路店）</a:t>
            </a:r>
            <a:r>
              <a:rPr lang="zh-CN" altLang="en-US" dirty="0">
                <a:effectLst/>
              </a:rPr>
              <a:t>、</a:t>
            </a:r>
            <a:r>
              <a:rPr lang="en" altLang="zh-CN" dirty="0">
                <a:effectLst/>
              </a:rPr>
              <a:t>A</a:t>
            </a:r>
            <a:r>
              <a:rPr lang="zh-CN" altLang="en-US" dirty="0">
                <a:effectLst/>
              </a:rPr>
              <a:t>级：</a:t>
            </a:r>
            <a:r>
              <a:rPr lang="zh-CN" altLang="en-US" b="1" dirty="0">
                <a:effectLst/>
              </a:rPr>
              <a:t>天津市</a:t>
            </a:r>
            <a:r>
              <a:rPr lang="en-US" altLang="zh-CN" b="1" dirty="0">
                <a:effectLst/>
              </a:rPr>
              <a:t>-</a:t>
            </a:r>
            <a:r>
              <a:rPr lang="zh-CN" altLang="en-US" b="1" dirty="0">
                <a:effectLst/>
              </a:rPr>
              <a:t>耀</a:t>
            </a:r>
            <a:r>
              <a:rPr lang="en-US" altLang="zh-CN" b="1" dirty="0">
                <a:effectLst/>
              </a:rPr>
              <a:t>·</a:t>
            </a:r>
            <a:r>
              <a:rPr lang="zh-CN" altLang="en-US" b="1" dirty="0">
                <a:effectLst/>
              </a:rPr>
              <a:t>倾城至臻蒸汽海鲜自助（恒隆店）</a:t>
            </a:r>
            <a:r>
              <a:rPr lang="zh-CN" altLang="en-US" dirty="0">
                <a:effectLst/>
              </a:rPr>
              <a:t>，</a:t>
            </a:r>
            <a:r>
              <a:rPr lang="en" altLang="zh-CN" dirty="0">
                <a:effectLst/>
              </a:rPr>
              <a:t>S</a:t>
            </a:r>
            <a:r>
              <a:rPr lang="zh-CN" altLang="en-US" dirty="0">
                <a:effectLst/>
              </a:rPr>
              <a:t>级上海的这个门店是必吃榜门店，核销量中高，但在这个排名下的</a:t>
            </a:r>
            <a:r>
              <a:rPr lang="en" altLang="zh-CN" dirty="0" err="1">
                <a:effectLst/>
              </a:rPr>
              <a:t>gtv</a:t>
            </a:r>
            <a:r>
              <a:rPr lang="zh-CN" altLang="en-US" dirty="0">
                <a:effectLst/>
              </a:rPr>
              <a:t>较高的粤菜；</a:t>
            </a:r>
            <a:r>
              <a:rPr lang="en" altLang="zh-CN" dirty="0">
                <a:effectLst/>
              </a:rPr>
              <a:t>A</a:t>
            </a:r>
            <a:r>
              <a:rPr lang="zh-CN" altLang="en-US" dirty="0">
                <a:effectLst/>
              </a:rPr>
              <a:t>级天津那个门店主要也是自助高客单，所以在全部</a:t>
            </a:r>
            <a:r>
              <a:rPr lang="en" altLang="zh-CN" dirty="0">
                <a:effectLst/>
              </a:rPr>
              <a:t>tab</a:t>
            </a:r>
            <a:r>
              <a:rPr lang="zh-CN" altLang="en-US" dirty="0">
                <a:effectLst/>
              </a:rPr>
              <a:t>下，核销量不算最高，但</a:t>
            </a:r>
            <a:r>
              <a:rPr lang="en" altLang="zh-CN" dirty="0" err="1">
                <a:effectLst/>
              </a:rPr>
              <a:t>gtv</a:t>
            </a:r>
            <a:r>
              <a:rPr lang="zh-CN" altLang="en-US" dirty="0">
                <a:effectLst/>
              </a:rPr>
              <a:t>带动显著，类似上面那家逻辑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传统榜单：公域票选，用于探索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——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中心化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榜单：私域偏好，用于记忆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——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长尾化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半年共需</a:t>
            </a:r>
            <a:r>
              <a:rPr lang="en-US" altLang="zh-CN" dirty="0">
                <a:effectLst/>
              </a:rPr>
              <a:t>38.5w</a:t>
            </a:r>
            <a:r>
              <a:rPr lang="zh-CN" altLang="en-US" dirty="0">
                <a:effectLst/>
              </a:rPr>
              <a:t>元，处理共</a:t>
            </a:r>
            <a:r>
              <a:rPr lang="en-US" altLang="zh-CN" dirty="0">
                <a:effectLst/>
              </a:rPr>
              <a:t>2.5e</a:t>
            </a:r>
            <a:r>
              <a:rPr lang="zh-CN" altLang="en-US" dirty="0">
                <a:effectLst/>
              </a:rPr>
              <a:t>条评论。按照</a:t>
            </a:r>
            <a:r>
              <a:rPr lang="en-US" altLang="zh-CN" dirty="0">
                <a:effectLst/>
              </a:rPr>
              <a:t>180</a:t>
            </a:r>
            <a:r>
              <a:rPr lang="zh-CN" altLang="en-US" dirty="0">
                <a:effectLst/>
              </a:rPr>
              <a:t>天算，每天</a:t>
            </a:r>
            <a:r>
              <a:rPr lang="en-US" altLang="zh-CN" dirty="0">
                <a:effectLst/>
              </a:rPr>
              <a:t>2k</a:t>
            </a:r>
            <a:r>
              <a:rPr lang="zh-CN" altLang="en-US" dirty="0">
                <a:effectLst/>
              </a:rPr>
              <a:t>元，每日新增</a:t>
            </a:r>
            <a:r>
              <a:rPr lang="en-US" altLang="zh-CN" dirty="0">
                <a:effectLst/>
              </a:rPr>
              <a:t>140</a:t>
            </a:r>
            <a:r>
              <a:rPr lang="zh-CN" altLang="en-US" dirty="0">
                <a:effectLst/>
              </a:rPr>
              <a:t>万条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4976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利用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时代的机会，更要强化凸显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无法取代的资产价值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资产：真人评论、交易后评价等。凸显“验真”价值。同时榜单也是到餐决策的优质知识库和信息源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1304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ffectLst/>
              </a:rPr>
              <a:t>Lilliput</a:t>
            </a:r>
            <a:r>
              <a:rPr lang="zh-CN" altLang="en-US" dirty="0">
                <a:effectLst/>
              </a:rPr>
              <a:t>不是核心商家，其他两个都是核心商家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ffectLst/>
              </a:rPr>
              <a:t>高线：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（店均</a:t>
            </a:r>
            <a:r>
              <a:rPr lang="en-US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380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</a:t>
            </a:r>
            <a:r>
              <a:rPr lang="en-US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50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字</a:t>
            </a:r>
            <a:r>
              <a:rPr lang="en-US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+1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图以上店均优质</a:t>
            </a:r>
            <a:r>
              <a:rPr lang="en-US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116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条）</a:t>
            </a:r>
            <a:endParaRPr lang="en-US" altLang="zh-CN" sz="1800" kern="1200" dirty="0">
              <a:solidFill>
                <a:srgbClr val="7F7F7F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中低线：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（店均</a:t>
            </a:r>
            <a:r>
              <a:rPr lang="en-US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142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</a:t>
            </a:r>
            <a:r>
              <a:rPr lang="en-US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50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字</a:t>
            </a:r>
            <a:r>
              <a:rPr lang="en-US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+1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图店均优质</a:t>
            </a:r>
            <a:r>
              <a:rPr lang="en-US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23</a:t>
            </a:r>
            <a:r>
              <a:rPr lang="zh-CN" altLang="zh-CN" sz="1800" kern="1200" dirty="0">
                <a:solidFill>
                  <a:srgbClr val="7F7F7F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条）</a:t>
            </a:r>
            <a:endParaRPr lang="en-US" altLang="zh-CN" sz="1800" kern="1200" dirty="0">
              <a:solidFill>
                <a:srgbClr val="7F7F7F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algn="l"/>
            <a:r>
              <a:rPr lang="zh-CN" altLang="en-US" dirty="0">
                <a:effectLst/>
              </a:rPr>
              <a:t>低线：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75%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门店评价存量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&lt;=5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条店均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58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条，月新增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/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举措：通过本地人推荐、特色菜承接异地找店需求 。进展：提高本地人推荐、特色菜的城市覆盖，优先补充高爆发旅游城市的特色供给，以承接异地场景需求。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举措：搭建约会、聚会主题场景榜单，通过接入点评主题榜数据，搭建美团算法自主挖掘能力。 进展：双侧接入方案已确定，预计和榜单改版同步上线。约会餐厅挖掘和成榜测算中。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举措：基于亲子用户的行为及画像分析，结合门店标签、基础信息、经营数据、</a:t>
            </a:r>
            <a:r>
              <a:rPr lang="en-US" altLang="zh-CN" dirty="0"/>
              <a:t>AI</a:t>
            </a:r>
            <a:r>
              <a:rPr lang="zh-CN" altLang="en-US" dirty="0"/>
              <a:t>挖掘评论等自主挖掘搭建亲子榜单。预计春节后启动（优先约会榜挖掘）</a:t>
            </a:r>
          </a:p>
          <a:p>
            <a:pPr algn="l"/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zh-CN" altLang="zh-CN" dirty="0">
              <a:effectLst/>
            </a:endParaRPr>
          </a:p>
          <a:p>
            <a:endParaRPr lang="en-US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900" dirty="0"/>
              <a:t>成本（钱</a:t>
            </a:r>
            <a:r>
              <a:rPr lang="en-US" altLang="zh-CN" sz="900" dirty="0"/>
              <a:t>/</a:t>
            </a:r>
            <a:r>
              <a:rPr lang="zh-CN" altLang="en-US" sz="900" dirty="0"/>
              <a:t>时间）越高榜单的用户价值越高</a:t>
            </a:r>
            <a:endParaRPr lang="en-US" altLang="zh-CN" sz="900" dirty="0">
              <a:latin typeface="+mn-ea"/>
              <a:ea typeface="+mn-ea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900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119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8453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87426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6" y="288001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2000" y="298634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1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80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6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6" y="123826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1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80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7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4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单标题_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252000" y="288001"/>
            <a:ext cx="7664380" cy="427313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7" y="871728"/>
            <a:ext cx="8639588" cy="377647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174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vmlDrawing" Target="../drawings/vmlDrawing1.v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think-cell 幻灯片" r:id="rId11" imgW="0" imgH="0" progId="TCLayout.ActiveDocument.1">
                  <p:embed/>
                </p:oleObj>
              </mc:Choice>
              <mc:Fallback>
                <p:oleObj name="think-cell 幻灯片" r:id="rId11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20" y="4739965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sz="1000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sz="1000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7.bin"/><Relationship Id="rId6" Type="http://schemas.openxmlformats.org/officeDocument/2006/relationships/image" Target="../media/image2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Relationship Id="rId5" Type="http://schemas.openxmlformats.org/officeDocument/2006/relationships/oleObject" Target="../embeddings/oleObject8.bin"/><Relationship Id="rId6" Type="http://schemas.openxmlformats.org/officeDocument/2006/relationships/image" Target="../media/image3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jpeg"/><Relationship Id="rId9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microsoft.com/office/2007/relationships/media" Target="../media/media1.MOV"/><Relationship Id="rId2" Type="http://schemas.openxmlformats.org/officeDocument/2006/relationships/video" Target="../media/media1.MOV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16.emf"/><Relationship Id="rId6" Type="http://schemas.openxmlformats.org/officeDocument/2006/relationships/image" Target="../media/image17.png"/><Relationship Id="rId7" Type="http://schemas.openxmlformats.org/officeDocument/2006/relationships/image" Target="../media/image18.jpeg"/><Relationship Id="rId8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eg"/><Relationship Id="rId4" Type="http://schemas.openxmlformats.org/officeDocument/2006/relationships/image" Target="../media/image22.jpe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jpe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jpeg"/><Relationship Id="rId4" Type="http://schemas.openxmlformats.org/officeDocument/2006/relationships/image" Target="../media/image35.jpeg"/><Relationship Id="rId5" Type="http://schemas.openxmlformats.org/officeDocument/2006/relationships/image" Target="../media/image36.jpe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jpeg"/><Relationship Id="rId9" Type="http://schemas.openxmlformats.org/officeDocument/2006/relationships/image" Target="../media/image40.jpeg"/><Relationship Id="rId10" Type="http://schemas.openxmlformats.org/officeDocument/2006/relationships/image" Target="../media/image41.jpe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jpeg"/><Relationship Id="rId4" Type="http://schemas.openxmlformats.org/officeDocument/2006/relationships/image" Target="../media/image47.jpeg"/><Relationship Id="rId5" Type="http://schemas.openxmlformats.org/officeDocument/2006/relationships/image" Target="../media/image48.jpeg"/><Relationship Id="rId6" Type="http://schemas.openxmlformats.org/officeDocument/2006/relationships/image" Target="../media/image49.jpeg"/><Relationship Id="rId7" Type="http://schemas.openxmlformats.org/officeDocument/2006/relationships/image" Target="../media/image50.jpeg"/><Relationship Id="rId8" Type="http://schemas.openxmlformats.org/officeDocument/2006/relationships/image" Target="../media/image51.jpeg"/><Relationship Id="rId9" Type="http://schemas.openxmlformats.org/officeDocument/2006/relationships/image" Target="../media/image52.png"/><Relationship Id="rId10" Type="http://schemas.openxmlformats.org/officeDocument/2006/relationships/image" Target="../media/image53.jpeg"/><Relationship Id="rId11" Type="http://schemas.openxmlformats.org/officeDocument/2006/relationships/image" Target="../media/image54.jpeg"/><Relationship Id="rId12" Type="http://schemas.openxmlformats.org/officeDocument/2006/relationships/image" Target="../media/image55.jpeg"/><Relationship Id="rId13" Type="http://schemas.openxmlformats.org/officeDocument/2006/relationships/image" Target="../media/image56.jpeg"/><Relationship Id="rId14" Type="http://schemas.openxmlformats.org/officeDocument/2006/relationships/image" Target="../media/image57.jpe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榜单运营规划及进展同步</a:t>
            </a:r>
          </a:p>
        </p:txBody>
      </p:sp>
    </p:spTree>
    <p:extLst>
      <p:ext uri="{BB962C8B-B14F-4D97-AF65-F5344CB8AC3E}">
        <p14:creationId xmlns:p14="http://schemas.microsoft.com/office/powerpoint/2010/main" val="343143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16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87535" y="1084298"/>
            <a:ext cx="6496724" cy="220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/>
              <a:t>行业榜单需求覆盖分析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dirty="0">
                <a:latin typeface="+mn-ea"/>
              </a:rPr>
              <a:t>榜单定位、价值及目标</a:t>
            </a:r>
            <a:endParaRPr kumimoji="1" lang="en-US" altLang="zh-CN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kumimoji="1" lang="zh-CN" altLang="en-US" dirty="0">
                <a:latin typeface="+mn-ea"/>
              </a:rPr>
              <a:t>主要举措及进展</a:t>
            </a:r>
            <a:endParaRPr kumimoji="1" lang="en-US" altLang="zh-CN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附录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A187DF81-E258-67DE-70C7-630C64BD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32009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行业榜单需求覆盖分析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D39A05-2F39-3D9D-9AF0-5D3BCD2EE168}"/>
              </a:ext>
            </a:extLst>
          </p:cNvPr>
          <p:cNvSpPr/>
          <p:nvPr/>
        </p:nvSpPr>
        <p:spPr>
          <a:xfrm>
            <a:off x="928236" y="910821"/>
            <a:ext cx="7042423" cy="37855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0F4010-0465-CAD3-6609-EBEB903758CD}"/>
              </a:ext>
            </a:extLst>
          </p:cNvPr>
          <p:cNvSpPr txBox="1"/>
          <p:nvPr/>
        </p:nvSpPr>
        <p:spPr>
          <a:xfrm>
            <a:off x="568335" y="464083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尊重、审美、认知（如尝鲜）需求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98184E-CA29-BA40-E3C8-EABC8F21DFFA}"/>
              </a:ext>
            </a:extLst>
          </p:cNvPr>
          <p:cNvSpPr txBox="1"/>
          <p:nvPr/>
        </p:nvSpPr>
        <p:spPr>
          <a:xfrm>
            <a:off x="3390566" y="459322"/>
            <a:ext cx="18259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社交、情感与归属需求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DB24E3-9990-75BA-B544-830E9F15585B}"/>
              </a:ext>
            </a:extLst>
          </p:cNvPr>
          <p:cNvSpPr txBox="1"/>
          <p:nvPr/>
        </p:nvSpPr>
        <p:spPr>
          <a:xfrm>
            <a:off x="5502515" y="453767"/>
            <a:ext cx="13630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功能需求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09DE7B-9554-ED9F-5DCA-0654073F3D58}"/>
              </a:ext>
            </a:extLst>
          </p:cNvPr>
          <p:cNvSpPr txBox="1"/>
          <p:nvPr/>
        </p:nvSpPr>
        <p:spPr>
          <a:xfrm>
            <a:off x="2936442" y="668168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情侣约会、亲朋聚会、工作宴请、亲子等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7B6808-46AF-EC3D-B1E1-3A985F1C26B0}"/>
              </a:ext>
            </a:extLst>
          </p:cNvPr>
          <p:cNvSpPr txBox="1"/>
          <p:nvPr/>
        </p:nvSpPr>
        <p:spPr>
          <a:xfrm>
            <a:off x="708618" y="654218"/>
            <a:ext cx="266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旅游、漂亮饭等氛围餐厅、时令等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87005BE-C6EB-BCFB-CBF4-B647BCE45349}"/>
              </a:ext>
            </a:extLst>
          </p:cNvPr>
          <p:cNvSpPr txBox="1"/>
          <p:nvPr/>
        </p:nvSpPr>
        <p:spPr>
          <a:xfrm>
            <a:off x="5209877" y="648785"/>
            <a:ext cx="19482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品类、口味等</a:t>
            </a:r>
          </a:p>
        </p:txBody>
      </p:sp>
      <p:sp>
        <p:nvSpPr>
          <p:cNvPr id="28" name="矩形: 圆角 21">
            <a:extLst>
              <a:ext uri="{FF2B5EF4-FFF2-40B4-BE49-F238E27FC236}">
                <a16:creationId xmlns:a16="http://schemas.microsoft.com/office/drawing/2014/main" id="{776A4F49-D489-7B54-253C-40D90A8E9284}"/>
              </a:ext>
            </a:extLst>
          </p:cNvPr>
          <p:cNvSpPr/>
          <p:nvPr/>
        </p:nvSpPr>
        <p:spPr>
          <a:xfrm>
            <a:off x="4883895" y="957989"/>
            <a:ext cx="2274258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3" name="矩形: 圆角 21">
            <a:extLst>
              <a:ext uri="{FF2B5EF4-FFF2-40B4-BE49-F238E27FC236}">
                <a16:creationId xmlns:a16="http://schemas.microsoft.com/office/drawing/2014/main" id="{F6466A6D-3F62-C95F-4089-7B93F26E4E4F}"/>
              </a:ext>
            </a:extLst>
          </p:cNvPr>
          <p:cNvSpPr/>
          <p:nvPr/>
        </p:nvSpPr>
        <p:spPr>
          <a:xfrm>
            <a:off x="1059365" y="957989"/>
            <a:ext cx="3824529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0" name="矩形: 圆角 21">
            <a:extLst>
              <a:ext uri="{FF2B5EF4-FFF2-40B4-BE49-F238E27FC236}">
                <a16:creationId xmlns:a16="http://schemas.microsoft.com/office/drawing/2014/main" id="{537EA026-27E4-5E50-5F7D-6A040F841640}"/>
              </a:ext>
            </a:extLst>
          </p:cNvPr>
          <p:cNvSpPr/>
          <p:nvPr/>
        </p:nvSpPr>
        <p:spPr>
          <a:xfrm>
            <a:off x="4943596" y="1017854"/>
            <a:ext cx="1127093" cy="872653"/>
          </a:xfrm>
          <a:prstGeom prst="roundRect">
            <a:avLst>
              <a:gd name="adj" fmla="val 24241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人气榜、好评榜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3" name="矩形: 圆角 21">
            <a:extLst>
              <a:ext uri="{FF2B5EF4-FFF2-40B4-BE49-F238E27FC236}">
                <a16:creationId xmlns:a16="http://schemas.microsoft.com/office/drawing/2014/main" id="{33B98819-095F-D685-5F85-D8C71D373B94}"/>
              </a:ext>
            </a:extLst>
          </p:cNvPr>
          <p:cNvSpPr/>
          <p:nvPr/>
        </p:nvSpPr>
        <p:spPr>
          <a:xfrm>
            <a:off x="4969096" y="1915680"/>
            <a:ext cx="1999450" cy="890115"/>
          </a:xfrm>
          <a:prstGeom prst="roundRect">
            <a:avLst>
              <a:gd name="adj" fmla="val 1850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销量榜、好评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口味等榜、热门榜、打卡人气榜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4" name="矩形: 圆角 21">
            <a:extLst>
              <a:ext uri="{FF2B5EF4-FFF2-40B4-BE49-F238E27FC236}">
                <a16:creationId xmlns:a16="http://schemas.microsoft.com/office/drawing/2014/main" id="{FE7B4779-4340-5BAD-B64C-295EE7B6A17B}"/>
              </a:ext>
            </a:extLst>
          </p:cNvPr>
          <p:cNvSpPr/>
          <p:nvPr/>
        </p:nvSpPr>
        <p:spPr>
          <a:xfrm>
            <a:off x="4933839" y="2848199"/>
            <a:ext cx="2034707" cy="893506"/>
          </a:xfrm>
          <a:prstGeom prst="roundRect">
            <a:avLst>
              <a:gd name="adj" fmla="val 2526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热销、回头客榜、好评榜、人气榜、收藏榜、点亮榜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5" name="矩形: 圆角 21">
            <a:extLst>
              <a:ext uri="{FF2B5EF4-FFF2-40B4-BE49-F238E27FC236}">
                <a16:creationId xmlns:a16="http://schemas.microsoft.com/office/drawing/2014/main" id="{B2040DC1-119E-13C2-3571-BF2DEA7C7CB7}"/>
              </a:ext>
            </a:extLst>
          </p:cNvPr>
          <p:cNvSpPr/>
          <p:nvPr/>
        </p:nvSpPr>
        <p:spPr>
          <a:xfrm>
            <a:off x="1194143" y="4195033"/>
            <a:ext cx="1663098" cy="4256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烟火小店、本地人爱去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6" name="矩形: 圆角 21">
            <a:extLst>
              <a:ext uri="{FF2B5EF4-FFF2-40B4-BE49-F238E27FC236}">
                <a16:creationId xmlns:a16="http://schemas.microsoft.com/office/drawing/2014/main" id="{8F07F32E-A959-0EE5-B7AE-4546BEA7F881}"/>
              </a:ext>
            </a:extLst>
          </p:cNvPr>
          <p:cNvSpPr/>
          <p:nvPr/>
        </p:nvSpPr>
        <p:spPr>
          <a:xfrm>
            <a:off x="1168956" y="2374835"/>
            <a:ext cx="1703804" cy="4309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当地人推荐、烟火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老店榜等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8" name="矩形: 圆角 21">
            <a:extLst>
              <a:ext uri="{FF2B5EF4-FFF2-40B4-BE49-F238E27FC236}">
                <a16:creationId xmlns:a16="http://schemas.microsoft.com/office/drawing/2014/main" id="{3FB46306-640F-DAB5-471D-34592AE5021D}"/>
              </a:ext>
            </a:extLst>
          </p:cNvPr>
          <p:cNvSpPr/>
          <p:nvPr/>
        </p:nvSpPr>
        <p:spPr>
          <a:xfrm>
            <a:off x="1194144" y="1416484"/>
            <a:ext cx="872329" cy="4274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</a:t>
            </a:r>
            <a:endParaRPr lang="en-US" altLang="zh-CN" sz="900" dirty="0">
              <a:solidFill>
                <a:schemeClr val="accent5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61" name="矩形: 圆角 21">
            <a:extLst>
              <a:ext uri="{FF2B5EF4-FFF2-40B4-BE49-F238E27FC236}">
                <a16:creationId xmlns:a16="http://schemas.microsoft.com/office/drawing/2014/main" id="{10C10CC4-17AB-08D4-F1F5-B8F21579599F}"/>
              </a:ext>
            </a:extLst>
          </p:cNvPr>
          <p:cNvSpPr/>
          <p:nvPr/>
        </p:nvSpPr>
        <p:spPr>
          <a:xfrm>
            <a:off x="1194143" y="3275539"/>
            <a:ext cx="1680561" cy="4661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烟火榜、本地人推荐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25Q4-26Q1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新增，仅高线）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3" name="矩形: 圆角 21">
            <a:extLst>
              <a:ext uri="{FF2B5EF4-FFF2-40B4-BE49-F238E27FC236}">
                <a16:creationId xmlns:a16="http://schemas.microsoft.com/office/drawing/2014/main" id="{9326DC1B-14C7-7A53-69E8-8E700B49103C}"/>
              </a:ext>
            </a:extLst>
          </p:cNvPr>
          <p:cNvSpPr/>
          <p:nvPr/>
        </p:nvSpPr>
        <p:spPr>
          <a:xfrm>
            <a:off x="4943596" y="3790267"/>
            <a:ext cx="2024950" cy="83046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轮胎磨损、回头客榜（多次前往）、热门榜</a:t>
            </a:r>
            <a:endParaRPr lang="en-US" altLang="zh-CN" sz="900" dirty="0">
              <a:solidFill>
                <a:srgbClr val="FF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3A34AA70-28EB-2CD9-A768-ED377EE3D674}"/>
              </a:ext>
            </a:extLst>
          </p:cNvPr>
          <p:cNvSpPr txBox="1"/>
          <p:nvPr/>
        </p:nvSpPr>
        <p:spPr>
          <a:xfrm>
            <a:off x="4852377" y="4724119"/>
            <a:ext cx="20131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用户行为指数入围排序</a:t>
            </a: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FDB072CD-99F7-DA82-BADA-ACE105F4FABA}"/>
              </a:ext>
            </a:extLst>
          </p:cNvPr>
          <p:cNvSpPr txBox="1"/>
          <p:nvPr/>
        </p:nvSpPr>
        <p:spPr>
          <a:xfrm>
            <a:off x="1266670" y="4732629"/>
            <a:ext cx="31439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主题场景相关性</a:t>
            </a:r>
            <a:r>
              <a:rPr lang="en-US" altLang="zh-CN" sz="900" dirty="0">
                <a:solidFill>
                  <a:schemeClr val="accent5"/>
                </a:solidFill>
                <a:latin typeface="+mn-ea"/>
              </a:rPr>
              <a:t>+</a:t>
            </a:r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用户行为综合入围排序</a:t>
            </a:r>
          </a:p>
        </p:txBody>
      </p:sp>
      <p:sp>
        <p:nvSpPr>
          <p:cNvPr id="224" name="矩形: 圆角 21">
            <a:extLst>
              <a:ext uri="{FF2B5EF4-FFF2-40B4-BE49-F238E27FC236}">
                <a16:creationId xmlns:a16="http://schemas.microsoft.com/office/drawing/2014/main" id="{E73C804F-B1A2-6F4A-6C90-02887C0549C7}"/>
              </a:ext>
            </a:extLst>
          </p:cNvPr>
          <p:cNvSpPr/>
          <p:nvPr/>
        </p:nvSpPr>
        <p:spPr>
          <a:xfrm>
            <a:off x="2927606" y="1017854"/>
            <a:ext cx="1696954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约会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聚会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亲子榜等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4" name="矩形: 圆角 21">
            <a:extLst>
              <a:ext uri="{FF2B5EF4-FFF2-40B4-BE49-F238E27FC236}">
                <a16:creationId xmlns:a16="http://schemas.microsoft.com/office/drawing/2014/main" id="{78AE23BE-11B0-B356-16CD-A1BFE64FEB3E}"/>
              </a:ext>
            </a:extLst>
          </p:cNvPr>
          <p:cNvSpPr/>
          <p:nvPr/>
        </p:nvSpPr>
        <p:spPr>
          <a:xfrm>
            <a:off x="2936442" y="3796320"/>
            <a:ext cx="1695057" cy="8350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主题餐厅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26Q1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新增，高线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9" name="矩形: 圆角 21">
            <a:extLst>
              <a:ext uri="{FF2B5EF4-FFF2-40B4-BE49-F238E27FC236}">
                <a16:creationId xmlns:a16="http://schemas.microsoft.com/office/drawing/2014/main" id="{CE605E40-3CFC-BAA3-4C39-0430795ECB17}"/>
              </a:ext>
            </a:extLst>
          </p:cNvPr>
          <p:cNvSpPr/>
          <p:nvPr/>
        </p:nvSpPr>
        <p:spPr>
          <a:xfrm>
            <a:off x="1194143" y="3823646"/>
            <a:ext cx="1663098" cy="3647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食仙榜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1" name="矩形: 圆角 21">
            <a:extLst>
              <a:ext uri="{FF2B5EF4-FFF2-40B4-BE49-F238E27FC236}">
                <a16:creationId xmlns:a16="http://schemas.microsoft.com/office/drawing/2014/main" id="{CC4ACFEC-7F55-BBFC-AD87-3E20AE93E342}"/>
              </a:ext>
            </a:extLst>
          </p:cNvPr>
          <p:cNvSpPr/>
          <p:nvPr/>
        </p:nvSpPr>
        <p:spPr>
          <a:xfrm>
            <a:off x="2936443" y="1898504"/>
            <a:ext cx="1696954" cy="9072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城市生活指南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6" name="矩形: 圆角 21">
            <a:extLst>
              <a:ext uri="{FF2B5EF4-FFF2-40B4-BE49-F238E27FC236}">
                <a16:creationId xmlns:a16="http://schemas.microsoft.com/office/drawing/2014/main" id="{0A4D2ADB-7CF8-C7A8-6A22-55603AA9B1B4}"/>
              </a:ext>
            </a:extLst>
          </p:cNvPr>
          <p:cNvSpPr/>
          <p:nvPr/>
        </p:nvSpPr>
        <p:spPr>
          <a:xfrm>
            <a:off x="1173341" y="1906441"/>
            <a:ext cx="1703804" cy="4532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特色菜、特色美食榜等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（高线为主，逐渐扩中低线）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8" name="矩形: 圆角 10">
            <a:extLst>
              <a:ext uri="{FF2B5EF4-FFF2-40B4-BE49-F238E27FC236}">
                <a16:creationId xmlns:a16="http://schemas.microsoft.com/office/drawing/2014/main" id="{8D5337B8-8086-B058-FA1A-D0D5BD2BBF0D}"/>
              </a:ext>
            </a:extLst>
          </p:cNvPr>
          <p:cNvSpPr/>
          <p:nvPr/>
        </p:nvSpPr>
        <p:spPr>
          <a:xfrm>
            <a:off x="448709" y="960531"/>
            <a:ext cx="429581" cy="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美团</a:t>
            </a:r>
          </a:p>
        </p:txBody>
      </p:sp>
      <p:sp>
        <p:nvSpPr>
          <p:cNvPr id="19" name="矩形: 圆角 13">
            <a:extLst>
              <a:ext uri="{FF2B5EF4-FFF2-40B4-BE49-F238E27FC236}">
                <a16:creationId xmlns:a16="http://schemas.microsoft.com/office/drawing/2014/main" id="{2E266E46-74C2-5925-0215-30E2D262F423}"/>
              </a:ext>
            </a:extLst>
          </p:cNvPr>
          <p:cNvSpPr/>
          <p:nvPr/>
        </p:nvSpPr>
        <p:spPr>
          <a:xfrm>
            <a:off x="448218" y="1905794"/>
            <a:ext cx="429581" cy="90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点评</a:t>
            </a:r>
          </a:p>
        </p:txBody>
      </p:sp>
      <p:sp>
        <p:nvSpPr>
          <p:cNvPr id="25" name="矩形: 圆角 14">
            <a:extLst>
              <a:ext uri="{FF2B5EF4-FFF2-40B4-BE49-F238E27FC236}">
                <a16:creationId xmlns:a16="http://schemas.microsoft.com/office/drawing/2014/main" id="{1E96AE16-69D0-AB30-C22E-C829342B5CCF}"/>
              </a:ext>
            </a:extLst>
          </p:cNvPr>
          <p:cNvSpPr/>
          <p:nvPr/>
        </p:nvSpPr>
        <p:spPr>
          <a:xfrm>
            <a:off x="451523" y="2851057"/>
            <a:ext cx="413872" cy="90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D+</a:t>
            </a:r>
            <a:endParaRPr lang="zh-CN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矩形: 圆角 14">
            <a:extLst>
              <a:ext uri="{FF2B5EF4-FFF2-40B4-BE49-F238E27FC236}">
                <a16:creationId xmlns:a16="http://schemas.microsoft.com/office/drawing/2014/main" id="{DA8AD9CC-AA9E-D4BA-6690-C38EAED648CE}"/>
              </a:ext>
            </a:extLst>
          </p:cNvPr>
          <p:cNvSpPr/>
          <p:nvPr/>
        </p:nvSpPr>
        <p:spPr>
          <a:xfrm>
            <a:off x="461605" y="3796320"/>
            <a:ext cx="403790" cy="90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B+</a:t>
            </a:r>
            <a:endParaRPr lang="zh-CN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: 圆角 21">
            <a:extLst>
              <a:ext uri="{FF2B5EF4-FFF2-40B4-BE49-F238E27FC236}">
                <a16:creationId xmlns:a16="http://schemas.microsoft.com/office/drawing/2014/main" id="{EFD36EFC-AE48-E024-AF83-28FD9D1177D6}"/>
              </a:ext>
            </a:extLst>
          </p:cNvPr>
          <p:cNvSpPr/>
          <p:nvPr/>
        </p:nvSpPr>
        <p:spPr>
          <a:xfrm>
            <a:off x="1194145" y="1017854"/>
            <a:ext cx="1675660" cy="3728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1" name="矩形: 圆角 21">
            <a:extLst>
              <a:ext uri="{FF2B5EF4-FFF2-40B4-BE49-F238E27FC236}">
                <a16:creationId xmlns:a16="http://schemas.microsoft.com/office/drawing/2014/main" id="{24C13260-1858-7E13-2B48-CC82E9E7F109}"/>
              </a:ext>
            </a:extLst>
          </p:cNvPr>
          <p:cNvSpPr/>
          <p:nvPr/>
        </p:nvSpPr>
        <p:spPr>
          <a:xfrm>
            <a:off x="2116418" y="1422714"/>
            <a:ext cx="740823" cy="43597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烟火榜等</a:t>
            </a:r>
            <a:endParaRPr lang="en-US" altLang="zh-CN" sz="900" dirty="0">
              <a:solidFill>
                <a:srgbClr val="C0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5" name="矩形: 圆角 21">
            <a:extLst>
              <a:ext uri="{FF2B5EF4-FFF2-40B4-BE49-F238E27FC236}">
                <a16:creationId xmlns:a16="http://schemas.microsoft.com/office/drawing/2014/main" id="{BA5DF595-EA94-0F7A-BE1B-523A38BFB0AA}"/>
              </a:ext>
            </a:extLst>
          </p:cNvPr>
          <p:cNvSpPr/>
          <p:nvPr/>
        </p:nvSpPr>
        <p:spPr>
          <a:xfrm>
            <a:off x="6130389" y="1049668"/>
            <a:ext cx="838157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回头客榜等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38" name="矩形: 圆角 21">
            <a:extLst>
              <a:ext uri="{FF2B5EF4-FFF2-40B4-BE49-F238E27FC236}">
                <a16:creationId xmlns:a16="http://schemas.microsoft.com/office/drawing/2014/main" id="{A7A7B102-3A76-786F-ACE2-06C4EBECCCC0}"/>
              </a:ext>
            </a:extLst>
          </p:cNvPr>
          <p:cNvSpPr/>
          <p:nvPr/>
        </p:nvSpPr>
        <p:spPr>
          <a:xfrm>
            <a:off x="7155553" y="957377"/>
            <a:ext cx="760825" cy="37018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9A2A012-A1A9-E772-E6A1-B76DEEFA23A8}"/>
              </a:ext>
            </a:extLst>
          </p:cNvPr>
          <p:cNvSpPr txBox="1"/>
          <p:nvPr/>
        </p:nvSpPr>
        <p:spPr>
          <a:xfrm>
            <a:off x="6983431" y="4732629"/>
            <a:ext cx="10391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荣誉评审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FA55B88-297A-7E2E-A6B2-23A0766D3EB0}"/>
              </a:ext>
            </a:extLst>
          </p:cNvPr>
          <p:cNvSpPr txBox="1"/>
          <p:nvPr/>
        </p:nvSpPr>
        <p:spPr>
          <a:xfrm>
            <a:off x="7189380" y="442658"/>
            <a:ext cx="72699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综合需求</a:t>
            </a:r>
            <a:endParaRPr lang="en-US" altLang="zh-CN" sz="9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9" name="矩形: 圆角 21">
            <a:extLst>
              <a:ext uri="{FF2B5EF4-FFF2-40B4-BE49-F238E27FC236}">
                <a16:creationId xmlns:a16="http://schemas.microsoft.com/office/drawing/2014/main" id="{72C4B27C-25E2-8703-0273-69D5843DF3C9}"/>
              </a:ext>
            </a:extLst>
          </p:cNvPr>
          <p:cNvSpPr/>
          <p:nvPr/>
        </p:nvSpPr>
        <p:spPr>
          <a:xfrm>
            <a:off x="7201183" y="1054743"/>
            <a:ext cx="630649" cy="83576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黑珍珠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0" name="矩形: 圆角 21">
            <a:extLst>
              <a:ext uri="{FF2B5EF4-FFF2-40B4-BE49-F238E27FC236}">
                <a16:creationId xmlns:a16="http://schemas.microsoft.com/office/drawing/2014/main" id="{7F60CD27-BA34-4BA3-0789-07AB3CD7818E}"/>
              </a:ext>
            </a:extLst>
          </p:cNvPr>
          <p:cNvSpPr/>
          <p:nvPr/>
        </p:nvSpPr>
        <p:spPr>
          <a:xfrm>
            <a:off x="7209118" y="1924734"/>
            <a:ext cx="625846" cy="88105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必吃榜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1" name="矩形: 圆角 21">
            <a:extLst>
              <a:ext uri="{FF2B5EF4-FFF2-40B4-BE49-F238E27FC236}">
                <a16:creationId xmlns:a16="http://schemas.microsoft.com/office/drawing/2014/main" id="{C9703710-8C8C-1171-0D28-DD474C64D59E}"/>
              </a:ext>
            </a:extLst>
          </p:cNvPr>
          <p:cNvSpPr/>
          <p:nvPr/>
        </p:nvSpPr>
        <p:spPr>
          <a:xfrm>
            <a:off x="7222063" y="2845702"/>
            <a:ext cx="618010" cy="89600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甄选榜、心动榜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2" name="矩形: 圆角 21">
            <a:extLst>
              <a:ext uri="{FF2B5EF4-FFF2-40B4-BE49-F238E27FC236}">
                <a16:creationId xmlns:a16="http://schemas.microsoft.com/office/drawing/2014/main" id="{5C7B06AF-4AC5-711F-D295-D84FA06DA232}"/>
              </a:ext>
            </a:extLst>
          </p:cNvPr>
          <p:cNvSpPr/>
          <p:nvPr/>
        </p:nvSpPr>
        <p:spPr>
          <a:xfrm>
            <a:off x="7219694" y="3796320"/>
            <a:ext cx="618010" cy="835004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状元榜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13425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A43EF69-9ED5-8BA6-D4EB-79A60860D49E}"/>
              </a:ext>
            </a:extLst>
          </p:cNvPr>
          <p:cNvSpPr txBox="1"/>
          <p:nvPr/>
        </p:nvSpPr>
        <p:spPr>
          <a:xfrm>
            <a:off x="483538" y="3642535"/>
            <a:ext cx="8509541" cy="891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/>
              <a:t>为找店决策用户，</a:t>
            </a:r>
            <a:r>
              <a:rPr lang="zh-CN" altLang="en-US" sz="1200" b="1" dirty="0"/>
              <a:t>提供匹配场景、持久信赖的高效一站式决策服务</a:t>
            </a:r>
            <a:r>
              <a:rPr lang="zh-CN" altLang="en-US" sz="1200" dirty="0"/>
              <a:t>。 同时为长效经营的商家，提供流量、背书及经营指引。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满足</a:t>
            </a:r>
            <a:r>
              <a:rPr lang="en-US" altLang="zh-CN" sz="1200" dirty="0"/>
              <a:t>C</a:t>
            </a:r>
            <a:r>
              <a:rPr lang="zh-CN" altLang="en-US" sz="1200" dirty="0"/>
              <a:t>端用户找店决策需求，通过榜单矩阵承接细分需求，完善规则传递信任，满足用户全链路、一致性的效率体验。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满足</a:t>
            </a:r>
            <a:r>
              <a:rPr lang="en-US" altLang="zh-CN" sz="1200" dirty="0"/>
              <a:t>B</a:t>
            </a:r>
            <a:r>
              <a:rPr lang="zh-CN" altLang="en-US" sz="1200" dirty="0"/>
              <a:t>端商家长效经营中的声量曝光、经营指引、服务辅导和真实资产及生意增长需求。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8957397F-5825-9312-8B7F-3CCDFB3657A4}"/>
              </a:ext>
            </a:extLst>
          </p:cNvPr>
          <p:cNvSpPr txBox="1">
            <a:spLocks/>
          </p:cNvSpPr>
          <p:nvPr/>
        </p:nvSpPr>
        <p:spPr>
          <a:xfrm>
            <a:off x="252000" y="32009"/>
            <a:ext cx="7664380" cy="427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zh-CN" altLang="en-US" sz="2100" dirty="0"/>
              <a:t>美团到餐榜单定位</a:t>
            </a:r>
          </a:p>
        </p:txBody>
      </p:sp>
      <p:sp>
        <p:nvSpPr>
          <p:cNvPr id="7" name="米菲PPT32-1">
            <a:extLst>
              <a:ext uri="{FF2B5EF4-FFF2-40B4-BE49-F238E27FC236}">
                <a16:creationId xmlns:a16="http://schemas.microsoft.com/office/drawing/2014/main" id="{4C5DA090-DCC9-828A-0C7B-0BDF547945A1}"/>
              </a:ext>
            </a:extLst>
          </p:cNvPr>
          <p:cNvSpPr>
            <a:spLocks noChangeAspect="1"/>
          </p:cNvSpPr>
          <p:nvPr/>
        </p:nvSpPr>
        <p:spPr>
          <a:xfrm>
            <a:off x="4073850" y="1816345"/>
            <a:ext cx="1007999" cy="100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闭环交履服务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1" name="米菲PPT32-1">
            <a:extLst>
              <a:ext uri="{FF2B5EF4-FFF2-40B4-BE49-F238E27FC236}">
                <a16:creationId xmlns:a16="http://schemas.microsoft.com/office/drawing/2014/main" id="{74B0D05D-F9F8-B7CA-397B-FB43A1D06CAD}"/>
              </a:ext>
            </a:extLst>
          </p:cNvPr>
          <p:cNvSpPr>
            <a:spLocks noChangeAspect="1"/>
          </p:cNvSpPr>
          <p:nvPr/>
        </p:nvSpPr>
        <p:spPr>
          <a:xfrm>
            <a:off x="7305092" y="1816345"/>
            <a:ext cx="1007999" cy="100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457200"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拓展场景覆盖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2" name="米菲PPT26-1">
            <a:extLst>
              <a:ext uri="{FF2B5EF4-FFF2-40B4-BE49-F238E27FC236}">
                <a16:creationId xmlns:a16="http://schemas.microsoft.com/office/drawing/2014/main" id="{79144A8E-E334-693F-117B-E98D191B7146}"/>
              </a:ext>
            </a:extLst>
          </p:cNvPr>
          <p:cNvSpPr/>
          <p:nvPr/>
        </p:nvSpPr>
        <p:spPr>
          <a:xfrm rot="5400000" flipV="1">
            <a:off x="4358345" y="-2049037"/>
            <a:ext cx="427309" cy="6338946"/>
          </a:xfrm>
          <a:prstGeom prst="roundRect">
            <a:avLst>
              <a:gd name="adj" fmla="val 11974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algn="ctr" defTabSz="457200"/>
            <a:r>
              <a:rPr lang="zh-CN" altLang="en-US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美团到餐榜单</a:t>
            </a:r>
            <a:endParaRPr lang="en-US" altLang="zh-CN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" name="米菲PPT24">
            <a:extLst>
              <a:ext uri="{FF2B5EF4-FFF2-40B4-BE49-F238E27FC236}">
                <a16:creationId xmlns:a16="http://schemas.microsoft.com/office/drawing/2014/main" id="{055D64C9-3E6D-3F20-AD2A-EF760D7F70E2}"/>
              </a:ext>
            </a:extLst>
          </p:cNvPr>
          <p:cNvSpPr txBox="1"/>
          <p:nvPr/>
        </p:nvSpPr>
        <p:spPr>
          <a:xfrm>
            <a:off x="6891606" y="2857710"/>
            <a:ext cx="1867452" cy="24622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0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榜单矩阵</a:t>
            </a:r>
            <a:endParaRPr lang="en-US" altLang="zh-CN" sz="1000" b="1" dirty="0">
              <a:solidFill>
                <a:schemeClr val="accent3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8" name="米菲PPT24">
            <a:extLst>
              <a:ext uri="{FF2B5EF4-FFF2-40B4-BE49-F238E27FC236}">
                <a16:creationId xmlns:a16="http://schemas.microsoft.com/office/drawing/2014/main" id="{9475044D-9BB7-B8CD-85D5-39052989DB65}"/>
              </a:ext>
            </a:extLst>
          </p:cNvPr>
          <p:cNvSpPr txBox="1"/>
          <p:nvPr/>
        </p:nvSpPr>
        <p:spPr>
          <a:xfrm>
            <a:off x="3812215" y="2857710"/>
            <a:ext cx="1552052" cy="24622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0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叫好又叫座</a:t>
            </a:r>
            <a:endParaRPr lang="en-US" altLang="zh-CN" sz="1000" b="1" dirty="0">
              <a:solidFill>
                <a:schemeClr val="accent3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6C7B91C4-09D0-C06B-4318-5B821FEB70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25332" y="181685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>
              <a:latin typeface="+mn-ea"/>
            </a:endParaRPr>
          </a:p>
        </p:txBody>
      </p:sp>
      <p:sp>
        <p:nvSpPr>
          <p:cNvPr id="15" name="米菲PPT32-1">
            <a:extLst>
              <a:ext uri="{FF2B5EF4-FFF2-40B4-BE49-F238E27FC236}">
                <a16:creationId xmlns:a16="http://schemas.microsoft.com/office/drawing/2014/main" id="{EFF2BC57-B6F1-13AA-5ABF-7FA47013BA12}"/>
              </a:ext>
            </a:extLst>
          </p:cNvPr>
          <p:cNvSpPr>
            <a:spLocks noChangeAspect="1"/>
          </p:cNvSpPr>
          <p:nvPr/>
        </p:nvSpPr>
        <p:spPr>
          <a:xfrm>
            <a:off x="937729" y="1827349"/>
            <a:ext cx="1007999" cy="100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强化核心资产</a:t>
            </a:r>
            <a:endParaRPr lang="en-US" altLang="zh-CN" sz="12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0" name="米菲PPT24">
            <a:extLst>
              <a:ext uri="{FF2B5EF4-FFF2-40B4-BE49-F238E27FC236}">
                <a16:creationId xmlns:a16="http://schemas.microsoft.com/office/drawing/2014/main" id="{0DD9525C-3B52-FD2B-6AEF-04820F68EA30}"/>
              </a:ext>
            </a:extLst>
          </p:cNvPr>
          <p:cNvSpPr txBox="1"/>
          <p:nvPr/>
        </p:nvSpPr>
        <p:spPr>
          <a:xfrm>
            <a:off x="937728" y="3077360"/>
            <a:ext cx="1007999" cy="24622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用户持久信赖</a:t>
            </a:r>
            <a:endParaRPr lang="en-US" altLang="zh-CN" sz="1000" b="1" dirty="0">
              <a:solidFill>
                <a:schemeClr val="bg1">
                  <a:lumMod val="50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32" name="右大括号 31">
            <a:extLst>
              <a:ext uri="{FF2B5EF4-FFF2-40B4-BE49-F238E27FC236}">
                <a16:creationId xmlns:a16="http://schemas.microsoft.com/office/drawing/2014/main" id="{6B182971-511B-53CE-25A9-DA79F22EF356}"/>
              </a:ext>
            </a:extLst>
          </p:cNvPr>
          <p:cNvSpPr/>
          <p:nvPr/>
        </p:nvSpPr>
        <p:spPr>
          <a:xfrm rot="16200000">
            <a:off x="4434416" y="-1640859"/>
            <a:ext cx="261333" cy="63527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米菲PPT24">
            <a:extLst>
              <a:ext uri="{FF2B5EF4-FFF2-40B4-BE49-F238E27FC236}">
                <a16:creationId xmlns:a16="http://schemas.microsoft.com/office/drawing/2014/main" id="{84E5974B-7238-B09C-034D-9E9E013D3830}"/>
              </a:ext>
            </a:extLst>
          </p:cNvPr>
          <p:cNvSpPr txBox="1"/>
          <p:nvPr/>
        </p:nvSpPr>
        <p:spPr>
          <a:xfrm>
            <a:off x="593856" y="2857710"/>
            <a:ext cx="1867452" cy="24622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0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时间积累</a:t>
            </a:r>
            <a:r>
              <a:rPr lang="en-US" altLang="zh-CN" sz="10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10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真实的多</a:t>
            </a:r>
            <a:r>
              <a:rPr lang="en-US" altLang="zh-CN" sz="10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GC</a:t>
            </a:r>
            <a:r>
              <a:rPr lang="zh-CN" altLang="en-US" sz="1000" b="1" dirty="0">
                <a:solidFill>
                  <a:schemeClr val="accent3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整合</a:t>
            </a:r>
            <a:endParaRPr lang="en-US" altLang="zh-CN" sz="1000" b="1" dirty="0">
              <a:solidFill>
                <a:schemeClr val="accent3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39" name="米菲PPT24">
            <a:extLst>
              <a:ext uri="{FF2B5EF4-FFF2-40B4-BE49-F238E27FC236}">
                <a16:creationId xmlns:a16="http://schemas.microsoft.com/office/drawing/2014/main" id="{53D1D454-378D-6139-B2C9-4835A0D985DA}"/>
              </a:ext>
            </a:extLst>
          </p:cNvPr>
          <p:cNvSpPr txBox="1"/>
          <p:nvPr/>
        </p:nvSpPr>
        <p:spPr>
          <a:xfrm>
            <a:off x="6993050" y="3071883"/>
            <a:ext cx="1664564" cy="24622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匹配更丰富的用户场景</a:t>
            </a:r>
            <a:endParaRPr lang="en-US" altLang="zh-CN" sz="1000" b="1" dirty="0">
              <a:solidFill>
                <a:schemeClr val="bg1">
                  <a:lumMod val="50000"/>
                </a:schemeClr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40" name="米菲PPT24">
            <a:extLst>
              <a:ext uri="{FF2B5EF4-FFF2-40B4-BE49-F238E27FC236}">
                <a16:creationId xmlns:a16="http://schemas.microsoft.com/office/drawing/2014/main" id="{3BBDAAEC-59FF-2111-B18B-9141D05F5E11}"/>
              </a:ext>
            </a:extLst>
          </p:cNvPr>
          <p:cNvSpPr txBox="1"/>
          <p:nvPr/>
        </p:nvSpPr>
        <p:spPr>
          <a:xfrm>
            <a:off x="3784765" y="3083400"/>
            <a:ext cx="1664564" cy="246221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+mn-ea"/>
                <a:sym typeface="MiSans Medium" panose="00000600000000000000" pitchFamily="2" charset="-122"/>
              </a:rPr>
              <a:t>高效一站式决策体验</a:t>
            </a:r>
            <a:endParaRPr lang="en-US" altLang="zh-CN" sz="1000" b="1" dirty="0">
              <a:solidFill>
                <a:schemeClr val="bg1">
                  <a:lumMod val="50000"/>
                </a:schemeClr>
              </a:solidFill>
              <a:latin typeface="+mn-ea"/>
              <a:sym typeface="MiSans Medium" panose="000006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041881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E0B3DB7-4015-1876-A01D-32BC9F25B38B}"/>
              </a:ext>
            </a:extLst>
          </p:cNvPr>
          <p:cNvSpPr/>
          <p:nvPr/>
        </p:nvSpPr>
        <p:spPr>
          <a:xfrm>
            <a:off x="6345646" y="1124734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上榜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获得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声量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A2132F-975D-62B3-8563-0E26ECB136C5}"/>
              </a:ext>
            </a:extLst>
          </p:cNvPr>
          <p:cNvSpPr/>
          <p:nvPr/>
        </p:nvSpPr>
        <p:spPr>
          <a:xfrm>
            <a:off x="6345646" y="1684196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矩阵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指引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经营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BDEE17-BA7D-0EF4-3C10-D6D990048501}"/>
              </a:ext>
            </a:extLst>
          </p:cNvPr>
          <p:cNvSpPr/>
          <p:nvPr/>
        </p:nvSpPr>
        <p:spPr>
          <a:xfrm>
            <a:off x="6351210" y="2293287"/>
            <a:ext cx="2129979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规则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提供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辅导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00C530F-5A62-6DA0-89D0-73FCA7C3F39D}"/>
              </a:ext>
            </a:extLst>
          </p:cNvPr>
          <p:cNvSpPr/>
          <p:nvPr/>
        </p:nvSpPr>
        <p:spPr>
          <a:xfrm>
            <a:off x="6353788" y="2852749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验榜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沉淀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资产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CDC056-F4E7-D7B4-7201-EA7BABC0EC23}"/>
              </a:ext>
            </a:extLst>
          </p:cNvPr>
          <p:cNvSpPr/>
          <p:nvPr/>
        </p:nvSpPr>
        <p:spPr>
          <a:xfrm>
            <a:off x="778720" y="2852092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验榜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闭环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体验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C9E86D-A6B0-382A-C1CC-0D57B114BC7A}"/>
              </a:ext>
            </a:extLst>
          </p:cNvPr>
          <p:cNvSpPr/>
          <p:nvPr/>
        </p:nvSpPr>
        <p:spPr>
          <a:xfrm>
            <a:off x="774132" y="2270219"/>
            <a:ext cx="2136812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规则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传递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信任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947791-6395-7A05-F130-304A401FD2DD}"/>
              </a:ext>
            </a:extLst>
          </p:cNvPr>
          <p:cNvSpPr/>
          <p:nvPr/>
        </p:nvSpPr>
        <p:spPr>
          <a:xfrm>
            <a:off x="775404" y="1688346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>
              <a:lnSpc>
                <a:spcPct val="12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  <a:sym typeface="MiSans Medium" panose="00000600000000000000" pitchFamily="2" charset="-122"/>
              </a:rPr>
              <a:t>矩阵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匹配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sym typeface="MiSans Medium" panose="00000600000000000000" pitchFamily="2" charset="-122"/>
              </a:rPr>
              <a:t>需求</a:t>
            </a:r>
            <a:endParaRPr lang="en-US" altLang="zh-CN" sz="1200" b="1" dirty="0">
              <a:solidFill>
                <a:srgbClr val="FF0000"/>
              </a:solidFill>
              <a:latin typeface="+mn-ea"/>
              <a:sym typeface="MiSans Medium" panose="00000600000000000000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8B2438-575C-B5A7-51DD-C63614922DDD}"/>
              </a:ext>
            </a:extLst>
          </p:cNvPr>
          <p:cNvSpPr/>
          <p:nvPr/>
        </p:nvSpPr>
        <p:spPr>
          <a:xfrm>
            <a:off x="775404" y="1106473"/>
            <a:ext cx="2138338" cy="4571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7800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看榜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提效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决策</a:t>
            </a:r>
            <a:endParaRPr lang="en-US" altLang="zh-CN" sz="1200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graphicFrame>
        <p:nvGraphicFramePr>
          <p:cNvPr id="5" name="对象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think-cell 幻灯片" r:id="rId5" imgW="0" imgH="0" progId="TCLayout.ActiveDocument.1">
                  <p:embed/>
                </p:oleObj>
              </mc:Choice>
              <mc:Fallback>
                <p:oleObj name="think-cell 幻灯片" r:id="rId5" imgW="0" imgH="0" progId="TCLayout.ActiveDocument.1">
                  <p:embed/>
                  <p:pic>
                    <p:nvPicPr>
                      <p:cNvPr id="5" name="对象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占位符 10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2100" b="0" dirty="0">
                <a:solidFill>
                  <a:schemeClr val="tx1"/>
                </a:solidFill>
                <a:latin typeface="+mj-ea"/>
                <a:ea typeface="+mj-ea"/>
                <a:cs typeface="+mj-cs"/>
              </a:rPr>
              <a:t>榜</a:t>
            </a:r>
            <a:r>
              <a:rPr lang="zh-CN" altLang="en-US" sz="2100" b="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rPr>
              <a:t>单</a:t>
            </a:r>
            <a:r>
              <a:rPr lang="en-US" altLang="zh-CN" sz="2100" b="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rPr>
              <a:t>C</a:t>
            </a:r>
            <a:r>
              <a:rPr lang="zh-CN" altLang="en-US" sz="2100" b="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rPr>
              <a:t>、</a:t>
            </a:r>
            <a:r>
              <a:rPr lang="en-US" altLang="zh-CN" sz="2100" b="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rPr>
              <a:t>B</a:t>
            </a:r>
            <a:r>
              <a:rPr lang="zh-CN" altLang="en-US" sz="2100" b="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rPr>
              <a:t>双边价值及目标</a:t>
            </a:r>
            <a:endParaRPr lang="en-US" altLang="zh-CN" sz="2100" b="0" dirty="0">
              <a:solidFill>
                <a:schemeClr val="tx1"/>
              </a:solidFill>
              <a:latin typeface="+mj-ea"/>
              <a:ea typeface="+mj-ea"/>
              <a:cs typeface="+mj-cs"/>
              <a:sym typeface="+mj-lt"/>
            </a:endParaRPr>
          </a:p>
        </p:txBody>
      </p:sp>
      <p:sp>
        <p:nvSpPr>
          <p:cNvPr id="68" name="米菲PPT13"/>
          <p:cNvSpPr/>
          <p:nvPr/>
        </p:nvSpPr>
        <p:spPr>
          <a:xfrm>
            <a:off x="866604" y="755112"/>
            <a:ext cx="7899843" cy="261158"/>
          </a:xfrm>
          <a:prstGeom prst="trapezoid">
            <a:avLst>
              <a:gd name="adj" fmla="val 153377"/>
            </a:avLst>
          </a:prstGeom>
          <a:noFill/>
          <a:ln w="1778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5" rIns="38405" bIns="19205" rtlCol="0" anchor="ctr"/>
          <a:lstStyle/>
          <a:p>
            <a:pPr algn="ctr" defTabSz="685800">
              <a:defRPr/>
            </a:pPr>
            <a:endParaRPr lang="zh-CN" altLang="en-US" sz="900" b="1" dirty="0">
              <a:solidFill>
                <a:prstClr val="white"/>
              </a:solidFill>
              <a:latin typeface="+mn-ea"/>
              <a:cs typeface="+mn-ea"/>
            </a:endParaRPr>
          </a:p>
        </p:txBody>
      </p:sp>
      <p:sp>
        <p:nvSpPr>
          <p:cNvPr id="82" name="米菲PPT56"/>
          <p:cNvSpPr/>
          <p:nvPr/>
        </p:nvSpPr>
        <p:spPr>
          <a:xfrm>
            <a:off x="847702" y="1163526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7" name="米菲PPT56"/>
          <p:cNvSpPr/>
          <p:nvPr/>
        </p:nvSpPr>
        <p:spPr>
          <a:xfrm>
            <a:off x="832099" y="2209226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cxnSp>
        <p:nvCxnSpPr>
          <p:cNvPr id="160" name="直接连接符 159"/>
          <p:cNvCxnSpPr/>
          <p:nvPr/>
        </p:nvCxnSpPr>
        <p:spPr>
          <a:xfrm>
            <a:off x="3782211" y="4835213"/>
            <a:ext cx="7784881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0" name="米菲PPT60"/>
          <p:cNvSpPr/>
          <p:nvPr/>
        </p:nvSpPr>
        <p:spPr>
          <a:xfrm>
            <a:off x="6445272" y="2324295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3" name="米菲PPT56"/>
          <p:cNvSpPr/>
          <p:nvPr/>
        </p:nvSpPr>
        <p:spPr>
          <a:xfrm>
            <a:off x="847702" y="1633426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4" name="米菲PPT56"/>
          <p:cNvSpPr/>
          <p:nvPr/>
        </p:nvSpPr>
        <p:spPr>
          <a:xfrm>
            <a:off x="854052" y="2287476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15" name="米菲PPT56"/>
          <p:cNvSpPr/>
          <p:nvPr/>
        </p:nvSpPr>
        <p:spPr>
          <a:xfrm>
            <a:off x="854052" y="2954226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noFill/>
          <a:ln w="508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7" name="米菲PPT56">
            <a:extLst>
              <a:ext uri="{FF2B5EF4-FFF2-40B4-BE49-F238E27FC236}">
                <a16:creationId xmlns:a16="http://schemas.microsoft.com/office/drawing/2014/main" id="{58B9C969-9492-2418-4ABA-C2863E9717F5}"/>
              </a:ext>
            </a:extLst>
          </p:cNvPr>
          <p:cNvSpPr/>
          <p:nvPr/>
        </p:nvSpPr>
        <p:spPr>
          <a:xfrm>
            <a:off x="854052" y="1299069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2" name="米菲PPT56">
            <a:extLst>
              <a:ext uri="{FF2B5EF4-FFF2-40B4-BE49-F238E27FC236}">
                <a16:creationId xmlns:a16="http://schemas.microsoft.com/office/drawing/2014/main" id="{FB31EBBB-D0FF-18D0-34AD-A55FEDAA4DAA}"/>
              </a:ext>
            </a:extLst>
          </p:cNvPr>
          <p:cNvSpPr/>
          <p:nvPr/>
        </p:nvSpPr>
        <p:spPr>
          <a:xfrm>
            <a:off x="847936" y="1884562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3" name="米菲PPT56">
            <a:extLst>
              <a:ext uri="{FF2B5EF4-FFF2-40B4-BE49-F238E27FC236}">
                <a16:creationId xmlns:a16="http://schemas.microsoft.com/office/drawing/2014/main" id="{949D1135-6246-D387-2534-377786E7413D}"/>
              </a:ext>
            </a:extLst>
          </p:cNvPr>
          <p:cNvSpPr/>
          <p:nvPr/>
        </p:nvSpPr>
        <p:spPr>
          <a:xfrm>
            <a:off x="847191" y="2458060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4" name="米菲PPT56">
            <a:extLst>
              <a:ext uri="{FF2B5EF4-FFF2-40B4-BE49-F238E27FC236}">
                <a16:creationId xmlns:a16="http://schemas.microsoft.com/office/drawing/2014/main" id="{B366FEBC-8C84-7999-4AFC-95034C284BA0}"/>
              </a:ext>
            </a:extLst>
          </p:cNvPr>
          <p:cNvSpPr/>
          <p:nvPr/>
        </p:nvSpPr>
        <p:spPr>
          <a:xfrm>
            <a:off x="853907" y="3052143"/>
            <a:ext cx="83572" cy="91718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5" name="米菲PPT60">
            <a:extLst>
              <a:ext uri="{FF2B5EF4-FFF2-40B4-BE49-F238E27FC236}">
                <a16:creationId xmlns:a16="http://schemas.microsoft.com/office/drawing/2014/main" id="{F7306C54-BDEB-02BC-F8B5-52D2C85243FE}"/>
              </a:ext>
            </a:extLst>
          </p:cNvPr>
          <p:cNvSpPr/>
          <p:nvPr/>
        </p:nvSpPr>
        <p:spPr>
          <a:xfrm>
            <a:off x="6437298" y="1320633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6" name="米菲PPT60">
            <a:extLst>
              <a:ext uri="{FF2B5EF4-FFF2-40B4-BE49-F238E27FC236}">
                <a16:creationId xmlns:a16="http://schemas.microsoft.com/office/drawing/2014/main" id="{F40855E1-CA06-ED9E-12B5-FEF1D10F6292}"/>
              </a:ext>
            </a:extLst>
          </p:cNvPr>
          <p:cNvSpPr/>
          <p:nvPr/>
        </p:nvSpPr>
        <p:spPr>
          <a:xfrm>
            <a:off x="6427847" y="1884562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7" name="米菲PPT60">
            <a:extLst>
              <a:ext uri="{FF2B5EF4-FFF2-40B4-BE49-F238E27FC236}">
                <a16:creationId xmlns:a16="http://schemas.microsoft.com/office/drawing/2014/main" id="{BB379777-776D-9F49-39D0-F6469E3FB97A}"/>
              </a:ext>
            </a:extLst>
          </p:cNvPr>
          <p:cNvSpPr/>
          <p:nvPr/>
        </p:nvSpPr>
        <p:spPr>
          <a:xfrm>
            <a:off x="6423333" y="2483199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18" name="米菲PPT60">
            <a:extLst>
              <a:ext uri="{FF2B5EF4-FFF2-40B4-BE49-F238E27FC236}">
                <a16:creationId xmlns:a16="http://schemas.microsoft.com/office/drawing/2014/main" id="{11BFEF1B-DF4D-13F9-F93F-FC77B5FD92DA}"/>
              </a:ext>
            </a:extLst>
          </p:cNvPr>
          <p:cNvSpPr/>
          <p:nvPr/>
        </p:nvSpPr>
        <p:spPr>
          <a:xfrm>
            <a:off x="6435673" y="3052143"/>
            <a:ext cx="86087" cy="86087"/>
          </a:xfrm>
          <a:custGeom>
            <a:avLst/>
            <a:gdLst>
              <a:gd name="connsiteX0" fmla="*/ 546100 w 1092200"/>
              <a:gd name="connsiteY0" fmla="*/ 0 h 1092200"/>
              <a:gd name="connsiteX1" fmla="*/ 0 w 1092200"/>
              <a:gd name="connsiteY1" fmla="*/ 546100 h 1092200"/>
              <a:gd name="connsiteX2" fmla="*/ 546100 w 1092200"/>
              <a:gd name="connsiteY2" fmla="*/ 1092200 h 1092200"/>
              <a:gd name="connsiteX3" fmla="*/ 1092200 w 1092200"/>
              <a:gd name="connsiteY3" fmla="*/ 546100 h 1092200"/>
              <a:gd name="connsiteX4" fmla="*/ 546100 w 1092200"/>
              <a:gd name="connsiteY4" fmla="*/ 0 h 1092200"/>
              <a:gd name="connsiteX5" fmla="*/ 319024 w 1092200"/>
              <a:gd name="connsiteY5" fmla="*/ 544576 h 1092200"/>
              <a:gd name="connsiteX6" fmla="*/ 265176 w 1092200"/>
              <a:gd name="connsiteY6" fmla="*/ 546477 h 1092200"/>
              <a:gd name="connsiteX7" fmla="*/ 265176 w 1092200"/>
              <a:gd name="connsiteY7" fmla="*/ 598424 h 1092200"/>
              <a:gd name="connsiteX8" fmla="*/ 417576 w 1092200"/>
              <a:gd name="connsiteY8" fmla="*/ 750824 h 1092200"/>
              <a:gd name="connsiteX9" fmla="*/ 471424 w 1092200"/>
              <a:gd name="connsiteY9" fmla="*/ 750824 h 1092200"/>
              <a:gd name="connsiteX10" fmla="*/ 827024 w 1092200"/>
              <a:gd name="connsiteY10" fmla="*/ 395224 h 1092200"/>
              <a:gd name="connsiteX11" fmla="*/ 825123 w 1092200"/>
              <a:gd name="connsiteY11" fmla="*/ 341376 h 1092200"/>
              <a:gd name="connsiteX12" fmla="*/ 773176 w 1092200"/>
              <a:gd name="connsiteY12" fmla="*/ 341376 h 1092200"/>
              <a:gd name="connsiteX13" fmla="*/ 444500 w 1092200"/>
              <a:gd name="connsiteY13" fmla="*/ 670052 h 109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2200" h="1092200">
                <a:moveTo>
                  <a:pt x="546100" y="0"/>
                </a:moveTo>
                <a:cubicBezTo>
                  <a:pt x="244500" y="0"/>
                  <a:pt x="0" y="244500"/>
                  <a:pt x="0" y="546100"/>
                </a:cubicBezTo>
                <a:cubicBezTo>
                  <a:pt x="0" y="847700"/>
                  <a:pt x="244500" y="1092200"/>
                  <a:pt x="546100" y="1092200"/>
                </a:cubicBezTo>
                <a:cubicBezTo>
                  <a:pt x="847700" y="1092200"/>
                  <a:pt x="1092200" y="847700"/>
                  <a:pt x="1092200" y="546100"/>
                </a:cubicBezTo>
                <a:cubicBezTo>
                  <a:pt x="1092200" y="244500"/>
                  <a:pt x="847700" y="0"/>
                  <a:pt x="546100" y="0"/>
                </a:cubicBezTo>
                <a:moveTo>
                  <a:pt x="319024" y="544576"/>
                </a:moveTo>
                <a:cubicBezTo>
                  <a:pt x="303629" y="530231"/>
                  <a:pt x="279521" y="531082"/>
                  <a:pt x="265176" y="546477"/>
                </a:cubicBezTo>
                <a:cubicBezTo>
                  <a:pt x="251542" y="561109"/>
                  <a:pt x="251542" y="583792"/>
                  <a:pt x="265176" y="598424"/>
                </a:cubicBezTo>
                <a:lnTo>
                  <a:pt x="417576" y="750824"/>
                </a:lnTo>
                <a:cubicBezTo>
                  <a:pt x="432451" y="765681"/>
                  <a:pt x="456549" y="765681"/>
                  <a:pt x="471424" y="750824"/>
                </a:cubicBezTo>
                <a:lnTo>
                  <a:pt x="827024" y="395224"/>
                </a:lnTo>
                <a:cubicBezTo>
                  <a:pt x="841369" y="379829"/>
                  <a:pt x="840518" y="355721"/>
                  <a:pt x="825123" y="341376"/>
                </a:cubicBezTo>
                <a:cubicBezTo>
                  <a:pt x="810491" y="327742"/>
                  <a:pt x="787808" y="327742"/>
                  <a:pt x="773176" y="341376"/>
                </a:cubicBezTo>
                <a:lnTo>
                  <a:pt x="444500" y="670052"/>
                </a:lnTo>
                <a:close/>
              </a:path>
            </a:pathLst>
          </a:custGeom>
          <a:solidFill>
            <a:schemeClr val="accent2"/>
          </a:solidFill>
          <a:ln w="5080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4ACA930-7C68-C579-DAB3-27D7D7B4E9A0}"/>
              </a:ext>
            </a:extLst>
          </p:cNvPr>
          <p:cNvSpPr/>
          <p:nvPr/>
        </p:nvSpPr>
        <p:spPr>
          <a:xfrm>
            <a:off x="775404" y="775665"/>
            <a:ext cx="2135543" cy="234094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用户需求及价值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4C5CCB6-266C-08A4-C3FE-4122E9112CEC}"/>
              </a:ext>
            </a:extLst>
          </p:cNvPr>
          <p:cNvSpPr/>
          <p:nvPr/>
        </p:nvSpPr>
        <p:spPr>
          <a:xfrm>
            <a:off x="6345646" y="771012"/>
            <a:ext cx="2135543" cy="234094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商家需求及价值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F106959-DBD7-E889-0ADA-BF70CCB8133C}"/>
              </a:ext>
            </a:extLst>
          </p:cNvPr>
          <p:cNvSpPr/>
          <p:nvPr/>
        </p:nvSpPr>
        <p:spPr>
          <a:xfrm>
            <a:off x="2986040" y="1110810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完善用户决策动线，提升用户心智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加强商家流量及身份荣誉感知</a:t>
            </a:r>
            <a:endParaRPr lang="en-US" altLang="zh-CN" sz="10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E3414CA-B11E-C664-66EB-9EAEE96C3BB7}"/>
              </a:ext>
            </a:extLst>
          </p:cNvPr>
          <p:cNvSpPr/>
          <p:nvPr/>
        </p:nvSpPr>
        <p:spPr>
          <a:xfrm>
            <a:off x="2994317" y="1677843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Medium" panose="00000600000000000000" pitchFamily="2" charset="-122"/>
              </a:rPr>
              <a:t>基于需求完善榜单矩阵，合理扩大供给覆盖</a:t>
            </a:r>
            <a:endParaRPr lang="en-US" altLang="zh-CN" sz="1200" b="1" dirty="0">
              <a:solidFill>
                <a:schemeClr val="tx1"/>
              </a:solidFill>
              <a:latin typeface="+mn-ea"/>
              <a:sym typeface="MiSans Medium" panose="00000600000000000000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71B25B2-39DE-F4F3-EF85-19BA89FB0D93}"/>
              </a:ext>
            </a:extLst>
          </p:cNvPr>
          <p:cNvSpPr/>
          <p:nvPr/>
        </p:nvSpPr>
        <p:spPr>
          <a:xfrm>
            <a:off x="2994317" y="2289333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优化榜单规则及引用资产建设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加强商户辅导，提升公信力及牵引力</a:t>
            </a:r>
            <a:endParaRPr lang="en-US" altLang="zh-CN" sz="1200" b="1" dirty="0">
              <a:solidFill>
                <a:schemeClr val="tx1"/>
              </a:solidFill>
              <a:latin typeface="+mn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261D388-8006-92A5-EC2B-9A5CC761B7CE}"/>
              </a:ext>
            </a:extLst>
          </p:cNvPr>
          <p:cNvSpPr/>
          <p:nvPr/>
        </p:nvSpPr>
        <p:spPr>
          <a:xfrm>
            <a:off x="3000339" y="2849405"/>
            <a:ext cx="3273520" cy="457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加强决策转化，强调线上线下体验一致性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91DFCF5-4906-6E5D-1BD0-C7EEC16520E8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flipH="1" flipV="1">
            <a:off x="1842538" y="2727367"/>
            <a:ext cx="5351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5A6C7D2-4E6D-6E3B-5912-EC90E07735B1}"/>
              </a:ext>
            </a:extLst>
          </p:cNvPr>
          <p:cNvCxnSpPr>
            <a:cxnSpLocks/>
            <a:stCxn id="21" idx="0"/>
            <a:endCxn id="20" idx="2"/>
          </p:cNvCxnSpPr>
          <p:nvPr/>
        </p:nvCxnSpPr>
        <p:spPr>
          <a:xfrm flipV="1">
            <a:off x="1842538" y="2145494"/>
            <a:ext cx="2035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878A6FD-61DC-09AB-73F8-77D14B9BC9C5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V="1">
            <a:off x="1844573" y="1563621"/>
            <a:ext cx="0" cy="12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CF4D34D9-55DE-5383-485E-17A45D3F366A}"/>
              </a:ext>
            </a:extLst>
          </p:cNvPr>
          <p:cNvCxnSpPr>
            <a:stCxn id="19" idx="1"/>
            <a:endCxn id="22" idx="1"/>
          </p:cNvCxnSpPr>
          <p:nvPr/>
        </p:nvCxnSpPr>
        <p:spPr>
          <a:xfrm rot="10800000" flipH="1" flipV="1">
            <a:off x="775404" y="1335046"/>
            <a:ext cx="3316" cy="1745619"/>
          </a:xfrm>
          <a:prstGeom prst="bentConnector3">
            <a:avLst>
              <a:gd name="adj1" fmla="val -68938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C6B307FE-87C5-64F2-2588-6F391A654358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H="1" flipV="1">
            <a:off x="7416200" y="2750435"/>
            <a:ext cx="6757" cy="10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C16CC69-2DD0-306B-2103-D179DDBD685C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H="1" flipV="1">
            <a:off x="7414815" y="2141344"/>
            <a:ext cx="1385" cy="15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EBE1FA5-6AA2-B235-25DC-E20ED725F075}"/>
              </a:ext>
            </a:extLst>
          </p:cNvPr>
          <p:cNvCxnSpPr>
            <a:cxnSpLocks/>
            <a:stCxn id="24" idx="0"/>
            <a:endCxn id="23" idx="2"/>
          </p:cNvCxnSpPr>
          <p:nvPr/>
        </p:nvCxnSpPr>
        <p:spPr>
          <a:xfrm flipV="1">
            <a:off x="7414815" y="1581882"/>
            <a:ext cx="0" cy="10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611A6488-B114-DD7A-557F-E6E23516E43D}"/>
              </a:ext>
            </a:extLst>
          </p:cNvPr>
          <p:cNvCxnSpPr>
            <a:cxnSpLocks/>
            <a:stCxn id="23" idx="3"/>
            <a:endCxn id="26" idx="3"/>
          </p:cNvCxnSpPr>
          <p:nvPr/>
        </p:nvCxnSpPr>
        <p:spPr>
          <a:xfrm>
            <a:off x="8483984" y="1353308"/>
            <a:ext cx="8142" cy="1728015"/>
          </a:xfrm>
          <a:prstGeom prst="bentConnector3">
            <a:avLst>
              <a:gd name="adj1" fmla="val 22954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3401BDD-6342-7A63-B4F0-DFF34662A51E}"/>
              </a:ext>
            </a:extLst>
          </p:cNvPr>
          <p:cNvSpPr/>
          <p:nvPr/>
        </p:nvSpPr>
        <p:spPr>
          <a:xfrm>
            <a:off x="2986040" y="782176"/>
            <a:ext cx="3273520" cy="234094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榜单运营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269BFCF-D887-C934-B5C3-14CA84A30D98}"/>
              </a:ext>
            </a:extLst>
          </p:cNvPr>
          <p:cNvSpPr/>
          <p:nvPr/>
        </p:nvSpPr>
        <p:spPr>
          <a:xfrm>
            <a:off x="585438" y="3738969"/>
            <a:ext cx="8181009" cy="730993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主要目标：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完善榜单矩阵 ，扩供给覆盖，</a:t>
            </a:r>
            <a:r>
              <a:rPr lang="zh-CN" altLang="en-US" sz="1200" b="1" dirty="0">
                <a:solidFill>
                  <a:schemeClr val="tx1"/>
                </a:solidFill>
                <a:effectLst/>
              </a:rPr>
              <a:t>上榜门店覆盖率</a:t>
            </a:r>
            <a:r>
              <a:rPr lang="en-US" altLang="zh-CN" sz="1200" b="1" dirty="0">
                <a:solidFill>
                  <a:schemeClr val="tx1"/>
                </a:solidFill>
                <a:effectLst/>
              </a:rPr>
              <a:t>17.1% 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，其中</a:t>
            </a:r>
            <a:r>
              <a:rPr lang="zh-CN" altLang="en-US" sz="1200" b="1" dirty="0">
                <a:solidFill>
                  <a:schemeClr val="tx1"/>
                </a:solidFill>
                <a:effectLst/>
              </a:rPr>
              <a:t>核心商户上榜覆盖率</a:t>
            </a:r>
            <a:r>
              <a:rPr lang="en-US" altLang="zh-CN" sz="1200" b="1" dirty="0">
                <a:solidFill>
                  <a:schemeClr val="tx1"/>
                </a:solidFill>
                <a:effectLst/>
              </a:rPr>
              <a:t>87.5% 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；优化榜单规则及资产建设，加强对核心资产引用，加强商户辅导，提升公信力刺激转化；商家流量及身份荣誉感知，完善用户决策动线提升用户心智，</a:t>
            </a:r>
            <a:r>
              <a:rPr lang="zh-CN" altLang="en-US" sz="1200" b="1" dirty="0">
                <a:solidFill>
                  <a:schemeClr val="tx1"/>
                </a:solidFill>
                <a:effectLst/>
              </a:rPr>
              <a:t>榜单意向</a:t>
            </a:r>
            <a:r>
              <a:rPr lang="en-US" altLang="zh-CN" sz="1200" b="1" dirty="0">
                <a:solidFill>
                  <a:schemeClr val="tx1"/>
                </a:solidFill>
                <a:effectLst/>
              </a:rPr>
              <a:t>UV</a:t>
            </a:r>
            <a:r>
              <a:rPr lang="zh-CN" altLang="en-US" sz="1200" b="1" dirty="0">
                <a:solidFill>
                  <a:schemeClr val="tx1"/>
                </a:solidFill>
                <a:effectLst/>
              </a:rPr>
              <a:t>渗透达</a:t>
            </a:r>
            <a:r>
              <a:rPr lang="en-US" altLang="zh-CN" sz="1200" b="1" dirty="0">
                <a:solidFill>
                  <a:schemeClr val="tx1"/>
                </a:solidFill>
                <a:effectLst/>
              </a:rPr>
              <a:t>5%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。</a:t>
            </a:r>
            <a:endParaRPr lang="en-US" altLang="zh-CN" sz="12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D440A-4B3E-18BF-24E9-402CF65B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FA572-AE23-A270-1FF4-4964B52D9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74344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榜单数据现状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9F0E78-5E9D-40B6-23B5-C06EB3B8D3C7}"/>
              </a:ext>
            </a:extLst>
          </p:cNvPr>
          <p:cNvSpPr txBox="1"/>
          <p:nvPr/>
        </p:nvSpPr>
        <p:spPr>
          <a:xfrm>
            <a:off x="307265" y="488277"/>
            <a:ext cx="8373183" cy="1322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latin typeface="+mn-ea"/>
              </a:rPr>
              <a:t>上榜商户规模及覆盖：</a:t>
            </a:r>
            <a:r>
              <a:rPr lang="en-US" altLang="zh-CN" sz="1100" dirty="0">
                <a:latin typeface="+mn-ea"/>
              </a:rPr>
              <a:t>1</a:t>
            </a:r>
            <a:r>
              <a:rPr lang="zh-CN" altLang="en-US" sz="1100" dirty="0">
                <a:latin typeface="+mn-ea"/>
              </a:rPr>
              <a:t>月上涨美团侧主要来自于区域扩充及品类丰富，点评侧持续增长主要来自于发布新店榜及五榜覆盖做功。</a:t>
            </a:r>
            <a:r>
              <a:rPr lang="en-US" altLang="zh-CN" sz="1100" dirty="0">
                <a:latin typeface="+mn-ea"/>
              </a:rPr>
              <a:t> 2</a:t>
            </a:r>
            <a:r>
              <a:rPr lang="zh-CN" altLang="en-US" sz="1100" dirty="0">
                <a:latin typeface="+mn-ea"/>
              </a:rPr>
              <a:t>月受春节影响有所回落。</a:t>
            </a:r>
            <a:endParaRPr lang="en-US" altLang="zh-CN" sz="1100" dirty="0">
              <a:latin typeface="+mn-ea"/>
            </a:endParaRPr>
          </a:p>
          <a:p>
            <a:pPr marL="171450" marR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latin typeface="+mn-ea"/>
              </a:rPr>
              <a:t>榜单用户规模及渗透：</a:t>
            </a:r>
            <a:r>
              <a:rPr lang="en-US" altLang="zh-CN" sz="1100" dirty="0">
                <a:latin typeface="+mn-ea"/>
              </a:rPr>
              <a:t>1</a:t>
            </a:r>
            <a:r>
              <a:rPr lang="zh-CN" altLang="en-US" sz="1100" dirty="0">
                <a:latin typeface="+mn-ea"/>
              </a:rPr>
              <a:t>月、</a:t>
            </a:r>
            <a:r>
              <a:rPr lang="en-US" altLang="zh-CN" sz="1100" dirty="0">
                <a:latin typeface="+mn-ea"/>
              </a:rPr>
              <a:t>2</a:t>
            </a:r>
            <a:r>
              <a:rPr lang="zh-CN" altLang="en-US" sz="1100" dirty="0">
                <a:latin typeface="+mn-ea"/>
              </a:rPr>
              <a:t>月均呈现显著增长趋势，其中</a:t>
            </a:r>
            <a:r>
              <a:rPr lang="en-US" altLang="zh-CN" sz="1100" dirty="0">
                <a:latin typeface="+mn-ea"/>
              </a:rPr>
              <a:t>2</a:t>
            </a:r>
            <a:r>
              <a:rPr lang="zh-CN" altLang="en-US" sz="1100" dirty="0">
                <a:latin typeface="+mn-ea"/>
              </a:rPr>
              <a:t>月受春节带动迎来爆发式增长。双平台优化榜单承接用户找店决策需求动线，</a:t>
            </a:r>
            <a:r>
              <a:rPr lang="en-US" altLang="zh-CN" sz="1100" dirty="0">
                <a:latin typeface="+mn-ea"/>
              </a:rPr>
              <a:t>2</a:t>
            </a:r>
            <a:r>
              <a:rPr lang="zh-CN" altLang="en-US" sz="1100" dirty="0">
                <a:latin typeface="+mn-ea"/>
              </a:rPr>
              <a:t>月较</a:t>
            </a:r>
            <a:r>
              <a:rPr lang="en-US" altLang="zh-CN" sz="1100" dirty="0">
                <a:latin typeface="+mn-ea"/>
              </a:rPr>
              <a:t>12</a:t>
            </a:r>
            <a:r>
              <a:rPr lang="zh-CN" altLang="en-US" sz="1100" dirty="0">
                <a:latin typeface="+mn-ea"/>
              </a:rPr>
              <a:t>月榜单落地页意向</a:t>
            </a:r>
            <a:r>
              <a:rPr lang="en" altLang="zh-CN" sz="1100" dirty="0">
                <a:latin typeface="+mn-ea"/>
              </a:rPr>
              <a:t>UV</a:t>
            </a:r>
            <a:r>
              <a:rPr lang="zh-CN" altLang="en-US" sz="1100" dirty="0">
                <a:latin typeface="+mn-ea"/>
              </a:rPr>
              <a:t>渗透率提升</a:t>
            </a:r>
            <a:r>
              <a:rPr lang="en-US" altLang="zh-CN" sz="1100" dirty="0">
                <a:latin typeface="+mn-ea"/>
              </a:rPr>
              <a:t>1.52</a:t>
            </a:r>
            <a:r>
              <a:rPr lang="en" altLang="zh-CN" sz="1100" dirty="0">
                <a:latin typeface="+mn-ea"/>
              </a:rPr>
              <a:t>pp</a:t>
            </a:r>
            <a:r>
              <a:rPr lang="zh-CN" altLang="en-US" sz="1100" dirty="0">
                <a:latin typeface="+mn-ea"/>
              </a:rPr>
              <a:t>。</a:t>
            </a:r>
            <a:endParaRPr lang="en-US" altLang="zh-CN" sz="11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1" dirty="0">
                <a:latin typeface="+mn-ea"/>
              </a:rPr>
              <a:t>榜单转化：</a:t>
            </a:r>
            <a:r>
              <a:rPr lang="zh-CN" altLang="en-US" sz="1100" dirty="0">
                <a:latin typeface="+mn-ea"/>
              </a:rPr>
              <a:t>美团侧的到店率和访购率较高，应持续强化其</a:t>
            </a:r>
            <a:r>
              <a:rPr lang="zh-CN" altLang="en-US" sz="11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闭环交履服务定位。</a:t>
            </a:r>
            <a:endParaRPr lang="en-US" altLang="zh-CN" sz="11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28B8F56-8ACA-4C2F-945E-F93E24B6F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40033"/>
              </p:ext>
            </p:extLst>
          </p:nvPr>
        </p:nvGraphicFramePr>
        <p:xfrm>
          <a:off x="307264" y="1904163"/>
          <a:ext cx="8373184" cy="28075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74">
                  <a:extLst>
                    <a:ext uri="{9D8B030D-6E8A-4147-A177-3AD203B41FA5}">
                      <a16:colId xmlns:a16="http://schemas.microsoft.com/office/drawing/2014/main" val="11720460"/>
                    </a:ext>
                  </a:extLst>
                </a:gridCol>
                <a:gridCol w="771131">
                  <a:extLst>
                    <a:ext uri="{9D8B030D-6E8A-4147-A177-3AD203B41FA5}">
                      <a16:colId xmlns:a16="http://schemas.microsoft.com/office/drawing/2014/main" val="1897699934"/>
                    </a:ext>
                  </a:extLst>
                </a:gridCol>
                <a:gridCol w="369956">
                  <a:extLst>
                    <a:ext uri="{9D8B030D-6E8A-4147-A177-3AD203B41FA5}">
                      <a16:colId xmlns:a16="http://schemas.microsoft.com/office/drawing/2014/main" val="388968089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2237017451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2053007063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12160388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1285049556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1772048945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3209381316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4131779458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2182507432"/>
                    </a:ext>
                  </a:extLst>
                </a:gridCol>
                <a:gridCol w="588374">
                  <a:extLst>
                    <a:ext uri="{9D8B030D-6E8A-4147-A177-3AD203B41FA5}">
                      <a16:colId xmlns:a16="http://schemas.microsoft.com/office/drawing/2014/main" val="864794449"/>
                    </a:ext>
                  </a:extLst>
                </a:gridCol>
                <a:gridCol w="474711">
                  <a:extLst>
                    <a:ext uri="{9D8B030D-6E8A-4147-A177-3AD203B41FA5}">
                      <a16:colId xmlns:a16="http://schemas.microsoft.com/office/drawing/2014/main" val="955993640"/>
                    </a:ext>
                  </a:extLst>
                </a:gridCol>
                <a:gridCol w="436823">
                  <a:extLst>
                    <a:ext uri="{9D8B030D-6E8A-4147-A177-3AD203B41FA5}">
                      <a16:colId xmlns:a16="http://schemas.microsoft.com/office/drawing/2014/main" val="4120657922"/>
                    </a:ext>
                  </a:extLst>
                </a:gridCol>
                <a:gridCol w="436823">
                  <a:extLst>
                    <a:ext uri="{9D8B030D-6E8A-4147-A177-3AD203B41FA5}">
                      <a16:colId xmlns:a16="http://schemas.microsoft.com/office/drawing/2014/main" val="994397388"/>
                    </a:ext>
                  </a:extLst>
                </a:gridCol>
              </a:tblGrid>
              <a:tr h="184125">
                <a:tc rowSpan="2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u="none" strike="noStrike" dirty="0">
                          <a:effectLst/>
                        </a:rPr>
                        <a:t>到餐整体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12</a:t>
                      </a:r>
                      <a:r>
                        <a:rPr lang="zh-CN" altLang="en-US" sz="700" u="none" strike="noStrike" dirty="0">
                          <a:effectLst/>
                        </a:rPr>
                        <a:t>月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>
                          <a:effectLst/>
                        </a:rPr>
                        <a:t>1</a:t>
                      </a:r>
                      <a:r>
                        <a:rPr lang="zh-CN" altLang="en-US" sz="700" u="none" strike="noStrike">
                          <a:effectLst/>
                        </a:rPr>
                        <a:t>月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>
                          <a:effectLst/>
                        </a:rPr>
                        <a:t>2</a:t>
                      </a:r>
                      <a:r>
                        <a:rPr lang="zh-CN" altLang="en-US" sz="700" u="none" strike="noStrike">
                          <a:effectLst/>
                        </a:rPr>
                        <a:t>月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月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vs 12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月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697176"/>
                  </a:ext>
                </a:extLst>
              </a:tr>
              <a:tr h="357838">
                <a:tc gridSpan="3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整体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美团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点评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整体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美团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点评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整体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美团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点评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整体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美团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点评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99841"/>
                  </a:ext>
                </a:extLst>
              </a:tr>
              <a:tr h="184125"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榜单覆盖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808021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上榜商户数，万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125.8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88.9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92.1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130.1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89.4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98.0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126.2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85.6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94.7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0.30%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-3.69%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2.78%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877575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上榜商户占比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10.3%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10.7%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10.5%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11.6%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10.2%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11.3%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0.42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-0.13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0.58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404797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u="none" strike="noStrike" dirty="0">
                          <a:effectLst/>
                        </a:rPr>
                        <a:t>核心上榜商户占比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93.3%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85.8%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81.5%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93.6%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86.0%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82.4%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89.9%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79.8%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81.1%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-3.38pp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-6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.00</a:t>
                      </a:r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-0.41pp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269166"/>
                  </a:ext>
                </a:extLst>
              </a:tr>
              <a:tr h="189223"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榜单流量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13745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</a:t>
                      </a:r>
                      <a:r>
                        <a:rPr lang="en" sz="700" u="none" strike="noStrike" dirty="0">
                          <a:effectLst/>
                        </a:rPr>
                        <a:t>DAU</a:t>
                      </a:r>
                      <a:r>
                        <a:rPr lang="zh-CN" altLang="en-US" sz="700" u="none" strike="noStrike" dirty="0">
                          <a:effectLst/>
                        </a:rPr>
                        <a:t>，万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3,029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1,628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1,397 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3,076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1,624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1,449 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3,495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1,911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1,581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15.37%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17.42%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13.17%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538341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榜单意向</a:t>
                      </a:r>
                      <a:r>
                        <a:rPr lang="en" sz="700" u="none" strike="noStrike" dirty="0">
                          <a:effectLst/>
                        </a:rPr>
                        <a:t>UV</a:t>
                      </a:r>
                      <a:r>
                        <a:rPr lang="zh-CN" altLang="en-US" sz="700" u="none" strike="noStrike" dirty="0">
                          <a:effectLst/>
                        </a:rPr>
                        <a:t>，万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1,259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664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594 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1,429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756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671 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1,734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911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KaiTi" panose="02010609060101010101" pitchFamily="49" charset="-122"/>
                        </a:rPr>
                        <a:t>821 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37.67%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37.21%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38.37%</a:t>
                      </a: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345300"/>
                  </a:ext>
                </a:extLst>
              </a:tr>
              <a:tr h="189223"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榜单流量转化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　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1" i="0" u="none" strike="noStrike" dirty="0">
                        <a:solidFill>
                          <a:srgbClr val="00B050"/>
                        </a:solidFill>
                        <a:effectLst/>
                        <a:latin typeface="+mn-lt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84715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榜单落地页</a:t>
                      </a:r>
                      <a:r>
                        <a:rPr lang="en-US" altLang="zh-CN" sz="700" u="none" strike="noStrike" dirty="0">
                          <a:effectLst/>
                        </a:rPr>
                        <a:t>-</a:t>
                      </a:r>
                      <a:r>
                        <a:rPr lang="zh-CN" altLang="en-US" sz="700" u="none" strike="noStrike" dirty="0">
                          <a:effectLst/>
                        </a:rPr>
                        <a:t>意向</a:t>
                      </a:r>
                      <a:r>
                        <a:rPr lang="en" sz="700" u="none" strike="noStrike" dirty="0">
                          <a:effectLst/>
                        </a:rPr>
                        <a:t>UV</a:t>
                      </a:r>
                      <a:r>
                        <a:rPr lang="zh-CN" altLang="en-US" sz="700" u="none" strike="noStrike" dirty="0">
                          <a:effectLst/>
                        </a:rPr>
                        <a:t>渗透率</a:t>
                      </a:r>
                      <a:r>
                        <a:rPr lang="en-US" altLang="zh-CN" sz="700" u="none" strike="noStrike" dirty="0">
                          <a:effectLst/>
                        </a:rPr>
                        <a:t>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2.5%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7.0%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2.9%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7.9%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3.6%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10.0%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1.52</a:t>
                      </a:r>
                      <a:r>
                        <a:rPr lang="en" altLang="zh-CN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1.04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3.02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40052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榜单落地页</a:t>
                      </a:r>
                      <a:r>
                        <a:rPr lang="en-US" altLang="zh-CN" sz="700" u="none" strike="noStrike" dirty="0">
                          <a:effectLst/>
                        </a:rPr>
                        <a:t>-</a:t>
                      </a:r>
                      <a:r>
                        <a:rPr lang="zh-CN" altLang="en-US" sz="700" u="none" strike="noStrike" dirty="0">
                          <a:effectLst/>
                        </a:rPr>
                        <a:t>意向转化率</a:t>
                      </a:r>
                      <a:r>
                        <a:rPr lang="en-US" altLang="zh-CN" sz="700" u="none" strike="noStrike" dirty="0">
                          <a:effectLst/>
                        </a:rPr>
                        <a:t>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40.8%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42.5%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46.6%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46.3%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49.6%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47.7%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52.0%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8.04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6.88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9.47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489994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榜单落地页</a:t>
                      </a:r>
                      <a:r>
                        <a:rPr lang="en-US" altLang="zh-CN" sz="700" u="none" strike="noStrike" dirty="0">
                          <a:effectLst/>
                        </a:rPr>
                        <a:t>-7</a:t>
                      </a:r>
                      <a:r>
                        <a:rPr lang="zh-CN" altLang="en-US" sz="700" u="none" strike="noStrike" dirty="0">
                          <a:effectLst/>
                        </a:rPr>
                        <a:t>日到店率</a:t>
                      </a:r>
                      <a:r>
                        <a:rPr lang="en-US" altLang="zh-CN" sz="700" u="none" strike="noStrike" dirty="0">
                          <a:effectLst/>
                        </a:rPr>
                        <a:t>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24.0%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7.5%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23.5%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8.5%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17.5%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24.3%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9.9%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1.26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0.30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2.39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97908"/>
                  </a:ext>
                </a:extLst>
              </a:tr>
              <a:tr h="189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>
                          <a:effectLst/>
                        </a:rPr>
                        <a:t>　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榜单落地页</a:t>
                      </a:r>
                      <a:r>
                        <a:rPr lang="en-US" altLang="zh-CN" sz="700" u="none" strike="noStrike" dirty="0">
                          <a:effectLst/>
                        </a:rPr>
                        <a:t>-7</a:t>
                      </a:r>
                      <a:r>
                        <a:rPr lang="zh-CN" altLang="en-US" sz="700" u="none" strike="noStrike" dirty="0">
                          <a:effectLst/>
                        </a:rPr>
                        <a:t>日访购率</a:t>
                      </a:r>
                      <a:r>
                        <a:rPr lang="en-US" altLang="zh-CN" sz="700" u="none" strike="noStrike" dirty="0">
                          <a:effectLst/>
                        </a:rPr>
                        <a:t>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6395" marR="6395" marT="63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18.2%</a:t>
                      </a:r>
                    </a:p>
                  </a:txBody>
                  <a:tcPr marL="6350" marR="6350" marT="635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7.2%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17.2%</a:t>
                      </a:r>
                    </a:p>
                  </a:txBody>
                  <a:tcPr marL="6350" marR="6350" marT="635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7.8%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16.6%</a:t>
                      </a:r>
                    </a:p>
                  </a:txBody>
                  <a:tcPr marL="6350" marR="6350" marT="635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8.4%</a:t>
                      </a:r>
                    </a:p>
                  </a:txBody>
                  <a:tcPr marL="6350" marR="6350" marT="635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-0.31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-1.61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1.18</a:t>
                      </a:r>
                      <a:r>
                        <a:rPr lang="en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pp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656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73829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999" y="74344"/>
            <a:ext cx="8413029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关键举措①完善榜单矩阵</a:t>
            </a:r>
          </a:p>
        </p:txBody>
      </p:sp>
      <p:cxnSp>
        <p:nvCxnSpPr>
          <p:cNvPr id="21" name="米菲PPT149">
            <a:extLst>
              <a:ext uri="{FF2B5EF4-FFF2-40B4-BE49-F238E27FC236}">
                <a16:creationId xmlns:a16="http://schemas.microsoft.com/office/drawing/2014/main" id="{A212885A-2744-95B1-3F93-E82743B5C892}"/>
              </a:ext>
            </a:extLst>
          </p:cNvPr>
          <p:cNvCxnSpPr/>
          <p:nvPr/>
        </p:nvCxnSpPr>
        <p:spPr>
          <a:xfrm>
            <a:off x="423100" y="922823"/>
            <a:ext cx="0" cy="1196471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米菲PPT151">
            <a:extLst>
              <a:ext uri="{FF2B5EF4-FFF2-40B4-BE49-F238E27FC236}">
                <a16:creationId xmlns:a16="http://schemas.microsoft.com/office/drawing/2014/main" id="{90C5F564-1D14-74B0-DFB9-6A9A884A458B}"/>
              </a:ext>
            </a:extLst>
          </p:cNvPr>
          <p:cNvCxnSpPr/>
          <p:nvPr/>
        </p:nvCxnSpPr>
        <p:spPr>
          <a:xfrm flipH="1">
            <a:off x="138744" y="4600652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米菲PPT152">
            <a:extLst>
              <a:ext uri="{FF2B5EF4-FFF2-40B4-BE49-F238E27FC236}">
                <a16:creationId xmlns:a16="http://schemas.microsoft.com/office/drawing/2014/main" id="{6DDC2B09-3120-BE58-13D6-8FF9B4CC6EE2}"/>
              </a:ext>
            </a:extLst>
          </p:cNvPr>
          <p:cNvSpPr txBox="1"/>
          <p:nvPr/>
        </p:nvSpPr>
        <p:spPr>
          <a:xfrm>
            <a:off x="84998" y="2255546"/>
            <a:ext cx="665879" cy="226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>
            <a:defPPr>
              <a:defRPr lang="en-US"/>
            </a:defPPr>
            <a:lvl1pPr algn="ctr" eaLnBrk="0">
              <a:lnSpc>
                <a:spcPct val="83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r>
              <a:rPr lang="zh-CN" altLang="en-US" sz="900" dirty="0">
                <a:latin typeface="+mn-ea"/>
                <a:ea typeface="+mn-ea"/>
                <a:cs typeface="MiSans Medium" panose="00000600000000000000" pitchFamily="2" charset="-122"/>
              </a:rPr>
              <a:t>举措进展</a:t>
            </a:r>
          </a:p>
        </p:txBody>
      </p:sp>
      <p:cxnSp>
        <p:nvCxnSpPr>
          <p:cNvPr id="26" name="米菲PPT154">
            <a:extLst>
              <a:ext uri="{FF2B5EF4-FFF2-40B4-BE49-F238E27FC236}">
                <a16:creationId xmlns:a16="http://schemas.microsoft.com/office/drawing/2014/main" id="{BABF6596-0C2E-350E-53D4-6D0089EF6EBA}"/>
              </a:ext>
            </a:extLst>
          </p:cNvPr>
          <p:cNvCxnSpPr/>
          <p:nvPr/>
        </p:nvCxnSpPr>
        <p:spPr>
          <a:xfrm flipH="1">
            <a:off x="138744" y="898837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米菲PPT155">
            <a:extLst>
              <a:ext uri="{FF2B5EF4-FFF2-40B4-BE49-F238E27FC236}">
                <a16:creationId xmlns:a16="http://schemas.microsoft.com/office/drawing/2014/main" id="{7D8C205B-07C5-0BAD-A218-44386C3CAF65}"/>
              </a:ext>
            </a:extLst>
          </p:cNvPr>
          <p:cNvCxnSpPr>
            <a:cxnSpLocks/>
          </p:cNvCxnSpPr>
          <p:nvPr/>
        </p:nvCxnSpPr>
        <p:spPr>
          <a:xfrm>
            <a:off x="417937" y="2686050"/>
            <a:ext cx="0" cy="1892166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米菲PPT15">
            <a:extLst>
              <a:ext uri="{FF2B5EF4-FFF2-40B4-BE49-F238E27FC236}">
                <a16:creationId xmlns:a16="http://schemas.microsoft.com/office/drawing/2014/main" id="{BF9F8EAA-0DC1-C9A5-1815-0B0890063225}"/>
              </a:ext>
            </a:extLst>
          </p:cNvPr>
          <p:cNvSpPr/>
          <p:nvPr/>
        </p:nvSpPr>
        <p:spPr>
          <a:xfrm rot="5400000" flipV="1">
            <a:off x="1853935" y="-380228"/>
            <a:ext cx="390175" cy="276808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35" name="米菲PPT130">
            <a:extLst>
              <a:ext uri="{FF2B5EF4-FFF2-40B4-BE49-F238E27FC236}">
                <a16:creationId xmlns:a16="http://schemas.microsoft.com/office/drawing/2014/main" id="{DF8B84DD-5E5B-C33A-0419-5D4262A0B74D}"/>
              </a:ext>
            </a:extLst>
          </p:cNvPr>
          <p:cNvSpPr/>
          <p:nvPr/>
        </p:nvSpPr>
        <p:spPr>
          <a:xfrm>
            <a:off x="744633" y="3826721"/>
            <a:ext cx="2673286" cy="904133"/>
          </a:xfrm>
          <a:prstGeom prst="round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举措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：基于高热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AOI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成榜，支持用户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AOI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筛选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效果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：意向率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25.3%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（对比行政区意向率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+2.2pp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），春节期间异地场景下用户对热门景点的需求度更高（点击率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12.8%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，高于本地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4.2pp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）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计划：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进一步丰富商场等热点地标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米菲PPT14">
            <a:extLst>
              <a:ext uri="{FF2B5EF4-FFF2-40B4-BE49-F238E27FC236}">
                <a16:creationId xmlns:a16="http://schemas.microsoft.com/office/drawing/2014/main" id="{D0D4E189-B8E0-3B6E-423D-FCF5978527A5}"/>
              </a:ext>
            </a:extLst>
          </p:cNvPr>
          <p:cNvSpPr/>
          <p:nvPr/>
        </p:nvSpPr>
        <p:spPr>
          <a:xfrm rot="5400000" flipV="1">
            <a:off x="4658344" y="-400088"/>
            <a:ext cx="390182" cy="2822033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1BA52CB-D576-B403-E65F-A82040F748C1}"/>
              </a:ext>
            </a:extLst>
          </p:cNvPr>
          <p:cNvSpPr txBox="1"/>
          <p:nvPr/>
        </p:nvSpPr>
        <p:spPr>
          <a:xfrm>
            <a:off x="233974" y="463322"/>
            <a:ext cx="87842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指数榜方面，完善区域</a:t>
            </a:r>
            <a:r>
              <a:rPr lang="en-US" altLang="zh-CN" sz="1100" dirty="0">
                <a:latin typeface="+mn-ea"/>
              </a:rPr>
              <a:t>x</a:t>
            </a:r>
            <a:r>
              <a:rPr lang="zh-CN" altLang="en-US" sz="1100" dirty="0">
                <a:latin typeface="+mn-ea"/>
              </a:rPr>
              <a:t>品类</a:t>
            </a:r>
            <a:r>
              <a:rPr lang="en-US" altLang="zh-CN" sz="1100" dirty="0">
                <a:latin typeface="+mn-ea"/>
              </a:rPr>
              <a:t>x</a:t>
            </a:r>
            <a:r>
              <a:rPr lang="zh-CN" altLang="en-US" sz="1100" dirty="0">
                <a:latin typeface="+mn-ea"/>
              </a:rPr>
              <a:t>维度建设。场景榜方面，扩充异地旅游场景覆盖，试点聚会场景榜单，计划随落地页改版完善矩阵</a:t>
            </a:r>
          </a:p>
        </p:txBody>
      </p:sp>
      <p:sp>
        <p:nvSpPr>
          <p:cNvPr id="40" name="米菲PPT136">
            <a:extLst>
              <a:ext uri="{FF2B5EF4-FFF2-40B4-BE49-F238E27FC236}">
                <a16:creationId xmlns:a16="http://schemas.microsoft.com/office/drawing/2014/main" id="{115F821A-93AB-CA1B-9AB9-93385E8F657F}"/>
              </a:ext>
            </a:extLst>
          </p:cNvPr>
          <p:cNvSpPr/>
          <p:nvPr/>
        </p:nvSpPr>
        <p:spPr>
          <a:xfrm>
            <a:off x="3540415" y="3826722"/>
            <a:ext cx="2559799" cy="904133"/>
          </a:xfrm>
          <a:prstGeom prst="round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举措：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优先增补高需高供品类成榜，初步试点城市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x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品类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14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个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效果：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新品类的点击率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，高于城均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2.2pp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，新增上榜商户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1,475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家（占试点覆盖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43.4%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）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计划：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进一步根据供需趋势及规模扩充、细化品类，并基于用户个性化展示热门品类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3" name="直线连接符 118">
            <a:extLst>
              <a:ext uri="{FF2B5EF4-FFF2-40B4-BE49-F238E27FC236}">
                <a16:creationId xmlns:a16="http://schemas.microsoft.com/office/drawing/2014/main" id="{68E5EDE2-2C7B-D812-A70D-27E6AA3E0790}"/>
              </a:ext>
            </a:extLst>
          </p:cNvPr>
          <p:cNvCxnSpPr/>
          <p:nvPr/>
        </p:nvCxnSpPr>
        <p:spPr>
          <a:xfrm>
            <a:off x="3453005" y="1351954"/>
            <a:ext cx="0" cy="2386958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7">
            <a:extLst>
              <a:ext uri="{FF2B5EF4-FFF2-40B4-BE49-F238E27FC236}">
                <a16:creationId xmlns:a16="http://schemas.microsoft.com/office/drawing/2014/main" id="{98A2EF80-63D5-3414-89F0-F4BF4E8DBA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71"/>
          <a:stretch>
            <a:fillRect/>
          </a:stretch>
        </p:blipFill>
        <p:spPr bwMode="auto">
          <a:xfrm>
            <a:off x="721464" y="1622084"/>
            <a:ext cx="1201823" cy="172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Rectangle 9">
            <a:extLst>
              <a:ext uri="{FF2B5EF4-FFF2-40B4-BE49-F238E27FC236}">
                <a16:creationId xmlns:a16="http://schemas.microsoft.com/office/drawing/2014/main" id="{558E3BF4-B940-8B35-48DC-06A4AFE0A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260" y="1189406"/>
            <a:ext cx="118138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昌黎</a:t>
            </a:r>
            <a:r>
              <a:rPr lang="zh-CN" altLang="en-US" sz="900" dirty="0">
                <a:latin typeface="+mn-ea"/>
              </a:rPr>
              <a:t>县找（陌生）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5" name="Rectangle 9">
            <a:extLst>
              <a:ext uri="{FF2B5EF4-FFF2-40B4-BE49-F238E27FC236}">
                <a16:creationId xmlns:a16="http://schemas.microsoft.com/office/drawing/2014/main" id="{4D39DD3F-3A19-4B31-A8FD-8B5E59F7B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244" y="1175454"/>
            <a:ext cx="144475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直接定位阿那亚（熟悉）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6" name="下箭头 36">
            <a:extLst>
              <a:ext uri="{FF2B5EF4-FFF2-40B4-BE49-F238E27FC236}">
                <a16:creationId xmlns:a16="http://schemas.microsoft.com/office/drawing/2014/main" id="{7645DCDE-9402-6548-1D0A-E3EB4E291BEA}"/>
              </a:ext>
            </a:extLst>
          </p:cNvPr>
          <p:cNvSpPr/>
          <p:nvPr/>
        </p:nvSpPr>
        <p:spPr>
          <a:xfrm rot="16200000">
            <a:off x="1929707" y="1224568"/>
            <a:ext cx="156538" cy="162532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>
              <a:latin typeface="+mn-ea"/>
            </a:endParaRPr>
          </a:p>
        </p:txBody>
      </p:sp>
      <p:sp>
        <p:nvSpPr>
          <p:cNvPr id="6" name="米菲PPT136">
            <a:extLst>
              <a:ext uri="{FF2B5EF4-FFF2-40B4-BE49-F238E27FC236}">
                <a16:creationId xmlns:a16="http://schemas.microsoft.com/office/drawing/2014/main" id="{7DD70D41-3AE4-2D25-2611-694342B8F14E}"/>
              </a:ext>
            </a:extLst>
          </p:cNvPr>
          <p:cNvSpPr/>
          <p:nvPr/>
        </p:nvSpPr>
        <p:spPr>
          <a:xfrm>
            <a:off x="6296481" y="3831690"/>
            <a:ext cx="2559799" cy="904133"/>
          </a:xfrm>
          <a:prstGeom prst="round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举措：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承接旅游等需求，春节扩城当地人推荐和特色菜榜，并优化用户动线承接需求。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效果：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新增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446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个中低线城市，覆盖了德宏、宜宾、普洱等春节热门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。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春节期间两榜日均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DAU 9.8w,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较去年春节 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+42.5%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计划：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落地页改版承接更多榜单矩阵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米菲PPT14">
            <a:extLst>
              <a:ext uri="{FF2B5EF4-FFF2-40B4-BE49-F238E27FC236}">
                <a16:creationId xmlns:a16="http://schemas.microsoft.com/office/drawing/2014/main" id="{9D79DECB-6AF1-CF67-9E0D-0C20D4717DAF}"/>
              </a:ext>
            </a:extLst>
          </p:cNvPr>
          <p:cNvSpPr/>
          <p:nvPr/>
        </p:nvSpPr>
        <p:spPr>
          <a:xfrm rot="5400000" flipV="1">
            <a:off x="7513814" y="-431287"/>
            <a:ext cx="390182" cy="2870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6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n-ea"/>
            </a:endParaRPr>
          </a:p>
        </p:txBody>
      </p:sp>
      <p:pic>
        <p:nvPicPr>
          <p:cNvPr id="14" name="图片 13" descr="文本&#10;&#10;AI 生成的内容可能不正确。">
            <a:extLst>
              <a:ext uri="{FF2B5EF4-FFF2-40B4-BE49-F238E27FC236}">
                <a16:creationId xmlns:a16="http://schemas.microsoft.com/office/drawing/2014/main" id="{C879799B-4182-5B54-E5CF-A64F25FF08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11" r="6701" b="38982"/>
          <a:stretch>
            <a:fillRect/>
          </a:stretch>
        </p:blipFill>
        <p:spPr>
          <a:xfrm>
            <a:off x="2084681" y="1628119"/>
            <a:ext cx="1348382" cy="172450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806E75B-E9C1-86DF-8DAC-413CEFB3977F}"/>
              </a:ext>
            </a:extLst>
          </p:cNvPr>
          <p:cNvSpPr txBox="1"/>
          <p:nvPr/>
        </p:nvSpPr>
        <p:spPr>
          <a:xfrm>
            <a:off x="798893" y="3475107"/>
            <a:ext cx="11833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优化前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07E09EE-695F-2E6A-BE9E-0670F03255EE}"/>
              </a:ext>
            </a:extLst>
          </p:cNvPr>
          <p:cNvSpPr txBox="1"/>
          <p:nvPr/>
        </p:nvSpPr>
        <p:spPr>
          <a:xfrm>
            <a:off x="1957282" y="3471238"/>
            <a:ext cx="13590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优化后（已上线）</a:t>
            </a:r>
          </a:p>
        </p:txBody>
      </p:sp>
      <p:cxnSp>
        <p:nvCxnSpPr>
          <p:cNvPr id="18" name="直线连接符 118">
            <a:extLst>
              <a:ext uri="{FF2B5EF4-FFF2-40B4-BE49-F238E27FC236}">
                <a16:creationId xmlns:a16="http://schemas.microsoft.com/office/drawing/2014/main" id="{0FA97A1B-36CD-C5E3-550D-A5D1149CA41E}"/>
              </a:ext>
            </a:extLst>
          </p:cNvPr>
          <p:cNvCxnSpPr/>
          <p:nvPr/>
        </p:nvCxnSpPr>
        <p:spPr>
          <a:xfrm>
            <a:off x="6255861" y="1370250"/>
            <a:ext cx="0" cy="2386958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E5319EEB-E001-6048-A698-8058AD37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399" y="1287611"/>
            <a:ext cx="995029" cy="2154570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D8302D9A-31B6-FF34-A1DD-F5A9887B8C7D}"/>
              </a:ext>
            </a:extLst>
          </p:cNvPr>
          <p:cNvSpPr txBox="1"/>
          <p:nvPr/>
        </p:nvSpPr>
        <p:spPr>
          <a:xfrm>
            <a:off x="3644300" y="3471238"/>
            <a:ext cx="11212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增补品类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A05D90C-42C3-F2D9-07E5-73467D4A1697}"/>
              </a:ext>
            </a:extLst>
          </p:cNvPr>
          <p:cNvSpPr txBox="1"/>
          <p:nvPr/>
        </p:nvSpPr>
        <p:spPr>
          <a:xfrm>
            <a:off x="4868090" y="3471238"/>
            <a:ext cx="11212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进一步计划（月底）</a:t>
            </a:r>
          </a:p>
        </p:txBody>
      </p:sp>
      <p:sp>
        <p:nvSpPr>
          <p:cNvPr id="46" name="Rectangle 9">
            <a:extLst>
              <a:ext uri="{FF2B5EF4-FFF2-40B4-BE49-F238E27FC236}">
                <a16:creationId xmlns:a16="http://schemas.microsoft.com/office/drawing/2014/main" id="{BDA2EB51-4094-09AF-70AF-4BE0CF425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396" y="1227564"/>
            <a:ext cx="144475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异地旅游场景榜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51367C41-08FB-878D-792C-F12A19330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5676" y="1465271"/>
            <a:ext cx="708299" cy="1533703"/>
          </a:xfrm>
          <a:prstGeom prst="rect">
            <a:avLst/>
          </a:prstGeom>
        </p:spPr>
      </p:pic>
      <p:sp>
        <p:nvSpPr>
          <p:cNvPr id="49" name="下箭头 36">
            <a:extLst>
              <a:ext uri="{FF2B5EF4-FFF2-40B4-BE49-F238E27FC236}">
                <a16:creationId xmlns:a16="http://schemas.microsoft.com/office/drawing/2014/main" id="{92CA29B8-A49F-0D97-569B-5B163DC66551}"/>
              </a:ext>
            </a:extLst>
          </p:cNvPr>
          <p:cNvSpPr/>
          <p:nvPr/>
        </p:nvSpPr>
        <p:spPr>
          <a:xfrm rot="16200000">
            <a:off x="7532064" y="1253107"/>
            <a:ext cx="156538" cy="162532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>
              <a:latin typeface="+mn-ea"/>
            </a:endParaRPr>
          </a:p>
        </p:txBody>
      </p:sp>
      <p:sp>
        <p:nvSpPr>
          <p:cNvPr id="50" name="Rectangle 9">
            <a:extLst>
              <a:ext uri="{FF2B5EF4-FFF2-40B4-BE49-F238E27FC236}">
                <a16:creationId xmlns:a16="http://schemas.microsoft.com/office/drawing/2014/main" id="{234514F0-3B0C-0A04-EE38-797B676AF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601" y="1212621"/>
            <a:ext cx="144475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800" dirty="0">
                <a:latin typeface="+mn-ea"/>
              </a:rPr>
              <a:t>主题场景榜矩阵聚合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6547BA2-B9FE-DEF3-B295-094F57F606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9825" y="1917401"/>
            <a:ext cx="741928" cy="1606521"/>
          </a:xfrm>
          <a:prstGeom prst="rect">
            <a:avLst/>
          </a:prstGeom>
        </p:spPr>
      </p:pic>
      <p:sp>
        <p:nvSpPr>
          <p:cNvPr id="12" name="米菲PPT40">
            <a:extLst>
              <a:ext uri="{FF2B5EF4-FFF2-40B4-BE49-F238E27FC236}">
                <a16:creationId xmlns:a16="http://schemas.microsoft.com/office/drawing/2014/main" id="{88B71AFF-CC8C-5D4D-99CE-E64D858B600B}"/>
              </a:ext>
            </a:extLst>
          </p:cNvPr>
          <p:cNvSpPr/>
          <p:nvPr/>
        </p:nvSpPr>
        <p:spPr>
          <a:xfrm>
            <a:off x="3417920" y="926804"/>
            <a:ext cx="2815047" cy="18134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rtl="0" eaLnBrk="0">
              <a:lnSpc>
                <a:spcPct val="83000"/>
              </a:lnSpc>
            </a:pP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品类：丰富新热高需品类，完善品类找店需求</a:t>
            </a:r>
            <a:endParaRPr sz="1000" b="1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4" name="米菲PPT42">
            <a:extLst>
              <a:ext uri="{FF2B5EF4-FFF2-40B4-BE49-F238E27FC236}">
                <a16:creationId xmlns:a16="http://schemas.microsoft.com/office/drawing/2014/main" id="{8FBAA98E-CDF1-7A5C-18BF-6BA29B8DB9F9}"/>
              </a:ext>
            </a:extLst>
          </p:cNvPr>
          <p:cNvSpPr/>
          <p:nvPr/>
        </p:nvSpPr>
        <p:spPr>
          <a:xfrm>
            <a:off x="960522" y="893574"/>
            <a:ext cx="2250598" cy="23470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rtl="0" eaLnBrk="0">
              <a:lnSpc>
                <a:spcPct val="83000"/>
              </a:lnSpc>
            </a:pP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区域：补充</a:t>
            </a:r>
            <a:r>
              <a:rPr lang="en-US" altLang="zh-CN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AOI</a:t>
            </a: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，满足热门景点找店需求</a:t>
            </a:r>
          </a:p>
        </p:txBody>
      </p:sp>
      <p:sp>
        <p:nvSpPr>
          <p:cNvPr id="38" name="米菲PPT40">
            <a:extLst>
              <a:ext uri="{FF2B5EF4-FFF2-40B4-BE49-F238E27FC236}">
                <a16:creationId xmlns:a16="http://schemas.microsoft.com/office/drawing/2014/main" id="{78978FB4-A468-3FBE-AEE4-CB81B0E6F0DC}"/>
              </a:ext>
            </a:extLst>
          </p:cNvPr>
          <p:cNvSpPr/>
          <p:nvPr/>
        </p:nvSpPr>
        <p:spPr>
          <a:xfrm>
            <a:off x="6299004" y="919685"/>
            <a:ext cx="2815047" cy="18134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algn="ctr" rtl="0" eaLnBrk="0">
              <a:lnSpc>
                <a:spcPct val="83000"/>
              </a:lnSpc>
            </a:pPr>
            <a:r>
              <a:rPr lang="zh-CN" altLang="en-US" sz="1000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场景：优化旅游等榜单运营，承接场景找店需求</a:t>
            </a:r>
            <a:endParaRPr sz="1000" b="1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E6F0A69-EF35-E8A6-D58D-F2B0AF9C7C54}"/>
              </a:ext>
            </a:extLst>
          </p:cNvPr>
          <p:cNvGrpSpPr/>
          <p:nvPr/>
        </p:nvGrpSpPr>
        <p:grpSpPr>
          <a:xfrm>
            <a:off x="6519655" y="1460661"/>
            <a:ext cx="927414" cy="2010577"/>
            <a:chOff x="1996706" y="3173742"/>
            <a:chExt cx="1567268" cy="3397741"/>
          </a:xfrm>
        </p:grpSpPr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055AFEA4-377A-9803-A53F-57B3036EC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6706" y="3173742"/>
              <a:ext cx="1567268" cy="3397741"/>
            </a:xfrm>
            <a:prstGeom prst="rect">
              <a:avLst/>
            </a:prstGeom>
          </p:spPr>
        </p:pic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7BE6EE6-71B6-77D4-C000-3A25D894D192}"/>
                </a:ext>
              </a:extLst>
            </p:cNvPr>
            <p:cNvSpPr/>
            <p:nvPr/>
          </p:nvSpPr>
          <p:spPr>
            <a:xfrm>
              <a:off x="2018347" y="4251817"/>
              <a:ext cx="1545627" cy="635163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C00000"/>
                </a:solidFill>
              </a:endParaRPr>
            </a:p>
          </p:txBody>
        </p:sp>
      </p:grpSp>
      <p:pic>
        <p:nvPicPr>
          <p:cNvPr id="59" name="图片 58">
            <a:extLst>
              <a:ext uri="{FF2B5EF4-FFF2-40B4-BE49-F238E27FC236}">
                <a16:creationId xmlns:a16="http://schemas.microsoft.com/office/drawing/2014/main" id="{AF3DD122-76A6-C110-B2D8-729554FF8F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2466" y="1263700"/>
            <a:ext cx="986340" cy="215457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BD31BFC-E281-7F62-7AAF-0FAF3C61A5A9}"/>
              </a:ext>
            </a:extLst>
          </p:cNvPr>
          <p:cNvSpPr txBox="1"/>
          <p:nvPr/>
        </p:nvSpPr>
        <p:spPr>
          <a:xfrm>
            <a:off x="7716504" y="3507312"/>
            <a:ext cx="13651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进一步计划（月底）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745B9F-AE23-04EF-AE44-4588991EA866}"/>
              </a:ext>
            </a:extLst>
          </p:cNvPr>
          <p:cNvSpPr txBox="1"/>
          <p:nvPr/>
        </p:nvSpPr>
        <p:spPr>
          <a:xfrm>
            <a:off x="6351356" y="3486351"/>
            <a:ext cx="13651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旅游榜单运营</a:t>
            </a:r>
          </a:p>
        </p:txBody>
      </p:sp>
    </p:spTree>
    <p:extLst>
      <p:ext uri="{BB962C8B-B14F-4D97-AF65-F5344CB8AC3E}">
        <p14:creationId xmlns:p14="http://schemas.microsoft.com/office/powerpoint/2010/main" val="97881505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6E5E228-E81A-76EF-B832-F71E92EB7F60}"/>
              </a:ext>
            </a:extLst>
          </p:cNvPr>
          <p:cNvSpPr/>
          <p:nvPr/>
        </p:nvSpPr>
        <p:spPr>
          <a:xfrm>
            <a:off x="57150" y="1238417"/>
            <a:ext cx="8914047" cy="2844488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00" y="74344"/>
            <a:ext cx="8777700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关键举措①完善榜单矩阵</a:t>
            </a:r>
            <a:r>
              <a:rPr lang="en-US" altLang="zh-CN" sz="2100" dirty="0"/>
              <a:t>-</a:t>
            </a:r>
            <a:r>
              <a:rPr lang="zh-CN" altLang="en-US" sz="2100" dirty="0"/>
              <a:t>主题榜建设思路</a:t>
            </a:r>
          </a:p>
        </p:txBody>
      </p:sp>
      <p:sp>
        <p:nvSpPr>
          <p:cNvPr id="3" name="矩形: 圆角 21">
            <a:extLst>
              <a:ext uri="{FF2B5EF4-FFF2-40B4-BE49-F238E27FC236}">
                <a16:creationId xmlns:a16="http://schemas.microsoft.com/office/drawing/2014/main" id="{80C4E7AB-77F9-B9ED-351C-F86722CBEF5E}"/>
              </a:ext>
            </a:extLst>
          </p:cNvPr>
          <p:cNvSpPr/>
          <p:nvPr/>
        </p:nvSpPr>
        <p:spPr>
          <a:xfrm>
            <a:off x="1194184" y="3840784"/>
            <a:ext cx="2825366" cy="2033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sym typeface="MiSans Bold" panose="00000800000000000000" pitchFamily="2" charset="-122"/>
              </a:rPr>
              <a:t>生产入围</a:t>
            </a:r>
            <a:endParaRPr lang="en-US" altLang="zh-CN" sz="900" dirty="0">
              <a:solidFill>
                <a:srgbClr val="FF0000"/>
              </a:solidFill>
              <a:sym typeface="MiSans Bold" panose="00000800000000000000" pitchFamily="2" charset="-122"/>
            </a:endParaRPr>
          </a:p>
        </p:txBody>
      </p:sp>
      <p:sp>
        <p:nvSpPr>
          <p:cNvPr id="4" name="矩形: 圆角 21">
            <a:extLst>
              <a:ext uri="{FF2B5EF4-FFF2-40B4-BE49-F238E27FC236}">
                <a16:creationId xmlns:a16="http://schemas.microsoft.com/office/drawing/2014/main" id="{E53E229A-D2C1-93EA-62A5-C86D395BC60E}"/>
              </a:ext>
            </a:extLst>
          </p:cNvPr>
          <p:cNvSpPr/>
          <p:nvPr/>
        </p:nvSpPr>
        <p:spPr>
          <a:xfrm>
            <a:off x="4278044" y="3822831"/>
            <a:ext cx="2385707" cy="21544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sym typeface="MiSans Bold" panose="00000800000000000000" pitchFamily="2" charset="-122"/>
              </a:rPr>
              <a:t>排序</a:t>
            </a:r>
            <a:endParaRPr lang="en-US" altLang="zh-CN" sz="900" dirty="0">
              <a:solidFill>
                <a:srgbClr val="FF0000"/>
              </a:solidFill>
              <a:sym typeface="MiSans Bold" panose="00000800000000000000" pitchFamily="2" charset="-122"/>
            </a:endParaRPr>
          </a:p>
        </p:txBody>
      </p:sp>
      <p:sp>
        <p:nvSpPr>
          <p:cNvPr id="5" name="矩形: 圆角 21">
            <a:extLst>
              <a:ext uri="{FF2B5EF4-FFF2-40B4-BE49-F238E27FC236}">
                <a16:creationId xmlns:a16="http://schemas.microsoft.com/office/drawing/2014/main" id="{542AB21D-2DC2-301B-BF92-2E820EE78138}"/>
              </a:ext>
            </a:extLst>
          </p:cNvPr>
          <p:cNvSpPr/>
          <p:nvPr/>
        </p:nvSpPr>
        <p:spPr>
          <a:xfrm>
            <a:off x="7003476" y="3818124"/>
            <a:ext cx="1873824" cy="22598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sym typeface="MiSans Bold" panose="00000800000000000000" pitchFamily="2" charset="-122"/>
              </a:rPr>
              <a:t>展示</a:t>
            </a:r>
            <a:endParaRPr lang="en-US" altLang="zh-CN" sz="900" dirty="0">
              <a:solidFill>
                <a:srgbClr val="FF0000"/>
              </a:solidFill>
              <a:sym typeface="MiSans Bold" panose="00000800000000000000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6531A24-351D-6BB4-F8E9-B099D380D87D}"/>
              </a:ext>
            </a:extLst>
          </p:cNvPr>
          <p:cNvSpPr txBox="1">
            <a:spLocks/>
          </p:cNvSpPr>
          <p:nvPr/>
        </p:nvSpPr>
        <p:spPr>
          <a:xfrm>
            <a:off x="1370580" y="1150925"/>
            <a:ext cx="1853295" cy="710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zh-CN" altLang="en-US" sz="1200" dirty="0"/>
              <a:t>场景匹配</a:t>
            </a:r>
            <a:br>
              <a:rPr lang="en-US" altLang="zh-CN" sz="1200" dirty="0"/>
            </a:br>
            <a:r>
              <a:rPr lang="zh-CN" altLang="en-US" sz="900" dirty="0">
                <a:solidFill>
                  <a:srgbClr val="111925"/>
                </a:solidFill>
              </a:rPr>
              <a:t>基于</a:t>
            </a:r>
            <a:r>
              <a:rPr lang="en-US" altLang="zh-CN" sz="900" dirty="0">
                <a:solidFill>
                  <a:srgbClr val="111925"/>
                </a:solidFill>
              </a:rPr>
              <a:t>UGC+BDGC/BGC</a:t>
            </a:r>
            <a:r>
              <a:rPr lang="zh-CN" altLang="en-US" sz="900" dirty="0">
                <a:solidFill>
                  <a:srgbClr val="111925"/>
                </a:solidFill>
              </a:rPr>
              <a:t>的多</a:t>
            </a:r>
            <a:r>
              <a:rPr lang="en-US" altLang="zh-CN" sz="900" dirty="0">
                <a:solidFill>
                  <a:srgbClr val="111925"/>
                </a:solidFill>
              </a:rPr>
              <a:t>GC</a:t>
            </a:r>
            <a:r>
              <a:rPr lang="zh-CN" altLang="en-US" sz="900" dirty="0">
                <a:solidFill>
                  <a:srgbClr val="111925"/>
                </a:solidFill>
              </a:rPr>
              <a:t>信息，挖掘场景匹配的商家初步入围</a:t>
            </a:r>
            <a:endParaRPr lang="en-US" altLang="zh-CN" sz="900" dirty="0">
              <a:solidFill>
                <a:srgbClr val="111925"/>
              </a:solidFill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F56A9DD-9102-9269-F0DA-0EF9ABA4A847}"/>
              </a:ext>
            </a:extLst>
          </p:cNvPr>
          <p:cNvSpPr txBox="1">
            <a:spLocks/>
          </p:cNvSpPr>
          <p:nvPr/>
        </p:nvSpPr>
        <p:spPr>
          <a:xfrm>
            <a:off x="4129318" y="1241940"/>
            <a:ext cx="2381077" cy="500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zh-CN" altLang="en-US" sz="1200" dirty="0"/>
              <a:t>一主多辅综合排序</a:t>
            </a:r>
            <a:br>
              <a:rPr lang="en-US" altLang="zh-CN" sz="1200" dirty="0"/>
            </a:b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以</a:t>
            </a:r>
            <a:r>
              <a:rPr lang="en-US" altLang="zh-CN" sz="900" dirty="0">
                <a:solidFill>
                  <a:srgbClr val="111925"/>
                </a:solidFill>
                <a:latin typeface="-apple-system"/>
              </a:rPr>
              <a:t>UGC</a:t>
            </a: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相关场景分为主</a:t>
            </a:r>
            <a:endParaRPr lang="en-US" altLang="zh-CN" sz="900" dirty="0">
              <a:solidFill>
                <a:srgbClr val="111925"/>
              </a:solidFill>
              <a:latin typeface="-apple-system"/>
            </a:endParaRPr>
          </a:p>
          <a:p>
            <a:pPr algn="ctr"/>
            <a:r>
              <a:rPr lang="zh-CN" altLang="en-US" sz="900" dirty="0"/>
              <a:t>以信息及交履服务、其它用户行为指数为辅</a:t>
            </a:r>
            <a:endParaRPr lang="en-US" altLang="zh-CN" sz="9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2C4F94-70EB-360C-FF26-460C8B049D42}"/>
              </a:ext>
            </a:extLst>
          </p:cNvPr>
          <p:cNvSpPr txBox="1"/>
          <p:nvPr/>
        </p:nvSpPr>
        <p:spPr>
          <a:xfrm>
            <a:off x="3223876" y="669593"/>
            <a:ext cx="2578788" cy="276999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200" b="1">
                <a:solidFill>
                  <a:schemeClr val="tx1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用户需求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530898-AC79-8D85-09A9-ADD9012D8F0C}"/>
              </a:ext>
            </a:extLst>
          </p:cNvPr>
          <p:cNvSpPr txBox="1"/>
          <p:nvPr/>
        </p:nvSpPr>
        <p:spPr>
          <a:xfrm>
            <a:off x="4246863" y="5330484"/>
            <a:ext cx="17018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端资产抽象、标签化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F3CF672-BCB7-5032-DC48-BD63A54FC006}"/>
              </a:ext>
            </a:extLst>
          </p:cNvPr>
          <p:cNvCxnSpPr>
            <a:cxnSpLocks/>
            <a:stCxn id="32" idx="0"/>
            <a:endCxn id="16" idx="2"/>
          </p:cNvCxnSpPr>
          <p:nvPr/>
        </p:nvCxnSpPr>
        <p:spPr>
          <a:xfrm flipH="1" flipV="1">
            <a:off x="4513270" y="946592"/>
            <a:ext cx="904" cy="291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03CA75E-39DC-59F2-F95C-787D1A0933EE}"/>
              </a:ext>
            </a:extLst>
          </p:cNvPr>
          <p:cNvSpPr txBox="1"/>
          <p:nvPr/>
        </p:nvSpPr>
        <p:spPr>
          <a:xfrm>
            <a:off x="3361641" y="966471"/>
            <a:ext cx="1174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楷体" panose="02010609060101010101" pitchFamily="49" charset="-122"/>
                <a:ea typeface="楷体" panose="02010609060101010101" pitchFamily="49" charset="-122"/>
              </a:rPr>
              <a:t>满足场景驱动需求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EFDDF92-230C-D831-F361-4BBA4F7B3B9C}"/>
              </a:ext>
            </a:extLst>
          </p:cNvPr>
          <p:cNvSpPr txBox="1"/>
          <p:nvPr/>
        </p:nvSpPr>
        <p:spPr>
          <a:xfrm>
            <a:off x="4385362" y="958925"/>
            <a:ext cx="1174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楷体" panose="02010609060101010101" pitchFamily="49" charset="-122"/>
                <a:ea typeface="楷体" panose="02010609060101010101" pitchFamily="49" charset="-122"/>
              </a:rPr>
              <a:t>公信力体现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B3906B-F558-F4D3-857F-F3E3AEC3BF55}"/>
              </a:ext>
            </a:extLst>
          </p:cNvPr>
          <p:cNvSpPr txBox="1"/>
          <p:nvPr/>
        </p:nvSpPr>
        <p:spPr>
          <a:xfrm>
            <a:off x="3223875" y="4689086"/>
            <a:ext cx="2578789" cy="276999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200" b="1">
                <a:solidFill>
                  <a:schemeClr val="tx1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商家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3B5ED2D-2854-441B-52B6-95CC31D1BF05}"/>
              </a:ext>
            </a:extLst>
          </p:cNvPr>
          <p:cNvCxnSpPr>
            <a:cxnSpLocks/>
            <a:stCxn id="32" idx="2"/>
            <a:endCxn id="24" idx="0"/>
          </p:cNvCxnSpPr>
          <p:nvPr/>
        </p:nvCxnSpPr>
        <p:spPr>
          <a:xfrm flipH="1">
            <a:off x="4513270" y="4082905"/>
            <a:ext cx="904" cy="60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4E67DEB-E933-9038-9FB9-73C609745DBD}"/>
              </a:ext>
            </a:extLst>
          </p:cNvPr>
          <p:cNvSpPr txBox="1"/>
          <p:nvPr/>
        </p:nvSpPr>
        <p:spPr>
          <a:xfrm>
            <a:off x="3443984" y="4131492"/>
            <a:ext cx="213856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楷体" panose="02010609060101010101" pitchFamily="49" charset="-122"/>
                <a:ea typeface="楷体" panose="02010609060101010101" pitchFamily="49" charset="-122"/>
              </a:rPr>
              <a:t>牵引资产沉淀，带动交履、</a:t>
            </a:r>
            <a:r>
              <a:rPr lang="en-US" altLang="zh-CN" sz="900" dirty="0">
                <a:latin typeface="楷体" panose="02010609060101010101" pitchFamily="49" charset="-122"/>
                <a:ea typeface="楷体" panose="02010609060101010101" pitchFamily="49" charset="-122"/>
              </a:rPr>
              <a:t>MEM</a:t>
            </a:r>
          </a:p>
          <a:p>
            <a:pPr algn="ctr"/>
            <a:r>
              <a:rPr lang="zh-CN" altLang="en-US" sz="900" dirty="0"/>
              <a:t>助力围绕自身特色服务进行差异化长效经营，吸引适配的目标用户</a:t>
            </a:r>
            <a:endParaRPr lang="zh-CN" altLang="en-US" sz="9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圆角矩形 24">
            <a:extLst>
              <a:ext uri="{FF2B5EF4-FFF2-40B4-BE49-F238E27FC236}">
                <a16:creationId xmlns:a16="http://schemas.microsoft.com/office/drawing/2014/main" id="{3BAB563F-C602-2505-7AB3-5BD427A9D2C5}"/>
              </a:ext>
            </a:extLst>
          </p:cNvPr>
          <p:cNvSpPr/>
          <p:nvPr/>
        </p:nvSpPr>
        <p:spPr>
          <a:xfrm>
            <a:off x="157427" y="1506222"/>
            <a:ext cx="881404" cy="2266760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主题场景榜单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761C600-5A34-4C17-BE9A-34BD5F8B556F}"/>
              </a:ext>
            </a:extLst>
          </p:cNvPr>
          <p:cNvGrpSpPr/>
          <p:nvPr/>
        </p:nvGrpSpPr>
        <p:grpSpPr>
          <a:xfrm flipV="1">
            <a:off x="4095590" y="3866509"/>
            <a:ext cx="61049" cy="129387"/>
            <a:chOff x="9665361" y="-2713471"/>
            <a:chExt cx="988647" cy="1036411"/>
          </a:xfrm>
        </p:grpSpPr>
        <p:cxnSp>
          <p:nvCxnSpPr>
            <p:cNvPr id="33" name="米菲PPT82-3">
              <a:extLst>
                <a:ext uri="{FF2B5EF4-FFF2-40B4-BE49-F238E27FC236}">
                  <a16:creationId xmlns:a16="http://schemas.microsoft.com/office/drawing/2014/main" id="{0B14C8DE-756E-489F-B93A-BE0FDFF3225C}"/>
                </a:ext>
              </a:extLst>
            </p:cNvPr>
            <p:cNvCxnSpPr/>
            <p:nvPr/>
          </p:nvCxnSpPr>
          <p:spPr>
            <a:xfrm>
              <a:off x="9665361" y="-2713471"/>
              <a:ext cx="988647" cy="494073"/>
            </a:xfrm>
            <a:prstGeom prst="line">
              <a:avLst/>
            </a:prstGeom>
            <a:ln w="730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米菲PPT82-4">
              <a:extLst>
                <a:ext uri="{FF2B5EF4-FFF2-40B4-BE49-F238E27FC236}">
                  <a16:creationId xmlns:a16="http://schemas.microsoft.com/office/drawing/2014/main" id="{9849C26A-A336-47A7-8927-DB2ECD3DC64D}"/>
                </a:ext>
              </a:extLst>
            </p:cNvPr>
            <p:cNvCxnSpPr/>
            <p:nvPr/>
          </p:nvCxnSpPr>
          <p:spPr>
            <a:xfrm flipV="1">
              <a:off x="9665361" y="-2171133"/>
              <a:ext cx="988647" cy="494073"/>
            </a:xfrm>
            <a:prstGeom prst="line">
              <a:avLst/>
            </a:prstGeom>
            <a:ln w="730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标题 1">
            <a:extLst>
              <a:ext uri="{FF2B5EF4-FFF2-40B4-BE49-F238E27FC236}">
                <a16:creationId xmlns:a16="http://schemas.microsoft.com/office/drawing/2014/main" id="{451D3CFA-FC63-4A72-B0EC-30CCBE5CAB4E}"/>
              </a:ext>
            </a:extLst>
          </p:cNvPr>
          <p:cNvSpPr txBox="1">
            <a:spLocks/>
          </p:cNvSpPr>
          <p:nvPr/>
        </p:nvSpPr>
        <p:spPr>
          <a:xfrm>
            <a:off x="6848232" y="1253032"/>
            <a:ext cx="2122964" cy="474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zh-CN" altLang="en-US" sz="1200" dirty="0"/>
              <a:t>强化资产表达，提升公信力</a:t>
            </a:r>
            <a:br>
              <a:rPr lang="en-US" altLang="zh-CN" sz="1200" dirty="0"/>
            </a:b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聚合、总结场景</a:t>
            </a:r>
            <a:r>
              <a:rPr lang="en-US" altLang="zh-CN" sz="900" dirty="0">
                <a:solidFill>
                  <a:srgbClr val="111925"/>
                </a:solidFill>
                <a:latin typeface="-apple-system"/>
              </a:rPr>
              <a:t>UGC</a:t>
            </a:r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好评</a:t>
            </a:r>
            <a:endParaRPr lang="en-US" altLang="zh-CN" sz="900" dirty="0">
              <a:solidFill>
                <a:srgbClr val="111925"/>
              </a:solidFill>
              <a:latin typeface="-apple-system"/>
            </a:endParaRPr>
          </a:p>
          <a:p>
            <a:pPr algn="ctr"/>
            <a:r>
              <a:rPr lang="zh-CN" altLang="en-US" sz="900" dirty="0">
                <a:solidFill>
                  <a:srgbClr val="111925"/>
                </a:solidFill>
                <a:latin typeface="-apple-system"/>
              </a:rPr>
              <a:t>提效用户场景决策</a:t>
            </a:r>
            <a:endParaRPr lang="en-US" altLang="zh-CN" sz="9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929490-DE31-830F-619B-8138F6AF9728}"/>
              </a:ext>
            </a:extLst>
          </p:cNvPr>
          <p:cNvSpPr txBox="1"/>
          <p:nvPr/>
        </p:nvSpPr>
        <p:spPr>
          <a:xfrm>
            <a:off x="1655181" y="3602680"/>
            <a:ext cx="7561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UGC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758373EC-A2AE-6BBC-5075-FEE4A89AF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996"/>
          <a:stretch/>
        </p:blipFill>
        <p:spPr>
          <a:xfrm>
            <a:off x="2828134" y="1865875"/>
            <a:ext cx="1084566" cy="1169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82F8140A-DAEC-C31D-5139-0737DEA5E5B2}"/>
              </a:ext>
            </a:extLst>
          </p:cNvPr>
          <p:cNvSpPr txBox="1"/>
          <p:nvPr/>
        </p:nvSpPr>
        <p:spPr>
          <a:xfrm>
            <a:off x="3082671" y="3611231"/>
            <a:ext cx="7561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BDGC/BGC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91EA20F2-BA7D-E446-AD12-327325B52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59" y="1791625"/>
            <a:ext cx="1056736" cy="15375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DC1AE090-7D72-168B-9364-245201968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495" y="2065852"/>
            <a:ext cx="1056009" cy="15326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D8B0F188-301F-BFCA-07B8-8F7B045453EC}"/>
              </a:ext>
            </a:extLst>
          </p:cNvPr>
          <p:cNvGrpSpPr/>
          <p:nvPr/>
        </p:nvGrpSpPr>
        <p:grpSpPr>
          <a:xfrm flipV="1">
            <a:off x="6767379" y="3872164"/>
            <a:ext cx="61049" cy="129387"/>
            <a:chOff x="9665361" y="-2713471"/>
            <a:chExt cx="988647" cy="1036411"/>
          </a:xfrm>
        </p:grpSpPr>
        <p:cxnSp>
          <p:nvCxnSpPr>
            <p:cNvPr id="108" name="米菲PPT82-3">
              <a:extLst>
                <a:ext uri="{FF2B5EF4-FFF2-40B4-BE49-F238E27FC236}">
                  <a16:creationId xmlns:a16="http://schemas.microsoft.com/office/drawing/2014/main" id="{789FCDB5-2486-69F6-99E7-E723A5CED3A8}"/>
                </a:ext>
              </a:extLst>
            </p:cNvPr>
            <p:cNvCxnSpPr/>
            <p:nvPr/>
          </p:nvCxnSpPr>
          <p:spPr>
            <a:xfrm>
              <a:off x="9665361" y="-2713471"/>
              <a:ext cx="988647" cy="494073"/>
            </a:xfrm>
            <a:prstGeom prst="line">
              <a:avLst/>
            </a:prstGeom>
            <a:ln w="730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米菲PPT82-4">
              <a:extLst>
                <a:ext uri="{FF2B5EF4-FFF2-40B4-BE49-F238E27FC236}">
                  <a16:creationId xmlns:a16="http://schemas.microsoft.com/office/drawing/2014/main" id="{25E00283-F0FD-94BB-A5EF-B4FDBC55F1A1}"/>
                </a:ext>
              </a:extLst>
            </p:cNvPr>
            <p:cNvCxnSpPr/>
            <p:nvPr/>
          </p:nvCxnSpPr>
          <p:spPr>
            <a:xfrm flipV="1">
              <a:off x="9665361" y="-2171133"/>
              <a:ext cx="988647" cy="494073"/>
            </a:xfrm>
            <a:prstGeom prst="line">
              <a:avLst/>
            </a:prstGeom>
            <a:ln w="730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圆角矩形 24">
            <a:extLst>
              <a:ext uri="{FF2B5EF4-FFF2-40B4-BE49-F238E27FC236}">
                <a16:creationId xmlns:a16="http://schemas.microsoft.com/office/drawing/2014/main" id="{DDD0A2FE-9922-41B4-0DE8-ECF714EEA465}"/>
              </a:ext>
            </a:extLst>
          </p:cNvPr>
          <p:cNvSpPr/>
          <p:nvPr/>
        </p:nvSpPr>
        <p:spPr>
          <a:xfrm>
            <a:off x="4278044" y="1760033"/>
            <a:ext cx="2181468" cy="50009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FFE366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场景相关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UGC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好评挖掘计算</a:t>
            </a:r>
          </a:p>
        </p:txBody>
      </p:sp>
      <p:sp>
        <p:nvSpPr>
          <p:cNvPr id="116" name="圆角矩形 24">
            <a:extLst>
              <a:ext uri="{FF2B5EF4-FFF2-40B4-BE49-F238E27FC236}">
                <a16:creationId xmlns:a16="http://schemas.microsoft.com/office/drawing/2014/main" id="{A7F9F3EF-D70A-077A-3E82-54159D04D6D6}"/>
              </a:ext>
            </a:extLst>
          </p:cNvPr>
          <p:cNvSpPr/>
          <p:nvPr/>
        </p:nvSpPr>
        <p:spPr>
          <a:xfrm>
            <a:off x="4570640" y="2407371"/>
            <a:ext cx="1629613" cy="2891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场景相关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BGC/BDGC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信息标签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如景观位、音乐表演、可布置等</a:t>
            </a:r>
          </a:p>
        </p:txBody>
      </p:sp>
      <p:sp>
        <p:nvSpPr>
          <p:cNvPr id="117" name="圆角矩形 24">
            <a:extLst>
              <a:ext uri="{FF2B5EF4-FFF2-40B4-BE49-F238E27FC236}">
                <a16:creationId xmlns:a16="http://schemas.microsoft.com/office/drawing/2014/main" id="{E0D81486-8C93-DD92-D452-6B6F32207469}"/>
              </a:ext>
            </a:extLst>
          </p:cNvPr>
          <p:cNvSpPr/>
          <p:nvPr/>
        </p:nvSpPr>
        <p:spPr>
          <a:xfrm>
            <a:off x="4576247" y="2745801"/>
            <a:ext cx="1624862" cy="2891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场景相关交履服务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如情侣双人套餐、预排布置等</a:t>
            </a:r>
          </a:p>
        </p:txBody>
      </p:sp>
      <p:sp>
        <p:nvSpPr>
          <p:cNvPr id="118" name="圆角矩形 24">
            <a:extLst>
              <a:ext uri="{FF2B5EF4-FFF2-40B4-BE49-F238E27FC236}">
                <a16:creationId xmlns:a16="http://schemas.microsoft.com/office/drawing/2014/main" id="{F73B6C44-1B96-FCCD-91CB-5B7905192778}"/>
              </a:ext>
            </a:extLst>
          </p:cNvPr>
          <p:cNvSpPr/>
          <p:nvPr/>
        </p:nvSpPr>
        <p:spPr>
          <a:xfrm>
            <a:off x="4576247" y="3083550"/>
            <a:ext cx="1624862" cy="2891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其它用户行为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门店交易、流量数据</a:t>
            </a:r>
          </a:p>
        </p:txBody>
      </p: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0FCE160D-75B1-C7B0-0FC6-F493C97822D6}"/>
              </a:ext>
            </a:extLst>
          </p:cNvPr>
          <p:cNvCxnSpPr/>
          <p:nvPr/>
        </p:nvCxnSpPr>
        <p:spPr>
          <a:xfrm>
            <a:off x="4097066" y="1365329"/>
            <a:ext cx="0" cy="2386958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连接符 118">
            <a:extLst>
              <a:ext uri="{FF2B5EF4-FFF2-40B4-BE49-F238E27FC236}">
                <a16:creationId xmlns:a16="http://schemas.microsoft.com/office/drawing/2014/main" id="{C487A826-4C4B-61C5-C433-BC3DF6C280BF}"/>
              </a:ext>
            </a:extLst>
          </p:cNvPr>
          <p:cNvCxnSpPr>
            <a:cxnSpLocks/>
          </p:cNvCxnSpPr>
          <p:nvPr/>
        </p:nvCxnSpPr>
        <p:spPr>
          <a:xfrm>
            <a:off x="6770918" y="1431166"/>
            <a:ext cx="0" cy="2321121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图片 12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40674EB-CA74-7313-D226-188274646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285" y="1760032"/>
            <a:ext cx="912476" cy="1975811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a16:creationId xmlns:a16="http://schemas.microsoft.com/office/drawing/2014/main" id="{F2044809-25B9-5B8D-B528-E6C43812E3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712" y="2346274"/>
            <a:ext cx="939588" cy="137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3162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/>
          <p:cNvSpPr/>
          <p:nvPr/>
        </p:nvSpPr>
        <p:spPr>
          <a:xfrm>
            <a:off x="0" y="3151172"/>
            <a:ext cx="9144000" cy="676959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Rounded Rectangle"/>
          <p:cNvSpPr/>
          <p:nvPr/>
        </p:nvSpPr>
        <p:spPr>
          <a:xfrm>
            <a:off x="5647982" y="804544"/>
            <a:ext cx="3242018" cy="541261"/>
          </a:xfrm>
          <a:prstGeom prst="roundRect">
            <a:avLst>
              <a:gd name="adj" fmla="val 4117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75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sz="67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1501502"/>
            <a:ext cx="9144000" cy="676959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3" name="Rounded Rectangle"/>
          <p:cNvSpPr/>
          <p:nvPr/>
        </p:nvSpPr>
        <p:spPr>
          <a:xfrm>
            <a:off x="3492362" y="1207620"/>
            <a:ext cx="1002354" cy="3779261"/>
          </a:xfrm>
          <a:prstGeom prst="roundRect">
            <a:avLst>
              <a:gd name="adj" fmla="val 4117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75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sz="67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0" y="4583171"/>
            <a:ext cx="9144000" cy="457396"/>
          </a:xfrm>
          <a:prstGeom prst="rect">
            <a:avLst/>
          </a:prstGeom>
          <a:solidFill>
            <a:srgbClr val="F2F2F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401" y="15438"/>
            <a:ext cx="9385431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关键举措②完善用户决策动线提升用户心智</a:t>
            </a:r>
            <a:endParaRPr lang="zh-CN" altLang="en-US" sz="2100" dirty="0">
              <a:latin typeface="+mn-ea"/>
              <a:ea typeface="+mn-ea"/>
            </a:endParaRPr>
          </a:p>
        </p:txBody>
      </p:sp>
      <p:sp>
        <p:nvSpPr>
          <p:cNvPr id="12" name="米菲PPT9"/>
          <p:cNvSpPr/>
          <p:nvPr/>
        </p:nvSpPr>
        <p:spPr>
          <a:xfrm>
            <a:off x="1402699" y="508154"/>
            <a:ext cx="1333115" cy="205803"/>
          </a:xfrm>
          <a:prstGeom prst="homePlate">
            <a:avLst>
              <a:gd name="adj" fmla="val 3628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起心动念</a:t>
            </a:r>
          </a:p>
        </p:txBody>
      </p:sp>
      <p:sp>
        <p:nvSpPr>
          <p:cNvPr id="13" name="米菲PPT10"/>
          <p:cNvSpPr/>
          <p:nvPr/>
        </p:nvSpPr>
        <p:spPr>
          <a:xfrm>
            <a:off x="2743905" y="508154"/>
            <a:ext cx="1550064" cy="205803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考虑决策</a:t>
            </a:r>
          </a:p>
        </p:txBody>
      </p:sp>
      <p:sp>
        <p:nvSpPr>
          <p:cNvPr id="14" name="米菲PPT11"/>
          <p:cNvSpPr/>
          <p:nvPr/>
        </p:nvSpPr>
        <p:spPr>
          <a:xfrm>
            <a:off x="4302061" y="508154"/>
            <a:ext cx="1550064" cy="205803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评估选择</a:t>
            </a:r>
          </a:p>
        </p:txBody>
      </p:sp>
      <p:sp>
        <p:nvSpPr>
          <p:cNvPr id="15" name="米菲PPT12"/>
          <p:cNvSpPr/>
          <p:nvPr/>
        </p:nvSpPr>
        <p:spPr>
          <a:xfrm>
            <a:off x="5860216" y="508154"/>
            <a:ext cx="1852797" cy="205803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交易履约</a:t>
            </a:r>
          </a:p>
        </p:txBody>
      </p:sp>
      <p:sp>
        <p:nvSpPr>
          <p:cNvPr id="16" name="米菲PPT13"/>
          <p:cNvSpPr/>
          <p:nvPr/>
        </p:nvSpPr>
        <p:spPr>
          <a:xfrm>
            <a:off x="7741301" y="508154"/>
            <a:ext cx="1227136" cy="205803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餐后评价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156057" y="1600578"/>
            <a:ext cx="1135988" cy="304218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搜索型动线</a:t>
            </a:r>
          </a:p>
        </p:txBody>
      </p:sp>
      <p:sp>
        <p:nvSpPr>
          <p:cNvPr id="44" name="矩形: 圆角 43"/>
          <p:cNvSpPr/>
          <p:nvPr/>
        </p:nvSpPr>
        <p:spPr>
          <a:xfrm>
            <a:off x="159402" y="2334158"/>
            <a:ext cx="1135988" cy="381935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筛选型动线</a:t>
            </a:r>
          </a:p>
        </p:txBody>
      </p:sp>
      <p:sp>
        <p:nvSpPr>
          <p:cNvPr id="46" name="矩形: 圆角 45"/>
          <p:cNvSpPr/>
          <p:nvPr/>
        </p:nvSpPr>
        <p:spPr>
          <a:xfrm>
            <a:off x="159402" y="3223479"/>
            <a:ext cx="1135988" cy="377662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发现型动线</a:t>
            </a:r>
          </a:p>
        </p:txBody>
      </p:sp>
      <p:sp>
        <p:nvSpPr>
          <p:cNvPr id="47" name="矩形: 圆角 46"/>
          <p:cNvSpPr/>
          <p:nvPr/>
        </p:nvSpPr>
        <p:spPr>
          <a:xfrm>
            <a:off x="159401" y="3961632"/>
            <a:ext cx="1135988" cy="359834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触发型动线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190551" y="1855865"/>
            <a:ext cx="106699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如大搜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2,400w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71647" y="2675839"/>
            <a:ext cx="11359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如金刚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约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1,000w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70178" y="3536302"/>
            <a:ext cx="10533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如推荐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约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1,200w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142154" y="4268463"/>
            <a:ext cx="11359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如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Push 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约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20w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1292025" y="1644455"/>
            <a:ext cx="909865" cy="177462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输入</a:t>
            </a:r>
            <a:r>
              <a:rPr lang="en-US" altLang="zh-CN" sz="900" dirty="0">
                <a:latin typeface="+mn-ea"/>
                <a:ea typeface="+mn-ea"/>
                <a:sym typeface="MiSans Medium" panose="00000600000000000000" pitchFamily="2" charset="-122"/>
              </a:rPr>
              <a:t>Query</a:t>
            </a:r>
          </a:p>
          <a:p>
            <a:r>
              <a:rPr lang="zh-CN" altLang="en-US" sz="700" dirty="0">
                <a:latin typeface="+mn-ea"/>
                <a:ea typeface="+mn-ea"/>
                <a:sym typeface="MiSans Medium" panose="00000600000000000000" pitchFamily="2" charset="-122"/>
              </a:rPr>
              <a:t>（提示词</a:t>
            </a:r>
            <a:r>
              <a:rPr lang="en-US" altLang="zh-CN" sz="700" dirty="0">
                <a:latin typeface="+mn-ea"/>
                <a:ea typeface="+mn-ea"/>
                <a:sym typeface="MiSans Medium" panose="00000600000000000000" pitchFamily="2" charset="-122"/>
              </a:rPr>
              <a:t>/</a:t>
            </a:r>
            <a:r>
              <a:rPr lang="en-US" altLang="zh-CN" sz="700" dirty="0" err="1">
                <a:latin typeface="+mn-ea"/>
                <a:ea typeface="+mn-ea"/>
                <a:sym typeface="MiSans Medium" panose="00000600000000000000" pitchFamily="2" charset="-122"/>
              </a:rPr>
              <a:t>sug</a:t>
            </a:r>
            <a:r>
              <a:rPr lang="zh-CN" altLang="en-US" sz="700" dirty="0">
                <a:latin typeface="+mn-ea"/>
                <a:ea typeface="+mn-ea"/>
                <a:sym typeface="MiSans Medium" panose="00000600000000000000" pitchFamily="2" charset="-122"/>
              </a:rPr>
              <a:t>等）</a:t>
            </a:r>
            <a:endParaRPr lang="zh-CN" altLang="en-US" sz="700" dirty="0">
              <a:latin typeface="+mn-ea"/>
              <a:ea typeface="+mn-ea"/>
            </a:endParaRPr>
          </a:p>
        </p:txBody>
      </p:sp>
      <p:cxnSp>
        <p:nvCxnSpPr>
          <p:cNvPr id="93" name="直接箭头连接符 92"/>
          <p:cNvCxnSpPr>
            <a:stCxn id="79" idx="3"/>
            <a:endCxn id="102" idx="1"/>
          </p:cNvCxnSpPr>
          <p:nvPr/>
        </p:nvCxnSpPr>
        <p:spPr>
          <a:xfrm>
            <a:off x="2201890" y="1733186"/>
            <a:ext cx="1299903" cy="3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3501793" y="1628772"/>
            <a:ext cx="1002355" cy="21544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</a:rPr>
              <a:t>搜索结果页对比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4712582" y="970787"/>
            <a:ext cx="993792" cy="276999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900" dirty="0">
                <a:latin typeface="+mn-ea"/>
                <a:ea typeface="+mn-ea"/>
              </a:rPr>
              <a:t>POI</a:t>
            </a:r>
            <a:r>
              <a:rPr lang="zh-CN" altLang="en-US" sz="900" dirty="0">
                <a:latin typeface="+mn-ea"/>
                <a:ea typeface="+mn-ea"/>
              </a:rPr>
              <a:t>信息查看</a:t>
            </a:r>
          </a:p>
        </p:txBody>
      </p:sp>
      <p:cxnSp>
        <p:nvCxnSpPr>
          <p:cNvPr id="140" name="直接箭头连接符 139"/>
          <p:cNvCxnSpPr>
            <a:stCxn id="135" idx="3"/>
            <a:endCxn id="154" idx="1"/>
          </p:cNvCxnSpPr>
          <p:nvPr/>
        </p:nvCxnSpPr>
        <p:spPr>
          <a:xfrm flipV="1">
            <a:off x="5706374" y="944534"/>
            <a:ext cx="145751" cy="164753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米菲PPT2"/>
          <p:cNvSpPr/>
          <p:nvPr/>
        </p:nvSpPr>
        <p:spPr>
          <a:xfrm>
            <a:off x="5852125" y="852110"/>
            <a:ext cx="857569" cy="184847"/>
          </a:xfrm>
          <a:prstGeom prst="roundRect">
            <a:avLst>
              <a:gd name="adj" fmla="val 1032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线上买券</a:t>
            </a:r>
          </a:p>
        </p:txBody>
      </p:sp>
      <p:sp>
        <p:nvSpPr>
          <p:cNvPr id="155" name="米菲PPT2"/>
          <p:cNvSpPr/>
          <p:nvPr/>
        </p:nvSpPr>
        <p:spPr>
          <a:xfrm>
            <a:off x="8012756" y="977276"/>
            <a:ext cx="955681" cy="184847"/>
          </a:xfrm>
          <a:prstGeom prst="roundRect">
            <a:avLst>
              <a:gd name="adj" fmla="val 10329"/>
            </a:avLst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评价资产沉淀</a:t>
            </a:r>
          </a:p>
        </p:txBody>
      </p:sp>
      <p:sp>
        <p:nvSpPr>
          <p:cNvPr id="156" name="米菲PPT2"/>
          <p:cNvSpPr/>
          <p:nvPr/>
        </p:nvSpPr>
        <p:spPr>
          <a:xfrm>
            <a:off x="5831400" y="1093586"/>
            <a:ext cx="881221" cy="184847"/>
          </a:xfrm>
          <a:prstGeom prst="roundRect">
            <a:avLst>
              <a:gd name="adj" fmla="val 10329"/>
            </a:avLst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线下点餐</a:t>
            </a:r>
          </a:p>
        </p:txBody>
      </p:sp>
      <p:sp>
        <p:nvSpPr>
          <p:cNvPr id="157" name="米菲PPT2"/>
          <p:cNvSpPr/>
          <p:nvPr/>
        </p:nvSpPr>
        <p:spPr>
          <a:xfrm>
            <a:off x="6831793" y="855708"/>
            <a:ext cx="881221" cy="184847"/>
          </a:xfrm>
          <a:prstGeom prst="roundRect">
            <a:avLst>
              <a:gd name="adj" fmla="val 1032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核销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+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尾款</a:t>
            </a:r>
          </a:p>
        </p:txBody>
      </p:sp>
      <p:sp>
        <p:nvSpPr>
          <p:cNvPr id="158" name="米菲PPT2"/>
          <p:cNvSpPr/>
          <p:nvPr/>
        </p:nvSpPr>
        <p:spPr>
          <a:xfrm>
            <a:off x="6834720" y="1097184"/>
            <a:ext cx="881221" cy="184847"/>
          </a:xfrm>
          <a:prstGeom prst="roundRect">
            <a:avLst>
              <a:gd name="adj" fmla="val 10329"/>
            </a:avLst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  <a:sym typeface="MiSans Medium" panose="00000600000000000000" pitchFamily="2" charset="-122"/>
              </a:rPr>
              <a:t>支付</a:t>
            </a:r>
          </a:p>
        </p:txBody>
      </p:sp>
      <p:cxnSp>
        <p:nvCxnSpPr>
          <p:cNvPr id="166" name="直接箭头连接符 165"/>
          <p:cNvCxnSpPr>
            <a:stCxn id="135" idx="3"/>
            <a:endCxn id="156" idx="1"/>
          </p:cNvCxnSpPr>
          <p:nvPr/>
        </p:nvCxnSpPr>
        <p:spPr>
          <a:xfrm>
            <a:off x="5706374" y="1109287"/>
            <a:ext cx="125026" cy="76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>
            <a:endCxn id="157" idx="1"/>
          </p:cNvCxnSpPr>
          <p:nvPr/>
        </p:nvCxnSpPr>
        <p:spPr>
          <a:xfrm>
            <a:off x="6537905" y="948132"/>
            <a:ext cx="293888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endCxn id="158" idx="1"/>
          </p:cNvCxnSpPr>
          <p:nvPr/>
        </p:nvCxnSpPr>
        <p:spPr>
          <a:xfrm>
            <a:off x="6489700" y="1189608"/>
            <a:ext cx="345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>
            <a:stCxn id="157" idx="3"/>
            <a:endCxn id="155" idx="1"/>
          </p:cNvCxnSpPr>
          <p:nvPr/>
        </p:nvCxnSpPr>
        <p:spPr>
          <a:xfrm>
            <a:off x="7713014" y="948132"/>
            <a:ext cx="299742" cy="121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>
            <a:stCxn id="158" idx="3"/>
            <a:endCxn id="155" idx="1"/>
          </p:cNvCxnSpPr>
          <p:nvPr/>
        </p:nvCxnSpPr>
        <p:spPr>
          <a:xfrm flipV="1">
            <a:off x="7715941" y="1069700"/>
            <a:ext cx="296815" cy="119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矩形: 圆角 189"/>
          <p:cNvSpPr/>
          <p:nvPr/>
        </p:nvSpPr>
        <p:spPr>
          <a:xfrm>
            <a:off x="159401" y="4627047"/>
            <a:ext cx="1132644" cy="359834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运营策略</a:t>
            </a:r>
          </a:p>
        </p:txBody>
      </p:sp>
      <p:sp>
        <p:nvSpPr>
          <p:cNvPr id="192" name="文本框 191"/>
          <p:cNvSpPr txBox="1"/>
          <p:nvPr/>
        </p:nvSpPr>
        <p:spPr>
          <a:xfrm>
            <a:off x="1660546" y="4643036"/>
            <a:ext cx="1264454" cy="315011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zh-CN" sz="900" b="1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适配人群</a:t>
            </a:r>
            <a:r>
              <a:rPr lang="en-US" altLang="zh-CN" sz="900" b="1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/</a:t>
            </a:r>
            <a:r>
              <a:rPr lang="zh-CN" altLang="zh-CN" sz="900" b="1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场景</a:t>
            </a:r>
            <a:r>
              <a:rPr lang="zh-CN" altLang="en-US" sz="900" b="1" kern="1200" dirty="0"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下</a:t>
            </a:r>
            <a:endParaRPr lang="en-US" altLang="zh-CN" sz="900" b="1" kern="1200" dirty="0"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决策动线榜单露出</a:t>
            </a:r>
          </a:p>
        </p:txBody>
      </p:sp>
      <p:sp>
        <p:nvSpPr>
          <p:cNvPr id="196" name="文本框 195"/>
          <p:cNvSpPr txBox="1"/>
          <p:nvPr/>
        </p:nvSpPr>
        <p:spPr>
          <a:xfrm>
            <a:off x="4504148" y="4696584"/>
            <a:ext cx="1368827" cy="21544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900" b="1" dirty="0">
                <a:solidFill>
                  <a:schemeClr val="tx1"/>
                </a:solidFill>
                <a:latin typeface="+mn-ea"/>
                <a:ea typeface="+mn-ea"/>
              </a:rPr>
              <a:t>POI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榜单标识强化</a:t>
            </a:r>
            <a:endParaRPr lang="en-US" altLang="zh-CN" sz="900" b="1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榜单落地页改造</a:t>
            </a:r>
          </a:p>
        </p:txBody>
      </p:sp>
      <p:sp>
        <p:nvSpPr>
          <p:cNvPr id="197" name="文本框 196"/>
          <p:cNvSpPr txBox="1"/>
          <p:nvPr/>
        </p:nvSpPr>
        <p:spPr>
          <a:xfrm>
            <a:off x="5785188" y="4696584"/>
            <a:ext cx="2633284" cy="21544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关键决策要素前置展示</a:t>
            </a:r>
            <a:endParaRPr lang="en-US" altLang="zh-CN" sz="900" b="1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强化差异化优质交履、评价，推荐理由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302692" y="3367206"/>
            <a:ext cx="951086" cy="178026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</a:rPr>
              <a:t>猜喜</a:t>
            </a:r>
            <a:r>
              <a:rPr lang="en-US" altLang="zh-CN" sz="900" dirty="0">
                <a:latin typeface="+mn-ea"/>
                <a:ea typeface="+mn-ea"/>
              </a:rPr>
              <a:t>/</a:t>
            </a:r>
            <a:r>
              <a:rPr lang="zh-CN" altLang="en-US" sz="900" dirty="0">
                <a:latin typeface="+mn-ea"/>
                <a:ea typeface="+mn-ea"/>
              </a:rPr>
              <a:t>频道推荐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292025" y="4007964"/>
            <a:ext cx="961753" cy="276999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触发场，如景点</a:t>
            </a:r>
            <a:r>
              <a:rPr lang="en-US" altLang="zh-CN" sz="900" dirty="0">
                <a:latin typeface="+mn-ea"/>
                <a:ea typeface="+mn-ea"/>
                <a:sym typeface="MiSans Medium" panose="00000600000000000000" pitchFamily="2" charset="-122"/>
              </a:rPr>
              <a:t>/</a:t>
            </a:r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饭点</a:t>
            </a:r>
            <a:endParaRPr lang="zh-CN" altLang="en-US" sz="900" dirty="0">
              <a:latin typeface="+mn-ea"/>
              <a:ea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656107" y="4007964"/>
            <a:ext cx="665116" cy="276999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900" dirty="0">
                <a:latin typeface="+mn-ea"/>
                <a:ea typeface="+mn-ea"/>
                <a:sym typeface="MiSans Medium" panose="00000600000000000000" pitchFamily="2" charset="-122"/>
              </a:rPr>
              <a:t>Push</a:t>
            </a:r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文案</a:t>
            </a:r>
            <a:endParaRPr lang="zh-CN" altLang="en-US" sz="900" dirty="0">
              <a:latin typeface="+mn-ea"/>
              <a:ea typeface="+mn-ea"/>
            </a:endParaRPr>
          </a:p>
        </p:txBody>
      </p:sp>
      <p:cxnSp>
        <p:nvCxnSpPr>
          <p:cNvPr id="36" name="直接箭头连接符 118"/>
          <p:cNvCxnSpPr>
            <a:stCxn id="32" idx="3"/>
          </p:cNvCxnSpPr>
          <p:nvPr/>
        </p:nvCxnSpPr>
        <p:spPr>
          <a:xfrm>
            <a:off x="2253778" y="4146464"/>
            <a:ext cx="1245886" cy="2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92"/>
          <p:cNvCxnSpPr>
            <a:stCxn id="23" idx="3"/>
            <a:endCxn id="48" idx="1"/>
          </p:cNvCxnSpPr>
          <p:nvPr/>
        </p:nvCxnSpPr>
        <p:spPr>
          <a:xfrm flipV="1">
            <a:off x="2253778" y="3456112"/>
            <a:ext cx="1245886" cy="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99664" y="3348390"/>
            <a:ext cx="951086" cy="21544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</a:rPr>
              <a:t>推荐列表</a:t>
            </a:r>
          </a:p>
        </p:txBody>
      </p:sp>
      <p:cxnSp>
        <p:nvCxnSpPr>
          <p:cNvPr id="69" name="肘形连接符 68"/>
          <p:cNvCxnSpPr>
            <a:stCxn id="102" idx="3"/>
            <a:endCxn id="135" idx="1"/>
          </p:cNvCxnSpPr>
          <p:nvPr/>
        </p:nvCxnSpPr>
        <p:spPr>
          <a:xfrm flipV="1">
            <a:off x="4504148" y="1109287"/>
            <a:ext cx="208434" cy="627207"/>
          </a:xfrm>
          <a:prstGeom prst="bentConnector3">
            <a:avLst>
              <a:gd name="adj1" fmla="val 378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肘形连接符 77"/>
          <p:cNvCxnSpPr>
            <a:stCxn id="48" idx="3"/>
            <a:endCxn id="135" idx="1"/>
          </p:cNvCxnSpPr>
          <p:nvPr/>
        </p:nvCxnSpPr>
        <p:spPr>
          <a:xfrm flipV="1">
            <a:off x="4450750" y="1109287"/>
            <a:ext cx="261832" cy="23468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肘形连接符 81"/>
          <p:cNvCxnSpPr>
            <a:endCxn id="135" idx="1"/>
          </p:cNvCxnSpPr>
          <p:nvPr/>
        </p:nvCxnSpPr>
        <p:spPr>
          <a:xfrm flipV="1">
            <a:off x="4468078" y="1109287"/>
            <a:ext cx="244504" cy="3040087"/>
          </a:xfrm>
          <a:prstGeom prst="bentConnector3">
            <a:avLst>
              <a:gd name="adj1" fmla="val 474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4947058" y="1719251"/>
            <a:ext cx="3634622" cy="220092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900" dirty="0">
                <a:latin typeface="+mn-ea"/>
                <a:ea typeface="+mn-ea"/>
              </a:rPr>
              <a:t>机会点：高搜低转的品类词、泛需求、地址词等，尝试榜单承接</a:t>
            </a:r>
            <a:endParaRPr lang="en-US" altLang="zh-CN" sz="900" dirty="0">
              <a:latin typeface="+mn-ea"/>
              <a:ea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41349" y="2369067"/>
            <a:ext cx="3634622" cy="535211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900" dirty="0">
                <a:latin typeface="+mn-ea"/>
                <a:ea typeface="+mn-ea"/>
              </a:rPr>
              <a:t>机会点：加快用户决策，尝试榜单融入筛选路径</a:t>
            </a:r>
            <a:endParaRPr lang="en-US" altLang="zh-CN" sz="900" dirty="0">
              <a:latin typeface="+mn-ea"/>
              <a:ea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942650" y="3337249"/>
            <a:ext cx="3639030" cy="217507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900" dirty="0">
                <a:latin typeface="+mn-ea"/>
                <a:ea typeface="+mn-ea"/>
              </a:rPr>
              <a:t>机会点：根据用户偏好及场景预测，尝试榜单收敛用户发散需求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4963404" y="4026383"/>
            <a:ext cx="3520196" cy="242080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900" dirty="0">
                <a:latin typeface="+mn-ea"/>
                <a:ea typeface="+mn-ea"/>
              </a:rPr>
              <a:t>机会点：抢占用户适配场景下的找店决策心智，尝试榜单触发召回</a:t>
            </a:r>
          </a:p>
        </p:txBody>
      </p:sp>
      <p:cxnSp>
        <p:nvCxnSpPr>
          <p:cNvPr id="110" name="肘形连接符 109"/>
          <p:cNvCxnSpPr>
            <a:endCxn id="135" idx="1"/>
          </p:cNvCxnSpPr>
          <p:nvPr/>
        </p:nvCxnSpPr>
        <p:spPr>
          <a:xfrm flipV="1">
            <a:off x="4441476" y="1109287"/>
            <a:ext cx="271106" cy="1538641"/>
          </a:xfrm>
          <a:prstGeom prst="bentConnector3">
            <a:avLst>
              <a:gd name="adj1" fmla="val 521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肘形连接符 68"/>
          <p:cNvCxnSpPr>
            <a:stCxn id="135" idx="0"/>
            <a:endCxn id="113" idx="0"/>
          </p:cNvCxnSpPr>
          <p:nvPr/>
        </p:nvCxnSpPr>
        <p:spPr>
          <a:xfrm rot="16200000" flipH="1" flipV="1">
            <a:off x="4483092" y="481233"/>
            <a:ext cx="236833" cy="1215939"/>
          </a:xfrm>
          <a:prstGeom prst="bentConnector3">
            <a:avLst>
              <a:gd name="adj1" fmla="val -176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/>
        </p:nvSpPr>
        <p:spPr>
          <a:xfrm>
            <a:off x="3418555" y="4671914"/>
            <a:ext cx="1126673" cy="21544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融入榜单模块</a:t>
            </a:r>
            <a:endParaRPr lang="en-US" altLang="zh-CN" sz="900" b="1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900" b="1" dirty="0">
                <a:solidFill>
                  <a:schemeClr val="tx1"/>
                </a:solidFill>
                <a:latin typeface="+mn-ea"/>
                <a:ea typeface="+mn-ea"/>
              </a:rPr>
              <a:t>上榜门店标识呈现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2446794" y="2425142"/>
            <a:ext cx="697326" cy="276999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</a:rPr>
              <a:t>点</a:t>
            </a:r>
            <a:r>
              <a:rPr lang="en-US" altLang="zh-CN" sz="900" dirty="0">
                <a:latin typeface="+mn-ea"/>
                <a:ea typeface="+mn-ea"/>
              </a:rPr>
              <a:t>/</a:t>
            </a:r>
            <a:r>
              <a:rPr lang="zh-CN" altLang="en-US" sz="900" dirty="0">
                <a:latin typeface="+mn-ea"/>
                <a:ea typeface="+mn-ea"/>
              </a:rPr>
              <a:t>筛</a:t>
            </a:r>
            <a:r>
              <a:rPr lang="en-US" altLang="zh-CN" sz="900" dirty="0">
                <a:latin typeface="+mn-ea"/>
                <a:ea typeface="+mn-ea"/>
              </a:rPr>
              <a:t>/</a:t>
            </a:r>
            <a:r>
              <a:rPr lang="zh-CN" altLang="en-US" sz="900" dirty="0">
                <a:latin typeface="+mn-ea"/>
                <a:ea typeface="+mn-ea"/>
              </a:rPr>
              <a:t>排</a:t>
            </a:r>
          </a:p>
        </p:txBody>
      </p:sp>
      <p:sp>
        <p:nvSpPr>
          <p:cNvPr id="131" name="文本框 130"/>
          <p:cNvSpPr txBox="1"/>
          <p:nvPr/>
        </p:nvSpPr>
        <p:spPr>
          <a:xfrm>
            <a:off x="1292045" y="2424827"/>
            <a:ext cx="943028" cy="276999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美食</a:t>
            </a:r>
            <a:r>
              <a:rPr lang="en-US" altLang="zh-CN" sz="900" dirty="0">
                <a:latin typeface="+mn-ea"/>
                <a:ea typeface="+mn-ea"/>
                <a:sym typeface="MiSans Medium" panose="00000600000000000000" pitchFamily="2" charset="-122"/>
              </a:rPr>
              <a:t>/</a:t>
            </a:r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团购金刚</a:t>
            </a:r>
            <a:endParaRPr lang="zh-CN" altLang="en-US" sz="900" dirty="0">
              <a:latin typeface="+mn-ea"/>
              <a:ea typeface="+mn-ea"/>
            </a:endParaRPr>
          </a:p>
        </p:txBody>
      </p:sp>
      <p:cxnSp>
        <p:nvCxnSpPr>
          <p:cNvPr id="132" name="直接箭头连接符 118"/>
          <p:cNvCxnSpPr>
            <a:stCxn id="131" idx="3"/>
            <a:endCxn id="127" idx="1"/>
          </p:cNvCxnSpPr>
          <p:nvPr/>
        </p:nvCxnSpPr>
        <p:spPr>
          <a:xfrm>
            <a:off x="2235073" y="2563327"/>
            <a:ext cx="211721" cy="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本框 149"/>
          <p:cNvSpPr txBox="1"/>
          <p:nvPr/>
        </p:nvSpPr>
        <p:spPr>
          <a:xfrm>
            <a:off x="3499823" y="2426698"/>
            <a:ext cx="968255" cy="276999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筛排列表</a:t>
            </a:r>
            <a:endParaRPr lang="zh-CN" altLang="en-US" sz="900" dirty="0">
              <a:latin typeface="+mn-ea"/>
              <a:ea typeface="+mn-ea"/>
            </a:endParaRPr>
          </a:p>
        </p:txBody>
      </p:sp>
      <p:cxnSp>
        <p:nvCxnSpPr>
          <p:cNvPr id="152" name="直接箭头连接符 151"/>
          <p:cNvCxnSpPr>
            <a:stCxn id="127" idx="3"/>
            <a:endCxn id="150" idx="1"/>
          </p:cNvCxnSpPr>
          <p:nvPr/>
        </p:nvCxnSpPr>
        <p:spPr>
          <a:xfrm>
            <a:off x="3144120" y="2563642"/>
            <a:ext cx="355703" cy="1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连接符 68"/>
          <p:cNvCxnSpPr>
            <a:stCxn id="102" idx="2"/>
            <a:endCxn id="127" idx="1"/>
          </p:cNvCxnSpPr>
          <p:nvPr/>
        </p:nvCxnSpPr>
        <p:spPr>
          <a:xfrm rot="5400000">
            <a:off x="2865170" y="1425841"/>
            <a:ext cx="719426" cy="1556177"/>
          </a:xfrm>
          <a:prstGeom prst="bentConnector4">
            <a:avLst>
              <a:gd name="adj1" fmla="val 40374"/>
              <a:gd name="adj2" fmla="val 106855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文本框 229"/>
          <p:cNvSpPr txBox="1"/>
          <p:nvPr/>
        </p:nvSpPr>
        <p:spPr>
          <a:xfrm>
            <a:off x="3323350" y="696849"/>
            <a:ext cx="2670654" cy="236118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决策未满足用户，推荐同榜单其它商户</a:t>
            </a:r>
            <a:endParaRPr lang="zh-CN" altLang="en-US" sz="900" dirty="0">
              <a:latin typeface="+mn-ea"/>
              <a:ea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698944" y="1184765"/>
            <a:ext cx="972372" cy="21544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榜单落地页</a:t>
            </a:r>
          </a:p>
        </p:txBody>
      </p:sp>
      <p:cxnSp>
        <p:nvCxnSpPr>
          <p:cNvPr id="51" name="肘形连接符 68"/>
          <p:cNvCxnSpPr>
            <a:stCxn id="50" idx="2"/>
            <a:endCxn id="29" idx="2"/>
          </p:cNvCxnSpPr>
          <p:nvPr/>
        </p:nvCxnSpPr>
        <p:spPr>
          <a:xfrm rot="5400000">
            <a:off x="6199859" y="331077"/>
            <a:ext cx="54404" cy="2083861"/>
          </a:xfrm>
          <a:prstGeom prst="bentConnector3">
            <a:avLst>
              <a:gd name="adj1" fmla="val 2634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5845097" y="1333377"/>
            <a:ext cx="918468" cy="276999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  <a:sym typeface="MiSans Medium" panose="00000600000000000000" pitchFamily="2" charset="-122"/>
              </a:rPr>
              <a:t>后序前置展示</a:t>
            </a:r>
            <a:endParaRPr lang="zh-CN" altLang="en-US" sz="900" dirty="0">
              <a:latin typeface="+mn-ea"/>
              <a:ea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2446794" y="2730221"/>
            <a:ext cx="800843" cy="276999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latin typeface="+mn-ea"/>
                <a:ea typeface="+mn-ea"/>
              </a:rPr>
              <a:t>点击排行榜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2382693" y="3175462"/>
            <a:ext cx="891803" cy="21544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239896" y="3843439"/>
            <a:ext cx="2105557" cy="21544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142" name="肘形连接符 68"/>
          <p:cNvCxnSpPr>
            <a:cxnSpLocks/>
            <a:endCxn id="97" idx="1"/>
          </p:cNvCxnSpPr>
          <p:nvPr/>
        </p:nvCxnSpPr>
        <p:spPr>
          <a:xfrm rot="16200000" flipH="1">
            <a:off x="2228942" y="2650869"/>
            <a:ext cx="305392" cy="1303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肘形连接符 68"/>
          <p:cNvCxnSpPr>
            <a:cxnSpLocks/>
            <a:stCxn id="97" idx="3"/>
            <a:endCxn id="29" idx="1"/>
          </p:cNvCxnSpPr>
          <p:nvPr/>
        </p:nvCxnSpPr>
        <p:spPr>
          <a:xfrm flipV="1">
            <a:off x="3247637" y="1292487"/>
            <a:ext cx="1451307" cy="1576234"/>
          </a:xfrm>
          <a:prstGeom prst="bentConnector3">
            <a:avLst>
              <a:gd name="adj1" fmla="val 920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"/>
          <p:cNvSpPr/>
          <p:nvPr/>
        </p:nvSpPr>
        <p:spPr>
          <a:xfrm>
            <a:off x="1352428" y="1207619"/>
            <a:ext cx="1885935" cy="3779262"/>
          </a:xfrm>
          <a:prstGeom prst="roundRect">
            <a:avLst>
              <a:gd name="adj" fmla="val 4117"/>
            </a:avLst>
          </a:prstGeom>
          <a:noFill/>
          <a:ln w="6350">
            <a:solidFill>
              <a:schemeClr val="bg1">
                <a:lumMod val="65000"/>
              </a:schemeClr>
            </a:solidFill>
            <a:prstDash val="lgDash"/>
            <a:miter lim="400000"/>
          </a:ln>
        </p:spPr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75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sz="675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999" y="74344"/>
            <a:ext cx="8413029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关键举措②完善用户决策动线提升用户心智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396A23-2B14-6D2F-8C31-B6AD7589C595}"/>
              </a:ext>
            </a:extLst>
          </p:cNvPr>
          <p:cNvSpPr txBox="1"/>
          <p:nvPr/>
        </p:nvSpPr>
        <p:spPr>
          <a:xfrm>
            <a:off x="4938774" y="3802754"/>
            <a:ext cx="1859415" cy="686248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猜喜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展示榜单标签，加速决策</a:t>
            </a:r>
            <a:endParaRPr lang="en-US" altLang="zh-CN" sz="9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上线时间：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月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10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日灰度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3%</a:t>
            </a:r>
            <a:endParaRPr lang="en-US" altLang="zh-CN" sz="9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E33A16-93B0-E8D5-688F-BC2070422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370" y="847446"/>
            <a:ext cx="1401139" cy="303393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15F67C9-15C4-8A9B-8403-7C6CD124C5ED}"/>
              </a:ext>
            </a:extLst>
          </p:cNvPr>
          <p:cNvSpPr txBox="1"/>
          <p:nvPr/>
        </p:nvSpPr>
        <p:spPr>
          <a:xfrm>
            <a:off x="6707898" y="3877284"/>
            <a:ext cx="1966466" cy="643640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POI-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强化榜单标签展示</a:t>
            </a:r>
            <a:endParaRPr lang="en-US" altLang="zh-CN" sz="9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上线时间：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月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9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日全量</a:t>
            </a:r>
            <a:endParaRPr lang="en-US" altLang="zh-CN" sz="900" dirty="0">
              <a:solidFill>
                <a:srgbClr val="FF0000"/>
              </a:solidFill>
              <a:latin typeface="+mn-ea"/>
              <a:ea typeface="+mn-ea"/>
            </a:endParaRPr>
          </a:p>
          <a:p>
            <a:endParaRPr lang="en-US" altLang="zh-CN" sz="9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87D73A-4487-C29B-B493-466D79447377}"/>
              </a:ext>
            </a:extLst>
          </p:cNvPr>
          <p:cNvSpPr txBox="1"/>
          <p:nvPr/>
        </p:nvSpPr>
        <p:spPr>
          <a:xfrm>
            <a:off x="251999" y="511125"/>
            <a:ext cx="8632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榜单融入用户决策动线，覆盖大搜、猜喜、</a:t>
            </a:r>
            <a:r>
              <a:rPr lang="en-US" altLang="zh-CN" sz="1200" dirty="0">
                <a:latin typeface="+mn-ea"/>
              </a:rPr>
              <a:t>POI</a:t>
            </a:r>
            <a:r>
              <a:rPr lang="zh-CN" altLang="en-US" sz="1200" dirty="0">
                <a:latin typeface="+mn-ea"/>
              </a:rPr>
              <a:t>页等流量阵地，提升用户需求承接能力及转化效率。</a:t>
            </a:r>
          </a:p>
        </p:txBody>
      </p:sp>
      <p:pic>
        <p:nvPicPr>
          <p:cNvPr id="9" name="推荐-人气榜">
            <a:hlinkClick r:id="" action="ppaction://media"/>
            <a:extLst>
              <a:ext uri="{FF2B5EF4-FFF2-40B4-BE49-F238E27FC236}">
                <a16:creationId xmlns:a16="http://schemas.microsoft.com/office/drawing/2014/main" id="{B58CF4C5-A105-3825-AD34-E27F3A5B78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146324" y="847683"/>
            <a:ext cx="1465740" cy="3168112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5F17C328-11C5-550B-CD55-3F0458C9B0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850" y="880574"/>
            <a:ext cx="1401138" cy="303393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7000295-D10C-A4F1-BFA2-25F90342C360}"/>
              </a:ext>
            </a:extLst>
          </p:cNvPr>
          <p:cNvSpPr/>
          <p:nvPr/>
        </p:nvSpPr>
        <p:spPr>
          <a:xfrm>
            <a:off x="390850" y="1371866"/>
            <a:ext cx="1465740" cy="169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333F2A-9E6C-DD98-E7A0-84C215403BCA}"/>
              </a:ext>
            </a:extLst>
          </p:cNvPr>
          <p:cNvSpPr txBox="1"/>
          <p:nvPr/>
        </p:nvSpPr>
        <p:spPr>
          <a:xfrm>
            <a:off x="239116" y="4004308"/>
            <a:ext cx="1801086" cy="231640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搜索（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  <a:ea typeface="+mn-ea"/>
              </a:rPr>
              <a:t>sug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）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承接品类找店需求</a:t>
            </a:r>
            <a:endParaRPr lang="en-US" altLang="zh-CN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3864213-9DBA-5579-1D83-53C8E389EA96}"/>
              </a:ext>
            </a:extLst>
          </p:cNvPr>
          <p:cNvSpPr txBox="1"/>
          <p:nvPr/>
        </p:nvSpPr>
        <p:spPr>
          <a:xfrm>
            <a:off x="1979486" y="3795277"/>
            <a:ext cx="2050450" cy="643640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搜索（列表）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产品化品类承接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示意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</a:p>
        </p:txBody>
      </p:sp>
      <p:pic>
        <p:nvPicPr>
          <p:cNvPr id="17" name="图片 16" descr="日程表&#10;&#10;AI 生成的内容可能不正确。">
            <a:extLst>
              <a:ext uri="{FF2B5EF4-FFF2-40B4-BE49-F238E27FC236}">
                <a16:creationId xmlns:a16="http://schemas.microsoft.com/office/drawing/2014/main" id="{03117071-FD35-A1F3-F6F1-DDE78AD1AF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9216" y="847446"/>
            <a:ext cx="1721247" cy="31373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1CCEFB9-36D0-B148-1BD8-2A2F4C7AAE92}"/>
              </a:ext>
            </a:extLst>
          </p:cNvPr>
          <p:cNvSpPr txBox="1"/>
          <p:nvPr/>
        </p:nvSpPr>
        <p:spPr>
          <a:xfrm>
            <a:off x="73736" y="4235948"/>
            <a:ext cx="1966466" cy="918048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带来榜单页</a:t>
            </a:r>
            <a:r>
              <a:rPr lang="en-US" altLang="zh-CN" dirty="0"/>
              <a:t>DAU 11w</a:t>
            </a:r>
          </a:p>
          <a:p>
            <a:r>
              <a:rPr lang="zh-CN" altLang="en-US" dirty="0"/>
              <a:t>转化率高于其它投放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CTR 3.49%</a:t>
            </a:r>
            <a:r>
              <a:rPr lang="zh-CN" altLang="en-US" dirty="0"/>
              <a:t>，</a:t>
            </a:r>
            <a:r>
              <a:rPr lang="en-US" altLang="zh-CN" dirty="0"/>
              <a:t>+0.82pp</a:t>
            </a:r>
            <a:r>
              <a:rPr lang="zh-CN" altLang="en-US" dirty="0"/>
              <a:t>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01A749-7ECE-0E95-B4DE-6ED02D09C7F9}"/>
              </a:ext>
            </a:extLst>
          </p:cNvPr>
          <p:cNvSpPr/>
          <p:nvPr/>
        </p:nvSpPr>
        <p:spPr>
          <a:xfrm>
            <a:off x="2300565" y="1896618"/>
            <a:ext cx="503511" cy="643639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778D4318-38CE-87DB-B0E1-44BBC3A7DF37}"/>
              </a:ext>
            </a:extLst>
          </p:cNvPr>
          <p:cNvSpPr/>
          <p:nvPr/>
        </p:nvSpPr>
        <p:spPr>
          <a:xfrm>
            <a:off x="1856590" y="2367967"/>
            <a:ext cx="186747" cy="23164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C34D21-091C-503F-D5EA-CB2976E1F89C}"/>
              </a:ext>
            </a:extLst>
          </p:cNvPr>
          <p:cNvSpPr txBox="1"/>
          <p:nvPr/>
        </p:nvSpPr>
        <p:spPr>
          <a:xfrm>
            <a:off x="2135660" y="4563532"/>
            <a:ext cx="1634803" cy="230832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预计时间：</a:t>
            </a:r>
            <a:r>
              <a:rPr lang="en-US" altLang="zh-CN" dirty="0"/>
              <a:t>Q1</a:t>
            </a:r>
            <a:r>
              <a:rPr lang="zh-CN" altLang="en-US" dirty="0"/>
              <a:t>上线</a:t>
            </a:r>
            <a:endParaRPr lang="en-US" altLang="zh-CN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7B00DF-7095-3E38-7DE6-722B2A744F33}"/>
              </a:ext>
            </a:extLst>
          </p:cNvPr>
          <p:cNvSpPr txBox="1"/>
          <p:nvPr/>
        </p:nvSpPr>
        <p:spPr>
          <a:xfrm>
            <a:off x="4966147" y="4424584"/>
            <a:ext cx="1826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带来榜单页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DAU 10w</a:t>
            </a:r>
          </a:p>
          <a:p>
            <a:pPr algn="ctr"/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</a:rPr>
              <a:t>AB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</a:rPr>
              <a:t>口径下，点击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</a:rPr>
              <a:t>PV +6.6%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</a:rPr>
              <a:t>、订单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</a:rPr>
              <a:t>+10.4%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</a:rPr>
              <a:t>，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</a:rPr>
              <a:t>GTV +9.5%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</a:rPr>
              <a:t>，预计本周后会继续扩量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8FE0D2-42B1-282D-790B-36657CB6EBA8}"/>
              </a:ext>
            </a:extLst>
          </p:cNvPr>
          <p:cNvSpPr txBox="1"/>
          <p:nvPr/>
        </p:nvSpPr>
        <p:spPr>
          <a:xfrm>
            <a:off x="6873729" y="4563084"/>
            <a:ext cx="163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900">
                <a:solidFill>
                  <a:schemeClr val="bg1">
                    <a:lumMod val="50000"/>
                  </a:schemeClr>
                </a:solidFill>
                <a:latin typeface="+mn-ea"/>
              </a:defRPr>
            </a:lvl1pPr>
          </a:lstStyle>
          <a:p>
            <a:pPr algn="ctr"/>
            <a:r>
              <a:rPr lang="zh-CN" altLang="en-US" dirty="0"/>
              <a:t>带来榜单页</a:t>
            </a:r>
            <a:r>
              <a:rPr lang="en-US" altLang="zh-CN" dirty="0"/>
              <a:t>DAU 51w</a:t>
            </a:r>
          </a:p>
          <a:p>
            <a:pPr algn="ctr"/>
            <a:r>
              <a:rPr lang="zh-CN" altLang="en-US" dirty="0">
                <a:effectLst/>
              </a:rPr>
              <a:t>点击率提升</a:t>
            </a:r>
            <a:r>
              <a:rPr lang="en-US" altLang="zh-CN" dirty="0">
                <a:effectLst/>
              </a:rPr>
              <a:t>+0.68pp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773549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00" y="74345"/>
            <a:ext cx="9044400" cy="420104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关键举措②完善用户决策动线提升用户心智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BDA9C5-8A54-62D8-45F1-75B40ACF996B}"/>
              </a:ext>
            </a:extLst>
          </p:cNvPr>
          <p:cNvSpPr txBox="1"/>
          <p:nvPr/>
        </p:nvSpPr>
        <p:spPr>
          <a:xfrm>
            <a:off x="252000" y="429841"/>
            <a:ext cx="5812436" cy="465763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榜单榜单落地页改版（设计示意图），预计时间：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月底上线</a:t>
            </a:r>
            <a:endParaRPr lang="en-US" altLang="zh-CN" sz="1200" dirty="0">
              <a:solidFill>
                <a:schemeClr val="tx1"/>
              </a:solidFill>
              <a:latin typeface="+mn-ea"/>
              <a:ea typeface="+mn-ea"/>
              <a:cs typeface="+mn-cs"/>
            </a:endParaRPr>
          </a:p>
        </p:txBody>
      </p:sp>
      <p:pic>
        <p:nvPicPr>
          <p:cNvPr id="11" name="图片 10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4096765-F1B9-859B-A8E3-B49444B36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27" y="829387"/>
            <a:ext cx="1699429" cy="3679828"/>
          </a:xfrm>
          <a:prstGeom prst="rect">
            <a:avLst/>
          </a:prstGeom>
        </p:spPr>
      </p:pic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9040D66-036B-3F88-761A-8F32E4F3E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043" y="829384"/>
            <a:ext cx="1699428" cy="3679825"/>
          </a:xfrm>
          <a:prstGeom prst="rect">
            <a:avLst/>
          </a:prstGeom>
        </p:spPr>
      </p:pic>
      <p:pic>
        <p:nvPicPr>
          <p:cNvPr id="14" name="图片 1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4CCE2EB-C36D-1DAA-FD00-9842D55F0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259" y="829384"/>
            <a:ext cx="1699428" cy="367982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251DF13-24BE-2F55-DEAF-47DE9D768E0A}"/>
              </a:ext>
            </a:extLst>
          </p:cNvPr>
          <p:cNvSpPr txBox="1"/>
          <p:nvPr/>
        </p:nvSpPr>
        <p:spPr>
          <a:xfrm>
            <a:off x="3320442" y="4577196"/>
            <a:ext cx="1801086" cy="231640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主题场景榜</a:t>
            </a:r>
            <a:endParaRPr lang="en-US" altLang="zh-CN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米菲PPT106">
            <a:extLst>
              <a:ext uri="{FF2B5EF4-FFF2-40B4-BE49-F238E27FC236}">
                <a16:creationId xmlns:a16="http://schemas.microsoft.com/office/drawing/2014/main" id="{55089E1C-A190-FFEA-D900-C5BD774DDFE3}"/>
              </a:ext>
            </a:extLst>
          </p:cNvPr>
          <p:cNvSpPr txBox="1"/>
          <p:nvPr/>
        </p:nvSpPr>
        <p:spPr>
          <a:xfrm>
            <a:off x="6957606" y="3742003"/>
            <a:ext cx="1611617" cy="7200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200" b="1">
                <a:solidFill>
                  <a:schemeClr val="tx1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加速决策转化</a:t>
            </a:r>
            <a:endParaRPr lang="zh-CN" altLang="en-US" dirty="0">
              <a:sym typeface="MiSans Medium" panose="00000600000000000000" pitchFamily="2" charset="-122"/>
            </a:endParaRPr>
          </a:p>
        </p:txBody>
      </p:sp>
      <p:sp>
        <p:nvSpPr>
          <p:cNvPr id="24" name="米菲PPT106">
            <a:extLst>
              <a:ext uri="{FF2B5EF4-FFF2-40B4-BE49-F238E27FC236}">
                <a16:creationId xmlns:a16="http://schemas.microsoft.com/office/drawing/2014/main" id="{4A18E868-BCD6-9BD7-CE64-09B612906593}"/>
              </a:ext>
            </a:extLst>
          </p:cNvPr>
          <p:cNvSpPr txBox="1"/>
          <p:nvPr/>
        </p:nvSpPr>
        <p:spPr>
          <a:xfrm>
            <a:off x="6943499" y="2501402"/>
            <a:ext cx="1611617" cy="7200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200" b="1">
                <a:solidFill>
                  <a:schemeClr val="tx1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ym typeface="MiSans Medium" panose="00000600000000000000" pitchFamily="2" charset="-122"/>
              </a:rPr>
              <a:t>强化</a:t>
            </a:r>
            <a:r>
              <a:rPr lang="en-US" altLang="zh-CN" dirty="0">
                <a:sym typeface="MiSans Medium" panose="00000600000000000000" pitchFamily="2" charset="-122"/>
              </a:rPr>
              <a:t>UGC</a:t>
            </a:r>
            <a:r>
              <a:rPr lang="zh-CN" altLang="en-US" dirty="0">
                <a:sym typeface="MiSans Medium" panose="00000600000000000000" pitchFamily="2" charset="-122"/>
              </a:rPr>
              <a:t>表达</a:t>
            </a:r>
            <a:endParaRPr lang="en-US" altLang="zh-CN" dirty="0">
              <a:sym typeface="MiSans Medium" panose="00000600000000000000" pitchFamily="2" charset="-122"/>
            </a:endParaRPr>
          </a:p>
        </p:txBody>
      </p:sp>
      <p:sp>
        <p:nvSpPr>
          <p:cNvPr id="27" name="米菲PPT106">
            <a:extLst>
              <a:ext uri="{FF2B5EF4-FFF2-40B4-BE49-F238E27FC236}">
                <a16:creationId xmlns:a16="http://schemas.microsoft.com/office/drawing/2014/main" id="{52883E89-D680-7DFD-6A32-8FBBFCF5C9DE}"/>
              </a:ext>
            </a:extLst>
          </p:cNvPr>
          <p:cNvSpPr txBox="1"/>
          <p:nvPr/>
        </p:nvSpPr>
        <p:spPr>
          <a:xfrm>
            <a:off x="6943499" y="1125080"/>
            <a:ext cx="1611617" cy="7200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 sz="1200" b="1">
                <a:solidFill>
                  <a:schemeClr val="tx1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ym typeface="MiSans Medium" panose="00000600000000000000" pitchFamily="2" charset="-122"/>
              </a:rPr>
              <a:t>承载榜单矩阵</a:t>
            </a:r>
            <a:endParaRPr lang="en-US" altLang="zh-CN" dirty="0">
              <a:sym typeface="MiSans Medium" panose="000006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6509F12-1FB7-9E3D-485A-2B016BBECF53}"/>
              </a:ext>
            </a:extLst>
          </p:cNvPr>
          <p:cNvSpPr txBox="1"/>
          <p:nvPr/>
        </p:nvSpPr>
        <p:spPr>
          <a:xfrm>
            <a:off x="330912" y="4577196"/>
            <a:ext cx="1801086" cy="231640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品类榜</a:t>
            </a:r>
            <a:endParaRPr lang="en-US" altLang="zh-CN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A82DEC7B-5EF5-884D-E688-3587181E6457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6222280" y="1485080"/>
            <a:ext cx="7212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BAC55E1-1C13-3CFB-B797-E8B6E7FA3F59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175037" y="3662584"/>
            <a:ext cx="782569" cy="439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8D73467-FB0E-9C4D-95D8-E5B1AB53855A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6167983" y="2861402"/>
            <a:ext cx="775516" cy="584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44639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999" y="74344"/>
            <a:ext cx="8413029" cy="427313"/>
          </a:xfrm>
        </p:spPr>
        <p:txBody>
          <a:bodyPr>
            <a:normAutofit/>
          </a:bodyPr>
          <a:lstStyle/>
          <a:p>
            <a:r>
              <a:rPr lang="zh-CN" altLang="en-US" sz="1900" dirty="0"/>
              <a:t>关键举措③优化榜单规则及引用资产建设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87D73A-4487-C29B-B493-466D79447377}"/>
              </a:ext>
            </a:extLst>
          </p:cNvPr>
          <p:cNvSpPr txBox="1"/>
          <p:nvPr/>
        </p:nvSpPr>
        <p:spPr>
          <a:xfrm>
            <a:off x="251999" y="566250"/>
            <a:ext cx="8632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一方面强化背书，提供用户决策直观依据。另一方面提升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商家身份荣誉感知，加强商户辅导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A19B4C-498F-5B25-F741-D93BECA9B26A}"/>
              </a:ext>
            </a:extLst>
          </p:cNvPr>
          <p:cNvSpPr txBox="1"/>
          <p:nvPr/>
        </p:nvSpPr>
        <p:spPr>
          <a:xfrm>
            <a:off x="3251242" y="4077403"/>
            <a:ext cx="2935550" cy="350680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线上商家荣誉标签（试点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6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城全量）</a:t>
            </a:r>
            <a:endParaRPr lang="en-US" altLang="zh-CN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2" name="图片 11" descr="图形用户界面, 网站&#10;&#10;AI 生成的内容可能不正确。">
            <a:extLst>
              <a:ext uri="{FF2B5EF4-FFF2-40B4-BE49-F238E27FC236}">
                <a16:creationId xmlns:a16="http://schemas.microsoft.com/office/drawing/2014/main" id="{65295C91-6206-490F-3166-4B50CB153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400" y="959912"/>
            <a:ext cx="1401540" cy="3034800"/>
          </a:xfrm>
          <a:prstGeom prst="rect">
            <a:avLst/>
          </a:prstGeom>
        </p:spPr>
      </p:pic>
      <p:pic>
        <p:nvPicPr>
          <p:cNvPr id="14" name="图片 13" descr="网站&#10;&#10;AI 生成的内容可能不正确。">
            <a:extLst>
              <a:ext uri="{FF2B5EF4-FFF2-40B4-BE49-F238E27FC236}">
                <a16:creationId xmlns:a16="http://schemas.microsoft.com/office/drawing/2014/main" id="{68B71D1A-C5D0-A7C2-3B0D-D815A1F53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860" y="959912"/>
            <a:ext cx="1401540" cy="3034800"/>
          </a:xfrm>
          <a:prstGeom prst="rect">
            <a:avLst/>
          </a:prstGeom>
        </p:spPr>
      </p:pic>
      <p:pic>
        <p:nvPicPr>
          <p:cNvPr id="15" name="图片 14" descr="网站&#10;&#10;AI 生成的内容可能不正确。">
            <a:extLst>
              <a:ext uri="{FF2B5EF4-FFF2-40B4-BE49-F238E27FC236}">
                <a16:creationId xmlns:a16="http://schemas.microsoft.com/office/drawing/2014/main" id="{B17556B2-AB77-6B38-128E-8C51B25B2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558" t="29889" r="19657" b="67625"/>
          <a:stretch>
            <a:fillRect/>
          </a:stretch>
        </p:blipFill>
        <p:spPr>
          <a:xfrm>
            <a:off x="3728136" y="1873051"/>
            <a:ext cx="820031" cy="94369"/>
          </a:xfrm>
          <a:prstGeom prst="rect">
            <a:avLst/>
          </a:prstGeom>
          <a:ln w="63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77FC7E9-7E7C-23C3-9667-D2655CCBC89A}"/>
              </a:ext>
            </a:extLst>
          </p:cNvPr>
          <p:cNvCxnSpPr>
            <a:stCxn id="15" idx="3"/>
          </p:cNvCxnSpPr>
          <p:nvPr/>
        </p:nvCxnSpPr>
        <p:spPr>
          <a:xfrm flipV="1">
            <a:off x="4548167" y="1920235"/>
            <a:ext cx="20175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手机屏幕截图&#10;&#10;AI 生成的内容可能不正确。">
            <a:extLst>
              <a:ext uri="{FF2B5EF4-FFF2-40B4-BE49-F238E27FC236}">
                <a16:creationId xmlns:a16="http://schemas.microsoft.com/office/drawing/2014/main" id="{5C21FF0D-AB89-1F22-A841-3F82A6465E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8733"/>
          <a:stretch>
            <a:fillRect/>
          </a:stretch>
        </p:blipFill>
        <p:spPr>
          <a:xfrm>
            <a:off x="6528595" y="959912"/>
            <a:ext cx="1135656" cy="3151282"/>
          </a:xfrm>
          <a:prstGeom prst="rect">
            <a:avLst/>
          </a:prstGeom>
        </p:spPr>
      </p:pic>
      <p:pic>
        <p:nvPicPr>
          <p:cNvPr id="20" name="图片 19" descr="手机屏幕截图&#10;&#10;AI 生成的内容可能不正确。">
            <a:extLst>
              <a:ext uri="{FF2B5EF4-FFF2-40B4-BE49-F238E27FC236}">
                <a16:creationId xmlns:a16="http://schemas.microsoft.com/office/drawing/2014/main" id="{DE9A5F74-5CF7-5AA5-472D-64DE6B236A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1592"/>
          <a:stretch>
            <a:fillRect/>
          </a:stretch>
        </p:blipFill>
        <p:spPr>
          <a:xfrm>
            <a:off x="7664251" y="1790359"/>
            <a:ext cx="1135656" cy="197552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61D97B2-E783-31BC-01A7-6419F8957387}"/>
              </a:ext>
            </a:extLst>
          </p:cNvPr>
          <p:cNvSpPr txBox="1"/>
          <p:nvPr/>
        </p:nvSpPr>
        <p:spPr>
          <a:xfrm>
            <a:off x="6758626" y="4111194"/>
            <a:ext cx="1801086" cy="418881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商家上榜诊断工具（预计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月底）</a:t>
            </a:r>
            <a:endParaRPr lang="en-US" altLang="zh-CN" sz="90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zh-CN" sz="9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04033F-F93B-AAE7-D894-0B28F821EBAF}"/>
              </a:ext>
            </a:extLst>
          </p:cNvPr>
          <p:cNvSpPr txBox="1"/>
          <p:nvPr/>
        </p:nvSpPr>
        <p:spPr>
          <a:xfrm>
            <a:off x="3336529" y="4502185"/>
            <a:ext cx="2550694" cy="507831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大搜标签</a:t>
            </a:r>
            <a:r>
              <a:rPr lang="en" altLang="zh-CN" dirty="0"/>
              <a:t>ctr+0.32pp</a:t>
            </a:r>
            <a:r>
              <a:rPr lang="zh-CN" altLang="en-US" dirty="0"/>
              <a:t>（</a:t>
            </a:r>
            <a:r>
              <a:rPr lang="en-US" altLang="zh-CN" dirty="0"/>
              <a:t>1.96%-&gt;2.27%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POI</a:t>
            </a:r>
            <a:r>
              <a:rPr lang="zh-CN" altLang="en-US" dirty="0"/>
              <a:t>详情页标签</a:t>
            </a:r>
            <a:r>
              <a:rPr lang="en" altLang="zh-CN" dirty="0"/>
              <a:t>ctr+0.12pp</a:t>
            </a:r>
            <a:r>
              <a:rPr lang="zh-CN" altLang="en-US" dirty="0"/>
              <a:t>（</a:t>
            </a:r>
            <a:r>
              <a:rPr lang="en-US" altLang="zh-CN" dirty="0"/>
              <a:t>0.65%-&gt;0.77% </a:t>
            </a:r>
            <a:r>
              <a:rPr lang="zh-CN" altLang="en-US" dirty="0"/>
              <a:t>），</a:t>
            </a:r>
            <a:r>
              <a:rPr lang="en-US" altLang="zh-CN" dirty="0"/>
              <a:t>POI</a:t>
            </a:r>
            <a:r>
              <a:rPr lang="zh-CN" altLang="en-US" dirty="0"/>
              <a:t>找店成功率</a:t>
            </a:r>
            <a:r>
              <a:rPr lang="en-US" altLang="zh-CN" dirty="0"/>
              <a:t>+0.19</a:t>
            </a:r>
            <a:r>
              <a:rPr lang="en" altLang="zh-CN" dirty="0"/>
              <a:t>pp</a:t>
            </a:r>
            <a:r>
              <a:rPr lang="zh-CN" altLang="en-US" dirty="0"/>
              <a:t>（</a:t>
            </a:r>
            <a:r>
              <a:rPr lang="en-US" altLang="zh-CN" dirty="0"/>
              <a:t>41.67%-&gt;41.87% </a:t>
            </a:r>
            <a:r>
              <a:rPr lang="zh-CN" altLang="en-US" dirty="0"/>
              <a:t>）</a:t>
            </a:r>
            <a:endParaRPr lang="en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ED55E5-6A0D-FB69-12EF-6E3C1F6CABBD}"/>
              </a:ext>
            </a:extLst>
          </p:cNvPr>
          <p:cNvSpPr txBox="1"/>
          <p:nvPr/>
        </p:nvSpPr>
        <p:spPr>
          <a:xfrm>
            <a:off x="6528595" y="4596331"/>
            <a:ext cx="2050829" cy="369332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补充美团侧榜单分析</a:t>
            </a:r>
            <a:endParaRPr lang="en-US" altLang="zh-CN" dirty="0"/>
          </a:p>
          <a:p>
            <a:r>
              <a:rPr lang="zh-CN" altLang="en-US" dirty="0"/>
              <a:t>根据商户赛道提供冲榜建议</a:t>
            </a:r>
            <a:endParaRPr lang="en-US" altLang="zh-CN" dirty="0"/>
          </a:p>
          <a:p>
            <a:r>
              <a:rPr lang="zh-CN" altLang="en-US" dirty="0"/>
              <a:t>通过同行行为牵引商户优化</a:t>
            </a:r>
            <a:endParaRPr lang="en-US" altLang="zh-CN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D585D3F-E529-9A77-B0A3-5B3B6DCC7B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61" y="1089787"/>
            <a:ext cx="1211290" cy="166089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C254CF7-055C-9684-BD95-2706656EDB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3531" y="1089787"/>
            <a:ext cx="1131979" cy="166089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A11AA58-7212-28A6-FE31-F032850FD0C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99" t="2799"/>
          <a:stretch/>
        </p:blipFill>
        <p:spPr>
          <a:xfrm>
            <a:off x="582815" y="2380312"/>
            <a:ext cx="1171331" cy="1614400"/>
          </a:xfrm>
          <a:prstGeom prst="rect">
            <a:avLst/>
          </a:prstGeom>
          <a:ln>
            <a:noFill/>
          </a:ln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FE4243D-869F-2B0A-5F14-4F58A0A11F1C}"/>
              </a:ext>
            </a:extLst>
          </p:cNvPr>
          <p:cNvSpPr txBox="1"/>
          <p:nvPr/>
        </p:nvSpPr>
        <p:spPr>
          <a:xfrm>
            <a:off x="584288" y="4081030"/>
            <a:ext cx="2365359" cy="418881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荣誉物料沿“常驻物料商家化、荣誉物料精致化”优化，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月启动</a:t>
            </a:r>
            <a:r>
              <a:rPr lang="en" altLang="zh-CN" sz="900" dirty="0">
                <a:solidFill>
                  <a:schemeClr val="tx1"/>
                </a:solidFill>
                <a:latin typeface="+mn-ea"/>
                <a:ea typeface="+mn-ea"/>
              </a:rPr>
              <a:t>Q2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ea typeface="+mn-ea"/>
              </a:rPr>
              <a:t>物料覆盖</a:t>
            </a:r>
          </a:p>
        </p:txBody>
      </p:sp>
      <p:pic>
        <p:nvPicPr>
          <p:cNvPr id="27" name="图片 26" descr="图片包含 室内, 桌子, 电脑, 小&#10;&#10;AI 生成的内容可能不正确。">
            <a:extLst>
              <a:ext uri="{FF2B5EF4-FFF2-40B4-BE49-F238E27FC236}">
                <a16:creationId xmlns:a16="http://schemas.microsoft.com/office/drawing/2014/main" id="{4D86D95B-C577-B647-41E2-DAE1BEA1D6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320" y="2373432"/>
            <a:ext cx="1220959" cy="16596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01E9C6A2-DB7D-1CE2-D0D1-1239B722CB8C}"/>
              </a:ext>
            </a:extLst>
          </p:cNvPr>
          <p:cNvSpPr txBox="1"/>
          <p:nvPr/>
        </p:nvSpPr>
        <p:spPr>
          <a:xfrm>
            <a:off x="507418" y="4524117"/>
            <a:ext cx="2743824" cy="507831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基于竞争焦灼及榜单</a:t>
            </a:r>
            <a:r>
              <a:rPr lang="en-US" altLang="zh-CN" dirty="0"/>
              <a:t>Top</a:t>
            </a:r>
            <a:r>
              <a:rPr lang="zh-CN" altLang="en-US" dirty="0"/>
              <a:t>门店，</a:t>
            </a:r>
            <a:r>
              <a:rPr lang="zh-CN" altLang="en-US" dirty="0">
                <a:effectLst/>
              </a:rPr>
              <a:t>季度保障</a:t>
            </a:r>
            <a:r>
              <a:rPr lang="en-US" altLang="zh-CN" dirty="0">
                <a:effectLst/>
              </a:rPr>
              <a:t>300</a:t>
            </a:r>
            <a:r>
              <a:rPr lang="zh-CN" altLang="en-US" dirty="0">
                <a:effectLst/>
              </a:rPr>
              <a:t>家上榜门店奖牌物料进店和</a:t>
            </a:r>
            <a:r>
              <a:rPr lang="en-US" altLang="zh-CN" dirty="0">
                <a:effectLst/>
              </a:rPr>
              <a:t>3</a:t>
            </a:r>
            <a:r>
              <a:rPr lang="zh-CN" altLang="en-US" dirty="0">
                <a:effectLst/>
              </a:rPr>
              <a:t>万家常规荣誉海报进店</a:t>
            </a:r>
          </a:p>
        </p:txBody>
      </p:sp>
    </p:spTree>
    <p:extLst>
      <p:ext uri="{BB962C8B-B14F-4D97-AF65-F5344CB8AC3E}">
        <p14:creationId xmlns:p14="http://schemas.microsoft.com/office/powerpoint/2010/main" val="113692844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附  录</a:t>
            </a:r>
          </a:p>
        </p:txBody>
      </p:sp>
    </p:spTree>
    <p:extLst>
      <p:ext uri="{BB962C8B-B14F-4D97-AF65-F5344CB8AC3E}">
        <p14:creationId xmlns:p14="http://schemas.microsoft.com/office/powerpoint/2010/main" val="2190644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D440A-4B3E-18BF-24E9-402CF65B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FA572-AE23-A270-1FF4-4964B52D9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74344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榜单用户来源分渠道数据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28B8F56-8ACA-4C2F-945E-F93E24B6F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810957"/>
              </p:ext>
            </p:extLst>
          </p:nvPr>
        </p:nvGraphicFramePr>
        <p:xfrm>
          <a:off x="252000" y="641350"/>
          <a:ext cx="8618953" cy="41412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3853">
                  <a:extLst>
                    <a:ext uri="{9D8B030D-6E8A-4147-A177-3AD203B41FA5}">
                      <a16:colId xmlns:a16="http://schemas.microsoft.com/office/drawing/2014/main" val="11720460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1897699934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388968089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2237017451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2053007063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12160388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1285049556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1772048945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3209381316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4131779458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2182507432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864794449"/>
                    </a:ext>
                  </a:extLst>
                </a:gridCol>
                <a:gridCol w="500418">
                  <a:extLst>
                    <a:ext uri="{9D8B030D-6E8A-4147-A177-3AD203B41FA5}">
                      <a16:colId xmlns:a16="http://schemas.microsoft.com/office/drawing/2014/main" val="955993640"/>
                    </a:ext>
                  </a:extLst>
                </a:gridCol>
                <a:gridCol w="1610084">
                  <a:extLst>
                    <a:ext uri="{9D8B030D-6E8A-4147-A177-3AD203B41FA5}">
                      <a16:colId xmlns:a16="http://schemas.microsoft.com/office/drawing/2014/main" val="4120657922"/>
                    </a:ext>
                  </a:extLst>
                </a:gridCol>
              </a:tblGrid>
              <a:tr h="177249">
                <a:tc rowSpan="2">
                  <a:txBody>
                    <a:bodyPr/>
                    <a:lstStyle/>
                    <a:p>
                      <a:pPr marL="0" marR="0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榜单用户来源（万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月去重，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DUV/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占比）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b="1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b="1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b="1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/>
                      <a:r>
                        <a:rPr lang="en-US" sz="900" b="1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月 </a:t>
                      </a:r>
                      <a:r>
                        <a:rPr lang="en-US" sz="900" b="1" dirty="0">
                          <a:effectLst/>
                          <a:latin typeface="+mn-ea"/>
                          <a:ea typeface="+mn-ea"/>
                        </a:rPr>
                        <a:t>VS12</a:t>
                      </a:r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主要举措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697176"/>
                  </a:ext>
                </a:extLst>
              </a:tr>
              <a:tr h="3244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整体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美团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点评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整体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  <a:latin typeface="+mn-ea"/>
                          <a:ea typeface="+mn-ea"/>
                        </a:rPr>
                        <a:t>美团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点评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整体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  <a:latin typeface="+mn-ea"/>
                          <a:ea typeface="+mn-ea"/>
                        </a:rPr>
                        <a:t>美团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点评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  <a:latin typeface="+mn-ea"/>
                          <a:ea typeface="+mn-ea"/>
                        </a:rPr>
                        <a:t>整体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美团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点评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99841"/>
                  </a:ext>
                </a:extLst>
              </a:tr>
              <a:tr h="5389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榜单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DAU</a:t>
                      </a:r>
                      <a:endParaRPr lang="en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95" marR="6395" marT="639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3,029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1,628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1,397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3,076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1,624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1,449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3,495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1,911 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1,581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15.37%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17.42%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13.17%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767266"/>
                  </a:ext>
                </a:extLst>
              </a:tr>
              <a:tr h="538954"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页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1392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654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736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1572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765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806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1999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1048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950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43.61%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60.12%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29.08%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美团侧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日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页榜单标签强化全量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808021"/>
                  </a:ext>
                </a:extLst>
              </a:tr>
              <a:tr h="264249">
                <a:tc>
                  <a:txBody>
                    <a:bodyPr/>
                    <a:lstStyle/>
                    <a:p>
                      <a:pPr marL="0" marR="0" algn="r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45.96%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 dirty="0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40.19%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52.69%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51.12%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47.11%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55.63%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57.19%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54.81%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60.10%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 dirty="0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11.23pp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 dirty="0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14.62pp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 dirty="0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7.41pp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877575"/>
                  </a:ext>
                </a:extLst>
              </a:tr>
              <a:tr h="538954">
                <a:tc>
                  <a:txBody>
                    <a:bodyPr/>
                    <a:lstStyle/>
                    <a:p>
                      <a:pPr marL="0" marR="0" algn="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美食频道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1053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520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528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1095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542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549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1217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574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639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15.61%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10.38%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21.06%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美团侧春节期间优化异地榜单频道金刚及瓷片位动线，点评侧榜单瓷片位支持新发榜样式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404797"/>
                  </a:ext>
                </a:extLst>
              </a:tr>
              <a:tr h="264249">
                <a:tc>
                  <a:txBody>
                    <a:bodyPr/>
                    <a:lstStyle/>
                    <a:p>
                      <a:pPr marL="0" marR="0" algn="r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34.76%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31.97%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37.81%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35.59%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33.39%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37.91%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34.82%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30.05%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40.45%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0.06pp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-1.92pp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2.64pp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269166"/>
                  </a:ext>
                </a:extLst>
              </a:tr>
              <a:tr h="234330">
                <a:tc>
                  <a:txBody>
                    <a:bodyPr/>
                    <a:lstStyle/>
                    <a:p>
                      <a:pPr marL="0" marR="0" algn="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大搜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含</a:t>
                      </a:r>
                      <a:r>
                        <a:rPr lang="en-US" sz="900" dirty="0" err="1">
                          <a:effectLst/>
                          <a:latin typeface="+mn-ea"/>
                          <a:ea typeface="+mn-ea"/>
                        </a:rPr>
                        <a:t>sug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595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561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34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658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626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704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656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49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18.35%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16.85%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43.07%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</a:rPr>
                        <a:t>美团侧</a:t>
                      </a: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+mn-ea"/>
                        </a:rPr>
                        <a:t>sug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</a:rPr>
                        <a:t>投放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</a:rPr>
                        <a:t>query17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</a:rPr>
                        <a:t>个品类（覆盖火锅、自助餐、烧烤、西餐、烤肉等），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</a:rPr>
                        <a:t>224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</a:rPr>
                        <a:t>个词。点评侧搜索动线优化</a:t>
                      </a: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+mn-ea"/>
                        </a:rPr>
                        <a:t>sug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</a:rPr>
                        <a:t>及交互</a:t>
                      </a:r>
                      <a:endParaRPr lang="en-US" altLang="zh-CN" sz="9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13745"/>
                  </a:ext>
                </a:extLst>
              </a:tr>
              <a:tr h="267376">
                <a:tc>
                  <a:txBody>
                    <a:bodyPr/>
                    <a:lstStyle/>
                    <a:p>
                      <a:pPr marL="0" marR="0" algn="r"/>
                      <a:endParaRPr lang="zh-CN" altLang="en-US" sz="90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19.65%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34.47%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2.43%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21.40%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38.53%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2.24%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20.15%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34.31%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 dirty="0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3.07%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0.5pp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-0.17pp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0.64pp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538341"/>
                  </a:ext>
                </a:extLst>
              </a:tr>
              <a:tr h="234330">
                <a:tc>
                  <a:txBody>
                    <a:bodyPr/>
                    <a:lstStyle/>
                    <a:p>
                      <a:pPr marL="0" marR="0" algn="r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0.86%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1.60%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5.89%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11.16%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6.12%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11.20%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5.26pp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 dirty="0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9.6pp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84715"/>
                  </a:ext>
                </a:extLst>
              </a:tr>
              <a:tr h="264249">
                <a:tc>
                  <a:txBody>
                    <a:bodyPr/>
                    <a:lstStyle/>
                    <a:p>
                      <a:pPr marL="0" marR="0" algn="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首页猜喜</a:t>
                      </a: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413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329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633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492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835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218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617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101.97%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100.00%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87.25%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美团侧猜喜展示榜单标签，加速决策，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日放量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3%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。点评侧首页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feed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分发榜单卡</a:t>
                      </a:r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1.30</a:t>
                      </a:r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全量</a:t>
                      </a:r>
                      <a:endParaRPr lang="en-US" altLang="zh-CN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40052"/>
                  </a:ext>
                </a:extLst>
              </a:tr>
              <a:tr h="264249">
                <a:tc>
                  <a:txBody>
                    <a:bodyPr/>
                    <a:lstStyle/>
                    <a:p>
                      <a:pPr marL="0" marR="0" algn="r"/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13.64%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23.58%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20.57%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33.98%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23.88%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11.39%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zh-CN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39.02%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10.23pp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6.24pp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700" b="0" i="1" u="none" strike="noStrike" dirty="0">
                          <a:solidFill>
                            <a:srgbClr val="7F7F7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15.44pp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r"/>
                      <a:endParaRPr lang="zh-CN" altLang="en-US" sz="900" i="1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800" marR="50800" marT="6350" marB="63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489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30350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D440A-4B3E-18BF-24E9-402CF65B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FA572-AE23-A270-1FF4-4964B52D9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74344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榜单覆盖现状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82C37F4-BFE9-8A35-B4FC-DBDF8E7E8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664140"/>
              </p:ext>
            </p:extLst>
          </p:nvPr>
        </p:nvGraphicFramePr>
        <p:xfrm>
          <a:off x="419100" y="718089"/>
          <a:ext cx="8490028" cy="3688599"/>
        </p:xfrm>
        <a:graphic>
          <a:graphicData uri="http://schemas.openxmlformats.org/drawingml/2006/table">
            <a:tbl>
              <a:tblPr/>
              <a:tblGrid>
                <a:gridCol w="666510">
                  <a:extLst>
                    <a:ext uri="{9D8B030D-6E8A-4147-A177-3AD203B41FA5}">
                      <a16:colId xmlns:a16="http://schemas.microsoft.com/office/drawing/2014/main" val="1658667982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3639891694"/>
                    </a:ext>
                  </a:extLst>
                </a:gridCol>
                <a:gridCol w="550588">
                  <a:extLst>
                    <a:ext uri="{9D8B030D-6E8A-4147-A177-3AD203B41FA5}">
                      <a16:colId xmlns:a16="http://schemas.microsoft.com/office/drawing/2014/main" val="1076736027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1968759967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2017088461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1904321230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3266772157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357477082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415047296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2105812219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3486472905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3317009714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2752754463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2141004096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666738131"/>
                    </a:ext>
                  </a:extLst>
                </a:gridCol>
                <a:gridCol w="519495">
                  <a:extLst>
                    <a:ext uri="{9D8B030D-6E8A-4147-A177-3AD203B41FA5}">
                      <a16:colId xmlns:a16="http://schemas.microsoft.com/office/drawing/2014/main" val="379360741"/>
                    </a:ext>
                  </a:extLst>
                </a:gridCol>
              </a:tblGrid>
              <a:tr h="411192">
                <a:tc rowSpan="2" gridSpan="2">
                  <a:txBody>
                    <a:bodyPr/>
                    <a:lstStyle/>
                    <a:p>
                      <a:pPr marL="0" marR="0" algn="ctr"/>
                      <a:endParaRPr lang="zh-CN" altLang="en-US" sz="900" dirty="0">
                        <a:effectLst/>
                      </a:endParaRP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algn="ctr"/>
                      <a:endParaRPr lang="zh-CN" altLang="en-US" sz="900" dirty="0">
                        <a:effectLst/>
                      </a:endParaRP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到餐整体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美团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点评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963961"/>
                  </a:ext>
                </a:extLst>
              </a:tr>
              <a:tr h="798393">
                <a:tc gridSpan="2" vMerge="1">
                  <a:txBody>
                    <a:bodyPr/>
                    <a:lstStyle/>
                    <a:p>
                      <a:endParaRPr dirty="0"/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人气榜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好评榜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</a:rPr>
                        <a:t>当地人推荐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特色菜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热门榜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口味榜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环境榜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服务榜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好评榜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</a:rPr>
                        <a:t>销量榜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</a:rPr>
                        <a:t>打卡人气榜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</a:rPr>
                        <a:t>新店榜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</a:rPr>
                        <a:t>城市生活指南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281269"/>
                  </a:ext>
                </a:extLst>
              </a:tr>
              <a:tr h="411192">
                <a:tc rowSpan="3"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城市覆盖数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</a:rPr>
                        <a:t>高线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124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121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>
                          <a:effectLst/>
                        </a:rPr>
                        <a:t>118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solidFill>
                            <a:srgbClr val="333333"/>
                          </a:solidFill>
                          <a:effectLst/>
                        </a:rPr>
                        <a:t>83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solidFill>
                            <a:srgbClr val="333333"/>
                          </a:solidFill>
                          <a:effectLst/>
                        </a:rPr>
                        <a:t>89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121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121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121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121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121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83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95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120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solidFill>
                            <a:srgbClr val="333333"/>
                          </a:solidFill>
                          <a:effectLst/>
                        </a:rPr>
                        <a:t>99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52183"/>
                  </a:ext>
                </a:extLst>
              </a:tr>
              <a:tr h="4111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中低线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885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879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859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solidFill>
                            <a:srgbClr val="333333"/>
                          </a:solidFill>
                          <a:effectLst/>
                        </a:rPr>
                        <a:t>480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417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883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883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883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883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883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543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684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effectLst/>
                        </a:rPr>
                        <a:t>863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/>
                      <a:r>
                        <a:rPr lang="en-US" altLang="zh-CN" sz="900" dirty="0">
                          <a:solidFill>
                            <a:srgbClr val="333333"/>
                          </a:solidFill>
                          <a:effectLst/>
                        </a:rPr>
                        <a:t>403</a:t>
                      </a:r>
                      <a:endParaRPr lang="zh-CN" altLang="en-US" sz="900" dirty="0">
                        <a:effectLst/>
                      </a:endParaRP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991303"/>
                  </a:ext>
                </a:extLst>
              </a:tr>
              <a:tr h="423054">
                <a:tc vMerge="1">
                  <a:txBody>
                    <a:bodyPr/>
                    <a:lstStyle/>
                    <a:p>
                      <a:pPr marL="0" marR="0" algn="ctr" defTabSz="685800" rtl="0" eaLnBrk="1" latinLnBrk="0" hangingPunct="1"/>
                      <a:endParaRPr lang="zh-CN" altLang="en-US" sz="9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合计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1,009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977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563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779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983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502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163812"/>
                  </a:ext>
                </a:extLst>
              </a:tr>
              <a:tr h="411192">
                <a:tc rowSpan="3"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门店覆盖数</a:t>
                      </a:r>
                      <a:endParaRPr lang="en-US" altLang="zh-CN" sz="900" dirty="0">
                        <a:effectLst/>
                      </a:endParaRPr>
                    </a:p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（万）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</a:rPr>
                        <a:t>高线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307.2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35.8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28.3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28.3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28.3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12.3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78948"/>
                  </a:ext>
                </a:extLst>
              </a:tr>
              <a:tr h="4111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>
                          <a:effectLst/>
                        </a:rPr>
                        <a:t>中低线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540.1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30.5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42.8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24.8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25.1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26.1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119649"/>
                  </a:ext>
                </a:extLst>
              </a:tr>
              <a:tr h="411192">
                <a:tc vMerge="1">
                  <a:txBody>
                    <a:bodyPr/>
                    <a:lstStyle/>
                    <a:p>
                      <a:pPr marL="0" marR="0" algn="ctr"/>
                      <a:endParaRPr lang="zh-CN" altLang="en-US" sz="900" dirty="0">
                        <a:effectLst/>
                      </a:endParaRP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</a:rPr>
                        <a:t>合计</a:t>
                      </a:r>
                    </a:p>
                  </a:txBody>
                  <a:tcPr marL="33994" marR="33994" marT="4249" marB="4249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847.3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59.1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7.7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78.6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53.8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53.2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53.4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52.5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18.0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25.7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69906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1BBA800-0547-14CC-5765-B9CE4E8DE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141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10105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3"/>
          <p:cNvSpPr txBox="1"/>
          <p:nvPr/>
        </p:nvSpPr>
        <p:spPr>
          <a:xfrm>
            <a:off x="213612" y="123824"/>
            <a:ext cx="8583088" cy="26603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/>
              <a:t>榜单流量分析</a:t>
            </a:r>
            <a:r>
              <a:rPr kumimoji="1" lang="en-US" altLang="zh-CN" dirty="0"/>
              <a:t>	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32980" y="1379788"/>
          <a:ext cx="5158167" cy="123380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19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8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城市结构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effectLst/>
                        </a:rPr>
                        <a:t>△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意向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UV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effectLst/>
                        </a:rPr>
                        <a:t>△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实付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GTV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8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高线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112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468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3,880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468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845">
                <a:tc>
                  <a:txBody>
                    <a:bodyPr/>
                    <a:lstStyle/>
                    <a:p>
                      <a:pPr marL="0" indent="180975" algn="ctr"/>
                      <a:r>
                        <a:rPr lang="en-US" altLang="zh-CN" sz="9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9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79</a:t>
                      </a:r>
                      <a:endParaRPr lang="zh-CN" altLang="en-US" sz="90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/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571</a:t>
                      </a:r>
                      <a:endParaRPr lang="zh-CN" altLang="en-US" sz="90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845">
                <a:tc>
                  <a:txBody>
                    <a:bodyPr/>
                    <a:lstStyle/>
                    <a:p>
                      <a:pPr marL="0" indent="180975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175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/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7,884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845">
                <a:tc>
                  <a:txBody>
                    <a:bodyPr/>
                    <a:lstStyle/>
                    <a:p>
                      <a:pPr marL="0" indent="180975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/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3,188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7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中低线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41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46800" marT="0" marB="0" anchor="ctr"/>
                </a:tc>
                <a:tc>
                  <a:txBody>
                    <a:bodyPr/>
                    <a:lstStyle/>
                    <a:p>
                      <a:pPr marL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2,226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8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下沉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4680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938</a:t>
                      </a:r>
                      <a:endParaRPr lang="zh-CN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4680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1163942" y="1184844"/>
            <a:ext cx="2401977" cy="17786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900"/>
              </a:lnSpc>
              <a:buNone/>
            </a:pPr>
            <a:r>
              <a:rPr lang="zh-CN" altLang="en-US" sz="900" dirty="0">
                <a:solidFill>
                  <a:sysClr val="windowText" lastClr="000000"/>
                </a:solidFill>
              </a:rPr>
              <a:t>美团人气榜，平均高</a:t>
            </a:r>
            <a:r>
              <a:rPr lang="en-US" altLang="zh-CN" sz="900" dirty="0">
                <a:solidFill>
                  <a:sysClr val="windowText" lastClr="000000"/>
                </a:solidFill>
              </a:rPr>
              <a:t>1</a:t>
            </a:r>
            <a:r>
              <a:rPr lang="zh-CN" altLang="en-US" sz="900" dirty="0">
                <a:solidFill>
                  <a:sysClr val="windowText" lastClr="000000"/>
                </a:solidFill>
              </a:rPr>
              <a:t>名的数据差异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6258111" y="1117993"/>
            <a:ext cx="2401977" cy="13370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900"/>
              </a:lnSpc>
              <a:buNone/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点评热门榜，平均高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</a:rPr>
              <a:t>名的数据差异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161411" y="1308129"/>
          <a:ext cx="2595378" cy="685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65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99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城市结构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effectLst/>
                        </a:rPr>
                        <a:t>△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意向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UV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effectLst/>
                        </a:rPr>
                        <a:t>△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实付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GTV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高线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145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873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999">
                <a:tc>
                  <a:txBody>
                    <a:bodyPr/>
                    <a:lstStyle/>
                    <a:p>
                      <a:pPr marL="0" indent="180975"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256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1,922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999">
                <a:tc>
                  <a:txBody>
                    <a:bodyPr/>
                    <a:lstStyle/>
                    <a:p>
                      <a:pPr marL="0" indent="180975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270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999">
                <a:tc>
                  <a:txBody>
                    <a:bodyPr/>
                    <a:lstStyle/>
                    <a:p>
                      <a:pPr marL="0" indent="180975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81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438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232978" y="482608"/>
            <a:ext cx="8784262" cy="560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latin typeface="+mn-ea"/>
              </a:rPr>
              <a:t>以美团指数榜中较有影响力的美团人气榜为例，对比点评较有影响力的热门榜和同定位的销量榜。流量空间看，高线城市美团人气榜上榜门店不如点评榜单。流量结构上看，</a:t>
            </a:r>
            <a:r>
              <a:rPr lang="en-US" altLang="zh-CN" sz="1100" dirty="0">
                <a:latin typeface="+mn-ea"/>
              </a:rPr>
              <a:t>S</a:t>
            </a:r>
            <a:r>
              <a:rPr lang="zh-CN" altLang="en-US" sz="1100" dirty="0">
                <a:latin typeface="+mn-ea"/>
              </a:rPr>
              <a:t>级城市美团人气榜冲榜的流量权益不足，高线城市部分排名的流量权益差存在优化空间</a:t>
            </a:r>
          </a:p>
        </p:txBody>
      </p:sp>
      <p:graphicFrame>
        <p:nvGraphicFramePr>
          <p:cNvPr id="26" name="图表 25"/>
          <p:cNvGraphicFramePr/>
          <p:nvPr/>
        </p:nvGraphicFramePr>
        <p:xfrm>
          <a:off x="15967" y="2818189"/>
          <a:ext cx="1905884" cy="18619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图表 26"/>
          <p:cNvGraphicFramePr/>
          <p:nvPr/>
        </p:nvGraphicFramePr>
        <p:xfrm>
          <a:off x="1921851" y="2817721"/>
          <a:ext cx="1765401" cy="1862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图表 27"/>
          <p:cNvGraphicFramePr/>
          <p:nvPr/>
        </p:nvGraphicFramePr>
        <p:xfrm>
          <a:off x="3687253" y="2809692"/>
          <a:ext cx="1703898" cy="1862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6161411" y="2032464"/>
          <a:ext cx="2595378" cy="685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65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点评销量榜，平均高</a:t>
                      </a:r>
                      <a:r>
                        <a:rPr lang="en-US" altLang="zh-CN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r>
                        <a:rPr lang="zh-CN" altLang="en-US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名的数据差异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高线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3,278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180975"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135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6,833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180975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63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1,763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180975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43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1,273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46800" marT="0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" name="图表 30"/>
          <p:cNvGraphicFramePr/>
          <p:nvPr/>
        </p:nvGraphicFramePr>
        <p:xfrm>
          <a:off x="5531632" y="2816042"/>
          <a:ext cx="1807230" cy="1862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33" name="直接连接符 29"/>
          <p:cNvCxnSpPr/>
          <p:nvPr/>
        </p:nvCxnSpPr>
        <p:spPr>
          <a:xfrm flipV="1">
            <a:off x="5461387" y="1251694"/>
            <a:ext cx="0" cy="34267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图表 38"/>
          <p:cNvGraphicFramePr/>
          <p:nvPr/>
        </p:nvGraphicFramePr>
        <p:xfrm>
          <a:off x="7338862" y="2816042"/>
          <a:ext cx="1705297" cy="1862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17" name="肘形连接符 68"/>
          <p:cNvCxnSpPr>
            <a:cxnSpLocks/>
            <a:stCxn id="26" idx="2"/>
          </p:cNvCxnSpPr>
          <p:nvPr/>
        </p:nvCxnSpPr>
        <p:spPr>
          <a:xfrm rot="5400000" flipH="1" flipV="1">
            <a:off x="4153046" y="1494305"/>
            <a:ext cx="1677" cy="6369953"/>
          </a:xfrm>
          <a:prstGeom prst="bentConnector4">
            <a:avLst>
              <a:gd name="adj1" fmla="val -13631485"/>
              <a:gd name="adj2" fmla="val 100074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图形用户界面, 网站&#10;&#10;AI 生成的内容可能不正确。">
            <a:extLst>
              <a:ext uri="{FF2B5EF4-FFF2-40B4-BE49-F238E27FC236}">
                <a16:creationId xmlns:a16="http://schemas.microsoft.com/office/drawing/2014/main" id="{D57A3CC7-DFF7-B178-47D1-4A4C7953F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901" y="3187230"/>
            <a:ext cx="796653" cy="1726496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402" y="15438"/>
            <a:ext cx="7664380" cy="427313"/>
          </a:xfrm>
        </p:spPr>
        <p:txBody>
          <a:bodyPr>
            <a:normAutofit/>
          </a:bodyPr>
          <a:lstStyle/>
          <a:p>
            <a:r>
              <a:rPr lang="en-US" altLang="zh-CN" sz="2100" dirty="0">
                <a:latin typeface="+mn-ea"/>
                <a:ea typeface="+mn-ea"/>
              </a:rPr>
              <a:t>AI</a:t>
            </a:r>
            <a:r>
              <a:rPr lang="zh-CN" altLang="en-US" sz="2100" dirty="0">
                <a:latin typeface="+mn-ea"/>
                <a:ea typeface="+mn-ea"/>
              </a:rPr>
              <a:t>对榜单的机会和挑战</a:t>
            </a:r>
            <a:r>
              <a:rPr lang="en-US" altLang="zh-CN" sz="2100" dirty="0">
                <a:latin typeface="+mn-ea"/>
                <a:ea typeface="+mn-ea"/>
              </a:rPr>
              <a:t>——</a:t>
            </a:r>
            <a:r>
              <a:rPr lang="zh-CN" altLang="en-US" sz="2100" dirty="0">
                <a:latin typeface="+mn-ea"/>
                <a:ea typeface="+mn-ea"/>
              </a:rPr>
              <a:t>扫街榜为例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733830" y="1981580"/>
            <a:ext cx="10379841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69A49B8-FDFA-5CFA-86BA-B60453DD430F}"/>
              </a:ext>
            </a:extLst>
          </p:cNvPr>
          <p:cNvSpPr/>
          <p:nvPr/>
        </p:nvSpPr>
        <p:spPr>
          <a:xfrm>
            <a:off x="147973" y="1310978"/>
            <a:ext cx="4366893" cy="182549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5DBF8B8-3FFA-620B-9428-E4772F75B32A}"/>
              </a:ext>
            </a:extLst>
          </p:cNvPr>
          <p:cNvSpPr/>
          <p:nvPr/>
        </p:nvSpPr>
        <p:spPr>
          <a:xfrm>
            <a:off x="210161" y="1380119"/>
            <a:ext cx="1809715" cy="1711288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飞行街景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0C98F78-ADC2-A0E3-C80A-44927B4CCEE9}"/>
              </a:ext>
            </a:extLst>
          </p:cNvPr>
          <p:cNvSpPr/>
          <p:nvPr/>
        </p:nvSpPr>
        <p:spPr>
          <a:xfrm>
            <a:off x="275931" y="1843509"/>
            <a:ext cx="1701925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店面位置实景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1078894-B7E9-BAEA-5388-8C542D58D32C}"/>
              </a:ext>
            </a:extLst>
          </p:cNvPr>
          <p:cNvSpPr/>
          <p:nvPr/>
        </p:nvSpPr>
        <p:spPr>
          <a:xfrm>
            <a:off x="267558" y="2246141"/>
            <a:ext cx="1701925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大厅、包间实景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EAA768-C4A9-5DF2-9A3E-E9A6E4EC154C}"/>
              </a:ext>
            </a:extLst>
          </p:cNvPr>
          <p:cNvSpPr/>
          <p:nvPr/>
        </p:nvSpPr>
        <p:spPr>
          <a:xfrm>
            <a:off x="266073" y="2650511"/>
            <a:ext cx="1701925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周边设施实景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A86D27BD-1803-A905-C155-D436B3213490}"/>
              </a:ext>
            </a:extLst>
          </p:cNvPr>
          <p:cNvSpPr/>
          <p:nvPr/>
        </p:nvSpPr>
        <p:spPr>
          <a:xfrm>
            <a:off x="2144644" y="2092364"/>
            <a:ext cx="371789" cy="40228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9DA69D-22B6-6EF1-44A0-834DE071C741}"/>
              </a:ext>
            </a:extLst>
          </p:cNvPr>
          <p:cNvSpPr/>
          <p:nvPr/>
        </p:nvSpPr>
        <p:spPr>
          <a:xfrm>
            <a:off x="2572216" y="1386901"/>
            <a:ext cx="1842387" cy="1711288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000"/>
              </a:lnSpc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AR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实景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F01087B-C831-6AE5-AAE2-F216B7B24844}"/>
              </a:ext>
            </a:extLst>
          </p:cNvPr>
          <p:cNvSpPr/>
          <p:nvPr/>
        </p:nvSpPr>
        <p:spPr>
          <a:xfrm>
            <a:off x="2639153" y="1850291"/>
            <a:ext cx="1701925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街道展现排名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0292C5-9D11-C566-1790-8F9080035F8B}"/>
              </a:ext>
            </a:extLst>
          </p:cNvPr>
          <p:cNvSpPr/>
          <p:nvPr/>
        </p:nvSpPr>
        <p:spPr>
          <a:xfrm>
            <a:off x="2639152" y="2258926"/>
            <a:ext cx="1701925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门头展示招牌菜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C7A4C16-DEBA-1684-6CF3-59DAA1958A74}"/>
              </a:ext>
            </a:extLst>
          </p:cNvPr>
          <p:cNvSpPr/>
          <p:nvPr/>
        </p:nvSpPr>
        <p:spPr>
          <a:xfrm>
            <a:off x="2639152" y="2665370"/>
            <a:ext cx="1701925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门头展示口碑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4A45BE-F50F-CA2F-9DE5-112DEA52BBE9}"/>
              </a:ext>
            </a:extLst>
          </p:cNvPr>
          <p:cNvSpPr/>
          <p:nvPr/>
        </p:nvSpPr>
        <p:spPr>
          <a:xfrm>
            <a:off x="147973" y="3187230"/>
            <a:ext cx="4366893" cy="182549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82278A8-BA8E-0847-0AAD-C156E5EC39BD}"/>
              </a:ext>
            </a:extLst>
          </p:cNvPr>
          <p:cNvSpPr/>
          <p:nvPr/>
        </p:nvSpPr>
        <p:spPr>
          <a:xfrm>
            <a:off x="210161" y="3248989"/>
            <a:ext cx="1840914" cy="1716002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内容判别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288813F-AA74-97A1-0E55-2F8923B711CE}"/>
              </a:ext>
            </a:extLst>
          </p:cNvPr>
          <p:cNvSpPr/>
          <p:nvPr/>
        </p:nvSpPr>
        <p:spPr>
          <a:xfrm>
            <a:off x="2585060" y="3266241"/>
            <a:ext cx="1809261" cy="1705817"/>
          </a:xfrm>
          <a:prstGeom prst="roundRect">
            <a:avLst/>
          </a:prstGeom>
          <a:solidFill>
            <a:schemeClr val="bg1"/>
          </a:solidFill>
          <a:ln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1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内容生成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E25685E-966B-5B63-DDE3-AF199EAF61ED}"/>
              </a:ext>
            </a:extLst>
          </p:cNvPr>
          <p:cNvSpPr/>
          <p:nvPr/>
        </p:nvSpPr>
        <p:spPr>
          <a:xfrm>
            <a:off x="266073" y="3534560"/>
            <a:ext cx="168842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评论质量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CF5571B-1787-4B99-CDA4-AD880AAF042B}"/>
              </a:ext>
            </a:extLst>
          </p:cNvPr>
          <p:cNvSpPr/>
          <p:nvPr/>
        </p:nvSpPr>
        <p:spPr>
          <a:xfrm>
            <a:off x="266073" y="4030210"/>
            <a:ext cx="1711782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多模态资产理解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F5F8488-80B3-C57B-CE79-C2C0DEB9C72E}"/>
              </a:ext>
            </a:extLst>
          </p:cNvPr>
          <p:cNvSpPr/>
          <p:nvPr/>
        </p:nvSpPr>
        <p:spPr>
          <a:xfrm>
            <a:off x="266073" y="4530629"/>
            <a:ext cx="1711783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原子菜聚类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0E28EA-D35A-FB5F-FCCB-E38F91B785C4}"/>
              </a:ext>
            </a:extLst>
          </p:cNvPr>
          <p:cNvSpPr/>
          <p:nvPr/>
        </p:nvSpPr>
        <p:spPr>
          <a:xfrm>
            <a:off x="2639152" y="4036992"/>
            <a:ext cx="1701925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榜单推荐理由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3F507B4-12BD-46A6-8E81-CA884FB858D9}"/>
              </a:ext>
            </a:extLst>
          </p:cNvPr>
          <p:cNvSpPr/>
          <p:nvPr/>
        </p:nvSpPr>
        <p:spPr>
          <a:xfrm>
            <a:off x="2639152" y="4525270"/>
            <a:ext cx="1696419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讲菜文案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语音</a:t>
            </a:r>
          </a:p>
        </p:txBody>
      </p:sp>
      <p:sp>
        <p:nvSpPr>
          <p:cNvPr id="33" name="加号 32">
            <a:extLst>
              <a:ext uri="{FF2B5EF4-FFF2-40B4-BE49-F238E27FC236}">
                <a16:creationId xmlns:a16="http://schemas.microsoft.com/office/drawing/2014/main" id="{D9A2C372-A37F-E323-066A-F8148E9CD396}"/>
              </a:ext>
            </a:extLst>
          </p:cNvPr>
          <p:cNvSpPr/>
          <p:nvPr/>
        </p:nvSpPr>
        <p:spPr>
          <a:xfrm>
            <a:off x="2022753" y="3829659"/>
            <a:ext cx="517409" cy="540637"/>
          </a:xfrm>
          <a:prstGeom prst="mathPlus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CF42E03-E1BB-EA29-9821-D3B0CDE4ABBF}"/>
              </a:ext>
            </a:extLst>
          </p:cNvPr>
          <p:cNvSpPr/>
          <p:nvPr/>
        </p:nvSpPr>
        <p:spPr>
          <a:xfrm>
            <a:off x="2639152" y="3556397"/>
            <a:ext cx="1701925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榜单主题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EFB0337-2310-D0FA-D0DE-731A52212F19}"/>
              </a:ext>
            </a:extLst>
          </p:cNvPr>
          <p:cNvSpPr txBox="1"/>
          <p:nvPr/>
        </p:nvSpPr>
        <p:spPr>
          <a:xfrm>
            <a:off x="317951" y="1579958"/>
            <a:ext cx="1701925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强化到店决策体验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0599F40-55C8-3CAF-51DF-6CC5F7C96140}"/>
              </a:ext>
            </a:extLst>
          </p:cNvPr>
          <p:cNvSpPr txBox="1"/>
          <p:nvPr/>
        </p:nvSpPr>
        <p:spPr>
          <a:xfrm>
            <a:off x="2633645" y="1574090"/>
            <a:ext cx="1701926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即将升级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970DA7D-BB2B-6EA5-33B2-A2ABBA9C11B6}"/>
              </a:ext>
            </a:extLst>
          </p:cNvPr>
          <p:cNvSpPr txBox="1"/>
          <p:nvPr/>
        </p:nvSpPr>
        <p:spPr>
          <a:xfrm>
            <a:off x="243729" y="398671"/>
            <a:ext cx="8656541" cy="8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扫街榜借助集团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优势能力，以飞行街景等强化到店决策体验，并计划通过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AR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实景升级重构交互。结合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的内容判别和生成能力，赋能资产理解和榜单信息生成。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sym typeface="MiSans Bold" panose="000008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入口级变化带来用户习惯和心智发生迁移（不仅榜单，而是整个决策交履链路）</a:t>
            </a:r>
            <a:endParaRPr lang="en-US" altLang="zh-CN" sz="1200" b="1" dirty="0">
              <a:latin typeface="楷体" panose="02010609060101010101" pitchFamily="49" charset="-122"/>
              <a:ea typeface="楷体" panose="02010609060101010101" pitchFamily="49" charset="-122"/>
              <a:sym typeface="MiSans Bold" panose="00000800000000000000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A6DBB22-1855-2437-C971-70BBE5A8C33B}"/>
              </a:ext>
            </a:extLst>
          </p:cNvPr>
          <p:cNvSpPr txBox="1"/>
          <p:nvPr/>
        </p:nvSpPr>
        <p:spPr>
          <a:xfrm>
            <a:off x="7032416" y="8628907"/>
            <a:ext cx="1693114" cy="27699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图片评论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菜品识别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34F988E-0B3D-4552-8857-62976093650D}"/>
              </a:ext>
            </a:extLst>
          </p:cNvPr>
          <p:cNvGrpSpPr/>
          <p:nvPr/>
        </p:nvGrpSpPr>
        <p:grpSpPr>
          <a:xfrm>
            <a:off x="4831995" y="1298951"/>
            <a:ext cx="820321" cy="1606799"/>
            <a:chOff x="9652896" y="8925101"/>
            <a:chExt cx="911118" cy="1784646"/>
          </a:xfrm>
        </p:grpSpPr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6D94008B-FB53-D510-B28D-036C604B9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440"/>
            <a:stretch/>
          </p:blipFill>
          <p:spPr>
            <a:xfrm>
              <a:off x="9652896" y="8925101"/>
              <a:ext cx="911118" cy="1784646"/>
            </a:xfrm>
            <a:prstGeom prst="rect">
              <a:avLst/>
            </a:prstGeom>
          </p:spPr>
        </p:pic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3846364-D1B5-23F3-DA19-D29115D75054}"/>
                </a:ext>
              </a:extLst>
            </p:cNvPr>
            <p:cNvSpPr/>
            <p:nvPr/>
          </p:nvSpPr>
          <p:spPr>
            <a:xfrm>
              <a:off x="9824569" y="9193929"/>
              <a:ext cx="322732" cy="1152338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FFD5727-EDFE-4640-5A1A-7A40C6638521}"/>
              </a:ext>
            </a:extLst>
          </p:cNvPr>
          <p:cNvGrpSpPr/>
          <p:nvPr/>
        </p:nvGrpSpPr>
        <p:grpSpPr>
          <a:xfrm>
            <a:off x="6054434" y="1290995"/>
            <a:ext cx="821176" cy="1602737"/>
            <a:chOff x="10539723" y="8918242"/>
            <a:chExt cx="1000614" cy="1952958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EF3B413-83C3-1481-0FC1-B77C6CD14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68792" y="8918242"/>
              <a:ext cx="947087" cy="1952958"/>
            </a:xfrm>
            <a:prstGeom prst="rect">
              <a:avLst/>
            </a:prstGeom>
          </p:spPr>
        </p:pic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B56A0A8-7EEF-E20C-A245-4E763EF52883}"/>
                </a:ext>
              </a:extLst>
            </p:cNvPr>
            <p:cNvSpPr/>
            <p:nvPr/>
          </p:nvSpPr>
          <p:spPr>
            <a:xfrm>
              <a:off x="10768602" y="9673397"/>
              <a:ext cx="737597" cy="207203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4243B82-4F68-7A9E-59CD-C23CBCBCBB52}"/>
                </a:ext>
              </a:extLst>
            </p:cNvPr>
            <p:cNvSpPr/>
            <p:nvPr/>
          </p:nvSpPr>
          <p:spPr>
            <a:xfrm>
              <a:off x="10539723" y="10506443"/>
              <a:ext cx="1000614" cy="33331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73C3D6E-28F2-9ED8-061F-FD7C53528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940" y="1268924"/>
            <a:ext cx="1568647" cy="251738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CCD82F1-CE8A-870D-570A-F7CF66F1C4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096" y="2462833"/>
            <a:ext cx="1058953" cy="216545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F798CC0-9973-388F-B095-D4B3385E591A}"/>
              </a:ext>
            </a:extLst>
          </p:cNvPr>
          <p:cNvSpPr txBox="1"/>
          <p:nvPr/>
        </p:nvSpPr>
        <p:spPr>
          <a:xfrm>
            <a:off x="5884583" y="4818704"/>
            <a:ext cx="117372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原子菜聚类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09170E-5EE7-923C-2343-99E96714F227}"/>
              </a:ext>
            </a:extLst>
          </p:cNvPr>
          <p:cNvSpPr txBox="1"/>
          <p:nvPr/>
        </p:nvSpPr>
        <p:spPr>
          <a:xfrm>
            <a:off x="5884479" y="2870796"/>
            <a:ext cx="117372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推荐理由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讲菜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524DBC0-0092-C8FD-B310-F146153D3CE9}"/>
              </a:ext>
            </a:extLst>
          </p:cNvPr>
          <p:cNvSpPr txBox="1"/>
          <p:nvPr/>
        </p:nvSpPr>
        <p:spPr>
          <a:xfrm>
            <a:off x="4784268" y="2871052"/>
            <a:ext cx="117372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榜单主题内容生成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72FED3-51AD-DCBE-1C23-4A7E7536D87B}"/>
              </a:ext>
            </a:extLst>
          </p:cNvPr>
          <p:cNvSpPr/>
          <p:nvPr/>
        </p:nvSpPr>
        <p:spPr>
          <a:xfrm>
            <a:off x="6025981" y="3879334"/>
            <a:ext cx="389514" cy="14707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8E053090-75F1-7910-A123-80FDEF9547F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9736"/>
          <a:stretch/>
        </p:blipFill>
        <p:spPr>
          <a:xfrm>
            <a:off x="4878277" y="3198310"/>
            <a:ext cx="901424" cy="1634287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BDFED8C9-FA2E-15DD-8519-759361B7EBA6}"/>
              </a:ext>
            </a:extLst>
          </p:cNvPr>
          <p:cNvSpPr txBox="1"/>
          <p:nvPr/>
        </p:nvSpPr>
        <p:spPr>
          <a:xfrm>
            <a:off x="4787302" y="4828644"/>
            <a:ext cx="117372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多模态理解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44DD67E-9789-F673-11DE-B67AE3518202}"/>
              </a:ext>
            </a:extLst>
          </p:cNvPr>
          <p:cNvSpPr txBox="1"/>
          <p:nvPr/>
        </p:nvSpPr>
        <p:spPr>
          <a:xfrm>
            <a:off x="7292109" y="4824842"/>
            <a:ext cx="117372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豆包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千问入口</a:t>
            </a:r>
          </a:p>
        </p:txBody>
      </p:sp>
    </p:spTree>
    <p:extLst>
      <p:ext uri="{BB962C8B-B14F-4D97-AF65-F5344CB8AC3E}">
        <p14:creationId xmlns:p14="http://schemas.microsoft.com/office/powerpoint/2010/main" val="208565727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402" y="15438"/>
            <a:ext cx="7664380" cy="427313"/>
          </a:xfrm>
        </p:spPr>
        <p:txBody>
          <a:bodyPr>
            <a:normAutofit/>
          </a:bodyPr>
          <a:lstStyle/>
          <a:p>
            <a:r>
              <a:rPr lang="en-US" altLang="zh-CN" sz="2100" dirty="0">
                <a:latin typeface="+mn-ea"/>
                <a:ea typeface="+mn-ea"/>
              </a:rPr>
              <a:t>AI</a:t>
            </a:r>
            <a:r>
              <a:rPr lang="zh-CN" altLang="en-US" sz="2100" dirty="0">
                <a:latin typeface="+mn-ea"/>
                <a:ea typeface="+mn-ea"/>
              </a:rPr>
              <a:t>对榜单的机会和挑战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733830" y="1981580"/>
            <a:ext cx="10379841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圆角矩形 43">
            <a:extLst>
              <a:ext uri="{FF2B5EF4-FFF2-40B4-BE49-F238E27FC236}">
                <a16:creationId xmlns:a16="http://schemas.microsoft.com/office/drawing/2014/main" id="{1B4503CB-E91F-73EC-ED15-D08754497487}"/>
              </a:ext>
            </a:extLst>
          </p:cNvPr>
          <p:cNvSpPr/>
          <p:nvPr/>
        </p:nvSpPr>
        <p:spPr>
          <a:xfrm>
            <a:off x="395593" y="3907034"/>
            <a:ext cx="2130029" cy="40389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资产理解</a:t>
            </a:r>
          </a:p>
        </p:txBody>
      </p:sp>
      <p:sp>
        <p:nvSpPr>
          <p:cNvPr id="28" name="圆角矩形 43">
            <a:extLst>
              <a:ext uri="{FF2B5EF4-FFF2-40B4-BE49-F238E27FC236}">
                <a16:creationId xmlns:a16="http://schemas.microsoft.com/office/drawing/2014/main" id="{CF672ADE-F439-7BCD-89E3-708A0DDBE936}"/>
              </a:ext>
            </a:extLst>
          </p:cNvPr>
          <p:cNvSpPr/>
          <p:nvPr/>
        </p:nvSpPr>
        <p:spPr>
          <a:xfrm>
            <a:off x="395593" y="3225595"/>
            <a:ext cx="2130029" cy="40389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榜单生产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2D11EF1-3DA2-6231-A80D-12CE9A0F390E}"/>
              </a:ext>
            </a:extLst>
          </p:cNvPr>
          <p:cNvSpPr txBox="1"/>
          <p:nvPr/>
        </p:nvSpPr>
        <p:spPr>
          <a:xfrm>
            <a:off x="2573890" y="3971321"/>
            <a:ext cx="25588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自然语言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多模态意图理解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ECEC2C8-719E-CDA6-89D2-E418818EE287}"/>
              </a:ext>
            </a:extLst>
          </p:cNvPr>
          <p:cNvSpPr txBox="1"/>
          <p:nvPr/>
        </p:nvSpPr>
        <p:spPr>
          <a:xfrm>
            <a:off x="2595572" y="3206146"/>
            <a:ext cx="2548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基于供需及热度趋势动态生产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sym typeface="MiSans Bold" panose="00000800000000000000" pitchFamily="2" charset="-122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长尾化颗粒度生产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sym typeface="MiSans Bold" panose="00000800000000000000" pitchFamily="2" charset="-122"/>
            </a:endParaRPr>
          </a:p>
        </p:txBody>
      </p:sp>
      <p:sp>
        <p:nvSpPr>
          <p:cNvPr id="38" name="圆角矩形 43">
            <a:extLst>
              <a:ext uri="{FF2B5EF4-FFF2-40B4-BE49-F238E27FC236}">
                <a16:creationId xmlns:a16="http://schemas.microsoft.com/office/drawing/2014/main" id="{0C20C333-AC2E-906B-DB0E-DD14FA4DB1C4}"/>
              </a:ext>
            </a:extLst>
          </p:cNvPr>
          <p:cNvSpPr/>
          <p:nvPr/>
        </p:nvSpPr>
        <p:spPr>
          <a:xfrm>
            <a:off x="395593" y="2481489"/>
            <a:ext cx="2130029" cy="40389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榜单展现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98DA045-327E-937A-1933-EC24E5FBACD7}"/>
              </a:ext>
            </a:extLst>
          </p:cNvPr>
          <p:cNvSpPr txBox="1"/>
          <p:nvPr/>
        </p:nvSpPr>
        <p:spPr>
          <a:xfrm>
            <a:off x="2582392" y="2436384"/>
            <a:ext cx="2750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视频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/VR/AR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生成，沉浸式体验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sym typeface="MiSans Bold" panose="00000800000000000000" pitchFamily="2" charset="-122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多维信息展示（推荐理由、讲店等）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sym typeface="MiSans Bold" panose="00000800000000000000" pitchFamily="2" charset="-122"/>
            </a:endParaRPr>
          </a:p>
        </p:txBody>
      </p:sp>
      <p:sp>
        <p:nvSpPr>
          <p:cNvPr id="54" name="圆角矩形 43">
            <a:extLst>
              <a:ext uri="{FF2B5EF4-FFF2-40B4-BE49-F238E27FC236}">
                <a16:creationId xmlns:a16="http://schemas.microsoft.com/office/drawing/2014/main" id="{6CA59D01-0DEE-8294-0AC3-D879B851F28C}"/>
              </a:ext>
            </a:extLst>
          </p:cNvPr>
          <p:cNvSpPr/>
          <p:nvPr/>
        </p:nvSpPr>
        <p:spPr>
          <a:xfrm>
            <a:off x="395593" y="1800050"/>
            <a:ext cx="2130029" cy="40389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用户交互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0C5266D-0CD3-6F61-CBB2-E3572B39D47C}"/>
              </a:ext>
            </a:extLst>
          </p:cNvPr>
          <p:cNvSpPr txBox="1"/>
          <p:nvPr/>
        </p:nvSpPr>
        <p:spPr>
          <a:xfrm>
            <a:off x="2602728" y="1759184"/>
            <a:ext cx="2396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对话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/Agent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入口，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榜单是优质知识库和信息源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sym typeface="MiSans Bold" panose="00000800000000000000" pitchFamily="2" charset="-122"/>
            </a:endParaRPr>
          </a:p>
        </p:txBody>
      </p:sp>
      <p:sp>
        <p:nvSpPr>
          <p:cNvPr id="59" name="圆角矩形 43">
            <a:extLst>
              <a:ext uri="{FF2B5EF4-FFF2-40B4-BE49-F238E27FC236}">
                <a16:creationId xmlns:a16="http://schemas.microsoft.com/office/drawing/2014/main" id="{2417E718-3786-C6C0-B464-C393EE25C90C}"/>
              </a:ext>
            </a:extLst>
          </p:cNvPr>
          <p:cNvSpPr/>
          <p:nvPr/>
        </p:nvSpPr>
        <p:spPr>
          <a:xfrm>
            <a:off x="405761" y="4564874"/>
            <a:ext cx="2130029" cy="40389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资产沉淀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0D9D21B-91EA-7031-BD86-E4976254F78F}"/>
              </a:ext>
            </a:extLst>
          </p:cNvPr>
          <p:cNvSpPr txBox="1"/>
          <p:nvPr/>
        </p:nvSpPr>
        <p:spPr>
          <a:xfrm>
            <a:off x="2590487" y="4628323"/>
            <a:ext cx="25588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辅助（辅助输入、语音评论等）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9BA2010-77CA-09D3-3C8B-C489358336E0}"/>
              </a:ext>
            </a:extLst>
          </p:cNvPr>
          <p:cNvSpPr txBox="1"/>
          <p:nvPr/>
        </p:nvSpPr>
        <p:spPr>
          <a:xfrm>
            <a:off x="3132420" y="1384517"/>
            <a:ext cx="1316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机会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C0DDD1B-AEB1-38F0-C467-99A6BD389CF2}"/>
              </a:ext>
            </a:extLst>
          </p:cNvPr>
          <p:cNvSpPr txBox="1"/>
          <p:nvPr/>
        </p:nvSpPr>
        <p:spPr>
          <a:xfrm>
            <a:off x="6506951" y="1422296"/>
            <a:ext cx="1316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挑战</a:t>
            </a:r>
          </a:p>
        </p:txBody>
      </p:sp>
      <p:sp>
        <p:nvSpPr>
          <p:cNvPr id="1027" name="文本框 1026">
            <a:extLst>
              <a:ext uri="{FF2B5EF4-FFF2-40B4-BE49-F238E27FC236}">
                <a16:creationId xmlns:a16="http://schemas.microsoft.com/office/drawing/2014/main" id="{7FEDB7C1-5A65-24B6-6A8E-8B07668500FB}"/>
              </a:ext>
            </a:extLst>
          </p:cNvPr>
          <p:cNvSpPr txBox="1"/>
          <p:nvPr/>
        </p:nvSpPr>
        <p:spPr>
          <a:xfrm>
            <a:off x="5563278" y="4625385"/>
            <a:ext cx="3329751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资产污染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-&gt;</a:t>
            </a:r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加强真实资产的识别和展现</a:t>
            </a:r>
            <a:endParaRPr lang="en-US" altLang="zh-CN" sz="1200" b="1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cxnSp>
        <p:nvCxnSpPr>
          <p:cNvPr id="1028" name="直接箭头连接符 1027">
            <a:extLst>
              <a:ext uri="{FF2B5EF4-FFF2-40B4-BE49-F238E27FC236}">
                <a16:creationId xmlns:a16="http://schemas.microsoft.com/office/drawing/2014/main" id="{226C2117-368D-543D-CB36-625A82E0B8E8}"/>
              </a:ext>
            </a:extLst>
          </p:cNvPr>
          <p:cNvCxnSpPr>
            <a:cxnSpLocks/>
            <a:stCxn id="59" idx="0"/>
            <a:endCxn id="54" idx="2"/>
          </p:cNvCxnSpPr>
          <p:nvPr/>
        </p:nvCxnSpPr>
        <p:spPr>
          <a:xfrm flipH="1" flipV="1">
            <a:off x="1460608" y="2203949"/>
            <a:ext cx="10168" cy="2360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文本框 1031">
            <a:extLst>
              <a:ext uri="{FF2B5EF4-FFF2-40B4-BE49-F238E27FC236}">
                <a16:creationId xmlns:a16="http://schemas.microsoft.com/office/drawing/2014/main" id="{997501D2-826C-9661-1CCF-355E1A99E34B}"/>
              </a:ext>
            </a:extLst>
          </p:cNvPr>
          <p:cNvSpPr txBox="1"/>
          <p:nvPr/>
        </p:nvSpPr>
        <p:spPr>
          <a:xfrm>
            <a:off x="5515952" y="3203208"/>
            <a:ext cx="3329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权威消解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-&gt;</a:t>
            </a:r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人机协同，优先共性需求场景，凸显榜单“验真”价值</a:t>
            </a:r>
            <a:endParaRPr lang="en-US" altLang="zh-CN" sz="1200" b="1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1034" name="文本框 1033">
            <a:extLst>
              <a:ext uri="{FF2B5EF4-FFF2-40B4-BE49-F238E27FC236}">
                <a16:creationId xmlns:a16="http://schemas.microsoft.com/office/drawing/2014/main" id="{1BB6C4A5-084D-B542-EEBC-AEEC7130F0C3}"/>
              </a:ext>
            </a:extLst>
          </p:cNvPr>
          <p:cNvSpPr txBox="1"/>
          <p:nvPr/>
        </p:nvSpPr>
        <p:spPr>
          <a:xfrm>
            <a:off x="5563278" y="1789754"/>
            <a:ext cx="3119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黑盒化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+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信息茧房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-&gt;</a:t>
            </a:r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  <a:sym typeface="MiSans Bold" panose="00000800000000000000" pitchFamily="2" charset="-122"/>
              </a:rPr>
              <a:t>榜单一体化呈现</a:t>
            </a:r>
            <a:endParaRPr lang="en-US" altLang="zh-CN" sz="1200" b="1" dirty="0">
              <a:latin typeface="楷体" panose="02010609060101010101" pitchFamily="49" charset="-122"/>
              <a:ea typeface="楷体" panose="02010609060101010101" pitchFamily="49" charset="-122"/>
              <a:sym typeface="MiSans Bold" panose="00000800000000000000" pitchFamily="2" charset="-122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4C895F4B-66F0-EF8B-F6CC-E4EA4C05F2AC}"/>
              </a:ext>
            </a:extLst>
          </p:cNvPr>
          <p:cNvSpPr txBox="1"/>
          <p:nvPr/>
        </p:nvSpPr>
        <p:spPr>
          <a:xfrm>
            <a:off x="254563" y="416674"/>
            <a:ext cx="8656541" cy="8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时代，榜单仍具备差异化独特价值（有幻觉 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vs 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经验证；个性化 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vs 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共识化；黑盒 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vs 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灰盒）。但也存在重构的机会与挑战：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机会：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改变资产沉淀及理解、榜单生产、榜单展现及用户交互方式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挑战：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资产污染、长尾化榜单带来公信力消解；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  <a:sym typeface="MiSans Bold" panose="00000800000000000000" pitchFamily="2" charset="-122"/>
              </a:rPr>
              <a:t>信息茧房削弱用户探索满足；黑盒化的运作机制难以牵引商家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730464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>
            <a:extLst>
              <a:ext uri="{FF2B5EF4-FFF2-40B4-BE49-F238E27FC236}">
                <a16:creationId xmlns:a16="http://schemas.microsoft.com/office/drawing/2014/main" id="{82D438F2-8A7E-6C1A-3FE7-090F2E741ADE}"/>
              </a:ext>
            </a:extLst>
          </p:cNvPr>
          <p:cNvSpPr txBox="1"/>
          <p:nvPr/>
        </p:nvSpPr>
        <p:spPr>
          <a:xfrm>
            <a:off x="134069" y="434002"/>
            <a:ext cx="8509541" cy="337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通过场景榜单，满足用户场景化决策需求，同时牵引商家围绕自身特色服务进行差异化长效经营，吸引适配的目标用户</a:t>
            </a:r>
          </a:p>
        </p:txBody>
      </p:sp>
      <p:sp>
        <p:nvSpPr>
          <p:cNvPr id="12351" name="文本框 12350">
            <a:extLst>
              <a:ext uri="{FF2B5EF4-FFF2-40B4-BE49-F238E27FC236}">
                <a16:creationId xmlns:a16="http://schemas.microsoft.com/office/drawing/2014/main" id="{97C499DE-8718-A218-5CF4-05024CB10F13}"/>
              </a:ext>
            </a:extLst>
          </p:cNvPr>
          <p:cNvSpPr txBox="1"/>
          <p:nvPr/>
        </p:nvSpPr>
        <p:spPr>
          <a:xfrm>
            <a:off x="3834915" y="857200"/>
            <a:ext cx="13404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+mn-ea"/>
              </a:rPr>
              <a:t>北京</a:t>
            </a:r>
            <a:r>
              <a:rPr lang="en-US" altLang="zh-CN" sz="900" dirty="0">
                <a:latin typeface="+mn-ea"/>
              </a:rPr>
              <a:t>Top</a:t>
            </a:r>
            <a:r>
              <a:rPr lang="zh-CN" altLang="en-US" sz="900" dirty="0">
                <a:latin typeface="+mn-ea"/>
              </a:rPr>
              <a:t>门店示例</a:t>
            </a:r>
          </a:p>
        </p:txBody>
      </p:sp>
      <p:sp>
        <p:nvSpPr>
          <p:cNvPr id="12352" name="文本框 12351">
            <a:extLst>
              <a:ext uri="{FF2B5EF4-FFF2-40B4-BE49-F238E27FC236}">
                <a16:creationId xmlns:a16="http://schemas.microsoft.com/office/drawing/2014/main" id="{20DA70BA-672D-60A4-8923-F234365B901C}"/>
              </a:ext>
            </a:extLst>
          </p:cNvPr>
          <p:cNvSpPr txBox="1"/>
          <p:nvPr/>
        </p:nvSpPr>
        <p:spPr>
          <a:xfrm>
            <a:off x="5908615" y="833609"/>
            <a:ext cx="22469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latin typeface="+mn-ea"/>
              </a:rPr>
              <a:t>AI</a:t>
            </a:r>
            <a:r>
              <a:rPr lang="zh-CN" altLang="en-US" sz="900" dirty="0">
                <a:latin typeface="+mn-ea"/>
              </a:rPr>
              <a:t>总结亮点及挖掘</a:t>
            </a:r>
            <a:r>
              <a:rPr lang="zh-CN" altLang="en-US" sz="900" dirty="0">
                <a:effectLst/>
                <a:latin typeface="+mn-ea"/>
              </a:rPr>
              <a:t>评价示例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003466-41AD-4124-8535-0450C936F0F9}"/>
              </a:ext>
            </a:extLst>
          </p:cNvPr>
          <p:cNvSpPr/>
          <p:nvPr/>
        </p:nvSpPr>
        <p:spPr>
          <a:xfrm>
            <a:off x="3295650" y="871538"/>
            <a:ext cx="5712885" cy="178368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13" name="图片 1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811D0ED2-1DDB-1FBA-8D94-E83AE1E04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979" y="1080098"/>
            <a:ext cx="685025" cy="1484752"/>
          </a:xfrm>
          <a:prstGeom prst="rect">
            <a:avLst/>
          </a:prstGeom>
        </p:spPr>
      </p:pic>
      <p:pic>
        <p:nvPicPr>
          <p:cNvPr id="18" name="图片 17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8DCCAA6-DDA2-DBD7-6F30-E26627ABA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84" y="1073278"/>
            <a:ext cx="691786" cy="1499407"/>
          </a:xfrm>
          <a:prstGeom prst="rect">
            <a:avLst/>
          </a:prstGeom>
        </p:spPr>
      </p:pic>
      <p:pic>
        <p:nvPicPr>
          <p:cNvPr id="3" name="图片 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6794D6C6-CF12-282C-5A9E-96EEC40AB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757" y="1073278"/>
            <a:ext cx="691786" cy="1499407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F02A7C9-FB01-4985-9518-88F30B723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53256"/>
              </p:ext>
            </p:extLst>
          </p:nvPr>
        </p:nvGraphicFramePr>
        <p:xfrm>
          <a:off x="5572424" y="1059998"/>
          <a:ext cx="3357350" cy="1565945"/>
        </p:xfrm>
        <a:graphic>
          <a:graphicData uri="http://schemas.openxmlformats.org/drawingml/2006/table">
            <a:tbl>
              <a:tblPr/>
              <a:tblGrid>
                <a:gridCol w="619876">
                  <a:extLst>
                    <a:ext uri="{9D8B030D-6E8A-4147-A177-3AD203B41FA5}">
                      <a16:colId xmlns:a16="http://schemas.microsoft.com/office/drawing/2014/main" val="3673324906"/>
                    </a:ext>
                  </a:extLst>
                </a:gridCol>
                <a:gridCol w="775238">
                  <a:extLst>
                    <a:ext uri="{9D8B030D-6E8A-4147-A177-3AD203B41FA5}">
                      <a16:colId xmlns:a16="http://schemas.microsoft.com/office/drawing/2014/main" val="29874185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1218037663"/>
                    </a:ext>
                  </a:extLst>
                </a:gridCol>
                <a:gridCol w="1062124">
                  <a:extLst>
                    <a:ext uri="{9D8B030D-6E8A-4147-A177-3AD203B41FA5}">
                      <a16:colId xmlns:a16="http://schemas.microsoft.com/office/drawing/2014/main" val="4006223917"/>
                    </a:ext>
                  </a:extLst>
                </a:gridCol>
              </a:tblGrid>
              <a:tr h="20412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700" b="1" dirty="0">
                          <a:effectLst/>
                          <a:latin typeface="+mn-ea"/>
                          <a:ea typeface="+mn-ea"/>
                        </a:rPr>
                        <a:t>餐厅名称</a:t>
                      </a:r>
                    </a:p>
                  </a:txBody>
                  <a:tcPr marL="61780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effectLst/>
                          <a:latin typeface="+mn-ea"/>
                          <a:ea typeface="+mn-ea"/>
                        </a:rPr>
                        <a:t>Tomacado</a:t>
                      </a:r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花厨</a:t>
                      </a: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缦云里花园西餐厅</a:t>
                      </a: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effectLst/>
                          <a:latin typeface="+mn-ea"/>
                          <a:ea typeface="+mn-ea"/>
                        </a:rPr>
                        <a:t>Don Quixote</a:t>
                      </a:r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堂吉诃德</a:t>
                      </a: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56820"/>
                  </a:ext>
                </a:extLst>
              </a:tr>
              <a:tr h="253821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dirty="0">
                          <a:effectLst/>
                          <a:latin typeface="+mn-ea"/>
                          <a:ea typeface="+mn-ea"/>
                        </a:rPr>
                        <a:t>总结亮点</a:t>
                      </a:r>
                    </a:p>
                  </a:txBody>
                  <a:tcPr marL="61780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视觉系花海约会氛围</a:t>
                      </a: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高性价比花园约会餐厅</a:t>
                      </a:r>
                    </a:p>
                  </a:txBody>
                  <a:tcPr marL="68644" marR="61780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异域风情约会餐厅</a:t>
                      </a:r>
                    </a:p>
                  </a:txBody>
                  <a:tcPr marL="68644" marR="61780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636117"/>
                  </a:ext>
                </a:extLst>
              </a:tr>
              <a:tr h="10626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dirty="0">
                          <a:effectLst/>
                          <a:latin typeface="+mn-ea"/>
                          <a:ea typeface="+mn-ea"/>
                        </a:rPr>
                        <a:t>评价示例</a:t>
                      </a:r>
                      <a:endParaRPr lang="zh-CN" altLang="en-US" sz="7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1780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644" marR="61780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644" marR="61780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655722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A8AE0A53-EE4F-E0F0-839C-EDF6F50ED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271" y="1601364"/>
            <a:ext cx="528768" cy="971321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F568E0E4-FE12-7892-4431-B8445F40E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1391" y="1599685"/>
            <a:ext cx="505483" cy="971321"/>
          </a:xfrm>
          <a:prstGeom prst="rect">
            <a:avLst/>
          </a:prstGeom>
        </p:spPr>
      </p:pic>
      <p:sp>
        <p:nvSpPr>
          <p:cNvPr id="12353" name="文本框 12352">
            <a:extLst>
              <a:ext uri="{FF2B5EF4-FFF2-40B4-BE49-F238E27FC236}">
                <a16:creationId xmlns:a16="http://schemas.microsoft.com/office/drawing/2014/main" id="{878D6A16-91DF-ACF9-32B7-CC1037A35C8F}"/>
              </a:ext>
            </a:extLst>
          </p:cNvPr>
          <p:cNvSpPr txBox="1"/>
          <p:nvPr/>
        </p:nvSpPr>
        <p:spPr>
          <a:xfrm>
            <a:off x="3882425" y="2759762"/>
            <a:ext cx="13404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+mn-ea"/>
              </a:rPr>
              <a:t>洛阳</a:t>
            </a:r>
            <a:r>
              <a:rPr lang="en-US" altLang="zh-CN" sz="900" dirty="0">
                <a:latin typeface="+mn-ea"/>
              </a:rPr>
              <a:t>Top</a:t>
            </a:r>
            <a:r>
              <a:rPr lang="zh-CN" altLang="en-US" sz="900" dirty="0">
                <a:latin typeface="+mn-ea"/>
              </a:rPr>
              <a:t>门店示例</a:t>
            </a:r>
          </a:p>
        </p:txBody>
      </p:sp>
      <p:sp>
        <p:nvSpPr>
          <p:cNvPr id="12354" name="文本框 12353">
            <a:extLst>
              <a:ext uri="{FF2B5EF4-FFF2-40B4-BE49-F238E27FC236}">
                <a16:creationId xmlns:a16="http://schemas.microsoft.com/office/drawing/2014/main" id="{952204F6-0F27-153D-489B-B3E3B09B930B}"/>
              </a:ext>
            </a:extLst>
          </p:cNvPr>
          <p:cNvSpPr txBox="1"/>
          <p:nvPr/>
        </p:nvSpPr>
        <p:spPr>
          <a:xfrm>
            <a:off x="6139126" y="2767801"/>
            <a:ext cx="18934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latin typeface="+mn-ea"/>
              </a:rPr>
              <a:t>AI</a:t>
            </a:r>
            <a:r>
              <a:rPr lang="zh-CN" altLang="en-US" sz="900" dirty="0">
                <a:latin typeface="+mn-ea"/>
              </a:rPr>
              <a:t>总结亮点及挖掘</a:t>
            </a:r>
            <a:r>
              <a:rPr lang="zh-CN" altLang="en-US" sz="900" dirty="0">
                <a:effectLst/>
                <a:latin typeface="+mn-ea"/>
              </a:rPr>
              <a:t>评价示例</a:t>
            </a:r>
          </a:p>
        </p:txBody>
      </p:sp>
      <p:sp>
        <p:nvSpPr>
          <p:cNvPr id="12355" name="矩形 12354">
            <a:extLst>
              <a:ext uri="{FF2B5EF4-FFF2-40B4-BE49-F238E27FC236}">
                <a16:creationId xmlns:a16="http://schemas.microsoft.com/office/drawing/2014/main" id="{2D1D30C8-AFB0-83D3-97D7-A398BA0D219C}"/>
              </a:ext>
            </a:extLst>
          </p:cNvPr>
          <p:cNvSpPr/>
          <p:nvPr/>
        </p:nvSpPr>
        <p:spPr>
          <a:xfrm>
            <a:off x="3295650" y="2730208"/>
            <a:ext cx="5712885" cy="209966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aphicFrame>
        <p:nvGraphicFramePr>
          <p:cNvPr id="12356" name="表格 12355">
            <a:extLst>
              <a:ext uri="{FF2B5EF4-FFF2-40B4-BE49-F238E27FC236}">
                <a16:creationId xmlns:a16="http://schemas.microsoft.com/office/drawing/2014/main" id="{8EDD55AA-1EF8-C27E-B91D-0593846B9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811120"/>
              </p:ext>
            </p:extLst>
          </p:nvPr>
        </p:nvGraphicFramePr>
        <p:xfrm>
          <a:off x="5572425" y="2998632"/>
          <a:ext cx="3357349" cy="1612738"/>
        </p:xfrm>
        <a:graphic>
          <a:graphicData uri="http://schemas.openxmlformats.org/drawingml/2006/table">
            <a:tbl>
              <a:tblPr/>
              <a:tblGrid>
                <a:gridCol w="601067">
                  <a:extLst>
                    <a:ext uri="{9D8B030D-6E8A-4147-A177-3AD203B41FA5}">
                      <a16:colId xmlns:a16="http://schemas.microsoft.com/office/drawing/2014/main" val="3673324906"/>
                    </a:ext>
                  </a:extLst>
                </a:gridCol>
                <a:gridCol w="784521">
                  <a:extLst>
                    <a:ext uri="{9D8B030D-6E8A-4147-A177-3AD203B41FA5}">
                      <a16:colId xmlns:a16="http://schemas.microsoft.com/office/drawing/2014/main" val="2987418500"/>
                    </a:ext>
                  </a:extLst>
                </a:gridCol>
                <a:gridCol w="909637">
                  <a:extLst>
                    <a:ext uri="{9D8B030D-6E8A-4147-A177-3AD203B41FA5}">
                      <a16:colId xmlns:a16="http://schemas.microsoft.com/office/drawing/2014/main" val="1218037663"/>
                    </a:ext>
                  </a:extLst>
                </a:gridCol>
                <a:gridCol w="1062124">
                  <a:extLst>
                    <a:ext uri="{9D8B030D-6E8A-4147-A177-3AD203B41FA5}">
                      <a16:colId xmlns:a16="http://schemas.microsoft.com/office/drawing/2014/main" val="1608467810"/>
                    </a:ext>
                  </a:extLst>
                </a:gridCol>
              </a:tblGrid>
              <a:tr h="12342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700" b="1" dirty="0">
                          <a:effectLst/>
                          <a:latin typeface="+mn-ea"/>
                          <a:ea typeface="+mn-ea"/>
                        </a:rPr>
                        <a:t>餐厅名称</a:t>
                      </a:r>
                    </a:p>
                  </a:txBody>
                  <a:tcPr marL="61780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effectLst/>
                          <a:latin typeface="+mn-ea"/>
                          <a:ea typeface="+mn-ea"/>
                        </a:rPr>
                        <a:t>DBe's</a:t>
                      </a:r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大白俄 俄餐烧烤西餐厅</a:t>
                      </a: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宴江南洛神船宴</a:t>
                      </a: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洛阳宫宴</a:t>
                      </a:r>
                      <a:r>
                        <a:rPr lang="en-US" altLang="zh-CN" sz="700" b="0" dirty="0"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zh-CN" altLang="en-US" sz="700" b="0" dirty="0">
                          <a:effectLst/>
                          <a:latin typeface="+mn-ea"/>
                          <a:ea typeface="+mn-ea"/>
                        </a:rPr>
                        <a:t>历史文化演绎餐厅</a:t>
                      </a: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56820"/>
                  </a:ext>
                </a:extLst>
              </a:tr>
              <a:tr h="21145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dirty="0">
                          <a:effectLst/>
                          <a:latin typeface="+mn-ea"/>
                          <a:ea typeface="+mn-ea"/>
                        </a:rPr>
                        <a:t>总结亮点</a:t>
                      </a:r>
                    </a:p>
                  </a:txBody>
                  <a:tcPr marL="61780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700" dirty="0">
                          <a:effectLst/>
                        </a:rPr>
                        <a:t>互动感强，天然助攻约会破冰</a:t>
                      </a: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700" dirty="0">
                          <a:effectLst/>
                        </a:rPr>
                        <a:t>视觉系浪漫仙气氛围，约会体验大提升！</a:t>
                      </a:r>
                    </a:p>
                  </a:txBody>
                  <a:tcPr marL="68644" marR="61780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700" dirty="0">
                          <a:effectLst/>
                        </a:rPr>
                        <a:t>演出全程助攻，约会发现新惊喜</a:t>
                      </a:r>
                      <a:r>
                        <a:rPr lang="en-US" altLang="zh-CN" sz="700" dirty="0">
                          <a:effectLst/>
                        </a:rPr>
                        <a:t>~</a:t>
                      </a:r>
                    </a:p>
                  </a:txBody>
                  <a:tcPr marL="68644" marR="61780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636117"/>
                  </a:ext>
                </a:extLst>
              </a:tr>
              <a:tr h="90772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dirty="0">
                          <a:effectLst/>
                          <a:latin typeface="+mn-ea"/>
                          <a:ea typeface="+mn-ea"/>
                        </a:rPr>
                        <a:t>评价示例</a:t>
                      </a:r>
                      <a:endParaRPr lang="zh-CN" altLang="en-US" sz="7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1780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644" marR="68644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644" marR="61780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644" marR="61780" marT="42903" marB="42903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655722"/>
                  </a:ext>
                </a:extLst>
              </a:tr>
            </a:tbl>
          </a:graphicData>
        </a:graphic>
      </p:graphicFrame>
      <p:pic>
        <p:nvPicPr>
          <p:cNvPr id="12357" name="图片 1235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E8EA990-11E4-4695-FD6F-02F19B6B3D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240" y="3010502"/>
            <a:ext cx="718764" cy="1557697"/>
          </a:xfrm>
          <a:prstGeom prst="rect">
            <a:avLst/>
          </a:prstGeom>
        </p:spPr>
      </p:pic>
      <p:pic>
        <p:nvPicPr>
          <p:cNvPr id="12358" name="图片 12357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C11BD58-35BF-6A54-9AFB-106CCF62A9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1762" y="3010502"/>
            <a:ext cx="718765" cy="1557698"/>
          </a:xfrm>
          <a:prstGeom prst="rect">
            <a:avLst/>
          </a:prstGeom>
        </p:spPr>
      </p:pic>
      <p:pic>
        <p:nvPicPr>
          <p:cNvPr id="12359" name="图片 12358" descr="图形用户界面, 文本&#10;&#10;AI 生成的内容可能不正确。">
            <a:extLst>
              <a:ext uri="{FF2B5EF4-FFF2-40B4-BE49-F238E27FC236}">
                <a16:creationId xmlns:a16="http://schemas.microsoft.com/office/drawing/2014/main" id="{F43AC74F-08B6-F19A-C624-E79AA32057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0413" y="2998633"/>
            <a:ext cx="724243" cy="1569567"/>
          </a:xfrm>
          <a:prstGeom prst="rect">
            <a:avLst/>
          </a:prstGeom>
        </p:spPr>
      </p:pic>
      <p:pic>
        <p:nvPicPr>
          <p:cNvPr id="12361" name="图片 12360">
            <a:extLst>
              <a:ext uri="{FF2B5EF4-FFF2-40B4-BE49-F238E27FC236}">
                <a16:creationId xmlns:a16="http://schemas.microsoft.com/office/drawing/2014/main" id="{28EDAD27-783A-601A-8103-959A02C8AF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9531" y="3774751"/>
            <a:ext cx="718248" cy="793448"/>
          </a:xfrm>
          <a:prstGeom prst="rect">
            <a:avLst/>
          </a:prstGeom>
        </p:spPr>
      </p:pic>
      <p:pic>
        <p:nvPicPr>
          <p:cNvPr id="12363" name="图片 12362">
            <a:extLst>
              <a:ext uri="{FF2B5EF4-FFF2-40B4-BE49-F238E27FC236}">
                <a16:creationId xmlns:a16="http://schemas.microsoft.com/office/drawing/2014/main" id="{7841E8EE-57D1-8152-0EDF-CD7CDF6351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6999" y="3780038"/>
            <a:ext cx="539572" cy="809358"/>
          </a:xfrm>
          <a:prstGeom prst="rect">
            <a:avLst/>
          </a:prstGeom>
        </p:spPr>
      </p:pic>
      <p:pic>
        <p:nvPicPr>
          <p:cNvPr id="12366" name="图片 12365">
            <a:extLst>
              <a:ext uri="{FF2B5EF4-FFF2-40B4-BE49-F238E27FC236}">
                <a16:creationId xmlns:a16="http://schemas.microsoft.com/office/drawing/2014/main" id="{28EB270B-7FFD-7E8D-87C7-219AF73252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5152" y="3780038"/>
            <a:ext cx="539572" cy="802891"/>
          </a:xfrm>
          <a:prstGeom prst="rect">
            <a:avLst/>
          </a:prstGeom>
        </p:spPr>
      </p:pic>
      <p:graphicFrame>
        <p:nvGraphicFramePr>
          <p:cNvPr id="12369" name="表格 12368">
            <a:extLst>
              <a:ext uri="{FF2B5EF4-FFF2-40B4-BE49-F238E27FC236}">
                <a16:creationId xmlns:a16="http://schemas.microsoft.com/office/drawing/2014/main" id="{9EFE5BA5-1294-52B7-1F88-1334BB3A0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182882"/>
              </p:ext>
            </p:extLst>
          </p:nvPr>
        </p:nvGraphicFramePr>
        <p:xfrm>
          <a:off x="213612" y="871537"/>
          <a:ext cx="2922238" cy="394272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5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302">
                  <a:extLst>
                    <a:ext uri="{9D8B030D-6E8A-4147-A177-3AD203B41FA5}">
                      <a16:colId xmlns:a16="http://schemas.microsoft.com/office/drawing/2014/main" val="2421395054"/>
                    </a:ext>
                  </a:extLst>
                </a:gridCol>
                <a:gridCol w="382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805">
                  <a:extLst>
                    <a:ext uri="{9D8B030D-6E8A-4147-A177-3AD203B41FA5}">
                      <a16:colId xmlns:a16="http://schemas.microsoft.com/office/drawing/2014/main" val="514886854"/>
                    </a:ext>
                  </a:extLst>
                </a:gridCol>
                <a:gridCol w="414573">
                  <a:extLst>
                    <a:ext uri="{9D8B030D-6E8A-4147-A177-3AD203B41FA5}">
                      <a16:colId xmlns:a16="http://schemas.microsoft.com/office/drawing/2014/main" val="2319311970"/>
                    </a:ext>
                  </a:extLst>
                </a:gridCol>
                <a:gridCol w="479189">
                  <a:extLst>
                    <a:ext uri="{9D8B030D-6E8A-4147-A177-3AD203B41FA5}">
                      <a16:colId xmlns:a16="http://schemas.microsoft.com/office/drawing/2014/main" val="4093243637"/>
                    </a:ext>
                  </a:extLst>
                </a:gridCol>
              </a:tblGrid>
              <a:tr h="8173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城市</a:t>
                      </a:r>
                      <a:endParaRPr lang="en-US" altLang="zh-CN" sz="7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zh-CN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示例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等级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入围商家数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半年店均</a:t>
                      </a:r>
                      <a:endParaRPr lang="en-US" altLang="zh-CN" sz="7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b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评价量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半年主题店均评价量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Top100</a:t>
                      </a:r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半年店均评价量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Top100</a:t>
                      </a:r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半年主题店均评价量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北京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92.1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9.1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1575.7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201.4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上海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47.4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9.5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1675.0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160.5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862602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成都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32.6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982.8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106.7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杭州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36.7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9.5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1223.3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137.4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737459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武汉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43.6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7.3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1266.0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148.7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245980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哈尔滨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47.6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1813.7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85.5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合肥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1084.0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77.1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204060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厦门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31.8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7.0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1108.3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100.8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02696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>
                          <a:effectLst/>
                        </a:rPr>
                        <a:t>海口</a:t>
                      </a:r>
                      <a:endParaRPr lang="zh-CN" altLang="en-US" sz="700" dirty="0">
                        <a:effectLst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27.5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11.9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1315.2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51.5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533"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洛阳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1.8k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27.8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46800" marR="468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1032.0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27.7</a:t>
                      </a:r>
                    </a:p>
                  </a:txBody>
                  <a:tcPr marL="46800" marR="46800" marT="635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7579688"/>
                  </a:ext>
                </a:extLst>
              </a:tr>
            </a:tbl>
          </a:graphicData>
        </a:graphic>
      </p:graphicFrame>
      <p:sp>
        <p:nvSpPr>
          <p:cNvPr id="5" name="文本占位符 3">
            <a:extLst>
              <a:ext uri="{FF2B5EF4-FFF2-40B4-BE49-F238E27FC236}">
                <a16:creationId xmlns:a16="http://schemas.microsoft.com/office/drawing/2014/main" id="{0E8942E0-8617-FDCA-9F65-55103E9061AC}"/>
              </a:ext>
            </a:extLst>
          </p:cNvPr>
          <p:cNvSpPr txBox="1"/>
          <p:nvPr/>
        </p:nvSpPr>
        <p:spPr>
          <a:xfrm>
            <a:off x="213612" y="123824"/>
            <a:ext cx="8583088" cy="266037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latin typeface="+mn-ea"/>
              </a:rPr>
              <a:t>场景榜单模拟挖掘示例</a:t>
            </a:r>
            <a:r>
              <a:rPr kumimoji="1" lang="en-US" altLang="zh-CN" dirty="0">
                <a:latin typeface="+mn-ea"/>
              </a:rPr>
              <a:t>	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339531-980F-31FA-78F3-DBBC3C0A156D}"/>
              </a:ext>
            </a:extLst>
          </p:cNvPr>
          <p:cNvSpPr txBox="1"/>
          <p:nvPr/>
        </p:nvSpPr>
        <p:spPr>
          <a:xfrm>
            <a:off x="414334" y="4814265"/>
            <a:ext cx="22215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情侣约会榜商家摸底数据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5D0FBF3-7279-DC5E-C521-AC4F85255E3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2556" y="1599685"/>
            <a:ext cx="707379" cy="97106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00" y="106114"/>
            <a:ext cx="9237440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里程碑</a:t>
            </a:r>
            <a:endParaRPr kumimoji="1" lang="zh-CN" altLang="en-US" sz="2100" dirty="0"/>
          </a:p>
        </p:txBody>
      </p:sp>
      <p:cxnSp>
        <p:nvCxnSpPr>
          <p:cNvPr id="9" name="米菲PPT2"/>
          <p:cNvCxnSpPr/>
          <p:nvPr/>
        </p:nvCxnSpPr>
        <p:spPr>
          <a:xfrm>
            <a:off x="4038107" y="1641995"/>
            <a:ext cx="0" cy="2973197"/>
          </a:xfrm>
          <a:prstGeom prst="straightConnector1">
            <a:avLst/>
          </a:prstGeom>
          <a:ln w="12700">
            <a:gradFill flip="none" rotWithShape="1">
              <a:gsLst>
                <a:gs pos="24000">
                  <a:schemeClr val="accent1">
                    <a:lumMod val="59000"/>
                    <a:lumOff val="41000"/>
                  </a:schemeClr>
                </a:gs>
                <a:gs pos="100000">
                  <a:schemeClr val="accent1">
                    <a:lumMod val="9000"/>
                    <a:lumOff val="9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米菲PPT98"/>
          <p:cNvSpPr/>
          <p:nvPr/>
        </p:nvSpPr>
        <p:spPr>
          <a:xfrm>
            <a:off x="1581381" y="1258051"/>
            <a:ext cx="2222521" cy="276484"/>
          </a:xfrm>
          <a:prstGeom prst="homePlate">
            <a:avLst/>
          </a:prstGeom>
          <a:gradFill flip="none" rotWithShape="1">
            <a:gsLst>
              <a:gs pos="29000">
                <a:schemeClr val="accent1">
                  <a:lumMod val="90000"/>
                  <a:lumOff val="10000"/>
                </a:schemeClr>
              </a:gs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21594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0" name="米菲PPT99"/>
          <p:cNvSpPr txBox="1"/>
          <p:nvPr/>
        </p:nvSpPr>
        <p:spPr>
          <a:xfrm>
            <a:off x="1768542" y="873281"/>
            <a:ext cx="1733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</a:rPr>
              <a:t>第一季度</a:t>
            </a:r>
          </a:p>
        </p:txBody>
      </p:sp>
      <p:sp>
        <p:nvSpPr>
          <p:cNvPr id="21" name="米菲PPT100"/>
          <p:cNvSpPr txBox="1"/>
          <p:nvPr/>
        </p:nvSpPr>
        <p:spPr>
          <a:xfrm>
            <a:off x="1768542" y="1275659"/>
            <a:ext cx="1837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1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月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-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月</a:t>
            </a:r>
          </a:p>
        </p:txBody>
      </p:sp>
      <p:cxnSp>
        <p:nvCxnSpPr>
          <p:cNvPr id="22" name="米菲PPT101"/>
          <p:cNvCxnSpPr/>
          <p:nvPr/>
        </p:nvCxnSpPr>
        <p:spPr>
          <a:xfrm>
            <a:off x="1807614" y="1641995"/>
            <a:ext cx="0" cy="2973197"/>
          </a:xfrm>
          <a:prstGeom prst="straightConnector1">
            <a:avLst/>
          </a:prstGeom>
          <a:ln w="12700">
            <a:gradFill flip="none" rotWithShape="1">
              <a:gsLst>
                <a:gs pos="24000">
                  <a:schemeClr val="accent1">
                    <a:lumMod val="59000"/>
                    <a:lumOff val="41000"/>
                  </a:schemeClr>
                </a:gs>
                <a:gs pos="100000">
                  <a:schemeClr val="accent1">
                    <a:lumMod val="9000"/>
                    <a:lumOff val="9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米菲PPT102"/>
          <p:cNvSpPr txBox="1"/>
          <p:nvPr/>
        </p:nvSpPr>
        <p:spPr>
          <a:xfrm>
            <a:off x="523961" y="182595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/>
              <a:t>榜单矩阵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建设</a:t>
            </a:r>
            <a:endParaRPr lang="zh-CN" altLang="en-US" sz="1400" b="1" dirty="0">
              <a:effectLst/>
            </a:endParaRPr>
          </a:p>
        </p:txBody>
      </p:sp>
      <p:sp>
        <p:nvSpPr>
          <p:cNvPr id="27" name="米菲PPT106"/>
          <p:cNvSpPr txBox="1"/>
          <p:nvPr/>
        </p:nvSpPr>
        <p:spPr>
          <a:xfrm>
            <a:off x="523961" y="293105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/>
              <a:t>心智流量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建设</a:t>
            </a:r>
          </a:p>
        </p:txBody>
      </p:sp>
      <p:sp>
        <p:nvSpPr>
          <p:cNvPr id="28" name="米菲PPT107"/>
          <p:cNvSpPr txBox="1"/>
          <p:nvPr/>
        </p:nvSpPr>
        <p:spPr>
          <a:xfrm>
            <a:off x="1961806" y="2971053"/>
            <a:ext cx="164355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升级榜单页面、试点大搜及营销协同链路，完善升级榜单荣誉体系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</a:endParaRPr>
          </a:p>
        </p:txBody>
      </p:sp>
      <p:sp>
        <p:nvSpPr>
          <p:cNvPr id="29" name="米菲PPT108"/>
          <p:cNvSpPr txBox="1"/>
          <p:nvPr/>
        </p:nvSpPr>
        <p:spPr>
          <a:xfrm>
            <a:off x="523961" y="403952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>
                <a:gradFill flip="none" rotWithShape="1">
                  <a:gsLst>
                    <a:gs pos="23000">
                      <a:schemeClr val="accent1"/>
                    </a:gs>
                    <a:gs pos="100000">
                      <a:schemeClr val="accent1">
                        <a:lumMod val="85000"/>
                        <a:lumOff val="15000"/>
                      </a:schemeClr>
                    </a:gs>
                  </a:gsLst>
                  <a:lin ang="5400000" scaled="1"/>
                  <a:tileRect/>
                </a:gradFill>
                <a:latin typeface="+mn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资产建设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30" name="米菲PPT109"/>
          <p:cNvSpPr txBox="1"/>
          <p:nvPr/>
        </p:nvSpPr>
        <p:spPr>
          <a:xfrm>
            <a:off x="1961806" y="4086075"/>
            <a:ext cx="164355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协同各方盘清资产分布现状，跑通评价等资产挖掘能力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ea typeface="+mn-ea"/>
            </a:endParaRPr>
          </a:p>
        </p:txBody>
      </p:sp>
      <p:sp>
        <p:nvSpPr>
          <p:cNvPr id="31" name="米菲PPT110"/>
          <p:cNvSpPr/>
          <p:nvPr/>
        </p:nvSpPr>
        <p:spPr>
          <a:xfrm>
            <a:off x="1735751" y="1875815"/>
            <a:ext cx="143727" cy="11927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3" name="米菲PPT112"/>
          <p:cNvSpPr/>
          <p:nvPr/>
        </p:nvSpPr>
        <p:spPr>
          <a:xfrm>
            <a:off x="1735751" y="2984150"/>
            <a:ext cx="143727" cy="11927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4" name="米菲PPT113"/>
          <p:cNvSpPr/>
          <p:nvPr/>
        </p:nvSpPr>
        <p:spPr>
          <a:xfrm>
            <a:off x="1735751" y="4098089"/>
            <a:ext cx="143727" cy="11927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6" name="米菲PPT115"/>
          <p:cNvSpPr/>
          <p:nvPr/>
        </p:nvSpPr>
        <p:spPr>
          <a:xfrm>
            <a:off x="3776327" y="1258051"/>
            <a:ext cx="2222521" cy="276484"/>
          </a:xfrm>
          <a:prstGeom prst="homePlate">
            <a:avLst/>
          </a:prstGeom>
          <a:gradFill flip="none" rotWithShape="1">
            <a:gsLst>
              <a:gs pos="29000">
                <a:schemeClr val="accent2"/>
              </a:gs>
              <a:gs pos="29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21594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37" name="米菲PPT116"/>
          <p:cNvSpPr txBox="1"/>
          <p:nvPr/>
        </p:nvSpPr>
        <p:spPr>
          <a:xfrm>
            <a:off x="3963487" y="873281"/>
            <a:ext cx="1733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</a:rPr>
              <a:t>第二季度</a:t>
            </a:r>
          </a:p>
        </p:txBody>
      </p:sp>
      <p:sp>
        <p:nvSpPr>
          <p:cNvPr id="38" name="米菲PPT117"/>
          <p:cNvSpPr txBox="1"/>
          <p:nvPr/>
        </p:nvSpPr>
        <p:spPr>
          <a:xfrm>
            <a:off x="3963487" y="1275659"/>
            <a:ext cx="18371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月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-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6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40" name="米菲PPT119"/>
          <p:cNvSpPr/>
          <p:nvPr/>
        </p:nvSpPr>
        <p:spPr>
          <a:xfrm>
            <a:off x="5980338" y="1258051"/>
            <a:ext cx="1492641" cy="276484"/>
          </a:xfrm>
          <a:prstGeom prst="homePlate">
            <a:avLst/>
          </a:prstGeom>
          <a:gradFill flip="none" rotWithShape="1">
            <a:gsLst>
              <a:gs pos="29000">
                <a:schemeClr val="accent1">
                  <a:lumMod val="90000"/>
                  <a:lumOff val="10000"/>
                </a:schemeClr>
              </a:gs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21594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1" name="米菲PPT120"/>
          <p:cNvSpPr txBox="1"/>
          <p:nvPr/>
        </p:nvSpPr>
        <p:spPr>
          <a:xfrm>
            <a:off x="6106035" y="873281"/>
            <a:ext cx="1164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</a:rPr>
              <a:t>第三季度</a:t>
            </a:r>
          </a:p>
        </p:txBody>
      </p:sp>
      <p:sp>
        <p:nvSpPr>
          <p:cNvPr id="42" name="米菲PPT121"/>
          <p:cNvSpPr txBox="1"/>
          <p:nvPr/>
        </p:nvSpPr>
        <p:spPr>
          <a:xfrm>
            <a:off x="6106034" y="1275659"/>
            <a:ext cx="13669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7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月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-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9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44" name="米菲PPT123"/>
          <p:cNvSpPr/>
          <p:nvPr/>
        </p:nvSpPr>
        <p:spPr>
          <a:xfrm>
            <a:off x="7454459" y="1258051"/>
            <a:ext cx="1492641" cy="276484"/>
          </a:xfrm>
          <a:prstGeom prst="homePlate">
            <a:avLst/>
          </a:prstGeom>
          <a:gradFill flip="none" rotWithShape="1">
            <a:gsLst>
              <a:gs pos="29000">
                <a:schemeClr val="accent2"/>
              </a:gs>
              <a:gs pos="29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21594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5" name="米菲PPT124"/>
          <p:cNvSpPr txBox="1"/>
          <p:nvPr/>
        </p:nvSpPr>
        <p:spPr>
          <a:xfrm>
            <a:off x="7580156" y="873281"/>
            <a:ext cx="1164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</a:rPr>
              <a:t>第四季度</a:t>
            </a:r>
          </a:p>
        </p:txBody>
      </p:sp>
      <p:sp>
        <p:nvSpPr>
          <p:cNvPr id="46" name="米菲PPT125"/>
          <p:cNvSpPr txBox="1"/>
          <p:nvPr/>
        </p:nvSpPr>
        <p:spPr>
          <a:xfrm>
            <a:off x="7475594" y="1275659"/>
            <a:ext cx="16398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10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月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-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12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52" name="米菲PPT131"/>
          <p:cNvSpPr txBox="1"/>
          <p:nvPr/>
        </p:nvSpPr>
        <p:spPr>
          <a:xfrm>
            <a:off x="4156832" y="2971052"/>
            <a:ext cx="164355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完善搜推合作链路，优化用户到餐决策动线，联动营销活动</a:t>
            </a:r>
            <a:endParaRPr lang="zh-CN" altLang="en-US" sz="1050" dirty="0">
              <a:effectLst/>
            </a:endParaRPr>
          </a:p>
        </p:txBody>
      </p:sp>
      <p:sp>
        <p:nvSpPr>
          <p:cNvPr id="54" name="米菲PPT133"/>
          <p:cNvSpPr txBox="1"/>
          <p:nvPr/>
        </p:nvSpPr>
        <p:spPr>
          <a:xfrm>
            <a:off x="4156832" y="4086075"/>
            <a:ext cx="17516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跑通用户有效评论激励流程，强化门店特色资产</a:t>
            </a:r>
            <a:endParaRPr lang="zh-CN" altLang="en-US" sz="1050" dirty="0">
              <a:effectLst/>
            </a:endParaRPr>
          </a:p>
        </p:txBody>
      </p:sp>
      <p:sp>
        <p:nvSpPr>
          <p:cNvPr id="55" name="米菲PPT134"/>
          <p:cNvSpPr/>
          <p:nvPr/>
        </p:nvSpPr>
        <p:spPr>
          <a:xfrm>
            <a:off x="3966244" y="1875815"/>
            <a:ext cx="143727" cy="11927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84000"/>
                </a:schemeClr>
              </a:gs>
              <a:gs pos="100000">
                <a:schemeClr val="accent2"/>
              </a:gs>
            </a:gsLst>
            <a:lin ang="19800000" scaled="0"/>
            <a:tileRect/>
          </a:gra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57" name="米菲PPT136"/>
          <p:cNvSpPr/>
          <p:nvPr/>
        </p:nvSpPr>
        <p:spPr>
          <a:xfrm>
            <a:off x="3966244" y="2973680"/>
            <a:ext cx="143727" cy="11927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84000"/>
                </a:schemeClr>
              </a:gs>
              <a:gs pos="100000">
                <a:schemeClr val="accent2"/>
              </a:gs>
            </a:gsLst>
            <a:lin ang="19800000" scaled="0"/>
            <a:tileRect/>
          </a:gra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58" name="米菲PPT137"/>
          <p:cNvSpPr/>
          <p:nvPr/>
        </p:nvSpPr>
        <p:spPr>
          <a:xfrm>
            <a:off x="3966244" y="4098089"/>
            <a:ext cx="143727" cy="119279"/>
          </a:xfrm>
          <a:prstGeom prst="homePlate">
            <a:avLst/>
          </a:prstGeom>
          <a:gradFill flip="none" rotWithShape="1">
            <a:gsLst>
              <a:gs pos="0">
                <a:schemeClr val="accent2">
                  <a:lumMod val="84000"/>
                </a:schemeClr>
              </a:gs>
              <a:gs pos="100000">
                <a:schemeClr val="accent2"/>
              </a:gs>
            </a:gsLst>
            <a:lin ang="19800000" scaled="0"/>
            <a:tileRect/>
          </a:gra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44" name="米菲PPT107"/>
          <p:cNvSpPr txBox="1"/>
          <p:nvPr/>
        </p:nvSpPr>
        <p:spPr>
          <a:xfrm>
            <a:off x="1961806" y="1822980"/>
            <a:ext cx="16435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结构化梳理城市</a:t>
            </a:r>
            <a:r>
              <a:rPr lang="en-GB" altLang="zh-CN" sz="1050" dirty="0"/>
              <a:t>x</a:t>
            </a:r>
            <a:r>
              <a:rPr lang="zh-CN" altLang="en-US" sz="1050" dirty="0"/>
              <a:t>人群</a:t>
            </a:r>
            <a:r>
              <a:rPr lang="en-GB" altLang="zh-CN" sz="1050" dirty="0"/>
              <a:t>x</a:t>
            </a:r>
            <a:r>
              <a:rPr lang="zh-CN" altLang="en-US" sz="1050" dirty="0"/>
              <a:t>场景</a:t>
            </a:r>
            <a:r>
              <a:rPr lang="en-GB" altLang="zh-CN" sz="1050" dirty="0"/>
              <a:t>x</a:t>
            </a:r>
            <a:r>
              <a:rPr lang="zh-CN" altLang="en-US" sz="1050" dirty="0"/>
              <a:t>供给需求现状，明确榜单矩阵现状及优化方向，试点上线</a:t>
            </a:r>
            <a:endParaRPr lang="zh-CN" altLang="en-US" sz="1050" dirty="0">
              <a:effectLst/>
            </a:endParaRPr>
          </a:p>
        </p:txBody>
      </p:sp>
      <p:sp>
        <p:nvSpPr>
          <p:cNvPr id="147" name="米菲PPT107"/>
          <p:cNvSpPr txBox="1"/>
          <p:nvPr/>
        </p:nvSpPr>
        <p:spPr>
          <a:xfrm>
            <a:off x="4110795" y="1828987"/>
            <a:ext cx="164355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强化榜单可运营机制，提升营销、转化能力，在试点城市落地新榜单</a:t>
            </a:r>
            <a:endParaRPr lang="zh-CN" altLang="en-US" sz="1050" dirty="0">
              <a:effectLst/>
            </a:endParaRPr>
          </a:p>
        </p:txBody>
      </p:sp>
      <p:sp>
        <p:nvSpPr>
          <p:cNvPr id="151" name="米菲PPT107"/>
          <p:cNvSpPr txBox="1"/>
          <p:nvPr/>
        </p:nvSpPr>
        <p:spPr>
          <a:xfrm>
            <a:off x="6674819" y="1828986"/>
            <a:ext cx="168050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持续基于</a:t>
            </a:r>
            <a:r>
              <a:rPr lang="en-GB" altLang="zh-CN" sz="1050" dirty="0"/>
              <a:t>BC</a:t>
            </a:r>
            <a:r>
              <a:rPr lang="zh-CN" altLang="en-US" sz="1050" dirty="0"/>
              <a:t>及平台价值，在物理世界迁移复制，扩充榜单矩阵及城市覆盖</a:t>
            </a:r>
            <a:endParaRPr lang="zh-CN" altLang="en-US" sz="1050" dirty="0">
              <a:effectLst/>
            </a:endParaRPr>
          </a:p>
        </p:txBody>
      </p:sp>
      <p:sp>
        <p:nvSpPr>
          <p:cNvPr id="152" name="米菲PPT131"/>
          <p:cNvSpPr txBox="1"/>
          <p:nvPr/>
        </p:nvSpPr>
        <p:spPr>
          <a:xfrm>
            <a:off x="6651193" y="3005985"/>
            <a:ext cx="164355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完善非搜流量场协同链路，开展榜单宣发</a:t>
            </a:r>
            <a:r>
              <a:rPr lang="en-US" altLang="zh-CN" sz="1050" dirty="0"/>
              <a:t>/</a:t>
            </a:r>
            <a:r>
              <a:rPr lang="zh-CN" altLang="en-US" sz="1050" dirty="0"/>
              <a:t>活动</a:t>
            </a:r>
            <a:endParaRPr lang="zh-CN" altLang="en-US" sz="1050" dirty="0">
              <a:effectLst/>
            </a:endParaRPr>
          </a:p>
        </p:txBody>
      </p:sp>
      <p:sp>
        <p:nvSpPr>
          <p:cNvPr id="153" name="米菲PPT131"/>
          <p:cNvSpPr txBox="1"/>
          <p:nvPr/>
        </p:nvSpPr>
        <p:spPr>
          <a:xfrm>
            <a:off x="6688148" y="4121145"/>
            <a:ext cx="164355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扩大新增资产、特色资产挖掘覆盖门店</a:t>
            </a:r>
            <a:endParaRPr lang="zh-CN" altLang="en-US" sz="1050" dirty="0">
              <a:effectLst/>
            </a:endParaRPr>
          </a:p>
        </p:txBody>
      </p:sp>
      <p:cxnSp>
        <p:nvCxnSpPr>
          <p:cNvPr id="154" name="米菲PPT101"/>
          <p:cNvCxnSpPr/>
          <p:nvPr/>
        </p:nvCxnSpPr>
        <p:spPr>
          <a:xfrm>
            <a:off x="6518987" y="1641995"/>
            <a:ext cx="0" cy="2973197"/>
          </a:xfrm>
          <a:prstGeom prst="straightConnector1">
            <a:avLst/>
          </a:prstGeom>
          <a:ln w="12700">
            <a:gradFill flip="none" rotWithShape="1">
              <a:gsLst>
                <a:gs pos="24000">
                  <a:schemeClr val="accent1">
                    <a:lumMod val="59000"/>
                    <a:lumOff val="41000"/>
                  </a:schemeClr>
                </a:gs>
                <a:gs pos="100000">
                  <a:schemeClr val="accent1">
                    <a:lumMod val="9000"/>
                    <a:lumOff val="9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米菲PPT110"/>
          <p:cNvSpPr/>
          <p:nvPr/>
        </p:nvSpPr>
        <p:spPr>
          <a:xfrm>
            <a:off x="6447124" y="1875815"/>
            <a:ext cx="143727" cy="11927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6" name="米菲PPT112"/>
          <p:cNvSpPr/>
          <p:nvPr/>
        </p:nvSpPr>
        <p:spPr>
          <a:xfrm>
            <a:off x="6447124" y="2984150"/>
            <a:ext cx="143727" cy="11927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7" name="米菲PPT113"/>
          <p:cNvSpPr/>
          <p:nvPr/>
        </p:nvSpPr>
        <p:spPr>
          <a:xfrm>
            <a:off x="6447124" y="4098089"/>
            <a:ext cx="143727" cy="11927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ounded Rectangle"/>
          <p:cNvSpPr/>
          <p:nvPr/>
        </p:nvSpPr>
        <p:spPr>
          <a:xfrm>
            <a:off x="2700046" y="1571526"/>
            <a:ext cx="1972025" cy="3341907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lang="en-US" sz="900" dirty="0">
              <a:latin typeface="+mn-ea"/>
            </a:endParaRPr>
          </a:p>
          <a:p>
            <a:endParaRPr lang="en-US" sz="900" dirty="0">
              <a:latin typeface="+mn-ea"/>
            </a:endParaRPr>
          </a:p>
        </p:txBody>
      </p:sp>
      <p:sp>
        <p:nvSpPr>
          <p:cNvPr id="411" name="Rounded Rectangle"/>
          <p:cNvSpPr/>
          <p:nvPr/>
        </p:nvSpPr>
        <p:spPr>
          <a:xfrm>
            <a:off x="4855235" y="1573733"/>
            <a:ext cx="1370228" cy="3341936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>
              <a:latin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榜单竞品分析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ea typeface="+mn-ea"/>
              </a:rPr>
              <a:t>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多行业榜单分析</a:t>
            </a:r>
          </a:p>
        </p:txBody>
      </p:sp>
      <p:sp>
        <p:nvSpPr>
          <p:cNvPr id="192" name="Rounded Rectangle"/>
          <p:cNvSpPr/>
          <p:nvPr/>
        </p:nvSpPr>
        <p:spPr>
          <a:xfrm>
            <a:off x="552251" y="1544253"/>
            <a:ext cx="2008698" cy="790826"/>
          </a:xfrm>
          <a:prstGeom prst="roundRect">
            <a:avLst>
              <a:gd name="adj" fmla="val 7302"/>
            </a:avLst>
          </a:prstGeom>
          <a:solidFill>
            <a:schemeClr val="accent1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lang="zh-CN" altLang="en-US" sz="675">
              <a:latin typeface="+mn-ea"/>
            </a:endParaRPr>
          </a:p>
        </p:txBody>
      </p:sp>
      <p:sp>
        <p:nvSpPr>
          <p:cNvPr id="202" name="Shape"/>
          <p:cNvSpPr/>
          <p:nvPr/>
        </p:nvSpPr>
        <p:spPr>
          <a:xfrm>
            <a:off x="552180" y="1544191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dirty="0">
              <a:latin typeface="+mn-ea"/>
            </a:endParaRPr>
          </a:p>
        </p:txBody>
      </p:sp>
      <p:sp>
        <p:nvSpPr>
          <p:cNvPr id="203" name="Rounded Rectangle"/>
          <p:cNvSpPr/>
          <p:nvPr/>
        </p:nvSpPr>
        <p:spPr>
          <a:xfrm>
            <a:off x="552250" y="2389318"/>
            <a:ext cx="2008698" cy="790826"/>
          </a:xfrm>
          <a:prstGeom prst="roundRect">
            <a:avLst>
              <a:gd name="adj" fmla="val 7302"/>
            </a:avLst>
          </a:prstGeom>
          <a:solidFill>
            <a:schemeClr val="accent2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>
              <a:latin typeface="+mn-ea"/>
            </a:endParaRPr>
          </a:p>
        </p:txBody>
      </p:sp>
      <p:sp>
        <p:nvSpPr>
          <p:cNvPr id="204" name="Shape"/>
          <p:cNvSpPr/>
          <p:nvPr/>
        </p:nvSpPr>
        <p:spPr>
          <a:xfrm>
            <a:off x="552180" y="2389256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>
              <a:latin typeface="+mn-ea"/>
            </a:endParaRPr>
          </a:p>
        </p:txBody>
      </p:sp>
      <p:sp>
        <p:nvSpPr>
          <p:cNvPr id="205" name="Rounded Rectangle"/>
          <p:cNvSpPr/>
          <p:nvPr/>
        </p:nvSpPr>
        <p:spPr>
          <a:xfrm>
            <a:off x="552250" y="3248238"/>
            <a:ext cx="2003461" cy="790826"/>
          </a:xfrm>
          <a:prstGeom prst="roundRect">
            <a:avLst>
              <a:gd name="adj" fmla="val 7302"/>
            </a:avLst>
          </a:prstGeom>
          <a:solidFill>
            <a:schemeClr val="accent3"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>
              <a:solidFill>
                <a:schemeClr val="tx2"/>
              </a:solidFill>
              <a:latin typeface="+mn-ea"/>
            </a:endParaRPr>
          </a:p>
        </p:txBody>
      </p:sp>
      <p:sp>
        <p:nvSpPr>
          <p:cNvPr id="206" name="Shape"/>
          <p:cNvSpPr/>
          <p:nvPr/>
        </p:nvSpPr>
        <p:spPr>
          <a:xfrm>
            <a:off x="552180" y="3248176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 dirty="0">
              <a:latin typeface="+mn-ea"/>
            </a:endParaRPr>
          </a:p>
        </p:txBody>
      </p:sp>
      <p:sp>
        <p:nvSpPr>
          <p:cNvPr id="233" name="Data Science"/>
          <p:cNvSpPr txBox="1"/>
          <p:nvPr/>
        </p:nvSpPr>
        <p:spPr>
          <a:xfrm>
            <a:off x="655072" y="1777944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电商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平台</a:t>
            </a:r>
            <a:endParaRPr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396883" y="369881"/>
            <a:ext cx="85095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行业榜单围绕</a:t>
            </a:r>
            <a:r>
              <a:rPr lang="en-US" altLang="zh-CN" sz="1200" dirty="0">
                <a:latin typeface="+mn-ea"/>
              </a:rPr>
              <a:t>【</a:t>
            </a:r>
            <a:r>
              <a:rPr lang="zh-CN" altLang="en-US" sz="1200" b="1" dirty="0">
                <a:latin typeface="+mn-ea"/>
              </a:rPr>
              <a:t>用户决策</a:t>
            </a:r>
            <a:r>
              <a:rPr lang="en-US" altLang="zh-CN" sz="1200" dirty="0">
                <a:latin typeface="+mn-ea"/>
              </a:rPr>
              <a:t>】</a:t>
            </a:r>
            <a:r>
              <a:rPr lang="zh-CN" altLang="en-US" sz="1200" dirty="0">
                <a:latin typeface="+mn-ea"/>
              </a:rPr>
              <a:t>，满足</a:t>
            </a:r>
            <a:r>
              <a:rPr lang="en-US" altLang="zh-CN" sz="1200" dirty="0">
                <a:latin typeface="+mn-ea"/>
              </a:rPr>
              <a:t>C</a:t>
            </a:r>
            <a:r>
              <a:rPr lang="zh-CN" altLang="en-US" sz="1200" dirty="0">
                <a:latin typeface="+mn-ea"/>
              </a:rPr>
              <a:t>端“</a:t>
            </a:r>
            <a:r>
              <a:rPr lang="zh-CN" altLang="en-US" sz="1200" b="1" dirty="0">
                <a:latin typeface="+mn-ea"/>
              </a:rPr>
              <a:t>高效选择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兴趣激发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趋势发现</a:t>
            </a:r>
            <a:r>
              <a:rPr lang="zh-CN" altLang="en-US" sz="1200" dirty="0">
                <a:latin typeface="+mn-ea"/>
              </a:rPr>
              <a:t>”的需求；同时，围绕</a:t>
            </a:r>
            <a:r>
              <a:rPr lang="en-US" altLang="zh-CN" sz="1200" b="1" dirty="0">
                <a:latin typeface="+mn-ea"/>
              </a:rPr>
              <a:t>【</a:t>
            </a:r>
            <a:r>
              <a:rPr lang="zh-CN" altLang="en-US" sz="1200" b="1" dirty="0">
                <a:latin typeface="+mn-ea"/>
              </a:rPr>
              <a:t>长效经营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运营</a:t>
            </a:r>
            <a:r>
              <a:rPr lang="en-US" altLang="zh-CN" sz="1200" b="1" dirty="0">
                <a:latin typeface="+mn-ea"/>
              </a:rPr>
              <a:t>】</a:t>
            </a:r>
            <a:r>
              <a:rPr lang="zh-CN" altLang="en-US" sz="1200" dirty="0">
                <a:latin typeface="+mn-ea"/>
              </a:rPr>
              <a:t>，承接</a:t>
            </a:r>
            <a:r>
              <a:rPr lang="en-US" altLang="zh-CN" sz="1200" dirty="0">
                <a:latin typeface="+mn-ea"/>
              </a:rPr>
              <a:t>B</a:t>
            </a:r>
            <a:r>
              <a:rPr lang="zh-CN" altLang="en-US" sz="1200" dirty="0">
                <a:latin typeface="+mn-ea"/>
              </a:rPr>
              <a:t>端“</a:t>
            </a:r>
            <a:r>
              <a:rPr lang="zh-CN" altLang="en-US" sz="1200" b="1" dirty="0">
                <a:latin typeface="+mn-ea"/>
              </a:rPr>
              <a:t>声量曝光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策略参谋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风向指南</a:t>
            </a:r>
            <a:r>
              <a:rPr lang="zh-CN" altLang="en-US" sz="1200" dirty="0">
                <a:latin typeface="+mn-ea"/>
              </a:rPr>
              <a:t>”的需求。通过</a:t>
            </a:r>
            <a:r>
              <a:rPr lang="zh-CN" altLang="en-US" sz="1200" b="1" dirty="0">
                <a:latin typeface="+mn-ea"/>
              </a:rPr>
              <a:t>成榜对象</a:t>
            </a:r>
            <a:r>
              <a:rPr lang="zh-CN" altLang="en-US" sz="1200" dirty="0">
                <a:latin typeface="+mn-ea"/>
              </a:rPr>
              <a:t>、</a:t>
            </a:r>
            <a:r>
              <a:rPr lang="zh-CN" altLang="en-US" sz="1200" b="1" dirty="0">
                <a:latin typeface="+mn-ea"/>
              </a:rPr>
              <a:t>需求场景</a:t>
            </a:r>
            <a:r>
              <a:rPr lang="zh-CN" altLang="en-US" sz="1200" dirty="0">
                <a:latin typeface="+mn-ea"/>
              </a:rPr>
              <a:t>、</a:t>
            </a:r>
            <a:r>
              <a:rPr lang="zh-CN" altLang="en-US" sz="1200" b="1" dirty="0">
                <a:latin typeface="+mn-ea"/>
              </a:rPr>
              <a:t>选排规则</a:t>
            </a:r>
            <a:r>
              <a:rPr lang="zh-CN" altLang="en-US" sz="1200" dirty="0">
                <a:latin typeface="+mn-ea"/>
              </a:rPr>
              <a:t>等组合榜单矩阵；</a:t>
            </a:r>
            <a:endParaRPr lang="en-US" altLang="zh-CN" sz="12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+mn-ea"/>
              </a:rPr>
              <a:t>围绕榜单的运营手段、商业模式逐渐丰富；</a:t>
            </a:r>
            <a:endParaRPr lang="en-US" altLang="zh-CN" sz="1200" dirty="0">
              <a:latin typeface="+mn-ea"/>
            </a:endParaRPr>
          </a:p>
        </p:txBody>
      </p:sp>
      <p:sp>
        <p:nvSpPr>
          <p:cNvPr id="312" name="Rounded Rectangle"/>
          <p:cNvSpPr/>
          <p:nvPr/>
        </p:nvSpPr>
        <p:spPr>
          <a:xfrm>
            <a:off x="552251" y="4113980"/>
            <a:ext cx="2008697" cy="790826"/>
          </a:xfrm>
          <a:prstGeom prst="roundRect">
            <a:avLst>
              <a:gd name="adj" fmla="val 7302"/>
            </a:avLst>
          </a:prstGeom>
          <a:solidFill>
            <a:schemeClr val="accent4">
              <a:lumMod val="40000"/>
              <a:lumOff val="60000"/>
              <a:alpha val="1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sz="675" b="1">
              <a:solidFill>
                <a:schemeClr val="tx2"/>
              </a:solidFill>
              <a:latin typeface="+mn-ea"/>
            </a:endParaRPr>
          </a:p>
        </p:txBody>
      </p:sp>
      <p:sp>
        <p:nvSpPr>
          <p:cNvPr id="313" name="Shape"/>
          <p:cNvSpPr/>
          <p:nvPr/>
        </p:nvSpPr>
        <p:spPr>
          <a:xfrm>
            <a:off x="552180" y="4113918"/>
            <a:ext cx="567516" cy="790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5" y="0"/>
                </a:moveTo>
                <a:cubicBezTo>
                  <a:pt x="1304" y="0"/>
                  <a:pt x="981" y="0"/>
                  <a:pt x="764" y="118"/>
                </a:cubicBezTo>
                <a:cubicBezTo>
                  <a:pt x="452" y="267"/>
                  <a:pt x="204" y="591"/>
                  <a:pt x="90" y="999"/>
                </a:cubicBezTo>
                <a:cubicBezTo>
                  <a:pt x="0" y="1282"/>
                  <a:pt x="0" y="1704"/>
                  <a:pt x="0" y="2412"/>
                </a:cubicBezTo>
                <a:lnTo>
                  <a:pt x="0" y="19188"/>
                </a:lnTo>
                <a:cubicBezTo>
                  <a:pt x="0" y="19896"/>
                  <a:pt x="0" y="20321"/>
                  <a:pt x="90" y="20604"/>
                </a:cubicBezTo>
                <a:cubicBezTo>
                  <a:pt x="204" y="21012"/>
                  <a:pt x="452" y="21333"/>
                  <a:pt x="764" y="21482"/>
                </a:cubicBezTo>
                <a:cubicBezTo>
                  <a:pt x="981" y="21600"/>
                  <a:pt x="1304" y="21600"/>
                  <a:pt x="1845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1845" y="0"/>
                </a:lnTo>
                <a:close/>
              </a:path>
            </a:pathLst>
          </a:custGeom>
          <a:solidFill>
            <a:srgbClr val="FF6600"/>
          </a:solidFill>
          <a:ln w="12700">
            <a:solidFill>
              <a:srgbClr val="FF6600"/>
            </a:solidFill>
            <a:miter lim="400000"/>
          </a:ln>
        </p:spPr>
        <p:txBody>
          <a:bodyPr lIns="0" tIns="0" rIns="0" bIns="0" anchor="ctr"/>
          <a:lstStyle/>
          <a:p>
            <a:endParaRPr sz="675" b="1">
              <a:latin typeface="+mn-ea"/>
            </a:endParaRPr>
          </a:p>
        </p:txBody>
      </p:sp>
      <p:sp>
        <p:nvSpPr>
          <p:cNvPr id="323" name="Data Science"/>
          <p:cNvSpPr txBox="1"/>
          <p:nvPr/>
        </p:nvSpPr>
        <p:spPr>
          <a:xfrm>
            <a:off x="655072" y="2568438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内容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平台</a:t>
            </a:r>
            <a:endParaRPr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4" name="Data Science"/>
          <p:cNvSpPr txBox="1"/>
          <p:nvPr/>
        </p:nvSpPr>
        <p:spPr>
          <a:xfrm>
            <a:off x="608770" y="3538676"/>
            <a:ext cx="500578" cy="22313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泛娱乐</a:t>
            </a:r>
            <a:endParaRPr lang="en-US" altLang="zh-CN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5" name="Data Science"/>
          <p:cNvSpPr txBox="1"/>
          <p:nvPr/>
        </p:nvSpPr>
        <p:spPr>
          <a:xfrm>
            <a:off x="683525" y="4293100"/>
            <a:ext cx="500578" cy="407804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生活</a:t>
            </a:r>
          </a:p>
          <a:p>
            <a:r>
              <a:rPr lang="zh-CN" altLang="en-US" sz="1200" b="1" dirty="0">
                <a:solidFill>
                  <a:schemeClr val="bg1"/>
                </a:solidFill>
                <a:latin typeface="+mn-ea"/>
              </a:rPr>
              <a:t>服务</a:t>
            </a:r>
          </a:p>
        </p:txBody>
      </p:sp>
      <p:sp>
        <p:nvSpPr>
          <p:cNvPr id="327" name="Data Science"/>
          <p:cNvSpPr txBox="1"/>
          <p:nvPr/>
        </p:nvSpPr>
        <p:spPr>
          <a:xfrm>
            <a:off x="1413675" y="1347142"/>
            <a:ext cx="995102" cy="22313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代表性榜单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4021" y="1566829"/>
            <a:ext cx="1462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天猫必买榜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（双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11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京东金榜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（月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/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年度）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天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京数据榜：热销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好评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回购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新品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预售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折扣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i="1" dirty="0">
                <a:latin typeface="+mn-ea"/>
              </a:rPr>
              <a:t>天猫竞速榜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To B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900" i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1123383" y="2398834"/>
            <a:ext cx="146855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微博热搜</a:t>
            </a:r>
            <a:endParaRPr lang="en-US" altLang="zh-CN" sz="900" dirty="0">
              <a:effectLst/>
              <a:latin typeface="+mn-ea"/>
            </a:endParaRPr>
          </a:p>
          <a:p>
            <a:r>
              <a:rPr lang="en-US" altLang="zh-CN" sz="900" dirty="0">
                <a:effectLst/>
                <a:latin typeface="+mn-ea"/>
              </a:rPr>
              <a:t>·B</a:t>
            </a:r>
            <a:r>
              <a:rPr lang="zh-CN" altLang="en-US" sz="900" dirty="0">
                <a:effectLst/>
                <a:latin typeface="+mn-ea"/>
              </a:rPr>
              <a:t>站百大</a:t>
            </a:r>
            <a:r>
              <a:rPr lang="en-US" altLang="zh-CN" sz="900" dirty="0">
                <a:effectLst/>
                <a:latin typeface="+mn-ea"/>
              </a:rPr>
              <a:t>UP</a:t>
            </a:r>
            <a:r>
              <a:rPr lang="zh-CN" altLang="en-US" sz="900" dirty="0">
                <a:effectLst/>
                <a:latin typeface="+mn-ea"/>
              </a:rPr>
              <a:t>主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创作者影响力榜</a:t>
            </a:r>
            <a:endParaRPr lang="en-US" altLang="zh-CN" sz="900" dirty="0">
              <a:effectLst/>
              <a:latin typeface="+mn-ea"/>
            </a:endParaRPr>
          </a:p>
          <a:p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抖音直播人气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贡献榜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i="1" dirty="0">
                <a:latin typeface="+mn-ea"/>
              </a:rPr>
              <a:t>抖查查等榜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To B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）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1099543" y="3274282"/>
            <a:ext cx="1557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豆瓣</a:t>
            </a:r>
            <a:r>
              <a:rPr lang="en-US" altLang="zh-CN" sz="900" dirty="0">
                <a:effectLst/>
                <a:latin typeface="+mn-ea"/>
              </a:rPr>
              <a:t>TOP250/</a:t>
            </a:r>
            <a:r>
              <a:rPr lang="zh-CN" altLang="en-US" sz="900" dirty="0">
                <a:effectLst/>
                <a:latin typeface="+mn-ea"/>
              </a:rPr>
              <a:t>猫眼票房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腾讯视频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爱奇艺热播榜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腾讯音乐榜</a:t>
            </a:r>
            <a:r>
              <a:rPr lang="en-US" altLang="zh-CN" sz="900" dirty="0">
                <a:latin typeface="+mn-ea"/>
              </a:rPr>
              <a:t>/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billboard</a:t>
            </a:r>
          </a:p>
          <a:p>
            <a:pPr marL="0" marR="0"/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王者荣耀等游戏排行榜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latin typeface="+mn-ea"/>
              </a:rPr>
              <a:t>·APP Store</a:t>
            </a:r>
            <a:r>
              <a:rPr lang="zh-CN" altLang="en-US" sz="900" dirty="0">
                <a:latin typeface="+mn-ea"/>
              </a:rPr>
              <a:t>游戏排行榜</a:t>
            </a:r>
            <a:endParaRPr lang="en-US" altLang="zh-CN" sz="900" dirty="0">
              <a:solidFill>
                <a:schemeClr val="accent3"/>
              </a:solidFill>
              <a:latin typeface="+mn-ea"/>
            </a:endParaRPr>
          </a:p>
          <a:p>
            <a:pPr marL="0" marR="0"/>
            <a:endParaRPr lang="en-US" altLang="zh-CN" sz="900" dirty="0">
              <a:latin typeface="+mn-ea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1098909" y="4190608"/>
            <a:ext cx="13913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携程口碑榜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latin typeface="+mn-ea"/>
              </a:rPr>
              <a:t>飞猪榜单</a:t>
            </a:r>
            <a:endParaRPr lang="en-US" altLang="zh-CN" sz="900" dirty="0"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dirty="0">
                <a:effectLst/>
                <a:latin typeface="+mn-ea"/>
              </a:rPr>
              <a:t>贝壳找房</a:t>
            </a:r>
            <a:r>
              <a:rPr lang="en-US" altLang="zh-CN" sz="900" dirty="0">
                <a:effectLst/>
                <a:latin typeface="+mn-ea"/>
              </a:rPr>
              <a:t>/</a:t>
            </a:r>
            <a:r>
              <a:rPr lang="zh-CN" altLang="en-US" sz="900" dirty="0">
                <a:effectLst/>
                <a:latin typeface="+mn-ea"/>
              </a:rPr>
              <a:t>土巴兔设计师榜</a:t>
            </a:r>
            <a:endParaRPr lang="en-US" altLang="zh-CN" sz="900" dirty="0">
              <a:effectLst/>
              <a:latin typeface="+mn-ea"/>
            </a:endParaRPr>
          </a:p>
          <a:p>
            <a:pPr marL="0" marR="0"/>
            <a:r>
              <a:rPr lang="en-US" altLang="zh-CN" sz="900" dirty="0">
                <a:effectLst/>
                <a:latin typeface="+mn-ea"/>
              </a:rPr>
              <a:t>·</a:t>
            </a:r>
            <a:r>
              <a:rPr lang="zh-CN" altLang="en-US" sz="900" kern="1200" dirty="0">
                <a:solidFill>
                  <a:schemeClr val="tx1"/>
                </a:solidFill>
                <a:latin typeface="+mn-ea"/>
                <a:cs typeface="+mn-cs"/>
              </a:rPr>
              <a:t>汽车之家</a:t>
            </a:r>
            <a:r>
              <a:rPr lang="en-US" altLang="zh-CN" sz="900" kern="1200" dirty="0">
                <a:solidFill>
                  <a:schemeClr val="tx1"/>
                </a:solidFill>
                <a:latin typeface="+mn-ea"/>
                <a:cs typeface="+mn-cs"/>
              </a:rPr>
              <a:t>/</a:t>
            </a:r>
            <a:r>
              <a:rPr lang="zh-CN" altLang="en-US" sz="900" kern="1200" dirty="0">
                <a:solidFill>
                  <a:schemeClr val="tx1"/>
                </a:solidFill>
                <a:latin typeface="+mn-ea"/>
                <a:cs typeface="+mn-cs"/>
              </a:rPr>
              <a:t>懂车排行榜</a:t>
            </a:r>
            <a:endParaRPr lang="en-US" altLang="zh-CN" sz="900" dirty="0">
              <a:solidFill>
                <a:schemeClr val="accent3"/>
              </a:solidFill>
              <a:effectLst/>
              <a:latin typeface="+mn-ea"/>
            </a:endParaRPr>
          </a:p>
          <a:p>
            <a:pPr marL="0" marR="0"/>
            <a:endParaRPr lang="en-US" altLang="zh-CN" sz="900" dirty="0">
              <a:effectLst/>
              <a:latin typeface="+mn-ea"/>
            </a:endParaRPr>
          </a:p>
        </p:txBody>
      </p:sp>
      <p:sp>
        <p:nvSpPr>
          <p:cNvPr id="410" name="Data Science"/>
          <p:cNvSpPr txBox="1"/>
          <p:nvPr/>
        </p:nvSpPr>
        <p:spPr>
          <a:xfrm>
            <a:off x="5075635" y="2989218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不同分类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4" name="Data Science"/>
          <p:cNvSpPr txBox="1"/>
          <p:nvPr/>
        </p:nvSpPr>
        <p:spPr>
          <a:xfrm>
            <a:off x="5080537" y="1606362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不同时空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7" name="Data Science"/>
          <p:cNvSpPr txBox="1"/>
          <p:nvPr/>
        </p:nvSpPr>
        <p:spPr>
          <a:xfrm>
            <a:off x="5075635" y="4098145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重要属性</a:t>
            </a:r>
            <a:endParaRPr lang="en-US" altLang="zh-CN"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9" name="Data Science"/>
          <p:cNvSpPr txBox="1"/>
          <p:nvPr/>
        </p:nvSpPr>
        <p:spPr>
          <a:xfrm>
            <a:off x="4901820" y="1809886"/>
            <a:ext cx="1256221" cy="100796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日常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大促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时令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新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经典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如电商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新品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预售榜，电影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票房总榜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区域层级、不同地区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等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如歌曲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内地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欧美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日本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0" name="Data Science"/>
          <p:cNvSpPr txBox="1"/>
          <p:nvPr/>
        </p:nvSpPr>
        <p:spPr>
          <a:xfrm>
            <a:off x="4884709" y="2766702"/>
            <a:ext cx="1104860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2" name="Data Science"/>
          <p:cNvSpPr txBox="1"/>
          <p:nvPr/>
        </p:nvSpPr>
        <p:spPr>
          <a:xfrm>
            <a:off x="4907880" y="4365730"/>
            <a:ext cx="1223858" cy="4539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属性重要或具有行业特色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，如电商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折扣榜，车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里程榜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4" name="Rounded Rectangle"/>
          <p:cNvSpPr/>
          <p:nvPr/>
        </p:nvSpPr>
        <p:spPr>
          <a:xfrm>
            <a:off x="6431456" y="1561658"/>
            <a:ext cx="1370228" cy="3351775"/>
          </a:xfrm>
          <a:prstGeom prst="roundRect">
            <a:avLst>
              <a:gd name="adj" fmla="val 4117"/>
            </a:avLst>
          </a:prstGeom>
          <a:solidFill>
            <a:srgbClr val="FFFFFF"/>
          </a:solidFill>
          <a:ln w="6350">
            <a:solidFill>
              <a:srgbClr val="0079FF"/>
            </a:solidFill>
            <a:prstDash val="lgDashDot"/>
            <a:miter lim="400000"/>
          </a:ln>
        </p:spPr>
        <p:txBody>
          <a:bodyPr lIns="0" tIns="0" rIns="0" bIns="0" anchor="ctr"/>
          <a:lstStyle/>
          <a:p>
            <a:endParaRPr sz="900">
              <a:latin typeface="+mn-ea"/>
            </a:endParaRPr>
          </a:p>
        </p:txBody>
      </p:sp>
      <p:sp>
        <p:nvSpPr>
          <p:cNvPr id="425" name="Data Science"/>
          <p:cNvSpPr txBox="1"/>
          <p:nvPr/>
        </p:nvSpPr>
        <p:spPr>
          <a:xfrm>
            <a:off x="6686154" y="2036598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选排标准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7" name="Data Science"/>
          <p:cNvSpPr txBox="1"/>
          <p:nvPr/>
        </p:nvSpPr>
        <p:spPr>
          <a:xfrm>
            <a:off x="6680193" y="3018460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数据计算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0" name="Data Science"/>
          <p:cNvSpPr txBox="1"/>
          <p:nvPr/>
        </p:nvSpPr>
        <p:spPr>
          <a:xfrm>
            <a:off x="6495742" y="2222610"/>
            <a:ext cx="1253212" cy="730969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资产量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：如流量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交易额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评价数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客观属性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：如价格、油耗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维度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：单一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综合</a:t>
            </a:r>
          </a:p>
        </p:txBody>
      </p:sp>
      <p:sp>
        <p:nvSpPr>
          <p:cNvPr id="431" name="Data Science"/>
          <p:cNvSpPr txBox="1"/>
          <p:nvPr/>
        </p:nvSpPr>
        <p:spPr>
          <a:xfrm>
            <a:off x="6512814" y="3485883"/>
            <a:ext cx="1128088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2" name="Data Science"/>
          <p:cNvSpPr txBox="1"/>
          <p:nvPr/>
        </p:nvSpPr>
        <p:spPr>
          <a:xfrm>
            <a:off x="6507929" y="3229174"/>
            <a:ext cx="1253212" cy="1007968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总量</a:t>
            </a:r>
            <a:r>
              <a:rPr lang="en-US" altLang="zh-CN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变化率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：如销量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飙升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折扣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系数计算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QQ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音乐榜单入口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豪华绿钻的行为加权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数据筛选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：如淘宝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88vip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</a:t>
            </a:r>
          </a:p>
        </p:txBody>
      </p:sp>
      <p:sp>
        <p:nvSpPr>
          <p:cNvPr id="208" name="Shape"/>
          <p:cNvSpPr/>
          <p:nvPr/>
        </p:nvSpPr>
        <p:spPr>
          <a:xfrm>
            <a:off x="542933" y="1016233"/>
            <a:ext cx="2043941" cy="327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行 业</a:t>
            </a:r>
          </a:p>
        </p:txBody>
      </p:sp>
      <p:sp>
        <p:nvSpPr>
          <p:cNvPr id="209" name="Shape"/>
          <p:cNvSpPr/>
          <p:nvPr/>
        </p:nvSpPr>
        <p:spPr>
          <a:xfrm>
            <a:off x="2962945" y="1035710"/>
            <a:ext cx="1446816" cy="327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成榜对象</a:t>
            </a:r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9" name="Data Science"/>
          <p:cNvSpPr txBox="1"/>
          <p:nvPr/>
        </p:nvSpPr>
        <p:spPr>
          <a:xfrm>
            <a:off x="1531935" y="1044646"/>
            <a:ext cx="813370" cy="253916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1" name="Shape"/>
          <p:cNvSpPr/>
          <p:nvPr/>
        </p:nvSpPr>
        <p:spPr>
          <a:xfrm>
            <a:off x="6507929" y="1035710"/>
            <a:ext cx="1256866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选排规则</a:t>
            </a:r>
            <a:endParaRPr sz="675" dirty="0">
              <a:latin typeface="+mn-ea"/>
            </a:endParaRPr>
          </a:p>
        </p:txBody>
      </p:sp>
      <p:sp>
        <p:nvSpPr>
          <p:cNvPr id="372" name="Data Science"/>
          <p:cNvSpPr txBox="1"/>
          <p:nvPr/>
        </p:nvSpPr>
        <p:spPr>
          <a:xfrm>
            <a:off x="6515335" y="1073019"/>
            <a:ext cx="1056783" cy="253916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4" name="乘号 403"/>
          <p:cNvSpPr/>
          <p:nvPr/>
        </p:nvSpPr>
        <p:spPr>
          <a:xfrm>
            <a:off x="2657285" y="1085036"/>
            <a:ext cx="250081" cy="223377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405" name="乘号 404"/>
          <p:cNvSpPr/>
          <p:nvPr/>
        </p:nvSpPr>
        <p:spPr>
          <a:xfrm>
            <a:off x="4497871" y="1085036"/>
            <a:ext cx="250081" cy="223376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06" name="乘号 405"/>
          <p:cNvSpPr/>
          <p:nvPr/>
        </p:nvSpPr>
        <p:spPr>
          <a:xfrm>
            <a:off x="6208061" y="1085036"/>
            <a:ext cx="250081" cy="223376"/>
          </a:xfrm>
          <a:prstGeom prst="mathMultiply">
            <a:avLst/>
          </a:prstGeom>
          <a:noFill/>
          <a:ln w="3175">
            <a:solidFill>
              <a:srgbClr val="0079FF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07" name="Shape"/>
          <p:cNvSpPr/>
          <p:nvPr/>
        </p:nvSpPr>
        <p:spPr>
          <a:xfrm>
            <a:off x="4901175" y="1033210"/>
            <a:ext cx="1256866" cy="327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cubicBezTo>
                  <a:pt x="1302" y="0"/>
                  <a:pt x="978" y="0"/>
                  <a:pt x="762" y="297"/>
                </a:cubicBezTo>
                <a:cubicBezTo>
                  <a:pt x="450" y="670"/>
                  <a:pt x="204" y="1476"/>
                  <a:pt x="91" y="2501"/>
                </a:cubicBezTo>
                <a:cubicBezTo>
                  <a:pt x="0" y="3212"/>
                  <a:pt x="0" y="4273"/>
                  <a:pt x="0" y="6050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6050"/>
                </a:lnTo>
                <a:cubicBezTo>
                  <a:pt x="21600" y="4273"/>
                  <a:pt x="21600" y="3212"/>
                  <a:pt x="21509" y="2501"/>
                </a:cubicBezTo>
                <a:cubicBezTo>
                  <a:pt x="21396" y="1476"/>
                  <a:pt x="21150" y="670"/>
                  <a:pt x="20838" y="297"/>
                </a:cubicBezTo>
                <a:cubicBezTo>
                  <a:pt x="20622" y="0"/>
                  <a:pt x="20296" y="0"/>
                  <a:pt x="19754" y="0"/>
                </a:cubicBezTo>
                <a:lnTo>
                  <a:pt x="1843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+mn-ea"/>
              </a:rPr>
              <a:t>需求场景</a:t>
            </a:r>
            <a:endParaRPr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2" name="Data Science"/>
          <p:cNvSpPr txBox="1"/>
          <p:nvPr/>
        </p:nvSpPr>
        <p:spPr>
          <a:xfrm>
            <a:off x="3292459" y="2956321"/>
            <a:ext cx="1131875" cy="19236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en-US" altLang="zh-CN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Line"/>
          <p:cNvSpPr/>
          <p:nvPr/>
        </p:nvSpPr>
        <p:spPr>
          <a:xfrm>
            <a:off x="3820817" y="1870188"/>
            <a:ext cx="0" cy="202410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Rounded Rectangle"/>
          <p:cNvSpPr/>
          <p:nvPr/>
        </p:nvSpPr>
        <p:spPr>
          <a:xfrm>
            <a:off x="3690887" y="1690640"/>
            <a:ext cx="251121" cy="179548"/>
          </a:xfrm>
          <a:prstGeom prst="roundRect">
            <a:avLst>
              <a:gd name="adj" fmla="val 12720"/>
            </a:avLst>
          </a:prstGeom>
          <a:solidFill>
            <a:schemeClr val="accent1">
              <a:alpha val="9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5" name="Rounded Rectangle"/>
          <p:cNvSpPr/>
          <p:nvPr/>
        </p:nvSpPr>
        <p:spPr>
          <a:xfrm>
            <a:off x="4164021" y="2192608"/>
            <a:ext cx="183674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6" name="Line"/>
          <p:cNvSpPr/>
          <p:nvPr/>
        </p:nvSpPr>
        <p:spPr>
          <a:xfrm>
            <a:off x="4259833" y="2379971"/>
            <a:ext cx="0" cy="194448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7" name="Line"/>
          <p:cNvSpPr/>
          <p:nvPr/>
        </p:nvSpPr>
        <p:spPr>
          <a:xfrm>
            <a:off x="4163523" y="2583593"/>
            <a:ext cx="183675" cy="1314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8" name="Rounded Rectangle"/>
          <p:cNvSpPr/>
          <p:nvPr/>
        </p:nvSpPr>
        <p:spPr>
          <a:xfrm>
            <a:off x="4089596" y="2756922"/>
            <a:ext cx="126618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9" name="Rounded Rectangle"/>
          <p:cNvSpPr/>
          <p:nvPr/>
        </p:nvSpPr>
        <p:spPr>
          <a:xfrm>
            <a:off x="4280162" y="2755749"/>
            <a:ext cx="126618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Rounded Rectangle"/>
          <p:cNvSpPr/>
          <p:nvPr/>
        </p:nvSpPr>
        <p:spPr>
          <a:xfrm>
            <a:off x="4012619" y="1690640"/>
            <a:ext cx="251121" cy="179548"/>
          </a:xfrm>
          <a:prstGeom prst="roundRect">
            <a:avLst>
              <a:gd name="adj" fmla="val 12720"/>
            </a:avLst>
          </a:prstGeom>
          <a:solidFill>
            <a:schemeClr val="accent1">
              <a:alpha val="9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3619410" y="1652942"/>
            <a:ext cx="724714" cy="258466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3411758" y="2673519"/>
            <a:ext cx="1012576" cy="297097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3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431250" y="2037483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②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295715" y="2572520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①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3553850" y="2171229"/>
            <a:ext cx="870484" cy="262417"/>
          </a:xfrm>
          <a:prstGeom prst="rect">
            <a:avLst/>
          </a:prstGeom>
          <a:noFill/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6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3518471" y="1540452"/>
            <a:ext cx="69362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③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7" name="Rounded Rectangle"/>
          <p:cNvSpPr/>
          <p:nvPr/>
        </p:nvSpPr>
        <p:spPr>
          <a:xfrm>
            <a:off x="3606143" y="2199497"/>
            <a:ext cx="186917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8" name="Line"/>
          <p:cNvSpPr/>
          <p:nvPr/>
        </p:nvSpPr>
        <p:spPr>
          <a:xfrm>
            <a:off x="3693008" y="2401442"/>
            <a:ext cx="0" cy="292025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lIns="17144" tIns="17144" rIns="17144" bIns="17144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9" name="Line"/>
          <p:cNvSpPr/>
          <p:nvPr/>
        </p:nvSpPr>
        <p:spPr>
          <a:xfrm>
            <a:off x="3517228" y="2578705"/>
            <a:ext cx="372836" cy="1275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0" name="Rounded Rectangle"/>
          <p:cNvSpPr/>
          <p:nvPr/>
        </p:nvSpPr>
        <p:spPr>
          <a:xfrm>
            <a:off x="3448155" y="2749387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1" name="Rounded Rectangle"/>
          <p:cNvSpPr/>
          <p:nvPr/>
        </p:nvSpPr>
        <p:spPr>
          <a:xfrm>
            <a:off x="3820817" y="2749387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2" name="Rounded Rectangle"/>
          <p:cNvSpPr/>
          <p:nvPr/>
        </p:nvSpPr>
        <p:spPr>
          <a:xfrm>
            <a:off x="3634486" y="2749387"/>
            <a:ext cx="128852" cy="156452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3" name="矩形 112"/>
          <p:cNvSpPr/>
          <p:nvPr/>
        </p:nvSpPr>
        <p:spPr>
          <a:xfrm flipH="1">
            <a:off x="4082844" y="2099943"/>
            <a:ext cx="390171" cy="92178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4" name="Lorem Ipsum is simply dummy text of the printing and typesetting industry. Lorem Ipsum has been the industry's standard dummy text ever since the 1500s, when an unknown printer took a galley of type and scrambled it to make a type specimen book. It has s"/>
          <p:cNvSpPr txBox="1"/>
          <p:nvPr/>
        </p:nvSpPr>
        <p:spPr>
          <a:xfrm>
            <a:off x="4034509" y="1981787"/>
            <a:ext cx="69361" cy="192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t">
            <a:spAutoFit/>
          </a:bodyPr>
          <a:lstStyle>
            <a:lvl1pPr>
              <a:defRPr sz="250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④</a:t>
            </a:r>
            <a:endParaRPr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8" name="Data Science">
            <a:extLst>
              <a:ext uri="{FF2B5EF4-FFF2-40B4-BE49-F238E27FC236}">
                <a16:creationId xmlns:a16="http://schemas.microsoft.com/office/drawing/2014/main" id="{4E3ACB36-B7E3-892F-0FF9-26EBCA8E787F}"/>
              </a:ext>
            </a:extLst>
          </p:cNvPr>
          <p:cNvSpPr txBox="1"/>
          <p:nvPr/>
        </p:nvSpPr>
        <p:spPr>
          <a:xfrm>
            <a:off x="2796382" y="3490010"/>
            <a:ext cx="1761857" cy="1284967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拓扑涉及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种运营单元：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①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叶子层拉通：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SPU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、博文、单曲、房源排行；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②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父层拉通：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如店铺、话题、专辑、小区排行；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③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根层拉通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（如有）：如品牌、热点、经纪公司、开发商排行；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④</a:t>
            </a:r>
            <a:r>
              <a:rPr lang="zh-CN" altLang="en-US" sz="900" u="sng" dirty="0">
                <a:solidFill>
                  <a:schemeClr val="tx1"/>
                </a:solidFill>
                <a:latin typeface="+mn-ea"/>
              </a:rPr>
              <a:t>父层内比较：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如店内好品、专辑内歌曲排行。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Rounded Rectangle">
            <a:extLst>
              <a:ext uri="{FF2B5EF4-FFF2-40B4-BE49-F238E27FC236}">
                <a16:creationId xmlns:a16="http://schemas.microsoft.com/office/drawing/2014/main" id="{150D3DDF-52E2-A44B-2B2B-444B857A2882}"/>
              </a:ext>
            </a:extLst>
          </p:cNvPr>
          <p:cNvSpPr/>
          <p:nvPr/>
        </p:nvSpPr>
        <p:spPr>
          <a:xfrm>
            <a:off x="3841093" y="2199497"/>
            <a:ext cx="183674" cy="191846"/>
          </a:xfrm>
          <a:prstGeom prst="roundRect">
            <a:avLst>
              <a:gd name="adj" fmla="val 12720"/>
            </a:avLst>
          </a:prstGeom>
          <a:noFill/>
          <a:ln w="12700" cap="flat">
            <a:solidFill>
              <a:srgbClr val="FFD619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sz="675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0" name="Line">
            <a:extLst>
              <a:ext uri="{FF2B5EF4-FFF2-40B4-BE49-F238E27FC236}">
                <a16:creationId xmlns:a16="http://schemas.microsoft.com/office/drawing/2014/main" id="{BE8A2FD5-286F-8FEB-28B9-76B0A7881EF1}"/>
              </a:ext>
            </a:extLst>
          </p:cNvPr>
          <p:cNvSpPr/>
          <p:nvPr/>
        </p:nvSpPr>
        <p:spPr>
          <a:xfrm>
            <a:off x="3689163" y="2072598"/>
            <a:ext cx="251983" cy="11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9894"/>
                </a:lnTo>
                <a:cubicBezTo>
                  <a:pt x="0" y="8443"/>
                  <a:pt x="0" y="7281"/>
                  <a:pt x="2" y="6338"/>
                </a:cubicBezTo>
                <a:cubicBezTo>
                  <a:pt x="4" y="5394"/>
                  <a:pt x="8" y="4668"/>
                  <a:pt x="16" y="4087"/>
                </a:cubicBezTo>
                <a:cubicBezTo>
                  <a:pt x="27" y="3250"/>
                  <a:pt x="43" y="2502"/>
                  <a:pt x="64" y="1887"/>
                </a:cubicBezTo>
                <a:cubicBezTo>
                  <a:pt x="85" y="1272"/>
                  <a:pt x="110" y="790"/>
                  <a:pt x="139" y="485"/>
                </a:cubicBezTo>
                <a:cubicBezTo>
                  <a:pt x="158" y="242"/>
                  <a:pt x="183" y="121"/>
                  <a:pt x="215" y="61"/>
                </a:cubicBezTo>
                <a:cubicBezTo>
                  <a:pt x="247" y="0"/>
                  <a:pt x="286" y="0"/>
                  <a:pt x="335" y="0"/>
                </a:cubicBezTo>
                <a:lnTo>
                  <a:pt x="21265" y="0"/>
                </a:lnTo>
                <a:cubicBezTo>
                  <a:pt x="21314" y="0"/>
                  <a:pt x="21353" y="0"/>
                  <a:pt x="21385" y="61"/>
                </a:cubicBezTo>
                <a:cubicBezTo>
                  <a:pt x="21417" y="121"/>
                  <a:pt x="21442" y="242"/>
                  <a:pt x="21461" y="485"/>
                </a:cubicBezTo>
                <a:cubicBezTo>
                  <a:pt x="21490" y="790"/>
                  <a:pt x="21515" y="1272"/>
                  <a:pt x="21536" y="1887"/>
                </a:cubicBezTo>
                <a:cubicBezTo>
                  <a:pt x="21557" y="2502"/>
                  <a:pt x="21573" y="3250"/>
                  <a:pt x="21584" y="4087"/>
                </a:cubicBezTo>
                <a:cubicBezTo>
                  <a:pt x="21592" y="4668"/>
                  <a:pt x="21596" y="5394"/>
                  <a:pt x="21598" y="6338"/>
                </a:cubicBezTo>
                <a:cubicBezTo>
                  <a:pt x="21600" y="7281"/>
                  <a:pt x="21600" y="8443"/>
                  <a:pt x="21600" y="9894"/>
                </a:cubicBezTo>
                <a:lnTo>
                  <a:pt x="21600" y="21600"/>
                </a:lnTo>
              </a:path>
            </a:pathLst>
          </a:custGeom>
          <a:ln w="254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endParaRPr sz="675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Data Science">
            <a:extLst>
              <a:ext uri="{FF2B5EF4-FFF2-40B4-BE49-F238E27FC236}">
                <a16:creationId xmlns:a16="http://schemas.microsoft.com/office/drawing/2014/main" id="{0F2AE64A-B78C-7098-1304-2AE4D77F7EB8}"/>
              </a:ext>
            </a:extLst>
          </p:cNvPr>
          <p:cNvSpPr txBox="1"/>
          <p:nvPr/>
        </p:nvSpPr>
        <p:spPr>
          <a:xfrm>
            <a:off x="4915622" y="3243105"/>
            <a:ext cx="1196689" cy="592470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品类垂类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如内容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垂类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专题主题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如酒店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特色主题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7" name="Data Science">
            <a:extLst>
              <a:ext uri="{FF2B5EF4-FFF2-40B4-BE49-F238E27FC236}">
                <a16:creationId xmlns:a16="http://schemas.microsoft.com/office/drawing/2014/main" id="{8BAA1E05-66ED-9F4F-404C-B245F1074D0A}"/>
              </a:ext>
            </a:extLst>
          </p:cNvPr>
          <p:cNvSpPr txBox="1"/>
          <p:nvPr/>
        </p:nvSpPr>
        <p:spPr>
          <a:xfrm>
            <a:off x="6690604" y="4308761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更新周期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8" name="Data Science">
            <a:extLst>
              <a:ext uri="{FF2B5EF4-FFF2-40B4-BE49-F238E27FC236}">
                <a16:creationId xmlns:a16="http://schemas.microsoft.com/office/drawing/2014/main" id="{3FB51182-A220-8D46-1477-66762CA8242E}"/>
              </a:ext>
            </a:extLst>
          </p:cNvPr>
          <p:cNvSpPr txBox="1"/>
          <p:nvPr/>
        </p:nvSpPr>
        <p:spPr>
          <a:xfrm>
            <a:off x="6512814" y="4519271"/>
            <a:ext cx="1236140" cy="315471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近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自然周期的日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周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季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年，或成立以来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9" name="Data Science">
            <a:extLst>
              <a:ext uri="{FF2B5EF4-FFF2-40B4-BE49-F238E27FC236}">
                <a16:creationId xmlns:a16="http://schemas.microsoft.com/office/drawing/2014/main" id="{996BE499-6958-E2A2-F801-3ED731ADF766}"/>
              </a:ext>
            </a:extLst>
          </p:cNvPr>
          <p:cNvSpPr txBox="1"/>
          <p:nvPr/>
        </p:nvSpPr>
        <p:spPr>
          <a:xfrm>
            <a:off x="6671457" y="1595687"/>
            <a:ext cx="864000" cy="201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选排方式</a:t>
            </a:r>
            <a:endParaRPr sz="10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0" name="Data Science">
            <a:extLst>
              <a:ext uri="{FF2B5EF4-FFF2-40B4-BE49-F238E27FC236}">
                <a16:creationId xmlns:a16="http://schemas.microsoft.com/office/drawing/2014/main" id="{21457526-5202-3065-60FE-7536FA0B1E1F}"/>
              </a:ext>
            </a:extLst>
          </p:cNvPr>
          <p:cNvSpPr txBox="1"/>
          <p:nvPr/>
        </p:nvSpPr>
        <p:spPr>
          <a:xfrm>
            <a:off x="6495743" y="1802629"/>
            <a:ext cx="1039801" cy="176972"/>
          </a:xfrm>
          <a:prstGeom prst="rect">
            <a:avLst/>
          </a:prstGeom>
          <a:ln w="12700">
            <a:miter lim="400000"/>
          </a:ln>
        </p:spPr>
        <p:txBody>
          <a:bodyPr wrap="square" lIns="19050" tIns="19050" rIns="19050" bIns="19050" anchor="ctr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 marL="88900" indent="-88900"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评选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综合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C8E1C3-FD89-909F-56C6-CFBB6F3AB51B}"/>
              </a:ext>
            </a:extLst>
          </p:cNvPr>
          <p:cNvSpPr txBox="1"/>
          <p:nvPr/>
        </p:nvSpPr>
        <p:spPr>
          <a:xfrm>
            <a:off x="2661942" y="1597509"/>
            <a:ext cx="99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品牌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热点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经纪公司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开发商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7DBC10-037F-66B1-CDD2-8278EDCD592C}"/>
              </a:ext>
            </a:extLst>
          </p:cNvPr>
          <p:cNvSpPr txBox="1"/>
          <p:nvPr/>
        </p:nvSpPr>
        <p:spPr>
          <a:xfrm>
            <a:off x="2657285" y="2140570"/>
            <a:ext cx="870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店铺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话题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专辑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小区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9F1833-941C-F528-54F4-321D822E1260}"/>
              </a:ext>
            </a:extLst>
          </p:cNvPr>
          <p:cNvSpPr txBox="1"/>
          <p:nvPr/>
        </p:nvSpPr>
        <p:spPr>
          <a:xfrm>
            <a:off x="2668300" y="2674103"/>
            <a:ext cx="859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SPU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博文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单曲</a:t>
            </a:r>
            <a:r>
              <a:rPr lang="en-US" altLang="zh-CN" sz="900" dirty="0">
                <a:latin typeface="+mn-ea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房源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…</a:t>
            </a:r>
            <a:endParaRPr lang="zh-CN" altLang="en-US" sz="900" dirty="0"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0A982D48-EDC6-4641-ACAC-DCDC3132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396" y="114176"/>
            <a:ext cx="979232" cy="212829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8BA0985-7248-4D1D-A08A-825290CC6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000" y="106156"/>
            <a:ext cx="979351" cy="212855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50AC8CD-2010-4DDF-980C-A15C2AD4B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624" y="90255"/>
            <a:ext cx="979351" cy="212855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BD1D606-0D4C-4D3A-A9B4-97E6F3844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2347" y="90255"/>
            <a:ext cx="979039" cy="212855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D4805BF2-3314-4BF0-851B-71AF6F4F5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758" y="106035"/>
            <a:ext cx="979351" cy="212855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597FF24-53FE-47C0-917C-2A1B456EAB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79" y="106035"/>
            <a:ext cx="979039" cy="2128558"/>
          </a:xfrm>
          <a:prstGeom prst="rect">
            <a:avLst/>
          </a:prstGeom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ACA273C9-8884-4AC4-B2F4-8DB5302104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17"/>
          <a:stretch/>
        </p:blipFill>
        <p:spPr bwMode="auto">
          <a:xfrm>
            <a:off x="405225" y="114176"/>
            <a:ext cx="1180799" cy="214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732F8868-4F53-4C19-B644-FBD9AF2EA3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8505" y="2419098"/>
            <a:ext cx="978910" cy="212760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99CD95E-C035-479C-B26E-3EF8860B26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613" y="2419098"/>
            <a:ext cx="981393" cy="2127600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C6756D16-973A-470E-8592-51E0ABE06D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9993" y="2419098"/>
            <a:ext cx="981393" cy="21276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2261C3AF-7EDB-4A26-9B68-4292685540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1736" y="2401934"/>
            <a:ext cx="981393" cy="2127600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37088C15-B79B-48A7-AD94-F6A7852305B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2935" y="2407138"/>
            <a:ext cx="981393" cy="2127600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A1FB1F7B-BDF5-4CA8-AEF0-75D5FC2AE1DC}"/>
              </a:ext>
            </a:extLst>
          </p:cNvPr>
          <p:cNvSpPr txBox="1"/>
          <p:nvPr/>
        </p:nvSpPr>
        <p:spPr>
          <a:xfrm>
            <a:off x="638666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天猫必买榜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F828AED-977D-44EC-8E98-2E0FB5090B98}"/>
              </a:ext>
            </a:extLst>
          </p:cNvPr>
          <p:cNvSpPr txBox="1"/>
          <p:nvPr/>
        </p:nvSpPr>
        <p:spPr>
          <a:xfrm>
            <a:off x="1848368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京东金榜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1CA6300-15B1-4A4D-B2C7-E0F26BA3239D}"/>
              </a:ext>
            </a:extLst>
          </p:cNvPr>
          <p:cNvSpPr txBox="1"/>
          <p:nvPr/>
        </p:nvSpPr>
        <p:spPr>
          <a:xfrm>
            <a:off x="2918858" y="2210020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京东数据榜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83B40E8-21E5-4834-98D5-CD599C7DB110}"/>
              </a:ext>
            </a:extLst>
          </p:cNvPr>
          <p:cNvSpPr txBox="1"/>
          <p:nvPr/>
        </p:nvSpPr>
        <p:spPr>
          <a:xfrm>
            <a:off x="3940603" y="2201879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天猫竞速榜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9BF97E8-D2AB-4F0E-A0EC-DA0504A5DBE9}"/>
              </a:ext>
            </a:extLst>
          </p:cNvPr>
          <p:cNvSpPr txBox="1"/>
          <p:nvPr/>
        </p:nvSpPr>
        <p:spPr>
          <a:xfrm>
            <a:off x="5077474" y="2201879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微博热搜</a:t>
            </a:r>
            <a:endParaRPr lang="zh-CN" altLang="en-US" sz="700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FA24557-BD1A-4071-9F2E-D65576A608E9}"/>
              </a:ext>
            </a:extLst>
          </p:cNvPr>
          <p:cNvSpPr txBox="1"/>
          <p:nvPr/>
        </p:nvSpPr>
        <p:spPr>
          <a:xfrm>
            <a:off x="6064617" y="2201879"/>
            <a:ext cx="8050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+mn-ea"/>
              </a:rPr>
              <a:t>B</a:t>
            </a:r>
            <a:r>
              <a:rPr lang="zh-CN" altLang="en-US" sz="700" b="1" dirty="0">
                <a:latin typeface="+mn-ea"/>
              </a:rPr>
              <a:t>站百大</a:t>
            </a:r>
            <a:r>
              <a:rPr lang="en-US" altLang="zh-CN" sz="700" b="1" dirty="0">
                <a:latin typeface="+mn-ea"/>
              </a:rPr>
              <a:t>UP</a:t>
            </a:r>
            <a:r>
              <a:rPr lang="zh-CN" altLang="en-US" sz="700" b="1" dirty="0">
                <a:latin typeface="+mn-ea"/>
              </a:rPr>
              <a:t>主</a:t>
            </a:r>
            <a:endParaRPr lang="zh-CN" altLang="en-US" sz="700" dirty="0">
              <a:latin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4F8B8C-41DA-464E-8BCD-5A98E9D82110}"/>
              </a:ext>
            </a:extLst>
          </p:cNvPr>
          <p:cNvSpPr txBox="1"/>
          <p:nvPr/>
        </p:nvSpPr>
        <p:spPr>
          <a:xfrm>
            <a:off x="7043968" y="2207083"/>
            <a:ext cx="9574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抖音直播人气榜</a:t>
            </a:r>
            <a:endParaRPr lang="zh-CN" altLang="en-US" sz="700" dirty="0">
              <a:latin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4B1997E-F827-4F16-AA68-024842755B2B}"/>
              </a:ext>
            </a:extLst>
          </p:cNvPr>
          <p:cNvSpPr txBox="1"/>
          <p:nvPr/>
        </p:nvSpPr>
        <p:spPr>
          <a:xfrm>
            <a:off x="660468" y="4531027"/>
            <a:ext cx="66957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猫眼票房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AE38FFC-1CB5-4910-93AA-565DCCAC4A69}"/>
              </a:ext>
            </a:extLst>
          </p:cNvPr>
          <p:cNvSpPr txBox="1"/>
          <p:nvPr/>
        </p:nvSpPr>
        <p:spPr>
          <a:xfrm>
            <a:off x="1718399" y="4524975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爱奇艺风云榜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0A606CE-17AF-4545-A3A2-3F69BE27864D}"/>
              </a:ext>
            </a:extLst>
          </p:cNvPr>
          <p:cNvSpPr txBox="1"/>
          <p:nvPr/>
        </p:nvSpPr>
        <p:spPr>
          <a:xfrm>
            <a:off x="4875493" y="4531027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+mn-ea"/>
              </a:rPr>
              <a:t>App Store</a:t>
            </a:r>
            <a:r>
              <a:rPr lang="zh-CN" altLang="en-US" sz="700" b="1" dirty="0">
                <a:latin typeface="+mn-ea"/>
              </a:rPr>
              <a:t>游戏榜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CCDAC5D-A7A4-48DC-83E8-BA6638E47D15}"/>
              </a:ext>
            </a:extLst>
          </p:cNvPr>
          <p:cNvSpPr txBox="1"/>
          <p:nvPr/>
        </p:nvSpPr>
        <p:spPr>
          <a:xfrm>
            <a:off x="3880006" y="4513558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王者荣耀排行榜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49576F3-E8C3-4FA7-85FF-CC2A33D8DF9D}"/>
              </a:ext>
            </a:extLst>
          </p:cNvPr>
          <p:cNvSpPr txBox="1"/>
          <p:nvPr/>
        </p:nvSpPr>
        <p:spPr>
          <a:xfrm>
            <a:off x="6104597" y="4534738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携程口碑榜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FB910FE-FCC2-40E0-8521-F9C465722A85}"/>
              </a:ext>
            </a:extLst>
          </p:cNvPr>
          <p:cNvSpPr txBox="1"/>
          <p:nvPr/>
        </p:nvSpPr>
        <p:spPr>
          <a:xfrm>
            <a:off x="7054468" y="4531027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 贝壳新房排行榜</a:t>
            </a:r>
            <a:endParaRPr lang="en-US" altLang="zh-CN" sz="700" b="1" dirty="0">
              <a:latin typeface="+mn-ea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2734CF5-28C8-488C-BACC-DC9B45D8A222}"/>
              </a:ext>
            </a:extLst>
          </p:cNvPr>
          <p:cNvSpPr txBox="1"/>
          <p:nvPr/>
        </p:nvSpPr>
        <p:spPr>
          <a:xfrm>
            <a:off x="8141509" y="4508660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汽车之家排行榜</a:t>
            </a:r>
            <a:endParaRPr lang="en-US" altLang="zh-CN" sz="7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3DB371-BA5A-1973-8D78-99F6393A76C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23414" y="2419098"/>
            <a:ext cx="1001609" cy="21276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4E0A88D-A5CC-379B-0778-9372048B26E9}"/>
              </a:ext>
            </a:extLst>
          </p:cNvPr>
          <p:cNvSpPr txBox="1"/>
          <p:nvPr/>
        </p:nvSpPr>
        <p:spPr>
          <a:xfrm>
            <a:off x="2843369" y="4524975"/>
            <a:ext cx="8590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腾讯音乐榜</a:t>
            </a:r>
            <a:endParaRPr lang="en-US" altLang="zh-CN" sz="700" b="1" dirty="0">
              <a:latin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9E303C8-2928-E2AC-979B-10526203AFB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1166" y="2398115"/>
            <a:ext cx="999704" cy="213662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7881A49-3414-147D-5FF0-6074606363B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0840" y="114176"/>
            <a:ext cx="1003745" cy="2128558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C1616A1B-6033-7BDD-8CF4-C960BB23359C}"/>
              </a:ext>
            </a:extLst>
          </p:cNvPr>
          <p:cNvSpPr txBox="1"/>
          <p:nvPr/>
        </p:nvSpPr>
        <p:spPr>
          <a:xfrm>
            <a:off x="8289027" y="2187763"/>
            <a:ext cx="7114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抖查查榜</a:t>
            </a:r>
            <a:endParaRPr lang="zh-CN" altLang="en-US" sz="700" dirty="0">
              <a:latin typeface="+mn-ea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6CE4CDA9-8D47-339C-F352-9429BEE4CB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01022" y="3036161"/>
            <a:ext cx="972125" cy="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3348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D87FD2C-03E4-474D-B183-AD43E2B25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38618"/>
              </p:ext>
            </p:extLst>
          </p:nvPr>
        </p:nvGraphicFramePr>
        <p:xfrm>
          <a:off x="365263" y="498958"/>
          <a:ext cx="7886703" cy="1044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509">
                  <a:extLst>
                    <a:ext uri="{9D8B030D-6E8A-4147-A177-3AD203B41FA5}">
                      <a16:colId xmlns:a16="http://schemas.microsoft.com/office/drawing/2014/main" val="3419970996"/>
                    </a:ext>
                  </a:extLst>
                </a:gridCol>
                <a:gridCol w="801638">
                  <a:extLst>
                    <a:ext uri="{9D8B030D-6E8A-4147-A177-3AD203B41FA5}">
                      <a16:colId xmlns:a16="http://schemas.microsoft.com/office/drawing/2014/main" val="935747573"/>
                    </a:ext>
                  </a:extLst>
                </a:gridCol>
                <a:gridCol w="801638">
                  <a:extLst>
                    <a:ext uri="{9D8B030D-6E8A-4147-A177-3AD203B41FA5}">
                      <a16:colId xmlns:a16="http://schemas.microsoft.com/office/drawing/2014/main" val="2792444585"/>
                    </a:ext>
                  </a:extLst>
                </a:gridCol>
                <a:gridCol w="730905">
                  <a:extLst>
                    <a:ext uri="{9D8B030D-6E8A-4147-A177-3AD203B41FA5}">
                      <a16:colId xmlns:a16="http://schemas.microsoft.com/office/drawing/2014/main" val="115007607"/>
                    </a:ext>
                  </a:extLst>
                </a:gridCol>
                <a:gridCol w="730905">
                  <a:extLst>
                    <a:ext uri="{9D8B030D-6E8A-4147-A177-3AD203B41FA5}">
                      <a16:colId xmlns:a16="http://schemas.microsoft.com/office/drawing/2014/main" val="3777229174"/>
                    </a:ext>
                  </a:extLst>
                </a:gridCol>
                <a:gridCol w="919526">
                  <a:extLst>
                    <a:ext uri="{9D8B030D-6E8A-4147-A177-3AD203B41FA5}">
                      <a16:colId xmlns:a16="http://schemas.microsoft.com/office/drawing/2014/main" val="1381638013"/>
                    </a:ext>
                  </a:extLst>
                </a:gridCol>
                <a:gridCol w="919526">
                  <a:extLst>
                    <a:ext uri="{9D8B030D-6E8A-4147-A177-3AD203B41FA5}">
                      <a16:colId xmlns:a16="http://schemas.microsoft.com/office/drawing/2014/main" val="2706958346"/>
                    </a:ext>
                  </a:extLst>
                </a:gridCol>
                <a:gridCol w="1092428">
                  <a:extLst>
                    <a:ext uri="{9D8B030D-6E8A-4147-A177-3AD203B41FA5}">
                      <a16:colId xmlns:a16="http://schemas.microsoft.com/office/drawing/2014/main" val="4139279623"/>
                    </a:ext>
                  </a:extLst>
                </a:gridCol>
                <a:gridCol w="1092428">
                  <a:extLst>
                    <a:ext uri="{9D8B030D-6E8A-4147-A177-3AD203B41FA5}">
                      <a16:colId xmlns:a16="http://schemas.microsoft.com/office/drawing/2014/main" val="3604147919"/>
                    </a:ext>
                  </a:extLst>
                </a:gridCol>
                <a:gridCol w="491200">
                  <a:extLst>
                    <a:ext uri="{9D8B030D-6E8A-4147-A177-3AD203B41FA5}">
                      <a16:colId xmlns:a16="http://schemas.microsoft.com/office/drawing/2014/main" val="3978543499"/>
                    </a:ext>
                  </a:extLst>
                </a:gridCol>
              </a:tblGrid>
              <a:tr h="117088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zh-CN" altLang="en-US" sz="700" u="none" strike="noStrike">
                          <a:effectLst/>
                        </a:rPr>
                        <a:t>双平台评价总量、新增评价与门店分布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80923"/>
                  </a:ext>
                </a:extLst>
              </a:tr>
              <a:tr h="22497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平台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城市线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评价总量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评价量占比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有评门店数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有评门店占比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近</a:t>
                      </a:r>
                      <a:r>
                        <a:rPr lang="en-US" altLang="zh-CN" sz="700" u="none" strike="noStrike">
                          <a:effectLst/>
                        </a:rPr>
                        <a:t>30</a:t>
                      </a:r>
                      <a:r>
                        <a:rPr lang="zh-CN" altLang="en-US" sz="700" u="none" strike="noStrike">
                          <a:effectLst/>
                        </a:rPr>
                        <a:t>天评价量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近</a:t>
                      </a:r>
                      <a:r>
                        <a:rPr lang="en-US" altLang="zh-CN" sz="700" u="none" strike="noStrike">
                          <a:effectLst/>
                        </a:rPr>
                        <a:t>30</a:t>
                      </a:r>
                      <a:r>
                        <a:rPr lang="zh-CN" altLang="en-US" sz="700" u="none" strike="noStrike">
                          <a:effectLst/>
                        </a:rPr>
                        <a:t>天店均评价量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近</a:t>
                      </a:r>
                      <a:r>
                        <a:rPr lang="en-US" altLang="zh-CN" sz="700" u="none" strike="noStrike">
                          <a:effectLst/>
                        </a:rPr>
                        <a:t>30</a:t>
                      </a:r>
                      <a:r>
                        <a:rPr lang="zh-CN" altLang="en-US" sz="700" u="none" strike="noStrike">
                          <a:effectLst/>
                        </a:rPr>
                        <a:t>天有新增评价门店量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有新增门店占比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extLst>
                  <a:ext uri="{0D108BD9-81ED-4DB2-BD59-A6C34878D82A}">
                    <a16:rowId xmlns:a16="http://schemas.microsoft.com/office/drawing/2014/main" val="673741042"/>
                  </a:ext>
                </a:extLst>
              </a:tr>
              <a:tr h="11708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美团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高线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</a:t>
                      </a:r>
                      <a:r>
                        <a:rPr lang="en-US" altLang="zh-CN" sz="700" u="none" strike="noStrike">
                          <a:effectLst/>
                        </a:rPr>
                        <a:t>357,150,603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52%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zh-CN" sz="700" u="none" strike="noStrike">
                          <a:effectLst/>
                        </a:rPr>
                        <a:t>1,513,177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>
                          <a:effectLst/>
                        </a:rPr>
                        <a:t>52%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</a:t>
                      </a:r>
                      <a:r>
                        <a:rPr lang="en-US" altLang="zh-CN" sz="700" u="none" strike="noStrike">
                          <a:effectLst/>
                        </a:rPr>
                        <a:t>6,960,054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12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559,930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19%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extLst>
                  <a:ext uri="{0D108BD9-81ED-4DB2-BD59-A6C34878D82A}">
                    <a16:rowId xmlns:a16="http://schemas.microsoft.com/office/drawing/2014/main" val="1481463962"/>
                  </a:ext>
                </a:extLst>
              </a:tr>
              <a:tr h="1170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中低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</a:t>
                      </a:r>
                      <a:r>
                        <a:rPr lang="en-US" altLang="zh-CN" sz="700" u="none" strike="noStrike">
                          <a:effectLst/>
                        </a:rPr>
                        <a:t>325,771,662 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48%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zh-CN" sz="700" u="none" strike="noStrike">
                          <a:effectLst/>
                        </a:rPr>
                        <a:t>2,120,308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>
                          <a:effectLst/>
                        </a:rPr>
                        <a:t>38%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</a:t>
                      </a:r>
                      <a:r>
                        <a:rPr lang="en-US" altLang="zh-CN" sz="700" u="none" strike="noStrike">
                          <a:effectLst/>
                        </a:rPr>
                        <a:t>6,136,473 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11 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561,915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10%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extLst>
                  <a:ext uri="{0D108BD9-81ED-4DB2-BD59-A6C34878D82A}">
                    <a16:rowId xmlns:a16="http://schemas.microsoft.com/office/drawing/2014/main" val="1601485444"/>
                  </a:ext>
                </a:extLst>
              </a:tr>
              <a:tr h="1170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总计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</a:t>
                      </a:r>
                      <a:r>
                        <a:rPr lang="en-US" altLang="zh-CN" sz="700" u="none" strike="noStrike">
                          <a:effectLst/>
                        </a:rPr>
                        <a:t>682,922,265 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100%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zh-CN" sz="700" u="none" strike="noStrike">
                          <a:effectLst/>
                        </a:rPr>
                        <a:t>3,633,485 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43%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    </a:t>
                      </a:r>
                      <a:r>
                        <a:rPr lang="en-US" altLang="zh-CN" sz="700" u="none" strike="noStrike">
                          <a:effectLst/>
                        </a:rPr>
                        <a:t>13,096,527 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12 </a:t>
                      </a:r>
                      <a:endParaRPr lang="en-US" altLang="zh-CN" sz="700" b="0" i="0" u="none" strike="noStrike">
                        <a:solidFill>
                          <a:srgbClr val="00B05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         </a:t>
                      </a:r>
                      <a:r>
                        <a:rPr lang="en-US" altLang="zh-CN" sz="700" u="none" strike="noStrike">
                          <a:effectLst/>
                        </a:rPr>
                        <a:t>1,121,845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13%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extLst>
                  <a:ext uri="{0D108BD9-81ED-4DB2-BD59-A6C34878D82A}">
                    <a16:rowId xmlns:a16="http://schemas.microsoft.com/office/drawing/2014/main" val="3229957245"/>
                  </a:ext>
                </a:extLst>
              </a:tr>
              <a:tr h="117088"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点评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高线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</a:t>
                      </a:r>
                      <a:r>
                        <a:rPr lang="en-US" altLang="zh-CN" sz="700" u="none" strike="noStrike">
                          <a:effectLst/>
                        </a:rPr>
                        <a:t>731,588,212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81%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zh-CN" sz="700" u="none" strike="noStrike">
                          <a:effectLst/>
                        </a:rPr>
                        <a:t>1,913,571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>
                          <a:effectLst/>
                        </a:rPr>
                        <a:t>66%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</a:t>
                      </a:r>
                      <a:r>
                        <a:rPr lang="en-US" altLang="zh-CN" sz="700" u="none" strike="noStrike">
                          <a:effectLst/>
                        </a:rPr>
                        <a:t>16,337,954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19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849,387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29%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extLst>
                  <a:ext uri="{0D108BD9-81ED-4DB2-BD59-A6C34878D82A}">
                    <a16:rowId xmlns:a16="http://schemas.microsoft.com/office/drawing/2014/main" val="1204423758"/>
                  </a:ext>
                </a:extLst>
              </a:tr>
              <a:tr h="1170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中低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</a:t>
                      </a:r>
                      <a:r>
                        <a:rPr lang="en-US" altLang="zh-CN" sz="700" u="none" strike="noStrike">
                          <a:effectLst/>
                        </a:rPr>
                        <a:t>176,264,794 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19%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zh-CN" sz="700" u="none" strike="noStrike">
                          <a:effectLst/>
                        </a:rPr>
                        <a:t>2,289,708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700" u="none" strike="noStrike">
                          <a:effectLst/>
                        </a:rPr>
                        <a:t>42%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</a:t>
                      </a:r>
                      <a:r>
                        <a:rPr lang="en-US" altLang="zh-CN" sz="700" u="none" strike="noStrike">
                          <a:effectLst/>
                        </a:rPr>
                        <a:t>4,481,197 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9 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507,120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9%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extLst>
                  <a:ext uri="{0D108BD9-81ED-4DB2-BD59-A6C34878D82A}">
                    <a16:rowId xmlns:a16="http://schemas.microsoft.com/office/drawing/2014/main" val="3108312626"/>
                  </a:ext>
                </a:extLst>
              </a:tr>
              <a:tr h="1170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总计</a:t>
                      </a:r>
                      <a:endParaRPr lang="zh-CN" altLang="en-US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</a:t>
                      </a:r>
                      <a:r>
                        <a:rPr lang="en-US" altLang="zh-CN" sz="700" u="none" strike="noStrike">
                          <a:effectLst/>
                        </a:rPr>
                        <a:t>907,853,006 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100%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 </a:t>
                      </a:r>
                      <a:r>
                        <a:rPr lang="en-US" altLang="zh-CN" sz="700" u="none" strike="noStrike">
                          <a:effectLst/>
                        </a:rPr>
                        <a:t>4,203,279 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>
                          <a:effectLst/>
                        </a:rPr>
                        <a:t>50%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    </a:t>
                      </a:r>
                      <a:r>
                        <a:rPr lang="en-US" altLang="zh-CN" sz="700" u="none" strike="noStrike">
                          <a:effectLst/>
                        </a:rPr>
                        <a:t>20,819,151 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             </a:t>
                      </a:r>
                      <a:r>
                        <a:rPr lang="en-US" altLang="zh-CN" sz="700" u="none" strike="noStrike">
                          <a:effectLst/>
                        </a:rPr>
                        <a:t>14 </a:t>
                      </a:r>
                      <a:endParaRPr lang="en-US" altLang="zh-CN" sz="700" b="0" i="0" u="none" strike="noStrike">
                        <a:solidFill>
                          <a:srgbClr val="C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700" u="none" strike="noStrike">
                          <a:effectLst/>
                        </a:rPr>
                        <a:t>              </a:t>
                      </a:r>
                      <a:r>
                        <a:rPr lang="en-US" altLang="zh-CN" sz="700" u="none" strike="noStrike">
                          <a:effectLst/>
                        </a:rPr>
                        <a:t>1,356,507 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700" u="none" strike="noStrike" dirty="0">
                          <a:effectLst/>
                        </a:rPr>
                        <a:t>16%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4182" marR="4182" marT="4182" marB="0" anchor="b"/>
                </a:tc>
                <a:extLst>
                  <a:ext uri="{0D108BD9-81ED-4DB2-BD59-A6C34878D82A}">
                    <a16:rowId xmlns:a16="http://schemas.microsoft.com/office/drawing/2014/main" val="735874022"/>
                  </a:ext>
                </a:extLst>
              </a:tr>
            </a:tbl>
          </a:graphicData>
        </a:graphic>
      </p:graphicFrame>
      <p:sp>
        <p:nvSpPr>
          <p:cNvPr id="36" name="文本框 35">
            <a:extLst>
              <a:ext uri="{FF2B5EF4-FFF2-40B4-BE49-F238E27FC236}">
                <a16:creationId xmlns:a16="http://schemas.microsoft.com/office/drawing/2014/main" id="{83940A80-C394-45C8-804A-598C63E3FFAA}"/>
              </a:ext>
            </a:extLst>
          </p:cNvPr>
          <p:cNvSpPr txBox="1"/>
          <p:nvPr/>
        </p:nvSpPr>
        <p:spPr>
          <a:xfrm>
            <a:off x="307629" y="298903"/>
            <a:ext cx="37028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b="1" dirty="0">
                <a:latin typeface="+mn-ea"/>
              </a:rPr>
              <a:t>分城市等级评价总量、近</a:t>
            </a:r>
            <a:r>
              <a:rPr lang="en-US" altLang="zh-CN" sz="700" b="1" dirty="0">
                <a:latin typeface="+mn-ea"/>
              </a:rPr>
              <a:t>30</a:t>
            </a:r>
            <a:r>
              <a:rPr lang="zh-CN" altLang="en-US" sz="700" b="1" dirty="0">
                <a:latin typeface="+mn-ea"/>
              </a:rPr>
              <a:t>天新增评价量 店均新增评价数据</a:t>
            </a:r>
            <a:endParaRPr lang="en-US" altLang="zh-CN" sz="700" b="1" dirty="0">
              <a:latin typeface="+mn-ea"/>
            </a:endParaRPr>
          </a:p>
        </p:txBody>
      </p:sp>
      <p:graphicFrame>
        <p:nvGraphicFramePr>
          <p:cNvPr id="38" name="图表 37">
            <a:extLst>
              <a:ext uri="{FF2B5EF4-FFF2-40B4-BE49-F238E27FC236}">
                <a16:creationId xmlns:a16="http://schemas.microsoft.com/office/drawing/2014/main" id="{FFA9FB04-0B51-4C61-9238-EB4DEF4587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6210883"/>
              </p:ext>
            </p:extLst>
          </p:nvPr>
        </p:nvGraphicFramePr>
        <p:xfrm>
          <a:off x="448689" y="2057247"/>
          <a:ext cx="3621385" cy="2587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图表 38">
            <a:extLst>
              <a:ext uri="{FF2B5EF4-FFF2-40B4-BE49-F238E27FC236}">
                <a16:creationId xmlns:a16="http://schemas.microsoft.com/office/drawing/2014/main" id="{0E0557A7-BADA-48C2-95F5-764E7CF51E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8730378"/>
              </p:ext>
            </p:extLst>
          </p:nvPr>
        </p:nvGraphicFramePr>
        <p:xfrm>
          <a:off x="4447761" y="2057246"/>
          <a:ext cx="4060136" cy="2524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24369995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36797</TotalTime>
  <Words>6494</Words>
  <Application>Microsoft Office PowerPoint</Application>
  <PresentationFormat>全屏显示(16:9)</PresentationFormat>
  <Paragraphs>1161</Paragraphs>
  <Slides>23</Slides>
  <Notes>20</Notes>
  <HiddenSlides>0</HiddenSlides>
  <MMClips>1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-apple-system</vt:lpstr>
      <vt:lpstr>MiSans Bold</vt:lpstr>
      <vt:lpstr>MiSans Medium</vt:lpstr>
      <vt:lpstr>等线</vt:lpstr>
      <vt:lpstr>楷体</vt:lpstr>
      <vt:lpstr>微软雅黑</vt:lpstr>
      <vt:lpstr>Arial</vt:lpstr>
      <vt:lpstr>Arial</vt:lpstr>
      <vt:lpstr>Calibri</vt:lpstr>
      <vt:lpstr>Wingdings</vt:lpstr>
      <vt:lpstr>Office 主题​​</vt:lpstr>
      <vt:lpstr>think-cell 幻灯片</vt:lpstr>
      <vt:lpstr>PowerPoint 演示文稿</vt:lpstr>
      <vt:lpstr>目录</vt:lpstr>
      <vt:lpstr>行业榜单需求覆盖分析</vt:lpstr>
      <vt:lpstr>PowerPoint 演示文稿</vt:lpstr>
      <vt:lpstr>PowerPoint 演示文稿</vt:lpstr>
      <vt:lpstr>榜单数据现状</vt:lpstr>
      <vt:lpstr>关键举措①完善榜单矩阵</vt:lpstr>
      <vt:lpstr>关键举措①完善榜单矩阵-主题榜建设思路</vt:lpstr>
      <vt:lpstr>关键举措②完善用户决策动线提升用户心智</vt:lpstr>
      <vt:lpstr>关键举措②完善用户决策动线提升用户心智</vt:lpstr>
      <vt:lpstr>关键举措②完善用户决策动线提升用户心智</vt:lpstr>
      <vt:lpstr>关键举措③优化榜单规则及引用资产建设</vt:lpstr>
      <vt:lpstr>PowerPoint 演示文稿</vt:lpstr>
      <vt:lpstr>榜单用户来源分渠道数据</vt:lpstr>
      <vt:lpstr>榜单覆盖现状</vt:lpstr>
      <vt:lpstr>PowerPoint 演示文稿</vt:lpstr>
      <vt:lpstr>AI对榜单的机会和挑战——扫街榜为例</vt:lpstr>
      <vt:lpstr>AI对榜单的机会和挑战</vt:lpstr>
      <vt:lpstr>PowerPoint 演示文稿</vt:lpstr>
      <vt:lpstr>里程碑</vt:lpstr>
      <vt:lpstr>PowerPoint 演示文稿</vt:lpstr>
      <vt:lpstr>PowerPoint 演示文稿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靳斯涵</cp:lastModifiedBy>
  <cp:revision>1239</cp:revision>
  <cp:lastPrinted>2026-01-26T07:38:34Z</cp:lastPrinted>
  <dcterms:created xsi:type="dcterms:W3CDTF">2026-01-26T07:38:34Z</dcterms:created>
  <dcterms:modified xsi:type="dcterms:W3CDTF">2026-03-11T12:00:36Z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【双周会汇报版本】榜单运营规划及进展同步-20260309.pptx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fc9a20a310e29a9b05a565e04711506a54689713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