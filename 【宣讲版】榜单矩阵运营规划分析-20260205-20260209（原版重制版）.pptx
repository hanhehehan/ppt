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handoutMasterIdLst>
    <p:handoutMasterId r:id="rId22"/>
  </p:handoutMasterIdLst>
  <p:sldIdLst>
    <p:sldId id="14999164" r:id="rId2"/>
    <p:sldId id="14999136" r:id="rId3"/>
    <p:sldId id="269" r:id="rId4"/>
    <p:sldId id="14999138" r:id="rId5"/>
    <p:sldId id="14999117" r:id="rId6"/>
    <p:sldId id="14999147" r:id="rId7"/>
    <p:sldId id="14999169" r:id="rId8"/>
    <p:sldId id="14999141" r:id="rId9"/>
    <p:sldId id="14999156" r:id="rId10"/>
    <p:sldId id="14999151" r:id="rId11"/>
    <p:sldId id="14999152" r:id="rId12"/>
    <p:sldId id="14999159" r:id="rId13"/>
    <p:sldId id="14999165" r:id="rId14"/>
    <p:sldId id="14998923" r:id="rId15"/>
    <p:sldId id="14999167" r:id="rId16"/>
    <p:sldId id="14999168" r:id="rId17"/>
    <p:sldId id="14999154" r:id="rId18"/>
    <p:sldId id="14999166" r:id="rId19"/>
    <p:sldId id="14999157" r:id="rId20"/>
  </p:sldIdLst>
  <p:sldSz cx="9144000" cy="5143500" type="screen16x9"/>
  <p:notesSz cx="6807200" cy="9939338"/>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701" userDrawn="1">
          <p15:clr>
            <a:srgbClr val="A4A3A4"/>
          </p15:clr>
        </p15:guide>
        <p15:guide id="2" orient="horz" pos="2346" userDrawn="1">
          <p15:clr>
            <a:srgbClr val="A4A3A4"/>
          </p15:clr>
        </p15:guide>
        <p15:guide id="3" orient="horz" pos="1688" userDrawn="1">
          <p15:clr>
            <a:srgbClr val="A4A3A4"/>
          </p15:clr>
        </p15:guide>
        <p15:guide id="4" pos="5670" userDrawn="1">
          <p15:clr>
            <a:srgbClr val="A4A3A4"/>
          </p15:clr>
        </p15:guide>
        <p15:guide id="5" orient="horz" pos="14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yohann" initials="wy" lastIdx="1" clrIdx="0"/>
  <p:cmAuthor id="2" name="Luke Lu" initials="L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66"/>
    <a:srgbClr val="F4C7CB"/>
    <a:srgbClr val="000000"/>
    <a:srgbClr val="FFD1D1"/>
    <a:srgbClr val="FCF2F2"/>
    <a:srgbClr val="FFDADA"/>
    <a:srgbClr val="FFFFFF"/>
    <a:srgbClr val="E7E6E6"/>
    <a:srgbClr val="FFF9DD"/>
    <a:srgbClr val="DD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36" autoAdjust="0"/>
    <p:restoredTop sz="89611" autoAdjust="0"/>
  </p:normalViewPr>
  <p:slideViewPr>
    <p:cSldViewPr snapToGrid="0" showGuides="1">
      <p:cViewPr varScale="1">
        <p:scale>
          <a:sx n="82" d="100"/>
          <a:sy n="82" d="100"/>
        </p:scale>
        <p:origin x="884" y="52"/>
      </p:cViewPr>
      <p:guideLst>
        <p:guide pos="1701"/>
        <p:guide orient="horz" pos="2346"/>
        <p:guide orient="horz" pos="1688"/>
        <p:guide pos="5670"/>
        <p:guide orient="horz" pos="14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napToGrid="0">
      <p:cViewPr varScale="1">
        <p:scale>
          <a:sx n="76" d="100"/>
          <a:sy n="76" d="100"/>
        </p:scale>
        <p:origin x="3448" y="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tags" Target="tags/tag1.xml"/><Relationship Id="rId24" Type="http://schemas.openxmlformats.org/officeDocument/2006/relationships/commentAuthors" Target="commentAuthor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909706605885"/>
          <c:y val="0.17942145078006599"/>
          <c:w val="0.76393328200330002"/>
          <c:h val="0.77697186647013805"/>
        </c:manualLayout>
      </c:layout>
      <c:bubbleChart>
        <c:varyColors val="0"/>
        <c:ser>
          <c:idx val="0"/>
          <c:order val="0"/>
          <c:tx>
            <c:strRef>
              <c:f>Sheet1!$D$1:$D$41</c:f>
              <c:strCache>
                <c:ptCount val="1"/>
                <c:pt idx="0">
                  <c:v>search_keyword 瑞幸咖啡 蜜雪冰城 比格比萨自助 麦当劳 塔斯汀 老店 火锅鸡 海底捞火锅 东北菜 奶茶 椰子鸡 肉蟹煲 肯德基 海底捞 烤肉 烤肉自助 自助 火锅 米线 吾悦广场美食 万达广场美食 牛排 万象汇 烤鸭 附近的美食 春鲜 万达 寿司 美食 炸鸡 万象城 亲子 烧烤 饭店 早餐 漂亮饭 约聚会 小酒馆 异地 冬季滋补</c:v>
                </c:pt>
              </c:strCache>
            </c:strRef>
          </c:tx>
          <c:spPr>
            <a:solidFill>
              <a:schemeClr val="accent5"/>
            </a:solidFill>
            <a:ln>
              <a:noFill/>
            </a:ln>
            <a:effectLst/>
          </c:spPr>
          <c:invertIfNegative val="0"/>
          <c:dPt>
            <c:idx val="0"/>
            <c:invertIfNegative val="1"/>
            <c:bubble3D val="0"/>
            <c:spPr>
              <a:solidFill>
                <a:schemeClr val="accent5"/>
              </a:solidFill>
              <a:ln>
                <a:noFill/>
              </a:ln>
              <a:effectLst/>
            </c:spPr>
            <c:extLst>
              <c:ext xmlns:c16="http://schemas.microsoft.com/office/drawing/2014/chart" uri="{C3380CC4-5D6E-409C-BE32-E72D297353CC}">
                <c16:uniqueId val="{00000001-883F-4B7B-AD0D-C1B5EEC38A37}"/>
              </c:ext>
            </c:extLst>
          </c:dPt>
          <c:dPt>
            <c:idx val="1"/>
            <c:invertIfNegative val="1"/>
            <c:bubble3D val="0"/>
            <c:spPr>
              <a:solidFill>
                <a:schemeClr val="accent5"/>
              </a:solidFill>
              <a:ln>
                <a:noFill/>
              </a:ln>
              <a:effectLst/>
            </c:spPr>
            <c:extLst>
              <c:ext xmlns:c16="http://schemas.microsoft.com/office/drawing/2014/chart" uri="{C3380CC4-5D6E-409C-BE32-E72D297353CC}">
                <c16:uniqueId val="{00000003-883F-4B7B-AD0D-C1B5EEC38A37}"/>
              </c:ext>
            </c:extLst>
          </c:dPt>
          <c:dPt>
            <c:idx val="2"/>
            <c:invertIfNegative val="1"/>
            <c:bubble3D val="0"/>
            <c:spPr>
              <a:solidFill>
                <a:schemeClr val="accent5"/>
              </a:solidFill>
              <a:ln>
                <a:noFill/>
              </a:ln>
              <a:effectLst/>
            </c:spPr>
            <c:extLst>
              <c:ext xmlns:c16="http://schemas.microsoft.com/office/drawing/2014/chart" uri="{C3380CC4-5D6E-409C-BE32-E72D297353CC}">
                <c16:uniqueId val="{00000005-883F-4B7B-AD0D-C1B5EEC38A37}"/>
              </c:ext>
            </c:extLst>
          </c:dPt>
          <c:dPt>
            <c:idx val="3"/>
            <c:invertIfNegative val="1"/>
            <c:bubble3D val="0"/>
            <c:spPr>
              <a:solidFill>
                <a:schemeClr val="accent5"/>
              </a:solidFill>
              <a:ln>
                <a:noFill/>
              </a:ln>
              <a:effectLst/>
            </c:spPr>
            <c:extLst>
              <c:ext xmlns:c16="http://schemas.microsoft.com/office/drawing/2014/chart" uri="{C3380CC4-5D6E-409C-BE32-E72D297353CC}">
                <c16:uniqueId val="{00000007-883F-4B7B-AD0D-C1B5EEC38A37}"/>
              </c:ext>
            </c:extLst>
          </c:dPt>
          <c:dPt>
            <c:idx val="4"/>
            <c:invertIfNegative val="1"/>
            <c:bubble3D val="0"/>
            <c:spPr>
              <a:solidFill>
                <a:schemeClr val="accent5"/>
              </a:solidFill>
              <a:ln>
                <a:noFill/>
              </a:ln>
              <a:effectLst/>
            </c:spPr>
            <c:extLst>
              <c:ext xmlns:c16="http://schemas.microsoft.com/office/drawing/2014/chart" uri="{C3380CC4-5D6E-409C-BE32-E72D297353CC}">
                <c16:uniqueId val="{00000009-883F-4B7B-AD0D-C1B5EEC38A37}"/>
              </c:ext>
            </c:extLst>
          </c:dPt>
          <c:dPt>
            <c:idx val="5"/>
            <c:invertIfNegative val="1"/>
            <c:bubble3D val="0"/>
            <c:spPr>
              <a:solidFill>
                <a:schemeClr val="accent5"/>
              </a:solidFill>
              <a:ln>
                <a:noFill/>
              </a:ln>
              <a:effectLst/>
            </c:spPr>
            <c:extLst>
              <c:ext xmlns:c16="http://schemas.microsoft.com/office/drawing/2014/chart" uri="{C3380CC4-5D6E-409C-BE32-E72D297353CC}">
                <c16:uniqueId val="{0000000B-883F-4B7B-AD0D-C1B5EEC38A37}"/>
              </c:ext>
            </c:extLst>
          </c:dPt>
          <c:dPt>
            <c:idx val="6"/>
            <c:invertIfNegative val="1"/>
            <c:bubble3D val="0"/>
            <c:spPr>
              <a:solidFill>
                <a:schemeClr val="accent5"/>
              </a:solidFill>
              <a:ln>
                <a:noFill/>
              </a:ln>
              <a:effectLst/>
            </c:spPr>
            <c:extLst>
              <c:ext xmlns:c16="http://schemas.microsoft.com/office/drawing/2014/chart" uri="{C3380CC4-5D6E-409C-BE32-E72D297353CC}">
                <c16:uniqueId val="{0000000D-883F-4B7B-AD0D-C1B5EEC38A37}"/>
              </c:ext>
            </c:extLst>
          </c:dPt>
          <c:dLbls>
            <c:dLbl>
              <c:idx val="0"/>
              <c:tx>
                <c:rich>
                  <a:bodyPr/>
                  <a:lstStyle/>
                  <a:p>
                    <a:fld id="{6154DE31-F0EF-4600-9B4A-6AA7A6EEB53F}"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883F-4B7B-AD0D-C1B5EEC38A37}"/>
                </c:ext>
              </c:extLst>
            </c:dLbl>
            <c:dLbl>
              <c:idx val="1"/>
              <c:tx>
                <c:rich>
                  <a:bodyPr/>
                  <a:lstStyle/>
                  <a:p>
                    <a:fld id="{1CDD8F88-96EC-4106-8828-E98E66A4DA38}"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883F-4B7B-AD0D-C1B5EEC38A37}"/>
                </c:ext>
              </c:extLst>
            </c:dLbl>
            <c:dLbl>
              <c:idx val="2"/>
              <c:tx>
                <c:rich>
                  <a:bodyPr/>
                  <a:lstStyle/>
                  <a:p>
                    <a:fld id="{D923B641-1DE9-4888-961E-E17E75440FA3}"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883F-4B7B-AD0D-C1B5EEC38A37}"/>
                </c:ext>
              </c:extLst>
            </c:dLbl>
            <c:dLbl>
              <c:idx val="3"/>
              <c:tx>
                <c:rich>
                  <a:bodyPr/>
                  <a:lstStyle/>
                  <a:p>
                    <a:fld id="{CC6B793A-702E-4BA2-AC29-759FF65BD47F}"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883F-4B7B-AD0D-C1B5EEC38A37}"/>
                </c:ext>
              </c:extLst>
            </c:dLbl>
            <c:dLbl>
              <c:idx val="4"/>
              <c:tx>
                <c:rich>
                  <a:bodyPr/>
                  <a:lstStyle/>
                  <a:p>
                    <a:fld id="{6EDC98A3-9902-4A31-B43B-08B34CF7167D}"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883F-4B7B-AD0D-C1B5EEC38A37}"/>
                </c:ext>
              </c:extLst>
            </c:dLbl>
            <c:dLbl>
              <c:idx val="5"/>
              <c:tx>
                <c:rich>
                  <a:bodyPr/>
                  <a:lstStyle/>
                  <a:p>
                    <a:fld id="{0CC3C4AD-3C14-4085-9143-FDBA63BC791B}"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883F-4B7B-AD0D-C1B5EEC38A37}"/>
                </c:ext>
              </c:extLst>
            </c:dLbl>
            <c:dLbl>
              <c:idx val="6"/>
              <c:tx>
                <c:rich>
                  <a:bodyPr/>
                  <a:lstStyle/>
                  <a:p>
                    <a:fld id="{AF790670-50E2-42FE-917C-C313CBB0DF62}"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883F-4B7B-AD0D-C1B5EEC38A37}"/>
                </c:ext>
              </c:extLst>
            </c:dLbl>
            <c:spPr>
              <a:noFill/>
              <a:ln>
                <a:noFill/>
              </a:ln>
              <a:effectLst/>
            </c:spPr>
            <c:txPr>
              <a:bodyPr rot="0" spcFirstLastPara="1" vertOverflow="ellipsis" vert="horz" wrap="square" lIns="38100" tIns="19050" rIns="38100" bIns="19050" anchor="ctr" anchorCtr="1">
                <a:spAutoFit/>
              </a:bodyPr>
              <a:lstStyle/>
              <a:p>
                <a:pPr>
                  <a:defRPr lang="zh-CN" sz="700" b="0"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Sheet1!$A$2:$A$41</c:f>
              <c:numCache>
                <c:formatCode>0.00%</c:formatCode>
                <c:ptCount val="7"/>
                <c:pt idx="0">
                  <c:v>3.39E-2</c:v>
                </c:pt>
                <c:pt idx="1">
                  <c:v>0.11348576113763401</c:v>
                </c:pt>
                <c:pt idx="2">
                  <c:v>9.6023457787139305E-2</c:v>
                </c:pt>
                <c:pt idx="3">
                  <c:v>9.8100000000000007E-2</c:v>
                </c:pt>
                <c:pt idx="4">
                  <c:v>7.8348208541641901E-2</c:v>
                </c:pt>
                <c:pt idx="5">
                  <c:v>7.5738932846286897E-2</c:v>
                </c:pt>
                <c:pt idx="6">
                  <c:v>2.0336412379082801E-2</c:v>
                </c:pt>
              </c:numCache>
            </c:numRef>
          </c:xVal>
          <c:yVal>
            <c:numRef>
              <c:f>Sheet1!$B$2:$B$41</c:f>
              <c:numCache>
                <c:formatCode>_(* #,##0.00_);_(* \(#,##0.00\);_(* "-"??_);_(@_)</c:formatCode>
                <c:ptCount val="7"/>
                <c:pt idx="0">
                  <c:v>117</c:v>
                </c:pt>
                <c:pt idx="1">
                  <c:v>15.8872617164103</c:v>
                </c:pt>
                <c:pt idx="2">
                  <c:v>144.83178872590301</c:v>
                </c:pt>
                <c:pt idx="3">
                  <c:v>126</c:v>
                </c:pt>
                <c:pt idx="4">
                  <c:v>138.09593171036599</c:v>
                </c:pt>
                <c:pt idx="5">
                  <c:v>144.20155546706101</c:v>
                </c:pt>
                <c:pt idx="6">
                  <c:v>105.890770198051</c:v>
                </c:pt>
              </c:numCache>
            </c:numRef>
          </c:yVal>
          <c:bubbleSize>
            <c:numRef>
              <c:f>Sheet1!$C$2:$C$41</c:f>
              <c:numCache>
                <c:formatCode>_(* #,##0.00_);_(* \(#,##0.00\);_(* "-"??_);_(@_)</c:formatCode>
                <c:ptCount val="7"/>
                <c:pt idx="0">
                  <c:v>657198</c:v>
                </c:pt>
                <c:pt idx="1">
                  <c:v>9681567</c:v>
                </c:pt>
                <c:pt idx="2">
                  <c:v>7654942</c:v>
                </c:pt>
                <c:pt idx="3">
                  <c:v>1035318</c:v>
                </c:pt>
                <c:pt idx="4">
                  <c:v>3652834</c:v>
                </c:pt>
                <c:pt idx="5">
                  <c:v>10429669</c:v>
                </c:pt>
                <c:pt idx="6">
                  <c:v>5914170</c:v>
                </c:pt>
              </c:numCache>
            </c:numRef>
          </c:bubbleSize>
          <c:bubble3D val="0"/>
          <c:extLst>
            <c:ext xmlns:c15="http://schemas.microsoft.com/office/drawing/2012/chart" uri="{02D57815-91ED-43cb-92C2-25804820EDAC}">
              <c15:datalabelsRange>
                <c15:f>Sheet1!$D$2:$D$41</c15:f>
                <c15:dlblRangeCache>
                  <c:ptCount val="7"/>
                  <c:pt idx="0">
                    <c:v>东北菜</c:v>
                  </c:pt>
                  <c:pt idx="1">
                    <c:v>奶茶</c:v>
                  </c:pt>
                  <c:pt idx="2">
                    <c:v>烤肉</c:v>
                  </c:pt>
                  <c:pt idx="3">
                    <c:v>烤肉自助</c:v>
                  </c:pt>
                  <c:pt idx="4">
                    <c:v>自助</c:v>
                  </c:pt>
                  <c:pt idx="5">
                    <c:v>火锅</c:v>
                  </c:pt>
                  <c:pt idx="6">
                    <c:v>烧烤</c:v>
                  </c:pt>
                </c15:dlblRangeCache>
              </c15:datalabelsRange>
            </c:ext>
            <c:ext xmlns:c16="http://schemas.microsoft.com/office/drawing/2014/chart" uri="{C3380CC4-5D6E-409C-BE32-E72D297353CC}">
              <c16:uniqueId val="{0000000E-883F-4B7B-AD0D-C1B5EEC38A37}"/>
            </c:ext>
          </c:extLst>
        </c:ser>
        <c:dLbls>
          <c:showLegendKey val="0"/>
          <c:showVal val="0"/>
          <c:showCatName val="0"/>
          <c:showSerName val="0"/>
          <c:showPercent val="0"/>
          <c:showBubbleSize val="0"/>
        </c:dLbls>
        <c:bubbleScale val="20"/>
        <c:showNegBubbles val="0"/>
        <c:axId val="131368575"/>
        <c:axId val="131369055"/>
      </c:bubbleChart>
      <c:valAx>
        <c:axId val="131368575"/>
        <c:scaling>
          <c:orientation val="minMax"/>
          <c:max val="0.4"/>
          <c:min val="0"/>
        </c:scaling>
        <c:delete val="0"/>
        <c:axPos val="b"/>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9055"/>
        <c:crosses val="autoZero"/>
        <c:crossBetween val="midCat"/>
        <c:majorUnit val="0.05"/>
      </c:valAx>
      <c:valAx>
        <c:axId val="131369055"/>
        <c:scaling>
          <c:orientation val="minMax"/>
          <c:max val="300"/>
          <c:min val="0"/>
        </c:scaling>
        <c:delete val="0"/>
        <c:axPos val="l"/>
        <c:numFmt formatCode="_(* #,##0.00_);_(* \(#,##0.0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8575"/>
        <c:crosses val="autoZero"/>
        <c:crossBetween val="midCat"/>
      </c:valAx>
      <c:spPr>
        <a:noFill/>
        <a:ln>
          <a:noFill/>
        </a:ln>
        <a:effectLst/>
      </c:spPr>
    </c:plotArea>
    <c:plotVisOnly val="1"/>
    <c:dispBlanksAs val="gap"/>
    <c:showDLblsOverMax val="0"/>
    <c:extLst>
      <c:ext uri="{0b15fc19-7d7d-44ad-8c2d-2c3a37ce22c3}">
        <chartProps xmlns="https://web.wps.cn/et/2018/main" chartId="{4934c5a4-8434-40b1-b99d-606968959f4e}"/>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909706605885"/>
          <c:y val="0.17942145078006599"/>
          <c:w val="0.76393328200330002"/>
          <c:h val="0.77697186647013805"/>
        </c:manualLayout>
      </c:layout>
      <c:bubbleChart>
        <c:varyColors val="0"/>
        <c:ser>
          <c:idx val="0"/>
          <c:order val="0"/>
          <c:tx>
            <c:strRef>
              <c:f>Sheet1!$D$1:$D$39</c:f>
              <c:strCache>
                <c:ptCount val="1"/>
                <c:pt idx="0">
                  <c:v>search_keyword 瑞幸咖啡 蜜雪冰城 寿司郎 麦当劳 塔斯汀 老店 火锅鸡 海底捞 咖啡 奶茶 椰子鸡 肉蟹煲 烤肉 烤鱼 自助 火锅 米线 吾悦广场美食 万达广场美食 牛排 万象汇 烤鸭 附近的美食 春鲜 万达 寿司 美食 炸鸡 万象城 亲子 烧烤 饭店 早餐 漂亮饭 约聚会 小酒馆 异地 冬季滋补</c:v>
                </c:pt>
              </c:strCache>
            </c:strRef>
          </c:tx>
          <c:spPr>
            <a:solidFill>
              <a:schemeClr val="bg1">
                <a:lumMod val="50000"/>
              </a:schemeClr>
            </a:solidFill>
            <a:ln>
              <a:noFill/>
            </a:ln>
            <a:effectLst/>
          </c:spPr>
          <c:invertIfNegative val="0"/>
          <c:dLbls>
            <c:dLbl>
              <c:idx val="0"/>
              <c:tx>
                <c:rich>
                  <a:bodyPr/>
                  <a:lstStyle/>
                  <a:p>
                    <a:fld id="{D3BC6D0F-5938-4DD2-A64D-145554DBA3BF}"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CC2F-4392-8F1C-A4276A6B4608}"/>
                </c:ext>
              </c:extLst>
            </c:dLbl>
            <c:dLbl>
              <c:idx val="1"/>
              <c:tx>
                <c:rich>
                  <a:bodyPr/>
                  <a:lstStyle/>
                  <a:p>
                    <a:fld id="{DA8025B7-C2A3-47E3-BF62-A004C3323925}"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CC2F-4392-8F1C-A4276A6B4608}"/>
                </c:ext>
              </c:extLst>
            </c:dLbl>
            <c:dLbl>
              <c:idx val="2"/>
              <c:tx>
                <c:rich>
                  <a:bodyPr/>
                  <a:lstStyle/>
                  <a:p>
                    <a:fld id="{FDB70CA0-8A36-42D1-A813-308324391596}"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CC2F-4392-8F1C-A4276A6B4608}"/>
                </c:ext>
              </c:extLst>
            </c:dLbl>
            <c:dLbl>
              <c:idx val="3"/>
              <c:tx>
                <c:rich>
                  <a:bodyPr/>
                  <a:lstStyle/>
                  <a:p>
                    <a:fld id="{59460EBB-D125-4500-B1CE-5989A73B7E9E}"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CC2F-4392-8F1C-A4276A6B4608}"/>
                </c:ext>
              </c:extLst>
            </c:dLbl>
            <c:dLbl>
              <c:idx val="4"/>
              <c:tx>
                <c:rich>
                  <a:bodyPr/>
                  <a:lstStyle/>
                  <a:p>
                    <a:fld id="{0BEE379A-B7B1-4A19-9031-1FD1C56D7BBE}"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CC2F-4392-8F1C-A4276A6B4608}"/>
                </c:ext>
              </c:extLst>
            </c:dLbl>
            <c:dLbl>
              <c:idx val="5"/>
              <c:tx>
                <c:rich>
                  <a:bodyPr/>
                  <a:lstStyle/>
                  <a:p>
                    <a:fld id="{4FCF1A79-98B1-430B-8791-4F8194304920}"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CC2F-4392-8F1C-A4276A6B4608}"/>
                </c:ext>
              </c:extLst>
            </c:dLbl>
            <c:spPr>
              <a:noFill/>
              <a:ln>
                <a:noFill/>
              </a:ln>
              <a:effectLst/>
            </c:spPr>
            <c:txPr>
              <a:bodyPr rot="0" spcFirstLastPara="1" vertOverflow="ellipsis" vert="horz" wrap="square" lIns="38100" tIns="19050" rIns="38100" bIns="19050" anchor="ctr" anchorCtr="1">
                <a:spAutoFit/>
              </a:bodyPr>
              <a:lstStyle/>
              <a:p>
                <a:pPr>
                  <a:defRPr lang="zh-CN" sz="700" b="0"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Sheet1!$A$2:$A$39</c:f>
              <c:numCache>
                <c:formatCode>0.00%</c:formatCode>
                <c:ptCount val="6"/>
                <c:pt idx="0">
                  <c:v>0.35223034053859198</c:v>
                </c:pt>
                <c:pt idx="1">
                  <c:v>0.28071340013721002</c:v>
                </c:pt>
                <c:pt idx="2">
                  <c:v>2.2116936519104801E-2</c:v>
                </c:pt>
                <c:pt idx="3">
                  <c:v>0.20667117661941201</c:v>
                </c:pt>
                <c:pt idx="4">
                  <c:v>0.164497112011186</c:v>
                </c:pt>
                <c:pt idx="5">
                  <c:v>9.6199999999999994E-2</c:v>
                </c:pt>
              </c:numCache>
            </c:numRef>
          </c:xVal>
          <c:yVal>
            <c:numRef>
              <c:f>Sheet1!$B$2:$B$39</c:f>
              <c:numCache>
                <c:formatCode>_(* #,##0.00_);_(* \(#,##0.00\);_(* "-"??_);_(@_)</c:formatCode>
                <c:ptCount val="6"/>
                <c:pt idx="0">
                  <c:v>18.341393796607601</c:v>
                </c:pt>
                <c:pt idx="1">
                  <c:v>8.3294326551479596</c:v>
                </c:pt>
                <c:pt idx="2" formatCode="General">
                  <c:v>121.966914054318</c:v>
                </c:pt>
                <c:pt idx="3">
                  <c:v>30.261435767179702</c:v>
                </c:pt>
                <c:pt idx="4">
                  <c:v>20.093816015277302</c:v>
                </c:pt>
                <c:pt idx="5">
                  <c:v>235</c:v>
                </c:pt>
              </c:numCache>
            </c:numRef>
          </c:yVal>
          <c:bubbleSize>
            <c:numRef>
              <c:f>Sheet1!$C$2:$C$39</c:f>
              <c:numCache>
                <c:formatCode>_(* #,##0.00_);_(* \(#,##0.00\);_(* "-"??_);_(@_)</c:formatCode>
                <c:ptCount val="6"/>
                <c:pt idx="0">
                  <c:v>10339856</c:v>
                </c:pt>
                <c:pt idx="1">
                  <c:v>12857637</c:v>
                </c:pt>
                <c:pt idx="2" formatCode="0">
                  <c:v>720579</c:v>
                </c:pt>
                <c:pt idx="3">
                  <c:v>13695635</c:v>
                </c:pt>
                <c:pt idx="4">
                  <c:v>4291741</c:v>
                </c:pt>
                <c:pt idx="5" formatCode="_ * #,##0_ ;_ * \-#,##0_ ;_ * &quot;-&quot;??_ ;_ @_ ">
                  <c:v>6215650</c:v>
                </c:pt>
              </c:numCache>
            </c:numRef>
          </c:bubbleSize>
          <c:bubble3D val="0"/>
          <c:extLst>
            <c:ext xmlns:c15="http://schemas.microsoft.com/office/drawing/2012/chart" uri="{02D57815-91ED-43cb-92C2-25804820EDAC}">
              <c15:datalabelsRange>
                <c15:f>Sheet1!$D$2:$D$39</c15:f>
                <c15:dlblRangeCache>
                  <c:ptCount val="6"/>
                  <c:pt idx="0">
                    <c:v>瑞幸咖啡</c:v>
                  </c:pt>
                  <c:pt idx="1">
                    <c:v>蜜雪冰城</c:v>
                  </c:pt>
                  <c:pt idx="2">
                    <c:v>寿司郎</c:v>
                  </c:pt>
                  <c:pt idx="3">
                    <c:v>麦当劳</c:v>
                  </c:pt>
                  <c:pt idx="4">
                    <c:v>塔斯汀</c:v>
                  </c:pt>
                  <c:pt idx="5">
                    <c:v>海底捞</c:v>
                  </c:pt>
                </c15:dlblRangeCache>
              </c15:datalabelsRange>
            </c:ext>
            <c:ext xmlns:c16="http://schemas.microsoft.com/office/drawing/2014/chart" uri="{C3380CC4-5D6E-409C-BE32-E72D297353CC}">
              <c16:uniqueId val="{00000006-CC2F-4392-8F1C-A4276A6B4608}"/>
            </c:ext>
          </c:extLst>
        </c:ser>
        <c:dLbls>
          <c:showLegendKey val="0"/>
          <c:showVal val="0"/>
          <c:showCatName val="0"/>
          <c:showSerName val="0"/>
          <c:showPercent val="0"/>
          <c:showBubbleSize val="0"/>
        </c:dLbls>
        <c:bubbleScale val="20"/>
        <c:showNegBubbles val="0"/>
        <c:axId val="131368575"/>
        <c:axId val="131369055"/>
      </c:bubbleChart>
      <c:valAx>
        <c:axId val="131368575"/>
        <c:scaling>
          <c:orientation val="minMax"/>
          <c:min val="0"/>
        </c:scaling>
        <c:delete val="0"/>
        <c:axPos val="b"/>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9055"/>
        <c:crosses val="autoZero"/>
        <c:crossBetween val="midCat"/>
      </c:valAx>
      <c:valAx>
        <c:axId val="131369055"/>
        <c:scaling>
          <c:orientation val="minMax"/>
          <c:max val="300"/>
          <c:min val="0"/>
        </c:scaling>
        <c:delete val="0"/>
        <c:axPos val="l"/>
        <c:numFmt formatCode="_(* #,##0.00_);_(* \(#,##0.0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8575"/>
        <c:crosses val="autoZero"/>
        <c:crossBetween val="midCat"/>
      </c:valAx>
      <c:spPr>
        <a:noFill/>
        <a:ln>
          <a:noFill/>
        </a:ln>
        <a:effectLst/>
      </c:spPr>
    </c:plotArea>
    <c:plotVisOnly val="1"/>
    <c:dispBlanksAs val="gap"/>
    <c:showDLblsOverMax val="0"/>
    <c:extLst>
      <c:ext uri="{0b15fc19-7d7d-44ad-8c2d-2c3a37ce22c3}">
        <chartProps xmlns="https://web.wps.cn/et/2018/main" chartId="{a82361e6-d80b-46d8-8b45-f4f008f21d76}"/>
      </c:ext>
    </c:extLst>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909706605885"/>
          <c:y val="0.17942145078006599"/>
          <c:w val="0.76393328200330002"/>
          <c:h val="0.77697186647013805"/>
        </c:manualLayout>
      </c:layout>
      <c:bubbleChart>
        <c:varyColors val="0"/>
        <c:ser>
          <c:idx val="0"/>
          <c:order val="0"/>
          <c:tx>
            <c:strRef>
              <c:f>Sheet1!$D$1:$D$40</c:f>
              <c:strCache>
                <c:ptCount val="1"/>
                <c:pt idx="0">
                  <c:v>search_keyword 瑞幸咖啡 蜜雪冰城 比格比萨自助 麦当劳 塔斯汀 老店 火锅鸡 海底捞火锅 咖啡 奶茶 椰子鸡 肉蟹煲 肯德基 海底捞 烤肉 烤鱼 自助 火锅 米线 吾悦广场美食 万达广场美食 万象汇 烤鸭 附近的美食 春鲜 万达 寿司 美食 万象城 亲子 烧烤 饭店 早餐 漂亮饭 约聚会 小酒馆 异地 冬季滋补</c:v>
                </c:pt>
              </c:strCache>
            </c:strRef>
          </c:tx>
          <c:spPr>
            <a:solidFill>
              <a:schemeClr val="accent1"/>
            </a:solidFill>
            <a:ln>
              <a:noFill/>
            </a:ln>
            <a:effectLst/>
          </c:spPr>
          <c:invertIfNegative val="0"/>
          <c:dPt>
            <c:idx val="0"/>
            <c:invertIfNegative val="1"/>
            <c:bubble3D val="0"/>
            <c:spPr>
              <a:solidFill>
                <a:schemeClr val="accent1"/>
              </a:solidFill>
              <a:ln>
                <a:noFill/>
              </a:ln>
              <a:effectLst/>
            </c:spPr>
            <c:extLst>
              <c:ext xmlns:c16="http://schemas.microsoft.com/office/drawing/2014/chart" uri="{C3380CC4-5D6E-409C-BE32-E72D297353CC}">
                <c16:uniqueId val="{00000001-093D-4A1E-B9A4-55F6E160A60B}"/>
              </c:ext>
            </c:extLst>
          </c:dPt>
          <c:dPt>
            <c:idx val="1"/>
            <c:invertIfNegative val="1"/>
            <c:bubble3D val="0"/>
            <c:spPr>
              <a:solidFill>
                <a:schemeClr val="accent1"/>
              </a:solidFill>
              <a:ln>
                <a:noFill/>
              </a:ln>
              <a:effectLst/>
            </c:spPr>
            <c:extLst>
              <c:ext xmlns:c16="http://schemas.microsoft.com/office/drawing/2014/chart" uri="{C3380CC4-5D6E-409C-BE32-E72D297353CC}">
                <c16:uniqueId val="{00000003-093D-4A1E-B9A4-55F6E160A60B}"/>
              </c:ext>
            </c:extLst>
          </c:dPt>
          <c:dPt>
            <c:idx val="2"/>
            <c:invertIfNegative val="1"/>
            <c:bubble3D val="0"/>
            <c:spPr>
              <a:solidFill>
                <a:schemeClr val="accent1"/>
              </a:solidFill>
              <a:ln>
                <a:noFill/>
              </a:ln>
              <a:effectLst/>
            </c:spPr>
            <c:extLst>
              <c:ext xmlns:c16="http://schemas.microsoft.com/office/drawing/2014/chart" uri="{C3380CC4-5D6E-409C-BE32-E72D297353CC}">
                <c16:uniqueId val="{00000005-093D-4A1E-B9A4-55F6E160A60B}"/>
              </c:ext>
            </c:extLst>
          </c:dPt>
          <c:dPt>
            <c:idx val="3"/>
            <c:invertIfNegative val="1"/>
            <c:bubble3D val="0"/>
            <c:spPr>
              <a:solidFill>
                <a:schemeClr val="accent1"/>
              </a:solidFill>
              <a:ln>
                <a:noFill/>
              </a:ln>
              <a:effectLst/>
            </c:spPr>
            <c:extLst>
              <c:ext xmlns:c16="http://schemas.microsoft.com/office/drawing/2014/chart" uri="{C3380CC4-5D6E-409C-BE32-E72D297353CC}">
                <c16:uniqueId val="{00000007-093D-4A1E-B9A4-55F6E160A60B}"/>
              </c:ext>
            </c:extLst>
          </c:dPt>
          <c:dPt>
            <c:idx val="4"/>
            <c:invertIfNegative val="1"/>
            <c:bubble3D val="0"/>
            <c:spPr>
              <a:solidFill>
                <a:schemeClr val="accent1"/>
              </a:solidFill>
              <a:ln>
                <a:noFill/>
              </a:ln>
              <a:effectLst/>
            </c:spPr>
            <c:extLst>
              <c:ext xmlns:c16="http://schemas.microsoft.com/office/drawing/2014/chart" uri="{C3380CC4-5D6E-409C-BE32-E72D297353CC}">
                <c16:uniqueId val="{00000009-093D-4A1E-B9A4-55F6E160A60B}"/>
              </c:ext>
            </c:extLst>
          </c:dPt>
          <c:dPt>
            <c:idx val="5"/>
            <c:invertIfNegative val="1"/>
            <c:bubble3D val="0"/>
            <c:spPr>
              <a:solidFill>
                <a:schemeClr val="accent1"/>
              </a:solidFill>
              <a:ln>
                <a:noFill/>
              </a:ln>
              <a:effectLst/>
            </c:spPr>
            <c:extLst>
              <c:ext xmlns:c16="http://schemas.microsoft.com/office/drawing/2014/chart" uri="{C3380CC4-5D6E-409C-BE32-E72D297353CC}">
                <c16:uniqueId val="{0000000B-093D-4A1E-B9A4-55F6E160A60B}"/>
              </c:ext>
            </c:extLst>
          </c:dPt>
          <c:dPt>
            <c:idx val="6"/>
            <c:invertIfNegative val="1"/>
            <c:bubble3D val="0"/>
            <c:spPr>
              <a:solidFill>
                <a:schemeClr val="accent1"/>
              </a:solidFill>
              <a:ln>
                <a:noFill/>
              </a:ln>
              <a:effectLst/>
            </c:spPr>
            <c:extLst>
              <c:ext xmlns:c16="http://schemas.microsoft.com/office/drawing/2014/chart" uri="{C3380CC4-5D6E-409C-BE32-E72D297353CC}">
                <c16:uniqueId val="{0000000D-093D-4A1E-B9A4-55F6E160A60B}"/>
              </c:ext>
            </c:extLst>
          </c:dPt>
          <c:dLbls>
            <c:dLbl>
              <c:idx val="0"/>
              <c:tx>
                <c:rich>
                  <a:bodyPr/>
                  <a:lstStyle/>
                  <a:p>
                    <a:fld id="{F66629DB-05E6-4E93-A524-FC372E2B4B88}"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093D-4A1E-B9A4-55F6E160A60B}"/>
                </c:ext>
              </c:extLst>
            </c:dLbl>
            <c:dLbl>
              <c:idx val="1"/>
              <c:tx>
                <c:rich>
                  <a:bodyPr/>
                  <a:lstStyle/>
                  <a:p>
                    <a:fld id="{52F97420-42D1-4132-9C0F-EFD62A6EF1BA}"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093D-4A1E-B9A4-55F6E160A60B}"/>
                </c:ext>
              </c:extLst>
            </c:dLbl>
            <c:dLbl>
              <c:idx val="2"/>
              <c:tx>
                <c:rich>
                  <a:bodyPr/>
                  <a:lstStyle/>
                  <a:p>
                    <a:fld id="{C8DDEBE3-D5F3-4CDF-9CF0-79FB22155DA0}"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093D-4A1E-B9A4-55F6E160A60B}"/>
                </c:ext>
              </c:extLst>
            </c:dLbl>
            <c:dLbl>
              <c:idx val="3"/>
              <c:tx>
                <c:rich>
                  <a:bodyPr/>
                  <a:lstStyle/>
                  <a:p>
                    <a:fld id="{27773186-EED4-4309-8669-9CA28812FF54}"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093D-4A1E-B9A4-55F6E160A60B}"/>
                </c:ext>
              </c:extLst>
            </c:dLbl>
            <c:dLbl>
              <c:idx val="4"/>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9-093D-4A1E-B9A4-55F6E160A60B}"/>
                </c:ext>
              </c:extLst>
            </c:dLbl>
            <c:dLbl>
              <c:idx val="5"/>
              <c:tx>
                <c:rich>
                  <a:bodyPr/>
                  <a:lstStyle/>
                  <a:p>
                    <a:fld id="{49758D39-25D5-481A-B6FF-A5A93FCA41DC}"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093D-4A1E-B9A4-55F6E160A60B}"/>
                </c:ext>
              </c:extLst>
            </c:dLbl>
            <c:dLbl>
              <c:idx val="6"/>
              <c:tx>
                <c:rich>
                  <a:bodyPr/>
                  <a:lstStyle/>
                  <a:p>
                    <a:fld id="{79873377-F102-4A1C-A8FE-C98CA9BEE856}"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093D-4A1E-B9A4-55F6E160A60B}"/>
                </c:ext>
              </c:extLst>
            </c:dLbl>
            <c:spPr>
              <a:noFill/>
              <a:ln>
                <a:noFill/>
              </a:ln>
              <a:effectLst/>
            </c:spPr>
            <c:txPr>
              <a:bodyPr rot="0" spcFirstLastPara="1" vertOverflow="ellipsis" vert="horz" wrap="square" lIns="38100" tIns="19050" rIns="38100" bIns="19050" anchor="ctr" anchorCtr="1">
                <a:spAutoFit/>
              </a:bodyPr>
              <a:lstStyle/>
              <a:p>
                <a:pPr>
                  <a:defRPr lang="zh-CN" sz="700" b="0"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Sheet1!$A$2:$A$40</c:f>
              <c:numCache>
                <c:formatCode>0.00%</c:formatCode>
                <c:ptCount val="7"/>
                <c:pt idx="0">
                  <c:v>0.15075847879367299</c:v>
                </c:pt>
                <c:pt idx="1">
                  <c:v>0.11252224559132799</c:v>
                </c:pt>
                <c:pt idx="2">
                  <c:v>0.101735214444291</c:v>
                </c:pt>
                <c:pt idx="3">
                  <c:v>6.7655366121845098E-2</c:v>
                </c:pt>
                <c:pt idx="5">
                  <c:v>4.2081988428780602E-2</c:v>
                </c:pt>
                <c:pt idx="6">
                  <c:v>3.9217728591965699E-2</c:v>
                </c:pt>
              </c:numCache>
            </c:numRef>
          </c:xVal>
          <c:yVal>
            <c:numRef>
              <c:f>Sheet1!$B$2:$B$40</c:f>
              <c:numCache>
                <c:formatCode>_(* #,##0.00_);_(* \(#,##0.00\);_(* "-"??_);_(@_)</c:formatCode>
                <c:ptCount val="7"/>
                <c:pt idx="0">
                  <c:v>86.052968947840299</c:v>
                </c:pt>
                <c:pt idx="1">
                  <c:v>181.721894863214</c:v>
                </c:pt>
                <c:pt idx="2">
                  <c:v>133.68522018658001</c:v>
                </c:pt>
                <c:pt idx="3">
                  <c:v>24.721823176784099</c:v>
                </c:pt>
                <c:pt idx="5">
                  <c:v>83.789148861768695</c:v>
                </c:pt>
                <c:pt idx="6">
                  <c:v>64.738075679021904</c:v>
                </c:pt>
              </c:numCache>
            </c:numRef>
          </c:yVal>
          <c:bubbleSize>
            <c:numRef>
              <c:f>Sheet1!$C$2:$C$40</c:f>
              <c:numCache>
                <c:formatCode>_(* #,##0.00_);_(* \(#,##0.00\);_(* "-"??_);_(@_)</c:formatCode>
                <c:ptCount val="7"/>
                <c:pt idx="0">
                  <c:v>1016772</c:v>
                </c:pt>
                <c:pt idx="1">
                  <c:v>1026046</c:v>
                </c:pt>
                <c:pt idx="2">
                  <c:v>932853</c:v>
                </c:pt>
                <c:pt idx="3">
                  <c:v>2163583</c:v>
                </c:pt>
                <c:pt idx="5">
                  <c:v>2165891</c:v>
                </c:pt>
                <c:pt idx="6">
                  <c:v>1843350</c:v>
                </c:pt>
              </c:numCache>
            </c:numRef>
          </c:bubbleSize>
          <c:bubble3D val="0"/>
          <c:extLst>
            <c:ext xmlns:c15="http://schemas.microsoft.com/office/drawing/2012/chart" uri="{02D57815-91ED-43cb-92C2-25804820EDAC}">
              <c15:datalabelsRange>
                <c15:f>Sheet1!$D$2:$D$40</c15:f>
                <c15:dlblRangeCache>
                  <c:ptCount val="7"/>
                  <c:pt idx="0">
                    <c:v>火锅鸡</c:v>
                  </c:pt>
                  <c:pt idx="1">
                    <c:v>椰子鸡</c:v>
                  </c:pt>
                  <c:pt idx="2">
                    <c:v>肉蟹煲</c:v>
                  </c:pt>
                  <c:pt idx="3">
                    <c:v>米线</c:v>
                  </c:pt>
                  <c:pt idx="5">
                    <c:v>烤鸭</c:v>
                  </c:pt>
                  <c:pt idx="6">
                    <c:v>寿司</c:v>
                  </c:pt>
                </c15:dlblRangeCache>
              </c15:datalabelsRange>
            </c:ext>
            <c:ext xmlns:c16="http://schemas.microsoft.com/office/drawing/2014/chart" uri="{C3380CC4-5D6E-409C-BE32-E72D297353CC}">
              <c16:uniqueId val="{0000000E-093D-4A1E-B9A4-55F6E160A60B}"/>
            </c:ext>
          </c:extLst>
        </c:ser>
        <c:dLbls>
          <c:showLegendKey val="0"/>
          <c:showVal val="0"/>
          <c:showCatName val="0"/>
          <c:showSerName val="0"/>
          <c:showPercent val="0"/>
          <c:showBubbleSize val="0"/>
        </c:dLbls>
        <c:bubbleScale val="20"/>
        <c:showNegBubbles val="0"/>
        <c:axId val="131368575"/>
        <c:axId val="131369055"/>
      </c:bubbleChart>
      <c:valAx>
        <c:axId val="131368575"/>
        <c:scaling>
          <c:orientation val="minMax"/>
          <c:max val="0.4"/>
          <c:min val="0"/>
        </c:scaling>
        <c:delete val="0"/>
        <c:axPos val="b"/>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9055"/>
        <c:crosses val="autoZero"/>
        <c:crossBetween val="midCat"/>
        <c:majorUnit val="0.05"/>
      </c:valAx>
      <c:valAx>
        <c:axId val="131369055"/>
        <c:scaling>
          <c:orientation val="minMax"/>
          <c:max val="300"/>
          <c:min val="0"/>
        </c:scaling>
        <c:delete val="0"/>
        <c:axPos val="l"/>
        <c:numFmt formatCode="_(* #,##0.00_);_(* \(#,##0.0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8575"/>
        <c:crosses val="autoZero"/>
        <c:crossBetween val="midCat"/>
      </c:valAx>
      <c:spPr>
        <a:noFill/>
        <a:ln>
          <a:noFill/>
        </a:ln>
        <a:effectLst/>
      </c:spPr>
    </c:plotArea>
    <c:plotVisOnly val="1"/>
    <c:dispBlanksAs val="gap"/>
    <c:showDLblsOverMax val="0"/>
    <c:extLst>
      <c:ext uri="{0b15fc19-7d7d-44ad-8c2d-2c3a37ce22c3}">
        <chartProps xmlns="https://web.wps.cn/et/2018/main" chartId="{8578085c-e16a-4122-8bc1-84a3ec502748}"/>
      </c:ext>
    </c:extLst>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909706605885"/>
          <c:y val="0.17942145078006599"/>
          <c:w val="0.76393328200330002"/>
          <c:h val="0.77697186647013805"/>
        </c:manualLayout>
      </c:layout>
      <c:bubbleChart>
        <c:varyColors val="0"/>
        <c:ser>
          <c:idx val="0"/>
          <c:order val="0"/>
          <c:tx>
            <c:strRef>
              <c:f>Sheet1!$D$1:$D$39</c:f>
              <c:strCache>
                <c:ptCount val="1"/>
                <c:pt idx="0">
                  <c:v>search_keyword 瑞幸咖啡 蜜雪冰城 比格比萨自助 麦当劳 塔斯汀 老店 火锅鸡 海底捞火锅 咖啡 奶茶 椰子鸡 肉蟹煲 肯德基 海底捞 烤肉 烤鱼 自助 火锅 米线 吾悦广场美食 牛排 烤鸭 附近的美食 春鲜 万达 寿司 美食 炸鸡 万象城 亲子 烧烤 饭店 早餐 漂亮饭 约聚会 小酒馆 异地 冬季滋补</c:v>
                </c:pt>
              </c:strCache>
            </c:strRef>
          </c:tx>
          <c:spPr>
            <a:solidFill>
              <a:schemeClr val="accent6"/>
            </a:solidFill>
            <a:ln>
              <a:noFill/>
            </a:ln>
            <a:effectLst/>
          </c:spPr>
          <c:invertIfNegative val="0"/>
          <c:dPt>
            <c:idx val="0"/>
            <c:invertIfNegative val="1"/>
            <c:bubble3D val="0"/>
            <c:spPr>
              <a:solidFill>
                <a:schemeClr val="accent6"/>
              </a:solidFill>
              <a:ln>
                <a:noFill/>
              </a:ln>
              <a:effectLst/>
            </c:spPr>
            <c:extLst>
              <c:ext xmlns:c16="http://schemas.microsoft.com/office/drawing/2014/chart" uri="{C3380CC4-5D6E-409C-BE32-E72D297353CC}">
                <c16:uniqueId val="{00000001-CDDD-449C-A8D3-6A16D76384F5}"/>
              </c:ext>
            </c:extLst>
          </c:dPt>
          <c:dPt>
            <c:idx val="1"/>
            <c:invertIfNegative val="1"/>
            <c:bubble3D val="0"/>
            <c:spPr>
              <a:solidFill>
                <a:schemeClr val="accent6"/>
              </a:solidFill>
              <a:ln>
                <a:noFill/>
              </a:ln>
              <a:effectLst/>
            </c:spPr>
            <c:extLst>
              <c:ext xmlns:c16="http://schemas.microsoft.com/office/drawing/2014/chart" uri="{C3380CC4-5D6E-409C-BE32-E72D297353CC}">
                <c16:uniqueId val="{00000003-CDDD-449C-A8D3-6A16D76384F5}"/>
              </c:ext>
            </c:extLst>
          </c:dPt>
          <c:dPt>
            <c:idx val="2"/>
            <c:invertIfNegative val="1"/>
            <c:bubble3D val="0"/>
            <c:spPr>
              <a:solidFill>
                <a:schemeClr val="accent6"/>
              </a:solidFill>
              <a:ln>
                <a:noFill/>
              </a:ln>
              <a:effectLst/>
            </c:spPr>
            <c:extLst>
              <c:ext xmlns:c16="http://schemas.microsoft.com/office/drawing/2014/chart" uri="{C3380CC4-5D6E-409C-BE32-E72D297353CC}">
                <c16:uniqueId val="{00000005-CDDD-449C-A8D3-6A16D76384F5}"/>
              </c:ext>
            </c:extLst>
          </c:dPt>
          <c:dLbls>
            <c:dLbl>
              <c:idx val="0"/>
              <c:tx>
                <c:rich>
                  <a:bodyPr/>
                  <a:lstStyle/>
                  <a:p>
                    <a:fld id="{F2071DC7-97A0-4863-ACCC-49E6EC291948}"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CDDD-449C-A8D3-6A16D76384F5}"/>
                </c:ext>
              </c:extLst>
            </c:dLbl>
            <c:dLbl>
              <c:idx val="1"/>
              <c:tx>
                <c:rich>
                  <a:bodyPr/>
                  <a:lstStyle/>
                  <a:p>
                    <a:fld id="{70FF7567-408F-4F21-BC4C-91E80243E893}"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CDDD-449C-A8D3-6A16D76384F5}"/>
                </c:ext>
              </c:extLst>
            </c:dLbl>
            <c:dLbl>
              <c:idx val="2"/>
              <c:tx>
                <c:rich>
                  <a:bodyPr/>
                  <a:lstStyle/>
                  <a:p>
                    <a:fld id="{BFC13B4C-6F40-4BF1-85F2-E4C07B4A7E6D}"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CDDD-449C-A8D3-6A16D76384F5}"/>
                </c:ext>
              </c:extLst>
            </c:dLbl>
            <c:spPr>
              <a:noFill/>
              <a:ln>
                <a:noFill/>
              </a:ln>
              <a:effectLst/>
            </c:spPr>
            <c:txPr>
              <a:bodyPr rot="0" spcFirstLastPara="1" vertOverflow="ellipsis" vert="horz" wrap="square" lIns="38100" tIns="19050" rIns="38100" bIns="19050" anchor="ctr" anchorCtr="1">
                <a:spAutoFit/>
              </a:bodyPr>
              <a:lstStyle/>
              <a:p>
                <a:pPr>
                  <a:defRPr lang="zh-CN" sz="700" b="0"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Sheet1!$A$2:$A$39</c:f>
              <c:numCache>
                <c:formatCode>0.00%</c:formatCode>
                <c:ptCount val="3"/>
                <c:pt idx="0">
                  <c:v>6.4166684289550996E-2</c:v>
                </c:pt>
                <c:pt idx="1">
                  <c:v>4.0290826328904301E-2</c:v>
                </c:pt>
                <c:pt idx="2">
                  <c:v>2.9360157488077701E-2</c:v>
                </c:pt>
              </c:numCache>
            </c:numRef>
          </c:xVal>
          <c:yVal>
            <c:numRef>
              <c:f>Sheet1!$B$2:$B$39</c:f>
              <c:numCache>
                <c:formatCode>_(* #,##0.00_);_(* \(#,##0.00\);_(* "-"??_);_(@_)</c:formatCode>
                <c:ptCount val="3"/>
                <c:pt idx="0">
                  <c:v>115.507851800827</c:v>
                </c:pt>
                <c:pt idx="1">
                  <c:v>96.945620193799797</c:v>
                </c:pt>
                <c:pt idx="2">
                  <c:v>131.95778985838299</c:v>
                </c:pt>
              </c:numCache>
            </c:numRef>
          </c:yVal>
          <c:bubbleSize>
            <c:numRef>
              <c:f>Sheet1!$C$2:$C$39</c:f>
              <c:numCache>
                <c:formatCode>_(* #,##0.00_);_(* \(#,##0.00\);_(* "-"??_);_(@_)</c:formatCode>
                <c:ptCount val="3"/>
                <c:pt idx="0">
                  <c:v>189148</c:v>
                </c:pt>
                <c:pt idx="1">
                  <c:v>903357</c:v>
                </c:pt>
                <c:pt idx="2">
                  <c:v>953469</c:v>
                </c:pt>
              </c:numCache>
            </c:numRef>
          </c:bubbleSize>
          <c:bubble3D val="0"/>
          <c:extLst>
            <c:ext xmlns:c15="http://schemas.microsoft.com/office/drawing/2012/chart" uri="{02D57815-91ED-43cb-92C2-25804820EDAC}">
              <c15:datalabelsRange>
                <c15:f>Sheet1!$D$2:$D$39</c15:f>
                <c15:dlblRangeCache>
                  <c:ptCount val="3"/>
                  <c:pt idx="0">
                    <c:v>吾悦广场美食</c:v>
                  </c:pt>
                  <c:pt idx="1">
                    <c:v>万达</c:v>
                  </c:pt>
                  <c:pt idx="2">
                    <c:v>万象城</c:v>
                  </c:pt>
                </c15:dlblRangeCache>
              </c15:datalabelsRange>
            </c:ext>
            <c:ext xmlns:c16="http://schemas.microsoft.com/office/drawing/2014/chart" uri="{C3380CC4-5D6E-409C-BE32-E72D297353CC}">
              <c16:uniqueId val="{00000006-CDDD-449C-A8D3-6A16D76384F5}"/>
            </c:ext>
          </c:extLst>
        </c:ser>
        <c:dLbls>
          <c:showLegendKey val="0"/>
          <c:showVal val="0"/>
          <c:showCatName val="0"/>
          <c:showSerName val="0"/>
          <c:showPercent val="0"/>
          <c:showBubbleSize val="0"/>
        </c:dLbls>
        <c:bubbleScale val="20"/>
        <c:showNegBubbles val="0"/>
        <c:axId val="131368575"/>
        <c:axId val="131369055"/>
      </c:bubbleChart>
      <c:valAx>
        <c:axId val="131368575"/>
        <c:scaling>
          <c:orientation val="minMax"/>
          <c:max val="0.4"/>
          <c:min val="0"/>
        </c:scaling>
        <c:delete val="0"/>
        <c:axPos val="b"/>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9055"/>
        <c:crosses val="autoZero"/>
        <c:crossBetween val="midCat"/>
        <c:majorUnit val="0.05"/>
      </c:valAx>
      <c:valAx>
        <c:axId val="131369055"/>
        <c:scaling>
          <c:orientation val="minMax"/>
          <c:max val="300"/>
          <c:min val="0"/>
        </c:scaling>
        <c:delete val="0"/>
        <c:axPos val="l"/>
        <c:numFmt formatCode="_(* #,##0.00_);_(* \(#,##0.0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8575"/>
        <c:crosses val="autoZero"/>
        <c:crossBetween val="midCat"/>
      </c:valAx>
      <c:spPr>
        <a:noFill/>
        <a:ln>
          <a:noFill/>
        </a:ln>
        <a:effectLst/>
      </c:spPr>
    </c:plotArea>
    <c:plotVisOnly val="1"/>
    <c:dispBlanksAs val="gap"/>
    <c:showDLblsOverMax val="0"/>
    <c:extLst>
      <c:ext uri="{0b15fc19-7d7d-44ad-8c2d-2c3a37ce22c3}">
        <chartProps xmlns="https://web.wps.cn/et/2018/main" chartId="{9aeb5451-9e2c-418f-9a78-93f4932b5bc5}"/>
      </c:ext>
    </c:extLst>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909706605885"/>
          <c:y val="0.17942145078006599"/>
          <c:w val="0.76393328200330002"/>
          <c:h val="0.77697186647013805"/>
        </c:manualLayout>
      </c:layout>
      <c:bubbleChart>
        <c:varyColors val="0"/>
        <c:ser>
          <c:idx val="0"/>
          <c:order val="0"/>
          <c:tx>
            <c:strRef>
              <c:f>Sheet1!$D$1:$D$40</c:f>
              <c:strCache>
                <c:ptCount val="1"/>
                <c:pt idx="0">
                  <c:v>search_keyword 瑞幸咖啡 蜜雪冰城 比格比萨自助 麦当劳 塔斯汀 双人餐 火锅鸡 海底捞火锅 咖啡 奶茶 椰子鸡 肉蟹煲 肯德基 海底捞 烤肉 烤鱼 自助 火锅 米线 吾悦广场美食 万达广场美食 牛排 万象汇 烤鸭 夜宵 万达 寿司 炸鸡 万象城 下午茶 烧烤 早餐 漂亮饭 酒馆</c:v>
                </c:pt>
              </c:strCache>
            </c:strRef>
          </c:tx>
          <c:spPr>
            <a:solidFill>
              <a:schemeClr val="accent3"/>
            </a:solidFill>
            <a:ln>
              <a:noFill/>
            </a:ln>
            <a:effectLst/>
          </c:spPr>
          <c:invertIfNegative val="0"/>
          <c:dPt>
            <c:idx val="0"/>
            <c:invertIfNegative val="1"/>
            <c:bubble3D val="0"/>
            <c:spPr>
              <a:solidFill>
                <a:schemeClr val="accent3"/>
              </a:solidFill>
              <a:ln>
                <a:noFill/>
              </a:ln>
              <a:effectLst/>
            </c:spPr>
            <c:extLst>
              <c:ext xmlns:c16="http://schemas.microsoft.com/office/drawing/2014/chart" uri="{C3380CC4-5D6E-409C-BE32-E72D297353CC}">
                <c16:uniqueId val="{00000001-5C64-4F25-927E-403EF6BF794E}"/>
              </c:ext>
            </c:extLst>
          </c:dPt>
          <c:dPt>
            <c:idx val="1"/>
            <c:invertIfNegative val="1"/>
            <c:bubble3D val="0"/>
            <c:spPr>
              <a:solidFill>
                <a:schemeClr val="accent3"/>
              </a:solidFill>
              <a:ln>
                <a:noFill/>
              </a:ln>
              <a:effectLst/>
            </c:spPr>
            <c:extLst>
              <c:ext xmlns:c16="http://schemas.microsoft.com/office/drawing/2014/chart" uri="{C3380CC4-5D6E-409C-BE32-E72D297353CC}">
                <c16:uniqueId val="{00000003-5C64-4F25-927E-403EF6BF794E}"/>
              </c:ext>
            </c:extLst>
          </c:dPt>
          <c:dPt>
            <c:idx val="2"/>
            <c:invertIfNegative val="1"/>
            <c:bubble3D val="0"/>
            <c:spPr>
              <a:solidFill>
                <a:schemeClr val="accent3"/>
              </a:solidFill>
              <a:ln>
                <a:noFill/>
              </a:ln>
              <a:effectLst/>
            </c:spPr>
            <c:extLst>
              <c:ext xmlns:c16="http://schemas.microsoft.com/office/drawing/2014/chart" uri="{C3380CC4-5D6E-409C-BE32-E72D297353CC}">
                <c16:uniqueId val="{00000005-5C64-4F25-927E-403EF6BF794E}"/>
              </c:ext>
            </c:extLst>
          </c:dPt>
          <c:dPt>
            <c:idx val="3"/>
            <c:invertIfNegative val="1"/>
            <c:bubble3D val="0"/>
            <c:spPr>
              <a:solidFill>
                <a:schemeClr val="accent3"/>
              </a:solidFill>
              <a:ln>
                <a:noFill/>
              </a:ln>
              <a:effectLst/>
            </c:spPr>
            <c:extLst>
              <c:ext xmlns:c16="http://schemas.microsoft.com/office/drawing/2014/chart" uri="{C3380CC4-5D6E-409C-BE32-E72D297353CC}">
                <c16:uniqueId val="{00000007-5C64-4F25-927E-403EF6BF794E}"/>
              </c:ext>
            </c:extLst>
          </c:dPt>
          <c:dPt>
            <c:idx val="4"/>
            <c:invertIfNegative val="1"/>
            <c:bubble3D val="0"/>
            <c:spPr>
              <a:solidFill>
                <a:schemeClr val="accent3"/>
              </a:solidFill>
              <a:ln>
                <a:noFill/>
              </a:ln>
              <a:effectLst/>
            </c:spPr>
            <c:extLst>
              <c:ext xmlns:c16="http://schemas.microsoft.com/office/drawing/2014/chart" uri="{C3380CC4-5D6E-409C-BE32-E72D297353CC}">
                <c16:uniqueId val="{00000009-5C64-4F25-927E-403EF6BF794E}"/>
              </c:ext>
            </c:extLst>
          </c:dPt>
          <c:dPt>
            <c:idx val="5"/>
            <c:invertIfNegative val="1"/>
            <c:bubble3D val="0"/>
            <c:spPr>
              <a:solidFill>
                <a:schemeClr val="accent3"/>
              </a:solidFill>
              <a:ln>
                <a:noFill/>
              </a:ln>
              <a:effectLst/>
            </c:spPr>
            <c:extLst>
              <c:ext xmlns:c16="http://schemas.microsoft.com/office/drawing/2014/chart" uri="{C3380CC4-5D6E-409C-BE32-E72D297353CC}">
                <c16:uniqueId val="{0000000B-5C64-4F25-927E-403EF6BF794E}"/>
              </c:ext>
            </c:extLst>
          </c:dPt>
          <c:dPt>
            <c:idx val="6"/>
            <c:invertIfNegative val="1"/>
            <c:bubble3D val="0"/>
            <c:spPr>
              <a:solidFill>
                <a:schemeClr val="accent3"/>
              </a:solidFill>
              <a:ln>
                <a:noFill/>
              </a:ln>
              <a:effectLst/>
            </c:spPr>
            <c:extLst>
              <c:ext xmlns:c16="http://schemas.microsoft.com/office/drawing/2014/chart" uri="{C3380CC4-5D6E-409C-BE32-E72D297353CC}">
                <c16:uniqueId val="{0000000D-5C64-4F25-927E-403EF6BF794E}"/>
              </c:ext>
            </c:extLst>
          </c:dPt>
          <c:dPt>
            <c:idx val="7"/>
            <c:invertIfNegative val="1"/>
            <c:bubble3D val="0"/>
            <c:spPr>
              <a:solidFill>
                <a:schemeClr val="accent3"/>
              </a:solidFill>
              <a:ln>
                <a:noFill/>
              </a:ln>
              <a:effectLst/>
            </c:spPr>
            <c:extLst>
              <c:ext xmlns:c16="http://schemas.microsoft.com/office/drawing/2014/chart" uri="{C3380CC4-5D6E-409C-BE32-E72D297353CC}">
                <c16:uniqueId val="{0000000F-5C64-4F25-927E-403EF6BF794E}"/>
              </c:ext>
            </c:extLst>
          </c:dPt>
          <c:dLbls>
            <c:dLbl>
              <c:idx val="0"/>
              <c:tx>
                <c:rich>
                  <a:bodyPr/>
                  <a:lstStyle/>
                  <a:p>
                    <a:fld id="{311C0928-A810-4029-884C-76395D6146E2}"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5C64-4F25-927E-403EF6BF794E}"/>
                </c:ext>
              </c:extLst>
            </c:dLbl>
            <c:dLbl>
              <c:idx val="1"/>
              <c:tx>
                <c:rich>
                  <a:bodyPr/>
                  <a:lstStyle/>
                  <a:p>
                    <a:fld id="{B32EABE7-133F-4043-A74C-46643DB14FC8}"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5C64-4F25-927E-403EF6BF794E}"/>
                </c:ext>
              </c:extLst>
            </c:dLbl>
            <c:dLbl>
              <c:idx val="2"/>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5-5C64-4F25-927E-403EF6BF794E}"/>
                </c:ext>
              </c:extLst>
            </c:dLbl>
            <c:dLbl>
              <c:idx val="3"/>
              <c:tx>
                <c:rich>
                  <a:bodyPr/>
                  <a:lstStyle/>
                  <a:p>
                    <a:fld id="{86C99572-8B93-47A2-86B5-405F657B6DFE}"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5C64-4F25-927E-403EF6BF794E}"/>
                </c:ext>
              </c:extLst>
            </c:dLbl>
            <c:dLbl>
              <c:idx val="4"/>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9-5C64-4F25-927E-403EF6BF794E}"/>
                </c:ext>
              </c:extLst>
            </c:dLbl>
            <c:dLbl>
              <c:idx val="5"/>
              <c:tx>
                <c:rich>
                  <a:bodyPr/>
                  <a:lstStyle/>
                  <a:p>
                    <a:fld id="{91169959-06FC-42AF-B12F-29D1ADE233B8}"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5C64-4F25-927E-403EF6BF794E}"/>
                </c:ext>
              </c:extLst>
            </c:dLbl>
            <c:dLbl>
              <c:idx val="6"/>
              <c:tx>
                <c:rich>
                  <a:bodyPr/>
                  <a:lstStyle/>
                  <a:p>
                    <a:fld id="{D08785A3-6CB9-45F8-8F09-B36FD4ACE34C}"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5C64-4F25-927E-403EF6BF794E}"/>
                </c:ext>
              </c:extLst>
            </c:dLbl>
            <c:dLbl>
              <c:idx val="7"/>
              <c:tx>
                <c:rich>
                  <a:bodyPr/>
                  <a:lstStyle/>
                  <a:p>
                    <a:fld id="{130405A7-00B2-492A-B17B-F162ECC062AB}" type="CELLRANGE">
                      <a:rPr lang="zh-CN" altLang="en-US"/>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5C64-4F25-927E-403EF6BF794E}"/>
                </c:ext>
              </c:extLst>
            </c:dLbl>
            <c:dLbl>
              <c:idx val="8"/>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10-5C64-4F25-927E-403EF6BF794E}"/>
                </c:ext>
              </c:extLst>
            </c:dLbl>
            <c:dLbl>
              <c:idx val="9"/>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11-5C64-4F25-927E-403EF6BF794E}"/>
                </c:ext>
              </c:extLst>
            </c:dLbl>
            <c:dLbl>
              <c:idx val="10"/>
              <c:tx>
                <c:rich>
                  <a:bodyPr/>
                  <a:lstStyle/>
                  <a:p>
                    <a:endParaRPr lang="zh-CN" alt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12-5C64-4F25-927E-403EF6BF794E}"/>
                </c:ext>
              </c:extLst>
            </c:dLbl>
            <c:spPr>
              <a:noFill/>
              <a:ln>
                <a:noFill/>
              </a:ln>
              <a:effectLst/>
            </c:spPr>
            <c:txPr>
              <a:bodyPr rot="0" spcFirstLastPara="1" vertOverflow="ellipsis" vert="horz" wrap="square" lIns="38100" tIns="19050" rIns="38100" bIns="19050" anchor="ctr" anchorCtr="1">
                <a:spAutoFit/>
              </a:bodyPr>
              <a:lstStyle/>
              <a:p>
                <a:pPr>
                  <a:defRPr lang="zh-CN" sz="700" b="0"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Sheet1!$A$2:$A$40</c:f>
              <c:numCache>
                <c:formatCode>0.00%</c:formatCode>
                <c:ptCount val="11"/>
                <c:pt idx="0">
                  <c:v>4.8500000000000001E-2</c:v>
                </c:pt>
                <c:pt idx="1">
                  <c:v>9.5999999999999992E-3</c:v>
                </c:pt>
                <c:pt idx="3">
                  <c:v>2.47E-2</c:v>
                </c:pt>
                <c:pt idx="5">
                  <c:v>1.3200702180385699E-2</c:v>
                </c:pt>
                <c:pt idx="6">
                  <c:v>1.07315724855209E-2</c:v>
                </c:pt>
                <c:pt idx="7">
                  <c:v>4.4000000000000003E-3</c:v>
                </c:pt>
              </c:numCache>
            </c:numRef>
          </c:xVal>
          <c:yVal>
            <c:numRef>
              <c:f>Sheet1!$B$2:$B$40</c:f>
              <c:numCache>
                <c:formatCode>_(* #,##0.00_);_(* \(#,##0.00\);_(* "-"??_);_(@_)</c:formatCode>
                <c:ptCount val="11"/>
                <c:pt idx="0">
                  <c:v>85</c:v>
                </c:pt>
                <c:pt idx="1">
                  <c:v>98</c:v>
                </c:pt>
                <c:pt idx="3" formatCode="General">
                  <c:v>72</c:v>
                </c:pt>
                <c:pt idx="5">
                  <c:v>17.5354000462481</c:v>
                </c:pt>
                <c:pt idx="6">
                  <c:v>194.36825199361999</c:v>
                </c:pt>
                <c:pt idx="7">
                  <c:v>97</c:v>
                </c:pt>
              </c:numCache>
            </c:numRef>
          </c:yVal>
          <c:bubbleSize>
            <c:numRef>
              <c:f>Sheet1!$C$2:$C$40</c:f>
              <c:numCache>
                <c:formatCode>_(* #,##0.00_);_(* \(#,##0.00\);_(* "-"??_);_(@_)</c:formatCode>
                <c:ptCount val="11"/>
                <c:pt idx="0">
                  <c:v>125336</c:v>
                </c:pt>
                <c:pt idx="1">
                  <c:v>332249</c:v>
                </c:pt>
                <c:pt idx="3" formatCode="General">
                  <c:v>429543</c:v>
                </c:pt>
                <c:pt idx="5">
                  <c:v>1522116</c:v>
                </c:pt>
                <c:pt idx="6">
                  <c:v>311138</c:v>
                </c:pt>
                <c:pt idx="7">
                  <c:v>535105</c:v>
                </c:pt>
              </c:numCache>
            </c:numRef>
          </c:bubbleSize>
          <c:bubble3D val="0"/>
          <c:extLst>
            <c:ext xmlns:c15="http://schemas.microsoft.com/office/drawing/2012/chart" uri="{02D57815-91ED-43cb-92C2-25804820EDAC}">
              <c15:datalabelsRange>
                <c15:f>Sheet1!$D$2:$D$40</c15:f>
                <c15:dlblRangeCache>
                  <c:ptCount val="11"/>
                  <c:pt idx="0">
                    <c:v>双人餐</c:v>
                  </c:pt>
                  <c:pt idx="1">
                    <c:v>夜宵</c:v>
                  </c:pt>
                  <c:pt idx="3">
                    <c:v>下午茶</c:v>
                  </c:pt>
                  <c:pt idx="5">
                    <c:v>早餐</c:v>
                  </c:pt>
                  <c:pt idx="6">
                    <c:v>漂亮饭</c:v>
                  </c:pt>
                  <c:pt idx="7">
                    <c:v>酒馆</c:v>
                  </c:pt>
                </c15:dlblRangeCache>
              </c15:datalabelsRange>
            </c:ext>
            <c:ext xmlns:c16="http://schemas.microsoft.com/office/drawing/2014/chart" uri="{C3380CC4-5D6E-409C-BE32-E72D297353CC}">
              <c16:uniqueId val="{00000013-5C64-4F25-927E-403EF6BF794E}"/>
            </c:ext>
          </c:extLst>
        </c:ser>
        <c:dLbls>
          <c:showLegendKey val="0"/>
          <c:showVal val="0"/>
          <c:showCatName val="0"/>
          <c:showSerName val="0"/>
          <c:showPercent val="0"/>
          <c:showBubbleSize val="0"/>
        </c:dLbls>
        <c:bubbleScale val="20"/>
        <c:showNegBubbles val="0"/>
        <c:axId val="131368575"/>
        <c:axId val="131369055"/>
      </c:bubbleChart>
      <c:valAx>
        <c:axId val="131368575"/>
        <c:scaling>
          <c:orientation val="minMax"/>
          <c:max val="0.4"/>
          <c:min val="0"/>
        </c:scaling>
        <c:delete val="0"/>
        <c:axPos val="b"/>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9055"/>
        <c:crosses val="autoZero"/>
        <c:crossBetween val="midCat"/>
        <c:majorUnit val="0.05"/>
      </c:valAx>
      <c:valAx>
        <c:axId val="131369055"/>
        <c:scaling>
          <c:orientation val="minMax"/>
          <c:max val="300"/>
          <c:min val="0"/>
        </c:scaling>
        <c:delete val="0"/>
        <c:axPos val="l"/>
        <c:numFmt formatCode="_(* #,##0.00_);_(* \(#,##0.00\);_(*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31368575"/>
        <c:crosses val="autoZero"/>
        <c:crossBetween val="midCat"/>
      </c:valAx>
      <c:spPr>
        <a:noFill/>
        <a:ln>
          <a:noFill/>
        </a:ln>
        <a:effectLst/>
      </c:spPr>
    </c:plotArea>
    <c:plotVisOnly val="1"/>
    <c:dispBlanksAs val="gap"/>
    <c:showDLblsOverMax val="0"/>
    <c:extLst>
      <c:ext uri="{0b15fc19-7d7d-44ad-8c2d-2c3a37ce22c3}">
        <chartProps xmlns="https://web.wps.cn/et/2018/main" chartId="{3511f892-6ef0-46a7-b3ba-02a760235624}"/>
      </c:ext>
    </c:extLst>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r>
              <a:rPr lang="zh-CN" altLang="en-US" sz="700" dirty="0">
                <a:latin typeface="+mn-ea"/>
                <a:ea typeface="+mn-ea"/>
              </a:rPr>
              <a:t>美团人气榜排名流量结构</a:t>
            </a:r>
            <a:r>
              <a:rPr lang="en-US" altLang="zh-CN" sz="700" dirty="0">
                <a:latin typeface="+mn-ea"/>
                <a:ea typeface="+mn-ea"/>
              </a:rPr>
              <a:t>-</a:t>
            </a:r>
            <a:r>
              <a:rPr lang="zh-CN" altLang="en-US" sz="700" dirty="0">
                <a:latin typeface="+mn-ea"/>
                <a:ea typeface="+mn-ea"/>
              </a:rPr>
              <a:t>高线</a:t>
            </a:r>
            <a:endParaRPr lang="zh-CN" sz="700" dirty="0">
              <a:latin typeface="+mn-ea"/>
              <a:ea typeface="+mn-ea"/>
            </a:endParaRPr>
          </a:p>
        </c:rich>
      </c:tx>
      <c:overlay val="0"/>
      <c:spPr>
        <a:noFill/>
        <a:ln>
          <a:noFill/>
        </a:ln>
        <a:effectLst/>
      </c:spPr>
      <c:txPr>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Sheet1!$A$1</c:f>
              <c:strCache>
                <c:ptCount val="1"/>
                <c:pt idx="0">
                  <c:v>意向UV</c:v>
                </c:pt>
              </c:strCache>
            </c:strRef>
          </c:tx>
          <c:spPr>
            <a:ln w="28575" cap="rnd">
              <a:solidFill>
                <a:schemeClr val="accent1"/>
              </a:solidFill>
              <a:round/>
            </a:ln>
            <a:effectLst/>
          </c:spPr>
          <c:marker>
            <c:symbol val="square"/>
            <c:size val="2"/>
            <c:spPr>
              <a:solidFill>
                <a:schemeClr val="bg1"/>
              </a:solidFill>
              <a:ln w="9525">
                <a:solidFill>
                  <a:schemeClr val="accent1"/>
                </a:solidFill>
              </a:ln>
              <a:effectLst/>
            </c:spPr>
          </c:marker>
          <c:val>
            <c:numRef>
              <c:f>Sheet1!$A$2:$A$51</c:f>
              <c:numCache>
                <c:formatCode>#,##0_ </c:formatCode>
                <c:ptCount val="50"/>
                <c:pt idx="0">
                  <c:v>8396.3276972624699</c:v>
                </c:pt>
                <c:pt idx="1">
                  <c:v>7523.4307568437998</c:v>
                </c:pt>
                <c:pt idx="2">
                  <c:v>8130.2560386473397</c:v>
                </c:pt>
                <c:pt idx="3">
                  <c:v>6333.6586151368701</c:v>
                </c:pt>
                <c:pt idx="4">
                  <c:v>5687.7423510466997</c:v>
                </c:pt>
                <c:pt idx="5">
                  <c:v>5089.92431561996</c:v>
                </c:pt>
                <c:pt idx="6">
                  <c:v>6888.7954911433098</c:v>
                </c:pt>
                <c:pt idx="7">
                  <c:v>4176.2439613526503</c:v>
                </c:pt>
                <c:pt idx="8">
                  <c:v>3913.8644444444399</c:v>
                </c:pt>
                <c:pt idx="9">
                  <c:v>4264.40518518518</c:v>
                </c:pt>
                <c:pt idx="10">
                  <c:v>3799.4653784218999</c:v>
                </c:pt>
                <c:pt idx="11">
                  <c:v>3828.9524959742298</c:v>
                </c:pt>
                <c:pt idx="12">
                  <c:v>4538.0120772946802</c:v>
                </c:pt>
                <c:pt idx="13">
                  <c:v>4493.1755233494296</c:v>
                </c:pt>
                <c:pt idx="14">
                  <c:v>3755.125</c:v>
                </c:pt>
                <c:pt idx="15">
                  <c:v>3964.3373590982301</c:v>
                </c:pt>
                <c:pt idx="16">
                  <c:v>4925.8111111111102</c:v>
                </c:pt>
                <c:pt idx="17">
                  <c:v>4024.8214814814801</c:v>
                </c:pt>
                <c:pt idx="18">
                  <c:v>4380.3219373219299</c:v>
                </c:pt>
                <c:pt idx="19">
                  <c:v>3249.8526570048298</c:v>
                </c:pt>
                <c:pt idx="20">
                  <c:v>3004.3260869565202</c:v>
                </c:pt>
                <c:pt idx="21">
                  <c:v>3483.2638888888901</c:v>
                </c:pt>
                <c:pt idx="22">
                  <c:v>2893.8800322061202</c:v>
                </c:pt>
                <c:pt idx="23">
                  <c:v>3849.8379629629599</c:v>
                </c:pt>
                <c:pt idx="24">
                  <c:v>2919.90821256038</c:v>
                </c:pt>
                <c:pt idx="25">
                  <c:v>3015.3022222222198</c:v>
                </c:pt>
                <c:pt idx="26">
                  <c:v>2656.2870370370301</c:v>
                </c:pt>
                <c:pt idx="27">
                  <c:v>3452.6578099838898</c:v>
                </c:pt>
                <c:pt idx="28">
                  <c:v>2987.7689210950098</c:v>
                </c:pt>
                <c:pt idx="29">
                  <c:v>3224.99537037037</c:v>
                </c:pt>
                <c:pt idx="30">
                  <c:v>2990.70289855072</c:v>
                </c:pt>
                <c:pt idx="31">
                  <c:v>4000.9468599033798</c:v>
                </c:pt>
                <c:pt idx="32">
                  <c:v>2733.1990740740698</c:v>
                </c:pt>
                <c:pt idx="33">
                  <c:v>2862.9340740740699</c:v>
                </c:pt>
                <c:pt idx="34">
                  <c:v>3713.0844444444401</c:v>
                </c:pt>
                <c:pt idx="35">
                  <c:v>3215.13768115942</c:v>
                </c:pt>
                <c:pt idx="36">
                  <c:v>2899.37037037037</c:v>
                </c:pt>
                <c:pt idx="37">
                  <c:v>2880.3518518518499</c:v>
                </c:pt>
                <c:pt idx="38">
                  <c:v>2418.17283950617</c:v>
                </c:pt>
                <c:pt idx="39">
                  <c:v>2399.5138888888901</c:v>
                </c:pt>
                <c:pt idx="40">
                  <c:v>2575.1501976284499</c:v>
                </c:pt>
                <c:pt idx="41">
                  <c:v>2466.9120370370301</c:v>
                </c:pt>
                <c:pt idx="42">
                  <c:v>2690.76183574879</c:v>
                </c:pt>
                <c:pt idx="43">
                  <c:v>2114.6799999999998</c:v>
                </c:pt>
                <c:pt idx="44">
                  <c:v>2566.13105413105</c:v>
                </c:pt>
                <c:pt idx="45">
                  <c:v>2267.0231481481401</c:v>
                </c:pt>
                <c:pt idx="46">
                  <c:v>2534.9711111111101</c:v>
                </c:pt>
                <c:pt idx="47">
                  <c:v>2843.9166666666702</c:v>
                </c:pt>
                <c:pt idx="48">
                  <c:v>2127.0833333333298</c:v>
                </c:pt>
                <c:pt idx="49">
                  <c:v>2895.49818181818</c:v>
                </c:pt>
              </c:numCache>
            </c:numRef>
          </c:val>
          <c:smooth val="0"/>
          <c:extLst>
            <c:ext xmlns:c16="http://schemas.microsoft.com/office/drawing/2014/chart" uri="{C3380CC4-5D6E-409C-BE32-E72D297353CC}">
              <c16:uniqueId val="{00000000-E467-46F4-9ED6-1747ABF02501}"/>
            </c:ext>
          </c:extLst>
        </c:ser>
        <c:dLbls>
          <c:showLegendKey val="0"/>
          <c:showVal val="0"/>
          <c:showCatName val="0"/>
          <c:showSerName val="0"/>
          <c:showPercent val="0"/>
          <c:showBubbleSize val="0"/>
        </c:dLbls>
        <c:marker val="1"/>
        <c:smooth val="0"/>
        <c:axId val="701057344"/>
        <c:axId val="701048224"/>
      </c:lineChart>
      <c:lineChart>
        <c:grouping val="standard"/>
        <c:varyColors val="0"/>
        <c:ser>
          <c:idx val="1"/>
          <c:order val="1"/>
          <c:tx>
            <c:strRef>
              <c:f>Sheet1!$B$1</c:f>
              <c:strCache>
                <c:ptCount val="1"/>
                <c:pt idx="0">
                  <c:v>实付GTV</c:v>
                </c:pt>
              </c:strCache>
            </c:strRef>
          </c:tx>
          <c:spPr>
            <a:ln w="28575" cap="rnd">
              <a:solidFill>
                <a:schemeClr val="accent2">
                  <a:alpha val="40000"/>
                </a:schemeClr>
              </a:solidFill>
              <a:round/>
            </a:ln>
            <a:effectLst/>
          </c:spPr>
          <c:marker>
            <c:symbol val="square"/>
            <c:size val="2"/>
            <c:spPr>
              <a:solidFill>
                <a:schemeClr val="bg1"/>
              </a:solidFill>
              <a:ln w="9525">
                <a:solidFill>
                  <a:schemeClr val="accent2"/>
                </a:solidFill>
              </a:ln>
              <a:effectLst/>
            </c:spPr>
          </c:marker>
          <c:dPt>
            <c:idx val="36"/>
            <c:marker>
              <c:symbol val="square"/>
              <c:size val="2"/>
              <c:spPr>
                <a:solidFill>
                  <a:schemeClr val="bg1">
                    <a:alpha val="70000"/>
                  </a:schemeClr>
                </a:solidFill>
                <a:ln w="9525">
                  <a:solidFill>
                    <a:schemeClr val="accent2"/>
                  </a:solidFill>
                </a:ln>
                <a:effectLst/>
              </c:spPr>
            </c:marker>
            <c:bubble3D val="0"/>
            <c:extLst>
              <c:ext xmlns:c16="http://schemas.microsoft.com/office/drawing/2014/chart" uri="{C3380CC4-5D6E-409C-BE32-E72D297353CC}">
                <c16:uniqueId val="{00000001-E467-46F4-9ED6-1747ABF02501}"/>
              </c:ext>
            </c:extLst>
          </c:dPt>
          <c:val>
            <c:numRef>
              <c:f>Sheet1!$B$2:$B$51</c:f>
              <c:numCache>
                <c:formatCode>#,##0_ </c:formatCode>
                <c:ptCount val="50"/>
                <c:pt idx="0">
                  <c:v>277737.37446666701</c:v>
                </c:pt>
                <c:pt idx="1">
                  <c:v>267071.93963333301</c:v>
                </c:pt>
                <c:pt idx="2">
                  <c:v>273833.80660000001</c:v>
                </c:pt>
                <c:pt idx="3">
                  <c:v>218392.73493333301</c:v>
                </c:pt>
                <c:pt idx="4">
                  <c:v>166336.690633333</c:v>
                </c:pt>
                <c:pt idx="5">
                  <c:v>203888.5987</c:v>
                </c:pt>
                <c:pt idx="6">
                  <c:v>217854.247733333</c:v>
                </c:pt>
                <c:pt idx="7">
                  <c:v>170389.71100000001</c:v>
                </c:pt>
                <c:pt idx="8">
                  <c:v>123778.672366667</c:v>
                </c:pt>
                <c:pt idx="9">
                  <c:v>200865.40256666701</c:v>
                </c:pt>
                <c:pt idx="10">
                  <c:v>158102.70093333299</c:v>
                </c:pt>
                <c:pt idx="11">
                  <c:v>140878.54043333299</c:v>
                </c:pt>
                <c:pt idx="12">
                  <c:v>155816.27753333299</c:v>
                </c:pt>
                <c:pt idx="13">
                  <c:v>115201.036833333</c:v>
                </c:pt>
                <c:pt idx="14">
                  <c:v>141802.73833333299</c:v>
                </c:pt>
                <c:pt idx="15">
                  <c:v>105112.206533333</c:v>
                </c:pt>
                <c:pt idx="16">
                  <c:v>147156.68100000001</c:v>
                </c:pt>
                <c:pt idx="17">
                  <c:v>238702.317366667</c:v>
                </c:pt>
                <c:pt idx="18">
                  <c:v>119690.790633333</c:v>
                </c:pt>
                <c:pt idx="19">
                  <c:v>73719.567033333296</c:v>
                </c:pt>
                <c:pt idx="20">
                  <c:v>102426.260233333</c:v>
                </c:pt>
                <c:pt idx="21">
                  <c:v>109419.71176666699</c:v>
                </c:pt>
                <c:pt idx="22">
                  <c:v>68021.345233333297</c:v>
                </c:pt>
                <c:pt idx="23">
                  <c:v>106276.491366667</c:v>
                </c:pt>
                <c:pt idx="24">
                  <c:v>83056.354800000001</c:v>
                </c:pt>
                <c:pt idx="25">
                  <c:v>111838.171966667</c:v>
                </c:pt>
                <c:pt idx="26">
                  <c:v>78279.067800000004</c:v>
                </c:pt>
                <c:pt idx="27">
                  <c:v>96599.173833333305</c:v>
                </c:pt>
                <c:pt idx="28">
                  <c:v>88091.561366666705</c:v>
                </c:pt>
                <c:pt idx="29">
                  <c:v>117041.539733333</c:v>
                </c:pt>
                <c:pt idx="30">
                  <c:v>98151.376466666698</c:v>
                </c:pt>
                <c:pt idx="31">
                  <c:v>83714.824999999997</c:v>
                </c:pt>
                <c:pt idx="32">
                  <c:v>101023.0555</c:v>
                </c:pt>
                <c:pt idx="33">
                  <c:v>72462.054000000004</c:v>
                </c:pt>
                <c:pt idx="34">
                  <c:v>90908.605966666699</c:v>
                </c:pt>
                <c:pt idx="35">
                  <c:v>100233.17690000001</c:v>
                </c:pt>
                <c:pt idx="36">
                  <c:v>208831.24683333299</c:v>
                </c:pt>
                <c:pt idx="37">
                  <c:v>85736.323033333305</c:v>
                </c:pt>
                <c:pt idx="38">
                  <c:v>82841.607499999998</c:v>
                </c:pt>
                <c:pt idx="39">
                  <c:v>69661.689133333304</c:v>
                </c:pt>
                <c:pt idx="40">
                  <c:v>80201.866566666693</c:v>
                </c:pt>
                <c:pt idx="41">
                  <c:v>83455.817766666703</c:v>
                </c:pt>
                <c:pt idx="42">
                  <c:v>75110.478733333293</c:v>
                </c:pt>
                <c:pt idx="43">
                  <c:v>70684.501266666703</c:v>
                </c:pt>
                <c:pt idx="44">
                  <c:v>105358.35846666701</c:v>
                </c:pt>
                <c:pt idx="45">
                  <c:v>69945.532233333302</c:v>
                </c:pt>
                <c:pt idx="46">
                  <c:v>65452.783966666699</c:v>
                </c:pt>
                <c:pt idx="47">
                  <c:v>91137.475833333301</c:v>
                </c:pt>
                <c:pt idx="48">
                  <c:v>63106.769533333303</c:v>
                </c:pt>
                <c:pt idx="49">
                  <c:v>87575.238766666705</c:v>
                </c:pt>
              </c:numCache>
            </c:numRef>
          </c:val>
          <c:smooth val="0"/>
          <c:extLst>
            <c:ext xmlns:c16="http://schemas.microsoft.com/office/drawing/2014/chart" uri="{C3380CC4-5D6E-409C-BE32-E72D297353CC}">
              <c16:uniqueId val="{00000002-E467-46F4-9ED6-1747ABF02501}"/>
            </c:ext>
          </c:extLst>
        </c:ser>
        <c:dLbls>
          <c:showLegendKey val="0"/>
          <c:showVal val="0"/>
          <c:showCatName val="0"/>
          <c:showSerName val="0"/>
          <c:showPercent val="0"/>
          <c:showBubbleSize val="0"/>
        </c:dLbls>
        <c:marker val="1"/>
        <c:smooth val="0"/>
        <c:axId val="101054032"/>
        <c:axId val="101060272"/>
      </c:lineChart>
      <c:catAx>
        <c:axId val="70105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48224"/>
        <c:crosses val="autoZero"/>
        <c:auto val="1"/>
        <c:lblAlgn val="ctr"/>
        <c:lblOffset val="100"/>
        <c:noMultiLvlLbl val="0"/>
      </c:catAx>
      <c:valAx>
        <c:axId val="701048224"/>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57344"/>
        <c:crosses val="autoZero"/>
        <c:crossBetween val="between"/>
      </c:valAx>
      <c:catAx>
        <c:axId val="101054032"/>
        <c:scaling>
          <c:orientation val="minMax"/>
        </c:scaling>
        <c:delete val="1"/>
        <c:axPos val="b"/>
        <c:majorTickMark val="out"/>
        <c:minorTickMark val="none"/>
        <c:tickLblPos val="nextTo"/>
        <c:crossAx val="101060272"/>
        <c:crosses val="autoZero"/>
        <c:auto val="1"/>
        <c:lblAlgn val="ctr"/>
        <c:lblOffset val="100"/>
        <c:noMultiLvlLbl val="0"/>
      </c:catAx>
      <c:valAx>
        <c:axId val="101060272"/>
        <c:scaling>
          <c:orientation val="minMax"/>
        </c:scaling>
        <c:delete val="0"/>
        <c:axPos val="r"/>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01054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2e5a170f-637c-47ad-ac0c-bc96e2906755}"/>
      </c:ext>
    </c:extLst>
  </c:chart>
  <c:spPr>
    <a:noFill/>
    <a:ln>
      <a:solidFill>
        <a:schemeClr val="bg1">
          <a:lumMod val="95000"/>
        </a:schemeClr>
      </a:solidFill>
    </a:ln>
    <a:effectLst/>
  </c:spPr>
  <c:txPr>
    <a:bodyPr/>
    <a:lstStyle/>
    <a:p>
      <a:pPr>
        <a:defRPr lang="zh-CN" sz="900"/>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r>
              <a:rPr lang="zh-CN" altLang="en-US" sz="700" dirty="0"/>
              <a:t>美团人气榜排名流量结构</a:t>
            </a:r>
            <a:r>
              <a:rPr lang="en-US" altLang="zh-CN" sz="700" dirty="0"/>
              <a:t>-</a:t>
            </a:r>
            <a:r>
              <a:rPr lang="zh-CN" altLang="en-US" sz="700" dirty="0"/>
              <a:t>中低线</a:t>
            </a:r>
            <a:endParaRPr lang="zh-CN" sz="700" dirty="0"/>
          </a:p>
        </c:rich>
      </c:tx>
      <c:overlay val="0"/>
      <c:spPr>
        <a:noFill/>
        <a:ln>
          <a:noFill/>
        </a:ln>
        <a:effectLst/>
      </c:spPr>
      <c:txPr>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Sheet1!$A$1</c:f>
              <c:strCache>
                <c:ptCount val="1"/>
                <c:pt idx="0">
                  <c:v>意向UV</c:v>
                </c:pt>
              </c:strCache>
            </c:strRef>
          </c:tx>
          <c:spPr>
            <a:ln w="28575" cap="rnd">
              <a:solidFill>
                <a:schemeClr val="accent1"/>
              </a:solidFill>
              <a:round/>
            </a:ln>
            <a:effectLst/>
          </c:spPr>
          <c:marker>
            <c:symbol val="square"/>
            <c:size val="2"/>
            <c:spPr>
              <a:solidFill>
                <a:schemeClr val="bg1"/>
              </a:solidFill>
              <a:ln w="9525">
                <a:solidFill>
                  <a:schemeClr val="accent1"/>
                </a:solidFill>
              </a:ln>
              <a:effectLst/>
            </c:spPr>
          </c:marker>
          <c:val>
            <c:numRef>
              <c:f>Sheet1!$A$2:$A$51</c:f>
              <c:numCache>
                <c:formatCode>#,##0_ </c:formatCode>
                <c:ptCount val="50"/>
                <c:pt idx="0">
                  <c:v>2984.7948885976298</c:v>
                </c:pt>
                <c:pt idx="1">
                  <c:v>2323.28705939159</c:v>
                </c:pt>
                <c:pt idx="2">
                  <c:v>2417.0555194805202</c:v>
                </c:pt>
                <c:pt idx="3">
                  <c:v>2167.5800324675201</c:v>
                </c:pt>
                <c:pt idx="4">
                  <c:v>2018.4437001594899</c:v>
                </c:pt>
                <c:pt idx="5">
                  <c:v>2242.5303461356102</c:v>
                </c:pt>
                <c:pt idx="6">
                  <c:v>1890.7949646074601</c:v>
                </c:pt>
                <c:pt idx="7">
                  <c:v>1726.29269480519</c:v>
                </c:pt>
                <c:pt idx="8">
                  <c:v>1772.70172250315</c:v>
                </c:pt>
                <c:pt idx="9">
                  <c:v>1677.87186293435</c:v>
                </c:pt>
                <c:pt idx="10">
                  <c:v>1657.78258145363</c:v>
                </c:pt>
                <c:pt idx="11">
                  <c:v>1557.8713054187201</c:v>
                </c:pt>
                <c:pt idx="12">
                  <c:v>1588.18284242716</c:v>
                </c:pt>
                <c:pt idx="13">
                  <c:v>1522.77453769558</c:v>
                </c:pt>
                <c:pt idx="14">
                  <c:v>1459.6256016146499</c:v>
                </c:pt>
                <c:pt idx="15">
                  <c:v>1417.92770719903</c:v>
                </c:pt>
                <c:pt idx="16">
                  <c:v>1475.0800701344201</c:v>
                </c:pt>
                <c:pt idx="17">
                  <c:v>1436.37473298749</c:v>
                </c:pt>
                <c:pt idx="18">
                  <c:v>1426.1897220928399</c:v>
                </c:pt>
                <c:pt idx="19">
                  <c:v>1338.38822326124</c:v>
                </c:pt>
                <c:pt idx="20">
                  <c:v>1378.72446174988</c:v>
                </c:pt>
                <c:pt idx="21">
                  <c:v>1259.8461779448601</c:v>
                </c:pt>
                <c:pt idx="22">
                  <c:v>1183.9623027469299</c:v>
                </c:pt>
                <c:pt idx="23">
                  <c:v>1191.38806086011</c:v>
                </c:pt>
                <c:pt idx="24">
                  <c:v>1236.54420624912</c:v>
                </c:pt>
                <c:pt idx="25">
                  <c:v>1200.3275131502</c:v>
                </c:pt>
                <c:pt idx="26">
                  <c:v>1222.4910768300099</c:v>
                </c:pt>
                <c:pt idx="27">
                  <c:v>1150.3555555555499</c:v>
                </c:pt>
                <c:pt idx="28">
                  <c:v>1257.40120537076</c:v>
                </c:pt>
                <c:pt idx="29">
                  <c:v>1251.66213921901</c:v>
                </c:pt>
                <c:pt idx="30">
                  <c:v>1198.13134672821</c:v>
                </c:pt>
                <c:pt idx="31">
                  <c:v>1229.1439265536701</c:v>
                </c:pt>
                <c:pt idx="32">
                  <c:v>1127.1178360655699</c:v>
                </c:pt>
                <c:pt idx="33">
                  <c:v>1135.3790322580601</c:v>
                </c:pt>
                <c:pt idx="34">
                  <c:v>1041.5976127320901</c:v>
                </c:pt>
                <c:pt idx="35">
                  <c:v>1180.24715142429</c:v>
                </c:pt>
                <c:pt idx="36">
                  <c:v>1114.01639344262</c:v>
                </c:pt>
                <c:pt idx="37">
                  <c:v>1020.65666666666</c:v>
                </c:pt>
                <c:pt idx="38">
                  <c:v>1067.11865729898</c:v>
                </c:pt>
                <c:pt idx="39">
                  <c:v>1114.58552631579</c:v>
                </c:pt>
                <c:pt idx="40">
                  <c:v>1027.7900393023799</c:v>
                </c:pt>
                <c:pt idx="41">
                  <c:v>986.79055059523796</c:v>
                </c:pt>
                <c:pt idx="42">
                  <c:v>1053.6099759615299</c:v>
                </c:pt>
                <c:pt idx="43">
                  <c:v>973.84280803806996</c:v>
                </c:pt>
                <c:pt idx="44">
                  <c:v>972.56930421421805</c:v>
                </c:pt>
                <c:pt idx="45">
                  <c:v>901.04751536884999</c:v>
                </c:pt>
                <c:pt idx="46">
                  <c:v>988.07146957520001</c:v>
                </c:pt>
                <c:pt idx="47">
                  <c:v>944.26269067266401</c:v>
                </c:pt>
                <c:pt idx="48">
                  <c:v>956.76201148619805</c:v>
                </c:pt>
                <c:pt idx="49">
                  <c:v>991.22856964084201</c:v>
                </c:pt>
              </c:numCache>
            </c:numRef>
          </c:val>
          <c:smooth val="0"/>
          <c:extLst>
            <c:ext xmlns:c16="http://schemas.microsoft.com/office/drawing/2014/chart" uri="{C3380CC4-5D6E-409C-BE32-E72D297353CC}">
              <c16:uniqueId val="{00000000-D8CD-4B22-852F-3EE48F81BEC5}"/>
            </c:ext>
          </c:extLst>
        </c:ser>
        <c:dLbls>
          <c:showLegendKey val="0"/>
          <c:showVal val="0"/>
          <c:showCatName val="0"/>
          <c:showSerName val="0"/>
          <c:showPercent val="0"/>
          <c:showBubbleSize val="0"/>
        </c:dLbls>
        <c:marker val="1"/>
        <c:smooth val="0"/>
        <c:axId val="701057344"/>
        <c:axId val="701048224"/>
      </c:lineChart>
      <c:lineChart>
        <c:grouping val="standard"/>
        <c:varyColors val="0"/>
        <c:ser>
          <c:idx val="1"/>
          <c:order val="1"/>
          <c:tx>
            <c:strRef>
              <c:f>Sheet1!$B$1</c:f>
              <c:strCache>
                <c:ptCount val="1"/>
                <c:pt idx="0">
                  <c:v>实付GTV</c:v>
                </c:pt>
              </c:strCache>
            </c:strRef>
          </c:tx>
          <c:spPr>
            <a:ln w="28575" cap="rnd">
              <a:solidFill>
                <a:schemeClr val="accent2">
                  <a:alpha val="40000"/>
                </a:schemeClr>
              </a:solidFill>
              <a:round/>
            </a:ln>
            <a:effectLst/>
          </c:spPr>
          <c:marker>
            <c:symbol val="square"/>
            <c:size val="2"/>
            <c:spPr>
              <a:solidFill>
                <a:schemeClr val="bg1"/>
              </a:solidFill>
              <a:ln w="9525">
                <a:solidFill>
                  <a:schemeClr val="accent2"/>
                </a:solidFill>
              </a:ln>
              <a:effectLst/>
            </c:spPr>
          </c:marker>
          <c:val>
            <c:numRef>
              <c:f>Sheet1!$B$2:$B$51</c:f>
              <c:numCache>
                <c:formatCode>#,##0_ </c:formatCode>
                <c:ptCount val="50"/>
                <c:pt idx="0">
                  <c:v>133586.03335000001</c:v>
                </c:pt>
                <c:pt idx="1">
                  <c:v>93517.830849999998</c:v>
                </c:pt>
                <c:pt idx="2">
                  <c:v>92438.506200000003</c:v>
                </c:pt>
                <c:pt idx="3">
                  <c:v>83135.291249999995</c:v>
                </c:pt>
                <c:pt idx="4">
                  <c:v>81629.401150000005</c:v>
                </c:pt>
                <c:pt idx="5">
                  <c:v>79623.345249999998</c:v>
                </c:pt>
                <c:pt idx="6">
                  <c:v>66311.575100000002</c:v>
                </c:pt>
                <c:pt idx="7">
                  <c:v>68081.840249999994</c:v>
                </c:pt>
                <c:pt idx="8">
                  <c:v>65575.732749999996</c:v>
                </c:pt>
                <c:pt idx="9">
                  <c:v>62481.944799999997</c:v>
                </c:pt>
                <c:pt idx="10">
                  <c:v>57273.767950000001</c:v>
                </c:pt>
                <c:pt idx="11">
                  <c:v>57606.80745</c:v>
                </c:pt>
                <c:pt idx="12">
                  <c:v>58369.483650000002</c:v>
                </c:pt>
                <c:pt idx="13">
                  <c:v>55378.102500000001</c:v>
                </c:pt>
                <c:pt idx="14">
                  <c:v>50157.608749999999</c:v>
                </c:pt>
                <c:pt idx="15">
                  <c:v>48550.359799999998</c:v>
                </c:pt>
                <c:pt idx="16">
                  <c:v>50464.775000000001</c:v>
                </c:pt>
                <c:pt idx="17">
                  <c:v>45462.303500000002</c:v>
                </c:pt>
                <c:pt idx="18">
                  <c:v>46836.828600000001</c:v>
                </c:pt>
                <c:pt idx="19">
                  <c:v>44164.673750000002</c:v>
                </c:pt>
                <c:pt idx="20">
                  <c:v>46325.712749999999</c:v>
                </c:pt>
                <c:pt idx="21">
                  <c:v>42852.553249999997</c:v>
                </c:pt>
                <c:pt idx="22">
                  <c:v>40889.699650000002</c:v>
                </c:pt>
                <c:pt idx="23">
                  <c:v>38920.437700000002</c:v>
                </c:pt>
                <c:pt idx="24">
                  <c:v>40206.935299999997</c:v>
                </c:pt>
                <c:pt idx="25">
                  <c:v>38238.082549999999</c:v>
                </c:pt>
                <c:pt idx="26">
                  <c:v>38537.193950000001</c:v>
                </c:pt>
                <c:pt idx="27">
                  <c:v>36332.716</c:v>
                </c:pt>
                <c:pt idx="28">
                  <c:v>39549.324650000002</c:v>
                </c:pt>
                <c:pt idx="29">
                  <c:v>36762.56035</c:v>
                </c:pt>
                <c:pt idx="30">
                  <c:v>34804.787100000001</c:v>
                </c:pt>
                <c:pt idx="31">
                  <c:v>32742.28225</c:v>
                </c:pt>
                <c:pt idx="32">
                  <c:v>36181.210749999998</c:v>
                </c:pt>
                <c:pt idx="33">
                  <c:v>35521.378349999999</c:v>
                </c:pt>
                <c:pt idx="34">
                  <c:v>32569.7978</c:v>
                </c:pt>
                <c:pt idx="35">
                  <c:v>32590.276399999999</c:v>
                </c:pt>
                <c:pt idx="36">
                  <c:v>29971.49855</c:v>
                </c:pt>
                <c:pt idx="37">
                  <c:v>31521.71975</c:v>
                </c:pt>
                <c:pt idx="38">
                  <c:v>29530.09505</c:v>
                </c:pt>
                <c:pt idx="39">
                  <c:v>33180.347000000002</c:v>
                </c:pt>
                <c:pt idx="40">
                  <c:v>26928.2837</c:v>
                </c:pt>
                <c:pt idx="41">
                  <c:v>28063.922549999999</c:v>
                </c:pt>
                <c:pt idx="42">
                  <c:v>26088.098249999999</c:v>
                </c:pt>
                <c:pt idx="43">
                  <c:v>26047.546849999999</c:v>
                </c:pt>
                <c:pt idx="44">
                  <c:v>28236.422299999998</c:v>
                </c:pt>
                <c:pt idx="45">
                  <c:v>25884.720249999998</c:v>
                </c:pt>
                <c:pt idx="46">
                  <c:v>26729.701150000001</c:v>
                </c:pt>
                <c:pt idx="47">
                  <c:v>25498.76785</c:v>
                </c:pt>
                <c:pt idx="48">
                  <c:v>25622.5494</c:v>
                </c:pt>
                <c:pt idx="49">
                  <c:v>24490.893599999999</c:v>
                </c:pt>
              </c:numCache>
            </c:numRef>
          </c:val>
          <c:smooth val="0"/>
          <c:extLst>
            <c:ext xmlns:c16="http://schemas.microsoft.com/office/drawing/2014/chart" uri="{C3380CC4-5D6E-409C-BE32-E72D297353CC}">
              <c16:uniqueId val="{00000001-D8CD-4B22-852F-3EE48F81BEC5}"/>
            </c:ext>
          </c:extLst>
        </c:ser>
        <c:dLbls>
          <c:showLegendKey val="0"/>
          <c:showVal val="0"/>
          <c:showCatName val="0"/>
          <c:showSerName val="0"/>
          <c:showPercent val="0"/>
          <c:showBubbleSize val="0"/>
        </c:dLbls>
        <c:marker val="1"/>
        <c:smooth val="0"/>
        <c:axId val="101054032"/>
        <c:axId val="101060272"/>
      </c:lineChart>
      <c:catAx>
        <c:axId val="70105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48224"/>
        <c:crosses val="autoZero"/>
        <c:auto val="1"/>
        <c:lblAlgn val="ctr"/>
        <c:lblOffset val="100"/>
        <c:noMultiLvlLbl val="0"/>
      </c:catAx>
      <c:valAx>
        <c:axId val="701048224"/>
        <c:scaling>
          <c:orientation val="minMax"/>
          <c:max val="4000"/>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57344"/>
        <c:crosses val="autoZero"/>
        <c:crossBetween val="between"/>
      </c:valAx>
      <c:catAx>
        <c:axId val="101054032"/>
        <c:scaling>
          <c:orientation val="minMax"/>
        </c:scaling>
        <c:delete val="1"/>
        <c:axPos val="b"/>
        <c:majorTickMark val="out"/>
        <c:minorTickMark val="none"/>
        <c:tickLblPos val="nextTo"/>
        <c:crossAx val="101060272"/>
        <c:crosses val="autoZero"/>
        <c:auto val="1"/>
        <c:lblAlgn val="ctr"/>
        <c:lblOffset val="100"/>
        <c:noMultiLvlLbl val="0"/>
      </c:catAx>
      <c:valAx>
        <c:axId val="101060272"/>
        <c:scaling>
          <c:orientation val="minMax"/>
        </c:scaling>
        <c:delete val="0"/>
        <c:axPos val="r"/>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01054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400661dd-82c9-492f-89d5-ab6e245e9487}"/>
      </c:ext>
    </c:extLst>
  </c:chart>
  <c:spPr>
    <a:noFill/>
    <a:ln>
      <a:solidFill>
        <a:schemeClr val="bg1">
          <a:lumMod val="95000"/>
        </a:schemeClr>
      </a:solidFill>
    </a:ln>
    <a:effectLst/>
  </c:spPr>
  <c:txPr>
    <a:bodyPr/>
    <a:lstStyle/>
    <a:p>
      <a:pPr>
        <a:defRPr lang="zh-CN" sz="900"/>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r>
              <a:rPr lang="zh-CN" altLang="en-US" sz="700" dirty="0">
                <a:solidFill>
                  <a:schemeClr val="bg1">
                    <a:lumMod val="50000"/>
                  </a:schemeClr>
                </a:solidFill>
              </a:rPr>
              <a:t>美团人气榜排名流量结构</a:t>
            </a:r>
            <a:r>
              <a:rPr lang="en-US" altLang="zh-CN" sz="700" dirty="0">
                <a:solidFill>
                  <a:schemeClr val="bg1">
                    <a:lumMod val="50000"/>
                  </a:schemeClr>
                </a:solidFill>
              </a:rPr>
              <a:t>-</a:t>
            </a:r>
            <a:r>
              <a:rPr lang="zh-CN" altLang="en-US" sz="700" dirty="0">
                <a:solidFill>
                  <a:schemeClr val="bg1">
                    <a:lumMod val="50000"/>
                  </a:schemeClr>
                </a:solidFill>
              </a:rPr>
              <a:t>下沉</a:t>
            </a:r>
            <a:endParaRPr lang="zh-CN" sz="700" dirty="0">
              <a:solidFill>
                <a:schemeClr val="bg1">
                  <a:lumMod val="50000"/>
                </a:schemeClr>
              </a:solidFill>
            </a:endParaRPr>
          </a:p>
        </c:rich>
      </c:tx>
      <c:overlay val="0"/>
      <c:spPr>
        <a:noFill/>
        <a:ln>
          <a:noFill/>
        </a:ln>
        <a:effectLst/>
      </c:spPr>
      <c:txPr>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Sheet1!$A$1</c:f>
              <c:strCache>
                <c:ptCount val="1"/>
                <c:pt idx="0">
                  <c:v>意向UV</c:v>
                </c:pt>
              </c:strCache>
            </c:strRef>
          </c:tx>
          <c:spPr>
            <a:ln w="28575" cap="rnd">
              <a:solidFill>
                <a:schemeClr val="accent1"/>
              </a:solidFill>
              <a:round/>
            </a:ln>
            <a:effectLst/>
          </c:spPr>
          <c:marker>
            <c:symbol val="square"/>
            <c:size val="2"/>
            <c:spPr>
              <a:solidFill>
                <a:schemeClr val="bg1"/>
              </a:solidFill>
              <a:ln w="9525">
                <a:solidFill>
                  <a:schemeClr val="accent1"/>
                </a:solidFill>
              </a:ln>
              <a:effectLst/>
            </c:spPr>
          </c:marker>
          <c:val>
            <c:numRef>
              <c:f>Sheet1!$A$2:$A$51</c:f>
              <c:numCache>
                <c:formatCode>#,##0_ </c:formatCode>
                <c:ptCount val="50"/>
                <c:pt idx="0">
                  <c:v>988.44682169272801</c:v>
                </c:pt>
                <c:pt idx="1">
                  <c:v>762.86880769553898</c:v>
                </c:pt>
                <c:pt idx="2">
                  <c:v>709.39242749992695</c:v>
                </c:pt>
                <c:pt idx="3">
                  <c:v>672.96603585134199</c:v>
                </c:pt>
                <c:pt idx="4">
                  <c:v>623.77245474935705</c:v>
                </c:pt>
                <c:pt idx="5">
                  <c:v>547.81961667902499</c:v>
                </c:pt>
                <c:pt idx="6">
                  <c:v>548.95281681703602</c:v>
                </c:pt>
                <c:pt idx="7">
                  <c:v>493.83755555555501</c:v>
                </c:pt>
                <c:pt idx="8">
                  <c:v>490.60567479929801</c:v>
                </c:pt>
                <c:pt idx="9">
                  <c:v>456.85727436193503</c:v>
                </c:pt>
                <c:pt idx="10">
                  <c:v>479.84270291875202</c:v>
                </c:pt>
                <c:pt idx="11">
                  <c:v>460.21454999129401</c:v>
                </c:pt>
                <c:pt idx="12">
                  <c:v>437.62749669065198</c:v>
                </c:pt>
                <c:pt idx="13">
                  <c:v>429.11259218017301</c:v>
                </c:pt>
                <c:pt idx="14">
                  <c:v>418.22610697988802</c:v>
                </c:pt>
                <c:pt idx="15">
                  <c:v>417.75116702672898</c:v>
                </c:pt>
                <c:pt idx="16">
                  <c:v>402.143829812626</c:v>
                </c:pt>
                <c:pt idx="17">
                  <c:v>374.95289354001898</c:v>
                </c:pt>
                <c:pt idx="18">
                  <c:v>388.01933133652</c:v>
                </c:pt>
                <c:pt idx="19">
                  <c:v>380.91975262698099</c:v>
                </c:pt>
                <c:pt idx="20">
                  <c:v>374.73454030501102</c:v>
                </c:pt>
                <c:pt idx="21">
                  <c:v>400.26149792288902</c:v>
                </c:pt>
                <c:pt idx="22">
                  <c:v>365.50483541615603</c:v>
                </c:pt>
                <c:pt idx="23">
                  <c:v>360.22758943010098</c:v>
                </c:pt>
                <c:pt idx="24">
                  <c:v>363.76192917600298</c:v>
                </c:pt>
                <c:pt idx="25">
                  <c:v>359.52687372685398</c:v>
                </c:pt>
                <c:pt idx="26">
                  <c:v>354.12927993981998</c:v>
                </c:pt>
                <c:pt idx="27">
                  <c:v>348.48937770355599</c:v>
                </c:pt>
                <c:pt idx="28">
                  <c:v>321.12253231402099</c:v>
                </c:pt>
                <c:pt idx="29">
                  <c:v>320.478636298136</c:v>
                </c:pt>
                <c:pt idx="30">
                  <c:v>334.439315062204</c:v>
                </c:pt>
                <c:pt idx="31">
                  <c:v>309.26395961178503</c:v>
                </c:pt>
                <c:pt idx="32">
                  <c:v>321.48204102791902</c:v>
                </c:pt>
                <c:pt idx="33">
                  <c:v>295.59509009475403</c:v>
                </c:pt>
                <c:pt idx="34">
                  <c:v>342.17840206164499</c:v>
                </c:pt>
                <c:pt idx="35">
                  <c:v>300.29465109006998</c:v>
                </c:pt>
                <c:pt idx="36">
                  <c:v>301.10680035698698</c:v>
                </c:pt>
                <c:pt idx="37">
                  <c:v>288.51330838443403</c:v>
                </c:pt>
                <c:pt idx="38">
                  <c:v>317.43588940110601</c:v>
                </c:pt>
                <c:pt idx="39">
                  <c:v>301.606041439058</c:v>
                </c:pt>
                <c:pt idx="40">
                  <c:v>287.40427037021999</c:v>
                </c:pt>
                <c:pt idx="41">
                  <c:v>289.15348018506199</c:v>
                </c:pt>
                <c:pt idx="42">
                  <c:v>309.09073107862599</c:v>
                </c:pt>
                <c:pt idx="43">
                  <c:v>269.517524188984</c:v>
                </c:pt>
                <c:pt idx="44">
                  <c:v>292.71200775663198</c:v>
                </c:pt>
                <c:pt idx="45">
                  <c:v>276.85477824763501</c:v>
                </c:pt>
                <c:pt idx="46">
                  <c:v>260.12066365007502</c:v>
                </c:pt>
                <c:pt idx="47">
                  <c:v>232.73349353288299</c:v>
                </c:pt>
                <c:pt idx="48">
                  <c:v>255.82555732138101</c:v>
                </c:pt>
                <c:pt idx="49">
                  <c:v>261.06748099570598</c:v>
                </c:pt>
              </c:numCache>
            </c:numRef>
          </c:val>
          <c:smooth val="0"/>
          <c:extLst>
            <c:ext xmlns:c16="http://schemas.microsoft.com/office/drawing/2014/chart" uri="{C3380CC4-5D6E-409C-BE32-E72D297353CC}">
              <c16:uniqueId val="{00000000-56CD-40ED-A9CD-D1662C225EF3}"/>
            </c:ext>
          </c:extLst>
        </c:ser>
        <c:dLbls>
          <c:showLegendKey val="0"/>
          <c:showVal val="0"/>
          <c:showCatName val="0"/>
          <c:showSerName val="0"/>
          <c:showPercent val="0"/>
          <c:showBubbleSize val="0"/>
        </c:dLbls>
        <c:marker val="1"/>
        <c:smooth val="0"/>
        <c:axId val="701057344"/>
        <c:axId val="701048224"/>
      </c:lineChart>
      <c:lineChart>
        <c:grouping val="standard"/>
        <c:varyColors val="0"/>
        <c:ser>
          <c:idx val="1"/>
          <c:order val="1"/>
          <c:tx>
            <c:strRef>
              <c:f>Sheet1!$B$1</c:f>
              <c:strCache>
                <c:ptCount val="1"/>
                <c:pt idx="0">
                  <c:v>实付GTV</c:v>
                </c:pt>
              </c:strCache>
            </c:strRef>
          </c:tx>
          <c:spPr>
            <a:ln w="28575" cap="rnd">
              <a:solidFill>
                <a:schemeClr val="accent2">
                  <a:alpha val="40000"/>
                </a:schemeClr>
              </a:solidFill>
              <a:round/>
            </a:ln>
            <a:effectLst/>
          </c:spPr>
          <c:marker>
            <c:symbol val="square"/>
            <c:size val="2"/>
            <c:spPr>
              <a:solidFill>
                <a:schemeClr val="bg1"/>
              </a:solidFill>
              <a:ln w="9525">
                <a:solidFill>
                  <a:schemeClr val="accent2"/>
                </a:solidFill>
              </a:ln>
              <a:effectLst/>
            </c:spPr>
          </c:marker>
          <c:val>
            <c:numRef>
              <c:f>Sheet1!$B$2:$B$51</c:f>
              <c:numCache>
                <c:formatCode>#,##0_ </c:formatCode>
                <c:ptCount val="50"/>
                <c:pt idx="0">
                  <c:v>51243.650966666697</c:v>
                </c:pt>
                <c:pt idx="1">
                  <c:v>37036.765866666698</c:v>
                </c:pt>
                <c:pt idx="2">
                  <c:v>30647.733033333301</c:v>
                </c:pt>
                <c:pt idx="3">
                  <c:v>27054.741033333299</c:v>
                </c:pt>
                <c:pt idx="4">
                  <c:v>24239.371533333298</c:v>
                </c:pt>
                <c:pt idx="5">
                  <c:v>22318.6596333333</c:v>
                </c:pt>
                <c:pt idx="6">
                  <c:v>20685.048233333298</c:v>
                </c:pt>
                <c:pt idx="7">
                  <c:v>18067.6142</c:v>
                </c:pt>
                <c:pt idx="8">
                  <c:v>17177.343133333299</c:v>
                </c:pt>
                <c:pt idx="9">
                  <c:v>15832.6223333333</c:v>
                </c:pt>
                <c:pt idx="10">
                  <c:v>16478.9754333333</c:v>
                </c:pt>
                <c:pt idx="11">
                  <c:v>16069.1119</c:v>
                </c:pt>
                <c:pt idx="12">
                  <c:v>13472.034900000001</c:v>
                </c:pt>
                <c:pt idx="13">
                  <c:v>14118.063599999999</c:v>
                </c:pt>
                <c:pt idx="14">
                  <c:v>12824.5222333333</c:v>
                </c:pt>
                <c:pt idx="15">
                  <c:v>12839.144</c:v>
                </c:pt>
                <c:pt idx="16">
                  <c:v>11319.738799999999</c:v>
                </c:pt>
                <c:pt idx="17">
                  <c:v>11251.156000000001</c:v>
                </c:pt>
                <c:pt idx="18">
                  <c:v>11022.780266666699</c:v>
                </c:pt>
                <c:pt idx="19">
                  <c:v>10919.309733333301</c:v>
                </c:pt>
                <c:pt idx="20">
                  <c:v>11527.885399999999</c:v>
                </c:pt>
                <c:pt idx="21">
                  <c:v>10296.7037</c:v>
                </c:pt>
                <c:pt idx="22">
                  <c:v>10681.6427666667</c:v>
                </c:pt>
                <c:pt idx="23">
                  <c:v>9888.8266333333304</c:v>
                </c:pt>
                <c:pt idx="24">
                  <c:v>8642.8056666666707</c:v>
                </c:pt>
                <c:pt idx="25">
                  <c:v>8772.5280666666695</c:v>
                </c:pt>
                <c:pt idx="26">
                  <c:v>9500.4011666666593</c:v>
                </c:pt>
                <c:pt idx="27">
                  <c:v>8442.1378666666697</c:v>
                </c:pt>
                <c:pt idx="28">
                  <c:v>8555.3587333333307</c:v>
                </c:pt>
                <c:pt idx="29">
                  <c:v>7975.3756666666704</c:v>
                </c:pt>
                <c:pt idx="30">
                  <c:v>7886.4937</c:v>
                </c:pt>
                <c:pt idx="31">
                  <c:v>7667.0316666666704</c:v>
                </c:pt>
                <c:pt idx="32">
                  <c:v>7618.7211666666699</c:v>
                </c:pt>
                <c:pt idx="33">
                  <c:v>6956.1043</c:v>
                </c:pt>
                <c:pt idx="34">
                  <c:v>7909.34893333333</c:v>
                </c:pt>
                <c:pt idx="35">
                  <c:v>6525.34306666667</c:v>
                </c:pt>
                <c:pt idx="36">
                  <c:v>7351.5500333333302</c:v>
                </c:pt>
                <c:pt idx="37">
                  <c:v>7237.4994666666698</c:v>
                </c:pt>
                <c:pt idx="38">
                  <c:v>7346.2712666666703</c:v>
                </c:pt>
                <c:pt idx="39">
                  <c:v>6386.6109999999999</c:v>
                </c:pt>
                <c:pt idx="40">
                  <c:v>5902.8263999999999</c:v>
                </c:pt>
                <c:pt idx="41">
                  <c:v>6447.1774666666697</c:v>
                </c:pt>
                <c:pt idx="42">
                  <c:v>6720.3262000000004</c:v>
                </c:pt>
                <c:pt idx="43">
                  <c:v>5489.4405333333298</c:v>
                </c:pt>
                <c:pt idx="44">
                  <c:v>5892.55173333333</c:v>
                </c:pt>
                <c:pt idx="45">
                  <c:v>5620.4050666666699</c:v>
                </c:pt>
                <c:pt idx="46">
                  <c:v>5018.1442333333298</c:v>
                </c:pt>
                <c:pt idx="47">
                  <c:v>5492.1397666666699</c:v>
                </c:pt>
                <c:pt idx="48">
                  <c:v>5147.7481333333299</c:v>
                </c:pt>
                <c:pt idx="49">
                  <c:v>5286.3811666666697</c:v>
                </c:pt>
              </c:numCache>
            </c:numRef>
          </c:val>
          <c:smooth val="0"/>
          <c:extLst>
            <c:ext xmlns:c16="http://schemas.microsoft.com/office/drawing/2014/chart" uri="{C3380CC4-5D6E-409C-BE32-E72D297353CC}">
              <c16:uniqueId val="{00000001-56CD-40ED-A9CD-D1662C225EF3}"/>
            </c:ext>
          </c:extLst>
        </c:ser>
        <c:dLbls>
          <c:showLegendKey val="0"/>
          <c:showVal val="0"/>
          <c:showCatName val="0"/>
          <c:showSerName val="0"/>
          <c:showPercent val="0"/>
          <c:showBubbleSize val="0"/>
        </c:dLbls>
        <c:marker val="1"/>
        <c:smooth val="0"/>
        <c:axId val="101054032"/>
        <c:axId val="101060272"/>
      </c:lineChart>
      <c:catAx>
        <c:axId val="70105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48224"/>
        <c:crosses val="autoZero"/>
        <c:auto val="1"/>
        <c:lblAlgn val="ctr"/>
        <c:lblOffset val="100"/>
        <c:noMultiLvlLbl val="0"/>
      </c:catAx>
      <c:valAx>
        <c:axId val="701048224"/>
        <c:scaling>
          <c:orientation val="minMax"/>
          <c:max val="1500"/>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57344"/>
        <c:crosses val="autoZero"/>
        <c:crossBetween val="between"/>
      </c:valAx>
      <c:catAx>
        <c:axId val="101054032"/>
        <c:scaling>
          <c:orientation val="minMax"/>
        </c:scaling>
        <c:delete val="1"/>
        <c:axPos val="b"/>
        <c:majorTickMark val="out"/>
        <c:minorTickMark val="none"/>
        <c:tickLblPos val="nextTo"/>
        <c:crossAx val="101060272"/>
        <c:crosses val="autoZero"/>
        <c:auto val="1"/>
        <c:lblAlgn val="ctr"/>
        <c:lblOffset val="100"/>
        <c:noMultiLvlLbl val="0"/>
      </c:catAx>
      <c:valAx>
        <c:axId val="101060272"/>
        <c:scaling>
          <c:orientation val="minMax"/>
        </c:scaling>
        <c:delete val="0"/>
        <c:axPos val="r"/>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01054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25106822-e623-48c3-b781-1f5c7eb2f3a7}"/>
      </c:ext>
    </c:extLst>
  </c:chart>
  <c:spPr>
    <a:noFill/>
    <a:ln>
      <a:solidFill>
        <a:schemeClr val="bg1">
          <a:lumMod val="95000"/>
        </a:schemeClr>
      </a:solidFill>
    </a:ln>
    <a:effectLst/>
  </c:spPr>
  <c:txPr>
    <a:bodyPr/>
    <a:lstStyle/>
    <a:p>
      <a:pPr>
        <a:defRPr lang="zh-CN" sz="900"/>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ea"/>
                <a:ea typeface="+mn-ea"/>
                <a:cs typeface="+mn-cs"/>
              </a:defRPr>
            </a:pPr>
            <a:r>
              <a:rPr lang="zh-CN" altLang="en-US" sz="700" dirty="0">
                <a:latin typeface="+mn-ea"/>
                <a:ea typeface="+mn-ea"/>
              </a:rPr>
              <a:t>点评热门榜排名流量结构</a:t>
            </a:r>
            <a:r>
              <a:rPr lang="en-US" altLang="zh-CN" sz="700" dirty="0">
                <a:latin typeface="+mn-ea"/>
                <a:ea typeface="+mn-ea"/>
              </a:rPr>
              <a:t>-</a:t>
            </a:r>
            <a:r>
              <a:rPr lang="zh-CN" altLang="en-US" sz="700" dirty="0">
                <a:latin typeface="+mn-ea"/>
                <a:ea typeface="+mn-ea"/>
              </a:rPr>
              <a:t>高线</a:t>
            </a:r>
            <a:endParaRPr lang="zh-CN" sz="700" dirty="0">
              <a:latin typeface="+mn-ea"/>
              <a:ea typeface="+mn-ea"/>
            </a:endParaRPr>
          </a:p>
        </c:rich>
      </c:tx>
      <c:overlay val="0"/>
      <c:spPr>
        <a:noFill/>
        <a:ln>
          <a:noFill/>
        </a:ln>
        <a:effectLst/>
      </c:spPr>
      <c:txPr>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ea"/>
              <a:ea typeface="+mn-ea"/>
              <a:cs typeface="+mn-cs"/>
            </a:defRPr>
          </a:pPr>
          <a:endParaRPr lang="zh-CN"/>
        </a:p>
      </c:txPr>
    </c:title>
    <c:autoTitleDeleted val="0"/>
    <c:plotArea>
      <c:layout/>
      <c:lineChart>
        <c:grouping val="standard"/>
        <c:varyColors val="0"/>
        <c:ser>
          <c:idx val="0"/>
          <c:order val="0"/>
          <c:tx>
            <c:strRef>
              <c:f>Sheet1!$A$1</c:f>
              <c:strCache>
                <c:ptCount val="1"/>
                <c:pt idx="0">
                  <c:v>意向UV</c:v>
                </c:pt>
              </c:strCache>
            </c:strRef>
          </c:tx>
          <c:spPr>
            <a:ln w="28575" cap="rnd">
              <a:solidFill>
                <a:schemeClr val="accent1"/>
              </a:solidFill>
              <a:round/>
            </a:ln>
            <a:effectLst/>
          </c:spPr>
          <c:marker>
            <c:symbol val="square"/>
            <c:size val="2"/>
            <c:spPr>
              <a:solidFill>
                <a:schemeClr val="bg1"/>
              </a:solidFill>
              <a:ln w="9525">
                <a:solidFill>
                  <a:schemeClr val="accent1"/>
                </a:solidFill>
              </a:ln>
              <a:effectLst/>
            </c:spPr>
          </c:marker>
          <c:val>
            <c:numRef>
              <c:f>Sheet1!$A$2:$A$51</c:f>
              <c:numCache>
                <c:formatCode>#,##0_ </c:formatCode>
                <c:ptCount val="50"/>
                <c:pt idx="0">
                  <c:v>18925.319645732699</c:v>
                </c:pt>
                <c:pt idx="1">
                  <c:v>15149.0322061191</c:v>
                </c:pt>
                <c:pt idx="2">
                  <c:v>16808.421095008001</c:v>
                </c:pt>
                <c:pt idx="3">
                  <c:v>13615.9500805153</c:v>
                </c:pt>
                <c:pt idx="4">
                  <c:v>13958.5587761675</c:v>
                </c:pt>
                <c:pt idx="5">
                  <c:v>14809.4959742351</c:v>
                </c:pt>
                <c:pt idx="6">
                  <c:v>17477.739935587801</c:v>
                </c:pt>
                <c:pt idx="7">
                  <c:v>13516.557165861501</c:v>
                </c:pt>
                <c:pt idx="8">
                  <c:v>17825.129629629599</c:v>
                </c:pt>
                <c:pt idx="9">
                  <c:v>13411.924315619901</c:v>
                </c:pt>
                <c:pt idx="10">
                  <c:v>13765.7165861513</c:v>
                </c:pt>
                <c:pt idx="11">
                  <c:v>10504.6046698873</c:v>
                </c:pt>
                <c:pt idx="12">
                  <c:v>12621.192431562</c:v>
                </c:pt>
                <c:pt idx="13">
                  <c:v>8816.1980676328403</c:v>
                </c:pt>
                <c:pt idx="14">
                  <c:v>14290.8268921095</c:v>
                </c:pt>
                <c:pt idx="15">
                  <c:v>10484.8904991948</c:v>
                </c:pt>
                <c:pt idx="16">
                  <c:v>22367.629629629599</c:v>
                </c:pt>
                <c:pt idx="17">
                  <c:v>10443.2512077295</c:v>
                </c:pt>
                <c:pt idx="18">
                  <c:v>9746.1425120772892</c:v>
                </c:pt>
                <c:pt idx="19">
                  <c:v>9622.9492753623199</c:v>
                </c:pt>
                <c:pt idx="20">
                  <c:v>11143.46215781</c:v>
                </c:pt>
                <c:pt idx="21">
                  <c:v>12992.9903381642</c:v>
                </c:pt>
                <c:pt idx="22">
                  <c:v>9700.6626409017699</c:v>
                </c:pt>
                <c:pt idx="23">
                  <c:v>9732.7681159420299</c:v>
                </c:pt>
                <c:pt idx="24">
                  <c:v>11387.588566827701</c:v>
                </c:pt>
                <c:pt idx="25">
                  <c:v>10018.415458937199</c:v>
                </c:pt>
                <c:pt idx="26">
                  <c:v>11303.076489532999</c:v>
                </c:pt>
                <c:pt idx="27">
                  <c:v>10566.9396135266</c:v>
                </c:pt>
                <c:pt idx="28">
                  <c:v>7855.4315619967801</c:v>
                </c:pt>
                <c:pt idx="29">
                  <c:v>12603.333333333299</c:v>
                </c:pt>
                <c:pt idx="30">
                  <c:v>9017.6392914653807</c:v>
                </c:pt>
                <c:pt idx="31">
                  <c:v>8698.0257648953302</c:v>
                </c:pt>
                <c:pt idx="32">
                  <c:v>8414.6763285024099</c:v>
                </c:pt>
                <c:pt idx="33">
                  <c:v>8173.2681159420299</c:v>
                </c:pt>
                <c:pt idx="34">
                  <c:v>8298.0314009661797</c:v>
                </c:pt>
                <c:pt idx="35">
                  <c:v>7115.8043478260897</c:v>
                </c:pt>
                <c:pt idx="36">
                  <c:v>10851.9404186795</c:v>
                </c:pt>
                <c:pt idx="37">
                  <c:v>8174.4194847020899</c:v>
                </c:pt>
                <c:pt idx="38">
                  <c:v>8175.8800322061197</c:v>
                </c:pt>
                <c:pt idx="39">
                  <c:v>9644.7351046698695</c:v>
                </c:pt>
                <c:pt idx="40">
                  <c:v>7862.4170692431499</c:v>
                </c:pt>
                <c:pt idx="41">
                  <c:v>7899.1239935587701</c:v>
                </c:pt>
                <c:pt idx="42">
                  <c:v>8183.4621578099805</c:v>
                </c:pt>
                <c:pt idx="43">
                  <c:v>7199.8478260869497</c:v>
                </c:pt>
                <c:pt idx="44">
                  <c:v>7241.6014492753602</c:v>
                </c:pt>
                <c:pt idx="45">
                  <c:v>6399.2689210950102</c:v>
                </c:pt>
                <c:pt idx="46">
                  <c:v>5974.6988727858297</c:v>
                </c:pt>
                <c:pt idx="47">
                  <c:v>7784.2117552334903</c:v>
                </c:pt>
                <c:pt idx="48">
                  <c:v>6893.6497584541003</c:v>
                </c:pt>
                <c:pt idx="49">
                  <c:v>7734.2995169082096</c:v>
                </c:pt>
              </c:numCache>
            </c:numRef>
          </c:val>
          <c:smooth val="0"/>
          <c:extLst>
            <c:ext xmlns:c16="http://schemas.microsoft.com/office/drawing/2014/chart" uri="{C3380CC4-5D6E-409C-BE32-E72D297353CC}">
              <c16:uniqueId val="{00000000-A9DA-433A-AA21-12BC7E54CD71}"/>
            </c:ext>
          </c:extLst>
        </c:ser>
        <c:dLbls>
          <c:showLegendKey val="0"/>
          <c:showVal val="0"/>
          <c:showCatName val="0"/>
          <c:showSerName val="0"/>
          <c:showPercent val="0"/>
          <c:showBubbleSize val="0"/>
        </c:dLbls>
        <c:marker val="1"/>
        <c:smooth val="0"/>
        <c:axId val="701057344"/>
        <c:axId val="701048224"/>
      </c:lineChart>
      <c:lineChart>
        <c:grouping val="standard"/>
        <c:varyColors val="0"/>
        <c:ser>
          <c:idx val="1"/>
          <c:order val="1"/>
          <c:tx>
            <c:strRef>
              <c:f>Sheet1!$B$1</c:f>
              <c:strCache>
                <c:ptCount val="1"/>
                <c:pt idx="0">
                  <c:v>实付GTV</c:v>
                </c:pt>
              </c:strCache>
            </c:strRef>
          </c:tx>
          <c:spPr>
            <a:ln w="28575" cap="rnd">
              <a:solidFill>
                <a:schemeClr val="accent2">
                  <a:alpha val="40000"/>
                </a:schemeClr>
              </a:solidFill>
              <a:round/>
            </a:ln>
            <a:effectLst/>
          </c:spPr>
          <c:marker>
            <c:symbol val="square"/>
            <c:size val="2"/>
            <c:spPr>
              <a:solidFill>
                <a:schemeClr val="bg1"/>
              </a:solidFill>
              <a:ln w="9525">
                <a:solidFill>
                  <a:schemeClr val="accent2"/>
                </a:solidFill>
              </a:ln>
              <a:effectLst/>
            </c:spPr>
          </c:marker>
          <c:val>
            <c:numRef>
              <c:f>Sheet1!$B$2:$B$51</c:f>
              <c:numCache>
                <c:formatCode>#,##0_ </c:formatCode>
                <c:ptCount val="50"/>
                <c:pt idx="0">
                  <c:v>181156.009066667</c:v>
                </c:pt>
                <c:pt idx="1">
                  <c:v>148296.24489999999</c:v>
                </c:pt>
                <c:pt idx="2">
                  <c:v>234638.83609999999</c:v>
                </c:pt>
                <c:pt idx="3">
                  <c:v>129185.547766667</c:v>
                </c:pt>
                <c:pt idx="4">
                  <c:v>136363.3578</c:v>
                </c:pt>
                <c:pt idx="5">
                  <c:v>89546.892000000007</c:v>
                </c:pt>
                <c:pt idx="6">
                  <c:v>99709.474799999996</c:v>
                </c:pt>
                <c:pt idx="7">
                  <c:v>144382.98916666699</c:v>
                </c:pt>
                <c:pt idx="8">
                  <c:v>74564.810700000002</c:v>
                </c:pt>
                <c:pt idx="9">
                  <c:v>65492.799233333302</c:v>
                </c:pt>
                <c:pt idx="10">
                  <c:v>97582.010999999999</c:v>
                </c:pt>
                <c:pt idx="11">
                  <c:v>112922.310533333</c:v>
                </c:pt>
                <c:pt idx="12">
                  <c:v>207346.30886666701</c:v>
                </c:pt>
                <c:pt idx="13">
                  <c:v>105055.566866667</c:v>
                </c:pt>
                <c:pt idx="14">
                  <c:v>98468.918166666699</c:v>
                </c:pt>
                <c:pt idx="15">
                  <c:v>96953.199500000002</c:v>
                </c:pt>
                <c:pt idx="16">
                  <c:v>138530.98296666701</c:v>
                </c:pt>
                <c:pt idx="17">
                  <c:v>104689.492433333</c:v>
                </c:pt>
                <c:pt idx="18">
                  <c:v>69863.477700000003</c:v>
                </c:pt>
                <c:pt idx="19">
                  <c:v>149096.64063333301</c:v>
                </c:pt>
                <c:pt idx="20">
                  <c:v>73874.576533333297</c:v>
                </c:pt>
                <c:pt idx="21">
                  <c:v>145359.81866666701</c:v>
                </c:pt>
                <c:pt idx="22">
                  <c:v>150632.26809999999</c:v>
                </c:pt>
                <c:pt idx="23">
                  <c:v>132549.2782</c:v>
                </c:pt>
                <c:pt idx="24">
                  <c:v>150083.1539</c:v>
                </c:pt>
                <c:pt idx="25">
                  <c:v>107042.988233333</c:v>
                </c:pt>
                <c:pt idx="26">
                  <c:v>89022.431800000006</c:v>
                </c:pt>
                <c:pt idx="27">
                  <c:v>232131.27353333301</c:v>
                </c:pt>
                <c:pt idx="28">
                  <c:v>141310.428533333</c:v>
                </c:pt>
                <c:pt idx="29">
                  <c:v>126913.537133333</c:v>
                </c:pt>
                <c:pt idx="30">
                  <c:v>90871.749133333302</c:v>
                </c:pt>
                <c:pt idx="31">
                  <c:v>113778.116633333</c:v>
                </c:pt>
                <c:pt idx="32">
                  <c:v>125708.3893</c:v>
                </c:pt>
                <c:pt idx="33">
                  <c:v>124343.697266667</c:v>
                </c:pt>
                <c:pt idx="34">
                  <c:v>85526.0867</c:v>
                </c:pt>
                <c:pt idx="35">
                  <c:v>66190.711666666699</c:v>
                </c:pt>
                <c:pt idx="36">
                  <c:v>77578.652666666705</c:v>
                </c:pt>
                <c:pt idx="37">
                  <c:v>149565.72769999999</c:v>
                </c:pt>
                <c:pt idx="38">
                  <c:v>124442.05086666701</c:v>
                </c:pt>
                <c:pt idx="39">
                  <c:v>83366.252033333294</c:v>
                </c:pt>
                <c:pt idx="40">
                  <c:v>88696.284700000004</c:v>
                </c:pt>
                <c:pt idx="41">
                  <c:v>93627.168566666704</c:v>
                </c:pt>
                <c:pt idx="42">
                  <c:v>92311.185233333294</c:v>
                </c:pt>
                <c:pt idx="43">
                  <c:v>113266.92923333299</c:v>
                </c:pt>
                <c:pt idx="44">
                  <c:v>84740.730266666695</c:v>
                </c:pt>
                <c:pt idx="45">
                  <c:v>87434.530566666697</c:v>
                </c:pt>
                <c:pt idx="46">
                  <c:v>95279.803499999995</c:v>
                </c:pt>
                <c:pt idx="47">
                  <c:v>125867.717</c:v>
                </c:pt>
                <c:pt idx="48">
                  <c:v>76087.662700000001</c:v>
                </c:pt>
                <c:pt idx="49">
                  <c:v>60632.9047333333</c:v>
                </c:pt>
              </c:numCache>
            </c:numRef>
          </c:val>
          <c:smooth val="0"/>
          <c:extLst>
            <c:ext xmlns:c16="http://schemas.microsoft.com/office/drawing/2014/chart" uri="{C3380CC4-5D6E-409C-BE32-E72D297353CC}">
              <c16:uniqueId val="{00000001-A9DA-433A-AA21-12BC7E54CD71}"/>
            </c:ext>
          </c:extLst>
        </c:ser>
        <c:dLbls>
          <c:showLegendKey val="0"/>
          <c:showVal val="0"/>
          <c:showCatName val="0"/>
          <c:showSerName val="0"/>
          <c:showPercent val="0"/>
          <c:showBubbleSize val="0"/>
        </c:dLbls>
        <c:marker val="1"/>
        <c:smooth val="0"/>
        <c:axId val="101054032"/>
        <c:axId val="101060272"/>
      </c:lineChart>
      <c:catAx>
        <c:axId val="70105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48224"/>
        <c:crosses val="autoZero"/>
        <c:auto val="1"/>
        <c:lblAlgn val="ctr"/>
        <c:lblOffset val="100"/>
        <c:noMultiLvlLbl val="0"/>
      </c:catAx>
      <c:valAx>
        <c:axId val="701048224"/>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57344"/>
        <c:crosses val="autoZero"/>
        <c:crossBetween val="between"/>
      </c:valAx>
      <c:catAx>
        <c:axId val="101054032"/>
        <c:scaling>
          <c:orientation val="minMax"/>
        </c:scaling>
        <c:delete val="1"/>
        <c:axPos val="b"/>
        <c:majorTickMark val="out"/>
        <c:minorTickMark val="none"/>
        <c:tickLblPos val="nextTo"/>
        <c:crossAx val="101060272"/>
        <c:crosses val="autoZero"/>
        <c:auto val="1"/>
        <c:lblAlgn val="ctr"/>
        <c:lblOffset val="100"/>
        <c:noMultiLvlLbl val="0"/>
      </c:catAx>
      <c:valAx>
        <c:axId val="101060272"/>
        <c:scaling>
          <c:orientation val="minMax"/>
        </c:scaling>
        <c:delete val="0"/>
        <c:axPos val="r"/>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01054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f27fbc15-4432-41dd-9698-f86f061cef04}"/>
      </c:ext>
    </c:extLst>
  </c:chart>
  <c:spPr>
    <a:noFill/>
    <a:ln>
      <a:solidFill>
        <a:schemeClr val="bg1">
          <a:lumMod val="95000"/>
        </a:schemeClr>
      </a:solidFill>
    </a:ln>
    <a:effectLst/>
  </c:spPr>
  <c:txPr>
    <a:bodyPr/>
    <a:lstStyle/>
    <a:p>
      <a:pPr>
        <a:defRPr lang="zh-CN" sz="900"/>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ea"/>
                <a:ea typeface="+mn-ea"/>
                <a:cs typeface="+mn-cs"/>
              </a:defRPr>
            </a:pPr>
            <a:r>
              <a:rPr lang="zh-CN" altLang="en-US" sz="700" dirty="0">
                <a:latin typeface="+mn-ea"/>
                <a:ea typeface="+mn-ea"/>
              </a:rPr>
              <a:t>点评销量榜排名流量结构</a:t>
            </a:r>
            <a:r>
              <a:rPr lang="en-US" altLang="zh-CN" sz="700" dirty="0">
                <a:latin typeface="+mn-ea"/>
                <a:ea typeface="+mn-ea"/>
              </a:rPr>
              <a:t>-</a:t>
            </a:r>
            <a:r>
              <a:rPr lang="zh-CN" altLang="en-US" sz="700" dirty="0">
                <a:latin typeface="+mn-ea"/>
                <a:ea typeface="+mn-ea"/>
              </a:rPr>
              <a:t>高线</a:t>
            </a:r>
            <a:endParaRPr lang="zh-CN" sz="700" dirty="0">
              <a:latin typeface="+mn-ea"/>
              <a:ea typeface="+mn-ea"/>
            </a:endParaRPr>
          </a:p>
        </c:rich>
      </c:tx>
      <c:layout>
        <c:manualLayout>
          <c:xMode val="edge"/>
          <c:yMode val="edge"/>
          <c:x val="0.110873941606653"/>
          <c:y val="4.0914970422557102E-2"/>
        </c:manualLayout>
      </c:layout>
      <c:overlay val="0"/>
      <c:spPr>
        <a:noFill/>
        <a:ln>
          <a:noFill/>
        </a:ln>
        <a:effectLst/>
      </c:spPr>
      <c:txPr>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mn-ea"/>
              <a:ea typeface="+mn-ea"/>
              <a:cs typeface="+mn-cs"/>
            </a:defRPr>
          </a:pPr>
          <a:endParaRPr lang="zh-CN"/>
        </a:p>
      </c:txPr>
    </c:title>
    <c:autoTitleDeleted val="0"/>
    <c:plotArea>
      <c:layout/>
      <c:lineChart>
        <c:grouping val="standard"/>
        <c:varyColors val="0"/>
        <c:ser>
          <c:idx val="0"/>
          <c:order val="0"/>
          <c:tx>
            <c:strRef>
              <c:f>Sheet1!$A$1</c:f>
              <c:strCache>
                <c:ptCount val="1"/>
                <c:pt idx="0">
                  <c:v>意向UV</c:v>
                </c:pt>
              </c:strCache>
            </c:strRef>
          </c:tx>
          <c:spPr>
            <a:ln w="28575" cap="rnd">
              <a:solidFill>
                <a:schemeClr val="accent1"/>
              </a:solidFill>
              <a:round/>
            </a:ln>
            <a:effectLst/>
          </c:spPr>
          <c:marker>
            <c:symbol val="square"/>
            <c:size val="2"/>
            <c:spPr>
              <a:solidFill>
                <a:schemeClr val="bg1"/>
              </a:solidFill>
              <a:ln w="9525">
                <a:solidFill>
                  <a:schemeClr val="accent1"/>
                </a:solidFill>
              </a:ln>
              <a:effectLst/>
            </c:spPr>
          </c:marker>
          <c:val>
            <c:numRef>
              <c:f>Sheet1!$A$2:$A$51</c:f>
              <c:numCache>
                <c:formatCode>#,##0</c:formatCode>
                <c:ptCount val="50"/>
                <c:pt idx="0">
                  <c:v>16830.914653784199</c:v>
                </c:pt>
                <c:pt idx="1">
                  <c:v>9515.1731078904904</c:v>
                </c:pt>
                <c:pt idx="2">
                  <c:v>8225.0676328502395</c:v>
                </c:pt>
                <c:pt idx="3">
                  <c:v>8468.7246376811599</c:v>
                </c:pt>
                <c:pt idx="4">
                  <c:v>9360.2971014492705</c:v>
                </c:pt>
                <c:pt idx="5">
                  <c:v>4994.66747181964</c:v>
                </c:pt>
                <c:pt idx="6">
                  <c:v>10236.529790660201</c:v>
                </c:pt>
                <c:pt idx="7">
                  <c:v>9521.8953301127203</c:v>
                </c:pt>
                <c:pt idx="8">
                  <c:v>7743.3099838969401</c:v>
                </c:pt>
                <c:pt idx="9">
                  <c:v>4857.49758454106</c:v>
                </c:pt>
                <c:pt idx="10">
                  <c:v>8800.4822866344603</c:v>
                </c:pt>
                <c:pt idx="11">
                  <c:v>5631.6884057971001</c:v>
                </c:pt>
                <c:pt idx="12">
                  <c:v>5563.1505636070797</c:v>
                </c:pt>
                <c:pt idx="13">
                  <c:v>4525.4074074074097</c:v>
                </c:pt>
                <c:pt idx="14">
                  <c:v>6205.7157809983901</c:v>
                </c:pt>
                <c:pt idx="15">
                  <c:v>4945.5491143317204</c:v>
                </c:pt>
                <c:pt idx="16">
                  <c:v>7580.1803542673097</c:v>
                </c:pt>
                <c:pt idx="17">
                  <c:v>4205.5797101449298</c:v>
                </c:pt>
                <c:pt idx="18">
                  <c:v>7065.1465378421899</c:v>
                </c:pt>
                <c:pt idx="19">
                  <c:v>5816.3381642512004</c:v>
                </c:pt>
                <c:pt idx="20">
                  <c:v>16799.336553945199</c:v>
                </c:pt>
                <c:pt idx="21">
                  <c:v>8723.1280193236707</c:v>
                </c:pt>
                <c:pt idx="22">
                  <c:v>5387.4967793880796</c:v>
                </c:pt>
                <c:pt idx="23">
                  <c:v>6295.9903381642498</c:v>
                </c:pt>
                <c:pt idx="24">
                  <c:v>5314.4935587761702</c:v>
                </c:pt>
                <c:pt idx="25">
                  <c:v>6172.9420289855098</c:v>
                </c:pt>
                <c:pt idx="26">
                  <c:v>5559.2528180354202</c:v>
                </c:pt>
                <c:pt idx="27">
                  <c:v>5009.3309178743903</c:v>
                </c:pt>
                <c:pt idx="28">
                  <c:v>7633.6223832528103</c:v>
                </c:pt>
                <c:pt idx="29">
                  <c:v>6018.7302737520104</c:v>
                </c:pt>
                <c:pt idx="30">
                  <c:v>4861.77053140096</c:v>
                </c:pt>
                <c:pt idx="31">
                  <c:v>7060.6561996779401</c:v>
                </c:pt>
                <c:pt idx="32">
                  <c:v>8008.2037037036998</c:v>
                </c:pt>
                <c:pt idx="33">
                  <c:v>7156.6771336553902</c:v>
                </c:pt>
                <c:pt idx="34">
                  <c:v>4422.9428341384801</c:v>
                </c:pt>
                <c:pt idx="35">
                  <c:v>4317.1296296296296</c:v>
                </c:pt>
                <c:pt idx="36">
                  <c:v>4124.4388083735903</c:v>
                </c:pt>
                <c:pt idx="37">
                  <c:v>4757.7640901771301</c:v>
                </c:pt>
                <c:pt idx="38">
                  <c:v>6579.1731078904904</c:v>
                </c:pt>
                <c:pt idx="39">
                  <c:v>4300.6070853462097</c:v>
                </c:pt>
                <c:pt idx="40">
                  <c:v>4007.1151368760002</c:v>
                </c:pt>
                <c:pt idx="41">
                  <c:v>5069.0547504025699</c:v>
                </c:pt>
                <c:pt idx="42">
                  <c:v>5944.8937198067597</c:v>
                </c:pt>
                <c:pt idx="43">
                  <c:v>3169.5732689210899</c:v>
                </c:pt>
                <c:pt idx="44">
                  <c:v>5103.2447665056297</c:v>
                </c:pt>
                <c:pt idx="45">
                  <c:v>6136.0120772946802</c:v>
                </c:pt>
                <c:pt idx="46">
                  <c:v>6173.1803542673097</c:v>
                </c:pt>
                <c:pt idx="47">
                  <c:v>4410.0032206119104</c:v>
                </c:pt>
                <c:pt idx="48">
                  <c:v>6580.1449275362302</c:v>
                </c:pt>
                <c:pt idx="49">
                  <c:v>4622.6167471819599</c:v>
                </c:pt>
              </c:numCache>
            </c:numRef>
          </c:val>
          <c:smooth val="0"/>
          <c:extLst>
            <c:ext xmlns:c16="http://schemas.microsoft.com/office/drawing/2014/chart" uri="{C3380CC4-5D6E-409C-BE32-E72D297353CC}">
              <c16:uniqueId val="{00000000-CA89-4CBB-A094-C26FFE33F331}"/>
            </c:ext>
          </c:extLst>
        </c:ser>
        <c:dLbls>
          <c:showLegendKey val="0"/>
          <c:showVal val="0"/>
          <c:showCatName val="0"/>
          <c:showSerName val="0"/>
          <c:showPercent val="0"/>
          <c:showBubbleSize val="0"/>
        </c:dLbls>
        <c:marker val="1"/>
        <c:smooth val="0"/>
        <c:axId val="701057344"/>
        <c:axId val="701048224"/>
      </c:lineChart>
      <c:lineChart>
        <c:grouping val="standard"/>
        <c:varyColors val="0"/>
        <c:ser>
          <c:idx val="1"/>
          <c:order val="1"/>
          <c:tx>
            <c:strRef>
              <c:f>Sheet1!$B$1</c:f>
              <c:strCache>
                <c:ptCount val="1"/>
                <c:pt idx="0">
                  <c:v>实付GTV</c:v>
                </c:pt>
              </c:strCache>
            </c:strRef>
          </c:tx>
          <c:spPr>
            <a:ln w="28575" cap="rnd">
              <a:solidFill>
                <a:schemeClr val="accent2">
                  <a:alpha val="40000"/>
                </a:schemeClr>
              </a:solidFill>
              <a:round/>
            </a:ln>
            <a:effectLst/>
          </c:spPr>
          <c:marker>
            <c:symbol val="square"/>
            <c:size val="2"/>
            <c:spPr>
              <a:solidFill>
                <a:schemeClr val="bg1"/>
              </a:solidFill>
              <a:ln w="9525">
                <a:solidFill>
                  <a:schemeClr val="accent2"/>
                </a:solidFill>
              </a:ln>
              <a:effectLst/>
            </c:spPr>
          </c:marker>
          <c:val>
            <c:numRef>
              <c:f>Sheet1!$B$2:$B$51</c:f>
              <c:numCache>
                <c:formatCode>#,##0</c:formatCode>
                <c:ptCount val="50"/>
                <c:pt idx="0">
                  <c:v>401078.52159999998</c:v>
                </c:pt>
                <c:pt idx="1">
                  <c:v>370187.65360000002</c:v>
                </c:pt>
                <c:pt idx="2">
                  <c:v>243334.42989999999</c:v>
                </c:pt>
                <c:pt idx="3">
                  <c:v>225135.76240000001</c:v>
                </c:pt>
                <c:pt idx="4">
                  <c:v>173081.182</c:v>
                </c:pt>
                <c:pt idx="5">
                  <c:v>151873.83943333299</c:v>
                </c:pt>
                <c:pt idx="6">
                  <c:v>222720.07676666701</c:v>
                </c:pt>
                <c:pt idx="7">
                  <c:v>211034.44663333299</c:v>
                </c:pt>
                <c:pt idx="8">
                  <c:v>171666.202166667</c:v>
                </c:pt>
                <c:pt idx="9">
                  <c:v>155873.46013333299</c:v>
                </c:pt>
                <c:pt idx="10">
                  <c:v>126605.7153</c:v>
                </c:pt>
                <c:pt idx="11">
                  <c:v>194755.11983333301</c:v>
                </c:pt>
                <c:pt idx="12">
                  <c:v>133989.44936666699</c:v>
                </c:pt>
                <c:pt idx="13">
                  <c:v>132696.671366667</c:v>
                </c:pt>
                <c:pt idx="14">
                  <c:v>158413.136233333</c:v>
                </c:pt>
                <c:pt idx="15">
                  <c:v>184638.292766667</c:v>
                </c:pt>
                <c:pt idx="16">
                  <c:v>177235.34363333299</c:v>
                </c:pt>
                <c:pt idx="17">
                  <c:v>134202.96950000001</c:v>
                </c:pt>
                <c:pt idx="18">
                  <c:v>134167.31686666701</c:v>
                </c:pt>
                <c:pt idx="19">
                  <c:v>155172.80913333301</c:v>
                </c:pt>
                <c:pt idx="20">
                  <c:v>152420.981033333</c:v>
                </c:pt>
                <c:pt idx="21">
                  <c:v>192803.602533333</c:v>
                </c:pt>
                <c:pt idx="22">
                  <c:v>150416.55549999999</c:v>
                </c:pt>
                <c:pt idx="23">
                  <c:v>132858.423433333</c:v>
                </c:pt>
                <c:pt idx="24">
                  <c:v>144623.48370000001</c:v>
                </c:pt>
                <c:pt idx="25">
                  <c:v>150788.08913333301</c:v>
                </c:pt>
                <c:pt idx="26">
                  <c:v>149584.62043333301</c:v>
                </c:pt>
                <c:pt idx="27">
                  <c:v>100711.4492</c:v>
                </c:pt>
                <c:pt idx="28">
                  <c:v>114697.229333333</c:v>
                </c:pt>
                <c:pt idx="29">
                  <c:v>111946.452333333</c:v>
                </c:pt>
                <c:pt idx="30">
                  <c:v>121413.096733333</c:v>
                </c:pt>
                <c:pt idx="31">
                  <c:v>149948.63356666701</c:v>
                </c:pt>
                <c:pt idx="32">
                  <c:v>137522.37046666699</c:v>
                </c:pt>
                <c:pt idx="33">
                  <c:v>112518.74963333301</c:v>
                </c:pt>
                <c:pt idx="34">
                  <c:v>105725.24233333299</c:v>
                </c:pt>
                <c:pt idx="35">
                  <c:v>120372.42066666701</c:v>
                </c:pt>
                <c:pt idx="36">
                  <c:v>126528.416733333</c:v>
                </c:pt>
                <c:pt idx="37">
                  <c:v>177344.10870000001</c:v>
                </c:pt>
                <c:pt idx="38">
                  <c:v>121858.2708</c:v>
                </c:pt>
                <c:pt idx="39">
                  <c:v>112724.09493333301</c:v>
                </c:pt>
                <c:pt idx="40">
                  <c:v>95503.296733333307</c:v>
                </c:pt>
                <c:pt idx="41">
                  <c:v>119967.2779</c:v>
                </c:pt>
                <c:pt idx="42">
                  <c:v>119233.13159999999</c:v>
                </c:pt>
                <c:pt idx="43">
                  <c:v>103771.58053333301</c:v>
                </c:pt>
                <c:pt idx="44">
                  <c:v>118072.65536666699</c:v>
                </c:pt>
                <c:pt idx="45">
                  <c:v>147652.60986666699</c:v>
                </c:pt>
                <c:pt idx="46">
                  <c:v>118092.110733333</c:v>
                </c:pt>
                <c:pt idx="47">
                  <c:v>100849.8855</c:v>
                </c:pt>
                <c:pt idx="48">
                  <c:v>137672.477533333</c:v>
                </c:pt>
                <c:pt idx="49">
                  <c:v>81481.503400000001</c:v>
                </c:pt>
              </c:numCache>
            </c:numRef>
          </c:val>
          <c:smooth val="0"/>
          <c:extLst>
            <c:ext xmlns:c16="http://schemas.microsoft.com/office/drawing/2014/chart" uri="{C3380CC4-5D6E-409C-BE32-E72D297353CC}">
              <c16:uniqueId val="{00000001-CA89-4CBB-A094-C26FFE33F331}"/>
            </c:ext>
          </c:extLst>
        </c:ser>
        <c:dLbls>
          <c:showLegendKey val="0"/>
          <c:showVal val="0"/>
          <c:showCatName val="0"/>
          <c:showSerName val="0"/>
          <c:showPercent val="0"/>
          <c:showBubbleSize val="0"/>
        </c:dLbls>
        <c:marker val="1"/>
        <c:smooth val="0"/>
        <c:axId val="101054032"/>
        <c:axId val="101060272"/>
      </c:lineChart>
      <c:catAx>
        <c:axId val="70105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48224"/>
        <c:crosses val="autoZero"/>
        <c:auto val="1"/>
        <c:lblAlgn val="ctr"/>
        <c:lblOffset val="100"/>
        <c:noMultiLvlLbl val="0"/>
      </c:catAx>
      <c:valAx>
        <c:axId val="7010482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701057344"/>
        <c:crosses val="autoZero"/>
        <c:crossBetween val="between"/>
      </c:valAx>
      <c:catAx>
        <c:axId val="101054032"/>
        <c:scaling>
          <c:orientation val="minMax"/>
        </c:scaling>
        <c:delete val="1"/>
        <c:axPos val="b"/>
        <c:majorTickMark val="out"/>
        <c:minorTickMark val="none"/>
        <c:tickLblPos val="nextTo"/>
        <c:crossAx val="101060272"/>
        <c:crosses val="autoZero"/>
        <c:auto val="1"/>
        <c:lblAlgn val="ctr"/>
        <c:lblOffset val="100"/>
        <c:noMultiLvlLbl val="0"/>
      </c:catAx>
      <c:valAx>
        <c:axId val="101060272"/>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crossAx val="101054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b532cd03-5671-4960-856d-429af568f358}"/>
      </c:ext>
    </c:extLst>
  </c:chart>
  <c:spPr>
    <a:noFill/>
    <a:ln>
      <a:solidFill>
        <a:schemeClr val="bg1">
          <a:lumMod val="95000"/>
        </a:schemeClr>
      </a:solidFill>
    </a:ln>
    <a:effectLst/>
  </c:spPr>
  <c:txPr>
    <a:bodyPr/>
    <a:lstStyle/>
    <a:p>
      <a:pPr>
        <a:defRPr lang="zh-CN" sz="900"/>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4D4B4E0-F032-7642-B2AE-BEE15DE4A87E}" type="doc">
      <dgm:prSet loTypeId="urn:microsoft.com/office/officeart/2005/8/layout/pyramid3#1" loCatId="" qsTypeId="urn:microsoft.com/office/officeart/2005/8/quickstyle/simple1#2" qsCatId="simple" csTypeId="urn:microsoft.com/office/officeart/2005/8/colors/accent1_3#1" csCatId="accent1" phldr="1"/>
      <dgm:spPr/>
    </dgm:pt>
    <dgm:pt modelId="{4F0D6B3D-C5CF-8D4A-BA25-FA60BE729983}">
      <dgm:prSet phldrT="[文本]" custT="1"/>
      <dgm:spPr>
        <a:ln>
          <a:solidFill>
            <a:schemeClr val="bg1"/>
          </a:solidFill>
        </a:ln>
      </dgm:spPr>
      <dgm:t>
        <a:bodyPr/>
        <a:lstStyle/>
        <a:p>
          <a:r>
            <a:rPr lang="en-US" altLang="zh-CN" sz="1000" dirty="0" err="1">
              <a:latin typeface="+mn-ea"/>
              <a:ea typeface="+mn-ea"/>
            </a:rPr>
            <a:t>sug</a:t>
          </a:r>
          <a:r>
            <a:rPr lang="zh-CN" altLang="en-US" sz="1000" dirty="0">
              <a:latin typeface="+mn-ea"/>
              <a:ea typeface="+mn-ea"/>
            </a:rPr>
            <a:t>曝光</a:t>
          </a:r>
        </a:p>
      </dgm:t>
    </dgm:pt>
    <dgm:pt modelId="{635EE23D-3722-F94E-BB09-E8869DE0EC6F}" type="parTrans" cxnId="{EE114C3B-AA05-C44C-A0EB-424B136B9F2A}">
      <dgm:prSet/>
      <dgm:spPr/>
      <dgm:t>
        <a:bodyPr/>
        <a:lstStyle/>
        <a:p>
          <a:endParaRPr lang="zh-CN" altLang="en-US" sz="1000">
            <a:latin typeface="+mn-ea"/>
            <a:ea typeface="+mn-ea"/>
          </a:endParaRPr>
        </a:p>
      </dgm:t>
    </dgm:pt>
    <dgm:pt modelId="{B2FEAFF8-9874-614F-9A13-B51570E2B90E}" type="sibTrans" cxnId="{EE114C3B-AA05-C44C-A0EB-424B136B9F2A}">
      <dgm:prSet/>
      <dgm:spPr/>
      <dgm:t>
        <a:bodyPr/>
        <a:lstStyle/>
        <a:p>
          <a:endParaRPr lang="zh-CN" altLang="en-US" sz="1000">
            <a:latin typeface="+mn-ea"/>
            <a:ea typeface="+mn-ea"/>
          </a:endParaRPr>
        </a:p>
      </dgm:t>
    </dgm:pt>
    <dgm:pt modelId="{58A1CF21-DB3F-0E48-9D82-C70E1E203627}">
      <dgm:prSet phldrT="[文本]" custT="1"/>
      <dgm:spPr/>
      <dgm:t>
        <a:bodyPr/>
        <a:lstStyle/>
        <a:p>
          <a:r>
            <a:rPr lang="en-US" altLang="zh-CN" sz="1000" dirty="0" err="1">
              <a:latin typeface="+mn-ea"/>
              <a:ea typeface="+mn-ea"/>
            </a:rPr>
            <a:t>sug</a:t>
          </a:r>
          <a:r>
            <a:rPr lang="zh-CN" altLang="en-US" sz="1000" dirty="0">
              <a:latin typeface="+mn-ea"/>
              <a:ea typeface="+mn-ea"/>
            </a:rPr>
            <a:t>点击</a:t>
          </a:r>
        </a:p>
      </dgm:t>
    </dgm:pt>
    <dgm:pt modelId="{9E10A2AD-F5A3-DA41-A747-59A3F3C22599}" type="parTrans" cxnId="{39B88F67-B899-4848-BFDC-5D7367BD94EA}">
      <dgm:prSet/>
      <dgm:spPr/>
      <dgm:t>
        <a:bodyPr/>
        <a:lstStyle/>
        <a:p>
          <a:endParaRPr lang="zh-CN" altLang="en-US" sz="1000">
            <a:latin typeface="+mn-ea"/>
            <a:ea typeface="+mn-ea"/>
          </a:endParaRPr>
        </a:p>
      </dgm:t>
    </dgm:pt>
    <dgm:pt modelId="{49B23C9D-F0E7-9C46-94CD-A52159A7F7A9}" type="sibTrans" cxnId="{39B88F67-B899-4848-BFDC-5D7367BD94EA}">
      <dgm:prSet/>
      <dgm:spPr/>
      <dgm:t>
        <a:bodyPr/>
        <a:lstStyle/>
        <a:p>
          <a:endParaRPr lang="zh-CN" altLang="en-US" sz="1000">
            <a:latin typeface="+mn-ea"/>
            <a:ea typeface="+mn-ea"/>
          </a:endParaRPr>
        </a:p>
      </dgm:t>
    </dgm:pt>
    <dgm:pt modelId="{25D24F9E-BBFA-C44A-A686-D13341DB4245}">
      <dgm:prSet phldrT="[文本]" custT="1"/>
      <dgm:spPr/>
      <dgm:t>
        <a:bodyPr/>
        <a:lstStyle/>
        <a:p>
          <a:r>
            <a:rPr lang="zh-CN" altLang="en-US" sz="1000" dirty="0">
              <a:latin typeface="+mn-ea"/>
              <a:ea typeface="+mn-ea"/>
            </a:rPr>
            <a:t>意向</a:t>
          </a:r>
          <a:r>
            <a:rPr lang="en-US" altLang="zh-CN" sz="1000" dirty="0" err="1">
              <a:latin typeface="+mn-ea"/>
              <a:ea typeface="+mn-ea"/>
            </a:rPr>
            <a:t>uv</a:t>
          </a:r>
          <a:endParaRPr lang="zh-CN" altLang="en-US" sz="1000" dirty="0">
            <a:latin typeface="+mn-ea"/>
            <a:ea typeface="+mn-ea"/>
          </a:endParaRPr>
        </a:p>
      </dgm:t>
    </dgm:pt>
    <dgm:pt modelId="{DD0FA5B6-739A-2E45-855C-EC7E9458A0B7}" type="parTrans" cxnId="{336D84E7-5383-EE4B-A8A1-ED221F75B35B}">
      <dgm:prSet/>
      <dgm:spPr/>
      <dgm:t>
        <a:bodyPr/>
        <a:lstStyle/>
        <a:p>
          <a:endParaRPr lang="zh-CN" altLang="en-US" sz="1000">
            <a:latin typeface="+mn-ea"/>
            <a:ea typeface="+mn-ea"/>
          </a:endParaRPr>
        </a:p>
      </dgm:t>
    </dgm:pt>
    <dgm:pt modelId="{184656D1-4F5A-BB43-81CD-7306367F1D0A}" type="sibTrans" cxnId="{336D84E7-5383-EE4B-A8A1-ED221F75B35B}">
      <dgm:prSet/>
      <dgm:spPr/>
      <dgm:t>
        <a:bodyPr/>
        <a:lstStyle/>
        <a:p>
          <a:endParaRPr lang="zh-CN" altLang="en-US" sz="1000">
            <a:latin typeface="+mn-ea"/>
            <a:ea typeface="+mn-ea"/>
          </a:endParaRPr>
        </a:p>
      </dgm:t>
    </dgm:pt>
    <dgm:pt modelId="{80319AF4-D09C-D348-A018-0C841EF09689}">
      <dgm:prSet phldrT="[文本]" custT="1"/>
      <dgm:spPr/>
      <dgm:t>
        <a:bodyPr/>
        <a:lstStyle/>
        <a:p>
          <a:r>
            <a:rPr lang="zh-CN" altLang="en-US" sz="1000" dirty="0">
              <a:latin typeface="+mn-ea"/>
              <a:ea typeface="+mn-ea"/>
            </a:rPr>
            <a:t>支付</a:t>
          </a:r>
          <a:r>
            <a:rPr lang="en-US" altLang="zh-CN" sz="1000" dirty="0">
              <a:latin typeface="+mn-ea"/>
              <a:ea typeface="+mn-ea"/>
            </a:rPr>
            <a:t>UV</a:t>
          </a:r>
          <a:endParaRPr lang="zh-CN" altLang="en-US" sz="1000" dirty="0">
            <a:latin typeface="+mn-ea"/>
            <a:ea typeface="+mn-ea"/>
          </a:endParaRPr>
        </a:p>
      </dgm:t>
    </dgm:pt>
    <dgm:pt modelId="{28A8D2BD-B99E-DF47-A34B-CD6B36B4605A}" type="parTrans" cxnId="{A6E6BFDA-283B-854F-9B10-DD6C3C7B5772}">
      <dgm:prSet/>
      <dgm:spPr/>
      <dgm:t>
        <a:bodyPr/>
        <a:lstStyle/>
        <a:p>
          <a:endParaRPr lang="zh-CN" altLang="en-US" sz="1000">
            <a:latin typeface="+mn-ea"/>
            <a:ea typeface="+mn-ea"/>
          </a:endParaRPr>
        </a:p>
      </dgm:t>
    </dgm:pt>
    <dgm:pt modelId="{83B394A0-E5DA-2140-996B-8EAC962B915F}" type="sibTrans" cxnId="{A6E6BFDA-283B-854F-9B10-DD6C3C7B5772}">
      <dgm:prSet/>
      <dgm:spPr/>
      <dgm:t>
        <a:bodyPr/>
        <a:lstStyle/>
        <a:p>
          <a:endParaRPr lang="zh-CN" altLang="en-US" sz="1000">
            <a:latin typeface="+mn-ea"/>
            <a:ea typeface="+mn-ea"/>
          </a:endParaRPr>
        </a:p>
      </dgm:t>
    </dgm:pt>
    <dgm:pt modelId="{30D2F518-BA90-43D4-95D1-56B456206360}">
      <dgm:prSet custT="1"/>
      <dgm:spPr/>
      <dgm:t>
        <a:bodyPr/>
        <a:lstStyle/>
        <a:p>
          <a:r>
            <a:rPr lang="zh-CN" altLang="en-US" sz="900" dirty="0"/>
            <a:t>榜单页</a:t>
          </a:r>
        </a:p>
      </dgm:t>
    </dgm:pt>
    <dgm:pt modelId="{9247CAFD-6689-4600-B6C1-4988AE7CC53C}" type="parTrans" cxnId="{821C1F71-A7DF-4817-9F79-A602CB84A9D2}">
      <dgm:prSet/>
      <dgm:spPr/>
      <dgm:t>
        <a:bodyPr/>
        <a:lstStyle/>
        <a:p>
          <a:endParaRPr lang="zh-CN" altLang="en-US"/>
        </a:p>
      </dgm:t>
    </dgm:pt>
    <dgm:pt modelId="{D6641AF4-211F-40C2-8DF7-0E535A45E4B1}" type="sibTrans" cxnId="{821C1F71-A7DF-4817-9F79-A602CB84A9D2}">
      <dgm:prSet/>
      <dgm:spPr/>
      <dgm:t>
        <a:bodyPr/>
        <a:lstStyle/>
        <a:p>
          <a:endParaRPr lang="zh-CN" altLang="en-US"/>
        </a:p>
      </dgm:t>
    </dgm:pt>
    <dgm:pt modelId="{30D6E7EC-A1FD-DA42-A0BE-E758B3DBBAC1}" type="pres">
      <dgm:prSet presAssocID="{14D4B4E0-F032-7642-B2AE-BEE15DE4A87E}" presName="Name0" presStyleCnt="0">
        <dgm:presLayoutVars>
          <dgm:dir/>
          <dgm:animLvl val="lvl"/>
          <dgm:resizeHandles val="exact"/>
        </dgm:presLayoutVars>
      </dgm:prSet>
      <dgm:spPr/>
    </dgm:pt>
    <dgm:pt modelId="{F1168830-04BE-154C-BB28-5EBA7EB4C29B}" type="pres">
      <dgm:prSet presAssocID="{4F0D6B3D-C5CF-8D4A-BA25-FA60BE729983}" presName="Name8" presStyleCnt="0"/>
      <dgm:spPr/>
    </dgm:pt>
    <dgm:pt modelId="{3B0D058A-B4B6-B04A-A9EE-62CD7284E78C}" type="pres">
      <dgm:prSet presAssocID="{4F0D6B3D-C5CF-8D4A-BA25-FA60BE729983}" presName="level" presStyleLbl="node1" presStyleIdx="0" presStyleCnt="5">
        <dgm:presLayoutVars>
          <dgm:chMax val="1"/>
          <dgm:bulletEnabled val="1"/>
        </dgm:presLayoutVars>
      </dgm:prSet>
      <dgm:spPr/>
    </dgm:pt>
    <dgm:pt modelId="{4A59A94B-31BD-FC41-B8AA-AB0F7E0C14FF}" type="pres">
      <dgm:prSet presAssocID="{4F0D6B3D-C5CF-8D4A-BA25-FA60BE729983}" presName="levelTx" presStyleLbl="revTx" presStyleIdx="0" presStyleCnt="0">
        <dgm:presLayoutVars>
          <dgm:chMax val="1"/>
          <dgm:bulletEnabled val="1"/>
        </dgm:presLayoutVars>
      </dgm:prSet>
      <dgm:spPr/>
    </dgm:pt>
    <dgm:pt modelId="{32DFB335-9338-8346-BD29-AF2DAC3D8B66}" type="pres">
      <dgm:prSet presAssocID="{58A1CF21-DB3F-0E48-9D82-C70E1E203627}" presName="Name8" presStyleCnt="0"/>
      <dgm:spPr/>
    </dgm:pt>
    <dgm:pt modelId="{46BCB231-1A01-754F-A972-72238C85C450}" type="pres">
      <dgm:prSet presAssocID="{58A1CF21-DB3F-0E48-9D82-C70E1E203627}" presName="level" presStyleLbl="node1" presStyleIdx="1" presStyleCnt="5">
        <dgm:presLayoutVars>
          <dgm:chMax val="1"/>
          <dgm:bulletEnabled val="1"/>
        </dgm:presLayoutVars>
      </dgm:prSet>
      <dgm:spPr/>
    </dgm:pt>
    <dgm:pt modelId="{959006F2-3AE9-A547-A556-95A87BA939F2}" type="pres">
      <dgm:prSet presAssocID="{58A1CF21-DB3F-0E48-9D82-C70E1E203627}" presName="levelTx" presStyleLbl="revTx" presStyleIdx="0" presStyleCnt="0">
        <dgm:presLayoutVars>
          <dgm:chMax val="1"/>
          <dgm:bulletEnabled val="1"/>
        </dgm:presLayoutVars>
      </dgm:prSet>
      <dgm:spPr/>
    </dgm:pt>
    <dgm:pt modelId="{9C2EAA2C-BB57-43B9-A0C4-F5AE194C5BD9}" type="pres">
      <dgm:prSet presAssocID="{30D2F518-BA90-43D4-95D1-56B456206360}" presName="Name8" presStyleCnt="0"/>
      <dgm:spPr/>
    </dgm:pt>
    <dgm:pt modelId="{67C97C9E-FEAB-4965-86E7-C67AD6FC8DB6}" type="pres">
      <dgm:prSet presAssocID="{30D2F518-BA90-43D4-95D1-56B456206360}" presName="level" presStyleLbl="node1" presStyleIdx="2" presStyleCnt="5">
        <dgm:presLayoutVars>
          <dgm:chMax val="1"/>
          <dgm:bulletEnabled val="1"/>
        </dgm:presLayoutVars>
      </dgm:prSet>
      <dgm:spPr/>
    </dgm:pt>
    <dgm:pt modelId="{7A8B6B06-B910-4029-BD8F-BD1EE3D6C08C}" type="pres">
      <dgm:prSet presAssocID="{30D2F518-BA90-43D4-95D1-56B456206360}" presName="levelTx" presStyleLbl="revTx" presStyleIdx="0" presStyleCnt="0">
        <dgm:presLayoutVars>
          <dgm:chMax val="1"/>
          <dgm:bulletEnabled val="1"/>
        </dgm:presLayoutVars>
      </dgm:prSet>
      <dgm:spPr/>
    </dgm:pt>
    <dgm:pt modelId="{D5CC5D41-5F28-7E47-B087-F81EA813FD00}" type="pres">
      <dgm:prSet presAssocID="{25D24F9E-BBFA-C44A-A686-D13341DB4245}" presName="Name8" presStyleCnt="0"/>
      <dgm:spPr/>
    </dgm:pt>
    <dgm:pt modelId="{32BD6072-80EA-464A-9478-A73D8E2AE964}" type="pres">
      <dgm:prSet presAssocID="{25D24F9E-BBFA-C44A-A686-D13341DB4245}" presName="level" presStyleLbl="node1" presStyleIdx="3" presStyleCnt="5">
        <dgm:presLayoutVars>
          <dgm:chMax val="1"/>
          <dgm:bulletEnabled val="1"/>
        </dgm:presLayoutVars>
      </dgm:prSet>
      <dgm:spPr/>
    </dgm:pt>
    <dgm:pt modelId="{3F31ECB3-CB8E-5449-A433-0996C49F633D}" type="pres">
      <dgm:prSet presAssocID="{25D24F9E-BBFA-C44A-A686-D13341DB4245}" presName="levelTx" presStyleLbl="revTx" presStyleIdx="0" presStyleCnt="0">
        <dgm:presLayoutVars>
          <dgm:chMax val="1"/>
          <dgm:bulletEnabled val="1"/>
        </dgm:presLayoutVars>
      </dgm:prSet>
      <dgm:spPr/>
    </dgm:pt>
    <dgm:pt modelId="{5569E5D2-7D60-934E-AAC6-F1CB5021D6A7}" type="pres">
      <dgm:prSet presAssocID="{80319AF4-D09C-D348-A018-0C841EF09689}" presName="Name8" presStyleCnt="0"/>
      <dgm:spPr/>
    </dgm:pt>
    <dgm:pt modelId="{5E98E5F3-1B91-224E-8067-77C088C120B8}" type="pres">
      <dgm:prSet presAssocID="{80319AF4-D09C-D348-A018-0C841EF09689}" presName="level" presStyleLbl="node1" presStyleIdx="4" presStyleCnt="5">
        <dgm:presLayoutVars>
          <dgm:chMax val="1"/>
          <dgm:bulletEnabled val="1"/>
        </dgm:presLayoutVars>
      </dgm:prSet>
      <dgm:spPr/>
    </dgm:pt>
    <dgm:pt modelId="{D0D1C335-06DB-7F49-A611-83B97D7ED819}" type="pres">
      <dgm:prSet presAssocID="{80319AF4-D09C-D348-A018-0C841EF09689}" presName="levelTx" presStyleLbl="revTx" presStyleIdx="0" presStyleCnt="0">
        <dgm:presLayoutVars>
          <dgm:chMax val="1"/>
          <dgm:bulletEnabled val="1"/>
        </dgm:presLayoutVars>
      </dgm:prSet>
      <dgm:spPr/>
    </dgm:pt>
  </dgm:ptLst>
  <dgm:cxnLst>
    <dgm:cxn modelId="{1F13A30E-FBAA-7541-A7A6-D2DEAEEE384E}" type="presOf" srcId="{4F0D6B3D-C5CF-8D4A-BA25-FA60BE729983}" destId="{4A59A94B-31BD-FC41-B8AA-AB0F7E0C14FF}" srcOrd="1" destOrd="0" presId="urn:microsoft.com/office/officeart/2005/8/layout/pyramid3#1"/>
    <dgm:cxn modelId="{8D1D7F1B-061F-D444-8DD6-78FC3A072C4B}" type="presOf" srcId="{58A1CF21-DB3F-0E48-9D82-C70E1E203627}" destId="{959006F2-3AE9-A547-A556-95A87BA939F2}" srcOrd="1" destOrd="0" presId="urn:microsoft.com/office/officeart/2005/8/layout/pyramid3#1"/>
    <dgm:cxn modelId="{A3FED01B-FCFB-1E43-BFCC-539D8A748560}" type="presOf" srcId="{58A1CF21-DB3F-0E48-9D82-C70E1E203627}" destId="{46BCB231-1A01-754F-A972-72238C85C450}" srcOrd="0" destOrd="0" presId="urn:microsoft.com/office/officeart/2005/8/layout/pyramid3#1"/>
    <dgm:cxn modelId="{A67FC933-F458-4894-A72D-855E82DE4677}" type="presOf" srcId="{30D2F518-BA90-43D4-95D1-56B456206360}" destId="{7A8B6B06-B910-4029-BD8F-BD1EE3D6C08C}" srcOrd="1" destOrd="0" presId="urn:microsoft.com/office/officeart/2005/8/layout/pyramid3#1"/>
    <dgm:cxn modelId="{EC3CD134-EE39-AE4F-9280-B20421FEAF6A}" type="presOf" srcId="{4F0D6B3D-C5CF-8D4A-BA25-FA60BE729983}" destId="{3B0D058A-B4B6-B04A-A9EE-62CD7284E78C}" srcOrd="0" destOrd="0" presId="urn:microsoft.com/office/officeart/2005/8/layout/pyramid3#1"/>
    <dgm:cxn modelId="{EE114C3B-AA05-C44C-A0EB-424B136B9F2A}" srcId="{14D4B4E0-F032-7642-B2AE-BEE15DE4A87E}" destId="{4F0D6B3D-C5CF-8D4A-BA25-FA60BE729983}" srcOrd="0" destOrd="0" parTransId="{635EE23D-3722-F94E-BB09-E8869DE0EC6F}" sibTransId="{B2FEAFF8-9874-614F-9A13-B51570E2B90E}"/>
    <dgm:cxn modelId="{1B089B3C-7E0D-5142-BA7C-F4A8BBC517D4}" type="presOf" srcId="{25D24F9E-BBFA-C44A-A686-D13341DB4245}" destId="{3F31ECB3-CB8E-5449-A433-0996C49F633D}" srcOrd="1" destOrd="0" presId="urn:microsoft.com/office/officeart/2005/8/layout/pyramid3#1"/>
    <dgm:cxn modelId="{39B88F67-B899-4848-BFDC-5D7367BD94EA}" srcId="{14D4B4E0-F032-7642-B2AE-BEE15DE4A87E}" destId="{58A1CF21-DB3F-0E48-9D82-C70E1E203627}" srcOrd="1" destOrd="0" parTransId="{9E10A2AD-F5A3-DA41-A747-59A3F3C22599}" sibTransId="{49B23C9D-F0E7-9C46-94CD-A52159A7F7A9}"/>
    <dgm:cxn modelId="{989D444D-F026-8742-882C-1E731E3D6F51}" type="presOf" srcId="{25D24F9E-BBFA-C44A-A686-D13341DB4245}" destId="{32BD6072-80EA-464A-9478-A73D8E2AE964}" srcOrd="0" destOrd="0" presId="urn:microsoft.com/office/officeart/2005/8/layout/pyramid3#1"/>
    <dgm:cxn modelId="{821C1F71-A7DF-4817-9F79-A602CB84A9D2}" srcId="{14D4B4E0-F032-7642-B2AE-BEE15DE4A87E}" destId="{30D2F518-BA90-43D4-95D1-56B456206360}" srcOrd="2" destOrd="0" parTransId="{9247CAFD-6689-4600-B6C1-4988AE7CC53C}" sibTransId="{D6641AF4-211F-40C2-8DF7-0E535A45E4B1}"/>
    <dgm:cxn modelId="{F6670585-462B-6846-BE17-057C6CD073BD}" type="presOf" srcId="{14D4B4E0-F032-7642-B2AE-BEE15DE4A87E}" destId="{30D6E7EC-A1FD-DA42-A0BE-E758B3DBBAC1}" srcOrd="0" destOrd="0" presId="urn:microsoft.com/office/officeart/2005/8/layout/pyramid3#1"/>
    <dgm:cxn modelId="{301C4697-90C8-E944-B350-D3B9B4C659C2}" type="presOf" srcId="{80319AF4-D09C-D348-A018-0C841EF09689}" destId="{D0D1C335-06DB-7F49-A611-83B97D7ED819}" srcOrd="1" destOrd="0" presId="urn:microsoft.com/office/officeart/2005/8/layout/pyramid3#1"/>
    <dgm:cxn modelId="{C45C6BC8-872D-3E4A-853D-8D8BA338E67E}" type="presOf" srcId="{80319AF4-D09C-D348-A018-0C841EF09689}" destId="{5E98E5F3-1B91-224E-8067-77C088C120B8}" srcOrd="0" destOrd="0" presId="urn:microsoft.com/office/officeart/2005/8/layout/pyramid3#1"/>
    <dgm:cxn modelId="{A6E6BFDA-283B-854F-9B10-DD6C3C7B5772}" srcId="{14D4B4E0-F032-7642-B2AE-BEE15DE4A87E}" destId="{80319AF4-D09C-D348-A018-0C841EF09689}" srcOrd="4" destOrd="0" parTransId="{28A8D2BD-B99E-DF47-A34B-CD6B36B4605A}" sibTransId="{83B394A0-E5DA-2140-996B-8EAC962B915F}"/>
    <dgm:cxn modelId="{E21F9DDD-28D1-4660-8974-E1176190EA02}" type="presOf" srcId="{30D2F518-BA90-43D4-95D1-56B456206360}" destId="{67C97C9E-FEAB-4965-86E7-C67AD6FC8DB6}" srcOrd="0" destOrd="0" presId="urn:microsoft.com/office/officeart/2005/8/layout/pyramid3#1"/>
    <dgm:cxn modelId="{336D84E7-5383-EE4B-A8A1-ED221F75B35B}" srcId="{14D4B4E0-F032-7642-B2AE-BEE15DE4A87E}" destId="{25D24F9E-BBFA-C44A-A686-D13341DB4245}" srcOrd="3" destOrd="0" parTransId="{DD0FA5B6-739A-2E45-855C-EC7E9458A0B7}" sibTransId="{184656D1-4F5A-BB43-81CD-7306367F1D0A}"/>
    <dgm:cxn modelId="{E6B6C8F4-E879-3346-88F1-49EE1599DAB4}" type="presParOf" srcId="{30D6E7EC-A1FD-DA42-A0BE-E758B3DBBAC1}" destId="{F1168830-04BE-154C-BB28-5EBA7EB4C29B}" srcOrd="0" destOrd="0" presId="urn:microsoft.com/office/officeart/2005/8/layout/pyramid3#1"/>
    <dgm:cxn modelId="{9D8C12FD-1A1E-A541-A4F7-EE5BCB8B6015}" type="presParOf" srcId="{F1168830-04BE-154C-BB28-5EBA7EB4C29B}" destId="{3B0D058A-B4B6-B04A-A9EE-62CD7284E78C}" srcOrd="0" destOrd="0" presId="urn:microsoft.com/office/officeart/2005/8/layout/pyramid3#1"/>
    <dgm:cxn modelId="{50AB4D26-D216-E948-A613-4E962B903E2E}" type="presParOf" srcId="{F1168830-04BE-154C-BB28-5EBA7EB4C29B}" destId="{4A59A94B-31BD-FC41-B8AA-AB0F7E0C14FF}" srcOrd="1" destOrd="0" presId="urn:microsoft.com/office/officeart/2005/8/layout/pyramid3#1"/>
    <dgm:cxn modelId="{9CFD4B49-1B8D-5C40-A9BB-FC0431CE112D}" type="presParOf" srcId="{30D6E7EC-A1FD-DA42-A0BE-E758B3DBBAC1}" destId="{32DFB335-9338-8346-BD29-AF2DAC3D8B66}" srcOrd="1" destOrd="0" presId="urn:microsoft.com/office/officeart/2005/8/layout/pyramid3#1"/>
    <dgm:cxn modelId="{6BDD3033-D5C8-9244-9457-7490FDD04125}" type="presParOf" srcId="{32DFB335-9338-8346-BD29-AF2DAC3D8B66}" destId="{46BCB231-1A01-754F-A972-72238C85C450}" srcOrd="0" destOrd="0" presId="urn:microsoft.com/office/officeart/2005/8/layout/pyramid3#1"/>
    <dgm:cxn modelId="{94DB5167-CE68-8C40-A54D-A16F0FBAAA89}" type="presParOf" srcId="{32DFB335-9338-8346-BD29-AF2DAC3D8B66}" destId="{959006F2-3AE9-A547-A556-95A87BA939F2}" srcOrd="1" destOrd="0" presId="urn:microsoft.com/office/officeart/2005/8/layout/pyramid3#1"/>
    <dgm:cxn modelId="{4B4010A2-B98B-47D5-8440-DF37499E03DD}" type="presParOf" srcId="{30D6E7EC-A1FD-DA42-A0BE-E758B3DBBAC1}" destId="{9C2EAA2C-BB57-43B9-A0C4-F5AE194C5BD9}" srcOrd="2" destOrd="0" presId="urn:microsoft.com/office/officeart/2005/8/layout/pyramid3#1"/>
    <dgm:cxn modelId="{16DD1D47-54B0-43B4-8567-0CA3F5F460B7}" type="presParOf" srcId="{9C2EAA2C-BB57-43B9-A0C4-F5AE194C5BD9}" destId="{67C97C9E-FEAB-4965-86E7-C67AD6FC8DB6}" srcOrd="0" destOrd="0" presId="urn:microsoft.com/office/officeart/2005/8/layout/pyramid3#1"/>
    <dgm:cxn modelId="{0A20005F-5012-4124-A31E-93B5F80F5365}" type="presParOf" srcId="{9C2EAA2C-BB57-43B9-A0C4-F5AE194C5BD9}" destId="{7A8B6B06-B910-4029-BD8F-BD1EE3D6C08C}" srcOrd="1" destOrd="0" presId="urn:microsoft.com/office/officeart/2005/8/layout/pyramid3#1"/>
    <dgm:cxn modelId="{FEDA2421-4D08-9D4F-AA72-F63E1D0DB109}" type="presParOf" srcId="{30D6E7EC-A1FD-DA42-A0BE-E758B3DBBAC1}" destId="{D5CC5D41-5F28-7E47-B087-F81EA813FD00}" srcOrd="3" destOrd="0" presId="urn:microsoft.com/office/officeart/2005/8/layout/pyramid3#1"/>
    <dgm:cxn modelId="{89171CA2-6C4F-7B43-971A-F6C65DD3B89C}" type="presParOf" srcId="{D5CC5D41-5F28-7E47-B087-F81EA813FD00}" destId="{32BD6072-80EA-464A-9478-A73D8E2AE964}" srcOrd="0" destOrd="0" presId="urn:microsoft.com/office/officeart/2005/8/layout/pyramid3#1"/>
    <dgm:cxn modelId="{E09EB67A-0F77-334E-B2B1-4AB8EA681EDA}" type="presParOf" srcId="{D5CC5D41-5F28-7E47-B087-F81EA813FD00}" destId="{3F31ECB3-CB8E-5449-A433-0996C49F633D}" srcOrd="1" destOrd="0" presId="urn:microsoft.com/office/officeart/2005/8/layout/pyramid3#1"/>
    <dgm:cxn modelId="{BFAB0353-9B91-164D-A5C6-4FAAEA3DA2A7}" type="presParOf" srcId="{30D6E7EC-A1FD-DA42-A0BE-E758B3DBBAC1}" destId="{5569E5D2-7D60-934E-AAC6-F1CB5021D6A7}" srcOrd="4" destOrd="0" presId="urn:microsoft.com/office/officeart/2005/8/layout/pyramid3#1"/>
    <dgm:cxn modelId="{920FE36B-882D-1240-9B76-8C6B4A669C83}" type="presParOf" srcId="{5569E5D2-7D60-934E-AAC6-F1CB5021D6A7}" destId="{5E98E5F3-1B91-224E-8067-77C088C120B8}" srcOrd="0" destOrd="0" presId="urn:microsoft.com/office/officeart/2005/8/layout/pyramid3#1"/>
    <dgm:cxn modelId="{72F34220-95FE-3742-B305-4657193ADC99}" type="presParOf" srcId="{5569E5D2-7D60-934E-AAC6-F1CB5021D6A7}" destId="{D0D1C335-06DB-7F49-A611-83B97D7ED819}" srcOrd="1" destOrd="0" presId="urn:microsoft.com/office/officeart/2005/8/layout/pyramid3#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D058A-B4B6-B04A-A9EE-62CD7284E78C}">
      <dsp:nvSpPr>
        <dsp:cNvPr id="0" name=""/>
        <dsp:cNvSpPr/>
      </dsp:nvSpPr>
      <dsp:spPr>
        <a:xfrm rot="10800000">
          <a:off x="0" y="0"/>
          <a:ext cx="2322443" cy="556277"/>
        </a:xfrm>
        <a:prstGeom prst="trapezoid">
          <a:avLst>
            <a:gd name="adj" fmla="val 41750"/>
          </a:avLst>
        </a:prstGeom>
        <a:solidFill>
          <a:schemeClr val="accent1">
            <a:shade val="80000"/>
            <a:hueOff val="0"/>
            <a:satOff val="0"/>
            <a:lumOff val="0"/>
            <a:alphaOff val="0"/>
          </a:schemeClr>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zh-CN" sz="1000" kern="1200" dirty="0" err="1">
              <a:latin typeface="+mn-ea"/>
              <a:ea typeface="+mn-ea"/>
            </a:rPr>
            <a:t>sug</a:t>
          </a:r>
          <a:r>
            <a:rPr lang="zh-CN" altLang="en-US" sz="1000" kern="1200" dirty="0">
              <a:latin typeface="+mn-ea"/>
              <a:ea typeface="+mn-ea"/>
            </a:rPr>
            <a:t>曝光</a:t>
          </a:r>
        </a:p>
      </dsp:txBody>
      <dsp:txXfrm rot="-10800000">
        <a:off x="406427" y="0"/>
        <a:ext cx="1509587" cy="556277"/>
      </dsp:txXfrm>
    </dsp:sp>
    <dsp:sp modelId="{46BCB231-1A01-754F-A972-72238C85C450}">
      <dsp:nvSpPr>
        <dsp:cNvPr id="0" name=""/>
        <dsp:cNvSpPr/>
      </dsp:nvSpPr>
      <dsp:spPr>
        <a:xfrm rot="10800000">
          <a:off x="232244" y="556277"/>
          <a:ext cx="1857954" cy="556277"/>
        </a:xfrm>
        <a:prstGeom prst="trapezoid">
          <a:avLst>
            <a:gd name="adj" fmla="val 41750"/>
          </a:avLst>
        </a:prstGeom>
        <a:solidFill>
          <a:schemeClr val="accent1">
            <a:shade val="80000"/>
            <a:hueOff val="-98644"/>
            <a:satOff val="0"/>
            <a:lumOff val="84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zh-CN" sz="1000" kern="1200" dirty="0" err="1">
              <a:latin typeface="+mn-ea"/>
              <a:ea typeface="+mn-ea"/>
            </a:rPr>
            <a:t>sug</a:t>
          </a:r>
          <a:r>
            <a:rPr lang="zh-CN" altLang="en-US" sz="1000" kern="1200" dirty="0">
              <a:latin typeface="+mn-ea"/>
              <a:ea typeface="+mn-ea"/>
            </a:rPr>
            <a:t>点击</a:t>
          </a:r>
        </a:p>
      </dsp:txBody>
      <dsp:txXfrm rot="-10800000">
        <a:off x="557386" y="556277"/>
        <a:ext cx="1207670" cy="556277"/>
      </dsp:txXfrm>
    </dsp:sp>
    <dsp:sp modelId="{67C97C9E-FEAB-4965-86E7-C67AD6FC8DB6}">
      <dsp:nvSpPr>
        <dsp:cNvPr id="0" name=""/>
        <dsp:cNvSpPr/>
      </dsp:nvSpPr>
      <dsp:spPr>
        <a:xfrm rot="10800000">
          <a:off x="464488" y="1112554"/>
          <a:ext cx="1393465" cy="556277"/>
        </a:xfrm>
        <a:prstGeom prst="trapezoid">
          <a:avLst>
            <a:gd name="adj" fmla="val 41750"/>
          </a:avLst>
        </a:prstGeom>
        <a:solidFill>
          <a:schemeClr val="accent1">
            <a:shade val="80000"/>
            <a:hueOff val="-197288"/>
            <a:satOff val="0"/>
            <a:lumOff val="169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zh-CN" altLang="en-US" sz="900" kern="1200" dirty="0"/>
            <a:t>榜单页</a:t>
          </a:r>
        </a:p>
      </dsp:txBody>
      <dsp:txXfrm rot="-10800000">
        <a:off x="708345" y="1112554"/>
        <a:ext cx="905752" cy="556277"/>
      </dsp:txXfrm>
    </dsp:sp>
    <dsp:sp modelId="{32BD6072-80EA-464A-9478-A73D8E2AE964}">
      <dsp:nvSpPr>
        <dsp:cNvPr id="0" name=""/>
        <dsp:cNvSpPr/>
      </dsp:nvSpPr>
      <dsp:spPr>
        <a:xfrm rot="10800000">
          <a:off x="696732" y="1668831"/>
          <a:ext cx="928977" cy="556277"/>
        </a:xfrm>
        <a:prstGeom prst="trapezoid">
          <a:avLst>
            <a:gd name="adj" fmla="val 41750"/>
          </a:avLst>
        </a:prstGeom>
        <a:solidFill>
          <a:schemeClr val="accent1">
            <a:shade val="80000"/>
            <a:hueOff val="-295931"/>
            <a:satOff val="0"/>
            <a:lumOff val="254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latin typeface="+mn-ea"/>
              <a:ea typeface="+mn-ea"/>
            </a:rPr>
            <a:t>意向</a:t>
          </a:r>
          <a:r>
            <a:rPr lang="en-US" altLang="zh-CN" sz="1000" kern="1200" dirty="0" err="1">
              <a:latin typeface="+mn-ea"/>
              <a:ea typeface="+mn-ea"/>
            </a:rPr>
            <a:t>uv</a:t>
          </a:r>
          <a:endParaRPr lang="zh-CN" altLang="en-US" sz="1000" kern="1200" dirty="0">
            <a:latin typeface="+mn-ea"/>
            <a:ea typeface="+mn-ea"/>
          </a:endParaRPr>
        </a:p>
      </dsp:txBody>
      <dsp:txXfrm rot="-10800000">
        <a:off x="859303" y="1668831"/>
        <a:ext cx="603835" cy="556277"/>
      </dsp:txXfrm>
    </dsp:sp>
    <dsp:sp modelId="{5E98E5F3-1B91-224E-8067-77C088C120B8}">
      <dsp:nvSpPr>
        <dsp:cNvPr id="0" name=""/>
        <dsp:cNvSpPr/>
      </dsp:nvSpPr>
      <dsp:spPr>
        <a:xfrm rot="10800000">
          <a:off x="928977" y="2225108"/>
          <a:ext cx="464488" cy="556277"/>
        </a:xfrm>
        <a:prstGeom prst="trapezoid">
          <a:avLst>
            <a:gd name="adj" fmla="val 50000"/>
          </a:avLst>
        </a:prstGeom>
        <a:solidFill>
          <a:schemeClr val="accent1">
            <a:shade val="80000"/>
            <a:hueOff val="-394575"/>
            <a:satOff val="0"/>
            <a:lumOff val="338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latin typeface="+mn-ea"/>
              <a:ea typeface="+mn-ea"/>
            </a:rPr>
            <a:t>支付</a:t>
          </a:r>
          <a:r>
            <a:rPr lang="en-US" altLang="zh-CN" sz="1000" kern="1200" dirty="0">
              <a:latin typeface="+mn-ea"/>
              <a:ea typeface="+mn-ea"/>
            </a:rPr>
            <a:t>UV</a:t>
          </a:r>
          <a:endParaRPr lang="zh-CN" altLang="en-US" sz="1000" kern="1200" dirty="0">
            <a:latin typeface="+mn-ea"/>
            <a:ea typeface="+mn-ea"/>
          </a:endParaRPr>
        </a:p>
      </dsp:txBody>
      <dsp:txXfrm rot="-10800000">
        <a:off x="928977" y="2225108"/>
        <a:ext cx="464488" cy="556277"/>
      </dsp:txXfrm>
    </dsp:sp>
  </dsp:spTree>
</dsp:drawing>
</file>

<file path=ppt/diagrams/layout1.xml><?xml version="1.0" encoding="utf-8"?>
<dgm:layoutDef xmlns:dgm="http://schemas.openxmlformats.org/drawingml/2006/diagram" xmlns:a="http://schemas.openxmlformats.org/drawingml/2006/main" uniqueId="urn:microsoft.com/office/officeart/2005/8/layout/pyramid3#1">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T"/>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T"/>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8693"/>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55838" y="1"/>
            <a:ext cx="2949787" cy="498693"/>
          </a:xfrm>
          <a:prstGeom prst="rect">
            <a:avLst/>
          </a:prstGeom>
        </p:spPr>
        <p:txBody>
          <a:bodyPr vert="horz" lIns="91440" tIns="45720" rIns="91440" bIns="45720" rtlCol="0"/>
          <a:lstStyle>
            <a:lvl1pPr algn="r">
              <a:defRPr sz="1200"/>
            </a:lvl1pPr>
          </a:lstStyle>
          <a:p>
            <a:fld id="{55BC94BE-2FCD-E14D-BE46-75045743C492}" type="datetime1">
              <a:rPr kumimoji="1" lang="zh-CN" altLang="en-US" smtClean="0"/>
              <a:t>2026/2/10</a:t>
            </a:fld>
            <a:endParaRPr kumimoji="1" lang="zh-CN" altLang="en-US"/>
          </a:p>
        </p:txBody>
      </p:sp>
      <p:sp>
        <p:nvSpPr>
          <p:cNvPr id="4" name="页脚占位符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2B85C933-74A5-4A4D-B3F1-D428FDB7A8F2}"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8693"/>
          </a:xfrm>
          <a:prstGeom prst="rect">
            <a:avLst/>
          </a:prstGeom>
        </p:spPr>
        <p:txBody>
          <a:bodyPr vert="horz" lIns="91440" tIns="45720" rIns="91440" bIns="45720" rtlCol="0"/>
          <a:lstStyle>
            <a:lvl1pPr algn="l">
              <a:defRPr sz="1200">
                <a:latin typeface="+mn-lt"/>
                <a:ea typeface="+mn-ea"/>
                <a:cs typeface="+mn-cs"/>
                <a:sym typeface="+mn-lt"/>
              </a:defRPr>
            </a:lvl1pPr>
          </a:lstStyle>
          <a:p>
            <a:endParaRPr kumimoji="1" lang="zh-CN" altLang="en-US"/>
          </a:p>
        </p:txBody>
      </p:sp>
      <p:sp>
        <p:nvSpPr>
          <p:cNvPr id="3" name="日期占位符 2"/>
          <p:cNvSpPr>
            <a:spLocks noGrp="1"/>
          </p:cNvSpPr>
          <p:nvPr>
            <p:ph type="dt" idx="1"/>
          </p:nvPr>
        </p:nvSpPr>
        <p:spPr>
          <a:xfrm>
            <a:off x="3855838" y="1"/>
            <a:ext cx="2949787" cy="498693"/>
          </a:xfrm>
          <a:prstGeom prst="rect">
            <a:avLst/>
          </a:prstGeom>
        </p:spPr>
        <p:txBody>
          <a:bodyPr vert="horz" lIns="91440" tIns="45720" rIns="91440" bIns="45720" rtlCol="0"/>
          <a:lstStyle>
            <a:lvl1pPr algn="r">
              <a:defRPr sz="1200">
                <a:latin typeface="+mn-lt"/>
                <a:ea typeface="+mn-ea"/>
                <a:cs typeface="+mn-cs"/>
                <a:sym typeface="+mn-lt"/>
              </a:defRPr>
            </a:lvl1pPr>
          </a:lstStyle>
          <a:p>
            <a:fld id="{DBD08E20-E2E4-BC43-9479-D71B4713CF91}" type="datetime1">
              <a:rPr kumimoji="1" lang="zh-CN" altLang="en-US" smtClean="0"/>
              <a:t>2026/2/10</a:t>
            </a:fld>
            <a:endParaRPr kumimoji="1" lang="zh-CN" altLang="en-US"/>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9" name="灯片编号占位符 8"/>
          <p:cNvSpPr>
            <a:spLocks noGrp="1"/>
          </p:cNvSpPr>
          <p:nvPr>
            <p:ph type="sldNum" sz="quarter" idx="5"/>
          </p:nvPr>
        </p:nvSpPr>
        <p:spPr>
          <a:xfrm>
            <a:off x="3856038" y="9440863"/>
            <a:ext cx="2949575" cy="498475"/>
          </a:xfrm>
          <a:prstGeom prst="rect">
            <a:avLst/>
          </a:prstGeom>
        </p:spPr>
        <p:txBody>
          <a:bodyPr vert="horz" lIns="91440" tIns="45720" rIns="91440" bIns="45720" rtlCol="0" anchor="b"/>
          <a:lstStyle>
            <a:lvl1pPr algn="r">
              <a:defRPr sz="1200"/>
            </a:lvl1pPr>
          </a:lstStyle>
          <a:p>
            <a:fld id="{AD210192-B253-41D5-A493-1466DCB1FD7D}" type="slidenum">
              <a:rPr lang="zh-CN" altLang="en-US" smtClean="0"/>
              <a:t>‹#›</a:t>
            </a:fld>
            <a:endParaRPr lang="zh-CN" altLang="en-US"/>
          </a:p>
        </p:txBody>
      </p:sp>
      <p:sp>
        <p:nvSpPr>
          <p:cNvPr id="10" name="页脚占位符 9"/>
          <p:cNvSpPr>
            <a:spLocks noGrp="1"/>
          </p:cNvSpPr>
          <p:nvPr>
            <p:ph type="ftr" sz="quarter" idx="4"/>
          </p:nvPr>
        </p:nvSpPr>
        <p:spPr>
          <a:xfrm>
            <a:off x="0" y="9440863"/>
            <a:ext cx="2949575" cy="498475"/>
          </a:xfrm>
          <a:prstGeom prst="rect">
            <a:avLst/>
          </a:prstGeom>
        </p:spPr>
        <p:txBody>
          <a:bodyPr vert="horz" lIns="91440" tIns="45720" rIns="91440" bIns="45720" rtlCol="0" anchor="b"/>
          <a:lstStyle>
            <a:lvl1pPr algn="l">
              <a:defRPr sz="1200"/>
            </a:lvl1pPr>
          </a:lstStyle>
          <a:p>
            <a:endParaRPr lang="zh-CN" altLang="en-US"/>
          </a:p>
        </p:txBody>
      </p:sp>
      <p:sp>
        <p:nvSpPr>
          <p:cNvPr id="11" name="备注占位符 10"/>
          <p:cNvSpPr>
            <a:spLocks noGrp="1"/>
          </p:cNvSpPr>
          <p:nvPr>
            <p:ph type="body" sz="quarter" idx="3"/>
          </p:nvPr>
        </p:nvSpPr>
        <p:spPr>
          <a:xfrm>
            <a:off x="681038" y="4783138"/>
            <a:ext cx="5445125" cy="391318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sym typeface="+mn-lt"/>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200" dirty="0">
                <a:solidFill>
                  <a:srgbClr val="000000"/>
                </a:solidFill>
                <a:effectLst/>
                <a:latin typeface="Calibri" panose="020F0502020204030204" pitchFamily="34" charset="0"/>
                <a:ea typeface="楷体" panose="02010609060101010101" pitchFamily="49" charset="-122"/>
                <a:cs typeface="+mn-cs"/>
              </a:rPr>
              <a:t>在部分条件明确和泛需求场景下，存在</a:t>
            </a:r>
            <a:r>
              <a:rPr lang="zh-CN" altLang="zh-CN" sz="1800" b="1" kern="1200" dirty="0">
                <a:solidFill>
                  <a:srgbClr val="000000"/>
                </a:solidFill>
                <a:effectLst/>
                <a:latin typeface="Calibri" panose="020F0502020204030204" pitchFamily="34" charset="0"/>
                <a:ea typeface="楷体" panose="02010609060101010101" pitchFamily="49" charset="-122"/>
                <a:cs typeface="+mn-cs"/>
              </a:rPr>
              <a:t>决策</a:t>
            </a:r>
            <a:r>
              <a:rPr lang="zh-CN" altLang="zh-CN" sz="1800" kern="1200" dirty="0">
                <a:solidFill>
                  <a:srgbClr val="000000"/>
                </a:solidFill>
                <a:effectLst/>
                <a:latin typeface="Calibri" panose="020F0502020204030204" pitchFamily="34" charset="0"/>
                <a:ea typeface="楷体" panose="02010609060101010101" pitchFamily="49" charset="-122"/>
                <a:cs typeface="+mn-cs"/>
              </a:rPr>
              <a:t>需求。榜单主要用户承接找店决策需求。</a:t>
            </a:r>
            <a:endParaRPr lang="zh-CN" altLang="zh-CN" sz="1800" dirty="0">
              <a:effectLst/>
            </a:endParaRPr>
          </a:p>
          <a:p>
            <a:endParaRPr kumimoji="1" lang="zh-CN" altLang="en-US" dirty="0"/>
          </a:p>
        </p:txBody>
      </p:sp>
      <p:sp>
        <p:nvSpPr>
          <p:cNvPr id="4" name="日期占位符 3"/>
          <p:cNvSpPr>
            <a:spLocks noGrp="1"/>
          </p:cNvSpPr>
          <p:nvPr>
            <p:ph type="dt" idx="1"/>
          </p:nvPr>
        </p:nvSpPr>
        <p:spPr/>
        <p:txBody>
          <a:bodyPr/>
          <a:lstStyle/>
          <a:p>
            <a:fld id="{DBD08E20-E2E4-BC43-9479-D71B4713CF91}" type="datetime1">
              <a:rPr kumimoji="1" lang="zh-CN" altLang="en-US" smtClean="0"/>
              <a:t>2026/2/10</a:t>
            </a:fld>
            <a:endParaRPr kumimoji="1" lang="zh-CN" altLang="en-US"/>
          </a:p>
        </p:txBody>
      </p:sp>
      <p:sp>
        <p:nvSpPr>
          <p:cNvPr id="5" name="灯片编号占位符 4"/>
          <p:cNvSpPr>
            <a:spLocks noGrp="1"/>
          </p:cNvSpPr>
          <p:nvPr>
            <p:ph type="sldNum" sz="quarter" idx="5"/>
          </p:nvPr>
        </p:nvSpPr>
        <p:spPr/>
        <p:txBody>
          <a:bodyPr/>
          <a:lstStyle/>
          <a:p>
            <a:fld id="{AD210192-B253-41D5-A493-1466DCB1FD7D}" type="slidenum">
              <a:rPr lang="zh-CN" altLang="en-US" smtClean="0"/>
              <a:t>1</a:t>
            </a:fld>
            <a:endParaRPr lang="zh-CN" altLang="en-US"/>
          </a:p>
        </p:txBody>
      </p:sp>
      <p:sp>
        <p:nvSpPr>
          <p:cNvPr id="6" name="页脚占位符 5"/>
          <p:cNvSpPr>
            <a:spLocks noGrp="1"/>
          </p:cNvSpPr>
          <p:nvPr>
            <p:ph type="ftr" sz="quarter" idx="4"/>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BD08E20-E2E4-BC43-9479-D71B4713CF91}" type="datetime1">
              <a:rPr kumimoji="1" lang="zh-CN" altLang="en-US" smtClean="0"/>
              <a:t>2026/2/10</a:t>
            </a:fld>
            <a:endParaRPr kumimoji="1" lang="zh-CN" altLang="en-US"/>
          </a:p>
        </p:txBody>
      </p:sp>
      <p:sp>
        <p:nvSpPr>
          <p:cNvPr id="5" name="灯片编号占位符 4"/>
          <p:cNvSpPr>
            <a:spLocks noGrp="1"/>
          </p:cNvSpPr>
          <p:nvPr>
            <p:ph type="sldNum" sz="quarter" idx="5"/>
          </p:nvPr>
        </p:nvSpPr>
        <p:spPr/>
        <p:txBody>
          <a:bodyPr/>
          <a:lstStyle/>
          <a:p>
            <a:fld id="{AD210192-B253-41D5-A493-1466DCB1FD7D}" type="slidenum">
              <a:rPr lang="zh-CN" altLang="en-US" smtClean="0"/>
              <a:t>2</a:t>
            </a:fld>
            <a:endParaRPr lang="zh-CN" altLang="en-US"/>
          </a:p>
        </p:txBody>
      </p:sp>
      <p:sp>
        <p:nvSpPr>
          <p:cNvPr id="6" name="页脚占位符 5"/>
          <p:cNvSpPr>
            <a:spLocks noGrp="1"/>
          </p:cNvSpPr>
          <p:nvPr>
            <p:ph type="ftr" sz="quarter" idx="4"/>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在到店决策上，一部分用户基于内在需求的场景驱动决策，一部分用户基于从众心理的数据驱动决策，颜色深的为重决策场景</a:t>
            </a:r>
            <a:endParaRPr lang="en-US" altLang="zh-CN" sz="1200" dirty="0"/>
          </a:p>
          <a:p>
            <a:endParaRPr lang="zh-CN" altLang="en-US"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fontAlgn="ctr" latinLnBrk="0" hangingPunct="1"/>
            <a:r>
              <a:rPr lang="zh-CN" altLang="en-US" sz="1800" dirty="0">
                <a:solidFill>
                  <a:srgbClr val="000000"/>
                </a:solidFill>
                <a:effectLst/>
              </a:rPr>
              <a:t>美团：供给、交易、履约服务、交易星评、明确意向流量</a:t>
            </a:r>
            <a:endParaRPr lang="zh-CN" altLang="en-US" dirty="0">
              <a:effectLst/>
            </a:endParaRPr>
          </a:p>
          <a:p>
            <a:pPr algn="l" eaLnBrk="1" fontAlgn="ctr" latinLnBrk="0" hangingPunct="1"/>
            <a:r>
              <a:rPr lang="zh-CN" altLang="en-US" sz="1800" dirty="0">
                <a:solidFill>
                  <a:srgbClr val="000000"/>
                </a:solidFill>
                <a:effectLst/>
              </a:rPr>
              <a:t>点评：星评、打卡</a:t>
            </a:r>
            <a:endParaRPr lang="zh-CN" altLang="en-US" dirty="0">
              <a:effectLst/>
            </a:endParaRPr>
          </a:p>
          <a:p>
            <a:pPr algn="l" eaLnBrk="1" fontAlgn="ctr" latinLnBrk="0" hangingPunct="1"/>
            <a:r>
              <a:rPr lang="en-US" altLang="zh-CN" sz="1800" dirty="0">
                <a:solidFill>
                  <a:srgbClr val="000000"/>
                </a:solidFill>
                <a:effectLst/>
              </a:rPr>
              <a:t>D+</a:t>
            </a:r>
            <a:r>
              <a:rPr lang="zh-CN" altLang="en-US" sz="1800" dirty="0">
                <a:solidFill>
                  <a:srgbClr val="000000"/>
                </a:solidFill>
                <a:effectLst/>
              </a:rPr>
              <a:t>：流量、内容互动、内容生态（明星</a:t>
            </a:r>
            <a:r>
              <a:rPr lang="en-US" altLang="zh-CN" sz="1800" dirty="0">
                <a:solidFill>
                  <a:srgbClr val="000000"/>
                </a:solidFill>
                <a:effectLst/>
              </a:rPr>
              <a:t>/</a:t>
            </a:r>
            <a:r>
              <a:rPr lang="zh-CN" altLang="en-US" sz="1800" dirty="0">
                <a:solidFill>
                  <a:srgbClr val="000000"/>
                </a:solidFill>
                <a:effectLst/>
              </a:rPr>
              <a:t>达人等）</a:t>
            </a:r>
            <a:endParaRPr lang="zh-CN" altLang="en-US" dirty="0">
              <a:effectLst/>
            </a:endParaRPr>
          </a:p>
          <a:p>
            <a:pPr algn="l" eaLnBrk="1" fontAlgn="ctr" latinLnBrk="0" hangingPunct="1"/>
            <a:r>
              <a:rPr lang="en-US" altLang="zh-CN" sz="1800" dirty="0">
                <a:solidFill>
                  <a:srgbClr val="000000"/>
                </a:solidFill>
                <a:effectLst/>
              </a:rPr>
              <a:t>B+</a:t>
            </a:r>
            <a:r>
              <a:rPr lang="zh-CN" altLang="en-US" sz="1800" dirty="0">
                <a:solidFill>
                  <a:srgbClr val="000000"/>
                </a:solidFill>
                <a:effectLst/>
              </a:rPr>
              <a:t>：流量、导航数据、淘系资产（芝麻信用等）</a:t>
            </a:r>
            <a:endParaRPr lang="en-US" altLang="zh-CN" sz="1800" dirty="0">
              <a:solidFill>
                <a:srgbClr val="000000"/>
              </a:solidFill>
              <a:effectLst/>
            </a:endParaRPr>
          </a:p>
          <a:p>
            <a:pPr algn="l" eaLnBrk="1" fontAlgn="ctr" latinLnBrk="0" hangingPunct="1"/>
            <a:endParaRPr lang="en-US" altLang="zh-CN" sz="1800" dirty="0">
              <a:solidFill>
                <a:srgbClr val="000000"/>
              </a:solidFill>
              <a:effectLst/>
            </a:endParaRPr>
          </a:p>
          <a:p>
            <a:r>
              <a:rPr lang="zh-CN" altLang="en-US" dirty="0"/>
              <a:t>美团</a:t>
            </a:r>
            <a:r>
              <a:rPr lang="en-US" altLang="zh-CN" dirty="0"/>
              <a:t>+</a:t>
            </a:r>
            <a:r>
              <a:rPr lang="zh-CN" altLang="en-US" dirty="0"/>
              <a:t>点评榜单主要的一共</a:t>
            </a:r>
            <a:r>
              <a:rPr lang="en-US" altLang="zh-CN" dirty="0"/>
              <a:t>17</a:t>
            </a:r>
            <a:r>
              <a:rPr lang="zh-CN" altLang="en-US" dirty="0"/>
              <a:t>个：</a:t>
            </a:r>
          </a:p>
          <a:p>
            <a:pPr>
              <a:buFont typeface="Arial" panose="020B0604020202020204" pitchFamily="34" charset="0"/>
              <a:buChar char="•"/>
            </a:pPr>
            <a:r>
              <a:rPr lang="zh-CN" altLang="en-US" dirty="0"/>
              <a:t>其中</a:t>
            </a:r>
            <a:r>
              <a:rPr lang="en-US" altLang="zh-CN" dirty="0"/>
              <a:t>2</a:t>
            </a:r>
            <a:r>
              <a:rPr lang="zh-CN" altLang="en-US" dirty="0"/>
              <a:t>个荣誉评选榜单（黑珍珠、必吃榜）</a:t>
            </a:r>
          </a:p>
          <a:p>
            <a:pPr>
              <a:buFont typeface="Arial" panose="020B0604020202020204" pitchFamily="34" charset="0"/>
              <a:buChar char="•"/>
            </a:pPr>
            <a:r>
              <a:rPr lang="en-US" altLang="zh-CN" dirty="0"/>
              <a:t>12</a:t>
            </a:r>
            <a:r>
              <a:rPr lang="zh-CN" altLang="en-US" dirty="0"/>
              <a:t>个指数榜单（美团：人气、好评、热订。点评：热门、好评、口味、环境、服务、销量、打卡人气、新店、奶茶新品</a:t>
            </a:r>
            <a:r>
              <a:rPr lang="en-US" altLang="zh-CN" dirty="0"/>
              <a:t>/</a:t>
            </a:r>
            <a:r>
              <a:rPr lang="zh-CN" altLang="en-US" dirty="0"/>
              <a:t>热门</a:t>
            </a:r>
            <a:r>
              <a:rPr lang="en-US" altLang="zh-CN" dirty="0"/>
              <a:t>/</a:t>
            </a:r>
            <a:r>
              <a:rPr lang="zh-CN" altLang="en-US" dirty="0"/>
              <a:t>好评榜）</a:t>
            </a:r>
          </a:p>
          <a:p>
            <a:pPr>
              <a:buFont typeface="Arial" panose="020B0604020202020204" pitchFamily="34" charset="0"/>
              <a:buChar char="•"/>
            </a:pPr>
            <a:r>
              <a:rPr lang="zh-CN" altLang="en-US" dirty="0"/>
              <a:t>主题类榜单，比较有特色的</a:t>
            </a:r>
            <a:r>
              <a:rPr lang="en-US" altLang="zh-CN" dirty="0"/>
              <a:t>3</a:t>
            </a:r>
            <a:r>
              <a:rPr lang="zh-CN" altLang="en-US" dirty="0"/>
              <a:t>个是满足异地旅游场景的本地人推荐、特色菜、市井烟火榜。其它小场景数量比较多，如点评侧城市生活指南有</a:t>
            </a:r>
            <a:r>
              <a:rPr lang="en-US" altLang="zh-CN" dirty="0"/>
              <a:t>102</a:t>
            </a:r>
            <a:r>
              <a:rPr lang="zh-CN" altLang="en-US" dirty="0"/>
              <a:t>个餐相关主题，美团的夜宵、发现主题等</a:t>
            </a:r>
          </a:p>
          <a:p>
            <a:pPr algn="l" eaLnBrk="1" fontAlgn="ctr" latinLnBrk="0" hangingPunct="1"/>
            <a:endParaRPr lang="zh-CN" altLang="en-US" dirty="0">
              <a:effectLst/>
            </a:endParaRPr>
          </a:p>
          <a:p>
            <a:endParaRPr lang="en-US" altLang="zh-CN" dirty="0">
              <a:effectLst/>
            </a:endParaRPr>
          </a:p>
          <a:p>
            <a:endParaRPr lang="en-US" altLang="zh-CN" dirty="0">
              <a:effectLst/>
            </a:endParaRPr>
          </a:p>
          <a:p>
            <a:r>
              <a:rPr lang="zh-CN" altLang="en-US" dirty="0">
                <a:effectLst/>
              </a:rPr>
              <a:t>当地特色菜即特色美食榜</a:t>
            </a:r>
            <a:endParaRPr lang="en-US" altLang="zh-CN" dirty="0">
              <a:effectLst/>
            </a:endParaRPr>
          </a:p>
          <a:p>
            <a:pPr marL="171450" indent="-171450">
              <a:buFont typeface="Arial" panose="020B0604020202020204" pitchFamily="34" charset="0"/>
              <a:buChar char="•"/>
            </a:pPr>
            <a:r>
              <a:rPr lang="zh-CN" altLang="en-US" sz="1200" b="1" dirty="0">
                <a:solidFill>
                  <a:schemeClr val="tx1"/>
                </a:solidFill>
                <a:latin typeface="+mn-ea"/>
                <a:cs typeface="MiSans Medium" panose="00000600000000000000" pitchFamily="2" charset="-122"/>
                <a:sym typeface="MiSans Bold" panose="00000800000000000000" pitchFamily="2" charset="-122"/>
              </a:rPr>
              <a:t>美团：黑珍珠、必吃榜、</a:t>
            </a:r>
            <a:r>
              <a:rPr lang="zh-CN" altLang="en-US" sz="1200" b="1" dirty="0">
                <a:solidFill>
                  <a:srgbClr val="FF0000"/>
                </a:solidFill>
                <a:latin typeface="+mn-ea"/>
                <a:cs typeface="MiSans Medium" panose="00000600000000000000" pitchFamily="2" charset="-122"/>
                <a:sym typeface="MiSans Bold" panose="00000800000000000000" pitchFamily="2" charset="-122"/>
              </a:rPr>
              <a:t>人气榜</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好评榜</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当地人推荐、特色菜、热订榜</a:t>
            </a:r>
            <a:endParaRPr lang="en-US" altLang="zh-CN" sz="1200" b="1" dirty="0">
              <a:solidFill>
                <a:srgbClr val="FF0000"/>
              </a:solidFill>
              <a:latin typeface="+mn-ea"/>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zh-CN" altLang="en-US" sz="1200" b="1" dirty="0">
                <a:solidFill>
                  <a:schemeClr val="tx1"/>
                </a:solidFill>
                <a:latin typeface="+mn-ea"/>
                <a:cs typeface="MiSans Medium" panose="00000600000000000000" pitchFamily="2" charset="-122"/>
                <a:sym typeface="MiSans Bold" panose="00000800000000000000" pitchFamily="2" charset="-122"/>
              </a:rPr>
              <a:t>点评：必吃榜、</a:t>
            </a:r>
            <a:r>
              <a:rPr lang="zh-CN" altLang="en-US" sz="1200" b="1" dirty="0">
                <a:solidFill>
                  <a:srgbClr val="FF0000"/>
                </a:solidFill>
                <a:latin typeface="+mn-ea"/>
                <a:cs typeface="MiSans Medium" panose="00000600000000000000" pitchFamily="2" charset="-122"/>
                <a:sym typeface="MiSans Bold" panose="00000800000000000000" pitchFamily="2" charset="-122"/>
              </a:rPr>
              <a:t>好评榜、</a:t>
            </a:r>
            <a:r>
              <a:rPr lang="zh-CN" altLang="en-US" sz="1200" b="1" dirty="0">
                <a:solidFill>
                  <a:schemeClr val="tx1"/>
                </a:solidFill>
                <a:latin typeface="+mn-ea"/>
                <a:cs typeface="MiSans Medium" panose="00000600000000000000" pitchFamily="2" charset="-122"/>
                <a:sym typeface="MiSans Bold" panose="00000800000000000000" pitchFamily="2" charset="-122"/>
              </a:rPr>
              <a:t>口味榜、环境榜、服务榜、</a:t>
            </a:r>
            <a:r>
              <a:rPr lang="zh-CN" altLang="en-US" sz="1200" b="1" dirty="0">
                <a:solidFill>
                  <a:srgbClr val="FF0000"/>
                </a:solidFill>
                <a:latin typeface="+mn-ea"/>
                <a:cs typeface="MiSans Medium" panose="00000600000000000000" pitchFamily="2" charset="-122"/>
                <a:sym typeface="MiSans Bold" panose="00000800000000000000" pitchFamily="2" charset="-122"/>
              </a:rPr>
              <a:t>销量榜、打卡人气榜</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市井烟火榜、老店榜、本地人早餐榜、当地人推荐、当地特色菜</a:t>
            </a:r>
            <a:r>
              <a:rPr lang="en-US" altLang="zh-CN" sz="1200" b="1" dirty="0">
                <a:solidFill>
                  <a:srgbClr val="FF0000"/>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特色美食榜</a:t>
            </a:r>
            <a:r>
              <a:rPr lang="en-US" altLang="zh-CN" sz="1200" b="1" dirty="0">
                <a:solidFill>
                  <a:srgbClr val="FF0000"/>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、新店榜单</a:t>
            </a:r>
            <a:endParaRPr lang="en-US" altLang="zh-CN" sz="1200" b="1" dirty="0">
              <a:solidFill>
                <a:srgbClr val="FF0000"/>
              </a:solidFill>
              <a:latin typeface="+mn-ea"/>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en-US" altLang="zh-CN" sz="1200" b="1" dirty="0">
                <a:solidFill>
                  <a:schemeClr val="tx1"/>
                </a:solidFill>
                <a:latin typeface="+mn-ea"/>
                <a:cs typeface="MiSans Medium" panose="00000600000000000000" pitchFamily="2" charset="-122"/>
                <a:sym typeface="MiSans Bold" panose="00000800000000000000" pitchFamily="2" charset="-122"/>
              </a:rPr>
              <a:t>D+</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热销</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人气</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好评</a:t>
            </a:r>
            <a:r>
              <a:rPr lang="zh-CN" altLang="en-US"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回头客（核销人数</a:t>
            </a:r>
            <a:r>
              <a:rPr lang="en-US" altLang="zh-CN" sz="1200" b="1" dirty="0">
                <a:solidFill>
                  <a:srgbClr val="FF0000"/>
                </a:solidFill>
                <a:latin typeface="+mn-ea"/>
                <a:cs typeface="MiSans Medium" panose="00000600000000000000" pitchFamily="2" charset="-122"/>
                <a:sym typeface="MiSans Bold" panose="00000800000000000000" pitchFamily="2" charset="-122"/>
              </a:rPr>
              <a:t>+</a:t>
            </a:r>
            <a:r>
              <a:rPr lang="zh-CN" altLang="en-US" sz="1200" b="1" dirty="0">
                <a:solidFill>
                  <a:srgbClr val="FF0000"/>
                </a:solidFill>
                <a:latin typeface="+mn-ea"/>
                <a:cs typeface="MiSans Medium" panose="00000600000000000000" pitchFamily="2" charset="-122"/>
                <a:sym typeface="MiSans Bold" panose="00000800000000000000" pitchFamily="2" charset="-122"/>
              </a:rPr>
              <a:t>复购）、收藏、点亮</a:t>
            </a:r>
            <a:r>
              <a:rPr lang="zh-CN" altLang="en-US" sz="1200" b="1" dirty="0">
                <a:solidFill>
                  <a:schemeClr val="tx1"/>
                </a:solidFill>
                <a:latin typeface="+mn-ea"/>
                <a:cs typeface="MiSans Medium" panose="00000600000000000000" pitchFamily="2" charset="-122"/>
                <a:sym typeface="MiSans Bold" panose="00000800000000000000" pitchFamily="2" charset="-122"/>
              </a:rPr>
              <a:t>、心动榜、甄选榜、</a:t>
            </a:r>
            <a:r>
              <a:rPr lang="zh-CN" altLang="en-US" sz="1200" b="1" dirty="0">
                <a:solidFill>
                  <a:srgbClr val="FF0000"/>
                </a:solidFill>
                <a:latin typeface="+mn-ea"/>
                <a:cs typeface="MiSans Medium" panose="00000600000000000000" pitchFamily="2" charset="-122"/>
                <a:sym typeface="MiSans Bold" panose="00000800000000000000" pitchFamily="2" charset="-122"/>
              </a:rPr>
              <a:t>烟火榜、本地人推荐</a:t>
            </a:r>
            <a:endParaRPr lang="en-US" altLang="zh-CN" sz="1200" b="1" dirty="0">
              <a:solidFill>
                <a:srgbClr val="FF0000"/>
              </a:solidFill>
              <a:latin typeface="+mn-ea"/>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en-US" altLang="zh-CN" sz="1200" b="1" dirty="0">
                <a:solidFill>
                  <a:schemeClr val="tx1"/>
                </a:solidFill>
                <a:latin typeface="+mn-ea"/>
                <a:cs typeface="MiSans Medium" panose="00000600000000000000" pitchFamily="2" charset="-122"/>
                <a:sym typeface="MiSans Bold" panose="00000800000000000000" pitchFamily="2" charset="-122"/>
              </a:rPr>
              <a:t>B+</a:t>
            </a:r>
            <a:r>
              <a:rPr lang="zh-CN" altLang="en-US" sz="1200" b="1" dirty="0">
                <a:solidFill>
                  <a:schemeClr val="tx1"/>
                </a:solidFill>
                <a:latin typeface="+mn-ea"/>
                <a:cs typeface="MiSans Medium" panose="00000600000000000000" pitchFamily="2" charset="-122"/>
                <a:sym typeface="MiSans Bold" panose="00000800000000000000" pitchFamily="2" charset="-122"/>
              </a:rPr>
              <a:t>：状元榜（甄选、必吃）、</a:t>
            </a:r>
            <a:r>
              <a:rPr lang="zh-CN" altLang="en-US" sz="1200" b="1" dirty="0">
                <a:solidFill>
                  <a:srgbClr val="FF0000"/>
                </a:solidFill>
                <a:latin typeface="+mn-ea"/>
                <a:cs typeface="MiSans Medium" panose="00000600000000000000" pitchFamily="2" charset="-122"/>
                <a:sym typeface="MiSans Bold" panose="00000800000000000000" pitchFamily="2" charset="-122"/>
              </a:rPr>
              <a:t>烟火小店</a:t>
            </a:r>
            <a:r>
              <a:rPr lang="zh-CN" altLang="en-US" sz="1200" b="1" dirty="0">
                <a:solidFill>
                  <a:schemeClr val="tx1"/>
                </a:solidFill>
                <a:latin typeface="+mn-ea"/>
                <a:cs typeface="MiSans Medium" panose="00000600000000000000" pitchFamily="2" charset="-122"/>
                <a:sym typeface="MiSans Bold" panose="00000800000000000000" pitchFamily="2" charset="-122"/>
              </a:rPr>
              <a:t>、轮胎磨损、</a:t>
            </a:r>
            <a:r>
              <a:rPr lang="zh-CN" altLang="en-US" sz="1200" b="1" dirty="0">
                <a:solidFill>
                  <a:srgbClr val="FF0000"/>
                </a:solidFill>
                <a:latin typeface="+mn-ea"/>
                <a:cs typeface="MiSans Medium" panose="00000600000000000000" pitchFamily="2" charset="-122"/>
                <a:sym typeface="MiSans Bold" panose="00000800000000000000" pitchFamily="2" charset="-122"/>
              </a:rPr>
              <a:t>本地人爱去</a:t>
            </a:r>
            <a:r>
              <a:rPr lang="zh-CN" altLang="en-US" sz="1200" b="1" dirty="0">
                <a:solidFill>
                  <a:schemeClr val="tx1"/>
                </a:solidFill>
                <a:latin typeface="+mn-ea"/>
                <a:cs typeface="MiSans Medium" panose="00000600000000000000" pitchFamily="2" charset="-122"/>
                <a:sym typeface="MiSans Bold" panose="00000800000000000000" pitchFamily="2" charset="-122"/>
              </a:rPr>
              <a:t>、饮品甜点</a:t>
            </a:r>
            <a:r>
              <a:rPr lang="en-US" altLang="zh-CN"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chemeClr val="tx1"/>
                </a:solidFill>
                <a:latin typeface="+mn-ea"/>
                <a:cs typeface="MiSans Medium" panose="00000600000000000000" pitchFamily="2" charset="-122"/>
                <a:sym typeface="MiSans Bold" panose="00000800000000000000" pitchFamily="2" charset="-122"/>
              </a:rPr>
              <a:t>下午茶、主题餐厅（约聚漂亮饭、音乐、观景、商务等）、热门、飙升。食仙（地方特色、城市热门、热门菜系、烹饪方式、自然馈赠、食在四级）</a:t>
            </a:r>
            <a:endParaRPr lang="en-US" altLang="zh-CN" sz="1200" b="1" dirty="0">
              <a:solidFill>
                <a:schemeClr val="tx1"/>
              </a:solidFill>
              <a:latin typeface="+mn-ea"/>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endParaRPr lang="en-US" altLang="zh-CN" sz="1200" b="1" dirty="0">
              <a:solidFill>
                <a:schemeClr val="tx1"/>
              </a:solidFill>
              <a:latin typeface="+mn-ea"/>
              <a:cs typeface="MiSans Medium" panose="00000600000000000000" pitchFamily="2" charset="-122"/>
              <a:sym typeface="MiSans Bold" panose="00000800000000000000" pitchFamily="2" charset="-122"/>
            </a:endParaRPr>
          </a:p>
          <a:p>
            <a:endParaRPr lang="zh-CN" altLang="en-US"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4</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800" dirty="0"/>
          </a:p>
        </p:txBody>
      </p:sp>
      <p:sp>
        <p:nvSpPr>
          <p:cNvPr id="4" name="日期占位符 3"/>
          <p:cNvSpPr>
            <a:spLocks noGrp="1"/>
          </p:cNvSpPr>
          <p:nvPr>
            <p:ph type="dt" idx="1"/>
          </p:nvPr>
        </p:nvSpPr>
        <p:spPr/>
        <p:txBody>
          <a:bodyPr/>
          <a:lstStyle/>
          <a:p>
            <a:fld id="{DBD08E20-E2E4-BC43-9479-D71B4713CF91}" type="datetime1">
              <a:rPr kumimoji="1" lang="zh-CN" altLang="en-US" smtClean="0"/>
              <a:t>2026/2/10</a:t>
            </a:fld>
            <a:endParaRPr kumimoji="1" lang="zh-CN" altLang="en-US"/>
          </a:p>
        </p:txBody>
      </p:sp>
      <p:sp>
        <p:nvSpPr>
          <p:cNvPr id="5" name="灯片编号占位符 4"/>
          <p:cNvSpPr>
            <a:spLocks noGrp="1"/>
          </p:cNvSpPr>
          <p:nvPr>
            <p:ph type="sldNum" sz="quarter" idx="5"/>
          </p:nvPr>
        </p:nvSpPr>
        <p:spPr/>
        <p:txBody>
          <a:bodyPr/>
          <a:lstStyle/>
          <a:p>
            <a:fld id="{AD210192-B253-41D5-A493-1466DCB1FD7D}" type="slidenum">
              <a:rPr lang="zh-CN" altLang="en-US" smtClean="0"/>
              <a:t>5</a:t>
            </a:fld>
            <a:endParaRPr lang="zh-CN" altLang="en-US"/>
          </a:p>
        </p:txBody>
      </p:sp>
      <p:sp>
        <p:nvSpPr>
          <p:cNvPr id="6" name="页脚占位符 5"/>
          <p:cNvSpPr>
            <a:spLocks noGrp="1"/>
          </p:cNvSpPr>
          <p:nvPr>
            <p:ph type="ftr" sz="quarter" idx="4"/>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根据席克定律（决策所需要的时间和可选选项的数量成正比，因此减少选项是提升用户体验最直接有效的方式之一），通过场景标签，大幅减少供给海量信息的相对数量。</a:t>
            </a:r>
            <a:endParaRPr lang="en-US" altLang="zh-CN" dirty="0">
              <a:effectLst/>
            </a:endParaRPr>
          </a:p>
          <a:p>
            <a:endParaRPr lang="en-US" altLang="zh-CN" dirty="0">
              <a:effectLst/>
            </a:endParaRPr>
          </a:p>
          <a:p>
            <a:pPr marL="0" algn="l" rtl="0" eaLnBrk="1" latinLnBrk="0" hangingPunct="1">
              <a:spcBef>
                <a:spcPts val="0"/>
              </a:spcBef>
              <a:spcAft>
                <a:spcPts val="0"/>
              </a:spcAft>
            </a:pPr>
            <a:r>
              <a:rPr lang="zh-CN" altLang="en-US" dirty="0">
                <a:effectLst/>
              </a:rPr>
              <a:t>高线：</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（店均</a:t>
            </a:r>
            <a:r>
              <a:rPr lang="en-US" altLang="zh-CN" sz="1800" kern="1200" dirty="0">
                <a:solidFill>
                  <a:srgbClr val="7F7F7F"/>
                </a:solidFill>
                <a:effectLst/>
                <a:latin typeface="楷体" panose="02010609060101010101" pitchFamily="49" charset="-122"/>
                <a:ea typeface="楷体" panose="02010609060101010101" pitchFamily="49" charset="-122"/>
                <a:cs typeface="+mn-cs"/>
              </a:rPr>
              <a:t>380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r>
              <a:rPr lang="en-US" altLang="zh-CN" sz="1800" kern="1200" dirty="0">
                <a:solidFill>
                  <a:srgbClr val="7F7F7F"/>
                </a:solidFill>
                <a:effectLst/>
                <a:latin typeface="楷体" panose="02010609060101010101" pitchFamily="49" charset="-122"/>
                <a:ea typeface="楷体" panose="02010609060101010101" pitchFamily="49" charset="-122"/>
                <a:cs typeface="+mn-cs"/>
              </a:rPr>
              <a:t>50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字</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图以上店均优质</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116</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endParaRPr lang="en-US" altLang="zh-CN" sz="1800" kern="1200" dirty="0">
              <a:solidFill>
                <a:srgbClr val="7F7F7F"/>
              </a:solidFill>
              <a:effectLst/>
              <a:latin typeface="楷体" panose="02010609060101010101" pitchFamily="49" charset="-122"/>
              <a:ea typeface="楷体" panose="02010609060101010101" pitchFamily="49" charset="-122"/>
              <a:cs typeface="+mn-cs"/>
            </a:endParaRPr>
          </a:p>
          <a:p>
            <a:pPr marL="0" algn="l" rtl="0" eaLnBrk="1" latinLnBrk="0" hangingPunct="1">
              <a:spcBef>
                <a:spcPts val="0"/>
              </a:spcBef>
              <a:spcAft>
                <a:spcPts val="0"/>
              </a:spcAft>
            </a:pPr>
            <a:r>
              <a:rPr lang="zh-CN" altLang="en-US" sz="1800" kern="1200" dirty="0">
                <a:solidFill>
                  <a:srgbClr val="7F7F7F"/>
                </a:solidFill>
                <a:effectLst/>
                <a:latin typeface="楷体" panose="02010609060101010101" pitchFamily="49" charset="-122"/>
                <a:ea typeface="楷体" panose="02010609060101010101" pitchFamily="49" charset="-122"/>
                <a:cs typeface="+mn-cs"/>
              </a:rPr>
              <a:t>中低线：</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（店均</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142</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r>
              <a:rPr lang="en-US" altLang="zh-CN" sz="1800" kern="1200" dirty="0">
                <a:solidFill>
                  <a:srgbClr val="7F7F7F"/>
                </a:solidFill>
                <a:effectLst/>
                <a:latin typeface="楷体" panose="02010609060101010101" pitchFamily="49" charset="-122"/>
                <a:ea typeface="楷体" panose="02010609060101010101" pitchFamily="49" charset="-122"/>
                <a:cs typeface="+mn-cs"/>
              </a:rPr>
              <a:t>50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字</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图店均优质</a:t>
            </a:r>
            <a:r>
              <a:rPr lang="en-US" altLang="zh-CN" sz="1800" kern="1200" dirty="0">
                <a:solidFill>
                  <a:srgbClr val="7F7F7F"/>
                </a:solidFill>
                <a:effectLst/>
                <a:latin typeface="楷体" panose="02010609060101010101" pitchFamily="49" charset="-122"/>
                <a:ea typeface="楷体" panose="02010609060101010101" pitchFamily="49" charset="-122"/>
                <a:cs typeface="+mn-cs"/>
              </a:rPr>
              <a:t>23</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endParaRPr lang="en-US" altLang="zh-CN" sz="1800" kern="1200" dirty="0">
              <a:solidFill>
                <a:srgbClr val="7F7F7F"/>
              </a:solidFill>
              <a:effectLst/>
              <a:latin typeface="楷体" panose="02010609060101010101" pitchFamily="49" charset="-122"/>
              <a:ea typeface="楷体" panose="02010609060101010101" pitchFamily="49" charset="-122"/>
              <a:cs typeface="+mn-cs"/>
            </a:endParaRPr>
          </a:p>
          <a:p>
            <a:pPr algn="l"/>
            <a:r>
              <a:rPr lang="zh-CN" altLang="en-US" dirty="0">
                <a:effectLst/>
              </a:rPr>
              <a:t>低线：</a:t>
            </a:r>
            <a:r>
              <a:rPr lang="zh-CN" altLang="en-US" sz="1200" dirty="0">
                <a:solidFill>
                  <a:schemeClr val="bg1">
                    <a:lumMod val="50000"/>
                  </a:schemeClr>
                </a:solidFill>
                <a:latin typeface="楷体" panose="02010609060101010101" pitchFamily="49" charset="-122"/>
                <a:ea typeface="楷体" panose="02010609060101010101" pitchFamily="49" charset="-122"/>
              </a:rPr>
              <a:t>（</a:t>
            </a:r>
            <a:r>
              <a:rPr lang="en-US" altLang="zh-CN" sz="1200" dirty="0">
                <a:solidFill>
                  <a:schemeClr val="bg1">
                    <a:lumMod val="50000"/>
                  </a:schemeClr>
                </a:solidFill>
                <a:latin typeface="楷体" panose="02010609060101010101" pitchFamily="49" charset="-122"/>
                <a:ea typeface="楷体" panose="02010609060101010101" pitchFamily="49" charset="-122"/>
              </a:rPr>
              <a:t>75%</a:t>
            </a:r>
            <a:r>
              <a:rPr lang="zh-CN" altLang="en-US" sz="1200" dirty="0">
                <a:solidFill>
                  <a:schemeClr val="bg1">
                    <a:lumMod val="50000"/>
                  </a:schemeClr>
                </a:solidFill>
                <a:latin typeface="楷体" panose="02010609060101010101" pitchFamily="49" charset="-122"/>
                <a:ea typeface="楷体" panose="02010609060101010101" pitchFamily="49" charset="-122"/>
              </a:rPr>
              <a:t>门店评价存量</a:t>
            </a:r>
            <a:r>
              <a:rPr lang="en-US" altLang="zh-CN" sz="1200" dirty="0">
                <a:solidFill>
                  <a:schemeClr val="bg1">
                    <a:lumMod val="50000"/>
                  </a:schemeClr>
                </a:solidFill>
                <a:latin typeface="楷体" panose="02010609060101010101" pitchFamily="49" charset="-122"/>
                <a:ea typeface="楷体" panose="02010609060101010101" pitchFamily="49" charset="-122"/>
              </a:rPr>
              <a:t>&lt;=5</a:t>
            </a:r>
            <a:r>
              <a:rPr lang="zh-CN" altLang="en-US" sz="1200" dirty="0">
                <a:solidFill>
                  <a:schemeClr val="bg1">
                    <a:lumMod val="50000"/>
                  </a:schemeClr>
                </a:solidFill>
                <a:latin typeface="楷体" panose="02010609060101010101" pitchFamily="49" charset="-122"/>
                <a:ea typeface="楷体" panose="02010609060101010101" pitchFamily="49" charset="-122"/>
              </a:rPr>
              <a:t>条店均</a:t>
            </a:r>
            <a:r>
              <a:rPr lang="en-US" altLang="zh-CN" sz="1200" dirty="0">
                <a:solidFill>
                  <a:schemeClr val="bg1">
                    <a:lumMod val="50000"/>
                  </a:schemeClr>
                </a:solidFill>
                <a:latin typeface="楷体" panose="02010609060101010101" pitchFamily="49" charset="-122"/>
                <a:ea typeface="楷体" panose="02010609060101010101" pitchFamily="49" charset="-122"/>
              </a:rPr>
              <a:t>58</a:t>
            </a:r>
            <a:r>
              <a:rPr lang="zh-CN" altLang="en-US" sz="1200" dirty="0">
                <a:solidFill>
                  <a:schemeClr val="bg1">
                    <a:lumMod val="50000"/>
                  </a:schemeClr>
                </a:solidFill>
                <a:latin typeface="楷体" panose="02010609060101010101" pitchFamily="49" charset="-122"/>
                <a:ea typeface="楷体" panose="02010609060101010101" pitchFamily="49" charset="-122"/>
              </a:rPr>
              <a:t>条，月新增</a:t>
            </a:r>
            <a:r>
              <a:rPr lang="en-US" altLang="zh-CN" sz="1200" dirty="0">
                <a:solidFill>
                  <a:schemeClr val="bg1">
                    <a:lumMod val="50000"/>
                  </a:schemeClr>
                </a:solidFill>
                <a:latin typeface="楷体" panose="02010609060101010101" pitchFamily="49" charset="-122"/>
                <a:ea typeface="楷体" panose="02010609060101010101" pitchFamily="49" charset="-122"/>
              </a:rPr>
              <a:t>1.3</a:t>
            </a:r>
            <a:r>
              <a:rPr lang="zh-CN" altLang="en-US" sz="1200" dirty="0">
                <a:solidFill>
                  <a:schemeClr val="bg1">
                    <a:lumMod val="50000"/>
                  </a:schemeClr>
                </a:solidFill>
                <a:latin typeface="楷体" panose="02010609060101010101" pitchFamily="49" charset="-122"/>
                <a:ea typeface="楷体" panose="02010609060101010101" pitchFamily="49" charset="-122"/>
              </a:rPr>
              <a:t>条）</a:t>
            </a:r>
            <a:endParaRPr lang="en-US" altLang="zh-CN" sz="1200" dirty="0">
              <a:solidFill>
                <a:schemeClr val="bg1">
                  <a:lumMod val="50000"/>
                </a:schemeClr>
              </a:solidFill>
              <a:latin typeface="楷体" panose="02010609060101010101" pitchFamily="49" charset="-122"/>
              <a:ea typeface="楷体" panose="02010609060101010101" pitchFamily="49" charset="-122"/>
            </a:endParaRPr>
          </a:p>
          <a:p>
            <a:pPr algn="l"/>
            <a:endParaRPr lang="en-US" altLang="zh-CN" sz="1200" dirty="0">
              <a:solidFill>
                <a:schemeClr val="bg1">
                  <a:lumMod val="50000"/>
                </a:schemeClr>
              </a:solidFill>
              <a:latin typeface="楷体" panose="02010609060101010101" pitchFamily="49" charset="-122"/>
              <a:ea typeface="楷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举措：通过本地人推荐、特色菜承接异地找店需求 。进展：提高本地人推荐、特色菜的城市覆盖，优先补充高爆发旅游城市的特色供给，以承接异地场景需求。</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举措：搭建约会、聚会主题场景榜单，通过接入点评主题榜数据，搭建美团算法自主挖掘能力。 进展：双侧接入方案已确定，预计和榜单改版同步上线。约会餐厅挖掘和成榜测算中。</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举措：基于亲子用户的行为及画像分析，结合门店标签、基础信息、经营数据、</a:t>
            </a:r>
            <a:r>
              <a:rPr lang="en-US" altLang="zh-CN" dirty="0"/>
              <a:t>AI</a:t>
            </a:r>
            <a:r>
              <a:rPr lang="zh-CN" altLang="en-US" dirty="0"/>
              <a:t>挖掘评论等自主挖掘搭建亲子榜单。预计春节后启动（优先约会榜挖掘）</a:t>
            </a:r>
          </a:p>
          <a:p>
            <a:pPr algn="l"/>
            <a:endParaRPr lang="zh-CN" altLang="en-US" sz="1200" dirty="0">
              <a:solidFill>
                <a:schemeClr val="bg1">
                  <a:lumMod val="50000"/>
                </a:schemeClr>
              </a:solidFill>
              <a:latin typeface="楷体" panose="02010609060101010101" pitchFamily="49" charset="-122"/>
              <a:ea typeface="楷体" panose="02010609060101010101" pitchFamily="49" charset="-122"/>
            </a:endParaRPr>
          </a:p>
          <a:p>
            <a:pPr marL="0" algn="l" rtl="0" eaLnBrk="1" latinLnBrk="0" hangingPunct="1">
              <a:spcBef>
                <a:spcPts val="0"/>
              </a:spcBef>
              <a:spcAft>
                <a:spcPts val="0"/>
              </a:spcAft>
            </a:pPr>
            <a:endParaRPr lang="zh-CN" altLang="zh-CN" dirty="0">
              <a:effectLst/>
            </a:endParaRPr>
          </a:p>
          <a:p>
            <a:endParaRPr lang="en-US" altLang="zh-CN"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6</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根据席克定律（决策所需要的时间和可选选项的数量成正比，因此减少选项是提升用户体验最直接有效的方式之一），通过场景标签，大幅减少供给海量信息的相对数量。</a:t>
            </a:r>
            <a:endParaRPr lang="en-US" altLang="zh-CN" dirty="0">
              <a:effectLst/>
            </a:endParaRPr>
          </a:p>
          <a:p>
            <a:endParaRPr lang="en-US" altLang="zh-CN" dirty="0">
              <a:effectLst/>
            </a:endParaRPr>
          </a:p>
          <a:p>
            <a:pPr marL="0" algn="l" rtl="0" eaLnBrk="1" latinLnBrk="0" hangingPunct="1">
              <a:spcBef>
                <a:spcPts val="0"/>
              </a:spcBef>
              <a:spcAft>
                <a:spcPts val="0"/>
              </a:spcAft>
            </a:pPr>
            <a:r>
              <a:rPr lang="zh-CN" altLang="en-US" dirty="0">
                <a:effectLst/>
              </a:rPr>
              <a:t>高线：</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（店均</a:t>
            </a:r>
            <a:r>
              <a:rPr lang="en-US" altLang="zh-CN" sz="1800" kern="1200" dirty="0">
                <a:solidFill>
                  <a:srgbClr val="7F7F7F"/>
                </a:solidFill>
                <a:effectLst/>
                <a:latin typeface="楷体" panose="02010609060101010101" pitchFamily="49" charset="-122"/>
                <a:ea typeface="楷体" panose="02010609060101010101" pitchFamily="49" charset="-122"/>
                <a:cs typeface="+mn-cs"/>
              </a:rPr>
              <a:t>380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r>
              <a:rPr lang="en-US" altLang="zh-CN" sz="1800" kern="1200" dirty="0">
                <a:solidFill>
                  <a:srgbClr val="7F7F7F"/>
                </a:solidFill>
                <a:effectLst/>
                <a:latin typeface="楷体" panose="02010609060101010101" pitchFamily="49" charset="-122"/>
                <a:ea typeface="楷体" panose="02010609060101010101" pitchFamily="49" charset="-122"/>
                <a:cs typeface="+mn-cs"/>
              </a:rPr>
              <a:t>50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字</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图以上店均优质</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116</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endParaRPr lang="en-US" altLang="zh-CN" sz="1800" kern="1200" dirty="0">
              <a:solidFill>
                <a:srgbClr val="7F7F7F"/>
              </a:solidFill>
              <a:effectLst/>
              <a:latin typeface="楷体" panose="02010609060101010101" pitchFamily="49" charset="-122"/>
              <a:ea typeface="楷体" panose="02010609060101010101" pitchFamily="49" charset="-122"/>
              <a:cs typeface="+mn-cs"/>
            </a:endParaRPr>
          </a:p>
          <a:p>
            <a:pPr marL="0" algn="l" rtl="0" eaLnBrk="1" latinLnBrk="0" hangingPunct="1">
              <a:spcBef>
                <a:spcPts val="0"/>
              </a:spcBef>
              <a:spcAft>
                <a:spcPts val="0"/>
              </a:spcAft>
            </a:pPr>
            <a:r>
              <a:rPr lang="zh-CN" altLang="en-US" sz="1800" kern="1200" dirty="0">
                <a:solidFill>
                  <a:srgbClr val="7F7F7F"/>
                </a:solidFill>
                <a:effectLst/>
                <a:latin typeface="楷体" panose="02010609060101010101" pitchFamily="49" charset="-122"/>
                <a:ea typeface="楷体" panose="02010609060101010101" pitchFamily="49" charset="-122"/>
                <a:cs typeface="+mn-cs"/>
              </a:rPr>
              <a:t>中低线：</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（店均</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142</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r>
              <a:rPr lang="en-US" altLang="zh-CN" sz="1800" kern="1200" dirty="0">
                <a:solidFill>
                  <a:srgbClr val="7F7F7F"/>
                </a:solidFill>
                <a:effectLst/>
                <a:latin typeface="楷体" panose="02010609060101010101" pitchFamily="49" charset="-122"/>
                <a:ea typeface="楷体" panose="02010609060101010101" pitchFamily="49" charset="-122"/>
                <a:cs typeface="+mn-cs"/>
              </a:rPr>
              <a:t>50</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字</a:t>
            </a:r>
            <a:r>
              <a:rPr lang="en-US" altLang="zh-CN" sz="1800" kern="1200" dirty="0">
                <a:solidFill>
                  <a:srgbClr val="7F7F7F"/>
                </a:solidFill>
                <a:effectLst/>
                <a:latin typeface="楷体" panose="02010609060101010101" pitchFamily="49" charset="-122"/>
                <a:ea typeface="楷体" panose="02010609060101010101" pitchFamily="49" charset="-122"/>
                <a:cs typeface="+mn-cs"/>
              </a:rPr>
              <a:t>+1</a:t>
            </a:r>
            <a:r>
              <a:rPr lang="zh-CN" altLang="zh-CN" sz="1800" kern="1200" dirty="0">
                <a:solidFill>
                  <a:srgbClr val="7F7F7F"/>
                </a:solidFill>
                <a:effectLst/>
                <a:latin typeface="楷体" panose="02010609060101010101" pitchFamily="49" charset="-122"/>
                <a:ea typeface="楷体" panose="02010609060101010101" pitchFamily="49" charset="-122"/>
                <a:cs typeface="+mn-cs"/>
              </a:rPr>
              <a:t>图店均优质</a:t>
            </a:r>
            <a:r>
              <a:rPr lang="en-US" altLang="zh-CN" sz="1800" kern="1200" dirty="0">
                <a:solidFill>
                  <a:srgbClr val="7F7F7F"/>
                </a:solidFill>
                <a:effectLst/>
                <a:latin typeface="楷体" panose="02010609060101010101" pitchFamily="49" charset="-122"/>
                <a:ea typeface="楷体" panose="02010609060101010101" pitchFamily="49" charset="-122"/>
                <a:cs typeface="+mn-cs"/>
              </a:rPr>
              <a:t>23</a:t>
            </a:r>
            <a:r>
              <a:rPr lang="zh-CN" altLang="zh-CN" sz="1800" kern="1200" dirty="0">
                <a:solidFill>
                  <a:srgbClr val="7F7F7F"/>
                </a:solidFill>
                <a:effectLst/>
                <a:latin typeface="楷体" panose="02010609060101010101" pitchFamily="49" charset="-122"/>
                <a:ea typeface="楷体" panose="02010609060101010101" pitchFamily="49" charset="-122"/>
                <a:cs typeface="+mn-cs"/>
              </a:rPr>
              <a:t>条）</a:t>
            </a:r>
            <a:endParaRPr lang="en-US" altLang="zh-CN" sz="1800" kern="1200" dirty="0">
              <a:solidFill>
                <a:srgbClr val="7F7F7F"/>
              </a:solidFill>
              <a:effectLst/>
              <a:latin typeface="楷体" panose="02010609060101010101" pitchFamily="49" charset="-122"/>
              <a:ea typeface="楷体" panose="02010609060101010101" pitchFamily="49" charset="-122"/>
              <a:cs typeface="+mn-cs"/>
            </a:endParaRPr>
          </a:p>
          <a:p>
            <a:pPr algn="l"/>
            <a:r>
              <a:rPr lang="zh-CN" altLang="en-US" dirty="0">
                <a:effectLst/>
              </a:rPr>
              <a:t>低线：</a:t>
            </a:r>
            <a:r>
              <a:rPr lang="zh-CN" altLang="en-US" sz="1200" dirty="0">
                <a:solidFill>
                  <a:schemeClr val="bg1">
                    <a:lumMod val="50000"/>
                  </a:schemeClr>
                </a:solidFill>
                <a:latin typeface="楷体" panose="02010609060101010101" pitchFamily="49" charset="-122"/>
                <a:ea typeface="楷体" panose="02010609060101010101" pitchFamily="49" charset="-122"/>
              </a:rPr>
              <a:t>（</a:t>
            </a:r>
            <a:r>
              <a:rPr lang="en-US" altLang="zh-CN" sz="1200" dirty="0">
                <a:solidFill>
                  <a:schemeClr val="bg1">
                    <a:lumMod val="50000"/>
                  </a:schemeClr>
                </a:solidFill>
                <a:latin typeface="楷体" panose="02010609060101010101" pitchFamily="49" charset="-122"/>
                <a:ea typeface="楷体" panose="02010609060101010101" pitchFamily="49" charset="-122"/>
              </a:rPr>
              <a:t>75%</a:t>
            </a:r>
            <a:r>
              <a:rPr lang="zh-CN" altLang="en-US" sz="1200" dirty="0">
                <a:solidFill>
                  <a:schemeClr val="bg1">
                    <a:lumMod val="50000"/>
                  </a:schemeClr>
                </a:solidFill>
                <a:latin typeface="楷体" panose="02010609060101010101" pitchFamily="49" charset="-122"/>
                <a:ea typeface="楷体" panose="02010609060101010101" pitchFamily="49" charset="-122"/>
              </a:rPr>
              <a:t>门店评价存量</a:t>
            </a:r>
            <a:r>
              <a:rPr lang="en-US" altLang="zh-CN" sz="1200" dirty="0">
                <a:solidFill>
                  <a:schemeClr val="bg1">
                    <a:lumMod val="50000"/>
                  </a:schemeClr>
                </a:solidFill>
                <a:latin typeface="楷体" panose="02010609060101010101" pitchFamily="49" charset="-122"/>
                <a:ea typeface="楷体" panose="02010609060101010101" pitchFamily="49" charset="-122"/>
              </a:rPr>
              <a:t>&lt;=5</a:t>
            </a:r>
            <a:r>
              <a:rPr lang="zh-CN" altLang="en-US" sz="1200" dirty="0">
                <a:solidFill>
                  <a:schemeClr val="bg1">
                    <a:lumMod val="50000"/>
                  </a:schemeClr>
                </a:solidFill>
                <a:latin typeface="楷体" panose="02010609060101010101" pitchFamily="49" charset="-122"/>
                <a:ea typeface="楷体" panose="02010609060101010101" pitchFamily="49" charset="-122"/>
              </a:rPr>
              <a:t>条店均</a:t>
            </a:r>
            <a:r>
              <a:rPr lang="en-US" altLang="zh-CN" sz="1200" dirty="0">
                <a:solidFill>
                  <a:schemeClr val="bg1">
                    <a:lumMod val="50000"/>
                  </a:schemeClr>
                </a:solidFill>
                <a:latin typeface="楷体" panose="02010609060101010101" pitchFamily="49" charset="-122"/>
                <a:ea typeface="楷体" panose="02010609060101010101" pitchFamily="49" charset="-122"/>
              </a:rPr>
              <a:t>58</a:t>
            </a:r>
            <a:r>
              <a:rPr lang="zh-CN" altLang="en-US" sz="1200" dirty="0">
                <a:solidFill>
                  <a:schemeClr val="bg1">
                    <a:lumMod val="50000"/>
                  </a:schemeClr>
                </a:solidFill>
                <a:latin typeface="楷体" panose="02010609060101010101" pitchFamily="49" charset="-122"/>
                <a:ea typeface="楷体" panose="02010609060101010101" pitchFamily="49" charset="-122"/>
              </a:rPr>
              <a:t>条，月新增</a:t>
            </a:r>
            <a:r>
              <a:rPr lang="en-US" altLang="zh-CN" sz="1200" dirty="0">
                <a:solidFill>
                  <a:schemeClr val="bg1">
                    <a:lumMod val="50000"/>
                  </a:schemeClr>
                </a:solidFill>
                <a:latin typeface="楷体" panose="02010609060101010101" pitchFamily="49" charset="-122"/>
                <a:ea typeface="楷体" panose="02010609060101010101" pitchFamily="49" charset="-122"/>
              </a:rPr>
              <a:t>1.3</a:t>
            </a:r>
            <a:r>
              <a:rPr lang="zh-CN" altLang="en-US" sz="1200" dirty="0">
                <a:solidFill>
                  <a:schemeClr val="bg1">
                    <a:lumMod val="50000"/>
                  </a:schemeClr>
                </a:solidFill>
                <a:latin typeface="楷体" panose="02010609060101010101" pitchFamily="49" charset="-122"/>
                <a:ea typeface="楷体" panose="02010609060101010101" pitchFamily="49" charset="-122"/>
              </a:rPr>
              <a:t>条）</a:t>
            </a:r>
            <a:endParaRPr lang="en-US" altLang="zh-CN" sz="1200" dirty="0">
              <a:solidFill>
                <a:schemeClr val="bg1">
                  <a:lumMod val="50000"/>
                </a:schemeClr>
              </a:solidFill>
              <a:latin typeface="楷体" panose="02010609060101010101" pitchFamily="49" charset="-122"/>
              <a:ea typeface="楷体" panose="02010609060101010101" pitchFamily="49" charset="-122"/>
            </a:endParaRPr>
          </a:p>
          <a:p>
            <a:pPr algn="l"/>
            <a:endParaRPr lang="en-US" altLang="zh-CN" sz="1200" dirty="0">
              <a:solidFill>
                <a:schemeClr val="bg1">
                  <a:lumMod val="50000"/>
                </a:schemeClr>
              </a:solidFill>
              <a:latin typeface="楷体" panose="02010609060101010101" pitchFamily="49" charset="-122"/>
              <a:ea typeface="楷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举措：通过本地人推荐、特色菜承接异地找店需求 。进展：提高本地人推荐、特色菜的城市覆盖，优先补充高爆发旅游城市的特色供给，以承接异地场景需求。</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举措：搭建约会、聚会主题场景榜单，通过接入点评主题榜数据，搭建美团算法自主挖掘能力。 进展：双侧接入方案已确定，预计和榜单改版同步上线。约会餐厅挖掘和成榜测算中。</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举措：基于亲子用户的行为及画像分析，结合门店标签、基础信息、经营数据、</a:t>
            </a:r>
            <a:r>
              <a:rPr lang="en-US" altLang="zh-CN" dirty="0"/>
              <a:t>AI</a:t>
            </a:r>
            <a:r>
              <a:rPr lang="zh-CN" altLang="en-US" dirty="0"/>
              <a:t>挖掘评论等自主挖掘搭建亲子榜单。预计春节后启动（优先约会榜挖掘）</a:t>
            </a:r>
          </a:p>
          <a:p>
            <a:pPr algn="l"/>
            <a:endParaRPr lang="zh-CN" altLang="en-US" sz="1200" dirty="0">
              <a:solidFill>
                <a:schemeClr val="bg1">
                  <a:lumMod val="50000"/>
                </a:schemeClr>
              </a:solidFill>
              <a:latin typeface="楷体" panose="02010609060101010101" pitchFamily="49" charset="-122"/>
              <a:ea typeface="楷体" panose="02010609060101010101" pitchFamily="49" charset="-122"/>
            </a:endParaRPr>
          </a:p>
          <a:p>
            <a:pPr marL="0" algn="l" rtl="0" eaLnBrk="1" latinLnBrk="0" hangingPunct="1">
              <a:spcBef>
                <a:spcPts val="0"/>
              </a:spcBef>
              <a:spcAft>
                <a:spcPts val="0"/>
              </a:spcAft>
            </a:pPr>
            <a:endParaRPr lang="zh-CN" altLang="zh-CN" dirty="0">
              <a:effectLst/>
            </a:endParaRPr>
          </a:p>
          <a:p>
            <a:endParaRPr lang="en-US" altLang="zh-CN"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7</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8</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DBD08E20-E2E4-BC43-9479-D71B4713CF91}" type="datetime1">
              <a:rPr kumimoji="1" lang="zh-CN" altLang="en-US" smtClean="0"/>
              <a:t>2026/2/10</a:t>
            </a:fld>
            <a:endParaRPr kumimoji="1" lang="zh-CN" altLang="en-US"/>
          </a:p>
        </p:txBody>
      </p:sp>
      <p:sp>
        <p:nvSpPr>
          <p:cNvPr id="5" name="灯片编号占位符 4"/>
          <p:cNvSpPr>
            <a:spLocks noGrp="1"/>
          </p:cNvSpPr>
          <p:nvPr>
            <p:ph type="sldNum" sz="quarter" idx="5"/>
          </p:nvPr>
        </p:nvSpPr>
        <p:spPr/>
        <p:txBody>
          <a:bodyPr/>
          <a:lstStyle/>
          <a:p>
            <a:fld id="{AD210192-B253-41D5-A493-1466DCB1FD7D}" type="slidenum">
              <a:rPr lang="zh-CN" altLang="en-US" smtClean="0"/>
              <a:t>9</a:t>
            </a:fld>
            <a:endParaRPr lang="zh-CN" altLang="en-US"/>
          </a:p>
        </p:txBody>
      </p:sp>
      <p:sp>
        <p:nvSpPr>
          <p:cNvPr id="6" name="页脚占位符 5"/>
          <p:cNvSpPr>
            <a:spLocks noGrp="1"/>
          </p:cNvSpPr>
          <p:nvPr>
            <p:ph type="ftr" sz="quarter" idx="4"/>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FF0000"/>
              </a:solidFill>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10</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FF0000"/>
              </a:solidFill>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11</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effectLst/>
                <a:latin typeface="+mn-ea"/>
              </a:rPr>
              <a:t>点击率：其他</a:t>
            </a:r>
            <a:r>
              <a:rPr lang="en-US" altLang="zh-CN" sz="1200" dirty="0" err="1">
                <a:effectLst/>
                <a:latin typeface="+mn-ea"/>
              </a:rPr>
              <a:t>sug</a:t>
            </a:r>
            <a:r>
              <a:rPr lang="zh-CN" altLang="en-US" sz="1200" dirty="0">
                <a:effectLst/>
                <a:latin typeface="+mn-ea"/>
              </a:rPr>
              <a:t>中，若卡控日均曝光</a:t>
            </a:r>
            <a:r>
              <a:rPr lang="en-US" altLang="zh-CN" sz="1200" dirty="0">
                <a:effectLst/>
                <a:latin typeface="+mn-ea"/>
              </a:rPr>
              <a:t>UV</a:t>
            </a:r>
            <a:r>
              <a:rPr lang="zh-CN" altLang="en-US" sz="1200" dirty="0">
                <a:effectLst/>
                <a:latin typeface="+mn-ea"/>
              </a:rPr>
              <a:t>量级高于</a:t>
            </a:r>
            <a:r>
              <a:rPr lang="en-US" altLang="zh-CN" sz="1200" dirty="0">
                <a:effectLst/>
                <a:latin typeface="+mn-ea"/>
              </a:rPr>
              <a:t>1w</a:t>
            </a:r>
            <a:r>
              <a:rPr lang="zh-CN" altLang="en-US" sz="1200" dirty="0">
                <a:effectLst/>
                <a:latin typeface="+mn-ea"/>
              </a:rPr>
              <a:t>，则高于其他投放</a:t>
            </a:r>
            <a:r>
              <a:rPr lang="en-US" altLang="zh-CN" sz="1200" dirty="0">
                <a:effectLst/>
                <a:latin typeface="+mn-ea"/>
              </a:rPr>
              <a:t>3.32pp</a:t>
            </a:r>
            <a:r>
              <a:rPr lang="zh-CN" altLang="en-US" sz="1200" dirty="0">
                <a:effectLst/>
                <a:latin typeface="+mn-ea"/>
              </a:rPr>
              <a:t>（可比的情况下，更好）</a:t>
            </a:r>
            <a:endParaRPr lang="en-US" altLang="zh-CN" sz="1200" dirty="0">
              <a:effectLst/>
              <a:latin typeface="+mn-ea"/>
            </a:endParaRPr>
          </a:p>
          <a:p>
            <a:endParaRPr lang="en-US" altLang="zh-CN" sz="1200" dirty="0">
              <a:effectLst/>
              <a:latin typeface="+mn-ea"/>
            </a:endParaRPr>
          </a:p>
          <a:p>
            <a:endParaRPr lang="en-US" altLang="zh-CN" sz="1200" dirty="0">
              <a:effectLst/>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effectLst/>
                <a:latin typeface="+mn-ea"/>
              </a:rPr>
              <a:t>榜单落地页</a:t>
            </a:r>
            <a:r>
              <a:rPr lang="en-US" altLang="zh-CN" sz="1200" b="1" dirty="0">
                <a:effectLst/>
                <a:latin typeface="+mn-ea"/>
              </a:rPr>
              <a:t>UV</a:t>
            </a:r>
            <a:r>
              <a:rPr lang="zh-CN" altLang="en-US" sz="1200" b="1" dirty="0">
                <a:effectLst/>
                <a:latin typeface="+mn-ea"/>
              </a:rPr>
              <a:t>：</a:t>
            </a:r>
            <a:r>
              <a:rPr lang="en-US" altLang="zh-CN" b="1" dirty="0"/>
              <a:t>603,860</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mn-ea"/>
              </a:rPr>
              <a:t>意向</a:t>
            </a:r>
            <a:r>
              <a:rPr lang="en-US" altLang="zh-CN" sz="1200" b="1" dirty="0">
                <a:solidFill>
                  <a:schemeClr val="tx1"/>
                </a:solidFill>
                <a:latin typeface="+mn-ea"/>
              </a:rPr>
              <a:t>UV</a:t>
            </a:r>
            <a:r>
              <a:rPr lang="zh-CN" altLang="en-US" sz="1200" b="1" dirty="0">
                <a:solidFill>
                  <a:schemeClr val="tx1"/>
                </a:solidFill>
                <a:latin typeface="+mn-ea"/>
              </a:rPr>
              <a:t>：绝对值</a:t>
            </a:r>
            <a:r>
              <a:rPr lang="en-US" altLang="zh-CN" sz="1200" b="1" dirty="0">
                <a:solidFill>
                  <a:schemeClr val="tx1"/>
                </a:solidFill>
                <a:latin typeface="+mn-ea"/>
              </a:rPr>
              <a:t>248,270</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支付：</a:t>
            </a:r>
            <a:r>
              <a:rPr lang="en-US" altLang="zh-CN" dirty="0"/>
              <a:t>17,146</a:t>
            </a:r>
            <a:r>
              <a:rPr lang="zh-CN" altLang="en-US" dirty="0"/>
              <a:t>，支付订单量：</a:t>
            </a:r>
            <a:r>
              <a:rPr lang="en-US" altLang="zh-CN" dirty="0"/>
              <a:t>19,733</a:t>
            </a:r>
            <a:r>
              <a:rPr lang="zh-CN" altLang="en-US" dirty="0"/>
              <a:t>，支付</a:t>
            </a:r>
            <a:r>
              <a:rPr lang="en-US" altLang="zh-CN" dirty="0"/>
              <a:t>GTV</a:t>
            </a:r>
            <a:r>
              <a:rPr lang="zh-CN" altLang="en-US" dirty="0"/>
              <a:t>：绝对值</a:t>
            </a:r>
            <a:r>
              <a:rPr lang="en-US" altLang="zh-CN" dirty="0"/>
              <a:t>2,205,38</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lang="zh-CN" altLang="en-US" sz="1200" dirty="0"/>
              <a:t>其他投放</a:t>
            </a:r>
            <a:r>
              <a:rPr lang="en-US" altLang="zh-CN" sz="1200" dirty="0" err="1"/>
              <a:t>sug</a:t>
            </a:r>
            <a:r>
              <a:rPr lang="zh-CN" altLang="en-US" sz="1200" dirty="0"/>
              <a:t>如：</a:t>
            </a:r>
            <a:endParaRPr lang="en-US" altLang="zh-CN" sz="1200" dirty="0"/>
          </a:p>
          <a:p>
            <a:r>
              <a:rPr lang="zh-CN" altLang="en-US" sz="1200" dirty="0"/>
              <a:t>夜宵不打烊</a:t>
            </a:r>
            <a:endParaRPr lang="en-US" altLang="zh-CN" sz="1200" dirty="0"/>
          </a:p>
          <a:p>
            <a:r>
              <a:rPr lang="zh-CN" altLang="en-US" sz="1200" dirty="0"/>
              <a:t>快餐情报局</a:t>
            </a:r>
          </a:p>
          <a:p>
            <a:r>
              <a:rPr lang="zh-CN" altLang="en-US" sz="1200" dirty="0"/>
              <a:t>深夜美食市集</a:t>
            </a:r>
            <a:endParaRPr lang="en-US" altLang="zh-CN" sz="1200" dirty="0"/>
          </a:p>
          <a:p>
            <a:r>
              <a:rPr lang="zh-CN" altLang="en-US" sz="1200" dirty="0"/>
              <a:t>喝羊汤 抢</a:t>
            </a:r>
            <a:r>
              <a:rPr lang="en-US" altLang="zh-CN" sz="1200" dirty="0"/>
              <a:t>18-18</a:t>
            </a:r>
            <a:r>
              <a:rPr lang="zh-CN" altLang="en-US" sz="1200" dirty="0"/>
              <a:t>神券</a:t>
            </a:r>
          </a:p>
          <a:p>
            <a:r>
              <a:rPr lang="zh-CN" altLang="en-US" sz="1200" dirty="0"/>
              <a:t>自助餐</a:t>
            </a:r>
            <a:r>
              <a:rPr lang="en-US" altLang="zh-CN" sz="1200" dirty="0"/>
              <a:t>20</a:t>
            </a:r>
            <a:r>
              <a:rPr lang="zh-CN" altLang="en-US" sz="1200" dirty="0"/>
              <a:t>元券</a:t>
            </a:r>
          </a:p>
          <a:p>
            <a:r>
              <a:rPr lang="zh-CN" altLang="en-US" sz="1200" dirty="0"/>
              <a:t>奶茶</a:t>
            </a:r>
            <a:r>
              <a:rPr lang="en-US" altLang="zh-CN" sz="1200" dirty="0"/>
              <a:t>20</a:t>
            </a:r>
            <a:r>
              <a:rPr lang="zh-CN" altLang="en-US" sz="1200" dirty="0"/>
              <a:t>元券</a:t>
            </a:r>
          </a:p>
          <a:p>
            <a:r>
              <a:rPr lang="zh-CN" altLang="en-US" sz="1200" dirty="0"/>
              <a:t>烧烤</a:t>
            </a:r>
            <a:r>
              <a:rPr lang="en-US" altLang="zh-CN" sz="1200" dirty="0"/>
              <a:t>20</a:t>
            </a:r>
            <a:r>
              <a:rPr lang="zh-CN" altLang="en-US" sz="1200" dirty="0"/>
              <a:t>元券</a:t>
            </a:r>
          </a:p>
          <a:p>
            <a:r>
              <a:rPr lang="zh-CN" altLang="en-US" sz="1200" dirty="0"/>
              <a:t>烤肉</a:t>
            </a:r>
            <a:r>
              <a:rPr lang="en-US" altLang="zh-CN" sz="1200" dirty="0"/>
              <a:t>20</a:t>
            </a:r>
            <a:r>
              <a:rPr lang="zh-CN" altLang="en-US" sz="1200" dirty="0"/>
              <a:t>元券</a:t>
            </a:r>
          </a:p>
          <a:p>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日期占位符 3"/>
          <p:cNvSpPr>
            <a:spLocks noGrp="1"/>
          </p:cNvSpPr>
          <p:nvPr>
            <p:ph type="dt" idx="1"/>
          </p:nvPr>
        </p:nvSpPr>
        <p:spPr/>
        <p:txBody>
          <a:bodyPr/>
          <a:lstStyle/>
          <a:p>
            <a:fld id="{DBD08E20-E2E4-BC43-9479-D71B4713CF91}" type="datetime1">
              <a:rPr kumimoji="1" lang="zh-CN" altLang="en-US" smtClean="0"/>
              <a:t>2026/2/10</a:t>
            </a:fld>
            <a:endParaRPr kumimoji="1" lang="zh-CN" altLang="en-US"/>
          </a:p>
        </p:txBody>
      </p:sp>
      <p:sp>
        <p:nvSpPr>
          <p:cNvPr id="5" name="灯片编号占位符 4"/>
          <p:cNvSpPr>
            <a:spLocks noGrp="1"/>
          </p:cNvSpPr>
          <p:nvPr>
            <p:ph type="sldNum" sz="quarter" idx="5"/>
          </p:nvPr>
        </p:nvSpPr>
        <p:spPr/>
        <p:txBody>
          <a:bodyPr/>
          <a:lstStyle/>
          <a:p>
            <a:fld id="{AD210192-B253-41D5-A493-1466DCB1FD7D}" type="slidenum">
              <a:rPr lang="zh-CN" altLang="en-US" smtClean="0"/>
              <a:t>12</a:t>
            </a:fld>
            <a:endParaRPr lang="zh-CN" altLang="en-US"/>
          </a:p>
        </p:txBody>
      </p:sp>
      <p:sp>
        <p:nvSpPr>
          <p:cNvPr id="6" name="页脚占位符 5"/>
          <p:cNvSpPr>
            <a:spLocks noGrp="1"/>
          </p:cNvSpPr>
          <p:nvPr>
            <p:ph type="ftr" sz="quarter" idx="4"/>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FF0000"/>
              </a:solidFill>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13</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第</a:t>
            </a:r>
            <a:r>
              <a:rPr lang="en-US" altLang="zh-CN" dirty="0">
                <a:effectLst/>
              </a:rPr>
              <a:t>18</a:t>
            </a:r>
            <a:r>
              <a:rPr lang="zh-CN" altLang="en-US" dirty="0">
                <a:effectLst/>
              </a:rPr>
              <a:t>名这个：主要是由于高线中的</a:t>
            </a:r>
            <a:r>
              <a:rPr lang="en-GB" altLang="zh-CN" dirty="0">
                <a:effectLst/>
              </a:rPr>
              <a:t>S</a:t>
            </a:r>
            <a:r>
              <a:rPr lang="zh-CN" altLang="en-US" dirty="0">
                <a:effectLst/>
              </a:rPr>
              <a:t>级城市凸起异常，查看带动高</a:t>
            </a:r>
            <a:r>
              <a:rPr lang="en-GB" altLang="zh-CN" dirty="0" err="1">
                <a:effectLst/>
              </a:rPr>
              <a:t>gtv</a:t>
            </a:r>
            <a:r>
              <a:rPr lang="zh-CN" altLang="en-US" dirty="0">
                <a:effectLst/>
              </a:rPr>
              <a:t>的门店为：</a:t>
            </a:r>
            <a:r>
              <a:rPr lang="zh-CN" altLang="en-US" b="1" dirty="0">
                <a:effectLst/>
              </a:rPr>
              <a:t>铭门盛宴艺术海鲜姿造（世贸天阶店）北京</a:t>
            </a:r>
            <a:r>
              <a:rPr lang="zh-CN" altLang="en-US" dirty="0">
                <a:effectLst/>
              </a:rPr>
              <a:t>，这是一家客单价</a:t>
            </a:r>
            <a:r>
              <a:rPr lang="en-US" altLang="zh-CN" dirty="0">
                <a:effectLst/>
              </a:rPr>
              <a:t>400+</a:t>
            </a:r>
            <a:r>
              <a:rPr lang="zh-CN" altLang="en-US" dirty="0">
                <a:effectLst/>
              </a:rPr>
              <a:t>的海鲜自助，由于其在</a:t>
            </a:r>
            <a:r>
              <a:rPr lang="zh-CN" altLang="en-US" b="1" dirty="0">
                <a:effectLst/>
              </a:rPr>
              <a:t>全部</a:t>
            </a:r>
            <a:r>
              <a:rPr lang="en-GB" altLang="zh-CN" b="1" dirty="0">
                <a:effectLst/>
              </a:rPr>
              <a:t>tab</a:t>
            </a:r>
            <a:r>
              <a:rPr lang="zh-CN" altLang="en-US" dirty="0">
                <a:effectLst/>
              </a:rPr>
              <a:t>下，排名没有非常靠前</a:t>
            </a:r>
            <a:r>
              <a:rPr lang="en-US" altLang="zh-CN" dirty="0">
                <a:effectLst/>
              </a:rPr>
              <a:t>(18</a:t>
            </a:r>
            <a:r>
              <a:rPr lang="zh-CN" altLang="en-US" dirty="0">
                <a:effectLst/>
              </a:rPr>
              <a:t>名），但它</a:t>
            </a:r>
            <a:r>
              <a:rPr lang="en-GB" altLang="zh-CN" dirty="0" err="1">
                <a:effectLst/>
              </a:rPr>
              <a:t>gtv</a:t>
            </a:r>
            <a:r>
              <a:rPr lang="zh-CN" altLang="en-US" dirty="0">
                <a:effectLst/>
              </a:rPr>
              <a:t>确实很高，导致最终图片上的</a:t>
            </a:r>
            <a:r>
              <a:rPr lang="en-GB" altLang="zh-CN" dirty="0" err="1">
                <a:effectLst/>
              </a:rPr>
              <a:t>gtv</a:t>
            </a:r>
            <a:r>
              <a:rPr lang="zh-CN" altLang="en-US" dirty="0">
                <a:effectLst/>
              </a:rPr>
              <a:t>会有一个异常凸起</a:t>
            </a:r>
          </a:p>
          <a:p>
            <a:endParaRPr lang="en-US" altLang="zh-CN" dirty="0">
              <a:effectLst/>
            </a:endParaRPr>
          </a:p>
          <a:p>
            <a:r>
              <a:rPr lang="zh-CN" altLang="en-US" dirty="0">
                <a:effectLst/>
              </a:rPr>
              <a:t>第</a:t>
            </a:r>
            <a:r>
              <a:rPr lang="en-US" altLang="zh-CN" dirty="0">
                <a:effectLst/>
              </a:rPr>
              <a:t>37</a:t>
            </a:r>
            <a:r>
              <a:rPr lang="zh-CN" altLang="en-US" dirty="0">
                <a:effectLst/>
              </a:rPr>
              <a:t>名这个：主要是由于高线中的</a:t>
            </a:r>
            <a:r>
              <a:rPr lang="en-GB" altLang="zh-CN" dirty="0">
                <a:effectLst/>
              </a:rPr>
              <a:t>S</a:t>
            </a:r>
            <a:r>
              <a:rPr lang="zh-CN" altLang="en-US" dirty="0">
                <a:effectLst/>
              </a:rPr>
              <a:t>级、</a:t>
            </a:r>
            <a:r>
              <a:rPr lang="en-GB" altLang="zh-CN" dirty="0">
                <a:effectLst/>
              </a:rPr>
              <a:t>A</a:t>
            </a:r>
            <a:r>
              <a:rPr lang="zh-CN" altLang="en-US" dirty="0">
                <a:effectLst/>
              </a:rPr>
              <a:t>级城市凸起异常，其中</a:t>
            </a:r>
            <a:r>
              <a:rPr lang="en-GB" altLang="zh-CN" dirty="0">
                <a:effectLst/>
              </a:rPr>
              <a:t>S</a:t>
            </a:r>
            <a:r>
              <a:rPr lang="zh-CN" altLang="en-US" dirty="0">
                <a:effectLst/>
              </a:rPr>
              <a:t>级：</a:t>
            </a:r>
            <a:r>
              <a:rPr lang="zh-CN" altLang="en-US" b="1" dirty="0">
                <a:effectLst/>
              </a:rPr>
              <a:t>上海</a:t>
            </a:r>
            <a:r>
              <a:rPr lang="en-US" altLang="zh-CN" b="1" dirty="0">
                <a:effectLst/>
              </a:rPr>
              <a:t>-</a:t>
            </a:r>
            <a:r>
              <a:rPr lang="zh-CN" altLang="en-US" b="1" dirty="0">
                <a:effectLst/>
              </a:rPr>
              <a:t>红子鸡凤凰楼（澳门路店）</a:t>
            </a:r>
            <a:r>
              <a:rPr lang="zh-CN" altLang="en-US" dirty="0">
                <a:effectLst/>
              </a:rPr>
              <a:t>、</a:t>
            </a:r>
            <a:r>
              <a:rPr lang="en-GB" altLang="zh-CN" dirty="0">
                <a:effectLst/>
              </a:rPr>
              <a:t>A</a:t>
            </a:r>
            <a:r>
              <a:rPr lang="zh-CN" altLang="en-US" dirty="0">
                <a:effectLst/>
              </a:rPr>
              <a:t>级：</a:t>
            </a:r>
            <a:r>
              <a:rPr lang="zh-CN" altLang="en-US" b="1" dirty="0">
                <a:effectLst/>
              </a:rPr>
              <a:t>天津市</a:t>
            </a:r>
            <a:r>
              <a:rPr lang="en-US" altLang="zh-CN" b="1" dirty="0">
                <a:effectLst/>
              </a:rPr>
              <a:t>-</a:t>
            </a:r>
            <a:r>
              <a:rPr lang="zh-CN" altLang="en-US" b="1" dirty="0">
                <a:effectLst/>
              </a:rPr>
              <a:t>耀</a:t>
            </a:r>
            <a:r>
              <a:rPr lang="en-US" altLang="zh-CN" b="1" dirty="0">
                <a:effectLst/>
              </a:rPr>
              <a:t>·</a:t>
            </a:r>
            <a:r>
              <a:rPr lang="zh-CN" altLang="en-US" b="1" dirty="0">
                <a:effectLst/>
              </a:rPr>
              <a:t>倾城至臻蒸汽海鲜自助（恒隆店）</a:t>
            </a:r>
            <a:r>
              <a:rPr lang="zh-CN" altLang="en-US" dirty="0">
                <a:effectLst/>
              </a:rPr>
              <a:t>，</a:t>
            </a:r>
            <a:r>
              <a:rPr lang="en-GB" altLang="zh-CN" dirty="0">
                <a:effectLst/>
              </a:rPr>
              <a:t>S</a:t>
            </a:r>
            <a:r>
              <a:rPr lang="zh-CN" altLang="en-US" dirty="0">
                <a:effectLst/>
              </a:rPr>
              <a:t>级上海的这个门店是必吃榜门店，核销量中高，但在这个排名下的</a:t>
            </a:r>
            <a:r>
              <a:rPr lang="en-GB" altLang="zh-CN" dirty="0" err="1">
                <a:effectLst/>
              </a:rPr>
              <a:t>gtv</a:t>
            </a:r>
            <a:r>
              <a:rPr lang="zh-CN" altLang="en-US" dirty="0">
                <a:effectLst/>
              </a:rPr>
              <a:t>较高的粤菜；</a:t>
            </a:r>
            <a:r>
              <a:rPr lang="en-GB" altLang="zh-CN" dirty="0">
                <a:effectLst/>
              </a:rPr>
              <a:t>A</a:t>
            </a:r>
            <a:r>
              <a:rPr lang="zh-CN" altLang="en-US" dirty="0">
                <a:effectLst/>
              </a:rPr>
              <a:t>级天津那个门店主要也是自助高客单，所以在全部</a:t>
            </a:r>
            <a:r>
              <a:rPr lang="en-GB" altLang="zh-CN" dirty="0">
                <a:effectLst/>
              </a:rPr>
              <a:t>tab</a:t>
            </a:r>
            <a:r>
              <a:rPr lang="zh-CN" altLang="en-US" dirty="0">
                <a:effectLst/>
              </a:rPr>
              <a:t>下，核销量不算最高，但</a:t>
            </a:r>
            <a:r>
              <a:rPr lang="en-GB" altLang="zh-CN" dirty="0" err="1">
                <a:effectLst/>
              </a:rPr>
              <a:t>gtv</a:t>
            </a:r>
            <a:r>
              <a:rPr lang="zh-CN" altLang="en-US" dirty="0">
                <a:effectLst/>
              </a:rPr>
              <a:t>带动显著，类似上面那家逻辑</a:t>
            </a: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14</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FF0000"/>
              </a:solidFill>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15</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rPr>
              <a:t>榜单运营：</a:t>
            </a:r>
            <a:r>
              <a:rPr lang="zh-CN" altLang="en-US" dirty="0">
                <a:effectLst/>
              </a:rPr>
              <a:t>完善榜单矩阵 ，扩供给覆盖，上榜门店覆盖率</a:t>
            </a:r>
            <a:r>
              <a:rPr lang="en-US" altLang="zh-CN" dirty="0">
                <a:effectLst/>
              </a:rPr>
              <a:t>17.1% </a:t>
            </a:r>
            <a:r>
              <a:rPr lang="zh-CN" altLang="en-US" dirty="0">
                <a:effectLst/>
              </a:rPr>
              <a:t>，其中核心商户上榜覆盖率</a:t>
            </a:r>
            <a:r>
              <a:rPr lang="en-US" altLang="zh-CN" dirty="0">
                <a:effectLst/>
              </a:rPr>
              <a:t>87.5% </a:t>
            </a:r>
            <a:r>
              <a:rPr lang="zh-CN" altLang="en-US" dirty="0">
                <a:effectLst/>
              </a:rPr>
              <a:t>；优化榜单规则及资产建设，加强对核心资产引用，加强商户辅导，提升公信力刺激转化；商家流量及身份荣誉感知，完善用户决策动线提升用户心智，榜单意向</a:t>
            </a:r>
            <a:r>
              <a:rPr lang="en-US" altLang="zh-CN" dirty="0">
                <a:effectLst/>
              </a:rPr>
              <a:t>UV</a:t>
            </a:r>
            <a:r>
              <a:rPr lang="zh-CN" altLang="en-US" dirty="0">
                <a:effectLst/>
              </a:rPr>
              <a:t>渗透达</a:t>
            </a:r>
            <a:r>
              <a:rPr lang="en-US" altLang="zh-CN" dirty="0">
                <a:effectLst/>
              </a:rPr>
              <a:t>5%</a:t>
            </a:r>
            <a:r>
              <a:rPr lang="zh-CN" altLang="en-US" dirty="0">
                <a:effectLst/>
              </a:rPr>
              <a:t>。</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effectLst/>
            </a:endParaRPr>
          </a:p>
          <a:p>
            <a:pPr marL="0" marR="0"/>
            <a:r>
              <a:rPr lang="en-US" altLang="zh-CN" b="1" dirty="0">
                <a:solidFill>
                  <a:srgbClr val="000000"/>
                </a:solidFill>
                <a:effectLst/>
              </a:rPr>
              <a:t>1</a:t>
            </a:r>
            <a:r>
              <a:rPr lang="zh-CN" altLang="en-US" b="1" dirty="0">
                <a:solidFill>
                  <a:srgbClr val="000000"/>
                </a:solidFill>
                <a:effectLst/>
              </a:rPr>
              <a:t>、完善榜单矩阵：</a:t>
            </a:r>
            <a:r>
              <a:rPr lang="zh-CN" altLang="en-US" dirty="0">
                <a:effectLst/>
              </a:rPr>
              <a:t>满足更丰富的人群</a:t>
            </a:r>
            <a:r>
              <a:rPr lang="en-US" altLang="zh-CN" dirty="0">
                <a:effectLst/>
              </a:rPr>
              <a:t>x</a:t>
            </a:r>
            <a:r>
              <a:rPr lang="zh-CN" altLang="en-US" dirty="0">
                <a:effectLst/>
              </a:rPr>
              <a:t>品类</a:t>
            </a:r>
            <a:r>
              <a:rPr lang="en-US" altLang="zh-CN" dirty="0">
                <a:effectLst/>
              </a:rPr>
              <a:t>x</a:t>
            </a:r>
            <a:r>
              <a:rPr lang="zh-CN" altLang="en-US" dirty="0">
                <a:effectLst/>
              </a:rPr>
              <a:t>场景用餐决策需求，及商家运营需求，同时结合点评、美食频道共建及行业竞争情况，完善品类指数、主题、节日时令榜单。合理化扩大榜单供给覆盖，赋能不同品类、各具特色的物理世界优质商户。</a:t>
            </a:r>
          </a:p>
          <a:p>
            <a:pPr marL="0" marR="0"/>
            <a:r>
              <a:rPr lang="en-US" altLang="zh-CN" b="1" dirty="0">
                <a:effectLst/>
              </a:rPr>
              <a:t>2</a:t>
            </a:r>
            <a:r>
              <a:rPr lang="zh-CN" altLang="en-US" b="1" dirty="0">
                <a:effectLst/>
              </a:rPr>
              <a:t>、</a:t>
            </a:r>
            <a:r>
              <a:rPr lang="zh-CN" altLang="en-US" b="1" dirty="0">
                <a:solidFill>
                  <a:srgbClr val="000000"/>
                </a:solidFill>
                <a:effectLst/>
              </a:rPr>
              <a:t>提升榜单心智及流量</a:t>
            </a:r>
            <a:endParaRPr lang="zh-CN" altLang="en-US" dirty="0">
              <a:effectLst/>
            </a:endParaRPr>
          </a:p>
          <a:p>
            <a:pPr marL="0" marR="0"/>
            <a:r>
              <a:rPr lang="zh-CN" altLang="en-US" dirty="0">
                <a:effectLst/>
              </a:rPr>
              <a:t>① 完善用户到餐决策动线，逐渐建立平台及餐内流量通路，加强榜单日等营销联动，</a:t>
            </a:r>
            <a:r>
              <a:rPr lang="zh-CN" altLang="en-US" dirty="0">
                <a:solidFill>
                  <a:srgbClr val="000000"/>
                </a:solidFill>
                <a:effectLst/>
              </a:rPr>
              <a:t>提升榜单承接用户消费决策需求的能力</a:t>
            </a:r>
            <a:r>
              <a:rPr lang="zh-CN" altLang="en-US" dirty="0">
                <a:effectLst/>
              </a:rPr>
              <a:t>。</a:t>
            </a:r>
            <a:r>
              <a:rPr lang="zh-CN" altLang="en-US" dirty="0">
                <a:solidFill>
                  <a:srgbClr val="000000"/>
                </a:solidFill>
                <a:effectLst/>
              </a:rPr>
              <a:t>加强线上线下营销，</a:t>
            </a:r>
            <a:r>
              <a:rPr lang="zh-CN" altLang="en-US" dirty="0">
                <a:effectLst/>
              </a:rPr>
              <a:t>提升榜单整体品牌力及认知度；</a:t>
            </a:r>
          </a:p>
          <a:p>
            <a:pPr marL="0" marR="0"/>
            <a:r>
              <a:rPr lang="zh-CN" altLang="en-US" dirty="0">
                <a:effectLst/>
              </a:rPr>
              <a:t>② 加强商家流量及身份荣誉感知，优化上榜商家流量权益结构，打造头部上榜商家稀缺荣誉权益体系。加强商户辅导，牵引商家冲榜意愿。</a:t>
            </a:r>
          </a:p>
          <a:p>
            <a:pPr marL="0" marR="0"/>
            <a:r>
              <a:rPr lang="en-US" altLang="zh-CN" b="1" dirty="0">
                <a:solidFill>
                  <a:srgbClr val="000000"/>
                </a:solidFill>
                <a:effectLst/>
              </a:rPr>
              <a:t>3</a:t>
            </a:r>
            <a:r>
              <a:rPr lang="zh-CN" altLang="en-US" b="1" dirty="0">
                <a:solidFill>
                  <a:srgbClr val="000000"/>
                </a:solidFill>
                <a:effectLst/>
              </a:rPr>
              <a:t>、优化榜单规则及引用资产建设</a:t>
            </a:r>
            <a:endParaRPr lang="zh-CN" altLang="en-US" dirty="0">
              <a:effectLst/>
            </a:endParaRPr>
          </a:p>
          <a:p>
            <a:pPr marL="0" marR="0"/>
            <a:r>
              <a:rPr lang="zh-CN" altLang="en-US" dirty="0">
                <a:effectLst/>
              </a:rPr>
              <a:t>① 优化榜单规则，基于</a:t>
            </a:r>
            <a:r>
              <a:rPr lang="en-US" altLang="zh-CN" dirty="0">
                <a:effectLst/>
              </a:rPr>
              <a:t>LBS</a:t>
            </a:r>
            <a:r>
              <a:rPr lang="zh-CN" altLang="en-US" dirty="0">
                <a:effectLst/>
              </a:rPr>
              <a:t>优化密度，围绕物理世界好店及核心门店优化榜单质量；</a:t>
            </a:r>
          </a:p>
          <a:p>
            <a:pPr marL="0" marR="0"/>
            <a:r>
              <a:rPr lang="zh-CN" altLang="en-US" dirty="0">
                <a:effectLst/>
              </a:rPr>
              <a:t>② 优化品类、主题、评论等标签资产建设。丰富榜单优质资产引用场景，助力商户资产沉淀。</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effectLst/>
            </a:endParaRPr>
          </a:p>
          <a:p>
            <a:endParaRPr lang="zh-CN" altLang="en-US" dirty="0">
              <a:effectLst/>
            </a:endParaRPr>
          </a:p>
        </p:txBody>
      </p:sp>
      <p:sp>
        <p:nvSpPr>
          <p:cNvPr id="4" name="灯片编号占位符 3"/>
          <p:cNvSpPr>
            <a:spLocks noGrp="1"/>
          </p:cNvSpPr>
          <p:nvPr>
            <p:ph type="sldNum" sz="quarter" idx="5"/>
          </p:nvPr>
        </p:nvSpPr>
        <p:spPr/>
        <p:txBody>
          <a:bodyPr/>
          <a:lstStyle/>
          <a:p>
            <a:fld id="{977DE475-5FB2-DF49-BD79-0FFA752A3946}" type="slidenum">
              <a:rPr kumimoji="1" lang="zh-CN" altLang="en-US" smtClean="0"/>
              <a:t>17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幻灯片" r:id="rId3" imgW="0" imgH="0" progId="TCLayout.ActiveDocument.1">
                  <p:embed/>
                </p:oleObj>
              </mc:Choice>
              <mc:Fallback>
                <p:oleObj name="think-cell 幻灯片" r:id="rId3" imgW="0" imgH="0" progId="TCLayout.ActiveDocument.1">
                  <p:embed/>
                  <p:pic>
                    <p:nvPicPr>
                      <p:cNvPr id="0" name="对象 1" hidden="1"/>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4" name="文本占位符 3"/>
          <p:cNvSpPr>
            <a:spLocks noGrp="1"/>
          </p:cNvSpPr>
          <p:nvPr>
            <p:ph type="body" sz="quarter" idx="10" hasCustomPrompt="1"/>
          </p:nvPr>
        </p:nvSpPr>
        <p:spPr>
          <a:xfrm>
            <a:off x="252000" y="987426"/>
            <a:ext cx="8639999" cy="3595025"/>
          </a:xfrm>
          <a:prstGeom prst="rect">
            <a:avLst/>
          </a:prstGeom>
        </p:spPr>
        <p:txBody>
          <a:bodyPr tIns="90000" bIns="90000"/>
          <a:lstStyle>
            <a:lvl1pPr>
              <a:lnSpc>
                <a:spcPct val="120000"/>
              </a:lnSpc>
              <a:spcBef>
                <a:spcPts val="1200"/>
              </a:spcBef>
              <a:buClr>
                <a:srgbClr val="FFD100"/>
              </a:buClr>
              <a:defRPr sz="1800" b="0" i="0" baseline="0">
                <a:latin typeface="Calibri" panose="020F0502020204030204" pitchFamily="34" charset="0"/>
                <a:ea typeface="楷体" panose="02010609060101010101" pitchFamily="49" charset="-122"/>
                <a:cs typeface="+mn-cs"/>
                <a:sym typeface="+mn-lt"/>
              </a:defRPr>
            </a:lvl1pPr>
          </a:lstStyle>
          <a:p>
            <a:r>
              <a:rPr kumimoji="1" lang="zh-CN" altLang="en-US" dirty="0"/>
              <a:t>目录一
目录二
目录三
目录四
目录五</a:t>
            </a:r>
          </a:p>
        </p:txBody>
      </p:sp>
      <p:sp>
        <p:nvSpPr>
          <p:cNvPr id="7" name="标题 2"/>
          <p:cNvSpPr>
            <a:spLocks noGrp="1"/>
          </p:cNvSpPr>
          <p:nvPr>
            <p:ph type="title"/>
          </p:nvPr>
        </p:nvSpPr>
        <p:spPr>
          <a:xfrm>
            <a:off x="384306" y="288001"/>
            <a:ext cx="7285837" cy="427313"/>
          </a:xfrm>
          <a:prstGeom prst="rect">
            <a:avLst/>
          </a:prstGeom>
        </p:spPr>
        <p:txBody>
          <a:bodyPr anchor="ctr">
            <a:normAutofit/>
          </a:bodyPr>
          <a:lstStyle>
            <a:lvl1pPr>
              <a:defRPr kumimoji="1" lang="zh-CN" altLang="en-US" sz="2400" b="0" i="0" kern="1200" baseline="0" dirty="0">
                <a:solidFill>
                  <a:schemeClr val="tx1"/>
                </a:solidFill>
                <a:latin typeface="Calibri" panose="020F0502020204030204" pitchFamily="34" charset="0"/>
                <a:ea typeface="楷体" panose="02010609060101010101" pitchFamily="49" charset="-122"/>
                <a:cs typeface="+mj-cs"/>
                <a:sym typeface="+mj-lt"/>
              </a:defRPr>
            </a:lvl1pPr>
          </a:lstStyle>
          <a:p>
            <a:r>
              <a:rPr lang="zh-CN" altLang="en-US" dirty="0"/>
              <a:t>单击此处编辑母版标题样式</a:t>
            </a:r>
          </a:p>
        </p:txBody>
      </p:sp>
      <p:sp>
        <p:nvSpPr>
          <p:cNvPr id="5" name="矩形 4"/>
          <p:cNvSpPr/>
          <p:nvPr userDrawn="1"/>
        </p:nvSpPr>
        <p:spPr>
          <a:xfrm>
            <a:off x="252000" y="298634"/>
            <a:ext cx="45719" cy="4273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baseline="0">
              <a:latin typeface="Calibri" panose="020F0502020204030204" pitchFamily="34" charset="0"/>
              <a:ea typeface="楷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文本占位符 2"/>
          <p:cNvSpPr>
            <a:spLocks noGrp="1"/>
          </p:cNvSpPr>
          <p:nvPr>
            <p:ph type="body"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amgoal模板">
    <p:spTree>
      <p:nvGrpSpPr>
        <p:cNvPr id="1" name=""/>
        <p:cNvGrpSpPr/>
        <p:nvPr/>
      </p:nvGrpSpPr>
      <p:grpSpPr>
        <a:xfrm>
          <a:off x="0" y="0"/>
          <a:ext cx="0" cy="0"/>
          <a:chOff x="0" y="0"/>
          <a:chExt cx="0" cy="0"/>
        </a:xfrm>
      </p:grpSpPr>
      <p:graphicFrame>
        <p:nvGraphicFramePr>
          <p:cNvPr id="10" name="对象 9" hidden="1"/>
          <p:cNvGraphicFramePr>
            <a:graphicFrameLocks noChangeAspect="1"/>
          </p:cNvGraphicFramePr>
          <p:nvPr>
            <p:custDataLst>
              <p:tags r:id="rId1"/>
            </p:custData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幻灯片" r:id="rId3" imgW="0" imgH="0" progId="TCLayout.ActiveDocument.1">
                  <p:embed/>
                </p:oleObj>
              </mc:Choice>
              <mc:Fallback>
                <p:oleObj name="think-cell 幻灯片" r:id="rId3" imgW="0" imgH="0" progId="TCLayout.ActiveDocument.1">
                  <p:embed/>
                  <p:pic>
                    <p:nvPicPr>
                      <p:cNvPr id="0" name="对象 9" hidden="1"/>
                      <p:cNvPicPr/>
                      <p:nvPr/>
                    </p:nvPicPr>
                    <p:blipFill>
                      <a:blip r:embed="rId4"/>
                      <a:stretch>
                        <a:fillRect/>
                      </a:stretch>
                    </p:blipFill>
                    <p:spPr>
                      <a:xfrm>
                        <a:off x="1590" y="1589"/>
                        <a:ext cx="1588" cy="1588"/>
                      </a:xfrm>
                      <a:prstGeom prst="rect">
                        <a:avLst/>
                      </a:prstGeom>
                    </p:spPr>
                  </p:pic>
                </p:oleObj>
              </mc:Fallback>
            </mc:AlternateContent>
          </a:graphicData>
        </a:graphic>
      </p:graphicFrame>
      <p:sp>
        <p:nvSpPr>
          <p:cNvPr id="13" name="矩形"/>
          <p:cNvSpPr/>
          <p:nvPr userDrawn="1"/>
        </p:nvSpPr>
        <p:spPr>
          <a:xfrm>
            <a:off x="0" y="5037438"/>
            <a:ext cx="9144000" cy="114300"/>
          </a:xfrm>
          <a:prstGeom prst="rect">
            <a:avLst/>
          </a:prstGeom>
          <a:solidFill>
            <a:srgbClr val="FFD1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aseline="0">
              <a:latin typeface="Calibri" panose="020F0502020204030204" pitchFamily="34" charset="0"/>
              <a:ea typeface="楷体" panose="02010609060101010101" pitchFamily="49" charset="-122"/>
              <a:cs typeface="+mn-cs"/>
              <a:sym typeface="+mn-lt"/>
            </a:endParaRPr>
          </a:p>
        </p:txBody>
      </p:sp>
      <p:sp>
        <p:nvSpPr>
          <p:cNvPr id="3" name="内容占位符 2"/>
          <p:cNvSpPr>
            <a:spLocks noGrp="1"/>
          </p:cNvSpPr>
          <p:nvPr>
            <p:ph sz="quarter" idx="23" hasCustomPrompt="1"/>
          </p:nvPr>
        </p:nvSpPr>
        <p:spPr>
          <a:xfrm>
            <a:off x="1813560" y="1424941"/>
            <a:ext cx="7078234" cy="3461385"/>
          </a:xfrm>
          <a:prstGeom prst="rect">
            <a:avLst/>
          </a:prstGeom>
          <a:noFill/>
          <a:ln>
            <a:noFill/>
          </a:ln>
        </p:spPr>
        <p:txBody>
          <a:bodyPr>
            <a:normAutofit/>
          </a:bodyPr>
          <a:lstStyle>
            <a:lvl1pPr>
              <a:lnSpc>
                <a:spcPct val="100000"/>
              </a:lnSpc>
              <a:defRPr sz="1000" baseline="0">
                <a:latin typeface="Calibri" panose="020F0502020204030204" pitchFamily="34" charset="0"/>
                <a:ea typeface="楷体" panose="02010609060101010101" pitchFamily="49" charset="-122"/>
              </a:defRPr>
            </a:lvl1pPr>
            <a:lvl2pPr>
              <a:lnSpc>
                <a:spcPct val="120000"/>
              </a:lnSpc>
              <a:defRPr sz="1200"/>
            </a:lvl2pPr>
            <a:lvl3pPr>
              <a:lnSpc>
                <a:spcPct val="120000"/>
              </a:lnSpc>
              <a:defRPr sz="1050"/>
            </a:lvl3pPr>
            <a:lvl4pPr>
              <a:lnSpc>
                <a:spcPct val="120000"/>
              </a:lnSpc>
              <a:defRPr sz="1050"/>
            </a:lvl4pPr>
            <a:lvl5pPr>
              <a:lnSpc>
                <a:spcPct val="120000"/>
              </a:lnSpc>
              <a:defRPr sz="1050"/>
            </a:lvl5pPr>
          </a:lstStyle>
          <a:p>
            <a:pPr lvl="0"/>
            <a:r>
              <a:rPr lang="zh-CN" altLang="en-US" dirty="0"/>
              <a:t>编辑母版文本样式</a:t>
            </a:r>
          </a:p>
        </p:txBody>
      </p:sp>
      <p:sp>
        <p:nvSpPr>
          <p:cNvPr id="6" name="标题 2"/>
          <p:cNvSpPr>
            <a:spLocks noGrp="1"/>
          </p:cNvSpPr>
          <p:nvPr>
            <p:ph type="title" hasCustomPrompt="1"/>
          </p:nvPr>
        </p:nvSpPr>
        <p:spPr>
          <a:xfrm>
            <a:off x="308705" y="439480"/>
            <a:ext cx="8584470" cy="855921"/>
          </a:xfrm>
          <a:prstGeom prst="rect">
            <a:avLst/>
          </a:prstGeom>
        </p:spPr>
        <p:txBody>
          <a:bodyPr vert="horz" anchor="ctr">
            <a:normAutofit/>
          </a:bodyPr>
          <a:lstStyle>
            <a:lvl1pPr>
              <a:defRPr kumimoji="1" lang="zh-CN" altLang="en-US" sz="1600" b="0" i="0" kern="1200" baseline="0" dirty="0">
                <a:solidFill>
                  <a:schemeClr val="tx1"/>
                </a:solidFill>
                <a:latin typeface="Calibri" panose="020F0502020204030204" pitchFamily="34" charset="0"/>
                <a:ea typeface="楷体" panose="02010609060101010101" pitchFamily="49" charset="-122"/>
                <a:cs typeface="+mj-cs"/>
                <a:sym typeface="+mj-lt"/>
              </a:defRPr>
            </a:lvl1pPr>
          </a:lstStyle>
          <a:p>
            <a:r>
              <a:rPr lang="en-US" altLang="zh-CN" dirty="0"/>
              <a:t>TGX:</a:t>
            </a:r>
            <a:r>
              <a:rPr lang="zh-CN" altLang="en-US" dirty="0"/>
              <a:t> </a:t>
            </a:r>
            <a:r>
              <a:rPr lang="en-US" altLang="zh-CN" dirty="0"/>
              <a:t>XXXXXXX</a:t>
            </a:r>
            <a:endParaRPr lang="zh-CN" altLang="en-US" dirty="0"/>
          </a:p>
        </p:txBody>
      </p:sp>
      <p:sp>
        <p:nvSpPr>
          <p:cNvPr id="7" name="文本占位符 6"/>
          <p:cNvSpPr>
            <a:spLocks noGrp="1"/>
          </p:cNvSpPr>
          <p:nvPr>
            <p:ph type="body" sz="quarter" idx="22" hasCustomPrompt="1"/>
          </p:nvPr>
        </p:nvSpPr>
        <p:spPr>
          <a:xfrm>
            <a:off x="308706" y="123826"/>
            <a:ext cx="8583088" cy="266035"/>
          </a:xfrm>
          <a:prstGeom prst="rect">
            <a:avLst/>
          </a:prstGeom>
        </p:spPr>
        <p:txBody>
          <a:bodyPr anchor="ctr">
            <a:normAutofit/>
          </a:bodyPr>
          <a:lstStyle>
            <a:lvl1pPr marL="0" indent="0" algn="l" defTabSz="685800" rtl="0" eaLnBrk="1" latinLnBrk="0" hangingPunct="1">
              <a:lnSpc>
                <a:spcPct val="90000"/>
              </a:lnSpc>
              <a:spcBef>
                <a:spcPts val="750"/>
              </a:spcBef>
              <a:buFont typeface="Arial" panose="020B0604020202020204" pitchFamily="34" charset="0"/>
              <a:buNone/>
              <a:defRPr kumimoji="1" lang="zh-CN" altLang="en-US" sz="1200" b="1" i="0" kern="1200" baseline="0" dirty="0" smtClean="0">
                <a:solidFill>
                  <a:schemeClr val="bg1">
                    <a:lumMod val="50000"/>
                  </a:schemeClr>
                </a:solidFill>
                <a:latin typeface="Calibri" panose="020F0502020204030204" pitchFamily="34" charset="0"/>
                <a:ea typeface="楷体" panose="02010609060101010101" pitchFamily="49" charset="-122"/>
                <a:cs typeface="+mn-cs"/>
                <a:sym typeface="+mn-lt"/>
              </a:defRPr>
            </a:lvl1pPr>
            <a:lvl2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2pPr>
            <a:lvl3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3pPr>
            <a:lvl4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4pPr>
            <a:lvl5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a:solidFill>
                  <a:schemeClr val="bg1">
                    <a:lumMod val="50000"/>
                  </a:schemeClr>
                </a:solidFill>
                <a:latin typeface="微软雅黑" panose="020B0502040204020203" pitchFamily="34" charset="-122"/>
                <a:ea typeface="微软雅黑" panose="020B0502040204020203" pitchFamily="34" charset="-122"/>
                <a:cs typeface="+mn-cs"/>
              </a:defRPr>
            </a:lvl5pPr>
          </a:lstStyle>
          <a:p>
            <a:r>
              <a:rPr kumimoji="1" lang="en-US" altLang="zh-CN" dirty="0">
                <a:solidFill>
                  <a:schemeClr val="bg1">
                    <a:lumMod val="50000"/>
                  </a:schemeClr>
                </a:solidFill>
              </a:rPr>
              <a:t>4 </a:t>
            </a:r>
            <a:r>
              <a:rPr kumimoji="1" lang="en-US" altLang="zh-CN" dirty="0" err="1">
                <a:solidFill>
                  <a:schemeClr val="bg1">
                    <a:lumMod val="50000"/>
                  </a:schemeClr>
                </a:solidFill>
              </a:rPr>
              <a:t>Teamgoal</a:t>
            </a:r>
            <a:r>
              <a:rPr kumimoji="1" lang="zh-CN" altLang="en-US" dirty="0">
                <a:solidFill>
                  <a:schemeClr val="bg1">
                    <a:lumMod val="50000"/>
                  </a:schemeClr>
                </a:solidFill>
              </a:rPr>
              <a:t>进展同步</a:t>
            </a:r>
          </a:p>
        </p:txBody>
      </p:sp>
      <p:sp>
        <p:nvSpPr>
          <p:cNvPr id="8" name="矩形 7"/>
          <p:cNvSpPr/>
          <p:nvPr userDrawn="1"/>
        </p:nvSpPr>
        <p:spPr>
          <a:xfrm>
            <a:off x="250826" y="123826"/>
            <a:ext cx="57881" cy="11715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baseline="0">
              <a:latin typeface="Calibri" panose="020F0502020204030204" pitchFamily="34" charset="0"/>
              <a:ea typeface="楷体" panose="02010609060101010101" pitchFamily="49" charset="-122"/>
            </a:endParaRPr>
          </a:p>
        </p:txBody>
      </p:sp>
      <p:sp>
        <p:nvSpPr>
          <p:cNvPr id="9" name="矩形 8"/>
          <p:cNvSpPr/>
          <p:nvPr userDrawn="1"/>
        </p:nvSpPr>
        <p:spPr>
          <a:xfrm>
            <a:off x="250824" y="1424941"/>
            <a:ext cx="1417956" cy="346138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请使用这个模板">
    <p:spTree>
      <p:nvGrpSpPr>
        <p:cNvPr id="1" name=""/>
        <p:cNvGrpSpPr/>
        <p:nvPr/>
      </p:nvGrpSpPr>
      <p:grpSpPr>
        <a:xfrm>
          <a:off x="0" y="0"/>
          <a:ext cx="0" cy="0"/>
          <a:chOff x="0" y="0"/>
          <a:chExt cx="0" cy="0"/>
        </a:xfrm>
      </p:grpSpPr>
      <p:graphicFrame>
        <p:nvGraphicFramePr>
          <p:cNvPr id="10" name="对象 9" hidden="1"/>
          <p:cNvGraphicFramePr>
            <a:graphicFrameLocks noChangeAspect="1"/>
          </p:cNvGraphicFramePr>
          <p:nvPr>
            <p:custDataLst>
              <p:tags r:id="rId1"/>
            </p:custData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幻灯片" r:id="rId3" imgW="0" imgH="0" progId="TCLayout.ActiveDocument.1">
                  <p:embed/>
                </p:oleObj>
              </mc:Choice>
              <mc:Fallback>
                <p:oleObj name="think-cell 幻灯片" r:id="rId3" imgW="0" imgH="0" progId="TCLayout.ActiveDocument.1">
                  <p:embed/>
                  <p:pic>
                    <p:nvPicPr>
                      <p:cNvPr id="0" name="对象 9" hidden="1"/>
                      <p:cNvPicPr/>
                      <p:nvPr/>
                    </p:nvPicPr>
                    <p:blipFill>
                      <a:blip r:embed="rId4"/>
                      <a:stretch>
                        <a:fillRect/>
                      </a:stretch>
                    </p:blipFill>
                    <p:spPr>
                      <a:xfrm>
                        <a:off x="1590" y="1589"/>
                        <a:ext cx="1588" cy="1588"/>
                      </a:xfrm>
                      <a:prstGeom prst="rect">
                        <a:avLst/>
                      </a:prstGeom>
                    </p:spPr>
                  </p:pic>
                </p:oleObj>
              </mc:Fallback>
            </mc:AlternateContent>
          </a:graphicData>
        </a:graphic>
      </p:graphicFrame>
      <p:sp>
        <p:nvSpPr>
          <p:cNvPr id="13" name="矩形"/>
          <p:cNvSpPr/>
          <p:nvPr userDrawn="1"/>
        </p:nvSpPr>
        <p:spPr>
          <a:xfrm>
            <a:off x="0" y="5037438"/>
            <a:ext cx="9144000" cy="114300"/>
          </a:xfrm>
          <a:prstGeom prst="rect">
            <a:avLst/>
          </a:prstGeom>
          <a:solidFill>
            <a:srgbClr val="FFD1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aseline="0">
              <a:latin typeface="Calibri" panose="020F0502020204030204" pitchFamily="34" charset="0"/>
              <a:ea typeface="楷体" panose="02010609060101010101" pitchFamily="49" charset="-122"/>
              <a:cs typeface="+mn-cs"/>
              <a:sym typeface="+mn-lt"/>
            </a:endParaRPr>
          </a:p>
        </p:txBody>
      </p:sp>
      <p:sp>
        <p:nvSpPr>
          <p:cNvPr id="15" name="标题 2"/>
          <p:cNvSpPr>
            <a:spLocks noGrp="1"/>
          </p:cNvSpPr>
          <p:nvPr>
            <p:ph type="title"/>
          </p:nvPr>
        </p:nvSpPr>
        <p:spPr>
          <a:xfrm>
            <a:off x="308705" y="439480"/>
            <a:ext cx="8584470" cy="547945"/>
          </a:xfrm>
          <a:prstGeom prst="rect">
            <a:avLst/>
          </a:prstGeom>
        </p:spPr>
        <p:txBody>
          <a:bodyPr vert="horz" anchor="ctr">
            <a:normAutofit/>
          </a:bodyPr>
          <a:lstStyle>
            <a:lvl1pPr>
              <a:defRPr kumimoji="1" lang="zh-CN" altLang="en-US" sz="1800" b="0" i="0" kern="1200" baseline="0" dirty="0">
                <a:solidFill>
                  <a:schemeClr val="tx1"/>
                </a:solidFill>
                <a:latin typeface="Calibri" panose="020F0502020204030204" pitchFamily="34" charset="0"/>
                <a:ea typeface="楷体" panose="02010609060101010101" pitchFamily="49" charset="-122"/>
                <a:cs typeface="+mj-cs"/>
                <a:sym typeface="+mj-lt"/>
              </a:defRPr>
            </a:lvl1pPr>
          </a:lstStyle>
          <a:p>
            <a:r>
              <a:rPr lang="zh-CN" altLang="en-US" dirty="0"/>
              <a:t>单击此处编辑母版标题样式</a:t>
            </a:r>
          </a:p>
        </p:txBody>
      </p:sp>
      <p:sp>
        <p:nvSpPr>
          <p:cNvPr id="3" name="内容占位符 2"/>
          <p:cNvSpPr>
            <a:spLocks noGrp="1"/>
          </p:cNvSpPr>
          <p:nvPr>
            <p:ph sz="quarter" idx="23" hasCustomPrompt="1"/>
          </p:nvPr>
        </p:nvSpPr>
        <p:spPr>
          <a:xfrm>
            <a:off x="252207" y="1131888"/>
            <a:ext cx="8639588" cy="3516312"/>
          </a:xfrm>
          <a:prstGeom prst="rect">
            <a:avLst/>
          </a:prstGeom>
          <a:noFill/>
          <a:ln>
            <a:noFill/>
          </a:ln>
        </p:spPr>
        <p:txBody>
          <a:bodyPr/>
          <a:lstStyle>
            <a:lvl1pPr>
              <a:lnSpc>
                <a:spcPct val="120000"/>
              </a:lnSpc>
              <a:buClr>
                <a:schemeClr val="accent1"/>
              </a:buClr>
              <a:defRPr sz="1400" baseline="0">
                <a:latin typeface="Calibri" panose="020F0502020204030204" pitchFamily="34" charset="0"/>
                <a:ea typeface="楷体" panose="02010609060101010101" pitchFamily="49" charset="-122"/>
              </a:defRPr>
            </a:lvl1pPr>
            <a:lvl2pPr>
              <a:lnSpc>
                <a:spcPct val="120000"/>
              </a:lnSpc>
              <a:defRPr sz="1200"/>
            </a:lvl2pPr>
            <a:lvl3pPr>
              <a:lnSpc>
                <a:spcPct val="120000"/>
              </a:lnSpc>
              <a:defRPr sz="1050"/>
            </a:lvl3pPr>
            <a:lvl4pPr>
              <a:lnSpc>
                <a:spcPct val="120000"/>
              </a:lnSpc>
              <a:defRPr sz="1050"/>
            </a:lvl4pPr>
            <a:lvl5pPr>
              <a:lnSpc>
                <a:spcPct val="120000"/>
              </a:lnSpc>
              <a:defRPr sz="1050"/>
            </a:lvl5pPr>
          </a:lstStyle>
          <a:p>
            <a:pPr lvl="0"/>
            <a:r>
              <a:rPr lang="zh-CN" altLang="en-US" dirty="0"/>
              <a:t>编辑母版文本样式</a:t>
            </a:r>
          </a:p>
        </p:txBody>
      </p:sp>
      <p:sp>
        <p:nvSpPr>
          <p:cNvPr id="6" name="文本占位符 6"/>
          <p:cNvSpPr>
            <a:spLocks noGrp="1"/>
          </p:cNvSpPr>
          <p:nvPr>
            <p:ph type="body" sz="quarter" idx="22" hasCustomPrompt="1"/>
          </p:nvPr>
        </p:nvSpPr>
        <p:spPr>
          <a:xfrm>
            <a:off x="308706" y="123824"/>
            <a:ext cx="8583088" cy="266037"/>
          </a:xfrm>
          <a:prstGeom prst="rect">
            <a:avLst/>
          </a:prstGeom>
        </p:spPr>
        <p:txBody>
          <a:bodyPr anchor="ctr">
            <a:normAutofit/>
          </a:bodyPr>
          <a:lstStyle>
            <a:lvl1pPr marL="0" indent="0" algn="l" defTabSz="685800" rtl="0" eaLnBrk="1" latinLnBrk="0" hangingPunct="1">
              <a:lnSpc>
                <a:spcPct val="90000"/>
              </a:lnSpc>
              <a:spcBef>
                <a:spcPts val="750"/>
              </a:spcBef>
              <a:buFont typeface="Arial" panose="020B0604020202020204" pitchFamily="34" charset="0"/>
              <a:buNone/>
              <a:defRPr kumimoji="1" lang="zh-CN" altLang="en-US" sz="1200" b="1" i="0" kern="1200" baseline="0" dirty="0" smtClean="0">
                <a:solidFill>
                  <a:schemeClr val="bg1">
                    <a:lumMod val="50000"/>
                  </a:schemeClr>
                </a:solidFill>
                <a:latin typeface="Calibri" panose="020F0502020204030204" pitchFamily="34" charset="0"/>
                <a:ea typeface="楷体" panose="02010609060101010101" pitchFamily="49" charset="-122"/>
                <a:cs typeface="+mn-cs"/>
                <a:sym typeface="+mn-lt"/>
              </a:defRPr>
            </a:lvl1pPr>
            <a:lvl2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2pPr>
            <a:lvl3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3pPr>
            <a:lvl4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smtClean="0">
                <a:solidFill>
                  <a:schemeClr val="bg1">
                    <a:lumMod val="50000"/>
                  </a:schemeClr>
                </a:solidFill>
                <a:latin typeface="微软雅黑" panose="020B0502040204020203" pitchFamily="34" charset="-122"/>
                <a:ea typeface="微软雅黑" panose="020B0502040204020203" pitchFamily="34" charset="-122"/>
                <a:cs typeface="+mn-cs"/>
              </a:defRPr>
            </a:lvl4pPr>
            <a:lvl5pPr marL="0" indent="0" algn="l" defTabSz="685800" rtl="0" eaLnBrk="1" latinLnBrk="0" hangingPunct="1">
              <a:lnSpc>
                <a:spcPct val="90000"/>
              </a:lnSpc>
              <a:spcBef>
                <a:spcPts val="750"/>
              </a:spcBef>
              <a:buFont typeface="Arial" panose="020B0604020202020204" pitchFamily="34" charset="0"/>
              <a:buNone/>
              <a:defRPr kumimoji="1" lang="zh-CN" altLang="en-US" sz="1800" b="0" i="0" kern="1200" dirty="0">
                <a:solidFill>
                  <a:schemeClr val="bg1">
                    <a:lumMod val="50000"/>
                  </a:schemeClr>
                </a:solidFill>
                <a:latin typeface="微软雅黑" panose="020B0502040204020203" pitchFamily="34" charset="-122"/>
                <a:ea typeface="微软雅黑" panose="020B0502040204020203" pitchFamily="34" charset="-122"/>
                <a:cs typeface="+mn-cs"/>
              </a:defRPr>
            </a:lvl5pPr>
          </a:lstStyle>
          <a:p>
            <a:r>
              <a:rPr kumimoji="1" lang="zh-CN" altLang="en-US" dirty="0">
                <a:solidFill>
                  <a:schemeClr val="bg1">
                    <a:lumMod val="50000"/>
                  </a:schemeClr>
                </a:solidFill>
              </a:rPr>
              <a:t>单击此处添加副标题</a:t>
            </a:r>
          </a:p>
        </p:txBody>
      </p:sp>
      <p:sp>
        <p:nvSpPr>
          <p:cNvPr id="7" name="矩形 6"/>
          <p:cNvSpPr/>
          <p:nvPr userDrawn="1"/>
        </p:nvSpPr>
        <p:spPr>
          <a:xfrm>
            <a:off x="250826" y="123826"/>
            <a:ext cx="57881" cy="8635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baseline="0">
              <a:latin typeface="Calibri" panose="020F0502020204030204" pitchFamily="34" charset="0"/>
              <a:ea typeface="楷体" panose="02010609060101010101" pitchFamily="49" charset="-122"/>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单标题_默认">
    <p:spTree>
      <p:nvGrpSpPr>
        <p:cNvPr id="1" name=""/>
        <p:cNvGrpSpPr/>
        <p:nvPr/>
      </p:nvGrpSpPr>
      <p:grpSpPr>
        <a:xfrm>
          <a:off x="0" y="0"/>
          <a:ext cx="0" cy="0"/>
          <a:chOff x="0" y="0"/>
          <a:chExt cx="0" cy="0"/>
        </a:xfrm>
      </p:grpSpPr>
      <p:graphicFrame>
        <p:nvGraphicFramePr>
          <p:cNvPr id="10" name="对象 9" hidden="1"/>
          <p:cNvGraphicFramePr>
            <a:graphicFrameLocks noChangeAspect="1"/>
          </p:cNvGraphicFramePr>
          <p:nvPr>
            <p:custDataLst>
              <p:tags r:id="rId1"/>
            </p:custData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幻灯片" r:id="rId3" imgW="0" imgH="0" progId="TCLayout.ActiveDocument.1">
                  <p:embed/>
                </p:oleObj>
              </mc:Choice>
              <mc:Fallback>
                <p:oleObj name="think-cell 幻灯片" r:id="rId3" imgW="0" imgH="0" progId="TCLayout.ActiveDocument.1">
                  <p:embed/>
                  <p:pic>
                    <p:nvPicPr>
                      <p:cNvPr id="0" name="对象 9" hidden="1"/>
                      <p:cNvPicPr/>
                      <p:nvPr/>
                    </p:nvPicPr>
                    <p:blipFill>
                      <a:blip r:embed="rId4"/>
                      <a:stretch>
                        <a:fillRect/>
                      </a:stretch>
                    </p:blipFill>
                    <p:spPr>
                      <a:xfrm>
                        <a:off x="1590" y="1589"/>
                        <a:ext cx="1588" cy="1588"/>
                      </a:xfrm>
                      <a:prstGeom prst="rect">
                        <a:avLst/>
                      </a:prstGeom>
                    </p:spPr>
                  </p:pic>
                </p:oleObj>
              </mc:Fallback>
            </mc:AlternateContent>
          </a:graphicData>
        </a:graphic>
      </p:graphicFrame>
      <p:sp>
        <p:nvSpPr>
          <p:cNvPr id="13" name="矩形"/>
          <p:cNvSpPr/>
          <p:nvPr/>
        </p:nvSpPr>
        <p:spPr>
          <a:xfrm>
            <a:off x="0" y="5037438"/>
            <a:ext cx="9144000" cy="114300"/>
          </a:xfrm>
          <a:prstGeom prst="rect">
            <a:avLst/>
          </a:prstGeom>
          <a:solidFill>
            <a:srgbClr val="FFD1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latin typeface="+mn-lt"/>
              <a:ea typeface="+mn-ea"/>
              <a:cs typeface="+mn-cs"/>
              <a:sym typeface="+mn-lt"/>
            </a:endParaRPr>
          </a:p>
        </p:txBody>
      </p:sp>
      <p:sp>
        <p:nvSpPr>
          <p:cNvPr id="15" name="标题 2"/>
          <p:cNvSpPr>
            <a:spLocks noGrp="1"/>
          </p:cNvSpPr>
          <p:nvPr>
            <p:ph type="title"/>
          </p:nvPr>
        </p:nvSpPr>
        <p:spPr>
          <a:xfrm>
            <a:off x="252000" y="288001"/>
            <a:ext cx="7664380" cy="427313"/>
          </a:xfrm>
          <a:prstGeom prst="rect">
            <a:avLst/>
          </a:prstGeom>
        </p:spPr>
        <p:txBody>
          <a:bodyPr vert="horz" anchor="ctr">
            <a:normAutofit/>
          </a:bodyPr>
          <a:lstStyle>
            <a:lvl1pPr>
              <a:defRPr kumimoji="1" lang="zh-CN" altLang="en-US" sz="2400" b="0" i="0" kern="1200" dirty="0">
                <a:solidFill>
                  <a:schemeClr val="tx1"/>
                </a:solidFill>
                <a:latin typeface="+mj-ea"/>
                <a:ea typeface="+mj-ea"/>
                <a:cs typeface="+mj-cs"/>
                <a:sym typeface="+mj-lt"/>
              </a:defRPr>
            </a:lvl1pPr>
          </a:lstStyle>
          <a:p>
            <a:r>
              <a:rPr lang="en-US" altLang="zh-CN"/>
              <a:t>Click to edit Master title style</a:t>
            </a:r>
            <a:endParaRPr lang="zh-CN" altLang="en-US" dirty="0"/>
          </a:p>
        </p:txBody>
      </p:sp>
      <p:sp>
        <p:nvSpPr>
          <p:cNvPr id="3" name="内容占位符 2"/>
          <p:cNvSpPr>
            <a:spLocks noGrp="1"/>
          </p:cNvSpPr>
          <p:nvPr>
            <p:ph sz="quarter" idx="23"/>
          </p:nvPr>
        </p:nvSpPr>
        <p:spPr>
          <a:xfrm>
            <a:off x="252207" y="871728"/>
            <a:ext cx="8639588" cy="3776472"/>
          </a:xfrm>
          <a:prstGeom prst="rect">
            <a:avLst/>
          </a:prstGeom>
          <a:noFill/>
          <a:ln>
            <a:noFill/>
          </a:ln>
        </p:spPr>
        <p:txBody>
          <a:bodyPr/>
          <a:lstStyle>
            <a:lvl1pPr>
              <a:lnSpc>
                <a:spcPct val="120000"/>
              </a:lnSpc>
              <a:defRPr sz="1400"/>
            </a:lvl1pPr>
            <a:lvl2pPr>
              <a:lnSpc>
                <a:spcPct val="120000"/>
              </a:lnSpc>
              <a:defRPr sz="1200"/>
            </a:lvl2pPr>
            <a:lvl3pPr>
              <a:lnSpc>
                <a:spcPct val="120000"/>
              </a:lnSpc>
              <a:defRPr sz="1050"/>
            </a:lvl3pPr>
            <a:lvl4pPr>
              <a:lnSpc>
                <a:spcPct val="120000"/>
              </a:lnSpc>
              <a:defRPr sz="1050"/>
            </a:lvl4pPr>
            <a:lvl5pPr>
              <a:lnSpc>
                <a:spcPct val="120000"/>
              </a:lnSpc>
              <a:defRPr sz="1050"/>
            </a:lvl5pPr>
          </a:lstStyle>
          <a:p>
            <a:pPr lvl="0"/>
            <a:r>
              <a:rPr lang="en-US" altLang="zh-CN"/>
              <a:t>Click to edit Master text styles</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9" Type="http://schemas.openxmlformats.org/officeDocument/2006/relationships/oleObject" Target="../embeddings/oleObject1.bin"/><Relationship Id="rId1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8"/>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幻灯片" r:id="rId9" imgW="0" imgH="0" progId="TCLayout.ActiveDocument.1">
                  <p:embed/>
                </p:oleObj>
              </mc:Choice>
              <mc:Fallback>
                <p:oleObj name="think-cell 幻灯片" r:id="rId9" imgW="0" imgH="0" progId="TCLayout.ActiveDocument.1">
                  <p:embed/>
                  <p:pic>
                    <p:nvPicPr>
                      <p:cNvPr id="0" name="对象 4" hidden="1"/>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 name="矩形"/>
          <p:cNvSpPr/>
          <p:nvPr userDrawn="1"/>
        </p:nvSpPr>
        <p:spPr>
          <a:xfrm>
            <a:off x="0" y="5037438"/>
            <a:ext cx="9144000" cy="114300"/>
          </a:xfrm>
          <a:prstGeom prst="rect">
            <a:avLst/>
          </a:prstGeom>
          <a:solidFill>
            <a:srgbClr val="FFD1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aseline="0">
              <a:latin typeface="Calibri" panose="020F0502020204030204" pitchFamily="34" charset="0"/>
              <a:ea typeface="楷体" panose="02010609060101010101" pitchFamily="49" charset="-122"/>
              <a:cs typeface="+mn-cs"/>
              <a:sym typeface="+mn-lt"/>
            </a:endParaRPr>
          </a:p>
        </p:txBody>
      </p:sp>
      <p:sp>
        <p:nvSpPr>
          <p:cNvPr id="7" name="文本占位符 11"/>
          <p:cNvSpPr txBox="1"/>
          <p:nvPr userDrawn="1"/>
        </p:nvSpPr>
        <p:spPr>
          <a:xfrm>
            <a:off x="7736320" y="4739965"/>
            <a:ext cx="1078947" cy="251811"/>
          </a:xfrm>
          <a:prstGeom prst="rect">
            <a:avLst/>
          </a:prstGeom>
        </p:spPr>
        <p:txBody>
          <a:bodyPr wrap="none" anchor="ctr"/>
          <a:lstStyle>
            <a:lvl1pPr marL="0" indent="0" algn="r" defTabSz="685800" rtl="0" eaLnBrk="1" latinLnBrk="0" hangingPunct="1">
              <a:lnSpc>
                <a:spcPct val="90000"/>
              </a:lnSpc>
              <a:spcBef>
                <a:spcPts val="750"/>
              </a:spcBef>
              <a:buFont typeface="Arial" panose="020B0604020202020204" pitchFamily="34" charset="0"/>
              <a:buNone/>
              <a:defRPr sz="1000" b="0" i="0" kern="1200">
                <a:solidFill>
                  <a:schemeClr val="tx1"/>
                </a:solidFill>
                <a:latin typeface="微软雅黑" panose="020B0502040204020203" pitchFamily="34" charset="-122"/>
                <a:ea typeface="微软雅黑" panose="020B0502040204020203"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fld id="{4648968B-9B7E-4AEF-AF8F-76389AEE4EF7}" type="slidenum">
              <a:rPr kumimoji="1" lang="zh-CN" altLang="en-US" sz="1000" baseline="0" smtClean="0">
                <a:latin typeface="Calibri" panose="020F0502020204030204" pitchFamily="34" charset="0"/>
                <a:ea typeface="楷体" panose="02010609060101010101" pitchFamily="49" charset="-122"/>
                <a:cs typeface="+mn-cs"/>
                <a:sym typeface="+mn-lt"/>
              </a:rPr>
              <a:t>‹#›</a:t>
            </a:fld>
            <a:endParaRPr kumimoji="1" lang="zh-CN" altLang="en-US" sz="1000" baseline="0" dirty="0">
              <a:latin typeface="Calibri" panose="020F0502020204030204" pitchFamily="34" charset="0"/>
              <a:ea typeface="楷体" panose="02010609060101010101" pitchFamily="49" charset="-122"/>
              <a:cs typeface="+mn-cs"/>
              <a:sym typeface="+mn-lt"/>
            </a:endParaRPr>
          </a:p>
        </p:txBody>
      </p:sp>
      <p:sp>
        <p:nvSpPr>
          <p:cNvPr id="6" name="标题占位符 5"/>
          <p:cNvSpPr>
            <a:spLocks noGrp="1"/>
          </p:cNvSpPr>
          <p:nvPr>
            <p:ph type="title"/>
          </p:nvPr>
        </p:nvSpPr>
        <p:spPr>
          <a:xfrm>
            <a:off x="628650" y="274639"/>
            <a:ext cx="7886700" cy="993775"/>
          </a:xfrm>
          <a:prstGeom prst="rect">
            <a:avLst/>
          </a:prstGeom>
        </p:spPr>
        <p:txBody>
          <a:bodyPr vert="horz" lIns="91440" tIns="45720" rIns="91440" bIns="45720" rtlCol="0" anchor="ctr">
            <a:normAutofit/>
          </a:bodyPr>
          <a:lstStyle/>
          <a:p>
            <a:r>
              <a:rPr lang="zh-CN" altLang="en-US"/>
              <a:t>单击此处编辑母版标题样式</a:t>
            </a:r>
          </a:p>
        </p:txBody>
      </p:sp>
      <p:sp>
        <p:nvSpPr>
          <p:cNvPr id="8" name="文本占位符 7"/>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4.xml"/><Relationship Id="rId3" Type="http://schemas.openxmlformats.org/officeDocument/2006/relationships/notesSlide" Target="../notesSlides/notesSlide5.xml"/><Relationship Id="rId4" Type="http://schemas.openxmlformats.org/officeDocument/2006/relationships/oleObject" Target="../embeddings/oleObject6.bin"/><Relationship Id="rId5"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jpeg"/><Relationship Id="rId12" Type="http://schemas.openxmlformats.org/officeDocument/2006/relationships/image" Target="../media/image12.jpeg"/><Relationship Id="rId13" Type="http://schemas.openxmlformats.org/officeDocument/2006/relationships/image" Target="../media/image13.jpeg"/><Relationship Id="rId14" Type="http://schemas.openxmlformats.org/officeDocument/2006/relationships/image" Target="../media/image14.jpeg"/><Relationship Id="rId15" Type="http://schemas.openxmlformats.org/officeDocument/2006/relationships/image" Target="../media/image15.jpeg"/><Relationship Id="rId16" Type="http://schemas.openxmlformats.org/officeDocument/2006/relationships/image" Target="../media/image16.jpeg"/><Relationship Id="rId17" Type="http://schemas.openxmlformats.org/officeDocument/2006/relationships/image" Target="../media/image17.jpeg"/><Relationship Id="rId18" Type="http://schemas.openxmlformats.org/officeDocument/2006/relationships/image" Target="../media/image18.jpeg"/><Relationship Id="rId19" Type="http://schemas.openxmlformats.org/officeDocument/2006/relationships/image" Target="../media/image19.jpeg"/><Relationship Id="rId20" Type="http://schemas.openxmlformats.org/officeDocument/2006/relationships/image" Target="../media/image20.jpeg"/><Relationship Id="rId21" Type="http://schemas.openxmlformats.org/officeDocument/2006/relationships/image" Target="../media/image21.jpeg"/><Relationship Id="rId22" Type="http://schemas.openxmlformats.org/officeDocument/2006/relationships/image" Target="../media/image22.jpeg"/><Relationship Id="rId23" Type="http://schemas.openxmlformats.org/officeDocument/2006/relationships/image" Target="../media/image23.jpeg"/><Relationship Id="rId24" Type="http://schemas.openxmlformats.org/officeDocument/2006/relationships/image" Target="../media/image2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9.emf"/><Relationship Id="rId5" Type="http://schemas.openxmlformats.org/officeDocument/2006/relationships/image" Target="../media/image30.png"/><Relationship Id="rId6" Type="http://schemas.openxmlformats.org/officeDocument/2006/relationships/image" Target="../media/image31.emf"/><Relationship Id="rId7" Type="http://schemas.openxmlformats.org/officeDocument/2006/relationships/image" Target="../media/image32.jpeg"/><Relationship Id="rId8"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diagramData" Target="../diagrams/data1.xml"/><Relationship Id="rId6" Type="http://schemas.openxmlformats.org/officeDocument/2006/relationships/diagramLayout" Target="../diagrams/layout1.xml"/><Relationship Id="rId7" Type="http://schemas.openxmlformats.org/officeDocument/2006/relationships/diagramQuickStyle" Target="../diagrams/quickStyle1.xml"/><Relationship Id="rId8" Type="http://schemas.openxmlformats.org/officeDocument/2006/relationships/diagramColors" Target="../diagrams/colors1.xml"/><Relationship Id="rId9" Type="http://schemas.microsoft.com/office/2007/relationships/diagramDrawing" Target="../diagrams/drawin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6.emf"/><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jpeg"/><Relationship Id="rId5"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
          <p:cNvSpPr txBox="1"/>
          <p:nvPr/>
        </p:nvSpPr>
        <p:spPr>
          <a:xfrm>
            <a:off x="164886" y="5178"/>
            <a:ext cx="3661044"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kumimoji="1" lang="zh-CN" altLang="en-US" dirty="0">
                <a:latin typeface="+mn-ea"/>
              </a:rPr>
              <a:t>用户到餐找店需求划分</a:t>
            </a:r>
            <a:endParaRPr kumimoji="1" lang="en-US" altLang="zh-CN" dirty="0">
              <a:latin typeface="+mn-ea"/>
            </a:endParaRPr>
          </a:p>
        </p:txBody>
      </p:sp>
      <p:sp>
        <p:nvSpPr>
          <p:cNvPr id="5" name="文本占位符 1"/>
          <p:cNvSpPr txBox="1"/>
          <p:nvPr/>
        </p:nvSpPr>
        <p:spPr>
          <a:xfrm>
            <a:off x="7085659" y="3199885"/>
            <a:ext cx="1899800" cy="846292"/>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找套餐优惠、找菜品、找权益，找服务</a:t>
            </a:r>
            <a:endParaRPr lang="en-US" altLang="zh-CN" sz="1200" dirty="0">
              <a:latin typeface="+mn-ea"/>
            </a:endParaRPr>
          </a:p>
        </p:txBody>
      </p:sp>
      <p:sp>
        <p:nvSpPr>
          <p:cNvPr id="7" name="文本占位符 1"/>
          <p:cNvSpPr txBox="1"/>
          <p:nvPr/>
        </p:nvSpPr>
        <p:spPr>
          <a:xfrm>
            <a:off x="7240241" y="4348207"/>
            <a:ext cx="1624519"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精搜</a:t>
            </a:r>
            <a:r>
              <a:rPr lang="en-US" altLang="zh-CN" sz="1200" dirty="0">
                <a:latin typeface="+mn-ea"/>
              </a:rPr>
              <a:t>/</a:t>
            </a:r>
            <a:r>
              <a:rPr lang="zh-CN" altLang="en-US" sz="1200" dirty="0">
                <a:latin typeface="+mn-ea"/>
              </a:rPr>
              <a:t>扫码点餐</a:t>
            </a:r>
            <a:r>
              <a:rPr lang="en-US" altLang="zh-CN" sz="1200" dirty="0">
                <a:latin typeface="+mn-ea"/>
              </a:rPr>
              <a:t>/</a:t>
            </a:r>
            <a:r>
              <a:rPr lang="zh-CN" altLang="en-US" sz="1200" dirty="0">
                <a:latin typeface="+mn-ea"/>
              </a:rPr>
              <a:t>订单复购等</a:t>
            </a:r>
            <a:endParaRPr lang="en-US" altLang="zh-CN" sz="1200" dirty="0">
              <a:latin typeface="+mn-ea"/>
            </a:endParaRPr>
          </a:p>
        </p:txBody>
      </p:sp>
      <p:sp>
        <p:nvSpPr>
          <p:cNvPr id="8" name="下箭头 7"/>
          <p:cNvSpPr/>
          <p:nvPr/>
        </p:nvSpPr>
        <p:spPr>
          <a:xfrm>
            <a:off x="7767539" y="3998925"/>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11" name="文本占位符 1"/>
          <p:cNvSpPr txBox="1"/>
          <p:nvPr/>
        </p:nvSpPr>
        <p:spPr>
          <a:xfrm>
            <a:off x="62055" y="4266912"/>
            <a:ext cx="1394854"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kumimoji="1" lang="zh-CN" altLang="en-US" sz="1600" b="1" dirty="0">
                <a:latin typeface="+mn-ea"/>
              </a:rPr>
              <a:t>示例路径</a:t>
            </a:r>
            <a:endParaRPr kumimoji="1" lang="en-US" altLang="zh-CN" sz="1600" b="1" dirty="0">
              <a:latin typeface="+mn-ea"/>
            </a:endParaRPr>
          </a:p>
        </p:txBody>
      </p:sp>
      <p:sp>
        <p:nvSpPr>
          <p:cNvPr id="13" name="圆角矩形 12"/>
          <p:cNvSpPr/>
          <p:nvPr/>
        </p:nvSpPr>
        <p:spPr>
          <a:xfrm>
            <a:off x="7195705" y="1153029"/>
            <a:ext cx="1301489" cy="495371"/>
          </a:xfrm>
          <a:prstGeom prst="roundRect">
            <a:avLst/>
          </a:prstGeom>
          <a:solidFill>
            <a:schemeClr val="bg1">
              <a:lumMod val="7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600" b="1" dirty="0">
                <a:solidFill>
                  <a:schemeClr val="tx1"/>
                </a:solidFill>
                <a:latin typeface="+mn-ea"/>
              </a:rPr>
              <a:t>目的明确</a:t>
            </a:r>
          </a:p>
        </p:txBody>
      </p:sp>
      <p:sp>
        <p:nvSpPr>
          <p:cNvPr id="18" name="圆角矩形 17"/>
          <p:cNvSpPr/>
          <p:nvPr/>
        </p:nvSpPr>
        <p:spPr>
          <a:xfrm>
            <a:off x="7794206" y="2155692"/>
            <a:ext cx="1059844" cy="253364"/>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单店</a:t>
            </a:r>
            <a:r>
              <a:rPr kumimoji="1" lang="en-US" altLang="zh-CN" sz="1200" dirty="0">
                <a:solidFill>
                  <a:schemeClr val="tx1"/>
                </a:solidFill>
                <a:latin typeface="+mn-ea"/>
              </a:rPr>
              <a:t>/</a:t>
            </a:r>
            <a:r>
              <a:rPr kumimoji="1" lang="zh-CN" altLang="en-US" sz="1200" dirty="0">
                <a:solidFill>
                  <a:schemeClr val="tx1"/>
                </a:solidFill>
                <a:latin typeface="+mn-ea"/>
              </a:rPr>
              <a:t>品牌</a:t>
            </a:r>
          </a:p>
        </p:txBody>
      </p:sp>
      <p:sp>
        <p:nvSpPr>
          <p:cNvPr id="19" name="文本占位符 1"/>
          <p:cNvSpPr txBox="1"/>
          <p:nvPr/>
        </p:nvSpPr>
        <p:spPr>
          <a:xfrm>
            <a:off x="56444" y="1944678"/>
            <a:ext cx="1394854"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kumimoji="1" lang="zh-CN" altLang="en-US" sz="1600" b="1" dirty="0">
                <a:latin typeface="+mn-ea"/>
              </a:rPr>
              <a:t>需求描述</a:t>
            </a:r>
            <a:endParaRPr kumimoji="1" lang="en-US" altLang="zh-CN" sz="1600" b="1" dirty="0">
              <a:latin typeface="+mn-ea"/>
            </a:endParaRPr>
          </a:p>
        </p:txBody>
      </p:sp>
      <p:sp>
        <p:nvSpPr>
          <p:cNvPr id="20" name="文本占位符 1"/>
          <p:cNvSpPr txBox="1"/>
          <p:nvPr/>
        </p:nvSpPr>
        <p:spPr>
          <a:xfrm>
            <a:off x="62162" y="3261934"/>
            <a:ext cx="1394854"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kumimoji="1" lang="zh-CN" altLang="en-US" sz="1600" b="1" dirty="0">
                <a:latin typeface="+mn-ea"/>
              </a:rPr>
              <a:t>延申需求</a:t>
            </a:r>
            <a:endParaRPr kumimoji="1" lang="en-US" altLang="zh-CN" sz="1600" b="1" dirty="0">
              <a:latin typeface="+mn-ea"/>
            </a:endParaRPr>
          </a:p>
        </p:txBody>
      </p:sp>
      <p:sp>
        <p:nvSpPr>
          <p:cNvPr id="37" name="下箭头 36"/>
          <p:cNvSpPr/>
          <p:nvPr/>
        </p:nvSpPr>
        <p:spPr>
          <a:xfrm>
            <a:off x="7759923" y="2963687"/>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3" name="文本占位符 1"/>
          <p:cNvSpPr txBox="1"/>
          <p:nvPr/>
        </p:nvSpPr>
        <p:spPr>
          <a:xfrm>
            <a:off x="4034763" y="3199885"/>
            <a:ext cx="2401309" cy="846292"/>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在约束条件下进行决策比较，或结合其他综合信息综合比较</a:t>
            </a:r>
          </a:p>
        </p:txBody>
      </p:sp>
      <p:sp>
        <p:nvSpPr>
          <p:cNvPr id="22" name="文本占位符 1"/>
          <p:cNvSpPr txBox="1"/>
          <p:nvPr/>
        </p:nvSpPr>
        <p:spPr>
          <a:xfrm>
            <a:off x="4373507" y="4348207"/>
            <a:ext cx="1624519"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泛搜</a:t>
            </a:r>
            <a:r>
              <a:rPr lang="en-US" altLang="zh-CN" sz="1200" dirty="0">
                <a:latin typeface="+mn-ea"/>
              </a:rPr>
              <a:t>/</a:t>
            </a:r>
            <a:r>
              <a:rPr lang="zh-CN" altLang="en-US" sz="1200" dirty="0">
                <a:latin typeface="+mn-ea"/>
              </a:rPr>
              <a:t>筛排</a:t>
            </a:r>
            <a:r>
              <a:rPr lang="en-US" altLang="zh-CN" sz="1200" dirty="0">
                <a:latin typeface="+mn-ea"/>
              </a:rPr>
              <a:t>/</a:t>
            </a:r>
            <a:r>
              <a:rPr lang="zh-CN" altLang="en-US" sz="1200" dirty="0">
                <a:latin typeface="+mn-ea"/>
              </a:rPr>
              <a:t>榜单等</a:t>
            </a:r>
            <a:endParaRPr lang="en-US" altLang="zh-CN" sz="1200" dirty="0">
              <a:latin typeface="+mn-ea"/>
            </a:endParaRPr>
          </a:p>
        </p:txBody>
      </p:sp>
      <p:sp>
        <p:nvSpPr>
          <p:cNvPr id="23" name="下箭头 22"/>
          <p:cNvSpPr/>
          <p:nvPr/>
        </p:nvSpPr>
        <p:spPr>
          <a:xfrm>
            <a:off x="4941593" y="3998925"/>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25" name="圆角矩形 24"/>
          <p:cNvSpPr/>
          <p:nvPr/>
        </p:nvSpPr>
        <p:spPr>
          <a:xfrm>
            <a:off x="4177747" y="1155177"/>
            <a:ext cx="1844957" cy="495371"/>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600" b="1" dirty="0">
                <a:solidFill>
                  <a:schemeClr val="tx1"/>
                </a:solidFill>
                <a:latin typeface="+mn-ea"/>
              </a:rPr>
              <a:t>部分条件明确</a:t>
            </a:r>
          </a:p>
        </p:txBody>
      </p:sp>
      <p:sp>
        <p:nvSpPr>
          <p:cNvPr id="29" name="下箭头 28"/>
          <p:cNvSpPr/>
          <p:nvPr/>
        </p:nvSpPr>
        <p:spPr>
          <a:xfrm>
            <a:off x="4941593" y="2963687"/>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31" name="圆角矩形 30"/>
          <p:cNvSpPr/>
          <p:nvPr/>
        </p:nvSpPr>
        <p:spPr>
          <a:xfrm>
            <a:off x="4227201" y="2126503"/>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地点</a:t>
            </a:r>
            <a:endParaRPr kumimoji="1" lang="en-US" altLang="zh-CN" sz="1200" dirty="0">
              <a:solidFill>
                <a:schemeClr val="tx1"/>
              </a:solidFill>
              <a:latin typeface="+mn-ea"/>
            </a:endParaRPr>
          </a:p>
        </p:txBody>
      </p:sp>
      <p:sp>
        <p:nvSpPr>
          <p:cNvPr id="32" name="圆角矩形 31"/>
          <p:cNvSpPr/>
          <p:nvPr/>
        </p:nvSpPr>
        <p:spPr>
          <a:xfrm>
            <a:off x="4970956" y="2132247"/>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场景</a:t>
            </a:r>
            <a:endParaRPr kumimoji="1" lang="en-US" altLang="zh-CN" sz="1200" dirty="0">
              <a:solidFill>
                <a:schemeClr val="tx1"/>
              </a:solidFill>
              <a:latin typeface="+mn-ea"/>
            </a:endParaRPr>
          </a:p>
        </p:txBody>
      </p:sp>
      <p:sp>
        <p:nvSpPr>
          <p:cNvPr id="33" name="圆角矩形 32"/>
          <p:cNvSpPr/>
          <p:nvPr/>
        </p:nvSpPr>
        <p:spPr>
          <a:xfrm>
            <a:off x="5724337" y="2126503"/>
            <a:ext cx="841731" cy="236227"/>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品类口味</a:t>
            </a:r>
            <a:endParaRPr kumimoji="1" lang="en-US" altLang="zh-CN" sz="1200" dirty="0">
              <a:solidFill>
                <a:schemeClr val="tx1"/>
              </a:solidFill>
              <a:latin typeface="+mn-ea"/>
            </a:endParaRPr>
          </a:p>
        </p:txBody>
      </p:sp>
      <p:sp>
        <p:nvSpPr>
          <p:cNvPr id="34" name="圆角矩形 33"/>
          <p:cNvSpPr/>
          <p:nvPr/>
        </p:nvSpPr>
        <p:spPr>
          <a:xfrm>
            <a:off x="4227201" y="2391629"/>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服务</a:t>
            </a:r>
            <a:endParaRPr kumimoji="1" lang="en-US" altLang="zh-CN" sz="1200" dirty="0">
              <a:solidFill>
                <a:schemeClr val="tx1"/>
              </a:solidFill>
              <a:latin typeface="+mn-ea"/>
            </a:endParaRPr>
          </a:p>
        </p:txBody>
      </p:sp>
      <p:sp>
        <p:nvSpPr>
          <p:cNvPr id="60" name="圆角矩形 59"/>
          <p:cNvSpPr/>
          <p:nvPr/>
        </p:nvSpPr>
        <p:spPr>
          <a:xfrm>
            <a:off x="5724337" y="2398505"/>
            <a:ext cx="841731" cy="216937"/>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环境设施</a:t>
            </a:r>
            <a:endParaRPr kumimoji="1" lang="en-US" altLang="zh-CN" sz="1200" dirty="0">
              <a:solidFill>
                <a:schemeClr val="tx1"/>
              </a:solidFill>
              <a:latin typeface="+mn-ea"/>
            </a:endParaRPr>
          </a:p>
        </p:txBody>
      </p:sp>
      <p:sp>
        <p:nvSpPr>
          <p:cNvPr id="61" name="圆角矩形 60"/>
          <p:cNvSpPr/>
          <p:nvPr/>
        </p:nvSpPr>
        <p:spPr>
          <a:xfrm>
            <a:off x="4973062" y="2398504"/>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价格带</a:t>
            </a:r>
            <a:endParaRPr kumimoji="1" lang="en-US" altLang="zh-CN" sz="1200" dirty="0">
              <a:solidFill>
                <a:schemeClr val="tx1"/>
              </a:solidFill>
              <a:latin typeface="+mn-ea"/>
            </a:endParaRPr>
          </a:p>
        </p:txBody>
      </p:sp>
      <p:sp>
        <p:nvSpPr>
          <p:cNvPr id="62" name="圆角矩形 61"/>
          <p:cNvSpPr/>
          <p:nvPr/>
        </p:nvSpPr>
        <p:spPr>
          <a:xfrm>
            <a:off x="4980196" y="2669904"/>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人数</a:t>
            </a:r>
            <a:endParaRPr kumimoji="1" lang="en-US" altLang="zh-CN" sz="1200" dirty="0">
              <a:solidFill>
                <a:schemeClr val="tx1"/>
              </a:solidFill>
              <a:latin typeface="+mn-ea"/>
            </a:endParaRPr>
          </a:p>
        </p:txBody>
      </p:sp>
      <p:sp>
        <p:nvSpPr>
          <p:cNvPr id="63" name="文本占位符 1"/>
          <p:cNvSpPr txBox="1"/>
          <p:nvPr/>
        </p:nvSpPr>
        <p:spPr>
          <a:xfrm>
            <a:off x="1545175" y="3199885"/>
            <a:ext cx="1854584" cy="846292"/>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丰富、精美的信息</a:t>
            </a:r>
            <a:r>
              <a:rPr lang="en-US" altLang="zh-CN" sz="1200" dirty="0">
                <a:latin typeface="+mn-ea"/>
              </a:rPr>
              <a:t>/</a:t>
            </a:r>
            <a:r>
              <a:rPr lang="zh-CN" altLang="en-US" sz="1200" dirty="0">
                <a:latin typeface="+mn-ea"/>
              </a:rPr>
              <a:t>内容，吸引点激发</a:t>
            </a:r>
          </a:p>
        </p:txBody>
      </p:sp>
      <p:sp>
        <p:nvSpPr>
          <p:cNvPr id="64" name="文本占位符 1"/>
          <p:cNvSpPr txBox="1"/>
          <p:nvPr/>
        </p:nvSpPr>
        <p:spPr>
          <a:xfrm>
            <a:off x="1502360" y="4301398"/>
            <a:ext cx="1669745" cy="5765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推荐</a:t>
            </a:r>
            <a:r>
              <a:rPr lang="en-US" altLang="zh-CN" sz="1200" dirty="0">
                <a:latin typeface="+mn-ea"/>
              </a:rPr>
              <a:t>/</a:t>
            </a:r>
            <a:r>
              <a:rPr lang="zh-CN" altLang="en-US" sz="1200" dirty="0">
                <a:latin typeface="+mn-ea"/>
              </a:rPr>
              <a:t>榜单</a:t>
            </a:r>
            <a:r>
              <a:rPr lang="en-US" altLang="zh-CN" sz="1200" dirty="0">
                <a:latin typeface="+mn-ea"/>
              </a:rPr>
              <a:t>/push</a:t>
            </a:r>
            <a:r>
              <a:rPr lang="zh-CN" altLang="en-US" sz="1200" dirty="0">
                <a:latin typeface="+mn-ea"/>
              </a:rPr>
              <a:t>等</a:t>
            </a:r>
            <a:endParaRPr lang="en-US" altLang="zh-CN" sz="1200" dirty="0">
              <a:latin typeface="+mn-ea"/>
            </a:endParaRPr>
          </a:p>
        </p:txBody>
      </p:sp>
      <p:sp>
        <p:nvSpPr>
          <p:cNvPr id="66" name="圆角矩形 65"/>
          <p:cNvSpPr/>
          <p:nvPr/>
        </p:nvSpPr>
        <p:spPr>
          <a:xfrm>
            <a:off x="1465107" y="1153029"/>
            <a:ext cx="1733202" cy="495371"/>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600" b="1" dirty="0">
                <a:solidFill>
                  <a:schemeClr val="tx1"/>
                </a:solidFill>
                <a:latin typeface="+mn-ea"/>
              </a:rPr>
              <a:t>无目的泛需求</a:t>
            </a:r>
          </a:p>
        </p:txBody>
      </p:sp>
      <p:sp>
        <p:nvSpPr>
          <p:cNvPr id="67" name="下箭头 66"/>
          <p:cNvSpPr/>
          <p:nvPr/>
        </p:nvSpPr>
        <p:spPr>
          <a:xfrm>
            <a:off x="2112943" y="2963687"/>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cxnSp>
        <p:nvCxnSpPr>
          <p:cNvPr id="119" name="直线连接符 118"/>
          <p:cNvCxnSpPr/>
          <p:nvPr/>
        </p:nvCxnSpPr>
        <p:spPr>
          <a:xfrm>
            <a:off x="3562683" y="2050428"/>
            <a:ext cx="0" cy="279302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20" name="直线连接符 119"/>
          <p:cNvCxnSpPr/>
          <p:nvPr/>
        </p:nvCxnSpPr>
        <p:spPr>
          <a:xfrm>
            <a:off x="7049907" y="2046079"/>
            <a:ext cx="0" cy="2797369"/>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2" name="文本占位符 1"/>
          <p:cNvSpPr txBox="1"/>
          <p:nvPr/>
        </p:nvSpPr>
        <p:spPr>
          <a:xfrm>
            <a:off x="7141882" y="2173699"/>
            <a:ext cx="804412" cy="250341"/>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明确找</a:t>
            </a:r>
            <a:endParaRPr lang="en-US" altLang="zh-CN" sz="1200" dirty="0">
              <a:latin typeface="+mn-ea"/>
            </a:endParaRPr>
          </a:p>
        </p:txBody>
      </p:sp>
      <p:sp>
        <p:nvSpPr>
          <p:cNvPr id="38" name="文本占位符 1"/>
          <p:cNvSpPr txBox="1"/>
          <p:nvPr/>
        </p:nvSpPr>
        <p:spPr>
          <a:xfrm>
            <a:off x="3590517" y="2120295"/>
            <a:ext cx="680858" cy="236227"/>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约束了</a:t>
            </a:r>
            <a:endParaRPr lang="en-US" altLang="zh-CN" sz="1200" dirty="0">
              <a:latin typeface="+mn-ea"/>
            </a:endParaRPr>
          </a:p>
        </p:txBody>
      </p:sp>
      <p:sp>
        <p:nvSpPr>
          <p:cNvPr id="40" name="圆角矩形 61"/>
          <p:cNvSpPr/>
          <p:nvPr/>
        </p:nvSpPr>
        <p:spPr>
          <a:xfrm>
            <a:off x="4227201" y="2670591"/>
            <a:ext cx="714392" cy="223812"/>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dirty="0">
                <a:solidFill>
                  <a:schemeClr val="tx1"/>
                </a:solidFill>
                <a:latin typeface="+mn-ea"/>
              </a:rPr>
              <a:t>菜品</a:t>
            </a:r>
            <a:endParaRPr kumimoji="1" lang="en-US" altLang="zh-CN" sz="1200" dirty="0">
              <a:solidFill>
                <a:schemeClr val="tx1"/>
              </a:solidFill>
              <a:latin typeface="+mn-ea"/>
            </a:endParaRPr>
          </a:p>
        </p:txBody>
      </p:sp>
      <p:sp>
        <p:nvSpPr>
          <p:cNvPr id="41" name="圆角矩形 61"/>
          <p:cNvSpPr/>
          <p:nvPr/>
        </p:nvSpPr>
        <p:spPr>
          <a:xfrm>
            <a:off x="5724336" y="2669905"/>
            <a:ext cx="835321" cy="216937"/>
          </a:xfrm>
          <a:prstGeom prst="roundRect">
            <a:avLst/>
          </a:prstGeom>
          <a:no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zh-CN" sz="1200" dirty="0">
                <a:solidFill>
                  <a:schemeClr val="tx1"/>
                </a:solidFill>
                <a:latin typeface="+mn-ea"/>
              </a:rPr>
              <a:t>……</a:t>
            </a:r>
          </a:p>
        </p:txBody>
      </p:sp>
      <p:sp>
        <p:nvSpPr>
          <p:cNvPr id="42" name="文本占位符 1"/>
          <p:cNvSpPr txBox="1"/>
          <p:nvPr/>
        </p:nvSpPr>
        <p:spPr>
          <a:xfrm>
            <a:off x="1584858" y="2116867"/>
            <a:ext cx="1641919" cy="281637"/>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先随便看看，再决策</a:t>
            </a:r>
            <a:endParaRPr lang="en-US" altLang="zh-CN" sz="1200" dirty="0">
              <a:latin typeface="+mn-ea"/>
            </a:endParaRPr>
          </a:p>
        </p:txBody>
      </p:sp>
      <p:sp>
        <p:nvSpPr>
          <p:cNvPr id="43" name="下箭头 66"/>
          <p:cNvSpPr/>
          <p:nvPr/>
        </p:nvSpPr>
        <p:spPr>
          <a:xfrm>
            <a:off x="2112944" y="3998925"/>
            <a:ext cx="564205" cy="3911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cxnSp>
        <p:nvCxnSpPr>
          <p:cNvPr id="69" name="连接符: 曲线 68"/>
          <p:cNvCxnSpPr>
            <a:stCxn id="66" idx="0"/>
            <a:endCxn id="25" idx="0"/>
          </p:cNvCxnSpPr>
          <p:nvPr/>
        </p:nvCxnSpPr>
        <p:spPr>
          <a:xfrm rot="16200000" flipH="1">
            <a:off x="3714893" y="-230156"/>
            <a:ext cx="2148" cy="2768518"/>
          </a:xfrm>
          <a:prstGeom prst="curvedConnector3">
            <a:avLst>
              <a:gd name="adj1" fmla="val -106424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连接符: 曲线 70"/>
          <p:cNvCxnSpPr>
            <a:stCxn id="25" idx="0"/>
            <a:endCxn id="13" idx="0"/>
          </p:cNvCxnSpPr>
          <p:nvPr/>
        </p:nvCxnSpPr>
        <p:spPr>
          <a:xfrm rot="5400000" flipH="1" flipV="1">
            <a:off x="6472264" y="-219009"/>
            <a:ext cx="2148" cy="2746224"/>
          </a:xfrm>
          <a:prstGeom prst="curvedConnector3">
            <a:avLst>
              <a:gd name="adj1" fmla="val 10742458"/>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文本占位符 1"/>
          <p:cNvSpPr txBox="1"/>
          <p:nvPr/>
        </p:nvSpPr>
        <p:spPr>
          <a:xfrm>
            <a:off x="3858639" y="738415"/>
            <a:ext cx="2483171" cy="387038"/>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随决策愈发清晰，需求逐步收敛</a:t>
            </a:r>
            <a:endParaRPr lang="en-US" altLang="zh-CN" sz="1200" dirty="0">
              <a:latin typeface="+mn-ea"/>
            </a:endParaRPr>
          </a:p>
        </p:txBody>
      </p:sp>
      <p:cxnSp>
        <p:nvCxnSpPr>
          <p:cNvPr id="77" name="连接符: 曲线 76"/>
          <p:cNvCxnSpPr>
            <a:stCxn id="13" idx="2"/>
            <a:endCxn id="25" idx="2"/>
          </p:cNvCxnSpPr>
          <p:nvPr/>
        </p:nvCxnSpPr>
        <p:spPr>
          <a:xfrm rot="5400000">
            <a:off x="6472264" y="276362"/>
            <a:ext cx="2148" cy="2746224"/>
          </a:xfrm>
          <a:prstGeom prst="curvedConnector3">
            <a:avLst>
              <a:gd name="adj1" fmla="val 107424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连接符: 曲线 82"/>
          <p:cNvCxnSpPr>
            <a:stCxn id="25" idx="2"/>
            <a:endCxn id="66" idx="2"/>
          </p:cNvCxnSpPr>
          <p:nvPr/>
        </p:nvCxnSpPr>
        <p:spPr>
          <a:xfrm rot="5400000" flipH="1">
            <a:off x="3714893" y="265215"/>
            <a:ext cx="2148" cy="2768518"/>
          </a:xfrm>
          <a:prstGeom prst="curvedConnector3">
            <a:avLst>
              <a:gd name="adj1" fmla="val -10642458"/>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文本占位符 1"/>
          <p:cNvSpPr txBox="1"/>
          <p:nvPr/>
        </p:nvSpPr>
        <p:spPr>
          <a:xfrm>
            <a:off x="4034763" y="1680657"/>
            <a:ext cx="2018633" cy="288336"/>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浏览过程可能激发新需求</a:t>
            </a:r>
            <a:endParaRPr lang="en-US" altLang="zh-CN" sz="1200" dirty="0">
              <a:latin typeface="+mn-ea"/>
            </a:endParaRPr>
          </a:p>
        </p:txBody>
      </p:sp>
      <p:sp>
        <p:nvSpPr>
          <p:cNvPr id="93" name="文本占位符 1"/>
          <p:cNvSpPr txBox="1"/>
          <p:nvPr/>
        </p:nvSpPr>
        <p:spPr>
          <a:xfrm>
            <a:off x="6445555" y="2119833"/>
            <a:ext cx="680858" cy="236227"/>
          </a:xfrm>
          <a:prstGeom prst="rect">
            <a:avLst/>
          </a:prstGeom>
        </p:spPr>
        <p:txBody>
          <a:bodyPr anchor="ct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latin typeface="+mn-ea"/>
              </a:rPr>
              <a:t>条件</a:t>
            </a:r>
            <a:endParaRPr lang="en-US" altLang="zh-CN" sz="1200" dirty="0">
              <a:latin typeface="+mn-ea"/>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图表 25"/>
          <p:cNvGraphicFramePr/>
          <p:nvPr/>
        </p:nvGraphicFramePr>
        <p:xfrm>
          <a:off x="374198" y="1243143"/>
          <a:ext cx="4717273" cy="36241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图表 20"/>
          <p:cNvGraphicFramePr/>
          <p:nvPr/>
        </p:nvGraphicFramePr>
        <p:xfrm>
          <a:off x="374198" y="1243143"/>
          <a:ext cx="4717273" cy="36241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图表 21"/>
          <p:cNvGraphicFramePr/>
          <p:nvPr/>
        </p:nvGraphicFramePr>
        <p:xfrm>
          <a:off x="374198" y="1243143"/>
          <a:ext cx="4717273" cy="362413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图表 22"/>
          <p:cNvGraphicFramePr/>
          <p:nvPr/>
        </p:nvGraphicFramePr>
        <p:xfrm>
          <a:off x="374198" y="1243143"/>
          <a:ext cx="4717273" cy="362413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图表 24"/>
          <p:cNvGraphicFramePr/>
          <p:nvPr/>
        </p:nvGraphicFramePr>
        <p:xfrm>
          <a:off x="374198" y="1243143"/>
          <a:ext cx="4717273" cy="3624131"/>
        </p:xfrm>
        <a:graphic>
          <a:graphicData uri="http://schemas.openxmlformats.org/drawingml/2006/chart">
            <c:chart xmlns:c="http://schemas.openxmlformats.org/drawingml/2006/chart" xmlns:r="http://schemas.openxmlformats.org/officeDocument/2006/relationships" r:id="rId7"/>
          </a:graphicData>
        </a:graphic>
      </p:graphicFrame>
      <p:sp>
        <p:nvSpPr>
          <p:cNvPr id="4" name="标题 1"/>
          <p:cNvSpPr>
            <a:spLocks noGrp="1"/>
          </p:cNvSpPr>
          <p:nvPr>
            <p:ph type="title"/>
          </p:nvPr>
        </p:nvSpPr>
        <p:spPr>
          <a:xfrm>
            <a:off x="252000" y="74344"/>
            <a:ext cx="7664380" cy="427313"/>
          </a:xfrm>
        </p:spPr>
        <p:txBody>
          <a:bodyPr>
            <a:normAutofit/>
          </a:bodyPr>
          <a:lstStyle/>
          <a:p>
            <a:r>
              <a:rPr lang="zh-CN" altLang="en-US" sz="2100" dirty="0">
                <a:latin typeface="+mn-ea"/>
                <a:ea typeface="+mn-ea"/>
              </a:rPr>
              <a:t>用户到餐找店需求分析</a:t>
            </a:r>
          </a:p>
        </p:txBody>
      </p:sp>
      <p:sp>
        <p:nvSpPr>
          <p:cNvPr id="10" name="米菲PPT11-11"/>
          <p:cNvSpPr txBox="1"/>
          <p:nvPr/>
        </p:nvSpPr>
        <p:spPr>
          <a:xfrm>
            <a:off x="133119" y="1782454"/>
            <a:ext cx="241079" cy="693549"/>
          </a:xfrm>
          <a:prstGeom prst="rect">
            <a:avLst/>
          </a:prstGeom>
          <a:solidFill>
            <a:srgbClr val="F0BCC2">
              <a:alpha val="15000"/>
            </a:srgbClr>
          </a:solidFill>
          <a:ln w="6350" cap="flat" cmpd="sng" algn="ctr">
            <a:solidFill>
              <a:srgbClr val="DD6170">
                <a:lumMod val="40000"/>
                <a:lumOff val="60000"/>
              </a:srgbClr>
            </a:solidFill>
            <a:prstDash val="dash"/>
            <a:miter lim="800000"/>
          </a:ln>
          <a:effectLst/>
        </p:spPr>
        <p:txBody>
          <a:bodyPr vert="eaVert" rtlCol="0" anchor="ctr"/>
          <a:lstStyle>
            <a:defPPr>
              <a:defRPr lang="en-US"/>
            </a:defPPr>
            <a:lvl1pPr algn="ctr">
              <a:defRPr sz="1050">
                <a:solidFill>
                  <a:schemeClr val="accent1"/>
                </a:solidFill>
                <a:latin typeface="MiSans Bold" panose="00000800000000000000" pitchFamily="2" charset="-122"/>
                <a:ea typeface="MiSans Bold" panose="000008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zh-CN" altLang="en-US" sz="800" kern="0" dirty="0">
                <a:solidFill>
                  <a:srgbClr val="DD6170"/>
                </a:solidFill>
                <a:latin typeface="+mn-ea"/>
                <a:ea typeface="+mn-ea"/>
                <a:cs typeface="MiSans Medium" panose="00000600000000000000" pitchFamily="2" charset="-122"/>
                <a:sym typeface="MiSans Medium" panose="00000600000000000000" pitchFamily="2" charset="-122"/>
              </a:rPr>
              <a:t>决策成本</a:t>
            </a:r>
            <a:endParaRPr lang="en-US" altLang="zh-CN" sz="800" kern="0" dirty="0">
              <a:solidFill>
                <a:srgbClr val="DD6170"/>
              </a:solidFill>
              <a:latin typeface="+mn-ea"/>
              <a:ea typeface="+mn-ea"/>
              <a:cs typeface="MiSans Medium" panose="00000600000000000000" pitchFamily="2" charset="-122"/>
              <a:sym typeface="MiSans Medium" panose="00000600000000000000" pitchFamily="2" charset="-122"/>
            </a:endParaRPr>
          </a:p>
          <a:p>
            <a:pPr defTabSz="685800">
              <a:defRPr/>
            </a:pPr>
            <a:r>
              <a:rPr lang="zh-CN" altLang="en-US" sz="800" kern="0" dirty="0">
                <a:solidFill>
                  <a:srgbClr val="DD6170"/>
                </a:solidFill>
                <a:latin typeface="+mn-ea"/>
                <a:ea typeface="+mn-ea"/>
                <a:cs typeface="MiSans Medium" panose="00000600000000000000" pitchFamily="2" charset="-122"/>
                <a:sym typeface="MiSans Medium" panose="00000600000000000000" pitchFamily="2" charset="-122"/>
              </a:rPr>
              <a:t>（客单价）</a:t>
            </a:r>
          </a:p>
        </p:txBody>
      </p:sp>
      <p:sp>
        <p:nvSpPr>
          <p:cNvPr id="11" name="米菲PPT11-12"/>
          <p:cNvSpPr txBox="1"/>
          <p:nvPr/>
        </p:nvSpPr>
        <p:spPr>
          <a:xfrm>
            <a:off x="4681757" y="3987870"/>
            <a:ext cx="280805" cy="742247"/>
          </a:xfrm>
          <a:prstGeom prst="rect">
            <a:avLst/>
          </a:prstGeom>
          <a:solidFill>
            <a:srgbClr val="F0BCC2">
              <a:alpha val="15000"/>
            </a:srgbClr>
          </a:solidFill>
          <a:ln w="6350" cap="flat" cmpd="sng" algn="ctr">
            <a:solidFill>
              <a:srgbClr val="DD6170">
                <a:lumMod val="40000"/>
                <a:lumOff val="60000"/>
              </a:srgbClr>
            </a:solidFill>
            <a:prstDash val="dash"/>
            <a:miter lim="800000"/>
          </a:ln>
          <a:effectLst/>
        </p:spPr>
        <p:txBody>
          <a:bodyPr vert="eaVert" rtlCol="0" anchor="ctr"/>
          <a:lstStyle>
            <a:defPPr>
              <a:defRPr lang="en-US"/>
            </a:defPPr>
            <a:lvl1pPr algn="ctr">
              <a:defRPr sz="1050">
                <a:solidFill>
                  <a:schemeClr val="accent1"/>
                </a:solidFill>
                <a:latin typeface="MiSans Bold" panose="00000800000000000000" pitchFamily="2" charset="-122"/>
                <a:ea typeface="MiSans Bold" panose="000008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zh-CN" altLang="en-US" sz="800" kern="0" dirty="0">
                <a:solidFill>
                  <a:srgbClr val="DD6170"/>
                </a:solidFill>
                <a:latin typeface="+mn-ea"/>
                <a:ea typeface="+mn-ea"/>
                <a:cs typeface="MiSans Medium" panose="00000600000000000000" pitchFamily="2" charset="-122"/>
                <a:sym typeface="MiSans Medium" panose="00000600000000000000" pitchFamily="2" charset="-122"/>
              </a:rPr>
              <a:t>需求满足度（</a:t>
            </a:r>
            <a:r>
              <a:rPr lang="en-US" altLang="zh-CN" sz="800" kern="0" dirty="0">
                <a:solidFill>
                  <a:srgbClr val="DD6170"/>
                </a:solidFill>
                <a:latin typeface="+mn-ea"/>
                <a:ea typeface="+mn-ea"/>
                <a:cs typeface="MiSans Medium" panose="00000600000000000000" pitchFamily="2" charset="-122"/>
                <a:sym typeface="MiSans Medium" panose="00000600000000000000" pitchFamily="2" charset="-122"/>
              </a:rPr>
              <a:t>QV_CXR</a:t>
            </a:r>
            <a:r>
              <a:rPr lang="zh-CN" altLang="en-US" sz="800" kern="0" dirty="0">
                <a:solidFill>
                  <a:srgbClr val="DD6170"/>
                </a:solidFill>
                <a:latin typeface="+mn-ea"/>
                <a:ea typeface="+mn-ea"/>
                <a:cs typeface="MiSans Medium" panose="00000600000000000000" pitchFamily="2" charset="-122"/>
                <a:sym typeface="MiSans Medium" panose="00000600000000000000" pitchFamily="2" charset="-122"/>
              </a:rPr>
              <a:t>）</a:t>
            </a:r>
          </a:p>
        </p:txBody>
      </p:sp>
      <p:sp>
        <p:nvSpPr>
          <p:cNvPr id="12" name="文本框 11"/>
          <p:cNvSpPr txBox="1"/>
          <p:nvPr/>
        </p:nvSpPr>
        <p:spPr>
          <a:xfrm>
            <a:off x="-1" y="4969128"/>
            <a:ext cx="3524251" cy="200055"/>
          </a:xfrm>
          <a:prstGeom prst="rect">
            <a:avLst/>
          </a:prstGeom>
          <a:noFill/>
        </p:spPr>
        <p:txBody>
          <a:bodyPr wrap="square">
            <a:spAutoFit/>
          </a:bodyPr>
          <a:lstStyle/>
          <a:p>
            <a:pPr>
              <a:spcBef>
                <a:spcPts val="600"/>
              </a:spcBef>
              <a:spcAft>
                <a:spcPts val="600"/>
              </a:spcAft>
            </a:pPr>
            <a:r>
              <a:rPr lang="zh-CN" altLang="en-US" sz="1050" baseline="-25000" dirty="0">
                <a:latin typeface="+mn-ea"/>
              </a:rPr>
              <a:t>*</a:t>
            </a:r>
            <a:r>
              <a:rPr lang="en-US" altLang="zh-CN" sz="1050" baseline="-25000" dirty="0">
                <a:latin typeface="+mn-ea"/>
              </a:rPr>
              <a:t>12</a:t>
            </a:r>
            <a:r>
              <a:rPr lang="zh-CN" altLang="en-US" sz="1050" baseline="-25000" dirty="0">
                <a:latin typeface="+mn-ea"/>
              </a:rPr>
              <a:t>月大搜</a:t>
            </a:r>
            <a:r>
              <a:rPr lang="en-GB" altLang="zh-CN" sz="1050" baseline="-25000" dirty="0">
                <a:latin typeface="+mn-ea"/>
              </a:rPr>
              <a:t>TOP 500 Query</a:t>
            </a:r>
            <a:r>
              <a:rPr lang="zh-CN" altLang="en-US" sz="1050" baseline="-25000" dirty="0">
                <a:latin typeface="+mn-ea"/>
              </a:rPr>
              <a:t>分析，抽取部分，圆面积代表</a:t>
            </a:r>
            <a:r>
              <a:rPr lang="en-US" altLang="zh-CN" sz="1050" baseline="-25000" dirty="0">
                <a:latin typeface="+mn-ea"/>
              </a:rPr>
              <a:t>QV</a:t>
            </a:r>
            <a:r>
              <a:rPr lang="zh-CN" altLang="en-US" sz="1050" baseline="-25000" dirty="0">
                <a:latin typeface="+mn-ea"/>
              </a:rPr>
              <a:t>量级。右表为日均</a:t>
            </a:r>
          </a:p>
        </p:txBody>
      </p:sp>
      <p:graphicFrame>
        <p:nvGraphicFramePr>
          <p:cNvPr id="13" name="表格 12"/>
          <p:cNvGraphicFramePr>
            <a:graphicFrameLocks noGrp="1"/>
          </p:cNvGraphicFramePr>
          <p:nvPr/>
        </p:nvGraphicFramePr>
        <p:xfrm>
          <a:off x="5290049" y="1242469"/>
          <a:ext cx="3720832" cy="3449726"/>
        </p:xfrm>
        <a:graphic>
          <a:graphicData uri="http://schemas.openxmlformats.org/drawingml/2006/table">
            <a:tbl>
              <a:tblPr firstRow="1" bandRow="1">
                <a:tableStyleId>{B301B821-A1FF-4177-AEE7-76D212191A09}</a:tableStyleId>
              </a:tblPr>
              <a:tblGrid>
                <a:gridCol w="655107">
                  <a:extLst>
                    <a:ext uri="{9D8B030D-6E8A-4147-A177-3AD203B41FA5}">
                      <a16:colId xmlns:a16="http://schemas.microsoft.com/office/drawing/2014/main" val="20000"/>
                    </a:ext>
                  </a:extLst>
                </a:gridCol>
                <a:gridCol w="714299">
                  <a:extLst>
                    <a:ext uri="{9D8B030D-6E8A-4147-A177-3AD203B41FA5}">
                      <a16:colId xmlns:a16="http://schemas.microsoft.com/office/drawing/2014/main" val="20001"/>
                    </a:ext>
                  </a:extLst>
                </a:gridCol>
                <a:gridCol w="625693">
                  <a:extLst>
                    <a:ext uri="{9D8B030D-6E8A-4147-A177-3AD203B41FA5}">
                      <a16:colId xmlns:a16="http://schemas.microsoft.com/office/drawing/2014/main" val="20002"/>
                    </a:ext>
                  </a:extLst>
                </a:gridCol>
                <a:gridCol w="614073">
                  <a:extLst>
                    <a:ext uri="{9D8B030D-6E8A-4147-A177-3AD203B41FA5}">
                      <a16:colId xmlns:a16="http://schemas.microsoft.com/office/drawing/2014/main" val="20003"/>
                    </a:ext>
                  </a:extLst>
                </a:gridCol>
                <a:gridCol w="586501">
                  <a:extLst>
                    <a:ext uri="{9D8B030D-6E8A-4147-A177-3AD203B41FA5}">
                      <a16:colId xmlns:a16="http://schemas.microsoft.com/office/drawing/2014/main" val="20004"/>
                    </a:ext>
                  </a:extLst>
                </a:gridCol>
                <a:gridCol w="525159">
                  <a:extLst>
                    <a:ext uri="{9D8B030D-6E8A-4147-A177-3AD203B41FA5}">
                      <a16:colId xmlns:a16="http://schemas.microsoft.com/office/drawing/2014/main" val="20005"/>
                    </a:ext>
                  </a:extLst>
                </a:gridCol>
              </a:tblGrid>
              <a:tr h="492818">
                <a:tc>
                  <a:txBody>
                    <a:bodyPr/>
                    <a:lstStyle/>
                    <a:p>
                      <a:pPr algn="ctr"/>
                      <a:r>
                        <a:rPr lang="en-US" altLang="zh-CN" sz="900" dirty="0">
                          <a:solidFill>
                            <a:schemeClr val="tx1"/>
                          </a:solidFill>
                        </a:rPr>
                        <a:t>QV</a:t>
                      </a:r>
                      <a:r>
                        <a:rPr lang="zh-CN" altLang="en-US" sz="900" dirty="0">
                          <a:solidFill>
                            <a:schemeClr val="tx1"/>
                          </a:solidFill>
                        </a:rPr>
                        <a:t>类型</a:t>
                      </a:r>
                    </a:p>
                  </a:txBody>
                  <a:tcPr anchor="ctr"/>
                </a:tc>
                <a:tc>
                  <a:txBody>
                    <a:bodyPr/>
                    <a:lstStyle/>
                    <a:p>
                      <a:pPr algn="ctr"/>
                      <a:r>
                        <a:rPr lang="zh-CN" altLang="en-US" sz="900" dirty="0">
                          <a:solidFill>
                            <a:schemeClr val="tx1"/>
                          </a:solidFill>
                        </a:rPr>
                        <a:t>举例</a:t>
                      </a:r>
                    </a:p>
                  </a:txBody>
                  <a:tcPr anchor="ctr"/>
                </a:tc>
                <a:tc>
                  <a:txBody>
                    <a:bodyPr/>
                    <a:lstStyle/>
                    <a:p>
                      <a:pPr algn="ctr"/>
                      <a:r>
                        <a:rPr lang="zh-CN" altLang="en-US" sz="900" dirty="0">
                          <a:solidFill>
                            <a:schemeClr val="tx1"/>
                          </a:solidFill>
                        </a:rPr>
                        <a:t>搜索</a:t>
                      </a:r>
                      <a:r>
                        <a:rPr lang="en-US" altLang="zh-CN" sz="900" dirty="0">
                          <a:solidFill>
                            <a:schemeClr val="tx1"/>
                          </a:solidFill>
                        </a:rPr>
                        <a:t>QV</a:t>
                      </a:r>
                      <a:endParaRPr lang="zh-CN" altLang="en-US" sz="900" dirty="0">
                        <a:solidFill>
                          <a:schemeClr val="tx1"/>
                        </a:solidFill>
                      </a:endParaRPr>
                    </a:p>
                  </a:txBody>
                  <a:tcPr anchor="ctr"/>
                </a:tc>
                <a:tc>
                  <a:txBody>
                    <a:bodyPr/>
                    <a:lstStyle/>
                    <a:p>
                      <a:pPr algn="ctr"/>
                      <a:r>
                        <a:rPr lang="en-US" altLang="zh-CN" sz="900" dirty="0">
                          <a:solidFill>
                            <a:schemeClr val="tx1"/>
                          </a:solidFill>
                        </a:rPr>
                        <a:t>CTR</a:t>
                      </a:r>
                      <a:endParaRPr lang="zh-CN" altLang="en-US" sz="900" dirty="0">
                        <a:solidFill>
                          <a:schemeClr val="tx1"/>
                        </a:solidFill>
                      </a:endParaRPr>
                    </a:p>
                  </a:txBody>
                  <a:tcPr anchor="ctr"/>
                </a:tc>
                <a:tc>
                  <a:txBody>
                    <a:bodyPr/>
                    <a:lstStyle/>
                    <a:p>
                      <a:pPr algn="ctr"/>
                      <a:r>
                        <a:rPr lang="en-US" altLang="zh-CN" sz="900" dirty="0">
                          <a:solidFill>
                            <a:schemeClr val="tx1"/>
                          </a:solidFill>
                        </a:rPr>
                        <a:t>CVR</a:t>
                      </a:r>
                      <a:endParaRPr lang="zh-CN" altLang="en-US" sz="900" dirty="0">
                        <a:solidFill>
                          <a:schemeClr val="tx1"/>
                        </a:solidFill>
                      </a:endParaRPr>
                    </a:p>
                  </a:txBody>
                  <a:tcPr anchor="ctr"/>
                </a:tc>
                <a:tc>
                  <a:txBody>
                    <a:bodyPr/>
                    <a:lstStyle/>
                    <a:p>
                      <a:pPr algn="ctr"/>
                      <a:r>
                        <a:rPr lang="en-US" altLang="zh-CN" sz="900" dirty="0">
                          <a:solidFill>
                            <a:schemeClr val="tx1"/>
                          </a:solidFill>
                        </a:rPr>
                        <a:t>CXR</a:t>
                      </a:r>
                    </a:p>
                  </a:txBody>
                  <a:tcPr anchor="ctr"/>
                </a:tc>
                <a:extLst>
                  <a:ext uri="{0D108BD9-81ED-4DB2-BD59-A6C34878D82A}">
                    <a16:rowId xmlns:a16="http://schemas.microsoft.com/office/drawing/2014/main" val="10000"/>
                  </a:ext>
                </a:extLst>
              </a:tr>
              <a:tr h="492818">
                <a:tc>
                  <a:txBody>
                    <a:bodyPr/>
                    <a:lstStyle/>
                    <a:p>
                      <a:pPr algn="ctr"/>
                      <a:r>
                        <a:rPr lang="zh-CN" altLang="en-US" sz="900" dirty="0">
                          <a:solidFill>
                            <a:schemeClr val="tx1"/>
                          </a:solidFill>
                        </a:rPr>
                        <a:t>商家词</a:t>
                      </a:r>
                    </a:p>
                  </a:txBody>
                  <a:tcPr anchor="ctr"/>
                </a:tc>
                <a:tc>
                  <a:txBody>
                    <a:bodyPr/>
                    <a:lstStyle/>
                    <a:p>
                      <a:pPr algn="ctr"/>
                      <a:r>
                        <a:rPr lang="zh-CN" altLang="en-US" sz="900" dirty="0"/>
                        <a:t>瑞幸咖啡</a:t>
                      </a:r>
                      <a:endParaRPr lang="en-US" altLang="zh-CN" sz="900" dirty="0"/>
                    </a:p>
                    <a:p>
                      <a:pPr algn="ctr"/>
                      <a:r>
                        <a:rPr lang="zh-CN" altLang="en-US" sz="900" dirty="0"/>
                        <a:t>海底捞</a:t>
                      </a:r>
                    </a:p>
                  </a:txBody>
                  <a:tcPr anchor="ctr"/>
                </a:tc>
                <a:tc>
                  <a:txBody>
                    <a:bodyPr/>
                    <a:lstStyle/>
                    <a:p>
                      <a:pPr marL="0" algn="ctr" defTabSz="685800" rtl="0" eaLnBrk="1" fontAlgn="ctr" latinLnBrk="0" hangingPunct="1"/>
                      <a:r>
                        <a:rPr lang="zh-CN" altLang="en-US" sz="900" kern="1200" dirty="0">
                          <a:solidFill>
                            <a:schemeClr val="dk1"/>
                          </a:solidFill>
                          <a:latin typeface="+mn-lt"/>
                          <a:ea typeface="+mn-ea"/>
                          <a:cs typeface="+mn-cs"/>
                        </a:rPr>
                        <a:t> </a:t>
                      </a:r>
                      <a:r>
                        <a:rPr lang="en-US" altLang="zh-CN" sz="900" kern="1200" dirty="0">
                          <a:solidFill>
                            <a:schemeClr val="dk1"/>
                          </a:solidFill>
                          <a:latin typeface="+mn-lt"/>
                          <a:ea typeface="+mn-ea"/>
                          <a:cs typeface="+mn-cs"/>
                        </a:rPr>
                        <a:t>808</a:t>
                      </a:r>
                      <a:r>
                        <a:rPr lang="zh-CN" altLang="en-US" sz="900" kern="1200" dirty="0">
                          <a:solidFill>
                            <a:schemeClr val="dk1"/>
                          </a:solidFill>
                          <a:latin typeface="+mn-lt"/>
                          <a:ea typeface="+mn-ea"/>
                          <a:cs typeface="+mn-cs"/>
                        </a:rPr>
                        <a:t>万 </a:t>
                      </a:r>
                    </a:p>
                  </a:txBody>
                  <a:tcPr marL="6350" marR="6350" marT="6350" marB="0" anchor="ctr"/>
                </a:tc>
                <a:tc>
                  <a:txBody>
                    <a:bodyPr/>
                    <a:lstStyle/>
                    <a:p>
                      <a:pPr algn="r" fontAlgn="ctr"/>
                      <a:r>
                        <a:rPr lang="en-US" altLang="zh-CN" sz="900" kern="1200" dirty="0">
                          <a:solidFill>
                            <a:schemeClr val="dk1"/>
                          </a:solidFill>
                          <a:latin typeface="+mn-lt"/>
                          <a:ea typeface="+mn-ea"/>
                          <a:cs typeface="+mn-cs"/>
                        </a:rPr>
                        <a:t>52.71%</a:t>
                      </a:r>
                    </a:p>
                  </a:txBody>
                  <a:tcPr marL="6350" marR="6350" marT="6350" marB="0" anchor="ctr"/>
                </a:tc>
                <a:tc>
                  <a:txBody>
                    <a:bodyPr/>
                    <a:lstStyle/>
                    <a:p>
                      <a:pPr algn="r" fontAlgn="ctr"/>
                      <a:r>
                        <a:rPr lang="en-US" altLang="zh-CN" sz="900" kern="1200">
                          <a:solidFill>
                            <a:schemeClr val="dk1"/>
                          </a:solidFill>
                          <a:latin typeface="+mn-lt"/>
                          <a:ea typeface="+mn-ea"/>
                          <a:cs typeface="+mn-cs"/>
                        </a:rPr>
                        <a:t>32.87%</a:t>
                      </a:r>
                    </a:p>
                  </a:txBody>
                  <a:tcPr marL="6350" marR="6350" marT="6350" marB="0" anchor="ctr"/>
                </a:tc>
                <a:tc>
                  <a:txBody>
                    <a:bodyPr/>
                    <a:lstStyle/>
                    <a:p>
                      <a:pPr algn="r" fontAlgn="ctr"/>
                      <a:r>
                        <a:rPr lang="en-US" altLang="zh-CN" sz="900" kern="1200">
                          <a:solidFill>
                            <a:schemeClr val="dk1"/>
                          </a:solidFill>
                          <a:latin typeface="+mn-lt"/>
                          <a:ea typeface="+mn-ea"/>
                          <a:cs typeface="+mn-cs"/>
                        </a:rPr>
                        <a:t>17.33%</a:t>
                      </a:r>
                    </a:p>
                  </a:txBody>
                  <a:tcPr marL="6350" marR="6350" marT="6350" marB="0" anchor="ctr"/>
                </a:tc>
                <a:extLst>
                  <a:ext uri="{0D108BD9-81ED-4DB2-BD59-A6C34878D82A}">
                    <a16:rowId xmlns:a16="http://schemas.microsoft.com/office/drawing/2014/main" val="10001"/>
                  </a:ext>
                </a:extLst>
              </a:tr>
              <a:tr h="492818">
                <a:tc>
                  <a:txBody>
                    <a:bodyPr/>
                    <a:lstStyle/>
                    <a:p>
                      <a:pPr algn="ctr"/>
                      <a:r>
                        <a:rPr lang="zh-CN" altLang="en-US" sz="900" dirty="0">
                          <a:solidFill>
                            <a:srgbClr val="FF0000"/>
                          </a:solidFill>
                        </a:rPr>
                        <a:t>品类词</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dirty="0"/>
                        <a:t>自助</a:t>
                      </a:r>
                      <a:endParaRPr lang="en-US" altLang="zh-CN" sz="900" dirty="0"/>
                    </a:p>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dirty="0"/>
                        <a:t>烤肉自助</a:t>
                      </a:r>
                    </a:p>
                  </a:txBody>
                  <a:tcPr anchor="ctr"/>
                </a:tc>
                <a:tc>
                  <a:txBody>
                    <a:bodyPr/>
                    <a:lstStyle/>
                    <a:p>
                      <a:pPr marL="0" algn="ctr" defTabSz="685800" rtl="0" eaLnBrk="1" fontAlgn="ctr" latinLnBrk="0" hangingPunct="1"/>
                      <a:r>
                        <a:rPr lang="zh-CN" altLang="en-US" sz="900" kern="1200" dirty="0">
                          <a:solidFill>
                            <a:schemeClr val="dk1"/>
                          </a:solidFill>
                          <a:latin typeface="+mn-lt"/>
                          <a:ea typeface="+mn-ea"/>
                          <a:cs typeface="+mn-cs"/>
                        </a:rPr>
                        <a:t> </a:t>
                      </a:r>
                      <a:r>
                        <a:rPr lang="en-US" altLang="zh-CN" sz="900" kern="1200" dirty="0">
                          <a:solidFill>
                            <a:schemeClr val="dk1"/>
                          </a:solidFill>
                          <a:latin typeface="+mn-lt"/>
                          <a:ea typeface="+mn-ea"/>
                          <a:cs typeface="+mn-cs"/>
                        </a:rPr>
                        <a:t>340</a:t>
                      </a:r>
                      <a:r>
                        <a:rPr lang="zh-CN" altLang="en-US" sz="900" kern="1200" dirty="0">
                          <a:solidFill>
                            <a:schemeClr val="dk1"/>
                          </a:solidFill>
                          <a:latin typeface="+mn-lt"/>
                          <a:ea typeface="+mn-ea"/>
                          <a:cs typeface="+mn-cs"/>
                        </a:rPr>
                        <a:t>万 </a:t>
                      </a:r>
                    </a:p>
                  </a:txBody>
                  <a:tcPr marL="6350" marR="6350" marT="6350" marB="0" anchor="ctr"/>
                </a:tc>
                <a:tc>
                  <a:txBody>
                    <a:bodyPr/>
                    <a:lstStyle/>
                    <a:p>
                      <a:pPr algn="r" fontAlgn="ctr"/>
                      <a:r>
                        <a:rPr lang="en-US" altLang="zh-CN" sz="900" kern="1200">
                          <a:solidFill>
                            <a:schemeClr val="dk1"/>
                          </a:solidFill>
                          <a:latin typeface="+mn-lt"/>
                          <a:ea typeface="+mn-ea"/>
                          <a:cs typeface="+mn-cs"/>
                        </a:rPr>
                        <a:t>46.07%</a:t>
                      </a:r>
                    </a:p>
                  </a:txBody>
                  <a:tcPr marL="6350" marR="6350" marT="6350" marB="0" anchor="ctr"/>
                </a:tc>
                <a:tc>
                  <a:txBody>
                    <a:bodyPr/>
                    <a:lstStyle/>
                    <a:p>
                      <a:pPr algn="r" fontAlgn="ctr"/>
                      <a:r>
                        <a:rPr lang="en-US" altLang="zh-CN" sz="900" kern="1200" dirty="0">
                          <a:solidFill>
                            <a:schemeClr val="dk1"/>
                          </a:solidFill>
                          <a:latin typeface="+mn-lt"/>
                          <a:ea typeface="+mn-ea"/>
                          <a:cs typeface="+mn-cs"/>
                        </a:rPr>
                        <a:t>14.08%</a:t>
                      </a:r>
                    </a:p>
                  </a:txBody>
                  <a:tcPr marL="6350" marR="6350" marT="6350" marB="0" anchor="ctr"/>
                </a:tc>
                <a:tc>
                  <a:txBody>
                    <a:bodyPr/>
                    <a:lstStyle/>
                    <a:p>
                      <a:pPr algn="r" fontAlgn="ctr"/>
                      <a:r>
                        <a:rPr lang="en-US" altLang="zh-CN" sz="900" kern="1200" dirty="0">
                          <a:solidFill>
                            <a:srgbClr val="FF0000"/>
                          </a:solidFill>
                          <a:latin typeface="+mn-lt"/>
                          <a:ea typeface="+mn-ea"/>
                          <a:cs typeface="+mn-cs"/>
                        </a:rPr>
                        <a:t>6.49%</a:t>
                      </a:r>
                    </a:p>
                  </a:txBody>
                  <a:tcPr marL="6350" marR="6350" marT="6350" marB="0" anchor="ctr"/>
                </a:tc>
                <a:extLst>
                  <a:ext uri="{0D108BD9-81ED-4DB2-BD59-A6C34878D82A}">
                    <a16:rowId xmlns:a16="http://schemas.microsoft.com/office/drawing/2014/main" val="10002"/>
                  </a:ext>
                </a:extLst>
              </a:tr>
              <a:tr h="492818">
                <a:tc>
                  <a:txBody>
                    <a:bodyPr/>
                    <a:lstStyle/>
                    <a:p>
                      <a:pPr algn="ctr"/>
                      <a:r>
                        <a:rPr lang="zh-CN" altLang="en-US" sz="900" dirty="0">
                          <a:solidFill>
                            <a:srgbClr val="FF0000"/>
                          </a:solidFill>
                        </a:rPr>
                        <a:t>菜品词</a:t>
                      </a:r>
                    </a:p>
                  </a:txBody>
                  <a:tcPr anchor="ctr"/>
                </a:tc>
                <a:tc>
                  <a:txBody>
                    <a:bodyPr/>
                    <a:lstStyle/>
                    <a:p>
                      <a:pPr algn="ctr"/>
                      <a:r>
                        <a:rPr lang="zh-CN" altLang="en-US" sz="900" dirty="0"/>
                        <a:t>火锅鸡</a:t>
                      </a:r>
                      <a:endParaRPr lang="en-US" altLang="zh-CN" sz="900" dirty="0"/>
                    </a:p>
                    <a:p>
                      <a:pPr algn="ctr"/>
                      <a:r>
                        <a:rPr lang="zh-CN" altLang="en-US" sz="900" dirty="0"/>
                        <a:t>烤鸭</a:t>
                      </a:r>
                    </a:p>
                  </a:txBody>
                  <a:tcPr anchor="ctr"/>
                </a:tc>
                <a:tc>
                  <a:txBody>
                    <a:bodyPr/>
                    <a:lstStyle/>
                    <a:p>
                      <a:pPr marL="0" algn="ctr" defTabSz="685800" rtl="0" eaLnBrk="1" fontAlgn="ctr" latinLnBrk="0" hangingPunct="1"/>
                      <a:r>
                        <a:rPr lang="zh-CN" altLang="en-US" sz="900" kern="1200">
                          <a:solidFill>
                            <a:schemeClr val="dk1"/>
                          </a:solidFill>
                          <a:latin typeface="+mn-lt"/>
                          <a:ea typeface="+mn-ea"/>
                          <a:cs typeface="+mn-cs"/>
                        </a:rPr>
                        <a:t> </a:t>
                      </a:r>
                      <a:r>
                        <a:rPr lang="en-US" altLang="zh-CN" sz="900" kern="1200">
                          <a:solidFill>
                            <a:schemeClr val="dk1"/>
                          </a:solidFill>
                          <a:latin typeface="+mn-lt"/>
                          <a:ea typeface="+mn-ea"/>
                          <a:cs typeface="+mn-cs"/>
                        </a:rPr>
                        <a:t>287</a:t>
                      </a:r>
                      <a:r>
                        <a:rPr lang="zh-CN" altLang="en-US" sz="900" kern="1200">
                          <a:solidFill>
                            <a:schemeClr val="dk1"/>
                          </a:solidFill>
                          <a:latin typeface="+mn-lt"/>
                          <a:ea typeface="+mn-ea"/>
                          <a:cs typeface="+mn-cs"/>
                        </a:rPr>
                        <a:t>万 </a:t>
                      </a:r>
                    </a:p>
                  </a:txBody>
                  <a:tcPr marL="6350" marR="6350" marT="6350" marB="0" anchor="ctr"/>
                </a:tc>
                <a:tc>
                  <a:txBody>
                    <a:bodyPr/>
                    <a:lstStyle/>
                    <a:p>
                      <a:pPr algn="r" fontAlgn="ctr"/>
                      <a:r>
                        <a:rPr lang="en-US" altLang="zh-CN" sz="900" kern="1200">
                          <a:solidFill>
                            <a:schemeClr val="dk1"/>
                          </a:solidFill>
                          <a:latin typeface="+mn-lt"/>
                          <a:ea typeface="+mn-ea"/>
                          <a:cs typeface="+mn-cs"/>
                        </a:rPr>
                        <a:t>38.15%</a:t>
                      </a:r>
                    </a:p>
                  </a:txBody>
                  <a:tcPr marL="6350" marR="6350" marT="6350" marB="0" anchor="ctr"/>
                </a:tc>
                <a:tc>
                  <a:txBody>
                    <a:bodyPr/>
                    <a:lstStyle/>
                    <a:p>
                      <a:pPr algn="r" fontAlgn="ctr"/>
                      <a:r>
                        <a:rPr lang="en-US" altLang="zh-CN" sz="900" kern="1200" dirty="0">
                          <a:solidFill>
                            <a:schemeClr val="dk1"/>
                          </a:solidFill>
                          <a:latin typeface="+mn-lt"/>
                          <a:ea typeface="+mn-ea"/>
                          <a:cs typeface="+mn-cs"/>
                        </a:rPr>
                        <a:t>13.94%</a:t>
                      </a:r>
                    </a:p>
                  </a:txBody>
                  <a:tcPr marL="6350" marR="6350" marT="6350" marB="0" anchor="ctr"/>
                </a:tc>
                <a:tc>
                  <a:txBody>
                    <a:bodyPr/>
                    <a:lstStyle/>
                    <a:p>
                      <a:pPr algn="r" fontAlgn="ctr"/>
                      <a:r>
                        <a:rPr lang="en-US" altLang="zh-CN" sz="900" kern="1200" dirty="0">
                          <a:solidFill>
                            <a:srgbClr val="FF0000"/>
                          </a:solidFill>
                          <a:latin typeface="+mn-lt"/>
                          <a:ea typeface="+mn-ea"/>
                          <a:cs typeface="+mn-cs"/>
                        </a:rPr>
                        <a:t>5.32%</a:t>
                      </a:r>
                    </a:p>
                  </a:txBody>
                  <a:tcPr marL="6350" marR="6350" marT="6350" marB="0" anchor="ctr"/>
                </a:tc>
                <a:extLst>
                  <a:ext uri="{0D108BD9-81ED-4DB2-BD59-A6C34878D82A}">
                    <a16:rowId xmlns:a16="http://schemas.microsoft.com/office/drawing/2014/main" val="10003"/>
                  </a:ext>
                </a:extLst>
              </a:tr>
              <a:tr h="492818">
                <a:tc>
                  <a:txBody>
                    <a:bodyPr/>
                    <a:lstStyle/>
                    <a:p>
                      <a:pPr algn="ctr"/>
                      <a:r>
                        <a:rPr lang="zh-CN" altLang="en-US" sz="900" dirty="0">
                          <a:solidFill>
                            <a:srgbClr val="FF0000"/>
                          </a:solidFill>
                        </a:rPr>
                        <a:t>场景词</a:t>
                      </a:r>
                    </a:p>
                  </a:txBody>
                  <a:tcPr anchor="ctr"/>
                </a:tc>
                <a:tc>
                  <a:txBody>
                    <a:bodyPr/>
                    <a:lstStyle/>
                    <a:p>
                      <a:pPr algn="ctr"/>
                      <a:r>
                        <a:rPr lang="zh-CN" altLang="en-US" sz="900" dirty="0"/>
                        <a:t>双人餐</a:t>
                      </a:r>
                      <a:endParaRPr lang="en-US" altLang="zh-CN" sz="900" dirty="0"/>
                    </a:p>
                    <a:p>
                      <a:pPr algn="ctr"/>
                      <a:r>
                        <a:rPr lang="zh-CN" altLang="en-US" sz="900" dirty="0"/>
                        <a:t>漂亮饭</a:t>
                      </a:r>
                    </a:p>
                  </a:txBody>
                  <a:tcPr anchor="ctr"/>
                </a:tc>
                <a:tc>
                  <a:txBody>
                    <a:bodyPr/>
                    <a:lstStyle/>
                    <a:p>
                      <a:pPr marL="0" algn="ctr" defTabSz="685800" rtl="0" eaLnBrk="1" fontAlgn="ctr" latinLnBrk="0" hangingPunct="1"/>
                      <a:r>
                        <a:rPr lang="zh-CN" altLang="en-US" sz="900" kern="1200">
                          <a:solidFill>
                            <a:schemeClr val="dk1"/>
                          </a:solidFill>
                          <a:latin typeface="+mn-lt"/>
                          <a:ea typeface="+mn-ea"/>
                          <a:cs typeface="+mn-cs"/>
                        </a:rPr>
                        <a:t> </a:t>
                      </a:r>
                      <a:r>
                        <a:rPr lang="en-US" altLang="zh-CN" sz="900" kern="1200">
                          <a:solidFill>
                            <a:schemeClr val="dk1"/>
                          </a:solidFill>
                          <a:latin typeface="+mn-lt"/>
                          <a:ea typeface="+mn-ea"/>
                          <a:cs typeface="+mn-cs"/>
                        </a:rPr>
                        <a:t>80</a:t>
                      </a:r>
                      <a:r>
                        <a:rPr lang="zh-CN" altLang="en-US" sz="900" kern="1200">
                          <a:solidFill>
                            <a:schemeClr val="dk1"/>
                          </a:solidFill>
                          <a:latin typeface="+mn-lt"/>
                          <a:ea typeface="+mn-ea"/>
                          <a:cs typeface="+mn-cs"/>
                        </a:rPr>
                        <a:t>万 </a:t>
                      </a:r>
                    </a:p>
                  </a:txBody>
                  <a:tcPr marL="6350" marR="6350" marT="6350" marB="0" anchor="ctr"/>
                </a:tc>
                <a:tc>
                  <a:txBody>
                    <a:bodyPr/>
                    <a:lstStyle/>
                    <a:p>
                      <a:pPr algn="r" fontAlgn="ctr"/>
                      <a:r>
                        <a:rPr lang="en-US" altLang="zh-CN" sz="900" kern="1200">
                          <a:solidFill>
                            <a:schemeClr val="dk1"/>
                          </a:solidFill>
                          <a:latin typeface="+mn-lt"/>
                          <a:ea typeface="+mn-ea"/>
                          <a:cs typeface="+mn-cs"/>
                        </a:rPr>
                        <a:t>34.20%</a:t>
                      </a:r>
                    </a:p>
                  </a:txBody>
                  <a:tcPr marL="6350" marR="6350" marT="6350" marB="0" anchor="ctr"/>
                </a:tc>
                <a:tc>
                  <a:txBody>
                    <a:bodyPr/>
                    <a:lstStyle/>
                    <a:p>
                      <a:pPr algn="r" fontAlgn="ctr"/>
                      <a:r>
                        <a:rPr lang="en-US" altLang="zh-CN" sz="900" kern="1200">
                          <a:solidFill>
                            <a:schemeClr val="dk1"/>
                          </a:solidFill>
                          <a:latin typeface="+mn-lt"/>
                          <a:ea typeface="+mn-ea"/>
                          <a:cs typeface="+mn-cs"/>
                        </a:rPr>
                        <a:t>22.90%</a:t>
                      </a:r>
                    </a:p>
                  </a:txBody>
                  <a:tcPr marL="6350" marR="6350" marT="6350" marB="0" anchor="ctr"/>
                </a:tc>
                <a:tc>
                  <a:txBody>
                    <a:bodyPr/>
                    <a:lstStyle/>
                    <a:p>
                      <a:pPr algn="r" fontAlgn="ctr"/>
                      <a:r>
                        <a:rPr lang="en-US" altLang="zh-CN" sz="900" kern="1200" dirty="0">
                          <a:solidFill>
                            <a:srgbClr val="FF0000"/>
                          </a:solidFill>
                          <a:latin typeface="+mn-lt"/>
                          <a:ea typeface="+mn-ea"/>
                          <a:cs typeface="+mn-cs"/>
                        </a:rPr>
                        <a:t>7.83%</a:t>
                      </a:r>
                    </a:p>
                  </a:txBody>
                  <a:tcPr marL="6350" marR="6350" marT="6350" marB="0" anchor="ctr"/>
                </a:tc>
                <a:extLst>
                  <a:ext uri="{0D108BD9-81ED-4DB2-BD59-A6C34878D82A}">
                    <a16:rowId xmlns:a16="http://schemas.microsoft.com/office/drawing/2014/main" val="10004"/>
                  </a:ext>
                </a:extLst>
              </a:tr>
              <a:tr h="492818">
                <a:tc>
                  <a:txBody>
                    <a:bodyPr/>
                    <a:lstStyle/>
                    <a:p>
                      <a:pPr algn="ctr"/>
                      <a:r>
                        <a:rPr lang="zh-CN" altLang="en-US" sz="900" dirty="0">
                          <a:solidFill>
                            <a:srgbClr val="FF0000"/>
                          </a:solidFill>
                        </a:rPr>
                        <a:t>地址词</a:t>
                      </a:r>
                    </a:p>
                  </a:txBody>
                  <a:tcPr anchor="ctr"/>
                </a:tc>
                <a:tc>
                  <a:txBody>
                    <a:bodyPr/>
                    <a:lstStyle/>
                    <a:p>
                      <a:pPr algn="ctr"/>
                      <a:r>
                        <a:rPr lang="zh-CN" altLang="en-US" sz="900" dirty="0"/>
                        <a:t>万达</a:t>
                      </a:r>
                      <a:endParaRPr lang="en-US" altLang="zh-CN" sz="900" dirty="0"/>
                    </a:p>
                    <a:p>
                      <a:pPr algn="ctr"/>
                      <a:r>
                        <a:rPr lang="zh-CN" altLang="en-US" sz="900" dirty="0"/>
                        <a:t>万象汇</a:t>
                      </a:r>
                    </a:p>
                  </a:txBody>
                  <a:tcPr anchor="ctr"/>
                </a:tc>
                <a:tc>
                  <a:txBody>
                    <a:bodyPr/>
                    <a:lstStyle/>
                    <a:p>
                      <a:pPr marL="0" algn="ctr" defTabSz="685800" rtl="0" eaLnBrk="1" fontAlgn="ctr" latinLnBrk="0" hangingPunct="1"/>
                      <a:r>
                        <a:rPr lang="zh-CN" altLang="en-US" sz="900" kern="1200">
                          <a:solidFill>
                            <a:schemeClr val="dk1"/>
                          </a:solidFill>
                          <a:latin typeface="+mn-lt"/>
                          <a:ea typeface="+mn-ea"/>
                          <a:cs typeface="+mn-cs"/>
                        </a:rPr>
                        <a:t> </a:t>
                      </a:r>
                      <a:r>
                        <a:rPr lang="en-US" altLang="zh-CN" sz="900" kern="1200">
                          <a:solidFill>
                            <a:schemeClr val="dk1"/>
                          </a:solidFill>
                          <a:latin typeface="+mn-lt"/>
                          <a:ea typeface="+mn-ea"/>
                          <a:cs typeface="+mn-cs"/>
                        </a:rPr>
                        <a:t>14</a:t>
                      </a:r>
                      <a:r>
                        <a:rPr lang="zh-CN" altLang="en-US" sz="900" kern="1200">
                          <a:solidFill>
                            <a:schemeClr val="dk1"/>
                          </a:solidFill>
                          <a:latin typeface="+mn-lt"/>
                          <a:ea typeface="+mn-ea"/>
                          <a:cs typeface="+mn-cs"/>
                        </a:rPr>
                        <a:t>万 </a:t>
                      </a:r>
                    </a:p>
                  </a:txBody>
                  <a:tcPr marL="6350" marR="6350" marT="6350" marB="0" anchor="ctr"/>
                </a:tc>
                <a:tc>
                  <a:txBody>
                    <a:bodyPr/>
                    <a:lstStyle/>
                    <a:p>
                      <a:pPr algn="r" fontAlgn="ctr"/>
                      <a:r>
                        <a:rPr lang="en-US" altLang="zh-CN" sz="900" kern="1200">
                          <a:solidFill>
                            <a:schemeClr val="dk1"/>
                          </a:solidFill>
                          <a:latin typeface="+mn-lt"/>
                          <a:ea typeface="+mn-ea"/>
                          <a:cs typeface="+mn-cs"/>
                        </a:rPr>
                        <a:t>28.31%</a:t>
                      </a:r>
                    </a:p>
                  </a:txBody>
                  <a:tcPr marL="6350" marR="6350" marT="6350" marB="0" anchor="ctr"/>
                </a:tc>
                <a:tc>
                  <a:txBody>
                    <a:bodyPr/>
                    <a:lstStyle/>
                    <a:p>
                      <a:pPr algn="r" fontAlgn="ctr"/>
                      <a:r>
                        <a:rPr lang="en-US" altLang="zh-CN" sz="900" kern="1200">
                          <a:solidFill>
                            <a:schemeClr val="dk1"/>
                          </a:solidFill>
                          <a:latin typeface="+mn-lt"/>
                          <a:ea typeface="+mn-ea"/>
                          <a:cs typeface="+mn-cs"/>
                        </a:rPr>
                        <a:t>13.96%</a:t>
                      </a:r>
                    </a:p>
                  </a:txBody>
                  <a:tcPr marL="6350" marR="6350" marT="6350" marB="0" anchor="ctr"/>
                </a:tc>
                <a:tc>
                  <a:txBody>
                    <a:bodyPr/>
                    <a:lstStyle/>
                    <a:p>
                      <a:pPr algn="r" fontAlgn="ctr"/>
                      <a:r>
                        <a:rPr lang="en-US" altLang="zh-CN" sz="900" kern="1200" dirty="0">
                          <a:solidFill>
                            <a:srgbClr val="FF0000"/>
                          </a:solidFill>
                          <a:latin typeface="+mn-lt"/>
                          <a:ea typeface="+mn-ea"/>
                          <a:cs typeface="+mn-cs"/>
                        </a:rPr>
                        <a:t>3.95%</a:t>
                      </a:r>
                    </a:p>
                  </a:txBody>
                  <a:tcPr marL="6350" marR="6350" marT="6350" marB="0" anchor="ctr"/>
                </a:tc>
                <a:extLst>
                  <a:ext uri="{0D108BD9-81ED-4DB2-BD59-A6C34878D82A}">
                    <a16:rowId xmlns:a16="http://schemas.microsoft.com/office/drawing/2014/main" val="10005"/>
                  </a:ext>
                </a:extLst>
              </a:tr>
              <a:tr h="492818">
                <a:tc>
                  <a:txBody>
                    <a:bodyPr/>
                    <a:lstStyle/>
                    <a:p>
                      <a:pPr algn="ctr"/>
                      <a:r>
                        <a:rPr lang="zh-CN" altLang="en-US" sz="900" dirty="0"/>
                        <a:t>总计</a:t>
                      </a:r>
                    </a:p>
                  </a:txBody>
                  <a:tcPr anchor="ctr"/>
                </a:tc>
                <a:tc>
                  <a:txBody>
                    <a:bodyPr/>
                    <a:lstStyle/>
                    <a:p>
                      <a:pPr algn="ctr"/>
                      <a:r>
                        <a:rPr lang="en-US" altLang="zh-CN" sz="900" dirty="0"/>
                        <a:t>/</a:t>
                      </a:r>
                      <a:endParaRPr lang="zh-CN" altLang="en-US" sz="900" dirty="0"/>
                    </a:p>
                  </a:txBody>
                  <a:tcPr anchor="ctr"/>
                </a:tc>
                <a:tc>
                  <a:txBody>
                    <a:bodyPr/>
                    <a:lstStyle/>
                    <a:p>
                      <a:pPr algn="ctr"/>
                      <a:r>
                        <a:rPr lang="en-US" altLang="zh-CN" sz="900" dirty="0"/>
                        <a:t>1529</a:t>
                      </a:r>
                      <a:r>
                        <a:rPr lang="zh-CN" altLang="en-US" sz="900" dirty="0"/>
                        <a:t>万</a:t>
                      </a:r>
                    </a:p>
                  </a:txBody>
                  <a:tcPr anchor="ctr"/>
                </a:tc>
                <a:tc>
                  <a:txBody>
                    <a:bodyPr/>
                    <a:lstStyle/>
                    <a:p>
                      <a:pPr algn="r" fontAlgn="ctr"/>
                      <a:r>
                        <a:rPr lang="en-US" altLang="zh-CN" sz="900" kern="1200" dirty="0">
                          <a:solidFill>
                            <a:schemeClr val="dk1"/>
                          </a:solidFill>
                          <a:latin typeface="+mn-lt"/>
                          <a:ea typeface="+mn-ea"/>
                          <a:cs typeface="+mn-cs"/>
                        </a:rPr>
                        <a:t>47.30%</a:t>
                      </a:r>
                    </a:p>
                  </a:txBody>
                  <a:tcPr marL="6350" marR="6350" marT="6350" marB="0" anchor="ctr"/>
                </a:tc>
                <a:tc>
                  <a:txBody>
                    <a:bodyPr/>
                    <a:lstStyle/>
                    <a:p>
                      <a:pPr algn="r" fontAlgn="ctr"/>
                      <a:r>
                        <a:rPr lang="en-US" altLang="zh-CN" sz="900" kern="1200">
                          <a:solidFill>
                            <a:schemeClr val="dk1"/>
                          </a:solidFill>
                          <a:latin typeface="+mn-lt"/>
                          <a:ea typeface="+mn-ea"/>
                          <a:cs typeface="+mn-cs"/>
                        </a:rPr>
                        <a:t>25.45%</a:t>
                      </a:r>
                    </a:p>
                  </a:txBody>
                  <a:tcPr marL="6350" marR="6350" marT="6350" marB="0" anchor="ctr"/>
                </a:tc>
                <a:tc>
                  <a:txBody>
                    <a:bodyPr/>
                    <a:lstStyle/>
                    <a:p>
                      <a:pPr algn="r" fontAlgn="ctr"/>
                      <a:r>
                        <a:rPr lang="en-US" altLang="zh-CN" sz="900" kern="1200" dirty="0">
                          <a:solidFill>
                            <a:schemeClr val="dk1"/>
                          </a:solidFill>
                          <a:latin typeface="+mn-lt"/>
                          <a:ea typeface="+mn-ea"/>
                          <a:cs typeface="+mn-cs"/>
                        </a:rPr>
                        <a:t>12.04%</a:t>
                      </a:r>
                    </a:p>
                  </a:txBody>
                  <a:tcPr marL="6350" marR="6350" marT="6350" marB="0" anchor="ctr"/>
                </a:tc>
                <a:extLst>
                  <a:ext uri="{0D108BD9-81ED-4DB2-BD59-A6C34878D82A}">
                    <a16:rowId xmlns:a16="http://schemas.microsoft.com/office/drawing/2014/main" val="10006"/>
                  </a:ext>
                </a:extLst>
              </a:tr>
            </a:tbl>
          </a:graphicData>
        </a:graphic>
      </p:graphicFrame>
      <p:sp>
        <p:nvSpPr>
          <p:cNvPr id="14" name="文本框 13"/>
          <p:cNvSpPr txBox="1"/>
          <p:nvPr/>
        </p:nvSpPr>
        <p:spPr>
          <a:xfrm>
            <a:off x="1299950" y="1242469"/>
            <a:ext cx="3615930" cy="230832"/>
          </a:xfrm>
          <a:prstGeom prst="rect">
            <a:avLst/>
          </a:prstGeom>
          <a:noFill/>
        </p:spPr>
        <p:txBody>
          <a:bodyPr wrap="square">
            <a:spAutoFit/>
          </a:bodyPr>
          <a:lstStyle/>
          <a:p>
            <a:pPr algn="ctr" defTabSz="685800">
              <a:defRPr/>
            </a:pPr>
            <a:r>
              <a:rPr lang="zh-CN" altLang="en-US" sz="900" b="1" kern="0" dirty="0">
                <a:solidFill>
                  <a:schemeClr val="tx1">
                    <a:lumMod val="85000"/>
                    <a:lumOff val="15000"/>
                  </a:schemeClr>
                </a:solidFill>
                <a:latin typeface="+mn-ea"/>
                <a:cs typeface="MiSans Medium" panose="00000600000000000000" pitchFamily="2" charset="-122"/>
                <a:sym typeface="MiSans Medium" panose="00000600000000000000" pitchFamily="2" charset="-122"/>
              </a:rPr>
              <a:t>部分待满足的用户到餐重决策需求</a:t>
            </a:r>
            <a:r>
              <a:rPr lang="zh-CN" altLang="en-US" sz="900" kern="0" dirty="0">
                <a:solidFill>
                  <a:schemeClr val="tx1">
                    <a:lumMod val="85000"/>
                    <a:lumOff val="15000"/>
                  </a:schemeClr>
                </a:solidFill>
                <a:latin typeface="+mn-ea"/>
                <a:cs typeface="MiSans Medium" panose="00000600000000000000" pitchFamily="2" charset="-122"/>
                <a:sym typeface="MiSans Medium" panose="00000600000000000000" pitchFamily="2" charset="-122"/>
              </a:rPr>
              <a:t>（决策成本高*需求满足度低）</a:t>
            </a:r>
          </a:p>
        </p:txBody>
      </p:sp>
      <p:sp>
        <p:nvSpPr>
          <p:cNvPr id="16" name="文本框 15"/>
          <p:cNvSpPr txBox="1"/>
          <p:nvPr/>
        </p:nvSpPr>
        <p:spPr>
          <a:xfrm>
            <a:off x="251999" y="656317"/>
            <a:ext cx="8784262" cy="276999"/>
          </a:xfrm>
          <a:prstGeom prst="rect">
            <a:avLst/>
          </a:prstGeom>
          <a:noFill/>
        </p:spPr>
        <p:txBody>
          <a:bodyPr wrap="square">
            <a:spAutoFit/>
          </a:bodyPr>
          <a:lstStyle/>
          <a:p>
            <a:pPr marL="171450" indent="-171450" rtl="0" eaLnBrk="1" fontAlgn="ctr" latinLnBrk="0" hangingPunct="1">
              <a:spcBef>
                <a:spcPts val="0"/>
              </a:spcBef>
              <a:spcAft>
                <a:spcPts val="0"/>
              </a:spcAft>
              <a:buFont typeface="Arial" panose="020B0604020202020204" pitchFamily="34" charset="0"/>
              <a:buChar char="•"/>
            </a:pPr>
            <a:r>
              <a:rPr lang="zh-CN" altLang="en-US" sz="1200" dirty="0">
                <a:latin typeface="+mn-ea"/>
              </a:rPr>
              <a:t>抽样</a:t>
            </a:r>
            <a:r>
              <a:rPr lang="en-US" altLang="zh-CN" sz="1200" dirty="0">
                <a:latin typeface="+mn-ea"/>
              </a:rPr>
              <a:t>Top500</a:t>
            </a:r>
            <a:r>
              <a:rPr lang="zh-CN" altLang="en-US" sz="1200" dirty="0">
                <a:latin typeface="+mn-ea"/>
              </a:rPr>
              <a:t>搜索效率看，品类词、菜品词、场景词、地址词中，有一定待满足的用户到餐重决策需求</a:t>
            </a:r>
            <a:endParaRPr lang="en-US" altLang="zh-CN" sz="1200" dirty="0">
              <a:latin typeface="+mn-ea"/>
            </a:endParaRPr>
          </a:p>
        </p:txBody>
      </p:sp>
      <p:sp>
        <p:nvSpPr>
          <p:cNvPr id="27" name="Rounded Rectangle"/>
          <p:cNvSpPr/>
          <p:nvPr/>
        </p:nvSpPr>
        <p:spPr>
          <a:xfrm>
            <a:off x="1006867" y="1885950"/>
            <a:ext cx="987033" cy="2260600"/>
          </a:xfrm>
          <a:prstGeom prst="roundRect">
            <a:avLst>
              <a:gd name="adj" fmla="val 4117"/>
            </a:avLst>
          </a:prstGeom>
          <a:noFill/>
          <a:ln w="6350">
            <a:solidFill>
              <a:schemeClr val="bg1">
                <a:lumMod val="65000"/>
              </a:schemeClr>
            </a:solidFill>
            <a:prstDash val="dash"/>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000" y="74344"/>
            <a:ext cx="7664380" cy="427313"/>
          </a:xfrm>
        </p:spPr>
        <p:txBody>
          <a:bodyPr>
            <a:normAutofit/>
          </a:bodyPr>
          <a:lstStyle/>
          <a:p>
            <a:r>
              <a:rPr lang="zh-CN" altLang="en-US" sz="2100" dirty="0"/>
              <a:t>用户找店决策需求分析</a:t>
            </a:r>
          </a:p>
        </p:txBody>
      </p:sp>
      <p:sp>
        <p:nvSpPr>
          <p:cNvPr id="148" name="矩形: 圆角 4"/>
          <p:cNvSpPr/>
          <p:nvPr/>
        </p:nvSpPr>
        <p:spPr>
          <a:xfrm>
            <a:off x="699592" y="1436716"/>
            <a:ext cx="959618" cy="216000"/>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功能需求</a:t>
            </a:r>
          </a:p>
        </p:txBody>
      </p:sp>
      <p:sp>
        <p:nvSpPr>
          <p:cNvPr id="149" name="矩形: 圆角 5"/>
          <p:cNvSpPr/>
          <p:nvPr/>
        </p:nvSpPr>
        <p:spPr>
          <a:xfrm>
            <a:off x="699592" y="1949975"/>
            <a:ext cx="959618" cy="216000"/>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安全感需求</a:t>
            </a:r>
          </a:p>
        </p:txBody>
      </p:sp>
      <p:sp>
        <p:nvSpPr>
          <p:cNvPr id="150" name="矩形: 圆角 6"/>
          <p:cNvSpPr/>
          <p:nvPr/>
        </p:nvSpPr>
        <p:spPr>
          <a:xfrm>
            <a:off x="699592" y="2455342"/>
            <a:ext cx="950553" cy="216000"/>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情感</a:t>
            </a:r>
            <a:r>
              <a:rPr lang="en-US" altLang="zh-CN" sz="900" b="1" dirty="0">
                <a:solidFill>
                  <a:schemeClr val="tx1"/>
                </a:solidFill>
                <a:latin typeface="+mn-ea"/>
                <a:cs typeface="MiSans Medium" panose="00000600000000000000" pitchFamily="2" charset="-122"/>
                <a:sym typeface="MiSans Bold" panose="00000800000000000000" pitchFamily="2" charset="-122"/>
              </a:rPr>
              <a:t>/</a:t>
            </a:r>
            <a:r>
              <a:rPr lang="zh-CN" altLang="en-US" sz="900" b="1" dirty="0">
                <a:solidFill>
                  <a:schemeClr val="tx1"/>
                </a:solidFill>
                <a:latin typeface="+mn-ea"/>
                <a:cs typeface="MiSans Medium" panose="00000600000000000000" pitchFamily="2" charset="-122"/>
                <a:sym typeface="MiSans Bold" panose="00000800000000000000" pitchFamily="2" charset="-122"/>
              </a:rPr>
              <a:t>社交需求</a:t>
            </a:r>
          </a:p>
        </p:txBody>
      </p:sp>
      <p:sp>
        <p:nvSpPr>
          <p:cNvPr id="151" name="矩形: 圆角 7"/>
          <p:cNvSpPr/>
          <p:nvPr/>
        </p:nvSpPr>
        <p:spPr>
          <a:xfrm>
            <a:off x="699592" y="2926482"/>
            <a:ext cx="959618" cy="211981"/>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尊重需求</a:t>
            </a:r>
          </a:p>
        </p:txBody>
      </p:sp>
      <p:sp>
        <p:nvSpPr>
          <p:cNvPr id="152" name="矩形: 圆角 8"/>
          <p:cNvSpPr/>
          <p:nvPr/>
        </p:nvSpPr>
        <p:spPr>
          <a:xfrm>
            <a:off x="1733308" y="868350"/>
            <a:ext cx="5405356"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目标人群</a:t>
            </a:r>
          </a:p>
        </p:txBody>
      </p:sp>
      <p:sp>
        <p:nvSpPr>
          <p:cNvPr id="153" name="矩形: 圆角 9"/>
          <p:cNvSpPr/>
          <p:nvPr/>
        </p:nvSpPr>
        <p:spPr>
          <a:xfrm>
            <a:off x="1746628"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自己</a:t>
            </a:r>
          </a:p>
        </p:txBody>
      </p:sp>
      <p:sp>
        <p:nvSpPr>
          <p:cNvPr id="154" name="矩形: 圆角 10"/>
          <p:cNvSpPr/>
          <p:nvPr/>
        </p:nvSpPr>
        <p:spPr>
          <a:xfrm>
            <a:off x="4449967"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同事</a:t>
            </a:r>
          </a:p>
        </p:txBody>
      </p:sp>
      <p:sp>
        <p:nvSpPr>
          <p:cNvPr id="155" name="矩形: 圆角 11"/>
          <p:cNvSpPr/>
          <p:nvPr/>
        </p:nvSpPr>
        <p:spPr>
          <a:xfrm>
            <a:off x="2647741"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家人</a:t>
            </a:r>
            <a:r>
              <a:rPr lang="en-US" altLang="zh-CN" sz="900" b="1" dirty="0">
                <a:solidFill>
                  <a:schemeClr val="tx1"/>
                </a:solidFill>
                <a:latin typeface="+mn-ea"/>
                <a:cs typeface="MiSans Medium" panose="00000600000000000000" pitchFamily="2" charset="-122"/>
                <a:sym typeface="MiSans Bold" panose="00000800000000000000" pitchFamily="2" charset="-122"/>
              </a:rPr>
              <a:t>/</a:t>
            </a:r>
            <a:r>
              <a:rPr lang="zh-CN" altLang="en-US" sz="900" b="1" dirty="0">
                <a:solidFill>
                  <a:schemeClr val="tx1"/>
                </a:solidFill>
                <a:latin typeface="+mn-ea"/>
                <a:cs typeface="MiSans Medium" panose="00000600000000000000" pitchFamily="2" charset="-122"/>
                <a:sym typeface="MiSans Bold" panose="00000800000000000000" pitchFamily="2" charset="-122"/>
              </a:rPr>
              <a:t>朋友</a:t>
            </a:r>
          </a:p>
        </p:txBody>
      </p:sp>
      <p:sp>
        <p:nvSpPr>
          <p:cNvPr id="156" name="矩形: 圆角 12"/>
          <p:cNvSpPr/>
          <p:nvPr/>
        </p:nvSpPr>
        <p:spPr>
          <a:xfrm>
            <a:off x="3548854"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情侣</a:t>
            </a:r>
          </a:p>
        </p:txBody>
      </p:sp>
      <p:sp>
        <p:nvSpPr>
          <p:cNvPr id="157" name="矩形: 圆角 13"/>
          <p:cNvSpPr/>
          <p:nvPr/>
        </p:nvSpPr>
        <p:spPr>
          <a:xfrm>
            <a:off x="5351080"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客户</a:t>
            </a:r>
          </a:p>
        </p:txBody>
      </p:sp>
      <p:sp>
        <p:nvSpPr>
          <p:cNvPr id="158" name="矩形: 圆角 14"/>
          <p:cNvSpPr/>
          <p:nvPr/>
        </p:nvSpPr>
        <p:spPr>
          <a:xfrm>
            <a:off x="6252191" y="1096804"/>
            <a:ext cx="886473" cy="1509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000000"/>
                </a:solidFill>
                <a:latin typeface="+mn-ea"/>
                <a:cs typeface="MiSans Medium" panose="00000600000000000000"/>
              </a:rPr>
              <a:t>亲子</a:t>
            </a:r>
            <a:endParaRPr lang="zh-CN" altLang="zh-CN" sz="900" dirty="0">
              <a:latin typeface="+mn-ea"/>
            </a:endParaRPr>
          </a:p>
        </p:txBody>
      </p:sp>
      <p:sp>
        <p:nvSpPr>
          <p:cNvPr id="161" name="矩形: 圆角 17"/>
          <p:cNvSpPr/>
          <p:nvPr/>
        </p:nvSpPr>
        <p:spPr>
          <a:xfrm>
            <a:off x="2687012" y="1413316"/>
            <a:ext cx="2634239" cy="1366933"/>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900" b="1" dirty="0">
              <a:solidFill>
                <a:schemeClr val="tx1"/>
              </a:solidFill>
              <a:latin typeface="+mn-ea"/>
              <a:sym typeface="MiSans Bold" panose="00000800000000000000" pitchFamily="2" charset="-122"/>
            </a:endParaRPr>
          </a:p>
          <a:p>
            <a:pPr algn="ctr"/>
            <a:r>
              <a:rPr lang="zh-CN" altLang="en-US" sz="900" b="1" dirty="0">
                <a:solidFill>
                  <a:schemeClr val="tx1"/>
                </a:solidFill>
                <a:latin typeface="+mn-ea"/>
                <a:sym typeface="MiSans Bold" panose="00000800000000000000" pitchFamily="2" charset="-122"/>
              </a:rPr>
              <a:t>约聚</a:t>
            </a:r>
            <a:endParaRPr lang="en-US" altLang="zh-CN" sz="900" b="1" dirty="0">
              <a:solidFill>
                <a:schemeClr val="tx1"/>
              </a:solidFill>
              <a:latin typeface="+mn-ea"/>
              <a:sym typeface="MiSans Bold" panose="00000800000000000000" pitchFamily="2" charset="-122"/>
            </a:endParaRPr>
          </a:p>
          <a:p>
            <a:pPr algn="ctr"/>
            <a:r>
              <a:rPr lang="zh-CN" altLang="en-US" sz="900" b="1" dirty="0">
                <a:solidFill>
                  <a:schemeClr val="bg1">
                    <a:lumMod val="50000"/>
                  </a:schemeClr>
                </a:solidFill>
                <a:latin typeface="+mn-ea"/>
                <a:sym typeface="MiSans Bold" panose="00000800000000000000" pitchFamily="2" charset="-122"/>
              </a:rPr>
              <a:t>（综合考虑多人口味、预算、忌口等）</a:t>
            </a:r>
          </a:p>
        </p:txBody>
      </p:sp>
      <p:sp>
        <p:nvSpPr>
          <p:cNvPr id="162" name="矩形: 圆角 18"/>
          <p:cNvSpPr/>
          <p:nvPr/>
        </p:nvSpPr>
        <p:spPr>
          <a:xfrm>
            <a:off x="5345653" y="1878968"/>
            <a:ext cx="882137" cy="1366933"/>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宴请</a:t>
            </a:r>
            <a:endParaRPr lang="en-US" altLang="zh-CN" sz="900" b="1" dirty="0">
              <a:solidFill>
                <a:schemeClr val="tx1"/>
              </a:solidFill>
              <a:latin typeface="+mn-ea"/>
              <a:sym typeface="MiSans Bold" panose="00000800000000000000" pitchFamily="2" charset="-122"/>
            </a:endParaRPr>
          </a:p>
        </p:txBody>
      </p:sp>
      <p:sp>
        <p:nvSpPr>
          <p:cNvPr id="163" name="矩形: 圆角 19"/>
          <p:cNvSpPr/>
          <p:nvPr/>
        </p:nvSpPr>
        <p:spPr>
          <a:xfrm>
            <a:off x="6261955" y="1405294"/>
            <a:ext cx="876709" cy="1298443"/>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亲子餐</a:t>
            </a:r>
          </a:p>
        </p:txBody>
      </p:sp>
      <p:sp>
        <p:nvSpPr>
          <p:cNvPr id="164" name="矩形: 圆角 20"/>
          <p:cNvSpPr/>
          <p:nvPr/>
        </p:nvSpPr>
        <p:spPr>
          <a:xfrm>
            <a:off x="1746628" y="2859533"/>
            <a:ext cx="3574623" cy="374864"/>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文化追求、尝鲜品鉴等</a:t>
            </a:r>
            <a:endParaRPr lang="en-US" altLang="zh-CN" sz="900" b="1" dirty="0">
              <a:solidFill>
                <a:schemeClr val="tx1"/>
              </a:solidFill>
              <a:latin typeface="+mn-ea"/>
              <a:sym typeface="MiSans Bold" panose="00000800000000000000" pitchFamily="2" charset="-122"/>
            </a:endParaRPr>
          </a:p>
        </p:txBody>
      </p:sp>
      <p:sp>
        <p:nvSpPr>
          <p:cNvPr id="165" name="矩形: 圆角 21"/>
          <p:cNvSpPr/>
          <p:nvPr/>
        </p:nvSpPr>
        <p:spPr>
          <a:xfrm>
            <a:off x="1736006" y="1426876"/>
            <a:ext cx="914433" cy="36618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饱腹、小馋</a:t>
            </a:r>
            <a:endParaRPr lang="en-US" altLang="zh-CN" sz="900" b="1" dirty="0">
              <a:solidFill>
                <a:schemeClr val="tx1"/>
              </a:solidFill>
              <a:latin typeface="+mn-ea"/>
              <a:cs typeface="MiSans Medium" panose="00000600000000000000" pitchFamily="2" charset="-122"/>
              <a:sym typeface="MiSans Bold" panose="00000800000000000000" pitchFamily="2" charset="-122"/>
            </a:endParaRPr>
          </a:p>
        </p:txBody>
      </p:sp>
      <p:sp>
        <p:nvSpPr>
          <p:cNvPr id="167" name="矩形: 圆角 23"/>
          <p:cNvSpPr/>
          <p:nvPr/>
        </p:nvSpPr>
        <p:spPr>
          <a:xfrm>
            <a:off x="4454036" y="1413316"/>
            <a:ext cx="1783517" cy="37486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工作餐</a:t>
            </a:r>
            <a:endParaRPr lang="en-US" altLang="zh-CN" sz="900" b="1" dirty="0">
              <a:solidFill>
                <a:schemeClr val="tx1"/>
              </a:solidFill>
              <a:latin typeface="+mn-ea"/>
              <a:sym typeface="MiSans Bold" panose="00000800000000000000" pitchFamily="2" charset="-122"/>
            </a:endParaRPr>
          </a:p>
        </p:txBody>
      </p:sp>
      <p:sp>
        <p:nvSpPr>
          <p:cNvPr id="169" name="矩形: 圆角 25"/>
          <p:cNvSpPr/>
          <p:nvPr/>
        </p:nvSpPr>
        <p:spPr>
          <a:xfrm>
            <a:off x="2889564" y="3817055"/>
            <a:ext cx="896400" cy="1139937"/>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评分评价</a:t>
            </a:r>
          </a:p>
        </p:txBody>
      </p:sp>
      <p:sp>
        <p:nvSpPr>
          <p:cNvPr id="170" name="矩形: 圆角 26"/>
          <p:cNvSpPr/>
          <p:nvPr/>
        </p:nvSpPr>
        <p:spPr>
          <a:xfrm>
            <a:off x="6309211" y="3804373"/>
            <a:ext cx="896400" cy="1139937"/>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900" b="1" dirty="0">
                <a:solidFill>
                  <a:schemeClr val="tx1"/>
                </a:solidFill>
                <a:latin typeface="+mn-ea"/>
                <a:sym typeface="MiSans Bold" panose="00000800000000000000" pitchFamily="2" charset="-122"/>
              </a:rPr>
              <a:t>……</a:t>
            </a:r>
            <a:endParaRPr lang="zh-CN" altLang="en-US" sz="900" b="1" dirty="0">
              <a:solidFill>
                <a:schemeClr val="tx1"/>
              </a:solidFill>
              <a:latin typeface="+mn-ea"/>
              <a:sym typeface="MiSans Bold" panose="00000800000000000000" pitchFamily="2" charset="-122"/>
            </a:endParaRPr>
          </a:p>
        </p:txBody>
      </p:sp>
      <p:sp>
        <p:nvSpPr>
          <p:cNvPr id="171" name="矩形: 圆角 27"/>
          <p:cNvSpPr/>
          <p:nvPr/>
        </p:nvSpPr>
        <p:spPr>
          <a:xfrm>
            <a:off x="1749463" y="3817054"/>
            <a:ext cx="896619" cy="1139938"/>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900" b="1" dirty="0">
                <a:solidFill>
                  <a:schemeClr val="tx1"/>
                </a:solidFill>
                <a:latin typeface="+mn-ea"/>
                <a:cs typeface="MiSans Medium" panose="00000600000000000000" pitchFamily="2" charset="-122"/>
                <a:sym typeface="MiSans Bold" panose="00000800000000000000" pitchFamily="2" charset="-122"/>
              </a:rPr>
              <a:t>GTV/</a:t>
            </a:r>
            <a:r>
              <a:rPr lang="zh-CN" altLang="en-US" sz="900" b="1" dirty="0">
                <a:solidFill>
                  <a:schemeClr val="tx1"/>
                </a:solidFill>
                <a:latin typeface="+mn-ea"/>
                <a:cs typeface="MiSans Medium" panose="00000600000000000000" pitchFamily="2" charset="-122"/>
                <a:sym typeface="MiSans Bold" panose="00000800000000000000" pitchFamily="2" charset="-122"/>
              </a:rPr>
              <a:t>销量</a:t>
            </a:r>
          </a:p>
        </p:txBody>
      </p:sp>
      <p:cxnSp>
        <p:nvCxnSpPr>
          <p:cNvPr id="173" name="直接连接符 29"/>
          <p:cNvCxnSpPr/>
          <p:nvPr/>
        </p:nvCxnSpPr>
        <p:spPr>
          <a:xfrm>
            <a:off x="730754" y="3424070"/>
            <a:ext cx="8280623"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左大括号 173"/>
          <p:cNvSpPr/>
          <p:nvPr/>
        </p:nvSpPr>
        <p:spPr>
          <a:xfrm>
            <a:off x="535395" y="1504253"/>
            <a:ext cx="131268" cy="1820382"/>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900">
              <a:latin typeface="+mn-ea"/>
            </a:endParaRPr>
          </a:p>
        </p:txBody>
      </p:sp>
      <p:sp>
        <p:nvSpPr>
          <p:cNvPr id="178" name="文本框 177"/>
          <p:cNvSpPr txBox="1"/>
          <p:nvPr/>
        </p:nvSpPr>
        <p:spPr>
          <a:xfrm>
            <a:off x="699592" y="1630107"/>
            <a:ext cx="1011341" cy="228935"/>
          </a:xfrm>
          <a:prstGeom prst="rect">
            <a:avLst/>
          </a:prstGeom>
          <a:noFill/>
        </p:spPr>
        <p:txBody>
          <a:bodyPr wrap="square">
            <a:spAutoFit/>
          </a:bodyPr>
          <a:lstStyle/>
          <a:p>
            <a:pPr algn="ctr"/>
            <a:r>
              <a:rPr lang="zh-CN" altLang="en-US" sz="900" dirty="0">
                <a:solidFill>
                  <a:schemeClr val="bg1">
                    <a:lumMod val="65000"/>
                  </a:schemeClr>
                </a:solidFill>
                <a:latin typeface="+mn-ea"/>
              </a:rPr>
              <a:t>口味</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价格</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速度</a:t>
            </a:r>
          </a:p>
        </p:txBody>
      </p:sp>
      <p:sp>
        <p:nvSpPr>
          <p:cNvPr id="179" name="文本框 178"/>
          <p:cNvSpPr txBox="1"/>
          <p:nvPr/>
        </p:nvSpPr>
        <p:spPr>
          <a:xfrm>
            <a:off x="453103" y="2135814"/>
            <a:ext cx="1408786" cy="230832"/>
          </a:xfrm>
          <a:prstGeom prst="rect">
            <a:avLst/>
          </a:prstGeom>
          <a:noFill/>
        </p:spPr>
        <p:txBody>
          <a:bodyPr wrap="square">
            <a:spAutoFit/>
          </a:bodyPr>
          <a:lstStyle/>
          <a:p>
            <a:pPr algn="ctr"/>
            <a:r>
              <a:rPr lang="zh-CN" altLang="en-US" sz="900" dirty="0">
                <a:solidFill>
                  <a:schemeClr val="bg1">
                    <a:lumMod val="65000"/>
                  </a:schemeClr>
                </a:solidFill>
                <a:latin typeface="+mn-ea"/>
              </a:rPr>
              <a:t>环境</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设施</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食材</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成分</a:t>
            </a:r>
          </a:p>
        </p:txBody>
      </p:sp>
      <p:sp>
        <p:nvSpPr>
          <p:cNvPr id="180" name="文本框 179"/>
          <p:cNvSpPr txBox="1"/>
          <p:nvPr/>
        </p:nvSpPr>
        <p:spPr>
          <a:xfrm>
            <a:off x="624783" y="2615525"/>
            <a:ext cx="1086150" cy="230832"/>
          </a:xfrm>
          <a:prstGeom prst="rect">
            <a:avLst/>
          </a:prstGeom>
          <a:noFill/>
        </p:spPr>
        <p:txBody>
          <a:bodyPr wrap="square">
            <a:spAutoFit/>
          </a:bodyPr>
          <a:lstStyle/>
          <a:p>
            <a:pPr algn="ctr"/>
            <a:r>
              <a:rPr lang="zh-CN" altLang="en-US" sz="900" dirty="0">
                <a:solidFill>
                  <a:schemeClr val="bg1">
                    <a:lumMod val="65000"/>
                  </a:schemeClr>
                </a:solidFill>
                <a:latin typeface="+mn-ea"/>
              </a:rPr>
              <a:t>环境</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服务</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特色</a:t>
            </a:r>
          </a:p>
        </p:txBody>
      </p:sp>
      <p:sp>
        <p:nvSpPr>
          <p:cNvPr id="181" name="文本框 180"/>
          <p:cNvSpPr txBox="1"/>
          <p:nvPr/>
        </p:nvSpPr>
        <p:spPr>
          <a:xfrm>
            <a:off x="542521" y="3093803"/>
            <a:ext cx="1357520" cy="230832"/>
          </a:xfrm>
          <a:prstGeom prst="rect">
            <a:avLst/>
          </a:prstGeom>
          <a:noFill/>
        </p:spPr>
        <p:txBody>
          <a:bodyPr wrap="square">
            <a:spAutoFit/>
          </a:bodyPr>
          <a:lstStyle/>
          <a:p>
            <a:pPr algn="ctr"/>
            <a:r>
              <a:rPr lang="zh-CN" altLang="en-US" sz="900" dirty="0">
                <a:solidFill>
                  <a:schemeClr val="bg1">
                    <a:lumMod val="65000"/>
                  </a:schemeClr>
                </a:solidFill>
                <a:latin typeface="+mn-ea"/>
              </a:rPr>
              <a:t>服务</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权益</a:t>
            </a:r>
            <a:r>
              <a:rPr lang="en-US" altLang="zh-CN" sz="900" dirty="0">
                <a:solidFill>
                  <a:schemeClr val="bg1">
                    <a:lumMod val="65000"/>
                  </a:schemeClr>
                </a:solidFill>
                <a:latin typeface="+mn-ea"/>
              </a:rPr>
              <a:t>/</a:t>
            </a:r>
            <a:r>
              <a:rPr lang="zh-CN" altLang="en-US" sz="900" dirty="0">
                <a:solidFill>
                  <a:schemeClr val="bg1">
                    <a:lumMod val="65000"/>
                  </a:schemeClr>
                </a:solidFill>
                <a:latin typeface="+mn-ea"/>
              </a:rPr>
              <a:t>文化</a:t>
            </a:r>
          </a:p>
        </p:txBody>
      </p:sp>
      <p:sp>
        <p:nvSpPr>
          <p:cNvPr id="186" name="矩形: 圆角 42"/>
          <p:cNvSpPr/>
          <p:nvPr/>
        </p:nvSpPr>
        <p:spPr>
          <a:xfrm>
            <a:off x="4029446" y="3817055"/>
            <a:ext cx="896400" cy="1139937"/>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流量</a:t>
            </a:r>
          </a:p>
        </p:txBody>
      </p:sp>
      <p:sp>
        <p:nvSpPr>
          <p:cNvPr id="188" name="左大括号 187"/>
          <p:cNvSpPr/>
          <p:nvPr/>
        </p:nvSpPr>
        <p:spPr>
          <a:xfrm flipV="1">
            <a:off x="530553" y="3794348"/>
            <a:ext cx="172272" cy="1131607"/>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900">
              <a:solidFill>
                <a:schemeClr val="bg1">
                  <a:lumMod val="50000"/>
                </a:schemeClr>
              </a:solidFill>
              <a:latin typeface="+mn-ea"/>
            </a:endParaRPr>
          </a:p>
        </p:txBody>
      </p:sp>
      <p:sp>
        <p:nvSpPr>
          <p:cNvPr id="4" name="矩形: 圆角 21"/>
          <p:cNvSpPr/>
          <p:nvPr/>
        </p:nvSpPr>
        <p:spPr>
          <a:xfrm>
            <a:off x="1738966" y="1917158"/>
            <a:ext cx="914433" cy="36618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特殊饮食</a:t>
            </a:r>
            <a:endParaRPr lang="en-US" altLang="zh-CN" sz="900" b="1" dirty="0">
              <a:solidFill>
                <a:schemeClr val="tx1"/>
              </a:solidFill>
              <a:latin typeface="+mn-ea"/>
              <a:cs typeface="MiSans Medium" panose="00000600000000000000" pitchFamily="2" charset="-122"/>
              <a:sym typeface="MiSans Bold" panose="00000800000000000000" pitchFamily="2" charset="-122"/>
            </a:endParaRPr>
          </a:p>
        </p:txBody>
      </p:sp>
      <p:sp>
        <p:nvSpPr>
          <p:cNvPr id="5" name="矩形: 圆角 21"/>
          <p:cNvSpPr/>
          <p:nvPr/>
        </p:nvSpPr>
        <p:spPr>
          <a:xfrm>
            <a:off x="1748177" y="2414067"/>
            <a:ext cx="3573073" cy="36618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漂亮饭等氛围餐厅</a:t>
            </a:r>
            <a:endParaRPr lang="en-US" altLang="zh-CN" sz="900" b="1" dirty="0">
              <a:solidFill>
                <a:schemeClr val="tx1"/>
              </a:solidFill>
              <a:latin typeface="+mn-ea"/>
              <a:sym typeface="MiSans Bold" panose="00000800000000000000" pitchFamily="2" charset="-122"/>
            </a:endParaRPr>
          </a:p>
        </p:txBody>
      </p:sp>
      <p:sp>
        <p:nvSpPr>
          <p:cNvPr id="7" name="矩形: 圆角 8"/>
          <p:cNvSpPr/>
          <p:nvPr/>
        </p:nvSpPr>
        <p:spPr>
          <a:xfrm>
            <a:off x="7393417" y="870880"/>
            <a:ext cx="1617960" cy="150135"/>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目标区域</a:t>
            </a:r>
          </a:p>
        </p:txBody>
      </p:sp>
      <p:sp>
        <p:nvSpPr>
          <p:cNvPr id="13" name="矩形: 圆角 39"/>
          <p:cNvSpPr/>
          <p:nvPr/>
        </p:nvSpPr>
        <p:spPr>
          <a:xfrm>
            <a:off x="7405035" y="1377831"/>
            <a:ext cx="764266" cy="186807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如附近、本地</a:t>
            </a:r>
            <a:endParaRPr lang="zh-CN" altLang="en-US" sz="900" b="1" dirty="0">
              <a:solidFill>
                <a:schemeClr val="tx1"/>
              </a:solidFill>
              <a:latin typeface="+mn-ea"/>
            </a:endParaRPr>
          </a:p>
        </p:txBody>
      </p:sp>
      <p:sp>
        <p:nvSpPr>
          <p:cNvPr id="14" name="矩形: 圆角 39"/>
          <p:cNvSpPr/>
          <p:nvPr/>
        </p:nvSpPr>
        <p:spPr>
          <a:xfrm>
            <a:off x="8252653" y="1377831"/>
            <a:ext cx="764267" cy="186807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如异地、同城异区</a:t>
            </a:r>
            <a:endParaRPr lang="zh-CN" altLang="en-US" sz="900" b="1" dirty="0">
              <a:solidFill>
                <a:schemeClr val="tx1"/>
              </a:solidFill>
              <a:latin typeface="+mn-ea"/>
            </a:endParaRPr>
          </a:p>
        </p:txBody>
      </p:sp>
      <p:sp>
        <p:nvSpPr>
          <p:cNvPr id="18" name="矩形: 圆角 14"/>
          <p:cNvSpPr/>
          <p:nvPr/>
        </p:nvSpPr>
        <p:spPr>
          <a:xfrm>
            <a:off x="7394465" y="1104410"/>
            <a:ext cx="764266" cy="133747"/>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000000"/>
                </a:solidFill>
                <a:latin typeface="+mn-ea"/>
                <a:cs typeface="MiSans Medium" panose="00000600000000000000"/>
              </a:rPr>
              <a:t>熟悉</a:t>
            </a:r>
            <a:endParaRPr lang="zh-CN" altLang="zh-CN" sz="900" dirty="0">
              <a:latin typeface="+mn-ea"/>
            </a:endParaRPr>
          </a:p>
        </p:txBody>
      </p:sp>
      <p:sp>
        <p:nvSpPr>
          <p:cNvPr id="19" name="矩形: 圆角 14"/>
          <p:cNvSpPr/>
          <p:nvPr/>
        </p:nvSpPr>
        <p:spPr>
          <a:xfrm>
            <a:off x="8247110" y="1096804"/>
            <a:ext cx="764267" cy="150134"/>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000000"/>
                </a:solidFill>
                <a:latin typeface="+mn-ea"/>
                <a:cs typeface="MiSans Medium" panose="00000600000000000000"/>
              </a:rPr>
              <a:t>不熟悉</a:t>
            </a:r>
            <a:endParaRPr lang="zh-CN" altLang="zh-CN" sz="900" dirty="0">
              <a:latin typeface="+mn-ea"/>
            </a:endParaRPr>
          </a:p>
        </p:txBody>
      </p:sp>
      <p:sp>
        <p:nvSpPr>
          <p:cNvPr id="20" name="矩形: 圆角 45"/>
          <p:cNvSpPr/>
          <p:nvPr/>
        </p:nvSpPr>
        <p:spPr>
          <a:xfrm>
            <a:off x="5169328" y="3817054"/>
            <a:ext cx="896400" cy="1139937"/>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收藏</a:t>
            </a:r>
            <a:r>
              <a:rPr lang="en-US" altLang="zh-CN" sz="900" b="1" dirty="0">
                <a:solidFill>
                  <a:schemeClr val="tx1"/>
                </a:solidFill>
                <a:latin typeface="+mn-ea"/>
                <a:cs typeface="MiSans Medium" panose="00000600000000000000" pitchFamily="2" charset="-122"/>
                <a:sym typeface="MiSans Bold" panose="00000800000000000000" pitchFamily="2" charset="-122"/>
              </a:rPr>
              <a:t>/</a:t>
            </a:r>
            <a:r>
              <a:rPr lang="zh-CN" altLang="en-US" sz="900" b="1" dirty="0">
                <a:solidFill>
                  <a:schemeClr val="tx1"/>
                </a:solidFill>
                <a:latin typeface="+mn-ea"/>
                <a:cs typeface="MiSans Medium" panose="00000600000000000000" pitchFamily="2" charset="-122"/>
                <a:sym typeface="MiSans Bold" panose="00000800000000000000" pitchFamily="2" charset="-122"/>
              </a:rPr>
              <a:t>打卡</a:t>
            </a:r>
          </a:p>
        </p:txBody>
      </p:sp>
      <p:sp>
        <p:nvSpPr>
          <p:cNvPr id="22" name="矩形: 圆角 46"/>
          <p:cNvSpPr/>
          <p:nvPr/>
        </p:nvSpPr>
        <p:spPr>
          <a:xfrm>
            <a:off x="1677683" y="3534494"/>
            <a:ext cx="7333694" cy="187953"/>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sym typeface="MiSans Bold" panose="00000800000000000000" pitchFamily="2" charset="-122"/>
              </a:rPr>
              <a:t>区域</a:t>
            </a:r>
            <a:r>
              <a:rPr lang="en-US" altLang="zh-CN" sz="1200" b="1" dirty="0">
                <a:solidFill>
                  <a:schemeClr val="tx1"/>
                </a:solidFill>
                <a:latin typeface="+mn-ea"/>
                <a:sym typeface="MiSans Bold" panose="00000800000000000000" pitchFamily="2" charset="-122"/>
              </a:rPr>
              <a:t>x</a:t>
            </a:r>
            <a:r>
              <a:rPr lang="zh-CN" altLang="en-US" sz="1200" b="1" dirty="0">
                <a:solidFill>
                  <a:schemeClr val="tx1"/>
                </a:solidFill>
                <a:latin typeface="+mn-ea"/>
                <a:sym typeface="MiSans Bold" panose="00000800000000000000" pitchFamily="2" charset="-122"/>
              </a:rPr>
              <a:t>品类</a:t>
            </a:r>
          </a:p>
        </p:txBody>
      </p:sp>
      <p:sp>
        <p:nvSpPr>
          <p:cNvPr id="23" name="矩形: 圆角 7"/>
          <p:cNvSpPr/>
          <p:nvPr/>
        </p:nvSpPr>
        <p:spPr>
          <a:xfrm>
            <a:off x="739908" y="3807901"/>
            <a:ext cx="895911" cy="1157402"/>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从众心理</a:t>
            </a:r>
          </a:p>
        </p:txBody>
      </p:sp>
      <p:sp>
        <p:nvSpPr>
          <p:cNvPr id="24" name="文本框 23"/>
          <p:cNvSpPr txBox="1"/>
          <p:nvPr/>
        </p:nvSpPr>
        <p:spPr>
          <a:xfrm>
            <a:off x="227115" y="546971"/>
            <a:ext cx="8784262" cy="276999"/>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到店决策上，一部分用户基于内在需求的场景驱动决策，一部分基于从众心理的数据驱动决策</a:t>
            </a:r>
            <a:endParaRPr lang="en-US" altLang="zh-CN" sz="1200" dirty="0"/>
          </a:p>
        </p:txBody>
      </p:sp>
      <p:sp>
        <p:nvSpPr>
          <p:cNvPr id="27" name="文本框 62"/>
          <p:cNvSpPr txBox="1"/>
          <p:nvPr/>
        </p:nvSpPr>
        <p:spPr>
          <a:xfrm>
            <a:off x="-65451" y="4240437"/>
            <a:ext cx="705041" cy="2308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900" b="1" dirty="0">
                <a:latin typeface="+mn-ea"/>
              </a:rPr>
              <a:t>数据驱动</a:t>
            </a:r>
            <a:endParaRPr lang="en-US" altLang="zh-CN" sz="900" b="1" dirty="0">
              <a:latin typeface="+mn-ea"/>
            </a:endParaRPr>
          </a:p>
        </p:txBody>
      </p:sp>
      <p:sp>
        <p:nvSpPr>
          <p:cNvPr id="28" name="文本框 27"/>
          <p:cNvSpPr txBox="1"/>
          <p:nvPr/>
        </p:nvSpPr>
        <p:spPr>
          <a:xfrm>
            <a:off x="-83455" y="2309709"/>
            <a:ext cx="713257" cy="230832"/>
          </a:xfrm>
          <a:prstGeom prst="rect">
            <a:avLst/>
          </a:prstGeom>
          <a:noFill/>
        </p:spPr>
        <p:txBody>
          <a:bodyPr wrap="square">
            <a:spAutoFit/>
          </a:bodyPr>
          <a:lstStyle/>
          <a:p>
            <a:pPr algn="ctr"/>
            <a:r>
              <a:rPr lang="zh-CN" altLang="en-US" sz="900" b="1" dirty="0">
                <a:latin typeface="+mn-ea"/>
              </a:rPr>
              <a:t>场景驱动</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3" name="直接连接符 29"/>
          <p:cNvCxnSpPr/>
          <p:nvPr/>
        </p:nvCxnSpPr>
        <p:spPr>
          <a:xfrm>
            <a:off x="143933" y="3016542"/>
            <a:ext cx="7969421"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 name="矩形: 圆角 21"/>
          <p:cNvSpPr/>
          <p:nvPr/>
        </p:nvSpPr>
        <p:spPr>
          <a:xfrm>
            <a:off x="2660463" y="725826"/>
            <a:ext cx="1176143" cy="1058930"/>
          </a:xfrm>
          <a:prstGeom prst="roundRect">
            <a:avLst/>
          </a:prstGeom>
          <a:noFill/>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CN" altLang="en-US" sz="900" dirty="0">
                <a:solidFill>
                  <a:schemeClr val="tx1"/>
                </a:solidFill>
                <a:sym typeface="MiSans Bold" panose="00000800000000000000" pitchFamily="2" charset="-122"/>
              </a:rPr>
              <a:t>分时段：夜宵、下午茶</a:t>
            </a:r>
            <a:endParaRPr lang="en-US" altLang="zh-CN" sz="900" dirty="0">
              <a:solidFill>
                <a:schemeClr val="tx1"/>
              </a:solidFill>
              <a:sym typeface="MiSans Bold" panose="00000800000000000000" pitchFamily="2" charset="-122"/>
            </a:endParaRPr>
          </a:p>
          <a:p>
            <a:pPr algn="ctr"/>
            <a:r>
              <a:rPr lang="zh-CN" altLang="en-US" sz="900" dirty="0">
                <a:solidFill>
                  <a:schemeClr val="tx1"/>
                </a:solidFill>
                <a:sym typeface="MiSans Bold" panose="00000800000000000000" pitchFamily="2" charset="-122"/>
              </a:rPr>
              <a:t>热订榜</a:t>
            </a:r>
            <a:endParaRPr lang="en-US" altLang="zh-CN" sz="900" dirty="0">
              <a:solidFill>
                <a:schemeClr val="tx1"/>
              </a:solidFill>
              <a:sym typeface="MiSans Bold" panose="00000800000000000000" pitchFamily="2" charset="-122"/>
            </a:endParaRPr>
          </a:p>
          <a:p>
            <a:pPr algn="ctr"/>
            <a:r>
              <a:rPr lang="zh-CN" altLang="en-US" sz="900" dirty="0">
                <a:solidFill>
                  <a:srgbClr val="FF0000"/>
                </a:solidFill>
                <a:sym typeface="MiSans Bold" panose="00000800000000000000" pitchFamily="2" charset="-122"/>
              </a:rPr>
              <a:t>更多细分场景</a:t>
            </a:r>
            <a:endParaRPr lang="en-US" altLang="zh-CN" sz="900" dirty="0">
              <a:solidFill>
                <a:srgbClr val="FF0000"/>
              </a:solidFill>
              <a:sym typeface="MiSans Bold" panose="00000800000000000000" pitchFamily="2" charset="-122"/>
            </a:endParaRPr>
          </a:p>
        </p:txBody>
      </p:sp>
      <p:sp>
        <p:nvSpPr>
          <p:cNvPr id="15" name="标题 1"/>
          <p:cNvSpPr>
            <a:spLocks noGrp="1"/>
          </p:cNvSpPr>
          <p:nvPr>
            <p:ph type="title"/>
          </p:nvPr>
        </p:nvSpPr>
        <p:spPr>
          <a:xfrm>
            <a:off x="252000" y="32009"/>
            <a:ext cx="7664380" cy="427313"/>
          </a:xfrm>
        </p:spPr>
        <p:txBody>
          <a:bodyPr>
            <a:normAutofit/>
          </a:bodyPr>
          <a:lstStyle/>
          <a:p>
            <a:r>
              <a:rPr lang="zh-CN" altLang="en-US" sz="2100" dirty="0"/>
              <a:t>行业榜单需求覆盖分析</a:t>
            </a:r>
          </a:p>
        </p:txBody>
      </p:sp>
      <p:sp>
        <p:nvSpPr>
          <p:cNvPr id="6" name="矩形: 圆角 10"/>
          <p:cNvSpPr/>
          <p:nvPr/>
        </p:nvSpPr>
        <p:spPr>
          <a:xfrm>
            <a:off x="2674722" y="459757"/>
            <a:ext cx="1080000" cy="180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美团</a:t>
            </a:r>
          </a:p>
        </p:txBody>
      </p:sp>
      <p:sp>
        <p:nvSpPr>
          <p:cNvPr id="8" name="矩形: 圆角 13"/>
          <p:cNvSpPr/>
          <p:nvPr/>
        </p:nvSpPr>
        <p:spPr>
          <a:xfrm>
            <a:off x="4079497" y="459757"/>
            <a:ext cx="1080000" cy="18000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点评</a:t>
            </a:r>
          </a:p>
        </p:txBody>
      </p:sp>
      <p:sp>
        <p:nvSpPr>
          <p:cNvPr id="9" name="矩形: 圆角 14"/>
          <p:cNvSpPr/>
          <p:nvPr/>
        </p:nvSpPr>
        <p:spPr>
          <a:xfrm>
            <a:off x="5528681" y="471932"/>
            <a:ext cx="1080000" cy="180000"/>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900" dirty="0">
                <a:solidFill>
                  <a:schemeClr val="bg1"/>
                </a:solidFill>
              </a:rPr>
              <a:t>D+</a:t>
            </a:r>
            <a:endParaRPr lang="zh-CN" altLang="zh-CN" sz="900" dirty="0">
              <a:solidFill>
                <a:schemeClr val="bg1"/>
              </a:solidFill>
            </a:endParaRPr>
          </a:p>
        </p:txBody>
      </p:sp>
      <p:sp>
        <p:nvSpPr>
          <p:cNvPr id="10" name="矩形: 圆角 14"/>
          <p:cNvSpPr/>
          <p:nvPr/>
        </p:nvSpPr>
        <p:spPr>
          <a:xfrm>
            <a:off x="6900334" y="459093"/>
            <a:ext cx="1080000" cy="180000"/>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000000"/>
                </a:solidFill>
                <a:latin typeface="+mn-ea"/>
                <a:cs typeface="MiSans Medium" panose="00000600000000000000"/>
              </a:rPr>
              <a:t>B+</a:t>
            </a:r>
            <a:endParaRPr lang="zh-CN" altLang="zh-CN" sz="900" dirty="0">
              <a:latin typeface="+mn-ea"/>
            </a:endParaRPr>
          </a:p>
        </p:txBody>
      </p:sp>
      <p:sp>
        <p:nvSpPr>
          <p:cNvPr id="12" name="矩形: 圆角 21"/>
          <p:cNvSpPr/>
          <p:nvPr/>
        </p:nvSpPr>
        <p:spPr>
          <a:xfrm>
            <a:off x="4057274" y="2477381"/>
            <a:ext cx="1102223" cy="498739"/>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市井烟火、老店榜、当地人推荐</a:t>
            </a:r>
            <a:endParaRPr lang="en-US" altLang="zh-CN" sz="900" dirty="0">
              <a:solidFill>
                <a:schemeClr val="tx1"/>
              </a:solidFill>
              <a:sym typeface="MiSans Bold" panose="00000800000000000000" pitchFamily="2" charset="-122"/>
            </a:endParaRPr>
          </a:p>
          <a:p>
            <a:pPr algn="ctr"/>
            <a:r>
              <a:rPr lang="zh-CN" altLang="en-US" sz="900" dirty="0">
                <a:solidFill>
                  <a:schemeClr val="tx1"/>
                </a:solidFill>
                <a:sym typeface="MiSans Bold" panose="00000800000000000000" pitchFamily="2" charset="-122"/>
              </a:rPr>
              <a:t>当地特色菜</a:t>
            </a:r>
            <a:endParaRPr lang="en-US" altLang="zh-CN" sz="900" dirty="0">
              <a:solidFill>
                <a:schemeClr val="tx1"/>
              </a:solidFill>
              <a:sym typeface="MiSans Bold" panose="00000800000000000000" pitchFamily="2" charset="-122"/>
            </a:endParaRPr>
          </a:p>
        </p:txBody>
      </p:sp>
      <p:sp>
        <p:nvSpPr>
          <p:cNvPr id="28" name="矩形: 圆角 21"/>
          <p:cNvSpPr/>
          <p:nvPr/>
        </p:nvSpPr>
        <p:spPr>
          <a:xfrm>
            <a:off x="4057274" y="2283696"/>
            <a:ext cx="1085315" cy="15924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新店榜</a:t>
            </a:r>
            <a:endParaRPr lang="en-US" altLang="zh-CN" sz="900" dirty="0">
              <a:solidFill>
                <a:schemeClr val="tx1"/>
              </a:solidFill>
              <a:sym typeface="MiSans Bold" panose="00000800000000000000" pitchFamily="2" charset="-122"/>
            </a:endParaRPr>
          </a:p>
        </p:txBody>
      </p:sp>
      <p:sp>
        <p:nvSpPr>
          <p:cNvPr id="29" name="矩形: 圆角 21"/>
          <p:cNvSpPr/>
          <p:nvPr/>
        </p:nvSpPr>
        <p:spPr>
          <a:xfrm>
            <a:off x="6881391" y="3693857"/>
            <a:ext cx="1132688" cy="309672"/>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latin typeface="+mn-ea"/>
                <a:sym typeface="MiSans Bold" panose="00000800000000000000" pitchFamily="2" charset="-122"/>
              </a:rPr>
              <a:t>轮胎磨损、回头客、热门、飙升榜</a:t>
            </a:r>
            <a:endParaRPr lang="en-US" altLang="zh-CN" sz="900" dirty="0">
              <a:solidFill>
                <a:srgbClr val="FF0000"/>
              </a:solidFill>
              <a:latin typeface="+mn-ea"/>
              <a:sym typeface="MiSans Bold" panose="00000800000000000000" pitchFamily="2" charset="-122"/>
            </a:endParaRPr>
          </a:p>
        </p:txBody>
      </p:sp>
      <p:sp>
        <p:nvSpPr>
          <p:cNvPr id="30" name="矩形: 圆角 21"/>
          <p:cNvSpPr/>
          <p:nvPr/>
        </p:nvSpPr>
        <p:spPr>
          <a:xfrm>
            <a:off x="2674721" y="3063265"/>
            <a:ext cx="1161885" cy="288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人气榜</a:t>
            </a:r>
            <a:r>
              <a:rPr lang="en-US" altLang="zh-CN" sz="900" dirty="0">
                <a:solidFill>
                  <a:schemeClr val="tx1"/>
                </a:solidFill>
                <a:sym typeface="MiSans Bold" panose="00000800000000000000" pitchFamily="2" charset="-122"/>
              </a:rPr>
              <a:t>/</a:t>
            </a:r>
            <a:r>
              <a:rPr lang="zh-CN" altLang="en-US" sz="900" dirty="0">
                <a:solidFill>
                  <a:srgbClr val="FF0000"/>
                </a:solidFill>
                <a:sym typeface="MiSans Bold" panose="00000800000000000000" pitchFamily="2" charset="-122"/>
              </a:rPr>
              <a:t>回头客榜</a:t>
            </a:r>
            <a:endParaRPr lang="en-US" altLang="zh-CN" sz="900" dirty="0">
              <a:solidFill>
                <a:srgbClr val="FF0000"/>
              </a:solidFill>
              <a:sym typeface="MiSans Bold" panose="00000800000000000000" pitchFamily="2" charset="-122"/>
            </a:endParaRPr>
          </a:p>
        </p:txBody>
      </p:sp>
      <p:sp>
        <p:nvSpPr>
          <p:cNvPr id="31" name="矩形: 圆角 21"/>
          <p:cNvSpPr/>
          <p:nvPr/>
        </p:nvSpPr>
        <p:spPr>
          <a:xfrm>
            <a:off x="4079497" y="3063265"/>
            <a:ext cx="1080000" cy="287992"/>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a:solidFill>
                  <a:schemeClr val="tx1"/>
                </a:solidFill>
                <a:sym typeface="MiSans Bold" panose="00000800000000000000" pitchFamily="2" charset="-122"/>
              </a:rPr>
              <a:t>销量榜</a:t>
            </a:r>
            <a:endParaRPr lang="en-US" altLang="zh-CN" sz="900" dirty="0">
              <a:solidFill>
                <a:schemeClr val="tx1"/>
              </a:solidFill>
              <a:sym typeface="MiSans Bold" panose="00000800000000000000" pitchFamily="2" charset="-122"/>
            </a:endParaRPr>
          </a:p>
        </p:txBody>
      </p:sp>
      <p:sp>
        <p:nvSpPr>
          <p:cNvPr id="32" name="矩形: 圆角 21"/>
          <p:cNvSpPr/>
          <p:nvPr/>
        </p:nvSpPr>
        <p:spPr>
          <a:xfrm>
            <a:off x="5428369" y="3063265"/>
            <a:ext cx="1295754" cy="287992"/>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热销、回头客榜</a:t>
            </a:r>
            <a:endParaRPr lang="en-US" altLang="zh-CN" sz="900" dirty="0">
              <a:solidFill>
                <a:schemeClr val="bg1"/>
              </a:solidFill>
              <a:sym typeface="MiSans Bold" panose="00000800000000000000" pitchFamily="2" charset="-122"/>
            </a:endParaRPr>
          </a:p>
        </p:txBody>
      </p:sp>
      <p:sp>
        <p:nvSpPr>
          <p:cNvPr id="33" name="矩形: 圆角 21"/>
          <p:cNvSpPr/>
          <p:nvPr/>
        </p:nvSpPr>
        <p:spPr>
          <a:xfrm>
            <a:off x="2675683" y="3374742"/>
            <a:ext cx="1160923" cy="288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好评榜</a:t>
            </a:r>
            <a:endParaRPr lang="en-US" altLang="zh-CN" sz="900" dirty="0">
              <a:solidFill>
                <a:schemeClr val="tx1"/>
              </a:solidFill>
              <a:sym typeface="MiSans Bold" panose="00000800000000000000" pitchFamily="2" charset="-122"/>
            </a:endParaRPr>
          </a:p>
        </p:txBody>
      </p:sp>
      <p:sp>
        <p:nvSpPr>
          <p:cNvPr id="34" name="矩形: 圆角 21"/>
          <p:cNvSpPr/>
          <p:nvPr/>
        </p:nvSpPr>
        <p:spPr>
          <a:xfrm>
            <a:off x="4072494" y="3374743"/>
            <a:ext cx="1079039" cy="28547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a:solidFill>
                  <a:schemeClr val="tx1"/>
                </a:solidFill>
                <a:sym typeface="MiSans Bold" panose="00000800000000000000" pitchFamily="2" charset="-122"/>
              </a:rPr>
              <a:t>好评榜</a:t>
            </a:r>
            <a:endParaRPr lang="en-US" altLang="zh-CN" sz="900" dirty="0">
              <a:solidFill>
                <a:schemeClr val="tx1"/>
              </a:solidFill>
              <a:sym typeface="MiSans Bold" panose="00000800000000000000" pitchFamily="2" charset="-122"/>
            </a:endParaRPr>
          </a:p>
        </p:txBody>
      </p:sp>
      <p:sp>
        <p:nvSpPr>
          <p:cNvPr id="35" name="矩形: 圆角 21"/>
          <p:cNvSpPr/>
          <p:nvPr/>
        </p:nvSpPr>
        <p:spPr>
          <a:xfrm>
            <a:off x="5427793" y="3374742"/>
            <a:ext cx="1295753" cy="285476"/>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好评榜</a:t>
            </a:r>
            <a:endParaRPr lang="en-US" altLang="zh-CN" sz="900" dirty="0">
              <a:solidFill>
                <a:schemeClr val="bg1"/>
              </a:solidFill>
              <a:sym typeface="MiSans Bold" panose="00000800000000000000" pitchFamily="2" charset="-122"/>
            </a:endParaRPr>
          </a:p>
        </p:txBody>
      </p:sp>
      <p:sp>
        <p:nvSpPr>
          <p:cNvPr id="36" name="矩形: 圆角 21"/>
          <p:cNvSpPr/>
          <p:nvPr/>
        </p:nvSpPr>
        <p:spPr>
          <a:xfrm>
            <a:off x="5432457" y="3693857"/>
            <a:ext cx="1287314" cy="282237"/>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人气榜</a:t>
            </a:r>
            <a:endParaRPr lang="en-US" altLang="zh-CN" sz="900" dirty="0">
              <a:solidFill>
                <a:schemeClr val="bg1"/>
              </a:solidFill>
              <a:sym typeface="MiSans Bold" panose="00000800000000000000" pitchFamily="2" charset="-122"/>
            </a:endParaRPr>
          </a:p>
        </p:txBody>
      </p:sp>
      <p:sp>
        <p:nvSpPr>
          <p:cNvPr id="37" name="矩形: 圆角 21"/>
          <p:cNvSpPr/>
          <p:nvPr/>
        </p:nvSpPr>
        <p:spPr>
          <a:xfrm>
            <a:off x="4079498" y="3992219"/>
            <a:ext cx="1072036" cy="28547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打卡人气榜</a:t>
            </a:r>
            <a:endParaRPr lang="en-US" altLang="zh-CN" sz="900" dirty="0">
              <a:solidFill>
                <a:schemeClr val="tx1"/>
              </a:solidFill>
              <a:sym typeface="MiSans Bold" panose="00000800000000000000" pitchFamily="2" charset="-122"/>
            </a:endParaRPr>
          </a:p>
        </p:txBody>
      </p:sp>
      <p:sp>
        <p:nvSpPr>
          <p:cNvPr id="38" name="矩形: 圆角 21"/>
          <p:cNvSpPr/>
          <p:nvPr/>
        </p:nvSpPr>
        <p:spPr>
          <a:xfrm>
            <a:off x="5432457" y="3995456"/>
            <a:ext cx="1287314" cy="282239"/>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收藏</a:t>
            </a:r>
            <a:r>
              <a:rPr lang="en-US" altLang="zh-CN" sz="900" dirty="0">
                <a:solidFill>
                  <a:schemeClr val="bg1"/>
                </a:solidFill>
                <a:sym typeface="MiSans Bold" panose="00000800000000000000" pitchFamily="2" charset="-122"/>
              </a:rPr>
              <a:t>/</a:t>
            </a:r>
            <a:r>
              <a:rPr lang="zh-CN" altLang="en-US" sz="900" dirty="0">
                <a:solidFill>
                  <a:schemeClr val="bg1"/>
                </a:solidFill>
                <a:sym typeface="MiSans Bold" panose="00000800000000000000" pitchFamily="2" charset="-122"/>
              </a:rPr>
              <a:t>点亮榜</a:t>
            </a:r>
            <a:endParaRPr lang="en-US" altLang="zh-CN" sz="900" dirty="0">
              <a:solidFill>
                <a:schemeClr val="bg1"/>
              </a:solidFill>
              <a:sym typeface="MiSans Bold" panose="00000800000000000000" pitchFamily="2" charset="-122"/>
            </a:endParaRPr>
          </a:p>
        </p:txBody>
      </p:sp>
      <p:sp>
        <p:nvSpPr>
          <p:cNvPr id="39" name="矩形: 圆角 17"/>
          <p:cNvSpPr/>
          <p:nvPr/>
        </p:nvSpPr>
        <p:spPr>
          <a:xfrm>
            <a:off x="1083089" y="709820"/>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约聚</a:t>
            </a:r>
            <a:endParaRPr lang="en-US" altLang="zh-CN" sz="900" b="1" dirty="0">
              <a:solidFill>
                <a:schemeClr val="tx1"/>
              </a:solidFill>
              <a:latin typeface="+mn-ea"/>
              <a:sym typeface="MiSans Bold" panose="00000800000000000000" pitchFamily="2" charset="-122"/>
            </a:endParaRPr>
          </a:p>
          <a:p>
            <a:pPr algn="ctr"/>
            <a:r>
              <a:rPr lang="zh-CN" altLang="en-US" sz="700" dirty="0">
                <a:solidFill>
                  <a:schemeClr val="bg1">
                    <a:lumMod val="50000"/>
                  </a:schemeClr>
                </a:solidFill>
                <a:latin typeface="+mn-ea"/>
                <a:sym typeface="MiSans Bold" panose="00000800000000000000" pitchFamily="2" charset="-122"/>
              </a:rPr>
              <a:t>例：约会餐厅、团建聚会</a:t>
            </a:r>
          </a:p>
        </p:txBody>
      </p:sp>
      <p:sp>
        <p:nvSpPr>
          <p:cNvPr id="40" name="矩形: 圆角 18"/>
          <p:cNvSpPr/>
          <p:nvPr/>
        </p:nvSpPr>
        <p:spPr>
          <a:xfrm>
            <a:off x="1083089" y="1103289"/>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宴请</a:t>
            </a:r>
            <a:endParaRPr lang="en-US" altLang="zh-CN" sz="900" b="1" dirty="0">
              <a:solidFill>
                <a:schemeClr val="tx1"/>
              </a:solidFill>
              <a:latin typeface="+mn-ea"/>
              <a:sym typeface="MiSans Bold" panose="00000800000000000000" pitchFamily="2" charset="-122"/>
            </a:endParaRPr>
          </a:p>
          <a:p>
            <a:pPr algn="ctr"/>
            <a:r>
              <a:rPr lang="zh-CN" altLang="en-US" sz="700" dirty="0">
                <a:solidFill>
                  <a:schemeClr val="bg1">
                    <a:lumMod val="50000"/>
                  </a:schemeClr>
                </a:solidFill>
                <a:latin typeface="+mn-ea"/>
                <a:sym typeface="MiSans Bold" panose="00000800000000000000" pitchFamily="2" charset="-122"/>
              </a:rPr>
              <a:t>例：商务宴请</a:t>
            </a:r>
          </a:p>
        </p:txBody>
      </p:sp>
      <p:sp>
        <p:nvSpPr>
          <p:cNvPr id="41" name="矩形: 圆角 19"/>
          <p:cNvSpPr/>
          <p:nvPr/>
        </p:nvSpPr>
        <p:spPr>
          <a:xfrm>
            <a:off x="1083089" y="1890227"/>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亲子餐</a:t>
            </a:r>
            <a:endParaRPr lang="en-US" altLang="zh-CN" sz="900" b="1" dirty="0">
              <a:solidFill>
                <a:schemeClr val="tx1"/>
              </a:solidFill>
              <a:latin typeface="+mn-ea"/>
              <a:sym typeface="MiSans Bold" panose="00000800000000000000" pitchFamily="2" charset="-122"/>
            </a:endParaRPr>
          </a:p>
        </p:txBody>
      </p:sp>
      <p:sp>
        <p:nvSpPr>
          <p:cNvPr id="42" name="矩形: 圆角 20"/>
          <p:cNvSpPr/>
          <p:nvPr/>
        </p:nvSpPr>
        <p:spPr>
          <a:xfrm>
            <a:off x="1083089" y="2283696"/>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文化追求、尝鲜品鉴等</a:t>
            </a:r>
            <a:endParaRPr lang="en-US" altLang="zh-CN" sz="900" b="1" dirty="0">
              <a:solidFill>
                <a:schemeClr val="tx1"/>
              </a:solidFill>
              <a:latin typeface="+mn-ea"/>
              <a:sym typeface="MiSans Bold" panose="00000800000000000000" pitchFamily="2" charset="-122"/>
            </a:endParaRPr>
          </a:p>
        </p:txBody>
      </p:sp>
      <p:sp>
        <p:nvSpPr>
          <p:cNvPr id="43" name="矩形: 圆角 21"/>
          <p:cNvSpPr/>
          <p:nvPr/>
        </p:nvSpPr>
        <p:spPr>
          <a:xfrm>
            <a:off x="1083089" y="1496758"/>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漂亮饭等氛围餐厅</a:t>
            </a:r>
            <a:endParaRPr lang="en-US" altLang="zh-CN" sz="900" b="1" dirty="0">
              <a:solidFill>
                <a:schemeClr val="tx1"/>
              </a:solidFill>
              <a:latin typeface="+mn-ea"/>
              <a:sym typeface="MiSans Bold" panose="00000800000000000000" pitchFamily="2" charset="-122"/>
            </a:endParaRPr>
          </a:p>
          <a:p>
            <a:pPr algn="ctr"/>
            <a:r>
              <a:rPr lang="zh-CN" altLang="en-US" sz="700" dirty="0">
                <a:solidFill>
                  <a:schemeClr val="bg1">
                    <a:lumMod val="50000"/>
                  </a:schemeClr>
                </a:solidFill>
                <a:latin typeface="+mn-ea"/>
                <a:sym typeface="MiSans Bold" panose="00000800000000000000" pitchFamily="2" charset="-122"/>
              </a:rPr>
              <a:t>例：漂亮饭、观景餐厅</a:t>
            </a:r>
          </a:p>
        </p:txBody>
      </p:sp>
      <p:sp>
        <p:nvSpPr>
          <p:cNvPr id="44" name="矩形: 圆角 39"/>
          <p:cNvSpPr/>
          <p:nvPr/>
        </p:nvSpPr>
        <p:spPr>
          <a:xfrm>
            <a:off x="1083089" y="2677164"/>
            <a:ext cx="1440000" cy="288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异地</a:t>
            </a:r>
            <a:endParaRPr lang="en-US" altLang="zh-CN" sz="900" b="1" dirty="0">
              <a:solidFill>
                <a:schemeClr val="tx1"/>
              </a:solidFill>
              <a:latin typeface="+mn-ea"/>
              <a:sym typeface="MiSans Bold" panose="00000800000000000000" pitchFamily="2" charset="-122"/>
            </a:endParaRPr>
          </a:p>
        </p:txBody>
      </p:sp>
      <p:sp>
        <p:nvSpPr>
          <p:cNvPr id="45" name="矩形: 圆角 25"/>
          <p:cNvSpPr/>
          <p:nvPr/>
        </p:nvSpPr>
        <p:spPr>
          <a:xfrm>
            <a:off x="1093465" y="3378560"/>
            <a:ext cx="1440000" cy="288000"/>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评分评价</a:t>
            </a:r>
          </a:p>
        </p:txBody>
      </p:sp>
      <p:sp>
        <p:nvSpPr>
          <p:cNvPr id="47" name="矩形: 圆角 27"/>
          <p:cNvSpPr/>
          <p:nvPr/>
        </p:nvSpPr>
        <p:spPr>
          <a:xfrm>
            <a:off x="1093465" y="3063264"/>
            <a:ext cx="1440000" cy="288000"/>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900" b="1" dirty="0">
                <a:solidFill>
                  <a:schemeClr val="tx1"/>
                </a:solidFill>
                <a:latin typeface="+mn-ea"/>
                <a:cs typeface="MiSans Medium" panose="00000600000000000000" pitchFamily="2" charset="-122"/>
                <a:sym typeface="MiSans Bold" panose="00000800000000000000" pitchFamily="2" charset="-122"/>
              </a:rPr>
              <a:t>GTV/</a:t>
            </a:r>
            <a:r>
              <a:rPr lang="zh-CN" altLang="en-US" sz="900" b="1" dirty="0">
                <a:solidFill>
                  <a:schemeClr val="tx1"/>
                </a:solidFill>
                <a:latin typeface="+mn-ea"/>
                <a:cs typeface="MiSans Medium" panose="00000600000000000000" pitchFamily="2" charset="-122"/>
                <a:sym typeface="MiSans Bold" panose="00000800000000000000" pitchFamily="2" charset="-122"/>
              </a:rPr>
              <a:t>销量</a:t>
            </a:r>
          </a:p>
        </p:txBody>
      </p:sp>
      <p:sp>
        <p:nvSpPr>
          <p:cNvPr id="48" name="矩形: 圆角 42"/>
          <p:cNvSpPr/>
          <p:nvPr/>
        </p:nvSpPr>
        <p:spPr>
          <a:xfrm>
            <a:off x="1093465" y="3687678"/>
            <a:ext cx="1440000" cy="288000"/>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流量</a:t>
            </a:r>
          </a:p>
        </p:txBody>
      </p:sp>
      <p:sp>
        <p:nvSpPr>
          <p:cNvPr id="49" name="矩形: 圆角 45"/>
          <p:cNvSpPr/>
          <p:nvPr/>
        </p:nvSpPr>
        <p:spPr>
          <a:xfrm>
            <a:off x="1093465" y="3992218"/>
            <a:ext cx="1440000" cy="288000"/>
          </a:xfrm>
          <a:prstGeom prst="roundRect">
            <a:avLst/>
          </a:prstGeom>
          <a:solidFill>
            <a:schemeClr val="accent3">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cs typeface="MiSans Medium" panose="00000600000000000000" pitchFamily="2" charset="-122"/>
                <a:sym typeface="MiSans Bold" panose="00000800000000000000" pitchFamily="2" charset="-122"/>
              </a:rPr>
              <a:t>收藏</a:t>
            </a:r>
            <a:r>
              <a:rPr lang="en-US" altLang="zh-CN" sz="900" b="1" dirty="0">
                <a:solidFill>
                  <a:schemeClr val="tx1"/>
                </a:solidFill>
                <a:latin typeface="+mn-ea"/>
                <a:cs typeface="MiSans Medium" panose="00000600000000000000" pitchFamily="2" charset="-122"/>
                <a:sym typeface="MiSans Bold" panose="00000800000000000000" pitchFamily="2" charset="-122"/>
              </a:rPr>
              <a:t>/</a:t>
            </a:r>
            <a:r>
              <a:rPr lang="zh-CN" altLang="en-US" sz="900" b="1" dirty="0">
                <a:solidFill>
                  <a:schemeClr val="tx1"/>
                </a:solidFill>
                <a:latin typeface="+mn-ea"/>
                <a:cs typeface="MiSans Medium" panose="00000600000000000000" pitchFamily="2" charset="-122"/>
                <a:sym typeface="MiSans Bold" panose="00000800000000000000" pitchFamily="2" charset="-122"/>
              </a:rPr>
              <a:t>打卡</a:t>
            </a:r>
          </a:p>
        </p:txBody>
      </p:sp>
      <p:sp>
        <p:nvSpPr>
          <p:cNvPr id="50" name="矩形: 圆角 21"/>
          <p:cNvSpPr/>
          <p:nvPr/>
        </p:nvSpPr>
        <p:spPr>
          <a:xfrm>
            <a:off x="2652978" y="2474476"/>
            <a:ext cx="1183629" cy="490688"/>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rgbClr val="FF0000"/>
                </a:solidFill>
                <a:sym typeface="MiSans Bold" panose="00000800000000000000" pitchFamily="2" charset="-122"/>
              </a:rPr>
              <a:t>市井烟火</a:t>
            </a:r>
            <a:endParaRPr lang="en-US" altLang="zh-CN" sz="900" dirty="0">
              <a:solidFill>
                <a:srgbClr val="FF0000"/>
              </a:solidFill>
              <a:sym typeface="MiSans Bold" panose="00000800000000000000" pitchFamily="2" charset="-122"/>
            </a:endParaRPr>
          </a:p>
          <a:p>
            <a:pPr algn="ctr"/>
            <a:r>
              <a:rPr lang="zh-CN" altLang="en-US" sz="900" dirty="0">
                <a:solidFill>
                  <a:schemeClr val="tx1"/>
                </a:solidFill>
                <a:sym typeface="MiSans Bold" panose="00000800000000000000" pitchFamily="2" charset="-122"/>
              </a:rPr>
              <a:t>当地人推荐</a:t>
            </a:r>
            <a:endParaRPr lang="en-US" altLang="zh-CN" sz="900" dirty="0">
              <a:solidFill>
                <a:schemeClr val="tx1"/>
              </a:solidFill>
              <a:sym typeface="MiSans Bold" panose="00000800000000000000" pitchFamily="2" charset="-122"/>
            </a:endParaRPr>
          </a:p>
          <a:p>
            <a:pPr algn="ctr"/>
            <a:r>
              <a:rPr lang="zh-CN" altLang="en-US" sz="900" dirty="0">
                <a:solidFill>
                  <a:schemeClr val="tx1"/>
                </a:solidFill>
                <a:sym typeface="MiSans Bold" panose="00000800000000000000" pitchFamily="2" charset="-122"/>
              </a:rPr>
              <a:t>当地特色菜</a:t>
            </a:r>
            <a:endParaRPr lang="en-US" altLang="zh-CN" sz="900" dirty="0">
              <a:solidFill>
                <a:schemeClr val="tx1"/>
              </a:solidFill>
              <a:sym typeface="MiSans Bold" panose="00000800000000000000" pitchFamily="2" charset="-122"/>
            </a:endParaRPr>
          </a:p>
        </p:txBody>
      </p:sp>
      <p:sp>
        <p:nvSpPr>
          <p:cNvPr id="51" name="矩形: 圆角 21"/>
          <p:cNvSpPr/>
          <p:nvPr/>
        </p:nvSpPr>
        <p:spPr>
          <a:xfrm>
            <a:off x="5432457" y="2283696"/>
            <a:ext cx="1287313" cy="681468"/>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烟火榜、本地人推荐</a:t>
            </a:r>
            <a:endParaRPr lang="en-US" altLang="zh-CN" sz="900" dirty="0">
              <a:solidFill>
                <a:schemeClr val="bg1"/>
              </a:solidFill>
              <a:sym typeface="MiSans Bold" panose="00000800000000000000" pitchFamily="2" charset="-122"/>
            </a:endParaRPr>
          </a:p>
        </p:txBody>
      </p:sp>
      <p:sp>
        <p:nvSpPr>
          <p:cNvPr id="53" name="矩形: 圆角 21"/>
          <p:cNvSpPr/>
          <p:nvPr/>
        </p:nvSpPr>
        <p:spPr>
          <a:xfrm>
            <a:off x="6881390" y="2442936"/>
            <a:ext cx="1132689" cy="533183"/>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latin typeface="+mn-ea"/>
                <a:sym typeface="MiSans Bold" panose="00000800000000000000" pitchFamily="2" charset="-122"/>
              </a:rPr>
              <a:t>烟火小店、本地人爱去</a:t>
            </a:r>
            <a:endParaRPr lang="en-US" altLang="zh-CN" sz="900" dirty="0">
              <a:solidFill>
                <a:schemeClr val="tx1"/>
              </a:solidFill>
              <a:latin typeface="+mn-ea"/>
              <a:sym typeface="MiSans Bold" panose="00000800000000000000" pitchFamily="2" charset="-122"/>
            </a:endParaRPr>
          </a:p>
          <a:p>
            <a:pPr algn="ctr"/>
            <a:r>
              <a:rPr lang="zh-CN" altLang="en-US" sz="900" dirty="0">
                <a:solidFill>
                  <a:schemeClr val="tx1"/>
                </a:solidFill>
                <a:latin typeface="+mn-ea"/>
                <a:sym typeface="MiSans Bold" panose="00000800000000000000" pitchFamily="2" charset="-122"/>
              </a:rPr>
              <a:t>食仙榜</a:t>
            </a:r>
            <a:endParaRPr lang="en-US" altLang="zh-CN" sz="900" dirty="0">
              <a:solidFill>
                <a:srgbClr val="FF0000"/>
              </a:solidFill>
              <a:latin typeface="+mn-ea"/>
              <a:sym typeface="MiSans Bold" panose="00000800000000000000" pitchFamily="2" charset="-122"/>
            </a:endParaRPr>
          </a:p>
        </p:txBody>
      </p:sp>
      <p:sp>
        <p:nvSpPr>
          <p:cNvPr id="54" name="矩形: 圆角 21"/>
          <p:cNvSpPr/>
          <p:nvPr/>
        </p:nvSpPr>
        <p:spPr>
          <a:xfrm>
            <a:off x="6889045" y="725163"/>
            <a:ext cx="1125033" cy="1058930"/>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latin typeface="+mn-ea"/>
                <a:sym typeface="MiSans Bold" panose="00000800000000000000" pitchFamily="2" charset="-122"/>
              </a:rPr>
              <a:t>主题餐厅</a:t>
            </a:r>
            <a:endParaRPr lang="en-US" altLang="zh-CN" sz="900" dirty="0">
              <a:solidFill>
                <a:srgbClr val="FF0000"/>
              </a:solidFill>
              <a:latin typeface="+mn-ea"/>
              <a:sym typeface="MiSans Bold" panose="00000800000000000000" pitchFamily="2" charset="-122"/>
            </a:endParaRPr>
          </a:p>
        </p:txBody>
      </p:sp>
      <p:sp>
        <p:nvSpPr>
          <p:cNvPr id="62" name="矩形: 圆角 21"/>
          <p:cNvSpPr/>
          <p:nvPr/>
        </p:nvSpPr>
        <p:spPr>
          <a:xfrm>
            <a:off x="4057274" y="725827"/>
            <a:ext cx="1094259" cy="1058931"/>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城市生活指南</a:t>
            </a:r>
            <a:endParaRPr lang="en-US" altLang="zh-CN" sz="900" dirty="0">
              <a:solidFill>
                <a:schemeClr val="tx1"/>
              </a:solidFill>
              <a:sym typeface="MiSans Bold" panose="00000800000000000000" pitchFamily="2" charset="-122"/>
            </a:endParaRPr>
          </a:p>
        </p:txBody>
      </p:sp>
      <p:sp>
        <p:nvSpPr>
          <p:cNvPr id="63" name="矩形 62"/>
          <p:cNvSpPr/>
          <p:nvPr/>
        </p:nvSpPr>
        <p:spPr>
          <a:xfrm>
            <a:off x="2622363" y="668749"/>
            <a:ext cx="5490991" cy="1140278"/>
          </a:xfrm>
          <a:prstGeom prst="rect">
            <a:avLst/>
          </a:prstGeom>
          <a:noFill/>
          <a:ln w="31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p:cNvSpPr txBox="1"/>
          <p:nvPr/>
        </p:nvSpPr>
        <p:spPr>
          <a:xfrm>
            <a:off x="8102977" y="1368032"/>
            <a:ext cx="974825" cy="461665"/>
          </a:xfrm>
          <a:prstGeom prst="rect">
            <a:avLst/>
          </a:prstGeom>
          <a:noFill/>
        </p:spPr>
        <p:txBody>
          <a:bodyPr wrap="square">
            <a:spAutoFit/>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1200" b="1" dirty="0">
                <a:effectLst/>
                <a:latin typeface="+mn-ea"/>
              </a:rPr>
              <a:t>机会</a:t>
            </a:r>
            <a:r>
              <a:rPr lang="en-US" altLang="zh-CN" sz="1200" b="1" dirty="0">
                <a:effectLst/>
                <a:latin typeface="+mn-ea"/>
              </a:rPr>
              <a:t>-</a:t>
            </a:r>
          </a:p>
          <a:p>
            <a:pPr marL="0" marR="0" lvl="0" indent="0" algn="ctr" defTabSz="685800" rtl="0" eaLnBrk="1" fontAlgn="ctr" latinLnBrk="0" hangingPunct="1">
              <a:lnSpc>
                <a:spcPct val="100000"/>
              </a:lnSpc>
              <a:spcBef>
                <a:spcPts val="0"/>
              </a:spcBef>
              <a:spcAft>
                <a:spcPts val="0"/>
              </a:spcAft>
              <a:buClrTx/>
              <a:buSzTx/>
              <a:buFontTx/>
              <a:buNone/>
              <a:defRPr/>
            </a:pPr>
            <a:r>
              <a:rPr lang="zh-CN" altLang="en-US" sz="1200" b="1" dirty="0">
                <a:latin typeface="+mn-ea"/>
              </a:rPr>
              <a:t>需求深挖</a:t>
            </a:r>
            <a:endParaRPr lang="zh-CN" altLang="en-US" sz="1200" b="1" i="0" u="none" strike="noStrike" dirty="0">
              <a:effectLst/>
              <a:latin typeface="+mn-ea"/>
            </a:endParaRPr>
          </a:p>
        </p:txBody>
      </p:sp>
      <p:sp>
        <p:nvSpPr>
          <p:cNvPr id="130" name="矩形 129"/>
          <p:cNvSpPr/>
          <p:nvPr/>
        </p:nvSpPr>
        <p:spPr>
          <a:xfrm>
            <a:off x="2622363" y="2257072"/>
            <a:ext cx="5490991" cy="2737767"/>
          </a:xfrm>
          <a:prstGeom prst="rect">
            <a:avLst/>
          </a:prstGeom>
          <a:noFill/>
          <a:ln w="31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2622363" y="1880264"/>
            <a:ext cx="5490991" cy="288000"/>
          </a:xfrm>
          <a:prstGeom prst="rect">
            <a:avLst/>
          </a:prstGeom>
          <a:noFill/>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CN" altLang="en-US" sz="900" dirty="0"/>
              <a:t>亲子餐厅</a:t>
            </a:r>
          </a:p>
        </p:txBody>
      </p:sp>
      <p:sp>
        <p:nvSpPr>
          <p:cNvPr id="132" name="文本框 131"/>
          <p:cNvSpPr txBox="1"/>
          <p:nvPr/>
        </p:nvSpPr>
        <p:spPr>
          <a:xfrm>
            <a:off x="259498" y="1651674"/>
            <a:ext cx="713257" cy="369332"/>
          </a:xfrm>
          <a:prstGeom prst="rect">
            <a:avLst/>
          </a:prstGeom>
          <a:noFill/>
        </p:spPr>
        <p:txBody>
          <a:bodyPr wrap="square">
            <a:spAutoFit/>
          </a:bodyPr>
          <a:lstStyle/>
          <a:p>
            <a:pPr algn="ctr"/>
            <a:r>
              <a:rPr lang="zh-CN" altLang="en-US" sz="900" b="1" dirty="0">
                <a:latin typeface="+mn-ea"/>
              </a:rPr>
              <a:t>场景驱动</a:t>
            </a:r>
            <a:endParaRPr lang="en-US" altLang="zh-CN" sz="900" b="1" dirty="0">
              <a:latin typeface="+mn-ea"/>
            </a:endParaRPr>
          </a:p>
          <a:p>
            <a:pPr algn="ctr"/>
            <a:r>
              <a:rPr lang="zh-CN" altLang="en-US" sz="900" b="1" dirty="0">
                <a:latin typeface="+mn-ea"/>
              </a:rPr>
              <a:t>（标签化）</a:t>
            </a:r>
          </a:p>
        </p:txBody>
      </p:sp>
      <p:sp>
        <p:nvSpPr>
          <p:cNvPr id="133" name="文本框 62"/>
          <p:cNvSpPr txBox="1"/>
          <p:nvPr/>
        </p:nvSpPr>
        <p:spPr>
          <a:xfrm>
            <a:off x="304393" y="3427852"/>
            <a:ext cx="70504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900" b="1" dirty="0">
                <a:latin typeface="+mn-ea"/>
              </a:rPr>
              <a:t>数据驱动</a:t>
            </a:r>
            <a:endParaRPr lang="en-US" altLang="zh-CN" sz="900" b="1" dirty="0">
              <a:latin typeface="+mn-ea"/>
            </a:endParaRPr>
          </a:p>
          <a:p>
            <a:pPr algn="ctr"/>
            <a:r>
              <a:rPr lang="zh-CN" altLang="en-US" sz="900" b="1" dirty="0">
                <a:latin typeface="+mn-ea"/>
              </a:rPr>
              <a:t>（标准化）</a:t>
            </a:r>
            <a:endParaRPr lang="en-US" altLang="zh-CN" sz="900" b="1" dirty="0">
              <a:latin typeface="+mn-ea"/>
            </a:endParaRPr>
          </a:p>
        </p:txBody>
      </p:sp>
      <p:sp>
        <p:nvSpPr>
          <p:cNvPr id="136" name="文本框 135"/>
          <p:cNvSpPr txBox="1"/>
          <p:nvPr/>
        </p:nvSpPr>
        <p:spPr>
          <a:xfrm>
            <a:off x="8102977" y="3430456"/>
            <a:ext cx="974825" cy="646331"/>
          </a:xfrm>
          <a:prstGeom prst="rect">
            <a:avLst/>
          </a:prstGeom>
          <a:noFill/>
        </p:spPr>
        <p:txBody>
          <a:bodyPr wrap="square">
            <a:spAutoFit/>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1200" b="1" dirty="0">
                <a:effectLst/>
                <a:latin typeface="+mn-ea"/>
              </a:rPr>
              <a:t>必备</a:t>
            </a:r>
            <a:r>
              <a:rPr lang="en-US" altLang="zh-CN" sz="1200" b="1" dirty="0">
                <a:effectLst/>
                <a:latin typeface="+mn-ea"/>
              </a:rPr>
              <a:t>-</a:t>
            </a:r>
          </a:p>
          <a:p>
            <a:pPr marL="0" marR="0" lvl="0" indent="0" algn="ctr" defTabSz="685800" rtl="0" eaLnBrk="1" fontAlgn="ctr" latinLnBrk="0" hangingPunct="1">
              <a:lnSpc>
                <a:spcPct val="100000"/>
              </a:lnSpc>
              <a:spcBef>
                <a:spcPts val="0"/>
              </a:spcBef>
              <a:spcAft>
                <a:spcPts val="0"/>
              </a:spcAft>
              <a:buClrTx/>
              <a:buSzTx/>
              <a:buFontTx/>
              <a:buNone/>
              <a:defRPr/>
            </a:pPr>
            <a:r>
              <a:rPr lang="zh-CN" altLang="en-US" sz="1200" b="1" dirty="0">
                <a:latin typeface="+mn-ea"/>
              </a:rPr>
              <a:t>强化</a:t>
            </a:r>
            <a:r>
              <a:rPr lang="zh-CN" altLang="en-US" sz="1200" b="1" dirty="0">
                <a:effectLst/>
                <a:latin typeface="+mn-ea"/>
              </a:rPr>
              <a:t>心智</a:t>
            </a:r>
            <a:endParaRPr lang="en-US" altLang="zh-CN" sz="1200" b="1" dirty="0">
              <a:effectLst/>
              <a:latin typeface="+mn-ea"/>
            </a:endParaRPr>
          </a:p>
          <a:p>
            <a:pPr marL="0" marR="0" lvl="0" indent="0" algn="ctr" defTabSz="685800" rtl="0" eaLnBrk="1" fontAlgn="ctr" latinLnBrk="0" hangingPunct="1">
              <a:lnSpc>
                <a:spcPct val="100000"/>
              </a:lnSpc>
              <a:spcBef>
                <a:spcPts val="0"/>
              </a:spcBef>
              <a:spcAft>
                <a:spcPts val="0"/>
              </a:spcAft>
              <a:buClrTx/>
              <a:buSzTx/>
              <a:buFontTx/>
              <a:buNone/>
              <a:defRPr/>
            </a:pPr>
            <a:endParaRPr lang="en-US" altLang="zh-CN" sz="1200" b="1" dirty="0">
              <a:effectLst/>
              <a:latin typeface="+mn-ea"/>
            </a:endParaRPr>
          </a:p>
        </p:txBody>
      </p:sp>
      <p:sp>
        <p:nvSpPr>
          <p:cNvPr id="138" name="矩形: 圆角 21"/>
          <p:cNvSpPr/>
          <p:nvPr/>
        </p:nvSpPr>
        <p:spPr>
          <a:xfrm>
            <a:off x="4080458" y="3687177"/>
            <a:ext cx="1079039" cy="28547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热门榜</a:t>
            </a:r>
            <a:endParaRPr lang="en-US" altLang="zh-CN" sz="900" dirty="0">
              <a:solidFill>
                <a:schemeClr val="tx1"/>
              </a:solidFill>
              <a:sym typeface="MiSans Bold" panose="00000800000000000000" pitchFamily="2" charset="-122"/>
            </a:endParaRPr>
          </a:p>
        </p:txBody>
      </p:sp>
      <p:sp>
        <p:nvSpPr>
          <p:cNvPr id="142" name="文本框 62"/>
          <p:cNvSpPr txBox="1"/>
          <p:nvPr/>
        </p:nvSpPr>
        <p:spPr>
          <a:xfrm>
            <a:off x="291297" y="4431151"/>
            <a:ext cx="70504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900" b="1" dirty="0">
                <a:latin typeface="+mn-ea"/>
              </a:rPr>
              <a:t>综合决策</a:t>
            </a:r>
            <a:endParaRPr lang="en-US" altLang="zh-CN" sz="900" b="1" dirty="0">
              <a:latin typeface="+mn-ea"/>
            </a:endParaRPr>
          </a:p>
          <a:p>
            <a:pPr algn="ctr"/>
            <a:r>
              <a:rPr lang="zh-CN" altLang="en-US" sz="900" b="1" dirty="0">
                <a:latin typeface="+mn-ea"/>
              </a:rPr>
              <a:t>（标杆化）</a:t>
            </a:r>
            <a:endParaRPr lang="en-US" altLang="zh-CN" sz="900" b="1" dirty="0">
              <a:latin typeface="+mn-ea"/>
            </a:endParaRPr>
          </a:p>
        </p:txBody>
      </p:sp>
      <p:sp>
        <p:nvSpPr>
          <p:cNvPr id="144" name="矩形: 圆角 45"/>
          <p:cNvSpPr/>
          <p:nvPr/>
        </p:nvSpPr>
        <p:spPr>
          <a:xfrm>
            <a:off x="1093465" y="4341574"/>
            <a:ext cx="1440000" cy="288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高端</a:t>
            </a:r>
          </a:p>
        </p:txBody>
      </p:sp>
      <p:sp>
        <p:nvSpPr>
          <p:cNvPr id="145" name="矩形: 圆角 45"/>
          <p:cNvSpPr/>
          <p:nvPr/>
        </p:nvSpPr>
        <p:spPr>
          <a:xfrm>
            <a:off x="1083089" y="4670485"/>
            <a:ext cx="1440000" cy="288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大众</a:t>
            </a:r>
          </a:p>
        </p:txBody>
      </p:sp>
      <p:sp>
        <p:nvSpPr>
          <p:cNvPr id="146" name="矩形: 圆角 21"/>
          <p:cNvSpPr/>
          <p:nvPr/>
        </p:nvSpPr>
        <p:spPr>
          <a:xfrm>
            <a:off x="2687306" y="4347439"/>
            <a:ext cx="1149300" cy="288000"/>
          </a:xfrm>
          <a:prstGeom prst="round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黑珍珠</a:t>
            </a:r>
            <a:endParaRPr lang="en-US" altLang="zh-CN" sz="900" dirty="0">
              <a:solidFill>
                <a:schemeClr val="tx1"/>
              </a:solidFill>
              <a:sym typeface="MiSans Bold" panose="00000800000000000000" pitchFamily="2" charset="-122"/>
            </a:endParaRPr>
          </a:p>
        </p:txBody>
      </p:sp>
      <p:sp>
        <p:nvSpPr>
          <p:cNvPr id="147" name="矩形: 圆角 21"/>
          <p:cNvSpPr/>
          <p:nvPr/>
        </p:nvSpPr>
        <p:spPr>
          <a:xfrm>
            <a:off x="4087461" y="4688418"/>
            <a:ext cx="1072036" cy="285476"/>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tx1"/>
                </a:solidFill>
                <a:sym typeface="MiSans Bold" panose="00000800000000000000" pitchFamily="2" charset="-122"/>
              </a:rPr>
              <a:t>必吃榜</a:t>
            </a:r>
            <a:endParaRPr lang="en-US" altLang="zh-CN" sz="900" dirty="0">
              <a:solidFill>
                <a:schemeClr val="tx1"/>
              </a:solidFill>
              <a:sym typeface="MiSans Bold" panose="00000800000000000000" pitchFamily="2" charset="-122"/>
            </a:endParaRPr>
          </a:p>
        </p:txBody>
      </p:sp>
      <p:sp>
        <p:nvSpPr>
          <p:cNvPr id="159" name="矩形: 圆角 21"/>
          <p:cNvSpPr/>
          <p:nvPr/>
        </p:nvSpPr>
        <p:spPr>
          <a:xfrm>
            <a:off x="5427793" y="4350559"/>
            <a:ext cx="1291977" cy="282239"/>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甄选榜</a:t>
            </a:r>
            <a:endParaRPr lang="en-US" altLang="zh-CN" sz="900" dirty="0">
              <a:solidFill>
                <a:schemeClr val="bg1"/>
              </a:solidFill>
              <a:sym typeface="MiSans Bold" panose="00000800000000000000" pitchFamily="2" charset="-122"/>
            </a:endParaRPr>
          </a:p>
        </p:txBody>
      </p:sp>
      <p:sp>
        <p:nvSpPr>
          <p:cNvPr id="160" name="矩形: 圆角 21"/>
          <p:cNvSpPr/>
          <p:nvPr/>
        </p:nvSpPr>
        <p:spPr>
          <a:xfrm>
            <a:off x="5427794" y="4680617"/>
            <a:ext cx="1277272" cy="282239"/>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心动榜</a:t>
            </a:r>
            <a:endParaRPr lang="en-US" altLang="zh-CN" sz="900" dirty="0">
              <a:solidFill>
                <a:schemeClr val="bg1"/>
              </a:solidFill>
              <a:sym typeface="MiSans Bold" panose="00000800000000000000" pitchFamily="2" charset="-122"/>
            </a:endParaRPr>
          </a:p>
        </p:txBody>
      </p:sp>
      <p:sp>
        <p:nvSpPr>
          <p:cNvPr id="172" name="矩形: 圆角 21"/>
          <p:cNvSpPr/>
          <p:nvPr/>
        </p:nvSpPr>
        <p:spPr>
          <a:xfrm>
            <a:off x="6881390" y="4354118"/>
            <a:ext cx="1132690" cy="615322"/>
          </a:xfrm>
          <a:prstGeom prst="roundRect">
            <a:avLst/>
          </a:prstGeom>
          <a:solidFill>
            <a:schemeClr val="accent5">
              <a:lumMod val="40000"/>
              <a:lumOff val="6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latin typeface="+mn-ea"/>
                <a:sym typeface="MiSans Bold" panose="00000800000000000000" pitchFamily="2" charset="-122"/>
              </a:rPr>
              <a:t>状元榜</a:t>
            </a:r>
            <a:endParaRPr lang="en-US" altLang="zh-CN" sz="900" dirty="0">
              <a:solidFill>
                <a:srgbClr val="FF0000"/>
              </a:solidFill>
              <a:latin typeface="+mn-ea"/>
              <a:sym typeface="MiSans Bold" panose="00000800000000000000" pitchFamily="2" charset="-122"/>
            </a:endParaRPr>
          </a:p>
        </p:txBody>
      </p:sp>
      <p:cxnSp>
        <p:nvCxnSpPr>
          <p:cNvPr id="176" name="直接连接符 29"/>
          <p:cNvCxnSpPr/>
          <p:nvPr/>
        </p:nvCxnSpPr>
        <p:spPr>
          <a:xfrm>
            <a:off x="143933" y="4303678"/>
            <a:ext cx="7969421"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7" name="文本框 176"/>
          <p:cNvSpPr txBox="1"/>
          <p:nvPr/>
        </p:nvSpPr>
        <p:spPr>
          <a:xfrm>
            <a:off x="49551" y="3708542"/>
            <a:ext cx="1136018" cy="307777"/>
          </a:xfrm>
          <a:prstGeom prst="rect">
            <a:avLst/>
          </a:prstGeom>
          <a:noFill/>
        </p:spPr>
        <p:txBody>
          <a:bodyPr wrap="square">
            <a:spAutoFit/>
          </a:bodyPr>
          <a:lstStyle/>
          <a:p>
            <a:pPr algn="ctr"/>
            <a:r>
              <a:rPr lang="zh-CN" altLang="en-US" sz="700" b="1" dirty="0">
                <a:solidFill>
                  <a:schemeClr val="bg1">
                    <a:lumMod val="65000"/>
                  </a:schemeClr>
                </a:solidFill>
                <a:latin typeface="+mn-ea"/>
              </a:rPr>
              <a:t>主承接品类、地址需求</a:t>
            </a:r>
            <a:endParaRPr lang="en-US" altLang="zh-CN" sz="700" b="1" dirty="0">
              <a:solidFill>
                <a:schemeClr val="bg1">
                  <a:lumMod val="65000"/>
                </a:schemeClr>
              </a:solidFill>
              <a:latin typeface="+mn-ea"/>
            </a:endParaRPr>
          </a:p>
          <a:p>
            <a:pPr algn="ctr"/>
            <a:endParaRPr lang="zh-CN" altLang="en-US" sz="700" b="1" dirty="0">
              <a:solidFill>
                <a:schemeClr val="bg1">
                  <a:lumMod val="65000"/>
                </a:schemeClr>
              </a:solidFill>
              <a:latin typeface="+mn-ea"/>
            </a:endParaRPr>
          </a:p>
        </p:txBody>
      </p:sp>
      <p:sp>
        <p:nvSpPr>
          <p:cNvPr id="182" name="文本框 181"/>
          <p:cNvSpPr txBox="1"/>
          <p:nvPr/>
        </p:nvSpPr>
        <p:spPr>
          <a:xfrm>
            <a:off x="3089" y="1941881"/>
            <a:ext cx="1136018" cy="200055"/>
          </a:xfrm>
          <a:prstGeom prst="rect">
            <a:avLst/>
          </a:prstGeom>
          <a:noFill/>
        </p:spPr>
        <p:txBody>
          <a:bodyPr wrap="square">
            <a:spAutoFit/>
          </a:bodyPr>
          <a:lstStyle/>
          <a:p>
            <a:pPr algn="ctr"/>
            <a:r>
              <a:rPr lang="zh-CN" altLang="en-US" sz="700" b="1" dirty="0">
                <a:solidFill>
                  <a:schemeClr val="bg1">
                    <a:lumMod val="65000"/>
                  </a:schemeClr>
                </a:solidFill>
                <a:latin typeface="+mn-ea"/>
              </a:rPr>
              <a:t>主承接场景、菜品需求</a:t>
            </a:r>
          </a:p>
        </p:txBody>
      </p:sp>
      <p:sp>
        <p:nvSpPr>
          <p:cNvPr id="183" name="矩形: 圆角 21"/>
          <p:cNvSpPr/>
          <p:nvPr/>
        </p:nvSpPr>
        <p:spPr>
          <a:xfrm>
            <a:off x="5428370" y="723169"/>
            <a:ext cx="1276696" cy="273392"/>
          </a:xfrm>
          <a:prstGeom prst="roundRect">
            <a:avLst/>
          </a:prstGeom>
          <a:solidFill>
            <a:schemeClr val="tx1">
              <a:lumMod val="65000"/>
              <a:lumOff val="3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sym typeface="MiSans Bold" panose="00000800000000000000" pitchFamily="2" charset="-122"/>
              </a:rPr>
              <a:t>夜宵、下午茶</a:t>
            </a:r>
            <a:endParaRPr lang="en-US" altLang="zh-CN" sz="900" dirty="0">
              <a:solidFill>
                <a:schemeClr val="bg1"/>
              </a:solidFill>
              <a:sym typeface="MiSans Bold" panose="00000800000000000000" pitchFamily="2" charset="-122"/>
            </a:endParaRPr>
          </a:p>
        </p:txBody>
      </p:sp>
      <p:sp>
        <p:nvSpPr>
          <p:cNvPr id="3" name="矩形: 圆角 21"/>
          <p:cNvSpPr/>
          <p:nvPr/>
        </p:nvSpPr>
        <p:spPr>
          <a:xfrm>
            <a:off x="6873092" y="2291018"/>
            <a:ext cx="1132689" cy="134011"/>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latin typeface="+mn-ea"/>
                <a:sym typeface="MiSans Bold" panose="00000800000000000000" pitchFamily="2" charset="-122"/>
              </a:rPr>
              <a:t>时令四季</a:t>
            </a:r>
            <a:endParaRPr lang="en-US" altLang="zh-CN" sz="900" dirty="0">
              <a:solidFill>
                <a:srgbClr val="FF0000"/>
              </a:solidFill>
              <a:latin typeface="+mn-ea"/>
              <a:sym typeface="MiSans Bold" panose="00000800000000000000" pitchFamily="2" charset="-122"/>
            </a:endParaRPr>
          </a:p>
        </p:txBody>
      </p:sp>
      <p:sp>
        <p:nvSpPr>
          <p:cNvPr id="4" name="矩形: 圆角 21"/>
          <p:cNvSpPr/>
          <p:nvPr/>
        </p:nvSpPr>
        <p:spPr>
          <a:xfrm>
            <a:off x="2674721" y="3727484"/>
            <a:ext cx="1160923" cy="538299"/>
          </a:xfrm>
          <a:prstGeom prst="roundRect">
            <a:avLst/>
          </a:prstGeom>
          <a:noFill/>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CN" altLang="en-US" sz="900" dirty="0">
                <a:solidFill>
                  <a:schemeClr val="bg1">
                    <a:lumMod val="50000"/>
                  </a:schemeClr>
                </a:solidFill>
                <a:sym typeface="MiSans Bold" panose="00000800000000000000" pitchFamily="2" charset="-122"/>
              </a:rPr>
              <a:t>流量型榜单</a:t>
            </a:r>
            <a:endParaRPr lang="en-US" altLang="zh-CN" sz="900" dirty="0">
              <a:solidFill>
                <a:schemeClr val="bg1">
                  <a:lumMod val="50000"/>
                </a:schemeClr>
              </a:solidFill>
              <a:sym typeface="MiSans Bold" panose="00000800000000000000" pitchFamily="2" charset="-122"/>
            </a:endParaRPr>
          </a:p>
        </p:txBody>
      </p:sp>
      <p:sp>
        <p:nvSpPr>
          <p:cNvPr id="11" name="矩形: 圆角 21"/>
          <p:cNvSpPr/>
          <p:nvPr/>
        </p:nvSpPr>
        <p:spPr>
          <a:xfrm>
            <a:off x="2652978" y="2301335"/>
            <a:ext cx="1182666" cy="141601"/>
          </a:xfrm>
          <a:prstGeom prst="roundRect">
            <a:avLst/>
          </a:prstGeom>
          <a:noFill/>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CN" altLang="en-US" sz="900" dirty="0">
                <a:solidFill>
                  <a:srgbClr val="FF0000"/>
                </a:solidFill>
                <a:sym typeface="MiSans Bold" panose="00000800000000000000" pitchFamily="2" charset="-122"/>
              </a:rPr>
              <a:t>新店榜、时令榜</a:t>
            </a:r>
            <a:endParaRPr lang="en-US" altLang="zh-CN" sz="900" dirty="0">
              <a:solidFill>
                <a:srgbClr val="FF0000"/>
              </a:solidFill>
              <a:sym typeface="MiSans Bold" panose="00000800000000000000" pitchFamily="2" charset="-122"/>
            </a:endParaRPr>
          </a:p>
        </p:txBody>
      </p:sp>
      <p:sp>
        <p:nvSpPr>
          <p:cNvPr id="7" name="文本框 6"/>
          <p:cNvSpPr txBox="1"/>
          <p:nvPr/>
        </p:nvSpPr>
        <p:spPr>
          <a:xfrm>
            <a:off x="182238" y="3940337"/>
            <a:ext cx="878666" cy="307777"/>
          </a:xfrm>
          <a:prstGeom prst="rect">
            <a:avLst/>
          </a:prstGeom>
          <a:solidFill>
            <a:schemeClr val="bg1">
              <a:lumMod val="75000"/>
            </a:schemeClr>
          </a:solidFill>
        </p:spPr>
        <p:txBody>
          <a:bodyPr wrap="square">
            <a:spAutoFit/>
          </a:bodyPr>
          <a:lstStyle/>
          <a:p>
            <a:pPr algn="ctr"/>
            <a:r>
              <a:rPr lang="zh-CN" altLang="en-US" sz="700" b="1" dirty="0">
                <a:latin typeface="+mn-ea"/>
              </a:rPr>
              <a:t>差异化核心资产，公信力表达不同</a:t>
            </a:r>
          </a:p>
        </p:txBody>
      </p:sp>
      <p:sp>
        <p:nvSpPr>
          <p:cNvPr id="18" name="文本框 17"/>
          <p:cNvSpPr txBox="1"/>
          <p:nvPr/>
        </p:nvSpPr>
        <p:spPr>
          <a:xfrm>
            <a:off x="159974" y="2162216"/>
            <a:ext cx="878666" cy="415498"/>
          </a:xfrm>
          <a:prstGeom prst="rect">
            <a:avLst/>
          </a:prstGeom>
          <a:solidFill>
            <a:schemeClr val="bg1">
              <a:lumMod val="75000"/>
            </a:schemeClr>
          </a:solidFill>
        </p:spPr>
        <p:txBody>
          <a:bodyPr wrap="square">
            <a:spAutoFit/>
          </a:bodyPr>
          <a:lstStyle/>
          <a:p>
            <a:pPr algn="ctr"/>
            <a:r>
              <a:rPr lang="zh-CN" altLang="en-US" sz="700" b="1" dirty="0">
                <a:latin typeface="+mn-ea"/>
              </a:rPr>
              <a:t>差异化核心资产</a:t>
            </a:r>
            <a:r>
              <a:rPr lang="en-US" altLang="zh-CN" sz="700" b="1" dirty="0">
                <a:latin typeface="+mn-ea"/>
              </a:rPr>
              <a:t>+</a:t>
            </a:r>
            <a:r>
              <a:rPr lang="zh-CN" altLang="en-US" sz="700" b="1" dirty="0">
                <a:latin typeface="+mn-ea"/>
              </a:rPr>
              <a:t>一站式交履服务，心智更强更立体</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矩形 22"/>
          <p:cNvSpPr/>
          <p:nvPr/>
        </p:nvSpPr>
        <p:spPr>
          <a:xfrm>
            <a:off x="6253045" y="1996317"/>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上榜</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营销</a:t>
            </a:r>
            <a:endParaRPr lang="en-US" altLang="zh-CN" sz="1200" b="1" dirty="0">
              <a:solidFill>
                <a:srgbClr val="FF0000"/>
              </a:solidFill>
              <a:latin typeface="+mn-ea"/>
              <a:cs typeface="MiSans Medium" panose="00000600000000000000" pitchFamily="2" charset="-122"/>
              <a:sym typeface="MiSans Medium" panose="00000600000000000000" pitchFamily="2" charset="-122"/>
            </a:endParaRPr>
          </a:p>
        </p:txBody>
      </p:sp>
      <p:sp>
        <p:nvSpPr>
          <p:cNvPr id="24" name="矩形 23"/>
          <p:cNvSpPr/>
          <p:nvPr/>
        </p:nvSpPr>
        <p:spPr>
          <a:xfrm>
            <a:off x="6253045" y="2555779"/>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矩阵</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指南</a:t>
            </a:r>
            <a:endParaRPr lang="en-US" altLang="zh-CN" sz="1200" b="1" dirty="0">
              <a:solidFill>
                <a:srgbClr val="FF0000"/>
              </a:solidFill>
              <a:latin typeface="+mn-ea"/>
              <a:cs typeface="MiSans Medium" panose="00000600000000000000" pitchFamily="2" charset="-122"/>
              <a:sym typeface="MiSans Medium" panose="00000600000000000000" pitchFamily="2" charset="-122"/>
            </a:endParaRPr>
          </a:p>
        </p:txBody>
      </p:sp>
      <p:sp>
        <p:nvSpPr>
          <p:cNvPr id="25" name="矩形 24"/>
          <p:cNvSpPr/>
          <p:nvPr/>
        </p:nvSpPr>
        <p:spPr>
          <a:xfrm>
            <a:off x="6258609" y="3164870"/>
            <a:ext cx="2129979"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规则</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服务</a:t>
            </a:r>
          </a:p>
        </p:txBody>
      </p:sp>
      <p:sp>
        <p:nvSpPr>
          <p:cNvPr id="26" name="矩形 25"/>
          <p:cNvSpPr/>
          <p:nvPr/>
        </p:nvSpPr>
        <p:spPr>
          <a:xfrm>
            <a:off x="6261187" y="3724332"/>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验榜</a:t>
            </a:r>
            <a:r>
              <a:rPr lang="zh-CN" altLang="en-US" sz="1200" b="1" dirty="0">
                <a:solidFill>
                  <a:schemeClr val="tx1"/>
                </a:solidFill>
                <a:latin typeface="+mn-ea"/>
                <a:cs typeface="MiSans Medium" panose="00000600000000000000" pitchFamily="2" charset="-122"/>
                <a:sym typeface="MiSans Medium" panose="00000600000000000000" pitchFamily="2" charset="-122"/>
              </a:rPr>
              <a:t>带</a:t>
            </a:r>
            <a:r>
              <a:rPr lang="zh-CN" altLang="en-US" sz="1200" b="1" dirty="0">
                <a:solidFill>
                  <a:srgbClr val="FF0000"/>
                </a:solidFill>
                <a:latin typeface="+mn-ea"/>
                <a:cs typeface="MiSans Medium" panose="00000600000000000000" pitchFamily="2" charset="-122"/>
                <a:sym typeface="MiSans Medium" panose="00000600000000000000" pitchFamily="2" charset="-122"/>
              </a:rPr>
              <a:t>生意</a:t>
            </a:r>
          </a:p>
        </p:txBody>
      </p:sp>
      <p:sp>
        <p:nvSpPr>
          <p:cNvPr id="22" name="矩形 21"/>
          <p:cNvSpPr/>
          <p:nvPr/>
        </p:nvSpPr>
        <p:spPr>
          <a:xfrm>
            <a:off x="686119" y="3723675"/>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验榜</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体验</a:t>
            </a:r>
            <a:endParaRPr lang="en-US" altLang="zh-CN" sz="1200" b="1" dirty="0">
              <a:solidFill>
                <a:srgbClr val="FF0000"/>
              </a:solidFill>
              <a:latin typeface="+mn-ea"/>
              <a:cs typeface="MiSans Medium" panose="00000600000000000000" pitchFamily="2" charset="-122"/>
              <a:sym typeface="MiSans Medium" panose="00000600000000000000" pitchFamily="2" charset="-122"/>
            </a:endParaRPr>
          </a:p>
        </p:txBody>
      </p:sp>
      <p:sp>
        <p:nvSpPr>
          <p:cNvPr id="21" name="矩形 20"/>
          <p:cNvSpPr/>
          <p:nvPr/>
        </p:nvSpPr>
        <p:spPr>
          <a:xfrm>
            <a:off x="681531" y="3141802"/>
            <a:ext cx="2136812"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规则</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信任</a:t>
            </a:r>
            <a:endParaRPr lang="en-US" altLang="zh-CN" sz="1200" b="1" dirty="0">
              <a:solidFill>
                <a:srgbClr val="FF0000"/>
              </a:solidFill>
              <a:latin typeface="+mn-ea"/>
              <a:cs typeface="MiSans Medium" panose="00000600000000000000" pitchFamily="2" charset="-122"/>
              <a:sym typeface="MiSans Medium" panose="00000600000000000000" pitchFamily="2" charset="-122"/>
            </a:endParaRPr>
          </a:p>
        </p:txBody>
      </p:sp>
      <p:sp>
        <p:nvSpPr>
          <p:cNvPr id="20" name="矩形 19"/>
          <p:cNvSpPr/>
          <p:nvPr/>
        </p:nvSpPr>
        <p:spPr>
          <a:xfrm>
            <a:off x="682803" y="2559929"/>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lnSpc>
                <a:spcPct val="120000"/>
              </a:lnSpc>
            </a:pPr>
            <a:r>
              <a:rPr lang="zh-CN" altLang="en-US" sz="1200" b="1" dirty="0">
                <a:solidFill>
                  <a:srgbClr val="FF0000"/>
                </a:solidFill>
                <a:latin typeface="+mn-ea"/>
                <a:sym typeface="MiSans Medium" panose="00000600000000000000" pitchFamily="2" charset="-122"/>
              </a:rPr>
              <a:t>矩阵</a:t>
            </a:r>
            <a:r>
              <a:rPr lang="zh-CN" altLang="en-US" sz="1200" b="1" dirty="0">
                <a:solidFill>
                  <a:schemeClr val="tx1"/>
                </a:solidFill>
                <a:latin typeface="+mn-ea"/>
                <a:sym typeface="MiSans Medium" panose="00000600000000000000" pitchFamily="2" charset="-122"/>
              </a:rPr>
              <a:t>即</a:t>
            </a:r>
            <a:r>
              <a:rPr lang="zh-CN" altLang="en-US" sz="1200" b="1" dirty="0">
                <a:solidFill>
                  <a:srgbClr val="FF0000"/>
                </a:solidFill>
                <a:latin typeface="+mn-ea"/>
                <a:sym typeface="MiSans Medium" panose="00000600000000000000" pitchFamily="2" charset="-122"/>
              </a:rPr>
              <a:t>场景</a:t>
            </a:r>
            <a:endParaRPr lang="en-US" altLang="zh-CN" sz="1200" b="1" dirty="0">
              <a:solidFill>
                <a:srgbClr val="FF0000"/>
              </a:solidFill>
              <a:latin typeface="+mn-ea"/>
              <a:sym typeface="MiSans Medium" panose="00000600000000000000" pitchFamily="2" charset="-122"/>
            </a:endParaRPr>
          </a:p>
        </p:txBody>
      </p:sp>
      <p:sp>
        <p:nvSpPr>
          <p:cNvPr id="19" name="矩形 18"/>
          <p:cNvSpPr/>
          <p:nvPr/>
        </p:nvSpPr>
        <p:spPr>
          <a:xfrm>
            <a:off x="682803" y="1978056"/>
            <a:ext cx="2138338" cy="457148"/>
          </a:xfrm>
          <a:prstGeom prst="rect">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7800"/>
            <a:r>
              <a:rPr lang="zh-CN" altLang="en-US" sz="1200" b="1" dirty="0">
                <a:solidFill>
                  <a:srgbClr val="FF0000"/>
                </a:solidFill>
                <a:latin typeface="+mn-ea"/>
                <a:cs typeface="MiSans Medium" panose="00000600000000000000" pitchFamily="2" charset="-122"/>
                <a:sym typeface="MiSans Medium" panose="00000600000000000000" pitchFamily="2" charset="-122"/>
              </a:rPr>
              <a:t>看榜</a:t>
            </a:r>
            <a:r>
              <a:rPr lang="zh-CN" altLang="en-US" sz="1200" b="1" dirty="0">
                <a:solidFill>
                  <a:schemeClr val="tx1"/>
                </a:solidFill>
                <a:latin typeface="+mn-ea"/>
                <a:cs typeface="MiSans Medium" panose="00000600000000000000" pitchFamily="2" charset="-122"/>
                <a:sym typeface="MiSans Medium" panose="00000600000000000000" pitchFamily="2" charset="-122"/>
              </a:rPr>
              <a:t>即</a:t>
            </a:r>
            <a:r>
              <a:rPr lang="zh-CN" altLang="en-US" sz="1200" b="1" dirty="0">
                <a:solidFill>
                  <a:srgbClr val="FF0000"/>
                </a:solidFill>
                <a:latin typeface="+mn-ea"/>
                <a:cs typeface="MiSans Medium" panose="00000600000000000000" pitchFamily="2" charset="-122"/>
                <a:sym typeface="MiSans Medium" panose="00000600000000000000" pitchFamily="2" charset="-122"/>
              </a:rPr>
              <a:t>决策</a:t>
            </a:r>
            <a:endParaRPr lang="en-US" altLang="zh-CN" sz="1200" b="1" dirty="0">
              <a:solidFill>
                <a:srgbClr val="FF0000"/>
              </a:solidFill>
              <a:latin typeface="+mn-ea"/>
              <a:cs typeface="MiSans Medium" panose="00000600000000000000" pitchFamily="2" charset="-122"/>
              <a:sym typeface="MiSans Medium" panose="00000600000000000000" pitchFamily="2" charset="-122"/>
            </a:endParaRPr>
          </a:p>
        </p:txBody>
      </p:sp>
      <p:graphicFrame>
        <p:nvGraphicFramePr>
          <p:cNvPr id="5" name="对象 4" hidden="1"/>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幻灯片" r:id="rId4" imgW="0" imgH="0" progId="TCLayout.ActiveDocument.1">
                  <p:embed/>
                </p:oleObj>
              </mc:Choice>
              <mc:Fallback>
                <p:oleObj name="think-cell 幻灯片" r:id="rId4" imgW="0" imgH="0" progId="TCLayout.ActiveDocument.1">
                  <p:embed/>
                  <p:pic>
                    <p:nvPicPr>
                      <p:cNvPr id="0" name="对象 4" hidden="1"/>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1" name="文本占位符 10"/>
          <p:cNvSpPr>
            <a:spLocks noGrp="1"/>
          </p:cNvSpPr>
          <p:nvPr>
            <p:ph type="body" sz="quarter" idx="22"/>
          </p:nvPr>
        </p:nvSpPr>
        <p:spPr/>
        <p:txBody>
          <a:bodyPr>
            <a:noAutofit/>
          </a:bodyPr>
          <a:lstStyle/>
          <a:p>
            <a:r>
              <a:rPr lang="zh-CN" altLang="en-US" sz="1400" dirty="0">
                <a:solidFill>
                  <a:schemeClr val="tx1"/>
                </a:solidFill>
                <a:latin typeface="+mn-ea"/>
                <a:ea typeface="+mn-ea"/>
              </a:rPr>
              <a:t>榜单定位及需求分析</a:t>
            </a:r>
            <a:endParaRPr lang="en-US" altLang="zh-CN" sz="1400" dirty="0">
              <a:solidFill>
                <a:srgbClr val="FF0000"/>
              </a:solidFill>
              <a:latin typeface="+mn-ea"/>
              <a:ea typeface="+mn-ea"/>
            </a:endParaRPr>
          </a:p>
        </p:txBody>
      </p:sp>
      <p:sp>
        <p:nvSpPr>
          <p:cNvPr id="68" name="米菲PPT13"/>
          <p:cNvSpPr/>
          <p:nvPr/>
        </p:nvSpPr>
        <p:spPr>
          <a:xfrm>
            <a:off x="774003" y="1626695"/>
            <a:ext cx="7899843" cy="261158"/>
          </a:xfrm>
          <a:prstGeom prst="trapezoid">
            <a:avLst>
              <a:gd name="adj" fmla="val 153377"/>
            </a:avLst>
          </a:prstGeom>
          <a:noFill/>
          <a:ln w="1778">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38405" tIns="19205" rIns="38405" bIns="19205" rtlCol="0" anchor="ctr"/>
          <a:lstStyle/>
          <a:p>
            <a:pPr algn="ctr" defTabSz="685800">
              <a:defRPr/>
            </a:pPr>
            <a:endParaRPr lang="zh-CN" altLang="en-US" sz="900" b="1" dirty="0">
              <a:solidFill>
                <a:prstClr val="white"/>
              </a:solidFill>
              <a:latin typeface="+mn-ea"/>
              <a:cs typeface="+mn-ea"/>
            </a:endParaRPr>
          </a:p>
        </p:txBody>
      </p:sp>
      <p:sp>
        <p:nvSpPr>
          <p:cNvPr id="82" name="米菲PPT56"/>
          <p:cNvSpPr/>
          <p:nvPr/>
        </p:nvSpPr>
        <p:spPr>
          <a:xfrm>
            <a:off x="755101" y="2035109"/>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sp>
        <p:nvSpPr>
          <p:cNvPr id="87" name="米菲PPT56"/>
          <p:cNvSpPr/>
          <p:nvPr/>
        </p:nvSpPr>
        <p:spPr>
          <a:xfrm>
            <a:off x="739498" y="3080809"/>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cxnSp>
        <p:nvCxnSpPr>
          <p:cNvPr id="160" name="直接连接符 159"/>
          <p:cNvCxnSpPr/>
          <p:nvPr/>
        </p:nvCxnSpPr>
        <p:spPr>
          <a:xfrm>
            <a:off x="3782211" y="4835213"/>
            <a:ext cx="7784881" cy="0"/>
          </a:xfrm>
          <a:prstGeom prst="line">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cxnSp>
      <p:sp>
        <p:nvSpPr>
          <p:cNvPr id="210" name="米菲PPT60"/>
          <p:cNvSpPr/>
          <p:nvPr/>
        </p:nvSpPr>
        <p:spPr>
          <a:xfrm>
            <a:off x="6352671" y="3195878"/>
            <a:ext cx="86087" cy="86087"/>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sp>
        <p:nvSpPr>
          <p:cNvPr id="213" name="米菲PPT56"/>
          <p:cNvSpPr/>
          <p:nvPr/>
        </p:nvSpPr>
        <p:spPr>
          <a:xfrm>
            <a:off x="755101" y="2505009"/>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sp>
        <p:nvSpPr>
          <p:cNvPr id="214" name="米菲PPT56"/>
          <p:cNvSpPr/>
          <p:nvPr/>
        </p:nvSpPr>
        <p:spPr>
          <a:xfrm>
            <a:off x="761451" y="3159059"/>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sp>
        <p:nvSpPr>
          <p:cNvPr id="215" name="米菲PPT56"/>
          <p:cNvSpPr/>
          <p:nvPr/>
        </p:nvSpPr>
        <p:spPr>
          <a:xfrm>
            <a:off x="761451" y="3825809"/>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noFill/>
          <a:ln w="50800" cap="flat">
            <a:noFill/>
            <a:prstDash val="solid"/>
            <a:miter/>
          </a:ln>
          <a:effectLst/>
        </p:spPr>
        <p:txBody>
          <a:bodyPr rtlCol="0" anchor="ctr"/>
          <a:lstStyle/>
          <a:p>
            <a:endParaRPr lang="zh-CN" altLang="en-US" sz="1350" dirty="0">
              <a:latin typeface="+mn-ea"/>
              <a:cs typeface="MiSans Medium" panose="00000600000000000000" pitchFamily="2" charset="-122"/>
            </a:endParaRPr>
          </a:p>
        </p:txBody>
      </p:sp>
      <p:sp>
        <p:nvSpPr>
          <p:cNvPr id="2" name="文本框 1"/>
          <p:cNvSpPr txBox="1"/>
          <p:nvPr/>
        </p:nvSpPr>
        <p:spPr>
          <a:xfrm>
            <a:off x="396883" y="369881"/>
            <a:ext cx="8509541" cy="89171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200" b="1" dirty="0"/>
              <a:t>为找店用户，提供场景驱动、持久信赖的综合决策服务。 同时为长效经营的商家，提供经营指引服务。</a:t>
            </a:r>
          </a:p>
          <a:p>
            <a:pPr marL="171450" indent="-171450">
              <a:lnSpc>
                <a:spcPct val="150000"/>
              </a:lnSpc>
              <a:buFont typeface="Arial" panose="020B0604020202020204" pitchFamily="34" charset="0"/>
              <a:buChar char="•"/>
            </a:pPr>
            <a:r>
              <a:rPr lang="zh-CN" altLang="en-US" sz="1200" dirty="0"/>
              <a:t>满足</a:t>
            </a:r>
            <a:r>
              <a:rPr lang="en-US" altLang="zh-CN" sz="1200" dirty="0"/>
              <a:t>C</a:t>
            </a:r>
            <a:r>
              <a:rPr lang="zh-CN" altLang="en-US" sz="1200" dirty="0"/>
              <a:t>端用户找店决策需求，通过榜单矩阵承接细分需求，完善规则的信任表达，满足用户一致性体验。</a:t>
            </a:r>
            <a:endParaRPr lang="en-US" altLang="zh-CN" sz="1200" dirty="0"/>
          </a:p>
          <a:p>
            <a:pPr marL="171450" indent="-171450">
              <a:lnSpc>
                <a:spcPct val="150000"/>
              </a:lnSpc>
              <a:buFont typeface="Arial" panose="020B0604020202020204" pitchFamily="34" charset="0"/>
              <a:buChar char="•"/>
            </a:pPr>
            <a:r>
              <a:rPr lang="zh-CN" altLang="en-US" sz="1200" dirty="0"/>
              <a:t>满足</a:t>
            </a:r>
            <a:r>
              <a:rPr lang="en-US" altLang="zh-CN" sz="1200" dirty="0"/>
              <a:t>B</a:t>
            </a:r>
            <a:r>
              <a:rPr lang="zh-CN" altLang="en-US" sz="1200" dirty="0"/>
              <a:t>端用户长效经营中的营销曝光、经营指南、服务辅导和真实生意增长需求。</a:t>
            </a:r>
          </a:p>
        </p:txBody>
      </p:sp>
      <p:sp>
        <p:nvSpPr>
          <p:cNvPr id="7" name="米菲PPT56"/>
          <p:cNvSpPr/>
          <p:nvPr/>
        </p:nvSpPr>
        <p:spPr>
          <a:xfrm>
            <a:off x="761451" y="2170652"/>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2" name="米菲PPT56"/>
          <p:cNvSpPr/>
          <p:nvPr/>
        </p:nvSpPr>
        <p:spPr>
          <a:xfrm>
            <a:off x="755335" y="2756145"/>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3" name="米菲PPT56"/>
          <p:cNvSpPr/>
          <p:nvPr/>
        </p:nvSpPr>
        <p:spPr>
          <a:xfrm>
            <a:off x="754590" y="3329643"/>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4" name="米菲PPT56"/>
          <p:cNvSpPr/>
          <p:nvPr/>
        </p:nvSpPr>
        <p:spPr>
          <a:xfrm>
            <a:off x="761306" y="3923726"/>
            <a:ext cx="83572" cy="91718"/>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5" name="米菲PPT60"/>
          <p:cNvSpPr/>
          <p:nvPr/>
        </p:nvSpPr>
        <p:spPr>
          <a:xfrm>
            <a:off x="6344697" y="2192216"/>
            <a:ext cx="86087" cy="86087"/>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6" name="米菲PPT60"/>
          <p:cNvSpPr/>
          <p:nvPr/>
        </p:nvSpPr>
        <p:spPr>
          <a:xfrm>
            <a:off x="6335246" y="2756145"/>
            <a:ext cx="86087" cy="86087"/>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7" name="米菲PPT60"/>
          <p:cNvSpPr/>
          <p:nvPr/>
        </p:nvSpPr>
        <p:spPr>
          <a:xfrm>
            <a:off x="6330732" y="3354782"/>
            <a:ext cx="86087" cy="86087"/>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18" name="米菲PPT60"/>
          <p:cNvSpPr/>
          <p:nvPr/>
        </p:nvSpPr>
        <p:spPr>
          <a:xfrm>
            <a:off x="6343072" y="3923726"/>
            <a:ext cx="86087" cy="86087"/>
          </a:xfrm>
          <a:custGeom>
            <a:avLst/>
            <a:gdLst>
              <a:gd name="connsiteX0" fmla="*/ 546100 w 1092200"/>
              <a:gd name="connsiteY0" fmla="*/ 0 h 1092200"/>
              <a:gd name="connsiteX1" fmla="*/ 0 w 1092200"/>
              <a:gd name="connsiteY1" fmla="*/ 546100 h 1092200"/>
              <a:gd name="connsiteX2" fmla="*/ 546100 w 1092200"/>
              <a:gd name="connsiteY2" fmla="*/ 1092200 h 1092200"/>
              <a:gd name="connsiteX3" fmla="*/ 1092200 w 1092200"/>
              <a:gd name="connsiteY3" fmla="*/ 546100 h 1092200"/>
              <a:gd name="connsiteX4" fmla="*/ 546100 w 1092200"/>
              <a:gd name="connsiteY4" fmla="*/ 0 h 1092200"/>
              <a:gd name="connsiteX5" fmla="*/ 319024 w 1092200"/>
              <a:gd name="connsiteY5" fmla="*/ 544576 h 1092200"/>
              <a:gd name="connsiteX6" fmla="*/ 265176 w 1092200"/>
              <a:gd name="connsiteY6" fmla="*/ 546477 h 1092200"/>
              <a:gd name="connsiteX7" fmla="*/ 265176 w 1092200"/>
              <a:gd name="connsiteY7" fmla="*/ 598424 h 1092200"/>
              <a:gd name="connsiteX8" fmla="*/ 417576 w 1092200"/>
              <a:gd name="connsiteY8" fmla="*/ 750824 h 1092200"/>
              <a:gd name="connsiteX9" fmla="*/ 471424 w 1092200"/>
              <a:gd name="connsiteY9" fmla="*/ 750824 h 1092200"/>
              <a:gd name="connsiteX10" fmla="*/ 827024 w 1092200"/>
              <a:gd name="connsiteY10" fmla="*/ 395224 h 1092200"/>
              <a:gd name="connsiteX11" fmla="*/ 825123 w 1092200"/>
              <a:gd name="connsiteY11" fmla="*/ 341376 h 1092200"/>
              <a:gd name="connsiteX12" fmla="*/ 773176 w 1092200"/>
              <a:gd name="connsiteY12" fmla="*/ 341376 h 1092200"/>
              <a:gd name="connsiteX13" fmla="*/ 444500 w 1092200"/>
              <a:gd name="connsiteY13" fmla="*/ 670052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2200" h="1092200">
                <a:moveTo>
                  <a:pt x="546100" y="0"/>
                </a:moveTo>
                <a:cubicBezTo>
                  <a:pt x="244500" y="0"/>
                  <a:pt x="0" y="244500"/>
                  <a:pt x="0" y="546100"/>
                </a:cubicBezTo>
                <a:cubicBezTo>
                  <a:pt x="0" y="847700"/>
                  <a:pt x="244500" y="1092200"/>
                  <a:pt x="546100" y="1092200"/>
                </a:cubicBezTo>
                <a:cubicBezTo>
                  <a:pt x="847700" y="1092200"/>
                  <a:pt x="1092200" y="847700"/>
                  <a:pt x="1092200" y="546100"/>
                </a:cubicBezTo>
                <a:cubicBezTo>
                  <a:pt x="1092200" y="244500"/>
                  <a:pt x="847700" y="0"/>
                  <a:pt x="546100" y="0"/>
                </a:cubicBezTo>
                <a:moveTo>
                  <a:pt x="319024" y="544576"/>
                </a:moveTo>
                <a:cubicBezTo>
                  <a:pt x="303629" y="530231"/>
                  <a:pt x="279521" y="531082"/>
                  <a:pt x="265176" y="546477"/>
                </a:cubicBezTo>
                <a:cubicBezTo>
                  <a:pt x="251542" y="561109"/>
                  <a:pt x="251542" y="583792"/>
                  <a:pt x="265176" y="598424"/>
                </a:cubicBezTo>
                <a:lnTo>
                  <a:pt x="417576" y="750824"/>
                </a:lnTo>
                <a:cubicBezTo>
                  <a:pt x="432451" y="765681"/>
                  <a:pt x="456549" y="765681"/>
                  <a:pt x="471424" y="750824"/>
                </a:cubicBezTo>
                <a:lnTo>
                  <a:pt x="827024" y="395224"/>
                </a:lnTo>
                <a:cubicBezTo>
                  <a:pt x="841369" y="379829"/>
                  <a:pt x="840518" y="355721"/>
                  <a:pt x="825123" y="341376"/>
                </a:cubicBezTo>
                <a:cubicBezTo>
                  <a:pt x="810491" y="327742"/>
                  <a:pt x="787808" y="327742"/>
                  <a:pt x="773176" y="341376"/>
                </a:cubicBezTo>
                <a:lnTo>
                  <a:pt x="444500" y="670052"/>
                </a:lnTo>
                <a:close/>
              </a:path>
            </a:pathLst>
          </a:custGeom>
          <a:solidFill>
            <a:schemeClr val="accent2"/>
          </a:solidFill>
          <a:ln w="50800" cap="flat">
            <a:noFill/>
            <a:prstDash val="solid"/>
            <a:miter/>
          </a:ln>
        </p:spPr>
        <p:txBody>
          <a:bodyPr rtlCol="0" anchor="ctr"/>
          <a:lstStyle/>
          <a:p>
            <a:endParaRPr lang="zh-CN" altLang="en-US" sz="1350" dirty="0">
              <a:latin typeface="+mn-ea"/>
              <a:cs typeface="MiSans Medium" panose="00000600000000000000" pitchFamily="2" charset="-122"/>
            </a:endParaRPr>
          </a:p>
        </p:txBody>
      </p:sp>
      <p:sp>
        <p:nvSpPr>
          <p:cNvPr id="27" name="矩形: 圆角 26"/>
          <p:cNvSpPr/>
          <p:nvPr/>
        </p:nvSpPr>
        <p:spPr>
          <a:xfrm>
            <a:off x="682803" y="1647248"/>
            <a:ext cx="2135543" cy="234094"/>
          </a:xfrm>
          <a:prstGeom prst="roundRect">
            <a:avLst/>
          </a:prstGeom>
          <a:noFill/>
          <a:ln>
            <a:solidFill>
              <a:schemeClr val="accent2"/>
            </a:solid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用户需求及价值</a:t>
            </a:r>
          </a:p>
        </p:txBody>
      </p:sp>
      <p:sp>
        <p:nvSpPr>
          <p:cNvPr id="28" name="矩形: 圆角 27"/>
          <p:cNvSpPr/>
          <p:nvPr/>
        </p:nvSpPr>
        <p:spPr>
          <a:xfrm>
            <a:off x="6253045" y="1642595"/>
            <a:ext cx="2135543" cy="234094"/>
          </a:xfrm>
          <a:prstGeom prst="roundRect">
            <a:avLst/>
          </a:prstGeom>
          <a:noFill/>
          <a:ln>
            <a:solidFill>
              <a:schemeClr val="accent2"/>
            </a:solid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商家需求及价值</a:t>
            </a:r>
          </a:p>
        </p:txBody>
      </p:sp>
      <p:sp>
        <p:nvSpPr>
          <p:cNvPr id="29" name="矩形 28"/>
          <p:cNvSpPr/>
          <p:nvPr/>
        </p:nvSpPr>
        <p:spPr>
          <a:xfrm>
            <a:off x="2893439" y="1982393"/>
            <a:ext cx="3273520" cy="457148"/>
          </a:xfrm>
          <a:prstGeom prst="rect">
            <a:avLst/>
          </a:prstGeom>
          <a:solidFill>
            <a:schemeClr val="accent1">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Medium" panose="00000600000000000000" pitchFamily="2" charset="-122"/>
              </a:rPr>
              <a:t>完善用户决策动线，提升用户心智</a:t>
            </a:r>
            <a:endParaRPr lang="en-US" altLang="zh-CN" sz="1200" b="1" dirty="0">
              <a:solidFill>
                <a:schemeClr val="tx1"/>
              </a:solidFill>
              <a:latin typeface="+mn-ea"/>
              <a:cs typeface="MiSans Medium" panose="00000600000000000000" pitchFamily="2" charset="-122"/>
              <a:sym typeface="MiSans Medium" panose="00000600000000000000" pitchFamily="2" charset="-122"/>
            </a:endParaRPr>
          </a:p>
          <a:p>
            <a:pPr algn="ctr"/>
            <a:r>
              <a:rPr lang="zh-CN" altLang="en-US" sz="1200" b="1" dirty="0">
                <a:solidFill>
                  <a:schemeClr val="tx1"/>
                </a:solidFill>
                <a:latin typeface="+mn-ea"/>
                <a:cs typeface="MiSans Medium" panose="00000600000000000000" pitchFamily="2" charset="-122"/>
                <a:sym typeface="MiSans Medium" panose="00000600000000000000" pitchFamily="2" charset="-122"/>
              </a:rPr>
              <a:t>加强商家流量等感知</a:t>
            </a:r>
            <a:endParaRPr lang="en-US" altLang="zh-CN" sz="1000" b="1" dirty="0">
              <a:solidFill>
                <a:schemeClr val="tx1"/>
              </a:solidFill>
              <a:latin typeface="+mn-ea"/>
              <a:cs typeface="MiSans Medium" panose="00000600000000000000" pitchFamily="2" charset="-122"/>
              <a:sym typeface="MiSans Medium" panose="00000600000000000000" pitchFamily="2" charset="-122"/>
            </a:endParaRPr>
          </a:p>
        </p:txBody>
      </p:sp>
      <p:sp>
        <p:nvSpPr>
          <p:cNvPr id="30" name="矩形 29"/>
          <p:cNvSpPr/>
          <p:nvPr/>
        </p:nvSpPr>
        <p:spPr>
          <a:xfrm>
            <a:off x="2901716" y="2549426"/>
            <a:ext cx="3273520" cy="457148"/>
          </a:xfrm>
          <a:prstGeom prst="rect">
            <a:avLst/>
          </a:prstGeom>
          <a:solidFill>
            <a:schemeClr val="accent1">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sym typeface="MiSans Medium" panose="00000600000000000000" pitchFamily="2" charset="-122"/>
              </a:rPr>
              <a:t>基于需求完善榜单矩阵，合理扩大供给覆盖</a:t>
            </a:r>
            <a:endParaRPr lang="en-US" altLang="zh-CN" sz="1200" b="1" dirty="0">
              <a:solidFill>
                <a:schemeClr val="tx1"/>
              </a:solidFill>
              <a:latin typeface="+mn-ea"/>
              <a:sym typeface="MiSans Medium" panose="00000600000000000000" pitchFamily="2" charset="-122"/>
            </a:endParaRPr>
          </a:p>
        </p:txBody>
      </p:sp>
      <p:sp>
        <p:nvSpPr>
          <p:cNvPr id="31" name="矩形 30"/>
          <p:cNvSpPr/>
          <p:nvPr/>
        </p:nvSpPr>
        <p:spPr>
          <a:xfrm>
            <a:off x="2901716" y="3160916"/>
            <a:ext cx="3273520" cy="457148"/>
          </a:xfrm>
          <a:prstGeom prst="rect">
            <a:avLst/>
          </a:prstGeom>
          <a:solidFill>
            <a:schemeClr val="accent1">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Medium" panose="00000600000000000000" pitchFamily="2" charset="-122"/>
              </a:rPr>
              <a:t>优化榜单规则及引用资产建设</a:t>
            </a:r>
            <a:endParaRPr lang="en-US" altLang="zh-CN" sz="1200" b="1" dirty="0">
              <a:solidFill>
                <a:schemeClr val="tx1"/>
              </a:solidFill>
              <a:latin typeface="+mn-ea"/>
              <a:cs typeface="MiSans Medium" panose="00000600000000000000" pitchFamily="2" charset="-122"/>
              <a:sym typeface="MiSans Medium" panose="00000600000000000000" pitchFamily="2" charset="-122"/>
            </a:endParaRPr>
          </a:p>
          <a:p>
            <a:pPr algn="ctr"/>
            <a:r>
              <a:rPr lang="zh-CN" altLang="en-US" sz="1200" b="1" dirty="0">
                <a:solidFill>
                  <a:schemeClr val="tx1"/>
                </a:solidFill>
                <a:latin typeface="+mn-ea"/>
                <a:cs typeface="MiSans Medium" panose="00000600000000000000" pitchFamily="2" charset="-122"/>
                <a:sym typeface="MiSans Medium" panose="00000600000000000000" pitchFamily="2" charset="-122"/>
              </a:rPr>
              <a:t>加强商户辅导，提升公信力及牵引力</a:t>
            </a:r>
            <a:endParaRPr lang="en-US" altLang="zh-CN" sz="1200" b="1" dirty="0">
              <a:solidFill>
                <a:schemeClr val="tx1"/>
              </a:solidFill>
              <a:latin typeface="+mn-ea"/>
              <a:cs typeface="MiSans Medium" panose="00000600000000000000" pitchFamily="2" charset="-122"/>
              <a:sym typeface="MiSans Medium" panose="00000600000000000000" pitchFamily="2" charset="-122"/>
            </a:endParaRPr>
          </a:p>
        </p:txBody>
      </p:sp>
      <p:sp>
        <p:nvSpPr>
          <p:cNvPr id="32" name="矩形 31"/>
          <p:cNvSpPr/>
          <p:nvPr/>
        </p:nvSpPr>
        <p:spPr>
          <a:xfrm>
            <a:off x="2907738" y="3720988"/>
            <a:ext cx="3273520" cy="457148"/>
          </a:xfrm>
          <a:prstGeom prst="rect">
            <a:avLst/>
          </a:prstGeom>
          <a:solidFill>
            <a:schemeClr val="accent1">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Medium" panose="00000600000000000000" pitchFamily="2" charset="-122"/>
              </a:rPr>
              <a:t>加强决策转化，强调线上线下体验一致性</a:t>
            </a:r>
          </a:p>
        </p:txBody>
      </p:sp>
      <p:cxnSp>
        <p:nvCxnSpPr>
          <p:cNvPr id="34" name="直接箭头连接符 33"/>
          <p:cNvCxnSpPr>
            <a:stCxn id="22" idx="0"/>
            <a:endCxn id="21" idx="2"/>
          </p:cNvCxnSpPr>
          <p:nvPr/>
        </p:nvCxnSpPr>
        <p:spPr>
          <a:xfrm flipH="1" flipV="1">
            <a:off x="1749937" y="3598950"/>
            <a:ext cx="5351" cy="12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1" idx="0"/>
            <a:endCxn id="20" idx="2"/>
          </p:cNvCxnSpPr>
          <p:nvPr/>
        </p:nvCxnSpPr>
        <p:spPr>
          <a:xfrm flipV="1">
            <a:off x="1749937" y="3017077"/>
            <a:ext cx="2035" cy="12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0" idx="0"/>
            <a:endCxn id="19" idx="2"/>
          </p:cNvCxnSpPr>
          <p:nvPr/>
        </p:nvCxnSpPr>
        <p:spPr>
          <a:xfrm flipV="1">
            <a:off x="1751972" y="2435204"/>
            <a:ext cx="0" cy="12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连接符: 肘形 43"/>
          <p:cNvCxnSpPr>
            <a:stCxn id="19" idx="1"/>
            <a:endCxn id="22" idx="1"/>
          </p:cNvCxnSpPr>
          <p:nvPr/>
        </p:nvCxnSpPr>
        <p:spPr>
          <a:xfrm rot="10800000" flipH="1" flipV="1">
            <a:off x="682803" y="2206629"/>
            <a:ext cx="3316" cy="1745619"/>
          </a:xfrm>
          <a:prstGeom prst="bentConnector3">
            <a:avLst>
              <a:gd name="adj1" fmla="val -68938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6" idx="0"/>
            <a:endCxn id="25" idx="2"/>
          </p:cNvCxnSpPr>
          <p:nvPr/>
        </p:nvCxnSpPr>
        <p:spPr>
          <a:xfrm flipH="1" flipV="1">
            <a:off x="7323599" y="3622018"/>
            <a:ext cx="6757" cy="10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5" idx="0"/>
            <a:endCxn id="24" idx="2"/>
          </p:cNvCxnSpPr>
          <p:nvPr/>
        </p:nvCxnSpPr>
        <p:spPr>
          <a:xfrm flipH="1" flipV="1">
            <a:off x="7322214" y="3012927"/>
            <a:ext cx="1385" cy="151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4" idx="0"/>
            <a:endCxn id="23" idx="2"/>
          </p:cNvCxnSpPr>
          <p:nvPr/>
        </p:nvCxnSpPr>
        <p:spPr>
          <a:xfrm flipV="1">
            <a:off x="7322214" y="2453465"/>
            <a:ext cx="0" cy="10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p:cNvCxnSpPr>
            <a:stCxn id="23" idx="3"/>
            <a:endCxn id="26" idx="3"/>
          </p:cNvCxnSpPr>
          <p:nvPr/>
        </p:nvCxnSpPr>
        <p:spPr>
          <a:xfrm>
            <a:off x="8391383" y="2224891"/>
            <a:ext cx="8142" cy="1728015"/>
          </a:xfrm>
          <a:prstGeom prst="bentConnector3">
            <a:avLst>
              <a:gd name="adj1" fmla="val 2295468"/>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矩形: 圆角 2"/>
          <p:cNvSpPr/>
          <p:nvPr/>
        </p:nvSpPr>
        <p:spPr>
          <a:xfrm>
            <a:off x="2893439" y="1653759"/>
            <a:ext cx="3273520" cy="234094"/>
          </a:xfrm>
          <a:prstGeom prst="roundRect">
            <a:avLst/>
          </a:prstGeom>
          <a:noFill/>
          <a:ln>
            <a:solidFill>
              <a:schemeClr val="accent1"/>
            </a:solid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榜单运营</a:t>
            </a:r>
          </a:p>
        </p:txBody>
      </p:sp>
      <p:sp>
        <p:nvSpPr>
          <p:cNvPr id="8" name="矩形: 圆角 7"/>
          <p:cNvSpPr/>
          <p:nvPr/>
        </p:nvSpPr>
        <p:spPr>
          <a:xfrm>
            <a:off x="670594" y="4284940"/>
            <a:ext cx="7717994" cy="563809"/>
          </a:xfrm>
          <a:prstGeom prst="roundRect">
            <a:avLst/>
          </a:prstGeom>
          <a:noFill/>
          <a:ln>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rPr>
              <a:t>“</a:t>
            </a:r>
            <a:r>
              <a:rPr lang="en-US" altLang="zh-CN" sz="1200" b="1" dirty="0" err="1">
                <a:solidFill>
                  <a:schemeClr val="tx1"/>
                </a:solidFill>
                <a:latin typeface="+mn-ea"/>
              </a:rPr>
              <a:t>xxxxx</a:t>
            </a:r>
            <a:r>
              <a:rPr lang="zh-CN" altLang="en-US" sz="1200" b="1" dirty="0">
                <a:solidFill>
                  <a:schemeClr val="tx1"/>
                </a:solidFill>
                <a:latin typeface="+mn-ea"/>
              </a:rPr>
              <a: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Rounded Rectangle"/>
          <p:cNvSpPr/>
          <p:nvPr/>
        </p:nvSpPr>
        <p:spPr>
          <a:xfrm>
            <a:off x="7461424" y="2375737"/>
            <a:ext cx="1553913" cy="2404324"/>
          </a:xfrm>
          <a:prstGeom prst="roundRect">
            <a:avLst>
              <a:gd name="adj" fmla="val 4117"/>
            </a:avLst>
          </a:prstGeom>
          <a:solidFill>
            <a:srgbClr val="FFFFFF"/>
          </a:solidFill>
          <a:ln w="3175">
            <a:solidFill>
              <a:schemeClr val="bg1">
                <a:lumMod val="65000"/>
              </a:schemeClr>
            </a:solidFill>
            <a:prstDash val="dash"/>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15" name="标题 1"/>
          <p:cNvSpPr>
            <a:spLocks noGrp="1"/>
          </p:cNvSpPr>
          <p:nvPr>
            <p:ph type="title"/>
          </p:nvPr>
        </p:nvSpPr>
        <p:spPr>
          <a:xfrm>
            <a:off x="267240" y="116581"/>
            <a:ext cx="7664380" cy="427313"/>
          </a:xfrm>
        </p:spPr>
        <p:txBody>
          <a:bodyPr>
            <a:noAutofit/>
          </a:bodyPr>
          <a:lstStyle/>
          <a:p>
            <a:r>
              <a:rPr lang="zh-CN" altLang="en-US" sz="2100" dirty="0"/>
              <a:t>场景榜单运营思路</a:t>
            </a:r>
            <a:endParaRPr lang="zh-CN" altLang="en-US" sz="2100" dirty="0">
              <a:solidFill>
                <a:schemeClr val="accent3"/>
              </a:solidFill>
            </a:endParaRPr>
          </a:p>
        </p:txBody>
      </p:sp>
      <p:cxnSp>
        <p:nvCxnSpPr>
          <p:cNvPr id="333" name="直接箭头连接符 332"/>
          <p:cNvCxnSpPr/>
          <p:nvPr/>
        </p:nvCxnSpPr>
        <p:spPr>
          <a:xfrm flipV="1">
            <a:off x="5918179" y="2098977"/>
            <a:ext cx="0" cy="274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4" name="直接箭头连接符 333"/>
          <p:cNvCxnSpPr/>
          <p:nvPr/>
        </p:nvCxnSpPr>
        <p:spPr>
          <a:xfrm flipV="1">
            <a:off x="1117196" y="2110030"/>
            <a:ext cx="0" cy="2698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5" name="文本框 334"/>
          <p:cNvSpPr txBox="1"/>
          <p:nvPr/>
        </p:nvSpPr>
        <p:spPr>
          <a:xfrm>
            <a:off x="847583" y="1470897"/>
            <a:ext cx="499382" cy="276999"/>
          </a:xfrm>
          <a:prstGeom prst="rect">
            <a:avLst/>
          </a:prstGeom>
          <a:noFill/>
        </p:spPr>
        <p:txBody>
          <a:bodyPr wrap="square">
            <a:spAutoFit/>
          </a:bodyPr>
          <a:lstStyle/>
          <a:p>
            <a:pPr algn="ctr"/>
            <a:r>
              <a:rPr lang="zh-CN" altLang="en-US" sz="1200" dirty="0">
                <a:latin typeface="楷体" panose="02010609060101010101" pitchFamily="49" charset="-122"/>
                <a:ea typeface="楷体" panose="02010609060101010101" pitchFamily="49" charset="-122"/>
              </a:rPr>
              <a:t>需求</a:t>
            </a:r>
          </a:p>
        </p:txBody>
      </p:sp>
      <p:sp>
        <p:nvSpPr>
          <p:cNvPr id="336" name="文本框 335"/>
          <p:cNvSpPr txBox="1"/>
          <p:nvPr/>
        </p:nvSpPr>
        <p:spPr>
          <a:xfrm>
            <a:off x="5608792" y="1484164"/>
            <a:ext cx="669441" cy="276999"/>
          </a:xfrm>
          <a:prstGeom prst="rect">
            <a:avLst/>
          </a:prstGeom>
          <a:noFill/>
        </p:spPr>
        <p:txBody>
          <a:bodyPr wrap="square">
            <a:spAutoFit/>
          </a:bodyPr>
          <a:lstStyle/>
          <a:p>
            <a:pPr algn="ctr"/>
            <a:r>
              <a:rPr lang="zh-CN" altLang="en-US" sz="1200" dirty="0">
                <a:latin typeface="楷体" panose="02010609060101010101" pitchFamily="49" charset="-122"/>
                <a:ea typeface="楷体" panose="02010609060101010101" pitchFamily="49" charset="-122"/>
              </a:rPr>
              <a:t>供给</a:t>
            </a:r>
          </a:p>
        </p:txBody>
      </p:sp>
      <p:sp>
        <p:nvSpPr>
          <p:cNvPr id="337" name="文本框 336"/>
          <p:cNvSpPr txBox="1"/>
          <p:nvPr/>
        </p:nvSpPr>
        <p:spPr>
          <a:xfrm>
            <a:off x="5924648" y="2601754"/>
            <a:ext cx="1562119" cy="230832"/>
          </a:xfrm>
          <a:prstGeom prst="rect">
            <a:avLst/>
          </a:prstGeom>
          <a:noFill/>
        </p:spPr>
        <p:txBody>
          <a:bodyPr wrap="square">
            <a:spAutoFit/>
          </a:bodyPr>
          <a:lstStyle/>
          <a:p>
            <a:r>
              <a:rPr lang="zh-CN" altLang="en-US" sz="900" dirty="0">
                <a:latin typeface="楷体" panose="02010609060101010101" pitchFamily="49" charset="-122"/>
                <a:ea typeface="楷体" panose="02010609060101010101" pitchFamily="49" charset="-122"/>
              </a:rPr>
              <a:t>资产量大质优待挖掘</a:t>
            </a:r>
            <a:endParaRPr lang="en-US" altLang="zh-CN" sz="900" dirty="0">
              <a:latin typeface="楷体" panose="02010609060101010101" pitchFamily="49" charset="-122"/>
              <a:ea typeface="楷体" panose="02010609060101010101" pitchFamily="49" charset="-122"/>
            </a:endParaRPr>
          </a:p>
        </p:txBody>
      </p:sp>
      <p:sp>
        <p:nvSpPr>
          <p:cNvPr id="338" name="文本框 337"/>
          <p:cNvSpPr txBox="1"/>
          <p:nvPr/>
        </p:nvSpPr>
        <p:spPr>
          <a:xfrm>
            <a:off x="5918179" y="3630369"/>
            <a:ext cx="1474259" cy="230832"/>
          </a:xfrm>
          <a:prstGeom prst="rect">
            <a:avLst/>
          </a:prstGeom>
          <a:noFill/>
        </p:spPr>
        <p:txBody>
          <a:bodyPr wrap="square">
            <a:spAutoFit/>
          </a:bodyPr>
          <a:lstStyle/>
          <a:p>
            <a:r>
              <a:rPr lang="zh-CN" altLang="en-US" sz="900" dirty="0">
                <a:latin typeface="楷体" panose="02010609060101010101" pitchFamily="49" charset="-122"/>
                <a:ea typeface="楷体" panose="02010609060101010101" pitchFamily="49" charset="-122"/>
              </a:rPr>
              <a:t>资产量、质一般</a:t>
            </a:r>
            <a:endParaRPr lang="en-US" altLang="zh-CN" sz="900" dirty="0">
              <a:latin typeface="楷体" panose="02010609060101010101" pitchFamily="49" charset="-122"/>
              <a:ea typeface="楷体" panose="02010609060101010101" pitchFamily="49" charset="-122"/>
            </a:endParaRPr>
          </a:p>
        </p:txBody>
      </p:sp>
      <p:sp>
        <p:nvSpPr>
          <p:cNvPr id="339" name="文本框 338"/>
          <p:cNvSpPr txBox="1"/>
          <p:nvPr/>
        </p:nvSpPr>
        <p:spPr>
          <a:xfrm>
            <a:off x="5926385" y="4404416"/>
            <a:ext cx="1553915" cy="230832"/>
          </a:xfrm>
          <a:prstGeom prst="rect">
            <a:avLst/>
          </a:prstGeom>
          <a:noFill/>
        </p:spPr>
        <p:txBody>
          <a:bodyPr wrap="square">
            <a:spAutoFit/>
          </a:bodyPr>
          <a:lstStyle/>
          <a:p>
            <a:r>
              <a:rPr lang="zh-CN" altLang="en-US" sz="900" dirty="0">
                <a:latin typeface="楷体" panose="02010609060101010101" pitchFamily="49" charset="-122"/>
                <a:ea typeface="楷体" panose="02010609060101010101" pitchFamily="49" charset="-122"/>
              </a:rPr>
              <a:t>评论等资产量不足</a:t>
            </a:r>
            <a:endParaRPr lang="en-US" altLang="zh-CN" sz="900" dirty="0">
              <a:latin typeface="楷体" panose="02010609060101010101" pitchFamily="49" charset="-122"/>
              <a:ea typeface="楷体" panose="02010609060101010101" pitchFamily="49" charset="-122"/>
            </a:endParaRPr>
          </a:p>
        </p:txBody>
      </p:sp>
      <p:sp>
        <p:nvSpPr>
          <p:cNvPr id="340" name="文本框 339"/>
          <p:cNvSpPr txBox="1"/>
          <p:nvPr/>
        </p:nvSpPr>
        <p:spPr>
          <a:xfrm>
            <a:off x="-8205" y="3630368"/>
            <a:ext cx="1125402" cy="230832"/>
          </a:xfrm>
          <a:prstGeom prst="rect">
            <a:avLst/>
          </a:prstGeom>
          <a:noFill/>
        </p:spPr>
        <p:txBody>
          <a:bodyPr wrap="square">
            <a:spAutoFit/>
          </a:bodyPr>
          <a:lstStyle/>
          <a:p>
            <a:pPr algn="r"/>
            <a:r>
              <a:rPr lang="zh-CN" altLang="en-US" sz="900" dirty="0">
                <a:latin typeface="楷体" panose="02010609060101010101" pitchFamily="49" charset="-122"/>
                <a:ea typeface="楷体" panose="02010609060101010101" pitchFamily="49" charset="-122"/>
              </a:rPr>
              <a:t>中等</a:t>
            </a:r>
          </a:p>
        </p:txBody>
      </p:sp>
      <p:sp>
        <p:nvSpPr>
          <p:cNvPr id="341" name="文本框 340"/>
          <p:cNvSpPr txBox="1"/>
          <p:nvPr/>
        </p:nvSpPr>
        <p:spPr>
          <a:xfrm>
            <a:off x="12697" y="2607870"/>
            <a:ext cx="1104499" cy="230832"/>
          </a:xfrm>
          <a:prstGeom prst="rect">
            <a:avLst/>
          </a:prstGeom>
          <a:noFill/>
        </p:spPr>
        <p:txBody>
          <a:bodyPr wrap="square">
            <a:spAutoFit/>
          </a:bodyPr>
          <a:lstStyle/>
          <a:p>
            <a:pPr algn="r"/>
            <a:r>
              <a:rPr lang="zh-CN" altLang="en-US" sz="900" dirty="0">
                <a:latin typeface="楷体" panose="02010609060101010101" pitchFamily="49" charset="-122"/>
                <a:ea typeface="楷体" panose="02010609060101010101" pitchFamily="49" charset="-122"/>
              </a:rPr>
              <a:t>丰富、强烈</a:t>
            </a:r>
          </a:p>
        </p:txBody>
      </p:sp>
      <p:sp>
        <p:nvSpPr>
          <p:cNvPr id="342" name="文本框 341"/>
          <p:cNvSpPr txBox="1"/>
          <p:nvPr/>
        </p:nvSpPr>
        <p:spPr>
          <a:xfrm>
            <a:off x="1" y="4406300"/>
            <a:ext cx="1125402" cy="228948"/>
          </a:xfrm>
          <a:prstGeom prst="rect">
            <a:avLst/>
          </a:prstGeom>
          <a:noFill/>
        </p:spPr>
        <p:txBody>
          <a:bodyPr wrap="square">
            <a:spAutoFit/>
          </a:bodyPr>
          <a:lstStyle/>
          <a:p>
            <a:pPr algn="r"/>
            <a:r>
              <a:rPr lang="zh-CN" altLang="en-US" sz="900" dirty="0">
                <a:latin typeface="楷体" panose="02010609060101010101" pitchFamily="49" charset="-122"/>
                <a:ea typeface="楷体" panose="02010609060101010101" pitchFamily="49" charset="-122"/>
              </a:rPr>
              <a:t>少量场景</a:t>
            </a:r>
          </a:p>
        </p:txBody>
      </p:sp>
      <p:sp>
        <p:nvSpPr>
          <p:cNvPr id="344" name="文本框 343"/>
          <p:cNvSpPr txBox="1"/>
          <p:nvPr/>
        </p:nvSpPr>
        <p:spPr>
          <a:xfrm>
            <a:off x="747616" y="4570833"/>
            <a:ext cx="1104498" cy="276999"/>
          </a:xfrm>
          <a:prstGeom prst="rect">
            <a:avLst/>
          </a:prstGeom>
          <a:noFill/>
        </p:spPr>
        <p:txBody>
          <a:bodyPr wrap="square">
            <a:spAutoFit/>
          </a:bodyPr>
          <a:lstStyle/>
          <a:p>
            <a:pPr algn="ctr"/>
            <a:r>
              <a:rPr lang="zh-CN" altLang="en-US" sz="1200" b="1" dirty="0">
                <a:solidFill>
                  <a:schemeClr val="bg1">
                    <a:lumMod val="50000"/>
                  </a:schemeClr>
                </a:solidFill>
                <a:latin typeface="+mn-ea"/>
                <a:ea typeface="+mn-ea"/>
              </a:rPr>
              <a:t>下沉</a:t>
            </a:r>
          </a:p>
        </p:txBody>
      </p:sp>
      <p:cxnSp>
        <p:nvCxnSpPr>
          <p:cNvPr id="345" name="直接连接符 29"/>
          <p:cNvCxnSpPr/>
          <p:nvPr/>
        </p:nvCxnSpPr>
        <p:spPr>
          <a:xfrm>
            <a:off x="1161560" y="4262273"/>
            <a:ext cx="4756619" cy="21682"/>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48" name="直接连接符 29"/>
          <p:cNvCxnSpPr/>
          <p:nvPr/>
        </p:nvCxnSpPr>
        <p:spPr>
          <a:xfrm>
            <a:off x="1182186" y="3376547"/>
            <a:ext cx="4715365"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51" name="文本框 350"/>
          <p:cNvSpPr txBox="1"/>
          <p:nvPr/>
        </p:nvSpPr>
        <p:spPr>
          <a:xfrm>
            <a:off x="809994" y="3996115"/>
            <a:ext cx="1104498" cy="276999"/>
          </a:xfrm>
          <a:prstGeom prst="rect">
            <a:avLst/>
          </a:prstGeom>
          <a:noFill/>
        </p:spPr>
        <p:txBody>
          <a:bodyPr wrap="square">
            <a:spAutoFit/>
          </a:bodyPr>
          <a:lstStyle/>
          <a:p>
            <a:pPr algn="ctr"/>
            <a:r>
              <a:rPr lang="zh-CN" altLang="en-US" sz="1200" b="1" dirty="0">
                <a:latin typeface="+mn-ea"/>
              </a:rPr>
              <a:t>中低线</a:t>
            </a:r>
            <a:endParaRPr lang="zh-CN" altLang="en-US" sz="1200" b="1" dirty="0">
              <a:latin typeface="+mn-ea"/>
              <a:ea typeface="+mn-ea"/>
            </a:endParaRPr>
          </a:p>
        </p:txBody>
      </p:sp>
      <p:sp>
        <p:nvSpPr>
          <p:cNvPr id="352" name="文本框 351"/>
          <p:cNvSpPr txBox="1"/>
          <p:nvPr/>
        </p:nvSpPr>
        <p:spPr>
          <a:xfrm>
            <a:off x="751790" y="3078180"/>
            <a:ext cx="1104498" cy="276999"/>
          </a:xfrm>
          <a:prstGeom prst="rect">
            <a:avLst/>
          </a:prstGeom>
          <a:noFill/>
        </p:spPr>
        <p:txBody>
          <a:bodyPr wrap="square">
            <a:spAutoFit/>
          </a:bodyPr>
          <a:lstStyle/>
          <a:p>
            <a:pPr algn="ctr"/>
            <a:r>
              <a:rPr lang="zh-CN" altLang="en-US" sz="1200" b="1" dirty="0">
                <a:latin typeface="+mn-ea"/>
              </a:rPr>
              <a:t>高线</a:t>
            </a:r>
            <a:endParaRPr lang="zh-CN" altLang="en-US" sz="1200" b="1" dirty="0">
              <a:latin typeface="+mn-ea"/>
              <a:ea typeface="+mn-ea"/>
            </a:endParaRPr>
          </a:p>
        </p:txBody>
      </p:sp>
      <p:sp>
        <p:nvSpPr>
          <p:cNvPr id="386" name="椭圆 385"/>
          <p:cNvSpPr/>
          <p:nvPr/>
        </p:nvSpPr>
        <p:spPr>
          <a:xfrm>
            <a:off x="2174384" y="2318257"/>
            <a:ext cx="1098299" cy="2335402"/>
          </a:xfrm>
          <a:prstGeom prst="ellipse">
            <a:avLst/>
          </a:prstGeom>
          <a:noFill/>
          <a:ln>
            <a:solidFill>
              <a:schemeClr val="accent3">
                <a:lumMod val="7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mn-ea"/>
            </a:endParaRPr>
          </a:p>
        </p:txBody>
      </p:sp>
      <p:sp>
        <p:nvSpPr>
          <p:cNvPr id="390" name="Rounded Rectangle"/>
          <p:cNvSpPr/>
          <p:nvPr/>
        </p:nvSpPr>
        <p:spPr>
          <a:xfrm>
            <a:off x="7461423" y="532843"/>
            <a:ext cx="1562115" cy="1545619"/>
          </a:xfrm>
          <a:prstGeom prst="roundRect">
            <a:avLst>
              <a:gd name="adj" fmla="val 4117"/>
            </a:avLst>
          </a:prstGeom>
          <a:solidFill>
            <a:srgbClr val="FFFFFF"/>
          </a:solidFill>
          <a:ln w="3175">
            <a:solidFill>
              <a:schemeClr val="bg1">
                <a:lumMod val="65000"/>
              </a:schemeClr>
            </a:solidFill>
            <a:prstDash val="dash"/>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393" name="文本框 130"/>
          <p:cNvSpPr txBox="1"/>
          <p:nvPr/>
        </p:nvSpPr>
        <p:spPr>
          <a:xfrm>
            <a:off x="7396063" y="538638"/>
            <a:ext cx="1680508"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商家信息</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环境设施、服务、客单价等</a:t>
            </a:r>
            <a:endParaRPr lang="zh-CN" altLang="zh-CN" sz="900" dirty="0"/>
          </a:p>
        </p:txBody>
      </p:sp>
      <p:sp>
        <p:nvSpPr>
          <p:cNvPr id="394" name="文本框 131"/>
          <p:cNvSpPr txBox="1"/>
          <p:nvPr/>
        </p:nvSpPr>
        <p:spPr>
          <a:xfrm>
            <a:off x="7434305" y="1674894"/>
            <a:ext cx="1629089"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数据表现</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星评、销量等</a:t>
            </a:r>
            <a:endParaRPr lang="zh-CN" altLang="zh-CN" sz="900" dirty="0"/>
          </a:p>
        </p:txBody>
      </p:sp>
      <p:sp>
        <p:nvSpPr>
          <p:cNvPr id="395" name="文本框 136"/>
          <p:cNvSpPr txBox="1"/>
          <p:nvPr/>
        </p:nvSpPr>
        <p:spPr>
          <a:xfrm>
            <a:off x="7396062" y="1102954"/>
            <a:ext cx="1667332"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团购套餐</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餐型、搭配等</a:t>
            </a:r>
            <a:endParaRPr lang="zh-CN" altLang="zh-CN" sz="900" dirty="0"/>
          </a:p>
        </p:txBody>
      </p:sp>
      <p:sp>
        <p:nvSpPr>
          <p:cNvPr id="396" name="文本框 137"/>
          <p:cNvSpPr txBox="1"/>
          <p:nvPr/>
        </p:nvSpPr>
        <p:spPr>
          <a:xfrm>
            <a:off x="7426895" y="1385811"/>
            <a:ext cx="1629088"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交履服务</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预、排、点、付</a:t>
            </a:r>
            <a:endParaRPr lang="zh-CN" altLang="zh-CN" sz="900" dirty="0"/>
          </a:p>
        </p:txBody>
      </p:sp>
      <p:sp>
        <p:nvSpPr>
          <p:cNvPr id="398" name="文本框 130"/>
          <p:cNvSpPr txBox="1"/>
          <p:nvPr/>
        </p:nvSpPr>
        <p:spPr>
          <a:xfrm>
            <a:off x="7396062" y="824365"/>
            <a:ext cx="1680509"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商家内容</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装修、相册视频、优质评论等</a:t>
            </a:r>
            <a:endParaRPr lang="zh-CN" altLang="zh-CN" sz="900" dirty="0"/>
          </a:p>
        </p:txBody>
      </p:sp>
      <p:sp>
        <p:nvSpPr>
          <p:cNvPr id="13" name="文本框 12"/>
          <p:cNvSpPr txBox="1"/>
          <p:nvPr/>
        </p:nvSpPr>
        <p:spPr>
          <a:xfrm>
            <a:off x="2376219" y="2958324"/>
            <a:ext cx="677359" cy="276999"/>
          </a:xfrm>
          <a:prstGeom prst="rect">
            <a:avLst/>
          </a:prstGeom>
          <a:noFill/>
        </p:spPr>
        <p:txBody>
          <a:bodyPr wrap="square">
            <a:spAutoFit/>
          </a:bodyPr>
          <a:lstStyle/>
          <a:p>
            <a:pPr algn="ctr"/>
            <a:r>
              <a:rPr lang="zh-CN" altLang="en-US" sz="1200" b="1" dirty="0">
                <a:solidFill>
                  <a:srgbClr val="FF0000"/>
                </a:solidFill>
                <a:latin typeface="+mn-ea"/>
              </a:rPr>
              <a:t>异地</a:t>
            </a:r>
            <a:endParaRPr lang="zh-CN" altLang="en-US" sz="1200" dirty="0"/>
          </a:p>
        </p:txBody>
      </p:sp>
      <p:sp>
        <p:nvSpPr>
          <p:cNvPr id="14" name="椭圆 13"/>
          <p:cNvSpPr/>
          <p:nvPr/>
        </p:nvSpPr>
        <p:spPr>
          <a:xfrm>
            <a:off x="4630899" y="2343254"/>
            <a:ext cx="1098299" cy="1860862"/>
          </a:xfrm>
          <a:prstGeom prst="ellipse">
            <a:avLst/>
          </a:prstGeom>
          <a:noFill/>
          <a:ln>
            <a:solidFill>
              <a:schemeClr val="accent3">
                <a:lumMod val="7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mn-ea"/>
            </a:endParaRPr>
          </a:p>
        </p:txBody>
      </p:sp>
      <p:sp>
        <p:nvSpPr>
          <p:cNvPr id="16" name="文本框 15"/>
          <p:cNvSpPr txBox="1"/>
          <p:nvPr/>
        </p:nvSpPr>
        <p:spPr>
          <a:xfrm>
            <a:off x="4835830" y="2966469"/>
            <a:ext cx="677359" cy="276999"/>
          </a:xfrm>
          <a:prstGeom prst="rect">
            <a:avLst/>
          </a:prstGeom>
          <a:noFill/>
        </p:spPr>
        <p:txBody>
          <a:bodyPr wrap="square">
            <a:spAutoFit/>
          </a:bodyPr>
          <a:lstStyle/>
          <a:p>
            <a:pPr algn="ctr"/>
            <a:r>
              <a:rPr lang="zh-CN" altLang="en-US" sz="1200" b="1" dirty="0">
                <a:solidFill>
                  <a:srgbClr val="FF0000"/>
                </a:solidFill>
                <a:latin typeface="+mn-ea"/>
              </a:rPr>
              <a:t>亲子</a:t>
            </a:r>
            <a:endParaRPr lang="zh-CN" altLang="en-US" sz="1200" dirty="0"/>
          </a:p>
        </p:txBody>
      </p:sp>
      <p:sp>
        <p:nvSpPr>
          <p:cNvPr id="17" name="椭圆 16"/>
          <p:cNvSpPr/>
          <p:nvPr/>
        </p:nvSpPr>
        <p:spPr>
          <a:xfrm>
            <a:off x="3317046" y="2324793"/>
            <a:ext cx="1255306" cy="1948321"/>
          </a:xfrm>
          <a:prstGeom prst="ellipse">
            <a:avLst/>
          </a:prstGeom>
          <a:noFill/>
          <a:ln>
            <a:solidFill>
              <a:schemeClr val="accent3">
                <a:lumMod val="7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mn-ea"/>
            </a:endParaRPr>
          </a:p>
        </p:txBody>
      </p:sp>
      <p:sp>
        <p:nvSpPr>
          <p:cNvPr id="18" name="文本框 17"/>
          <p:cNvSpPr txBox="1"/>
          <p:nvPr/>
        </p:nvSpPr>
        <p:spPr>
          <a:xfrm>
            <a:off x="3615646" y="2963362"/>
            <a:ext cx="677359" cy="276999"/>
          </a:xfrm>
          <a:prstGeom prst="rect">
            <a:avLst/>
          </a:prstGeom>
          <a:noFill/>
        </p:spPr>
        <p:txBody>
          <a:bodyPr wrap="square">
            <a:spAutoFit/>
          </a:bodyPr>
          <a:lstStyle/>
          <a:p>
            <a:pPr algn="ctr"/>
            <a:r>
              <a:rPr lang="zh-CN" altLang="en-US" sz="1200" b="1" dirty="0">
                <a:solidFill>
                  <a:srgbClr val="FF0000"/>
                </a:solidFill>
                <a:latin typeface="+mn-ea"/>
              </a:rPr>
              <a:t>约聚</a:t>
            </a:r>
            <a:endParaRPr lang="zh-CN" altLang="en-US" sz="1200" dirty="0"/>
          </a:p>
        </p:txBody>
      </p:sp>
      <p:sp>
        <p:nvSpPr>
          <p:cNvPr id="29" name="文本框 28"/>
          <p:cNvSpPr txBox="1"/>
          <p:nvPr/>
        </p:nvSpPr>
        <p:spPr>
          <a:xfrm>
            <a:off x="2251108" y="1250417"/>
            <a:ext cx="2663830" cy="276999"/>
          </a:xfrm>
          <a:prstGeom prst="rect">
            <a:avLst/>
          </a:prstGeom>
          <a:noFill/>
        </p:spPr>
        <p:txBody>
          <a:bodyPr wrap="square">
            <a:spAutoFit/>
          </a:bodyPr>
          <a:lstStyle/>
          <a:p>
            <a:r>
              <a:rPr lang="zh-CN" altLang="en-US" sz="1200" dirty="0">
                <a:latin typeface="楷体" panose="02010609060101010101" pitchFamily="49" charset="-122"/>
                <a:ea typeface="楷体" panose="02010609060101010101" pitchFamily="49" charset="-122"/>
              </a:rPr>
              <a:t>资产标签化、标签显性化（场景分）</a:t>
            </a:r>
          </a:p>
        </p:txBody>
      </p:sp>
      <p:sp>
        <p:nvSpPr>
          <p:cNvPr id="35" name="文本框 34"/>
          <p:cNvSpPr txBox="1"/>
          <p:nvPr/>
        </p:nvSpPr>
        <p:spPr>
          <a:xfrm>
            <a:off x="2400943" y="1718005"/>
            <a:ext cx="2166261" cy="276999"/>
          </a:xfrm>
          <a:prstGeom prst="rect">
            <a:avLst/>
          </a:prstGeom>
          <a:noFill/>
        </p:spPr>
        <p:txBody>
          <a:bodyPr wrap="square">
            <a:spAutoFit/>
          </a:bodyPr>
          <a:lstStyle/>
          <a:p>
            <a:r>
              <a:rPr lang="zh-CN" altLang="en-US" sz="1200" dirty="0">
                <a:latin typeface="楷体" panose="02010609060101010101" pitchFamily="49" charset="-122"/>
                <a:ea typeface="楷体" panose="02010609060101010101" pitchFamily="49" charset="-122"/>
              </a:rPr>
              <a:t>需求对应标签、标签映射资产</a:t>
            </a:r>
          </a:p>
        </p:txBody>
      </p:sp>
      <p:sp>
        <p:nvSpPr>
          <p:cNvPr id="39" name="圆角矩形 24"/>
          <p:cNvSpPr/>
          <p:nvPr/>
        </p:nvSpPr>
        <p:spPr>
          <a:xfrm>
            <a:off x="2542881" y="810052"/>
            <a:ext cx="1844957"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场景榜单</a:t>
            </a:r>
          </a:p>
        </p:txBody>
      </p:sp>
      <p:cxnSp>
        <p:nvCxnSpPr>
          <p:cNvPr id="40" name="直接箭头连接符 39"/>
          <p:cNvCxnSpPr>
            <a:stCxn id="39" idx="1"/>
            <a:endCxn id="335" idx="0"/>
          </p:cNvCxnSpPr>
          <p:nvPr/>
        </p:nvCxnSpPr>
        <p:spPr>
          <a:xfrm flipH="1">
            <a:off x="1097274" y="954633"/>
            <a:ext cx="1445607" cy="516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044390" y="1050924"/>
            <a:ext cx="1174930" cy="230832"/>
          </a:xfrm>
          <a:prstGeom prst="rect">
            <a:avLst/>
          </a:prstGeom>
          <a:noFill/>
        </p:spPr>
        <p:txBody>
          <a:bodyPr wrap="square">
            <a:spAutoFit/>
          </a:bodyPr>
          <a:lstStyle/>
          <a:p>
            <a:pPr algn="ctr"/>
            <a:r>
              <a:rPr lang="zh-CN" altLang="en-US" sz="900" dirty="0">
                <a:latin typeface="楷体" panose="02010609060101010101" pitchFamily="49" charset="-122"/>
                <a:ea typeface="楷体" panose="02010609060101010101" pitchFamily="49" charset="-122"/>
              </a:rPr>
              <a:t>满足场景驱动需求</a:t>
            </a:r>
          </a:p>
        </p:txBody>
      </p:sp>
      <p:cxnSp>
        <p:nvCxnSpPr>
          <p:cNvPr id="44" name="直接箭头连接符 43"/>
          <p:cNvCxnSpPr>
            <a:stCxn id="39" idx="3"/>
            <a:endCxn id="336" idx="0"/>
          </p:cNvCxnSpPr>
          <p:nvPr/>
        </p:nvCxnSpPr>
        <p:spPr>
          <a:xfrm>
            <a:off x="4387838" y="954633"/>
            <a:ext cx="1555675" cy="529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4629517" y="1091749"/>
            <a:ext cx="1428539" cy="230832"/>
          </a:xfrm>
          <a:prstGeom prst="rect">
            <a:avLst/>
          </a:prstGeom>
          <a:noFill/>
        </p:spPr>
        <p:txBody>
          <a:bodyPr wrap="square">
            <a:spAutoFit/>
          </a:bodyPr>
          <a:lstStyle/>
          <a:p>
            <a:pPr algn="ctr"/>
            <a:r>
              <a:rPr lang="zh-CN" altLang="en-US" sz="900" dirty="0">
                <a:latin typeface="楷体" panose="02010609060101010101" pitchFamily="49" charset="-122"/>
                <a:ea typeface="楷体" panose="02010609060101010101" pitchFamily="49" charset="-122"/>
              </a:rPr>
              <a:t>牵引交履、</a:t>
            </a:r>
            <a:r>
              <a:rPr lang="en-US" altLang="zh-CN" sz="900" dirty="0">
                <a:latin typeface="楷体" panose="02010609060101010101" pitchFamily="49" charset="-122"/>
                <a:ea typeface="楷体" panose="02010609060101010101" pitchFamily="49" charset="-122"/>
              </a:rPr>
              <a:t>MEM</a:t>
            </a:r>
            <a:r>
              <a:rPr lang="zh-CN" altLang="en-US" sz="900" dirty="0">
                <a:latin typeface="楷体" panose="02010609060101010101" pitchFamily="49" charset="-122"/>
                <a:ea typeface="楷体" panose="02010609060101010101" pitchFamily="49" charset="-122"/>
              </a:rPr>
              <a:t>、套代等</a:t>
            </a:r>
          </a:p>
        </p:txBody>
      </p:sp>
      <p:sp>
        <p:nvSpPr>
          <p:cNvPr id="324" name="文本框 323"/>
          <p:cNvSpPr txBox="1"/>
          <p:nvPr/>
        </p:nvSpPr>
        <p:spPr>
          <a:xfrm>
            <a:off x="7692320" y="4376660"/>
            <a:ext cx="1113057" cy="276999"/>
          </a:xfrm>
          <a:prstGeom prst="rect">
            <a:avLst/>
          </a:prstGeom>
          <a:noFill/>
        </p:spPr>
        <p:txBody>
          <a:bodyPr wrap="square">
            <a:spAutoFit/>
          </a:bodyPr>
          <a:lstStyle/>
          <a:p>
            <a:pPr algn="ctr"/>
            <a:r>
              <a:rPr lang="zh-CN" altLang="en-US" sz="1200" dirty="0">
                <a:solidFill>
                  <a:schemeClr val="bg1">
                    <a:lumMod val="50000"/>
                  </a:schemeClr>
                </a:solidFill>
                <a:latin typeface="+mn-ea"/>
              </a:rPr>
              <a:t>流程引导提量</a:t>
            </a:r>
          </a:p>
        </p:txBody>
      </p:sp>
      <p:sp>
        <p:nvSpPr>
          <p:cNvPr id="325" name="文本框 324"/>
          <p:cNvSpPr txBox="1"/>
          <p:nvPr/>
        </p:nvSpPr>
        <p:spPr>
          <a:xfrm>
            <a:off x="7692320" y="3589355"/>
            <a:ext cx="1104979" cy="276999"/>
          </a:xfrm>
          <a:prstGeom prst="rect">
            <a:avLst/>
          </a:prstGeom>
          <a:noFill/>
        </p:spPr>
        <p:txBody>
          <a:bodyPr wrap="square">
            <a:spAutoFit/>
          </a:bodyPr>
          <a:lstStyle/>
          <a:p>
            <a:pPr algn="ctr"/>
            <a:r>
              <a:rPr lang="zh-CN" altLang="en-US" sz="1200" dirty="0">
                <a:solidFill>
                  <a:schemeClr val="bg1">
                    <a:lumMod val="50000"/>
                  </a:schemeClr>
                </a:solidFill>
                <a:latin typeface="+mn-ea"/>
              </a:rPr>
              <a:t>定向激励提质</a:t>
            </a:r>
          </a:p>
        </p:txBody>
      </p:sp>
      <p:sp>
        <p:nvSpPr>
          <p:cNvPr id="326" name="文本框 325"/>
          <p:cNvSpPr txBox="1"/>
          <p:nvPr/>
        </p:nvSpPr>
        <p:spPr>
          <a:xfrm>
            <a:off x="7683826" y="2604048"/>
            <a:ext cx="1104979" cy="276999"/>
          </a:xfrm>
          <a:prstGeom prst="rect">
            <a:avLst/>
          </a:prstGeom>
          <a:noFill/>
        </p:spPr>
        <p:txBody>
          <a:bodyPr wrap="square">
            <a:spAutoFit/>
          </a:bodyPr>
          <a:lstStyle/>
          <a:p>
            <a:pPr algn="ctr"/>
            <a:r>
              <a:rPr lang="en-US" altLang="zh-CN" sz="1200" dirty="0">
                <a:solidFill>
                  <a:schemeClr val="bg1">
                    <a:lumMod val="50000"/>
                  </a:schemeClr>
                </a:solidFill>
                <a:latin typeface="+mn-ea"/>
              </a:rPr>
              <a:t>AI</a:t>
            </a:r>
            <a:r>
              <a:rPr lang="zh-CN" altLang="en-US" sz="1200" dirty="0">
                <a:solidFill>
                  <a:schemeClr val="bg1">
                    <a:lumMod val="50000"/>
                  </a:schemeClr>
                </a:solidFill>
                <a:latin typeface="+mn-ea"/>
              </a:rPr>
              <a:t>挖掘提效</a:t>
            </a:r>
          </a:p>
        </p:txBody>
      </p:sp>
      <p:sp>
        <p:nvSpPr>
          <p:cNvPr id="327" name="下箭头 36"/>
          <p:cNvSpPr/>
          <p:nvPr/>
        </p:nvSpPr>
        <p:spPr>
          <a:xfrm rot="10800000">
            <a:off x="7932781" y="4040546"/>
            <a:ext cx="564205" cy="186623"/>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mn-ea"/>
            </a:endParaRPr>
          </a:p>
        </p:txBody>
      </p:sp>
      <p:sp>
        <p:nvSpPr>
          <p:cNvPr id="328" name="下箭头 36"/>
          <p:cNvSpPr/>
          <p:nvPr/>
        </p:nvSpPr>
        <p:spPr>
          <a:xfrm rot="10800000">
            <a:off x="7929434" y="3140244"/>
            <a:ext cx="564205" cy="186623"/>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mn-ea"/>
            </a:endParaRPr>
          </a:p>
        </p:txBody>
      </p:sp>
      <p:sp>
        <p:nvSpPr>
          <p:cNvPr id="346" name="文本框 345"/>
          <p:cNvSpPr txBox="1"/>
          <p:nvPr/>
        </p:nvSpPr>
        <p:spPr>
          <a:xfrm>
            <a:off x="2116489" y="3378453"/>
            <a:ext cx="1209888" cy="507831"/>
          </a:xfrm>
          <a:prstGeom prst="rect">
            <a:avLst/>
          </a:prstGeom>
          <a:noFill/>
        </p:spPr>
        <p:txBody>
          <a:bodyPr wrap="square">
            <a:spAutoFit/>
          </a:bodyPr>
          <a:lstStyle/>
          <a:p>
            <a:pPr algn="ctr"/>
            <a:r>
              <a:rPr lang="zh-CN" altLang="en-US" sz="900" dirty="0">
                <a:solidFill>
                  <a:srgbClr val="A6A6A6"/>
                </a:solidFill>
                <a:latin typeface="楷体" panose="02010609060101010101" pitchFamily="49" charset="-122"/>
                <a:ea typeface="楷体" panose="02010609060101010101" pitchFamily="49" charset="-122"/>
              </a:rPr>
              <a:t>烟火</a:t>
            </a:r>
            <a:r>
              <a:rPr lang="en-US" altLang="zh-CN" sz="900" dirty="0">
                <a:solidFill>
                  <a:srgbClr val="A6A6A6"/>
                </a:solidFill>
                <a:latin typeface="楷体" panose="02010609060101010101" pitchFamily="49" charset="-122"/>
                <a:ea typeface="楷体" panose="02010609060101010101" pitchFamily="49" charset="-122"/>
              </a:rPr>
              <a:t>/</a:t>
            </a:r>
            <a:r>
              <a:rPr lang="zh-CN" altLang="en-US" sz="900" dirty="0">
                <a:solidFill>
                  <a:srgbClr val="A6A6A6"/>
                </a:solidFill>
                <a:latin typeface="楷体" panose="02010609060101010101" pitchFamily="49" charset="-122"/>
                <a:ea typeface="楷体" panose="02010609060101010101" pitchFamily="49" charset="-122"/>
              </a:rPr>
              <a:t>老店，特色菜品套餐、可预订排队、本地人数据好</a:t>
            </a:r>
            <a:endParaRPr lang="zh-CN" altLang="zh-CN" sz="900" dirty="0"/>
          </a:p>
        </p:txBody>
      </p:sp>
      <p:sp>
        <p:nvSpPr>
          <p:cNvPr id="347" name="文本框 346"/>
          <p:cNvSpPr txBox="1"/>
          <p:nvPr/>
        </p:nvSpPr>
        <p:spPr>
          <a:xfrm>
            <a:off x="3359163" y="3330813"/>
            <a:ext cx="1159834" cy="646331"/>
          </a:xfrm>
          <a:prstGeom prst="rect">
            <a:avLst/>
          </a:prstGeom>
          <a:noFill/>
        </p:spPr>
        <p:txBody>
          <a:bodyPr wrap="square">
            <a:spAutoFit/>
          </a:bodyPr>
          <a:lstStyle/>
          <a:p>
            <a:pPr algn="ctr"/>
            <a:r>
              <a:rPr lang="zh-CN" altLang="en-US" sz="900" dirty="0">
                <a:solidFill>
                  <a:srgbClr val="A6A6A6"/>
                </a:solidFill>
                <a:latin typeface="楷体" panose="02010609060101010101" pitchFamily="49" charset="-122"/>
                <a:ea typeface="楷体" panose="02010609060101010101" pitchFamily="49" charset="-122"/>
              </a:rPr>
              <a:t>环境</a:t>
            </a:r>
            <a:r>
              <a:rPr lang="en-US" altLang="zh-CN" sz="900" dirty="0">
                <a:solidFill>
                  <a:srgbClr val="A6A6A6"/>
                </a:solidFill>
                <a:latin typeface="楷体" panose="02010609060101010101" pitchFamily="49" charset="-122"/>
                <a:ea typeface="楷体" panose="02010609060101010101" pitchFamily="49" charset="-122"/>
              </a:rPr>
              <a:t>/</a:t>
            </a:r>
            <a:r>
              <a:rPr lang="zh-CN" altLang="en-US" sz="900" dirty="0">
                <a:solidFill>
                  <a:srgbClr val="A6A6A6"/>
                </a:solidFill>
                <a:latin typeface="楷体" panose="02010609060101010101" pitchFamily="49" charset="-122"/>
                <a:ea typeface="楷体" panose="02010609060101010101" pitchFamily="49" charset="-122"/>
              </a:rPr>
              <a:t>服务好，</a:t>
            </a:r>
            <a:r>
              <a:rPr lang="en-US" altLang="zh-CN" sz="900" dirty="0">
                <a:solidFill>
                  <a:srgbClr val="A6A6A6"/>
                </a:solidFill>
                <a:latin typeface="楷体" panose="02010609060101010101" pitchFamily="49" charset="-122"/>
                <a:ea typeface="楷体" panose="02010609060101010101" pitchFamily="49" charset="-122"/>
              </a:rPr>
              <a:t>246</a:t>
            </a:r>
            <a:r>
              <a:rPr lang="zh-CN" altLang="en-US" sz="900" dirty="0">
                <a:solidFill>
                  <a:srgbClr val="A6A6A6"/>
                </a:solidFill>
                <a:latin typeface="楷体" panose="02010609060101010101" pitchFamily="49" charset="-122"/>
                <a:ea typeface="楷体" panose="02010609060101010101" pitchFamily="49" charset="-122"/>
              </a:rPr>
              <a:t>多人套，有包间及内容，可预订</a:t>
            </a:r>
            <a:r>
              <a:rPr lang="en-US" altLang="zh-CN" sz="900" dirty="0">
                <a:solidFill>
                  <a:srgbClr val="A6A6A6"/>
                </a:solidFill>
                <a:latin typeface="楷体" panose="02010609060101010101" pitchFamily="49" charset="-122"/>
                <a:ea typeface="楷体" panose="02010609060101010101" pitchFamily="49" charset="-122"/>
              </a:rPr>
              <a:t>,</a:t>
            </a:r>
            <a:r>
              <a:rPr lang="zh-CN" altLang="en-US" sz="900" dirty="0">
                <a:solidFill>
                  <a:srgbClr val="A6A6A6"/>
                </a:solidFill>
                <a:latin typeface="楷体" panose="02010609060101010101" pitchFamily="49" charset="-122"/>
                <a:ea typeface="楷体" panose="02010609060101010101" pitchFamily="49" charset="-122"/>
              </a:rPr>
              <a:t>评论提及约聚较多较好</a:t>
            </a:r>
            <a:endParaRPr lang="zh-CN" altLang="zh-CN" sz="900" dirty="0"/>
          </a:p>
        </p:txBody>
      </p:sp>
      <p:sp>
        <p:nvSpPr>
          <p:cNvPr id="349" name="文本框 348"/>
          <p:cNvSpPr txBox="1"/>
          <p:nvPr/>
        </p:nvSpPr>
        <p:spPr>
          <a:xfrm>
            <a:off x="4699831" y="3377634"/>
            <a:ext cx="1109875" cy="646331"/>
          </a:xfrm>
          <a:prstGeom prst="rect">
            <a:avLst/>
          </a:prstGeom>
          <a:noFill/>
        </p:spPr>
        <p:txBody>
          <a:bodyPr wrap="square">
            <a:spAutoFit/>
          </a:bodyPr>
          <a:lstStyle/>
          <a:p>
            <a:pPr algn="ctr"/>
            <a:r>
              <a:rPr lang="zh-CN" altLang="en-US" sz="900" dirty="0">
                <a:solidFill>
                  <a:srgbClr val="A6A6A6"/>
                </a:solidFill>
                <a:latin typeface="楷体" panose="02010609060101010101" pitchFamily="49" charset="-122"/>
                <a:ea typeface="楷体" panose="02010609060101010101" pitchFamily="49" charset="-122"/>
              </a:rPr>
              <a:t>儿童相关环境设置、套餐含宝宝餐或兼顾清淡口味</a:t>
            </a:r>
            <a:r>
              <a:rPr lang="en-US" altLang="zh-CN" sz="900" dirty="0">
                <a:solidFill>
                  <a:srgbClr val="A6A6A6"/>
                </a:solidFill>
                <a:latin typeface="楷体" panose="02010609060101010101" pitchFamily="49" charset="-122"/>
                <a:ea typeface="楷体" panose="02010609060101010101" pitchFamily="49" charset="-122"/>
              </a:rPr>
              <a:t>,</a:t>
            </a:r>
            <a:r>
              <a:rPr lang="zh-CN" altLang="en-US" sz="900" dirty="0">
                <a:solidFill>
                  <a:srgbClr val="A6A6A6"/>
                </a:solidFill>
                <a:latin typeface="楷体" panose="02010609060101010101" pitchFamily="49" charset="-122"/>
                <a:ea typeface="楷体" panose="02010609060101010101" pitchFamily="49" charset="-122"/>
              </a:rPr>
              <a:t>亲子人群数据好</a:t>
            </a:r>
            <a:endParaRPr lang="zh-CN" altLang="zh-CN" sz="900" dirty="0"/>
          </a:p>
        </p:txBody>
      </p:sp>
      <p:sp>
        <p:nvSpPr>
          <p:cNvPr id="353" name="圆角矩形 24"/>
          <p:cNvSpPr/>
          <p:nvPr/>
        </p:nvSpPr>
        <p:spPr>
          <a:xfrm>
            <a:off x="2839838" y="1478144"/>
            <a:ext cx="1251044"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场景标签</a:t>
            </a:r>
          </a:p>
        </p:txBody>
      </p:sp>
      <p:cxnSp>
        <p:nvCxnSpPr>
          <p:cNvPr id="360" name="直接箭头连接符 359"/>
          <p:cNvCxnSpPr>
            <a:stCxn id="335" idx="3"/>
            <a:endCxn id="353" idx="1"/>
          </p:cNvCxnSpPr>
          <p:nvPr/>
        </p:nvCxnSpPr>
        <p:spPr>
          <a:xfrm>
            <a:off x="1346965" y="1609397"/>
            <a:ext cx="1492873" cy="13328"/>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4" name="直接箭头连接符 363"/>
          <p:cNvCxnSpPr>
            <a:stCxn id="353" idx="3"/>
            <a:endCxn id="336" idx="1"/>
          </p:cNvCxnSpPr>
          <p:nvPr/>
        </p:nvCxnSpPr>
        <p:spPr>
          <a:xfrm flipV="1">
            <a:off x="4090882" y="1622664"/>
            <a:ext cx="1517910" cy="6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228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448" y="5360670"/>
            <a:ext cx="1079309" cy="2339340"/>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035" y="5360669"/>
            <a:ext cx="1062169" cy="2302189"/>
          </a:xfrm>
          <a:prstGeom prst="rect">
            <a:avLst/>
          </a:prstGeom>
          <a:noFill/>
          <a:extLst>
            <a:ext uri="{909E8E84-426E-40DD-AFC4-6F175D3DCCD1}">
              <a14:hiddenFill xmlns:a14="http://schemas.microsoft.com/office/drawing/2010/main">
                <a:solidFill>
                  <a:srgbClr val="FFFFFF"/>
                </a:solidFill>
              </a14:hiddenFill>
            </a:ext>
          </a:extLst>
        </p:spPr>
      </p:pic>
      <p:sp>
        <p:nvSpPr>
          <p:cNvPr id="12292" name="箭头: 上 12291"/>
          <p:cNvSpPr/>
          <p:nvPr/>
        </p:nvSpPr>
        <p:spPr>
          <a:xfrm>
            <a:off x="2616345" y="3216387"/>
            <a:ext cx="175260" cy="119579"/>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12293" name="箭头: 上 12292"/>
          <p:cNvSpPr/>
          <p:nvPr/>
        </p:nvSpPr>
        <p:spPr>
          <a:xfrm>
            <a:off x="3869728" y="3211234"/>
            <a:ext cx="175260" cy="119579"/>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sp>
        <p:nvSpPr>
          <p:cNvPr id="12294" name="箭头: 上 12293"/>
          <p:cNvSpPr/>
          <p:nvPr/>
        </p:nvSpPr>
        <p:spPr>
          <a:xfrm>
            <a:off x="5108678" y="3211234"/>
            <a:ext cx="175260" cy="119579"/>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latin typeface="+mn-ea"/>
            </a:endParaRPr>
          </a:p>
        </p:txBody>
      </p:sp>
      <p:cxnSp>
        <p:nvCxnSpPr>
          <p:cNvPr id="12330" name="连接符: 肘形 12329"/>
          <p:cNvCxnSpPr>
            <a:stCxn id="390" idx="3"/>
            <a:endCxn id="350" idx="3"/>
          </p:cNvCxnSpPr>
          <p:nvPr/>
        </p:nvCxnSpPr>
        <p:spPr>
          <a:xfrm flipH="1">
            <a:off x="9015337" y="1305653"/>
            <a:ext cx="8201" cy="2272246"/>
          </a:xfrm>
          <a:prstGeom prst="bentConnector3">
            <a:avLst>
              <a:gd name="adj1" fmla="val -100658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44" name="直接连接符 29"/>
          <p:cNvCxnSpPr/>
          <p:nvPr/>
        </p:nvCxnSpPr>
        <p:spPr>
          <a:xfrm flipV="1">
            <a:off x="6117771" y="508252"/>
            <a:ext cx="1278919" cy="1017901"/>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347" name="直接连接符 29"/>
          <p:cNvCxnSpPr/>
          <p:nvPr/>
        </p:nvCxnSpPr>
        <p:spPr>
          <a:xfrm>
            <a:off x="6144039" y="1649574"/>
            <a:ext cx="1238846" cy="474810"/>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966533" y="1057762"/>
            <a:ext cx="997652" cy="230832"/>
          </a:xfrm>
          <a:prstGeom prst="rect">
            <a:avLst/>
          </a:prstGeom>
          <a:noFill/>
        </p:spPr>
        <p:txBody>
          <a:bodyPr wrap="square">
            <a:spAutoFit/>
          </a:bodyPr>
          <a:lstStyle/>
          <a:p>
            <a:pPr algn="ctr"/>
            <a:r>
              <a:rPr lang="zh-CN" altLang="en-US" sz="900" dirty="0">
                <a:solidFill>
                  <a:schemeClr val="bg1">
                    <a:lumMod val="50000"/>
                  </a:schemeClr>
                </a:solidFill>
              </a:rPr>
              <a:t>简单但直观</a:t>
            </a:r>
            <a:endParaRPr lang="zh-CN" altLang="zh-CN" sz="900" dirty="0">
              <a:solidFill>
                <a:schemeClr val="bg1">
                  <a:lumMod val="50000"/>
                </a:schemeClr>
              </a:solidFill>
            </a:endParaRPr>
          </a:p>
        </p:txBody>
      </p:sp>
      <p:sp>
        <p:nvSpPr>
          <p:cNvPr id="10" name="文本框 9"/>
          <p:cNvSpPr txBox="1"/>
          <p:nvPr/>
        </p:nvSpPr>
        <p:spPr>
          <a:xfrm>
            <a:off x="7728470" y="2053741"/>
            <a:ext cx="997652" cy="230832"/>
          </a:xfrm>
          <a:prstGeom prst="rect">
            <a:avLst/>
          </a:prstGeom>
          <a:noFill/>
        </p:spPr>
        <p:txBody>
          <a:bodyPr wrap="square">
            <a:spAutoFit/>
          </a:bodyPr>
          <a:lstStyle/>
          <a:p>
            <a:pPr algn="ctr"/>
            <a:r>
              <a:rPr lang="zh-CN" altLang="en-US" sz="900" dirty="0">
                <a:solidFill>
                  <a:schemeClr val="bg1">
                    <a:lumMod val="50000"/>
                  </a:schemeClr>
                </a:solidFill>
              </a:rPr>
              <a:t>丰富但复杂</a:t>
            </a:r>
            <a:endParaRPr lang="zh-CN" altLang="zh-CN" sz="900" dirty="0">
              <a:solidFill>
                <a:schemeClr val="bg1">
                  <a:lumMod val="50000"/>
                </a:schemeClr>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a:spLocks noGrp="1"/>
          </p:cNvSpPr>
          <p:nvPr>
            <p:ph type="title"/>
          </p:nvPr>
        </p:nvSpPr>
        <p:spPr>
          <a:xfrm>
            <a:off x="267240" y="116581"/>
            <a:ext cx="7664380" cy="427313"/>
          </a:xfrm>
        </p:spPr>
        <p:txBody>
          <a:bodyPr>
            <a:noAutofit/>
          </a:bodyPr>
          <a:lstStyle/>
          <a:p>
            <a:r>
              <a:rPr lang="zh-CN" altLang="en-US" sz="2100" dirty="0"/>
              <a:t>场景榜单供给示例</a:t>
            </a:r>
            <a:endParaRPr lang="zh-CN" altLang="en-US" sz="2100" dirty="0">
              <a:solidFill>
                <a:schemeClr val="accent3"/>
              </a:solidFill>
            </a:endParaRPr>
          </a:p>
        </p:txBody>
      </p:sp>
      <p:pic>
        <p:nvPicPr>
          <p:cNvPr id="1228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2999" y="5360669"/>
            <a:ext cx="1407286" cy="3050211"/>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035" y="5360669"/>
            <a:ext cx="1062169" cy="2302189"/>
          </a:xfrm>
          <a:prstGeom prst="rect">
            <a:avLst/>
          </a:prstGeom>
          <a:noFill/>
          <a:extLst>
            <a:ext uri="{909E8E84-426E-40DD-AFC4-6F175D3DCCD1}">
              <a14:hiddenFill xmlns:a14="http://schemas.microsoft.com/office/drawing/2010/main">
                <a:solidFill>
                  <a:srgbClr val="FFFFFF"/>
                </a:solidFill>
              </a14:hiddenFill>
            </a:ext>
          </a:extLst>
        </p:spPr>
      </p:pic>
      <p:sp>
        <p:nvSpPr>
          <p:cNvPr id="2" name="圆角矩形 24"/>
          <p:cNvSpPr/>
          <p:nvPr/>
        </p:nvSpPr>
        <p:spPr>
          <a:xfrm>
            <a:off x="407788" y="1549914"/>
            <a:ext cx="1020962"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约会榜</a:t>
            </a:r>
          </a:p>
        </p:txBody>
      </p:sp>
      <p:sp>
        <p:nvSpPr>
          <p:cNvPr id="3" name="圆角矩形 24"/>
          <p:cNvSpPr/>
          <p:nvPr/>
        </p:nvSpPr>
        <p:spPr>
          <a:xfrm>
            <a:off x="407788" y="3704925"/>
            <a:ext cx="1020962"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亲子餐厅榜</a:t>
            </a:r>
          </a:p>
        </p:txBody>
      </p:sp>
      <p:sp>
        <p:nvSpPr>
          <p:cNvPr id="20" name="圆角矩形 24"/>
          <p:cNvSpPr/>
          <p:nvPr/>
        </p:nvSpPr>
        <p:spPr>
          <a:xfrm>
            <a:off x="1597911" y="1259637"/>
            <a:ext cx="1179712"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场景分（约会）</a:t>
            </a:r>
          </a:p>
        </p:txBody>
      </p:sp>
      <p:cxnSp>
        <p:nvCxnSpPr>
          <p:cNvPr id="21" name="直接箭头连接符 20"/>
          <p:cNvCxnSpPr>
            <a:stCxn id="20" idx="1"/>
            <a:endCxn id="2" idx="3"/>
          </p:cNvCxnSpPr>
          <p:nvPr/>
        </p:nvCxnSpPr>
        <p:spPr>
          <a:xfrm flipH="1">
            <a:off x="1428750" y="1404218"/>
            <a:ext cx="169161" cy="290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cxnSpLocks/>
            <a:stCxn id="62" idx="1"/>
            <a:endCxn id="20" idx="3"/>
          </p:cNvCxnSpPr>
          <p:nvPr/>
        </p:nvCxnSpPr>
        <p:spPr>
          <a:xfrm flipH="1" flipV="1">
            <a:off x="2777623" y="1404218"/>
            <a:ext cx="275026" cy="3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圆角矩形 24"/>
          <p:cNvSpPr/>
          <p:nvPr/>
        </p:nvSpPr>
        <p:spPr>
          <a:xfrm>
            <a:off x="1597911" y="1776963"/>
            <a:ext cx="1179712" cy="28916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sz="1200" b="1" dirty="0">
                <a:solidFill>
                  <a:schemeClr val="tx1"/>
                </a:solidFill>
                <a:latin typeface="+mn-ea"/>
              </a:rPr>
              <a:t>指数分</a:t>
            </a:r>
          </a:p>
        </p:txBody>
      </p:sp>
      <p:cxnSp>
        <p:nvCxnSpPr>
          <p:cNvPr id="33" name="直接箭头连接符 32"/>
          <p:cNvCxnSpPr>
            <a:stCxn id="31" idx="1"/>
            <a:endCxn id="2" idx="3"/>
          </p:cNvCxnSpPr>
          <p:nvPr/>
        </p:nvCxnSpPr>
        <p:spPr>
          <a:xfrm flipH="1" flipV="1">
            <a:off x="1428750" y="1694495"/>
            <a:ext cx="169161" cy="22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1787035" y="1072284"/>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场景相关性</a:t>
            </a:r>
          </a:p>
        </p:txBody>
      </p:sp>
      <p:sp>
        <p:nvSpPr>
          <p:cNvPr id="50" name="文本框 49"/>
          <p:cNvSpPr txBox="1"/>
          <p:nvPr/>
        </p:nvSpPr>
        <p:spPr>
          <a:xfrm>
            <a:off x="1787035" y="1592066"/>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热度</a:t>
            </a:r>
          </a:p>
        </p:txBody>
      </p:sp>
      <p:sp>
        <p:nvSpPr>
          <p:cNvPr id="54" name="圆角矩形 24"/>
          <p:cNvSpPr/>
          <p:nvPr/>
        </p:nvSpPr>
        <p:spPr>
          <a:xfrm>
            <a:off x="3234241" y="748344"/>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mn-ea"/>
              </a:rPr>
              <a:t>2</a:t>
            </a:r>
            <a:r>
              <a:rPr lang="zh-CN" altLang="en-US" sz="900" b="1" dirty="0">
                <a:solidFill>
                  <a:schemeClr val="tx1"/>
                </a:solidFill>
                <a:latin typeface="+mn-ea"/>
              </a:rPr>
              <a:t>人套餐</a:t>
            </a:r>
          </a:p>
        </p:txBody>
      </p:sp>
      <p:sp>
        <p:nvSpPr>
          <p:cNvPr id="57" name="圆角矩形 24"/>
          <p:cNvSpPr/>
          <p:nvPr/>
        </p:nvSpPr>
        <p:spPr>
          <a:xfrm>
            <a:off x="4411104" y="746475"/>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预排服务</a:t>
            </a:r>
          </a:p>
        </p:txBody>
      </p:sp>
      <p:sp>
        <p:nvSpPr>
          <p:cNvPr id="59" name="圆角矩形 24"/>
          <p:cNvSpPr/>
          <p:nvPr/>
        </p:nvSpPr>
        <p:spPr>
          <a:xfrm>
            <a:off x="3226337" y="1415825"/>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有布置服务</a:t>
            </a:r>
          </a:p>
        </p:txBody>
      </p:sp>
      <p:sp>
        <p:nvSpPr>
          <p:cNvPr id="61" name="圆角矩形 24"/>
          <p:cNvSpPr/>
          <p:nvPr/>
        </p:nvSpPr>
        <p:spPr>
          <a:xfrm>
            <a:off x="3234240" y="1753957"/>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mn-ea"/>
              </a:rPr>
              <a:t>UGC/PGC</a:t>
            </a:r>
            <a:r>
              <a:rPr lang="zh-CN" altLang="en-US" sz="900" b="1" dirty="0">
                <a:solidFill>
                  <a:schemeClr val="tx1"/>
                </a:solidFill>
                <a:latin typeface="+mn-ea"/>
              </a:rPr>
              <a:t>好评挖掘</a:t>
            </a:r>
          </a:p>
        </p:txBody>
      </p:sp>
      <p:sp>
        <p:nvSpPr>
          <p:cNvPr id="62" name="矩形 61"/>
          <p:cNvSpPr/>
          <p:nvPr/>
        </p:nvSpPr>
        <p:spPr>
          <a:xfrm>
            <a:off x="3052649" y="695986"/>
            <a:ext cx="2594402" cy="1423608"/>
          </a:xfrm>
          <a:prstGeom prst="rect">
            <a:avLst/>
          </a:prstGeom>
          <a:noFill/>
          <a:ln w="31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96" name="圆角矩形 24"/>
          <p:cNvSpPr/>
          <p:nvPr/>
        </p:nvSpPr>
        <p:spPr>
          <a:xfrm>
            <a:off x="3234240" y="1085513"/>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有卡座</a:t>
            </a:r>
            <a:r>
              <a:rPr lang="en-US" altLang="zh-CN" sz="900" b="1" dirty="0">
                <a:solidFill>
                  <a:schemeClr val="tx1"/>
                </a:solidFill>
                <a:latin typeface="+mn-ea"/>
              </a:rPr>
              <a:t>/</a:t>
            </a:r>
            <a:r>
              <a:rPr lang="zh-CN" altLang="en-US" sz="900" b="1" dirty="0">
                <a:solidFill>
                  <a:schemeClr val="tx1"/>
                </a:solidFill>
                <a:latin typeface="+mn-ea"/>
              </a:rPr>
              <a:t>包间</a:t>
            </a:r>
          </a:p>
        </p:txBody>
      </p:sp>
      <p:sp>
        <p:nvSpPr>
          <p:cNvPr id="12299" name="圆角矩形 24"/>
          <p:cNvSpPr/>
          <p:nvPr/>
        </p:nvSpPr>
        <p:spPr>
          <a:xfrm>
            <a:off x="4403708" y="1085513"/>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有露天</a:t>
            </a:r>
            <a:r>
              <a:rPr lang="en-US" altLang="zh-CN" sz="900" b="1" dirty="0">
                <a:solidFill>
                  <a:schemeClr val="tx1"/>
                </a:solidFill>
                <a:latin typeface="+mn-ea"/>
              </a:rPr>
              <a:t>/</a:t>
            </a:r>
            <a:r>
              <a:rPr lang="zh-CN" altLang="en-US" sz="900" b="1" dirty="0">
                <a:solidFill>
                  <a:schemeClr val="tx1"/>
                </a:solidFill>
                <a:latin typeface="+mn-ea"/>
              </a:rPr>
              <a:t>景观位</a:t>
            </a:r>
          </a:p>
        </p:txBody>
      </p:sp>
      <p:sp>
        <p:nvSpPr>
          <p:cNvPr id="12300" name="圆角矩形 24"/>
          <p:cNvSpPr/>
          <p:nvPr/>
        </p:nvSpPr>
        <p:spPr>
          <a:xfrm>
            <a:off x="4398988" y="1415825"/>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浪漫主题（音乐等）</a:t>
            </a:r>
          </a:p>
        </p:txBody>
      </p:sp>
      <p:sp>
        <p:nvSpPr>
          <p:cNvPr id="12303" name="圆角矩形 24"/>
          <p:cNvSpPr/>
          <p:nvPr/>
        </p:nvSpPr>
        <p:spPr>
          <a:xfrm>
            <a:off x="4395455" y="1753957"/>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mn-ea"/>
              </a:rPr>
              <a:t>BGC/BDGC</a:t>
            </a:r>
            <a:r>
              <a:rPr lang="zh-CN" altLang="en-US" sz="900" b="1" dirty="0">
                <a:solidFill>
                  <a:schemeClr val="tx1"/>
                </a:solidFill>
                <a:latin typeface="+mn-ea"/>
              </a:rPr>
              <a:t>提报候选</a:t>
            </a:r>
          </a:p>
        </p:txBody>
      </p:sp>
      <p:pic>
        <p:nvPicPr>
          <p:cNvPr id="12305" name="图片 12304"/>
          <p:cNvPicPr>
            <a:picLocks noChangeAspect="1"/>
          </p:cNvPicPr>
          <p:nvPr/>
        </p:nvPicPr>
        <p:blipFill>
          <a:blip r:embed="rId5"/>
          <a:stretch>
            <a:fillRect/>
          </a:stretch>
        </p:blipFill>
        <p:spPr>
          <a:xfrm>
            <a:off x="5768117" y="509119"/>
            <a:ext cx="917681" cy="1785801"/>
          </a:xfrm>
          <a:prstGeom prst="rect">
            <a:avLst/>
          </a:prstGeom>
        </p:spPr>
      </p:pic>
      <p:pic>
        <p:nvPicPr>
          <p:cNvPr id="12310" name="图片 12309"/>
          <p:cNvPicPr>
            <a:picLocks noChangeAspect="1"/>
          </p:cNvPicPr>
          <p:nvPr/>
        </p:nvPicPr>
        <p:blipFill>
          <a:blip r:embed="rId6"/>
          <a:stretch>
            <a:fillRect/>
          </a:stretch>
        </p:blipFill>
        <p:spPr>
          <a:xfrm>
            <a:off x="6700797" y="483377"/>
            <a:ext cx="1179928" cy="1033201"/>
          </a:xfrm>
          <a:prstGeom prst="rect">
            <a:avLst/>
          </a:prstGeom>
        </p:spPr>
      </p:pic>
      <p:sp>
        <p:nvSpPr>
          <p:cNvPr id="12317" name="文本框 12316"/>
          <p:cNvSpPr txBox="1"/>
          <p:nvPr/>
        </p:nvSpPr>
        <p:spPr>
          <a:xfrm>
            <a:off x="5848858" y="2275391"/>
            <a:ext cx="756197" cy="215444"/>
          </a:xfrm>
          <a:prstGeom prst="rect">
            <a:avLst/>
          </a:prstGeom>
          <a:noFill/>
        </p:spPr>
        <p:txBody>
          <a:bodyPr wrap="square">
            <a:spAutoFit/>
          </a:bodyPr>
          <a:lstStyle/>
          <a:p>
            <a:pPr algn="ctr"/>
            <a:r>
              <a:rPr lang="en-US" altLang="zh-CN" sz="800" dirty="0">
                <a:solidFill>
                  <a:schemeClr val="bg1">
                    <a:lumMod val="50000"/>
                  </a:schemeClr>
                </a:solidFill>
                <a:latin typeface="+mn-ea"/>
                <a:sym typeface="MiSans Bold" panose="00000800000000000000" pitchFamily="2" charset="-122"/>
              </a:rPr>
              <a:t>PGC</a:t>
            </a:r>
            <a:endParaRPr lang="zh-CN" altLang="en-US" sz="800" dirty="0">
              <a:solidFill>
                <a:schemeClr val="bg1">
                  <a:lumMod val="50000"/>
                </a:schemeClr>
              </a:solidFill>
              <a:latin typeface="+mn-ea"/>
              <a:sym typeface="MiSans Bold" panose="00000800000000000000" pitchFamily="2" charset="-122"/>
            </a:endParaRPr>
          </a:p>
        </p:txBody>
      </p:sp>
      <p:sp>
        <p:nvSpPr>
          <p:cNvPr id="12318" name="文本框 12317"/>
          <p:cNvSpPr txBox="1"/>
          <p:nvPr/>
        </p:nvSpPr>
        <p:spPr>
          <a:xfrm>
            <a:off x="7030094" y="2275391"/>
            <a:ext cx="756197" cy="215444"/>
          </a:xfrm>
          <a:prstGeom prst="rect">
            <a:avLst/>
          </a:prstGeom>
          <a:noFill/>
        </p:spPr>
        <p:txBody>
          <a:bodyPr wrap="square">
            <a:spAutoFit/>
          </a:bodyPr>
          <a:lstStyle/>
          <a:p>
            <a:pPr algn="ctr"/>
            <a:r>
              <a:rPr lang="en-US" altLang="zh-CN" sz="800" dirty="0">
                <a:solidFill>
                  <a:schemeClr val="bg1">
                    <a:lumMod val="50000"/>
                  </a:schemeClr>
                </a:solidFill>
                <a:latin typeface="+mn-ea"/>
                <a:sym typeface="MiSans Bold" panose="00000800000000000000" pitchFamily="2" charset="-122"/>
              </a:rPr>
              <a:t>UGC</a:t>
            </a:r>
            <a:endParaRPr lang="zh-CN" altLang="en-US" sz="800" dirty="0">
              <a:solidFill>
                <a:schemeClr val="bg1">
                  <a:lumMod val="50000"/>
                </a:schemeClr>
              </a:solidFill>
              <a:latin typeface="+mn-ea"/>
              <a:sym typeface="MiSans Bold" panose="00000800000000000000" pitchFamily="2" charset="-122"/>
            </a:endParaRPr>
          </a:p>
        </p:txBody>
      </p:sp>
      <p:sp>
        <p:nvSpPr>
          <p:cNvPr id="12319" name="文本框 12318"/>
          <p:cNvSpPr txBox="1"/>
          <p:nvPr/>
        </p:nvSpPr>
        <p:spPr>
          <a:xfrm>
            <a:off x="8149543" y="2275391"/>
            <a:ext cx="756197" cy="215444"/>
          </a:xfrm>
          <a:prstGeom prst="rect">
            <a:avLst/>
          </a:prstGeom>
          <a:noFill/>
        </p:spPr>
        <p:txBody>
          <a:bodyPr wrap="square">
            <a:spAutoFit/>
          </a:bodyPr>
          <a:lstStyle/>
          <a:p>
            <a:pPr algn="ctr"/>
            <a:r>
              <a:rPr lang="en-US" altLang="zh-CN" sz="800" dirty="0">
                <a:solidFill>
                  <a:schemeClr val="bg1">
                    <a:lumMod val="50000"/>
                  </a:schemeClr>
                </a:solidFill>
                <a:latin typeface="+mn-ea"/>
                <a:sym typeface="MiSans Bold" panose="00000800000000000000" pitchFamily="2" charset="-122"/>
              </a:rPr>
              <a:t>BGC</a:t>
            </a:r>
            <a:endParaRPr lang="zh-CN" altLang="en-US" sz="800" dirty="0">
              <a:solidFill>
                <a:schemeClr val="bg1">
                  <a:lumMod val="50000"/>
                </a:schemeClr>
              </a:solidFill>
              <a:latin typeface="+mn-ea"/>
              <a:sym typeface="MiSans Bold" panose="00000800000000000000" pitchFamily="2" charset="-122"/>
            </a:endParaRPr>
          </a:p>
        </p:txBody>
      </p:sp>
      <p:pic>
        <p:nvPicPr>
          <p:cNvPr id="12308" name="图片 12307"/>
          <p:cNvPicPr>
            <a:picLocks noChangeAspect="1"/>
          </p:cNvPicPr>
          <p:nvPr/>
        </p:nvPicPr>
        <p:blipFill>
          <a:blip r:embed="rId7"/>
          <a:stretch>
            <a:fillRect/>
          </a:stretch>
        </p:blipFill>
        <p:spPr>
          <a:xfrm>
            <a:off x="6942929" y="1046236"/>
            <a:ext cx="930526" cy="1158409"/>
          </a:xfrm>
          <a:prstGeom prst="rect">
            <a:avLst/>
          </a:prstGeom>
        </p:spPr>
      </p:pic>
      <p:sp>
        <p:nvSpPr>
          <p:cNvPr id="12320" name="圆角矩形 24"/>
          <p:cNvSpPr/>
          <p:nvPr/>
        </p:nvSpPr>
        <p:spPr>
          <a:xfrm>
            <a:off x="1656458" y="3400126"/>
            <a:ext cx="1179712" cy="2891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场景分（亲子）</a:t>
            </a:r>
          </a:p>
        </p:txBody>
      </p:sp>
      <p:cxnSp>
        <p:nvCxnSpPr>
          <p:cNvPr id="12321" name="直接箭头连接符 12320"/>
          <p:cNvCxnSpPr>
            <a:stCxn id="12320" idx="1"/>
          </p:cNvCxnSpPr>
          <p:nvPr/>
        </p:nvCxnSpPr>
        <p:spPr>
          <a:xfrm flipH="1">
            <a:off x="1487297" y="3544707"/>
            <a:ext cx="169161" cy="290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22" name="圆角矩形 24"/>
          <p:cNvSpPr/>
          <p:nvPr/>
        </p:nvSpPr>
        <p:spPr>
          <a:xfrm>
            <a:off x="3241916" y="2908507"/>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环境干净卫生无烟</a:t>
            </a:r>
          </a:p>
        </p:txBody>
      </p:sp>
      <p:cxnSp>
        <p:nvCxnSpPr>
          <p:cNvPr id="12323" name="直接箭头连接符 12322"/>
          <p:cNvCxnSpPr>
            <a:stCxn id="12333" idx="1"/>
            <a:endCxn id="12320" idx="3"/>
          </p:cNvCxnSpPr>
          <p:nvPr/>
        </p:nvCxnSpPr>
        <p:spPr>
          <a:xfrm flipH="1">
            <a:off x="2836170" y="3543019"/>
            <a:ext cx="220241" cy="1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24" name="圆角矩形 24"/>
          <p:cNvSpPr/>
          <p:nvPr/>
        </p:nvSpPr>
        <p:spPr>
          <a:xfrm>
            <a:off x="1656458" y="3917452"/>
            <a:ext cx="1179712" cy="28916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sz="1200" b="1" dirty="0">
                <a:solidFill>
                  <a:schemeClr val="tx1"/>
                </a:solidFill>
                <a:latin typeface="+mn-ea"/>
              </a:rPr>
              <a:t>指数分</a:t>
            </a:r>
          </a:p>
        </p:txBody>
      </p:sp>
      <p:cxnSp>
        <p:nvCxnSpPr>
          <p:cNvPr id="12325" name="直接箭头连接符 12324"/>
          <p:cNvCxnSpPr>
            <a:stCxn id="12324" idx="1"/>
          </p:cNvCxnSpPr>
          <p:nvPr/>
        </p:nvCxnSpPr>
        <p:spPr>
          <a:xfrm flipH="1" flipV="1">
            <a:off x="1487297" y="3834984"/>
            <a:ext cx="169161" cy="22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26" name="文本框 12325"/>
          <p:cNvSpPr txBox="1"/>
          <p:nvPr/>
        </p:nvSpPr>
        <p:spPr>
          <a:xfrm>
            <a:off x="1845582" y="3212773"/>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场景相关性</a:t>
            </a:r>
          </a:p>
        </p:txBody>
      </p:sp>
      <p:sp>
        <p:nvSpPr>
          <p:cNvPr id="12327" name="文本框 12326"/>
          <p:cNvSpPr txBox="1"/>
          <p:nvPr/>
        </p:nvSpPr>
        <p:spPr>
          <a:xfrm>
            <a:off x="1845582" y="3732555"/>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热度</a:t>
            </a:r>
          </a:p>
        </p:txBody>
      </p:sp>
      <p:sp>
        <p:nvSpPr>
          <p:cNvPr id="12328" name="圆角矩形 24"/>
          <p:cNvSpPr/>
          <p:nvPr/>
        </p:nvSpPr>
        <p:spPr>
          <a:xfrm>
            <a:off x="3241915" y="3234961"/>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儿童餐</a:t>
            </a:r>
            <a:r>
              <a:rPr lang="en-US" altLang="zh-CN" sz="900" b="1" dirty="0">
                <a:solidFill>
                  <a:schemeClr val="tx1"/>
                </a:solidFill>
                <a:latin typeface="+mn-ea"/>
              </a:rPr>
              <a:t>/</a:t>
            </a:r>
            <a:r>
              <a:rPr lang="zh-CN" altLang="en-US" sz="900" b="1" dirty="0">
                <a:solidFill>
                  <a:schemeClr val="tx1"/>
                </a:solidFill>
                <a:latin typeface="+mn-ea"/>
              </a:rPr>
              <a:t>亲子套餐</a:t>
            </a:r>
          </a:p>
        </p:txBody>
      </p:sp>
      <p:sp>
        <p:nvSpPr>
          <p:cNvPr id="12329" name="圆角矩形 24"/>
          <p:cNvSpPr/>
          <p:nvPr/>
        </p:nvSpPr>
        <p:spPr>
          <a:xfrm>
            <a:off x="4418778" y="3233092"/>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预排服务</a:t>
            </a:r>
          </a:p>
        </p:txBody>
      </p:sp>
      <p:sp>
        <p:nvSpPr>
          <p:cNvPr id="12332" name="圆角矩形 24"/>
          <p:cNvSpPr/>
          <p:nvPr/>
        </p:nvSpPr>
        <p:spPr>
          <a:xfrm>
            <a:off x="3257563" y="3893024"/>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mn-ea"/>
              </a:rPr>
              <a:t>UGC/PGC</a:t>
            </a:r>
            <a:r>
              <a:rPr lang="zh-CN" altLang="en-US" sz="900" b="1" dirty="0">
                <a:solidFill>
                  <a:schemeClr val="tx1"/>
                </a:solidFill>
                <a:latin typeface="+mn-ea"/>
              </a:rPr>
              <a:t>好评挖掘</a:t>
            </a:r>
          </a:p>
        </p:txBody>
      </p:sp>
      <p:sp>
        <p:nvSpPr>
          <p:cNvPr id="12333" name="矩形 12332"/>
          <p:cNvSpPr/>
          <p:nvPr/>
        </p:nvSpPr>
        <p:spPr>
          <a:xfrm>
            <a:off x="3056411" y="2852407"/>
            <a:ext cx="2594402" cy="1381223"/>
          </a:xfrm>
          <a:prstGeom prst="rect">
            <a:avLst/>
          </a:prstGeom>
          <a:noFill/>
          <a:ln w="31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34" name="圆角矩形 24"/>
          <p:cNvSpPr/>
          <p:nvPr/>
        </p:nvSpPr>
        <p:spPr>
          <a:xfrm>
            <a:off x="3241914" y="3572130"/>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儿童设施（洗手台、游乐区、玩具等）</a:t>
            </a:r>
          </a:p>
        </p:txBody>
      </p:sp>
      <p:sp>
        <p:nvSpPr>
          <p:cNvPr id="12335" name="圆角矩形 24"/>
          <p:cNvSpPr/>
          <p:nvPr/>
        </p:nvSpPr>
        <p:spPr>
          <a:xfrm>
            <a:off x="4411382" y="2908507"/>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FF0000"/>
                </a:solidFill>
                <a:latin typeface="+mn-ea"/>
              </a:rPr>
              <a:t>有儿童服务（</a:t>
            </a:r>
            <a:r>
              <a:rPr lang="en-US" altLang="zh-CN" sz="900" b="1" dirty="0">
                <a:solidFill>
                  <a:srgbClr val="FF0000"/>
                </a:solidFill>
                <a:latin typeface="+mn-ea"/>
              </a:rPr>
              <a:t>xx</a:t>
            </a:r>
            <a:r>
              <a:rPr lang="zh-CN" altLang="en-US" sz="900" b="1" dirty="0">
                <a:solidFill>
                  <a:srgbClr val="FF0000"/>
                </a:solidFill>
                <a:latin typeface="+mn-ea"/>
              </a:rPr>
              <a:t>）</a:t>
            </a:r>
          </a:p>
        </p:txBody>
      </p:sp>
      <p:sp>
        <p:nvSpPr>
          <p:cNvPr id="12336" name="圆角矩形 24"/>
          <p:cNvSpPr/>
          <p:nvPr/>
        </p:nvSpPr>
        <p:spPr>
          <a:xfrm>
            <a:off x="4411382" y="3572130"/>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明厨亮灶</a:t>
            </a:r>
            <a:r>
              <a:rPr lang="en-US" altLang="zh-CN" sz="900" b="1" dirty="0">
                <a:solidFill>
                  <a:schemeClr val="tx1"/>
                </a:solidFill>
                <a:latin typeface="+mn-ea"/>
              </a:rPr>
              <a:t>/</a:t>
            </a:r>
            <a:r>
              <a:rPr lang="zh-CN" altLang="en-US" sz="900" b="1" dirty="0">
                <a:solidFill>
                  <a:schemeClr val="tx1"/>
                </a:solidFill>
                <a:latin typeface="+mn-ea"/>
              </a:rPr>
              <a:t>现炒</a:t>
            </a:r>
          </a:p>
        </p:txBody>
      </p:sp>
      <p:sp>
        <p:nvSpPr>
          <p:cNvPr id="12338" name="圆角矩形 24"/>
          <p:cNvSpPr/>
          <p:nvPr/>
        </p:nvSpPr>
        <p:spPr>
          <a:xfrm>
            <a:off x="4418778" y="3893024"/>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mn-ea"/>
              </a:rPr>
              <a:t>BGC/BDGC</a:t>
            </a:r>
            <a:r>
              <a:rPr lang="zh-CN" altLang="en-US" sz="900" b="1" dirty="0">
                <a:solidFill>
                  <a:schemeClr val="tx1"/>
                </a:solidFill>
                <a:latin typeface="+mn-ea"/>
              </a:rPr>
              <a:t>提报候选</a:t>
            </a:r>
          </a:p>
        </p:txBody>
      </p:sp>
      <p:sp>
        <p:nvSpPr>
          <p:cNvPr id="12348" name="文本框 12347"/>
          <p:cNvSpPr txBox="1"/>
          <p:nvPr/>
        </p:nvSpPr>
        <p:spPr>
          <a:xfrm>
            <a:off x="4017356" y="514057"/>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加分项</a:t>
            </a:r>
          </a:p>
        </p:txBody>
      </p:sp>
      <p:sp>
        <p:nvSpPr>
          <p:cNvPr id="12349" name="文本框 12348"/>
          <p:cNvSpPr txBox="1"/>
          <p:nvPr/>
        </p:nvSpPr>
        <p:spPr>
          <a:xfrm>
            <a:off x="3974631" y="2663505"/>
            <a:ext cx="756197" cy="215444"/>
          </a:xfrm>
          <a:prstGeom prst="rect">
            <a:avLst/>
          </a:prstGeom>
          <a:noFill/>
        </p:spPr>
        <p:txBody>
          <a:bodyPr wrap="square">
            <a:spAutoFit/>
          </a:bodyPr>
          <a:lstStyle/>
          <a:p>
            <a:pPr algn="ctr"/>
            <a:r>
              <a:rPr lang="zh-CN" altLang="en-US" sz="800" dirty="0">
                <a:solidFill>
                  <a:schemeClr val="bg1">
                    <a:lumMod val="50000"/>
                  </a:schemeClr>
                </a:solidFill>
                <a:latin typeface="+mn-ea"/>
                <a:sym typeface="MiSans Bold" panose="00000800000000000000" pitchFamily="2" charset="-122"/>
              </a:rPr>
              <a:t>加分项</a:t>
            </a:r>
          </a:p>
        </p:txBody>
      </p:sp>
      <p:pic>
        <p:nvPicPr>
          <p:cNvPr id="12312" name="图片 12311"/>
          <p:cNvPicPr>
            <a:picLocks noChangeAspect="1"/>
          </p:cNvPicPr>
          <p:nvPr/>
        </p:nvPicPr>
        <p:blipFill>
          <a:blip r:embed="rId8"/>
          <a:stretch>
            <a:fillRect/>
          </a:stretch>
        </p:blipFill>
        <p:spPr>
          <a:xfrm>
            <a:off x="7873455" y="490737"/>
            <a:ext cx="1210403" cy="796991"/>
          </a:xfrm>
          <a:prstGeom prst="rect">
            <a:avLst/>
          </a:prstGeom>
        </p:spPr>
      </p:pic>
      <p:pic>
        <p:nvPicPr>
          <p:cNvPr id="9" name="图片 8"/>
          <p:cNvPicPr>
            <a:picLocks noChangeAspect="1"/>
          </p:cNvPicPr>
          <p:nvPr/>
        </p:nvPicPr>
        <p:blipFill>
          <a:blip r:embed="rId9"/>
          <a:stretch>
            <a:fillRect/>
          </a:stretch>
        </p:blipFill>
        <p:spPr>
          <a:xfrm>
            <a:off x="6955773" y="1072284"/>
            <a:ext cx="917682" cy="1286554"/>
          </a:xfrm>
          <a:prstGeom prst="rect">
            <a:avLst/>
          </a:prstGeom>
        </p:spPr>
      </p:pic>
      <p:pic>
        <p:nvPicPr>
          <p:cNvPr id="24" name="图片 23"/>
          <p:cNvPicPr>
            <a:picLocks noChangeAspect="1"/>
          </p:cNvPicPr>
          <p:nvPr/>
        </p:nvPicPr>
        <p:blipFill>
          <a:blip r:embed="rId10"/>
          <a:stretch>
            <a:fillRect/>
          </a:stretch>
        </p:blipFill>
        <p:spPr>
          <a:xfrm>
            <a:off x="8091018" y="2794163"/>
            <a:ext cx="995451" cy="1773669"/>
          </a:xfrm>
          <a:prstGeom prst="rect">
            <a:avLst/>
          </a:prstGeom>
        </p:spPr>
      </p:pic>
      <p:sp>
        <p:nvSpPr>
          <p:cNvPr id="25" name="文本框 24"/>
          <p:cNvSpPr txBox="1"/>
          <p:nvPr/>
        </p:nvSpPr>
        <p:spPr>
          <a:xfrm>
            <a:off x="8257459" y="4603208"/>
            <a:ext cx="756197" cy="215444"/>
          </a:xfrm>
          <a:prstGeom prst="rect">
            <a:avLst/>
          </a:prstGeom>
          <a:noFill/>
        </p:spPr>
        <p:txBody>
          <a:bodyPr wrap="square">
            <a:spAutoFit/>
          </a:bodyPr>
          <a:lstStyle/>
          <a:p>
            <a:pPr algn="ctr"/>
            <a:r>
              <a:rPr lang="en-US" altLang="zh-CN" sz="800" dirty="0">
                <a:solidFill>
                  <a:schemeClr val="bg1">
                    <a:lumMod val="50000"/>
                  </a:schemeClr>
                </a:solidFill>
                <a:latin typeface="+mn-ea"/>
                <a:sym typeface="MiSans Bold" panose="00000800000000000000" pitchFamily="2" charset="-122"/>
              </a:rPr>
              <a:t>BGC</a:t>
            </a:r>
            <a:endParaRPr lang="zh-CN" altLang="en-US" sz="800" dirty="0">
              <a:solidFill>
                <a:schemeClr val="bg1">
                  <a:lumMod val="50000"/>
                </a:schemeClr>
              </a:solidFill>
              <a:latin typeface="+mn-ea"/>
              <a:sym typeface="MiSans Bold" panose="00000800000000000000" pitchFamily="2" charset="-122"/>
            </a:endParaRPr>
          </a:p>
        </p:txBody>
      </p:sp>
      <p:pic>
        <p:nvPicPr>
          <p:cNvPr id="44" name="图片 43" descr="图形用户界面, 应用程序&#10;&#10;AI 生成的内容可能不正确。"/>
          <p:cNvPicPr>
            <a:picLocks noChangeAspect="1"/>
          </p:cNvPicPr>
          <p:nvPr/>
        </p:nvPicPr>
        <p:blipFill>
          <a:blip r:embed="rId11"/>
          <a:stretch>
            <a:fillRect/>
          </a:stretch>
        </p:blipFill>
        <p:spPr>
          <a:xfrm>
            <a:off x="2054527" y="5325626"/>
            <a:ext cx="1094504" cy="2372273"/>
          </a:xfrm>
          <a:prstGeom prst="rect">
            <a:avLst/>
          </a:prstGeom>
        </p:spPr>
      </p:pic>
      <p:pic>
        <p:nvPicPr>
          <p:cNvPr id="47" name="图片 46" descr="图片包含 应用程序&#10;&#10;AI 生成的内容可能不正确。"/>
          <p:cNvPicPr>
            <a:picLocks noChangeAspect="1"/>
          </p:cNvPicPr>
          <p:nvPr/>
        </p:nvPicPr>
        <p:blipFill>
          <a:blip r:embed="rId12"/>
          <a:stretch>
            <a:fillRect/>
          </a:stretch>
        </p:blipFill>
        <p:spPr>
          <a:xfrm>
            <a:off x="2077320" y="5616600"/>
            <a:ext cx="1048963" cy="2273566"/>
          </a:xfrm>
          <a:prstGeom prst="rect">
            <a:avLst/>
          </a:prstGeom>
        </p:spPr>
      </p:pic>
      <p:pic>
        <p:nvPicPr>
          <p:cNvPr id="49" name="图片 48" descr="图形用户界面&#10;&#10;AI 生成的内容可能不正确。"/>
          <p:cNvPicPr>
            <a:picLocks noChangeAspect="1"/>
          </p:cNvPicPr>
          <p:nvPr/>
        </p:nvPicPr>
        <p:blipFill>
          <a:blip r:embed="rId13"/>
          <a:stretch>
            <a:fillRect/>
          </a:stretch>
        </p:blipFill>
        <p:spPr>
          <a:xfrm>
            <a:off x="2140396" y="6260911"/>
            <a:ext cx="751700" cy="1629266"/>
          </a:xfrm>
          <a:prstGeom prst="rect">
            <a:avLst/>
          </a:prstGeom>
        </p:spPr>
      </p:pic>
      <p:pic>
        <p:nvPicPr>
          <p:cNvPr id="52" name="图片 51" descr="图形用户界面, 文本, 应用程序&#10;&#10;AI 生成的内容可能不正确。"/>
          <p:cNvPicPr>
            <a:picLocks noChangeAspect="1"/>
          </p:cNvPicPr>
          <p:nvPr/>
        </p:nvPicPr>
        <p:blipFill>
          <a:blip r:embed="rId14"/>
          <a:stretch>
            <a:fillRect/>
          </a:stretch>
        </p:blipFill>
        <p:spPr>
          <a:xfrm>
            <a:off x="404856" y="5195120"/>
            <a:ext cx="1293667" cy="2803949"/>
          </a:xfrm>
          <a:prstGeom prst="rect">
            <a:avLst/>
          </a:prstGeom>
        </p:spPr>
      </p:pic>
      <p:pic>
        <p:nvPicPr>
          <p:cNvPr id="58" name="图片 57" descr="图形用户界面&#10;&#10;AI 生成的内容可能不正确。"/>
          <p:cNvPicPr>
            <a:picLocks noChangeAspect="1"/>
          </p:cNvPicPr>
          <p:nvPr/>
        </p:nvPicPr>
        <p:blipFill>
          <a:blip r:embed="rId15"/>
          <a:stretch>
            <a:fillRect/>
          </a:stretch>
        </p:blipFill>
        <p:spPr>
          <a:xfrm>
            <a:off x="534105" y="5984956"/>
            <a:ext cx="991929" cy="2149948"/>
          </a:xfrm>
          <a:prstGeom prst="rect">
            <a:avLst/>
          </a:prstGeom>
        </p:spPr>
      </p:pic>
      <p:pic>
        <p:nvPicPr>
          <p:cNvPr id="12291" name="图片 12290" descr="图片包含 日程表&#10;&#10;AI 生成的内容可能不正确。"/>
          <p:cNvPicPr>
            <a:picLocks noChangeAspect="1"/>
          </p:cNvPicPr>
          <p:nvPr/>
        </p:nvPicPr>
        <p:blipFill>
          <a:blip r:embed="rId16"/>
          <a:stretch>
            <a:fillRect/>
          </a:stretch>
        </p:blipFill>
        <p:spPr>
          <a:xfrm>
            <a:off x="675797" y="6412226"/>
            <a:ext cx="922117" cy="1998635"/>
          </a:xfrm>
          <a:prstGeom prst="rect">
            <a:avLst/>
          </a:prstGeom>
        </p:spPr>
      </p:pic>
      <p:pic>
        <p:nvPicPr>
          <p:cNvPr id="12311" name="图片 12310" descr="图形用户界面, 应用程序&#10;&#10;AI 生成的内容可能不正确。"/>
          <p:cNvPicPr>
            <a:picLocks noChangeAspect="1"/>
          </p:cNvPicPr>
          <p:nvPr/>
        </p:nvPicPr>
        <p:blipFill>
          <a:blip r:embed="rId17"/>
          <a:stretch>
            <a:fillRect/>
          </a:stretch>
        </p:blipFill>
        <p:spPr>
          <a:xfrm>
            <a:off x="9144000" y="5525846"/>
            <a:ext cx="1286179" cy="2787718"/>
          </a:xfrm>
          <a:prstGeom prst="rect">
            <a:avLst/>
          </a:prstGeom>
        </p:spPr>
      </p:pic>
      <p:pic>
        <p:nvPicPr>
          <p:cNvPr id="12314" name="图片 12313" descr="图片包含 文本&#10;&#10;AI 生成的内容可能不正确。"/>
          <p:cNvPicPr>
            <a:picLocks noChangeAspect="1"/>
          </p:cNvPicPr>
          <p:nvPr/>
        </p:nvPicPr>
        <p:blipFill>
          <a:blip r:embed="rId18"/>
          <a:stretch>
            <a:fillRect/>
          </a:stretch>
        </p:blipFill>
        <p:spPr>
          <a:xfrm>
            <a:off x="9946858" y="5839603"/>
            <a:ext cx="1126038" cy="2440622"/>
          </a:xfrm>
          <a:prstGeom prst="rect">
            <a:avLst/>
          </a:prstGeom>
        </p:spPr>
      </p:pic>
      <p:pic>
        <p:nvPicPr>
          <p:cNvPr id="8" name="图片 7" descr="图形用户界面, 文本, 应用程序, 电子邮件&#10;&#10;AI 生成的内容可能不正确。"/>
          <p:cNvPicPr>
            <a:picLocks noChangeAspect="1"/>
          </p:cNvPicPr>
          <p:nvPr/>
        </p:nvPicPr>
        <p:blipFill>
          <a:blip r:embed="rId19"/>
          <a:stretch>
            <a:fillRect/>
          </a:stretch>
        </p:blipFill>
        <p:spPr>
          <a:xfrm>
            <a:off x="6596370" y="5525846"/>
            <a:ext cx="1189921" cy="2579084"/>
          </a:xfrm>
          <a:prstGeom prst="rect">
            <a:avLst/>
          </a:prstGeom>
        </p:spPr>
      </p:pic>
      <p:pic>
        <p:nvPicPr>
          <p:cNvPr id="11" name="图片 10" descr="文本&#10;&#10;AI 生成的内容可能不正确。"/>
          <p:cNvPicPr>
            <a:picLocks noChangeAspect="1"/>
          </p:cNvPicPr>
          <p:nvPr/>
        </p:nvPicPr>
        <p:blipFill>
          <a:blip r:embed="rId20"/>
          <a:stretch>
            <a:fillRect/>
          </a:stretch>
        </p:blipFill>
        <p:spPr>
          <a:xfrm>
            <a:off x="6887017" y="2575310"/>
            <a:ext cx="1042349" cy="2259230"/>
          </a:xfrm>
          <a:prstGeom prst="rect">
            <a:avLst/>
          </a:prstGeom>
        </p:spPr>
      </p:pic>
      <p:pic>
        <p:nvPicPr>
          <p:cNvPr id="12" name="图片 11" descr="文本&#10;&#10;AI 生成的内容可能不正确。"/>
          <p:cNvPicPr>
            <a:picLocks noChangeAspect="1"/>
          </p:cNvPicPr>
          <p:nvPr/>
        </p:nvPicPr>
        <p:blipFill>
          <a:blip r:embed="rId20"/>
          <a:stretch>
            <a:fillRect/>
          </a:stretch>
        </p:blipFill>
        <p:spPr>
          <a:xfrm>
            <a:off x="6955757" y="7956233"/>
            <a:ext cx="862312" cy="1869011"/>
          </a:xfrm>
          <a:prstGeom prst="rect">
            <a:avLst/>
          </a:prstGeom>
        </p:spPr>
      </p:pic>
      <p:pic>
        <p:nvPicPr>
          <p:cNvPr id="22" name="图片 21" descr="图形用户界面, 文本, 应用程序&#10;&#10;AI 生成的内容可能不正确。"/>
          <p:cNvPicPr>
            <a:picLocks noChangeAspect="1"/>
          </p:cNvPicPr>
          <p:nvPr/>
        </p:nvPicPr>
        <p:blipFill>
          <a:blip r:embed="rId21"/>
          <a:stretch>
            <a:fillRect/>
          </a:stretch>
        </p:blipFill>
        <p:spPr>
          <a:xfrm>
            <a:off x="7826483" y="5535942"/>
            <a:ext cx="1245552" cy="2699663"/>
          </a:xfrm>
          <a:prstGeom prst="rect">
            <a:avLst/>
          </a:prstGeom>
        </p:spPr>
      </p:pic>
      <p:pic>
        <p:nvPicPr>
          <p:cNvPr id="30" name="图片 29" descr="图形用户界面, 网站&#10;&#10;AI 生成的内容可能不正确。"/>
          <p:cNvPicPr>
            <a:picLocks noChangeAspect="1"/>
          </p:cNvPicPr>
          <p:nvPr/>
        </p:nvPicPr>
        <p:blipFill>
          <a:blip r:embed="rId22"/>
          <a:stretch>
            <a:fillRect/>
          </a:stretch>
        </p:blipFill>
        <p:spPr>
          <a:xfrm>
            <a:off x="7892756" y="6315967"/>
            <a:ext cx="850660" cy="1843756"/>
          </a:xfrm>
          <a:prstGeom prst="rect">
            <a:avLst/>
          </a:prstGeom>
        </p:spPr>
      </p:pic>
      <p:pic>
        <p:nvPicPr>
          <p:cNvPr id="34" name="图片 33" descr="图形用户界面&#10;&#10;AI 生成的内容可能不正确。"/>
          <p:cNvPicPr>
            <a:picLocks noChangeAspect="1"/>
          </p:cNvPicPr>
          <p:nvPr/>
        </p:nvPicPr>
        <p:blipFill>
          <a:blip r:embed="rId23"/>
          <a:stretch>
            <a:fillRect/>
          </a:stretch>
        </p:blipFill>
        <p:spPr>
          <a:xfrm>
            <a:off x="8318086" y="6869262"/>
            <a:ext cx="651049" cy="1410945"/>
          </a:xfrm>
          <a:prstGeom prst="rect">
            <a:avLst/>
          </a:prstGeom>
        </p:spPr>
      </p:pic>
      <p:pic>
        <p:nvPicPr>
          <p:cNvPr id="37" name="图片 36" descr="图片包含 文本&#10;&#10;AI 生成的内容可能不正确。"/>
          <p:cNvPicPr>
            <a:picLocks noChangeAspect="1"/>
          </p:cNvPicPr>
          <p:nvPr/>
        </p:nvPicPr>
        <p:blipFill>
          <a:blip r:embed="rId24"/>
          <a:stretch>
            <a:fillRect/>
          </a:stretch>
        </p:blipFill>
        <p:spPr>
          <a:xfrm>
            <a:off x="6928748" y="3286968"/>
            <a:ext cx="715272" cy="1550129"/>
          </a:xfrm>
          <a:prstGeom prst="rect">
            <a:avLst/>
          </a:prstGeom>
        </p:spPr>
      </p:pic>
      <p:pic>
        <p:nvPicPr>
          <p:cNvPr id="39" name="图片 38" descr="图片包含 文本&#10;&#10;AI 生成的内容可能不正确。"/>
          <p:cNvPicPr>
            <a:picLocks noChangeAspect="1"/>
          </p:cNvPicPr>
          <p:nvPr/>
        </p:nvPicPr>
        <p:blipFill>
          <a:blip r:embed="rId24"/>
          <a:stretch>
            <a:fillRect/>
          </a:stretch>
        </p:blipFill>
        <p:spPr>
          <a:xfrm>
            <a:off x="7731399" y="7477125"/>
            <a:ext cx="715272" cy="1550129"/>
          </a:xfrm>
          <a:prstGeom prst="rect">
            <a:avLst/>
          </a:prstGeom>
        </p:spPr>
      </p:pic>
      <p:sp>
        <p:nvSpPr>
          <p:cNvPr id="14" name="圆角矩形 24"/>
          <p:cNvSpPr/>
          <p:nvPr/>
        </p:nvSpPr>
        <p:spPr>
          <a:xfrm>
            <a:off x="347667" y="2473908"/>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环境分高</a:t>
            </a:r>
          </a:p>
        </p:txBody>
      </p:sp>
      <p:sp>
        <p:nvSpPr>
          <p:cNvPr id="16" name="圆角矩形 24"/>
          <p:cNvSpPr/>
          <p:nvPr/>
        </p:nvSpPr>
        <p:spPr>
          <a:xfrm>
            <a:off x="1517133" y="2473908"/>
            <a:ext cx="1127426" cy="289162"/>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rPr>
              <a:t>服务分高</a:t>
            </a:r>
          </a:p>
        </p:txBody>
      </p:sp>
      <p:sp>
        <p:nvSpPr>
          <p:cNvPr id="19" name="圆角矩形 24">
            <a:extLst>
              <a:ext uri="{FF2B5EF4-FFF2-40B4-BE49-F238E27FC236}">
                <a16:creationId xmlns:a16="http://schemas.microsoft.com/office/drawing/2014/main" id="{C0A7FFA6-502F-2B60-9215-1E403C74605A}"/>
              </a:ext>
            </a:extLst>
          </p:cNvPr>
          <p:cNvSpPr/>
          <p:nvPr/>
        </p:nvSpPr>
        <p:spPr>
          <a:xfrm>
            <a:off x="1595316" y="2185216"/>
            <a:ext cx="1179712" cy="28916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sz="1200" b="1" dirty="0">
                <a:solidFill>
                  <a:schemeClr val="tx1"/>
                </a:solidFill>
                <a:latin typeface="+mn-ea"/>
              </a:rPr>
              <a:t>门槛卡控</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3315823" y="1622481"/>
            <a:ext cx="2999778" cy="2292584"/>
          </a:xfrm>
          <a:prstGeom prst="rect">
            <a:avLst/>
          </a:prstGeom>
        </p:spPr>
      </p:pic>
      <p:sp>
        <p:nvSpPr>
          <p:cNvPr id="12" name="文本占位符 3"/>
          <p:cNvSpPr txBox="1"/>
          <p:nvPr/>
        </p:nvSpPr>
        <p:spPr>
          <a:xfrm>
            <a:off x="213612" y="123824"/>
            <a:ext cx="8583088" cy="266037"/>
          </a:xfrm>
          <a:prstGeom prst="rect">
            <a:avLst/>
          </a:prstGeom>
        </p:spPr>
        <p:txBody>
          <a:bodyP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kumimoji="1" lang="zh-CN" altLang="en-US" dirty="0">
                <a:latin typeface="+mn-ea"/>
              </a:rPr>
              <a:t>指数榜单运营思路</a:t>
            </a:r>
          </a:p>
        </p:txBody>
      </p:sp>
      <p:sp>
        <p:nvSpPr>
          <p:cNvPr id="176" name="米菲PPT50"/>
          <p:cNvSpPr/>
          <p:nvPr/>
        </p:nvSpPr>
        <p:spPr>
          <a:xfrm>
            <a:off x="270324" y="833830"/>
            <a:ext cx="643064" cy="467754"/>
          </a:xfrm>
          <a:prstGeom prst="rect">
            <a:avLst/>
          </a:prstGeom>
          <a:noFill/>
          <a:ln w="0" cap="flat">
            <a:noFill/>
            <a:prstDash val="solid"/>
            <a:miter lim="0"/>
          </a:ln>
        </p:spPr>
        <p:txBody>
          <a:bodyPr vert="horz" wrap="square" lIns="0" tIns="0" rIns="0" bIns="0"/>
          <a:lstStyle/>
          <a:p>
            <a:pPr algn="ctr" eaLnBrk="0">
              <a:lnSpc>
                <a:spcPct val="83000"/>
              </a:lnSpc>
            </a:pPr>
            <a:endParaRPr sz="900" dirty="0">
              <a:solidFill>
                <a:schemeClr val="tx1">
                  <a:lumMod val="75000"/>
                  <a:lumOff val="25000"/>
                </a:schemeClr>
              </a:solidFill>
              <a:latin typeface="+mn-ea"/>
              <a:cs typeface="MiSans Medium" panose="00000600000000000000" pitchFamily="2" charset="-122"/>
              <a:sym typeface="MiSans Medium" panose="00000600000000000000" pitchFamily="2" charset="-122"/>
            </a:endParaRPr>
          </a:p>
          <a:p>
            <a:pPr algn="ctr" eaLnBrk="0">
              <a:lnSpc>
                <a:spcPct val="83000"/>
              </a:lnSpc>
            </a:pPr>
            <a:r>
              <a:rPr sz="900" dirty="0">
                <a:solidFill>
                  <a:schemeClr val="tx1">
                    <a:lumMod val="75000"/>
                    <a:lumOff val="25000"/>
                  </a:schemeClr>
                </a:solidFill>
                <a:latin typeface="+mn-ea"/>
                <a:cs typeface="MiSans Medium" panose="00000600000000000000" pitchFamily="2" charset="-122"/>
                <a:sym typeface="MiSans Medium" panose="00000600000000000000" pitchFamily="2" charset="-122"/>
              </a:rPr>
              <a:t>目标</a:t>
            </a:r>
          </a:p>
        </p:txBody>
      </p:sp>
      <p:sp>
        <p:nvSpPr>
          <p:cNvPr id="177" name="米菲PPT147"/>
          <p:cNvSpPr/>
          <p:nvPr/>
        </p:nvSpPr>
        <p:spPr>
          <a:xfrm>
            <a:off x="349972" y="4463368"/>
            <a:ext cx="483765" cy="401770"/>
          </a:xfrm>
          <a:prstGeom prst="rect">
            <a:avLst/>
          </a:prstGeom>
          <a:noFill/>
          <a:ln w="0" cap="flat">
            <a:noFill/>
            <a:prstDash val="solid"/>
            <a:miter lim="0"/>
          </a:ln>
        </p:spPr>
        <p:txBody>
          <a:bodyPr vert="horz" wrap="square" lIns="0" tIns="0" rIns="0" bIns="0"/>
          <a:lstStyle/>
          <a:p>
            <a:pPr algn="ctr" eaLnBrk="0">
              <a:lnSpc>
                <a:spcPct val="83000"/>
              </a:lnSpc>
            </a:pPr>
            <a:r>
              <a:rPr lang="zh-CN" altLang="en-US" sz="900" dirty="0">
                <a:solidFill>
                  <a:schemeClr val="tx1">
                    <a:lumMod val="75000"/>
                    <a:lumOff val="25000"/>
                  </a:schemeClr>
                </a:solidFill>
                <a:latin typeface="+mn-ea"/>
                <a:cs typeface="MiSans Medium" panose="00000600000000000000" pitchFamily="2" charset="-122"/>
                <a:sym typeface="MiSans Medium" panose="00000600000000000000" pitchFamily="2" charset="-122"/>
              </a:rPr>
              <a:t>举措进展</a:t>
            </a:r>
            <a:endParaRPr sz="900" dirty="0">
              <a:solidFill>
                <a:schemeClr val="tx1">
                  <a:lumMod val="75000"/>
                  <a:lumOff val="25000"/>
                </a:schemeClr>
              </a:solidFill>
              <a:latin typeface="+mn-ea"/>
              <a:cs typeface="MiSans Medium" panose="00000600000000000000" pitchFamily="2" charset="-122"/>
              <a:sym typeface="MiSans Medium" panose="00000600000000000000" pitchFamily="2" charset="-122"/>
            </a:endParaRPr>
          </a:p>
        </p:txBody>
      </p:sp>
      <p:cxnSp>
        <p:nvCxnSpPr>
          <p:cNvPr id="178" name="米菲PPT148"/>
          <p:cNvCxnSpPr/>
          <p:nvPr/>
        </p:nvCxnSpPr>
        <p:spPr>
          <a:xfrm flipH="1">
            <a:off x="307499" y="1124116"/>
            <a:ext cx="568714" cy="0"/>
          </a:xfrm>
          <a:prstGeom prst="line">
            <a:avLst/>
          </a:prstGeom>
          <a:ln w="12700">
            <a:solidFill>
              <a:schemeClr val="bg1">
                <a:lumMod val="75000"/>
                <a:alpha val="34000"/>
              </a:schemeClr>
            </a:solidFill>
          </a:ln>
        </p:spPr>
        <p:style>
          <a:lnRef idx="1">
            <a:schemeClr val="accent1"/>
          </a:lnRef>
          <a:fillRef idx="0">
            <a:schemeClr val="accent1"/>
          </a:fillRef>
          <a:effectRef idx="0">
            <a:schemeClr val="accent1"/>
          </a:effectRef>
          <a:fontRef idx="minor">
            <a:schemeClr val="tx1"/>
          </a:fontRef>
        </p:style>
      </p:cxnSp>
      <p:cxnSp>
        <p:nvCxnSpPr>
          <p:cNvPr id="179" name="米菲PPT149"/>
          <p:cNvCxnSpPr/>
          <p:nvPr/>
        </p:nvCxnSpPr>
        <p:spPr>
          <a:xfrm>
            <a:off x="591855" y="1231102"/>
            <a:ext cx="0" cy="1196471"/>
          </a:xfrm>
          <a:prstGeom prst="line">
            <a:avLst/>
          </a:prstGeom>
          <a:ln w="6350">
            <a:solidFill>
              <a:schemeClr val="bg1">
                <a:lumMod val="75000"/>
                <a:alpha val="7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0" name="米菲PPT150"/>
          <p:cNvCxnSpPr/>
          <p:nvPr/>
        </p:nvCxnSpPr>
        <p:spPr>
          <a:xfrm>
            <a:off x="591855" y="4139971"/>
            <a:ext cx="0" cy="172274"/>
          </a:xfrm>
          <a:prstGeom prst="line">
            <a:avLst/>
          </a:prstGeom>
          <a:ln w="6350">
            <a:solidFill>
              <a:schemeClr val="bg1">
                <a:lumMod val="75000"/>
                <a:alpha val="7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1" name="米菲PPT151"/>
          <p:cNvCxnSpPr/>
          <p:nvPr/>
        </p:nvCxnSpPr>
        <p:spPr>
          <a:xfrm flipH="1">
            <a:off x="307499" y="4908931"/>
            <a:ext cx="568714" cy="0"/>
          </a:xfrm>
          <a:prstGeom prst="line">
            <a:avLst/>
          </a:prstGeom>
          <a:ln w="12700">
            <a:solidFill>
              <a:schemeClr val="bg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182" name="米菲PPT152"/>
          <p:cNvSpPr txBox="1"/>
          <p:nvPr/>
        </p:nvSpPr>
        <p:spPr>
          <a:xfrm>
            <a:off x="253753" y="2563825"/>
            <a:ext cx="665879" cy="226009"/>
          </a:xfrm>
          <a:prstGeom prst="rect">
            <a:avLst/>
          </a:prstGeom>
          <a:noFill/>
          <a:ln w="0" cap="flat">
            <a:noFill/>
            <a:prstDash val="solid"/>
            <a:miter lim="0"/>
          </a:ln>
        </p:spPr>
        <p:txBody>
          <a:bodyPr vert="horz" wrap="square" lIns="0" tIns="0" rIns="0" bIns="0" anchor="ctr"/>
          <a:lstStyle>
            <a:defPPr>
              <a:defRPr lang="en-US"/>
            </a:defPPr>
            <a:lvl1pPr algn="ctr" eaLnBrk="0">
              <a:lnSpc>
                <a:spcPct val="83000"/>
              </a:lnSpc>
              <a:defRPr sz="1200">
                <a:solidFill>
                  <a:schemeClr val="tx1">
                    <a:lumMod val="75000"/>
                    <a:lumOff val="25000"/>
                  </a:schemeClr>
                </a:solidFill>
                <a:latin typeface="MiSans Medium" panose="00000600000000000000" pitchFamily="2" charset="-122"/>
                <a:ea typeface="MiSans Medium" panose="00000600000000000000" pitchFamily="2" charset="-122"/>
              </a:defRPr>
            </a:lvl1pPr>
          </a:lstStyle>
          <a:p>
            <a:r>
              <a:rPr lang="zh-CN" altLang="en-US" sz="900" dirty="0">
                <a:latin typeface="+mn-ea"/>
                <a:ea typeface="+mn-ea"/>
                <a:cs typeface="MiSans Medium" panose="00000600000000000000" pitchFamily="2" charset="-122"/>
              </a:rPr>
              <a:t>问题分析</a:t>
            </a:r>
          </a:p>
        </p:txBody>
      </p:sp>
      <p:cxnSp>
        <p:nvCxnSpPr>
          <p:cNvPr id="183" name="米菲PPT153"/>
          <p:cNvCxnSpPr/>
          <p:nvPr/>
        </p:nvCxnSpPr>
        <p:spPr>
          <a:xfrm flipH="1">
            <a:off x="307499" y="4111816"/>
            <a:ext cx="568714" cy="0"/>
          </a:xfrm>
          <a:prstGeom prst="line">
            <a:avLst/>
          </a:prstGeom>
          <a:ln w="12700">
            <a:solidFill>
              <a:schemeClr val="bg1">
                <a:lumMod val="75000"/>
                <a:alpha val="34000"/>
              </a:schemeClr>
            </a:solidFill>
          </a:ln>
        </p:spPr>
        <p:style>
          <a:lnRef idx="1">
            <a:schemeClr val="accent1"/>
          </a:lnRef>
          <a:fillRef idx="0">
            <a:schemeClr val="accent1"/>
          </a:fillRef>
          <a:effectRef idx="0">
            <a:schemeClr val="accent1"/>
          </a:effectRef>
          <a:fontRef idx="minor">
            <a:schemeClr val="tx1"/>
          </a:fontRef>
        </p:style>
      </p:cxnSp>
      <p:cxnSp>
        <p:nvCxnSpPr>
          <p:cNvPr id="184" name="米菲PPT154"/>
          <p:cNvCxnSpPr/>
          <p:nvPr/>
        </p:nvCxnSpPr>
        <p:spPr>
          <a:xfrm flipH="1">
            <a:off x="307499" y="1207116"/>
            <a:ext cx="568714" cy="0"/>
          </a:xfrm>
          <a:prstGeom prst="line">
            <a:avLst/>
          </a:prstGeom>
          <a:ln w="12700">
            <a:solidFill>
              <a:schemeClr val="bg1">
                <a:lumMod val="75000"/>
                <a:alpha val="34000"/>
              </a:schemeClr>
            </a:solidFill>
          </a:ln>
        </p:spPr>
        <p:style>
          <a:lnRef idx="1">
            <a:schemeClr val="accent1"/>
          </a:lnRef>
          <a:fillRef idx="0">
            <a:schemeClr val="accent1"/>
          </a:fillRef>
          <a:effectRef idx="0">
            <a:schemeClr val="accent1"/>
          </a:effectRef>
          <a:fontRef idx="minor">
            <a:schemeClr val="tx1"/>
          </a:fontRef>
        </p:style>
      </p:cxnSp>
      <p:cxnSp>
        <p:nvCxnSpPr>
          <p:cNvPr id="185" name="米菲PPT155"/>
          <p:cNvCxnSpPr/>
          <p:nvPr/>
        </p:nvCxnSpPr>
        <p:spPr>
          <a:xfrm>
            <a:off x="591855" y="2872008"/>
            <a:ext cx="0" cy="1068254"/>
          </a:xfrm>
          <a:prstGeom prst="line">
            <a:avLst/>
          </a:prstGeom>
          <a:ln w="6350">
            <a:solidFill>
              <a:schemeClr val="bg1">
                <a:lumMod val="75000"/>
                <a:alpha val="7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6" name="米菲PPT156"/>
          <p:cNvCxnSpPr/>
          <p:nvPr/>
        </p:nvCxnSpPr>
        <p:spPr>
          <a:xfrm>
            <a:off x="591855" y="4685217"/>
            <a:ext cx="0" cy="179924"/>
          </a:xfrm>
          <a:prstGeom prst="line">
            <a:avLst/>
          </a:prstGeom>
          <a:ln w="6350">
            <a:solidFill>
              <a:schemeClr val="bg1">
                <a:lumMod val="75000"/>
                <a:alpha val="7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7" name="米菲PPT157"/>
          <p:cNvCxnSpPr/>
          <p:nvPr/>
        </p:nvCxnSpPr>
        <p:spPr>
          <a:xfrm flipH="1">
            <a:off x="307499" y="857912"/>
            <a:ext cx="568714" cy="0"/>
          </a:xfrm>
          <a:prstGeom prst="line">
            <a:avLst/>
          </a:prstGeom>
          <a:ln w="12700">
            <a:solidFill>
              <a:schemeClr val="bg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188" name="米菲PPT13"/>
          <p:cNvSpPr/>
          <p:nvPr/>
        </p:nvSpPr>
        <p:spPr>
          <a:xfrm>
            <a:off x="927432" y="834604"/>
            <a:ext cx="7832103" cy="261158"/>
          </a:xfrm>
          <a:prstGeom prst="trapezoid">
            <a:avLst>
              <a:gd name="adj" fmla="val 153377"/>
            </a:avLst>
          </a:prstGeom>
          <a:gradFill>
            <a:gsLst>
              <a:gs pos="15000">
                <a:schemeClr val="accent1">
                  <a:alpha val="1000"/>
                </a:schemeClr>
              </a:gs>
              <a:gs pos="95000">
                <a:schemeClr val="accent1">
                  <a:alpha val="8000"/>
                </a:schemeClr>
              </a:gs>
            </a:gsLst>
            <a:lin ang="5400000" scaled="1"/>
          </a:gradFill>
          <a:ln w="1778">
            <a:gradFill flip="none" rotWithShape="1">
              <a:gsLst>
                <a:gs pos="15000">
                  <a:schemeClr val="accent1">
                    <a:alpha val="0"/>
                  </a:schemeClr>
                </a:gs>
                <a:gs pos="100000">
                  <a:schemeClr val="accent1">
                    <a:alpha val="40000"/>
                  </a:schemeClr>
                </a:gs>
              </a:gsLst>
              <a:lin ang="54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38405" tIns="19205" rIns="38405" bIns="19205" rtlCol="0" anchor="ctr"/>
          <a:lstStyle/>
          <a:p>
            <a:pPr algn="ctr" defTabSz="685800">
              <a:defRPr/>
            </a:pPr>
            <a:endParaRPr lang="zh-CN" altLang="en-US" sz="1100" dirty="0">
              <a:solidFill>
                <a:prstClr val="white"/>
              </a:solidFill>
              <a:latin typeface="+mn-ea"/>
              <a:cs typeface="+mn-ea"/>
            </a:endParaRPr>
          </a:p>
        </p:txBody>
      </p:sp>
      <p:sp>
        <p:nvSpPr>
          <p:cNvPr id="189" name="米菲PPT48"/>
          <p:cNvSpPr/>
          <p:nvPr/>
        </p:nvSpPr>
        <p:spPr>
          <a:xfrm>
            <a:off x="980300" y="809115"/>
            <a:ext cx="7704507" cy="284297"/>
          </a:xfrm>
          <a:prstGeom prst="rect">
            <a:avLst/>
          </a:prstGeom>
          <a:noFill/>
          <a:ln w="0" cap="flat">
            <a:noFill/>
            <a:prstDash val="solid"/>
            <a:miter lim="0"/>
          </a:ln>
        </p:spPr>
        <p:txBody>
          <a:bodyPr vert="horz" wrap="square" lIns="0" tIns="58" rIns="0" bIns="0"/>
          <a:lstStyle/>
          <a:p>
            <a:pPr marL="233045" indent="-223520" algn="ctr" eaLnBrk="0">
              <a:lnSpc>
                <a:spcPct val="130000"/>
              </a:lnSpc>
            </a:pPr>
            <a:r>
              <a:rPr lang="zh-CN" altLang="en-US" sz="1100" b="1" dirty="0">
                <a:solidFill>
                  <a:schemeClr val="accent2"/>
                </a:solidFill>
                <a:latin typeface="+mn-ea"/>
                <a:cs typeface="MiSans Medium" panose="00000600000000000000" pitchFamily="2" charset="-122"/>
                <a:sym typeface="MiSans Bold" panose="00000800000000000000" pitchFamily="2" charset="-122"/>
              </a:rPr>
              <a:t>满足用户需求及物理世界供给覆盖，</a:t>
            </a:r>
            <a:r>
              <a:rPr lang="zh-CN" altLang="en-US" sz="1100" b="1" dirty="0">
                <a:solidFill>
                  <a:schemeClr val="accent2"/>
                </a:solidFill>
                <a:latin typeface="+mn-ea"/>
                <a:sym typeface="MiSans Bold" panose="00000800000000000000" pitchFamily="2" charset="-122"/>
              </a:rPr>
              <a:t>丰富</a:t>
            </a:r>
            <a:r>
              <a:rPr lang="zh-CN" altLang="en-US" sz="1100" b="1" dirty="0">
                <a:solidFill>
                  <a:schemeClr val="accent2"/>
                </a:solidFill>
                <a:latin typeface="+mn-ea"/>
              </a:rPr>
              <a:t>区域</a:t>
            </a:r>
            <a:r>
              <a:rPr lang="en-US" altLang="zh-CN" sz="1100" b="1" dirty="0">
                <a:solidFill>
                  <a:schemeClr val="accent2"/>
                </a:solidFill>
                <a:latin typeface="+mn-ea"/>
              </a:rPr>
              <a:t>x</a:t>
            </a:r>
            <a:r>
              <a:rPr lang="zh-CN" altLang="en-US" sz="1100" b="1" dirty="0">
                <a:solidFill>
                  <a:schemeClr val="accent2"/>
                </a:solidFill>
                <a:latin typeface="+mn-ea"/>
              </a:rPr>
              <a:t>品类</a:t>
            </a:r>
            <a:r>
              <a:rPr lang="en-US" altLang="zh-CN" sz="1100" b="1" dirty="0">
                <a:solidFill>
                  <a:schemeClr val="accent2"/>
                </a:solidFill>
                <a:latin typeface="+mn-ea"/>
              </a:rPr>
              <a:t>x</a:t>
            </a:r>
            <a:r>
              <a:rPr lang="zh-CN" altLang="en-US" sz="1100" b="1" dirty="0">
                <a:solidFill>
                  <a:schemeClr val="accent2"/>
                </a:solidFill>
                <a:latin typeface="+mn-ea"/>
              </a:rPr>
              <a:t>维度榜单建设</a:t>
            </a:r>
            <a:endParaRPr lang="zh-CN" altLang="en-US" sz="1100" b="1" dirty="0">
              <a:solidFill>
                <a:schemeClr val="accent2"/>
              </a:solidFill>
              <a:latin typeface="+mn-ea"/>
              <a:sym typeface="MiSans Bold" panose="00000800000000000000" pitchFamily="2" charset="-122"/>
            </a:endParaRPr>
          </a:p>
        </p:txBody>
      </p:sp>
      <p:sp>
        <p:nvSpPr>
          <p:cNvPr id="197" name="米菲PPT15"/>
          <p:cNvSpPr/>
          <p:nvPr/>
        </p:nvSpPr>
        <p:spPr>
          <a:xfrm rot="5400000" flipV="1">
            <a:off x="7496663" y="-88735"/>
            <a:ext cx="390175" cy="2815046"/>
          </a:xfrm>
          <a:prstGeom prst="roundRect">
            <a:avLst>
              <a:gd name="adj" fmla="val 0"/>
            </a:avLst>
          </a:prstGeom>
          <a:solidFill>
            <a:schemeClr val="bg1">
              <a:lumMod val="75000"/>
            </a:schemeClr>
          </a:solidFill>
          <a:ln w="38100">
            <a:noFill/>
          </a:ln>
          <a:effectLst>
            <a:outerShdw blurRad="469900" dist="123444" dir="5400000" sx="99000" sy="99000" algn="ctr" rotWithShape="0">
              <a:schemeClr val="accent1">
                <a:alpha val="24000"/>
              </a:schemeClr>
            </a:outerShdw>
          </a:effectLst>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n-ea"/>
            </a:endParaRPr>
          </a:p>
        </p:txBody>
      </p:sp>
      <p:sp>
        <p:nvSpPr>
          <p:cNvPr id="205" name="米菲PPT15"/>
          <p:cNvSpPr/>
          <p:nvPr/>
        </p:nvSpPr>
        <p:spPr>
          <a:xfrm rot="5400000" flipV="1">
            <a:off x="1995165" y="49502"/>
            <a:ext cx="390175" cy="2525178"/>
          </a:xfrm>
          <a:prstGeom prst="roundRect">
            <a:avLst>
              <a:gd name="adj" fmla="val 0"/>
            </a:avLst>
          </a:prstGeom>
          <a:solidFill>
            <a:schemeClr val="bg1">
              <a:lumMod val="75000"/>
            </a:schemeClr>
          </a:solidFill>
          <a:ln w="38100">
            <a:noFill/>
          </a:ln>
          <a:effectLst>
            <a:outerShdw blurRad="469900" dist="123444" dir="5400000" sx="99000" sy="99000" algn="ctr" rotWithShape="0">
              <a:schemeClr val="accent1">
                <a:alpha val="24000"/>
              </a:schemeClr>
            </a:outerShdw>
          </a:effectLst>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n-ea"/>
              <a:cs typeface="MiSans Medium" panose="00000600000000000000" pitchFamily="2" charset="-122"/>
            </a:endParaRPr>
          </a:p>
        </p:txBody>
      </p:sp>
      <p:sp>
        <p:nvSpPr>
          <p:cNvPr id="210" name="米菲PPT130"/>
          <p:cNvSpPr/>
          <p:nvPr/>
        </p:nvSpPr>
        <p:spPr>
          <a:xfrm>
            <a:off x="6225059" y="4124393"/>
            <a:ext cx="2676082" cy="795269"/>
          </a:xfrm>
          <a:prstGeom prst="roundRect">
            <a:avLst/>
          </a:prstGeom>
          <a:gradFill>
            <a:gsLst>
              <a:gs pos="100000">
                <a:schemeClr val="accent1">
                  <a:lumMod val="5000"/>
                  <a:lumOff val="95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b="1" dirty="0">
                <a:solidFill>
                  <a:schemeClr val="tx1"/>
                </a:solidFill>
                <a:latin typeface="+mn-ea"/>
              </a:rPr>
              <a:t>举措：</a:t>
            </a:r>
            <a:r>
              <a:rPr lang="zh-CN" altLang="en-US" sz="900" dirty="0">
                <a:solidFill>
                  <a:schemeClr val="tx1"/>
                </a:solidFill>
                <a:latin typeface="+mn-ea"/>
              </a:rPr>
              <a:t>完善指数维度，优化指数计算规则。同时牵引商家运营</a:t>
            </a:r>
            <a:endParaRPr lang="en-US" altLang="zh-CN" sz="900" dirty="0">
              <a:solidFill>
                <a:schemeClr val="tx1"/>
              </a:solidFill>
              <a:latin typeface="+mn-ea"/>
            </a:endParaRPr>
          </a:p>
          <a:p>
            <a:pPr marL="92075" indent="-92075">
              <a:buFont typeface="Arial" panose="020B0604020202020204" pitchFamily="34" charset="0"/>
              <a:buChar char="•"/>
            </a:pPr>
            <a:r>
              <a:rPr lang="zh-CN" altLang="en-US" sz="900" b="1" dirty="0">
                <a:solidFill>
                  <a:schemeClr val="tx1"/>
                </a:solidFill>
                <a:latin typeface="+mn-ea"/>
              </a:rPr>
              <a:t>进展：</a:t>
            </a:r>
            <a:r>
              <a:rPr lang="zh-CN" altLang="en-US" sz="900" dirty="0">
                <a:solidFill>
                  <a:schemeClr val="tx1"/>
                </a:solidFill>
                <a:latin typeface="+mn-ea"/>
              </a:rPr>
              <a:t>人气榜引入</a:t>
            </a:r>
            <a:r>
              <a:rPr lang="en-US" altLang="zh-CN" sz="900" dirty="0">
                <a:solidFill>
                  <a:schemeClr val="tx1"/>
                </a:solidFill>
                <a:latin typeface="+mn-ea"/>
              </a:rPr>
              <a:t>GTV</a:t>
            </a:r>
            <a:r>
              <a:rPr lang="zh-CN" altLang="en-US" sz="900" dirty="0">
                <a:solidFill>
                  <a:schemeClr val="tx1"/>
                </a:solidFill>
                <a:latin typeface="+mn-ea"/>
              </a:rPr>
              <a:t>规则验证中，流量型榜单正在进行模拟验算。春节后榜单落地页改版上线后，逐步灰度</a:t>
            </a:r>
            <a:endParaRPr lang="en-US" altLang="zh-CN" sz="900" dirty="0">
              <a:solidFill>
                <a:schemeClr val="tx1"/>
              </a:solidFill>
              <a:latin typeface="+mn-ea"/>
            </a:endParaRPr>
          </a:p>
        </p:txBody>
      </p:sp>
      <p:sp>
        <p:nvSpPr>
          <p:cNvPr id="211" name="米菲PPT130"/>
          <p:cNvSpPr/>
          <p:nvPr/>
        </p:nvSpPr>
        <p:spPr>
          <a:xfrm>
            <a:off x="927432" y="4139970"/>
            <a:ext cx="2453323" cy="792028"/>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b="1" dirty="0">
                <a:solidFill>
                  <a:schemeClr val="tx1"/>
                </a:solidFill>
                <a:latin typeface="+mn-ea"/>
              </a:rPr>
              <a:t>举措</a:t>
            </a:r>
            <a:r>
              <a:rPr lang="zh-CN" altLang="en-US" sz="900" dirty="0">
                <a:solidFill>
                  <a:schemeClr val="tx1"/>
                </a:solidFill>
                <a:latin typeface="+mn-ea"/>
              </a:rPr>
              <a:t>：基于高热</a:t>
            </a:r>
            <a:r>
              <a:rPr lang="en-US" altLang="zh-CN" sz="900" dirty="0">
                <a:solidFill>
                  <a:schemeClr val="tx1"/>
                </a:solidFill>
                <a:latin typeface="+mn-ea"/>
              </a:rPr>
              <a:t>AOI</a:t>
            </a:r>
            <a:r>
              <a:rPr lang="zh-CN" altLang="en-US" sz="900" dirty="0">
                <a:solidFill>
                  <a:schemeClr val="tx1"/>
                </a:solidFill>
                <a:latin typeface="+mn-ea"/>
              </a:rPr>
              <a:t>成榜，支持用户</a:t>
            </a:r>
            <a:r>
              <a:rPr lang="en-US" altLang="zh-CN" sz="900" dirty="0">
                <a:solidFill>
                  <a:schemeClr val="tx1"/>
                </a:solidFill>
                <a:latin typeface="+mn-ea"/>
              </a:rPr>
              <a:t>AOI</a:t>
            </a:r>
            <a:r>
              <a:rPr lang="zh-CN" altLang="en-US" sz="900" dirty="0">
                <a:solidFill>
                  <a:schemeClr val="tx1"/>
                </a:solidFill>
                <a:latin typeface="+mn-ea"/>
              </a:rPr>
              <a:t>筛选。逐步承接地址类找店决策需求</a:t>
            </a:r>
            <a:endParaRPr lang="en-US" altLang="zh-CN" sz="900" dirty="0">
              <a:solidFill>
                <a:schemeClr val="tx1"/>
              </a:solidFill>
              <a:latin typeface="+mn-ea"/>
            </a:endParaRPr>
          </a:p>
          <a:p>
            <a:pPr marL="92075" indent="-92075">
              <a:buFont typeface="Arial" panose="020B0604020202020204" pitchFamily="34" charset="0"/>
              <a:buChar char="•"/>
            </a:pPr>
            <a:r>
              <a:rPr lang="zh-CN" altLang="en-US" sz="900" b="1" dirty="0">
                <a:solidFill>
                  <a:schemeClr val="tx1"/>
                </a:solidFill>
                <a:latin typeface="+mn-ea"/>
              </a:rPr>
              <a:t>进展</a:t>
            </a:r>
            <a:r>
              <a:rPr lang="zh-CN" altLang="en-US" sz="900" dirty="0">
                <a:solidFill>
                  <a:schemeClr val="tx1"/>
                </a:solidFill>
                <a:latin typeface="+mn-ea"/>
              </a:rPr>
              <a:t>：</a:t>
            </a:r>
            <a:r>
              <a:rPr lang="en-US" altLang="zh-CN" sz="900" dirty="0">
                <a:solidFill>
                  <a:schemeClr val="tx1"/>
                </a:solidFill>
                <a:latin typeface="+mn-ea"/>
              </a:rPr>
              <a:t>AOI</a:t>
            </a:r>
            <a:r>
              <a:rPr lang="zh-CN" altLang="en-US" sz="900" dirty="0">
                <a:solidFill>
                  <a:schemeClr val="tx1"/>
                </a:solidFill>
                <a:latin typeface="+mn-ea"/>
              </a:rPr>
              <a:t>门店数据召回核算中，预计春节后产品落地页改版后支持</a:t>
            </a:r>
            <a:endParaRPr lang="en-US" altLang="zh-CN" sz="900" dirty="0">
              <a:solidFill>
                <a:schemeClr val="tx1"/>
              </a:solidFill>
              <a:latin typeface="+mn-ea"/>
            </a:endParaRPr>
          </a:p>
        </p:txBody>
      </p:sp>
      <p:sp>
        <p:nvSpPr>
          <p:cNvPr id="4" name="米菲PPT14"/>
          <p:cNvSpPr/>
          <p:nvPr/>
        </p:nvSpPr>
        <p:spPr>
          <a:xfrm rot="5400000" flipV="1">
            <a:off x="4678123" y="-91809"/>
            <a:ext cx="390182" cy="2822033"/>
          </a:xfrm>
          <a:prstGeom prst="roundRect">
            <a:avLst>
              <a:gd name="adj" fmla="val 0"/>
            </a:avLst>
          </a:prstGeom>
          <a:solidFill>
            <a:schemeClr val="bg1">
              <a:lumMod val="75000"/>
            </a:schemeClr>
          </a:solidFill>
          <a:ln w="38100">
            <a:noFill/>
          </a:ln>
          <a:effectLst>
            <a:outerShdw blurRad="469900" dist="123444" dir="5400000" sx="99000" sy="99000" algn="ctr" rotWithShape="0">
              <a:schemeClr val="accent1">
                <a:alpha val="24000"/>
              </a:schemeClr>
            </a:outerShdw>
          </a:effectLst>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n-ea"/>
            </a:endParaRPr>
          </a:p>
        </p:txBody>
      </p:sp>
      <p:sp>
        <p:nvSpPr>
          <p:cNvPr id="11" name="文本框 10"/>
          <p:cNvSpPr txBox="1"/>
          <p:nvPr/>
        </p:nvSpPr>
        <p:spPr>
          <a:xfrm>
            <a:off x="232978" y="482608"/>
            <a:ext cx="8784262"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latin typeface="+mn-ea"/>
              </a:rPr>
              <a:t>指数榜方面，美团到餐榜单运营方向为完善</a:t>
            </a:r>
            <a:r>
              <a:rPr lang="zh-CN" altLang="en-US" sz="1100" b="1" dirty="0">
                <a:latin typeface="+mn-ea"/>
              </a:rPr>
              <a:t>区域</a:t>
            </a:r>
            <a:r>
              <a:rPr lang="en-US" altLang="zh-CN" sz="1100" b="1" dirty="0">
                <a:latin typeface="+mn-ea"/>
              </a:rPr>
              <a:t>x</a:t>
            </a:r>
            <a:r>
              <a:rPr lang="zh-CN" altLang="en-US" sz="1100" b="1" dirty="0">
                <a:latin typeface="+mn-ea"/>
              </a:rPr>
              <a:t>品类</a:t>
            </a:r>
            <a:r>
              <a:rPr lang="en-US" altLang="zh-CN" sz="1100" b="1" dirty="0">
                <a:latin typeface="+mn-ea"/>
              </a:rPr>
              <a:t>x</a:t>
            </a:r>
            <a:r>
              <a:rPr lang="zh-CN" altLang="en-US" sz="1100" b="1" dirty="0">
                <a:latin typeface="+mn-ea"/>
              </a:rPr>
              <a:t>维度</a:t>
            </a:r>
            <a:r>
              <a:rPr lang="zh-CN" altLang="en-US" sz="1100" dirty="0">
                <a:latin typeface="+mn-ea"/>
              </a:rPr>
              <a:t>建设</a:t>
            </a:r>
          </a:p>
        </p:txBody>
      </p:sp>
      <p:pic>
        <p:nvPicPr>
          <p:cNvPr id="15" name="图片 14"/>
          <p:cNvPicPr>
            <a:picLocks noChangeAspect="1"/>
          </p:cNvPicPr>
          <p:nvPr/>
        </p:nvPicPr>
        <p:blipFill>
          <a:blip r:embed="rId4"/>
          <a:srcRect b="2561"/>
          <a:stretch>
            <a:fillRect/>
          </a:stretch>
        </p:blipFill>
        <p:spPr>
          <a:xfrm>
            <a:off x="2114285" y="1927468"/>
            <a:ext cx="1266471" cy="1742958"/>
          </a:xfrm>
          <a:prstGeom prst="rect">
            <a:avLst/>
          </a:prstGeom>
        </p:spPr>
      </p:pic>
      <p:sp>
        <p:nvSpPr>
          <p:cNvPr id="18" name="椭圆 17"/>
          <p:cNvSpPr/>
          <p:nvPr/>
        </p:nvSpPr>
        <p:spPr>
          <a:xfrm>
            <a:off x="7046386" y="2025520"/>
            <a:ext cx="584608" cy="5846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sp>
        <p:nvSpPr>
          <p:cNvPr id="34" name="米菲PPT136"/>
          <p:cNvSpPr/>
          <p:nvPr/>
        </p:nvSpPr>
        <p:spPr>
          <a:xfrm>
            <a:off x="3577022" y="4124394"/>
            <a:ext cx="2559799" cy="807604"/>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marR="0" lvl="0" indent="-9207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9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举措：</a:t>
            </a:r>
            <a:r>
              <a:rPr kumimoji="0" lang="zh-CN" altLang="en-US" sz="9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优先增补高需高供品类成榜，并延申到时令</a:t>
            </a:r>
            <a:r>
              <a:rPr kumimoji="0" lang="en-US" altLang="zh-CN" sz="9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x</a:t>
            </a:r>
            <a:r>
              <a:rPr kumimoji="0" lang="zh-CN" altLang="en-US" sz="9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城市范围</a:t>
            </a:r>
            <a:r>
              <a:rPr lang="zh-CN" altLang="en-US" sz="900" dirty="0">
                <a:solidFill>
                  <a:srgbClr val="000000"/>
                </a:solidFill>
                <a:latin typeface="楷体" panose="02010609060101010101" pitchFamily="49" charset="-122"/>
                <a:ea typeface="楷体" panose="02010609060101010101" pitchFamily="49" charset="-122"/>
              </a:rPr>
              <a:t>，</a:t>
            </a:r>
            <a:r>
              <a:rPr kumimoji="0" lang="zh-CN" altLang="en-US" sz="9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承接品类找店决策需求</a:t>
            </a:r>
            <a:endParaRPr kumimoji="0" lang="en-US" altLang="zh-CN" sz="9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endParaRPr>
          </a:p>
          <a:p>
            <a:pPr marL="92075" marR="0" lvl="0" indent="-9207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9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进展：</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初步试点城市</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x</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品类</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14</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个，累计覆盖商户</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3,393</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家，其中纯新增上榜商户</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1</a:t>
            </a:r>
            <a:r>
              <a:rPr lang="en-US" altLang="zh-CN" sz="900" dirty="0">
                <a:solidFill>
                  <a:schemeClr val="tx1"/>
                </a:solidFill>
                <a:latin typeface="楷体" panose="02010609060101010101" pitchFamily="49" charset="-122"/>
                <a:ea typeface="楷体" panose="02010609060101010101" pitchFamily="49" charset="-122"/>
              </a:rPr>
              <a:t>,</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475</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家（占比</a:t>
            </a:r>
            <a:r>
              <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43.4%</a:t>
            </a:r>
            <a:r>
              <a:rPr kumimoji="0" lang="zh-CN" altLang="en-US"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a:t>
            </a:r>
            <a:r>
              <a:rPr lang="zh-CN" altLang="en-US" sz="900" dirty="0">
                <a:solidFill>
                  <a:schemeClr val="tx1"/>
                </a:solidFill>
                <a:latin typeface="楷体" panose="02010609060101010101" pitchFamily="49" charset="-122"/>
                <a:ea typeface="楷体" panose="02010609060101010101" pitchFamily="49" charset="-122"/>
              </a:rPr>
              <a:t>根据品类数据持续扩展</a:t>
            </a:r>
            <a:endParaRPr kumimoji="0" lang="en-US" altLang="zh-CN" sz="9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
        <p:nvSpPr>
          <p:cNvPr id="47" name="文本框 59"/>
          <p:cNvSpPr txBox="1"/>
          <p:nvPr/>
        </p:nvSpPr>
        <p:spPr>
          <a:xfrm>
            <a:off x="6189573" y="1492795"/>
            <a:ext cx="2954427" cy="2308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不同维度代表不同类型的物理世界好店</a:t>
            </a:r>
          </a:p>
        </p:txBody>
      </p:sp>
      <p:sp>
        <p:nvSpPr>
          <p:cNvPr id="53" name="文本框 52"/>
          <p:cNvSpPr txBox="1"/>
          <p:nvPr/>
        </p:nvSpPr>
        <p:spPr>
          <a:xfrm>
            <a:off x="6776433" y="1791292"/>
            <a:ext cx="1561524" cy="200055"/>
          </a:xfrm>
          <a:prstGeom prst="rect">
            <a:avLst/>
          </a:prstGeom>
          <a:noFill/>
        </p:spPr>
        <p:txBody>
          <a:bodyPr wrap="square">
            <a:spAutoFit/>
          </a:bodyPr>
          <a:lstStyle/>
          <a:p>
            <a:pPr algn="ctr"/>
            <a:r>
              <a:rPr lang="en-US" altLang="zh-CN" sz="700" dirty="0">
                <a:solidFill>
                  <a:schemeClr val="tx1"/>
                </a:solidFill>
                <a:latin typeface="+mn-ea"/>
                <a:ea typeface="+mn-ea"/>
              </a:rPr>
              <a:t>Top5%</a:t>
            </a:r>
            <a:r>
              <a:rPr lang="zh-CN" altLang="en-US" sz="700" dirty="0">
                <a:latin typeface="+mn-ea"/>
              </a:rPr>
              <a:t>门店</a:t>
            </a:r>
            <a:r>
              <a:rPr lang="zh-CN" altLang="en-US" sz="700" dirty="0">
                <a:solidFill>
                  <a:schemeClr val="tx1"/>
                </a:solidFill>
                <a:latin typeface="+mn-ea"/>
                <a:ea typeface="+mn-ea"/>
              </a:rPr>
              <a:t>重合度</a:t>
            </a:r>
            <a:r>
              <a:rPr lang="en-US" altLang="zh-CN" sz="700" dirty="0">
                <a:solidFill>
                  <a:schemeClr val="tx1"/>
                </a:solidFill>
                <a:latin typeface="+mn-ea"/>
                <a:ea typeface="+mn-ea"/>
              </a:rPr>
              <a:t>/</a:t>
            </a:r>
            <a:r>
              <a:rPr lang="zh-CN" altLang="en-US" sz="700" dirty="0">
                <a:solidFill>
                  <a:schemeClr val="tx1"/>
                </a:solidFill>
                <a:latin typeface="+mn-ea"/>
                <a:ea typeface="+mn-ea"/>
              </a:rPr>
              <a:t>分位数</a:t>
            </a:r>
            <a:r>
              <a:rPr lang="en-US" altLang="zh-CN" sz="700" dirty="0">
                <a:solidFill>
                  <a:schemeClr val="tx1"/>
                </a:solidFill>
                <a:latin typeface="+mn-ea"/>
                <a:ea typeface="+mn-ea"/>
              </a:rPr>
              <a:t>-</a:t>
            </a:r>
            <a:r>
              <a:rPr lang="zh-CN" altLang="en-US" sz="700" dirty="0">
                <a:solidFill>
                  <a:schemeClr val="tx1"/>
                </a:solidFill>
                <a:latin typeface="+mn-ea"/>
                <a:ea typeface="+mn-ea"/>
              </a:rPr>
              <a:t>高线均值</a:t>
            </a:r>
          </a:p>
        </p:txBody>
      </p:sp>
      <p:cxnSp>
        <p:nvCxnSpPr>
          <p:cNvPr id="60" name="直线连接符 118"/>
          <p:cNvCxnSpPr/>
          <p:nvPr/>
        </p:nvCxnSpPr>
        <p:spPr>
          <a:xfrm>
            <a:off x="3472784" y="1660233"/>
            <a:ext cx="0" cy="2386958"/>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线连接符 118"/>
          <p:cNvCxnSpPr/>
          <p:nvPr/>
        </p:nvCxnSpPr>
        <p:spPr>
          <a:xfrm>
            <a:off x="6324210" y="1650709"/>
            <a:ext cx="0" cy="2386958"/>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196" name="椭圆 7195"/>
          <p:cNvSpPr/>
          <p:nvPr/>
        </p:nvSpPr>
        <p:spPr>
          <a:xfrm>
            <a:off x="7309483" y="2029340"/>
            <a:ext cx="571719" cy="571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sp>
        <p:nvSpPr>
          <p:cNvPr id="7197" name="文本框 7196"/>
          <p:cNvSpPr txBox="1"/>
          <p:nvPr/>
        </p:nvSpPr>
        <p:spPr>
          <a:xfrm>
            <a:off x="7285748" y="2064089"/>
            <a:ext cx="386079" cy="200055"/>
          </a:xfrm>
          <a:prstGeom prst="rect">
            <a:avLst/>
          </a:prstGeom>
          <a:noFill/>
        </p:spPr>
        <p:txBody>
          <a:bodyPr wrap="square">
            <a:spAutoFit/>
          </a:bodyPr>
          <a:lstStyle/>
          <a:p>
            <a:pPr algn="ctr"/>
            <a:r>
              <a:rPr lang="en-US" altLang="zh-CN" sz="700" dirty="0">
                <a:solidFill>
                  <a:schemeClr val="accent3"/>
                </a:solidFill>
                <a:latin typeface="+mn-ea"/>
              </a:rPr>
              <a:t>7%</a:t>
            </a:r>
          </a:p>
        </p:txBody>
      </p:sp>
      <p:sp>
        <p:nvSpPr>
          <p:cNvPr id="7199" name="文本框 7198"/>
          <p:cNvSpPr txBox="1"/>
          <p:nvPr/>
        </p:nvSpPr>
        <p:spPr>
          <a:xfrm>
            <a:off x="7023979" y="2034417"/>
            <a:ext cx="384441" cy="307777"/>
          </a:xfrm>
          <a:prstGeom prst="rect">
            <a:avLst/>
          </a:prstGeom>
          <a:noFill/>
        </p:spPr>
        <p:txBody>
          <a:bodyPr wrap="square">
            <a:spAutoFit/>
          </a:bodyPr>
          <a:lstStyle/>
          <a:p>
            <a:pPr algn="ctr"/>
            <a:r>
              <a:rPr lang="zh-CN" altLang="en-US" sz="700" dirty="0">
                <a:solidFill>
                  <a:schemeClr val="bg1">
                    <a:lumMod val="50000"/>
                  </a:schemeClr>
                </a:solidFill>
                <a:latin typeface="+mn-ea"/>
              </a:rPr>
              <a:t>销量</a:t>
            </a:r>
            <a:endParaRPr lang="en-US" altLang="zh-CN" sz="700" dirty="0">
              <a:solidFill>
                <a:schemeClr val="bg1">
                  <a:lumMod val="50000"/>
                </a:schemeClr>
              </a:solidFill>
              <a:latin typeface="+mn-ea"/>
            </a:endParaRPr>
          </a:p>
          <a:p>
            <a:pPr algn="ctr"/>
            <a:r>
              <a:rPr lang="en-US" altLang="zh-CN" sz="700" dirty="0">
                <a:solidFill>
                  <a:schemeClr val="bg1">
                    <a:lumMod val="50000"/>
                  </a:schemeClr>
                </a:solidFill>
                <a:latin typeface="+mn-ea"/>
              </a:rPr>
              <a:t>16</a:t>
            </a:r>
          </a:p>
        </p:txBody>
      </p:sp>
      <p:sp>
        <p:nvSpPr>
          <p:cNvPr id="7200" name="文本框 7199"/>
          <p:cNvSpPr txBox="1"/>
          <p:nvPr/>
        </p:nvSpPr>
        <p:spPr>
          <a:xfrm>
            <a:off x="7520971" y="2024436"/>
            <a:ext cx="378795" cy="307777"/>
          </a:xfrm>
          <a:prstGeom prst="rect">
            <a:avLst/>
          </a:prstGeom>
          <a:noFill/>
        </p:spPr>
        <p:txBody>
          <a:bodyPr wrap="square">
            <a:spAutoFit/>
          </a:bodyPr>
          <a:lstStyle/>
          <a:p>
            <a:pPr algn="ctr"/>
            <a:r>
              <a:rPr lang="en-US" altLang="zh-CN" sz="700" dirty="0">
                <a:solidFill>
                  <a:schemeClr val="bg1">
                    <a:lumMod val="50000"/>
                  </a:schemeClr>
                </a:solidFill>
                <a:latin typeface="+mn-ea"/>
              </a:rPr>
              <a:t>GTV</a:t>
            </a:r>
          </a:p>
          <a:p>
            <a:pPr algn="ctr"/>
            <a:r>
              <a:rPr lang="en-US" altLang="zh-CN" sz="700" dirty="0">
                <a:solidFill>
                  <a:schemeClr val="bg1">
                    <a:lumMod val="50000"/>
                  </a:schemeClr>
                </a:solidFill>
                <a:latin typeface="+mn-ea"/>
              </a:rPr>
              <a:t>948</a:t>
            </a:r>
          </a:p>
        </p:txBody>
      </p:sp>
      <p:sp>
        <p:nvSpPr>
          <p:cNvPr id="7201" name="文本框 7200"/>
          <p:cNvSpPr txBox="1"/>
          <p:nvPr/>
        </p:nvSpPr>
        <p:spPr>
          <a:xfrm>
            <a:off x="7246183" y="2548848"/>
            <a:ext cx="490826" cy="307777"/>
          </a:xfrm>
          <a:prstGeom prst="rect">
            <a:avLst/>
          </a:prstGeom>
          <a:noFill/>
        </p:spPr>
        <p:txBody>
          <a:bodyPr wrap="square">
            <a:spAutoFit/>
          </a:bodyPr>
          <a:lstStyle/>
          <a:p>
            <a:pPr algn="ctr"/>
            <a:r>
              <a:rPr lang="en-US" altLang="zh-CN" sz="700" dirty="0">
                <a:solidFill>
                  <a:schemeClr val="bg1">
                    <a:lumMod val="50000"/>
                  </a:schemeClr>
                </a:solidFill>
                <a:latin typeface="+mn-ea"/>
              </a:rPr>
              <a:t>UV</a:t>
            </a:r>
          </a:p>
          <a:p>
            <a:pPr algn="ctr"/>
            <a:r>
              <a:rPr lang="en-US" altLang="zh-CN" sz="700" dirty="0">
                <a:solidFill>
                  <a:schemeClr val="bg1">
                    <a:lumMod val="50000"/>
                  </a:schemeClr>
                </a:solidFill>
                <a:latin typeface="+mn-ea"/>
              </a:rPr>
              <a:t>123</a:t>
            </a:r>
          </a:p>
        </p:txBody>
      </p:sp>
      <p:sp>
        <p:nvSpPr>
          <p:cNvPr id="7202" name="文本框 7201"/>
          <p:cNvSpPr txBox="1"/>
          <p:nvPr/>
        </p:nvSpPr>
        <p:spPr>
          <a:xfrm>
            <a:off x="7089284" y="2403640"/>
            <a:ext cx="386079" cy="200055"/>
          </a:xfrm>
          <a:prstGeom prst="rect">
            <a:avLst/>
          </a:prstGeom>
          <a:noFill/>
        </p:spPr>
        <p:txBody>
          <a:bodyPr wrap="square">
            <a:spAutoFit/>
          </a:bodyPr>
          <a:lstStyle/>
          <a:p>
            <a:pPr algn="ctr"/>
            <a:r>
              <a:rPr lang="en-US" altLang="zh-CN" sz="700" dirty="0">
                <a:solidFill>
                  <a:schemeClr val="accent3"/>
                </a:solidFill>
                <a:latin typeface="+mn-ea"/>
              </a:rPr>
              <a:t>5%</a:t>
            </a:r>
          </a:p>
        </p:txBody>
      </p:sp>
      <p:sp>
        <p:nvSpPr>
          <p:cNvPr id="7203" name="文本框 7196"/>
          <p:cNvSpPr txBox="1"/>
          <p:nvPr/>
        </p:nvSpPr>
        <p:spPr>
          <a:xfrm>
            <a:off x="7486799" y="2386404"/>
            <a:ext cx="386079" cy="20005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700" dirty="0">
                <a:solidFill>
                  <a:schemeClr val="accent3"/>
                </a:solidFill>
                <a:latin typeface="+mn-ea"/>
              </a:rPr>
              <a:t>24%</a:t>
            </a:r>
          </a:p>
        </p:txBody>
      </p:sp>
      <p:sp>
        <p:nvSpPr>
          <p:cNvPr id="152" name="椭圆 151"/>
          <p:cNvSpPr/>
          <p:nvPr/>
        </p:nvSpPr>
        <p:spPr>
          <a:xfrm>
            <a:off x="7185484" y="2233816"/>
            <a:ext cx="571719" cy="571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sp>
        <p:nvSpPr>
          <p:cNvPr id="165" name="文本框 164"/>
          <p:cNvSpPr txBox="1"/>
          <p:nvPr/>
        </p:nvSpPr>
        <p:spPr>
          <a:xfrm>
            <a:off x="6776433" y="2984622"/>
            <a:ext cx="1678829" cy="200055"/>
          </a:xfrm>
          <a:prstGeom prst="rect">
            <a:avLst/>
          </a:prstGeom>
          <a:noFill/>
        </p:spPr>
        <p:txBody>
          <a:bodyPr wrap="square">
            <a:spAutoFit/>
          </a:bodyPr>
          <a:lstStyle/>
          <a:p>
            <a:pPr algn="ctr"/>
            <a:r>
              <a:rPr lang="en-US" altLang="zh-CN" sz="700" dirty="0">
                <a:solidFill>
                  <a:schemeClr val="tx1"/>
                </a:solidFill>
                <a:latin typeface="+mn-ea"/>
                <a:ea typeface="+mn-ea"/>
              </a:rPr>
              <a:t>Top5%</a:t>
            </a:r>
            <a:r>
              <a:rPr lang="zh-CN" altLang="en-US" sz="700" dirty="0">
                <a:latin typeface="+mn-ea"/>
              </a:rPr>
              <a:t>门店</a:t>
            </a:r>
            <a:r>
              <a:rPr lang="zh-CN" altLang="en-US" sz="700" dirty="0">
                <a:solidFill>
                  <a:schemeClr val="tx1"/>
                </a:solidFill>
                <a:latin typeface="+mn-ea"/>
                <a:ea typeface="+mn-ea"/>
              </a:rPr>
              <a:t>重合度</a:t>
            </a:r>
            <a:r>
              <a:rPr lang="en-US" altLang="zh-CN" sz="700" dirty="0">
                <a:solidFill>
                  <a:schemeClr val="tx1"/>
                </a:solidFill>
                <a:latin typeface="+mn-ea"/>
                <a:ea typeface="+mn-ea"/>
              </a:rPr>
              <a:t>/</a:t>
            </a:r>
            <a:r>
              <a:rPr lang="zh-CN" altLang="en-US" sz="700" dirty="0">
                <a:solidFill>
                  <a:schemeClr val="tx1"/>
                </a:solidFill>
                <a:latin typeface="+mn-ea"/>
                <a:ea typeface="+mn-ea"/>
              </a:rPr>
              <a:t>分位数</a:t>
            </a:r>
            <a:r>
              <a:rPr lang="en-US" altLang="zh-CN" sz="700" dirty="0">
                <a:solidFill>
                  <a:schemeClr val="tx1"/>
                </a:solidFill>
                <a:latin typeface="+mn-ea"/>
                <a:ea typeface="+mn-ea"/>
              </a:rPr>
              <a:t>-</a:t>
            </a:r>
            <a:r>
              <a:rPr lang="zh-CN" altLang="en-US" sz="700" dirty="0">
                <a:latin typeface="+mn-ea"/>
              </a:rPr>
              <a:t>中低</a:t>
            </a:r>
            <a:r>
              <a:rPr lang="zh-CN" altLang="en-US" sz="700" dirty="0">
                <a:solidFill>
                  <a:schemeClr val="tx1"/>
                </a:solidFill>
                <a:latin typeface="+mn-ea"/>
                <a:ea typeface="+mn-ea"/>
              </a:rPr>
              <a:t>线均值</a:t>
            </a:r>
          </a:p>
        </p:txBody>
      </p:sp>
      <p:sp>
        <p:nvSpPr>
          <p:cNvPr id="166" name="椭圆 165"/>
          <p:cNvSpPr/>
          <p:nvPr/>
        </p:nvSpPr>
        <p:spPr>
          <a:xfrm>
            <a:off x="7069670" y="3161964"/>
            <a:ext cx="584608" cy="5846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sp>
        <p:nvSpPr>
          <p:cNvPr id="167" name="椭圆 166"/>
          <p:cNvSpPr/>
          <p:nvPr/>
        </p:nvSpPr>
        <p:spPr>
          <a:xfrm>
            <a:off x="7366924" y="3159874"/>
            <a:ext cx="571719" cy="571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sp>
        <p:nvSpPr>
          <p:cNvPr id="168" name="文本框 167"/>
          <p:cNvSpPr txBox="1"/>
          <p:nvPr/>
        </p:nvSpPr>
        <p:spPr>
          <a:xfrm>
            <a:off x="7314390" y="3202881"/>
            <a:ext cx="386079" cy="200055"/>
          </a:xfrm>
          <a:prstGeom prst="rect">
            <a:avLst/>
          </a:prstGeom>
          <a:noFill/>
        </p:spPr>
        <p:txBody>
          <a:bodyPr wrap="square">
            <a:spAutoFit/>
          </a:bodyPr>
          <a:lstStyle/>
          <a:p>
            <a:pPr algn="ctr"/>
            <a:r>
              <a:rPr lang="en-US" altLang="zh-CN" sz="700" dirty="0">
                <a:solidFill>
                  <a:schemeClr val="accent3"/>
                </a:solidFill>
                <a:latin typeface="+mn-ea"/>
              </a:rPr>
              <a:t>7%</a:t>
            </a:r>
          </a:p>
        </p:txBody>
      </p:sp>
      <p:sp>
        <p:nvSpPr>
          <p:cNvPr id="169" name="文本框 168"/>
          <p:cNvSpPr txBox="1"/>
          <p:nvPr/>
        </p:nvSpPr>
        <p:spPr>
          <a:xfrm>
            <a:off x="6980517" y="3191167"/>
            <a:ext cx="490826" cy="307777"/>
          </a:xfrm>
          <a:prstGeom prst="rect">
            <a:avLst/>
          </a:prstGeom>
          <a:noFill/>
        </p:spPr>
        <p:txBody>
          <a:bodyPr wrap="square">
            <a:spAutoFit/>
          </a:bodyPr>
          <a:lstStyle/>
          <a:p>
            <a:pPr algn="ctr"/>
            <a:r>
              <a:rPr lang="zh-CN" altLang="en-US" sz="700" dirty="0">
                <a:solidFill>
                  <a:schemeClr val="bg1">
                    <a:lumMod val="50000"/>
                  </a:schemeClr>
                </a:solidFill>
                <a:latin typeface="+mn-ea"/>
              </a:rPr>
              <a:t>销量</a:t>
            </a:r>
            <a:endParaRPr lang="en-US" altLang="zh-CN" sz="700" dirty="0">
              <a:solidFill>
                <a:schemeClr val="bg1">
                  <a:lumMod val="50000"/>
                </a:schemeClr>
              </a:solidFill>
              <a:latin typeface="+mn-ea"/>
            </a:endParaRPr>
          </a:p>
          <a:p>
            <a:pPr algn="ctr"/>
            <a:r>
              <a:rPr lang="en-US" altLang="zh-CN" sz="700" dirty="0">
                <a:solidFill>
                  <a:schemeClr val="bg1">
                    <a:lumMod val="50000"/>
                  </a:schemeClr>
                </a:solidFill>
                <a:latin typeface="+mn-ea"/>
              </a:rPr>
              <a:t>5</a:t>
            </a:r>
          </a:p>
        </p:txBody>
      </p:sp>
      <p:sp>
        <p:nvSpPr>
          <p:cNvPr id="170" name="文本框 169"/>
          <p:cNvSpPr txBox="1"/>
          <p:nvPr/>
        </p:nvSpPr>
        <p:spPr>
          <a:xfrm>
            <a:off x="7516261" y="3168088"/>
            <a:ext cx="490826" cy="307777"/>
          </a:xfrm>
          <a:prstGeom prst="rect">
            <a:avLst/>
          </a:prstGeom>
          <a:noFill/>
        </p:spPr>
        <p:txBody>
          <a:bodyPr wrap="square">
            <a:spAutoFit/>
          </a:bodyPr>
          <a:lstStyle/>
          <a:p>
            <a:pPr algn="ctr"/>
            <a:r>
              <a:rPr lang="en-US" altLang="zh-CN" sz="700" dirty="0">
                <a:solidFill>
                  <a:schemeClr val="bg1">
                    <a:lumMod val="50000"/>
                  </a:schemeClr>
                </a:solidFill>
                <a:latin typeface="+mn-ea"/>
              </a:rPr>
              <a:t>GTV</a:t>
            </a:r>
          </a:p>
          <a:p>
            <a:pPr algn="ctr"/>
            <a:r>
              <a:rPr lang="en-US" altLang="zh-CN" sz="700" dirty="0">
                <a:solidFill>
                  <a:schemeClr val="bg1">
                    <a:lumMod val="50000"/>
                  </a:schemeClr>
                </a:solidFill>
                <a:latin typeface="+mn-ea"/>
              </a:rPr>
              <a:t>505</a:t>
            </a:r>
          </a:p>
        </p:txBody>
      </p:sp>
      <p:sp>
        <p:nvSpPr>
          <p:cNvPr id="171" name="文本框 170"/>
          <p:cNvSpPr txBox="1"/>
          <p:nvPr/>
        </p:nvSpPr>
        <p:spPr>
          <a:xfrm>
            <a:off x="7270350" y="3680730"/>
            <a:ext cx="490826" cy="307777"/>
          </a:xfrm>
          <a:prstGeom prst="rect">
            <a:avLst/>
          </a:prstGeom>
          <a:noFill/>
        </p:spPr>
        <p:txBody>
          <a:bodyPr wrap="square">
            <a:spAutoFit/>
          </a:bodyPr>
          <a:lstStyle/>
          <a:p>
            <a:pPr algn="ctr"/>
            <a:r>
              <a:rPr lang="en-US" altLang="zh-CN" sz="700" dirty="0">
                <a:solidFill>
                  <a:schemeClr val="bg1">
                    <a:lumMod val="50000"/>
                  </a:schemeClr>
                </a:solidFill>
                <a:latin typeface="+mn-ea"/>
              </a:rPr>
              <a:t>UV</a:t>
            </a:r>
          </a:p>
          <a:p>
            <a:pPr algn="ctr"/>
            <a:r>
              <a:rPr lang="en-US" altLang="zh-CN" sz="700" dirty="0">
                <a:solidFill>
                  <a:schemeClr val="bg1">
                    <a:lumMod val="50000"/>
                  </a:schemeClr>
                </a:solidFill>
                <a:latin typeface="+mn-ea"/>
              </a:rPr>
              <a:t>39</a:t>
            </a:r>
          </a:p>
        </p:txBody>
      </p:sp>
      <p:sp>
        <p:nvSpPr>
          <p:cNvPr id="172" name="文本框 171"/>
          <p:cNvSpPr txBox="1"/>
          <p:nvPr/>
        </p:nvSpPr>
        <p:spPr>
          <a:xfrm>
            <a:off x="7129056" y="3510509"/>
            <a:ext cx="386079" cy="200055"/>
          </a:xfrm>
          <a:prstGeom prst="rect">
            <a:avLst/>
          </a:prstGeom>
          <a:noFill/>
        </p:spPr>
        <p:txBody>
          <a:bodyPr wrap="square">
            <a:spAutoFit/>
          </a:bodyPr>
          <a:lstStyle/>
          <a:p>
            <a:pPr algn="ctr"/>
            <a:r>
              <a:rPr lang="en-US" altLang="zh-CN" sz="700" dirty="0">
                <a:solidFill>
                  <a:schemeClr val="accent3"/>
                </a:solidFill>
                <a:latin typeface="+mn-ea"/>
              </a:rPr>
              <a:t>6%</a:t>
            </a:r>
          </a:p>
        </p:txBody>
      </p:sp>
      <p:sp>
        <p:nvSpPr>
          <p:cNvPr id="173" name="文本框 7196"/>
          <p:cNvSpPr txBox="1"/>
          <p:nvPr/>
        </p:nvSpPr>
        <p:spPr>
          <a:xfrm>
            <a:off x="7518982" y="3533669"/>
            <a:ext cx="386079" cy="20005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700" dirty="0">
                <a:solidFill>
                  <a:schemeClr val="accent3"/>
                </a:solidFill>
                <a:latin typeface="+mn-ea"/>
              </a:rPr>
              <a:t>21%</a:t>
            </a:r>
          </a:p>
        </p:txBody>
      </p:sp>
      <p:sp>
        <p:nvSpPr>
          <p:cNvPr id="194" name="椭圆 193"/>
          <p:cNvSpPr/>
          <p:nvPr/>
        </p:nvSpPr>
        <p:spPr>
          <a:xfrm>
            <a:off x="7208171" y="3374771"/>
            <a:ext cx="571719" cy="571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700"/>
          </a:p>
        </p:txBody>
      </p:sp>
      <p:pic>
        <p:nvPicPr>
          <p:cNvPr id="17415"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b="13771"/>
          <a:stretch>
            <a:fillRect/>
          </a:stretch>
        </p:blipFill>
        <p:spPr bwMode="auto">
          <a:xfrm>
            <a:off x="874056" y="1923621"/>
            <a:ext cx="1201823" cy="1724502"/>
          </a:xfrm>
          <a:prstGeom prst="rect">
            <a:avLst/>
          </a:prstGeom>
          <a:noFill/>
          <a:extLst>
            <a:ext uri="{909E8E84-426E-40DD-AFC4-6F175D3DCCD1}">
              <a14:hiddenFill xmlns:a14="http://schemas.microsoft.com/office/drawing/2010/main">
                <a:solidFill>
                  <a:srgbClr val="FFFFFF"/>
                </a:solidFill>
              </a14:hiddenFill>
            </a:ext>
          </a:extLst>
        </p:spPr>
      </p:pic>
      <p:sp>
        <p:nvSpPr>
          <p:cNvPr id="224" name="Rectangle 9"/>
          <p:cNvSpPr>
            <a:spLocks noChangeArrowheads="1"/>
          </p:cNvSpPr>
          <p:nvPr/>
        </p:nvSpPr>
        <p:spPr bwMode="auto">
          <a:xfrm>
            <a:off x="915039" y="1497685"/>
            <a:ext cx="118138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dirty="0">
                <a:ln>
                  <a:noFill/>
                </a:ln>
                <a:solidFill>
                  <a:schemeClr val="tx1"/>
                </a:solidFill>
                <a:effectLst/>
                <a:latin typeface="+mn-ea"/>
              </a:rPr>
              <a:t>昌黎</a:t>
            </a:r>
            <a:r>
              <a:rPr lang="zh-CN" altLang="en-US" sz="900" dirty="0">
                <a:latin typeface="+mn-ea"/>
              </a:rPr>
              <a:t>县找（陌生）</a:t>
            </a:r>
            <a:endParaRPr kumimoji="0" lang="zh-CN" altLang="zh-CN" sz="900" b="0" i="0" u="none" strike="noStrike" cap="none" normalizeH="0" baseline="0" dirty="0">
              <a:ln>
                <a:noFill/>
              </a:ln>
              <a:solidFill>
                <a:schemeClr val="tx1"/>
              </a:solidFill>
              <a:effectLst/>
              <a:latin typeface="+mn-ea"/>
            </a:endParaRPr>
          </a:p>
        </p:txBody>
      </p:sp>
      <p:sp>
        <p:nvSpPr>
          <p:cNvPr id="225" name="Rectangle 9"/>
          <p:cNvSpPr>
            <a:spLocks noChangeArrowheads="1"/>
          </p:cNvSpPr>
          <p:nvPr/>
        </p:nvSpPr>
        <p:spPr bwMode="auto">
          <a:xfrm>
            <a:off x="2039023" y="1483733"/>
            <a:ext cx="144475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900" b="0" i="0" u="none" strike="noStrike" cap="none" normalizeH="0" baseline="0" dirty="0">
                <a:ln>
                  <a:noFill/>
                </a:ln>
                <a:solidFill>
                  <a:schemeClr val="tx1"/>
                </a:solidFill>
                <a:effectLst/>
                <a:latin typeface="+mn-ea"/>
              </a:rPr>
              <a:t>直接定位阿那亚（熟悉）</a:t>
            </a:r>
            <a:endParaRPr kumimoji="0" lang="zh-CN" altLang="zh-CN" sz="900" b="0" i="0" u="none" strike="noStrike" cap="none" normalizeH="0" baseline="0" dirty="0">
              <a:ln>
                <a:noFill/>
              </a:ln>
              <a:solidFill>
                <a:schemeClr val="tx1"/>
              </a:solidFill>
              <a:effectLst/>
              <a:latin typeface="+mn-ea"/>
            </a:endParaRPr>
          </a:p>
        </p:txBody>
      </p:sp>
      <p:sp>
        <p:nvSpPr>
          <p:cNvPr id="226" name="下箭头 36"/>
          <p:cNvSpPr/>
          <p:nvPr/>
        </p:nvSpPr>
        <p:spPr>
          <a:xfrm rot="16200000">
            <a:off x="1949486" y="1532847"/>
            <a:ext cx="156538" cy="162532"/>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latin typeface="+mn-ea"/>
            </a:endParaRPr>
          </a:p>
        </p:txBody>
      </p:sp>
      <p:sp>
        <p:nvSpPr>
          <p:cNvPr id="229" name="米菲PPT42"/>
          <p:cNvSpPr/>
          <p:nvPr/>
        </p:nvSpPr>
        <p:spPr>
          <a:xfrm>
            <a:off x="6464229" y="1201240"/>
            <a:ext cx="2400238" cy="229386"/>
          </a:xfrm>
          <a:prstGeom prst="rect">
            <a:avLst/>
          </a:prstGeom>
          <a:noFill/>
          <a:ln w="0" cap="flat">
            <a:noFill/>
            <a:prstDash val="solid"/>
            <a:miter lim="0"/>
          </a:ln>
        </p:spPr>
        <p:txBody>
          <a:bodyPr vert="horz" wrap="square" lIns="0" tIns="0" rIns="0" bIns="0" anchor="ctr"/>
          <a:lstStyle/>
          <a:p>
            <a:pPr algn="ctr" rtl="0" eaLnBrk="0">
              <a:lnSpc>
                <a:spcPct val="83000"/>
              </a:lnSpc>
            </a:pPr>
            <a:r>
              <a:rPr lang="zh-CN" altLang="en-US" sz="1000" b="1" dirty="0">
                <a:latin typeface="+mn-ea"/>
                <a:cs typeface="MiSans Medium" panose="00000600000000000000" pitchFamily="2" charset="-122"/>
                <a:sym typeface="MiSans Bold" panose="00000800000000000000" pitchFamily="2" charset="-122"/>
              </a:rPr>
              <a:t>维度：补充数据维度，满足多种从众视角</a:t>
            </a:r>
          </a:p>
        </p:txBody>
      </p:sp>
      <p:sp>
        <p:nvSpPr>
          <p:cNvPr id="230" name="米菲PPT42"/>
          <p:cNvSpPr/>
          <p:nvPr/>
        </p:nvSpPr>
        <p:spPr>
          <a:xfrm>
            <a:off x="980301" y="1201853"/>
            <a:ext cx="2250598" cy="234707"/>
          </a:xfrm>
          <a:prstGeom prst="rect">
            <a:avLst/>
          </a:prstGeom>
          <a:noFill/>
          <a:ln w="0" cap="flat">
            <a:noFill/>
            <a:prstDash val="solid"/>
            <a:miter lim="0"/>
          </a:ln>
        </p:spPr>
        <p:txBody>
          <a:bodyPr vert="horz" wrap="square" lIns="0" tIns="0" rIns="0" bIns="0" anchor="ctr"/>
          <a:lstStyle/>
          <a:p>
            <a:pPr algn="ctr" rtl="0" eaLnBrk="0">
              <a:lnSpc>
                <a:spcPct val="83000"/>
              </a:lnSpc>
            </a:pPr>
            <a:r>
              <a:rPr lang="zh-CN" altLang="en-US" sz="1000" b="1" dirty="0">
                <a:latin typeface="+mn-ea"/>
                <a:cs typeface="MiSans Medium" panose="00000600000000000000" pitchFamily="2" charset="-122"/>
                <a:sym typeface="MiSans Bold" panose="00000800000000000000" pitchFamily="2" charset="-122"/>
              </a:rPr>
              <a:t>区域：补充</a:t>
            </a:r>
            <a:r>
              <a:rPr lang="en-US" altLang="zh-CN" sz="1000" b="1" dirty="0">
                <a:latin typeface="+mn-ea"/>
                <a:cs typeface="MiSans Medium" panose="00000600000000000000" pitchFamily="2" charset="-122"/>
                <a:sym typeface="MiSans Bold" panose="00000800000000000000" pitchFamily="2" charset="-122"/>
              </a:rPr>
              <a:t>AOI</a:t>
            </a:r>
            <a:r>
              <a:rPr lang="zh-CN" altLang="en-US" sz="1000" b="1" dirty="0">
                <a:latin typeface="+mn-ea"/>
                <a:cs typeface="MiSans Medium" panose="00000600000000000000" pitchFamily="2" charset="-122"/>
                <a:sym typeface="MiSans Bold" panose="00000800000000000000" pitchFamily="2" charset="-122"/>
              </a:rPr>
              <a:t>，满足热门地标找店需求</a:t>
            </a:r>
            <a:endParaRPr sz="1000" b="1" dirty="0">
              <a:latin typeface="+mn-ea"/>
              <a:cs typeface="MiSans Medium" panose="00000600000000000000" pitchFamily="2" charset="-122"/>
              <a:sym typeface="MiSans Bold" panose="00000800000000000000" pitchFamily="2" charset="-122"/>
            </a:endParaRPr>
          </a:p>
        </p:txBody>
      </p:sp>
      <p:sp>
        <p:nvSpPr>
          <p:cNvPr id="231" name="米菲PPT40"/>
          <p:cNvSpPr/>
          <p:nvPr/>
        </p:nvSpPr>
        <p:spPr>
          <a:xfrm>
            <a:off x="3437699" y="1235083"/>
            <a:ext cx="2815047" cy="181343"/>
          </a:xfrm>
          <a:prstGeom prst="rect">
            <a:avLst/>
          </a:prstGeom>
          <a:noFill/>
          <a:ln w="0" cap="flat">
            <a:noFill/>
            <a:prstDash val="solid"/>
            <a:miter lim="0"/>
          </a:ln>
        </p:spPr>
        <p:txBody>
          <a:bodyPr vert="horz" wrap="square" lIns="0" tIns="0" rIns="0" bIns="0" anchor="ctr"/>
          <a:lstStyle/>
          <a:p>
            <a:pPr algn="ctr" rtl="0" eaLnBrk="0">
              <a:lnSpc>
                <a:spcPct val="83000"/>
              </a:lnSpc>
            </a:pPr>
            <a:r>
              <a:rPr lang="zh-CN" altLang="en-US" sz="1000" b="1" dirty="0">
                <a:latin typeface="+mn-ea"/>
                <a:cs typeface="MiSans Medium" panose="00000600000000000000" pitchFamily="2" charset="-122"/>
                <a:sym typeface="MiSans Bold" panose="00000800000000000000" pitchFamily="2" charset="-122"/>
              </a:rPr>
              <a:t>品类：丰富新热高需品类，完善品类找店需求</a:t>
            </a:r>
            <a:endParaRPr sz="1000" b="1" dirty="0">
              <a:latin typeface="+mn-ea"/>
              <a:cs typeface="MiSans Medium" panose="00000600000000000000" pitchFamily="2" charset="-122"/>
              <a:sym typeface="MiSans Bold" panose="00000800000000000000" pitchFamily="2" charset="-122"/>
            </a:endParaRPr>
          </a:p>
        </p:txBody>
      </p:sp>
      <p:sp>
        <p:nvSpPr>
          <p:cNvPr id="234" name="文本框 233"/>
          <p:cNvSpPr txBox="1"/>
          <p:nvPr/>
        </p:nvSpPr>
        <p:spPr>
          <a:xfrm>
            <a:off x="3479856" y="1550221"/>
            <a:ext cx="673044" cy="200055"/>
          </a:xfrm>
          <a:prstGeom prst="rect">
            <a:avLst/>
          </a:prstGeom>
          <a:noFill/>
        </p:spPr>
        <p:txBody>
          <a:bodyPr wrap="square">
            <a:spAutoFit/>
          </a:bodyPr>
          <a:lstStyle/>
          <a:p>
            <a:r>
              <a:rPr lang="zh-CN" altLang="en-US" sz="700" dirty="0">
                <a:solidFill>
                  <a:schemeClr val="bg1">
                    <a:lumMod val="50000"/>
                  </a:schemeClr>
                </a:solidFill>
                <a:latin typeface="+mn-ea"/>
              </a:rPr>
              <a:t>供给</a:t>
            </a:r>
            <a:r>
              <a:rPr lang="en-US" altLang="zh-CN" sz="700" dirty="0">
                <a:solidFill>
                  <a:schemeClr val="bg1">
                    <a:lumMod val="50000"/>
                  </a:schemeClr>
                </a:solidFill>
                <a:latin typeface="+mn-ea"/>
              </a:rPr>
              <a:t>YoY</a:t>
            </a:r>
            <a:endParaRPr lang="zh-CN" altLang="en-US" sz="700" dirty="0">
              <a:solidFill>
                <a:schemeClr val="bg1">
                  <a:lumMod val="50000"/>
                </a:schemeClr>
              </a:solidFill>
              <a:latin typeface="+mn-ea"/>
            </a:endParaRPr>
          </a:p>
        </p:txBody>
      </p:sp>
      <p:sp>
        <p:nvSpPr>
          <p:cNvPr id="235" name="文本框 234"/>
          <p:cNvSpPr txBox="1"/>
          <p:nvPr/>
        </p:nvSpPr>
        <p:spPr>
          <a:xfrm>
            <a:off x="5538743" y="3627775"/>
            <a:ext cx="946156" cy="200055"/>
          </a:xfrm>
          <a:prstGeom prst="rect">
            <a:avLst/>
          </a:prstGeom>
          <a:noFill/>
        </p:spPr>
        <p:txBody>
          <a:bodyPr wrap="square">
            <a:spAutoFit/>
          </a:bodyPr>
          <a:lstStyle/>
          <a:p>
            <a:pPr algn="ctr"/>
            <a:r>
              <a:rPr lang="zh-CN" altLang="en-US" sz="700" dirty="0">
                <a:solidFill>
                  <a:schemeClr val="bg1">
                    <a:lumMod val="50000"/>
                  </a:schemeClr>
                </a:solidFill>
              </a:rPr>
              <a:t>供给规模（万）</a:t>
            </a:r>
          </a:p>
        </p:txBody>
      </p:sp>
      <p:sp>
        <p:nvSpPr>
          <p:cNvPr id="236" name="圆角矩形 24"/>
          <p:cNvSpPr/>
          <p:nvPr/>
        </p:nvSpPr>
        <p:spPr>
          <a:xfrm>
            <a:off x="3971365" y="4014133"/>
            <a:ext cx="203431" cy="71246"/>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sz="700" dirty="0">
              <a:solidFill>
                <a:schemeClr val="tx1"/>
              </a:solidFill>
              <a:latin typeface="+mn-ea"/>
            </a:endParaRPr>
          </a:p>
        </p:txBody>
      </p:sp>
      <p:sp>
        <p:nvSpPr>
          <p:cNvPr id="238" name="文本框 237"/>
          <p:cNvSpPr txBox="1"/>
          <p:nvPr/>
        </p:nvSpPr>
        <p:spPr>
          <a:xfrm>
            <a:off x="4125792" y="3945952"/>
            <a:ext cx="1949298" cy="215444"/>
          </a:xfrm>
          <a:prstGeom prst="rect">
            <a:avLst/>
          </a:prstGeom>
          <a:noFill/>
        </p:spPr>
        <p:txBody>
          <a:bodyPr wrap="square">
            <a:spAutoFit/>
          </a:bodyPr>
          <a:lstStyle/>
          <a:p>
            <a:pPr marL="0" algn="ctr" rtl="0" eaLnBrk="1" latinLnBrk="0" hangingPunct="1">
              <a:spcBef>
                <a:spcPts val="0"/>
              </a:spcBef>
              <a:spcAft>
                <a:spcPts val="0"/>
              </a:spcAft>
            </a:pPr>
            <a:r>
              <a:rPr kumimoji="1" lang="zh-CN" altLang="zh-CN" sz="800" kern="1200" dirty="0">
                <a:solidFill>
                  <a:schemeClr val="bg1">
                    <a:lumMod val="50000"/>
                  </a:schemeClr>
                </a:solidFill>
                <a:effectLst/>
                <a:latin typeface="楷体" panose="02010609060101010101" pitchFamily="49" charset="-122"/>
                <a:ea typeface="楷体" panose="02010609060101010101" pitchFamily="49" charset="-122"/>
                <a:cs typeface="+mn-cs"/>
              </a:rPr>
              <a:t>缺失品类</a:t>
            </a:r>
            <a:r>
              <a:rPr kumimoji="1" lang="zh-CN" altLang="en-US" sz="800" kern="1200" dirty="0">
                <a:solidFill>
                  <a:schemeClr val="bg1">
                    <a:lumMod val="50000"/>
                  </a:schemeClr>
                </a:solidFill>
                <a:effectLst/>
                <a:latin typeface="楷体" panose="02010609060101010101" pitchFamily="49" charset="-122"/>
                <a:ea typeface="楷体" panose="02010609060101010101" pitchFamily="49" charset="-122"/>
                <a:cs typeface="+mn-cs"/>
              </a:rPr>
              <a:t>，气泡大小为</a:t>
            </a:r>
            <a:r>
              <a:rPr kumimoji="1" lang="en-US" altLang="zh-CN" sz="800" kern="1200" dirty="0">
                <a:solidFill>
                  <a:schemeClr val="bg1">
                    <a:lumMod val="50000"/>
                  </a:schemeClr>
                </a:solidFill>
                <a:effectLst/>
                <a:latin typeface="楷体" panose="02010609060101010101" pitchFamily="49" charset="-122"/>
                <a:ea typeface="楷体" panose="02010609060101010101" pitchFamily="49" charset="-122"/>
                <a:cs typeface="+mn-cs"/>
              </a:rPr>
              <a:t>QV</a:t>
            </a:r>
            <a:r>
              <a:rPr kumimoji="1" lang="zh-CN" altLang="en-US" sz="800" kern="1200" dirty="0">
                <a:solidFill>
                  <a:schemeClr val="bg1">
                    <a:lumMod val="50000"/>
                  </a:schemeClr>
                </a:solidFill>
                <a:effectLst/>
                <a:latin typeface="楷体" panose="02010609060101010101" pitchFamily="49" charset="-122"/>
                <a:ea typeface="楷体" panose="02010609060101010101" pitchFamily="49" charset="-122"/>
                <a:cs typeface="+mn-cs"/>
              </a:rPr>
              <a:t>（用户需求）</a:t>
            </a:r>
            <a:endParaRPr lang="zh-CN" altLang="zh-CN" dirty="0">
              <a:solidFill>
                <a:schemeClr val="bg1">
                  <a:lumMod val="50000"/>
                </a:schemeClr>
              </a:solidFill>
              <a:effectLst/>
            </a:endParaRPr>
          </a:p>
        </p:txBody>
      </p:sp>
      <p:sp>
        <p:nvSpPr>
          <p:cNvPr id="2" name="文本框 1"/>
          <p:cNvSpPr txBox="1"/>
          <p:nvPr/>
        </p:nvSpPr>
        <p:spPr>
          <a:xfrm>
            <a:off x="7331453" y="3407198"/>
            <a:ext cx="386079" cy="200055"/>
          </a:xfrm>
          <a:prstGeom prst="rect">
            <a:avLst/>
          </a:prstGeom>
          <a:noFill/>
        </p:spPr>
        <p:txBody>
          <a:bodyPr wrap="square">
            <a:spAutoFit/>
          </a:bodyPr>
          <a:lstStyle/>
          <a:p>
            <a:pPr algn="ctr"/>
            <a:r>
              <a:rPr lang="en-US" altLang="zh-CN" sz="700" dirty="0">
                <a:solidFill>
                  <a:schemeClr val="accent6"/>
                </a:solidFill>
                <a:latin typeface="+mn-ea"/>
              </a:rPr>
              <a:t>54%</a:t>
            </a:r>
          </a:p>
        </p:txBody>
      </p:sp>
      <p:sp>
        <p:nvSpPr>
          <p:cNvPr id="3" name="文本框 2"/>
          <p:cNvSpPr txBox="1"/>
          <p:nvPr/>
        </p:nvSpPr>
        <p:spPr>
          <a:xfrm>
            <a:off x="7307070" y="2278023"/>
            <a:ext cx="386079" cy="200055"/>
          </a:xfrm>
          <a:prstGeom prst="rect">
            <a:avLst/>
          </a:prstGeom>
          <a:noFill/>
        </p:spPr>
        <p:txBody>
          <a:bodyPr wrap="square">
            <a:spAutoFit/>
          </a:bodyPr>
          <a:lstStyle/>
          <a:p>
            <a:pPr algn="ctr"/>
            <a:r>
              <a:rPr lang="en-US" altLang="zh-CN" sz="700" dirty="0">
                <a:solidFill>
                  <a:schemeClr val="accent6"/>
                </a:solidFill>
                <a:latin typeface="+mn-ea"/>
              </a:rPr>
              <a:t>51%</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1302" y="75275"/>
            <a:ext cx="7664380" cy="427313"/>
          </a:xfrm>
        </p:spPr>
        <p:txBody>
          <a:bodyPr>
            <a:normAutofit/>
          </a:bodyPr>
          <a:lstStyle/>
          <a:p>
            <a:r>
              <a:rPr lang="zh-CN" altLang="en-US" sz="2100" dirty="0">
                <a:latin typeface="+mn-ea"/>
                <a:ea typeface="+mn-ea"/>
              </a:rPr>
              <a:t>榜单动态运营策略</a:t>
            </a:r>
          </a:p>
        </p:txBody>
      </p:sp>
      <p:sp>
        <p:nvSpPr>
          <p:cNvPr id="9" name="米菲PPT54"/>
          <p:cNvSpPr/>
          <p:nvPr/>
        </p:nvSpPr>
        <p:spPr>
          <a:xfrm>
            <a:off x="222539" y="2004872"/>
            <a:ext cx="2047704" cy="271752"/>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mn-ea"/>
              <a:cs typeface="MiSans Medium" panose="00000600000000000000" pitchFamily="2" charset="-122"/>
            </a:endParaRPr>
          </a:p>
        </p:txBody>
      </p:sp>
      <p:sp>
        <p:nvSpPr>
          <p:cNvPr id="10" name="米菲PPT55"/>
          <p:cNvSpPr txBox="1"/>
          <p:nvPr/>
        </p:nvSpPr>
        <p:spPr>
          <a:xfrm>
            <a:off x="204779" y="2022093"/>
            <a:ext cx="2022916" cy="261610"/>
          </a:xfrm>
          <a:prstGeom prst="rect">
            <a:avLst/>
          </a:prstGeom>
          <a:noFill/>
          <a:effectLst/>
        </p:spPr>
        <p:txBody>
          <a:bodyPr wrap="square" rtlCol="0">
            <a:spAutoFit/>
          </a:bodyPr>
          <a:lstStyle/>
          <a:p>
            <a:pPr algn="ctr"/>
            <a:r>
              <a:rPr lang="zh-CN" altLang="en-US" sz="1100" b="1" dirty="0">
                <a:solidFill>
                  <a:schemeClr val="bg1"/>
                </a:solidFill>
                <a:latin typeface="+mn-ea"/>
                <a:cs typeface="MiSans Medium" panose="00000600000000000000" pitchFamily="2" charset="-122"/>
                <a:sym typeface="MiSans Bold" panose="00000800000000000000" pitchFamily="2" charset="-122"/>
              </a:rPr>
              <a:t>上榜高排名商户</a:t>
            </a:r>
          </a:p>
        </p:txBody>
      </p:sp>
      <p:sp>
        <p:nvSpPr>
          <p:cNvPr id="15" name="米菲PPT61"/>
          <p:cNvSpPr/>
          <p:nvPr/>
        </p:nvSpPr>
        <p:spPr>
          <a:xfrm>
            <a:off x="464917" y="2516327"/>
            <a:ext cx="1492940" cy="247447"/>
          </a:xfrm>
          <a:prstGeom prst="roundRect">
            <a:avLst>
              <a:gd name="adj" fmla="val 4500"/>
            </a:avLst>
          </a:prstGeom>
          <a:solidFill>
            <a:schemeClr val="bg1"/>
          </a:solidFill>
          <a:ln w="6350">
            <a:solidFill>
              <a:schemeClr val="accent2">
                <a:alpha val="28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mn-ea"/>
              <a:cs typeface="MiSans Medium" panose="00000600000000000000" pitchFamily="2" charset="-122"/>
            </a:endParaRPr>
          </a:p>
        </p:txBody>
      </p:sp>
      <p:sp>
        <p:nvSpPr>
          <p:cNvPr id="16" name="米菲PPT62"/>
          <p:cNvSpPr txBox="1"/>
          <p:nvPr/>
        </p:nvSpPr>
        <p:spPr>
          <a:xfrm>
            <a:off x="589740" y="2538253"/>
            <a:ext cx="1302766" cy="230832"/>
          </a:xfrm>
          <a:prstGeom prst="rect">
            <a:avLst/>
          </a:prstGeom>
          <a:noFill/>
        </p:spPr>
        <p:txBody>
          <a:bodyPr wrap="square" rtlCol="0">
            <a:spAutoFit/>
          </a:bodyPr>
          <a:lstStyle/>
          <a:p>
            <a:pPr algn="ctr"/>
            <a:r>
              <a:rPr lang="zh-CN" altLang="en-US" sz="900" dirty="0">
                <a:solidFill>
                  <a:srgbClr val="2E2E2D"/>
                </a:solidFill>
                <a:latin typeface="+mn-ea"/>
                <a:cs typeface="MiSans Medium" panose="00000600000000000000" pitchFamily="2" charset="-122"/>
              </a:rPr>
              <a:t>上榜商户</a:t>
            </a:r>
            <a:endParaRPr lang="en-US" altLang="zh-CN" sz="900" dirty="0">
              <a:solidFill>
                <a:srgbClr val="2E2E2D"/>
              </a:solidFill>
              <a:latin typeface="+mn-ea"/>
              <a:cs typeface="MiSans Medium" panose="00000600000000000000" pitchFamily="2" charset="-122"/>
            </a:endParaRPr>
          </a:p>
        </p:txBody>
      </p:sp>
      <p:grpSp>
        <p:nvGrpSpPr>
          <p:cNvPr id="28" name="米菲PPT82"/>
          <p:cNvGrpSpPr/>
          <p:nvPr/>
        </p:nvGrpSpPr>
        <p:grpSpPr>
          <a:xfrm>
            <a:off x="1122097" y="2339474"/>
            <a:ext cx="208316" cy="187816"/>
            <a:chOff x="2789387" y="5853593"/>
            <a:chExt cx="261321" cy="235604"/>
          </a:xfrm>
        </p:grpSpPr>
        <p:grpSp>
          <p:nvGrpSpPr>
            <p:cNvPr id="29" name="组合 28"/>
            <p:cNvGrpSpPr/>
            <p:nvPr/>
          </p:nvGrpSpPr>
          <p:grpSpPr>
            <a:xfrm rot="16200000" flipV="1">
              <a:off x="2858398" y="5784582"/>
              <a:ext cx="123299" cy="261321"/>
              <a:chOff x="9665361" y="-2713471"/>
              <a:chExt cx="988647" cy="1036411"/>
            </a:xfrm>
          </p:grpSpPr>
          <p:cxnSp>
            <p:nvCxnSpPr>
              <p:cNvPr id="33" name="米菲PPT82-1"/>
              <p:cNvCxnSpPr/>
              <p:nvPr/>
            </p:nvCxnSpPr>
            <p:spPr>
              <a:xfrm>
                <a:off x="9665361" y="-2713471"/>
                <a:ext cx="988647" cy="494073"/>
              </a:xfrm>
              <a:prstGeom prst="line">
                <a:avLst/>
              </a:prstGeom>
              <a:ln w="7302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4" name="米菲PPT82-2"/>
              <p:cNvCxnSpPr/>
              <p:nvPr/>
            </p:nvCxnSpPr>
            <p:spPr>
              <a:xfrm flipV="1">
                <a:off x="9665361" y="-2171133"/>
                <a:ext cx="988647" cy="494073"/>
              </a:xfrm>
              <a:prstGeom prst="line">
                <a:avLst/>
              </a:prstGeom>
              <a:ln w="73025" cap="rnd">
                <a:solidFill>
                  <a:schemeClr val="accent2"/>
                </a:solidFill>
                <a:round/>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rot="16200000" flipV="1">
              <a:off x="2884206" y="5962239"/>
              <a:ext cx="81399" cy="172517"/>
              <a:chOff x="9665361" y="-2713471"/>
              <a:chExt cx="988647" cy="1036411"/>
            </a:xfrm>
          </p:grpSpPr>
          <p:cxnSp>
            <p:nvCxnSpPr>
              <p:cNvPr id="31" name="米菲PPT82-3"/>
              <p:cNvCxnSpPr/>
              <p:nvPr/>
            </p:nvCxnSpPr>
            <p:spPr>
              <a:xfrm>
                <a:off x="9665361" y="-2713471"/>
                <a:ext cx="988647" cy="494073"/>
              </a:xfrm>
              <a:prstGeom prst="line">
                <a:avLst/>
              </a:prstGeom>
              <a:ln w="73025" cap="rnd">
                <a:solidFill>
                  <a:schemeClr val="accent2">
                    <a:lumMod val="60000"/>
                    <a:lumOff val="40000"/>
                  </a:schemeClr>
                </a:solidFill>
                <a:round/>
              </a:ln>
            </p:spPr>
            <p:style>
              <a:lnRef idx="1">
                <a:schemeClr val="accent1"/>
              </a:lnRef>
              <a:fillRef idx="0">
                <a:schemeClr val="accent1"/>
              </a:fillRef>
              <a:effectRef idx="0">
                <a:schemeClr val="accent1"/>
              </a:effectRef>
              <a:fontRef idx="minor">
                <a:schemeClr val="tx1"/>
              </a:fontRef>
            </p:style>
          </p:cxnSp>
          <p:cxnSp>
            <p:nvCxnSpPr>
              <p:cNvPr id="32" name="米菲PPT82-4"/>
              <p:cNvCxnSpPr/>
              <p:nvPr/>
            </p:nvCxnSpPr>
            <p:spPr>
              <a:xfrm flipV="1">
                <a:off x="9665361" y="-2171133"/>
                <a:ext cx="988647" cy="494073"/>
              </a:xfrm>
              <a:prstGeom prst="line">
                <a:avLst/>
              </a:prstGeom>
              <a:ln w="73025" cap="rnd">
                <a:solidFill>
                  <a:schemeClr val="accent2">
                    <a:lumMod val="60000"/>
                    <a:lumOff val="40000"/>
                  </a:schemeClr>
                </a:solidFill>
                <a:round/>
              </a:ln>
            </p:spPr>
            <p:style>
              <a:lnRef idx="1">
                <a:schemeClr val="accent1"/>
              </a:lnRef>
              <a:fillRef idx="0">
                <a:schemeClr val="accent1"/>
              </a:fillRef>
              <a:effectRef idx="0">
                <a:schemeClr val="accent1"/>
              </a:effectRef>
              <a:fontRef idx="minor">
                <a:schemeClr val="tx1"/>
              </a:fontRef>
            </p:style>
          </p:cxnSp>
        </p:grpSp>
      </p:grpSp>
      <p:sp>
        <p:nvSpPr>
          <p:cNvPr id="44" name="圆角矩形 43"/>
          <p:cNvSpPr/>
          <p:nvPr/>
        </p:nvSpPr>
        <p:spPr>
          <a:xfrm>
            <a:off x="3049488" y="782168"/>
            <a:ext cx="2130029" cy="40389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1">
                    <a:lumMod val="85000"/>
                    <a:lumOff val="15000"/>
                  </a:schemeClr>
                </a:solidFill>
                <a:latin typeface="+mn-ea"/>
              </a:rPr>
              <a:t>流量价值可感</a:t>
            </a:r>
          </a:p>
        </p:txBody>
      </p:sp>
      <p:sp>
        <p:nvSpPr>
          <p:cNvPr id="45" name="圆角矩形 44"/>
          <p:cNvSpPr/>
          <p:nvPr/>
        </p:nvSpPr>
        <p:spPr>
          <a:xfrm>
            <a:off x="6317675" y="786773"/>
            <a:ext cx="2130029" cy="39398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1">
                    <a:lumMod val="85000"/>
                    <a:lumOff val="15000"/>
                  </a:schemeClr>
                </a:solidFill>
                <a:latin typeface="+mn-ea"/>
              </a:rPr>
              <a:t>流量空间可扩</a:t>
            </a:r>
          </a:p>
        </p:txBody>
      </p:sp>
      <p:sp>
        <p:nvSpPr>
          <p:cNvPr id="46" name="圆角矩形 45"/>
          <p:cNvSpPr/>
          <p:nvPr/>
        </p:nvSpPr>
        <p:spPr>
          <a:xfrm>
            <a:off x="3002377" y="2932296"/>
            <a:ext cx="2130029" cy="39398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1">
                    <a:lumMod val="85000"/>
                    <a:lumOff val="15000"/>
                  </a:schemeClr>
                </a:solidFill>
                <a:latin typeface="+mn-ea"/>
              </a:rPr>
              <a:t>流量结构可控</a:t>
            </a:r>
          </a:p>
        </p:txBody>
      </p:sp>
      <p:sp>
        <p:nvSpPr>
          <p:cNvPr id="47" name="圆角矩形 46"/>
          <p:cNvSpPr/>
          <p:nvPr/>
        </p:nvSpPr>
        <p:spPr>
          <a:xfrm>
            <a:off x="6317675" y="2934723"/>
            <a:ext cx="2130029" cy="39398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1">
                    <a:lumMod val="85000"/>
                    <a:lumOff val="15000"/>
                  </a:schemeClr>
                </a:solidFill>
                <a:latin typeface="+mn-ea"/>
              </a:rPr>
              <a:t>流向榜单可导</a:t>
            </a:r>
          </a:p>
        </p:txBody>
      </p:sp>
      <p:sp>
        <p:nvSpPr>
          <p:cNvPr id="49" name="米菲PPT61"/>
          <p:cNvSpPr/>
          <p:nvPr/>
        </p:nvSpPr>
        <p:spPr>
          <a:xfrm>
            <a:off x="469767" y="3028501"/>
            <a:ext cx="1492940" cy="247447"/>
          </a:xfrm>
          <a:prstGeom prst="roundRect">
            <a:avLst>
              <a:gd name="adj" fmla="val 4500"/>
            </a:avLst>
          </a:prstGeom>
          <a:solidFill>
            <a:schemeClr val="bg1">
              <a:lumMod val="95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mn-ea"/>
              <a:cs typeface="MiSans Medium" panose="00000600000000000000" pitchFamily="2" charset="-122"/>
            </a:endParaRPr>
          </a:p>
        </p:txBody>
      </p:sp>
      <p:sp>
        <p:nvSpPr>
          <p:cNvPr id="50" name="米菲PPT62"/>
          <p:cNvSpPr txBox="1"/>
          <p:nvPr/>
        </p:nvSpPr>
        <p:spPr>
          <a:xfrm>
            <a:off x="594590" y="3050427"/>
            <a:ext cx="1302766" cy="230832"/>
          </a:xfrm>
          <a:prstGeom prst="rect">
            <a:avLst/>
          </a:prstGeom>
          <a:noFill/>
        </p:spPr>
        <p:txBody>
          <a:bodyPr wrap="square" rtlCol="0">
            <a:spAutoFit/>
          </a:bodyPr>
          <a:lstStyle/>
          <a:p>
            <a:pPr algn="ctr"/>
            <a:r>
              <a:rPr lang="zh-CN" altLang="en-US" sz="900" dirty="0">
                <a:solidFill>
                  <a:srgbClr val="2E2E2D"/>
                </a:solidFill>
                <a:latin typeface="+mn-ea"/>
                <a:cs typeface="MiSans Medium" panose="00000600000000000000" pitchFamily="2" charset="-122"/>
              </a:rPr>
              <a:t>收录商户</a:t>
            </a:r>
            <a:endParaRPr lang="en-US" altLang="zh-CN" sz="900" dirty="0">
              <a:solidFill>
                <a:srgbClr val="2E2E2D"/>
              </a:solidFill>
              <a:latin typeface="+mn-ea"/>
              <a:cs typeface="MiSans Medium" panose="00000600000000000000" pitchFamily="2" charset="-122"/>
            </a:endParaRPr>
          </a:p>
        </p:txBody>
      </p:sp>
      <p:grpSp>
        <p:nvGrpSpPr>
          <p:cNvPr id="51" name="米菲PPT82"/>
          <p:cNvGrpSpPr/>
          <p:nvPr/>
        </p:nvGrpSpPr>
        <p:grpSpPr>
          <a:xfrm>
            <a:off x="1132115" y="2840124"/>
            <a:ext cx="208316" cy="187816"/>
            <a:chOff x="2789387" y="5853593"/>
            <a:chExt cx="261321" cy="235604"/>
          </a:xfrm>
        </p:grpSpPr>
        <p:grpSp>
          <p:nvGrpSpPr>
            <p:cNvPr id="52" name="组合 51"/>
            <p:cNvGrpSpPr/>
            <p:nvPr/>
          </p:nvGrpSpPr>
          <p:grpSpPr>
            <a:xfrm rot="16200000" flipV="1">
              <a:off x="2858398" y="5784582"/>
              <a:ext cx="123299" cy="261321"/>
              <a:chOff x="9665361" y="-2713471"/>
              <a:chExt cx="988647" cy="1036411"/>
            </a:xfrm>
          </p:grpSpPr>
          <p:cxnSp>
            <p:nvCxnSpPr>
              <p:cNvPr id="56" name="米菲PPT82-1"/>
              <p:cNvCxnSpPr/>
              <p:nvPr/>
            </p:nvCxnSpPr>
            <p:spPr>
              <a:xfrm>
                <a:off x="9665361" y="-2713471"/>
                <a:ext cx="988647" cy="494073"/>
              </a:xfrm>
              <a:prstGeom prst="line">
                <a:avLst/>
              </a:prstGeom>
              <a:ln w="7302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57" name="米菲PPT82-2"/>
              <p:cNvCxnSpPr/>
              <p:nvPr/>
            </p:nvCxnSpPr>
            <p:spPr>
              <a:xfrm flipV="1">
                <a:off x="9665361" y="-2171133"/>
                <a:ext cx="988647" cy="494073"/>
              </a:xfrm>
              <a:prstGeom prst="line">
                <a:avLst/>
              </a:prstGeom>
              <a:ln w="73025" cap="rnd">
                <a:solidFill>
                  <a:schemeClr val="accent2"/>
                </a:solidFill>
                <a:round/>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rot="16200000" flipV="1">
              <a:off x="2884206" y="5962239"/>
              <a:ext cx="81399" cy="172517"/>
              <a:chOff x="9665361" y="-2713471"/>
              <a:chExt cx="988647" cy="1036411"/>
            </a:xfrm>
          </p:grpSpPr>
          <p:cxnSp>
            <p:nvCxnSpPr>
              <p:cNvPr id="54" name="米菲PPT82-3"/>
              <p:cNvCxnSpPr/>
              <p:nvPr/>
            </p:nvCxnSpPr>
            <p:spPr>
              <a:xfrm>
                <a:off x="9665361" y="-2713471"/>
                <a:ext cx="988647" cy="494073"/>
              </a:xfrm>
              <a:prstGeom prst="line">
                <a:avLst/>
              </a:prstGeom>
              <a:ln w="73025" cap="rnd">
                <a:solidFill>
                  <a:schemeClr val="accent2">
                    <a:lumMod val="60000"/>
                    <a:lumOff val="40000"/>
                  </a:schemeClr>
                </a:solidFill>
                <a:round/>
              </a:ln>
            </p:spPr>
            <p:style>
              <a:lnRef idx="1">
                <a:schemeClr val="accent1"/>
              </a:lnRef>
              <a:fillRef idx="0">
                <a:schemeClr val="accent1"/>
              </a:fillRef>
              <a:effectRef idx="0">
                <a:schemeClr val="accent1"/>
              </a:effectRef>
              <a:fontRef idx="minor">
                <a:schemeClr val="tx1"/>
              </a:fontRef>
            </p:style>
          </p:cxnSp>
          <p:cxnSp>
            <p:nvCxnSpPr>
              <p:cNvPr id="55" name="米菲PPT82-4"/>
              <p:cNvCxnSpPr/>
              <p:nvPr/>
            </p:nvCxnSpPr>
            <p:spPr>
              <a:xfrm flipV="1">
                <a:off x="9665361" y="-2171133"/>
                <a:ext cx="988647" cy="494073"/>
              </a:xfrm>
              <a:prstGeom prst="line">
                <a:avLst/>
              </a:prstGeom>
              <a:ln w="73025" cap="rnd">
                <a:solidFill>
                  <a:schemeClr val="accent2">
                    <a:lumMod val="60000"/>
                    <a:lumOff val="40000"/>
                  </a:schemeClr>
                </a:solidFill>
                <a:round/>
              </a:ln>
            </p:spPr>
            <p:style>
              <a:lnRef idx="1">
                <a:schemeClr val="accent1"/>
              </a:lnRef>
              <a:fillRef idx="0">
                <a:schemeClr val="accent1"/>
              </a:fillRef>
              <a:effectRef idx="0">
                <a:schemeClr val="accent1"/>
              </a:effectRef>
              <a:fontRef idx="minor">
                <a:schemeClr val="tx1"/>
              </a:fontRef>
            </p:style>
          </p:cxnSp>
        </p:grpSp>
      </p:grpSp>
      <p:sp>
        <p:nvSpPr>
          <p:cNvPr id="64" name="文本框 63"/>
          <p:cNvSpPr txBox="1"/>
          <p:nvPr/>
        </p:nvSpPr>
        <p:spPr>
          <a:xfrm>
            <a:off x="2954900" y="1240106"/>
            <a:ext cx="2251531" cy="1068306"/>
          </a:xfrm>
          <a:prstGeom prst="rect">
            <a:avLst/>
          </a:prstGeom>
          <a:noFill/>
        </p:spPr>
        <p:txBody>
          <a:bodyPr wrap="square">
            <a:spAutoFit/>
          </a:bodyPr>
          <a:lstStyle/>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高曝光资源</a:t>
            </a:r>
            <a:r>
              <a:rPr lang="zh-CN" altLang="en-US" sz="1100" b="0" i="0" dirty="0">
                <a:solidFill>
                  <a:srgbClr val="1F2328"/>
                </a:solidFill>
                <a:effectLst/>
                <a:latin typeface="+mn-ea"/>
              </a:rPr>
              <a:t>：</a:t>
            </a:r>
            <a:r>
              <a:rPr lang="zh-CN" altLang="en-US" sz="1100" dirty="0">
                <a:solidFill>
                  <a:srgbClr val="1F2328"/>
                </a:solidFill>
                <a:latin typeface="+mn-ea"/>
              </a:rPr>
              <a:t>营销位</a:t>
            </a:r>
            <a:r>
              <a:rPr lang="zh-CN" altLang="en-US" sz="1100" b="0" i="0" dirty="0">
                <a:solidFill>
                  <a:srgbClr val="1F2328"/>
                </a:solidFill>
                <a:effectLst/>
                <a:latin typeface="+mn-ea"/>
              </a:rPr>
              <a:t>、活动、荣誉标识</a:t>
            </a:r>
            <a:r>
              <a:rPr lang="zh-CN" altLang="en-US" sz="1100" dirty="0">
                <a:solidFill>
                  <a:srgbClr val="1F2328"/>
                </a:solidFill>
                <a:latin typeface="+mn-ea"/>
              </a:rPr>
              <a:t>等</a:t>
            </a:r>
            <a:r>
              <a:rPr lang="zh-CN" altLang="en-US" sz="1100" b="0" i="0" dirty="0">
                <a:solidFill>
                  <a:srgbClr val="1F2328"/>
                </a:solidFill>
                <a:effectLst/>
                <a:latin typeface="+mn-ea"/>
              </a:rPr>
              <a:t>，提升面子</a:t>
            </a:r>
            <a:endParaRPr lang="en-US" altLang="zh-CN" sz="1100" b="0" i="0" dirty="0">
              <a:solidFill>
                <a:srgbClr val="1F2328"/>
              </a:solidFill>
              <a:effectLst/>
              <a:latin typeface="+mn-ea"/>
            </a:endParaRPr>
          </a:p>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高转化资源</a:t>
            </a:r>
            <a:r>
              <a:rPr lang="zh-CN" altLang="en-US" sz="1100" b="0" i="0" dirty="0">
                <a:solidFill>
                  <a:srgbClr val="1F2328"/>
                </a:solidFill>
                <a:effectLst/>
                <a:latin typeface="+mn-ea"/>
              </a:rPr>
              <a:t>：</a:t>
            </a:r>
            <a:r>
              <a:rPr lang="zh-CN" altLang="en-US" sz="1100" b="0" i="0" dirty="0">
                <a:effectLst/>
                <a:latin typeface="+mn-ea"/>
              </a:rPr>
              <a:t>精细化</a:t>
            </a:r>
            <a:r>
              <a:rPr lang="zh-CN" altLang="en-US" sz="1100" dirty="0">
                <a:latin typeface="+mn-ea"/>
                <a:cs typeface="MiSans Medium" panose="00000600000000000000" pitchFamily="2" charset="-122"/>
                <a:sym typeface="MiSans Medium" panose="00000600000000000000" pitchFamily="2" charset="-122"/>
              </a:rPr>
              <a:t>提权、优化路径转化，提升里子</a:t>
            </a:r>
          </a:p>
        </p:txBody>
      </p:sp>
      <p:sp>
        <p:nvSpPr>
          <p:cNvPr id="66" name="文本框 65"/>
          <p:cNvSpPr txBox="1"/>
          <p:nvPr/>
        </p:nvSpPr>
        <p:spPr>
          <a:xfrm>
            <a:off x="6248557" y="1240106"/>
            <a:ext cx="2299758" cy="1068306"/>
          </a:xfrm>
          <a:prstGeom prst="rect">
            <a:avLst/>
          </a:prstGeom>
          <a:noFill/>
        </p:spPr>
        <p:txBody>
          <a:bodyPr wrap="square">
            <a:spAutoFit/>
          </a:bodyPr>
          <a:lstStyle/>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整体抬高：</a:t>
            </a:r>
            <a:r>
              <a:rPr lang="zh-CN" altLang="en-US" sz="1100" b="0" i="0" dirty="0">
                <a:solidFill>
                  <a:srgbClr val="1F2328"/>
                </a:solidFill>
                <a:effectLst/>
                <a:latin typeface="+mn-ea"/>
              </a:rPr>
              <a:t>完善用户找店决策动线，</a:t>
            </a:r>
            <a:r>
              <a:rPr lang="zh-CN" altLang="en-US" sz="1100" dirty="0">
                <a:solidFill>
                  <a:srgbClr val="1F2328"/>
                </a:solidFill>
                <a:latin typeface="+mn-ea"/>
              </a:rPr>
              <a:t>提升整体流量空间</a:t>
            </a:r>
            <a:endParaRPr lang="en-US" altLang="zh-CN" sz="1100" b="0" i="0" dirty="0">
              <a:solidFill>
                <a:srgbClr val="1F2328"/>
              </a:solidFill>
              <a:effectLst/>
              <a:latin typeface="+mn-ea"/>
            </a:endParaRPr>
          </a:p>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定向放大</a:t>
            </a:r>
            <a:r>
              <a:rPr lang="zh-CN" altLang="en-US" sz="1100" b="0" i="0" dirty="0">
                <a:solidFill>
                  <a:srgbClr val="1F2328"/>
                </a:solidFill>
                <a:effectLst/>
                <a:latin typeface="+mn-ea"/>
              </a:rPr>
              <a:t>：区域</a:t>
            </a:r>
            <a:r>
              <a:rPr lang="en-US" altLang="zh-CN" sz="1100" b="0" i="0" dirty="0">
                <a:solidFill>
                  <a:srgbClr val="1F2328"/>
                </a:solidFill>
                <a:effectLst/>
                <a:latin typeface="+mn-ea"/>
              </a:rPr>
              <a:t>*</a:t>
            </a:r>
            <a:r>
              <a:rPr lang="zh-CN" altLang="en-US" sz="1100" b="0" i="0" dirty="0">
                <a:solidFill>
                  <a:srgbClr val="1F2328"/>
                </a:solidFill>
                <a:effectLst/>
                <a:latin typeface="+mn-ea"/>
              </a:rPr>
              <a:t>需求</a:t>
            </a:r>
            <a:r>
              <a:rPr lang="en-US" altLang="zh-CN" sz="1100" b="0" i="0" dirty="0">
                <a:solidFill>
                  <a:srgbClr val="1F2328"/>
                </a:solidFill>
                <a:effectLst/>
                <a:latin typeface="+mn-ea"/>
              </a:rPr>
              <a:t>*</a:t>
            </a:r>
            <a:r>
              <a:rPr lang="zh-CN" altLang="en-US" sz="1100" b="0" i="0" dirty="0">
                <a:solidFill>
                  <a:srgbClr val="1F2328"/>
                </a:solidFill>
                <a:effectLst/>
                <a:latin typeface="+mn-ea"/>
              </a:rPr>
              <a:t>品类</a:t>
            </a:r>
            <a:r>
              <a:rPr lang="en-US" altLang="zh-CN" sz="1100" b="0" i="0" dirty="0">
                <a:solidFill>
                  <a:srgbClr val="1F2328"/>
                </a:solidFill>
                <a:effectLst/>
                <a:latin typeface="+mn-ea"/>
              </a:rPr>
              <a:t>*</a:t>
            </a:r>
            <a:r>
              <a:rPr lang="zh-CN" altLang="en-US" sz="1100" b="0" i="0" dirty="0">
                <a:solidFill>
                  <a:srgbClr val="1F2328"/>
                </a:solidFill>
                <a:effectLst/>
                <a:latin typeface="+mn-ea"/>
              </a:rPr>
              <a:t>时间热度，</a:t>
            </a:r>
            <a:r>
              <a:rPr lang="zh-CN" altLang="en-US" sz="1100" dirty="0">
                <a:solidFill>
                  <a:srgbClr val="1F2328"/>
                </a:solidFill>
                <a:latin typeface="+mn-ea"/>
              </a:rPr>
              <a:t>定向扩充局部空间</a:t>
            </a:r>
            <a:endParaRPr lang="zh-CN" altLang="en-US" sz="1100" dirty="0">
              <a:latin typeface="+mn-ea"/>
            </a:endParaRPr>
          </a:p>
        </p:txBody>
      </p:sp>
      <p:sp>
        <p:nvSpPr>
          <p:cNvPr id="68" name="文本框 67"/>
          <p:cNvSpPr txBox="1"/>
          <p:nvPr/>
        </p:nvSpPr>
        <p:spPr>
          <a:xfrm>
            <a:off x="2954900" y="3403004"/>
            <a:ext cx="2381001" cy="1068306"/>
          </a:xfrm>
          <a:prstGeom prst="rect">
            <a:avLst/>
          </a:prstGeom>
          <a:noFill/>
        </p:spPr>
        <p:txBody>
          <a:bodyPr wrap="square">
            <a:spAutoFit/>
          </a:bodyPr>
          <a:lstStyle/>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构建排名结构</a:t>
            </a:r>
            <a:r>
              <a:rPr lang="zh-CN" altLang="en-US" sz="1100" b="0" i="0" dirty="0">
                <a:solidFill>
                  <a:srgbClr val="1F2328"/>
                </a:solidFill>
                <a:effectLst/>
                <a:latin typeface="+mn-ea"/>
              </a:rPr>
              <a:t>：对于同区同需同品，</a:t>
            </a:r>
            <a:r>
              <a:rPr lang="zh-CN" altLang="en-US" sz="1100" dirty="0">
                <a:solidFill>
                  <a:srgbClr val="1F2328"/>
                </a:solidFill>
                <a:latin typeface="+mn-ea"/>
              </a:rPr>
              <a:t>具备一定对</a:t>
            </a:r>
            <a:r>
              <a:rPr lang="zh-CN" altLang="en-US" sz="1100" b="0" i="0" dirty="0">
                <a:solidFill>
                  <a:srgbClr val="1F2328"/>
                </a:solidFill>
                <a:effectLst/>
                <a:latin typeface="+mn-ea"/>
              </a:rPr>
              <a:t>不同名次上榜商户流量分配和营销资源分配能力，提升商家冲榜意愿</a:t>
            </a:r>
            <a:endParaRPr lang="en-US" altLang="zh-CN" sz="1100" dirty="0">
              <a:solidFill>
                <a:srgbClr val="1F2328"/>
              </a:solidFill>
              <a:latin typeface="+mn-ea"/>
            </a:endParaRPr>
          </a:p>
        </p:txBody>
      </p:sp>
      <p:cxnSp>
        <p:nvCxnSpPr>
          <p:cNvPr id="72" name="直线连接符 71"/>
          <p:cNvCxnSpPr/>
          <p:nvPr/>
        </p:nvCxnSpPr>
        <p:spPr>
          <a:xfrm>
            <a:off x="2997448" y="2603856"/>
            <a:ext cx="56816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线连接符 73"/>
          <p:cNvCxnSpPr/>
          <p:nvPr/>
        </p:nvCxnSpPr>
        <p:spPr>
          <a:xfrm>
            <a:off x="5669395" y="798032"/>
            <a:ext cx="0" cy="3773969"/>
          </a:xfrm>
          <a:prstGeom prst="line">
            <a:avLst/>
          </a:prstGeom>
        </p:spPr>
        <p:style>
          <a:lnRef idx="1">
            <a:schemeClr val="accent1"/>
          </a:lnRef>
          <a:fillRef idx="0">
            <a:schemeClr val="accent1"/>
          </a:fillRef>
          <a:effectRef idx="0">
            <a:schemeClr val="accent1"/>
          </a:effectRef>
          <a:fontRef idx="minor">
            <a:schemeClr val="tx1"/>
          </a:fontRef>
        </p:style>
      </p:cxnSp>
      <p:sp>
        <p:nvSpPr>
          <p:cNvPr id="76" name="左大括号 75"/>
          <p:cNvSpPr/>
          <p:nvPr/>
        </p:nvSpPr>
        <p:spPr>
          <a:xfrm>
            <a:off x="2398816" y="676894"/>
            <a:ext cx="427511" cy="38713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mn-ea"/>
            </a:endParaRPr>
          </a:p>
        </p:txBody>
      </p:sp>
      <p:sp>
        <p:nvSpPr>
          <p:cNvPr id="79" name="文本框 78"/>
          <p:cNvSpPr txBox="1"/>
          <p:nvPr/>
        </p:nvSpPr>
        <p:spPr>
          <a:xfrm>
            <a:off x="6231093" y="3360684"/>
            <a:ext cx="2381001" cy="1068306"/>
          </a:xfrm>
          <a:prstGeom prst="rect">
            <a:avLst/>
          </a:prstGeom>
          <a:noFill/>
        </p:spPr>
        <p:txBody>
          <a:bodyPr wrap="square">
            <a:spAutoFit/>
          </a:bodyPr>
          <a:lstStyle/>
          <a:p>
            <a:pPr>
              <a:lnSpc>
                <a:spcPct val="150000"/>
              </a:lnSpc>
            </a:pPr>
            <a:r>
              <a:rPr lang="zh-CN" altLang="en-US" sz="1100" b="0" i="0" dirty="0">
                <a:solidFill>
                  <a:srgbClr val="1F2328"/>
                </a:solidFill>
                <a:effectLst/>
                <a:latin typeface="+mn-ea"/>
              </a:rPr>
              <a:t>▸ </a:t>
            </a:r>
            <a:r>
              <a:rPr lang="zh-CN" altLang="en-US" sz="1100" b="1" i="0" dirty="0">
                <a:solidFill>
                  <a:srgbClr val="1F2328"/>
                </a:solidFill>
                <a:effectLst/>
                <a:latin typeface="+mn-ea"/>
              </a:rPr>
              <a:t>丰富矩阵赛道</a:t>
            </a:r>
            <a:r>
              <a:rPr lang="en-US" altLang="zh-CN" sz="1100" dirty="0">
                <a:solidFill>
                  <a:srgbClr val="1F2328"/>
                </a:solidFill>
                <a:latin typeface="+mn-ea"/>
              </a:rPr>
              <a:t>:</a:t>
            </a:r>
            <a:r>
              <a:rPr lang="zh-CN" altLang="en-US" sz="1100" dirty="0">
                <a:solidFill>
                  <a:srgbClr val="1F2328"/>
                </a:solidFill>
                <a:latin typeface="+mn-ea"/>
              </a:rPr>
              <a:t>丰富榜单矩阵，牵引不同特色的商家</a:t>
            </a:r>
            <a:endParaRPr lang="en-US" altLang="zh-CN" sz="1100" dirty="0">
              <a:solidFill>
                <a:srgbClr val="1F2328"/>
              </a:solidFill>
              <a:latin typeface="+mn-ea"/>
            </a:endParaRPr>
          </a:p>
          <a:p>
            <a:pPr>
              <a:lnSpc>
                <a:spcPct val="150000"/>
              </a:lnSpc>
            </a:pPr>
            <a:r>
              <a:rPr lang="zh-CN" altLang="en-US" sz="1100" dirty="0">
                <a:solidFill>
                  <a:srgbClr val="1F2328"/>
                </a:solidFill>
                <a:latin typeface="+mn-ea"/>
              </a:rPr>
              <a:t>▸ </a:t>
            </a:r>
            <a:r>
              <a:rPr lang="zh-CN" altLang="en-US" sz="1100" b="1" dirty="0">
                <a:solidFill>
                  <a:srgbClr val="1F2328"/>
                </a:solidFill>
                <a:latin typeface="+mn-ea"/>
              </a:rPr>
              <a:t>优化资产引用</a:t>
            </a:r>
            <a:r>
              <a:rPr lang="zh-CN" altLang="en-US" sz="1100" dirty="0">
                <a:solidFill>
                  <a:srgbClr val="1F2328"/>
                </a:solidFill>
                <a:latin typeface="+mn-ea"/>
              </a:rPr>
              <a:t>：通过榜单规则优化，适当透传平台政策方向</a:t>
            </a:r>
            <a:endParaRPr lang="en-US" altLang="zh-CN" sz="1100" b="0" i="0" dirty="0">
              <a:solidFill>
                <a:srgbClr val="1F2328"/>
              </a:solidFill>
              <a:effectLst/>
              <a:latin typeface="+mn-ea"/>
            </a:endParaRPr>
          </a:p>
        </p:txBody>
      </p:sp>
      <p:sp>
        <p:nvSpPr>
          <p:cNvPr id="3" name="文本框 2"/>
          <p:cNvSpPr txBox="1"/>
          <p:nvPr/>
        </p:nvSpPr>
        <p:spPr>
          <a:xfrm>
            <a:off x="222538" y="3292667"/>
            <a:ext cx="2047705" cy="306559"/>
          </a:xfrm>
          <a:prstGeom prst="rect">
            <a:avLst/>
          </a:prstGeom>
          <a:noFill/>
        </p:spPr>
        <p:txBody>
          <a:bodyPr wrap="square">
            <a:spAutoFit/>
          </a:bodyPr>
          <a:lstStyle/>
          <a:p>
            <a:pPr algn="ctr">
              <a:lnSpc>
                <a:spcPct val="150000"/>
              </a:lnSpc>
            </a:pPr>
            <a:r>
              <a:rPr lang="zh-CN" altLang="en-US" sz="1100" dirty="0">
                <a:solidFill>
                  <a:srgbClr val="1F2328"/>
                </a:solidFill>
                <a:latin typeface="+mn-ea"/>
                <a:cs typeface="MiSans Medium" panose="00000600000000000000" pitchFamily="2" charset="-122"/>
                <a:sym typeface="MiSans Medium" panose="00000600000000000000" pitchFamily="2" charset="-122"/>
              </a:rPr>
              <a:t>区域</a:t>
            </a:r>
            <a:r>
              <a:rPr lang="en-US" altLang="zh-CN" sz="1100" dirty="0">
                <a:solidFill>
                  <a:srgbClr val="1F2328"/>
                </a:solidFill>
                <a:latin typeface="+mn-ea"/>
                <a:cs typeface="MiSans Medium" panose="00000600000000000000" pitchFamily="2" charset="-122"/>
                <a:sym typeface="MiSans Medium" panose="00000600000000000000" pitchFamily="2" charset="-122"/>
              </a:rPr>
              <a:t>x</a:t>
            </a:r>
            <a:r>
              <a:rPr lang="zh-CN" altLang="en-US" sz="1100" dirty="0">
                <a:solidFill>
                  <a:srgbClr val="1F2328"/>
                </a:solidFill>
                <a:latin typeface="+mn-ea"/>
                <a:cs typeface="MiSans Medium" panose="00000600000000000000" pitchFamily="2" charset="-122"/>
                <a:sym typeface="MiSans Medium" panose="00000600000000000000" pitchFamily="2" charset="-122"/>
              </a:rPr>
              <a:t>需求</a:t>
            </a:r>
            <a:r>
              <a:rPr lang="en-US" altLang="zh-CN" sz="1100" dirty="0">
                <a:solidFill>
                  <a:srgbClr val="1F2328"/>
                </a:solidFill>
                <a:latin typeface="+mn-ea"/>
                <a:cs typeface="MiSans Medium" panose="00000600000000000000" pitchFamily="2" charset="-122"/>
                <a:sym typeface="MiSans Medium" panose="00000600000000000000" pitchFamily="2" charset="-122"/>
              </a:rPr>
              <a:t>x</a:t>
            </a:r>
            <a:r>
              <a:rPr lang="zh-CN" altLang="en-US" sz="1100" dirty="0">
                <a:solidFill>
                  <a:srgbClr val="1F2328"/>
                </a:solidFill>
                <a:latin typeface="+mn-ea"/>
                <a:cs typeface="MiSans Medium" panose="00000600000000000000" pitchFamily="2" charset="-122"/>
                <a:sym typeface="MiSans Medium" panose="00000600000000000000" pitchFamily="2" charset="-122"/>
              </a:rPr>
              <a:t>品类</a:t>
            </a:r>
            <a:endParaRPr lang="zh-CN" altLang="en-US" sz="1100" dirty="0">
              <a:solidFill>
                <a:schemeClr val="tx1">
                  <a:lumMod val="65000"/>
                  <a:lumOff val="35000"/>
                </a:schemeClr>
              </a:solidFill>
              <a:latin typeface="+mn-ea"/>
              <a:cs typeface="MiSans Medium" panose="00000600000000000000" pitchFamily="2" charset="-122"/>
              <a:sym typeface="MiSans Medium" panose="00000600000000000000" pitchFamily="2"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矩形 82"/>
          <p:cNvSpPr/>
          <p:nvPr/>
        </p:nvSpPr>
        <p:spPr>
          <a:xfrm>
            <a:off x="0" y="3151172"/>
            <a:ext cx="9144000" cy="676959"/>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0" name="Rounded Rectangle"/>
          <p:cNvSpPr/>
          <p:nvPr/>
        </p:nvSpPr>
        <p:spPr>
          <a:xfrm>
            <a:off x="5647982" y="804544"/>
            <a:ext cx="3242018" cy="541261"/>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25" name="矩形 24"/>
          <p:cNvSpPr/>
          <p:nvPr/>
        </p:nvSpPr>
        <p:spPr>
          <a:xfrm>
            <a:off x="0" y="1501502"/>
            <a:ext cx="9144000" cy="676959"/>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3" name="Rounded Rectangle"/>
          <p:cNvSpPr/>
          <p:nvPr/>
        </p:nvSpPr>
        <p:spPr>
          <a:xfrm>
            <a:off x="3492362" y="1207620"/>
            <a:ext cx="1002354" cy="3779261"/>
          </a:xfrm>
          <a:prstGeom prst="roundRect">
            <a:avLst>
              <a:gd name="adj" fmla="val 4117"/>
            </a:avLst>
          </a:prstGeom>
          <a:noFill/>
          <a:ln w="6350">
            <a:solidFill>
              <a:schemeClr val="bg1">
                <a:lumMod val="65000"/>
              </a:schemeClr>
            </a:solidFill>
            <a:prstDash val="lgDash"/>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88" name="矩形 87"/>
          <p:cNvSpPr/>
          <p:nvPr/>
        </p:nvSpPr>
        <p:spPr>
          <a:xfrm>
            <a:off x="0" y="4583171"/>
            <a:ext cx="9144000" cy="457396"/>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标题 3"/>
          <p:cNvSpPr>
            <a:spLocks noGrp="1"/>
          </p:cNvSpPr>
          <p:nvPr>
            <p:ph type="title"/>
          </p:nvPr>
        </p:nvSpPr>
        <p:spPr>
          <a:xfrm>
            <a:off x="159402" y="15438"/>
            <a:ext cx="7664380" cy="427313"/>
          </a:xfrm>
        </p:spPr>
        <p:txBody>
          <a:bodyPr>
            <a:normAutofit/>
          </a:bodyPr>
          <a:lstStyle/>
          <a:p>
            <a:r>
              <a:rPr lang="zh-CN" altLang="en-US" sz="2100" dirty="0">
                <a:latin typeface="+mn-ea"/>
                <a:ea typeface="+mn-ea"/>
              </a:rPr>
              <a:t>用户找店决策动线分析</a:t>
            </a:r>
          </a:p>
        </p:txBody>
      </p:sp>
      <p:sp>
        <p:nvSpPr>
          <p:cNvPr id="12" name="米菲PPT9"/>
          <p:cNvSpPr/>
          <p:nvPr/>
        </p:nvSpPr>
        <p:spPr>
          <a:xfrm>
            <a:off x="1402699" y="508154"/>
            <a:ext cx="1333115" cy="205803"/>
          </a:xfrm>
          <a:prstGeom prst="homePlate">
            <a:avLst>
              <a:gd name="adj" fmla="val 36289"/>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1100" dirty="0">
                <a:solidFill>
                  <a:schemeClr val="tx1"/>
                </a:solidFill>
                <a:latin typeface="+mn-ea"/>
                <a:cs typeface="MiSans Medium" panose="00000600000000000000" pitchFamily="2" charset="-122"/>
                <a:sym typeface="MiSans Bold" panose="00000800000000000000" pitchFamily="2" charset="-122"/>
              </a:rPr>
              <a:t>起心动念</a:t>
            </a:r>
          </a:p>
        </p:txBody>
      </p:sp>
      <p:sp>
        <p:nvSpPr>
          <p:cNvPr id="13" name="米菲PPT10"/>
          <p:cNvSpPr/>
          <p:nvPr/>
        </p:nvSpPr>
        <p:spPr>
          <a:xfrm>
            <a:off x="2743905" y="508154"/>
            <a:ext cx="1550064" cy="205803"/>
          </a:xfrm>
          <a:prstGeom prst="chevron">
            <a:avLst>
              <a:gd name="adj" fmla="val 31173"/>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1100" dirty="0">
                <a:solidFill>
                  <a:schemeClr val="tx1"/>
                </a:solidFill>
                <a:latin typeface="+mn-ea"/>
                <a:cs typeface="MiSans Medium" panose="00000600000000000000" pitchFamily="2" charset="-122"/>
                <a:sym typeface="MiSans Bold" panose="00000800000000000000" pitchFamily="2" charset="-122"/>
              </a:rPr>
              <a:t>考虑决策</a:t>
            </a:r>
          </a:p>
        </p:txBody>
      </p:sp>
      <p:sp>
        <p:nvSpPr>
          <p:cNvPr id="14" name="米菲PPT11"/>
          <p:cNvSpPr/>
          <p:nvPr/>
        </p:nvSpPr>
        <p:spPr>
          <a:xfrm>
            <a:off x="4302061" y="508154"/>
            <a:ext cx="1550064" cy="205803"/>
          </a:xfrm>
          <a:prstGeom prst="chevron">
            <a:avLst>
              <a:gd name="adj" fmla="val 31173"/>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1100" dirty="0">
                <a:solidFill>
                  <a:schemeClr val="tx1"/>
                </a:solidFill>
                <a:latin typeface="+mn-ea"/>
                <a:cs typeface="MiSans Medium" panose="00000600000000000000" pitchFamily="2" charset="-122"/>
                <a:sym typeface="MiSans Bold" panose="00000800000000000000" pitchFamily="2" charset="-122"/>
              </a:rPr>
              <a:t>评估选择</a:t>
            </a:r>
          </a:p>
        </p:txBody>
      </p:sp>
      <p:sp>
        <p:nvSpPr>
          <p:cNvPr id="15" name="米菲PPT12"/>
          <p:cNvSpPr/>
          <p:nvPr/>
        </p:nvSpPr>
        <p:spPr>
          <a:xfrm>
            <a:off x="5860216" y="508154"/>
            <a:ext cx="1852797" cy="205803"/>
          </a:xfrm>
          <a:prstGeom prst="chevron">
            <a:avLst>
              <a:gd name="adj" fmla="val 31173"/>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1100" dirty="0">
                <a:solidFill>
                  <a:schemeClr val="tx1"/>
                </a:solidFill>
                <a:latin typeface="+mn-ea"/>
                <a:cs typeface="MiSans Medium" panose="00000600000000000000" pitchFamily="2" charset="-122"/>
                <a:sym typeface="MiSans Bold" panose="00000800000000000000" pitchFamily="2" charset="-122"/>
              </a:rPr>
              <a:t>交易履约</a:t>
            </a:r>
          </a:p>
        </p:txBody>
      </p:sp>
      <p:sp>
        <p:nvSpPr>
          <p:cNvPr id="16" name="米菲PPT13"/>
          <p:cNvSpPr/>
          <p:nvPr/>
        </p:nvSpPr>
        <p:spPr>
          <a:xfrm>
            <a:off x="7741301" y="508154"/>
            <a:ext cx="1227136" cy="205803"/>
          </a:xfrm>
          <a:prstGeom prst="chevron">
            <a:avLst>
              <a:gd name="adj" fmla="val 31173"/>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1100" dirty="0">
                <a:solidFill>
                  <a:schemeClr val="tx1"/>
                </a:solidFill>
                <a:latin typeface="+mn-ea"/>
                <a:cs typeface="MiSans Medium" panose="00000600000000000000" pitchFamily="2" charset="-122"/>
                <a:sym typeface="MiSans Bold" panose="00000800000000000000" pitchFamily="2" charset="-122"/>
              </a:rPr>
              <a:t>餐后评价</a:t>
            </a:r>
          </a:p>
        </p:txBody>
      </p:sp>
      <p:sp>
        <p:nvSpPr>
          <p:cNvPr id="31" name="矩形: 圆角 30"/>
          <p:cNvSpPr/>
          <p:nvPr/>
        </p:nvSpPr>
        <p:spPr>
          <a:xfrm>
            <a:off x="156057" y="1600578"/>
            <a:ext cx="1135988" cy="304218"/>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搜索型动线</a:t>
            </a:r>
          </a:p>
        </p:txBody>
      </p:sp>
      <p:sp>
        <p:nvSpPr>
          <p:cNvPr id="44" name="矩形: 圆角 43"/>
          <p:cNvSpPr/>
          <p:nvPr/>
        </p:nvSpPr>
        <p:spPr>
          <a:xfrm>
            <a:off x="159402" y="2334158"/>
            <a:ext cx="1135988" cy="381935"/>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筛选型动线</a:t>
            </a:r>
          </a:p>
        </p:txBody>
      </p:sp>
      <p:sp>
        <p:nvSpPr>
          <p:cNvPr id="46" name="矩形: 圆角 45"/>
          <p:cNvSpPr/>
          <p:nvPr/>
        </p:nvSpPr>
        <p:spPr>
          <a:xfrm>
            <a:off x="159402" y="3223479"/>
            <a:ext cx="1135988" cy="377662"/>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发现型动线</a:t>
            </a:r>
          </a:p>
        </p:txBody>
      </p:sp>
      <p:sp>
        <p:nvSpPr>
          <p:cNvPr id="47" name="矩形: 圆角 46"/>
          <p:cNvSpPr/>
          <p:nvPr/>
        </p:nvSpPr>
        <p:spPr>
          <a:xfrm>
            <a:off x="159401" y="3961632"/>
            <a:ext cx="1135988" cy="359834"/>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触发型动线</a:t>
            </a:r>
          </a:p>
        </p:txBody>
      </p:sp>
      <p:sp>
        <p:nvSpPr>
          <p:cNvPr id="73" name="文本框 72"/>
          <p:cNvSpPr txBox="1"/>
          <p:nvPr/>
        </p:nvSpPr>
        <p:spPr>
          <a:xfrm>
            <a:off x="190551" y="1855865"/>
            <a:ext cx="1066999" cy="230832"/>
          </a:xfrm>
          <a:prstGeom prst="rect">
            <a:avLst/>
          </a:prstGeom>
          <a:noFill/>
        </p:spPr>
        <p:txBody>
          <a:bodyPr wrap="square">
            <a:spAutoFit/>
          </a:bodyPr>
          <a:lstStyle/>
          <a:p>
            <a:pPr algn="ctr"/>
            <a:r>
              <a:rPr lang="zh-CN" altLang="en-US" sz="900" dirty="0">
                <a:solidFill>
                  <a:schemeClr val="bg1">
                    <a:lumMod val="50000"/>
                  </a:schemeClr>
                </a:solidFill>
                <a:latin typeface="+mn-ea"/>
              </a:rPr>
              <a:t>如大搜</a:t>
            </a:r>
            <a:r>
              <a:rPr lang="en-US" altLang="zh-CN" sz="900" dirty="0">
                <a:solidFill>
                  <a:schemeClr val="bg1">
                    <a:lumMod val="50000"/>
                  </a:schemeClr>
                </a:solidFill>
                <a:latin typeface="+mn-ea"/>
              </a:rPr>
              <a:t> 2,400w</a:t>
            </a:r>
            <a:endParaRPr lang="zh-CN" altLang="en-US" sz="900" dirty="0">
              <a:solidFill>
                <a:schemeClr val="bg1">
                  <a:lumMod val="50000"/>
                </a:schemeClr>
              </a:solidFill>
              <a:latin typeface="+mn-ea"/>
            </a:endParaRPr>
          </a:p>
        </p:txBody>
      </p:sp>
      <p:sp>
        <p:nvSpPr>
          <p:cNvPr id="74" name="文本框 73"/>
          <p:cNvSpPr txBox="1"/>
          <p:nvPr/>
        </p:nvSpPr>
        <p:spPr>
          <a:xfrm>
            <a:off x="171647" y="2675839"/>
            <a:ext cx="1135987" cy="230832"/>
          </a:xfrm>
          <a:prstGeom prst="rect">
            <a:avLst/>
          </a:prstGeom>
          <a:noFill/>
        </p:spPr>
        <p:txBody>
          <a:bodyPr wrap="square">
            <a:spAutoFit/>
          </a:bodyPr>
          <a:lstStyle/>
          <a:p>
            <a:pPr algn="ctr"/>
            <a:r>
              <a:rPr lang="zh-CN" altLang="en-US" sz="900" dirty="0">
                <a:solidFill>
                  <a:schemeClr val="bg1">
                    <a:lumMod val="50000"/>
                  </a:schemeClr>
                </a:solidFill>
                <a:latin typeface="+mn-ea"/>
              </a:rPr>
              <a:t>如金刚</a:t>
            </a:r>
            <a:r>
              <a:rPr lang="en-US" altLang="zh-CN" sz="900" dirty="0">
                <a:solidFill>
                  <a:schemeClr val="bg1">
                    <a:lumMod val="50000"/>
                  </a:schemeClr>
                </a:solidFill>
                <a:latin typeface="+mn-ea"/>
              </a:rPr>
              <a:t>,</a:t>
            </a:r>
            <a:r>
              <a:rPr lang="zh-CN" altLang="en-US" sz="900" dirty="0">
                <a:solidFill>
                  <a:schemeClr val="bg1">
                    <a:lumMod val="50000"/>
                  </a:schemeClr>
                </a:solidFill>
                <a:latin typeface="+mn-ea"/>
              </a:rPr>
              <a:t>约</a:t>
            </a:r>
            <a:r>
              <a:rPr lang="en-US" altLang="zh-CN" sz="900" dirty="0">
                <a:solidFill>
                  <a:schemeClr val="bg1">
                    <a:lumMod val="50000"/>
                  </a:schemeClr>
                </a:solidFill>
                <a:latin typeface="+mn-ea"/>
              </a:rPr>
              <a:t>1,000w</a:t>
            </a:r>
            <a:endParaRPr lang="zh-CN" altLang="en-US" sz="900" dirty="0">
              <a:solidFill>
                <a:schemeClr val="bg1">
                  <a:lumMod val="50000"/>
                </a:schemeClr>
              </a:solidFill>
              <a:latin typeface="+mn-ea"/>
            </a:endParaRPr>
          </a:p>
        </p:txBody>
      </p:sp>
      <p:sp>
        <p:nvSpPr>
          <p:cNvPr id="75" name="文本框 74"/>
          <p:cNvSpPr txBox="1"/>
          <p:nvPr/>
        </p:nvSpPr>
        <p:spPr>
          <a:xfrm>
            <a:off x="231276" y="3536302"/>
            <a:ext cx="992237" cy="230832"/>
          </a:xfrm>
          <a:prstGeom prst="rect">
            <a:avLst/>
          </a:prstGeom>
          <a:noFill/>
        </p:spPr>
        <p:txBody>
          <a:bodyPr wrap="square">
            <a:spAutoFit/>
          </a:bodyPr>
          <a:lstStyle/>
          <a:p>
            <a:pPr algn="ctr"/>
            <a:r>
              <a:rPr lang="zh-CN" altLang="en-US" sz="900" dirty="0">
                <a:solidFill>
                  <a:schemeClr val="bg1">
                    <a:lumMod val="50000"/>
                  </a:schemeClr>
                </a:solidFill>
                <a:latin typeface="+mn-ea"/>
              </a:rPr>
              <a:t>如推荐</a:t>
            </a:r>
            <a:r>
              <a:rPr lang="en-US" altLang="zh-CN" sz="900" dirty="0">
                <a:solidFill>
                  <a:schemeClr val="bg1">
                    <a:lumMod val="50000"/>
                  </a:schemeClr>
                </a:solidFill>
                <a:latin typeface="+mn-ea"/>
              </a:rPr>
              <a:t> 1,200w</a:t>
            </a:r>
          </a:p>
        </p:txBody>
      </p:sp>
      <p:sp>
        <p:nvSpPr>
          <p:cNvPr id="76" name="文本框 75"/>
          <p:cNvSpPr txBox="1"/>
          <p:nvPr/>
        </p:nvSpPr>
        <p:spPr>
          <a:xfrm>
            <a:off x="142154" y="4268463"/>
            <a:ext cx="1135988" cy="230832"/>
          </a:xfrm>
          <a:prstGeom prst="rect">
            <a:avLst/>
          </a:prstGeom>
          <a:noFill/>
        </p:spPr>
        <p:txBody>
          <a:bodyPr wrap="square">
            <a:spAutoFit/>
          </a:bodyPr>
          <a:lstStyle/>
          <a:p>
            <a:pPr algn="ctr"/>
            <a:r>
              <a:rPr lang="zh-CN" altLang="en-US" sz="900" dirty="0">
                <a:solidFill>
                  <a:schemeClr val="bg1">
                    <a:lumMod val="50000"/>
                  </a:schemeClr>
                </a:solidFill>
                <a:latin typeface="+mn-ea"/>
              </a:rPr>
              <a:t>如</a:t>
            </a:r>
            <a:r>
              <a:rPr lang="en-US" altLang="zh-CN" sz="900" dirty="0">
                <a:solidFill>
                  <a:schemeClr val="bg1">
                    <a:lumMod val="50000"/>
                  </a:schemeClr>
                </a:solidFill>
                <a:latin typeface="+mn-ea"/>
              </a:rPr>
              <a:t>Push 20w</a:t>
            </a:r>
          </a:p>
        </p:txBody>
      </p:sp>
      <p:sp>
        <p:nvSpPr>
          <p:cNvPr id="79" name="文本框 78"/>
          <p:cNvSpPr txBox="1"/>
          <p:nvPr/>
        </p:nvSpPr>
        <p:spPr>
          <a:xfrm>
            <a:off x="1292025" y="1644455"/>
            <a:ext cx="909865" cy="177462"/>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输入</a:t>
            </a:r>
            <a:r>
              <a:rPr lang="en-US" altLang="zh-CN" sz="900" dirty="0">
                <a:latin typeface="+mn-ea"/>
                <a:ea typeface="+mn-ea"/>
                <a:sym typeface="MiSans Medium" panose="00000600000000000000" pitchFamily="2" charset="-122"/>
              </a:rPr>
              <a:t>Query</a:t>
            </a:r>
          </a:p>
          <a:p>
            <a:r>
              <a:rPr lang="zh-CN" altLang="en-US" sz="700" dirty="0">
                <a:latin typeface="+mn-ea"/>
                <a:ea typeface="+mn-ea"/>
                <a:sym typeface="MiSans Medium" panose="00000600000000000000" pitchFamily="2" charset="-122"/>
              </a:rPr>
              <a:t>（提示词</a:t>
            </a:r>
            <a:r>
              <a:rPr lang="en-US" altLang="zh-CN" sz="700" dirty="0">
                <a:latin typeface="+mn-ea"/>
                <a:ea typeface="+mn-ea"/>
                <a:sym typeface="MiSans Medium" panose="00000600000000000000" pitchFamily="2" charset="-122"/>
              </a:rPr>
              <a:t>/</a:t>
            </a:r>
            <a:r>
              <a:rPr lang="en-US" altLang="zh-CN" sz="700" dirty="0" err="1">
                <a:latin typeface="+mn-ea"/>
                <a:ea typeface="+mn-ea"/>
                <a:sym typeface="MiSans Medium" panose="00000600000000000000" pitchFamily="2" charset="-122"/>
              </a:rPr>
              <a:t>sug</a:t>
            </a:r>
            <a:r>
              <a:rPr lang="zh-CN" altLang="en-US" sz="700" dirty="0">
                <a:latin typeface="+mn-ea"/>
                <a:ea typeface="+mn-ea"/>
                <a:sym typeface="MiSans Medium" panose="00000600000000000000" pitchFamily="2" charset="-122"/>
              </a:rPr>
              <a:t>等）</a:t>
            </a:r>
            <a:endParaRPr lang="zh-CN" altLang="en-US" sz="700" dirty="0">
              <a:latin typeface="+mn-ea"/>
              <a:ea typeface="+mn-ea"/>
            </a:endParaRPr>
          </a:p>
        </p:txBody>
      </p:sp>
      <p:cxnSp>
        <p:nvCxnSpPr>
          <p:cNvPr id="93" name="直接箭头连接符 92"/>
          <p:cNvCxnSpPr>
            <a:stCxn id="79" idx="3"/>
            <a:endCxn id="102" idx="1"/>
          </p:cNvCxnSpPr>
          <p:nvPr/>
        </p:nvCxnSpPr>
        <p:spPr>
          <a:xfrm>
            <a:off x="2201890" y="1733186"/>
            <a:ext cx="1299903" cy="3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3501793" y="1628772"/>
            <a:ext cx="1002355"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搜索结果页对比</a:t>
            </a:r>
          </a:p>
        </p:txBody>
      </p:sp>
      <p:sp>
        <p:nvSpPr>
          <p:cNvPr id="135" name="文本框 134"/>
          <p:cNvSpPr txBox="1"/>
          <p:nvPr/>
        </p:nvSpPr>
        <p:spPr>
          <a:xfrm>
            <a:off x="4712582" y="970787"/>
            <a:ext cx="993792"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900" dirty="0">
                <a:latin typeface="+mn-ea"/>
                <a:ea typeface="+mn-ea"/>
              </a:rPr>
              <a:t>POI</a:t>
            </a:r>
            <a:r>
              <a:rPr lang="zh-CN" altLang="en-US" sz="900" dirty="0">
                <a:latin typeface="+mn-ea"/>
                <a:ea typeface="+mn-ea"/>
              </a:rPr>
              <a:t>信息查看</a:t>
            </a:r>
          </a:p>
        </p:txBody>
      </p:sp>
      <p:cxnSp>
        <p:nvCxnSpPr>
          <p:cNvPr id="140" name="直接箭头连接符 139"/>
          <p:cNvCxnSpPr>
            <a:stCxn id="135" idx="3"/>
            <a:endCxn id="154" idx="1"/>
          </p:cNvCxnSpPr>
          <p:nvPr/>
        </p:nvCxnSpPr>
        <p:spPr>
          <a:xfrm flipV="1">
            <a:off x="5706374" y="944534"/>
            <a:ext cx="145751" cy="164753"/>
          </a:xfrm>
          <a:prstGeom prst="straightConnector1">
            <a:avLst/>
          </a:prstGeom>
          <a:ln>
            <a:tailEnd type="triangle"/>
          </a:ln>
          <a:effectLst/>
        </p:spPr>
        <p:style>
          <a:lnRef idx="1">
            <a:schemeClr val="accent1"/>
          </a:lnRef>
          <a:fillRef idx="0">
            <a:schemeClr val="accent1"/>
          </a:fillRef>
          <a:effectRef idx="0">
            <a:schemeClr val="accent1"/>
          </a:effectRef>
          <a:fontRef idx="minor">
            <a:schemeClr val="tx1"/>
          </a:fontRef>
        </p:style>
      </p:cxnSp>
      <p:sp>
        <p:nvSpPr>
          <p:cNvPr id="154" name="米菲PPT2"/>
          <p:cNvSpPr/>
          <p:nvPr/>
        </p:nvSpPr>
        <p:spPr>
          <a:xfrm>
            <a:off x="5852125" y="852110"/>
            <a:ext cx="857569" cy="184847"/>
          </a:xfrm>
          <a:prstGeom prst="roundRect">
            <a:avLst>
              <a:gd name="adj" fmla="val 10329"/>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线上买券</a:t>
            </a:r>
          </a:p>
        </p:txBody>
      </p:sp>
      <p:sp>
        <p:nvSpPr>
          <p:cNvPr id="155" name="米菲PPT2"/>
          <p:cNvSpPr/>
          <p:nvPr/>
        </p:nvSpPr>
        <p:spPr>
          <a:xfrm>
            <a:off x="8012756" y="977276"/>
            <a:ext cx="955681" cy="184847"/>
          </a:xfrm>
          <a:prstGeom prst="roundRect">
            <a:avLst>
              <a:gd name="adj" fmla="val 10329"/>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评价资产沉淀</a:t>
            </a:r>
          </a:p>
        </p:txBody>
      </p:sp>
      <p:sp>
        <p:nvSpPr>
          <p:cNvPr id="156" name="米菲PPT2"/>
          <p:cNvSpPr/>
          <p:nvPr/>
        </p:nvSpPr>
        <p:spPr>
          <a:xfrm>
            <a:off x="5831400" y="1093586"/>
            <a:ext cx="881221" cy="184847"/>
          </a:xfrm>
          <a:prstGeom prst="roundRect">
            <a:avLst>
              <a:gd name="adj" fmla="val 10329"/>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线下点餐</a:t>
            </a:r>
          </a:p>
        </p:txBody>
      </p:sp>
      <p:sp>
        <p:nvSpPr>
          <p:cNvPr id="157" name="米菲PPT2"/>
          <p:cNvSpPr/>
          <p:nvPr/>
        </p:nvSpPr>
        <p:spPr>
          <a:xfrm>
            <a:off x="6831793" y="855708"/>
            <a:ext cx="881221" cy="184847"/>
          </a:xfrm>
          <a:prstGeom prst="roundRect">
            <a:avLst>
              <a:gd name="adj" fmla="val 10329"/>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核销</a:t>
            </a:r>
            <a:r>
              <a:rPr lang="en-US" altLang="zh-CN"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a:t>
            </a: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尾款</a:t>
            </a:r>
          </a:p>
        </p:txBody>
      </p:sp>
      <p:sp>
        <p:nvSpPr>
          <p:cNvPr id="158" name="米菲PPT2"/>
          <p:cNvSpPr/>
          <p:nvPr/>
        </p:nvSpPr>
        <p:spPr>
          <a:xfrm>
            <a:off x="6834720" y="1097184"/>
            <a:ext cx="881221" cy="184847"/>
          </a:xfrm>
          <a:prstGeom prst="roundRect">
            <a:avLst>
              <a:gd name="adj" fmla="val 10329"/>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a:r>
              <a:rPr lang="zh-CN" altLang="en-US" sz="900" dirty="0">
                <a:solidFill>
                  <a:schemeClr val="tx1">
                    <a:lumMod val="65000"/>
                    <a:lumOff val="35000"/>
                  </a:schemeClr>
                </a:solidFill>
                <a:latin typeface="+mn-ea"/>
                <a:cs typeface="MiSans Medium" panose="00000600000000000000" pitchFamily="2" charset="-122"/>
                <a:sym typeface="MiSans Medium" panose="00000600000000000000" pitchFamily="2" charset="-122"/>
              </a:rPr>
              <a:t>支付</a:t>
            </a:r>
          </a:p>
        </p:txBody>
      </p:sp>
      <p:cxnSp>
        <p:nvCxnSpPr>
          <p:cNvPr id="166" name="直接箭头连接符 165"/>
          <p:cNvCxnSpPr>
            <a:stCxn id="135" idx="3"/>
            <a:endCxn id="156" idx="1"/>
          </p:cNvCxnSpPr>
          <p:nvPr/>
        </p:nvCxnSpPr>
        <p:spPr>
          <a:xfrm>
            <a:off x="5706374" y="1109287"/>
            <a:ext cx="125026" cy="76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直接箭头连接符 169"/>
          <p:cNvCxnSpPr>
            <a:endCxn id="157" idx="1"/>
          </p:cNvCxnSpPr>
          <p:nvPr/>
        </p:nvCxnSpPr>
        <p:spPr>
          <a:xfrm>
            <a:off x="6537905" y="948132"/>
            <a:ext cx="293888" cy="0"/>
          </a:xfrm>
          <a:prstGeom prst="straightConnector1">
            <a:avLst/>
          </a:prstGeom>
          <a:ln>
            <a:tailEnd type="triangle"/>
          </a:ln>
          <a:effectLst/>
        </p:spPr>
        <p:style>
          <a:lnRef idx="1">
            <a:schemeClr val="accent1"/>
          </a:lnRef>
          <a:fillRef idx="0">
            <a:schemeClr val="accent1"/>
          </a:fillRef>
          <a:effectRef idx="0">
            <a:schemeClr val="accent1"/>
          </a:effectRef>
          <a:fontRef idx="minor">
            <a:schemeClr val="tx1"/>
          </a:fontRef>
        </p:style>
      </p:cxnSp>
      <p:cxnSp>
        <p:nvCxnSpPr>
          <p:cNvPr id="173" name="直接箭头连接符 172"/>
          <p:cNvCxnSpPr>
            <a:endCxn id="158" idx="1"/>
          </p:cNvCxnSpPr>
          <p:nvPr/>
        </p:nvCxnSpPr>
        <p:spPr>
          <a:xfrm>
            <a:off x="6489700" y="1189608"/>
            <a:ext cx="3450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a:stCxn id="157" idx="3"/>
            <a:endCxn id="155" idx="1"/>
          </p:cNvCxnSpPr>
          <p:nvPr/>
        </p:nvCxnSpPr>
        <p:spPr>
          <a:xfrm>
            <a:off x="7713014" y="948132"/>
            <a:ext cx="299742" cy="121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直接箭头连接符 179"/>
          <p:cNvCxnSpPr>
            <a:stCxn id="158" idx="3"/>
            <a:endCxn id="155" idx="1"/>
          </p:cNvCxnSpPr>
          <p:nvPr/>
        </p:nvCxnSpPr>
        <p:spPr>
          <a:xfrm flipV="1">
            <a:off x="7715941" y="1069700"/>
            <a:ext cx="296815" cy="119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0" name="矩形: 圆角 189"/>
          <p:cNvSpPr/>
          <p:nvPr/>
        </p:nvSpPr>
        <p:spPr>
          <a:xfrm>
            <a:off x="159401" y="4627047"/>
            <a:ext cx="1132644" cy="359834"/>
          </a:xfrm>
          <a:prstGeom prst="round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sym typeface="MiSans Bold" panose="00000800000000000000" pitchFamily="2" charset="-122"/>
              </a:rPr>
              <a:t>运营策略</a:t>
            </a:r>
          </a:p>
        </p:txBody>
      </p:sp>
      <p:sp>
        <p:nvSpPr>
          <p:cNvPr id="192" name="文本框 191"/>
          <p:cNvSpPr txBox="1"/>
          <p:nvPr/>
        </p:nvSpPr>
        <p:spPr>
          <a:xfrm>
            <a:off x="1660546" y="4643036"/>
            <a:ext cx="1264454" cy="315011"/>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zh-CN" sz="900" b="1" kern="1200" dirty="0">
                <a:solidFill>
                  <a:schemeClr val="tx1"/>
                </a:solidFill>
                <a:effectLst/>
                <a:latin typeface="楷体" panose="02010609060101010101" pitchFamily="49" charset="-122"/>
                <a:ea typeface="楷体" panose="02010609060101010101" pitchFamily="49" charset="-122"/>
                <a:cs typeface="+mn-cs"/>
              </a:rPr>
              <a:t>适配人群</a:t>
            </a:r>
            <a:r>
              <a:rPr lang="en-US" altLang="zh-CN" sz="900" b="1" kern="1200" dirty="0">
                <a:solidFill>
                  <a:schemeClr val="tx1"/>
                </a:solidFill>
                <a:effectLst/>
                <a:latin typeface="楷体" panose="02010609060101010101" pitchFamily="49" charset="-122"/>
                <a:ea typeface="楷体" panose="02010609060101010101" pitchFamily="49" charset="-122"/>
                <a:cs typeface="+mn-cs"/>
              </a:rPr>
              <a:t>/</a:t>
            </a:r>
            <a:r>
              <a:rPr lang="zh-CN" altLang="zh-CN" sz="900" b="1" kern="1200" dirty="0">
                <a:solidFill>
                  <a:schemeClr val="tx1"/>
                </a:solidFill>
                <a:effectLst/>
                <a:latin typeface="楷体" panose="02010609060101010101" pitchFamily="49" charset="-122"/>
                <a:ea typeface="楷体" panose="02010609060101010101" pitchFamily="49" charset="-122"/>
                <a:cs typeface="+mn-cs"/>
              </a:rPr>
              <a:t>场景</a:t>
            </a:r>
            <a:r>
              <a:rPr lang="zh-CN" altLang="en-US" sz="900" b="1" kern="1200" dirty="0">
                <a:solidFill>
                  <a:schemeClr val="tx1"/>
                </a:solidFill>
                <a:effectLst/>
                <a:latin typeface="楷体" panose="02010609060101010101" pitchFamily="49" charset="-122"/>
                <a:ea typeface="楷体" panose="02010609060101010101" pitchFamily="49" charset="-122"/>
                <a:cs typeface="+mn-cs"/>
              </a:rPr>
              <a:t>下</a:t>
            </a:r>
            <a:endParaRPr lang="en-US" altLang="zh-CN" sz="900" b="1" kern="1200" dirty="0">
              <a:solidFill>
                <a:schemeClr val="tx1"/>
              </a:solidFill>
              <a:effectLst/>
              <a:latin typeface="楷体" panose="02010609060101010101" pitchFamily="49" charset="-122"/>
              <a:ea typeface="楷体" panose="02010609060101010101" pitchFamily="49" charset="-122"/>
              <a:cs typeface="+mn-cs"/>
            </a:endParaRPr>
          </a:p>
          <a:p>
            <a:r>
              <a:rPr lang="zh-CN" altLang="en-US" sz="900" b="1" dirty="0">
                <a:solidFill>
                  <a:schemeClr val="tx1"/>
                </a:solidFill>
                <a:latin typeface="+mn-ea"/>
                <a:ea typeface="+mn-ea"/>
              </a:rPr>
              <a:t>决策动线榜单露出</a:t>
            </a:r>
          </a:p>
        </p:txBody>
      </p:sp>
      <p:sp>
        <p:nvSpPr>
          <p:cNvPr id="196" name="文本框 195"/>
          <p:cNvSpPr txBox="1"/>
          <p:nvPr/>
        </p:nvSpPr>
        <p:spPr>
          <a:xfrm>
            <a:off x="4504148" y="4696584"/>
            <a:ext cx="1368827"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900" b="1" dirty="0">
                <a:solidFill>
                  <a:schemeClr val="tx1"/>
                </a:solidFill>
                <a:latin typeface="+mn-ea"/>
                <a:ea typeface="+mn-ea"/>
              </a:rPr>
              <a:t>POI</a:t>
            </a:r>
            <a:r>
              <a:rPr lang="zh-CN" altLang="en-US" sz="900" b="1" dirty="0">
                <a:solidFill>
                  <a:schemeClr val="tx1"/>
                </a:solidFill>
                <a:latin typeface="+mn-ea"/>
                <a:ea typeface="+mn-ea"/>
              </a:rPr>
              <a:t>榜单标识强化</a:t>
            </a:r>
            <a:endParaRPr lang="en-US" altLang="zh-CN" sz="900" b="1" dirty="0">
              <a:solidFill>
                <a:schemeClr val="tx1"/>
              </a:solidFill>
              <a:latin typeface="+mn-ea"/>
              <a:ea typeface="+mn-ea"/>
            </a:endParaRPr>
          </a:p>
          <a:p>
            <a:r>
              <a:rPr lang="zh-CN" altLang="en-US" sz="900" b="1" dirty="0">
                <a:solidFill>
                  <a:schemeClr val="tx1"/>
                </a:solidFill>
                <a:latin typeface="+mn-ea"/>
                <a:ea typeface="+mn-ea"/>
              </a:rPr>
              <a:t>榜单落地页改造</a:t>
            </a:r>
          </a:p>
        </p:txBody>
      </p:sp>
      <p:sp>
        <p:nvSpPr>
          <p:cNvPr id="197" name="文本框 196"/>
          <p:cNvSpPr txBox="1"/>
          <p:nvPr/>
        </p:nvSpPr>
        <p:spPr>
          <a:xfrm>
            <a:off x="5785188" y="4696584"/>
            <a:ext cx="2633284"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b="1" dirty="0">
                <a:solidFill>
                  <a:schemeClr val="tx1"/>
                </a:solidFill>
                <a:latin typeface="+mn-ea"/>
                <a:ea typeface="+mn-ea"/>
              </a:rPr>
              <a:t>关键决策要素前置展示</a:t>
            </a:r>
            <a:endParaRPr lang="en-US" altLang="zh-CN" sz="900" b="1" dirty="0">
              <a:solidFill>
                <a:schemeClr val="tx1"/>
              </a:solidFill>
              <a:latin typeface="+mn-ea"/>
              <a:ea typeface="+mn-ea"/>
            </a:endParaRPr>
          </a:p>
          <a:p>
            <a:r>
              <a:rPr lang="zh-CN" altLang="en-US" sz="900" b="1" dirty="0">
                <a:solidFill>
                  <a:schemeClr val="tx1"/>
                </a:solidFill>
                <a:latin typeface="+mn-ea"/>
                <a:ea typeface="+mn-ea"/>
              </a:rPr>
              <a:t>强化差异化优质交履、评价，推荐理由</a:t>
            </a:r>
          </a:p>
        </p:txBody>
      </p:sp>
      <p:sp>
        <p:nvSpPr>
          <p:cNvPr id="23" name="文本框 22"/>
          <p:cNvSpPr txBox="1"/>
          <p:nvPr/>
        </p:nvSpPr>
        <p:spPr>
          <a:xfrm>
            <a:off x="1302692" y="3367206"/>
            <a:ext cx="951086" cy="178026"/>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猜喜</a:t>
            </a:r>
            <a:r>
              <a:rPr lang="en-US" altLang="zh-CN" sz="900" dirty="0">
                <a:latin typeface="+mn-ea"/>
                <a:ea typeface="+mn-ea"/>
              </a:rPr>
              <a:t>/</a:t>
            </a:r>
            <a:r>
              <a:rPr lang="zh-CN" altLang="en-US" sz="900" dirty="0">
                <a:latin typeface="+mn-ea"/>
                <a:ea typeface="+mn-ea"/>
              </a:rPr>
              <a:t>频道推荐</a:t>
            </a:r>
          </a:p>
        </p:txBody>
      </p:sp>
      <p:sp>
        <p:nvSpPr>
          <p:cNvPr id="32" name="文本框 31"/>
          <p:cNvSpPr txBox="1"/>
          <p:nvPr/>
        </p:nvSpPr>
        <p:spPr>
          <a:xfrm>
            <a:off x="1292025" y="4007964"/>
            <a:ext cx="961753"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触发场，如景点</a:t>
            </a:r>
            <a:r>
              <a:rPr lang="en-US" altLang="zh-CN" sz="900" dirty="0">
                <a:latin typeface="+mn-ea"/>
                <a:ea typeface="+mn-ea"/>
                <a:sym typeface="MiSans Medium" panose="00000600000000000000" pitchFamily="2" charset="-122"/>
              </a:rPr>
              <a:t>/</a:t>
            </a:r>
            <a:r>
              <a:rPr lang="zh-CN" altLang="en-US" sz="900" dirty="0">
                <a:latin typeface="+mn-ea"/>
                <a:ea typeface="+mn-ea"/>
                <a:sym typeface="MiSans Medium" panose="00000600000000000000" pitchFamily="2" charset="-122"/>
              </a:rPr>
              <a:t>饭点</a:t>
            </a:r>
            <a:endParaRPr lang="zh-CN" altLang="en-US" sz="900" dirty="0">
              <a:latin typeface="+mn-ea"/>
              <a:ea typeface="+mn-ea"/>
            </a:endParaRPr>
          </a:p>
        </p:txBody>
      </p:sp>
      <p:sp>
        <p:nvSpPr>
          <p:cNvPr id="33" name="文本框 32"/>
          <p:cNvSpPr txBox="1"/>
          <p:nvPr/>
        </p:nvSpPr>
        <p:spPr>
          <a:xfrm>
            <a:off x="3656107" y="4007964"/>
            <a:ext cx="665116"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900" dirty="0">
                <a:latin typeface="+mn-ea"/>
                <a:ea typeface="+mn-ea"/>
                <a:sym typeface="MiSans Medium" panose="00000600000000000000" pitchFamily="2" charset="-122"/>
              </a:rPr>
              <a:t>Push</a:t>
            </a:r>
            <a:r>
              <a:rPr lang="zh-CN" altLang="en-US" sz="900" dirty="0">
                <a:latin typeface="+mn-ea"/>
                <a:ea typeface="+mn-ea"/>
                <a:sym typeface="MiSans Medium" panose="00000600000000000000" pitchFamily="2" charset="-122"/>
              </a:rPr>
              <a:t>文案</a:t>
            </a:r>
            <a:endParaRPr lang="zh-CN" altLang="en-US" sz="900" dirty="0">
              <a:latin typeface="+mn-ea"/>
              <a:ea typeface="+mn-ea"/>
            </a:endParaRPr>
          </a:p>
        </p:txBody>
      </p:sp>
      <p:cxnSp>
        <p:nvCxnSpPr>
          <p:cNvPr id="36" name="直接箭头连接符 118"/>
          <p:cNvCxnSpPr>
            <a:stCxn id="32" idx="3"/>
          </p:cNvCxnSpPr>
          <p:nvPr/>
        </p:nvCxnSpPr>
        <p:spPr>
          <a:xfrm>
            <a:off x="2253778" y="4146464"/>
            <a:ext cx="1245886" cy="2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92"/>
          <p:cNvCxnSpPr>
            <a:stCxn id="23" idx="3"/>
            <a:endCxn id="48" idx="1"/>
          </p:cNvCxnSpPr>
          <p:nvPr/>
        </p:nvCxnSpPr>
        <p:spPr>
          <a:xfrm flipV="1">
            <a:off x="2253778" y="3456112"/>
            <a:ext cx="1245886" cy="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3499664" y="3348390"/>
            <a:ext cx="951086"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推荐列表</a:t>
            </a:r>
          </a:p>
        </p:txBody>
      </p:sp>
      <p:cxnSp>
        <p:nvCxnSpPr>
          <p:cNvPr id="69" name="肘形连接符 68"/>
          <p:cNvCxnSpPr>
            <a:stCxn id="102" idx="3"/>
            <a:endCxn id="135" idx="1"/>
          </p:cNvCxnSpPr>
          <p:nvPr/>
        </p:nvCxnSpPr>
        <p:spPr>
          <a:xfrm flipV="1">
            <a:off x="4504148" y="1109287"/>
            <a:ext cx="208434" cy="627207"/>
          </a:xfrm>
          <a:prstGeom prst="bentConnector3">
            <a:avLst>
              <a:gd name="adj1" fmla="val 3781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肘形连接符 77"/>
          <p:cNvCxnSpPr>
            <a:stCxn id="48" idx="3"/>
            <a:endCxn id="135" idx="1"/>
          </p:cNvCxnSpPr>
          <p:nvPr/>
        </p:nvCxnSpPr>
        <p:spPr>
          <a:xfrm flipV="1">
            <a:off x="4450750" y="1109287"/>
            <a:ext cx="261832" cy="23468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肘形连接符 81"/>
          <p:cNvCxnSpPr>
            <a:endCxn id="135" idx="1"/>
          </p:cNvCxnSpPr>
          <p:nvPr/>
        </p:nvCxnSpPr>
        <p:spPr>
          <a:xfrm flipV="1">
            <a:off x="4468078" y="1109287"/>
            <a:ext cx="244504" cy="3040087"/>
          </a:xfrm>
          <a:prstGeom prst="bentConnector3">
            <a:avLst>
              <a:gd name="adj1" fmla="val 47403"/>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4947058" y="1719251"/>
            <a:ext cx="3634622" cy="220092"/>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900" dirty="0">
                <a:latin typeface="+mn-ea"/>
                <a:ea typeface="+mn-ea"/>
              </a:rPr>
              <a:t>机会点：高搜低转的品类词、泛需求、地址词等，尝试榜单承接</a:t>
            </a:r>
            <a:endParaRPr lang="en-US" altLang="zh-CN" sz="900" dirty="0">
              <a:latin typeface="+mn-ea"/>
              <a:ea typeface="+mn-ea"/>
            </a:endParaRPr>
          </a:p>
        </p:txBody>
      </p:sp>
      <p:sp>
        <p:nvSpPr>
          <p:cNvPr id="85" name="文本框 84"/>
          <p:cNvSpPr txBox="1"/>
          <p:nvPr/>
        </p:nvSpPr>
        <p:spPr>
          <a:xfrm>
            <a:off x="4941349" y="2369067"/>
            <a:ext cx="3634622" cy="535211"/>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900" dirty="0">
                <a:latin typeface="+mn-ea"/>
                <a:ea typeface="+mn-ea"/>
              </a:rPr>
              <a:t>机会点：加快用户决策，尝试榜单融入筛选路径</a:t>
            </a:r>
            <a:endParaRPr lang="en-US" altLang="zh-CN" sz="900" dirty="0">
              <a:latin typeface="+mn-ea"/>
              <a:ea typeface="+mn-ea"/>
            </a:endParaRPr>
          </a:p>
        </p:txBody>
      </p:sp>
      <p:sp>
        <p:nvSpPr>
          <p:cNvPr id="86" name="文本框 85"/>
          <p:cNvSpPr txBox="1"/>
          <p:nvPr/>
        </p:nvSpPr>
        <p:spPr>
          <a:xfrm>
            <a:off x="4942650" y="3337249"/>
            <a:ext cx="3639030" cy="217507"/>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900" dirty="0">
                <a:latin typeface="+mn-ea"/>
                <a:ea typeface="+mn-ea"/>
              </a:rPr>
              <a:t>机会点：根据用户偏好及场景预测，尝试榜单收敛用户发散需求</a:t>
            </a:r>
          </a:p>
        </p:txBody>
      </p:sp>
      <p:sp>
        <p:nvSpPr>
          <p:cNvPr id="87" name="文本框 86"/>
          <p:cNvSpPr txBox="1"/>
          <p:nvPr/>
        </p:nvSpPr>
        <p:spPr>
          <a:xfrm>
            <a:off x="4963404" y="4026383"/>
            <a:ext cx="3520196" cy="242080"/>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900" dirty="0">
                <a:latin typeface="+mn-ea"/>
                <a:ea typeface="+mn-ea"/>
              </a:rPr>
              <a:t>机会点：抢占用户适配场景下的找店决策心智，尝试榜单触发召回</a:t>
            </a:r>
          </a:p>
        </p:txBody>
      </p:sp>
      <p:cxnSp>
        <p:nvCxnSpPr>
          <p:cNvPr id="110" name="肘形连接符 109"/>
          <p:cNvCxnSpPr>
            <a:endCxn id="135" idx="1"/>
          </p:cNvCxnSpPr>
          <p:nvPr/>
        </p:nvCxnSpPr>
        <p:spPr>
          <a:xfrm flipV="1">
            <a:off x="4441476" y="1109287"/>
            <a:ext cx="271106" cy="1538641"/>
          </a:xfrm>
          <a:prstGeom prst="bentConnector3">
            <a:avLst>
              <a:gd name="adj1" fmla="val 541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68"/>
          <p:cNvCxnSpPr>
            <a:stCxn id="135" idx="0"/>
            <a:endCxn id="113" idx="0"/>
          </p:cNvCxnSpPr>
          <p:nvPr/>
        </p:nvCxnSpPr>
        <p:spPr>
          <a:xfrm rot="16200000" flipH="1" flipV="1">
            <a:off x="4483092" y="481233"/>
            <a:ext cx="236833" cy="1215939"/>
          </a:xfrm>
          <a:prstGeom prst="bentConnector3">
            <a:avLst>
              <a:gd name="adj1" fmla="val -17657"/>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3418555" y="4671914"/>
            <a:ext cx="1126673"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b="1" dirty="0">
                <a:solidFill>
                  <a:schemeClr val="tx1"/>
                </a:solidFill>
                <a:latin typeface="+mn-ea"/>
                <a:ea typeface="+mn-ea"/>
              </a:rPr>
              <a:t>融入榜单模块</a:t>
            </a:r>
            <a:endParaRPr lang="en-US" altLang="zh-CN" sz="900" b="1" dirty="0">
              <a:solidFill>
                <a:schemeClr val="tx1"/>
              </a:solidFill>
              <a:latin typeface="+mn-ea"/>
              <a:ea typeface="+mn-ea"/>
            </a:endParaRPr>
          </a:p>
          <a:p>
            <a:r>
              <a:rPr lang="zh-CN" altLang="en-US" sz="900" b="1" dirty="0">
                <a:solidFill>
                  <a:schemeClr val="tx1"/>
                </a:solidFill>
                <a:latin typeface="+mn-ea"/>
                <a:ea typeface="+mn-ea"/>
              </a:rPr>
              <a:t>上榜门店标识呈现</a:t>
            </a:r>
          </a:p>
        </p:txBody>
      </p:sp>
      <p:sp>
        <p:nvSpPr>
          <p:cNvPr id="127" name="文本框 126"/>
          <p:cNvSpPr txBox="1"/>
          <p:nvPr/>
        </p:nvSpPr>
        <p:spPr>
          <a:xfrm>
            <a:off x="2446794" y="2425142"/>
            <a:ext cx="697326"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点</a:t>
            </a:r>
            <a:r>
              <a:rPr lang="en-US" altLang="zh-CN" sz="900" dirty="0">
                <a:latin typeface="+mn-ea"/>
                <a:ea typeface="+mn-ea"/>
              </a:rPr>
              <a:t>/</a:t>
            </a:r>
            <a:r>
              <a:rPr lang="zh-CN" altLang="en-US" sz="900" dirty="0">
                <a:latin typeface="+mn-ea"/>
                <a:ea typeface="+mn-ea"/>
              </a:rPr>
              <a:t>筛</a:t>
            </a:r>
            <a:r>
              <a:rPr lang="en-US" altLang="zh-CN" sz="900" dirty="0">
                <a:latin typeface="+mn-ea"/>
                <a:ea typeface="+mn-ea"/>
              </a:rPr>
              <a:t>/</a:t>
            </a:r>
            <a:r>
              <a:rPr lang="zh-CN" altLang="en-US" sz="900" dirty="0">
                <a:latin typeface="+mn-ea"/>
                <a:ea typeface="+mn-ea"/>
              </a:rPr>
              <a:t>排</a:t>
            </a:r>
          </a:p>
        </p:txBody>
      </p:sp>
      <p:sp>
        <p:nvSpPr>
          <p:cNvPr id="131" name="文本框 130"/>
          <p:cNvSpPr txBox="1"/>
          <p:nvPr/>
        </p:nvSpPr>
        <p:spPr>
          <a:xfrm>
            <a:off x="1292045" y="2424827"/>
            <a:ext cx="943028"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美食</a:t>
            </a:r>
            <a:r>
              <a:rPr lang="en-US" altLang="zh-CN" sz="900" dirty="0">
                <a:latin typeface="+mn-ea"/>
                <a:ea typeface="+mn-ea"/>
                <a:sym typeface="MiSans Medium" panose="00000600000000000000" pitchFamily="2" charset="-122"/>
              </a:rPr>
              <a:t>/</a:t>
            </a:r>
            <a:r>
              <a:rPr lang="zh-CN" altLang="en-US" sz="900" dirty="0">
                <a:latin typeface="+mn-ea"/>
                <a:ea typeface="+mn-ea"/>
                <a:sym typeface="MiSans Medium" panose="00000600000000000000" pitchFamily="2" charset="-122"/>
              </a:rPr>
              <a:t>团购金刚</a:t>
            </a:r>
            <a:endParaRPr lang="zh-CN" altLang="en-US" sz="900" dirty="0">
              <a:latin typeface="+mn-ea"/>
              <a:ea typeface="+mn-ea"/>
            </a:endParaRPr>
          </a:p>
        </p:txBody>
      </p:sp>
      <p:cxnSp>
        <p:nvCxnSpPr>
          <p:cNvPr id="132" name="直接箭头连接符 118"/>
          <p:cNvCxnSpPr>
            <a:stCxn id="131" idx="3"/>
            <a:endCxn id="127" idx="1"/>
          </p:cNvCxnSpPr>
          <p:nvPr/>
        </p:nvCxnSpPr>
        <p:spPr>
          <a:xfrm>
            <a:off x="2235073" y="2563327"/>
            <a:ext cx="211721" cy="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0" name="文本框 149"/>
          <p:cNvSpPr txBox="1"/>
          <p:nvPr/>
        </p:nvSpPr>
        <p:spPr>
          <a:xfrm>
            <a:off x="3499823" y="2426698"/>
            <a:ext cx="968255"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筛排列表</a:t>
            </a:r>
            <a:endParaRPr lang="zh-CN" altLang="en-US" sz="900" dirty="0">
              <a:latin typeface="+mn-ea"/>
              <a:ea typeface="+mn-ea"/>
            </a:endParaRPr>
          </a:p>
        </p:txBody>
      </p:sp>
      <p:cxnSp>
        <p:nvCxnSpPr>
          <p:cNvPr id="152" name="直接箭头连接符 151"/>
          <p:cNvCxnSpPr>
            <a:stCxn id="127" idx="3"/>
            <a:endCxn id="150" idx="1"/>
          </p:cNvCxnSpPr>
          <p:nvPr/>
        </p:nvCxnSpPr>
        <p:spPr>
          <a:xfrm>
            <a:off x="3144120" y="2563642"/>
            <a:ext cx="355703" cy="1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肘形连接符 68"/>
          <p:cNvCxnSpPr>
            <a:stCxn id="102" idx="2"/>
            <a:endCxn id="127" idx="1"/>
          </p:cNvCxnSpPr>
          <p:nvPr/>
        </p:nvCxnSpPr>
        <p:spPr>
          <a:xfrm rot="5400000">
            <a:off x="2865170" y="1425841"/>
            <a:ext cx="719426" cy="1556177"/>
          </a:xfrm>
          <a:prstGeom prst="bentConnector4">
            <a:avLst>
              <a:gd name="adj1" fmla="val 40374"/>
              <a:gd name="adj2" fmla="val 106855"/>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0" name="文本框 229"/>
          <p:cNvSpPr txBox="1"/>
          <p:nvPr/>
        </p:nvSpPr>
        <p:spPr>
          <a:xfrm>
            <a:off x="3323350" y="696849"/>
            <a:ext cx="2670654" cy="236118"/>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决策未满足用户，推荐同榜单其它商户</a:t>
            </a:r>
            <a:endParaRPr lang="zh-CN" altLang="en-US" sz="900" dirty="0">
              <a:latin typeface="+mn-ea"/>
              <a:ea typeface="+mn-ea"/>
            </a:endParaRPr>
          </a:p>
        </p:txBody>
      </p:sp>
      <p:sp>
        <p:nvSpPr>
          <p:cNvPr id="29" name="文本框 28"/>
          <p:cNvSpPr txBox="1"/>
          <p:nvPr/>
        </p:nvSpPr>
        <p:spPr>
          <a:xfrm>
            <a:off x="4698944" y="1184765"/>
            <a:ext cx="972372"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latin typeface="+mn-ea"/>
                <a:ea typeface="+mn-ea"/>
              </a:rPr>
              <a:t>榜单落地页</a:t>
            </a:r>
          </a:p>
        </p:txBody>
      </p:sp>
      <p:cxnSp>
        <p:nvCxnSpPr>
          <p:cNvPr id="51" name="肘形连接符 68"/>
          <p:cNvCxnSpPr>
            <a:stCxn id="50" idx="2"/>
            <a:endCxn id="29" idx="2"/>
          </p:cNvCxnSpPr>
          <p:nvPr/>
        </p:nvCxnSpPr>
        <p:spPr>
          <a:xfrm rot="5400000">
            <a:off x="6199859" y="331077"/>
            <a:ext cx="54404" cy="2083861"/>
          </a:xfrm>
          <a:prstGeom prst="bentConnector3">
            <a:avLst>
              <a:gd name="adj1" fmla="val 263403"/>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5845097" y="1333377"/>
            <a:ext cx="918468"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sym typeface="MiSans Medium" panose="00000600000000000000" pitchFamily="2" charset="-122"/>
              </a:rPr>
              <a:t>后序前置展示</a:t>
            </a:r>
            <a:endParaRPr lang="zh-CN" altLang="en-US" sz="900" dirty="0">
              <a:latin typeface="+mn-ea"/>
              <a:ea typeface="+mn-ea"/>
            </a:endParaRPr>
          </a:p>
        </p:txBody>
      </p:sp>
      <p:sp>
        <p:nvSpPr>
          <p:cNvPr id="97" name="文本框 96"/>
          <p:cNvSpPr txBox="1"/>
          <p:nvPr/>
        </p:nvSpPr>
        <p:spPr>
          <a:xfrm>
            <a:off x="2446794" y="2730221"/>
            <a:ext cx="800843"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点击排行榜</a:t>
            </a:r>
          </a:p>
        </p:txBody>
      </p:sp>
      <p:sp>
        <p:nvSpPr>
          <p:cNvPr id="103" name="文本框 102"/>
          <p:cNvSpPr txBox="1"/>
          <p:nvPr/>
        </p:nvSpPr>
        <p:spPr>
          <a:xfrm>
            <a:off x="2382693" y="3175462"/>
            <a:ext cx="891803"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900" dirty="0">
              <a:solidFill>
                <a:srgbClr val="FF0000"/>
              </a:solidFill>
              <a:latin typeface="+mn-ea"/>
              <a:ea typeface="+mn-ea"/>
            </a:endParaRPr>
          </a:p>
        </p:txBody>
      </p:sp>
      <p:sp>
        <p:nvSpPr>
          <p:cNvPr id="115" name="文本框 114"/>
          <p:cNvSpPr txBox="1"/>
          <p:nvPr/>
        </p:nvSpPr>
        <p:spPr>
          <a:xfrm>
            <a:off x="1239896" y="3843439"/>
            <a:ext cx="2105557" cy="215444"/>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900" dirty="0">
              <a:solidFill>
                <a:srgbClr val="FF0000"/>
              </a:solidFill>
              <a:latin typeface="+mn-ea"/>
              <a:ea typeface="+mn-ea"/>
            </a:endParaRPr>
          </a:p>
        </p:txBody>
      </p:sp>
      <p:cxnSp>
        <p:nvCxnSpPr>
          <p:cNvPr id="142" name="肘形连接符 68"/>
          <p:cNvCxnSpPr>
            <a:endCxn id="97" idx="1"/>
          </p:cNvCxnSpPr>
          <p:nvPr/>
        </p:nvCxnSpPr>
        <p:spPr>
          <a:xfrm rot="16200000" flipH="1">
            <a:off x="2228942" y="2650869"/>
            <a:ext cx="305392" cy="1303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肘形连接符 68"/>
          <p:cNvCxnSpPr>
            <a:stCxn id="97" idx="3"/>
            <a:endCxn id="29" idx="1"/>
          </p:cNvCxnSpPr>
          <p:nvPr/>
        </p:nvCxnSpPr>
        <p:spPr>
          <a:xfrm flipV="1">
            <a:off x="3247637" y="1292487"/>
            <a:ext cx="1451307" cy="1576234"/>
          </a:xfrm>
          <a:prstGeom prst="bentConnector3">
            <a:avLst>
              <a:gd name="adj1" fmla="val 92441"/>
            </a:avLst>
          </a:prstGeom>
          <a:ln>
            <a:tailEnd type="triangle"/>
          </a:ln>
        </p:spPr>
        <p:style>
          <a:lnRef idx="1">
            <a:schemeClr val="accent1"/>
          </a:lnRef>
          <a:fillRef idx="0">
            <a:schemeClr val="accent1"/>
          </a:fillRef>
          <a:effectRef idx="0">
            <a:schemeClr val="accent1"/>
          </a:effectRef>
          <a:fontRef idx="minor">
            <a:schemeClr val="tx1"/>
          </a:fontRef>
        </p:style>
      </p:cxnSp>
      <p:sp>
        <p:nvSpPr>
          <p:cNvPr id="161" name="Rounded Rectangle"/>
          <p:cNvSpPr/>
          <p:nvPr/>
        </p:nvSpPr>
        <p:spPr>
          <a:xfrm>
            <a:off x="1352428" y="1207619"/>
            <a:ext cx="1885935" cy="3779262"/>
          </a:xfrm>
          <a:prstGeom prst="roundRect">
            <a:avLst>
              <a:gd name="adj" fmla="val 4117"/>
            </a:avLst>
          </a:prstGeom>
          <a:noFill/>
          <a:ln w="6350">
            <a:solidFill>
              <a:schemeClr val="bg1">
                <a:lumMod val="65000"/>
              </a:schemeClr>
            </a:solidFill>
            <a:prstDash val="lgDash"/>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59402" y="15438"/>
            <a:ext cx="7664380" cy="427313"/>
          </a:xfrm>
        </p:spPr>
        <p:txBody>
          <a:bodyPr>
            <a:normAutofit/>
          </a:bodyPr>
          <a:lstStyle/>
          <a:p>
            <a:r>
              <a:rPr lang="zh-CN" altLang="en-US" sz="2100" dirty="0">
                <a:latin typeface="+mn-ea"/>
                <a:ea typeface="+mn-ea"/>
              </a:rPr>
              <a:t>用户找店决策动线方案示例</a:t>
            </a:r>
          </a:p>
        </p:txBody>
      </p:sp>
      <p:cxnSp>
        <p:nvCxnSpPr>
          <p:cNvPr id="6" name="直接连接符 5"/>
          <p:cNvCxnSpPr/>
          <p:nvPr/>
        </p:nvCxnSpPr>
        <p:spPr>
          <a:xfrm>
            <a:off x="1733830" y="1981580"/>
            <a:ext cx="10379841" cy="0"/>
          </a:xfrm>
          <a:prstGeom prst="line">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cxnSp>
      <p:cxnSp>
        <p:nvCxnSpPr>
          <p:cNvPr id="7" name="直接箭头连接符 6"/>
          <p:cNvCxnSpPr/>
          <p:nvPr/>
        </p:nvCxnSpPr>
        <p:spPr>
          <a:xfrm>
            <a:off x="927543" y="2811808"/>
            <a:ext cx="7302057"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4499223" y="842180"/>
            <a:ext cx="0" cy="379078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8328473" y="2665820"/>
            <a:ext cx="681066" cy="276999"/>
          </a:xfrm>
          <a:prstGeom prst="rect">
            <a:avLst/>
          </a:prstGeom>
          <a:noFill/>
        </p:spPr>
        <p:txBody>
          <a:bodyPr wrap="square">
            <a:spAutoFit/>
          </a:bodyPr>
          <a:lstStyle/>
          <a:p>
            <a:r>
              <a:rPr lang="zh-CN" altLang="en-US" sz="1200" dirty="0">
                <a:latin typeface="楷体" panose="02010609060101010101" pitchFamily="49" charset="-122"/>
                <a:ea typeface="楷体" panose="02010609060101010101" pitchFamily="49" charset="-122"/>
              </a:rPr>
              <a:t>无目标</a:t>
            </a:r>
          </a:p>
        </p:txBody>
      </p:sp>
      <p:sp>
        <p:nvSpPr>
          <p:cNvPr id="10" name="文本框 9"/>
          <p:cNvSpPr txBox="1"/>
          <p:nvPr/>
        </p:nvSpPr>
        <p:spPr>
          <a:xfrm>
            <a:off x="179486" y="2658290"/>
            <a:ext cx="659056" cy="276999"/>
          </a:xfrm>
          <a:prstGeom prst="rect">
            <a:avLst/>
          </a:prstGeom>
          <a:noFill/>
        </p:spPr>
        <p:txBody>
          <a:bodyPr wrap="square">
            <a:spAutoFit/>
          </a:bodyPr>
          <a:lstStyle/>
          <a:p>
            <a:r>
              <a:rPr lang="zh-CN" altLang="en-US" sz="1200" dirty="0">
                <a:latin typeface="楷体" panose="02010609060101010101" pitchFamily="49" charset="-122"/>
                <a:ea typeface="楷体" panose="02010609060101010101" pitchFamily="49" charset="-122"/>
              </a:rPr>
              <a:t>有目标</a:t>
            </a:r>
          </a:p>
        </p:txBody>
      </p:sp>
      <p:sp>
        <p:nvSpPr>
          <p:cNvPr id="11" name="文本框 10"/>
          <p:cNvSpPr txBox="1"/>
          <p:nvPr/>
        </p:nvSpPr>
        <p:spPr>
          <a:xfrm>
            <a:off x="3876268" y="450924"/>
            <a:ext cx="1205391" cy="276999"/>
          </a:xfrm>
          <a:prstGeom prst="rect">
            <a:avLst/>
          </a:prstGeom>
          <a:noFill/>
        </p:spPr>
        <p:txBody>
          <a:bodyPr wrap="square">
            <a:spAutoFit/>
          </a:bodyPr>
          <a:lstStyle/>
          <a:p>
            <a:pPr algn="ctr"/>
            <a:r>
              <a:rPr lang="zh-CN" altLang="en-US" sz="1200" dirty="0">
                <a:latin typeface="楷体" panose="02010609060101010101" pitchFamily="49" charset="-122"/>
                <a:ea typeface="楷体" panose="02010609060101010101" pitchFamily="49" charset="-122"/>
              </a:rPr>
              <a:t>快决策</a:t>
            </a:r>
          </a:p>
        </p:txBody>
      </p:sp>
      <p:sp>
        <p:nvSpPr>
          <p:cNvPr id="17" name="文本框 16"/>
          <p:cNvSpPr txBox="1"/>
          <p:nvPr/>
        </p:nvSpPr>
        <p:spPr>
          <a:xfrm>
            <a:off x="3952443" y="4712003"/>
            <a:ext cx="1116503" cy="276999"/>
          </a:xfrm>
          <a:prstGeom prst="rect">
            <a:avLst/>
          </a:prstGeom>
          <a:noFill/>
        </p:spPr>
        <p:txBody>
          <a:bodyPr wrap="square">
            <a:spAutoFit/>
          </a:bodyPr>
          <a:lstStyle/>
          <a:p>
            <a:pPr algn="ctr"/>
            <a:r>
              <a:rPr lang="zh-CN" altLang="en-US" sz="1200" dirty="0">
                <a:latin typeface="楷体" panose="02010609060101010101" pitchFamily="49" charset="-122"/>
                <a:ea typeface="楷体" panose="02010609060101010101" pitchFamily="49" charset="-122"/>
              </a:rPr>
              <a:t>慢决策</a:t>
            </a:r>
          </a:p>
        </p:txBody>
      </p:sp>
      <p:sp>
        <p:nvSpPr>
          <p:cNvPr id="18" name="矩形: 圆角 17"/>
          <p:cNvSpPr/>
          <p:nvPr/>
        </p:nvSpPr>
        <p:spPr>
          <a:xfrm>
            <a:off x="920661" y="885605"/>
            <a:ext cx="417600" cy="1710000"/>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搜索型动线</a:t>
            </a:r>
          </a:p>
        </p:txBody>
      </p:sp>
      <p:sp>
        <p:nvSpPr>
          <p:cNvPr id="19" name="矩形: 圆角 18"/>
          <p:cNvSpPr/>
          <p:nvPr/>
        </p:nvSpPr>
        <p:spPr>
          <a:xfrm>
            <a:off x="927543" y="3120837"/>
            <a:ext cx="417031" cy="1709867"/>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筛选型动线</a:t>
            </a:r>
          </a:p>
        </p:txBody>
      </p:sp>
      <p:sp>
        <p:nvSpPr>
          <p:cNvPr id="21" name="矩形: 圆角 20"/>
          <p:cNvSpPr/>
          <p:nvPr/>
        </p:nvSpPr>
        <p:spPr>
          <a:xfrm>
            <a:off x="7752124" y="866778"/>
            <a:ext cx="417600" cy="1710000"/>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触发型动线</a:t>
            </a:r>
          </a:p>
        </p:txBody>
      </p:sp>
      <p:pic>
        <p:nvPicPr>
          <p:cNvPr id="55" name="图片 54" descr="图形用户界面, 应用程序, 网站&#10;&#10;AI 生成的内容可能不正确。"/>
          <p:cNvPicPr>
            <a:picLocks noChangeAspect="1"/>
          </p:cNvPicPr>
          <p:nvPr/>
        </p:nvPicPr>
        <p:blipFill>
          <a:blip r:embed="rId3"/>
          <a:srcRect b="2099"/>
          <a:stretch>
            <a:fillRect/>
          </a:stretch>
        </p:blipFill>
        <p:spPr>
          <a:xfrm>
            <a:off x="1708290" y="2850949"/>
            <a:ext cx="952297" cy="2018763"/>
          </a:xfrm>
          <a:prstGeom prst="rect">
            <a:avLst/>
          </a:prstGeom>
        </p:spPr>
      </p:pic>
      <p:pic>
        <p:nvPicPr>
          <p:cNvPr id="57" name="图片 56"/>
          <p:cNvPicPr>
            <a:picLocks noChangeAspect="1"/>
          </p:cNvPicPr>
          <p:nvPr/>
        </p:nvPicPr>
        <p:blipFill>
          <a:blip r:embed="rId4"/>
          <a:stretch>
            <a:fillRect/>
          </a:stretch>
        </p:blipFill>
        <p:spPr>
          <a:xfrm>
            <a:off x="5081659" y="607480"/>
            <a:ext cx="952296" cy="2062037"/>
          </a:xfrm>
          <a:prstGeom prst="rect">
            <a:avLst/>
          </a:prstGeom>
        </p:spPr>
      </p:pic>
      <p:sp>
        <p:nvSpPr>
          <p:cNvPr id="61" name="文本框 60"/>
          <p:cNvSpPr txBox="1"/>
          <p:nvPr/>
        </p:nvSpPr>
        <p:spPr>
          <a:xfrm>
            <a:off x="1324744" y="4816293"/>
            <a:ext cx="1858819"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金刚等模块</a:t>
            </a:r>
            <a:r>
              <a:rPr lang="en-US" altLang="zh-CN" sz="900" dirty="0">
                <a:latin typeface="+mn-ea"/>
                <a:ea typeface="+mn-ea"/>
              </a:rPr>
              <a:t>-</a:t>
            </a:r>
            <a:r>
              <a:rPr lang="zh-CN" altLang="en-US" sz="900" dirty="0">
                <a:latin typeface="+mn-ea"/>
                <a:ea typeface="+mn-ea"/>
              </a:rPr>
              <a:t>异地等适配场景露出</a:t>
            </a:r>
          </a:p>
        </p:txBody>
      </p:sp>
      <p:pic>
        <p:nvPicPr>
          <p:cNvPr id="64" name="图片 63"/>
          <p:cNvPicPr>
            <a:picLocks noChangeAspect="1"/>
          </p:cNvPicPr>
          <p:nvPr/>
        </p:nvPicPr>
        <p:blipFill>
          <a:blip r:embed="rId5"/>
          <a:srcRect b="1716"/>
          <a:stretch>
            <a:fillRect/>
          </a:stretch>
        </p:blipFill>
        <p:spPr>
          <a:xfrm>
            <a:off x="1707405" y="595586"/>
            <a:ext cx="943811" cy="2033947"/>
          </a:xfrm>
          <a:prstGeom prst="rect">
            <a:avLst/>
          </a:prstGeom>
        </p:spPr>
      </p:pic>
      <p:sp>
        <p:nvSpPr>
          <p:cNvPr id="65" name="文本框 64"/>
          <p:cNvSpPr txBox="1"/>
          <p:nvPr/>
        </p:nvSpPr>
        <p:spPr>
          <a:xfrm>
            <a:off x="4945734" y="2585363"/>
            <a:ext cx="1099555"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900" dirty="0">
                <a:latin typeface="+mn-ea"/>
                <a:ea typeface="+mn-ea"/>
              </a:rPr>
              <a:t>Push-</a:t>
            </a:r>
            <a:r>
              <a:rPr lang="zh-CN" altLang="en-US" sz="900" dirty="0">
                <a:latin typeface="+mn-ea"/>
                <a:ea typeface="+mn-ea"/>
              </a:rPr>
              <a:t>场景触发</a:t>
            </a:r>
          </a:p>
        </p:txBody>
      </p:sp>
      <p:sp>
        <p:nvSpPr>
          <p:cNvPr id="66" name="文本框 65"/>
          <p:cNvSpPr txBox="1"/>
          <p:nvPr/>
        </p:nvSpPr>
        <p:spPr>
          <a:xfrm>
            <a:off x="1600981" y="2573950"/>
            <a:ext cx="1118492"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搜索</a:t>
            </a:r>
            <a:r>
              <a:rPr lang="en-US" altLang="zh-CN" sz="900" dirty="0" err="1">
                <a:latin typeface="+mn-ea"/>
                <a:ea typeface="+mn-ea"/>
              </a:rPr>
              <a:t>sug</a:t>
            </a:r>
            <a:r>
              <a:rPr lang="en-US" altLang="zh-CN" sz="900" dirty="0">
                <a:latin typeface="+mn-ea"/>
                <a:ea typeface="+mn-ea"/>
              </a:rPr>
              <a:t>-</a:t>
            </a:r>
            <a:r>
              <a:rPr lang="zh-CN" altLang="en-US" sz="900" dirty="0">
                <a:latin typeface="+mn-ea"/>
                <a:ea typeface="+mn-ea"/>
              </a:rPr>
              <a:t>适配露出</a:t>
            </a:r>
          </a:p>
        </p:txBody>
      </p:sp>
      <p:sp>
        <p:nvSpPr>
          <p:cNvPr id="67" name="文本框 66"/>
          <p:cNvSpPr txBox="1"/>
          <p:nvPr/>
        </p:nvSpPr>
        <p:spPr>
          <a:xfrm>
            <a:off x="2710658" y="3551611"/>
            <a:ext cx="1600151"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搜索结果页</a:t>
            </a:r>
            <a:r>
              <a:rPr lang="en-US" altLang="zh-CN" sz="900" dirty="0">
                <a:latin typeface="+mn-ea"/>
                <a:ea typeface="+mn-ea"/>
              </a:rPr>
              <a:t>-</a:t>
            </a:r>
            <a:r>
              <a:rPr lang="zh-CN" altLang="en-US" sz="900" dirty="0">
                <a:latin typeface="+mn-ea"/>
                <a:ea typeface="+mn-ea"/>
              </a:rPr>
              <a:t>融入榜单模块</a:t>
            </a:r>
            <a:endParaRPr lang="en-US" altLang="zh-CN" sz="900" dirty="0">
              <a:latin typeface="+mn-ea"/>
              <a:ea typeface="+mn-ea"/>
            </a:endParaRPr>
          </a:p>
          <a:p>
            <a:r>
              <a:rPr lang="zh-CN" altLang="en-US" sz="900" dirty="0">
                <a:latin typeface="+mn-ea"/>
                <a:ea typeface="+mn-ea"/>
              </a:rPr>
              <a:t>图筛快筛</a:t>
            </a:r>
            <a:r>
              <a:rPr lang="en-US" altLang="zh-CN" sz="900" dirty="0">
                <a:latin typeface="+mn-ea"/>
                <a:ea typeface="+mn-ea"/>
              </a:rPr>
              <a:t>-</a:t>
            </a:r>
            <a:r>
              <a:rPr lang="zh-CN" altLang="en-US" sz="900" dirty="0">
                <a:latin typeface="+mn-ea"/>
                <a:ea typeface="+mn-ea"/>
              </a:rPr>
              <a:t>可按榜单筛选</a:t>
            </a:r>
          </a:p>
        </p:txBody>
      </p:sp>
      <p:sp>
        <p:nvSpPr>
          <p:cNvPr id="72" name="文本框 71"/>
          <p:cNvSpPr txBox="1"/>
          <p:nvPr/>
        </p:nvSpPr>
        <p:spPr>
          <a:xfrm>
            <a:off x="0" y="4969128"/>
            <a:ext cx="2822713" cy="200055"/>
          </a:xfrm>
          <a:prstGeom prst="rect">
            <a:avLst/>
          </a:prstGeom>
          <a:noFill/>
        </p:spPr>
        <p:txBody>
          <a:bodyPr wrap="square">
            <a:spAutoFit/>
          </a:bodyPr>
          <a:lstStyle/>
          <a:p>
            <a:pPr>
              <a:spcBef>
                <a:spcPts val="600"/>
              </a:spcBef>
              <a:spcAft>
                <a:spcPts val="600"/>
              </a:spcAft>
            </a:pPr>
            <a:r>
              <a:rPr lang="zh-CN" altLang="en-US" sz="1050" baseline="-25000" dirty="0">
                <a:latin typeface="+mn-ea"/>
              </a:rPr>
              <a:t>*图片为示意，最终高保真方案需各自场景产品确定</a:t>
            </a:r>
          </a:p>
        </p:txBody>
      </p:sp>
      <p:sp>
        <p:nvSpPr>
          <p:cNvPr id="2" name="矩形: 圆角 1"/>
          <p:cNvSpPr/>
          <p:nvPr/>
        </p:nvSpPr>
        <p:spPr>
          <a:xfrm>
            <a:off x="7752124" y="3111409"/>
            <a:ext cx="417600" cy="1710000"/>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sym typeface="MiSans Bold" panose="00000800000000000000" pitchFamily="2" charset="-122"/>
              </a:rPr>
              <a:t>发现型动线</a:t>
            </a:r>
          </a:p>
        </p:txBody>
      </p:sp>
      <p:pic>
        <p:nvPicPr>
          <p:cNvPr id="5" name="图片 4"/>
          <p:cNvPicPr>
            <a:picLocks noChangeAspect="1"/>
          </p:cNvPicPr>
          <p:nvPr/>
        </p:nvPicPr>
        <p:blipFill>
          <a:blip r:embed="rId6"/>
          <a:stretch>
            <a:fillRect/>
          </a:stretch>
        </p:blipFill>
        <p:spPr>
          <a:xfrm>
            <a:off x="6310736" y="2851855"/>
            <a:ext cx="907222" cy="1964438"/>
          </a:xfrm>
          <a:prstGeom prst="rect">
            <a:avLst/>
          </a:prstGeom>
        </p:spPr>
      </p:pic>
      <p:sp>
        <p:nvSpPr>
          <p:cNvPr id="12" name="文本框 11"/>
          <p:cNvSpPr txBox="1"/>
          <p:nvPr/>
        </p:nvSpPr>
        <p:spPr>
          <a:xfrm>
            <a:off x="4899961" y="4816293"/>
            <a:ext cx="1394357"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猜喜</a:t>
            </a:r>
            <a:r>
              <a:rPr lang="en-US" altLang="zh-CN" sz="900" dirty="0">
                <a:latin typeface="+mn-ea"/>
                <a:ea typeface="+mn-ea"/>
              </a:rPr>
              <a:t>-</a:t>
            </a:r>
            <a:r>
              <a:rPr lang="zh-CN" altLang="en-US" sz="900" dirty="0">
                <a:latin typeface="+mn-ea"/>
                <a:ea typeface="+mn-ea"/>
              </a:rPr>
              <a:t>个性化露出</a:t>
            </a:r>
          </a:p>
        </p:txBody>
      </p:sp>
      <p:sp>
        <p:nvSpPr>
          <p:cNvPr id="13" name="文本框 12"/>
          <p:cNvSpPr txBox="1"/>
          <p:nvPr/>
        </p:nvSpPr>
        <p:spPr>
          <a:xfrm>
            <a:off x="6027414" y="4816293"/>
            <a:ext cx="1760633"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频道推荐</a:t>
            </a:r>
            <a:r>
              <a:rPr lang="en-US" altLang="zh-CN" sz="900" dirty="0">
                <a:latin typeface="+mn-ea"/>
                <a:ea typeface="+mn-ea"/>
              </a:rPr>
              <a:t>-</a:t>
            </a:r>
            <a:r>
              <a:rPr lang="zh-CN" altLang="en-US" sz="900" dirty="0">
                <a:latin typeface="+mn-ea"/>
                <a:ea typeface="+mn-ea"/>
              </a:rPr>
              <a:t>上榜门店标识露出</a:t>
            </a:r>
          </a:p>
        </p:txBody>
      </p:sp>
      <p:pic>
        <p:nvPicPr>
          <p:cNvPr id="15" name="图片 14" descr="徽标, 公司名称&#10;&#10;AI 生成的内容可能不正确。"/>
          <p:cNvPicPr>
            <a:picLocks noChangeAspect="1"/>
          </p:cNvPicPr>
          <p:nvPr/>
        </p:nvPicPr>
        <p:blipFill>
          <a:blip r:embed="rId7"/>
          <a:srcRect b="1020"/>
          <a:stretch>
            <a:fillRect/>
          </a:stretch>
        </p:blipFill>
        <p:spPr>
          <a:xfrm>
            <a:off x="5104865" y="2857672"/>
            <a:ext cx="915791" cy="1964438"/>
          </a:xfrm>
          <a:prstGeom prst="rect">
            <a:avLst/>
          </a:prstGeom>
        </p:spPr>
      </p:pic>
      <p:sp>
        <p:nvSpPr>
          <p:cNvPr id="16" name="矩形: 圆角 21"/>
          <p:cNvSpPr/>
          <p:nvPr/>
        </p:nvSpPr>
        <p:spPr>
          <a:xfrm>
            <a:off x="5001199" y="4507250"/>
            <a:ext cx="595941" cy="16237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ltLang="zh-CN" sz="900" dirty="0">
              <a:solidFill>
                <a:srgbClr val="FF0000"/>
              </a:solidFill>
              <a:sym typeface="MiSans Bold" panose="00000800000000000000" pitchFamily="2" charset="-122"/>
            </a:endParaRPr>
          </a:p>
        </p:txBody>
      </p:sp>
      <p:pic>
        <p:nvPicPr>
          <p:cNvPr id="24" name="图片 23" descr="图形用户界面&#10;&#10;AI 生成的内容可能不正确。"/>
          <p:cNvPicPr>
            <a:picLocks noChangeAspect="1"/>
          </p:cNvPicPr>
          <p:nvPr/>
        </p:nvPicPr>
        <p:blipFill>
          <a:blip r:embed="rId8"/>
          <a:stretch>
            <a:fillRect/>
          </a:stretch>
        </p:blipFill>
        <p:spPr>
          <a:xfrm>
            <a:off x="2923873" y="910557"/>
            <a:ext cx="1218784" cy="2559661"/>
          </a:xfrm>
          <a:prstGeom prst="rect">
            <a:avLst/>
          </a:prstGeom>
        </p:spPr>
      </p:pic>
      <p:sp>
        <p:nvSpPr>
          <p:cNvPr id="25" name="矩形: 圆角 21"/>
          <p:cNvSpPr/>
          <p:nvPr/>
        </p:nvSpPr>
        <p:spPr>
          <a:xfrm>
            <a:off x="2912539" y="1317955"/>
            <a:ext cx="271024" cy="264193"/>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ltLang="zh-CN" sz="900" dirty="0">
              <a:solidFill>
                <a:srgbClr val="FF0000"/>
              </a:solidFill>
              <a:sym typeface="MiSans Bold" panose="00000800000000000000" pitchFamily="2"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41911" y="1196609"/>
            <a:ext cx="8220669" cy="276999"/>
          </a:xfrm>
          <a:prstGeom prst="rect">
            <a:avLst/>
          </a:prstGeom>
          <a:noFill/>
        </p:spPr>
        <p:txBody>
          <a:bodyPr wrap="square">
            <a:spAutoFit/>
          </a:bodyPr>
          <a:lstStyle/>
          <a:p>
            <a:pPr marL="0" marR="0">
              <a:spcBef>
                <a:spcPts val="600"/>
              </a:spcBef>
              <a:spcAft>
                <a:spcPts val="600"/>
              </a:spcAft>
              <a:buNone/>
            </a:pPr>
            <a:r>
              <a:rPr lang="zh-CN" altLang="en-US" sz="1200" dirty="0">
                <a:latin typeface="+mn-ea"/>
              </a:rPr>
              <a:t>用户路径</a:t>
            </a:r>
            <a:r>
              <a:rPr lang="zh-CN" altLang="en-GB" sz="1200" dirty="0">
                <a:effectLst/>
                <a:latin typeface="+mn-ea"/>
              </a:rPr>
              <a:t>：</a:t>
            </a:r>
            <a:r>
              <a:rPr lang="zh-CN" altLang="en-US" sz="1200" dirty="0">
                <a:effectLst/>
                <a:latin typeface="+mn-ea"/>
              </a:rPr>
              <a:t>输入</a:t>
            </a:r>
            <a:r>
              <a:rPr lang="en-US" altLang="zh-CN" sz="1200" dirty="0">
                <a:latin typeface="+mn-ea"/>
              </a:rPr>
              <a:t>query</a:t>
            </a:r>
            <a:r>
              <a:rPr lang="zh-CN" altLang="en-US" sz="1200" dirty="0">
                <a:effectLst/>
                <a:latin typeface="+mn-ea"/>
              </a:rPr>
              <a:t>→展示</a:t>
            </a:r>
            <a:r>
              <a:rPr lang="en-GB" altLang="zh-CN" sz="1200" dirty="0" err="1">
                <a:effectLst/>
                <a:latin typeface="+mn-ea"/>
              </a:rPr>
              <a:t>sug</a:t>
            </a:r>
            <a:r>
              <a:rPr lang="zh-CN" altLang="en-US" sz="1200" dirty="0">
                <a:effectLst/>
                <a:latin typeface="+mn-ea"/>
              </a:rPr>
              <a:t>词条→点击</a:t>
            </a:r>
            <a:r>
              <a:rPr lang="en-GB" altLang="zh-CN" sz="1200" dirty="0" err="1">
                <a:effectLst/>
                <a:latin typeface="+mn-ea"/>
              </a:rPr>
              <a:t>sug</a:t>
            </a:r>
            <a:r>
              <a:rPr lang="zh-CN" altLang="en-US" sz="1200" dirty="0">
                <a:effectLst/>
                <a:latin typeface="+mn-ea"/>
              </a:rPr>
              <a:t>词条→跳转榜单落地页</a:t>
            </a:r>
          </a:p>
        </p:txBody>
      </p:sp>
      <p:sp>
        <p:nvSpPr>
          <p:cNvPr id="6" name="标题 3"/>
          <p:cNvSpPr>
            <a:spLocks noGrp="1"/>
          </p:cNvSpPr>
          <p:nvPr>
            <p:ph type="title"/>
          </p:nvPr>
        </p:nvSpPr>
        <p:spPr>
          <a:xfrm>
            <a:off x="159402" y="15438"/>
            <a:ext cx="7664380" cy="427313"/>
          </a:xfrm>
        </p:spPr>
        <p:txBody>
          <a:bodyPr>
            <a:normAutofit/>
          </a:bodyPr>
          <a:lstStyle/>
          <a:p>
            <a:r>
              <a:rPr lang="zh-CN" altLang="en-US" sz="2100" dirty="0">
                <a:latin typeface="+mn-ea"/>
                <a:ea typeface="+mn-ea"/>
              </a:rPr>
              <a:t>用户找店决策动线方案示例</a:t>
            </a:r>
            <a:r>
              <a:rPr lang="en-US" altLang="zh-CN" sz="2100" dirty="0">
                <a:latin typeface="+mn-ea"/>
                <a:ea typeface="+mn-ea"/>
              </a:rPr>
              <a:t>-</a:t>
            </a:r>
            <a:r>
              <a:rPr lang="zh-CN" altLang="en-US" sz="2100" dirty="0">
                <a:latin typeface="+mn-ea"/>
                <a:ea typeface="+mn-ea"/>
              </a:rPr>
              <a:t>大搜</a:t>
            </a:r>
            <a:r>
              <a:rPr lang="en-US" altLang="zh-CN" sz="2100" dirty="0" err="1">
                <a:latin typeface="+mn-ea"/>
                <a:ea typeface="+mn-ea"/>
              </a:rPr>
              <a:t>sug</a:t>
            </a:r>
            <a:r>
              <a:rPr lang="zh-CN" altLang="en-US" sz="2100" dirty="0">
                <a:latin typeface="+mn-ea"/>
                <a:ea typeface="+mn-ea"/>
              </a:rPr>
              <a:t>词投放试点效果</a:t>
            </a:r>
          </a:p>
        </p:txBody>
      </p:sp>
      <p:pic>
        <p:nvPicPr>
          <p:cNvPr id="12" name="图片 11" descr="图形用户界面, 文本, 应用程序, 聊天或短信&#10;&#10;AI 生成的内容可能不正确。"/>
          <p:cNvPicPr>
            <a:picLocks noChangeAspect="1"/>
          </p:cNvPicPr>
          <p:nvPr/>
        </p:nvPicPr>
        <p:blipFill>
          <a:blip r:embed="rId3"/>
          <a:stretch>
            <a:fillRect/>
          </a:stretch>
        </p:blipFill>
        <p:spPr>
          <a:xfrm>
            <a:off x="1664214" y="1716183"/>
            <a:ext cx="1255455" cy="2721750"/>
          </a:xfrm>
          <a:prstGeom prst="rect">
            <a:avLst/>
          </a:prstGeom>
        </p:spPr>
      </p:pic>
      <p:pic>
        <p:nvPicPr>
          <p:cNvPr id="14" name="图片 13" descr="图表&#10;&#10;AI 生成的内容可能不正确。"/>
          <p:cNvPicPr>
            <a:picLocks noChangeAspect="1"/>
          </p:cNvPicPr>
          <p:nvPr/>
        </p:nvPicPr>
        <p:blipFill>
          <a:blip r:embed="rId4"/>
          <a:stretch>
            <a:fillRect/>
          </a:stretch>
        </p:blipFill>
        <p:spPr>
          <a:xfrm>
            <a:off x="180890" y="1716183"/>
            <a:ext cx="1256966" cy="2721750"/>
          </a:xfrm>
          <a:prstGeom prst="rect">
            <a:avLst/>
          </a:prstGeom>
        </p:spPr>
      </p:pic>
      <p:sp>
        <p:nvSpPr>
          <p:cNvPr id="15" name="矩形 14"/>
          <p:cNvSpPr/>
          <p:nvPr/>
        </p:nvSpPr>
        <p:spPr>
          <a:xfrm>
            <a:off x="180890" y="2131551"/>
            <a:ext cx="1298695" cy="1696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右箭头 15"/>
          <p:cNvSpPr/>
          <p:nvPr/>
        </p:nvSpPr>
        <p:spPr>
          <a:xfrm>
            <a:off x="1455718" y="2870821"/>
            <a:ext cx="208496" cy="276999"/>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p:cNvSpPr txBox="1"/>
          <p:nvPr/>
        </p:nvSpPr>
        <p:spPr>
          <a:xfrm>
            <a:off x="270991" y="4425509"/>
            <a:ext cx="1118492"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搜索</a:t>
            </a:r>
            <a:r>
              <a:rPr lang="en-US" altLang="zh-CN" sz="900" dirty="0" err="1">
                <a:latin typeface="+mn-ea"/>
                <a:ea typeface="+mn-ea"/>
              </a:rPr>
              <a:t>sug</a:t>
            </a:r>
            <a:endParaRPr lang="zh-CN" altLang="en-US" sz="900" dirty="0">
              <a:latin typeface="+mn-ea"/>
              <a:ea typeface="+mn-ea"/>
            </a:endParaRPr>
          </a:p>
        </p:txBody>
      </p:sp>
      <p:sp>
        <p:nvSpPr>
          <p:cNvPr id="18" name="文本框 17"/>
          <p:cNvSpPr txBox="1"/>
          <p:nvPr/>
        </p:nvSpPr>
        <p:spPr>
          <a:xfrm>
            <a:off x="1732695" y="4425508"/>
            <a:ext cx="1118492" cy="276999"/>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latin typeface="+mn-ea"/>
                <a:ea typeface="+mn-ea"/>
              </a:rPr>
              <a:t>榜单落地页</a:t>
            </a:r>
          </a:p>
        </p:txBody>
      </p:sp>
      <p:graphicFrame>
        <p:nvGraphicFramePr>
          <p:cNvPr id="19" name="图示 18"/>
          <p:cNvGraphicFramePr/>
          <p:nvPr/>
        </p:nvGraphicFramePr>
        <p:xfrm>
          <a:off x="4185610" y="1716183"/>
          <a:ext cx="2322443" cy="278138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米菲PPT130"/>
          <p:cNvSpPr/>
          <p:nvPr/>
        </p:nvSpPr>
        <p:spPr>
          <a:xfrm>
            <a:off x="6612694" y="1845438"/>
            <a:ext cx="2453323" cy="416352"/>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dirty="0">
                <a:solidFill>
                  <a:schemeClr val="tx1"/>
                </a:solidFill>
                <a:latin typeface="+mn-ea"/>
              </a:rPr>
              <a:t>投放</a:t>
            </a:r>
            <a:r>
              <a:rPr lang="en-US" altLang="zh-CN" sz="900" dirty="0">
                <a:solidFill>
                  <a:schemeClr val="tx1"/>
                </a:solidFill>
                <a:latin typeface="+mn-ea"/>
              </a:rPr>
              <a:t>query</a:t>
            </a:r>
            <a:r>
              <a:rPr lang="zh-CN" altLang="en-US" sz="900" dirty="0">
                <a:solidFill>
                  <a:schemeClr val="tx1"/>
                </a:solidFill>
                <a:latin typeface="+mn-ea"/>
              </a:rPr>
              <a:t>数量：</a:t>
            </a:r>
            <a:r>
              <a:rPr lang="en-US" altLang="zh-CN" sz="900" dirty="0">
                <a:solidFill>
                  <a:schemeClr val="tx1"/>
                </a:solidFill>
                <a:latin typeface="+mn-ea"/>
              </a:rPr>
              <a:t>17</a:t>
            </a:r>
            <a:r>
              <a:rPr lang="zh-CN" altLang="en-US" sz="900" dirty="0">
                <a:solidFill>
                  <a:schemeClr val="tx1"/>
                </a:solidFill>
                <a:latin typeface="+mn-ea"/>
              </a:rPr>
              <a:t>个品类（覆盖火锅、自助餐、烧烤、西餐、烤肉等），</a:t>
            </a:r>
            <a:r>
              <a:rPr lang="en-US" altLang="zh-CN" sz="900" dirty="0">
                <a:solidFill>
                  <a:schemeClr val="tx1"/>
                </a:solidFill>
                <a:latin typeface="+mn-ea"/>
              </a:rPr>
              <a:t>224</a:t>
            </a:r>
            <a:r>
              <a:rPr lang="zh-CN" altLang="en-US" sz="900" dirty="0">
                <a:solidFill>
                  <a:schemeClr val="tx1"/>
                </a:solidFill>
                <a:latin typeface="+mn-ea"/>
              </a:rPr>
              <a:t>个词</a:t>
            </a:r>
            <a:endParaRPr lang="en-US" altLang="zh-CN" sz="900" dirty="0">
              <a:solidFill>
                <a:schemeClr val="tx1"/>
              </a:solidFill>
              <a:latin typeface="+mn-ea"/>
            </a:endParaRPr>
          </a:p>
        </p:txBody>
      </p:sp>
      <p:sp>
        <p:nvSpPr>
          <p:cNvPr id="23" name="文本框 22"/>
          <p:cNvSpPr txBox="1"/>
          <p:nvPr/>
        </p:nvSpPr>
        <p:spPr>
          <a:xfrm>
            <a:off x="0" y="4969128"/>
            <a:ext cx="2822713" cy="195580"/>
          </a:xfrm>
          <a:prstGeom prst="rect">
            <a:avLst/>
          </a:prstGeom>
          <a:noFill/>
        </p:spPr>
        <p:txBody>
          <a:bodyPr wrap="square">
            <a:spAutoFit/>
          </a:bodyPr>
          <a:lstStyle/>
          <a:p>
            <a:pPr>
              <a:spcBef>
                <a:spcPts val="600"/>
              </a:spcBef>
              <a:spcAft>
                <a:spcPts val="600"/>
              </a:spcAft>
            </a:pPr>
            <a:r>
              <a:rPr lang="zh-CN" altLang="en-US" sz="1050" baseline="-25000" dirty="0">
                <a:latin typeface="+mn-ea"/>
              </a:rPr>
              <a:t>*最近一周</a:t>
            </a:r>
            <a:r>
              <a:rPr lang="en-US" altLang="zh-CN" sz="1050" baseline="-25000" dirty="0">
                <a:latin typeface="+mn-ea"/>
              </a:rPr>
              <a:t>(1.15-1.21)</a:t>
            </a:r>
            <a:r>
              <a:rPr lang="zh-CN" altLang="en-US" sz="1050" baseline="-25000" dirty="0">
                <a:latin typeface="+mn-ea"/>
              </a:rPr>
              <a:t>周日均</a:t>
            </a:r>
          </a:p>
        </p:txBody>
      </p:sp>
      <p:sp>
        <p:nvSpPr>
          <p:cNvPr id="25" name="米菲PPT130"/>
          <p:cNvSpPr/>
          <p:nvPr/>
        </p:nvSpPr>
        <p:spPr>
          <a:xfrm>
            <a:off x="6597120" y="3460719"/>
            <a:ext cx="2453323" cy="416352"/>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dirty="0">
                <a:solidFill>
                  <a:schemeClr val="tx1"/>
                </a:solidFill>
                <a:latin typeface="+mn-ea"/>
              </a:rPr>
              <a:t>带来意向</a:t>
            </a:r>
            <a:r>
              <a:rPr lang="en-US" altLang="zh-CN" sz="900" dirty="0">
                <a:solidFill>
                  <a:schemeClr val="tx1"/>
                </a:solidFill>
                <a:latin typeface="+mn-ea"/>
              </a:rPr>
              <a:t>UV</a:t>
            </a:r>
            <a:r>
              <a:rPr lang="zh-CN" altLang="en-US" sz="900" dirty="0">
                <a:solidFill>
                  <a:schemeClr val="tx1"/>
                </a:solidFill>
                <a:latin typeface="+mn-ea"/>
              </a:rPr>
              <a:t>：</a:t>
            </a:r>
            <a:r>
              <a:rPr lang="en-US" altLang="zh-CN" sz="900" dirty="0">
                <a:solidFill>
                  <a:schemeClr val="tx1"/>
                </a:solidFill>
                <a:latin typeface="+mn-ea"/>
              </a:rPr>
              <a:t>23,054</a:t>
            </a:r>
            <a:r>
              <a:rPr lang="zh-CN" altLang="en-US" sz="900" dirty="0">
                <a:solidFill>
                  <a:schemeClr val="tx1"/>
                </a:solidFill>
                <a:latin typeface="+mn-ea"/>
              </a:rPr>
              <a:t>（占比</a:t>
            </a:r>
            <a:r>
              <a:rPr lang="en-US" altLang="zh-CN" sz="900" dirty="0">
                <a:solidFill>
                  <a:schemeClr val="tx1"/>
                </a:solidFill>
                <a:latin typeface="+mn-ea"/>
              </a:rPr>
              <a:t>9.29%</a:t>
            </a:r>
            <a:r>
              <a:rPr lang="zh-CN" altLang="en-US" sz="900" dirty="0">
                <a:solidFill>
                  <a:schemeClr val="tx1"/>
                </a:solidFill>
                <a:latin typeface="+mn-ea"/>
              </a:rPr>
              <a:t>）</a:t>
            </a:r>
            <a:endParaRPr lang="en-US" altLang="zh-CN" sz="900" dirty="0">
              <a:solidFill>
                <a:schemeClr val="tx1"/>
              </a:solidFill>
              <a:latin typeface="+mn-ea"/>
            </a:endParaRPr>
          </a:p>
        </p:txBody>
      </p:sp>
      <p:sp>
        <p:nvSpPr>
          <p:cNvPr id="26" name="米菲PPT130"/>
          <p:cNvSpPr/>
          <p:nvPr/>
        </p:nvSpPr>
        <p:spPr>
          <a:xfrm>
            <a:off x="6597120" y="3999040"/>
            <a:ext cx="2453323" cy="498529"/>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dirty="0">
                <a:solidFill>
                  <a:schemeClr val="tx1"/>
                </a:solidFill>
                <a:latin typeface="+mn-ea"/>
              </a:rPr>
              <a:t>带来直接支付</a:t>
            </a:r>
            <a:r>
              <a:rPr lang="en-US" altLang="zh-CN" sz="900" dirty="0">
                <a:solidFill>
                  <a:schemeClr val="tx1"/>
                </a:solidFill>
                <a:latin typeface="+mn-ea"/>
              </a:rPr>
              <a:t>UV</a:t>
            </a:r>
            <a:r>
              <a:rPr lang="zh-CN" altLang="en-US" sz="900" dirty="0">
                <a:solidFill>
                  <a:schemeClr val="tx1"/>
                </a:solidFill>
                <a:latin typeface="+mn-ea"/>
              </a:rPr>
              <a:t>：</a:t>
            </a:r>
            <a:r>
              <a:rPr lang="en-US" altLang="zh-CN" sz="900" dirty="0">
                <a:solidFill>
                  <a:schemeClr val="tx1"/>
                </a:solidFill>
                <a:latin typeface="+mn-ea"/>
              </a:rPr>
              <a:t>910</a:t>
            </a:r>
            <a:r>
              <a:rPr lang="zh-CN" altLang="en-US" sz="900" dirty="0">
                <a:solidFill>
                  <a:schemeClr val="tx1"/>
                </a:solidFill>
                <a:latin typeface="+mn-ea"/>
              </a:rPr>
              <a:t>（占比</a:t>
            </a:r>
            <a:r>
              <a:rPr lang="en-US" altLang="zh-CN" sz="900" dirty="0">
                <a:solidFill>
                  <a:schemeClr val="tx1"/>
                </a:solidFill>
                <a:latin typeface="+mn-ea"/>
              </a:rPr>
              <a:t>5.31% </a:t>
            </a:r>
            <a:r>
              <a:rPr lang="zh-CN" altLang="en-US" sz="900" dirty="0">
                <a:solidFill>
                  <a:schemeClr val="tx1"/>
                </a:solidFill>
                <a:latin typeface="+mn-ea"/>
              </a:rPr>
              <a:t>）</a:t>
            </a:r>
            <a:endParaRPr lang="en-US" altLang="zh-CN" sz="900" dirty="0">
              <a:solidFill>
                <a:schemeClr val="tx1"/>
              </a:solidFill>
              <a:latin typeface="+mn-ea"/>
            </a:endParaRPr>
          </a:p>
          <a:p>
            <a:pPr marL="92075" indent="-92075">
              <a:buFont typeface="Arial" panose="020B0604020202020204" pitchFamily="34" charset="0"/>
              <a:buChar char="•"/>
            </a:pPr>
            <a:r>
              <a:rPr lang="zh-CN" altLang="en-US" sz="900" dirty="0">
                <a:solidFill>
                  <a:schemeClr val="tx1"/>
                </a:solidFill>
                <a:latin typeface="+mn-ea"/>
              </a:rPr>
              <a:t>带来直接支付订单量：</a:t>
            </a:r>
            <a:r>
              <a:rPr lang="en-US" altLang="zh-CN" sz="900" dirty="0">
                <a:solidFill>
                  <a:schemeClr val="tx1"/>
                </a:solidFill>
                <a:latin typeface="+mn-ea"/>
              </a:rPr>
              <a:t>1,088</a:t>
            </a:r>
            <a:r>
              <a:rPr lang="zh-CN" altLang="en-US" sz="900" dirty="0">
                <a:solidFill>
                  <a:schemeClr val="tx1"/>
                </a:solidFill>
                <a:latin typeface="+mn-ea"/>
              </a:rPr>
              <a:t>（占比</a:t>
            </a:r>
            <a:r>
              <a:rPr lang="en-US" altLang="zh-CN" sz="900" dirty="0">
                <a:solidFill>
                  <a:schemeClr val="tx1"/>
                </a:solidFill>
                <a:latin typeface="+mn-ea"/>
              </a:rPr>
              <a:t>5.51%</a:t>
            </a:r>
            <a:r>
              <a:rPr lang="zh-CN" altLang="en-US" sz="900" dirty="0">
                <a:solidFill>
                  <a:schemeClr val="tx1"/>
                </a:solidFill>
                <a:latin typeface="+mn-ea"/>
              </a:rPr>
              <a:t>）</a:t>
            </a:r>
            <a:endParaRPr lang="en-US" altLang="zh-CN" sz="900" dirty="0">
              <a:solidFill>
                <a:schemeClr val="tx1"/>
              </a:solidFill>
              <a:latin typeface="+mn-ea"/>
            </a:endParaRPr>
          </a:p>
          <a:p>
            <a:pPr marL="92075" indent="-92075">
              <a:buFont typeface="Arial" panose="020B0604020202020204" pitchFamily="34" charset="0"/>
              <a:buChar char="•"/>
            </a:pPr>
            <a:r>
              <a:rPr lang="zh-CN" altLang="en-US" sz="900" dirty="0">
                <a:solidFill>
                  <a:schemeClr val="tx1"/>
                </a:solidFill>
                <a:latin typeface="+mn-ea"/>
              </a:rPr>
              <a:t>带来直接</a:t>
            </a:r>
            <a:r>
              <a:rPr lang="en-US" altLang="zh-CN" sz="900" dirty="0">
                <a:solidFill>
                  <a:schemeClr val="tx1"/>
                </a:solidFill>
                <a:latin typeface="+mn-ea"/>
              </a:rPr>
              <a:t>GTV</a:t>
            </a:r>
            <a:r>
              <a:rPr lang="zh-CN" altLang="en-US" sz="900" dirty="0">
                <a:solidFill>
                  <a:schemeClr val="tx1"/>
                </a:solidFill>
                <a:latin typeface="+mn-ea"/>
              </a:rPr>
              <a:t>：</a:t>
            </a:r>
            <a:r>
              <a:rPr lang="en-US" altLang="zh-CN" sz="900" dirty="0">
                <a:solidFill>
                  <a:schemeClr val="tx1"/>
                </a:solidFill>
                <a:latin typeface="+mn-ea"/>
              </a:rPr>
              <a:t>179,013</a:t>
            </a:r>
            <a:r>
              <a:rPr lang="zh-CN" altLang="en-US" sz="900" dirty="0">
                <a:solidFill>
                  <a:schemeClr val="tx1"/>
                </a:solidFill>
                <a:latin typeface="+mn-ea"/>
              </a:rPr>
              <a:t>（占比</a:t>
            </a:r>
            <a:r>
              <a:rPr lang="en-US" altLang="zh-CN" sz="900" dirty="0">
                <a:solidFill>
                  <a:schemeClr val="tx1"/>
                </a:solidFill>
                <a:latin typeface="+mn-ea"/>
              </a:rPr>
              <a:t>8.12%</a:t>
            </a:r>
            <a:r>
              <a:rPr lang="zh-CN" altLang="en-US" sz="900" dirty="0">
                <a:solidFill>
                  <a:schemeClr val="tx1"/>
                </a:solidFill>
                <a:latin typeface="+mn-ea"/>
              </a:rPr>
              <a:t>）</a:t>
            </a:r>
            <a:endParaRPr lang="en-US" altLang="zh-CN" sz="900" dirty="0">
              <a:solidFill>
                <a:schemeClr val="tx1"/>
              </a:solidFill>
              <a:latin typeface="+mn-ea"/>
            </a:endParaRPr>
          </a:p>
        </p:txBody>
      </p:sp>
      <p:sp>
        <p:nvSpPr>
          <p:cNvPr id="27" name="右弧形箭头 26"/>
          <p:cNvSpPr/>
          <p:nvPr/>
        </p:nvSpPr>
        <p:spPr>
          <a:xfrm rot="20415347">
            <a:off x="4178962" y="2000662"/>
            <a:ext cx="566530" cy="69542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8" name="右弧形箭头 27"/>
          <p:cNvSpPr/>
          <p:nvPr/>
        </p:nvSpPr>
        <p:spPr>
          <a:xfrm rot="20492208">
            <a:off x="4403210" y="2615335"/>
            <a:ext cx="566530" cy="120298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框 29"/>
          <p:cNvSpPr txBox="1"/>
          <p:nvPr/>
        </p:nvSpPr>
        <p:spPr>
          <a:xfrm>
            <a:off x="2851140" y="2008994"/>
            <a:ext cx="1358298" cy="669414"/>
          </a:xfrm>
          <a:prstGeom prst="rect">
            <a:avLst/>
          </a:prstGeom>
          <a:noFill/>
        </p:spPr>
        <p:txBody>
          <a:bodyPr wrap="square">
            <a:noAutofit/>
          </a:bodyPr>
          <a:lstStyle/>
          <a:p>
            <a:pPr marL="0" marR="0" algn="r">
              <a:spcBef>
                <a:spcPts val="600"/>
              </a:spcBef>
              <a:spcAft>
                <a:spcPts val="600"/>
              </a:spcAft>
              <a:buNone/>
            </a:pPr>
            <a:r>
              <a:rPr lang="en-US" altLang="zh-CN" sz="900" dirty="0" err="1">
                <a:latin typeface="+mn-ea"/>
              </a:rPr>
              <a:t>sug</a:t>
            </a:r>
            <a:r>
              <a:rPr lang="zh-CN" altLang="en-US" sz="900" dirty="0">
                <a:latin typeface="+mn-ea"/>
              </a:rPr>
              <a:t>点击率：</a:t>
            </a:r>
            <a:r>
              <a:rPr lang="en-US" altLang="zh-CN" sz="900" dirty="0">
                <a:latin typeface="+mn-ea"/>
              </a:rPr>
              <a:t>3.49%</a:t>
            </a:r>
          </a:p>
          <a:p>
            <a:pPr marL="0" marR="0" algn="r">
              <a:spcBef>
                <a:spcPts val="600"/>
              </a:spcBef>
              <a:spcAft>
                <a:spcPts val="600"/>
              </a:spcAft>
              <a:buNone/>
            </a:pPr>
            <a:r>
              <a:rPr lang="zh-CN" altLang="en-US" sz="900" dirty="0">
                <a:effectLst/>
                <a:latin typeface="+mn-ea"/>
              </a:rPr>
              <a:t>高于其他投放</a:t>
            </a:r>
            <a:r>
              <a:rPr lang="en-US" altLang="zh-CN" sz="900" dirty="0">
                <a:solidFill>
                  <a:srgbClr val="FF0000"/>
                </a:solidFill>
                <a:effectLst/>
                <a:latin typeface="+mn-ea"/>
              </a:rPr>
              <a:t>+</a:t>
            </a:r>
            <a:r>
              <a:rPr lang="en-US" altLang="zh-CN" sz="900" dirty="0">
                <a:solidFill>
                  <a:srgbClr val="FF0000"/>
                </a:solidFill>
                <a:latin typeface="+mn-ea"/>
              </a:rPr>
              <a:t>0.82</a:t>
            </a:r>
            <a:r>
              <a:rPr lang="en-US" altLang="zh-CN" sz="900" dirty="0">
                <a:solidFill>
                  <a:srgbClr val="FF0000"/>
                </a:solidFill>
                <a:effectLst/>
                <a:latin typeface="+mn-ea"/>
              </a:rPr>
              <a:t>pp</a:t>
            </a:r>
            <a:r>
              <a:rPr lang="zh-CN" altLang="en-US" sz="900" dirty="0">
                <a:effectLst/>
                <a:latin typeface="+mn-ea"/>
              </a:rPr>
              <a:t>（</a:t>
            </a:r>
            <a:r>
              <a:rPr lang="en-US" altLang="zh-CN" sz="900" dirty="0">
                <a:effectLst/>
                <a:latin typeface="+mn-ea"/>
              </a:rPr>
              <a:t>2.67%</a:t>
            </a:r>
            <a:r>
              <a:rPr lang="zh-CN" altLang="en-US" sz="900" dirty="0">
                <a:effectLst/>
                <a:latin typeface="+mn-ea"/>
              </a:rPr>
              <a:t>）</a:t>
            </a:r>
          </a:p>
        </p:txBody>
      </p:sp>
      <p:sp>
        <p:nvSpPr>
          <p:cNvPr id="31" name="文本框 30"/>
          <p:cNvSpPr txBox="1"/>
          <p:nvPr/>
        </p:nvSpPr>
        <p:spPr>
          <a:xfrm>
            <a:off x="2955514" y="2983973"/>
            <a:ext cx="1381781" cy="683895"/>
          </a:xfrm>
          <a:prstGeom prst="rect">
            <a:avLst/>
          </a:prstGeom>
          <a:noFill/>
        </p:spPr>
        <p:txBody>
          <a:bodyPr wrap="square">
            <a:spAutoFit/>
          </a:bodyPr>
          <a:lstStyle/>
          <a:p>
            <a:pPr marL="0" marR="0" algn="r">
              <a:spcBef>
                <a:spcPts val="600"/>
              </a:spcBef>
              <a:spcAft>
                <a:spcPts val="600"/>
              </a:spcAft>
              <a:buNone/>
            </a:pPr>
            <a:r>
              <a:rPr lang="zh-CN" altLang="en-US" sz="900" dirty="0">
                <a:latin typeface="+mn-ea"/>
              </a:rPr>
              <a:t>意向率：</a:t>
            </a:r>
            <a:r>
              <a:rPr lang="en-US" altLang="zh-CN" sz="900" dirty="0">
                <a:latin typeface="+mn-ea"/>
              </a:rPr>
              <a:t>38.76%</a:t>
            </a:r>
          </a:p>
          <a:p>
            <a:pPr marL="0" marR="0" algn="r">
              <a:spcBef>
                <a:spcPts val="600"/>
              </a:spcBef>
              <a:spcAft>
                <a:spcPts val="600"/>
              </a:spcAft>
              <a:buNone/>
            </a:pPr>
            <a:r>
              <a:rPr lang="zh-CN" altLang="en-US" sz="900" dirty="0">
                <a:effectLst/>
                <a:latin typeface="+mn-ea"/>
              </a:rPr>
              <a:t>高于其他投放</a:t>
            </a:r>
            <a:r>
              <a:rPr lang="en-US" altLang="zh-CN" sz="900" dirty="0">
                <a:solidFill>
                  <a:srgbClr val="FF0000"/>
                </a:solidFill>
                <a:effectLst/>
                <a:latin typeface="+mn-ea"/>
              </a:rPr>
              <a:t>+</a:t>
            </a:r>
            <a:r>
              <a:rPr lang="zh-CN" altLang="en-US" sz="900" dirty="0">
                <a:solidFill>
                  <a:srgbClr val="FF0000"/>
                </a:solidFill>
                <a:effectLst/>
                <a:latin typeface="+mn-ea"/>
              </a:rPr>
              <a:t>2</a:t>
            </a:r>
            <a:r>
              <a:rPr lang="en-US" altLang="zh-CN" sz="900" dirty="0">
                <a:solidFill>
                  <a:srgbClr val="FF0000"/>
                </a:solidFill>
                <a:effectLst/>
                <a:latin typeface="+mn-ea"/>
              </a:rPr>
              <a:t>6.51pp</a:t>
            </a:r>
            <a:r>
              <a:rPr lang="zh-CN" altLang="en-US" sz="900" dirty="0">
                <a:effectLst/>
                <a:latin typeface="+mn-ea"/>
              </a:rPr>
              <a:t>（</a:t>
            </a:r>
            <a:r>
              <a:rPr lang="en-US" altLang="zh-CN" sz="900" dirty="0">
                <a:effectLst/>
                <a:latin typeface="+mn-ea"/>
              </a:rPr>
              <a:t>12.25%</a:t>
            </a:r>
            <a:r>
              <a:rPr lang="zh-CN" altLang="en-US" sz="900" dirty="0">
                <a:effectLst/>
                <a:latin typeface="+mn-ea"/>
              </a:rPr>
              <a:t>）</a:t>
            </a:r>
          </a:p>
        </p:txBody>
      </p:sp>
      <p:sp>
        <p:nvSpPr>
          <p:cNvPr id="32" name="文本框 31"/>
          <p:cNvSpPr txBox="1"/>
          <p:nvPr/>
        </p:nvSpPr>
        <p:spPr>
          <a:xfrm>
            <a:off x="2955514" y="3836220"/>
            <a:ext cx="1488631" cy="800219"/>
          </a:xfrm>
          <a:prstGeom prst="rect">
            <a:avLst/>
          </a:prstGeom>
          <a:noFill/>
        </p:spPr>
        <p:txBody>
          <a:bodyPr wrap="square">
            <a:spAutoFit/>
          </a:bodyPr>
          <a:lstStyle/>
          <a:p>
            <a:pPr marL="0" marR="0" algn="r">
              <a:spcBef>
                <a:spcPts val="600"/>
              </a:spcBef>
              <a:spcAft>
                <a:spcPts val="600"/>
              </a:spcAft>
              <a:buNone/>
            </a:pPr>
            <a:r>
              <a:rPr lang="zh-CN" altLang="en-US" sz="900" dirty="0">
                <a:latin typeface="+mn-ea"/>
              </a:rPr>
              <a:t>意向</a:t>
            </a:r>
            <a:r>
              <a:rPr lang="en-US" altLang="zh-CN" sz="900" dirty="0">
                <a:latin typeface="+mn-ea"/>
              </a:rPr>
              <a:t>-</a:t>
            </a:r>
            <a:r>
              <a:rPr lang="zh-CN" altLang="en-US" sz="900" dirty="0">
                <a:latin typeface="+mn-ea"/>
              </a:rPr>
              <a:t>支付</a:t>
            </a:r>
            <a:r>
              <a:rPr lang="en-US" altLang="zh-CN" sz="900" dirty="0">
                <a:latin typeface="+mn-ea"/>
              </a:rPr>
              <a:t>UV</a:t>
            </a:r>
            <a:r>
              <a:rPr lang="zh-CN" altLang="en-US" sz="900" dirty="0">
                <a:latin typeface="+mn-ea"/>
              </a:rPr>
              <a:t>转化率：</a:t>
            </a:r>
            <a:r>
              <a:rPr lang="en-US" altLang="zh-CN" sz="900" dirty="0">
                <a:latin typeface="+mn-ea"/>
              </a:rPr>
              <a:t>2.03%</a:t>
            </a:r>
          </a:p>
          <a:p>
            <a:pPr marL="0" marR="0" algn="r">
              <a:spcBef>
                <a:spcPts val="600"/>
              </a:spcBef>
              <a:spcAft>
                <a:spcPts val="600"/>
              </a:spcAft>
              <a:buNone/>
            </a:pPr>
            <a:r>
              <a:rPr lang="zh-CN" altLang="en-US" sz="900" dirty="0">
                <a:effectLst/>
                <a:latin typeface="+mn-ea"/>
              </a:rPr>
              <a:t>高于其他投放</a:t>
            </a:r>
            <a:r>
              <a:rPr lang="en-US" altLang="zh-CN" sz="900" dirty="0">
                <a:solidFill>
                  <a:srgbClr val="FF0000"/>
                </a:solidFill>
                <a:effectLst/>
                <a:latin typeface="+mn-ea"/>
              </a:rPr>
              <a:t>+0.72pp</a:t>
            </a:r>
            <a:r>
              <a:rPr lang="zh-CN" altLang="en-US" sz="900" dirty="0">
                <a:effectLst/>
                <a:latin typeface="+mn-ea"/>
              </a:rPr>
              <a:t>（</a:t>
            </a:r>
            <a:r>
              <a:rPr lang="en-US" altLang="zh-CN" sz="900" dirty="0">
                <a:effectLst/>
                <a:latin typeface="+mn-ea"/>
              </a:rPr>
              <a:t>1.31%</a:t>
            </a:r>
            <a:r>
              <a:rPr lang="zh-CN" altLang="en-US" sz="900" dirty="0">
                <a:effectLst/>
                <a:latin typeface="+mn-ea"/>
              </a:rPr>
              <a:t>）</a:t>
            </a:r>
          </a:p>
        </p:txBody>
      </p:sp>
      <p:sp>
        <p:nvSpPr>
          <p:cNvPr id="33" name="右弧形箭头 32"/>
          <p:cNvSpPr/>
          <p:nvPr/>
        </p:nvSpPr>
        <p:spPr>
          <a:xfrm rot="20492208">
            <a:off x="4563966" y="3620003"/>
            <a:ext cx="566530" cy="864704"/>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4" name="文本框 33"/>
          <p:cNvSpPr txBox="1"/>
          <p:nvPr/>
        </p:nvSpPr>
        <p:spPr>
          <a:xfrm>
            <a:off x="241910" y="492369"/>
            <a:ext cx="8439866" cy="461665"/>
          </a:xfrm>
          <a:prstGeom prst="rect">
            <a:avLst/>
          </a:prstGeom>
          <a:noFill/>
        </p:spPr>
        <p:txBody>
          <a:bodyPr wrap="square">
            <a:spAutoFit/>
          </a:bodyPr>
          <a:lstStyle/>
          <a:p>
            <a:pPr marL="0" marR="0">
              <a:spcBef>
                <a:spcPts val="600"/>
              </a:spcBef>
              <a:spcAft>
                <a:spcPts val="600"/>
              </a:spcAft>
              <a:buNone/>
            </a:pPr>
            <a:r>
              <a:rPr lang="zh-CN" altLang="en-US" sz="1200" dirty="0">
                <a:latin typeface="+mn-ea"/>
              </a:rPr>
              <a:t>对于</a:t>
            </a:r>
            <a:r>
              <a:rPr lang="zh-CN" altLang="en-US" sz="1200" dirty="0">
                <a:effectLst/>
                <a:latin typeface="+mn-ea"/>
              </a:rPr>
              <a:t>大搜渠道下高搜品类</a:t>
            </a:r>
            <a:r>
              <a:rPr lang="en-US" altLang="zh-CN" sz="1200" dirty="0">
                <a:effectLst/>
                <a:latin typeface="+mn-ea"/>
              </a:rPr>
              <a:t>query</a:t>
            </a:r>
            <a:r>
              <a:rPr lang="zh-CN" altLang="en-US" sz="1200" dirty="0">
                <a:effectLst/>
                <a:latin typeface="+mn-ea"/>
              </a:rPr>
              <a:t>词，尝试通过</a:t>
            </a:r>
            <a:r>
              <a:rPr lang="en-US" altLang="zh-CN" sz="1200" dirty="0" err="1">
                <a:effectLst/>
                <a:latin typeface="+mn-ea"/>
              </a:rPr>
              <a:t>sug</a:t>
            </a:r>
            <a:r>
              <a:rPr lang="zh-CN" altLang="en-US" sz="1200" dirty="0">
                <a:effectLst/>
                <a:latin typeface="+mn-ea"/>
              </a:rPr>
              <a:t>配置</a:t>
            </a:r>
            <a:r>
              <a:rPr lang="zh-CN" altLang="en-US" sz="1200" b="1" dirty="0">
                <a:effectLst/>
                <a:latin typeface="+mn-ea"/>
              </a:rPr>
              <a:t>验证榜单承接需求效果</a:t>
            </a:r>
            <a:r>
              <a:rPr lang="zh-CN" altLang="en-US" sz="1200" dirty="0">
                <a:effectLst/>
                <a:latin typeface="+mn-ea"/>
              </a:rPr>
              <a:t>，</a:t>
            </a:r>
            <a:r>
              <a:rPr lang="zh-CN" altLang="en-US" sz="1200" b="1" dirty="0">
                <a:effectLst/>
                <a:latin typeface="+mn-ea"/>
              </a:rPr>
              <a:t>转化率显著高于其它投放</a:t>
            </a:r>
            <a:r>
              <a:rPr lang="en-US" altLang="zh-CN" sz="1200" b="1" dirty="0" err="1">
                <a:effectLst/>
                <a:latin typeface="+mn-ea"/>
              </a:rPr>
              <a:t>sug</a:t>
            </a:r>
            <a:r>
              <a:rPr lang="zh-CN" altLang="en-US" sz="1200" b="1" dirty="0">
                <a:latin typeface="+mn-ea"/>
              </a:rPr>
              <a:t>词转化</a:t>
            </a:r>
            <a:r>
              <a:rPr lang="zh-CN" altLang="en-US" sz="1200" dirty="0">
                <a:latin typeface="+mn-ea"/>
              </a:rPr>
              <a:t>。后续运营投放上随榜单品类扩充完善，产品路径上在品类搜索结果页展示榜单模块</a:t>
            </a:r>
            <a:endParaRPr lang="zh-CN" altLang="en-US" sz="1200" dirty="0">
              <a:effectLst/>
              <a:latin typeface="+mn-ea"/>
            </a:endParaRPr>
          </a:p>
        </p:txBody>
      </p:sp>
      <p:sp>
        <p:nvSpPr>
          <p:cNvPr id="7" name="米菲PPT130"/>
          <p:cNvSpPr/>
          <p:nvPr/>
        </p:nvSpPr>
        <p:spPr>
          <a:xfrm>
            <a:off x="6612694" y="2909568"/>
            <a:ext cx="2453323" cy="416352"/>
          </a:xfrm>
          <a:prstGeom prst="roundRect">
            <a:avLst/>
          </a:prstGeom>
          <a:gradFill>
            <a:gsLst>
              <a:gs pos="100000">
                <a:schemeClr val="accent1">
                  <a:lumMod val="5000"/>
                  <a:lumOff val="95000"/>
                </a:schemeClr>
              </a:gs>
              <a:gs pos="1000">
                <a:schemeClr val="bg1"/>
              </a:gs>
            </a:gsLst>
            <a:lin ang="19800000" scaled="0"/>
          </a:gradFill>
          <a:ln w="6350">
            <a:solidFill>
              <a:schemeClr val="accent1">
                <a:lumMod val="75000"/>
              </a:schemeClr>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marL="92075" indent="-92075">
              <a:buFont typeface="Arial" panose="020B0604020202020204" pitchFamily="34" charset="0"/>
              <a:buChar char="•"/>
            </a:pPr>
            <a:r>
              <a:rPr lang="zh-CN" altLang="en-US" sz="900" dirty="0">
                <a:solidFill>
                  <a:schemeClr val="tx1"/>
                </a:solidFill>
                <a:latin typeface="+mn-ea"/>
              </a:rPr>
              <a:t>带来榜单页曝光</a:t>
            </a:r>
            <a:r>
              <a:rPr lang="en-US" altLang="zh-CN" sz="900" dirty="0">
                <a:solidFill>
                  <a:schemeClr val="tx1"/>
                </a:solidFill>
                <a:latin typeface="+mn-ea"/>
              </a:rPr>
              <a:t>UV</a:t>
            </a:r>
            <a:r>
              <a:rPr lang="zh-CN" altLang="en-US" sz="900" dirty="0">
                <a:solidFill>
                  <a:schemeClr val="tx1"/>
                </a:solidFill>
                <a:latin typeface="+mn-ea"/>
              </a:rPr>
              <a:t>：</a:t>
            </a:r>
            <a:r>
              <a:rPr lang="en-US" altLang="zh-CN" sz="900" dirty="0">
                <a:solidFill>
                  <a:schemeClr val="tx1"/>
                </a:solidFill>
                <a:latin typeface="+mn-ea"/>
              </a:rPr>
              <a:t>49,728</a:t>
            </a:r>
            <a:r>
              <a:rPr lang="zh-CN" altLang="en-US" sz="900" dirty="0">
                <a:solidFill>
                  <a:schemeClr val="tx1"/>
                </a:solidFill>
                <a:latin typeface="+mn-ea"/>
              </a:rPr>
              <a:t>（占比</a:t>
            </a:r>
            <a:r>
              <a:rPr lang="en-US" altLang="zh-CN" sz="900" dirty="0">
                <a:solidFill>
                  <a:schemeClr val="tx1"/>
                </a:solidFill>
                <a:latin typeface="+mn-ea"/>
              </a:rPr>
              <a:t>8.23%</a:t>
            </a:r>
            <a:r>
              <a:rPr lang="zh-CN" altLang="en-US" sz="900" dirty="0">
                <a:solidFill>
                  <a:schemeClr val="tx1"/>
                </a:solidFill>
                <a:latin typeface="+mn-ea"/>
              </a:rPr>
              <a:t>）</a:t>
            </a:r>
            <a:endParaRPr lang="en-US" altLang="zh-CN" sz="900" dirty="0">
              <a:solidFill>
                <a:schemeClr val="tx1"/>
              </a:solidFill>
              <a:latin typeface="+mn-ea"/>
            </a:endParaRPr>
          </a:p>
        </p:txBody>
      </p:sp>
      <p:sp>
        <p:nvSpPr>
          <p:cNvPr id="9" name="文本框 8"/>
          <p:cNvSpPr txBox="1"/>
          <p:nvPr/>
        </p:nvSpPr>
        <p:spPr>
          <a:xfrm>
            <a:off x="3262326" y="1556598"/>
            <a:ext cx="768156" cy="230832"/>
          </a:xfrm>
          <a:prstGeom prst="rect">
            <a:avLst/>
          </a:prstGeom>
          <a:noFill/>
        </p:spPr>
        <p:txBody>
          <a:bodyPr wrap="square">
            <a:spAutoFit/>
          </a:bodyPr>
          <a:lstStyle/>
          <a:p>
            <a:pPr algn="ctr"/>
            <a:r>
              <a:rPr lang="zh-CN" altLang="en-US" sz="900" dirty="0">
                <a:solidFill>
                  <a:schemeClr val="bg1">
                    <a:lumMod val="50000"/>
                  </a:schemeClr>
                </a:solidFill>
              </a:rPr>
              <a:t>横向比较</a:t>
            </a:r>
          </a:p>
        </p:txBody>
      </p:sp>
      <p:sp>
        <p:nvSpPr>
          <p:cNvPr id="10" name="文本框 9"/>
          <p:cNvSpPr txBox="1"/>
          <p:nvPr/>
        </p:nvSpPr>
        <p:spPr>
          <a:xfrm>
            <a:off x="7455277" y="1569765"/>
            <a:ext cx="768156" cy="230832"/>
          </a:xfrm>
          <a:prstGeom prst="rect">
            <a:avLst/>
          </a:prstGeom>
          <a:noFill/>
        </p:spPr>
        <p:txBody>
          <a:bodyPr wrap="square">
            <a:spAutoFit/>
          </a:bodyPr>
          <a:lstStyle/>
          <a:p>
            <a:pPr algn="ctr"/>
            <a:r>
              <a:rPr lang="zh-CN" altLang="en-US" sz="900" dirty="0">
                <a:solidFill>
                  <a:schemeClr val="bg1">
                    <a:lumMod val="50000"/>
                  </a:schemeClr>
                </a:solidFill>
              </a:rPr>
              <a:t>对榜单影响</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59402" y="15438"/>
            <a:ext cx="7664380" cy="427313"/>
          </a:xfrm>
        </p:spPr>
        <p:txBody>
          <a:bodyPr>
            <a:normAutofit/>
          </a:bodyPr>
          <a:lstStyle/>
          <a:p>
            <a:r>
              <a:rPr lang="zh-CN" altLang="en-US" sz="2100" dirty="0">
                <a:latin typeface="+mn-ea"/>
                <a:ea typeface="+mn-ea"/>
              </a:rPr>
              <a:t>用户找店决产品动线建设</a:t>
            </a:r>
          </a:p>
        </p:txBody>
      </p:sp>
      <p:cxnSp>
        <p:nvCxnSpPr>
          <p:cNvPr id="6" name="直接连接符 5"/>
          <p:cNvCxnSpPr/>
          <p:nvPr/>
        </p:nvCxnSpPr>
        <p:spPr>
          <a:xfrm>
            <a:off x="1733830" y="1981580"/>
            <a:ext cx="10379841" cy="0"/>
          </a:xfrm>
          <a:prstGeom prst="line">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cxnSp>
      <p:sp>
        <p:nvSpPr>
          <p:cNvPr id="15" name="文本框 14"/>
          <p:cNvSpPr txBox="1"/>
          <p:nvPr/>
        </p:nvSpPr>
        <p:spPr>
          <a:xfrm>
            <a:off x="180332" y="4396795"/>
            <a:ext cx="1966466" cy="643640"/>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latin typeface="+mn-ea"/>
                <a:ea typeface="+mn-ea"/>
              </a:rPr>
              <a:t>猜喜</a:t>
            </a:r>
            <a:r>
              <a:rPr lang="en-US" altLang="zh-CN" sz="900" dirty="0">
                <a:solidFill>
                  <a:schemeClr val="tx1"/>
                </a:solidFill>
                <a:latin typeface="+mn-ea"/>
                <a:ea typeface="+mn-ea"/>
              </a:rPr>
              <a:t>-</a:t>
            </a:r>
            <a:r>
              <a:rPr lang="zh-CN" altLang="en-US" sz="900" dirty="0">
                <a:solidFill>
                  <a:schemeClr val="tx1"/>
                </a:solidFill>
                <a:latin typeface="+mn-ea"/>
                <a:ea typeface="+mn-ea"/>
              </a:rPr>
              <a:t>增加榜单标签入口</a:t>
            </a:r>
            <a:endParaRPr lang="en-US" altLang="zh-CN" sz="900" dirty="0">
              <a:solidFill>
                <a:schemeClr val="tx1"/>
              </a:solidFill>
              <a:latin typeface="+mn-ea"/>
              <a:ea typeface="+mn-ea"/>
            </a:endParaRPr>
          </a:p>
          <a:p>
            <a:r>
              <a:rPr lang="zh-CN" altLang="en-US" sz="900" dirty="0">
                <a:solidFill>
                  <a:schemeClr val="tx1"/>
                </a:solidFill>
                <a:latin typeface="+mn-ea"/>
                <a:ea typeface="+mn-ea"/>
              </a:rPr>
              <a:t>预计时间：</a:t>
            </a:r>
            <a:r>
              <a:rPr lang="en-US" altLang="zh-CN" sz="900" dirty="0">
                <a:solidFill>
                  <a:schemeClr val="tx1"/>
                </a:solidFill>
                <a:latin typeface="+mn-ea"/>
                <a:ea typeface="+mn-ea"/>
              </a:rPr>
              <a:t>2</a:t>
            </a:r>
            <a:r>
              <a:rPr lang="zh-CN" altLang="en-US" sz="900" dirty="0">
                <a:solidFill>
                  <a:schemeClr val="tx1"/>
                </a:solidFill>
                <a:latin typeface="+mn-ea"/>
                <a:ea typeface="+mn-ea"/>
              </a:rPr>
              <a:t>月</a:t>
            </a:r>
            <a:r>
              <a:rPr lang="en-US" altLang="zh-CN" sz="900" dirty="0">
                <a:solidFill>
                  <a:schemeClr val="tx1"/>
                </a:solidFill>
                <a:latin typeface="+mn-ea"/>
                <a:ea typeface="+mn-ea"/>
              </a:rPr>
              <a:t>10</a:t>
            </a:r>
            <a:r>
              <a:rPr lang="zh-CN" altLang="en-US" sz="900" dirty="0">
                <a:solidFill>
                  <a:schemeClr val="tx1"/>
                </a:solidFill>
                <a:latin typeface="+mn-ea"/>
                <a:ea typeface="+mn-ea"/>
              </a:rPr>
              <a:t>日上线</a:t>
            </a:r>
            <a:endParaRPr lang="en-US" altLang="zh-CN" sz="900" dirty="0">
              <a:solidFill>
                <a:schemeClr val="tx1"/>
              </a:solidFill>
              <a:latin typeface="+mn-ea"/>
              <a:ea typeface="+mn-ea"/>
            </a:endParaRPr>
          </a:p>
          <a:p>
            <a:r>
              <a:rPr lang="zh-CN" altLang="en-US" sz="900" b="1" dirty="0">
                <a:solidFill>
                  <a:schemeClr val="tx1"/>
                </a:solidFill>
                <a:latin typeface="+mn-ea"/>
                <a:ea typeface="+mn-ea"/>
              </a:rPr>
              <a:t>榜单强化信息密度加速决策</a:t>
            </a:r>
          </a:p>
        </p:txBody>
      </p:sp>
      <p:pic>
        <p:nvPicPr>
          <p:cNvPr id="22" name="图片 21"/>
          <p:cNvPicPr>
            <a:picLocks noChangeAspect="1"/>
          </p:cNvPicPr>
          <p:nvPr/>
        </p:nvPicPr>
        <p:blipFill>
          <a:blip r:embed="rId3"/>
          <a:stretch>
            <a:fillRect/>
          </a:stretch>
        </p:blipFill>
        <p:spPr>
          <a:xfrm>
            <a:off x="3991592" y="1210339"/>
            <a:ext cx="1413177" cy="3060000"/>
          </a:xfrm>
          <a:prstGeom prst="rect">
            <a:avLst/>
          </a:prstGeom>
        </p:spPr>
      </p:pic>
      <p:pic>
        <p:nvPicPr>
          <p:cNvPr id="25" name="图片 24" descr="网站&#10;&#10;AI 生成的内容可能不正确。"/>
          <p:cNvPicPr>
            <a:picLocks noChangeAspect="1"/>
          </p:cNvPicPr>
          <p:nvPr/>
        </p:nvPicPr>
        <p:blipFill>
          <a:blip r:embed="rId4"/>
          <a:stretch>
            <a:fillRect/>
          </a:stretch>
        </p:blipFill>
        <p:spPr>
          <a:xfrm>
            <a:off x="2212635" y="1210339"/>
            <a:ext cx="1436827" cy="3060000"/>
          </a:xfrm>
          <a:prstGeom prst="rect">
            <a:avLst/>
          </a:prstGeom>
        </p:spPr>
      </p:pic>
      <p:pic>
        <p:nvPicPr>
          <p:cNvPr id="26" name="图片 25"/>
          <p:cNvPicPr>
            <a:picLocks noChangeAspect="1"/>
          </p:cNvPicPr>
          <p:nvPr/>
        </p:nvPicPr>
        <p:blipFill>
          <a:blip r:embed="rId5"/>
          <a:stretch>
            <a:fillRect/>
          </a:stretch>
        </p:blipFill>
        <p:spPr>
          <a:xfrm>
            <a:off x="5746899" y="912808"/>
            <a:ext cx="2961564" cy="3367797"/>
          </a:xfrm>
          <a:prstGeom prst="rect">
            <a:avLst/>
          </a:prstGeom>
        </p:spPr>
      </p:pic>
      <p:sp>
        <p:nvSpPr>
          <p:cNvPr id="28" name="文本框 27"/>
          <p:cNvSpPr txBox="1"/>
          <p:nvPr/>
        </p:nvSpPr>
        <p:spPr>
          <a:xfrm>
            <a:off x="2089550" y="4392432"/>
            <a:ext cx="1682996" cy="643640"/>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latin typeface="+mn-ea"/>
                <a:ea typeface="+mn-ea"/>
              </a:rPr>
              <a:t>大搜</a:t>
            </a:r>
            <a:r>
              <a:rPr lang="en-US" altLang="zh-CN" sz="900" dirty="0">
                <a:solidFill>
                  <a:schemeClr val="tx1"/>
                </a:solidFill>
                <a:latin typeface="+mn-ea"/>
                <a:ea typeface="+mn-ea"/>
              </a:rPr>
              <a:t>-</a:t>
            </a:r>
            <a:r>
              <a:rPr lang="zh-CN" altLang="en-US" sz="900" dirty="0">
                <a:solidFill>
                  <a:schemeClr val="tx1"/>
                </a:solidFill>
                <a:latin typeface="+mn-ea"/>
                <a:ea typeface="+mn-ea"/>
              </a:rPr>
              <a:t>增加榜单标签入口</a:t>
            </a:r>
            <a:endParaRPr lang="en-US" altLang="zh-CN" sz="900" dirty="0">
              <a:solidFill>
                <a:schemeClr val="tx1"/>
              </a:solidFill>
              <a:latin typeface="+mn-ea"/>
              <a:ea typeface="+mn-ea"/>
            </a:endParaRPr>
          </a:p>
          <a:p>
            <a:r>
              <a:rPr lang="zh-CN" altLang="en-US" sz="900" dirty="0">
                <a:solidFill>
                  <a:schemeClr val="tx1"/>
                </a:solidFill>
                <a:latin typeface="+mn-ea"/>
                <a:ea typeface="+mn-ea"/>
              </a:rPr>
              <a:t>预计时间：</a:t>
            </a:r>
            <a:r>
              <a:rPr lang="en-US" altLang="zh-CN" sz="900" dirty="0">
                <a:solidFill>
                  <a:schemeClr val="tx1"/>
                </a:solidFill>
                <a:latin typeface="+mn-ea"/>
                <a:ea typeface="+mn-ea"/>
              </a:rPr>
              <a:t>Q1</a:t>
            </a:r>
            <a:r>
              <a:rPr lang="zh-CN" altLang="en-US" sz="900" dirty="0">
                <a:solidFill>
                  <a:schemeClr val="tx1"/>
                </a:solidFill>
                <a:latin typeface="+mn-ea"/>
                <a:ea typeface="+mn-ea"/>
              </a:rPr>
              <a:t>上线</a:t>
            </a:r>
            <a:endParaRPr lang="en-US" altLang="zh-CN" sz="900" dirty="0">
              <a:solidFill>
                <a:schemeClr val="tx1"/>
              </a:solidFill>
              <a:latin typeface="+mn-ea"/>
              <a:ea typeface="+mn-ea"/>
            </a:endParaRPr>
          </a:p>
          <a:p>
            <a:r>
              <a:rPr lang="zh-CN" altLang="en-US" sz="900" b="1" dirty="0">
                <a:solidFill>
                  <a:schemeClr val="tx1"/>
                </a:solidFill>
                <a:latin typeface="+mn-ea"/>
                <a:ea typeface="+mn-ea"/>
              </a:rPr>
              <a:t>承接品类词选店需求</a:t>
            </a:r>
          </a:p>
        </p:txBody>
      </p:sp>
      <p:sp>
        <p:nvSpPr>
          <p:cNvPr id="29" name="文本框 28"/>
          <p:cNvSpPr txBox="1"/>
          <p:nvPr/>
        </p:nvSpPr>
        <p:spPr>
          <a:xfrm>
            <a:off x="3814614" y="4375113"/>
            <a:ext cx="1767131" cy="666462"/>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900" dirty="0">
                <a:solidFill>
                  <a:schemeClr val="tx1"/>
                </a:solidFill>
                <a:latin typeface="+mn-ea"/>
                <a:ea typeface="+mn-ea"/>
              </a:rPr>
              <a:t>POI-</a:t>
            </a:r>
            <a:r>
              <a:rPr lang="zh-CN" altLang="en-US" sz="900" dirty="0">
                <a:solidFill>
                  <a:schemeClr val="tx1"/>
                </a:solidFill>
                <a:latin typeface="+mn-ea"/>
                <a:ea typeface="+mn-ea"/>
              </a:rPr>
              <a:t>强化榜单标签入口</a:t>
            </a:r>
            <a:endParaRPr lang="en-US" altLang="zh-CN" sz="900" dirty="0">
              <a:solidFill>
                <a:schemeClr val="tx1"/>
              </a:solidFill>
              <a:latin typeface="+mn-ea"/>
              <a:ea typeface="+mn-ea"/>
            </a:endParaRPr>
          </a:p>
          <a:p>
            <a:r>
              <a:rPr lang="zh-CN" altLang="en-US" sz="900" dirty="0">
                <a:solidFill>
                  <a:schemeClr val="tx1"/>
                </a:solidFill>
                <a:latin typeface="+mn-ea"/>
                <a:ea typeface="+mn-ea"/>
              </a:rPr>
              <a:t>预计时间：</a:t>
            </a:r>
            <a:r>
              <a:rPr lang="en-US" altLang="zh-CN" sz="900" dirty="0">
                <a:solidFill>
                  <a:schemeClr val="tx1"/>
                </a:solidFill>
                <a:latin typeface="+mn-ea"/>
                <a:ea typeface="+mn-ea"/>
              </a:rPr>
              <a:t>2</a:t>
            </a:r>
            <a:r>
              <a:rPr lang="zh-CN" altLang="en-US" sz="900" dirty="0">
                <a:solidFill>
                  <a:schemeClr val="tx1"/>
                </a:solidFill>
                <a:latin typeface="+mn-ea"/>
                <a:ea typeface="+mn-ea"/>
              </a:rPr>
              <a:t>月</a:t>
            </a:r>
            <a:r>
              <a:rPr lang="en-US" altLang="zh-CN" sz="900" dirty="0">
                <a:solidFill>
                  <a:schemeClr val="tx1"/>
                </a:solidFill>
                <a:latin typeface="+mn-ea"/>
                <a:ea typeface="+mn-ea"/>
              </a:rPr>
              <a:t>9</a:t>
            </a:r>
            <a:r>
              <a:rPr lang="zh-CN" altLang="en-US" sz="900" dirty="0">
                <a:solidFill>
                  <a:schemeClr val="tx1"/>
                </a:solidFill>
                <a:latin typeface="+mn-ea"/>
                <a:ea typeface="+mn-ea"/>
              </a:rPr>
              <a:t>日全量</a:t>
            </a:r>
            <a:endParaRPr lang="en-US" altLang="zh-CN" sz="900" dirty="0">
              <a:solidFill>
                <a:schemeClr val="tx1"/>
              </a:solidFill>
              <a:latin typeface="+mn-ea"/>
              <a:ea typeface="+mn-ea"/>
            </a:endParaRPr>
          </a:p>
          <a:p>
            <a:r>
              <a:rPr lang="zh-CN" altLang="en-US" sz="900" b="1" dirty="0">
                <a:solidFill>
                  <a:schemeClr val="tx1"/>
                </a:solidFill>
                <a:latin typeface="+mn-ea"/>
                <a:ea typeface="+mn-ea"/>
              </a:rPr>
              <a:t>加强商家荣誉，强化用户决策</a:t>
            </a:r>
          </a:p>
        </p:txBody>
      </p:sp>
      <p:sp>
        <p:nvSpPr>
          <p:cNvPr id="30" name="文本框 29"/>
          <p:cNvSpPr txBox="1"/>
          <p:nvPr/>
        </p:nvSpPr>
        <p:spPr>
          <a:xfrm>
            <a:off x="5910314" y="4385385"/>
            <a:ext cx="2634733" cy="666461"/>
          </a:xfrm>
          <a:prstGeom prst="rect">
            <a:avLst/>
          </a:prstGeom>
          <a:noFill/>
          <a:ln w="6350">
            <a:noFill/>
          </a:ln>
          <a:effectLst>
            <a:outerShdw blurRad="469900" dist="123444"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defPPr>
              <a:defRPr lang="zh-CN"/>
            </a:defPPr>
            <a:lvl1pPr algn="ctr">
              <a:defRPr sz="80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latin typeface="+mn-ea"/>
                <a:ea typeface="+mn-ea"/>
              </a:rPr>
              <a:t>榜单榜单落地页改版</a:t>
            </a:r>
            <a:endParaRPr lang="en-US" altLang="zh-CN" sz="900" dirty="0">
              <a:solidFill>
                <a:schemeClr val="tx1"/>
              </a:solidFill>
              <a:latin typeface="+mn-ea"/>
              <a:ea typeface="+mn-ea"/>
            </a:endParaRPr>
          </a:p>
          <a:p>
            <a:r>
              <a:rPr lang="zh-CN" altLang="en-US" sz="900" dirty="0">
                <a:solidFill>
                  <a:schemeClr val="tx1"/>
                </a:solidFill>
                <a:latin typeface="+mn-ea"/>
                <a:ea typeface="+mn-ea"/>
              </a:rPr>
              <a:t>上线时间：</a:t>
            </a:r>
            <a:r>
              <a:rPr lang="en-US" altLang="zh-CN" sz="900" dirty="0">
                <a:solidFill>
                  <a:schemeClr val="tx1"/>
                </a:solidFill>
                <a:latin typeface="+mn-ea"/>
                <a:ea typeface="+mn-ea"/>
              </a:rPr>
              <a:t>3</a:t>
            </a:r>
            <a:r>
              <a:rPr lang="zh-CN" altLang="en-US" sz="900" dirty="0">
                <a:solidFill>
                  <a:schemeClr val="tx1"/>
                </a:solidFill>
                <a:latin typeface="+mn-ea"/>
                <a:ea typeface="+mn-ea"/>
              </a:rPr>
              <a:t>月</a:t>
            </a:r>
            <a:r>
              <a:rPr lang="en-US" altLang="zh-CN" sz="900" dirty="0">
                <a:solidFill>
                  <a:schemeClr val="tx1"/>
                </a:solidFill>
                <a:latin typeface="+mn-ea"/>
                <a:ea typeface="+mn-ea"/>
              </a:rPr>
              <a:t>27</a:t>
            </a:r>
            <a:r>
              <a:rPr lang="zh-CN" altLang="en-US" sz="900" dirty="0">
                <a:solidFill>
                  <a:schemeClr val="tx1"/>
                </a:solidFill>
                <a:latin typeface="+mn-ea"/>
                <a:ea typeface="+mn-ea"/>
              </a:rPr>
              <a:t>日</a:t>
            </a:r>
            <a:endParaRPr lang="en-US" altLang="zh-CN" sz="900" dirty="0">
              <a:solidFill>
                <a:schemeClr val="tx1"/>
              </a:solidFill>
              <a:latin typeface="+mn-ea"/>
              <a:ea typeface="+mn-ea"/>
            </a:endParaRPr>
          </a:p>
          <a:p>
            <a:r>
              <a:rPr lang="zh-CN" altLang="en-US" sz="900" b="1" dirty="0">
                <a:solidFill>
                  <a:schemeClr val="tx1"/>
                </a:solidFill>
                <a:latin typeface="+mn-ea"/>
                <a:ea typeface="+mn-ea"/>
              </a:rPr>
              <a:t>核心策略：场景榜单扩充、</a:t>
            </a:r>
            <a:r>
              <a:rPr lang="en-US" altLang="zh-CN" sz="900" b="1" dirty="0">
                <a:solidFill>
                  <a:schemeClr val="tx1"/>
                </a:solidFill>
                <a:latin typeface="+mn-ea"/>
                <a:ea typeface="+mn-ea"/>
              </a:rPr>
              <a:t>AOI</a:t>
            </a:r>
            <a:r>
              <a:rPr lang="zh-CN" altLang="en-US" sz="900" b="1" dirty="0">
                <a:solidFill>
                  <a:schemeClr val="tx1"/>
                </a:solidFill>
                <a:latin typeface="+mn-ea"/>
                <a:ea typeface="+mn-ea"/>
              </a:rPr>
              <a:t>及品类扩充</a:t>
            </a:r>
            <a:endParaRPr lang="en-US" altLang="zh-CN" sz="900" b="1" dirty="0">
              <a:solidFill>
                <a:schemeClr val="tx1"/>
              </a:solidFill>
              <a:latin typeface="+mn-ea"/>
              <a:ea typeface="+mn-ea"/>
            </a:endParaRPr>
          </a:p>
        </p:txBody>
      </p:sp>
      <p:sp>
        <p:nvSpPr>
          <p:cNvPr id="31" name="文本框 30"/>
          <p:cNvSpPr txBox="1"/>
          <p:nvPr/>
        </p:nvSpPr>
        <p:spPr>
          <a:xfrm>
            <a:off x="232978" y="482608"/>
            <a:ext cx="8784262" cy="430887"/>
          </a:xfrm>
          <a:prstGeom prst="rect">
            <a:avLst/>
          </a:prstGeom>
          <a:noFill/>
        </p:spPr>
        <p:txBody>
          <a:bodyPr wrap="square">
            <a:spAutoFit/>
          </a:bodyPr>
          <a:lstStyle/>
          <a:p>
            <a:r>
              <a:rPr lang="zh-CN" altLang="en-US" sz="1100" dirty="0">
                <a:latin typeface="+mn-ea"/>
              </a:rPr>
              <a:t>通过产品能力打造用户核心路径下的榜单心智，覆盖猜喜、大搜、</a:t>
            </a:r>
            <a:r>
              <a:rPr lang="en-US" altLang="zh-CN" sz="1100" dirty="0">
                <a:latin typeface="+mn-ea"/>
              </a:rPr>
              <a:t>POI</a:t>
            </a:r>
            <a:r>
              <a:rPr lang="zh-CN" altLang="en-US" sz="1100" dirty="0">
                <a:latin typeface="+mn-ea"/>
              </a:rPr>
              <a:t>页三大榜单流量主阵地，结合榜单落地页的改版，提升用户需求承接及转化效率，整体提升榜单帮助用户找店决策过程中的选店效率。</a:t>
            </a:r>
          </a:p>
        </p:txBody>
      </p:sp>
      <p:pic>
        <p:nvPicPr>
          <p:cNvPr id="5" name="图片 4" descr="徽标, 公司名称&#10;&#10;AI 生成的内容可能不正确。"/>
          <p:cNvPicPr>
            <a:picLocks noChangeAspect="1"/>
          </p:cNvPicPr>
          <p:nvPr/>
        </p:nvPicPr>
        <p:blipFill>
          <a:blip r:embed="rId6"/>
          <a:stretch>
            <a:fillRect/>
          </a:stretch>
        </p:blipFill>
        <p:spPr>
          <a:xfrm>
            <a:off x="435536" y="1133030"/>
            <a:ext cx="1468321" cy="3182127"/>
          </a:xfrm>
          <a:prstGeom prst="rect">
            <a:avLst/>
          </a:prstGeom>
        </p:spPr>
      </p:pic>
      <p:sp>
        <p:nvSpPr>
          <p:cNvPr id="7" name="矩形: 圆角 21"/>
          <p:cNvSpPr/>
          <p:nvPr/>
        </p:nvSpPr>
        <p:spPr>
          <a:xfrm>
            <a:off x="435536" y="3810001"/>
            <a:ext cx="713814" cy="16237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ltLang="zh-CN" sz="900" dirty="0">
              <a:solidFill>
                <a:srgbClr val="FF0000"/>
              </a:solidFill>
              <a:sym typeface="MiSans Bold" panose="00000800000000000000" pitchFamily="2"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3"/>
          <p:cNvSpPr txBox="1"/>
          <p:nvPr/>
        </p:nvSpPr>
        <p:spPr>
          <a:xfrm>
            <a:off x="213612" y="123824"/>
            <a:ext cx="8583088" cy="266037"/>
          </a:xfrm>
          <a:prstGeom prst="rect">
            <a:avLst/>
          </a:prstGeom>
        </p:spPr>
        <p:txBody>
          <a:bodyPr/>
          <a:lstStyle>
            <a:lvl1pPr marL="171450" indent="-1714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1"/>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1"/>
              </a:buClr>
              <a:buSzPct val="60000"/>
              <a:buFont typeface="Wingdings" panose="05000000000000000000" pitchFamily="2" charset="2"/>
              <a:buChar char="n"/>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kumimoji="1" lang="zh-CN" altLang="en-US" dirty="0"/>
              <a:t>榜单流量分析</a:t>
            </a:r>
            <a:r>
              <a:rPr kumimoji="1" lang="en-US" altLang="zh-CN" dirty="0"/>
              <a:t>	</a:t>
            </a:r>
            <a:endParaRPr kumimoji="1" lang="zh-CN" altLang="en-US" dirty="0"/>
          </a:p>
        </p:txBody>
      </p:sp>
      <p:graphicFrame>
        <p:nvGraphicFramePr>
          <p:cNvPr id="4" name="表格 3"/>
          <p:cNvGraphicFramePr>
            <a:graphicFrameLocks noGrp="1"/>
          </p:cNvGraphicFramePr>
          <p:nvPr/>
        </p:nvGraphicFramePr>
        <p:xfrm>
          <a:off x="232980" y="1379788"/>
          <a:ext cx="5158167" cy="1233807"/>
        </p:xfrm>
        <a:graphic>
          <a:graphicData uri="http://schemas.openxmlformats.org/drawingml/2006/table">
            <a:tbl>
              <a:tblPr firstRow="1" bandRow="1">
                <a:tableStyleId>{69012ECD-51FC-41F1-AA8D-1B2483CD663E}</a:tableStyleId>
              </a:tblPr>
              <a:tblGrid>
                <a:gridCol w="1719389">
                  <a:extLst>
                    <a:ext uri="{9D8B030D-6E8A-4147-A177-3AD203B41FA5}">
                      <a16:colId xmlns:a16="http://schemas.microsoft.com/office/drawing/2014/main" val="20000"/>
                    </a:ext>
                  </a:extLst>
                </a:gridCol>
                <a:gridCol w="1719389">
                  <a:extLst>
                    <a:ext uri="{9D8B030D-6E8A-4147-A177-3AD203B41FA5}">
                      <a16:colId xmlns:a16="http://schemas.microsoft.com/office/drawing/2014/main" val="20001"/>
                    </a:ext>
                  </a:extLst>
                </a:gridCol>
                <a:gridCol w="1719389">
                  <a:extLst>
                    <a:ext uri="{9D8B030D-6E8A-4147-A177-3AD203B41FA5}">
                      <a16:colId xmlns:a16="http://schemas.microsoft.com/office/drawing/2014/main" val="20002"/>
                    </a:ext>
                  </a:extLst>
                </a:gridCol>
              </a:tblGrid>
              <a:tr h="168845">
                <a:tc>
                  <a:txBody>
                    <a:bodyPr/>
                    <a:lstStyle/>
                    <a:p>
                      <a:pPr algn="ctr"/>
                      <a:r>
                        <a:rPr lang="zh-CN" altLang="en-US" sz="900" dirty="0">
                          <a:solidFill>
                            <a:schemeClr val="tx1"/>
                          </a:solidFill>
                          <a:latin typeface="+mn-ea"/>
                          <a:ea typeface="+mn-ea"/>
                        </a:rPr>
                        <a:t>城市结构</a:t>
                      </a:r>
                    </a:p>
                  </a:txBody>
                  <a:tcPr marL="0" marR="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dirty="0">
                          <a:solidFill>
                            <a:schemeClr val="tx1"/>
                          </a:solidFill>
                          <a:effectLst/>
                        </a:rPr>
                        <a:t>△</a:t>
                      </a:r>
                      <a:r>
                        <a:rPr lang="zh-CN" altLang="en-US" sz="900" dirty="0">
                          <a:solidFill>
                            <a:schemeClr val="tx1"/>
                          </a:solidFill>
                          <a:latin typeface="+mn-ea"/>
                          <a:ea typeface="+mn-ea"/>
                        </a:rPr>
                        <a:t>意向</a:t>
                      </a:r>
                      <a:r>
                        <a:rPr lang="en-US" altLang="zh-CN" sz="900" dirty="0">
                          <a:solidFill>
                            <a:schemeClr val="tx1"/>
                          </a:solidFill>
                          <a:latin typeface="+mn-ea"/>
                          <a:ea typeface="+mn-ea"/>
                        </a:rPr>
                        <a:t>UV</a:t>
                      </a:r>
                      <a:endParaRPr lang="zh-CN" altLang="en-US" sz="900" dirty="0">
                        <a:solidFill>
                          <a:schemeClr val="tx1"/>
                        </a:solidFill>
                        <a:latin typeface="+mn-ea"/>
                        <a:ea typeface="+mn-ea"/>
                      </a:endParaRPr>
                    </a:p>
                  </a:txBody>
                  <a:tcPr marL="0" marR="0" marT="0" marB="0" anchor="ctr"/>
                </a:tc>
                <a:tc>
                  <a:txBody>
                    <a:bodyPr/>
                    <a:lstStyle/>
                    <a:p>
                      <a:pPr algn="ctr"/>
                      <a:r>
                        <a:rPr lang="zh-CN" altLang="en-US" sz="900" dirty="0">
                          <a:solidFill>
                            <a:schemeClr val="tx1"/>
                          </a:solidFill>
                          <a:effectLst/>
                        </a:rPr>
                        <a:t>△</a:t>
                      </a:r>
                      <a:r>
                        <a:rPr lang="zh-CN" altLang="en-US" sz="900" dirty="0">
                          <a:solidFill>
                            <a:schemeClr val="tx1"/>
                          </a:solidFill>
                          <a:latin typeface="+mn-ea"/>
                          <a:ea typeface="+mn-ea"/>
                        </a:rPr>
                        <a:t>实付</a:t>
                      </a:r>
                      <a:r>
                        <a:rPr lang="en-US" altLang="zh-CN" sz="900" dirty="0">
                          <a:solidFill>
                            <a:schemeClr val="tx1"/>
                          </a:solidFill>
                          <a:latin typeface="+mn-ea"/>
                          <a:ea typeface="+mn-ea"/>
                        </a:rPr>
                        <a:t>GTV</a:t>
                      </a:r>
                      <a:endParaRPr lang="zh-CN" altLang="en-US" sz="900" dirty="0">
                        <a:solidFill>
                          <a:schemeClr val="tx1"/>
                        </a:solidFill>
                        <a:latin typeface="+mn-ea"/>
                        <a:ea typeface="+mn-ea"/>
                      </a:endParaRPr>
                    </a:p>
                  </a:txBody>
                  <a:tcPr marL="0" marR="0" marT="0" marB="0" anchor="ctr"/>
                </a:tc>
                <a:extLst>
                  <a:ext uri="{0D108BD9-81ED-4DB2-BD59-A6C34878D82A}">
                    <a16:rowId xmlns:a16="http://schemas.microsoft.com/office/drawing/2014/main" val="10000"/>
                  </a:ext>
                </a:extLst>
              </a:tr>
              <a:tr h="168845">
                <a:tc>
                  <a:txBody>
                    <a:bodyPr/>
                    <a:lstStyle/>
                    <a:p>
                      <a:pPr algn="ctr"/>
                      <a:r>
                        <a:rPr lang="zh-CN" altLang="en-US" sz="900" dirty="0">
                          <a:solidFill>
                            <a:schemeClr val="tx1"/>
                          </a:solidFill>
                          <a:latin typeface="+mn-ea"/>
                          <a:ea typeface="+mn-ea"/>
                        </a:rPr>
                        <a:t>高线</a:t>
                      </a:r>
                    </a:p>
                  </a:txBody>
                  <a:tcPr marL="0" marR="0" marT="0" marB="0" anchor="ctr"/>
                </a:tc>
                <a:tc>
                  <a:txBody>
                    <a:bodyPr/>
                    <a:lstStyle/>
                    <a:p>
                      <a:pPr algn="ctr"/>
                      <a:r>
                        <a:rPr lang="en-US" altLang="zh-CN" sz="900" dirty="0">
                          <a:solidFill>
                            <a:schemeClr val="tx1"/>
                          </a:solidFill>
                          <a:latin typeface="+mn-ea"/>
                          <a:ea typeface="+mn-ea"/>
                        </a:rPr>
                        <a:t>112</a:t>
                      </a:r>
                      <a:endParaRPr lang="zh-CN" altLang="en-US" sz="900" dirty="0">
                        <a:solidFill>
                          <a:schemeClr val="tx1"/>
                        </a:solidFill>
                        <a:latin typeface="+mn-ea"/>
                        <a:ea typeface="+mn-ea"/>
                      </a:endParaRPr>
                    </a:p>
                  </a:txBody>
                  <a:tcPr marL="0" marR="0" marT="0" marB="0" anchor="ctr"/>
                </a:tc>
                <a:tc>
                  <a:txBody>
                    <a:bodyPr/>
                    <a:lstStyle/>
                    <a:p>
                      <a:pPr algn="ctr"/>
                      <a:r>
                        <a:rPr lang="en-US" altLang="zh-CN" sz="900" dirty="0">
                          <a:solidFill>
                            <a:schemeClr val="tx1"/>
                          </a:solidFill>
                          <a:latin typeface="+mn-ea"/>
                          <a:ea typeface="+mn-ea"/>
                        </a:rPr>
                        <a:t>3,880</a:t>
                      </a:r>
                      <a:endParaRPr lang="zh-CN" altLang="en-US" sz="900" dirty="0">
                        <a:solidFill>
                          <a:schemeClr val="tx1"/>
                        </a:solidFill>
                        <a:latin typeface="+mn-ea"/>
                        <a:ea typeface="+mn-ea"/>
                      </a:endParaRPr>
                    </a:p>
                  </a:txBody>
                  <a:tcPr marL="0" marR="0" marT="0" marB="0" anchor="ctr"/>
                </a:tc>
                <a:extLst>
                  <a:ext uri="{0D108BD9-81ED-4DB2-BD59-A6C34878D82A}">
                    <a16:rowId xmlns:a16="http://schemas.microsoft.com/office/drawing/2014/main" val="10001"/>
                  </a:ext>
                </a:extLst>
              </a:tr>
              <a:tr h="168845">
                <a:tc>
                  <a:txBody>
                    <a:bodyPr/>
                    <a:lstStyle/>
                    <a:p>
                      <a:pPr marL="0" indent="180975" algn="ctr"/>
                      <a:r>
                        <a:rPr lang="en-US" altLang="zh-CN" sz="900" dirty="0">
                          <a:solidFill>
                            <a:srgbClr val="FF0000"/>
                          </a:solidFill>
                          <a:latin typeface="+mn-ea"/>
                          <a:ea typeface="+mn-ea"/>
                        </a:rPr>
                        <a:t>S</a:t>
                      </a:r>
                      <a:endParaRPr lang="zh-CN" altLang="en-US" sz="900" dirty="0">
                        <a:solidFill>
                          <a:srgbClr val="FF0000"/>
                        </a:solidFill>
                        <a:latin typeface="+mn-ea"/>
                        <a:ea typeface="+mn-ea"/>
                      </a:endParaRPr>
                    </a:p>
                  </a:txBody>
                  <a:tcPr marL="0" marR="0" marT="0" marB="0" anchor="ctr"/>
                </a:tc>
                <a:tc>
                  <a:txBody>
                    <a:bodyPr/>
                    <a:lstStyle/>
                    <a:p>
                      <a:pPr marL="0" indent="0" algn="ctr" defTabSz="685800" rtl="0" eaLnBrk="1" latinLnBrk="0" hangingPunct="1"/>
                      <a:r>
                        <a:rPr lang="en-US" altLang="zh-CN" sz="900" kern="1200" dirty="0">
                          <a:solidFill>
                            <a:srgbClr val="FF0000"/>
                          </a:solidFill>
                          <a:latin typeface="+mn-ea"/>
                          <a:ea typeface="+mn-ea"/>
                          <a:cs typeface="+mn-cs"/>
                        </a:rPr>
                        <a:t>79</a:t>
                      </a:r>
                      <a:endParaRPr lang="zh-CN" altLang="en-US" sz="900" kern="1200" dirty="0">
                        <a:solidFill>
                          <a:srgbClr val="FF0000"/>
                        </a:solidFill>
                        <a:latin typeface="+mn-ea"/>
                        <a:ea typeface="+mn-ea"/>
                        <a:cs typeface="+mn-cs"/>
                      </a:endParaRPr>
                    </a:p>
                  </a:txBody>
                  <a:tcPr marL="0" marR="0" marT="0" marB="0" anchor="ctr"/>
                </a:tc>
                <a:tc>
                  <a:txBody>
                    <a:bodyPr/>
                    <a:lstStyle/>
                    <a:p>
                      <a:pPr marL="0" indent="0" algn="ctr" defTabSz="685800" rtl="0" eaLnBrk="1" latinLnBrk="0" hangingPunct="1"/>
                      <a:r>
                        <a:rPr lang="en-US" altLang="zh-CN" sz="900" kern="1200" dirty="0">
                          <a:solidFill>
                            <a:srgbClr val="FF0000"/>
                          </a:solidFill>
                          <a:latin typeface="+mn-ea"/>
                          <a:ea typeface="+mn-ea"/>
                          <a:cs typeface="+mn-cs"/>
                        </a:rPr>
                        <a:t>571</a:t>
                      </a:r>
                      <a:endParaRPr lang="zh-CN" altLang="en-US" sz="900" kern="1200" dirty="0">
                        <a:solidFill>
                          <a:srgbClr val="FF0000"/>
                        </a:solidFill>
                        <a:latin typeface="+mn-ea"/>
                        <a:ea typeface="+mn-ea"/>
                        <a:cs typeface="+mn-cs"/>
                      </a:endParaRPr>
                    </a:p>
                  </a:txBody>
                  <a:tcPr marL="0" marR="0" marT="0" marB="0" anchor="ctr"/>
                </a:tc>
                <a:extLst>
                  <a:ext uri="{0D108BD9-81ED-4DB2-BD59-A6C34878D82A}">
                    <a16:rowId xmlns:a16="http://schemas.microsoft.com/office/drawing/2014/main" val="10002"/>
                  </a:ext>
                </a:extLst>
              </a:tr>
              <a:tr h="168845">
                <a:tc>
                  <a:txBody>
                    <a:bodyPr/>
                    <a:lstStyle/>
                    <a:p>
                      <a:pPr marL="0" indent="180975" algn="ctr" defTabSz="685800" rtl="0" eaLnBrk="1" latinLnBrk="0" hangingPunct="1"/>
                      <a:r>
                        <a:rPr lang="en-US" altLang="zh-CN" sz="900" kern="1200" dirty="0">
                          <a:solidFill>
                            <a:schemeClr val="tx1"/>
                          </a:solidFill>
                          <a:latin typeface="+mn-ea"/>
                          <a:ea typeface="+mn-ea"/>
                          <a:cs typeface="+mn-cs"/>
                        </a:rPr>
                        <a:t>A</a:t>
                      </a:r>
                      <a:endParaRPr lang="zh-CN" altLang="en-US" sz="900" kern="1200" dirty="0">
                        <a:solidFill>
                          <a:schemeClr val="tx1"/>
                        </a:solidFill>
                        <a:latin typeface="+mn-ea"/>
                        <a:ea typeface="+mn-ea"/>
                        <a:cs typeface="+mn-cs"/>
                      </a:endParaRPr>
                    </a:p>
                  </a:txBody>
                  <a:tcPr marL="0" marR="0" marT="0" marB="0" anchor="ctr"/>
                </a:tc>
                <a:tc>
                  <a:txBody>
                    <a:bodyPr/>
                    <a:lstStyle/>
                    <a:p>
                      <a:pPr marL="0" indent="0" algn="ctr" defTabSz="685800" rtl="0" eaLnBrk="1" latinLnBrk="0" hangingPunct="1"/>
                      <a:r>
                        <a:rPr lang="en-US" altLang="zh-CN" sz="900" kern="1200" dirty="0">
                          <a:solidFill>
                            <a:schemeClr val="tx1"/>
                          </a:solidFill>
                          <a:latin typeface="+mn-ea"/>
                          <a:ea typeface="+mn-ea"/>
                          <a:cs typeface="+mn-cs"/>
                        </a:rPr>
                        <a:t>175</a:t>
                      </a:r>
                      <a:endParaRPr lang="zh-CN" altLang="en-US" sz="900" kern="1200" dirty="0">
                        <a:solidFill>
                          <a:schemeClr val="tx1"/>
                        </a:solidFill>
                        <a:latin typeface="+mn-ea"/>
                        <a:ea typeface="+mn-ea"/>
                        <a:cs typeface="+mn-cs"/>
                      </a:endParaRPr>
                    </a:p>
                  </a:txBody>
                  <a:tcPr marL="0" marR="0" marT="0" marB="0" anchor="ctr"/>
                </a:tc>
                <a:tc>
                  <a:txBody>
                    <a:bodyPr/>
                    <a:lstStyle/>
                    <a:p>
                      <a:pPr marL="0" indent="0" algn="ctr" defTabSz="685800" rtl="0" eaLnBrk="1" latinLnBrk="0" hangingPunct="1"/>
                      <a:r>
                        <a:rPr lang="en-US" altLang="zh-CN" sz="900" kern="1200" dirty="0">
                          <a:solidFill>
                            <a:schemeClr val="tx1"/>
                          </a:solidFill>
                          <a:latin typeface="+mn-ea"/>
                          <a:ea typeface="+mn-ea"/>
                          <a:cs typeface="+mn-cs"/>
                        </a:rPr>
                        <a:t>7,884</a:t>
                      </a:r>
                      <a:endParaRPr lang="zh-CN" altLang="en-US" sz="900" kern="1200" dirty="0">
                        <a:solidFill>
                          <a:schemeClr val="tx1"/>
                        </a:solidFill>
                        <a:latin typeface="+mn-ea"/>
                        <a:ea typeface="+mn-ea"/>
                        <a:cs typeface="+mn-cs"/>
                      </a:endParaRPr>
                    </a:p>
                  </a:txBody>
                  <a:tcPr marL="0" marR="0" marT="0" marB="0" anchor="ctr"/>
                </a:tc>
                <a:extLst>
                  <a:ext uri="{0D108BD9-81ED-4DB2-BD59-A6C34878D82A}">
                    <a16:rowId xmlns:a16="http://schemas.microsoft.com/office/drawing/2014/main" val="10003"/>
                  </a:ext>
                </a:extLst>
              </a:tr>
              <a:tr h="168845">
                <a:tc>
                  <a:txBody>
                    <a:bodyPr/>
                    <a:lstStyle/>
                    <a:p>
                      <a:pPr marL="0" indent="180975" algn="ctr" defTabSz="685800" rtl="0" eaLnBrk="1" latinLnBrk="0" hangingPunct="1"/>
                      <a:r>
                        <a:rPr lang="en-US" altLang="zh-CN" sz="900" kern="1200" dirty="0">
                          <a:solidFill>
                            <a:schemeClr val="tx1"/>
                          </a:solidFill>
                          <a:latin typeface="+mn-ea"/>
                          <a:ea typeface="+mn-ea"/>
                          <a:cs typeface="+mn-cs"/>
                        </a:rPr>
                        <a:t>B</a:t>
                      </a:r>
                      <a:endParaRPr lang="zh-CN" altLang="en-US" sz="900" kern="1200" dirty="0">
                        <a:solidFill>
                          <a:schemeClr val="tx1"/>
                        </a:solidFill>
                        <a:latin typeface="+mn-ea"/>
                        <a:ea typeface="+mn-ea"/>
                        <a:cs typeface="+mn-cs"/>
                      </a:endParaRPr>
                    </a:p>
                  </a:txBody>
                  <a:tcPr marL="0" marR="0" marT="0" marB="0" anchor="ctr"/>
                </a:tc>
                <a:tc>
                  <a:txBody>
                    <a:bodyPr/>
                    <a:lstStyle/>
                    <a:p>
                      <a:pPr marL="0" indent="0" algn="ctr" defTabSz="685800" rtl="0" eaLnBrk="1" latinLnBrk="0" hangingPunct="1"/>
                      <a:r>
                        <a:rPr lang="en-US" altLang="zh-CN" sz="900" kern="1200" dirty="0">
                          <a:solidFill>
                            <a:schemeClr val="tx1"/>
                          </a:solidFill>
                          <a:latin typeface="+mn-ea"/>
                          <a:ea typeface="+mn-ea"/>
                          <a:cs typeface="+mn-cs"/>
                        </a:rPr>
                        <a:t>82</a:t>
                      </a:r>
                      <a:endParaRPr lang="zh-CN" altLang="en-US" sz="900" kern="1200" dirty="0">
                        <a:solidFill>
                          <a:schemeClr val="tx1"/>
                        </a:solidFill>
                        <a:latin typeface="+mn-ea"/>
                        <a:ea typeface="+mn-ea"/>
                        <a:cs typeface="+mn-cs"/>
                      </a:endParaRPr>
                    </a:p>
                  </a:txBody>
                  <a:tcPr marL="0" marR="0" marT="0" marB="0" anchor="ctr"/>
                </a:tc>
                <a:tc>
                  <a:txBody>
                    <a:bodyPr/>
                    <a:lstStyle/>
                    <a:p>
                      <a:pPr marL="0" indent="0" algn="ctr" defTabSz="685800" rtl="0" eaLnBrk="1" latinLnBrk="0" hangingPunct="1"/>
                      <a:r>
                        <a:rPr lang="en-US" altLang="zh-CN" sz="900" kern="1200" dirty="0">
                          <a:solidFill>
                            <a:schemeClr val="tx1"/>
                          </a:solidFill>
                          <a:latin typeface="+mn-ea"/>
                          <a:ea typeface="+mn-ea"/>
                          <a:cs typeface="+mn-cs"/>
                        </a:rPr>
                        <a:t>3,188</a:t>
                      </a:r>
                      <a:endParaRPr lang="zh-CN" altLang="en-US" sz="900" kern="1200" dirty="0">
                        <a:solidFill>
                          <a:schemeClr val="tx1"/>
                        </a:solidFill>
                        <a:latin typeface="+mn-ea"/>
                        <a:ea typeface="+mn-ea"/>
                        <a:cs typeface="+mn-cs"/>
                      </a:endParaRPr>
                    </a:p>
                  </a:txBody>
                  <a:tcPr marL="0" marR="0" marT="0" marB="0" anchor="ctr"/>
                </a:tc>
                <a:extLst>
                  <a:ext uri="{0D108BD9-81ED-4DB2-BD59-A6C34878D82A}">
                    <a16:rowId xmlns:a16="http://schemas.microsoft.com/office/drawing/2014/main" val="10004"/>
                  </a:ext>
                </a:extLst>
              </a:tr>
              <a:tr h="220737">
                <a:tc>
                  <a:txBody>
                    <a:bodyPr/>
                    <a:lstStyle/>
                    <a:p>
                      <a:pPr algn="ctr"/>
                      <a:r>
                        <a:rPr lang="zh-CN" altLang="en-US" sz="900" dirty="0">
                          <a:solidFill>
                            <a:schemeClr val="tx1"/>
                          </a:solidFill>
                          <a:latin typeface="+mn-ea"/>
                          <a:ea typeface="+mn-ea"/>
                        </a:rPr>
                        <a:t>中低线</a:t>
                      </a:r>
                    </a:p>
                  </a:txBody>
                  <a:tcPr marL="0" marR="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n-ea"/>
                          <a:ea typeface="+mn-ea"/>
                        </a:rPr>
                        <a:t>41</a:t>
                      </a:r>
                      <a:endParaRPr lang="zh-CN" altLang="en-US" sz="900" dirty="0">
                        <a:solidFill>
                          <a:schemeClr val="tx1"/>
                        </a:solidFill>
                        <a:latin typeface="+mn-ea"/>
                        <a:ea typeface="+mn-ea"/>
                      </a:endParaRPr>
                    </a:p>
                  </a:txBody>
                  <a:tcPr marL="0" marR="0" marT="0" marB="0" anchor="ctr"/>
                </a:tc>
                <a:tc>
                  <a:txBody>
                    <a:bodyPr/>
                    <a:lstStyle/>
                    <a:p>
                      <a:pPr marL="0" algn="ctr" defTabSz="685800" rtl="0" eaLnBrk="1" latinLnBrk="0" hangingPunct="1"/>
                      <a:r>
                        <a:rPr lang="en-US" altLang="zh-CN" sz="900" kern="1200" dirty="0">
                          <a:solidFill>
                            <a:schemeClr val="tx1"/>
                          </a:solidFill>
                          <a:latin typeface="+mn-ea"/>
                          <a:ea typeface="+mn-ea"/>
                          <a:cs typeface="+mn-cs"/>
                        </a:rPr>
                        <a:t>2,226</a:t>
                      </a:r>
                      <a:endParaRPr lang="zh-CN" altLang="en-US" sz="900" kern="1200" dirty="0">
                        <a:solidFill>
                          <a:schemeClr val="tx1"/>
                        </a:solidFill>
                        <a:latin typeface="+mn-ea"/>
                        <a:ea typeface="+mn-ea"/>
                        <a:cs typeface="+mn-cs"/>
                      </a:endParaRPr>
                    </a:p>
                  </a:txBody>
                  <a:tcPr marL="0" marR="0" marT="0" marB="0" anchor="ctr"/>
                </a:tc>
                <a:extLst>
                  <a:ext uri="{0D108BD9-81ED-4DB2-BD59-A6C34878D82A}">
                    <a16:rowId xmlns:a16="http://schemas.microsoft.com/office/drawing/2014/main" val="10005"/>
                  </a:ext>
                </a:extLst>
              </a:tr>
              <a:tr h="168845">
                <a:tc>
                  <a:txBody>
                    <a:bodyPr/>
                    <a:lstStyle/>
                    <a:p>
                      <a:pPr algn="ctr"/>
                      <a:r>
                        <a:rPr lang="zh-CN" altLang="en-US" sz="900" dirty="0">
                          <a:solidFill>
                            <a:schemeClr val="bg1">
                              <a:lumMod val="50000"/>
                            </a:schemeClr>
                          </a:solidFill>
                          <a:latin typeface="+mn-ea"/>
                          <a:ea typeface="+mn-ea"/>
                        </a:rPr>
                        <a:t>下沉</a:t>
                      </a:r>
                    </a:p>
                  </a:txBody>
                  <a:tcPr marL="0" marR="0" marT="0" marB="0" anchor="ctr"/>
                </a:tc>
                <a:tc>
                  <a:txBody>
                    <a:bodyPr/>
                    <a:lstStyle/>
                    <a:p>
                      <a:pPr algn="ctr"/>
                      <a:r>
                        <a:rPr lang="en-US" altLang="zh-CN" sz="900" dirty="0">
                          <a:solidFill>
                            <a:schemeClr val="bg1">
                              <a:lumMod val="50000"/>
                            </a:schemeClr>
                          </a:solidFill>
                          <a:latin typeface="+mn-ea"/>
                          <a:ea typeface="+mn-ea"/>
                        </a:rPr>
                        <a:t>15</a:t>
                      </a:r>
                      <a:endParaRPr lang="zh-CN" altLang="en-US" sz="900" dirty="0">
                        <a:solidFill>
                          <a:schemeClr val="bg1">
                            <a:lumMod val="50000"/>
                          </a:schemeClr>
                        </a:solidFill>
                        <a:latin typeface="+mn-ea"/>
                        <a:ea typeface="+mn-ea"/>
                      </a:endParaRPr>
                    </a:p>
                  </a:txBody>
                  <a:tcPr marL="0" marR="0" marT="0" marB="0" anchor="ctr"/>
                </a:tc>
                <a:tc>
                  <a:txBody>
                    <a:bodyPr/>
                    <a:lstStyle/>
                    <a:p>
                      <a:pPr algn="ctr"/>
                      <a:r>
                        <a:rPr lang="en-US" altLang="zh-CN" sz="900" dirty="0">
                          <a:solidFill>
                            <a:schemeClr val="bg1">
                              <a:lumMod val="50000"/>
                            </a:schemeClr>
                          </a:solidFill>
                          <a:latin typeface="+mn-ea"/>
                          <a:ea typeface="+mn-ea"/>
                        </a:rPr>
                        <a:t>938</a:t>
                      </a:r>
                      <a:endParaRPr lang="zh-CN" altLang="en-US" sz="900" dirty="0">
                        <a:solidFill>
                          <a:schemeClr val="bg1">
                            <a:lumMod val="50000"/>
                          </a:schemeClr>
                        </a:solidFill>
                        <a:latin typeface="+mn-ea"/>
                        <a:ea typeface="+mn-ea"/>
                      </a:endParaRPr>
                    </a:p>
                  </a:txBody>
                  <a:tcPr marL="0" marR="0" marT="0" marB="0" anchor="ctr"/>
                </a:tc>
                <a:extLst>
                  <a:ext uri="{0D108BD9-81ED-4DB2-BD59-A6C34878D82A}">
                    <a16:rowId xmlns:a16="http://schemas.microsoft.com/office/drawing/2014/main" val="10006"/>
                  </a:ext>
                </a:extLst>
              </a:tr>
            </a:tbl>
          </a:graphicData>
        </a:graphic>
      </p:graphicFrame>
      <p:sp>
        <p:nvSpPr>
          <p:cNvPr id="6" name="内容占位符 2"/>
          <p:cNvSpPr txBox="1"/>
          <p:nvPr/>
        </p:nvSpPr>
        <p:spPr>
          <a:xfrm>
            <a:off x="1163942" y="1184844"/>
            <a:ext cx="2401977" cy="177866"/>
          </a:xfrm>
          <a:prstGeom prst="rect">
            <a:avLst/>
          </a:prstGeom>
          <a:noFill/>
          <a:ln>
            <a:noFill/>
          </a:ln>
        </p:spPr>
        <p:txBody>
          <a:bodyPr vert="horz" lIns="91440" tIns="45720" rIns="91440" bIns="45720" rtlCol="0">
            <a:noAutofit/>
          </a:bodyPr>
          <a:lstStyle>
            <a:lvl1pPr marL="171450" indent="-171450" algn="l" defTabSz="685800" rtl="0" eaLnBrk="1" latinLnBrk="0" hangingPunct="1">
              <a:lnSpc>
                <a:spcPct val="120000"/>
              </a:lnSpc>
              <a:spcBef>
                <a:spcPts val="750"/>
              </a:spcBef>
              <a:buClr>
                <a:schemeClr val="accent1"/>
              </a:buClr>
              <a:buFont typeface="Arial" panose="020B0604020202020204" pitchFamily="34" charset="0"/>
              <a:buChar char="•"/>
              <a:defRPr sz="1400" kern="1200" baseline="0">
                <a:solidFill>
                  <a:schemeClr val="tx1"/>
                </a:solidFill>
                <a:latin typeface="Calibri" panose="020F0502020204030204" pitchFamily="34" charset="0"/>
                <a:ea typeface="楷体" panose="02010609060101010101" pitchFamily="49" charset="-122"/>
                <a:cs typeface="+mn-cs"/>
              </a:defRPr>
            </a:lvl1pPr>
            <a:lvl2pPr marL="514350" indent="-171450" algn="l" defTabSz="685800" rtl="0" eaLnBrk="1" latinLnBrk="0" hangingPunct="1">
              <a:lnSpc>
                <a:spcPct val="120000"/>
              </a:lnSpc>
              <a:spcBef>
                <a:spcPts val="375"/>
              </a:spcBef>
              <a:buClr>
                <a:schemeClr val="accent1"/>
              </a:buClr>
              <a:buFont typeface="Arial" panose="020B0604020202020204" pitchFamily="34" charset="0"/>
              <a:buChar char="•"/>
              <a:defRPr sz="12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
              <a:defRPr sz="10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
              <a:defRPr sz="105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n"/>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ts val="900"/>
              </a:lnSpc>
              <a:buNone/>
            </a:pPr>
            <a:r>
              <a:rPr lang="zh-CN" altLang="en-US" sz="900" dirty="0">
                <a:solidFill>
                  <a:sysClr val="windowText" lastClr="000000"/>
                </a:solidFill>
              </a:rPr>
              <a:t>美团人气榜，平均高</a:t>
            </a:r>
            <a:r>
              <a:rPr lang="en-US" altLang="zh-CN" sz="900" dirty="0">
                <a:solidFill>
                  <a:sysClr val="windowText" lastClr="000000"/>
                </a:solidFill>
              </a:rPr>
              <a:t>1</a:t>
            </a:r>
            <a:r>
              <a:rPr lang="zh-CN" altLang="en-US" sz="900" dirty="0">
                <a:solidFill>
                  <a:sysClr val="windowText" lastClr="000000"/>
                </a:solidFill>
              </a:rPr>
              <a:t>名的数据差异</a:t>
            </a:r>
          </a:p>
        </p:txBody>
      </p:sp>
      <p:sp>
        <p:nvSpPr>
          <p:cNvPr id="8" name="内容占位符 2"/>
          <p:cNvSpPr txBox="1"/>
          <p:nvPr/>
        </p:nvSpPr>
        <p:spPr>
          <a:xfrm>
            <a:off x="6258111" y="1117993"/>
            <a:ext cx="2401977" cy="133701"/>
          </a:xfrm>
          <a:prstGeom prst="rect">
            <a:avLst/>
          </a:prstGeom>
          <a:noFill/>
          <a:ln>
            <a:noFill/>
          </a:ln>
        </p:spPr>
        <p:txBody>
          <a:bodyPr vert="horz" lIns="91440" tIns="45720" rIns="91440" bIns="45720" rtlCol="0">
            <a:noAutofit/>
          </a:bodyPr>
          <a:lstStyle>
            <a:lvl1pPr marL="171450" indent="-171450" algn="l" defTabSz="685800" rtl="0" eaLnBrk="1" latinLnBrk="0" hangingPunct="1">
              <a:lnSpc>
                <a:spcPct val="120000"/>
              </a:lnSpc>
              <a:spcBef>
                <a:spcPts val="750"/>
              </a:spcBef>
              <a:buClr>
                <a:schemeClr val="accent1"/>
              </a:buClr>
              <a:buFont typeface="Arial" panose="020B0604020202020204" pitchFamily="34" charset="0"/>
              <a:buChar char="•"/>
              <a:defRPr sz="1400" kern="1200" baseline="0">
                <a:solidFill>
                  <a:schemeClr val="tx1"/>
                </a:solidFill>
                <a:latin typeface="Calibri" panose="020F0502020204030204" pitchFamily="34" charset="0"/>
                <a:ea typeface="楷体" panose="02010609060101010101" pitchFamily="49" charset="-122"/>
                <a:cs typeface="+mn-cs"/>
              </a:defRPr>
            </a:lvl1pPr>
            <a:lvl2pPr marL="514350" indent="-171450" algn="l" defTabSz="685800" rtl="0" eaLnBrk="1" latinLnBrk="0" hangingPunct="1">
              <a:lnSpc>
                <a:spcPct val="120000"/>
              </a:lnSpc>
              <a:spcBef>
                <a:spcPts val="375"/>
              </a:spcBef>
              <a:buClr>
                <a:schemeClr val="accent1"/>
              </a:buClr>
              <a:buFont typeface="Arial" panose="020B0604020202020204" pitchFamily="34" charset="0"/>
              <a:buChar char="•"/>
              <a:defRPr sz="12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
              <a:defRPr sz="10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
              <a:defRPr sz="105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Clr>
                <a:schemeClr val="accent1"/>
              </a:buClr>
              <a:buSzPct val="60000"/>
              <a:buFont typeface="Wingdings" panose="05000000000000000000" pitchFamily="2" charset="2"/>
              <a:buChar char="n"/>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ts val="900"/>
              </a:lnSpc>
              <a:buNone/>
            </a:pPr>
            <a:r>
              <a:rPr lang="zh-CN" altLang="en-US" sz="900" dirty="0">
                <a:solidFill>
                  <a:schemeClr val="bg1">
                    <a:lumMod val="50000"/>
                  </a:schemeClr>
                </a:solidFill>
              </a:rPr>
              <a:t>点评热门榜，平均高</a:t>
            </a:r>
            <a:r>
              <a:rPr lang="en-US" altLang="zh-CN" sz="900" dirty="0">
                <a:solidFill>
                  <a:schemeClr val="bg1">
                    <a:lumMod val="50000"/>
                  </a:schemeClr>
                </a:solidFill>
              </a:rPr>
              <a:t>1</a:t>
            </a:r>
            <a:r>
              <a:rPr lang="zh-CN" altLang="en-US" sz="900" dirty="0">
                <a:solidFill>
                  <a:schemeClr val="bg1">
                    <a:lumMod val="50000"/>
                  </a:schemeClr>
                </a:solidFill>
              </a:rPr>
              <a:t>名的数据差异</a:t>
            </a:r>
          </a:p>
        </p:txBody>
      </p:sp>
      <p:graphicFrame>
        <p:nvGraphicFramePr>
          <p:cNvPr id="15" name="表格 14"/>
          <p:cNvGraphicFramePr>
            <a:graphicFrameLocks noGrp="1"/>
          </p:cNvGraphicFramePr>
          <p:nvPr/>
        </p:nvGraphicFramePr>
        <p:xfrm>
          <a:off x="6161411" y="1308129"/>
          <a:ext cx="2595378" cy="685800"/>
        </p:xfrm>
        <a:graphic>
          <a:graphicData uri="http://schemas.openxmlformats.org/drawingml/2006/table">
            <a:tbl>
              <a:tblPr firstRow="1" bandRow="1">
                <a:tableStyleId>{69012ECD-51FC-41F1-AA8D-1B2483CD663E}</a:tableStyleId>
              </a:tblPr>
              <a:tblGrid>
                <a:gridCol w="865126">
                  <a:extLst>
                    <a:ext uri="{9D8B030D-6E8A-4147-A177-3AD203B41FA5}">
                      <a16:colId xmlns:a16="http://schemas.microsoft.com/office/drawing/2014/main" val="20000"/>
                    </a:ext>
                  </a:extLst>
                </a:gridCol>
                <a:gridCol w="865126">
                  <a:extLst>
                    <a:ext uri="{9D8B030D-6E8A-4147-A177-3AD203B41FA5}">
                      <a16:colId xmlns:a16="http://schemas.microsoft.com/office/drawing/2014/main" val="20001"/>
                    </a:ext>
                  </a:extLst>
                </a:gridCol>
                <a:gridCol w="865126">
                  <a:extLst>
                    <a:ext uri="{9D8B030D-6E8A-4147-A177-3AD203B41FA5}">
                      <a16:colId xmlns:a16="http://schemas.microsoft.com/office/drawing/2014/main" val="20002"/>
                    </a:ext>
                  </a:extLst>
                </a:gridCol>
              </a:tblGrid>
              <a:tr h="127999">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n-ea"/>
                          <a:ea typeface="+mn-ea"/>
                        </a:rPr>
                        <a:t>城市结构</a:t>
                      </a: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900" dirty="0">
                          <a:solidFill>
                            <a:schemeClr val="tx1"/>
                          </a:solidFill>
                          <a:effectLst/>
                        </a:rPr>
                        <a:t>△</a:t>
                      </a:r>
                      <a:r>
                        <a:rPr lang="zh-CN" altLang="en-US" sz="900" dirty="0">
                          <a:solidFill>
                            <a:schemeClr val="tx1"/>
                          </a:solidFill>
                          <a:latin typeface="+mn-ea"/>
                          <a:ea typeface="+mn-ea"/>
                        </a:rPr>
                        <a:t>意向</a:t>
                      </a:r>
                      <a:r>
                        <a:rPr lang="en-US" altLang="zh-CN" sz="900" dirty="0">
                          <a:solidFill>
                            <a:schemeClr val="tx1"/>
                          </a:solidFill>
                          <a:latin typeface="+mn-ea"/>
                          <a:ea typeface="+mn-ea"/>
                        </a:rPr>
                        <a:t>UV</a:t>
                      </a:r>
                      <a:endParaRPr lang="zh-CN" altLang="en-US" sz="900" dirty="0">
                        <a:solidFill>
                          <a:schemeClr val="tx1"/>
                        </a:solidFill>
                        <a:latin typeface="+mn-ea"/>
                        <a:ea typeface="+mn-ea"/>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900" dirty="0">
                          <a:solidFill>
                            <a:schemeClr val="tx1"/>
                          </a:solidFill>
                          <a:effectLst/>
                        </a:rPr>
                        <a:t>△</a:t>
                      </a:r>
                      <a:r>
                        <a:rPr lang="zh-CN" altLang="en-US" sz="900" dirty="0">
                          <a:solidFill>
                            <a:schemeClr val="tx1"/>
                          </a:solidFill>
                          <a:latin typeface="+mn-ea"/>
                          <a:ea typeface="+mn-ea"/>
                        </a:rPr>
                        <a:t>实付</a:t>
                      </a:r>
                      <a:r>
                        <a:rPr lang="en-US" altLang="zh-CN" sz="900" dirty="0">
                          <a:solidFill>
                            <a:schemeClr val="tx1"/>
                          </a:solidFill>
                          <a:latin typeface="+mn-ea"/>
                          <a:ea typeface="+mn-ea"/>
                        </a:rPr>
                        <a:t>GTV</a:t>
                      </a:r>
                      <a:endParaRPr lang="zh-CN" altLang="en-US" sz="900" dirty="0">
                        <a:solidFill>
                          <a:schemeClr val="tx1"/>
                        </a:solidFill>
                        <a:latin typeface="+mn-ea"/>
                        <a:ea typeface="+mn-ea"/>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127999">
                <a:tc>
                  <a:txBody>
                    <a:bodyPr/>
                    <a:lstStyle/>
                    <a:p>
                      <a:pPr algn="ctr"/>
                      <a:r>
                        <a:rPr lang="zh-CN" altLang="en-US" sz="900" dirty="0">
                          <a:solidFill>
                            <a:schemeClr val="tx1"/>
                          </a:solidFill>
                          <a:latin typeface="+mn-ea"/>
                          <a:ea typeface="+mn-ea"/>
                        </a:rPr>
                        <a:t>高线</a:t>
                      </a: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900" dirty="0">
                          <a:solidFill>
                            <a:schemeClr val="tx1"/>
                          </a:solidFill>
                          <a:latin typeface="+mn-ea"/>
                          <a:ea typeface="+mn-ea"/>
                        </a:rPr>
                        <a:t>145</a:t>
                      </a:r>
                      <a:endParaRPr lang="zh-CN" altLang="en-US" sz="900" dirty="0">
                        <a:solidFill>
                          <a:schemeClr val="tx1"/>
                        </a:solidFill>
                        <a:latin typeface="+mn-ea"/>
                        <a:ea typeface="+mn-ea"/>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900" dirty="0">
                          <a:solidFill>
                            <a:schemeClr val="tx1"/>
                          </a:solidFill>
                          <a:latin typeface="+mn-ea"/>
                          <a:ea typeface="+mn-ea"/>
                        </a:rPr>
                        <a:t>873</a:t>
                      </a:r>
                      <a:endParaRPr lang="zh-CN" altLang="en-US" sz="900" dirty="0">
                        <a:solidFill>
                          <a:schemeClr val="tx1"/>
                        </a:solidFill>
                        <a:latin typeface="+mn-ea"/>
                        <a:ea typeface="+mn-ea"/>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999">
                <a:tc>
                  <a:txBody>
                    <a:bodyPr/>
                    <a:lstStyle/>
                    <a:p>
                      <a:pPr marL="0" indent="180975" algn="ctr"/>
                      <a:r>
                        <a:rPr lang="en-US" altLang="zh-CN" sz="900" dirty="0">
                          <a:solidFill>
                            <a:schemeClr val="tx1"/>
                          </a:solidFill>
                          <a:latin typeface="+mn-ea"/>
                          <a:ea typeface="+mn-ea"/>
                        </a:rPr>
                        <a:t>S</a:t>
                      </a:r>
                      <a:endParaRPr lang="zh-CN" altLang="en-US" sz="900" dirty="0">
                        <a:solidFill>
                          <a:schemeClr val="tx1"/>
                        </a:solidFill>
                        <a:latin typeface="+mn-ea"/>
                        <a:ea typeface="+mn-ea"/>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256</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1,922</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7999">
                <a:tc>
                  <a:txBody>
                    <a:bodyPr/>
                    <a:lstStyle/>
                    <a:p>
                      <a:pPr marL="0" indent="180975" algn="ctr" defTabSz="685800" rtl="0" eaLnBrk="1" latinLnBrk="0" hangingPunct="1"/>
                      <a:r>
                        <a:rPr lang="en-US" altLang="zh-CN" sz="900" kern="1200" dirty="0">
                          <a:solidFill>
                            <a:schemeClr val="tx1"/>
                          </a:solidFill>
                          <a:latin typeface="+mn-ea"/>
                          <a:ea typeface="+mn-ea"/>
                          <a:cs typeface="+mn-cs"/>
                        </a:rPr>
                        <a:t>A</a:t>
                      </a:r>
                      <a:endParaRPr lang="zh-CN" altLang="en-US" sz="900" kern="1200" dirty="0">
                        <a:solidFill>
                          <a:schemeClr val="tx1"/>
                        </a:solidFill>
                        <a:latin typeface="+mn-ea"/>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100</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270</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27999">
                <a:tc>
                  <a:txBody>
                    <a:bodyPr/>
                    <a:lstStyle/>
                    <a:p>
                      <a:pPr marL="0" indent="180975" algn="ctr" defTabSz="685800" rtl="0" eaLnBrk="1" latinLnBrk="0" hangingPunct="1"/>
                      <a:r>
                        <a:rPr lang="en-US" altLang="zh-CN" sz="900" kern="1200" dirty="0">
                          <a:solidFill>
                            <a:schemeClr val="tx1"/>
                          </a:solidFill>
                          <a:latin typeface="+mn-ea"/>
                          <a:ea typeface="+mn-ea"/>
                          <a:cs typeface="+mn-cs"/>
                        </a:rPr>
                        <a:t>B</a:t>
                      </a:r>
                      <a:endParaRPr lang="zh-CN" altLang="en-US" sz="900" kern="1200" dirty="0">
                        <a:solidFill>
                          <a:schemeClr val="tx1"/>
                        </a:solidFill>
                        <a:latin typeface="+mn-ea"/>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81</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438</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25" name="文本框 24"/>
          <p:cNvSpPr txBox="1"/>
          <p:nvPr/>
        </p:nvSpPr>
        <p:spPr>
          <a:xfrm>
            <a:off x="232978" y="482608"/>
            <a:ext cx="8784262" cy="560474"/>
          </a:xfrm>
          <a:prstGeom prst="rect">
            <a:avLst/>
          </a:prstGeom>
          <a:noFill/>
        </p:spPr>
        <p:txBody>
          <a:bodyPr wrap="square">
            <a:spAutoFit/>
          </a:bodyPr>
          <a:lstStyle/>
          <a:p>
            <a:pPr>
              <a:lnSpc>
                <a:spcPct val="150000"/>
              </a:lnSpc>
            </a:pPr>
            <a:r>
              <a:rPr lang="zh-CN" altLang="en-US" sz="1100" dirty="0">
                <a:latin typeface="+mn-ea"/>
              </a:rPr>
              <a:t>以美团指数榜中较有影响力的美团人气榜为例，对比点评较有影响力的热门榜和同定位的销量榜。流量空间看，高线城市美团人气榜上榜门店不如点评榜单。流量结构上看，</a:t>
            </a:r>
            <a:r>
              <a:rPr lang="en-US" altLang="zh-CN" sz="1100" dirty="0">
                <a:latin typeface="+mn-ea"/>
              </a:rPr>
              <a:t>S</a:t>
            </a:r>
            <a:r>
              <a:rPr lang="zh-CN" altLang="en-US" sz="1100" dirty="0">
                <a:latin typeface="+mn-ea"/>
              </a:rPr>
              <a:t>级城市美团人气榜冲榜的流量权益不足，高线城市部分排名的流量权益差存在优化空间</a:t>
            </a:r>
          </a:p>
        </p:txBody>
      </p:sp>
      <p:graphicFrame>
        <p:nvGraphicFramePr>
          <p:cNvPr id="26" name="图表 25"/>
          <p:cNvGraphicFramePr/>
          <p:nvPr/>
        </p:nvGraphicFramePr>
        <p:xfrm>
          <a:off x="15967" y="2818189"/>
          <a:ext cx="1905884" cy="18619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图表 26"/>
          <p:cNvGraphicFramePr/>
          <p:nvPr/>
        </p:nvGraphicFramePr>
        <p:xfrm>
          <a:off x="1921851" y="2817721"/>
          <a:ext cx="1765401" cy="18623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图表 27"/>
          <p:cNvGraphicFramePr/>
          <p:nvPr/>
        </p:nvGraphicFramePr>
        <p:xfrm>
          <a:off x="3687253" y="2809692"/>
          <a:ext cx="1703898" cy="186239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0" name="表格 29"/>
          <p:cNvGraphicFramePr>
            <a:graphicFrameLocks noGrp="1"/>
          </p:cNvGraphicFramePr>
          <p:nvPr/>
        </p:nvGraphicFramePr>
        <p:xfrm>
          <a:off x="6161411" y="2032464"/>
          <a:ext cx="2595378" cy="685800"/>
        </p:xfrm>
        <a:graphic>
          <a:graphicData uri="http://schemas.openxmlformats.org/drawingml/2006/table">
            <a:tbl>
              <a:tblPr firstRow="1" bandRow="1">
                <a:tableStyleId>{69012ECD-51FC-41F1-AA8D-1B2483CD663E}</a:tableStyleId>
              </a:tblPr>
              <a:tblGrid>
                <a:gridCol w="865126">
                  <a:extLst>
                    <a:ext uri="{9D8B030D-6E8A-4147-A177-3AD203B41FA5}">
                      <a16:colId xmlns:a16="http://schemas.microsoft.com/office/drawing/2014/main" val="20000"/>
                    </a:ext>
                  </a:extLst>
                </a:gridCol>
                <a:gridCol w="865126">
                  <a:extLst>
                    <a:ext uri="{9D8B030D-6E8A-4147-A177-3AD203B41FA5}">
                      <a16:colId xmlns:a16="http://schemas.microsoft.com/office/drawing/2014/main" val="20001"/>
                    </a:ext>
                  </a:extLst>
                </a:gridCol>
                <a:gridCol w="865126">
                  <a:extLst>
                    <a:ext uri="{9D8B030D-6E8A-4147-A177-3AD203B41FA5}">
                      <a16:colId xmlns:a16="http://schemas.microsoft.com/office/drawing/2014/main" val="20002"/>
                    </a:ext>
                  </a:extLst>
                </a:gridCol>
              </a:tblGrid>
              <a:tr h="0">
                <a:tc gridSpan="3">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900" b="0" dirty="0">
                          <a:solidFill>
                            <a:schemeClr val="bg1">
                              <a:lumMod val="50000"/>
                            </a:schemeClr>
                          </a:solidFill>
                        </a:rPr>
                        <a:t>点评销量榜，平均高</a:t>
                      </a:r>
                      <a:r>
                        <a:rPr lang="en-US" altLang="zh-CN" sz="900" b="0" dirty="0">
                          <a:solidFill>
                            <a:schemeClr val="bg1">
                              <a:lumMod val="50000"/>
                            </a:schemeClr>
                          </a:solidFill>
                        </a:rPr>
                        <a:t>1</a:t>
                      </a:r>
                      <a:r>
                        <a:rPr lang="zh-CN" altLang="en-US" sz="900" b="0" dirty="0">
                          <a:solidFill>
                            <a:schemeClr val="bg1">
                              <a:lumMod val="50000"/>
                            </a:schemeClr>
                          </a:solidFill>
                        </a:rPr>
                        <a:t>名的数据差异</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zh-CN"/>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zh-CN" altLang="en-US" sz="900" dirty="0">
                          <a:solidFill>
                            <a:schemeClr val="tx1"/>
                          </a:solidFill>
                          <a:latin typeface="+mn-ea"/>
                          <a:ea typeface="+mn-ea"/>
                        </a:rPr>
                        <a:t>高线</a:t>
                      </a: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900" dirty="0">
                          <a:solidFill>
                            <a:schemeClr val="tx1"/>
                          </a:solidFill>
                          <a:latin typeface="+mn-ea"/>
                          <a:ea typeface="+mn-ea"/>
                        </a:rPr>
                        <a:t>80</a:t>
                      </a:r>
                      <a:endParaRPr lang="zh-CN" altLang="en-US" sz="900" dirty="0">
                        <a:solidFill>
                          <a:schemeClr val="tx1"/>
                        </a:solidFill>
                        <a:latin typeface="+mn-ea"/>
                        <a:ea typeface="+mn-ea"/>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900" dirty="0">
                          <a:solidFill>
                            <a:schemeClr val="tx1"/>
                          </a:solidFill>
                          <a:latin typeface="+mn-ea"/>
                          <a:ea typeface="+mn-ea"/>
                        </a:rPr>
                        <a:t>3,278</a:t>
                      </a:r>
                      <a:endParaRPr lang="zh-CN" altLang="en-US" sz="900" dirty="0">
                        <a:solidFill>
                          <a:schemeClr val="tx1"/>
                        </a:solidFill>
                        <a:latin typeface="+mn-ea"/>
                        <a:ea typeface="+mn-ea"/>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pPr marL="0" indent="180975" algn="ctr"/>
                      <a:r>
                        <a:rPr lang="en-US" altLang="zh-CN" sz="900" dirty="0">
                          <a:solidFill>
                            <a:schemeClr val="tx1"/>
                          </a:solidFill>
                          <a:latin typeface="+mn-ea"/>
                          <a:ea typeface="+mn-ea"/>
                        </a:rPr>
                        <a:t>S</a:t>
                      </a:r>
                      <a:endParaRPr lang="zh-CN" altLang="en-US" sz="900" dirty="0">
                        <a:solidFill>
                          <a:schemeClr val="tx1"/>
                        </a:solidFill>
                        <a:latin typeface="+mn-ea"/>
                        <a:ea typeface="+mn-ea"/>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135</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6,833</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pPr marL="0" indent="180975" algn="ctr" defTabSz="685800" rtl="0" eaLnBrk="1" latinLnBrk="0" hangingPunct="1"/>
                      <a:r>
                        <a:rPr lang="en-US" altLang="zh-CN" sz="900" kern="1200" dirty="0">
                          <a:solidFill>
                            <a:schemeClr val="tx1"/>
                          </a:solidFill>
                          <a:latin typeface="+mn-ea"/>
                          <a:ea typeface="+mn-ea"/>
                          <a:cs typeface="+mn-cs"/>
                        </a:rPr>
                        <a:t>A</a:t>
                      </a:r>
                      <a:endParaRPr lang="zh-CN" altLang="en-US" sz="900" kern="1200" dirty="0">
                        <a:solidFill>
                          <a:schemeClr val="tx1"/>
                        </a:solidFill>
                        <a:latin typeface="+mn-ea"/>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63</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1,763</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a:txBody>
                    <a:bodyPr/>
                    <a:lstStyle/>
                    <a:p>
                      <a:pPr marL="0" indent="180975" algn="ctr" defTabSz="685800" rtl="0" eaLnBrk="1" latinLnBrk="0" hangingPunct="1"/>
                      <a:r>
                        <a:rPr lang="en-US" altLang="zh-CN" sz="900" kern="1200" dirty="0">
                          <a:solidFill>
                            <a:schemeClr val="tx1"/>
                          </a:solidFill>
                          <a:latin typeface="+mn-ea"/>
                          <a:ea typeface="+mn-ea"/>
                          <a:cs typeface="+mn-cs"/>
                        </a:rPr>
                        <a:t>B</a:t>
                      </a:r>
                      <a:endParaRPr lang="zh-CN" altLang="en-US" sz="900" kern="1200" dirty="0">
                        <a:solidFill>
                          <a:schemeClr val="tx1"/>
                        </a:solidFill>
                        <a:latin typeface="+mn-ea"/>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43</a:t>
                      </a:r>
                      <a:endParaRPr lang="zh-CN" altLang="en-US" sz="900" kern="1200" dirty="0">
                        <a:solidFill>
                          <a:schemeClr val="tx1"/>
                        </a:solidFill>
                        <a:latin typeface="+mn-ea"/>
                        <a:ea typeface="+mn-ea"/>
                        <a:cs typeface="+mn-cs"/>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defTabSz="685800" rtl="0" eaLnBrk="1" latinLnBrk="0" hangingPunct="1"/>
                      <a:r>
                        <a:rPr lang="en-US" altLang="zh-CN" sz="900" kern="1200" dirty="0">
                          <a:solidFill>
                            <a:schemeClr val="tx1"/>
                          </a:solidFill>
                          <a:latin typeface="+mn-ea"/>
                          <a:ea typeface="+mn-ea"/>
                          <a:cs typeface="+mn-cs"/>
                        </a:rPr>
                        <a:t>1,273</a:t>
                      </a:r>
                      <a:endParaRPr lang="zh-CN" altLang="en-US" sz="900" kern="1200" dirty="0">
                        <a:solidFill>
                          <a:schemeClr val="tx1"/>
                        </a:solidFill>
                        <a:latin typeface="+mn-ea"/>
                        <a:ea typeface="+mn-ea"/>
                        <a:cs typeface="+mn-cs"/>
                      </a:endParaRPr>
                    </a:p>
                  </a:txBody>
                  <a:tcPr marL="0" marR="0" marT="0" marB="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31" name="图表 30"/>
          <p:cNvGraphicFramePr/>
          <p:nvPr/>
        </p:nvGraphicFramePr>
        <p:xfrm>
          <a:off x="5531632" y="2816042"/>
          <a:ext cx="1807230" cy="1862399"/>
        </p:xfrm>
        <a:graphic>
          <a:graphicData uri="http://schemas.openxmlformats.org/drawingml/2006/chart">
            <c:chart xmlns:c="http://schemas.openxmlformats.org/drawingml/2006/chart" xmlns:r="http://schemas.openxmlformats.org/officeDocument/2006/relationships" r:id="rId6"/>
          </a:graphicData>
        </a:graphic>
      </p:graphicFrame>
      <p:cxnSp>
        <p:nvCxnSpPr>
          <p:cNvPr id="33" name="直接连接符 29"/>
          <p:cNvCxnSpPr/>
          <p:nvPr/>
        </p:nvCxnSpPr>
        <p:spPr>
          <a:xfrm flipV="1">
            <a:off x="5461387" y="1251694"/>
            <a:ext cx="0" cy="3426747"/>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39" name="图表 38"/>
          <p:cNvGraphicFramePr/>
          <p:nvPr/>
        </p:nvGraphicFramePr>
        <p:xfrm>
          <a:off x="7338862" y="2816042"/>
          <a:ext cx="1705297" cy="1862399"/>
        </p:xfrm>
        <a:graphic>
          <a:graphicData uri="http://schemas.openxmlformats.org/drawingml/2006/chart">
            <c:chart xmlns:c="http://schemas.openxmlformats.org/drawingml/2006/chart" xmlns:r="http://schemas.openxmlformats.org/officeDocument/2006/relationships" r:id="rId7"/>
          </a:graphicData>
        </a:graphic>
      </p:graphicFrame>
      <p:cxnSp>
        <p:nvCxnSpPr>
          <p:cNvPr id="17" name="肘形连接符 68"/>
          <p:cNvCxnSpPr>
            <a:stCxn id="26" idx="2"/>
          </p:cNvCxnSpPr>
          <p:nvPr/>
        </p:nvCxnSpPr>
        <p:spPr>
          <a:xfrm rot="5400000" flipH="1" flipV="1">
            <a:off x="4153046" y="1494305"/>
            <a:ext cx="1677" cy="6369953"/>
          </a:xfrm>
          <a:prstGeom prst="bentConnector4">
            <a:avLst>
              <a:gd name="adj1" fmla="val -13631485"/>
              <a:gd name="adj2" fmla="val 100074"/>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59402" y="15438"/>
            <a:ext cx="7664380" cy="427313"/>
          </a:xfrm>
        </p:spPr>
        <p:txBody>
          <a:bodyPr>
            <a:normAutofit/>
          </a:bodyPr>
          <a:lstStyle/>
          <a:p>
            <a:r>
              <a:rPr lang="en-US" altLang="zh-CN" sz="2100" dirty="0">
                <a:latin typeface="+mn-ea"/>
                <a:ea typeface="+mn-ea"/>
              </a:rPr>
              <a:t>AI</a:t>
            </a:r>
            <a:r>
              <a:rPr lang="zh-CN" altLang="en-US" sz="2100" dirty="0">
                <a:latin typeface="+mn-ea"/>
                <a:ea typeface="+mn-ea"/>
              </a:rPr>
              <a:t>对榜单的挑战和机会</a:t>
            </a:r>
          </a:p>
        </p:txBody>
      </p:sp>
      <p:cxnSp>
        <p:nvCxnSpPr>
          <p:cNvPr id="6" name="直接连接符 5"/>
          <p:cNvCxnSpPr/>
          <p:nvPr/>
        </p:nvCxnSpPr>
        <p:spPr>
          <a:xfrm>
            <a:off x="1733830" y="1981580"/>
            <a:ext cx="10379841" cy="0"/>
          </a:xfrm>
          <a:prstGeom prst="line">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cxnSp>
      <p:sp>
        <p:nvSpPr>
          <p:cNvPr id="2" name="矩形 1"/>
          <p:cNvSpPr/>
          <p:nvPr/>
        </p:nvSpPr>
        <p:spPr>
          <a:xfrm>
            <a:off x="281323" y="969686"/>
            <a:ext cx="4668486" cy="194145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n-ea"/>
            </a:endParaRPr>
          </a:p>
        </p:txBody>
      </p:sp>
      <p:sp>
        <p:nvSpPr>
          <p:cNvPr id="3" name="矩形: 圆角 2"/>
          <p:cNvSpPr/>
          <p:nvPr/>
        </p:nvSpPr>
        <p:spPr>
          <a:xfrm>
            <a:off x="388366" y="1072578"/>
            <a:ext cx="1985227" cy="1742692"/>
          </a:xfrm>
          <a:prstGeom prst="roundRect">
            <a:avLst/>
          </a:prstGeom>
          <a:solidFill>
            <a:schemeClr val="bg1"/>
          </a:solidFill>
          <a:ln>
            <a:solidFill>
              <a:srgbClr val="FFC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ts val="1000"/>
              </a:lnSpc>
            </a:pPr>
            <a:r>
              <a:rPr lang="zh-CN" altLang="en-US" sz="1200" b="1" dirty="0">
                <a:solidFill>
                  <a:schemeClr val="tx1"/>
                </a:solidFill>
                <a:latin typeface="+mn-ea"/>
                <a:sym typeface="MiSans Bold" panose="00000800000000000000" pitchFamily="2" charset="-122"/>
              </a:rPr>
              <a:t>飞行街景</a:t>
            </a:r>
          </a:p>
        </p:txBody>
      </p:sp>
      <p:sp>
        <p:nvSpPr>
          <p:cNvPr id="8" name="矩形: 圆角 7"/>
          <p:cNvSpPr/>
          <p:nvPr/>
        </p:nvSpPr>
        <p:spPr>
          <a:xfrm>
            <a:off x="6718671" y="6610194"/>
            <a:ext cx="2425329" cy="569102"/>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优势能力</a:t>
            </a:r>
            <a:r>
              <a:rPr lang="en-US" altLang="zh-CN" sz="16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-AI</a:t>
            </a:r>
            <a:endParaRPr lang="zh-CN" altLang="en-US" sz="16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p:txBody>
      </p:sp>
      <p:sp>
        <p:nvSpPr>
          <p:cNvPr id="9" name="矩形: 圆角 8"/>
          <p:cNvSpPr/>
          <p:nvPr/>
        </p:nvSpPr>
        <p:spPr>
          <a:xfrm>
            <a:off x="510881" y="1567372"/>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店面位置实景</a:t>
            </a:r>
          </a:p>
        </p:txBody>
      </p:sp>
      <p:sp>
        <p:nvSpPr>
          <p:cNvPr id="10" name="矩形: 圆角 9"/>
          <p:cNvSpPr/>
          <p:nvPr/>
        </p:nvSpPr>
        <p:spPr>
          <a:xfrm>
            <a:off x="502508" y="1970004"/>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大厅、包间实景</a:t>
            </a:r>
          </a:p>
        </p:txBody>
      </p:sp>
      <p:sp>
        <p:nvSpPr>
          <p:cNvPr id="11" name="矩形: 圆角 10"/>
          <p:cNvSpPr/>
          <p:nvPr/>
        </p:nvSpPr>
        <p:spPr>
          <a:xfrm>
            <a:off x="501023" y="2374374"/>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周边设施实景</a:t>
            </a:r>
          </a:p>
        </p:txBody>
      </p:sp>
      <p:sp>
        <p:nvSpPr>
          <p:cNvPr id="12" name="箭头: 右 11"/>
          <p:cNvSpPr/>
          <p:nvPr/>
        </p:nvSpPr>
        <p:spPr>
          <a:xfrm>
            <a:off x="2441584" y="1889795"/>
            <a:ext cx="371789" cy="402285"/>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n-ea"/>
            </a:endParaRPr>
          </a:p>
        </p:txBody>
      </p:sp>
      <p:sp>
        <p:nvSpPr>
          <p:cNvPr id="13" name="矩形: 圆角 12"/>
          <p:cNvSpPr/>
          <p:nvPr/>
        </p:nvSpPr>
        <p:spPr>
          <a:xfrm>
            <a:off x="2884938" y="1079360"/>
            <a:ext cx="1909311" cy="1742692"/>
          </a:xfrm>
          <a:prstGeom prst="roundRect">
            <a:avLst/>
          </a:prstGeom>
          <a:solidFill>
            <a:schemeClr val="bg1"/>
          </a:solidFill>
          <a:ln>
            <a:solidFill>
              <a:srgbClr val="FFC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ts val="1000"/>
              </a:lnSpc>
            </a:pPr>
            <a:r>
              <a:rPr lang="en-US" altLang="zh-CN" sz="1200" b="1" dirty="0">
                <a:solidFill>
                  <a:schemeClr val="tx1"/>
                </a:solidFill>
                <a:latin typeface="+mn-ea"/>
                <a:sym typeface="MiSans Bold" panose="00000800000000000000" pitchFamily="2" charset="-122"/>
              </a:rPr>
              <a:t>AR</a:t>
            </a:r>
            <a:r>
              <a:rPr lang="zh-CN" altLang="en-US" sz="1200" b="1" dirty="0">
                <a:solidFill>
                  <a:schemeClr val="tx1"/>
                </a:solidFill>
                <a:latin typeface="+mn-ea"/>
                <a:sym typeface="MiSans Bold" panose="00000800000000000000" pitchFamily="2" charset="-122"/>
              </a:rPr>
              <a:t>实景</a:t>
            </a:r>
          </a:p>
        </p:txBody>
      </p:sp>
      <p:sp>
        <p:nvSpPr>
          <p:cNvPr id="14" name="矩形: 圆角 13"/>
          <p:cNvSpPr/>
          <p:nvPr/>
        </p:nvSpPr>
        <p:spPr>
          <a:xfrm>
            <a:off x="2994753" y="1574154"/>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FF0000"/>
                </a:solidFill>
                <a:latin typeface="+mn-ea"/>
                <a:cs typeface="MiSans Medium" panose="00000600000000000000" pitchFamily="2" charset="-122"/>
                <a:sym typeface="MiSans Bold" panose="00000800000000000000" pitchFamily="2" charset="-122"/>
              </a:rPr>
              <a:t>街道展现排名</a:t>
            </a:r>
          </a:p>
        </p:txBody>
      </p:sp>
      <p:sp>
        <p:nvSpPr>
          <p:cNvPr id="16" name="矩形: 圆角 15"/>
          <p:cNvSpPr/>
          <p:nvPr/>
        </p:nvSpPr>
        <p:spPr>
          <a:xfrm>
            <a:off x="2994752" y="1982789"/>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lumMod val="50000"/>
                  </a:schemeClr>
                </a:solidFill>
                <a:latin typeface="+mn-ea"/>
                <a:cs typeface="MiSans Medium" panose="00000600000000000000" pitchFamily="2" charset="-122"/>
                <a:sym typeface="MiSans Bold" panose="00000800000000000000" pitchFamily="2" charset="-122"/>
              </a:rPr>
              <a:t>门头展示招牌菜</a:t>
            </a:r>
          </a:p>
        </p:txBody>
      </p:sp>
      <p:sp>
        <p:nvSpPr>
          <p:cNvPr id="17" name="矩形: 圆角 16"/>
          <p:cNvSpPr/>
          <p:nvPr/>
        </p:nvSpPr>
        <p:spPr>
          <a:xfrm>
            <a:off x="2994752" y="2389233"/>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lumMod val="50000"/>
                  </a:schemeClr>
                </a:solidFill>
                <a:latin typeface="+mn-ea"/>
                <a:cs typeface="MiSans Medium" panose="00000600000000000000" pitchFamily="2" charset="-122"/>
                <a:sym typeface="MiSans Bold" panose="00000800000000000000" pitchFamily="2" charset="-122"/>
              </a:rPr>
              <a:t>门头展示口碑</a:t>
            </a:r>
          </a:p>
        </p:txBody>
      </p:sp>
      <p:sp>
        <p:nvSpPr>
          <p:cNvPr id="18" name="矩形 17"/>
          <p:cNvSpPr/>
          <p:nvPr/>
        </p:nvSpPr>
        <p:spPr>
          <a:xfrm>
            <a:off x="281323" y="2961892"/>
            <a:ext cx="4668486" cy="194145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351756" y="3023651"/>
            <a:ext cx="1985227" cy="1764249"/>
          </a:xfrm>
          <a:prstGeom prst="roundRect">
            <a:avLst/>
          </a:prstGeom>
          <a:solidFill>
            <a:schemeClr val="bg1"/>
          </a:solidFill>
          <a:ln>
            <a:solidFill>
              <a:srgbClr val="FFC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ts val="1000"/>
              </a:lnSpc>
            </a:pPr>
            <a:r>
              <a:rPr lang="zh-CN" altLang="en-US" sz="1200" b="1" dirty="0">
                <a:solidFill>
                  <a:schemeClr val="tx1"/>
                </a:solidFill>
                <a:latin typeface="+mn-ea"/>
                <a:sym typeface="MiSans Bold" panose="00000800000000000000" pitchFamily="2" charset="-122"/>
              </a:rPr>
              <a:t>内容判别</a:t>
            </a:r>
          </a:p>
        </p:txBody>
      </p:sp>
      <p:sp>
        <p:nvSpPr>
          <p:cNvPr id="20" name="矩形: 圆角 19"/>
          <p:cNvSpPr/>
          <p:nvPr/>
        </p:nvSpPr>
        <p:spPr>
          <a:xfrm>
            <a:off x="2884939" y="3040904"/>
            <a:ext cx="1909311" cy="1753778"/>
          </a:xfrm>
          <a:prstGeom prst="roundRect">
            <a:avLst/>
          </a:prstGeom>
          <a:solidFill>
            <a:schemeClr val="bg1"/>
          </a:solidFill>
          <a:ln>
            <a:solidFill>
              <a:srgbClr val="FFC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ts val="1000"/>
              </a:lnSpc>
            </a:pPr>
            <a:r>
              <a:rPr lang="zh-CN" altLang="en-US" sz="1200" b="1" dirty="0">
                <a:solidFill>
                  <a:schemeClr val="tx1"/>
                </a:solidFill>
                <a:latin typeface="+mn-ea"/>
                <a:sym typeface="MiSans Bold" panose="00000800000000000000" pitchFamily="2" charset="-122"/>
              </a:rPr>
              <a:t>内容生成</a:t>
            </a:r>
          </a:p>
        </p:txBody>
      </p:sp>
      <p:sp>
        <p:nvSpPr>
          <p:cNvPr id="21" name="矩形: 圆角 20"/>
          <p:cNvSpPr/>
          <p:nvPr/>
        </p:nvSpPr>
        <p:spPr>
          <a:xfrm>
            <a:off x="501023" y="3309223"/>
            <a:ext cx="1688420"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评论质量</a:t>
            </a:r>
          </a:p>
        </p:txBody>
      </p:sp>
      <p:sp>
        <p:nvSpPr>
          <p:cNvPr id="23" name="矩形: 圆角 22"/>
          <p:cNvSpPr/>
          <p:nvPr/>
        </p:nvSpPr>
        <p:spPr>
          <a:xfrm>
            <a:off x="501023" y="3804873"/>
            <a:ext cx="1711782"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原子菜聚类</a:t>
            </a:r>
          </a:p>
        </p:txBody>
      </p:sp>
      <p:sp>
        <p:nvSpPr>
          <p:cNvPr id="24" name="矩形: 圆角 23"/>
          <p:cNvSpPr/>
          <p:nvPr/>
        </p:nvSpPr>
        <p:spPr>
          <a:xfrm>
            <a:off x="501023" y="4305292"/>
            <a:ext cx="1711783"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菜品评价关联</a:t>
            </a:r>
          </a:p>
        </p:txBody>
      </p:sp>
      <p:sp>
        <p:nvSpPr>
          <p:cNvPr id="27" name="矩形: 圆角 26"/>
          <p:cNvSpPr/>
          <p:nvPr/>
        </p:nvSpPr>
        <p:spPr>
          <a:xfrm>
            <a:off x="2994752" y="3811655"/>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榜单推荐理由</a:t>
            </a:r>
          </a:p>
        </p:txBody>
      </p:sp>
      <p:sp>
        <p:nvSpPr>
          <p:cNvPr id="32" name="矩形: 圆角 31"/>
          <p:cNvSpPr/>
          <p:nvPr/>
        </p:nvSpPr>
        <p:spPr>
          <a:xfrm>
            <a:off x="2994752" y="4299933"/>
            <a:ext cx="1696419"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讲菜文案</a:t>
            </a:r>
            <a:r>
              <a:rPr lang="en-US" altLang="zh-CN" sz="1200" b="1" dirty="0">
                <a:solidFill>
                  <a:schemeClr val="tx1"/>
                </a:solidFill>
                <a:latin typeface="+mn-ea"/>
                <a:cs typeface="MiSans Medium" panose="00000600000000000000" pitchFamily="2" charset="-122"/>
                <a:sym typeface="MiSans Bold" panose="00000800000000000000" pitchFamily="2" charset="-122"/>
              </a:rPr>
              <a:t>/</a:t>
            </a:r>
            <a:r>
              <a:rPr lang="zh-CN" altLang="en-US" sz="1200" b="1" dirty="0">
                <a:solidFill>
                  <a:schemeClr val="tx1"/>
                </a:solidFill>
                <a:latin typeface="+mn-ea"/>
                <a:cs typeface="MiSans Medium" panose="00000600000000000000" pitchFamily="2" charset="-122"/>
                <a:sym typeface="MiSans Bold" panose="00000800000000000000" pitchFamily="2" charset="-122"/>
              </a:rPr>
              <a:t>语音</a:t>
            </a:r>
          </a:p>
        </p:txBody>
      </p:sp>
      <p:sp>
        <p:nvSpPr>
          <p:cNvPr id="33" name="加号 32"/>
          <p:cNvSpPr/>
          <p:nvPr/>
        </p:nvSpPr>
        <p:spPr>
          <a:xfrm>
            <a:off x="2391391" y="3669223"/>
            <a:ext cx="517409" cy="540637"/>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n-ea"/>
            </a:endParaRPr>
          </a:p>
        </p:txBody>
      </p:sp>
      <p:sp>
        <p:nvSpPr>
          <p:cNvPr id="34" name="矩形: 圆角 33"/>
          <p:cNvSpPr/>
          <p:nvPr/>
        </p:nvSpPr>
        <p:spPr>
          <a:xfrm>
            <a:off x="2994752" y="3331060"/>
            <a:ext cx="1701925" cy="36000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n-ea"/>
                <a:cs typeface="MiSans Medium" panose="00000600000000000000" pitchFamily="2" charset="-122"/>
                <a:sym typeface="MiSans Bold" panose="00000800000000000000" pitchFamily="2" charset="-122"/>
              </a:rPr>
              <a:t>榜单主题及榜单生产</a:t>
            </a:r>
          </a:p>
        </p:txBody>
      </p:sp>
      <p:sp>
        <p:nvSpPr>
          <p:cNvPr id="35" name="文本框 34"/>
          <p:cNvSpPr txBox="1"/>
          <p:nvPr/>
        </p:nvSpPr>
        <p:spPr>
          <a:xfrm>
            <a:off x="552901" y="1303821"/>
            <a:ext cx="1701925" cy="276999"/>
          </a:xfrm>
          <a:prstGeom prst="rect">
            <a:avLst/>
          </a:prstGeom>
          <a:noFill/>
          <a:effectLst/>
        </p:spPr>
        <p:txBody>
          <a:bodyPr wrap="square">
            <a:spAutoFit/>
          </a:bodyPr>
          <a:lstStyle/>
          <a:p>
            <a:pPr marL="0" marR="0" algn="ctr"/>
            <a:r>
              <a:rPr lang="zh-CN" altLang="en-US" sz="1200" dirty="0">
                <a:solidFill>
                  <a:schemeClr val="bg1">
                    <a:lumMod val="50000"/>
                  </a:schemeClr>
                </a:solidFill>
                <a:latin typeface="+mn-ea"/>
              </a:rPr>
              <a:t>强化到店决策体验</a:t>
            </a:r>
          </a:p>
        </p:txBody>
      </p:sp>
      <p:sp>
        <p:nvSpPr>
          <p:cNvPr id="36" name="文本框 35"/>
          <p:cNvSpPr txBox="1"/>
          <p:nvPr/>
        </p:nvSpPr>
        <p:spPr>
          <a:xfrm>
            <a:off x="2989245" y="1297953"/>
            <a:ext cx="1701926" cy="276999"/>
          </a:xfrm>
          <a:prstGeom prst="rect">
            <a:avLst/>
          </a:prstGeom>
          <a:noFill/>
          <a:effectLst/>
        </p:spPr>
        <p:txBody>
          <a:bodyPr wrap="square">
            <a:spAutoFit/>
          </a:bodyPr>
          <a:lstStyle/>
          <a:p>
            <a:pPr marL="0" marR="0" algn="ctr"/>
            <a:r>
              <a:rPr lang="zh-CN" altLang="en-US" sz="1200" dirty="0">
                <a:solidFill>
                  <a:schemeClr val="bg1">
                    <a:lumMod val="50000"/>
                  </a:schemeClr>
                </a:solidFill>
                <a:latin typeface="+mn-ea"/>
              </a:rPr>
              <a:t>即将升级</a:t>
            </a:r>
          </a:p>
        </p:txBody>
      </p:sp>
      <p:sp>
        <p:nvSpPr>
          <p:cNvPr id="37" name="文本框 36"/>
          <p:cNvSpPr txBox="1"/>
          <p:nvPr/>
        </p:nvSpPr>
        <p:spPr>
          <a:xfrm>
            <a:off x="281323" y="459054"/>
            <a:ext cx="4668486" cy="461665"/>
          </a:xfrm>
          <a:prstGeom prst="rect">
            <a:avLst/>
          </a:prstGeom>
          <a:noFill/>
        </p:spPr>
        <p:txBody>
          <a:bodyPr wrap="square">
            <a:spAutoFit/>
          </a:bodyPr>
          <a:lstStyle/>
          <a:p>
            <a:pPr algn="ct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赋能榜单建设、资产筛选，丰富榜单体验</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快速构建内容生态</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algn="ct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赋能商家</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AI</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经营能力，牵引合作。缺点：幻觉等带来的公信力风险</a:t>
            </a:r>
          </a:p>
        </p:txBody>
      </p:sp>
      <p:pic>
        <p:nvPicPr>
          <p:cNvPr id="39" name="图片 38"/>
          <p:cNvPicPr>
            <a:picLocks noChangeAspect="1"/>
          </p:cNvPicPr>
          <p:nvPr/>
        </p:nvPicPr>
        <p:blipFill>
          <a:blip r:embed="rId3"/>
          <a:stretch>
            <a:fillRect/>
          </a:stretch>
        </p:blipFill>
        <p:spPr>
          <a:xfrm>
            <a:off x="5595865" y="4903343"/>
            <a:ext cx="1615765" cy="3227851"/>
          </a:xfrm>
          <a:prstGeom prst="rect">
            <a:avLst/>
          </a:prstGeom>
        </p:spPr>
      </p:pic>
      <p:sp>
        <p:nvSpPr>
          <p:cNvPr id="40" name="文本框 39"/>
          <p:cNvSpPr txBox="1"/>
          <p:nvPr/>
        </p:nvSpPr>
        <p:spPr>
          <a:xfrm>
            <a:off x="7032416" y="8628907"/>
            <a:ext cx="1693114" cy="276999"/>
          </a:xfrm>
          <a:prstGeom prst="rect">
            <a:avLst/>
          </a:prstGeom>
          <a:noFill/>
          <a:effectLst/>
        </p:spPr>
        <p:txBody>
          <a:bodyPr wrap="square">
            <a:spAutoFit/>
          </a:bodyPr>
          <a:lstStyle/>
          <a:p>
            <a:pPr algn="ctr"/>
            <a:r>
              <a:rPr lang="zh-CN" altLang="en-US" sz="1200" dirty="0">
                <a:solidFill>
                  <a:schemeClr val="bg1">
                    <a:lumMod val="50000"/>
                  </a:schemeClr>
                </a:solidFill>
                <a:latin typeface="楷体" panose="02010609060101010101" pitchFamily="49" charset="-122"/>
                <a:ea typeface="楷体" panose="02010609060101010101" pitchFamily="49" charset="-122"/>
              </a:rPr>
              <a:t>图片评论</a:t>
            </a:r>
            <a:r>
              <a:rPr lang="en-US" altLang="zh-CN" sz="1200" dirty="0">
                <a:solidFill>
                  <a:schemeClr val="bg1">
                    <a:lumMod val="50000"/>
                  </a:schemeClr>
                </a:solidFill>
                <a:latin typeface="楷体" panose="02010609060101010101" pitchFamily="49" charset="-122"/>
                <a:ea typeface="楷体" panose="02010609060101010101" pitchFamily="49"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rPr>
              <a:t>菜品识别</a:t>
            </a:r>
          </a:p>
        </p:txBody>
      </p:sp>
      <p:sp>
        <p:nvSpPr>
          <p:cNvPr id="41" name="文本框 40"/>
          <p:cNvSpPr txBox="1"/>
          <p:nvPr/>
        </p:nvSpPr>
        <p:spPr>
          <a:xfrm>
            <a:off x="5719444" y="8058020"/>
            <a:ext cx="1378056" cy="276999"/>
          </a:xfrm>
          <a:prstGeom prst="rect">
            <a:avLst/>
          </a:prstGeom>
          <a:noFill/>
          <a:effectLst/>
        </p:spPr>
        <p:txBody>
          <a:bodyPr wrap="square">
            <a:spAutoFit/>
          </a:bodyPr>
          <a:lstStyle/>
          <a:p>
            <a:pPr algn="ctr"/>
            <a:r>
              <a:rPr lang="zh-CN" altLang="en-US" sz="1200" dirty="0">
                <a:solidFill>
                  <a:schemeClr val="bg1">
                    <a:lumMod val="50000"/>
                  </a:schemeClr>
                </a:solidFill>
                <a:latin typeface="楷体" panose="02010609060101010101" pitchFamily="49" charset="-122"/>
                <a:ea typeface="楷体" panose="02010609060101010101" pitchFamily="49" charset="-122"/>
              </a:rPr>
              <a:t>菜品评价关联</a:t>
            </a:r>
          </a:p>
        </p:txBody>
      </p:sp>
      <p:sp>
        <p:nvSpPr>
          <p:cNvPr id="42" name="文本框 41"/>
          <p:cNvSpPr txBox="1"/>
          <p:nvPr/>
        </p:nvSpPr>
        <p:spPr>
          <a:xfrm>
            <a:off x="8779021" y="3552560"/>
            <a:ext cx="1378056" cy="276999"/>
          </a:xfrm>
          <a:prstGeom prst="rect">
            <a:avLst/>
          </a:prstGeom>
          <a:noFill/>
          <a:effectLst/>
        </p:spPr>
        <p:txBody>
          <a:bodyPr wrap="square">
            <a:spAutoFit/>
          </a:bodyPr>
          <a:lstStyle/>
          <a:p>
            <a:pPr algn="ctr"/>
            <a:r>
              <a:rPr lang="zh-CN" altLang="en-US" sz="1200" dirty="0">
                <a:solidFill>
                  <a:schemeClr val="bg1">
                    <a:lumMod val="50000"/>
                  </a:schemeClr>
                </a:solidFill>
                <a:latin typeface="楷体" panose="02010609060101010101" pitchFamily="49" charset="-122"/>
                <a:ea typeface="楷体" panose="02010609060101010101" pitchFamily="49" charset="-122"/>
              </a:rPr>
              <a:t>榜单推荐理由</a:t>
            </a:r>
          </a:p>
        </p:txBody>
      </p:sp>
      <p:sp>
        <p:nvSpPr>
          <p:cNvPr id="43" name="文本框 42"/>
          <p:cNvSpPr txBox="1"/>
          <p:nvPr/>
        </p:nvSpPr>
        <p:spPr>
          <a:xfrm>
            <a:off x="9823913" y="3561858"/>
            <a:ext cx="1378056" cy="276999"/>
          </a:xfrm>
          <a:prstGeom prst="rect">
            <a:avLst/>
          </a:prstGeom>
          <a:noFill/>
          <a:effectLst/>
        </p:spPr>
        <p:txBody>
          <a:bodyPr wrap="square">
            <a:spAutoFit/>
          </a:bodyPr>
          <a:lstStyle/>
          <a:p>
            <a:pPr algn="ctr"/>
            <a:r>
              <a:rPr lang="zh-CN" altLang="en-US" sz="1200" dirty="0">
                <a:solidFill>
                  <a:schemeClr val="bg1">
                    <a:lumMod val="50000"/>
                  </a:schemeClr>
                </a:solidFill>
                <a:latin typeface="楷体" panose="02010609060101010101" pitchFamily="49" charset="-122"/>
                <a:ea typeface="楷体" panose="02010609060101010101" pitchFamily="49" charset="-122"/>
              </a:rPr>
              <a:t>推荐理由</a:t>
            </a:r>
            <a:r>
              <a:rPr lang="en-US" altLang="zh-CN" sz="1200" dirty="0">
                <a:solidFill>
                  <a:schemeClr val="bg1">
                    <a:lumMod val="50000"/>
                  </a:schemeClr>
                </a:solidFill>
                <a:latin typeface="楷体" panose="02010609060101010101" pitchFamily="49" charset="-122"/>
                <a:ea typeface="楷体" panose="02010609060101010101" pitchFamily="49"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rPr>
              <a:t>讲菜</a:t>
            </a:r>
          </a:p>
        </p:txBody>
      </p:sp>
      <p:sp>
        <p:nvSpPr>
          <p:cNvPr id="45" name="矩形 44"/>
          <p:cNvSpPr/>
          <p:nvPr/>
        </p:nvSpPr>
        <p:spPr>
          <a:xfrm>
            <a:off x="5976757" y="6917044"/>
            <a:ext cx="347135" cy="86051"/>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350907" y="4912459"/>
            <a:ext cx="911118" cy="1887316"/>
            <a:chOff x="9652896" y="8925101"/>
            <a:chExt cx="911118" cy="1887316"/>
          </a:xfrm>
        </p:grpSpPr>
        <p:pic>
          <p:nvPicPr>
            <p:cNvPr id="48" name="图片 47"/>
            <p:cNvPicPr>
              <a:picLocks noChangeAspect="1"/>
            </p:cNvPicPr>
            <p:nvPr/>
          </p:nvPicPr>
          <p:blipFill>
            <a:blip r:embed="rId4"/>
            <a:stretch>
              <a:fillRect/>
            </a:stretch>
          </p:blipFill>
          <p:spPr>
            <a:xfrm>
              <a:off x="9652896" y="8925101"/>
              <a:ext cx="911118" cy="1887316"/>
            </a:xfrm>
            <a:prstGeom prst="rect">
              <a:avLst/>
            </a:prstGeom>
          </p:spPr>
        </p:pic>
        <p:sp>
          <p:nvSpPr>
            <p:cNvPr id="49" name="矩形 48"/>
            <p:cNvSpPr/>
            <p:nvPr/>
          </p:nvSpPr>
          <p:spPr>
            <a:xfrm>
              <a:off x="9824569" y="9193929"/>
              <a:ext cx="322732" cy="115233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0" name="组合 49"/>
          <p:cNvGrpSpPr/>
          <p:nvPr/>
        </p:nvGrpSpPr>
        <p:grpSpPr>
          <a:xfrm>
            <a:off x="9992518" y="1658009"/>
            <a:ext cx="1024200" cy="1952958"/>
            <a:chOff x="10568792" y="8918242"/>
            <a:chExt cx="1024200" cy="1952958"/>
          </a:xfrm>
        </p:grpSpPr>
        <p:pic>
          <p:nvPicPr>
            <p:cNvPr id="51" name="图片 50"/>
            <p:cNvPicPr>
              <a:picLocks noChangeAspect="1"/>
            </p:cNvPicPr>
            <p:nvPr/>
          </p:nvPicPr>
          <p:blipFill>
            <a:blip r:embed="rId5"/>
            <a:stretch>
              <a:fillRect/>
            </a:stretch>
          </p:blipFill>
          <p:spPr>
            <a:xfrm>
              <a:off x="10568792" y="8918242"/>
              <a:ext cx="947087" cy="1952958"/>
            </a:xfrm>
            <a:prstGeom prst="rect">
              <a:avLst/>
            </a:prstGeom>
          </p:spPr>
        </p:pic>
        <p:sp>
          <p:nvSpPr>
            <p:cNvPr id="52" name="矩形 51"/>
            <p:cNvSpPr/>
            <p:nvPr/>
          </p:nvSpPr>
          <p:spPr>
            <a:xfrm>
              <a:off x="10768602" y="9673397"/>
              <a:ext cx="737597" cy="20720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52"/>
            <p:cNvSpPr/>
            <p:nvPr/>
          </p:nvSpPr>
          <p:spPr>
            <a:xfrm>
              <a:off x="10592378" y="10512488"/>
              <a:ext cx="1000614" cy="33331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5" name="文本框 54"/>
          <p:cNvSpPr txBox="1"/>
          <p:nvPr/>
        </p:nvSpPr>
        <p:spPr>
          <a:xfrm>
            <a:off x="5062465" y="453702"/>
            <a:ext cx="3800212" cy="4339650"/>
          </a:xfrm>
          <a:prstGeom prst="rect">
            <a:avLst/>
          </a:prstGeom>
          <a:noFill/>
        </p:spPr>
        <p:txBody>
          <a:bodyPr wrap="square">
            <a:spAutoFit/>
          </a:bodyPr>
          <a:lstStyle/>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榜单生产：</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1.</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挖掘用户需求及热点趋势</a:t>
            </a:r>
            <a:r>
              <a:rPr lang="zh-CN" altLang="en-US" sz="1200" b="1" i="1"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生成</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榜单主题</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2.</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根据当下时间、地点、心情、历史偏好等，更加丰富的维度（如麻度、下雨天），即时计算的个性化榜单</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用户输入一个需求，给出符合需求的排序。</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榜单规则：</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传统结构化数据评分，基于门店综合信息，判别</a:t>
            </a:r>
            <a:r>
              <a:rPr lang="zh-CN" altLang="en-US" sz="1200" b="1" i="1"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关联</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相关供给，变为多模态感知评分。例如根据</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UGC</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图片</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视频，摆盘审美等</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资产判别，不再仅仅根据好</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差评，而是理解意图。</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榜单展示：</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推荐理由生成，讲店、讲菜等内容生成</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榜单分发：</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挑战：</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核心资产公信力的挑战 </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AIGC </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对抗 传统</a:t>
            </a:r>
            <a:r>
              <a:rPr lang="en-US" altLang="zh-CN" sz="1200" dirty="0" err="1">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xGC</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628650" lvl="1"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权威消解：没有了社会共识，失去榜单溢价能力，商家的打榜牵引动力变弱（个性化规模作为输入）</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p:txBody>
      </p:sp>
      <p:sp>
        <p:nvSpPr>
          <p:cNvPr id="56" name="文本框 55"/>
          <p:cNvSpPr txBox="1"/>
          <p:nvPr/>
        </p:nvSpPr>
        <p:spPr>
          <a:xfrm>
            <a:off x="8612835" y="-50151"/>
            <a:ext cx="3800212" cy="461665"/>
          </a:xfrm>
          <a:prstGeom prst="rect">
            <a:avLst/>
          </a:prstGeom>
          <a:noFill/>
        </p:spPr>
        <p:txBody>
          <a:bodyPr wrap="square">
            <a:spAutoFit/>
          </a:bodyPr>
          <a:lstStyle/>
          <a:p>
            <a:pPr marL="171450" indent="-171450">
              <a:buFont typeface="Arial" panose="020B0604020202020204" pitchFamily="34" charset="0"/>
              <a:buChar char="•"/>
            </a:pP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传统榜单：公域票选，用于探索</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中心化</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a:p>
            <a:pPr marL="171450" indent="-171450">
              <a:buFont typeface="Arial" panose="020B0604020202020204" pitchFamily="34" charset="0"/>
              <a:buChar char="•"/>
            </a:pP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AI</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榜单：私域偏好，用于记忆</a:t>
            </a:r>
            <a:r>
              <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a:t>
            </a:r>
            <a:r>
              <a:rPr lang="zh-CN" altLang="en-US"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长尾化</a:t>
            </a:r>
            <a:endParaRPr lang="en-US" altLang="zh-CN" sz="1200" dirty="0">
              <a:solidFill>
                <a:schemeClr val="bg1">
                  <a:lumMod val="50000"/>
                </a:schemeClr>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endParaRPr>
          </a:p>
        </p:txBody>
      </p:sp>
      <p:pic>
        <p:nvPicPr>
          <p:cNvPr id="1025"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6976" y="43477"/>
            <a:ext cx="10059193" cy="5658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米菲PPT14"/>
          <p:cNvSpPr/>
          <p:nvPr/>
        </p:nvSpPr>
        <p:spPr>
          <a:xfrm>
            <a:off x="652909" y="1694810"/>
            <a:ext cx="5028753" cy="2733376"/>
          </a:xfrm>
          <a:prstGeom prst="rect">
            <a:avLst/>
          </a:prstGeom>
          <a:gradFill flip="none" rotWithShape="1">
            <a:gsLst>
              <a:gs pos="50000">
                <a:schemeClr val="accent1">
                  <a:lumMod val="20000"/>
                  <a:lumOff val="80000"/>
                  <a:alpha val="49000"/>
                </a:schemeClr>
              </a:gs>
              <a:gs pos="0">
                <a:schemeClr val="bg1"/>
              </a:gs>
            </a:gsLst>
            <a:lin ang="10800000" scaled="0"/>
            <a:tileRect/>
          </a:gradFill>
          <a:ln w="6350">
            <a:solidFill>
              <a:schemeClr val="accent1">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zh-CN" altLang="en-US" sz="1345" dirty="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107" name="矩形 106"/>
          <p:cNvSpPr/>
          <p:nvPr/>
        </p:nvSpPr>
        <p:spPr>
          <a:xfrm>
            <a:off x="490539" y="1367319"/>
            <a:ext cx="5143043" cy="3280881"/>
          </a:xfrm>
          <a:prstGeom prst="rect">
            <a:avLst/>
          </a:prstGeom>
          <a:noFill/>
          <a:ln w="952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kumimoji="1" lang="en-US" altLang="zh-CN" dirty="0"/>
              <a:t>AI</a:t>
            </a:r>
            <a:r>
              <a:rPr kumimoji="1" lang="zh-CN" altLang="en-US" dirty="0"/>
              <a:t>榜单挖掘能力</a:t>
            </a:r>
          </a:p>
        </p:txBody>
      </p:sp>
      <p:sp>
        <p:nvSpPr>
          <p:cNvPr id="7" name="文本框 6"/>
          <p:cNvSpPr txBox="1"/>
          <p:nvPr/>
        </p:nvSpPr>
        <p:spPr>
          <a:xfrm>
            <a:off x="245077" y="715314"/>
            <a:ext cx="8911022"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t>榜单侧</a:t>
            </a:r>
            <a:r>
              <a:rPr lang="en-US" altLang="zh-CN" sz="1100" dirty="0"/>
              <a:t>AI</a:t>
            </a:r>
            <a:r>
              <a:rPr lang="zh-CN" altLang="en-US" sz="1100" dirty="0"/>
              <a:t>主要应用在两个方面：①使用大模型进行评论挖掘是主题榜生产流程中的重要环节；② 挖掘门店高价值评价并在上榜门店</a:t>
            </a:r>
            <a:r>
              <a:rPr lang="en-US" altLang="zh-CN" sz="1100" dirty="0"/>
              <a:t>POI</a:t>
            </a:r>
            <a:r>
              <a:rPr lang="zh-CN" altLang="en-US" sz="1100" dirty="0"/>
              <a:t>应用 </a:t>
            </a:r>
            <a:endParaRPr lang="en-US" altLang="zh-CN" sz="1100" dirty="0"/>
          </a:p>
        </p:txBody>
      </p:sp>
      <p:sp>
        <p:nvSpPr>
          <p:cNvPr id="13" name="米菲PPT3"/>
          <p:cNvSpPr/>
          <p:nvPr/>
        </p:nvSpPr>
        <p:spPr>
          <a:xfrm rot="5400000" flipV="1">
            <a:off x="899995" y="982802"/>
            <a:ext cx="186088" cy="781350"/>
          </a:xfrm>
          <a:prstGeom prst="roundRect">
            <a:avLst>
              <a:gd name="adj" fmla="val 50000"/>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05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16" name="米菲PPT6"/>
          <p:cNvSpPr/>
          <p:nvPr/>
        </p:nvSpPr>
        <p:spPr>
          <a:xfrm>
            <a:off x="5828452" y="1367320"/>
            <a:ext cx="2839295" cy="3280880"/>
          </a:xfrm>
          <a:prstGeom prst="rect">
            <a:avLst/>
          </a:prstGeom>
          <a:solidFill>
            <a:schemeClr val="accent2">
              <a:lumMod val="20000"/>
              <a:lumOff val="80000"/>
              <a:alpha val="7000"/>
            </a:schemeClr>
          </a:solidFill>
          <a:ln w="952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endParaRPr lang="zh-CN" altLang="en-US" sz="1050" dirty="0">
              <a:solidFill>
                <a:srgbClr val="FFFFFF"/>
              </a:solidFill>
              <a:latin typeface="+mj-ea"/>
              <a:ea typeface="+mj-ea"/>
              <a:cs typeface="MiSans Medium" panose="00000600000000000000" pitchFamily="2" charset="-122"/>
            </a:endParaRPr>
          </a:p>
        </p:txBody>
      </p:sp>
      <p:sp>
        <p:nvSpPr>
          <p:cNvPr id="18" name="米菲PPT8"/>
          <p:cNvSpPr txBox="1"/>
          <p:nvPr/>
        </p:nvSpPr>
        <p:spPr>
          <a:xfrm>
            <a:off x="4190317" y="1714666"/>
            <a:ext cx="1541808" cy="228765"/>
          </a:xfrm>
          <a:prstGeom prst="rect">
            <a:avLst/>
          </a:prstGeom>
          <a:noFill/>
          <a:effectLst/>
        </p:spPr>
        <p:txBody>
          <a:bodyPr wrap="square" rtlCol="0">
            <a:spAutoFit/>
          </a:bodyPr>
          <a:lstStyle/>
          <a:p>
            <a:pPr algn="ctr" defTabSz="342900"/>
            <a:r>
              <a:rPr lang="zh-CN" altLang="en-US" sz="1050" b="1" dirty="0">
                <a:solidFill>
                  <a:srgbClr val="FFFFFF"/>
                </a:solidFill>
                <a:latin typeface="+mj-ea"/>
                <a:ea typeface="+mj-ea"/>
                <a:cs typeface="MiSans Medium" panose="00000600000000000000" pitchFamily="2" charset="-122"/>
                <a:sym typeface="MiSans Bold" panose="00000800000000000000" pitchFamily="2" charset="-122"/>
              </a:rPr>
              <a:t>私域流量</a:t>
            </a:r>
          </a:p>
        </p:txBody>
      </p:sp>
      <p:sp>
        <p:nvSpPr>
          <p:cNvPr id="78" name="米菲PPT75"/>
          <p:cNvSpPr/>
          <p:nvPr/>
        </p:nvSpPr>
        <p:spPr>
          <a:xfrm rot="5400000" flipV="1">
            <a:off x="6259707" y="982803"/>
            <a:ext cx="186090" cy="781350"/>
          </a:xfrm>
          <a:prstGeom prst="roundRect">
            <a:avLst>
              <a:gd name="adj" fmla="val 50000"/>
            </a:avLst>
          </a:prstGeom>
          <a:solidFill>
            <a:schemeClr val="accent2"/>
          </a:solidFill>
          <a:ln w="38100">
            <a:noFill/>
          </a:ln>
          <a:effectLst>
            <a:outerShdw blurRad="469900" dist="123444" dir="5400000" sx="99000" sy="99000" algn="ctr" rotWithShape="0">
              <a:schemeClr val="accent2">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05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79" name="米菲PPT76"/>
          <p:cNvSpPr/>
          <p:nvPr/>
        </p:nvSpPr>
        <p:spPr>
          <a:xfrm>
            <a:off x="6061962" y="1240532"/>
            <a:ext cx="695626" cy="228765"/>
          </a:xfrm>
          <a:prstGeom prst="rect">
            <a:avLst/>
          </a:prstGeom>
          <a:noFill/>
        </p:spPr>
        <p:txBody>
          <a:bodyPr wrap="square">
            <a:spAutoFit/>
          </a:bodyPr>
          <a:lstStyle/>
          <a:p>
            <a:pPr defTabSz="342900"/>
            <a:r>
              <a:rPr lang="zh-CN" altLang="en-US" sz="1050" dirty="0">
                <a:solidFill>
                  <a:srgbClr val="FFFFFF"/>
                </a:solidFill>
                <a:latin typeface="+mj-ea"/>
                <a:ea typeface="+mj-ea"/>
                <a:cs typeface="MiSans Medium" panose="00000600000000000000" pitchFamily="2" charset="-122"/>
              </a:rPr>
              <a:t>应用层</a:t>
            </a:r>
            <a:endParaRPr sz="1050" dirty="0">
              <a:solidFill>
                <a:srgbClr val="FFFFFF"/>
              </a:solidFill>
              <a:latin typeface="+mj-ea"/>
              <a:ea typeface="+mj-ea"/>
              <a:cs typeface="MiSans Medium" panose="00000600000000000000" pitchFamily="2" charset="-122"/>
            </a:endParaRPr>
          </a:p>
        </p:txBody>
      </p:sp>
      <p:sp>
        <p:nvSpPr>
          <p:cNvPr id="80" name="米菲PPT77"/>
          <p:cNvSpPr/>
          <p:nvPr/>
        </p:nvSpPr>
        <p:spPr>
          <a:xfrm rot="5400000">
            <a:off x="4842132" y="-1738525"/>
            <a:ext cx="186088" cy="6024198"/>
          </a:xfrm>
          <a:prstGeom prst="leftBracket">
            <a:avLst>
              <a:gd name="adj" fmla="val 0"/>
            </a:avLst>
          </a:prstGeom>
          <a:ln w="127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342900"/>
            <a:endParaRPr lang="zh-CN" altLang="en-US" sz="1050" dirty="0">
              <a:solidFill>
                <a:srgbClr val="000000"/>
              </a:solidFill>
              <a:latin typeface="+mj-ea"/>
              <a:ea typeface="+mj-ea"/>
              <a:cs typeface="MiSans Medium" panose="00000600000000000000" pitchFamily="2" charset="-122"/>
            </a:endParaRPr>
          </a:p>
        </p:txBody>
      </p:sp>
      <p:sp>
        <p:nvSpPr>
          <p:cNvPr id="106" name="米菲PPT76"/>
          <p:cNvSpPr/>
          <p:nvPr/>
        </p:nvSpPr>
        <p:spPr>
          <a:xfrm>
            <a:off x="698742" y="1239661"/>
            <a:ext cx="695626" cy="253916"/>
          </a:xfrm>
          <a:prstGeom prst="rect">
            <a:avLst/>
          </a:prstGeom>
          <a:noFill/>
        </p:spPr>
        <p:txBody>
          <a:bodyPr wrap="square">
            <a:spAutoFit/>
          </a:bodyPr>
          <a:lstStyle/>
          <a:p>
            <a:pPr defTabSz="342900"/>
            <a:r>
              <a:rPr lang="zh-CN" altLang="en-US" sz="1050" b="1" dirty="0">
                <a:solidFill>
                  <a:schemeClr val="bg2">
                    <a:lumMod val="50000"/>
                  </a:schemeClr>
                </a:solidFill>
                <a:latin typeface="+mj-ea"/>
                <a:ea typeface="+mj-ea"/>
                <a:cs typeface="MiSans Medium" panose="00000600000000000000" pitchFamily="2" charset="-122"/>
              </a:rPr>
              <a:t>挖掘层</a:t>
            </a:r>
            <a:endParaRPr sz="1050" b="1" dirty="0">
              <a:solidFill>
                <a:schemeClr val="bg2">
                  <a:lumMod val="50000"/>
                </a:schemeClr>
              </a:solidFill>
              <a:latin typeface="+mj-ea"/>
              <a:ea typeface="+mj-ea"/>
              <a:cs typeface="MiSans Medium" panose="00000600000000000000" pitchFamily="2" charset="-122"/>
            </a:endParaRPr>
          </a:p>
        </p:txBody>
      </p:sp>
      <p:sp>
        <p:nvSpPr>
          <p:cNvPr id="113" name="米菲PPT15"/>
          <p:cNvSpPr/>
          <p:nvPr/>
        </p:nvSpPr>
        <p:spPr>
          <a:xfrm>
            <a:off x="652909" y="1694809"/>
            <a:ext cx="2191885" cy="276999"/>
          </a:xfrm>
          <a:prstGeom prst="rect">
            <a:avLst/>
          </a:prstGeom>
          <a:solidFill>
            <a:srgbClr val="FFC000"/>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20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114" name="米菲PPT16"/>
          <p:cNvSpPr txBox="1"/>
          <p:nvPr/>
        </p:nvSpPr>
        <p:spPr>
          <a:xfrm>
            <a:off x="899571" y="1688773"/>
            <a:ext cx="1610631" cy="276999"/>
          </a:xfrm>
          <a:prstGeom prst="rect">
            <a:avLst/>
          </a:prstGeom>
          <a:noFill/>
          <a:effectLst/>
        </p:spPr>
        <p:txBody>
          <a:bodyPr wrap="square" rtlCol="0">
            <a:spAutoFit/>
          </a:bodyPr>
          <a:lstStyle/>
          <a:p>
            <a:pPr algn="ctr" defTabSz="342900"/>
            <a:r>
              <a:rPr lang="zh-CN" altLang="en-US" sz="1200" b="1" dirty="0">
                <a:solidFill>
                  <a:srgbClr val="FFFFFF"/>
                </a:solidFill>
                <a:latin typeface="+mj-ea"/>
                <a:ea typeface="+mj-ea"/>
                <a:cs typeface="MiSans Medium" panose="00000600000000000000" pitchFamily="2" charset="-122"/>
                <a:sym typeface="MiSans Bold" panose="00000800000000000000" pitchFamily="2" charset="-122"/>
              </a:rPr>
              <a:t>主题榜挖掘生产流程</a:t>
            </a:r>
          </a:p>
        </p:txBody>
      </p:sp>
      <p:sp>
        <p:nvSpPr>
          <p:cNvPr id="129" name="米菲PPT18"/>
          <p:cNvSpPr/>
          <p:nvPr/>
        </p:nvSpPr>
        <p:spPr>
          <a:xfrm>
            <a:off x="896870" y="2090461"/>
            <a:ext cx="1564154" cy="456987"/>
          </a:xfrm>
          <a:prstGeom prst="ellipse">
            <a:avLst/>
          </a:prstGeom>
          <a:gradFill flip="none" rotWithShape="1">
            <a:gsLst>
              <a:gs pos="100000">
                <a:schemeClr val="accent1">
                  <a:alpha val="0"/>
                </a:schemeClr>
              </a:gs>
              <a:gs pos="0">
                <a:schemeClr val="accent1">
                  <a:alpha val="35000"/>
                </a:schemeClr>
              </a:gs>
            </a:gsLst>
            <a:lin ang="16200000" scaled="1"/>
            <a:tileRect/>
          </a:gradFill>
          <a:ln w="12700">
            <a:gradFill>
              <a:gsLst>
                <a:gs pos="16000">
                  <a:schemeClr val="accent1">
                    <a:lumMod val="60000"/>
                    <a:lumOff val="40000"/>
                    <a:alpha val="0"/>
                  </a:schemeClr>
                </a:gs>
                <a:gs pos="100000">
                  <a:schemeClr val="accent1">
                    <a:lumMod val="60000"/>
                    <a:lumOff val="4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130" name="米菲PPT19"/>
          <p:cNvSpPr txBox="1"/>
          <p:nvPr/>
        </p:nvSpPr>
        <p:spPr>
          <a:xfrm>
            <a:off x="1047028" y="2158282"/>
            <a:ext cx="1327611" cy="346249"/>
          </a:xfrm>
          <a:prstGeom prst="rect">
            <a:avLst/>
          </a:prstGeom>
          <a:noFill/>
        </p:spPr>
        <p:txBody>
          <a:bodyPr wrap="square" rtlCol="0">
            <a:spAutoFit/>
          </a:bodyPr>
          <a:lstStyle/>
          <a:p>
            <a:pPr algn="ctr" defTabSz="342900"/>
            <a:r>
              <a:rPr lang="zh-CN" altLang="en-US" sz="800" dirty="0">
                <a:solidFill>
                  <a:srgbClr val="000000">
                    <a:lumMod val="65000"/>
                    <a:lumOff val="35000"/>
                  </a:srgbClr>
                </a:solidFill>
                <a:latin typeface="+mj-ea"/>
                <a:ea typeface="+mj-ea"/>
                <a:cs typeface="MiSans Medium" panose="00000600000000000000" pitchFamily="2" charset="-122"/>
              </a:rPr>
              <a:t>违规情况 门店装修 </a:t>
            </a:r>
            <a:endParaRPr lang="en-US" altLang="zh-CN" sz="800" dirty="0">
              <a:solidFill>
                <a:srgbClr val="000000">
                  <a:lumMod val="65000"/>
                  <a:lumOff val="35000"/>
                </a:srgbClr>
              </a:solidFill>
              <a:latin typeface="+mj-ea"/>
              <a:ea typeface="+mj-ea"/>
              <a:cs typeface="MiSans Medium" panose="00000600000000000000" pitchFamily="2" charset="-122"/>
            </a:endParaRPr>
          </a:p>
          <a:p>
            <a:pPr algn="ctr" defTabSz="342900"/>
            <a:r>
              <a:rPr lang="zh-CN" altLang="en-US" sz="800" dirty="0">
                <a:solidFill>
                  <a:srgbClr val="000000">
                    <a:lumMod val="65000"/>
                    <a:lumOff val="35000"/>
                  </a:srgbClr>
                </a:solidFill>
                <a:latin typeface="+mj-ea"/>
                <a:ea typeface="+mj-ea"/>
                <a:cs typeface="MiSans Medium" panose="00000600000000000000" pitchFamily="2" charset="-122"/>
              </a:rPr>
              <a:t>星级评分 评论总数</a:t>
            </a:r>
          </a:p>
        </p:txBody>
      </p:sp>
      <p:grpSp>
        <p:nvGrpSpPr>
          <p:cNvPr id="131" name="米菲PPT20"/>
          <p:cNvGrpSpPr/>
          <p:nvPr/>
        </p:nvGrpSpPr>
        <p:grpSpPr>
          <a:xfrm>
            <a:off x="1178935" y="2449649"/>
            <a:ext cx="1000025" cy="213585"/>
            <a:chOff x="1734606" y="4866863"/>
            <a:chExt cx="1268706" cy="270969"/>
          </a:xfrm>
        </p:grpSpPr>
        <p:sp>
          <p:nvSpPr>
            <p:cNvPr id="132" name="米菲PPT20-1"/>
            <p:cNvSpPr/>
            <p:nvPr/>
          </p:nvSpPr>
          <p:spPr>
            <a:xfrm>
              <a:off x="1965960" y="4903241"/>
              <a:ext cx="805998" cy="193974"/>
            </a:xfrm>
            <a:prstGeom prst="roundRect">
              <a:avLst>
                <a:gd name="adj" fmla="val 50000"/>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200" dirty="0">
                <a:solidFill>
                  <a:srgbClr val="FFFFFF"/>
                </a:solidFill>
                <a:latin typeface="+mj-ea"/>
                <a:ea typeface="+mj-ea"/>
                <a:cs typeface="MiSans Medium" panose="00000600000000000000" pitchFamily="2" charset="-122"/>
              </a:endParaRPr>
            </a:p>
          </p:txBody>
        </p:sp>
        <p:sp>
          <p:nvSpPr>
            <p:cNvPr id="133" name="米菲PPT20-2"/>
            <p:cNvSpPr txBox="1"/>
            <p:nvPr/>
          </p:nvSpPr>
          <p:spPr>
            <a:xfrm>
              <a:off x="1734606" y="4866863"/>
              <a:ext cx="1268706" cy="270969"/>
            </a:xfrm>
            <a:prstGeom prst="rect">
              <a:avLst/>
            </a:prstGeom>
            <a:noFill/>
          </p:spPr>
          <p:txBody>
            <a:bodyPr wrap="square" rtlCol="0">
              <a:spAutoFit/>
            </a:bodyPr>
            <a:lstStyle/>
            <a:p>
              <a:pPr algn="ctr" defTabSz="342900"/>
              <a:r>
                <a:rPr lang="zh-CN" altLang="en-US" sz="800" b="1" dirty="0">
                  <a:solidFill>
                    <a:srgbClr val="FFFFFF"/>
                  </a:solidFill>
                  <a:latin typeface="+mj-ea"/>
                  <a:ea typeface="+mj-ea"/>
                  <a:cs typeface="MiSans Medium" panose="00000600000000000000" pitchFamily="2" charset="-122"/>
                </a:rPr>
                <a:t>通用门槛</a:t>
              </a:r>
            </a:p>
          </p:txBody>
        </p:sp>
      </p:grpSp>
      <p:sp>
        <p:nvSpPr>
          <p:cNvPr id="134" name="米菲PPT35"/>
          <p:cNvSpPr/>
          <p:nvPr/>
        </p:nvSpPr>
        <p:spPr>
          <a:xfrm>
            <a:off x="896870" y="2799641"/>
            <a:ext cx="1564154" cy="445951"/>
          </a:xfrm>
          <a:prstGeom prst="ellipse">
            <a:avLst/>
          </a:prstGeom>
          <a:gradFill flip="none" rotWithShape="1">
            <a:gsLst>
              <a:gs pos="100000">
                <a:schemeClr val="accent1">
                  <a:alpha val="0"/>
                </a:schemeClr>
              </a:gs>
              <a:gs pos="0">
                <a:schemeClr val="accent1">
                  <a:alpha val="35000"/>
                </a:schemeClr>
              </a:gs>
            </a:gsLst>
            <a:lin ang="16200000" scaled="1"/>
            <a:tileRect/>
          </a:gradFill>
          <a:ln w="12700">
            <a:gradFill>
              <a:gsLst>
                <a:gs pos="16000">
                  <a:schemeClr val="accent1">
                    <a:lumMod val="60000"/>
                    <a:lumOff val="40000"/>
                    <a:alpha val="0"/>
                  </a:schemeClr>
                </a:gs>
                <a:gs pos="100000">
                  <a:schemeClr val="accent1">
                    <a:lumMod val="60000"/>
                    <a:lumOff val="4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135" name="米菲PPT36"/>
          <p:cNvSpPr txBox="1"/>
          <p:nvPr/>
        </p:nvSpPr>
        <p:spPr>
          <a:xfrm>
            <a:off x="986275" y="2857051"/>
            <a:ext cx="1484670" cy="346249"/>
          </a:xfrm>
          <a:prstGeom prst="rect">
            <a:avLst/>
          </a:prstGeom>
          <a:noFill/>
        </p:spPr>
        <p:txBody>
          <a:bodyPr wrap="square" rtlCol="0">
            <a:spAutoFit/>
          </a:bodyPr>
          <a:lstStyle/>
          <a:p>
            <a:pPr algn="ctr" defTabSz="342900"/>
            <a:r>
              <a:rPr lang="zh-CN" altLang="en-US" sz="825" dirty="0">
                <a:solidFill>
                  <a:srgbClr val="000000">
                    <a:lumMod val="65000"/>
                    <a:lumOff val="35000"/>
                  </a:srgbClr>
                </a:solidFill>
                <a:latin typeface="+mj-ea"/>
                <a:ea typeface="+mj-ea"/>
                <a:cs typeface="MiSans Medium" panose="00000600000000000000" pitchFamily="2" charset="-122"/>
              </a:rPr>
              <a:t>主题契合度 用户认可度</a:t>
            </a:r>
            <a:endParaRPr lang="en-US" altLang="zh-CN" sz="825" dirty="0">
              <a:solidFill>
                <a:srgbClr val="000000">
                  <a:lumMod val="65000"/>
                  <a:lumOff val="35000"/>
                </a:srgbClr>
              </a:solidFill>
              <a:latin typeface="+mj-ea"/>
              <a:ea typeface="+mj-ea"/>
              <a:cs typeface="MiSans Medium" panose="00000600000000000000" pitchFamily="2" charset="-122"/>
            </a:endParaRPr>
          </a:p>
          <a:p>
            <a:pPr algn="ctr" defTabSz="342900"/>
            <a:r>
              <a:rPr lang="zh-CN" altLang="en-US" sz="825" dirty="0">
                <a:solidFill>
                  <a:srgbClr val="000000">
                    <a:lumMod val="65000"/>
                    <a:lumOff val="35000"/>
                  </a:srgbClr>
                </a:solidFill>
                <a:latin typeface="+mj-ea"/>
                <a:ea typeface="+mj-ea"/>
                <a:cs typeface="MiSans Medium" panose="00000600000000000000" pitchFamily="2" charset="-122"/>
              </a:rPr>
              <a:t>经营指标  门店热度 </a:t>
            </a:r>
          </a:p>
        </p:txBody>
      </p:sp>
      <p:grpSp>
        <p:nvGrpSpPr>
          <p:cNvPr id="136" name="米菲PPT37"/>
          <p:cNvGrpSpPr/>
          <p:nvPr/>
        </p:nvGrpSpPr>
        <p:grpSpPr>
          <a:xfrm>
            <a:off x="1169691" y="3157319"/>
            <a:ext cx="1000025" cy="213585"/>
            <a:chOff x="1734606" y="4878949"/>
            <a:chExt cx="1268706" cy="270969"/>
          </a:xfrm>
        </p:grpSpPr>
        <p:sp>
          <p:nvSpPr>
            <p:cNvPr id="137" name="米菲PPT37-1"/>
            <p:cNvSpPr/>
            <p:nvPr/>
          </p:nvSpPr>
          <p:spPr>
            <a:xfrm>
              <a:off x="1965960" y="4903241"/>
              <a:ext cx="805998" cy="193974"/>
            </a:xfrm>
            <a:prstGeom prst="roundRect">
              <a:avLst>
                <a:gd name="adj" fmla="val 50000"/>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200" dirty="0">
                <a:solidFill>
                  <a:srgbClr val="FFFFFF"/>
                </a:solidFill>
                <a:latin typeface="+mj-ea"/>
                <a:ea typeface="+mj-ea"/>
                <a:cs typeface="MiSans Medium" panose="00000600000000000000" pitchFamily="2" charset="-122"/>
              </a:endParaRPr>
            </a:p>
          </p:txBody>
        </p:sp>
        <p:sp>
          <p:nvSpPr>
            <p:cNvPr id="138" name="米菲PPT37-2"/>
            <p:cNvSpPr txBox="1"/>
            <p:nvPr/>
          </p:nvSpPr>
          <p:spPr>
            <a:xfrm>
              <a:off x="1734606" y="4878949"/>
              <a:ext cx="1268706" cy="270969"/>
            </a:xfrm>
            <a:prstGeom prst="rect">
              <a:avLst/>
            </a:prstGeom>
            <a:noFill/>
          </p:spPr>
          <p:txBody>
            <a:bodyPr wrap="square" rtlCol="0">
              <a:spAutoFit/>
            </a:bodyPr>
            <a:lstStyle/>
            <a:p>
              <a:pPr algn="ctr" defTabSz="342900"/>
              <a:r>
                <a:rPr lang="zh-CN" altLang="en-US" sz="790" dirty="0">
                  <a:solidFill>
                    <a:srgbClr val="FFFFFF"/>
                  </a:solidFill>
                  <a:latin typeface="+mj-ea"/>
                  <a:ea typeface="+mj-ea"/>
                  <a:cs typeface="MiSans Medium" panose="00000600000000000000" pitchFamily="2" charset="-122"/>
                </a:rPr>
                <a:t>规则排序</a:t>
              </a:r>
            </a:p>
          </p:txBody>
        </p:sp>
      </p:grpSp>
      <p:sp>
        <p:nvSpPr>
          <p:cNvPr id="139" name="米菲PPT38"/>
          <p:cNvSpPr/>
          <p:nvPr/>
        </p:nvSpPr>
        <p:spPr>
          <a:xfrm>
            <a:off x="913936" y="3520309"/>
            <a:ext cx="1564154" cy="466578"/>
          </a:xfrm>
          <a:prstGeom prst="ellipse">
            <a:avLst/>
          </a:prstGeom>
          <a:gradFill flip="none" rotWithShape="1">
            <a:gsLst>
              <a:gs pos="100000">
                <a:schemeClr val="accent1">
                  <a:alpha val="0"/>
                </a:schemeClr>
              </a:gs>
              <a:gs pos="0">
                <a:schemeClr val="accent1">
                  <a:alpha val="35000"/>
                </a:schemeClr>
              </a:gs>
            </a:gsLst>
            <a:lin ang="16200000" scaled="1"/>
            <a:tileRect/>
          </a:gradFill>
          <a:ln w="12700">
            <a:gradFill>
              <a:gsLst>
                <a:gs pos="16000">
                  <a:schemeClr val="accent1">
                    <a:lumMod val="60000"/>
                    <a:lumOff val="40000"/>
                    <a:alpha val="0"/>
                  </a:schemeClr>
                </a:gs>
                <a:gs pos="100000">
                  <a:schemeClr val="accent1">
                    <a:lumMod val="60000"/>
                    <a:lumOff val="4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140" name="米菲PPT39"/>
          <p:cNvSpPr txBox="1"/>
          <p:nvPr/>
        </p:nvSpPr>
        <p:spPr>
          <a:xfrm>
            <a:off x="977979" y="3614413"/>
            <a:ext cx="1444462" cy="311624"/>
          </a:xfrm>
          <a:prstGeom prst="rect">
            <a:avLst/>
          </a:prstGeom>
          <a:noFill/>
        </p:spPr>
        <p:txBody>
          <a:bodyPr wrap="square" rtlCol="0">
            <a:spAutoFit/>
          </a:bodyPr>
          <a:lstStyle/>
          <a:p>
            <a:pPr algn="ctr" defTabSz="342900"/>
            <a:r>
              <a:rPr lang="zh-CN" altLang="en-US" sz="825" dirty="0">
                <a:solidFill>
                  <a:srgbClr val="000000">
                    <a:lumMod val="65000"/>
                    <a:lumOff val="35000"/>
                  </a:srgbClr>
                </a:solidFill>
                <a:latin typeface="+mj-ea"/>
                <a:ea typeface="+mj-ea"/>
                <a:cs typeface="MiSans Medium" panose="00000600000000000000" pitchFamily="2" charset="-122"/>
              </a:rPr>
              <a:t>高价值评论</a:t>
            </a:r>
            <a:endParaRPr lang="en-US" altLang="zh-CN" sz="825" dirty="0">
              <a:solidFill>
                <a:srgbClr val="000000">
                  <a:lumMod val="65000"/>
                  <a:lumOff val="35000"/>
                </a:srgbClr>
              </a:solidFill>
              <a:latin typeface="+mj-ea"/>
              <a:ea typeface="+mj-ea"/>
              <a:cs typeface="MiSans Medium" panose="00000600000000000000" pitchFamily="2" charset="-122"/>
            </a:endParaRPr>
          </a:p>
          <a:p>
            <a:pPr algn="ctr" defTabSz="342900"/>
            <a:r>
              <a:rPr lang="en-US" altLang="zh-CN" sz="600" dirty="0">
                <a:solidFill>
                  <a:srgbClr val="000000">
                    <a:lumMod val="65000"/>
                    <a:lumOff val="35000"/>
                  </a:srgbClr>
                </a:solidFill>
                <a:latin typeface="+mj-ea"/>
                <a:ea typeface="+mj-ea"/>
                <a:cs typeface="MiSans Medium" panose="00000600000000000000" pitchFamily="2" charset="-122"/>
              </a:rPr>
              <a:t>(</a:t>
            </a:r>
            <a:r>
              <a:rPr lang="zh-CN" altLang="en-US" sz="600" dirty="0">
                <a:solidFill>
                  <a:srgbClr val="000000">
                    <a:lumMod val="65000"/>
                    <a:lumOff val="35000"/>
                  </a:srgbClr>
                </a:solidFill>
                <a:latin typeface="+mj-ea"/>
                <a:ea typeface="+mj-ea"/>
                <a:cs typeface="MiSans Medium" panose="00000600000000000000" pitchFamily="2" charset="-122"/>
              </a:rPr>
              <a:t>影响用户下单，体现商家亮点的评论）</a:t>
            </a:r>
            <a:endParaRPr lang="zh-CN" altLang="en-US" sz="800" dirty="0">
              <a:solidFill>
                <a:srgbClr val="000000">
                  <a:lumMod val="65000"/>
                  <a:lumOff val="35000"/>
                </a:srgbClr>
              </a:solidFill>
              <a:latin typeface="+mj-ea"/>
              <a:ea typeface="+mj-ea"/>
              <a:cs typeface="MiSans Medium" panose="00000600000000000000" pitchFamily="2" charset="-122"/>
            </a:endParaRPr>
          </a:p>
        </p:txBody>
      </p:sp>
      <p:grpSp>
        <p:nvGrpSpPr>
          <p:cNvPr id="141" name="米菲PPT40"/>
          <p:cNvGrpSpPr/>
          <p:nvPr/>
        </p:nvGrpSpPr>
        <p:grpSpPr>
          <a:xfrm>
            <a:off x="1186757" y="3898613"/>
            <a:ext cx="1000025" cy="213585"/>
            <a:chOff x="1734606" y="4878949"/>
            <a:chExt cx="1268706" cy="270969"/>
          </a:xfrm>
        </p:grpSpPr>
        <p:sp>
          <p:nvSpPr>
            <p:cNvPr id="142" name="米菲PPT40-1"/>
            <p:cNvSpPr/>
            <p:nvPr/>
          </p:nvSpPr>
          <p:spPr>
            <a:xfrm>
              <a:off x="1965960" y="4903241"/>
              <a:ext cx="805998" cy="193974"/>
            </a:xfrm>
            <a:prstGeom prst="roundRect">
              <a:avLst>
                <a:gd name="adj" fmla="val 50000"/>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200" dirty="0">
                <a:solidFill>
                  <a:srgbClr val="FFFFFF"/>
                </a:solidFill>
                <a:latin typeface="+mj-ea"/>
                <a:ea typeface="+mj-ea"/>
                <a:cs typeface="MiSans Medium" panose="00000600000000000000" pitchFamily="2" charset="-122"/>
              </a:endParaRPr>
            </a:p>
          </p:txBody>
        </p:sp>
        <p:sp>
          <p:nvSpPr>
            <p:cNvPr id="143" name="米菲PPT40-2"/>
            <p:cNvSpPr txBox="1"/>
            <p:nvPr/>
          </p:nvSpPr>
          <p:spPr>
            <a:xfrm>
              <a:off x="1734606" y="4878949"/>
              <a:ext cx="1268706" cy="270969"/>
            </a:xfrm>
            <a:prstGeom prst="rect">
              <a:avLst/>
            </a:prstGeom>
            <a:noFill/>
          </p:spPr>
          <p:txBody>
            <a:bodyPr wrap="square" rtlCol="0">
              <a:spAutoFit/>
            </a:bodyPr>
            <a:lstStyle/>
            <a:p>
              <a:pPr algn="ctr" defTabSz="342900"/>
              <a:r>
                <a:rPr lang="zh-CN" altLang="en-US" sz="790" dirty="0">
                  <a:solidFill>
                    <a:srgbClr val="FFFFFF"/>
                  </a:solidFill>
                  <a:latin typeface="+mj-ea"/>
                  <a:ea typeface="+mj-ea"/>
                  <a:cs typeface="MiSans Medium" panose="00000600000000000000" pitchFamily="2" charset="-122"/>
                </a:rPr>
                <a:t>评论资产</a:t>
              </a:r>
            </a:p>
          </p:txBody>
        </p:sp>
      </p:grpSp>
      <p:sp>
        <p:nvSpPr>
          <p:cNvPr id="144" name="米菲PPT58"/>
          <p:cNvSpPr/>
          <p:nvPr/>
        </p:nvSpPr>
        <p:spPr>
          <a:xfrm>
            <a:off x="1564158" y="2652715"/>
            <a:ext cx="218821" cy="185107"/>
          </a:xfrm>
          <a:prstGeom prst="downArrow">
            <a:avLst/>
          </a:prstGeom>
          <a:gradFill flip="none" rotWithShape="1">
            <a:gsLst>
              <a:gs pos="100000">
                <a:schemeClr val="accent1">
                  <a:alpha val="0"/>
                </a:schemeClr>
              </a:gs>
              <a:gs pos="0">
                <a:schemeClr val="accent1">
                  <a:alpha val="65000"/>
                </a:schemeClr>
              </a:gs>
            </a:gsLst>
            <a:lin ang="162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46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cxnSp>
        <p:nvCxnSpPr>
          <p:cNvPr id="182" name="米菲PPT60"/>
          <p:cNvCxnSpPr/>
          <p:nvPr/>
        </p:nvCxnSpPr>
        <p:spPr>
          <a:xfrm>
            <a:off x="2718563" y="2325938"/>
            <a:ext cx="0" cy="67459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3" name="米菲PPT61"/>
          <p:cNvCxnSpPr/>
          <p:nvPr/>
        </p:nvCxnSpPr>
        <p:spPr>
          <a:xfrm flipH="1">
            <a:off x="2495143" y="3000529"/>
            <a:ext cx="22342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4" name="米菲PPT60"/>
          <p:cNvCxnSpPr/>
          <p:nvPr/>
        </p:nvCxnSpPr>
        <p:spPr>
          <a:xfrm>
            <a:off x="8662163" y="3946365"/>
            <a:ext cx="0" cy="67459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5" name="米菲PPT61"/>
          <p:cNvCxnSpPr/>
          <p:nvPr/>
        </p:nvCxnSpPr>
        <p:spPr>
          <a:xfrm flipH="1">
            <a:off x="8438743" y="4620956"/>
            <a:ext cx="22342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9" name="米菲PPT61"/>
          <p:cNvCxnSpPr/>
          <p:nvPr/>
        </p:nvCxnSpPr>
        <p:spPr>
          <a:xfrm flipH="1">
            <a:off x="2495143" y="2316567"/>
            <a:ext cx="22342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0" name="米菲PPT63-2"/>
          <p:cNvCxnSpPr/>
          <p:nvPr/>
        </p:nvCxnSpPr>
        <p:spPr>
          <a:xfrm>
            <a:off x="2718563" y="2678040"/>
            <a:ext cx="297687" cy="0"/>
          </a:xfrm>
          <a:prstGeom prst="line">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94" name="文本框 193"/>
          <p:cNvSpPr txBox="1"/>
          <p:nvPr/>
        </p:nvSpPr>
        <p:spPr>
          <a:xfrm>
            <a:off x="870607" y="2923497"/>
            <a:ext cx="354208" cy="246221"/>
          </a:xfrm>
          <a:prstGeom prst="rect">
            <a:avLst/>
          </a:prstGeom>
          <a:noFill/>
        </p:spPr>
        <p:txBody>
          <a:bodyPr wrap="square">
            <a:spAutoFit/>
          </a:bodyPr>
          <a:lstStyle/>
          <a:p>
            <a:r>
              <a:rPr lang="zh-CN" altLang="en-US" sz="1000" dirty="0">
                <a:solidFill>
                  <a:srgbClr val="000000">
                    <a:lumMod val="65000"/>
                    <a:lumOff val="35000"/>
                  </a:srgbClr>
                </a:solidFill>
                <a:latin typeface="+mj-ea"/>
                <a:ea typeface="+mj-ea"/>
              </a:rPr>
              <a:t>①</a:t>
            </a:r>
            <a:endParaRPr lang="zh-CN" altLang="en-US" sz="1000" dirty="0"/>
          </a:p>
        </p:txBody>
      </p:sp>
      <p:sp>
        <p:nvSpPr>
          <p:cNvPr id="195" name="文本框 194"/>
          <p:cNvSpPr txBox="1"/>
          <p:nvPr/>
        </p:nvSpPr>
        <p:spPr>
          <a:xfrm>
            <a:off x="872254" y="3656910"/>
            <a:ext cx="354208" cy="246221"/>
          </a:xfrm>
          <a:prstGeom prst="rect">
            <a:avLst/>
          </a:prstGeom>
          <a:noFill/>
        </p:spPr>
        <p:txBody>
          <a:bodyPr wrap="square">
            <a:spAutoFit/>
          </a:bodyPr>
          <a:lstStyle/>
          <a:p>
            <a:r>
              <a:rPr lang="zh-CN" altLang="en-US" sz="1000" dirty="0">
                <a:solidFill>
                  <a:srgbClr val="000000">
                    <a:lumMod val="65000"/>
                    <a:lumOff val="35000"/>
                  </a:srgbClr>
                </a:solidFill>
                <a:latin typeface="+mj-ea"/>
                <a:ea typeface="+mj-ea"/>
              </a:rPr>
              <a:t>②</a:t>
            </a:r>
            <a:endParaRPr lang="zh-CN" altLang="en-US" sz="1000" dirty="0"/>
          </a:p>
        </p:txBody>
      </p:sp>
      <p:cxnSp>
        <p:nvCxnSpPr>
          <p:cNvPr id="196" name="米菲PPT63-2"/>
          <p:cNvCxnSpPr/>
          <p:nvPr/>
        </p:nvCxnSpPr>
        <p:spPr>
          <a:xfrm>
            <a:off x="2546350" y="3757540"/>
            <a:ext cx="469900" cy="0"/>
          </a:xfrm>
          <a:prstGeom prst="line">
            <a:avLst/>
          </a:prstGeom>
          <a:ln>
            <a:prstDash val="dash"/>
            <a:tailEnd type="triangle"/>
          </a:ln>
        </p:spPr>
        <p:style>
          <a:lnRef idx="1">
            <a:schemeClr val="accent1"/>
          </a:lnRef>
          <a:fillRef idx="0">
            <a:schemeClr val="accent1"/>
          </a:fillRef>
          <a:effectRef idx="0">
            <a:schemeClr val="accent1"/>
          </a:effectRef>
          <a:fontRef idx="minor">
            <a:schemeClr val="tx1"/>
          </a:fontRef>
        </p:style>
      </p:cxnSp>
      <p:pic>
        <p:nvPicPr>
          <p:cNvPr id="201" name="图片 200"/>
          <p:cNvPicPr>
            <a:picLocks noChangeAspect="1"/>
          </p:cNvPicPr>
          <p:nvPr/>
        </p:nvPicPr>
        <p:blipFill>
          <a:blip r:embed="rId2"/>
          <a:stretch>
            <a:fillRect/>
          </a:stretch>
        </p:blipFill>
        <p:spPr>
          <a:xfrm>
            <a:off x="3101134" y="2167542"/>
            <a:ext cx="1181587" cy="915729"/>
          </a:xfrm>
          <a:prstGeom prst="rect">
            <a:avLst/>
          </a:prstGeom>
        </p:spPr>
      </p:pic>
      <p:sp>
        <p:nvSpPr>
          <p:cNvPr id="202" name="米菲PPT15"/>
          <p:cNvSpPr/>
          <p:nvPr/>
        </p:nvSpPr>
        <p:spPr>
          <a:xfrm>
            <a:off x="3090632" y="1694809"/>
            <a:ext cx="2449951" cy="276999"/>
          </a:xfrm>
          <a:prstGeom prst="rect">
            <a:avLst/>
          </a:prstGeom>
          <a:solidFill>
            <a:srgbClr val="FFC000"/>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4067" tIns="37031" rIns="74067" bIns="37031" rtlCol="0" anchor="ctr">
            <a:noAutofit/>
          </a:bodyPr>
          <a:lstStyle/>
          <a:p>
            <a:pPr algn="ctr" defTabSz="685800"/>
            <a:endParaRPr lang="zh-CN" altLang="en-US" sz="1200" dirty="0">
              <a:solidFill>
                <a:srgbClr val="FFFFFF"/>
              </a:solidFill>
              <a:effectLst>
                <a:outerShdw blurRad="137160" dist="41148" dir="2699997" algn="tl">
                  <a:srgbClr val="000000">
                    <a:alpha val="40000"/>
                  </a:srgbClr>
                </a:outerShdw>
              </a:effectLst>
              <a:latin typeface="+mj-ea"/>
              <a:ea typeface="+mj-ea"/>
              <a:cs typeface="MiSans Medium" panose="00000600000000000000" pitchFamily="2" charset="-122"/>
            </a:endParaRPr>
          </a:p>
        </p:txBody>
      </p:sp>
      <p:sp>
        <p:nvSpPr>
          <p:cNvPr id="203" name="米菲PPT16"/>
          <p:cNvSpPr txBox="1"/>
          <p:nvPr/>
        </p:nvSpPr>
        <p:spPr>
          <a:xfrm>
            <a:off x="3417436" y="1666503"/>
            <a:ext cx="1852433" cy="276999"/>
          </a:xfrm>
          <a:prstGeom prst="rect">
            <a:avLst/>
          </a:prstGeom>
          <a:noFill/>
          <a:effectLst/>
        </p:spPr>
        <p:txBody>
          <a:bodyPr wrap="square" rtlCol="0">
            <a:spAutoFit/>
          </a:bodyPr>
          <a:lstStyle/>
          <a:p>
            <a:pPr algn="ctr" defTabSz="342900"/>
            <a:r>
              <a:rPr lang="zh-CN" altLang="en-US" sz="1200" b="1" dirty="0">
                <a:solidFill>
                  <a:srgbClr val="FFFFFF"/>
                </a:solidFill>
                <a:latin typeface="+mj-ea"/>
                <a:ea typeface="+mj-ea"/>
                <a:cs typeface="MiSans Medium" panose="00000600000000000000" pitchFamily="2" charset="-122"/>
                <a:sym typeface="MiSans Bold" panose="00000800000000000000" pitchFamily="2" charset="-122"/>
              </a:rPr>
              <a:t>以约会榜生产为例</a:t>
            </a:r>
          </a:p>
        </p:txBody>
      </p:sp>
      <p:sp>
        <p:nvSpPr>
          <p:cNvPr id="204" name="米菲PPT19"/>
          <p:cNvSpPr txBox="1"/>
          <p:nvPr/>
        </p:nvSpPr>
        <p:spPr>
          <a:xfrm>
            <a:off x="3021013" y="3084459"/>
            <a:ext cx="1327611" cy="169277"/>
          </a:xfrm>
          <a:prstGeom prst="rect">
            <a:avLst/>
          </a:prstGeom>
          <a:noFill/>
        </p:spPr>
        <p:txBody>
          <a:bodyPr wrap="square" rtlCol="0">
            <a:spAutoFit/>
          </a:bodyPr>
          <a:lstStyle/>
          <a:p>
            <a:pPr algn="ctr" defTabSz="342900"/>
            <a:r>
              <a:rPr lang="zh-CN" altLang="en-US" sz="500" dirty="0">
                <a:solidFill>
                  <a:schemeClr val="bg2">
                    <a:lumMod val="50000"/>
                  </a:schemeClr>
                </a:solidFill>
                <a:latin typeface="+mj-ea"/>
                <a:ea typeface="+mj-ea"/>
                <a:cs typeface="MiSans Medium" panose="00000600000000000000" pitchFamily="2" charset="-122"/>
              </a:rPr>
              <a:t>门槛卡控细则</a:t>
            </a:r>
          </a:p>
        </p:txBody>
      </p:sp>
      <p:sp>
        <p:nvSpPr>
          <p:cNvPr id="205" name="米菲PPT19"/>
          <p:cNvSpPr txBox="1"/>
          <p:nvPr/>
        </p:nvSpPr>
        <p:spPr>
          <a:xfrm>
            <a:off x="4212973" y="3095657"/>
            <a:ext cx="1327611" cy="169277"/>
          </a:xfrm>
          <a:prstGeom prst="rect">
            <a:avLst/>
          </a:prstGeom>
          <a:noFill/>
        </p:spPr>
        <p:txBody>
          <a:bodyPr wrap="square" rtlCol="0">
            <a:spAutoFit/>
          </a:bodyPr>
          <a:lstStyle/>
          <a:p>
            <a:pPr algn="ctr" defTabSz="342900"/>
            <a:r>
              <a:rPr lang="zh-CN" altLang="en-US" sz="500" dirty="0">
                <a:solidFill>
                  <a:schemeClr val="bg2">
                    <a:lumMod val="50000"/>
                  </a:schemeClr>
                </a:solidFill>
                <a:latin typeface="+mj-ea"/>
                <a:ea typeface="+mj-ea"/>
                <a:cs typeface="MiSans Medium" panose="00000600000000000000" pitchFamily="2" charset="-122"/>
              </a:rPr>
              <a:t>规则排序细则</a:t>
            </a:r>
          </a:p>
        </p:txBody>
      </p:sp>
      <p:pic>
        <p:nvPicPr>
          <p:cNvPr id="209" name="图片 208"/>
          <p:cNvPicPr>
            <a:picLocks noChangeAspect="1"/>
          </p:cNvPicPr>
          <p:nvPr/>
        </p:nvPicPr>
        <p:blipFill>
          <a:blip r:embed="rId3"/>
          <a:stretch>
            <a:fillRect/>
          </a:stretch>
        </p:blipFill>
        <p:spPr>
          <a:xfrm>
            <a:off x="4232852" y="2151220"/>
            <a:ext cx="1187519" cy="903070"/>
          </a:xfrm>
          <a:prstGeom prst="rect">
            <a:avLst/>
          </a:prstGeom>
        </p:spPr>
      </p:pic>
      <p:sp>
        <p:nvSpPr>
          <p:cNvPr id="210" name="矩形 209"/>
          <p:cNvSpPr/>
          <p:nvPr/>
        </p:nvSpPr>
        <p:spPr>
          <a:xfrm>
            <a:off x="3092393" y="2144308"/>
            <a:ext cx="2433485" cy="1101283"/>
          </a:xfrm>
          <a:prstGeom prst="rect">
            <a:avLst/>
          </a:prstGeom>
          <a:noFill/>
          <a:ln w="63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米菲PPT19"/>
          <p:cNvSpPr txBox="1"/>
          <p:nvPr/>
        </p:nvSpPr>
        <p:spPr>
          <a:xfrm>
            <a:off x="3036535" y="3573301"/>
            <a:ext cx="2459497" cy="738664"/>
          </a:xfrm>
          <a:prstGeom prst="rect">
            <a:avLst/>
          </a:prstGeom>
          <a:noFill/>
        </p:spPr>
        <p:txBody>
          <a:bodyPr wrap="square" rtlCol="0">
            <a:spAutoFit/>
          </a:bodyPr>
          <a:lstStyle/>
          <a:p>
            <a:pPr defTabSz="342900"/>
            <a:r>
              <a:rPr lang="en-US" altLang="zh-CN" sz="600" dirty="0">
                <a:solidFill>
                  <a:schemeClr val="bg2">
                    <a:lumMod val="50000"/>
                  </a:schemeClr>
                </a:solidFill>
                <a:latin typeface="+mj-ea"/>
                <a:ea typeface="+mj-ea"/>
                <a:cs typeface="MiSans Medium" panose="00000600000000000000" pitchFamily="2" charset="-122"/>
              </a:rPr>
              <a:t>·</a:t>
            </a:r>
            <a:r>
              <a:rPr lang="zh-CN" altLang="en-US" sz="600" dirty="0">
                <a:solidFill>
                  <a:schemeClr val="bg2">
                    <a:lumMod val="50000"/>
                  </a:schemeClr>
                </a:solidFill>
                <a:latin typeface="+mj-ea"/>
                <a:ea typeface="+mj-ea"/>
                <a:cs typeface="MiSans Medium" panose="00000600000000000000" pitchFamily="2" charset="-122"/>
              </a:rPr>
              <a:t>有效评论：</a:t>
            </a:r>
            <a:r>
              <a:rPr lang="en-US" altLang="zh-CN" sz="600" dirty="0">
                <a:solidFill>
                  <a:schemeClr val="bg2">
                    <a:lumMod val="50000"/>
                  </a:schemeClr>
                </a:solidFill>
                <a:latin typeface="+mj-ea"/>
                <a:ea typeface="+mj-ea"/>
                <a:cs typeface="MiSans Medium" panose="00000600000000000000" pitchFamily="2" charset="-122"/>
              </a:rPr>
              <a:t>a</a:t>
            </a:r>
            <a:r>
              <a:rPr lang="zh-CN" altLang="en-US" sz="600" dirty="0">
                <a:solidFill>
                  <a:schemeClr val="bg2">
                    <a:lumMod val="50000"/>
                  </a:schemeClr>
                </a:solidFill>
                <a:latin typeface="+mj-ea"/>
                <a:ea typeface="+mj-ea"/>
                <a:cs typeface="MiSans Medium" panose="00000600000000000000" pitchFamily="2" charset="-122"/>
              </a:rPr>
              <a:t>包含当前门店用户下单决策关键点的评论（如约会餐厅中关于约会环境、菜品美观等维度的评论）</a:t>
            </a:r>
            <a:r>
              <a:rPr lang="en-US" altLang="zh-CN" sz="600" dirty="0">
                <a:solidFill>
                  <a:schemeClr val="bg2">
                    <a:lumMod val="50000"/>
                  </a:schemeClr>
                </a:solidFill>
                <a:latin typeface="+mj-ea"/>
                <a:ea typeface="+mj-ea"/>
                <a:cs typeface="MiSans Medium" panose="00000600000000000000" pitchFamily="2" charset="-122"/>
              </a:rPr>
              <a:t>;b</a:t>
            </a:r>
            <a:r>
              <a:rPr lang="zh-CN" altLang="en-US" sz="600" dirty="0">
                <a:solidFill>
                  <a:schemeClr val="bg2">
                    <a:lumMod val="50000"/>
                  </a:schemeClr>
                </a:solidFill>
                <a:latin typeface="+mj-ea"/>
                <a:ea typeface="+mj-ea"/>
                <a:cs typeface="MiSans Medium" panose="00000600000000000000" pitchFamily="2" charset="-122"/>
              </a:rPr>
              <a:t>能表现商家经营亮点的评论（如新</a:t>
            </a:r>
            <a:r>
              <a:rPr lang="en-US" altLang="zh-CN" sz="600" dirty="0">
                <a:solidFill>
                  <a:schemeClr val="bg2">
                    <a:lumMod val="50000"/>
                  </a:schemeClr>
                </a:solidFill>
                <a:latin typeface="+mj-ea"/>
                <a:ea typeface="+mj-ea"/>
                <a:cs typeface="MiSans Medium" panose="00000600000000000000" pitchFamily="2" charset="-122"/>
              </a:rPr>
              <a:t>/</a:t>
            </a:r>
            <a:r>
              <a:rPr lang="zh-CN" altLang="en-US" sz="600" dirty="0">
                <a:solidFill>
                  <a:schemeClr val="bg2">
                    <a:lumMod val="50000"/>
                  </a:schemeClr>
                </a:solidFill>
                <a:latin typeface="+mj-ea"/>
                <a:ea typeface="+mj-ea"/>
                <a:cs typeface="MiSans Medium" panose="00000600000000000000" pitchFamily="2" charset="-122"/>
              </a:rPr>
              <a:t>特色菜品、）；</a:t>
            </a:r>
            <a:r>
              <a:rPr lang="en-US" altLang="zh-CN" sz="600" dirty="0">
                <a:solidFill>
                  <a:schemeClr val="bg2">
                    <a:lumMod val="50000"/>
                  </a:schemeClr>
                </a:solidFill>
                <a:latin typeface="+mj-ea"/>
                <a:ea typeface="+mj-ea"/>
                <a:cs typeface="MiSans Medium" panose="00000600000000000000" pitchFamily="2" charset="-122"/>
              </a:rPr>
              <a:t>c</a:t>
            </a:r>
            <a:r>
              <a:rPr lang="zh-CN" altLang="en-US" sz="600" dirty="0">
                <a:solidFill>
                  <a:schemeClr val="bg2">
                    <a:lumMod val="50000"/>
                  </a:schemeClr>
                </a:solidFill>
                <a:latin typeface="+mj-ea"/>
                <a:ea typeface="+mj-ea"/>
                <a:cs typeface="MiSans Medium" panose="00000600000000000000" pitchFamily="2" charset="-122"/>
              </a:rPr>
              <a:t>高价值用户评论展示（如达人、黑金钻用户）。</a:t>
            </a:r>
            <a:endParaRPr lang="en-US" altLang="zh-CN" sz="600" dirty="0">
              <a:solidFill>
                <a:schemeClr val="bg2">
                  <a:lumMod val="50000"/>
                </a:schemeClr>
              </a:solidFill>
              <a:latin typeface="+mj-ea"/>
              <a:ea typeface="+mj-ea"/>
              <a:cs typeface="MiSans Medium" panose="00000600000000000000" pitchFamily="2" charset="-122"/>
            </a:endParaRPr>
          </a:p>
          <a:p>
            <a:pPr defTabSz="342900"/>
            <a:r>
              <a:rPr lang="en-US" altLang="zh-CN" sz="600" dirty="0">
                <a:solidFill>
                  <a:schemeClr val="bg2">
                    <a:lumMod val="50000"/>
                  </a:schemeClr>
                </a:solidFill>
                <a:latin typeface="+mj-ea"/>
                <a:ea typeface="+mj-ea"/>
                <a:cs typeface="MiSans Medium" panose="00000600000000000000" pitchFamily="2" charset="-122"/>
              </a:rPr>
              <a:t>·</a:t>
            </a:r>
            <a:r>
              <a:rPr lang="zh-CN" altLang="en-US" sz="600" dirty="0">
                <a:solidFill>
                  <a:schemeClr val="bg2">
                    <a:lumMod val="50000"/>
                  </a:schemeClr>
                </a:solidFill>
                <a:latin typeface="+mj-ea"/>
                <a:ea typeface="+mj-ea"/>
                <a:cs typeface="MiSans Medium" panose="00000600000000000000" pitchFamily="2" charset="-122"/>
              </a:rPr>
              <a:t>评论聚合：</a:t>
            </a:r>
            <a:r>
              <a:rPr lang="zh-CN" altLang="en-US" sz="600" b="0" i="0" dirty="0">
                <a:solidFill>
                  <a:schemeClr val="bg2">
                    <a:lumMod val="50000"/>
                  </a:schemeClr>
                </a:solidFill>
                <a:effectLst/>
                <a:latin typeface="quote-cjk-patch"/>
              </a:rPr>
              <a:t>通过自然语言处理与聚类算法，将描述相同优势维度或改进方向的评论进行智能聚合与摘要提炼，从而规模化呈现门店的竞争力标签</a:t>
            </a:r>
            <a:endParaRPr lang="en-US" altLang="zh-CN" sz="600" dirty="0">
              <a:solidFill>
                <a:schemeClr val="bg2">
                  <a:lumMod val="50000"/>
                </a:schemeClr>
              </a:solidFill>
              <a:latin typeface="+mj-ea"/>
              <a:ea typeface="+mj-ea"/>
              <a:cs typeface="MiSans Medium" panose="00000600000000000000" pitchFamily="2" charset="-122"/>
            </a:endParaRPr>
          </a:p>
        </p:txBody>
      </p:sp>
      <p:sp>
        <p:nvSpPr>
          <p:cNvPr id="212" name="矩形 211"/>
          <p:cNvSpPr/>
          <p:nvPr/>
        </p:nvSpPr>
        <p:spPr>
          <a:xfrm>
            <a:off x="3090633" y="3558578"/>
            <a:ext cx="2433485" cy="723218"/>
          </a:xfrm>
          <a:prstGeom prst="rect">
            <a:avLst/>
          </a:prstGeom>
          <a:noFill/>
          <a:ln w="63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5" name="组合 214"/>
          <p:cNvGrpSpPr/>
          <p:nvPr/>
        </p:nvGrpSpPr>
        <p:grpSpPr>
          <a:xfrm flipV="1">
            <a:off x="5706094" y="3762594"/>
            <a:ext cx="61049" cy="129387"/>
            <a:chOff x="9665361" y="-2713471"/>
            <a:chExt cx="988647" cy="1036411"/>
          </a:xfrm>
        </p:grpSpPr>
        <p:cxnSp>
          <p:nvCxnSpPr>
            <p:cNvPr id="216" name="米菲PPT82-3"/>
            <p:cNvCxnSpPr/>
            <p:nvPr/>
          </p:nvCxnSpPr>
          <p:spPr>
            <a:xfrm>
              <a:off x="9665361" y="-2713471"/>
              <a:ext cx="988647" cy="494073"/>
            </a:xfrm>
            <a:prstGeom prst="line">
              <a:avLst/>
            </a:prstGeom>
            <a:ln w="73025" cap="rnd">
              <a:solidFill>
                <a:schemeClr val="accent1">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217" name="米菲PPT82-4"/>
            <p:cNvCxnSpPr/>
            <p:nvPr/>
          </p:nvCxnSpPr>
          <p:spPr>
            <a:xfrm flipV="1">
              <a:off x="9665361" y="-2171133"/>
              <a:ext cx="988647" cy="494073"/>
            </a:xfrm>
            <a:prstGeom prst="line">
              <a:avLst/>
            </a:prstGeom>
            <a:ln w="73025" cap="rnd">
              <a:solidFill>
                <a:schemeClr val="accent1">
                  <a:lumMod val="40000"/>
                  <a:lumOff val="60000"/>
                </a:schemeClr>
              </a:solidFill>
              <a:round/>
            </a:ln>
          </p:spPr>
          <p:style>
            <a:lnRef idx="1">
              <a:schemeClr val="accent1"/>
            </a:lnRef>
            <a:fillRef idx="0">
              <a:schemeClr val="accent1"/>
            </a:fillRef>
            <a:effectRef idx="0">
              <a:schemeClr val="accent1"/>
            </a:effectRef>
            <a:fontRef idx="minor">
              <a:schemeClr val="tx1"/>
            </a:fontRef>
          </p:style>
        </p:cxnSp>
      </p:grpSp>
      <p:grpSp>
        <p:nvGrpSpPr>
          <p:cNvPr id="220" name="组合 219"/>
          <p:cNvGrpSpPr/>
          <p:nvPr/>
        </p:nvGrpSpPr>
        <p:grpSpPr>
          <a:xfrm flipV="1">
            <a:off x="5704163" y="2652715"/>
            <a:ext cx="61049" cy="129387"/>
            <a:chOff x="9665361" y="-2713471"/>
            <a:chExt cx="988647" cy="1036411"/>
          </a:xfrm>
        </p:grpSpPr>
        <p:cxnSp>
          <p:nvCxnSpPr>
            <p:cNvPr id="221" name="米菲PPT82-3"/>
            <p:cNvCxnSpPr/>
            <p:nvPr/>
          </p:nvCxnSpPr>
          <p:spPr>
            <a:xfrm>
              <a:off x="9665361" y="-2713471"/>
              <a:ext cx="988647" cy="494073"/>
            </a:xfrm>
            <a:prstGeom prst="line">
              <a:avLst/>
            </a:prstGeom>
            <a:ln w="73025" cap="rnd">
              <a:solidFill>
                <a:schemeClr val="accent1">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222" name="米菲PPT82-4"/>
            <p:cNvCxnSpPr/>
            <p:nvPr/>
          </p:nvCxnSpPr>
          <p:spPr>
            <a:xfrm flipV="1">
              <a:off x="9665361" y="-2171133"/>
              <a:ext cx="988647" cy="494073"/>
            </a:xfrm>
            <a:prstGeom prst="line">
              <a:avLst/>
            </a:prstGeom>
            <a:ln w="73025" cap="rnd">
              <a:solidFill>
                <a:schemeClr val="accent1">
                  <a:lumMod val="40000"/>
                  <a:lumOff val="60000"/>
                </a:schemeClr>
              </a:solidFill>
              <a:round/>
            </a:ln>
          </p:spPr>
          <p:style>
            <a:lnRef idx="1">
              <a:schemeClr val="accent1"/>
            </a:lnRef>
            <a:fillRef idx="0">
              <a:schemeClr val="accent1"/>
            </a:fillRef>
            <a:effectRef idx="0">
              <a:schemeClr val="accent1"/>
            </a:effectRef>
            <a:fontRef idx="minor">
              <a:schemeClr val="tx1"/>
            </a:fontRef>
          </p:style>
        </p:cxnSp>
      </p:grpSp>
      <p:sp>
        <p:nvSpPr>
          <p:cNvPr id="223" name="米菲PPT19"/>
          <p:cNvSpPr txBox="1"/>
          <p:nvPr/>
        </p:nvSpPr>
        <p:spPr>
          <a:xfrm>
            <a:off x="6018350" y="1596440"/>
            <a:ext cx="2459497" cy="369332"/>
          </a:xfrm>
          <a:prstGeom prst="rect">
            <a:avLst/>
          </a:prstGeom>
          <a:noFill/>
        </p:spPr>
        <p:txBody>
          <a:bodyPr wrap="square" rtlCol="0">
            <a:spAutoFit/>
          </a:bodyPr>
          <a:lstStyle/>
          <a:p>
            <a:pPr defTabSz="342900"/>
            <a:r>
              <a:rPr lang="zh-CN" altLang="en-US" sz="600" dirty="0">
                <a:solidFill>
                  <a:schemeClr val="bg2">
                    <a:lumMod val="50000"/>
                  </a:schemeClr>
                </a:solidFill>
                <a:latin typeface="+mj-ea"/>
                <a:ea typeface="+mj-ea"/>
                <a:cs typeface="MiSans Medium" panose="00000600000000000000" pitchFamily="2" charset="-122"/>
              </a:rPr>
              <a:t>约会场景榜正在挖掘及准确率校验阶段，当前以三里屯商圈为例的门店</a:t>
            </a:r>
            <a:r>
              <a:rPr lang="en-US" altLang="zh-CN" sz="600" dirty="0">
                <a:solidFill>
                  <a:schemeClr val="bg2">
                    <a:lumMod val="50000"/>
                  </a:schemeClr>
                </a:solidFill>
                <a:latin typeface="+mj-ea"/>
                <a:ea typeface="+mj-ea"/>
                <a:cs typeface="MiSans Medium" panose="00000600000000000000" pitchFamily="2" charset="-122"/>
              </a:rPr>
              <a:t>list</a:t>
            </a:r>
            <a:r>
              <a:rPr lang="zh-CN" altLang="en-US" sz="600" dirty="0">
                <a:solidFill>
                  <a:schemeClr val="bg2">
                    <a:lumMod val="50000"/>
                  </a:schemeClr>
                </a:solidFill>
                <a:latin typeface="+mj-ea"/>
                <a:ea typeface="+mj-ea"/>
                <a:cs typeface="MiSans Medium" panose="00000600000000000000" pitchFamily="2" charset="-122"/>
              </a:rPr>
              <a:t>还存在价格带过高、排序合理性问题。后续会通过全城数据扩量校验模型准确度，同时引入业务评估排序。</a:t>
            </a:r>
            <a:endParaRPr lang="en-US" altLang="zh-CN" sz="600" dirty="0">
              <a:solidFill>
                <a:schemeClr val="bg2">
                  <a:lumMod val="50000"/>
                </a:schemeClr>
              </a:solidFill>
              <a:latin typeface="+mj-ea"/>
              <a:ea typeface="+mj-ea"/>
              <a:cs typeface="MiSans Medium" panose="00000600000000000000" pitchFamily="2" charset="-122"/>
            </a:endParaRPr>
          </a:p>
        </p:txBody>
      </p:sp>
      <p:pic>
        <p:nvPicPr>
          <p:cNvPr id="225" name="图片 224"/>
          <p:cNvPicPr>
            <a:picLocks noChangeAspect="1"/>
          </p:cNvPicPr>
          <p:nvPr/>
        </p:nvPicPr>
        <p:blipFill>
          <a:blip r:embed="rId4"/>
          <a:stretch>
            <a:fillRect/>
          </a:stretch>
        </p:blipFill>
        <p:spPr>
          <a:xfrm>
            <a:off x="6150364" y="3306996"/>
            <a:ext cx="586601" cy="1271274"/>
          </a:xfrm>
          <a:prstGeom prst="rect">
            <a:avLst/>
          </a:prstGeom>
        </p:spPr>
      </p:pic>
      <p:sp>
        <p:nvSpPr>
          <p:cNvPr id="226" name="米菲PPT19"/>
          <p:cNvSpPr txBox="1"/>
          <p:nvPr/>
        </p:nvSpPr>
        <p:spPr>
          <a:xfrm>
            <a:off x="5795952" y="3166055"/>
            <a:ext cx="1327611" cy="169277"/>
          </a:xfrm>
          <a:prstGeom prst="rect">
            <a:avLst/>
          </a:prstGeom>
          <a:noFill/>
        </p:spPr>
        <p:txBody>
          <a:bodyPr wrap="square" rtlCol="0">
            <a:spAutoFit/>
          </a:bodyPr>
          <a:lstStyle/>
          <a:p>
            <a:pPr algn="ctr" defTabSz="342900"/>
            <a:r>
              <a:rPr lang="zh-CN" altLang="en-US" sz="500" dirty="0">
                <a:solidFill>
                  <a:schemeClr val="bg2">
                    <a:lumMod val="50000"/>
                  </a:schemeClr>
                </a:solidFill>
                <a:latin typeface="+mj-ea"/>
                <a:ea typeface="+mj-ea"/>
                <a:cs typeface="MiSans Medium" panose="00000600000000000000" pitchFamily="2" charset="-122"/>
              </a:rPr>
              <a:t>以现有门店图为例展示</a:t>
            </a:r>
          </a:p>
        </p:txBody>
      </p:sp>
      <p:sp>
        <p:nvSpPr>
          <p:cNvPr id="227" name="矩形 226"/>
          <p:cNvSpPr/>
          <p:nvPr/>
        </p:nvSpPr>
        <p:spPr>
          <a:xfrm>
            <a:off x="6136661" y="3306996"/>
            <a:ext cx="606766" cy="330862"/>
          </a:xfrm>
          <a:prstGeom prst="rect">
            <a:avLst/>
          </a:prstGeom>
          <a:noFill/>
          <a:ln w="6350">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8" name="米菲PPT63-2"/>
          <p:cNvCxnSpPr/>
          <p:nvPr/>
        </p:nvCxnSpPr>
        <p:spPr>
          <a:xfrm>
            <a:off x="6757588" y="3485163"/>
            <a:ext cx="322662" cy="0"/>
          </a:xfrm>
          <a:prstGeom prst="line">
            <a:avLst/>
          </a:prstGeom>
          <a:ln>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2" name="米菲PPT19"/>
          <p:cNvSpPr txBox="1"/>
          <p:nvPr/>
        </p:nvSpPr>
        <p:spPr>
          <a:xfrm>
            <a:off x="7042220" y="3396360"/>
            <a:ext cx="1327611" cy="169277"/>
          </a:xfrm>
          <a:prstGeom prst="rect">
            <a:avLst/>
          </a:prstGeom>
          <a:noFill/>
        </p:spPr>
        <p:txBody>
          <a:bodyPr wrap="square" rtlCol="0">
            <a:spAutoFit/>
          </a:bodyPr>
          <a:lstStyle/>
          <a:p>
            <a:pPr defTabSz="342900"/>
            <a:r>
              <a:rPr lang="zh-CN" altLang="en-US" sz="500" dirty="0">
                <a:solidFill>
                  <a:schemeClr val="bg2">
                    <a:lumMod val="50000"/>
                  </a:schemeClr>
                </a:solidFill>
                <a:latin typeface="+mj-ea"/>
                <a:ea typeface="+mj-ea"/>
                <a:cs typeface="MiSans Medium" panose="00000600000000000000" pitchFamily="2" charset="-122"/>
              </a:rPr>
              <a:t>头图位置增加有效评论曝光</a:t>
            </a:r>
          </a:p>
        </p:txBody>
      </p:sp>
      <p:sp>
        <p:nvSpPr>
          <p:cNvPr id="234" name="矩形 233"/>
          <p:cNvSpPr/>
          <p:nvPr/>
        </p:nvSpPr>
        <p:spPr>
          <a:xfrm>
            <a:off x="6141024" y="3675072"/>
            <a:ext cx="606766" cy="50656"/>
          </a:xfrm>
          <a:prstGeom prst="rect">
            <a:avLst/>
          </a:prstGeom>
          <a:noFill/>
          <a:ln w="6350">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5" name="米菲PPT63-2"/>
          <p:cNvCxnSpPr/>
          <p:nvPr/>
        </p:nvCxnSpPr>
        <p:spPr>
          <a:xfrm>
            <a:off x="6757588" y="3694713"/>
            <a:ext cx="322662" cy="0"/>
          </a:xfrm>
          <a:prstGeom prst="line">
            <a:avLst/>
          </a:prstGeom>
          <a:ln>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6" name="米菲PPT19"/>
          <p:cNvSpPr txBox="1"/>
          <p:nvPr/>
        </p:nvSpPr>
        <p:spPr>
          <a:xfrm>
            <a:off x="7042220" y="3602617"/>
            <a:ext cx="1327611" cy="246221"/>
          </a:xfrm>
          <a:prstGeom prst="rect">
            <a:avLst/>
          </a:prstGeom>
          <a:noFill/>
        </p:spPr>
        <p:txBody>
          <a:bodyPr wrap="square" rtlCol="0">
            <a:spAutoFit/>
          </a:bodyPr>
          <a:lstStyle/>
          <a:p>
            <a:pPr defTabSz="342900"/>
            <a:r>
              <a:rPr lang="zh-CN" altLang="en-US" sz="500" dirty="0">
                <a:solidFill>
                  <a:schemeClr val="bg2">
                    <a:lumMod val="50000"/>
                  </a:schemeClr>
                </a:solidFill>
                <a:latin typeface="+mj-ea"/>
                <a:ea typeface="+mj-ea"/>
                <a:cs typeface="MiSans Medium" panose="00000600000000000000" pitchFamily="2" charset="-122"/>
              </a:rPr>
              <a:t>用评论挖掘聚合内容替换当前“回头客</a:t>
            </a:r>
            <a:r>
              <a:rPr lang="en-US" altLang="zh-CN" sz="500" dirty="0">
                <a:solidFill>
                  <a:schemeClr val="bg2">
                    <a:lumMod val="50000"/>
                  </a:schemeClr>
                </a:solidFill>
                <a:latin typeface="+mj-ea"/>
                <a:ea typeface="+mj-ea"/>
                <a:cs typeface="MiSans Medium" panose="00000600000000000000" pitchFamily="2" charset="-122"/>
              </a:rPr>
              <a:t>190+</a:t>
            </a:r>
            <a:r>
              <a:rPr lang="zh-CN" altLang="en-US" sz="500" dirty="0">
                <a:solidFill>
                  <a:schemeClr val="bg2">
                    <a:lumMod val="50000"/>
                  </a:schemeClr>
                </a:solidFill>
                <a:latin typeface="+mj-ea"/>
                <a:ea typeface="+mj-ea"/>
                <a:cs typeface="MiSans Medium" panose="00000600000000000000" pitchFamily="2" charset="-122"/>
              </a:rPr>
              <a:t>”，提升用户感知</a:t>
            </a:r>
          </a:p>
        </p:txBody>
      </p:sp>
      <p:sp>
        <p:nvSpPr>
          <p:cNvPr id="237" name="矩形 236"/>
          <p:cNvSpPr/>
          <p:nvPr/>
        </p:nvSpPr>
        <p:spPr>
          <a:xfrm>
            <a:off x="6473484" y="4058386"/>
            <a:ext cx="136866" cy="57737"/>
          </a:xfrm>
          <a:prstGeom prst="rect">
            <a:avLst/>
          </a:prstGeom>
          <a:noFill/>
          <a:ln w="6350">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8" name="米菲PPT63-2"/>
          <p:cNvCxnSpPr/>
          <p:nvPr/>
        </p:nvCxnSpPr>
        <p:spPr>
          <a:xfrm>
            <a:off x="6626346" y="4092162"/>
            <a:ext cx="322662" cy="0"/>
          </a:xfrm>
          <a:prstGeom prst="line">
            <a:avLst/>
          </a:prstGeom>
          <a:ln>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9" name="米菲PPT19"/>
          <p:cNvSpPr txBox="1"/>
          <p:nvPr/>
        </p:nvSpPr>
        <p:spPr>
          <a:xfrm>
            <a:off x="7045367" y="4005405"/>
            <a:ext cx="1327611" cy="246221"/>
          </a:xfrm>
          <a:prstGeom prst="rect">
            <a:avLst/>
          </a:prstGeom>
          <a:noFill/>
        </p:spPr>
        <p:txBody>
          <a:bodyPr wrap="square" rtlCol="0">
            <a:spAutoFit/>
          </a:bodyPr>
          <a:lstStyle/>
          <a:p>
            <a:pPr defTabSz="342900"/>
            <a:r>
              <a:rPr lang="zh-CN" altLang="en-US" sz="500" dirty="0">
                <a:solidFill>
                  <a:schemeClr val="bg2">
                    <a:lumMod val="50000"/>
                  </a:schemeClr>
                </a:solidFill>
                <a:latin typeface="+mj-ea"/>
                <a:ea typeface="+mj-ea"/>
                <a:cs typeface="MiSans Medium" panose="00000600000000000000" pitchFamily="2" charset="-122"/>
              </a:rPr>
              <a:t>评价按钮滚动，提升用户点击率；并干预有效评价的展示排序。</a:t>
            </a:r>
          </a:p>
        </p:txBody>
      </p:sp>
      <p:sp>
        <p:nvSpPr>
          <p:cNvPr id="240" name="文本框 239"/>
          <p:cNvSpPr txBox="1"/>
          <p:nvPr/>
        </p:nvSpPr>
        <p:spPr>
          <a:xfrm>
            <a:off x="5831362" y="1593396"/>
            <a:ext cx="354208" cy="246221"/>
          </a:xfrm>
          <a:prstGeom prst="rect">
            <a:avLst/>
          </a:prstGeom>
          <a:noFill/>
        </p:spPr>
        <p:txBody>
          <a:bodyPr wrap="square">
            <a:spAutoFit/>
          </a:bodyPr>
          <a:lstStyle/>
          <a:p>
            <a:r>
              <a:rPr lang="zh-CN" altLang="en-US" sz="1000" dirty="0">
                <a:solidFill>
                  <a:srgbClr val="000000">
                    <a:lumMod val="65000"/>
                    <a:lumOff val="35000"/>
                  </a:srgbClr>
                </a:solidFill>
                <a:latin typeface="+mj-ea"/>
                <a:ea typeface="+mj-ea"/>
              </a:rPr>
              <a:t>①</a:t>
            </a:r>
            <a:endParaRPr lang="zh-CN" altLang="en-US" sz="1000" dirty="0"/>
          </a:p>
        </p:txBody>
      </p:sp>
      <p:sp>
        <p:nvSpPr>
          <p:cNvPr id="241" name="文本框 240"/>
          <p:cNvSpPr txBox="1"/>
          <p:nvPr/>
        </p:nvSpPr>
        <p:spPr>
          <a:xfrm>
            <a:off x="5853078" y="3141161"/>
            <a:ext cx="354208" cy="246221"/>
          </a:xfrm>
          <a:prstGeom prst="rect">
            <a:avLst/>
          </a:prstGeom>
          <a:noFill/>
        </p:spPr>
        <p:txBody>
          <a:bodyPr wrap="square">
            <a:spAutoFit/>
          </a:bodyPr>
          <a:lstStyle/>
          <a:p>
            <a:r>
              <a:rPr lang="zh-CN" altLang="en-US" sz="1000" dirty="0">
                <a:solidFill>
                  <a:srgbClr val="000000">
                    <a:lumMod val="65000"/>
                    <a:lumOff val="35000"/>
                  </a:srgbClr>
                </a:solidFill>
                <a:latin typeface="+mj-ea"/>
                <a:ea typeface="+mj-ea"/>
              </a:rPr>
              <a:t>②</a:t>
            </a:r>
            <a:endParaRPr lang="zh-CN" altLang="en-US" sz="1000" dirty="0"/>
          </a:p>
        </p:txBody>
      </p:sp>
      <p:pic>
        <p:nvPicPr>
          <p:cNvPr id="4" name="图片 3" descr="文本&#10;&#10;AI 生成的内容可能不正确。"/>
          <p:cNvPicPr>
            <a:picLocks noChangeAspect="1"/>
          </p:cNvPicPr>
          <p:nvPr/>
        </p:nvPicPr>
        <p:blipFill>
          <a:blip r:embed="rId5"/>
          <a:stretch>
            <a:fillRect/>
          </a:stretch>
        </p:blipFill>
        <p:spPr>
          <a:xfrm>
            <a:off x="6115077" y="1962629"/>
            <a:ext cx="2173740" cy="1076162"/>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6" name="直接连接符 115"/>
          <p:cNvCxnSpPr>
            <a:stCxn id="2" idx="1"/>
            <a:endCxn id="29" idx="1"/>
          </p:cNvCxnSpPr>
          <p:nvPr/>
        </p:nvCxnSpPr>
        <p:spPr>
          <a:xfrm>
            <a:off x="943828" y="1441955"/>
            <a:ext cx="5119653" cy="47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2" name="Rounded Rectangle"/>
          <p:cNvSpPr/>
          <p:nvPr/>
        </p:nvSpPr>
        <p:spPr>
          <a:xfrm>
            <a:off x="3292146" y="1683777"/>
            <a:ext cx="1230758" cy="1804425"/>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cxnSp>
        <p:nvCxnSpPr>
          <p:cNvPr id="160" name="直接连接符 159"/>
          <p:cNvCxnSpPr/>
          <p:nvPr/>
        </p:nvCxnSpPr>
        <p:spPr>
          <a:xfrm>
            <a:off x="1943311" y="1814798"/>
            <a:ext cx="7784881" cy="0"/>
          </a:xfrm>
          <a:prstGeom prst="line">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cxnSp>
      <p:sp>
        <p:nvSpPr>
          <p:cNvPr id="2" name="矩形: 圆角 1"/>
          <p:cNvSpPr/>
          <p:nvPr/>
        </p:nvSpPr>
        <p:spPr>
          <a:xfrm>
            <a:off x="943828" y="1326069"/>
            <a:ext cx="1919956" cy="231771"/>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用户找店决策需求动线</a:t>
            </a:r>
          </a:p>
        </p:txBody>
      </p:sp>
      <p:sp>
        <p:nvSpPr>
          <p:cNvPr id="3" name="矩形: 圆角 2"/>
          <p:cNvSpPr/>
          <p:nvPr/>
        </p:nvSpPr>
        <p:spPr>
          <a:xfrm>
            <a:off x="3286857" y="1335569"/>
            <a:ext cx="2563370" cy="214850"/>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榜单</a:t>
            </a:r>
          </a:p>
        </p:txBody>
      </p:sp>
      <p:sp>
        <p:nvSpPr>
          <p:cNvPr id="29" name="矩形: 圆角 28"/>
          <p:cNvSpPr/>
          <p:nvPr/>
        </p:nvSpPr>
        <p:spPr>
          <a:xfrm>
            <a:off x="6063481" y="1335570"/>
            <a:ext cx="1919955" cy="222271"/>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楷体" panose="02010609060101010101" pitchFamily="49" charset="-122"/>
                <a:ea typeface="楷体" panose="02010609060101010101" pitchFamily="49" charset="-122"/>
                <a:cs typeface="MiSans Medium" panose="00000600000000000000" pitchFamily="2" charset="-122"/>
                <a:sym typeface="MiSans Bold" panose="00000800000000000000" pitchFamily="2" charset="-122"/>
              </a:rPr>
              <a:t>供给</a:t>
            </a:r>
          </a:p>
        </p:txBody>
      </p:sp>
      <p:sp>
        <p:nvSpPr>
          <p:cNvPr id="128" name="Rounded Rectangle"/>
          <p:cNvSpPr/>
          <p:nvPr/>
        </p:nvSpPr>
        <p:spPr>
          <a:xfrm>
            <a:off x="6063481" y="1613387"/>
            <a:ext cx="1919955" cy="1872802"/>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139" name="文本框 138"/>
          <p:cNvSpPr txBox="1"/>
          <p:nvPr/>
        </p:nvSpPr>
        <p:spPr>
          <a:xfrm>
            <a:off x="370390" y="182904"/>
            <a:ext cx="8509541" cy="383182"/>
          </a:xfrm>
          <a:prstGeom prst="rect">
            <a:avLst/>
          </a:prstGeom>
          <a:noFill/>
        </p:spPr>
        <p:txBody>
          <a:bodyPr wrap="square">
            <a:spAutoFit/>
          </a:bodyPr>
          <a:lstStyle/>
          <a:p>
            <a:pPr defTabSz="685800">
              <a:lnSpc>
                <a:spcPct val="90000"/>
              </a:lnSpc>
              <a:spcBef>
                <a:spcPts val="750"/>
              </a:spcBef>
              <a:buClr>
                <a:schemeClr val="accent1"/>
              </a:buClr>
            </a:pPr>
            <a:r>
              <a:rPr kumimoji="1" lang="zh-CN" altLang="en-US" sz="2100" dirty="0">
                <a:latin typeface="+mn-ea"/>
                <a:sym typeface="+mn-lt"/>
              </a:rPr>
              <a:t>榜单运营思路及关键举措</a:t>
            </a:r>
          </a:p>
        </p:txBody>
      </p:sp>
      <p:sp>
        <p:nvSpPr>
          <p:cNvPr id="148" name="Rounded Rectangle"/>
          <p:cNvSpPr/>
          <p:nvPr/>
        </p:nvSpPr>
        <p:spPr>
          <a:xfrm flipV="1">
            <a:off x="4601564" y="1681764"/>
            <a:ext cx="1199114" cy="1804425"/>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9" name="Rounded Rectangle"/>
          <p:cNvSpPr/>
          <p:nvPr/>
        </p:nvSpPr>
        <p:spPr>
          <a:xfrm>
            <a:off x="956125" y="1629857"/>
            <a:ext cx="1907659" cy="3239806"/>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13" name="矩形: 圆角 17"/>
          <p:cNvSpPr/>
          <p:nvPr/>
        </p:nvSpPr>
        <p:spPr>
          <a:xfrm>
            <a:off x="3336308" y="1868829"/>
            <a:ext cx="1168146" cy="240666"/>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约会聚会</a:t>
            </a:r>
            <a:endParaRPr lang="en-US" altLang="zh-CN" sz="900" b="1" dirty="0">
              <a:solidFill>
                <a:schemeClr val="tx1"/>
              </a:solidFill>
              <a:latin typeface="+mn-ea"/>
              <a:sym typeface="MiSans Bold" panose="00000800000000000000" pitchFamily="2" charset="-122"/>
            </a:endParaRPr>
          </a:p>
        </p:txBody>
      </p:sp>
      <p:sp>
        <p:nvSpPr>
          <p:cNvPr id="14" name="矩形: 圆角 18"/>
          <p:cNvSpPr/>
          <p:nvPr/>
        </p:nvSpPr>
        <p:spPr>
          <a:xfrm>
            <a:off x="3337228" y="2188890"/>
            <a:ext cx="1168146" cy="240666"/>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楷体" panose="02010609060101010101" pitchFamily="49" charset="-122"/>
                <a:ea typeface="楷体" panose="02010609060101010101" pitchFamily="49" charset="-122"/>
                <a:sym typeface="MiSans Bold" panose="00000800000000000000" pitchFamily="2" charset="-122"/>
              </a:rPr>
              <a:t>宴请</a:t>
            </a:r>
            <a:endParaRPr lang="en-US" altLang="zh-CN" sz="900" b="1" dirty="0">
              <a:solidFill>
                <a:schemeClr val="tx1"/>
              </a:solidFill>
              <a:latin typeface="楷体" panose="02010609060101010101" pitchFamily="49" charset="-122"/>
              <a:ea typeface="楷体" panose="02010609060101010101" pitchFamily="49" charset="-122"/>
              <a:sym typeface="MiSans Bold" panose="00000800000000000000" pitchFamily="2" charset="-122"/>
            </a:endParaRPr>
          </a:p>
        </p:txBody>
      </p:sp>
      <p:sp>
        <p:nvSpPr>
          <p:cNvPr id="5" name="矩形: 圆角 19"/>
          <p:cNvSpPr/>
          <p:nvPr/>
        </p:nvSpPr>
        <p:spPr>
          <a:xfrm>
            <a:off x="3336308" y="2829012"/>
            <a:ext cx="1168146" cy="240666"/>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亲子餐</a:t>
            </a:r>
            <a:endParaRPr lang="en-US" altLang="zh-CN" sz="900" b="1" dirty="0">
              <a:solidFill>
                <a:schemeClr val="tx1"/>
              </a:solidFill>
              <a:latin typeface="+mn-ea"/>
              <a:sym typeface="MiSans Bold" panose="00000800000000000000" pitchFamily="2" charset="-122"/>
            </a:endParaRPr>
          </a:p>
        </p:txBody>
      </p:sp>
      <p:sp>
        <p:nvSpPr>
          <p:cNvPr id="16" name="矩形: 圆角 20"/>
          <p:cNvSpPr/>
          <p:nvPr/>
        </p:nvSpPr>
        <p:spPr>
          <a:xfrm>
            <a:off x="3339162" y="3149074"/>
            <a:ext cx="1168146" cy="240666"/>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文化</a:t>
            </a:r>
            <a:r>
              <a:rPr lang="en-US" altLang="zh-CN" sz="900" b="1" dirty="0">
                <a:solidFill>
                  <a:schemeClr val="tx1"/>
                </a:solidFill>
                <a:latin typeface="+mn-ea"/>
                <a:sym typeface="MiSans Bold" panose="00000800000000000000" pitchFamily="2" charset="-122"/>
              </a:rPr>
              <a:t>/</a:t>
            </a:r>
            <a:r>
              <a:rPr lang="zh-CN" altLang="en-US" sz="900" b="1" dirty="0">
                <a:solidFill>
                  <a:schemeClr val="tx1"/>
                </a:solidFill>
                <a:latin typeface="+mn-ea"/>
                <a:sym typeface="MiSans Bold" panose="00000800000000000000" pitchFamily="2" charset="-122"/>
              </a:rPr>
              <a:t>尝鲜</a:t>
            </a:r>
            <a:r>
              <a:rPr lang="en-US" altLang="zh-CN" sz="900" b="1" dirty="0">
                <a:solidFill>
                  <a:schemeClr val="tx1"/>
                </a:solidFill>
                <a:latin typeface="+mn-ea"/>
                <a:sym typeface="MiSans Bold" panose="00000800000000000000" pitchFamily="2" charset="-122"/>
              </a:rPr>
              <a:t>/</a:t>
            </a:r>
            <a:r>
              <a:rPr lang="zh-CN" altLang="en-US" sz="900" b="1" dirty="0">
                <a:solidFill>
                  <a:schemeClr val="tx1"/>
                </a:solidFill>
                <a:latin typeface="+mn-ea"/>
                <a:sym typeface="MiSans Bold" panose="00000800000000000000" pitchFamily="2" charset="-122"/>
              </a:rPr>
              <a:t>异地</a:t>
            </a:r>
            <a:endParaRPr lang="en-US" altLang="zh-CN" sz="900" b="1" dirty="0">
              <a:solidFill>
                <a:schemeClr val="tx1"/>
              </a:solidFill>
              <a:latin typeface="+mn-ea"/>
              <a:sym typeface="MiSans Bold" panose="00000800000000000000" pitchFamily="2" charset="-122"/>
            </a:endParaRPr>
          </a:p>
        </p:txBody>
      </p:sp>
      <p:sp>
        <p:nvSpPr>
          <p:cNvPr id="17" name="矩形: 圆角 21"/>
          <p:cNvSpPr/>
          <p:nvPr/>
        </p:nvSpPr>
        <p:spPr>
          <a:xfrm>
            <a:off x="3337228" y="2508951"/>
            <a:ext cx="1168146" cy="240666"/>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楷体" panose="02010609060101010101" pitchFamily="49" charset="-122"/>
                <a:ea typeface="楷体" panose="02010609060101010101" pitchFamily="49" charset="-122"/>
                <a:sym typeface="MiSans Bold" panose="00000800000000000000" pitchFamily="2" charset="-122"/>
              </a:rPr>
              <a:t>漂亮饭等氛围餐厅</a:t>
            </a:r>
            <a:endParaRPr lang="en-US" altLang="zh-CN" sz="900" b="1" dirty="0">
              <a:solidFill>
                <a:schemeClr val="tx1"/>
              </a:solidFill>
              <a:latin typeface="楷体" panose="02010609060101010101" pitchFamily="49" charset="-122"/>
              <a:ea typeface="楷体" panose="02010609060101010101" pitchFamily="49" charset="-122"/>
              <a:sym typeface="MiSans Bold" panose="00000800000000000000" pitchFamily="2" charset="-122"/>
            </a:endParaRPr>
          </a:p>
        </p:txBody>
      </p:sp>
      <p:sp>
        <p:nvSpPr>
          <p:cNvPr id="20" name="矩形: 圆角 25"/>
          <p:cNvSpPr/>
          <p:nvPr/>
        </p:nvSpPr>
        <p:spPr>
          <a:xfrm>
            <a:off x="4727596" y="2184303"/>
            <a:ext cx="890402" cy="230847"/>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评分评价</a:t>
            </a:r>
          </a:p>
        </p:txBody>
      </p:sp>
      <p:sp>
        <p:nvSpPr>
          <p:cNvPr id="21" name="矩形: 圆角 27"/>
          <p:cNvSpPr/>
          <p:nvPr/>
        </p:nvSpPr>
        <p:spPr>
          <a:xfrm>
            <a:off x="4718937" y="1868829"/>
            <a:ext cx="890402" cy="230847"/>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900" b="1" dirty="0">
                <a:solidFill>
                  <a:schemeClr val="tx1"/>
                </a:solidFill>
                <a:latin typeface="+mn-ea"/>
                <a:sym typeface="MiSans Bold" panose="00000800000000000000" pitchFamily="2" charset="-122"/>
              </a:rPr>
              <a:t>GTV/</a:t>
            </a:r>
            <a:r>
              <a:rPr lang="zh-CN" altLang="en-US" sz="900" b="1" dirty="0">
                <a:solidFill>
                  <a:schemeClr val="tx1"/>
                </a:solidFill>
                <a:latin typeface="+mn-ea"/>
                <a:sym typeface="MiSans Bold" panose="00000800000000000000" pitchFamily="2" charset="-122"/>
              </a:rPr>
              <a:t>销量</a:t>
            </a:r>
          </a:p>
        </p:txBody>
      </p:sp>
      <p:sp>
        <p:nvSpPr>
          <p:cNvPr id="22" name="矩形: 圆角 42"/>
          <p:cNvSpPr/>
          <p:nvPr/>
        </p:nvSpPr>
        <p:spPr>
          <a:xfrm>
            <a:off x="4727595" y="2501457"/>
            <a:ext cx="890402" cy="240028"/>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流量</a:t>
            </a:r>
          </a:p>
        </p:txBody>
      </p:sp>
      <p:sp>
        <p:nvSpPr>
          <p:cNvPr id="23" name="矩形: 圆角 45"/>
          <p:cNvSpPr/>
          <p:nvPr/>
        </p:nvSpPr>
        <p:spPr>
          <a:xfrm>
            <a:off x="4732361" y="2825050"/>
            <a:ext cx="885636" cy="240028"/>
          </a:xfrm>
          <a:prstGeom prst="roundRect">
            <a:avLst/>
          </a:prstGeom>
          <a:solidFill>
            <a:schemeClr val="bg1">
              <a:lumMod val="95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楷体" panose="02010609060101010101" pitchFamily="49" charset="-122"/>
                <a:ea typeface="楷体" panose="02010609060101010101" pitchFamily="49" charset="-122"/>
                <a:sym typeface="MiSans Bold" panose="00000800000000000000" pitchFamily="2" charset="-122"/>
              </a:rPr>
              <a:t>收藏打卡</a:t>
            </a:r>
          </a:p>
        </p:txBody>
      </p:sp>
      <p:sp>
        <p:nvSpPr>
          <p:cNvPr id="24" name="文本框 23"/>
          <p:cNvSpPr txBox="1"/>
          <p:nvPr/>
        </p:nvSpPr>
        <p:spPr>
          <a:xfrm>
            <a:off x="3348859" y="1597191"/>
            <a:ext cx="1089660" cy="204959"/>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defPPr>
              <a:defRPr lang="zh-CN"/>
            </a:defPPr>
            <a:lvl1pPr algn="ctr">
              <a:defRPr kumimoji="1" sz="1200" b="1">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rPr>
              <a:t>场景驱动</a:t>
            </a:r>
            <a:r>
              <a:rPr lang="en-US" altLang="zh-CN" sz="900" dirty="0">
                <a:solidFill>
                  <a:schemeClr val="tx1"/>
                </a:solidFill>
              </a:rPr>
              <a:t>-</a:t>
            </a:r>
            <a:r>
              <a:rPr lang="zh-CN" altLang="en-US" sz="900" dirty="0">
                <a:solidFill>
                  <a:schemeClr val="tx1"/>
                </a:solidFill>
              </a:rPr>
              <a:t>场景榜</a:t>
            </a:r>
            <a:endParaRPr lang="en-US" altLang="zh-CN" sz="900" dirty="0">
              <a:solidFill>
                <a:schemeClr val="tx1"/>
              </a:solidFill>
            </a:endParaRPr>
          </a:p>
        </p:txBody>
      </p:sp>
      <p:sp>
        <p:nvSpPr>
          <p:cNvPr id="7" name="文本框 6"/>
          <p:cNvSpPr txBox="1"/>
          <p:nvPr/>
        </p:nvSpPr>
        <p:spPr>
          <a:xfrm>
            <a:off x="4673073" y="1593441"/>
            <a:ext cx="1060542" cy="216947"/>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defPPr>
              <a:defRPr lang="zh-CN"/>
            </a:defPPr>
            <a:lvl1pPr algn="ctr">
              <a:defRPr kumimoji="1" sz="1200" b="1">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rPr>
              <a:t>数据驱动</a:t>
            </a:r>
            <a:r>
              <a:rPr lang="en-US" altLang="zh-CN" sz="900" dirty="0">
                <a:solidFill>
                  <a:schemeClr val="tx1"/>
                </a:solidFill>
              </a:rPr>
              <a:t>-</a:t>
            </a:r>
            <a:r>
              <a:rPr lang="zh-CN" altLang="en-US" sz="900" dirty="0">
                <a:solidFill>
                  <a:schemeClr val="tx1"/>
                </a:solidFill>
              </a:rPr>
              <a:t>指数榜</a:t>
            </a:r>
            <a:endParaRPr lang="en-US" altLang="zh-CN" sz="900" dirty="0">
              <a:solidFill>
                <a:schemeClr val="tx1"/>
              </a:solidFill>
            </a:endParaRPr>
          </a:p>
        </p:txBody>
      </p:sp>
      <p:sp>
        <p:nvSpPr>
          <p:cNvPr id="10" name="文本框 130"/>
          <p:cNvSpPr txBox="1"/>
          <p:nvPr/>
        </p:nvSpPr>
        <p:spPr>
          <a:xfrm>
            <a:off x="6173185" y="1799342"/>
            <a:ext cx="1680508"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商家信息</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环境设施、服务、客单价等</a:t>
            </a:r>
            <a:endParaRPr lang="zh-CN" altLang="zh-CN" sz="900" dirty="0"/>
          </a:p>
        </p:txBody>
      </p:sp>
      <p:sp>
        <p:nvSpPr>
          <p:cNvPr id="11" name="文本框 131"/>
          <p:cNvSpPr txBox="1"/>
          <p:nvPr/>
        </p:nvSpPr>
        <p:spPr>
          <a:xfrm>
            <a:off x="6211427" y="3148958"/>
            <a:ext cx="1629089"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数据表现</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星评、销量等</a:t>
            </a:r>
            <a:endParaRPr lang="zh-CN" altLang="zh-CN" sz="900" dirty="0"/>
          </a:p>
        </p:txBody>
      </p:sp>
      <p:sp>
        <p:nvSpPr>
          <p:cNvPr id="19" name="文本框 136"/>
          <p:cNvSpPr txBox="1"/>
          <p:nvPr/>
        </p:nvSpPr>
        <p:spPr>
          <a:xfrm>
            <a:off x="6173184" y="2485578"/>
            <a:ext cx="1667332"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团购套餐</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餐型、搭配等</a:t>
            </a:r>
            <a:endParaRPr lang="zh-CN" altLang="zh-CN" sz="900" dirty="0"/>
          </a:p>
        </p:txBody>
      </p:sp>
      <p:sp>
        <p:nvSpPr>
          <p:cNvPr id="33" name="文本框 137"/>
          <p:cNvSpPr txBox="1"/>
          <p:nvPr/>
        </p:nvSpPr>
        <p:spPr>
          <a:xfrm>
            <a:off x="6204017" y="2821775"/>
            <a:ext cx="1629088"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交履服务</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预、排、点、付</a:t>
            </a:r>
            <a:endParaRPr lang="zh-CN" altLang="zh-CN" sz="900" dirty="0"/>
          </a:p>
        </p:txBody>
      </p:sp>
      <p:sp>
        <p:nvSpPr>
          <p:cNvPr id="34" name="文本框 130"/>
          <p:cNvSpPr txBox="1"/>
          <p:nvPr/>
        </p:nvSpPr>
        <p:spPr>
          <a:xfrm>
            <a:off x="6173184" y="2153649"/>
            <a:ext cx="1680509" cy="369332"/>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dirty="0">
                <a:latin typeface="楷体" panose="02010609060101010101" pitchFamily="49" charset="-122"/>
                <a:ea typeface="楷体" panose="02010609060101010101" pitchFamily="49" charset="-122"/>
              </a:rPr>
              <a:t>商家内容</a:t>
            </a:r>
            <a:endParaRPr lang="en-US" altLang="zh-CN" sz="900" dirty="0">
              <a:latin typeface="楷体" panose="02010609060101010101" pitchFamily="49" charset="-122"/>
              <a:ea typeface="楷体" panose="02010609060101010101" pitchFamily="49" charset="-122"/>
            </a:endParaRPr>
          </a:p>
          <a:p>
            <a:pPr algn="ctr"/>
            <a:r>
              <a:rPr lang="zh-CN" altLang="en-US" sz="900" dirty="0">
                <a:solidFill>
                  <a:srgbClr val="A6A6A6"/>
                </a:solidFill>
                <a:latin typeface="楷体" panose="02010609060101010101" pitchFamily="49" charset="-122"/>
                <a:ea typeface="楷体" panose="02010609060101010101" pitchFamily="49" charset="-122"/>
              </a:rPr>
              <a:t>装修、相册视频、优质评论等</a:t>
            </a:r>
            <a:endParaRPr lang="zh-CN" altLang="zh-CN" sz="900" dirty="0"/>
          </a:p>
        </p:txBody>
      </p:sp>
      <p:sp>
        <p:nvSpPr>
          <p:cNvPr id="35" name="文本框 34"/>
          <p:cNvSpPr txBox="1"/>
          <p:nvPr/>
        </p:nvSpPr>
        <p:spPr>
          <a:xfrm>
            <a:off x="6633928" y="1576762"/>
            <a:ext cx="779060" cy="207712"/>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defPPr>
              <a:defRPr lang="zh-CN"/>
            </a:defPPr>
            <a:lvl1pPr algn="ctr">
              <a:defRPr kumimoji="1" sz="1200" b="1">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rPr>
              <a:t>场景标签化</a:t>
            </a:r>
            <a:endParaRPr lang="en-US" altLang="zh-CN" sz="900" dirty="0">
              <a:solidFill>
                <a:schemeClr val="tx1"/>
              </a:solidFill>
            </a:endParaRPr>
          </a:p>
        </p:txBody>
      </p:sp>
      <p:sp>
        <p:nvSpPr>
          <p:cNvPr id="36" name="Rounded Rectangle"/>
          <p:cNvSpPr/>
          <p:nvPr/>
        </p:nvSpPr>
        <p:spPr>
          <a:xfrm flipV="1">
            <a:off x="6063481" y="3635811"/>
            <a:ext cx="1919955" cy="1225355"/>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38" name="文本框 37"/>
          <p:cNvSpPr txBox="1"/>
          <p:nvPr/>
        </p:nvSpPr>
        <p:spPr>
          <a:xfrm>
            <a:off x="6397250" y="3572525"/>
            <a:ext cx="1219200" cy="207712"/>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defPPr>
              <a:defRPr lang="zh-CN"/>
            </a:defPPr>
            <a:lvl1pPr algn="ctr">
              <a:defRPr kumimoji="1" sz="1200" b="1">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rPr>
              <a:t>完善</a:t>
            </a:r>
            <a:r>
              <a:rPr lang="zh-CN" altLang="en-US" sz="900" b="1" dirty="0">
                <a:solidFill>
                  <a:schemeClr val="tx1"/>
                </a:solidFill>
                <a:latin typeface="+mn-ea"/>
              </a:rPr>
              <a:t>区域</a:t>
            </a:r>
            <a:r>
              <a:rPr lang="en-US" altLang="zh-CN" sz="900" b="1" dirty="0">
                <a:solidFill>
                  <a:schemeClr val="tx1"/>
                </a:solidFill>
                <a:latin typeface="+mn-ea"/>
              </a:rPr>
              <a:t>x</a:t>
            </a:r>
            <a:r>
              <a:rPr lang="zh-CN" altLang="en-US" sz="900" b="1" dirty="0">
                <a:solidFill>
                  <a:schemeClr val="tx1"/>
                </a:solidFill>
                <a:latin typeface="+mn-ea"/>
              </a:rPr>
              <a:t>品类</a:t>
            </a:r>
            <a:r>
              <a:rPr lang="en-US" altLang="zh-CN" sz="900" b="1" dirty="0">
                <a:solidFill>
                  <a:schemeClr val="tx1"/>
                </a:solidFill>
                <a:latin typeface="+mn-ea"/>
              </a:rPr>
              <a:t>x</a:t>
            </a:r>
            <a:r>
              <a:rPr lang="zh-CN" altLang="en-US" sz="900" b="1" dirty="0">
                <a:solidFill>
                  <a:schemeClr val="tx1"/>
                </a:solidFill>
                <a:latin typeface="+mn-ea"/>
              </a:rPr>
              <a:t>维度</a:t>
            </a:r>
            <a:endParaRPr lang="en-US" altLang="zh-CN" sz="900" dirty="0">
              <a:solidFill>
                <a:schemeClr val="tx1"/>
              </a:solidFill>
            </a:endParaRPr>
          </a:p>
        </p:txBody>
      </p:sp>
      <p:sp>
        <p:nvSpPr>
          <p:cNvPr id="39" name="矩形: 圆角 25"/>
          <p:cNvSpPr/>
          <p:nvPr/>
        </p:nvSpPr>
        <p:spPr>
          <a:xfrm>
            <a:off x="6397250" y="4143531"/>
            <a:ext cx="1219200" cy="27639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丰富新热高需品类</a:t>
            </a:r>
          </a:p>
        </p:txBody>
      </p:sp>
      <p:sp>
        <p:nvSpPr>
          <p:cNvPr id="41" name="矩形: 圆角 27"/>
          <p:cNvSpPr/>
          <p:nvPr/>
        </p:nvSpPr>
        <p:spPr>
          <a:xfrm>
            <a:off x="6397250" y="3837724"/>
            <a:ext cx="1219200" cy="27639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a:solidFill>
                  <a:schemeClr val="tx1"/>
                </a:solidFill>
                <a:latin typeface="+mn-ea"/>
                <a:sym typeface="MiSans Bold" panose="00000800000000000000" pitchFamily="2" charset="-122"/>
              </a:rPr>
              <a:t>补充</a:t>
            </a:r>
            <a:r>
              <a:rPr lang="en-US" altLang="zh-CN" sz="900" b="1" dirty="0">
                <a:solidFill>
                  <a:schemeClr val="tx1"/>
                </a:solidFill>
                <a:latin typeface="+mn-ea"/>
                <a:sym typeface="MiSans Bold" panose="00000800000000000000" pitchFamily="2" charset="-122"/>
              </a:rPr>
              <a:t>AOI</a:t>
            </a:r>
            <a:endParaRPr lang="zh-CN" altLang="en-US" sz="900" b="1" dirty="0">
              <a:solidFill>
                <a:schemeClr val="tx1"/>
              </a:solidFill>
              <a:latin typeface="+mn-ea"/>
              <a:sym typeface="MiSans Bold" panose="00000800000000000000" pitchFamily="2" charset="-122"/>
            </a:endParaRPr>
          </a:p>
        </p:txBody>
      </p:sp>
      <p:sp>
        <p:nvSpPr>
          <p:cNvPr id="46" name="矩形: 圆角 25"/>
          <p:cNvSpPr/>
          <p:nvPr/>
        </p:nvSpPr>
        <p:spPr>
          <a:xfrm>
            <a:off x="6397250" y="4443148"/>
            <a:ext cx="1219200" cy="283243"/>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sz="900" b="1" dirty="0">
                <a:solidFill>
                  <a:schemeClr val="tx1"/>
                </a:solidFill>
                <a:latin typeface="+mn-ea"/>
                <a:sym typeface="MiSans Bold" panose="00000800000000000000" pitchFamily="2" charset="-122"/>
              </a:rPr>
              <a:t>优化数据维度</a:t>
            </a:r>
          </a:p>
        </p:txBody>
      </p:sp>
      <p:sp>
        <p:nvSpPr>
          <p:cNvPr id="48" name="矩形: 圆角 45"/>
          <p:cNvSpPr/>
          <p:nvPr/>
        </p:nvSpPr>
        <p:spPr>
          <a:xfrm>
            <a:off x="4718937" y="3141706"/>
            <a:ext cx="885636" cy="240028"/>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900" b="1" dirty="0">
                <a:solidFill>
                  <a:schemeClr val="tx1"/>
                </a:solidFill>
                <a:latin typeface="+mn-ea"/>
                <a:sym typeface="MiSans Bold" panose="00000800000000000000" pitchFamily="2" charset="-122"/>
              </a:rPr>
              <a:t>……</a:t>
            </a:r>
            <a:endParaRPr lang="zh-CN" altLang="en-US" sz="900" b="1" dirty="0">
              <a:solidFill>
                <a:schemeClr val="tx1"/>
              </a:solidFill>
              <a:latin typeface="+mn-ea"/>
              <a:sym typeface="MiSans Bold" panose="00000800000000000000" pitchFamily="2" charset="-122"/>
            </a:endParaRPr>
          </a:p>
        </p:txBody>
      </p:sp>
      <p:sp>
        <p:nvSpPr>
          <p:cNvPr id="49" name="矩形: 圆角 48"/>
          <p:cNvSpPr/>
          <p:nvPr/>
        </p:nvSpPr>
        <p:spPr>
          <a:xfrm>
            <a:off x="1384668" y="1816114"/>
            <a:ext cx="1135988" cy="342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搜索型动线</a:t>
            </a:r>
          </a:p>
        </p:txBody>
      </p:sp>
      <p:sp>
        <p:nvSpPr>
          <p:cNvPr id="55" name="矩形: 圆角 54"/>
          <p:cNvSpPr/>
          <p:nvPr/>
        </p:nvSpPr>
        <p:spPr>
          <a:xfrm>
            <a:off x="1384668" y="2603132"/>
            <a:ext cx="1135988" cy="342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筛选型动线</a:t>
            </a:r>
          </a:p>
        </p:txBody>
      </p:sp>
      <p:sp>
        <p:nvSpPr>
          <p:cNvPr id="56" name="矩形: 圆角 55"/>
          <p:cNvSpPr/>
          <p:nvPr/>
        </p:nvSpPr>
        <p:spPr>
          <a:xfrm>
            <a:off x="1384668" y="3390150"/>
            <a:ext cx="1135988" cy="342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发现型动线</a:t>
            </a:r>
          </a:p>
        </p:txBody>
      </p:sp>
      <p:sp>
        <p:nvSpPr>
          <p:cNvPr id="57" name="矩形: 圆角 56"/>
          <p:cNvSpPr/>
          <p:nvPr/>
        </p:nvSpPr>
        <p:spPr>
          <a:xfrm>
            <a:off x="1384668" y="4177168"/>
            <a:ext cx="1135988" cy="34200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触发型动线</a:t>
            </a:r>
          </a:p>
        </p:txBody>
      </p:sp>
      <p:sp>
        <p:nvSpPr>
          <p:cNvPr id="58" name="Rounded Rectangle"/>
          <p:cNvSpPr/>
          <p:nvPr/>
        </p:nvSpPr>
        <p:spPr>
          <a:xfrm>
            <a:off x="3269801" y="3635812"/>
            <a:ext cx="2530877" cy="1249426"/>
          </a:xfrm>
          <a:prstGeom prst="roundRect">
            <a:avLst>
              <a:gd name="adj" fmla="val 4117"/>
            </a:avLst>
          </a:prstGeom>
          <a:solidFill>
            <a:srgbClr val="FFFFFF"/>
          </a:solidFill>
          <a:ln w="6350">
            <a:solidFill>
              <a:schemeClr val="bg1">
                <a:lumMod val="65000"/>
              </a:schemeClr>
            </a:solidFill>
            <a:prstDash val="lgDashDot"/>
            <a:miter lim="400000"/>
          </a:ln>
        </p:spPr>
        <p:txBody>
          <a:bodyPr lIns="0" tIns="0" rIns="0" bIns="0" anchor="ctr"/>
          <a:lstStyle/>
          <a:p>
            <a:endParaRPr lang="en-US" sz="675" dirty="0">
              <a:latin typeface="楷体" panose="02010609060101010101" pitchFamily="49" charset="-122"/>
              <a:ea typeface="楷体" panose="02010609060101010101" pitchFamily="49" charset="-122"/>
            </a:endParaRPr>
          </a:p>
          <a:p>
            <a:endParaRPr lang="en-US" sz="675" dirty="0">
              <a:latin typeface="楷体" panose="02010609060101010101" pitchFamily="49" charset="-122"/>
              <a:ea typeface="楷体" panose="02010609060101010101" pitchFamily="49" charset="-122"/>
            </a:endParaRPr>
          </a:p>
        </p:txBody>
      </p:sp>
      <p:sp>
        <p:nvSpPr>
          <p:cNvPr id="59" name="矩形: 圆角 58"/>
          <p:cNvSpPr/>
          <p:nvPr/>
        </p:nvSpPr>
        <p:spPr>
          <a:xfrm>
            <a:off x="3341312" y="3859797"/>
            <a:ext cx="1165073" cy="34331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流量价值可感</a:t>
            </a:r>
          </a:p>
        </p:txBody>
      </p:sp>
      <p:sp>
        <p:nvSpPr>
          <p:cNvPr id="60" name="矩形: 圆角 59"/>
          <p:cNvSpPr/>
          <p:nvPr/>
        </p:nvSpPr>
        <p:spPr>
          <a:xfrm>
            <a:off x="4568542" y="3873426"/>
            <a:ext cx="1165073" cy="34331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流量空间可扩</a:t>
            </a:r>
          </a:p>
        </p:txBody>
      </p:sp>
      <p:sp>
        <p:nvSpPr>
          <p:cNvPr id="61" name="矩形: 圆角 60"/>
          <p:cNvSpPr/>
          <p:nvPr/>
        </p:nvSpPr>
        <p:spPr>
          <a:xfrm>
            <a:off x="3339381" y="4315003"/>
            <a:ext cx="1165073" cy="34331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流量结构可控</a:t>
            </a:r>
          </a:p>
        </p:txBody>
      </p:sp>
      <p:sp>
        <p:nvSpPr>
          <p:cNvPr id="62" name="矩形: 圆角 61"/>
          <p:cNvSpPr/>
          <p:nvPr/>
        </p:nvSpPr>
        <p:spPr>
          <a:xfrm>
            <a:off x="4568542" y="4315003"/>
            <a:ext cx="1165073" cy="343310"/>
          </a:xfrm>
          <a:prstGeom prst="roundRect">
            <a:avLst/>
          </a:prstGeom>
          <a:solidFill>
            <a:schemeClr val="accent2">
              <a:lumMod val="20000"/>
              <a:lumOff val="80000"/>
            </a:schemeClr>
          </a:solidFill>
          <a:ln>
            <a:solidFill>
              <a:schemeClr val="bg1">
                <a:lumMod val="6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mn-ea"/>
                <a:sym typeface="MiSans Bold" panose="00000800000000000000" pitchFamily="2" charset="-122"/>
              </a:rPr>
              <a:t>流量榜单可导</a:t>
            </a:r>
          </a:p>
        </p:txBody>
      </p:sp>
      <p:sp>
        <p:nvSpPr>
          <p:cNvPr id="63" name="文本框 62"/>
          <p:cNvSpPr txBox="1"/>
          <p:nvPr/>
        </p:nvSpPr>
        <p:spPr>
          <a:xfrm>
            <a:off x="3965807" y="3549711"/>
            <a:ext cx="1114194" cy="223310"/>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defPPr>
              <a:defRPr lang="zh-CN"/>
            </a:defPPr>
            <a:lvl1pPr algn="ctr">
              <a:defRPr kumimoji="1" sz="1200" b="1">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solidFill>
                  <a:schemeClr val="tx1"/>
                </a:solidFill>
              </a:rPr>
              <a:t>榜单动态运营能力</a:t>
            </a:r>
            <a:endParaRPr lang="en-US" altLang="zh-CN" sz="900" dirty="0">
              <a:solidFill>
                <a:schemeClr val="tx1"/>
              </a:solidFill>
            </a:endParaRPr>
          </a:p>
        </p:txBody>
      </p:sp>
      <p:sp>
        <p:nvSpPr>
          <p:cNvPr id="42" name="文本框 41"/>
          <p:cNvSpPr txBox="1"/>
          <p:nvPr/>
        </p:nvSpPr>
        <p:spPr>
          <a:xfrm>
            <a:off x="232978" y="592174"/>
            <a:ext cx="8752272" cy="600164"/>
          </a:xfrm>
          <a:prstGeom prst="rect">
            <a:avLst/>
          </a:prstGeom>
          <a:noFill/>
        </p:spPr>
        <p:txBody>
          <a:bodyPr wrap="square">
            <a:spAutoFit/>
          </a:bodyPr>
          <a:lstStyle/>
          <a:p>
            <a:pPr marL="171450" indent="-171450">
              <a:buFont typeface="Arial" panose="020B0604020202020204" pitchFamily="34" charset="0"/>
              <a:buChar char="•"/>
            </a:pPr>
            <a:r>
              <a:rPr lang="zh-CN" altLang="en-US" sz="1100" b="1" kern="1200" dirty="0">
                <a:solidFill>
                  <a:srgbClr val="000000"/>
                </a:solidFill>
                <a:effectLst/>
                <a:latin typeface="+mn-ea"/>
                <a:cs typeface="+mn-cs"/>
              </a:rPr>
              <a:t>目标：</a:t>
            </a:r>
            <a:r>
              <a:rPr lang="zh-CN" altLang="en-US" sz="1100" dirty="0"/>
              <a:t>完善榜单矩阵 ，扩供给覆盖，上榜门店覆盖率</a:t>
            </a:r>
            <a:r>
              <a:rPr lang="en-US" altLang="zh-CN" sz="1100" dirty="0"/>
              <a:t>17.1% </a:t>
            </a:r>
            <a:r>
              <a:rPr lang="zh-CN" altLang="en-US" sz="1100" dirty="0"/>
              <a:t>，其中核心商户上榜覆盖率</a:t>
            </a:r>
            <a:r>
              <a:rPr lang="en-US" altLang="zh-CN" sz="1100" dirty="0"/>
              <a:t>87.5% </a:t>
            </a:r>
            <a:r>
              <a:rPr lang="zh-CN" altLang="en-US" sz="1100" dirty="0"/>
              <a:t>；商家流量及身份荣誉感知，完善用户决策动线提升用户心智，榜单意向</a:t>
            </a:r>
            <a:r>
              <a:rPr lang="en-US" altLang="zh-CN" sz="1100" dirty="0"/>
              <a:t>UV</a:t>
            </a:r>
            <a:r>
              <a:rPr lang="zh-CN" altLang="en-US" sz="1100" dirty="0"/>
              <a:t>渗透达</a:t>
            </a:r>
            <a:r>
              <a:rPr lang="en-US" altLang="zh-CN" sz="1100" dirty="0"/>
              <a:t>5%</a:t>
            </a:r>
            <a:r>
              <a:rPr lang="zh-CN" altLang="en-US" sz="1100" dirty="0"/>
              <a:t>；优化榜单规则及资产建设，加强对核心资产引用，加强商户辅导，提升公信力刺激转化。</a:t>
            </a:r>
            <a:endParaRPr lang="en-US" altLang="zh-CN" sz="1100" b="1" dirty="0">
              <a:solidFill>
                <a:srgbClr val="000000"/>
              </a:solidFill>
              <a:latin typeface="+mn-ea"/>
            </a:endParaRPr>
          </a:p>
          <a:p>
            <a:pPr marL="171450" indent="-171450">
              <a:buFont typeface="Arial" panose="020B0604020202020204" pitchFamily="34" charset="0"/>
              <a:buChar char="•"/>
            </a:pPr>
            <a:r>
              <a:rPr lang="zh-CN" altLang="en-US" sz="1100" b="1" dirty="0">
                <a:solidFill>
                  <a:srgbClr val="000000"/>
                </a:solidFill>
                <a:latin typeface="+mn-ea"/>
              </a:rPr>
              <a:t>关键</a:t>
            </a:r>
            <a:r>
              <a:rPr lang="zh-CN" altLang="en-US" sz="1100" b="1" kern="1200" dirty="0">
                <a:solidFill>
                  <a:srgbClr val="000000"/>
                </a:solidFill>
                <a:effectLst/>
                <a:latin typeface="+mn-ea"/>
                <a:cs typeface="+mn-cs"/>
              </a:rPr>
              <a:t>举措：</a:t>
            </a:r>
            <a:r>
              <a:rPr lang="zh-CN" altLang="en-US" sz="1100" dirty="0">
                <a:effectLst/>
              </a:rPr>
              <a:t>①完善榜单矩阵；②提升榜单心智及流量；③优化榜单规则及引用资产建设</a:t>
            </a:r>
            <a:endParaRPr lang="en-US" altLang="zh-CN" sz="1100" dirty="0">
              <a:effectLst/>
            </a:endParaRPr>
          </a:p>
        </p:txBody>
      </p:sp>
      <p:sp>
        <p:nvSpPr>
          <p:cNvPr id="51" name="文本框 50"/>
          <p:cNvSpPr txBox="1"/>
          <p:nvPr/>
        </p:nvSpPr>
        <p:spPr>
          <a:xfrm>
            <a:off x="5620956" y="3307457"/>
            <a:ext cx="427426" cy="276999"/>
          </a:xfrm>
          <a:prstGeom prst="rect">
            <a:avLst/>
          </a:prstGeom>
          <a:noFill/>
        </p:spPr>
        <p:txBody>
          <a:bodyPr wrap="square">
            <a:spAutoFit/>
          </a:bodyPr>
          <a:lstStyle/>
          <a:p>
            <a:r>
              <a:rPr lang="zh-CN" altLang="en-US" sz="1200" dirty="0">
                <a:effectLst/>
              </a:rPr>
              <a:t>①</a:t>
            </a:r>
            <a:endParaRPr lang="zh-CN" altLang="en-US" sz="1200" dirty="0"/>
          </a:p>
        </p:txBody>
      </p:sp>
      <p:sp>
        <p:nvSpPr>
          <p:cNvPr id="53" name="文本框 52"/>
          <p:cNvSpPr txBox="1"/>
          <p:nvPr/>
        </p:nvSpPr>
        <p:spPr>
          <a:xfrm>
            <a:off x="2680352" y="4739461"/>
            <a:ext cx="314833" cy="276999"/>
          </a:xfrm>
          <a:prstGeom prst="rect">
            <a:avLst/>
          </a:prstGeom>
          <a:noFill/>
        </p:spPr>
        <p:txBody>
          <a:bodyPr wrap="square">
            <a:spAutoFit/>
          </a:bodyPr>
          <a:lstStyle/>
          <a:p>
            <a:r>
              <a:rPr lang="zh-CN" altLang="en-US" sz="1200" dirty="0">
                <a:effectLst/>
              </a:rPr>
              <a:t>②</a:t>
            </a:r>
            <a:endParaRPr lang="zh-CN" altLang="en-US" sz="1200" dirty="0"/>
          </a:p>
        </p:txBody>
      </p:sp>
      <p:sp>
        <p:nvSpPr>
          <p:cNvPr id="54" name="文本框 53"/>
          <p:cNvSpPr txBox="1"/>
          <p:nvPr/>
        </p:nvSpPr>
        <p:spPr>
          <a:xfrm>
            <a:off x="5593750" y="4706506"/>
            <a:ext cx="314833" cy="276999"/>
          </a:xfrm>
          <a:prstGeom prst="rect">
            <a:avLst/>
          </a:prstGeom>
          <a:noFill/>
        </p:spPr>
        <p:txBody>
          <a:bodyPr wrap="square">
            <a:spAutoFit/>
          </a:bodyPr>
          <a:lstStyle/>
          <a:p>
            <a:r>
              <a:rPr lang="zh-CN" altLang="en-US" sz="1200" dirty="0">
                <a:effectLst/>
              </a:rPr>
              <a:t>②</a:t>
            </a:r>
            <a:endParaRPr lang="zh-CN" altLang="en-US" sz="1200" dirty="0"/>
          </a:p>
        </p:txBody>
      </p:sp>
      <p:sp>
        <p:nvSpPr>
          <p:cNvPr id="66" name="文本框 65"/>
          <p:cNvSpPr txBox="1"/>
          <p:nvPr/>
        </p:nvSpPr>
        <p:spPr>
          <a:xfrm>
            <a:off x="7792370" y="3316525"/>
            <a:ext cx="426102" cy="276999"/>
          </a:xfrm>
          <a:prstGeom prst="rect">
            <a:avLst/>
          </a:prstGeom>
          <a:noFill/>
        </p:spPr>
        <p:txBody>
          <a:bodyPr wrap="square">
            <a:spAutoFit/>
          </a:bodyPr>
          <a:lstStyle/>
          <a:p>
            <a:r>
              <a:rPr lang="zh-CN" altLang="en-US" sz="1200" dirty="0">
                <a:effectLst/>
              </a:rPr>
              <a:t>③</a:t>
            </a:r>
            <a:endParaRPr lang="zh-CN" altLang="en-US" sz="1200" dirty="0"/>
          </a:p>
        </p:txBody>
      </p:sp>
      <p:sp>
        <p:nvSpPr>
          <p:cNvPr id="67" name="文本框 66"/>
          <p:cNvSpPr txBox="1"/>
          <p:nvPr/>
        </p:nvSpPr>
        <p:spPr>
          <a:xfrm>
            <a:off x="7806430" y="4701688"/>
            <a:ext cx="426102" cy="276999"/>
          </a:xfrm>
          <a:prstGeom prst="rect">
            <a:avLst/>
          </a:prstGeom>
          <a:noFill/>
        </p:spPr>
        <p:txBody>
          <a:bodyPr wrap="square">
            <a:spAutoFit/>
          </a:bodyPr>
          <a:lstStyle/>
          <a:p>
            <a:r>
              <a:rPr lang="zh-CN" altLang="en-US" sz="1200" dirty="0">
                <a:effectLst/>
              </a:rPr>
              <a:t>③</a:t>
            </a:r>
            <a:endParaRPr lang="zh-CN" altLang="en-US" sz="1200"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000" y="90785"/>
            <a:ext cx="7664380" cy="427313"/>
          </a:xfrm>
        </p:spPr>
        <p:txBody>
          <a:bodyPr/>
          <a:lstStyle/>
          <a:p>
            <a:r>
              <a:rPr lang="zh-CN" altLang="en-US" dirty="0"/>
              <a:t>协同</a:t>
            </a:r>
            <a:endParaRPr kumimoji="1" lang="zh-CN" altLang="en-US" dirty="0"/>
          </a:p>
        </p:txBody>
      </p:sp>
      <p:sp>
        <p:nvSpPr>
          <p:cNvPr id="3" name="圆角矩形 2"/>
          <p:cNvSpPr/>
          <p:nvPr/>
        </p:nvSpPr>
        <p:spPr>
          <a:xfrm>
            <a:off x="380664" y="4225173"/>
            <a:ext cx="8204536" cy="427313"/>
          </a:xfrm>
          <a:prstGeom prst="round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200" b="1" dirty="0">
                <a:solidFill>
                  <a:schemeClr val="tx1"/>
                </a:solidFill>
                <a:latin typeface="+mn-ea"/>
              </a:rPr>
              <a:t>榜单目标</a:t>
            </a:r>
          </a:p>
        </p:txBody>
      </p:sp>
      <p:grpSp>
        <p:nvGrpSpPr>
          <p:cNvPr id="9" name="组合 8"/>
          <p:cNvGrpSpPr/>
          <p:nvPr/>
        </p:nvGrpSpPr>
        <p:grpSpPr>
          <a:xfrm>
            <a:off x="1604435" y="319679"/>
            <a:ext cx="1599307" cy="1761776"/>
            <a:chOff x="1797603" y="1887086"/>
            <a:chExt cx="1230099" cy="1355061"/>
          </a:xfrm>
        </p:grpSpPr>
        <p:sp>
          <p:nvSpPr>
            <p:cNvPr id="44" name="米菲PPT52"/>
            <p:cNvSpPr/>
            <p:nvPr/>
          </p:nvSpPr>
          <p:spPr>
            <a:xfrm rot="5400000" flipV="1">
              <a:off x="1831322" y="2004388"/>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45" name="米菲PPT53"/>
            <p:cNvSpPr/>
            <p:nvPr/>
          </p:nvSpPr>
          <p:spPr>
            <a:xfrm>
              <a:off x="1867792" y="2079487"/>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榜单功能开发：</a:t>
              </a:r>
              <a:r>
                <a:rPr lang="zh-CN" altLang="en-US" sz="900" dirty="0">
                  <a:solidFill>
                    <a:schemeClr val="tx1">
                      <a:lumMod val="65000"/>
                      <a:lumOff val="35000"/>
                    </a:schemeClr>
                  </a:solidFill>
                  <a:ea typeface="MiSans Medium" panose="00000600000000000000" pitchFamily="2" charset="-122"/>
                </a:rPr>
                <a:t>榜单运营能力；</a:t>
              </a:r>
              <a:r>
                <a:rPr lang="en-US" altLang="zh-CN" sz="900" dirty="0">
                  <a:solidFill>
                    <a:schemeClr val="tx1">
                      <a:lumMod val="65000"/>
                      <a:lumOff val="35000"/>
                    </a:schemeClr>
                  </a:solidFill>
                  <a:ea typeface="MiSans Medium" panose="00000600000000000000" pitchFamily="2" charset="-122"/>
                </a:rPr>
                <a:t>Aoi/</a:t>
              </a:r>
              <a:r>
                <a:rPr lang="zh-CN" altLang="en-US" sz="900" dirty="0">
                  <a:solidFill>
                    <a:schemeClr val="tx1">
                      <a:lumMod val="65000"/>
                      <a:lumOff val="35000"/>
                    </a:schemeClr>
                  </a:solidFill>
                  <a:ea typeface="MiSans Medium" panose="00000600000000000000" pitchFamily="2" charset="-122"/>
                </a:rPr>
                <a:t>品类补充；规则调整</a:t>
              </a:r>
              <a:endParaRPr lang="en-US" altLang="zh-CN" sz="900" dirty="0">
                <a:solidFill>
                  <a:schemeClr val="tx1">
                    <a:lumMod val="65000"/>
                    <a:lumOff val="35000"/>
                  </a:schemeClr>
                </a:solidFill>
                <a:ea typeface="MiSans Medium" panose="00000600000000000000" pitchFamily="2" charset="-122"/>
                <a:sym typeface="MiSans Medium" panose="00000600000000000000" pitchFamily="2" charset="-122"/>
              </a:endParaRPr>
            </a:p>
            <a:p>
              <a:pPr>
                <a:lnSpc>
                  <a:spcPct val="110000"/>
                </a:lnSpc>
                <a:spcBef>
                  <a:spcPts val="1200"/>
                </a:spcBef>
              </a:pPr>
              <a:r>
                <a:rPr lang="zh-CN" altLang="en-US" sz="900" b="1" dirty="0">
                  <a:solidFill>
                    <a:schemeClr val="tx1"/>
                  </a:solidFill>
                  <a:ea typeface="MiSans Medium" panose="00000600000000000000" pitchFamily="2" charset="-122"/>
                  <a:sym typeface="MiSans Medium" panose="00000600000000000000" pitchFamily="2" charset="-122"/>
                </a:rPr>
                <a:t>用户路径心智建设</a:t>
              </a: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a:t>
              </a:r>
              <a:r>
                <a:rPr lang="zh-CN" altLang="en-US" sz="900" dirty="0">
                  <a:solidFill>
                    <a:schemeClr val="tx1">
                      <a:lumMod val="65000"/>
                      <a:lumOff val="35000"/>
                    </a:schemeClr>
                  </a:solidFill>
                  <a:ea typeface="MiSans Medium" panose="00000600000000000000" pitchFamily="2" charset="-122"/>
                  <a:sym typeface="MiSans Medium" panose="00000600000000000000" pitchFamily="2" charset="-122"/>
                </a:rPr>
                <a:t>包括搜索、美食频道、榜单落地页等核心路径的心智建设</a:t>
              </a:r>
            </a:p>
          </p:txBody>
        </p:sp>
        <p:sp>
          <p:nvSpPr>
            <p:cNvPr id="46" name="米菲PPT62"/>
            <p:cNvSpPr/>
            <p:nvPr/>
          </p:nvSpPr>
          <p:spPr>
            <a:xfrm flipV="1">
              <a:off x="1948670" y="1887086"/>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47" name="米菲PPT63"/>
            <p:cNvSpPr/>
            <p:nvPr/>
          </p:nvSpPr>
          <p:spPr>
            <a:xfrm>
              <a:off x="1948670" y="1887086"/>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effectLst/>
                  <a:latin typeface="+mn-ea"/>
                  <a:cs typeface="MiSans Medium" panose="00000600000000000000" pitchFamily="2" charset="-122"/>
                </a:rPr>
                <a:t>到餐产研</a:t>
              </a:r>
            </a:p>
          </p:txBody>
        </p:sp>
      </p:grpSp>
      <p:grpSp>
        <p:nvGrpSpPr>
          <p:cNvPr id="8" name="组合 7"/>
          <p:cNvGrpSpPr/>
          <p:nvPr/>
        </p:nvGrpSpPr>
        <p:grpSpPr>
          <a:xfrm>
            <a:off x="3658565" y="309158"/>
            <a:ext cx="1599307" cy="1761776"/>
            <a:chOff x="402250" y="1887086"/>
            <a:chExt cx="1230099" cy="1355061"/>
          </a:xfrm>
        </p:grpSpPr>
        <p:sp>
          <p:nvSpPr>
            <p:cNvPr id="49" name="米菲PPT52"/>
            <p:cNvSpPr/>
            <p:nvPr/>
          </p:nvSpPr>
          <p:spPr>
            <a:xfrm rot="5400000" flipV="1">
              <a:off x="435969" y="2004388"/>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0" name="米菲PPT53"/>
            <p:cNvSpPr/>
            <p:nvPr/>
          </p:nvSpPr>
          <p:spPr>
            <a:xfrm>
              <a:off x="472439" y="2079487"/>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榜单渗透率：</a:t>
              </a:r>
              <a:r>
                <a:rPr lang="en-US" altLang="zh-CN"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①</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用户核心路径中的榜单心智建设；</a:t>
              </a:r>
              <a:r>
                <a:rPr lang="en-US" altLang="zh-CN"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②</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营销场景下榜单心智建设；</a:t>
              </a:r>
              <a:r>
                <a:rPr lang="en-US" altLang="zh-CN"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③</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站外渠道榜单心智</a:t>
              </a:r>
            </a:p>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用户满意度调研：</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周期性调研榜单用户满意度</a:t>
              </a:r>
              <a:r>
                <a:rPr lang="en-US" altLang="zh-CN"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NPS</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，提供用户维度的需求满足度的输入</a:t>
              </a:r>
            </a:p>
          </p:txBody>
        </p:sp>
        <p:sp>
          <p:nvSpPr>
            <p:cNvPr id="51" name="米菲PPT62"/>
            <p:cNvSpPr/>
            <p:nvPr/>
          </p:nvSpPr>
          <p:spPr>
            <a:xfrm flipV="1">
              <a:off x="553317" y="1887086"/>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52" name="米菲PPT63"/>
            <p:cNvSpPr/>
            <p:nvPr/>
          </p:nvSpPr>
          <p:spPr>
            <a:xfrm>
              <a:off x="553317" y="1887086"/>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mn-ea"/>
                  <a:cs typeface="MiSans Medium" panose="00000600000000000000" pitchFamily="2" charset="-122"/>
                </a:rPr>
                <a:t>用户增长</a:t>
              </a:r>
              <a:endParaRPr lang="zh-CN" altLang="en-US" sz="1100" b="1" dirty="0">
                <a:solidFill>
                  <a:schemeClr val="bg1"/>
                </a:solidFill>
                <a:effectLst/>
                <a:latin typeface="+mn-ea"/>
                <a:cs typeface="MiSans Medium" panose="00000600000000000000" pitchFamily="2" charset="-122"/>
              </a:endParaRPr>
            </a:p>
          </p:txBody>
        </p:sp>
      </p:grpSp>
      <p:grpSp>
        <p:nvGrpSpPr>
          <p:cNvPr id="12" name="组合 11"/>
          <p:cNvGrpSpPr/>
          <p:nvPr/>
        </p:nvGrpSpPr>
        <p:grpSpPr>
          <a:xfrm>
            <a:off x="3653210" y="2213484"/>
            <a:ext cx="1599307" cy="1761776"/>
            <a:chOff x="3178768" y="1887086"/>
            <a:chExt cx="1230099" cy="1355061"/>
          </a:xfrm>
        </p:grpSpPr>
        <p:sp>
          <p:nvSpPr>
            <p:cNvPr id="57" name="米菲PPT52"/>
            <p:cNvSpPr/>
            <p:nvPr/>
          </p:nvSpPr>
          <p:spPr>
            <a:xfrm rot="5400000" flipV="1">
              <a:off x="3212487" y="2004388"/>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8" name="米菲PPT53"/>
            <p:cNvSpPr/>
            <p:nvPr/>
          </p:nvSpPr>
          <p:spPr>
            <a:xfrm>
              <a:off x="3248957" y="2079487"/>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平台用户核心路径的心智建设：</a:t>
              </a:r>
              <a:r>
                <a:rPr lang="zh-CN" altLang="en-US" sz="900" dirty="0">
                  <a:solidFill>
                    <a:schemeClr val="tx1">
                      <a:lumMod val="65000"/>
                      <a:lumOff val="35000"/>
                    </a:schemeClr>
                  </a:solidFill>
                  <a:ea typeface="MiSans Medium" panose="00000600000000000000" pitchFamily="2" charset="-122"/>
                  <a:sym typeface="MiSans Medium" panose="00000600000000000000" pitchFamily="2" charset="-122"/>
                </a:rPr>
                <a:t>大搜、猜喜、业务</a:t>
              </a:r>
              <a:r>
                <a:rPr lang="en-US" altLang="zh-CN" sz="900" dirty="0">
                  <a:solidFill>
                    <a:schemeClr val="tx1">
                      <a:lumMod val="65000"/>
                      <a:lumOff val="35000"/>
                    </a:schemeClr>
                  </a:solidFill>
                  <a:ea typeface="MiSans Medium" panose="00000600000000000000" pitchFamily="2" charset="-122"/>
                  <a:sym typeface="MiSans Medium" panose="00000600000000000000" pitchFamily="2" charset="-122"/>
                </a:rPr>
                <a:t>cross</a:t>
              </a:r>
            </a:p>
            <a:p>
              <a:pPr>
                <a:lnSpc>
                  <a:spcPct val="110000"/>
                </a:lnSpc>
                <a:spcBef>
                  <a:spcPts val="1200"/>
                </a:spcBef>
              </a:pPr>
              <a:r>
                <a:rPr lang="en-US" altLang="zh-CN" sz="900" b="1" dirty="0">
                  <a:solidFill>
                    <a:schemeClr val="tx1"/>
                  </a:solidFill>
                  <a:ea typeface="MiSans Medium" panose="00000600000000000000" pitchFamily="2" charset="-122"/>
                  <a:sym typeface="MiSans Medium" panose="00000600000000000000" pitchFamily="2" charset="-122"/>
                </a:rPr>
                <a:t>AI</a:t>
              </a:r>
              <a:r>
                <a:rPr lang="zh-CN" altLang="en-US" sz="900" b="1" dirty="0">
                  <a:solidFill>
                    <a:schemeClr val="tx1"/>
                  </a:solidFill>
                  <a:ea typeface="MiSans Medium" panose="00000600000000000000" pitchFamily="2" charset="-122"/>
                  <a:sym typeface="MiSans Medium" panose="00000600000000000000" pitchFamily="2" charset="-122"/>
                </a:rPr>
                <a:t>挖掘：</a:t>
              </a:r>
              <a:r>
                <a:rPr lang="zh-CN" altLang="en-US" sz="900" dirty="0">
                  <a:solidFill>
                    <a:schemeClr val="tx1">
                      <a:lumMod val="65000"/>
                      <a:lumOff val="35000"/>
                    </a:schemeClr>
                  </a:solidFill>
                  <a:ea typeface="MiSans Medium" panose="00000600000000000000" pitchFamily="2" charset="-122"/>
                  <a:sym typeface="MiSans Medium" panose="00000600000000000000" pitchFamily="2" charset="-122"/>
                </a:rPr>
                <a:t>大主题场景、标签挖掘</a:t>
              </a:r>
              <a:endParaRPr lang="zh-CN" altLang="en-US" sz="900" b="1" dirty="0">
                <a:solidFill>
                  <a:schemeClr val="tx1">
                    <a:lumMod val="65000"/>
                    <a:lumOff val="35000"/>
                  </a:schemeClr>
                </a:solidFill>
                <a:ea typeface="MiSans Medium" panose="00000600000000000000" pitchFamily="2" charset="-122"/>
                <a:sym typeface="MiSans Medium" panose="00000600000000000000" pitchFamily="2" charset="-122"/>
              </a:endParaRPr>
            </a:p>
          </p:txBody>
        </p:sp>
        <p:sp>
          <p:nvSpPr>
            <p:cNvPr id="59" name="米菲PPT62"/>
            <p:cNvSpPr/>
            <p:nvPr/>
          </p:nvSpPr>
          <p:spPr>
            <a:xfrm flipV="1">
              <a:off x="3329835" y="1887086"/>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60" name="米菲PPT63"/>
            <p:cNvSpPr/>
            <p:nvPr/>
          </p:nvSpPr>
          <p:spPr>
            <a:xfrm>
              <a:off x="3329835" y="1887086"/>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mn-ea"/>
                  <a:cs typeface="MiSans Medium" panose="00000600000000000000" pitchFamily="2" charset="-122"/>
                </a:rPr>
                <a:t>平台</a:t>
              </a:r>
              <a:r>
                <a:rPr lang="zh-CN" altLang="en-US" sz="1100" b="1" dirty="0">
                  <a:solidFill>
                    <a:schemeClr val="bg1"/>
                  </a:solidFill>
                  <a:effectLst/>
                  <a:latin typeface="+mn-ea"/>
                  <a:cs typeface="MiSans Medium" panose="00000600000000000000" pitchFamily="2" charset="-122"/>
                </a:rPr>
                <a:t>产研</a:t>
              </a:r>
            </a:p>
          </p:txBody>
        </p:sp>
      </p:grpSp>
      <p:grpSp>
        <p:nvGrpSpPr>
          <p:cNvPr id="13" name="组合 12"/>
          <p:cNvGrpSpPr/>
          <p:nvPr/>
        </p:nvGrpSpPr>
        <p:grpSpPr>
          <a:xfrm>
            <a:off x="5715134" y="319679"/>
            <a:ext cx="1599308" cy="1761776"/>
            <a:chOff x="4654998" y="1887086"/>
            <a:chExt cx="1230099" cy="1355061"/>
          </a:xfrm>
        </p:grpSpPr>
        <p:sp>
          <p:nvSpPr>
            <p:cNvPr id="32" name="米菲PPT52"/>
            <p:cNvSpPr/>
            <p:nvPr/>
          </p:nvSpPr>
          <p:spPr>
            <a:xfrm rot="5400000" flipV="1">
              <a:off x="4688717" y="2004388"/>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3" name="米菲PPT53"/>
            <p:cNvSpPr/>
            <p:nvPr/>
          </p:nvSpPr>
          <p:spPr>
            <a:xfrm>
              <a:off x="4725187" y="2079487"/>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榜单规则的理解和透传：</a:t>
              </a:r>
              <a:r>
                <a:rPr lang="zh-CN" altLang="en-US" sz="900" dirty="0">
                  <a:solidFill>
                    <a:schemeClr val="tx1">
                      <a:lumMod val="65000"/>
                      <a:lumOff val="35000"/>
                    </a:schemeClr>
                  </a:solidFill>
                  <a:ea typeface="MiSans Medium" panose="00000600000000000000" pitchFamily="2" charset="-122"/>
                  <a:sym typeface="MiSans Medium" panose="00000600000000000000" pitchFamily="2" charset="-122"/>
                </a:rPr>
                <a:t>规则传达，榜单教育</a:t>
              </a:r>
              <a:endParaRPr lang="en-US" altLang="zh-CN" sz="900" dirty="0">
                <a:solidFill>
                  <a:schemeClr val="tx1">
                    <a:lumMod val="65000"/>
                    <a:lumOff val="35000"/>
                  </a:schemeClr>
                </a:solidFill>
                <a:ea typeface="MiSans Medium" panose="00000600000000000000" pitchFamily="2" charset="-122"/>
                <a:sym typeface="MiSans Medium" panose="00000600000000000000" pitchFamily="2" charset="-122"/>
              </a:endParaRPr>
            </a:p>
            <a:p>
              <a:pPr>
                <a:lnSpc>
                  <a:spcPct val="110000"/>
                </a:lnSpc>
                <a:spcBef>
                  <a:spcPts val="1200"/>
                </a:spcBef>
              </a:pPr>
              <a:r>
                <a:rPr lang="zh-CN" altLang="en-US" sz="900" b="1" dirty="0">
                  <a:solidFill>
                    <a:schemeClr val="tx1"/>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牵引商户上榜：</a:t>
              </a:r>
              <a:r>
                <a:rPr lang="zh-CN" altLang="en-US"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rPr>
                <a:t>根据榜单规则（流量、交易、履约等）牵引商户冲榜</a:t>
              </a:r>
              <a:endParaRPr lang="en-US" altLang="zh-CN" sz="900" dirty="0">
                <a:solidFill>
                  <a:schemeClr val="tx1">
                    <a:lumMod val="65000"/>
                    <a:lumOff val="35000"/>
                  </a:schemeClr>
                </a:solidFill>
                <a:latin typeface="MiSans Medium" panose="00000600000000000000" pitchFamily="2" charset="-122"/>
                <a:ea typeface="MiSans Medium" panose="00000600000000000000" pitchFamily="2" charset="-122"/>
                <a:cs typeface="MiSans Medium" panose="00000600000000000000" pitchFamily="2" charset="-122"/>
                <a:sym typeface="MiSans Medium" panose="00000600000000000000" pitchFamily="2" charset="-122"/>
              </a:endParaRPr>
            </a:p>
          </p:txBody>
        </p:sp>
        <p:sp>
          <p:nvSpPr>
            <p:cNvPr id="34" name="米菲PPT62"/>
            <p:cNvSpPr/>
            <p:nvPr/>
          </p:nvSpPr>
          <p:spPr>
            <a:xfrm flipV="1">
              <a:off x="4806066" y="1887086"/>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35" name="米菲PPT63"/>
            <p:cNvSpPr/>
            <p:nvPr/>
          </p:nvSpPr>
          <p:spPr>
            <a:xfrm>
              <a:off x="4806066" y="1887086"/>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mn-ea"/>
                  <a:cs typeface="MiSans Medium" panose="00000600000000000000" pitchFamily="2" charset="-122"/>
                </a:rPr>
                <a:t>销售销运</a:t>
              </a:r>
              <a:endParaRPr lang="zh-CN" altLang="en-US" sz="1100" b="1" dirty="0">
                <a:solidFill>
                  <a:schemeClr val="bg1"/>
                </a:solidFill>
                <a:effectLst/>
                <a:latin typeface="+mn-ea"/>
                <a:cs typeface="MiSans Medium" panose="00000600000000000000" pitchFamily="2" charset="-122"/>
              </a:endParaRPr>
            </a:p>
          </p:txBody>
        </p:sp>
      </p:grpSp>
      <p:grpSp>
        <p:nvGrpSpPr>
          <p:cNvPr id="14" name="组合 13"/>
          <p:cNvGrpSpPr/>
          <p:nvPr/>
        </p:nvGrpSpPr>
        <p:grpSpPr>
          <a:xfrm>
            <a:off x="5715133" y="2213484"/>
            <a:ext cx="1599309" cy="1761776"/>
            <a:chOff x="6234700" y="1861853"/>
            <a:chExt cx="1230100" cy="1355061"/>
          </a:xfrm>
        </p:grpSpPr>
        <p:sp>
          <p:nvSpPr>
            <p:cNvPr id="40" name="米菲PPT52"/>
            <p:cNvSpPr/>
            <p:nvPr/>
          </p:nvSpPr>
          <p:spPr>
            <a:xfrm rot="5400000" flipV="1">
              <a:off x="6268419" y="1979155"/>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41" name="米菲PPT53"/>
            <p:cNvSpPr/>
            <p:nvPr/>
          </p:nvSpPr>
          <p:spPr>
            <a:xfrm>
              <a:off x="6304890" y="2054254"/>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榜单共建：</a:t>
              </a:r>
              <a:r>
                <a:rPr lang="zh-CN" altLang="en-US" sz="900" dirty="0">
                  <a:solidFill>
                    <a:schemeClr val="tx1">
                      <a:lumMod val="65000"/>
                      <a:lumOff val="35000"/>
                    </a:schemeClr>
                  </a:solidFill>
                  <a:ea typeface="MiSans Medium" panose="00000600000000000000" pitchFamily="2" charset="-122"/>
                </a:rPr>
                <a:t>基于差异化互补的流量</a:t>
              </a:r>
              <a:r>
                <a:rPr lang="zh-CN" altLang="en-US" sz="900" b="1" dirty="0">
                  <a:solidFill>
                    <a:schemeClr val="tx1">
                      <a:lumMod val="65000"/>
                      <a:lumOff val="35000"/>
                    </a:schemeClr>
                  </a:solidFill>
                  <a:ea typeface="MiSans Medium" panose="00000600000000000000" pitchFamily="2" charset="-122"/>
                </a:rPr>
                <a:t>结构及定位，</a:t>
              </a:r>
              <a:r>
                <a:rPr lang="zh-CN" altLang="en-US" sz="900" dirty="0">
                  <a:solidFill>
                    <a:schemeClr val="tx1">
                      <a:lumMod val="65000"/>
                      <a:lumOff val="35000"/>
                    </a:schemeClr>
                  </a:solidFill>
                  <a:ea typeface="MiSans Medium" panose="00000600000000000000" pitchFamily="2" charset="-122"/>
                </a:rPr>
                <a:t>共建、完善双平台榜单矩阵</a:t>
              </a:r>
              <a:endParaRPr lang="en-US" altLang="zh-CN" sz="900" dirty="0">
                <a:solidFill>
                  <a:schemeClr val="tx1">
                    <a:lumMod val="65000"/>
                    <a:lumOff val="35000"/>
                  </a:schemeClr>
                </a:solidFill>
                <a:ea typeface="MiSans Medium" panose="00000600000000000000" pitchFamily="2" charset="-122"/>
                <a:sym typeface="MiSans Medium" panose="00000600000000000000" pitchFamily="2" charset="-122"/>
              </a:endParaRPr>
            </a:p>
            <a:p>
              <a:pPr>
                <a:lnSpc>
                  <a:spcPct val="110000"/>
                </a:lnSpc>
                <a:spcBef>
                  <a:spcPts val="1200"/>
                </a:spcBef>
              </a:pPr>
              <a:r>
                <a:rPr lang="zh-CN" altLang="en-US" sz="900" b="1" dirty="0">
                  <a:solidFill>
                    <a:schemeClr val="tx1"/>
                  </a:solidFill>
                  <a:ea typeface="MiSans Bold" panose="00000800000000000000" pitchFamily="2" charset="-122"/>
                  <a:sym typeface="MiSans Medium" panose="00000600000000000000" pitchFamily="2" charset="-122"/>
                </a:rPr>
                <a:t>数据</a:t>
              </a: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层面打通：</a:t>
              </a:r>
              <a:r>
                <a:rPr lang="zh-CN" altLang="en-US" sz="900" dirty="0">
                  <a:solidFill>
                    <a:schemeClr val="tx1">
                      <a:lumMod val="65000"/>
                      <a:lumOff val="35000"/>
                    </a:schemeClr>
                  </a:solidFill>
                  <a:ea typeface="MiSans Medium" panose="00000600000000000000" pitchFamily="2" charset="-122"/>
                </a:rPr>
                <a:t>榜单规则适度透传，流量数据打通</a:t>
              </a:r>
            </a:p>
          </p:txBody>
        </p:sp>
        <p:sp>
          <p:nvSpPr>
            <p:cNvPr id="42" name="米菲PPT62"/>
            <p:cNvSpPr/>
            <p:nvPr/>
          </p:nvSpPr>
          <p:spPr>
            <a:xfrm flipV="1">
              <a:off x="6385768" y="1861853"/>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43" name="米菲PPT63"/>
            <p:cNvSpPr/>
            <p:nvPr/>
          </p:nvSpPr>
          <p:spPr>
            <a:xfrm>
              <a:off x="6385768" y="1861853"/>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mn-ea"/>
                  <a:cs typeface="MiSans Medium" panose="00000600000000000000" pitchFamily="2" charset="-122"/>
                </a:rPr>
                <a:t>点评</a:t>
              </a:r>
              <a:endParaRPr lang="zh-CN" altLang="en-US" sz="1100" b="1" dirty="0">
                <a:solidFill>
                  <a:schemeClr val="bg1"/>
                </a:solidFill>
                <a:effectLst/>
                <a:latin typeface="+mn-ea"/>
                <a:cs typeface="MiSans Medium" panose="00000600000000000000" pitchFamily="2" charset="-122"/>
              </a:endParaRPr>
            </a:p>
          </p:txBody>
        </p:sp>
      </p:grpSp>
      <p:grpSp>
        <p:nvGrpSpPr>
          <p:cNvPr id="16" name="组合 15"/>
          <p:cNvGrpSpPr/>
          <p:nvPr/>
        </p:nvGrpSpPr>
        <p:grpSpPr>
          <a:xfrm>
            <a:off x="1601995" y="2252819"/>
            <a:ext cx="1599309" cy="1722441"/>
            <a:chOff x="7816720" y="1887086"/>
            <a:chExt cx="1230100" cy="1324806"/>
          </a:xfrm>
        </p:grpSpPr>
        <p:sp>
          <p:nvSpPr>
            <p:cNvPr id="4" name="米菲PPT52"/>
            <p:cNvSpPr/>
            <p:nvPr/>
          </p:nvSpPr>
          <p:spPr>
            <a:xfrm rot="5400000" flipV="1">
              <a:off x="7850439" y="1979156"/>
              <a:ext cx="1162662" cy="1230099"/>
            </a:xfrm>
            <a:prstGeom prst="roundRect">
              <a:avLst>
                <a:gd name="adj" fmla="val 1904"/>
              </a:avLst>
            </a:prstGeom>
            <a:gradFill>
              <a:gsLst>
                <a:gs pos="100000">
                  <a:schemeClr val="accent1">
                    <a:lumMod val="9000"/>
                    <a:lumOff val="91000"/>
                  </a:schemeClr>
                </a:gs>
                <a:gs pos="1000">
                  <a:schemeClr val="bg1"/>
                </a:gs>
              </a:gsLst>
              <a:lin ang="19800000" scaled="0"/>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600"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 name="米菲PPT53"/>
            <p:cNvSpPr/>
            <p:nvPr/>
          </p:nvSpPr>
          <p:spPr>
            <a:xfrm>
              <a:off x="7886910" y="2049232"/>
              <a:ext cx="1159910" cy="1162660"/>
            </a:xfrm>
            <a:prstGeom prst="rect">
              <a:avLst/>
            </a:prstGeom>
            <a:no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spcBef>
                  <a:spcPts val="1200"/>
                </a:spcBef>
              </a:pPr>
              <a:r>
                <a:rPr lang="zh-CN" altLang="en-US" sz="900" b="1"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部门规划分析支持：</a:t>
              </a:r>
              <a:r>
                <a:rPr lang="zh-CN" altLang="en-US" sz="900" dirty="0">
                  <a:solidFill>
                    <a:schemeClr val="tx1"/>
                  </a:solidFill>
                  <a:latin typeface="MiSans Bold" panose="00000800000000000000" pitchFamily="2" charset="-122"/>
                  <a:ea typeface="MiSans Bold" panose="00000800000000000000" pitchFamily="2" charset="-122"/>
                  <a:cs typeface="MiSans Medium" panose="00000600000000000000" pitchFamily="2" charset="-122"/>
                  <a:sym typeface="MiSans Medium" panose="00000600000000000000" pitchFamily="2" charset="-122"/>
                </a:rPr>
                <a:t>商家价值及供给现状分析，运营指标体系逻辑优化</a:t>
              </a:r>
              <a:endParaRPr lang="zh-CN" altLang="en-US" sz="900" dirty="0">
                <a:solidFill>
                  <a:schemeClr val="tx1">
                    <a:lumMod val="65000"/>
                    <a:lumOff val="35000"/>
                  </a:schemeClr>
                </a:solidFill>
                <a:ea typeface="MiSans Medium" panose="00000600000000000000" pitchFamily="2" charset="-122"/>
                <a:sym typeface="MiSans Medium" panose="00000600000000000000" pitchFamily="2" charset="-122"/>
              </a:endParaRPr>
            </a:p>
          </p:txBody>
        </p:sp>
        <p:sp>
          <p:nvSpPr>
            <p:cNvPr id="6" name="米菲PPT62"/>
            <p:cNvSpPr/>
            <p:nvPr/>
          </p:nvSpPr>
          <p:spPr>
            <a:xfrm flipV="1">
              <a:off x="7967788" y="1887086"/>
              <a:ext cx="924214" cy="235703"/>
            </a:xfrm>
            <a:prstGeom prst="trapezoid">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dirty="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7" name="米菲PPT63"/>
            <p:cNvSpPr/>
            <p:nvPr/>
          </p:nvSpPr>
          <p:spPr>
            <a:xfrm>
              <a:off x="7967788" y="1887086"/>
              <a:ext cx="924214" cy="251573"/>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mn-ea"/>
                  <a:cs typeface="MiSans Medium" panose="00000600000000000000" pitchFamily="2" charset="-122"/>
                </a:rPr>
                <a:t>经营规划</a:t>
              </a:r>
              <a:endParaRPr lang="zh-CN" altLang="en-US" sz="1100" b="1" dirty="0">
                <a:solidFill>
                  <a:schemeClr val="bg1"/>
                </a:solidFill>
                <a:effectLst/>
                <a:latin typeface="+mn-ea"/>
                <a:cs typeface="MiSans Medium" panose="00000600000000000000" pitchFamily="2" charset="-122"/>
              </a:endParaRPr>
            </a:p>
          </p:txBody>
        </p:sp>
      </p:gr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000" y="106114"/>
            <a:ext cx="9237440" cy="427313"/>
          </a:xfrm>
        </p:spPr>
        <p:txBody>
          <a:bodyPr>
            <a:normAutofit/>
          </a:bodyPr>
          <a:lstStyle/>
          <a:p>
            <a:r>
              <a:rPr lang="zh-CN" altLang="en-US" sz="2100" dirty="0"/>
              <a:t>里程碑</a:t>
            </a:r>
            <a:endParaRPr kumimoji="1" lang="zh-CN" altLang="en-US" sz="2100" dirty="0"/>
          </a:p>
        </p:txBody>
      </p:sp>
      <p:cxnSp>
        <p:nvCxnSpPr>
          <p:cNvPr id="9" name="米菲PPT2"/>
          <p:cNvCxnSpPr/>
          <p:nvPr/>
        </p:nvCxnSpPr>
        <p:spPr>
          <a:xfrm>
            <a:off x="4038107" y="1641995"/>
            <a:ext cx="0" cy="2973197"/>
          </a:xfrm>
          <a:prstGeom prst="straightConnector1">
            <a:avLst/>
          </a:prstGeom>
          <a:ln w="12700">
            <a:gradFill flip="none" rotWithShape="1">
              <a:gsLst>
                <a:gs pos="24000">
                  <a:schemeClr val="accent1">
                    <a:lumMod val="59000"/>
                    <a:lumOff val="41000"/>
                  </a:schemeClr>
                </a:gs>
                <a:gs pos="100000">
                  <a:schemeClr val="accent1">
                    <a:lumMod val="9000"/>
                    <a:lumOff val="91000"/>
                  </a:schemeClr>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9" name="米菲PPT98"/>
          <p:cNvSpPr/>
          <p:nvPr/>
        </p:nvSpPr>
        <p:spPr>
          <a:xfrm>
            <a:off x="1581381" y="1258051"/>
            <a:ext cx="2222521" cy="276484"/>
          </a:xfrm>
          <a:prstGeom prst="homePlate">
            <a:avLst/>
          </a:prstGeom>
          <a:gradFill flip="none" rotWithShape="1">
            <a:gsLst>
              <a:gs pos="29000">
                <a:schemeClr val="accent1">
                  <a:lumMod val="90000"/>
                  <a:lumOff val="10000"/>
                </a:schemeClr>
              </a:gs>
              <a:gs pos="100000">
                <a:schemeClr val="accent1"/>
              </a:gs>
              <a:gs pos="0">
                <a:schemeClr val="accent1">
                  <a:alpha val="0"/>
                </a:schemeClr>
              </a:gs>
            </a:gsLst>
            <a:lin ang="21594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lumMod val="85000"/>
                  <a:lumOff val="15000"/>
                </a:schemeClr>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0" name="米菲PPT99"/>
          <p:cNvSpPr txBox="1"/>
          <p:nvPr/>
        </p:nvSpPr>
        <p:spPr>
          <a:xfrm>
            <a:off x="1768542" y="873281"/>
            <a:ext cx="1733516" cy="369332"/>
          </a:xfrm>
          <a:prstGeom prst="rect">
            <a:avLst/>
          </a:prstGeom>
          <a:noFill/>
        </p:spPr>
        <p:txBody>
          <a:bodyPr wrap="square">
            <a:spAutoFit/>
          </a:bodyPr>
          <a:lstStyle/>
          <a:p>
            <a:pPr>
              <a:spcAft>
                <a:spcPts val="300"/>
              </a:spcAft>
            </a:pPr>
            <a:r>
              <a:rPr lang="zh-CN" altLang="en-US" dirty="0">
                <a:solidFill>
                  <a:schemeClr val="bg2">
                    <a:lumMod val="25000"/>
                  </a:schemeClr>
                </a:solidFill>
                <a:latin typeface="+mj-ea"/>
                <a:ea typeface="+mj-ea"/>
                <a:cs typeface="MiSans Medium" panose="00000600000000000000" pitchFamily="2" charset="-122"/>
              </a:rPr>
              <a:t>第一季度</a:t>
            </a:r>
          </a:p>
        </p:txBody>
      </p:sp>
      <p:sp>
        <p:nvSpPr>
          <p:cNvPr id="21" name="米菲PPT100"/>
          <p:cNvSpPr txBox="1"/>
          <p:nvPr/>
        </p:nvSpPr>
        <p:spPr>
          <a:xfrm>
            <a:off x="1768542" y="1275659"/>
            <a:ext cx="1837170" cy="276999"/>
          </a:xfrm>
          <a:prstGeom prst="rect">
            <a:avLst/>
          </a:prstGeom>
          <a:noFill/>
        </p:spPr>
        <p:txBody>
          <a:bodyPr wrap="square">
            <a:spAutoFit/>
          </a:bodyPr>
          <a:lstStyle/>
          <a:p>
            <a:pPr>
              <a:spcAft>
                <a:spcPts val="300"/>
              </a:spcAft>
            </a:pPr>
            <a:r>
              <a:rPr lang="en-US" altLang="zh-CN" sz="1200" dirty="0">
                <a:solidFill>
                  <a:schemeClr val="tx1">
                    <a:lumMod val="85000"/>
                    <a:lumOff val="15000"/>
                  </a:schemeClr>
                </a:solidFill>
                <a:latin typeface="+mn-ea"/>
                <a:cs typeface="MiSans Medium" panose="00000600000000000000" pitchFamily="2" charset="-122"/>
              </a:rPr>
              <a:t>1</a:t>
            </a:r>
            <a:r>
              <a:rPr lang="zh-CN" altLang="en-US" sz="1200" dirty="0">
                <a:solidFill>
                  <a:schemeClr val="tx1">
                    <a:lumMod val="85000"/>
                    <a:lumOff val="15000"/>
                  </a:schemeClr>
                </a:solidFill>
                <a:latin typeface="+mn-ea"/>
                <a:cs typeface="MiSans Medium" panose="00000600000000000000" pitchFamily="2" charset="-122"/>
              </a:rPr>
              <a:t>月</a:t>
            </a:r>
            <a:r>
              <a:rPr lang="en-US" altLang="zh-CN" sz="1200" dirty="0">
                <a:solidFill>
                  <a:schemeClr val="tx1">
                    <a:lumMod val="85000"/>
                    <a:lumOff val="15000"/>
                  </a:schemeClr>
                </a:solidFill>
                <a:latin typeface="+mn-ea"/>
                <a:cs typeface="MiSans Medium" panose="00000600000000000000" pitchFamily="2" charset="-122"/>
              </a:rPr>
              <a:t>-</a:t>
            </a:r>
            <a:r>
              <a:rPr lang="zh-CN" altLang="en-US" sz="1200" dirty="0">
                <a:solidFill>
                  <a:schemeClr val="tx1">
                    <a:lumMod val="85000"/>
                    <a:lumOff val="15000"/>
                  </a:schemeClr>
                </a:solidFill>
                <a:latin typeface="+mn-ea"/>
                <a:cs typeface="MiSans Medium" panose="00000600000000000000" pitchFamily="2" charset="-122"/>
              </a:rPr>
              <a:t> </a:t>
            </a:r>
            <a:r>
              <a:rPr lang="en-US" altLang="zh-CN" sz="1200" dirty="0">
                <a:solidFill>
                  <a:schemeClr val="tx1">
                    <a:lumMod val="85000"/>
                    <a:lumOff val="15000"/>
                  </a:schemeClr>
                </a:solidFill>
                <a:latin typeface="+mn-ea"/>
                <a:cs typeface="MiSans Medium" panose="00000600000000000000" pitchFamily="2" charset="-122"/>
              </a:rPr>
              <a:t>3</a:t>
            </a:r>
            <a:r>
              <a:rPr lang="zh-CN" altLang="en-US" sz="1200" dirty="0">
                <a:solidFill>
                  <a:schemeClr val="tx1">
                    <a:lumMod val="85000"/>
                    <a:lumOff val="15000"/>
                  </a:schemeClr>
                </a:solidFill>
                <a:latin typeface="+mn-ea"/>
                <a:cs typeface="MiSans Medium" panose="00000600000000000000" pitchFamily="2" charset="-122"/>
              </a:rPr>
              <a:t>月</a:t>
            </a:r>
          </a:p>
        </p:txBody>
      </p:sp>
      <p:cxnSp>
        <p:nvCxnSpPr>
          <p:cNvPr id="22" name="米菲PPT101"/>
          <p:cNvCxnSpPr/>
          <p:nvPr/>
        </p:nvCxnSpPr>
        <p:spPr>
          <a:xfrm>
            <a:off x="1807614" y="1641995"/>
            <a:ext cx="0" cy="2973197"/>
          </a:xfrm>
          <a:prstGeom prst="straightConnector1">
            <a:avLst/>
          </a:prstGeom>
          <a:ln w="12700">
            <a:gradFill flip="none" rotWithShape="1">
              <a:gsLst>
                <a:gs pos="24000">
                  <a:schemeClr val="accent1">
                    <a:lumMod val="59000"/>
                    <a:lumOff val="41000"/>
                  </a:schemeClr>
                </a:gs>
                <a:gs pos="100000">
                  <a:schemeClr val="accent1">
                    <a:lumMod val="9000"/>
                    <a:lumOff val="91000"/>
                  </a:schemeClr>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3" name="米菲PPT102"/>
          <p:cNvSpPr txBox="1"/>
          <p:nvPr/>
        </p:nvSpPr>
        <p:spPr>
          <a:xfrm>
            <a:off x="523961" y="1825952"/>
            <a:ext cx="902811" cy="523220"/>
          </a:xfrm>
          <a:prstGeom prst="rect">
            <a:avLst/>
          </a:prstGeom>
          <a:noFill/>
        </p:spPr>
        <p:txBody>
          <a:bodyPr wrap="none" rtlCol="0">
            <a:spAutoFit/>
          </a:bodyPr>
          <a:lstStyle/>
          <a:p>
            <a:pPr algn="ctr"/>
            <a:r>
              <a:rPr lang="zh-CN" altLang="en-US" sz="1400" b="1" dirty="0"/>
              <a:t>榜单矩阵</a:t>
            </a:r>
            <a:endParaRPr lang="en-US" altLang="zh-CN" sz="1400" b="1" dirty="0"/>
          </a:p>
          <a:p>
            <a:pPr algn="ctr"/>
            <a:r>
              <a:rPr lang="zh-CN" altLang="en-US" sz="1400" b="1" dirty="0"/>
              <a:t>建设</a:t>
            </a:r>
            <a:endParaRPr lang="zh-CN" altLang="en-US" sz="1400" b="1" dirty="0">
              <a:effectLst/>
            </a:endParaRPr>
          </a:p>
        </p:txBody>
      </p:sp>
      <p:sp>
        <p:nvSpPr>
          <p:cNvPr id="27" name="米菲PPT106"/>
          <p:cNvSpPr txBox="1"/>
          <p:nvPr/>
        </p:nvSpPr>
        <p:spPr>
          <a:xfrm>
            <a:off x="523961" y="2931051"/>
            <a:ext cx="902811" cy="523220"/>
          </a:xfrm>
          <a:prstGeom prst="rect">
            <a:avLst/>
          </a:prstGeom>
          <a:noFill/>
        </p:spPr>
        <p:txBody>
          <a:bodyPr wrap="none" rtlCol="0">
            <a:spAutoFit/>
          </a:bodyPr>
          <a:lstStyle/>
          <a:p>
            <a:pPr algn="ctr"/>
            <a:r>
              <a:rPr lang="zh-CN" altLang="en-US" sz="1400" b="1" dirty="0"/>
              <a:t>心智流量</a:t>
            </a:r>
            <a:endParaRPr lang="en-US" altLang="zh-CN" sz="1400" b="1" dirty="0"/>
          </a:p>
          <a:p>
            <a:pPr algn="ctr"/>
            <a:r>
              <a:rPr lang="zh-CN" altLang="en-US" sz="1400" b="1" dirty="0"/>
              <a:t>建设</a:t>
            </a:r>
          </a:p>
        </p:txBody>
      </p:sp>
      <p:sp>
        <p:nvSpPr>
          <p:cNvPr id="28" name="米菲PPT107"/>
          <p:cNvSpPr txBox="1"/>
          <p:nvPr/>
        </p:nvSpPr>
        <p:spPr>
          <a:xfrm>
            <a:off x="1961806" y="2971053"/>
            <a:ext cx="1643551" cy="577081"/>
          </a:xfrm>
          <a:prstGeom prst="rect">
            <a:avLst/>
          </a:prstGeom>
          <a:noFill/>
        </p:spPr>
        <p:txBody>
          <a:bodyPr wrap="square">
            <a:spAutoFit/>
          </a:bodyPr>
          <a:lstStyle/>
          <a:p>
            <a:r>
              <a:rPr lang="zh-CN" altLang="en-US" sz="1050" dirty="0">
                <a:solidFill>
                  <a:schemeClr val="tx1">
                    <a:lumMod val="85000"/>
                    <a:lumOff val="15000"/>
                  </a:schemeClr>
                </a:solidFill>
                <a:latin typeface="+mn-ea"/>
              </a:rPr>
              <a:t>升级榜单页面、试点大搜及营销协同链路，完善升级榜单荣誉体系</a:t>
            </a:r>
            <a:endParaRPr lang="zh-CN" altLang="en-US" sz="1050" dirty="0">
              <a:solidFill>
                <a:schemeClr val="tx1">
                  <a:lumMod val="85000"/>
                  <a:lumOff val="15000"/>
                </a:schemeClr>
              </a:solidFill>
              <a:effectLst/>
              <a:latin typeface="+mn-ea"/>
            </a:endParaRPr>
          </a:p>
        </p:txBody>
      </p:sp>
      <p:sp>
        <p:nvSpPr>
          <p:cNvPr id="29" name="米菲PPT108"/>
          <p:cNvSpPr txBox="1"/>
          <p:nvPr/>
        </p:nvSpPr>
        <p:spPr>
          <a:xfrm>
            <a:off x="523961" y="4039524"/>
            <a:ext cx="902811" cy="307777"/>
          </a:xfrm>
          <a:prstGeom prst="rect">
            <a:avLst/>
          </a:prstGeom>
          <a:noFill/>
        </p:spPr>
        <p:txBody>
          <a:bodyPr wrap="none" rtlCol="0">
            <a:spAutoFit/>
          </a:bodyPr>
          <a:lstStyle>
            <a:defPPr>
              <a:defRPr lang="en-US"/>
            </a:defPPr>
            <a:lvl1pPr>
              <a:defRPr sz="1400" b="1">
                <a:gradFill flip="none" rotWithShape="1">
                  <a:gsLst>
                    <a:gs pos="23000">
                      <a:schemeClr val="accent1"/>
                    </a:gs>
                    <a:gs pos="100000">
                      <a:schemeClr val="accent1">
                        <a:lumMod val="85000"/>
                        <a:lumOff val="15000"/>
                      </a:schemeClr>
                    </a:gs>
                  </a:gsLst>
                  <a:lin ang="5400000" scaled="1"/>
                  <a:tileRect/>
                </a:gradFill>
                <a:latin typeface="+mn-ea"/>
              </a:defRPr>
            </a:lvl1pPr>
          </a:lstStyle>
          <a:p>
            <a:r>
              <a:rPr lang="zh-CN" altLang="en-US" dirty="0">
                <a:solidFill>
                  <a:schemeClr val="tx1">
                    <a:lumMod val="85000"/>
                    <a:lumOff val="15000"/>
                  </a:schemeClr>
                </a:solidFill>
              </a:rPr>
              <a:t>资产建设</a:t>
            </a:r>
            <a:endParaRPr lang="zh-CN" altLang="en-US" dirty="0">
              <a:solidFill>
                <a:schemeClr val="tx1">
                  <a:lumMod val="85000"/>
                  <a:lumOff val="15000"/>
                </a:schemeClr>
              </a:solidFill>
              <a:effectLst/>
            </a:endParaRPr>
          </a:p>
        </p:txBody>
      </p:sp>
      <p:sp>
        <p:nvSpPr>
          <p:cNvPr id="30" name="米菲PPT109"/>
          <p:cNvSpPr txBox="1"/>
          <p:nvPr/>
        </p:nvSpPr>
        <p:spPr>
          <a:xfrm>
            <a:off x="1961806" y="4086075"/>
            <a:ext cx="1643551" cy="577081"/>
          </a:xfrm>
          <a:prstGeom prst="rect">
            <a:avLst/>
          </a:prstGeom>
          <a:noFill/>
        </p:spPr>
        <p:txBody>
          <a:bodyPr wrap="square">
            <a:spAutoFit/>
          </a:bodyPr>
          <a:lstStyle>
            <a:defPPr>
              <a:defRPr lang="en-US"/>
            </a:defPPr>
            <a:lvl1pPr>
              <a:defRPr sz="1200">
                <a:solidFill>
                  <a:srgbClr val="000000">
                    <a:lumMod val="65000"/>
                    <a:lumOff val="35000"/>
                  </a:srgbClr>
                </a:solidFill>
                <a:latin typeface="MiSans Medium" panose="00000600000000000000" pitchFamily="2" charset="-122"/>
                <a:ea typeface="MiSans Medium" panose="00000600000000000000" pitchFamily="2" charset="-122"/>
              </a:defRPr>
            </a:lvl1pPr>
          </a:lstStyle>
          <a:p>
            <a:r>
              <a:rPr lang="zh-CN" altLang="en-US" sz="1050" dirty="0">
                <a:solidFill>
                  <a:schemeClr val="tx1">
                    <a:lumMod val="85000"/>
                    <a:lumOff val="15000"/>
                  </a:schemeClr>
                </a:solidFill>
                <a:latin typeface="+mn-ea"/>
                <a:ea typeface="+mn-ea"/>
              </a:rPr>
              <a:t>协同各方盘清资产分布现状，跑通评价等资产挖掘能力</a:t>
            </a:r>
            <a:endParaRPr lang="zh-CN" altLang="en-US" sz="1050" dirty="0">
              <a:solidFill>
                <a:schemeClr val="tx1">
                  <a:lumMod val="85000"/>
                  <a:lumOff val="15000"/>
                </a:schemeClr>
              </a:solidFill>
              <a:effectLst/>
              <a:latin typeface="+mn-ea"/>
              <a:ea typeface="+mn-ea"/>
            </a:endParaRPr>
          </a:p>
        </p:txBody>
      </p:sp>
      <p:sp>
        <p:nvSpPr>
          <p:cNvPr id="31" name="米菲PPT110"/>
          <p:cNvSpPr/>
          <p:nvPr/>
        </p:nvSpPr>
        <p:spPr>
          <a:xfrm>
            <a:off x="1735751" y="1875815"/>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33" name="米菲PPT112"/>
          <p:cNvSpPr/>
          <p:nvPr/>
        </p:nvSpPr>
        <p:spPr>
          <a:xfrm>
            <a:off x="1735751" y="2984150"/>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34" name="米菲PPT113"/>
          <p:cNvSpPr/>
          <p:nvPr/>
        </p:nvSpPr>
        <p:spPr>
          <a:xfrm>
            <a:off x="1735751" y="4098089"/>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36" name="米菲PPT115"/>
          <p:cNvSpPr/>
          <p:nvPr/>
        </p:nvSpPr>
        <p:spPr>
          <a:xfrm>
            <a:off x="3776327" y="1258051"/>
            <a:ext cx="2222521" cy="276484"/>
          </a:xfrm>
          <a:prstGeom prst="homePlate">
            <a:avLst/>
          </a:prstGeom>
          <a:gradFill flip="none" rotWithShape="1">
            <a:gsLst>
              <a:gs pos="29000">
                <a:schemeClr val="accent2"/>
              </a:gs>
              <a:gs pos="29000">
                <a:schemeClr val="accent2"/>
              </a:gs>
              <a:gs pos="0">
                <a:schemeClr val="accent2">
                  <a:alpha val="0"/>
                </a:schemeClr>
              </a:gs>
            </a:gsLst>
            <a:lin ang="21594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lumMod val="85000"/>
                  <a:lumOff val="15000"/>
                </a:schemeClr>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7" name="米菲PPT116"/>
          <p:cNvSpPr txBox="1"/>
          <p:nvPr/>
        </p:nvSpPr>
        <p:spPr>
          <a:xfrm>
            <a:off x="3963487" y="873281"/>
            <a:ext cx="1733516" cy="369332"/>
          </a:xfrm>
          <a:prstGeom prst="rect">
            <a:avLst/>
          </a:prstGeom>
          <a:noFill/>
        </p:spPr>
        <p:txBody>
          <a:bodyPr wrap="square">
            <a:spAutoFit/>
          </a:bodyPr>
          <a:lstStyle/>
          <a:p>
            <a:pPr>
              <a:spcAft>
                <a:spcPts val="300"/>
              </a:spcAft>
            </a:pPr>
            <a:r>
              <a:rPr lang="zh-CN" altLang="en-US" dirty="0">
                <a:solidFill>
                  <a:schemeClr val="bg2">
                    <a:lumMod val="25000"/>
                  </a:schemeClr>
                </a:solidFill>
                <a:latin typeface="+mj-ea"/>
                <a:ea typeface="+mj-ea"/>
                <a:cs typeface="MiSans Medium" panose="00000600000000000000" pitchFamily="2" charset="-122"/>
              </a:rPr>
              <a:t>第二季度</a:t>
            </a:r>
          </a:p>
        </p:txBody>
      </p:sp>
      <p:sp>
        <p:nvSpPr>
          <p:cNvPr id="38" name="米菲PPT117"/>
          <p:cNvSpPr txBox="1"/>
          <p:nvPr/>
        </p:nvSpPr>
        <p:spPr>
          <a:xfrm>
            <a:off x="3963487" y="1275659"/>
            <a:ext cx="1837170" cy="276999"/>
          </a:xfrm>
          <a:prstGeom prst="rect">
            <a:avLst/>
          </a:prstGeom>
          <a:noFill/>
        </p:spPr>
        <p:txBody>
          <a:bodyPr wrap="square">
            <a:spAutoFit/>
          </a:bodyPr>
          <a:lstStyle/>
          <a:p>
            <a:pPr>
              <a:spcAft>
                <a:spcPts val="300"/>
              </a:spcAft>
            </a:pPr>
            <a:r>
              <a:rPr lang="en-US" altLang="zh-CN" sz="1200" dirty="0">
                <a:solidFill>
                  <a:schemeClr val="tx1">
                    <a:lumMod val="85000"/>
                    <a:lumOff val="15000"/>
                  </a:schemeClr>
                </a:solidFill>
                <a:latin typeface="+mn-ea"/>
                <a:cs typeface="MiSans Medium" panose="00000600000000000000" pitchFamily="2" charset="-122"/>
              </a:rPr>
              <a:t>4</a:t>
            </a:r>
            <a:r>
              <a:rPr lang="zh-CN" altLang="en-US" sz="1200" dirty="0">
                <a:solidFill>
                  <a:schemeClr val="tx1">
                    <a:lumMod val="85000"/>
                    <a:lumOff val="15000"/>
                  </a:schemeClr>
                </a:solidFill>
                <a:latin typeface="+mn-ea"/>
                <a:cs typeface="MiSans Medium" panose="00000600000000000000" pitchFamily="2" charset="-122"/>
              </a:rPr>
              <a:t>月</a:t>
            </a:r>
            <a:r>
              <a:rPr lang="en-US" altLang="zh-CN" sz="1200" dirty="0">
                <a:solidFill>
                  <a:schemeClr val="tx1">
                    <a:lumMod val="85000"/>
                    <a:lumOff val="15000"/>
                  </a:schemeClr>
                </a:solidFill>
                <a:latin typeface="+mn-ea"/>
                <a:cs typeface="MiSans Medium" panose="00000600000000000000" pitchFamily="2" charset="-122"/>
              </a:rPr>
              <a:t>-</a:t>
            </a:r>
            <a:r>
              <a:rPr lang="zh-CN" altLang="en-US" sz="1200" dirty="0">
                <a:solidFill>
                  <a:schemeClr val="tx1">
                    <a:lumMod val="85000"/>
                    <a:lumOff val="15000"/>
                  </a:schemeClr>
                </a:solidFill>
                <a:latin typeface="+mn-ea"/>
                <a:cs typeface="MiSans Medium" panose="00000600000000000000" pitchFamily="2" charset="-122"/>
              </a:rPr>
              <a:t> </a:t>
            </a:r>
            <a:r>
              <a:rPr lang="en-US" altLang="zh-CN" sz="1200" dirty="0">
                <a:solidFill>
                  <a:schemeClr val="tx1">
                    <a:lumMod val="85000"/>
                    <a:lumOff val="15000"/>
                  </a:schemeClr>
                </a:solidFill>
                <a:latin typeface="+mn-ea"/>
                <a:cs typeface="MiSans Medium" panose="00000600000000000000" pitchFamily="2" charset="-122"/>
              </a:rPr>
              <a:t>6</a:t>
            </a:r>
            <a:r>
              <a:rPr lang="zh-CN" altLang="en-US" sz="1200" dirty="0">
                <a:solidFill>
                  <a:schemeClr val="tx1">
                    <a:lumMod val="85000"/>
                    <a:lumOff val="15000"/>
                  </a:schemeClr>
                </a:solidFill>
                <a:latin typeface="+mn-ea"/>
                <a:cs typeface="MiSans Medium" panose="00000600000000000000" pitchFamily="2" charset="-122"/>
              </a:rPr>
              <a:t>月</a:t>
            </a:r>
          </a:p>
        </p:txBody>
      </p:sp>
      <p:sp>
        <p:nvSpPr>
          <p:cNvPr id="40" name="米菲PPT119"/>
          <p:cNvSpPr/>
          <p:nvPr/>
        </p:nvSpPr>
        <p:spPr>
          <a:xfrm>
            <a:off x="5980338" y="1258051"/>
            <a:ext cx="1492641" cy="276484"/>
          </a:xfrm>
          <a:prstGeom prst="homePlate">
            <a:avLst/>
          </a:prstGeom>
          <a:gradFill flip="none" rotWithShape="1">
            <a:gsLst>
              <a:gs pos="29000">
                <a:schemeClr val="accent1">
                  <a:lumMod val="90000"/>
                  <a:lumOff val="10000"/>
                </a:schemeClr>
              </a:gs>
              <a:gs pos="100000">
                <a:schemeClr val="accent1"/>
              </a:gs>
              <a:gs pos="0">
                <a:schemeClr val="accent1">
                  <a:alpha val="0"/>
                </a:schemeClr>
              </a:gs>
            </a:gsLst>
            <a:lin ang="21594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41" name="米菲PPT120"/>
          <p:cNvSpPr txBox="1"/>
          <p:nvPr/>
        </p:nvSpPr>
        <p:spPr>
          <a:xfrm>
            <a:off x="6106035" y="873281"/>
            <a:ext cx="1164226" cy="369332"/>
          </a:xfrm>
          <a:prstGeom prst="rect">
            <a:avLst/>
          </a:prstGeom>
          <a:noFill/>
        </p:spPr>
        <p:txBody>
          <a:bodyPr wrap="square">
            <a:spAutoFit/>
          </a:bodyPr>
          <a:lstStyle/>
          <a:p>
            <a:pPr>
              <a:spcAft>
                <a:spcPts val="300"/>
              </a:spcAft>
            </a:pPr>
            <a:r>
              <a:rPr lang="zh-CN" altLang="en-US" dirty="0">
                <a:solidFill>
                  <a:schemeClr val="bg2">
                    <a:lumMod val="25000"/>
                  </a:schemeClr>
                </a:solidFill>
                <a:latin typeface="+mj-ea"/>
                <a:ea typeface="+mj-ea"/>
                <a:cs typeface="MiSans Medium" panose="00000600000000000000" pitchFamily="2" charset="-122"/>
              </a:rPr>
              <a:t>第三季度</a:t>
            </a:r>
          </a:p>
        </p:txBody>
      </p:sp>
      <p:sp>
        <p:nvSpPr>
          <p:cNvPr id="42" name="米菲PPT121"/>
          <p:cNvSpPr txBox="1"/>
          <p:nvPr/>
        </p:nvSpPr>
        <p:spPr>
          <a:xfrm>
            <a:off x="6106034" y="1275659"/>
            <a:ext cx="1366935" cy="276999"/>
          </a:xfrm>
          <a:prstGeom prst="rect">
            <a:avLst/>
          </a:prstGeom>
          <a:noFill/>
        </p:spPr>
        <p:txBody>
          <a:bodyPr wrap="square">
            <a:spAutoFit/>
          </a:bodyPr>
          <a:lstStyle/>
          <a:p>
            <a:pPr>
              <a:spcAft>
                <a:spcPts val="300"/>
              </a:spcAft>
            </a:pPr>
            <a:r>
              <a:rPr lang="en-US" altLang="zh-CN" sz="1200" dirty="0">
                <a:solidFill>
                  <a:schemeClr val="tx1">
                    <a:lumMod val="85000"/>
                    <a:lumOff val="15000"/>
                  </a:schemeClr>
                </a:solidFill>
                <a:latin typeface="+mn-ea"/>
                <a:cs typeface="MiSans Medium" panose="00000600000000000000" pitchFamily="2" charset="-122"/>
              </a:rPr>
              <a:t>7</a:t>
            </a:r>
            <a:r>
              <a:rPr lang="zh-CN" altLang="en-US" sz="1200" dirty="0">
                <a:solidFill>
                  <a:schemeClr val="tx1">
                    <a:lumMod val="85000"/>
                    <a:lumOff val="15000"/>
                  </a:schemeClr>
                </a:solidFill>
                <a:latin typeface="+mn-ea"/>
                <a:cs typeface="MiSans Medium" panose="00000600000000000000" pitchFamily="2" charset="-122"/>
              </a:rPr>
              <a:t>月</a:t>
            </a:r>
            <a:r>
              <a:rPr lang="en-US" altLang="zh-CN" sz="1200" dirty="0">
                <a:solidFill>
                  <a:schemeClr val="tx1">
                    <a:lumMod val="85000"/>
                    <a:lumOff val="15000"/>
                  </a:schemeClr>
                </a:solidFill>
                <a:latin typeface="+mn-ea"/>
                <a:cs typeface="MiSans Medium" panose="00000600000000000000" pitchFamily="2" charset="-122"/>
              </a:rPr>
              <a:t>-</a:t>
            </a:r>
            <a:r>
              <a:rPr lang="zh-CN" altLang="en-US" sz="1200" dirty="0">
                <a:solidFill>
                  <a:schemeClr val="tx1">
                    <a:lumMod val="85000"/>
                    <a:lumOff val="15000"/>
                  </a:schemeClr>
                </a:solidFill>
                <a:latin typeface="+mn-ea"/>
                <a:cs typeface="MiSans Medium" panose="00000600000000000000" pitchFamily="2" charset="-122"/>
              </a:rPr>
              <a:t> </a:t>
            </a:r>
            <a:r>
              <a:rPr lang="en-US" altLang="zh-CN" sz="1200" dirty="0">
                <a:solidFill>
                  <a:schemeClr val="tx1">
                    <a:lumMod val="85000"/>
                    <a:lumOff val="15000"/>
                  </a:schemeClr>
                </a:solidFill>
                <a:latin typeface="+mn-ea"/>
                <a:cs typeface="MiSans Medium" panose="00000600000000000000" pitchFamily="2" charset="-122"/>
              </a:rPr>
              <a:t>9</a:t>
            </a:r>
            <a:r>
              <a:rPr lang="zh-CN" altLang="en-US" sz="1200" dirty="0">
                <a:solidFill>
                  <a:schemeClr val="tx1">
                    <a:lumMod val="85000"/>
                    <a:lumOff val="15000"/>
                  </a:schemeClr>
                </a:solidFill>
                <a:latin typeface="+mn-ea"/>
                <a:cs typeface="MiSans Medium" panose="00000600000000000000" pitchFamily="2" charset="-122"/>
              </a:rPr>
              <a:t>月</a:t>
            </a:r>
          </a:p>
        </p:txBody>
      </p:sp>
      <p:sp>
        <p:nvSpPr>
          <p:cNvPr id="44" name="米菲PPT123"/>
          <p:cNvSpPr/>
          <p:nvPr/>
        </p:nvSpPr>
        <p:spPr>
          <a:xfrm>
            <a:off x="7454459" y="1258051"/>
            <a:ext cx="1492641" cy="276484"/>
          </a:xfrm>
          <a:prstGeom prst="homePlate">
            <a:avLst/>
          </a:prstGeom>
          <a:gradFill flip="none" rotWithShape="1">
            <a:gsLst>
              <a:gs pos="29000">
                <a:schemeClr val="accent2"/>
              </a:gs>
              <a:gs pos="29000">
                <a:schemeClr val="accent2"/>
              </a:gs>
              <a:gs pos="0">
                <a:schemeClr val="accent2">
                  <a:alpha val="0"/>
                </a:schemeClr>
              </a:gs>
            </a:gsLst>
            <a:lin ang="21594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45" name="米菲PPT124"/>
          <p:cNvSpPr txBox="1"/>
          <p:nvPr/>
        </p:nvSpPr>
        <p:spPr>
          <a:xfrm>
            <a:off x="7580156" y="873281"/>
            <a:ext cx="1164226" cy="369332"/>
          </a:xfrm>
          <a:prstGeom prst="rect">
            <a:avLst/>
          </a:prstGeom>
          <a:noFill/>
        </p:spPr>
        <p:txBody>
          <a:bodyPr wrap="square">
            <a:spAutoFit/>
          </a:bodyPr>
          <a:lstStyle/>
          <a:p>
            <a:pPr>
              <a:spcAft>
                <a:spcPts val="300"/>
              </a:spcAft>
            </a:pPr>
            <a:r>
              <a:rPr lang="zh-CN" altLang="en-US" dirty="0">
                <a:solidFill>
                  <a:schemeClr val="bg2">
                    <a:lumMod val="25000"/>
                  </a:schemeClr>
                </a:solidFill>
                <a:latin typeface="+mj-ea"/>
                <a:ea typeface="+mj-ea"/>
                <a:cs typeface="MiSans Medium" panose="00000600000000000000" pitchFamily="2" charset="-122"/>
              </a:rPr>
              <a:t>第四季度</a:t>
            </a:r>
          </a:p>
        </p:txBody>
      </p:sp>
      <p:sp>
        <p:nvSpPr>
          <p:cNvPr id="46" name="米菲PPT125"/>
          <p:cNvSpPr txBox="1"/>
          <p:nvPr/>
        </p:nvSpPr>
        <p:spPr>
          <a:xfrm>
            <a:off x="7475594" y="1275659"/>
            <a:ext cx="1639828" cy="276999"/>
          </a:xfrm>
          <a:prstGeom prst="rect">
            <a:avLst/>
          </a:prstGeom>
          <a:noFill/>
        </p:spPr>
        <p:txBody>
          <a:bodyPr wrap="square">
            <a:spAutoFit/>
          </a:bodyPr>
          <a:lstStyle/>
          <a:p>
            <a:pPr>
              <a:spcAft>
                <a:spcPts val="300"/>
              </a:spcAft>
            </a:pPr>
            <a:r>
              <a:rPr lang="en-US" altLang="zh-CN" sz="1200" dirty="0">
                <a:solidFill>
                  <a:schemeClr val="tx1">
                    <a:lumMod val="85000"/>
                    <a:lumOff val="15000"/>
                  </a:schemeClr>
                </a:solidFill>
                <a:latin typeface="+mn-ea"/>
                <a:cs typeface="MiSans Medium" panose="00000600000000000000" pitchFamily="2" charset="-122"/>
              </a:rPr>
              <a:t>10</a:t>
            </a:r>
            <a:r>
              <a:rPr lang="zh-CN" altLang="en-US" sz="1200" dirty="0">
                <a:solidFill>
                  <a:schemeClr val="tx1">
                    <a:lumMod val="85000"/>
                    <a:lumOff val="15000"/>
                  </a:schemeClr>
                </a:solidFill>
                <a:latin typeface="+mn-ea"/>
                <a:cs typeface="MiSans Medium" panose="00000600000000000000" pitchFamily="2" charset="-122"/>
              </a:rPr>
              <a:t>月</a:t>
            </a:r>
            <a:r>
              <a:rPr lang="en-US" altLang="zh-CN" sz="1200" dirty="0">
                <a:solidFill>
                  <a:schemeClr val="tx1">
                    <a:lumMod val="85000"/>
                    <a:lumOff val="15000"/>
                  </a:schemeClr>
                </a:solidFill>
                <a:latin typeface="+mn-ea"/>
                <a:cs typeface="MiSans Medium" panose="00000600000000000000" pitchFamily="2" charset="-122"/>
              </a:rPr>
              <a:t>-</a:t>
            </a:r>
            <a:r>
              <a:rPr lang="zh-CN" altLang="en-US" sz="1200" dirty="0">
                <a:solidFill>
                  <a:schemeClr val="tx1">
                    <a:lumMod val="85000"/>
                    <a:lumOff val="15000"/>
                  </a:schemeClr>
                </a:solidFill>
                <a:latin typeface="+mn-ea"/>
                <a:cs typeface="MiSans Medium" panose="00000600000000000000" pitchFamily="2" charset="-122"/>
              </a:rPr>
              <a:t> </a:t>
            </a:r>
            <a:r>
              <a:rPr lang="en-US" altLang="zh-CN" sz="1200" dirty="0">
                <a:solidFill>
                  <a:schemeClr val="tx1">
                    <a:lumMod val="85000"/>
                    <a:lumOff val="15000"/>
                  </a:schemeClr>
                </a:solidFill>
                <a:latin typeface="+mn-ea"/>
                <a:cs typeface="MiSans Medium" panose="00000600000000000000" pitchFamily="2" charset="-122"/>
              </a:rPr>
              <a:t>12</a:t>
            </a:r>
            <a:r>
              <a:rPr lang="zh-CN" altLang="en-US" sz="1200" dirty="0">
                <a:solidFill>
                  <a:schemeClr val="tx1">
                    <a:lumMod val="85000"/>
                    <a:lumOff val="15000"/>
                  </a:schemeClr>
                </a:solidFill>
                <a:latin typeface="+mn-ea"/>
                <a:cs typeface="MiSans Medium" panose="00000600000000000000" pitchFamily="2" charset="-122"/>
              </a:rPr>
              <a:t>月</a:t>
            </a:r>
          </a:p>
        </p:txBody>
      </p:sp>
      <p:sp>
        <p:nvSpPr>
          <p:cNvPr id="52" name="米菲PPT131"/>
          <p:cNvSpPr txBox="1"/>
          <p:nvPr/>
        </p:nvSpPr>
        <p:spPr>
          <a:xfrm>
            <a:off x="4156832" y="2971052"/>
            <a:ext cx="1643551" cy="577081"/>
          </a:xfrm>
          <a:prstGeom prst="rect">
            <a:avLst/>
          </a:prstGeom>
          <a:noFill/>
        </p:spPr>
        <p:txBody>
          <a:bodyPr wrap="square">
            <a:spAutoFit/>
          </a:bodyPr>
          <a:lstStyle/>
          <a:p>
            <a:r>
              <a:rPr lang="zh-CN" altLang="en-US" sz="1050" dirty="0"/>
              <a:t>完善搜索合作链路，优化用户到餐决策动线，联动营销活动</a:t>
            </a:r>
            <a:endParaRPr lang="zh-CN" altLang="en-US" sz="1050" dirty="0">
              <a:effectLst/>
            </a:endParaRPr>
          </a:p>
        </p:txBody>
      </p:sp>
      <p:sp>
        <p:nvSpPr>
          <p:cNvPr id="54" name="米菲PPT133"/>
          <p:cNvSpPr txBox="1"/>
          <p:nvPr/>
        </p:nvSpPr>
        <p:spPr>
          <a:xfrm>
            <a:off x="4156832" y="4086075"/>
            <a:ext cx="1751640" cy="415498"/>
          </a:xfrm>
          <a:prstGeom prst="rect">
            <a:avLst/>
          </a:prstGeom>
          <a:noFill/>
        </p:spPr>
        <p:txBody>
          <a:bodyPr wrap="square">
            <a:spAutoFit/>
          </a:bodyPr>
          <a:lstStyle/>
          <a:p>
            <a:r>
              <a:rPr lang="zh-CN" altLang="en-US" sz="1050" dirty="0"/>
              <a:t>跑通用户有效评论激励流程，强化门店特色资产</a:t>
            </a:r>
            <a:endParaRPr lang="zh-CN" altLang="en-US" sz="1050" dirty="0">
              <a:effectLst/>
            </a:endParaRPr>
          </a:p>
        </p:txBody>
      </p:sp>
      <p:sp>
        <p:nvSpPr>
          <p:cNvPr id="55" name="米菲PPT134"/>
          <p:cNvSpPr/>
          <p:nvPr/>
        </p:nvSpPr>
        <p:spPr>
          <a:xfrm>
            <a:off x="3966244" y="1875815"/>
            <a:ext cx="143727" cy="119279"/>
          </a:xfrm>
          <a:prstGeom prst="homePlate">
            <a:avLst/>
          </a:prstGeom>
          <a:gradFill flip="none" rotWithShape="1">
            <a:gsLst>
              <a:gs pos="0">
                <a:schemeClr val="accent2">
                  <a:lumMod val="84000"/>
                </a:schemeClr>
              </a:gs>
              <a:gs pos="100000">
                <a:schemeClr val="accent2"/>
              </a:gs>
            </a:gsLst>
            <a:lin ang="19800000" scaled="0"/>
            <a:tileRect/>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7" name="米菲PPT136"/>
          <p:cNvSpPr/>
          <p:nvPr/>
        </p:nvSpPr>
        <p:spPr>
          <a:xfrm>
            <a:off x="3966244" y="2973680"/>
            <a:ext cx="143727" cy="119279"/>
          </a:xfrm>
          <a:prstGeom prst="homePlate">
            <a:avLst/>
          </a:prstGeom>
          <a:gradFill flip="none" rotWithShape="1">
            <a:gsLst>
              <a:gs pos="0">
                <a:schemeClr val="accent2">
                  <a:lumMod val="84000"/>
                </a:schemeClr>
              </a:gs>
              <a:gs pos="100000">
                <a:schemeClr val="accent2"/>
              </a:gs>
            </a:gsLst>
            <a:lin ang="19800000" scaled="0"/>
            <a:tileRect/>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8" name="米菲PPT137"/>
          <p:cNvSpPr/>
          <p:nvPr/>
        </p:nvSpPr>
        <p:spPr>
          <a:xfrm>
            <a:off x="3966244" y="4098089"/>
            <a:ext cx="143727" cy="119279"/>
          </a:xfrm>
          <a:prstGeom prst="homePlate">
            <a:avLst/>
          </a:prstGeom>
          <a:gradFill flip="none" rotWithShape="1">
            <a:gsLst>
              <a:gs pos="0">
                <a:schemeClr val="accent2">
                  <a:lumMod val="84000"/>
                </a:schemeClr>
              </a:gs>
              <a:gs pos="100000">
                <a:schemeClr val="accent2"/>
              </a:gs>
            </a:gsLst>
            <a:lin ang="19800000" scaled="0"/>
            <a:tileRect/>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FFFF"/>
              </a:solidFill>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144" name="米菲PPT107"/>
          <p:cNvSpPr txBox="1"/>
          <p:nvPr/>
        </p:nvSpPr>
        <p:spPr>
          <a:xfrm>
            <a:off x="1961806" y="1822980"/>
            <a:ext cx="1643551" cy="738664"/>
          </a:xfrm>
          <a:prstGeom prst="rect">
            <a:avLst/>
          </a:prstGeom>
          <a:noFill/>
        </p:spPr>
        <p:txBody>
          <a:bodyPr wrap="square">
            <a:spAutoFit/>
          </a:bodyPr>
          <a:lstStyle/>
          <a:p>
            <a:r>
              <a:rPr lang="zh-CN" altLang="en-US" sz="1050" dirty="0"/>
              <a:t>结构化梳理城市</a:t>
            </a:r>
            <a:r>
              <a:rPr lang="en-GB" altLang="zh-CN" sz="1050" dirty="0"/>
              <a:t>x</a:t>
            </a:r>
            <a:r>
              <a:rPr lang="zh-CN" altLang="en-US" sz="1050" dirty="0"/>
              <a:t>人群</a:t>
            </a:r>
            <a:r>
              <a:rPr lang="en-GB" altLang="zh-CN" sz="1050" dirty="0"/>
              <a:t>x</a:t>
            </a:r>
            <a:r>
              <a:rPr lang="zh-CN" altLang="en-US" sz="1050" dirty="0"/>
              <a:t>场景</a:t>
            </a:r>
            <a:r>
              <a:rPr lang="en-GB" altLang="zh-CN" sz="1050" dirty="0"/>
              <a:t>x</a:t>
            </a:r>
            <a:r>
              <a:rPr lang="zh-CN" altLang="en-US" sz="1050" dirty="0"/>
              <a:t>供给需求现状，明确榜单矩阵现状及优化方向，试点上线</a:t>
            </a:r>
            <a:endParaRPr lang="zh-CN" altLang="en-US" sz="1050" dirty="0">
              <a:effectLst/>
            </a:endParaRPr>
          </a:p>
        </p:txBody>
      </p:sp>
      <p:sp>
        <p:nvSpPr>
          <p:cNvPr id="147" name="米菲PPT107"/>
          <p:cNvSpPr txBox="1"/>
          <p:nvPr/>
        </p:nvSpPr>
        <p:spPr>
          <a:xfrm>
            <a:off x="4110795" y="1828987"/>
            <a:ext cx="1643551" cy="577081"/>
          </a:xfrm>
          <a:prstGeom prst="rect">
            <a:avLst/>
          </a:prstGeom>
          <a:noFill/>
        </p:spPr>
        <p:txBody>
          <a:bodyPr wrap="square">
            <a:spAutoFit/>
          </a:bodyPr>
          <a:lstStyle/>
          <a:p>
            <a:r>
              <a:rPr lang="zh-CN" altLang="en-US" sz="1050" dirty="0"/>
              <a:t>强化榜单可运营机制，提升营销、转化能力，在试点城市落地新榜单</a:t>
            </a:r>
            <a:endParaRPr lang="zh-CN" altLang="en-US" sz="1050" dirty="0">
              <a:effectLst/>
            </a:endParaRPr>
          </a:p>
        </p:txBody>
      </p:sp>
      <p:sp>
        <p:nvSpPr>
          <p:cNvPr id="151" name="米菲PPT107"/>
          <p:cNvSpPr txBox="1"/>
          <p:nvPr/>
        </p:nvSpPr>
        <p:spPr>
          <a:xfrm>
            <a:off x="6674819" y="1828986"/>
            <a:ext cx="1680501" cy="577081"/>
          </a:xfrm>
          <a:prstGeom prst="rect">
            <a:avLst/>
          </a:prstGeom>
          <a:noFill/>
        </p:spPr>
        <p:txBody>
          <a:bodyPr wrap="square">
            <a:spAutoFit/>
          </a:bodyPr>
          <a:lstStyle/>
          <a:p>
            <a:r>
              <a:rPr lang="zh-CN" altLang="en-US" sz="1050" dirty="0"/>
              <a:t>持续基于</a:t>
            </a:r>
            <a:r>
              <a:rPr lang="en-GB" altLang="zh-CN" sz="1050" dirty="0"/>
              <a:t>BC</a:t>
            </a:r>
            <a:r>
              <a:rPr lang="zh-CN" altLang="en-US" sz="1050" dirty="0"/>
              <a:t>及平台价值，在物理世界迁移复制，扩充榜单矩阵及城市覆盖</a:t>
            </a:r>
            <a:endParaRPr lang="zh-CN" altLang="en-US" sz="1050" dirty="0">
              <a:effectLst/>
            </a:endParaRPr>
          </a:p>
        </p:txBody>
      </p:sp>
      <p:sp>
        <p:nvSpPr>
          <p:cNvPr id="152" name="米菲PPT131"/>
          <p:cNvSpPr txBox="1"/>
          <p:nvPr/>
        </p:nvSpPr>
        <p:spPr>
          <a:xfrm>
            <a:off x="6651193" y="3005985"/>
            <a:ext cx="1643551" cy="415498"/>
          </a:xfrm>
          <a:prstGeom prst="rect">
            <a:avLst/>
          </a:prstGeom>
          <a:noFill/>
        </p:spPr>
        <p:txBody>
          <a:bodyPr wrap="square">
            <a:spAutoFit/>
          </a:bodyPr>
          <a:lstStyle/>
          <a:p>
            <a:r>
              <a:rPr lang="zh-CN" altLang="en-US" sz="1050" dirty="0"/>
              <a:t>完善非搜流量场协同链路，开展榜单宣发</a:t>
            </a:r>
            <a:r>
              <a:rPr lang="en-US" altLang="zh-CN" sz="1050" dirty="0"/>
              <a:t>/</a:t>
            </a:r>
            <a:r>
              <a:rPr lang="zh-CN" altLang="en-US" sz="1050" dirty="0"/>
              <a:t>活动</a:t>
            </a:r>
            <a:endParaRPr lang="zh-CN" altLang="en-US" sz="1050" dirty="0">
              <a:effectLst/>
            </a:endParaRPr>
          </a:p>
        </p:txBody>
      </p:sp>
      <p:sp>
        <p:nvSpPr>
          <p:cNvPr id="153" name="米菲PPT131"/>
          <p:cNvSpPr txBox="1"/>
          <p:nvPr/>
        </p:nvSpPr>
        <p:spPr>
          <a:xfrm>
            <a:off x="6688148" y="4121145"/>
            <a:ext cx="1643551" cy="415498"/>
          </a:xfrm>
          <a:prstGeom prst="rect">
            <a:avLst/>
          </a:prstGeom>
          <a:noFill/>
        </p:spPr>
        <p:txBody>
          <a:bodyPr wrap="square">
            <a:spAutoFit/>
          </a:bodyPr>
          <a:lstStyle/>
          <a:p>
            <a:r>
              <a:rPr lang="zh-CN" altLang="en-US" sz="1050" dirty="0"/>
              <a:t>扩大新增资产、特色资产挖掘覆盖门店</a:t>
            </a:r>
            <a:endParaRPr lang="zh-CN" altLang="en-US" sz="1050" dirty="0">
              <a:effectLst/>
            </a:endParaRPr>
          </a:p>
        </p:txBody>
      </p:sp>
      <p:cxnSp>
        <p:nvCxnSpPr>
          <p:cNvPr id="154" name="米菲PPT101"/>
          <p:cNvCxnSpPr/>
          <p:nvPr/>
        </p:nvCxnSpPr>
        <p:spPr>
          <a:xfrm>
            <a:off x="6518987" y="1641995"/>
            <a:ext cx="0" cy="2973197"/>
          </a:xfrm>
          <a:prstGeom prst="straightConnector1">
            <a:avLst/>
          </a:prstGeom>
          <a:ln w="12700">
            <a:gradFill flip="none" rotWithShape="1">
              <a:gsLst>
                <a:gs pos="24000">
                  <a:schemeClr val="accent1">
                    <a:lumMod val="59000"/>
                    <a:lumOff val="41000"/>
                  </a:schemeClr>
                </a:gs>
                <a:gs pos="100000">
                  <a:schemeClr val="accent1">
                    <a:lumMod val="9000"/>
                    <a:lumOff val="91000"/>
                  </a:schemeClr>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55" name="米菲PPT110"/>
          <p:cNvSpPr/>
          <p:nvPr/>
        </p:nvSpPr>
        <p:spPr>
          <a:xfrm>
            <a:off x="6447124" y="1875815"/>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156" name="米菲PPT112"/>
          <p:cNvSpPr/>
          <p:nvPr/>
        </p:nvSpPr>
        <p:spPr>
          <a:xfrm>
            <a:off x="6447124" y="2984150"/>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157" name="米菲PPT113"/>
          <p:cNvSpPr/>
          <p:nvPr/>
        </p:nvSpPr>
        <p:spPr>
          <a:xfrm>
            <a:off x="6447124" y="4098089"/>
            <a:ext cx="143727" cy="119279"/>
          </a:xfrm>
          <a:prstGeom prst="homePlate">
            <a:avLst/>
          </a:pr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200">
              <a:solidFill>
                <a:srgbClr val="FFFFFF"/>
              </a:solidFill>
              <a:latin typeface="MiSans Bold" panose="00000800000000000000" pitchFamily="2" charset="-122"/>
              <a:ea typeface="MiSans Bold" panose="00000800000000000000" pitchFamily="2" charset="-122"/>
              <a:cs typeface="MiSans Medium" panose="00000600000000000000" pitchFamily="2" charset="-122"/>
            </a:endParaRP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3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bNumberIsYear val=&quot;0&quot;/&gt;&lt;m_strFormatTime&gt;%m/%y&lt;/m_strFormatTime&gt;&lt;m_yearfmt&gt;&lt;begin val=&quot;4&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0&quot;&gt;&lt;elem m_fUsage=&quot;2.30605181889226695802E+00&quot;&gt;&lt;m_msothmcolidx val=&quot;0&quot;/&gt;&lt;m_rgb r=&quot;FF&quot; g=&quot;DD&quot; b=&quot;3C&quot;/&gt;&lt;/elem&gt;&lt;elem m_fUsage=&quot;1.66791628982774908785E+00&quot;&gt;&lt;m_msothmcolidx val=&quot;0&quot;/&gt;&lt;m_rgb r=&quot;59&quot; g=&quot;8A&quot; b=&quot;39&quot;/&gt;&lt;/elem&gt;&lt;elem m_fUsage=&quot;1.31949000000000005173E+00&quot;&gt;&lt;m_msothmcolidx val=&quot;0&quot;/&gt;&lt;m_rgb r=&quot;81&quot; g=&quot;E1&quot; b=&quot;6B&quot;/&gt;&lt;/elem&gt;&lt;elem m_fUsage=&quot;1.20589113209464904308E+00&quot;&gt;&lt;m_msothmcolidx val=&quot;0&quot;/&gt;&lt;m_rgb r=&quot;F4&quot; g=&quot;80&quot; b=&quot;32&quot;/&gt;&lt;/elem&gt;&lt;elem m_fUsage=&quot;9.58879313086665852062E-01&quot;&gt;&lt;m_msothmcolidx val=&quot;0&quot;/&gt;&lt;m_rgb r=&quot;8D&quot; g=&quot;BA&quot; b=&quot;E2&quot;/&gt;&lt;/elem&gt;&lt;elem m_fUsage=&quot;9.03573802785075042010E-01&quot;&gt;&lt;m_msothmcolidx val=&quot;0&quot;/&gt;&lt;m_rgb r=&quot;FF&quot; g=&quot;E9&quot; b=&quot;7D&quot;/&gt;&lt;/elem&gt;&lt;elem m_fUsage=&quot;8.17887699000000023553E-01&quot;&gt;&lt;m_msothmcolidx val=&quot;0&quot;/&gt;&lt;m_rgb r=&quot;5F&quot; g=&quot;D5&quot; b=&quot;DE&quot;/&gt;&lt;/elem&gt;&lt;elem m_fUsage=&quot;2.54186582832900132001E-01&quot;&gt;&lt;m_msothmcolidx val=&quot;0&quot;/&gt;&lt;m_rgb r=&quot;FF&quot; g=&quot;B6&quot; b=&quot;5B&quot;/&gt;&lt;/elem&gt;&lt;elem m_fUsage=&quot;1.85302018885184188735E-01&quot;&gt;&lt;m_msothmcolidx val=&quot;0&quot;/&gt;&lt;m_rgb r=&quot;94&quot; g=&quot;E2&quot; b=&quot;E9&quot;/&gt;&lt;/elem&gt;&lt;elem m_fUsage=&quot;7.17897987691853145531E-02&quot;&gt;&lt;m_msothmcolidx val=&quot;0&quot;/&gt;&lt;m_rgb r=&quot;FF&quot; g=&quot;EF&quot; b=&quot;A2&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美团点评">
      <a:dk1>
        <a:srgbClr val="000000"/>
      </a:dk1>
      <a:lt1>
        <a:srgbClr val="FFFFFF"/>
      </a:lt1>
      <a:dk2>
        <a:srgbClr val="44546A"/>
      </a:dk2>
      <a:lt2>
        <a:srgbClr val="E7E6E6"/>
      </a:lt2>
      <a:accent1>
        <a:srgbClr val="FFD100"/>
      </a:accent1>
      <a:accent2>
        <a:srgbClr val="FE8C00"/>
      </a:accent2>
      <a:accent3>
        <a:srgbClr val="FF4949"/>
      </a:accent3>
      <a:accent4>
        <a:srgbClr val="FF6600"/>
      </a:accent4>
      <a:accent5>
        <a:srgbClr val="0079FF"/>
      </a:accent5>
      <a:accent6>
        <a:srgbClr val="70AD47"/>
      </a:accent6>
      <a:hlink>
        <a:srgbClr val="0563C1"/>
      </a:hlink>
      <a:folHlink>
        <a:srgbClr val="954F72"/>
      </a:folHlink>
    </a:clrScheme>
    <a:fontScheme name="自定义 2">
      <a:majorFont>
        <a:latin typeface="Calibri"/>
        <a:ea typeface="楷体"/>
        <a:cs typeface=""/>
      </a:majorFont>
      <a:minorFont>
        <a:latin typeface="Calibri"/>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2561</TotalTime>
  <Words>5511</Words>
  <Application>Microsoft Office PowerPoint</Application>
  <PresentationFormat>全屏显示(16:9)</PresentationFormat>
  <Paragraphs>762</Paragraphs>
  <Slides>19</Slides>
  <Notes>16</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30" baseType="lpstr">
      <vt:lpstr>MiSans Bold</vt:lpstr>
      <vt:lpstr>MiSans Medium</vt:lpstr>
      <vt:lpstr>quote-cjk-patch</vt:lpstr>
      <vt:lpstr>等线</vt:lpstr>
      <vt:lpstr>楷体</vt:lpstr>
      <vt:lpstr>微软雅黑</vt:lpstr>
      <vt:lpstr>Arial</vt:lpstr>
      <vt:lpstr>Calibri</vt:lpstr>
      <vt:lpstr>Wingdings</vt:lpstr>
      <vt:lpstr>Office 主题​​</vt:lpstr>
      <vt:lpstr>think-cell 幻灯片</vt:lpstr>
      <vt:lpstr>PowerPoint 演示文稿</vt:lpstr>
      <vt:lpstr>用户到餐找店需求分析</vt:lpstr>
      <vt:lpstr>用户找店决策需求分析</vt:lpstr>
      <vt:lpstr>行业榜单需求覆盖分析</vt:lpstr>
      <vt:lpstr>PowerPoint 演示文稿</vt:lpstr>
      <vt:lpstr>场景榜单运营思路</vt:lpstr>
      <vt:lpstr>场景榜单供给示例</vt:lpstr>
      <vt:lpstr>PowerPoint 演示文稿</vt:lpstr>
      <vt:lpstr>榜单动态运营策略</vt:lpstr>
      <vt:lpstr>用户找店决策动线分析</vt:lpstr>
      <vt:lpstr>用户找店决策动线方案示例</vt:lpstr>
      <vt:lpstr>用户找店决策动线方案示例-大搜sug词投放试点效果</vt:lpstr>
      <vt:lpstr>用户找店决产品动线建设</vt:lpstr>
      <vt:lpstr>PowerPoint 演示文稿</vt:lpstr>
      <vt:lpstr>AI对榜单的挑战和机会</vt:lpstr>
      <vt:lpstr>AI榜单挖掘能力</vt:lpstr>
      <vt:lpstr>PowerPoint 演示文稿</vt:lpstr>
      <vt:lpstr>协同</vt:lpstr>
      <vt:lpstr>里程碑</vt:lpstr>
    </vt:vector>
  </TitlesOfParts>
  <Company>windows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到餐商户供给的分析框架</dc:title>
  <dc:creator>陈婧佳</dc:creator>
  <cp:lastModifiedBy>Han Su</cp:lastModifiedBy>
  <cp:revision>8</cp:revision>
  <cp:lastPrinted>2026-02-09T08:16:11Z</cp:lastPrinted>
  <dcterms:created xsi:type="dcterms:W3CDTF">2026-02-09T08:16:11Z</dcterms:created>
  <dcterms:modified xsi:type="dcterms:W3CDTF">2026-02-12T02:30:02Z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
    <vt:lpwstr>【宣讲版】榜单矩阵运营规划分析-20260205-20260209.pptx</vt:lpwstr>
  </property>
  <property fmtid="{D5CDD505-2E9C-101B-9397-08002B2CF9AE}" pid="3" name="o">
    <vt:lpwstr>ORG_INFO</vt:lpwstr>
  </property>
  <property fmtid="{D5CDD505-2E9C-101B-9397-08002B2CF9AE}" pid="4" name="d">
    <vt:lpwstr>XM</vt:lpwstr>
  </property>
  <property fmtid="{D5CDD505-2E9C-101B-9397-08002B2CF9AE}" pid="5" name="i">
    <vt:lpwstr>1</vt:lpwstr>
  </property>
  <property fmtid="{D5CDD505-2E9C-101B-9397-08002B2CF9AE}" pid="6" name="s">
    <vt:lpwstr>1967411efb4d7944b24fda19b99d5193ad1a7494</vt:lpwstr>
  </property>
  <property fmtid="{D5CDD505-2E9C-101B-9397-08002B2CF9AE}" pid="7" name="ICV">
    <vt:lpwstr/>
  </property>
  <property fmtid="{D5CDD505-2E9C-101B-9397-08002B2CF9AE}" pid="8" name="KSOProductBuildVer">
    <vt:lpwstr>2052-0.0.0.0</vt:lpwstr>
  </property>
</Properties>
</file>