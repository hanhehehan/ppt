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14999077" r:id="rId2"/>
    <p:sldId id="14998990" r:id="rId3"/>
    <p:sldId id="14999119" r:id="rId4"/>
    <p:sldId id="14999128" r:id="rId5"/>
    <p:sldId id="14999095" r:id="rId6"/>
    <p:sldId id="14999102" r:id="rId7"/>
    <p:sldId id="14999117" r:id="rId8"/>
    <p:sldId id="14999122" r:id="rId9"/>
    <p:sldId id="14999126" r:id="rId10"/>
    <p:sldId id="14999131" r:id="rId11"/>
    <p:sldId id="14999132" r:id="rId12"/>
    <p:sldId id="14999123" r:id="rId13"/>
    <p:sldId id="14999120" r:id="rId14"/>
    <p:sldId id="14999114" r:id="rId15"/>
    <p:sldId id="14999129" r:id="rId16"/>
  </p:sldIdLst>
  <p:sldSz cx="9144000" cy="5143500" type="screen16x9"/>
  <p:notesSz cx="6807200" cy="9939338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8FF19DF-85BF-E341-98A6-C424481E6A71}">
          <p14:sldIdLst>
            <p14:sldId id="14999077"/>
            <p14:sldId id="14998990"/>
            <p14:sldId id="14999119"/>
            <p14:sldId id="14999128"/>
            <p14:sldId id="14999095"/>
            <p14:sldId id="14999102"/>
            <p14:sldId id="14999117"/>
            <p14:sldId id="14999122"/>
            <p14:sldId id="14999126"/>
            <p14:sldId id="14999131"/>
            <p14:sldId id="14999132"/>
            <p14:sldId id="14999123"/>
            <p14:sldId id="14999120"/>
            <p14:sldId id="14999114"/>
            <p14:sldId id="14999129"/>
          </p14:sldIdLst>
        </p14:section>
      </p14:sectionLst>
    </p:ext>
    <p:ext uri="{EFAFB233-063F-42B5-8137-9DF3F51BA10A}">
      <p15:sldGuideLst xmlns:p15="http://schemas.microsoft.com/office/powerpoint/2012/main">
        <p15:guide id="2" pos="1701" userDrawn="1">
          <p15:clr>
            <a:srgbClr val="A4A3A4"/>
          </p15:clr>
        </p15:guide>
        <p15:guide id="3" orient="horz" pos="2346" userDrawn="1">
          <p15:clr>
            <a:srgbClr val="A4A3A4"/>
          </p15:clr>
        </p15:guide>
        <p15:guide id="4" orient="horz" pos="1688" userDrawn="1">
          <p15:clr>
            <a:srgbClr val="A4A3A4"/>
          </p15:clr>
        </p15:guide>
        <p15:guide id="5" pos="5670" userDrawn="1">
          <p15:clr>
            <a:srgbClr val="A4A3A4"/>
          </p15:clr>
        </p15:guide>
        <p15:guide id="6" orient="horz" pos="14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yohann" initials="w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66"/>
    <a:srgbClr val="E7E6E6"/>
    <a:srgbClr val="FFDBDB"/>
    <a:srgbClr val="F56649"/>
    <a:srgbClr val="FDB48F"/>
    <a:srgbClr val="607698"/>
    <a:srgbClr val="F0F3F6"/>
    <a:srgbClr val="FFFDFA"/>
    <a:srgbClr val="E9E8E6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8" autoAdjust="0"/>
    <p:restoredTop sz="87847" autoAdjust="0"/>
  </p:normalViewPr>
  <p:slideViewPr>
    <p:cSldViewPr snapToGrid="0" showGuides="1">
      <p:cViewPr varScale="1">
        <p:scale>
          <a:sx n="179" d="100"/>
          <a:sy n="179" d="100"/>
        </p:scale>
        <p:origin x="198" y="150"/>
      </p:cViewPr>
      <p:guideLst>
        <p:guide pos="1701"/>
        <p:guide orient="horz" pos="2346"/>
        <p:guide orient="horz" pos="1688"/>
        <p:guide pos="5670"/>
        <p:guide orient="horz" pos="1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8" d="100"/>
        <a:sy n="148" d="100"/>
      </p:scale>
      <p:origin x="0" y="0"/>
    </p:cViewPr>
  </p:notesTextViewPr>
  <p:sorterViewPr>
    <p:cViewPr>
      <p:scale>
        <a:sx n="200" d="100"/>
        <a:sy n="200" d="100"/>
      </p:scale>
      <p:origin x="0" y="-7052"/>
    </p:cViewPr>
  </p:sorterViewPr>
  <p:notesViewPr>
    <p:cSldViewPr snapToGrid="0">
      <p:cViewPr varScale="1">
        <p:scale>
          <a:sx n="76" d="100"/>
          <a:sy n="76" d="100"/>
        </p:scale>
        <p:origin x="3448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tags" Target="tags/tag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oleObject" Target="file:///\\Users\chenchen\Downloads\&#21069;&#21488;&#34892;&#25919;&#21306;&#19978;&#27036;&#38376;&#24215;&#25104;&#27036;&#24773;&#20917;-20251119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r>
              <a:rPr lang="zh-CN" sz="900" dirty="0"/>
              <a:t>城市行政区</a:t>
            </a:r>
            <a:r>
              <a:rPr lang="en-US" altLang="zh-CN" sz="900" dirty="0"/>
              <a:t>/</a:t>
            </a:r>
            <a:r>
              <a:rPr lang="zh-CN" altLang="en-US" sz="900" dirty="0"/>
              <a:t>商圈</a:t>
            </a:r>
            <a:r>
              <a:rPr lang="zh-CN" sz="900" dirty="0"/>
              <a:t>上榜门店覆盖率分布情况</a:t>
            </a:r>
          </a:p>
        </c:rich>
      </c:tx>
      <c:layout>
        <c:manualLayout>
          <c:xMode val="edge"/>
          <c:yMode val="edge"/>
          <c:x val="0.15351789262153576"/>
          <c:y val="7.13959118813291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'美团覆盖 (2)'!$R$28</c:f>
              <c:strCache>
                <c:ptCount val="1"/>
                <c:pt idx="0">
                  <c:v>核心城市-行政区数量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'美团覆盖 (2)'!$Q$29:$Q$33</c:f>
              <c:strCache>
                <c:ptCount val="5"/>
                <c:pt idx="0">
                  <c:v>(0,5%]</c:v>
                </c:pt>
                <c:pt idx="1">
                  <c:v>(5%,10%]</c:v>
                </c:pt>
                <c:pt idx="2">
                  <c:v>(10%,20%]</c:v>
                </c:pt>
                <c:pt idx="3">
                  <c:v>(20%,30%]</c:v>
                </c:pt>
                <c:pt idx="4">
                  <c:v>&gt;30%</c:v>
                </c:pt>
              </c:strCache>
            </c:strRef>
          </c:cat>
          <c:val>
            <c:numRef>
              <c:f>'美团覆盖 (2)'!$R$29:$R$33</c:f>
              <c:numCache>
                <c:formatCode>#,##0</c:formatCode>
                <c:ptCount val="5"/>
                <c:pt idx="0">
                  <c:v>380</c:v>
                </c:pt>
                <c:pt idx="1">
                  <c:v>128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80-AB49-846B-19B458A1BE00}"/>
            </c:ext>
          </c:extLst>
        </c:ser>
        <c:ser>
          <c:idx val="1"/>
          <c:order val="1"/>
          <c:tx>
            <c:strRef>
              <c:f>'美团覆盖 (2)'!$S$28</c:f>
              <c:strCache>
                <c:ptCount val="1"/>
                <c:pt idx="0">
                  <c:v>其他城市-行政区数量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'美团覆盖 (2)'!$Q$29:$Q$33</c:f>
              <c:strCache>
                <c:ptCount val="5"/>
                <c:pt idx="0">
                  <c:v>(0,5%]</c:v>
                </c:pt>
                <c:pt idx="1">
                  <c:v>(5%,10%]</c:v>
                </c:pt>
                <c:pt idx="2">
                  <c:v>(10%,20%]</c:v>
                </c:pt>
                <c:pt idx="3">
                  <c:v>(20%,30%]</c:v>
                </c:pt>
                <c:pt idx="4">
                  <c:v>&gt;30%</c:v>
                </c:pt>
              </c:strCache>
            </c:strRef>
          </c:cat>
          <c:val>
            <c:numRef>
              <c:f>'美团覆盖 (2)'!$S$29:$S$33</c:f>
              <c:numCache>
                <c:formatCode>#,##0</c:formatCode>
                <c:ptCount val="5"/>
                <c:pt idx="0">
                  <c:v>2686</c:v>
                </c:pt>
                <c:pt idx="1">
                  <c:v>1523</c:v>
                </c:pt>
                <c:pt idx="2">
                  <c:v>749</c:v>
                </c:pt>
                <c:pt idx="3">
                  <c:v>191</c:v>
                </c:pt>
                <c:pt idx="4">
                  <c:v>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80-AB49-846B-19B458A1B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82150896"/>
        <c:axId val="1382159632"/>
      </c:barChart>
      <c:catAx>
        <c:axId val="1382150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endParaRPr lang="zh-CN"/>
          </a:p>
        </c:txPr>
        <c:crossAx val="1382159632"/>
        <c:crosses val="autoZero"/>
        <c:auto val="1"/>
        <c:lblAlgn val="ctr"/>
        <c:lblOffset val="100"/>
        <c:noMultiLvlLbl val="0"/>
      </c:catAx>
      <c:valAx>
        <c:axId val="138215963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endParaRPr lang="zh-CN"/>
          </a:p>
        </c:txPr>
        <c:crossAx val="1382150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latin typeface="楷体" panose="02010609060101010101" pitchFamily="49" charset="-122"/>
          <a:ea typeface="楷体" panose="02010609060101010101" pitchFamily="49" charset="-122"/>
        </a:defRPr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#1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7FC29D-5AD0-1B45-B0B3-F9E9D4FA97EE}" type="doc">
      <dgm:prSet loTypeId="urn:microsoft.com/office/officeart/2005/8/layout/cycle3#1" loCatId="" qsTypeId="urn:microsoft.com/office/officeart/2005/8/quickstyle/simple1#1" qsCatId="simple" csTypeId="urn:microsoft.com/office/officeart/2005/8/colors/accent1_1#1" csCatId="accent1" phldr="1"/>
      <dgm:spPr/>
      <dgm:t>
        <a:bodyPr/>
        <a:lstStyle/>
        <a:p>
          <a:endParaRPr lang="zh-CN" altLang="en-US"/>
        </a:p>
      </dgm:t>
    </dgm:pt>
    <dgm:pt modelId="{2C4F9206-91EB-4342-A0E9-A42FA6285210}">
      <dgm:prSet phldrT="[文本]" custT="1"/>
      <dgm:spPr/>
      <dgm:t>
        <a:bodyPr/>
        <a:lstStyle/>
        <a:p>
          <a:r>
            <a:rPr lang="zh-CN" altLang="en-US" sz="1100" dirty="0"/>
            <a:t>起心动念</a:t>
          </a:r>
        </a:p>
      </dgm:t>
    </dgm:pt>
    <dgm:pt modelId="{FFCBF76F-C0FF-0742-9079-16492790EEFF}" type="parTrans" cxnId="{97E361F5-AB6B-F240-B70A-76252BCD8EAE}">
      <dgm:prSet/>
      <dgm:spPr/>
      <dgm:t>
        <a:bodyPr/>
        <a:lstStyle/>
        <a:p>
          <a:endParaRPr lang="zh-CN" altLang="en-US" sz="1050"/>
        </a:p>
      </dgm:t>
    </dgm:pt>
    <dgm:pt modelId="{19713C81-905E-3A48-8AC2-5528C9F844F5}" type="sibTrans" cxnId="{97E361F5-AB6B-F240-B70A-76252BCD8EAE}">
      <dgm:prSet/>
      <dgm:spPr/>
      <dgm:t>
        <a:bodyPr/>
        <a:lstStyle/>
        <a:p>
          <a:endParaRPr lang="zh-CN" altLang="en-US" sz="1050"/>
        </a:p>
      </dgm:t>
    </dgm:pt>
    <dgm:pt modelId="{8B189787-A259-D340-BD50-6093807443DA}">
      <dgm:prSet phldrT="[文本]" custT="1"/>
      <dgm:spPr/>
      <dgm:t>
        <a:bodyPr/>
        <a:lstStyle/>
        <a:p>
          <a:r>
            <a:rPr lang="zh-CN" altLang="en-US" sz="1100" dirty="0"/>
            <a:t>看榜决策</a:t>
          </a:r>
        </a:p>
      </dgm:t>
    </dgm:pt>
    <dgm:pt modelId="{D94224CA-E4C2-0142-85F4-9049ED21FACD}" type="parTrans" cxnId="{F8BFB758-F0A0-C14A-BB27-32126C5128A2}">
      <dgm:prSet/>
      <dgm:spPr/>
      <dgm:t>
        <a:bodyPr/>
        <a:lstStyle/>
        <a:p>
          <a:endParaRPr lang="zh-CN" altLang="en-US" sz="1050"/>
        </a:p>
      </dgm:t>
    </dgm:pt>
    <dgm:pt modelId="{B72665BE-6865-BB44-AE17-55540776E236}" type="sibTrans" cxnId="{F8BFB758-F0A0-C14A-BB27-32126C5128A2}">
      <dgm:prSet/>
      <dgm:spPr/>
      <dgm:t>
        <a:bodyPr/>
        <a:lstStyle/>
        <a:p>
          <a:endParaRPr lang="zh-CN" altLang="en-US" sz="1050"/>
        </a:p>
      </dgm:t>
    </dgm:pt>
    <dgm:pt modelId="{85151145-98D6-1640-B155-C41FE6880D71}">
      <dgm:prSet phldrT="[文本]" custT="1"/>
      <dgm:spPr>
        <a:solidFill>
          <a:schemeClr val="accent1"/>
        </a:solidFill>
      </dgm:spPr>
      <dgm:t>
        <a:bodyPr/>
        <a:lstStyle/>
        <a:p>
          <a:r>
            <a:rPr lang="zh-CN" altLang="en-US" sz="1100" dirty="0"/>
            <a:t>激励转化</a:t>
          </a:r>
        </a:p>
      </dgm:t>
    </dgm:pt>
    <dgm:pt modelId="{1444B385-2E08-D94F-B8DE-C113A8207502}" type="parTrans" cxnId="{7FF28171-EA7D-D14A-8306-5133D2517E53}">
      <dgm:prSet/>
      <dgm:spPr/>
      <dgm:t>
        <a:bodyPr/>
        <a:lstStyle/>
        <a:p>
          <a:endParaRPr lang="zh-CN" altLang="en-US" sz="1050"/>
        </a:p>
      </dgm:t>
    </dgm:pt>
    <dgm:pt modelId="{0E109E0D-6858-4E45-BE3C-AB9FEFE4E046}" type="sibTrans" cxnId="{7FF28171-EA7D-D14A-8306-5133D2517E53}">
      <dgm:prSet/>
      <dgm:spPr/>
      <dgm:t>
        <a:bodyPr/>
        <a:lstStyle/>
        <a:p>
          <a:endParaRPr lang="zh-CN" altLang="en-US" sz="1050"/>
        </a:p>
      </dgm:t>
    </dgm:pt>
    <dgm:pt modelId="{C8D30989-F477-DC43-89AF-69647307C99A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100" dirty="0"/>
            <a:t>到店履约验证</a:t>
          </a:r>
          <a:endParaRPr lang="en-US" altLang="zh-CN" sz="1100" dirty="0"/>
        </a:p>
      </dgm:t>
    </dgm:pt>
    <dgm:pt modelId="{867CB45C-19AE-9040-B271-83A17A667C41}" type="parTrans" cxnId="{8EB04BA2-35A3-4A46-9273-051475D68F6C}">
      <dgm:prSet/>
      <dgm:spPr/>
      <dgm:t>
        <a:bodyPr/>
        <a:lstStyle/>
        <a:p>
          <a:endParaRPr lang="zh-CN" altLang="en-US" sz="1050"/>
        </a:p>
      </dgm:t>
    </dgm:pt>
    <dgm:pt modelId="{35110311-6E7E-864B-9826-442764FEDD7F}" type="sibTrans" cxnId="{8EB04BA2-35A3-4A46-9273-051475D68F6C}">
      <dgm:prSet/>
      <dgm:spPr/>
      <dgm:t>
        <a:bodyPr/>
        <a:lstStyle/>
        <a:p>
          <a:endParaRPr lang="zh-CN" altLang="en-US" sz="1050"/>
        </a:p>
      </dgm:t>
    </dgm:pt>
    <dgm:pt modelId="{3D7C707F-0207-4744-A41B-3BEE806ADC84}">
      <dgm:prSet phldrT="[文本]" custT="1"/>
      <dgm:spPr>
        <a:solidFill>
          <a:schemeClr val="accent1"/>
        </a:solidFill>
      </dgm:spPr>
      <dgm:t>
        <a:bodyPr/>
        <a:lstStyle/>
        <a:p>
          <a:r>
            <a:rPr lang="zh-CN" altLang="en-US" sz="1100" dirty="0"/>
            <a:t>促进分享</a:t>
          </a:r>
          <a:endParaRPr lang="en-US" altLang="zh-CN" sz="1100" dirty="0"/>
        </a:p>
      </dgm:t>
    </dgm:pt>
    <dgm:pt modelId="{238BAD4B-A49F-224C-A5EE-D7B2B5B03731}" type="parTrans" cxnId="{661562B0-B107-6843-920A-742F9DC75689}">
      <dgm:prSet/>
      <dgm:spPr/>
      <dgm:t>
        <a:bodyPr/>
        <a:lstStyle/>
        <a:p>
          <a:endParaRPr lang="zh-CN" altLang="en-US" sz="1050"/>
        </a:p>
      </dgm:t>
    </dgm:pt>
    <dgm:pt modelId="{257F7888-E114-2E4D-A3D7-33B4C5DDA1FD}" type="sibTrans" cxnId="{661562B0-B107-6843-920A-742F9DC75689}">
      <dgm:prSet/>
      <dgm:spPr/>
      <dgm:t>
        <a:bodyPr/>
        <a:lstStyle/>
        <a:p>
          <a:endParaRPr lang="zh-CN" altLang="en-US" sz="1050"/>
        </a:p>
      </dgm:t>
    </dgm:pt>
    <dgm:pt modelId="{B5AA7BB9-EACA-894E-87C1-A8ADF5378EE7}" type="pres">
      <dgm:prSet presAssocID="{5C7FC29D-5AD0-1B45-B0B3-F9E9D4FA97EE}" presName="Name0" presStyleCnt="0">
        <dgm:presLayoutVars>
          <dgm:dir val="rev"/>
          <dgm:resizeHandles val="exact"/>
        </dgm:presLayoutVars>
      </dgm:prSet>
      <dgm:spPr/>
    </dgm:pt>
    <dgm:pt modelId="{2E32DA32-3767-0A4E-867B-315A7EF2A6B5}" type="pres">
      <dgm:prSet presAssocID="{5C7FC29D-5AD0-1B45-B0B3-F9E9D4FA97EE}" presName="cycle" presStyleCnt="0"/>
      <dgm:spPr/>
    </dgm:pt>
    <dgm:pt modelId="{D94542C6-3247-D143-B704-8545CBA29CA6}" type="pres">
      <dgm:prSet presAssocID="{2C4F9206-91EB-4342-A0E9-A42FA6285210}" presName="nodeFirstNode" presStyleLbl="node1" presStyleIdx="0" presStyleCnt="5">
        <dgm:presLayoutVars>
          <dgm:bulletEnabled val="1"/>
        </dgm:presLayoutVars>
      </dgm:prSet>
      <dgm:spPr/>
    </dgm:pt>
    <dgm:pt modelId="{9CF16E21-06CF-9943-92CA-AB9F7AD89BC1}" type="pres">
      <dgm:prSet presAssocID="{19713C81-905E-3A48-8AC2-5528C9F844F5}" presName="sibTransFirstNode" presStyleLbl="bgShp" presStyleIdx="0" presStyleCnt="1"/>
      <dgm:spPr/>
    </dgm:pt>
    <dgm:pt modelId="{E056F0FB-4491-CB40-8030-66294E7AA22D}" type="pres">
      <dgm:prSet presAssocID="{8B189787-A259-D340-BD50-6093807443DA}" presName="nodeFollowingNodes" presStyleLbl="node1" presStyleIdx="1" presStyleCnt="5" custRadScaleRad="110239" custRadScaleInc="-19725">
        <dgm:presLayoutVars>
          <dgm:bulletEnabled val="1"/>
        </dgm:presLayoutVars>
      </dgm:prSet>
      <dgm:spPr/>
    </dgm:pt>
    <dgm:pt modelId="{81E8AB5E-C012-AF4E-96B2-54371A8EA944}" type="pres">
      <dgm:prSet presAssocID="{85151145-98D6-1640-B155-C41FE6880D71}" presName="nodeFollowingNodes" presStyleLbl="node1" presStyleIdx="2" presStyleCnt="5">
        <dgm:presLayoutVars>
          <dgm:bulletEnabled val="1"/>
        </dgm:presLayoutVars>
      </dgm:prSet>
      <dgm:spPr/>
    </dgm:pt>
    <dgm:pt modelId="{4D5B5DFC-4694-5944-97EB-8453DF30B64A}" type="pres">
      <dgm:prSet presAssocID="{C8D30989-F477-DC43-89AF-69647307C99A}" presName="nodeFollowingNodes" presStyleLbl="node1" presStyleIdx="3" presStyleCnt="5">
        <dgm:presLayoutVars>
          <dgm:bulletEnabled val="1"/>
        </dgm:presLayoutVars>
      </dgm:prSet>
      <dgm:spPr/>
    </dgm:pt>
    <dgm:pt modelId="{2073447F-7A54-9444-81B9-5A2E09BE56CE}" type="pres">
      <dgm:prSet presAssocID="{3D7C707F-0207-4744-A41B-3BEE806ADC84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F1B2C113-6A2E-7449-BC10-9CFDF6511A0C}" type="presOf" srcId="{C8D30989-F477-DC43-89AF-69647307C99A}" destId="{4D5B5DFC-4694-5944-97EB-8453DF30B64A}" srcOrd="0" destOrd="0" presId="urn:microsoft.com/office/officeart/2005/8/layout/cycle3#1"/>
    <dgm:cxn modelId="{C4AD951F-3532-8D45-8733-0C0FC3127DED}" type="presOf" srcId="{5C7FC29D-5AD0-1B45-B0B3-F9E9D4FA97EE}" destId="{B5AA7BB9-EACA-894E-87C1-A8ADF5378EE7}" srcOrd="0" destOrd="0" presId="urn:microsoft.com/office/officeart/2005/8/layout/cycle3#1"/>
    <dgm:cxn modelId="{15B9ED22-08EC-D546-B72E-E945FC65A541}" type="presOf" srcId="{19713C81-905E-3A48-8AC2-5528C9F844F5}" destId="{9CF16E21-06CF-9943-92CA-AB9F7AD89BC1}" srcOrd="0" destOrd="0" presId="urn:microsoft.com/office/officeart/2005/8/layout/cycle3#1"/>
    <dgm:cxn modelId="{7FF28171-EA7D-D14A-8306-5133D2517E53}" srcId="{5C7FC29D-5AD0-1B45-B0B3-F9E9D4FA97EE}" destId="{85151145-98D6-1640-B155-C41FE6880D71}" srcOrd="2" destOrd="0" parTransId="{1444B385-2E08-D94F-B8DE-C113A8207502}" sibTransId="{0E109E0D-6858-4E45-BE3C-AB9FEFE4E046}"/>
    <dgm:cxn modelId="{49293A72-0B68-E447-A89B-58538CE7B87C}" type="presOf" srcId="{85151145-98D6-1640-B155-C41FE6880D71}" destId="{81E8AB5E-C012-AF4E-96B2-54371A8EA944}" srcOrd="0" destOrd="0" presId="urn:microsoft.com/office/officeart/2005/8/layout/cycle3#1"/>
    <dgm:cxn modelId="{F8BFB758-F0A0-C14A-BB27-32126C5128A2}" srcId="{5C7FC29D-5AD0-1B45-B0B3-F9E9D4FA97EE}" destId="{8B189787-A259-D340-BD50-6093807443DA}" srcOrd="1" destOrd="0" parTransId="{D94224CA-E4C2-0142-85F4-9049ED21FACD}" sibTransId="{B72665BE-6865-BB44-AE17-55540776E236}"/>
    <dgm:cxn modelId="{4AD08398-E4D6-3F44-A4CD-3E8ED6D571B3}" type="presOf" srcId="{3D7C707F-0207-4744-A41B-3BEE806ADC84}" destId="{2073447F-7A54-9444-81B9-5A2E09BE56CE}" srcOrd="0" destOrd="0" presId="urn:microsoft.com/office/officeart/2005/8/layout/cycle3#1"/>
    <dgm:cxn modelId="{8EB04BA2-35A3-4A46-9273-051475D68F6C}" srcId="{5C7FC29D-5AD0-1B45-B0B3-F9E9D4FA97EE}" destId="{C8D30989-F477-DC43-89AF-69647307C99A}" srcOrd="3" destOrd="0" parTransId="{867CB45C-19AE-9040-B271-83A17A667C41}" sibTransId="{35110311-6E7E-864B-9826-442764FEDD7F}"/>
    <dgm:cxn modelId="{661562B0-B107-6843-920A-742F9DC75689}" srcId="{5C7FC29D-5AD0-1B45-B0B3-F9E9D4FA97EE}" destId="{3D7C707F-0207-4744-A41B-3BEE806ADC84}" srcOrd="4" destOrd="0" parTransId="{238BAD4B-A49F-224C-A5EE-D7B2B5B03731}" sibTransId="{257F7888-E114-2E4D-A3D7-33B4C5DDA1FD}"/>
    <dgm:cxn modelId="{D43B3BB4-CCC2-F543-97F3-1006A59A1007}" type="presOf" srcId="{8B189787-A259-D340-BD50-6093807443DA}" destId="{E056F0FB-4491-CB40-8030-66294E7AA22D}" srcOrd="0" destOrd="0" presId="urn:microsoft.com/office/officeart/2005/8/layout/cycle3#1"/>
    <dgm:cxn modelId="{A7619FC1-4C5C-9D4C-BC2C-463B4C451B70}" type="presOf" srcId="{2C4F9206-91EB-4342-A0E9-A42FA6285210}" destId="{D94542C6-3247-D143-B704-8545CBA29CA6}" srcOrd="0" destOrd="0" presId="urn:microsoft.com/office/officeart/2005/8/layout/cycle3#1"/>
    <dgm:cxn modelId="{97E361F5-AB6B-F240-B70A-76252BCD8EAE}" srcId="{5C7FC29D-5AD0-1B45-B0B3-F9E9D4FA97EE}" destId="{2C4F9206-91EB-4342-A0E9-A42FA6285210}" srcOrd="0" destOrd="0" parTransId="{FFCBF76F-C0FF-0742-9079-16492790EEFF}" sibTransId="{19713C81-905E-3A48-8AC2-5528C9F844F5}"/>
    <dgm:cxn modelId="{190703E4-5001-4040-A29C-9399393D6C45}" type="presParOf" srcId="{B5AA7BB9-EACA-894E-87C1-A8ADF5378EE7}" destId="{2E32DA32-3767-0A4E-867B-315A7EF2A6B5}" srcOrd="0" destOrd="0" presId="urn:microsoft.com/office/officeart/2005/8/layout/cycle3#1"/>
    <dgm:cxn modelId="{A21489A8-57F9-2842-85AD-DA2D499A7F3C}" type="presParOf" srcId="{2E32DA32-3767-0A4E-867B-315A7EF2A6B5}" destId="{D94542C6-3247-D143-B704-8545CBA29CA6}" srcOrd="0" destOrd="0" presId="urn:microsoft.com/office/officeart/2005/8/layout/cycle3#1"/>
    <dgm:cxn modelId="{9C5F4F77-5945-1248-BEEA-3141CA7FBC00}" type="presParOf" srcId="{2E32DA32-3767-0A4E-867B-315A7EF2A6B5}" destId="{9CF16E21-06CF-9943-92CA-AB9F7AD89BC1}" srcOrd="1" destOrd="0" presId="urn:microsoft.com/office/officeart/2005/8/layout/cycle3#1"/>
    <dgm:cxn modelId="{BD8F63FD-7C98-AF4C-8775-75DB97BC8897}" type="presParOf" srcId="{2E32DA32-3767-0A4E-867B-315A7EF2A6B5}" destId="{E056F0FB-4491-CB40-8030-66294E7AA22D}" srcOrd="2" destOrd="0" presId="urn:microsoft.com/office/officeart/2005/8/layout/cycle3#1"/>
    <dgm:cxn modelId="{7E6FBA52-351B-214F-8FD8-5BF5A5C5EB28}" type="presParOf" srcId="{2E32DA32-3767-0A4E-867B-315A7EF2A6B5}" destId="{81E8AB5E-C012-AF4E-96B2-54371A8EA944}" srcOrd="3" destOrd="0" presId="urn:microsoft.com/office/officeart/2005/8/layout/cycle3#1"/>
    <dgm:cxn modelId="{0D4C9749-8AB3-084B-82A3-529679B79F5E}" type="presParOf" srcId="{2E32DA32-3767-0A4E-867B-315A7EF2A6B5}" destId="{4D5B5DFC-4694-5944-97EB-8453DF30B64A}" srcOrd="4" destOrd="0" presId="urn:microsoft.com/office/officeart/2005/8/layout/cycle3#1"/>
    <dgm:cxn modelId="{FFF8FF55-59AB-E74E-AC9B-3C89DDC6651E}" type="presParOf" srcId="{2E32DA32-3767-0A4E-867B-315A7EF2A6B5}" destId="{2073447F-7A54-9444-81B9-5A2E09BE56CE}" srcOrd="5" destOrd="0" presId="urn:microsoft.com/office/officeart/2005/8/layout/cycle3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F16E21-06CF-9943-92CA-AB9F7AD89BC1}">
      <dsp:nvSpPr>
        <dsp:cNvPr id="0" name=""/>
        <dsp:cNvSpPr/>
      </dsp:nvSpPr>
      <dsp:spPr>
        <a:xfrm>
          <a:off x="282400" y="220126"/>
          <a:ext cx="2403685" cy="2403685"/>
        </a:xfrm>
        <a:prstGeom prst="leftCircularArrow">
          <a:avLst>
            <a:gd name="adj1" fmla="val 5544"/>
            <a:gd name="adj2" fmla="val 330680"/>
            <a:gd name="adj3" fmla="val 18405095"/>
            <a:gd name="adj4" fmla="val 15145914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4542C6-3247-D143-B704-8545CBA29CA6}">
      <dsp:nvSpPr>
        <dsp:cNvPr id="0" name=""/>
        <dsp:cNvSpPr/>
      </dsp:nvSpPr>
      <dsp:spPr>
        <a:xfrm>
          <a:off x="975484" y="230798"/>
          <a:ext cx="1017518" cy="50875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起心动念</a:t>
          </a:r>
        </a:p>
      </dsp:txBody>
      <dsp:txXfrm>
        <a:off x="1000320" y="255634"/>
        <a:ext cx="967846" cy="459087"/>
      </dsp:txXfrm>
    </dsp:sp>
    <dsp:sp modelId="{E056F0FB-4491-CB40-8030-66294E7AA22D}">
      <dsp:nvSpPr>
        <dsp:cNvPr id="0" name=""/>
        <dsp:cNvSpPr/>
      </dsp:nvSpPr>
      <dsp:spPr>
        <a:xfrm>
          <a:off x="0" y="1134473"/>
          <a:ext cx="1017518" cy="50875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看榜决策</a:t>
          </a:r>
        </a:p>
      </dsp:txBody>
      <dsp:txXfrm>
        <a:off x="24836" y="1159309"/>
        <a:ext cx="967846" cy="459087"/>
      </dsp:txXfrm>
    </dsp:sp>
    <dsp:sp modelId="{81E8AB5E-C012-AF4E-96B2-54371A8EA944}">
      <dsp:nvSpPr>
        <dsp:cNvPr id="0" name=""/>
        <dsp:cNvSpPr/>
      </dsp:nvSpPr>
      <dsp:spPr>
        <a:xfrm>
          <a:off x="372989" y="2085087"/>
          <a:ext cx="1017518" cy="508759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激励转化</a:t>
          </a:r>
        </a:p>
      </dsp:txBody>
      <dsp:txXfrm>
        <a:off x="397825" y="2109923"/>
        <a:ext cx="967846" cy="459087"/>
      </dsp:txXfrm>
    </dsp:sp>
    <dsp:sp modelId="{4D5B5DFC-4694-5944-97EB-8453DF30B64A}">
      <dsp:nvSpPr>
        <dsp:cNvPr id="0" name=""/>
        <dsp:cNvSpPr/>
      </dsp:nvSpPr>
      <dsp:spPr>
        <a:xfrm>
          <a:off x="1577979" y="2085087"/>
          <a:ext cx="1017518" cy="50875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到店履约验证</a:t>
          </a:r>
          <a:endParaRPr lang="en-US" altLang="zh-CN" sz="1100" kern="1200" dirty="0"/>
        </a:p>
      </dsp:txBody>
      <dsp:txXfrm>
        <a:off x="1602815" y="2109923"/>
        <a:ext cx="967846" cy="459087"/>
      </dsp:txXfrm>
    </dsp:sp>
    <dsp:sp modelId="{2073447F-7A54-9444-81B9-5A2E09BE56CE}">
      <dsp:nvSpPr>
        <dsp:cNvPr id="0" name=""/>
        <dsp:cNvSpPr/>
      </dsp:nvSpPr>
      <dsp:spPr>
        <a:xfrm>
          <a:off x="1950341" y="939074"/>
          <a:ext cx="1017518" cy="508759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促进分享</a:t>
          </a:r>
          <a:endParaRPr lang="en-US" altLang="zh-CN" sz="1100" kern="1200" dirty="0"/>
        </a:p>
      </dsp:txBody>
      <dsp:txXfrm>
        <a:off x="1975177" y="963910"/>
        <a:ext cx="967846" cy="4590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#1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dstNode" val="node1"/>
                <dgm:param type="connRout" val="longCurve"/>
                <dgm:param type="begPts" val="midR"/>
                <dgm:param type="endPts" val="midL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dstNode" val="node1"/>
                <dgm:param type="connRout" val="longCurve"/>
                <dgm:param type="begPts" val="midL"/>
                <dgm:param type="endPts" val="midR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dstNode" val="nodeFirstNode"/>
                      <dgm:param type="connRout" val="longCurve"/>
                      <dgm:param type="begPts" val="midR"/>
                      <dgm:param type="endPts" val="midL"/>
                    </dgm:alg>
                  </dgm:if>
                  <dgm:else name="Name15">
                    <dgm:alg type="conn">
                      <dgm:param type="dstNode" val="nodeFirstNode"/>
                      <dgm:param type="connRout" val="longCurve"/>
                      <dgm:param type="begPts" val="midL"/>
                      <dgm:param type="endPts" val="midR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C94BE-2FCD-E14D-BE46-75045743C492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5C933-74A5-4A4D-B3F1-D428FDB7A8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DBD08E20-E2E4-BC43-9479-D71B4713CF91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10192-B253-41D5-A493-1466DCB1FD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1" name="备注占位符 10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chemeClr val="accent2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900" dirty="0"/>
              <a:t>成本（钱</a:t>
            </a:r>
            <a:r>
              <a:rPr lang="en-US" altLang="zh-CN" sz="900" dirty="0"/>
              <a:t>/</a:t>
            </a:r>
            <a:r>
              <a:rPr lang="zh-CN" altLang="en-US" sz="900" dirty="0"/>
              <a:t>时间）越高榜单的用户价值越高</a:t>
            </a:r>
            <a:endParaRPr lang="en-US" altLang="zh-CN" sz="900" dirty="0">
              <a:latin typeface="+mn-ea"/>
              <a:ea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sz="900" dirty="0">
              <a:latin typeface="+mn-ea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sz="900" dirty="0">
              <a:latin typeface="+mn-ea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600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000" dirty="0"/>
              <a:t>美团</a:t>
            </a:r>
            <a:r>
              <a:rPr lang="en-US" altLang="zh-CN" sz="1000" dirty="0"/>
              <a:t>1.8</a:t>
            </a:r>
            <a:r>
              <a:rPr lang="zh-CN" altLang="en-US" sz="1000" dirty="0"/>
              <a:t>亿，点评</a:t>
            </a:r>
            <a:r>
              <a:rPr lang="en-US" altLang="zh-CN" sz="1000" dirty="0"/>
              <a:t>2400w</a:t>
            </a:r>
            <a:r>
              <a:rPr lang="zh-CN" altLang="en-US" sz="1000" dirty="0"/>
              <a:t>，</a:t>
            </a:r>
            <a:r>
              <a:rPr lang="en-US" altLang="zh-CN" sz="1000" dirty="0"/>
              <a:t>D+7</a:t>
            </a:r>
            <a:r>
              <a:rPr lang="zh-CN" altLang="en-US" sz="1000" dirty="0"/>
              <a:t>亿，</a:t>
            </a:r>
            <a:r>
              <a:rPr lang="en-US" altLang="zh-CN" sz="1000" dirty="0"/>
              <a:t>B+2</a:t>
            </a:r>
            <a:r>
              <a:rPr lang="zh-CN" altLang="en-US" sz="1000" dirty="0"/>
              <a:t>亿</a:t>
            </a:r>
            <a:r>
              <a:rPr lang="en-US" altLang="zh-CN" sz="1000" dirty="0"/>
              <a:t>+</a:t>
            </a:r>
            <a:endParaRPr lang="zh-CN" altLang="en-US" sz="1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0" dirty="0"/>
              <a:t>灵活性：</a:t>
            </a:r>
            <a:r>
              <a:rPr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可覆盖更多城市，细分区域，小店和新店，商家可以自行参考运营</a:t>
            </a:r>
            <a:r>
              <a:rPr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rPr>
              <a:t>。</a:t>
            </a:r>
          </a:p>
          <a:p>
            <a:r>
              <a:rPr kumimoji="1" lang="zh-CN" altLang="en-US" b="0" dirty="0"/>
              <a:t>时效性：</a:t>
            </a:r>
            <a:r>
              <a:rPr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按时段、天更新，更好地反映当下商户和用户的经营、需求变化</a:t>
            </a:r>
            <a:endParaRPr lang="en-US" altLang="zh-CN" sz="1200" b="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商户运营更简单：</a:t>
            </a:r>
            <a:r>
              <a:rPr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单一透明的规则，</a:t>
            </a:r>
            <a:r>
              <a:rPr lang="en-US" altLang="zh-CN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TO</a:t>
            </a:r>
            <a:r>
              <a:rPr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 </a:t>
            </a:r>
            <a:r>
              <a:rPr lang="en-GB" altLang="zh-CN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B</a:t>
            </a:r>
            <a:r>
              <a:rPr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定位效应，更好的牵引和卷动、教育商家</a:t>
            </a:r>
            <a:r>
              <a:rPr lang="zh-CN" altLang="en-US" sz="1200" b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Medium" panose="00000600000000000000" pitchFamily="2" charset="-122"/>
              </a:rPr>
              <a:t>。</a:t>
            </a:r>
            <a:endParaRPr lang="en-US" altLang="zh-CN" sz="1200" b="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复购用户</a:t>
            </a:r>
            <a:r>
              <a:rPr lang="en-US" altLang="zh-CN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/</a:t>
            </a: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新用户、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菜品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/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环境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/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价格</a:t>
            </a:r>
            <a:r>
              <a:rPr lang="en-US" altLang="zh-CN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/…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首先，交易合作可能就不应该成为门槛，但可以作为加分。选项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+mn-ea"/>
              </a:rPr>
              <a:t>美团榜单页面日均</a:t>
            </a:r>
            <a:r>
              <a:rPr lang="en-US" altLang="zh-CN" sz="1200" dirty="0">
                <a:latin typeface="+mn-ea"/>
              </a:rPr>
              <a:t>UV</a:t>
            </a:r>
            <a:r>
              <a:rPr lang="zh-CN" altLang="en-US" sz="1200" dirty="0">
                <a:latin typeface="+mn-ea"/>
              </a:rPr>
              <a:t>最高</a:t>
            </a:r>
            <a:r>
              <a:rPr lang="en-US" altLang="zh-CN" sz="1200" dirty="0">
                <a:latin typeface="+mn-ea"/>
              </a:rPr>
              <a:t>66w</a:t>
            </a:r>
            <a:r>
              <a:rPr lang="zh-CN" altLang="en-US" sz="1200" dirty="0">
                <a:latin typeface="+mn-ea"/>
              </a:rPr>
              <a:t>（渗透率</a:t>
            </a:r>
            <a:r>
              <a:rPr lang="en-US" altLang="zh-CN" sz="1200" dirty="0">
                <a:latin typeface="+mn-ea"/>
              </a:rPr>
              <a:t>1.7%</a:t>
            </a:r>
            <a:r>
              <a:rPr lang="zh-CN" altLang="en-US" sz="1200" dirty="0">
                <a:latin typeface="+mn-ea"/>
              </a:rPr>
              <a:t>），低于点评榜单页面</a:t>
            </a:r>
            <a:r>
              <a:rPr lang="en-US" altLang="zh-CN" sz="1200" dirty="0">
                <a:latin typeface="+mn-ea"/>
              </a:rPr>
              <a:t>UV</a:t>
            </a:r>
            <a:r>
              <a:rPr lang="zh-CN" altLang="en-US" sz="1200" dirty="0">
                <a:latin typeface="+mn-ea"/>
              </a:rPr>
              <a:t>最高指数榜</a:t>
            </a:r>
            <a:r>
              <a:rPr lang="en-US" altLang="zh-CN" sz="1200" dirty="0">
                <a:latin typeface="+mn-ea"/>
              </a:rPr>
              <a:t>72w</a:t>
            </a:r>
            <a:r>
              <a:rPr lang="zh-CN" altLang="en-US" sz="1200" dirty="0">
                <a:latin typeface="+mn-ea"/>
              </a:rPr>
              <a:t>（渗透率</a:t>
            </a:r>
            <a:r>
              <a:rPr lang="en-US" altLang="zh-CN" sz="1200" dirty="0">
                <a:latin typeface="+mn-ea"/>
              </a:rPr>
              <a:t>5.5%</a:t>
            </a:r>
            <a:r>
              <a:rPr lang="zh-CN" altLang="en-US" sz="1200" dirty="0">
                <a:latin typeface="+mn-ea"/>
              </a:rPr>
              <a:t>），</a:t>
            </a:r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渗透率均不高，用户心智上可做功空间较大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用户核心路径中的入口建设：搜索结果页（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40%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）、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POI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页（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38%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）、美食频道（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34%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）及首页猜喜、金刚、大搜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SUG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089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高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GTV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、高流量低交易、特色店、潜力店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964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后台行政区</a:t>
            </a:r>
            <a:r>
              <a:rPr lang="en-US" altLang="zh-CN" dirty="0"/>
              <a:t>/</a:t>
            </a:r>
            <a:r>
              <a:rPr lang="zh-CN" altLang="en-US" dirty="0"/>
              <a:t>商圈看</a:t>
            </a:r>
            <a:r>
              <a:rPr lang="en-US" altLang="zh-CN" dirty="0"/>
              <a:t>95%</a:t>
            </a:r>
            <a:r>
              <a:rPr lang="zh-CN" altLang="en-US" dirty="0"/>
              <a:t>覆盖（所有</a:t>
            </a:r>
            <a:r>
              <a:rPr lang="en-US" altLang="zh-CN" dirty="0"/>
              <a:t>/</a:t>
            </a:r>
            <a:r>
              <a:rPr lang="zh-CN" altLang="en-US" dirty="0"/>
              <a:t>美团</a:t>
            </a:r>
            <a:r>
              <a:rPr lang="en-US" altLang="zh-CN" dirty="0"/>
              <a:t>/</a:t>
            </a:r>
            <a:r>
              <a:rPr lang="zh-CN" altLang="en-US" dirty="0"/>
              <a:t>点评差不多），前台看</a:t>
            </a:r>
            <a:r>
              <a:rPr lang="en-US" altLang="zh-CN" dirty="0"/>
              <a:t>88%</a:t>
            </a:r>
            <a:r>
              <a:rPr lang="zh-CN" altLang="en-US" dirty="0"/>
              <a:t>（美团</a:t>
            </a:r>
            <a:r>
              <a:rPr lang="en-US" altLang="zh-CN" dirty="0"/>
              <a:t>57%&lt;</a:t>
            </a:r>
            <a:r>
              <a:rPr lang="zh-CN" altLang="en-US" dirty="0"/>
              <a:t>点评</a:t>
            </a:r>
            <a:r>
              <a:rPr lang="en-US" altLang="zh-CN" dirty="0"/>
              <a:t>87%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人气</a:t>
            </a:r>
            <a:r>
              <a:rPr lang="en-US" altLang="zh-CN" dirty="0"/>
              <a:t>60-80</a:t>
            </a:r>
            <a:r>
              <a:rPr lang="zh-CN" altLang="en-US" dirty="0"/>
              <a:t>，好评</a:t>
            </a:r>
            <a:r>
              <a:rPr lang="en-US" altLang="zh-CN" dirty="0"/>
              <a:t>20-30w</a:t>
            </a:r>
          </a:p>
          <a:p>
            <a:endParaRPr lang="en-US" altLang="zh-CN" dirty="0"/>
          </a:p>
          <a:p>
            <a:r>
              <a:rPr lang="zh-CN" altLang="en-US" dirty="0">
                <a:effectLst/>
              </a:rPr>
              <a:t>根据已爬取的</a:t>
            </a:r>
            <a:r>
              <a:rPr lang="en-US" altLang="zh-CN" dirty="0">
                <a:effectLst/>
              </a:rPr>
              <a:t>B+【</a:t>
            </a:r>
            <a:r>
              <a:rPr lang="zh-CN" altLang="en-US" dirty="0">
                <a:effectLst/>
              </a:rPr>
              <a:t>市级</a:t>
            </a:r>
            <a:r>
              <a:rPr lang="en-US" altLang="zh-CN" dirty="0">
                <a:effectLst/>
              </a:rPr>
              <a:t>】</a:t>
            </a:r>
            <a:r>
              <a:rPr lang="zh-CN" altLang="en-US" dirty="0">
                <a:effectLst/>
              </a:rPr>
              <a:t>扫街榜指数榜数据共</a:t>
            </a:r>
            <a:r>
              <a:rPr lang="en-US" altLang="zh-CN" dirty="0">
                <a:effectLst/>
              </a:rPr>
              <a:t>49w</a:t>
            </a:r>
            <a:r>
              <a:rPr lang="zh-CN" altLang="en-US" dirty="0">
                <a:effectLst/>
              </a:rPr>
              <a:t>店，其中</a:t>
            </a:r>
            <a:r>
              <a:rPr lang="en-US" altLang="zh-CN" dirty="0">
                <a:effectLst/>
              </a:rPr>
              <a:t>60%</a:t>
            </a:r>
            <a:r>
              <a:rPr lang="zh-CN" altLang="en-US" dirty="0">
                <a:effectLst/>
              </a:rPr>
              <a:t>已被美团点评榜单覆盖（近</a:t>
            </a:r>
            <a:r>
              <a:rPr lang="en-US" altLang="zh-CN" dirty="0">
                <a:effectLst/>
              </a:rPr>
              <a:t>3</a:t>
            </a:r>
            <a:r>
              <a:rPr lang="zh-CN" altLang="en-US" dirty="0">
                <a:effectLst/>
              </a:rPr>
              <a:t>个月上榜过美团点评任一榜单，其中核心城市</a:t>
            </a:r>
            <a:r>
              <a:rPr lang="en-US" altLang="zh-CN" dirty="0">
                <a:effectLst/>
              </a:rPr>
              <a:t>75%</a:t>
            </a:r>
            <a:r>
              <a:rPr lang="zh-CN" altLang="en-US" dirty="0">
                <a:effectLst/>
              </a:rPr>
              <a:t>，非核心城市</a:t>
            </a:r>
            <a:r>
              <a:rPr lang="en-US" altLang="zh-CN" dirty="0">
                <a:effectLst/>
              </a:rPr>
              <a:t>56%</a:t>
            </a:r>
            <a:r>
              <a:rPr lang="zh-CN" altLang="en-US" dirty="0">
                <a:effectLst/>
              </a:rPr>
              <a:t>）。</a:t>
            </a:r>
            <a:r>
              <a:rPr lang="zh-CN" altLang="en-US" b="1" dirty="0">
                <a:effectLst/>
              </a:rPr>
              <a:t>未覆盖主要有三大原因： </a:t>
            </a:r>
            <a:endParaRPr lang="zh-CN" altLang="en-US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超过一半的品类为小吃快餐、饮品、面包蛋糕甜品、其他餐饮等；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正餐品类抽样，</a:t>
            </a:r>
            <a:r>
              <a:rPr lang="zh-CN" altLang="en-US" b="1" dirty="0">
                <a:effectLst/>
              </a:rPr>
              <a:t>主要为</a:t>
            </a:r>
            <a:r>
              <a:rPr lang="en-US" altLang="zh-CN" b="1" dirty="0">
                <a:effectLst/>
              </a:rPr>
              <a:t>B+</a:t>
            </a:r>
            <a:r>
              <a:rPr lang="zh-CN" altLang="en-US" b="1" dirty="0">
                <a:effectLst/>
              </a:rPr>
              <a:t>低位</a:t>
            </a:r>
            <a:r>
              <a:rPr lang="en-US" altLang="zh-CN" b="1" dirty="0">
                <a:effectLst/>
              </a:rPr>
              <a:t>/</a:t>
            </a:r>
            <a:r>
              <a:rPr lang="zh-CN" altLang="en-US" b="1" dirty="0">
                <a:effectLst/>
              </a:rPr>
              <a:t>窄类上榜</a:t>
            </a:r>
            <a:r>
              <a:rPr lang="zh-CN" altLang="en-US" dirty="0">
                <a:effectLst/>
              </a:rPr>
              <a:t>（子品类排</a:t>
            </a:r>
            <a:r>
              <a:rPr lang="en-US" altLang="zh-CN" dirty="0">
                <a:effectLst/>
              </a:rPr>
              <a:t>10</a:t>
            </a:r>
            <a:r>
              <a:rPr lang="zh-CN" altLang="en-US" dirty="0">
                <a:effectLst/>
              </a:rPr>
              <a:t>名及以上，或老字号等窄类榜单），美团侧未合作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销量低而未上榜，点评评分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流量低而未上榜；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美团单侧未覆盖，除上述原因外，主要受在线合作门槛影响。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>
              <a:latin typeface="+mn-ea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2026/2/6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1198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1999" y="987425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5" y="288000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51999" y="298633"/>
            <a:ext cx="45719" cy="427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54104" y="2045244"/>
            <a:ext cx="6435792" cy="5765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000" b="1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单击此处添加章节标题</a:t>
            </a:r>
          </a:p>
        </p:txBody>
      </p:sp>
      <p:sp>
        <p:nvSpPr>
          <p:cNvPr id="5" name="矩形"/>
          <p:cNvSpPr/>
          <p:nvPr userDrawn="1"/>
        </p:nvSpPr>
        <p:spPr>
          <a:xfrm>
            <a:off x="-5052" y="4061865"/>
            <a:ext cx="9149052" cy="10816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0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79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5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250825" y="123825"/>
            <a:ext cx="57881" cy="11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0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79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6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3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250825" y="123825"/>
            <a:ext cx="57881" cy="8635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tags" Target="../tags/tag2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0" imgH="0" progId="TCLayout.ActiveDocument.1">
                  <p:embed/>
                </p:oleObj>
              </mc:Choice>
              <mc:Fallback>
                <p:oleObj name="think-cell 幻灯片" r:id="rId7" imgW="0" imgH="0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7" name="文本占位符 11"/>
          <p:cNvSpPr txBox="1"/>
          <p:nvPr userDrawn="1"/>
        </p:nvSpPr>
        <p:spPr>
          <a:xfrm>
            <a:off x="7736319" y="4739964"/>
            <a:ext cx="1078947" cy="251811"/>
          </a:xfrm>
          <a:prstGeom prst="rect">
            <a:avLst/>
          </a:prstGeom>
        </p:spPr>
        <p:txBody>
          <a:bodyPr wrap="none" anchor="ctr"/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Microsoft YaHei" panose="020B0703020204020201" pitchFamily="34" charset="-122"/>
                <a:ea typeface="Microsoft YaHei" panose="020B0703020204020201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48968B-9B7E-4AEF-AF8F-76389AEE4EF7}" type="slidenum">
              <a:rPr kumimoji="1" lang="zh-CN" altLang="en-US" baseline="0" smtClean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rPr>
              <a:t>‹#›</a:t>
            </a:fld>
            <a:endParaRPr kumimoji="1" lang="zh-CN" altLang="en-US"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6" name="标题占位符 5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n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2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Relationship Id="rId8" Type="http://schemas.openxmlformats.org/officeDocument/2006/relationships/image" Target="../media/image8.jpeg"/><Relationship Id="rId9" Type="http://schemas.openxmlformats.org/officeDocument/2006/relationships/image" Target="../media/image9.jpeg"/><Relationship Id="rId10" Type="http://schemas.openxmlformats.org/officeDocument/2006/relationships/image" Target="../media/image10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3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eg"/><Relationship Id="rId6" Type="http://schemas.openxmlformats.org/officeDocument/2006/relationships/image" Target="../media/image17.jpe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25.jpe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eg"/><Relationship Id="rId4" Type="http://schemas.openxmlformats.org/officeDocument/2006/relationships/image" Target="../media/image28.png"/><Relationship Id="rId5" Type="http://schemas.openxmlformats.org/officeDocument/2006/relationships/image" Target="../media/image29.jpe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jpeg"/><Relationship Id="rId4" Type="http://schemas.openxmlformats.org/officeDocument/2006/relationships/image" Target="../media/image36.jpeg"/><Relationship Id="rId5" Type="http://schemas.openxmlformats.org/officeDocument/2006/relationships/image" Target="../media/image37.jpeg"/><Relationship Id="rId6" Type="http://schemas.openxmlformats.org/officeDocument/2006/relationships/image" Target="../media/image38.jpeg"/><Relationship Id="rId7" Type="http://schemas.openxmlformats.org/officeDocument/2006/relationships/image" Target="../media/image39.jpeg"/><Relationship Id="rId8" Type="http://schemas.openxmlformats.org/officeDocument/2006/relationships/image" Target="../media/image40.jpeg"/><Relationship Id="rId9" Type="http://schemas.openxmlformats.org/officeDocument/2006/relationships/image" Target="../media/image3.png"/><Relationship Id="rId10" Type="http://schemas.openxmlformats.org/officeDocument/2006/relationships/image" Target="../media/image41.jpeg"/><Relationship Id="rId11" Type="http://schemas.openxmlformats.org/officeDocument/2006/relationships/image" Target="../media/image42.jpeg"/><Relationship Id="rId12" Type="http://schemas.openxmlformats.org/officeDocument/2006/relationships/image" Target="../media/image43.jpeg"/><Relationship Id="rId13" Type="http://schemas.openxmlformats.org/officeDocument/2006/relationships/image" Target="../media/image44.jpeg"/><Relationship Id="rId14" Type="http://schemas.openxmlformats.org/officeDocument/2006/relationships/image" Target="../media/image45.jpeg"/><Relationship Id="rId15" Type="http://schemas.openxmlformats.org/officeDocument/2006/relationships/image" Target="../media/image46.png"/><Relationship Id="rId16" Type="http://schemas.openxmlformats.org/officeDocument/2006/relationships/image" Target="../media/image47.png"/><Relationship Id="rId17" Type="http://schemas.openxmlformats.org/officeDocument/2006/relationships/image" Target="../media/image48.png"/><Relationship Id="rId18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榜单定位及举措讨论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标题 12"/>
          <p:cNvSpPr>
            <a:spLocks noGrp="1"/>
          </p:cNvSpPr>
          <p:nvPr>
            <p:ph type="title"/>
          </p:nvPr>
        </p:nvSpPr>
        <p:spPr/>
        <p:txBody>
          <a:bodyPr vert="horz">
            <a:noAutofit/>
          </a:bodyPr>
          <a:lstStyle/>
          <a:p>
            <a:r>
              <a:rPr lang="zh-CN" altLang="en-US" sz="1600" b="1" dirty="0">
                <a:latin typeface="+mn-ea"/>
                <a:ea typeface="+mn-ea"/>
              </a:rPr>
              <a:t>目录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87535" y="1084298"/>
            <a:ext cx="6496724" cy="197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kumimoji="1" lang="zh-CN" altLang="en-US" sz="1600" dirty="0">
                <a:latin typeface="+mn-ea"/>
              </a:rPr>
              <a:t>榜单竞品分析</a:t>
            </a:r>
            <a:endParaRPr kumimoji="1" lang="en-US" altLang="zh-CN" sz="16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kumimoji="1" lang="zh-CN" altLang="en-US" sz="1600" dirty="0">
                <a:latin typeface="+mn-ea"/>
              </a:rPr>
              <a:t>榜单定位及需求分析</a:t>
            </a:r>
            <a:endParaRPr kumimoji="1" lang="en-US" altLang="zh-CN" sz="16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kumimoji="1" lang="zh-CN" altLang="en-US" sz="1600" dirty="0">
                <a:latin typeface="+mn-ea"/>
              </a:rPr>
              <a:t>主要举措</a:t>
            </a:r>
            <a:endParaRPr kumimoji="1" lang="en-US" altLang="zh-CN" sz="16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600" dirty="0">
                <a:latin typeface="+mn-ea"/>
              </a:rPr>
              <a:t>个性化榜单讨论</a:t>
            </a:r>
            <a:endParaRPr lang="en-US" altLang="zh-CN" sz="1600" dirty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Rounded Rectangle"/>
          <p:cNvSpPr/>
          <p:nvPr/>
        </p:nvSpPr>
        <p:spPr>
          <a:xfrm>
            <a:off x="2553996" y="1571810"/>
            <a:ext cx="1972025" cy="3341907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lang="en-US" sz="900" dirty="0">
              <a:latin typeface="+mn-ea"/>
            </a:endParaRPr>
          </a:p>
          <a:p>
            <a:endParaRPr lang="en-US" sz="900" dirty="0">
              <a:latin typeface="+mn-ea"/>
            </a:endParaRPr>
          </a:p>
        </p:txBody>
      </p:sp>
      <p:sp>
        <p:nvSpPr>
          <p:cNvPr id="411" name="Rounded Rectangle"/>
          <p:cNvSpPr/>
          <p:nvPr/>
        </p:nvSpPr>
        <p:spPr>
          <a:xfrm>
            <a:off x="4709185" y="1574017"/>
            <a:ext cx="1370228" cy="3341936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sz="900">
              <a:latin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榜单竞品分析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多行业榜单分析</a:t>
            </a:r>
          </a:p>
        </p:txBody>
      </p:sp>
      <p:sp>
        <p:nvSpPr>
          <p:cNvPr id="192" name="Rounded Rectangle"/>
          <p:cNvSpPr/>
          <p:nvPr/>
        </p:nvSpPr>
        <p:spPr>
          <a:xfrm>
            <a:off x="406201" y="1544537"/>
            <a:ext cx="2008698" cy="790826"/>
          </a:xfrm>
          <a:prstGeom prst="roundRect">
            <a:avLst>
              <a:gd name="adj" fmla="val 7302"/>
            </a:avLst>
          </a:prstGeom>
          <a:solidFill>
            <a:schemeClr val="accent1"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lang="zh-CN" altLang="en-US" sz="675">
              <a:latin typeface="+mn-ea"/>
            </a:endParaRPr>
          </a:p>
        </p:txBody>
      </p:sp>
      <p:sp>
        <p:nvSpPr>
          <p:cNvPr id="202" name="Shape"/>
          <p:cNvSpPr/>
          <p:nvPr/>
        </p:nvSpPr>
        <p:spPr>
          <a:xfrm>
            <a:off x="406130" y="1544475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dirty="0">
              <a:latin typeface="+mn-ea"/>
            </a:endParaRPr>
          </a:p>
        </p:txBody>
      </p:sp>
      <p:sp>
        <p:nvSpPr>
          <p:cNvPr id="203" name="Rounded Rectangle"/>
          <p:cNvSpPr/>
          <p:nvPr/>
        </p:nvSpPr>
        <p:spPr>
          <a:xfrm>
            <a:off x="406200" y="2389602"/>
            <a:ext cx="2008698" cy="790826"/>
          </a:xfrm>
          <a:prstGeom prst="roundRect">
            <a:avLst>
              <a:gd name="adj" fmla="val 7302"/>
            </a:avLst>
          </a:prstGeom>
          <a:solidFill>
            <a:schemeClr val="accent2"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>
              <a:latin typeface="+mn-ea"/>
            </a:endParaRPr>
          </a:p>
        </p:txBody>
      </p:sp>
      <p:sp>
        <p:nvSpPr>
          <p:cNvPr id="204" name="Shape"/>
          <p:cNvSpPr/>
          <p:nvPr/>
        </p:nvSpPr>
        <p:spPr>
          <a:xfrm>
            <a:off x="406130" y="2389540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>
              <a:latin typeface="+mn-ea"/>
            </a:endParaRPr>
          </a:p>
        </p:txBody>
      </p:sp>
      <p:sp>
        <p:nvSpPr>
          <p:cNvPr id="205" name="Rounded Rectangle"/>
          <p:cNvSpPr/>
          <p:nvPr/>
        </p:nvSpPr>
        <p:spPr>
          <a:xfrm>
            <a:off x="406200" y="3248522"/>
            <a:ext cx="2003461" cy="790826"/>
          </a:xfrm>
          <a:prstGeom prst="roundRect">
            <a:avLst>
              <a:gd name="adj" fmla="val 7302"/>
            </a:avLst>
          </a:prstGeom>
          <a:solidFill>
            <a:schemeClr val="accent3"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b="1">
              <a:solidFill>
                <a:schemeClr val="tx2"/>
              </a:solidFill>
              <a:latin typeface="+mn-ea"/>
            </a:endParaRPr>
          </a:p>
        </p:txBody>
      </p:sp>
      <p:sp>
        <p:nvSpPr>
          <p:cNvPr id="206" name="Shape"/>
          <p:cNvSpPr/>
          <p:nvPr/>
        </p:nvSpPr>
        <p:spPr>
          <a:xfrm>
            <a:off x="406130" y="3248460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b="1" dirty="0">
              <a:latin typeface="+mn-ea"/>
            </a:endParaRPr>
          </a:p>
        </p:txBody>
      </p:sp>
      <p:sp>
        <p:nvSpPr>
          <p:cNvPr id="233" name="Data Science"/>
          <p:cNvSpPr txBox="1"/>
          <p:nvPr/>
        </p:nvSpPr>
        <p:spPr>
          <a:xfrm>
            <a:off x="509022" y="1778228"/>
            <a:ext cx="500578" cy="407804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电商</a:t>
            </a:r>
            <a:endParaRPr lang="en-US" altLang="zh-CN" sz="1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平台</a:t>
            </a:r>
            <a:endParaRPr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396883" y="369881"/>
            <a:ext cx="85095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行业榜单围绕</a:t>
            </a:r>
            <a:r>
              <a:rPr lang="en-US" altLang="zh-CN" sz="1200" dirty="0">
                <a:latin typeface="+mn-ea"/>
              </a:rPr>
              <a:t>【</a:t>
            </a:r>
            <a:r>
              <a:rPr lang="zh-CN" altLang="en-US" sz="1200" b="1" dirty="0">
                <a:latin typeface="+mn-ea"/>
              </a:rPr>
              <a:t>用户决策</a:t>
            </a:r>
            <a:r>
              <a:rPr lang="en-US" altLang="zh-CN" sz="1200" dirty="0">
                <a:latin typeface="+mn-ea"/>
              </a:rPr>
              <a:t>】</a:t>
            </a:r>
            <a:r>
              <a:rPr lang="zh-CN" altLang="en-US" sz="1200" dirty="0">
                <a:latin typeface="+mn-ea"/>
              </a:rPr>
              <a:t>，满足</a:t>
            </a:r>
            <a:r>
              <a:rPr lang="en-US" altLang="zh-CN" sz="1200" dirty="0">
                <a:latin typeface="+mn-ea"/>
              </a:rPr>
              <a:t>C</a:t>
            </a:r>
            <a:r>
              <a:rPr lang="zh-CN" altLang="en-US" sz="1200" dirty="0">
                <a:latin typeface="+mn-ea"/>
              </a:rPr>
              <a:t>端“</a:t>
            </a:r>
            <a:r>
              <a:rPr lang="zh-CN" altLang="en-US" sz="1200" b="1" dirty="0">
                <a:latin typeface="+mn-ea"/>
              </a:rPr>
              <a:t>高效选择</a:t>
            </a:r>
            <a:r>
              <a:rPr lang="en-US" altLang="zh-CN" sz="1200" b="1" dirty="0">
                <a:latin typeface="+mn-ea"/>
              </a:rPr>
              <a:t>+</a:t>
            </a:r>
            <a:r>
              <a:rPr lang="zh-CN" altLang="en-US" sz="1200" b="1" dirty="0">
                <a:latin typeface="+mn-ea"/>
              </a:rPr>
              <a:t>兴趣激发</a:t>
            </a:r>
            <a:r>
              <a:rPr lang="en-US" altLang="zh-CN" sz="1200" b="1" dirty="0">
                <a:latin typeface="+mn-ea"/>
              </a:rPr>
              <a:t>+</a:t>
            </a:r>
            <a:r>
              <a:rPr lang="zh-CN" altLang="en-US" sz="1200" b="1" dirty="0">
                <a:latin typeface="+mn-ea"/>
              </a:rPr>
              <a:t>趋势发现</a:t>
            </a:r>
            <a:r>
              <a:rPr lang="zh-CN" altLang="en-US" sz="1200" dirty="0">
                <a:latin typeface="+mn-ea"/>
              </a:rPr>
              <a:t>”的需求；同时，围绕</a:t>
            </a:r>
            <a:r>
              <a:rPr lang="en-US" altLang="zh-CN" sz="1200" b="1" dirty="0">
                <a:latin typeface="+mn-ea"/>
              </a:rPr>
              <a:t>【</a:t>
            </a:r>
            <a:r>
              <a:rPr lang="zh-CN" altLang="en-US" sz="1200" b="1" dirty="0">
                <a:latin typeface="+mn-ea"/>
              </a:rPr>
              <a:t>长效经营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运营</a:t>
            </a:r>
            <a:r>
              <a:rPr lang="en-US" altLang="zh-CN" sz="1200" b="1" dirty="0">
                <a:latin typeface="+mn-ea"/>
              </a:rPr>
              <a:t>】</a:t>
            </a:r>
            <a:r>
              <a:rPr lang="zh-CN" altLang="en-US" sz="1200" dirty="0">
                <a:latin typeface="+mn-ea"/>
              </a:rPr>
              <a:t>，承接</a:t>
            </a:r>
            <a:r>
              <a:rPr lang="en-US" altLang="zh-CN" sz="1200" dirty="0">
                <a:latin typeface="+mn-ea"/>
              </a:rPr>
              <a:t>B</a:t>
            </a:r>
            <a:r>
              <a:rPr lang="zh-CN" altLang="en-US" sz="1200" dirty="0">
                <a:latin typeface="+mn-ea"/>
              </a:rPr>
              <a:t>端“</a:t>
            </a:r>
            <a:r>
              <a:rPr lang="zh-CN" altLang="en-US" sz="1200" b="1" dirty="0">
                <a:latin typeface="+mn-ea"/>
              </a:rPr>
              <a:t>营销曝光</a:t>
            </a:r>
            <a:r>
              <a:rPr lang="en-US" altLang="zh-CN" sz="1200" b="1" dirty="0">
                <a:latin typeface="+mn-ea"/>
              </a:rPr>
              <a:t>+</a:t>
            </a:r>
            <a:r>
              <a:rPr lang="zh-CN" altLang="en-US" sz="1200" b="1" dirty="0">
                <a:latin typeface="+mn-ea"/>
              </a:rPr>
              <a:t>策略参谋</a:t>
            </a:r>
            <a:r>
              <a:rPr lang="en-US" altLang="zh-CN" sz="1200" b="1" dirty="0">
                <a:latin typeface="+mn-ea"/>
              </a:rPr>
              <a:t>+</a:t>
            </a:r>
            <a:r>
              <a:rPr lang="zh-CN" altLang="en-US" sz="1200" b="1" dirty="0">
                <a:latin typeface="+mn-ea"/>
              </a:rPr>
              <a:t>风向指南</a:t>
            </a:r>
            <a:r>
              <a:rPr lang="zh-CN" altLang="en-US" sz="1200" dirty="0">
                <a:latin typeface="+mn-ea"/>
              </a:rPr>
              <a:t>”的需求。通过</a:t>
            </a:r>
            <a:r>
              <a:rPr lang="zh-CN" altLang="en-US" sz="1200" b="1" dirty="0">
                <a:latin typeface="+mn-ea"/>
              </a:rPr>
              <a:t>成榜对象</a:t>
            </a:r>
            <a:r>
              <a:rPr lang="zh-CN" altLang="en-US" sz="1200" dirty="0">
                <a:latin typeface="+mn-ea"/>
              </a:rPr>
              <a:t>、</a:t>
            </a:r>
            <a:r>
              <a:rPr lang="zh-CN" altLang="en-US" sz="1200" b="1" dirty="0">
                <a:latin typeface="+mn-ea"/>
              </a:rPr>
              <a:t>需求场景</a:t>
            </a:r>
            <a:r>
              <a:rPr lang="zh-CN" altLang="en-US" sz="1200" dirty="0">
                <a:latin typeface="+mn-ea"/>
              </a:rPr>
              <a:t>、</a:t>
            </a:r>
            <a:r>
              <a:rPr lang="zh-CN" altLang="en-US" sz="1200" b="1" dirty="0">
                <a:latin typeface="+mn-ea"/>
              </a:rPr>
              <a:t>选排规则</a:t>
            </a:r>
            <a:r>
              <a:rPr lang="zh-CN" altLang="en-US" sz="1200" dirty="0">
                <a:latin typeface="+mn-ea"/>
              </a:rPr>
              <a:t>等组合榜单矩阵；</a:t>
            </a:r>
            <a:endParaRPr lang="en-US" altLang="zh-CN" sz="1200" dirty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围绕榜单的运营手段、商业模式逐渐丰富；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12" name="Rounded Rectangle"/>
          <p:cNvSpPr/>
          <p:nvPr/>
        </p:nvSpPr>
        <p:spPr>
          <a:xfrm>
            <a:off x="406201" y="4114264"/>
            <a:ext cx="2008697" cy="790826"/>
          </a:xfrm>
          <a:prstGeom prst="roundRect">
            <a:avLst>
              <a:gd name="adj" fmla="val 7302"/>
            </a:avLst>
          </a:prstGeom>
          <a:solidFill>
            <a:schemeClr val="accent4">
              <a:lumMod val="40000"/>
              <a:lumOff val="60000"/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b="1">
              <a:solidFill>
                <a:schemeClr val="tx2"/>
              </a:solidFill>
              <a:latin typeface="+mn-ea"/>
            </a:endParaRPr>
          </a:p>
        </p:txBody>
      </p:sp>
      <p:sp>
        <p:nvSpPr>
          <p:cNvPr id="313" name="Shape"/>
          <p:cNvSpPr/>
          <p:nvPr/>
        </p:nvSpPr>
        <p:spPr>
          <a:xfrm>
            <a:off x="406130" y="4114202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FF6600"/>
            </a:solidFill>
            <a:miter lim="400000"/>
          </a:ln>
        </p:spPr>
        <p:txBody>
          <a:bodyPr lIns="0" tIns="0" rIns="0" bIns="0" anchor="ctr"/>
          <a:lstStyle/>
          <a:p>
            <a:endParaRPr sz="675" b="1">
              <a:latin typeface="+mn-ea"/>
            </a:endParaRPr>
          </a:p>
        </p:txBody>
      </p:sp>
      <p:sp>
        <p:nvSpPr>
          <p:cNvPr id="323" name="Data Science"/>
          <p:cNvSpPr txBox="1"/>
          <p:nvPr/>
        </p:nvSpPr>
        <p:spPr>
          <a:xfrm>
            <a:off x="509022" y="2568722"/>
            <a:ext cx="500578" cy="407804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内容</a:t>
            </a:r>
            <a:endParaRPr lang="en-US" altLang="zh-CN" sz="1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平台</a:t>
            </a:r>
            <a:endParaRPr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4" name="Data Science"/>
          <p:cNvSpPr txBox="1"/>
          <p:nvPr/>
        </p:nvSpPr>
        <p:spPr>
          <a:xfrm>
            <a:off x="462720" y="3538960"/>
            <a:ext cx="500578" cy="223138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泛娱乐</a:t>
            </a:r>
            <a:endParaRPr lang="en-US" altLang="zh-CN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5" name="Data Science"/>
          <p:cNvSpPr txBox="1"/>
          <p:nvPr/>
        </p:nvSpPr>
        <p:spPr>
          <a:xfrm>
            <a:off x="537475" y="4293384"/>
            <a:ext cx="500578" cy="407804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生活</a:t>
            </a:r>
          </a:p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服务</a:t>
            </a:r>
          </a:p>
        </p:txBody>
      </p:sp>
      <p:sp>
        <p:nvSpPr>
          <p:cNvPr id="327" name="Data Science"/>
          <p:cNvSpPr txBox="1"/>
          <p:nvPr/>
        </p:nvSpPr>
        <p:spPr>
          <a:xfrm>
            <a:off x="1267625" y="1347426"/>
            <a:ext cx="995102" cy="223138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代表性榜单</a:t>
            </a:r>
            <a:endParaRPr sz="12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7971" y="1567113"/>
            <a:ext cx="146285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天猫必买榜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（双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11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京东金榜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（月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/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年度）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天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京数据榜：热销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好评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回购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新品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预售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折扣</a:t>
            </a:r>
            <a:endParaRPr lang="en-US" altLang="zh-CN" sz="900" dirty="0"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i="1" dirty="0">
                <a:latin typeface="+mn-ea"/>
              </a:rPr>
              <a:t>天猫竞速榜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To B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</a:t>
            </a:r>
            <a:endParaRPr lang="en-US" altLang="zh-CN" sz="900" i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34" name="文本框 333"/>
          <p:cNvSpPr txBox="1"/>
          <p:nvPr/>
        </p:nvSpPr>
        <p:spPr>
          <a:xfrm>
            <a:off x="977333" y="2399118"/>
            <a:ext cx="146855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微博热搜</a:t>
            </a:r>
            <a:endParaRPr lang="en-US" altLang="zh-CN" sz="900" dirty="0">
              <a:effectLst/>
              <a:latin typeface="+mn-ea"/>
            </a:endParaRPr>
          </a:p>
          <a:p>
            <a:r>
              <a:rPr lang="en-US" altLang="zh-CN" sz="900" dirty="0">
                <a:effectLst/>
                <a:latin typeface="+mn-ea"/>
              </a:rPr>
              <a:t>·B</a:t>
            </a:r>
            <a:r>
              <a:rPr lang="zh-CN" altLang="en-US" sz="900" dirty="0">
                <a:effectLst/>
                <a:latin typeface="+mn-ea"/>
              </a:rPr>
              <a:t>站百大</a:t>
            </a:r>
            <a:r>
              <a:rPr lang="en-US" altLang="zh-CN" sz="900" dirty="0">
                <a:effectLst/>
                <a:latin typeface="+mn-ea"/>
              </a:rPr>
              <a:t>UP</a:t>
            </a:r>
            <a:r>
              <a:rPr lang="zh-CN" altLang="en-US" sz="900" dirty="0">
                <a:effectLst/>
                <a:latin typeface="+mn-ea"/>
              </a:rPr>
              <a:t>主</a:t>
            </a:r>
            <a:r>
              <a:rPr lang="en-US" altLang="zh-CN" sz="900" dirty="0">
                <a:effectLst/>
                <a:latin typeface="+mn-ea"/>
              </a:rPr>
              <a:t>/</a:t>
            </a:r>
            <a:r>
              <a:rPr lang="zh-CN" altLang="en-US" sz="900" dirty="0">
                <a:effectLst/>
                <a:latin typeface="+mn-ea"/>
              </a:rPr>
              <a:t>创作者影响力榜</a:t>
            </a:r>
            <a:endParaRPr lang="en-US" altLang="zh-CN" sz="900" dirty="0">
              <a:effectLst/>
              <a:latin typeface="+mn-ea"/>
            </a:endParaRPr>
          </a:p>
          <a:p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抖音直播人气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贡献榜</a:t>
            </a:r>
            <a:endParaRPr lang="en-US" altLang="zh-CN" sz="900" dirty="0"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i="1" dirty="0">
                <a:latin typeface="+mn-ea"/>
              </a:rPr>
              <a:t>抖查查等榜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To B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35" name="文本框 334"/>
          <p:cNvSpPr txBox="1"/>
          <p:nvPr/>
        </p:nvSpPr>
        <p:spPr>
          <a:xfrm>
            <a:off x="953493" y="3274566"/>
            <a:ext cx="1557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豆瓣</a:t>
            </a:r>
            <a:r>
              <a:rPr lang="en-US" altLang="zh-CN" sz="900" dirty="0">
                <a:effectLst/>
                <a:latin typeface="+mn-ea"/>
              </a:rPr>
              <a:t>TOP250/</a:t>
            </a:r>
            <a:r>
              <a:rPr lang="zh-CN" altLang="en-US" sz="900" dirty="0">
                <a:effectLst/>
                <a:latin typeface="+mn-ea"/>
              </a:rPr>
              <a:t>猫眼票房</a:t>
            </a:r>
            <a:endParaRPr lang="en-US" altLang="zh-CN" sz="900" dirty="0"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腾讯视频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爱奇艺热播榜</a:t>
            </a:r>
            <a:endParaRPr lang="en-US" altLang="zh-CN" sz="900" dirty="0"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腾讯音乐榜</a:t>
            </a:r>
            <a:r>
              <a:rPr lang="en-US" altLang="zh-CN" sz="900" dirty="0">
                <a:latin typeface="+mn-ea"/>
              </a:rPr>
              <a:t>/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billboard</a:t>
            </a: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王者荣耀等游戏排行榜</a:t>
            </a:r>
            <a:endParaRPr lang="en-US" altLang="zh-CN" sz="900" dirty="0"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·APP Store</a:t>
            </a:r>
            <a:r>
              <a:rPr lang="zh-CN" altLang="en-US" sz="900" dirty="0">
                <a:latin typeface="+mn-ea"/>
              </a:rPr>
              <a:t>游戏排行榜</a:t>
            </a:r>
            <a:endParaRPr lang="en-US" altLang="zh-CN" sz="900" dirty="0">
              <a:solidFill>
                <a:schemeClr val="accent3"/>
              </a:solidFill>
              <a:latin typeface="+mn-ea"/>
            </a:endParaRPr>
          </a:p>
          <a:p>
            <a:pPr marL="0" marR="0"/>
            <a:endParaRPr lang="en-US" altLang="zh-CN" sz="900" dirty="0">
              <a:latin typeface="+mn-ea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952859" y="4190892"/>
            <a:ext cx="139131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携程口碑榜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飞猪榜单</a:t>
            </a:r>
            <a:endParaRPr lang="en-US" altLang="zh-CN" sz="900" dirty="0"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贝壳找房</a:t>
            </a:r>
            <a:r>
              <a:rPr lang="en-US" altLang="zh-CN" sz="900" dirty="0">
                <a:effectLst/>
                <a:latin typeface="+mn-ea"/>
              </a:rPr>
              <a:t>/</a:t>
            </a:r>
            <a:r>
              <a:rPr lang="zh-CN" altLang="en-US" sz="900" dirty="0">
                <a:effectLst/>
                <a:latin typeface="+mn-ea"/>
              </a:rPr>
              <a:t>土巴兔设计师榜</a:t>
            </a:r>
            <a:endParaRPr lang="en-US" altLang="zh-CN" sz="900" dirty="0"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kern="1200" dirty="0">
                <a:solidFill>
                  <a:schemeClr val="tx1"/>
                </a:solidFill>
                <a:latin typeface="+mn-ea"/>
                <a:cs typeface="+mn-cs"/>
              </a:rPr>
              <a:t>汽车之家</a:t>
            </a:r>
            <a:r>
              <a:rPr lang="en-US" altLang="zh-CN" sz="900" kern="1200" dirty="0">
                <a:solidFill>
                  <a:schemeClr val="tx1"/>
                </a:solidFill>
                <a:latin typeface="+mn-ea"/>
                <a:cs typeface="+mn-cs"/>
              </a:rPr>
              <a:t>/</a:t>
            </a:r>
            <a:r>
              <a:rPr lang="zh-CN" altLang="en-US" sz="900" kern="1200" dirty="0">
                <a:solidFill>
                  <a:schemeClr val="tx1"/>
                </a:solidFill>
                <a:latin typeface="+mn-ea"/>
                <a:cs typeface="+mn-cs"/>
              </a:rPr>
              <a:t>懂车排行榜</a:t>
            </a:r>
            <a:endParaRPr lang="en-US" altLang="zh-CN" sz="900" dirty="0">
              <a:solidFill>
                <a:schemeClr val="accent3"/>
              </a:solidFill>
              <a:effectLst/>
              <a:latin typeface="+mn-ea"/>
            </a:endParaRPr>
          </a:p>
          <a:p>
            <a:pPr marL="0" marR="0"/>
            <a:endParaRPr lang="en-US" altLang="zh-CN" sz="900" dirty="0">
              <a:effectLst/>
              <a:latin typeface="+mn-ea"/>
            </a:endParaRPr>
          </a:p>
        </p:txBody>
      </p:sp>
      <p:sp>
        <p:nvSpPr>
          <p:cNvPr id="410" name="Data Science"/>
          <p:cNvSpPr txBox="1"/>
          <p:nvPr/>
        </p:nvSpPr>
        <p:spPr>
          <a:xfrm>
            <a:off x="4929585" y="2989502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不同分类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4" name="Data Science"/>
          <p:cNvSpPr txBox="1"/>
          <p:nvPr/>
        </p:nvSpPr>
        <p:spPr>
          <a:xfrm>
            <a:off x="4934487" y="1606646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不同时空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7" name="Data Science"/>
          <p:cNvSpPr txBox="1"/>
          <p:nvPr/>
        </p:nvSpPr>
        <p:spPr>
          <a:xfrm>
            <a:off x="4929585" y="4098429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重要属性</a:t>
            </a:r>
            <a:endParaRPr lang="en-US" altLang="zh-CN"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9" name="Data Science"/>
          <p:cNvSpPr txBox="1"/>
          <p:nvPr/>
        </p:nvSpPr>
        <p:spPr>
          <a:xfrm>
            <a:off x="4755770" y="1810170"/>
            <a:ext cx="1256221" cy="1007968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日常</a:t>
            </a:r>
            <a:r>
              <a:rPr lang="en-US" altLang="zh-CN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大促</a:t>
            </a:r>
            <a:r>
              <a:rPr lang="en-US" altLang="zh-CN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时令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等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新</a:t>
            </a:r>
            <a:r>
              <a:rPr lang="en-US" altLang="zh-CN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经典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如电商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新品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预售榜，电影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票房总榜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区域层级、不同地区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等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如歌曲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内地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欧美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日本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20" name="Data Science"/>
          <p:cNvSpPr txBox="1"/>
          <p:nvPr/>
        </p:nvSpPr>
        <p:spPr>
          <a:xfrm>
            <a:off x="4738659" y="2766986"/>
            <a:ext cx="1104860" cy="176972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22" name="Data Science"/>
          <p:cNvSpPr txBox="1"/>
          <p:nvPr/>
        </p:nvSpPr>
        <p:spPr>
          <a:xfrm>
            <a:off x="4761830" y="4366014"/>
            <a:ext cx="1223858" cy="45397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属性重要或具有行业特色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，如电商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折扣榜，车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里程榜</a:t>
            </a:r>
            <a:endParaRPr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24" name="Rounded Rectangle"/>
          <p:cNvSpPr/>
          <p:nvPr/>
        </p:nvSpPr>
        <p:spPr>
          <a:xfrm>
            <a:off x="6285406" y="1561942"/>
            <a:ext cx="1370228" cy="3351775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sz="900">
              <a:latin typeface="+mn-ea"/>
            </a:endParaRPr>
          </a:p>
        </p:txBody>
      </p:sp>
      <p:sp>
        <p:nvSpPr>
          <p:cNvPr id="425" name="Data Science"/>
          <p:cNvSpPr txBox="1"/>
          <p:nvPr/>
        </p:nvSpPr>
        <p:spPr>
          <a:xfrm>
            <a:off x="6540104" y="2036882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选排标准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27" name="Data Science"/>
          <p:cNvSpPr txBox="1"/>
          <p:nvPr/>
        </p:nvSpPr>
        <p:spPr>
          <a:xfrm>
            <a:off x="6534143" y="3018744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数据计算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30" name="Data Science"/>
          <p:cNvSpPr txBox="1"/>
          <p:nvPr/>
        </p:nvSpPr>
        <p:spPr>
          <a:xfrm>
            <a:off x="6349692" y="2222894"/>
            <a:ext cx="1253212" cy="730969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资产量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：如流量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交易额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评价数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客观属性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：如价格、油耗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维度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：单一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综合</a:t>
            </a:r>
          </a:p>
        </p:txBody>
      </p:sp>
      <p:sp>
        <p:nvSpPr>
          <p:cNvPr id="431" name="Data Science"/>
          <p:cNvSpPr txBox="1"/>
          <p:nvPr/>
        </p:nvSpPr>
        <p:spPr>
          <a:xfrm>
            <a:off x="6366764" y="3486167"/>
            <a:ext cx="1128088" cy="176972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endParaRPr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32" name="Data Science"/>
          <p:cNvSpPr txBox="1"/>
          <p:nvPr/>
        </p:nvSpPr>
        <p:spPr>
          <a:xfrm>
            <a:off x="6361879" y="3229458"/>
            <a:ext cx="1253212" cy="1007968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总量</a:t>
            </a:r>
            <a:r>
              <a:rPr lang="en-US" altLang="zh-CN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变化率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：如销量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飙升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折扣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系数计算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：如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QQ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音乐榜单入口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豪华绿钻的行为加权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数据筛选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：如淘宝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88vip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榜</a:t>
            </a:r>
          </a:p>
        </p:txBody>
      </p:sp>
      <p:sp>
        <p:nvSpPr>
          <p:cNvPr id="208" name="Shape"/>
          <p:cNvSpPr/>
          <p:nvPr/>
        </p:nvSpPr>
        <p:spPr>
          <a:xfrm>
            <a:off x="396883" y="1016517"/>
            <a:ext cx="2043941" cy="3270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行 业</a:t>
            </a:r>
          </a:p>
        </p:txBody>
      </p:sp>
      <p:sp>
        <p:nvSpPr>
          <p:cNvPr id="209" name="Shape"/>
          <p:cNvSpPr/>
          <p:nvPr/>
        </p:nvSpPr>
        <p:spPr>
          <a:xfrm>
            <a:off x="2816895" y="1035994"/>
            <a:ext cx="1446816" cy="3270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成榜对象</a:t>
            </a:r>
            <a:endParaRPr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49" name="Data Science"/>
          <p:cNvSpPr txBox="1"/>
          <p:nvPr/>
        </p:nvSpPr>
        <p:spPr>
          <a:xfrm>
            <a:off x="1385885" y="1044930"/>
            <a:ext cx="813370" cy="253916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endParaRPr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71" name="Shape"/>
          <p:cNvSpPr/>
          <p:nvPr/>
        </p:nvSpPr>
        <p:spPr>
          <a:xfrm>
            <a:off x="6361879" y="1035994"/>
            <a:ext cx="1256866" cy="327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选排规则</a:t>
            </a:r>
            <a:endParaRPr sz="675" dirty="0">
              <a:latin typeface="+mn-ea"/>
            </a:endParaRPr>
          </a:p>
        </p:txBody>
      </p:sp>
      <p:sp>
        <p:nvSpPr>
          <p:cNvPr id="372" name="Data Science"/>
          <p:cNvSpPr txBox="1"/>
          <p:nvPr/>
        </p:nvSpPr>
        <p:spPr>
          <a:xfrm>
            <a:off x="6369285" y="1073303"/>
            <a:ext cx="1056783" cy="253916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endParaRPr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4" name="乘号 403"/>
          <p:cNvSpPr/>
          <p:nvPr/>
        </p:nvSpPr>
        <p:spPr>
          <a:xfrm>
            <a:off x="2511235" y="1085320"/>
            <a:ext cx="250081" cy="223377"/>
          </a:xfrm>
          <a:prstGeom prst="mathMultiply">
            <a:avLst/>
          </a:prstGeom>
          <a:noFill/>
          <a:ln w="3175">
            <a:solidFill>
              <a:srgbClr val="0079FF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405" name="乘号 404"/>
          <p:cNvSpPr/>
          <p:nvPr/>
        </p:nvSpPr>
        <p:spPr>
          <a:xfrm>
            <a:off x="4351821" y="1085320"/>
            <a:ext cx="250081" cy="223376"/>
          </a:xfrm>
          <a:prstGeom prst="mathMultiply">
            <a:avLst/>
          </a:prstGeom>
          <a:noFill/>
          <a:ln w="3175">
            <a:solidFill>
              <a:srgbClr val="0079FF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06" name="乘号 405"/>
          <p:cNvSpPr/>
          <p:nvPr/>
        </p:nvSpPr>
        <p:spPr>
          <a:xfrm>
            <a:off x="6062011" y="1085320"/>
            <a:ext cx="250081" cy="223376"/>
          </a:xfrm>
          <a:prstGeom prst="mathMultiply">
            <a:avLst/>
          </a:prstGeom>
          <a:noFill/>
          <a:ln w="3175">
            <a:solidFill>
              <a:srgbClr val="0079FF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07" name="Shape"/>
          <p:cNvSpPr/>
          <p:nvPr/>
        </p:nvSpPr>
        <p:spPr>
          <a:xfrm>
            <a:off x="4755125" y="1033494"/>
            <a:ext cx="1256866" cy="327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需求场景</a:t>
            </a:r>
            <a:endParaRPr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2" name="Data Science"/>
          <p:cNvSpPr txBox="1"/>
          <p:nvPr/>
        </p:nvSpPr>
        <p:spPr>
          <a:xfrm>
            <a:off x="3146409" y="2956605"/>
            <a:ext cx="1131875" cy="19236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6" name="Line"/>
          <p:cNvSpPr/>
          <p:nvPr/>
        </p:nvSpPr>
        <p:spPr>
          <a:xfrm>
            <a:off x="3674767" y="1870472"/>
            <a:ext cx="0" cy="202410"/>
          </a:xfrm>
          <a:prstGeom prst="line">
            <a:avLst/>
          </a:prstGeom>
          <a:ln w="25400">
            <a:solidFill>
              <a:schemeClr val="accent5"/>
            </a:solidFill>
          </a:ln>
        </p:spPr>
        <p:txBody>
          <a:bodyPr lIns="17144" tIns="17144" rIns="17144" bIns="17144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98" name="Rounded Rectangle"/>
          <p:cNvSpPr/>
          <p:nvPr/>
        </p:nvSpPr>
        <p:spPr>
          <a:xfrm>
            <a:off x="3544837" y="1690924"/>
            <a:ext cx="251121" cy="179548"/>
          </a:xfrm>
          <a:prstGeom prst="roundRect">
            <a:avLst>
              <a:gd name="adj" fmla="val 12720"/>
            </a:avLst>
          </a:prstGeom>
          <a:solidFill>
            <a:schemeClr val="accent1">
              <a:alpha val="9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5" name="Rounded Rectangle"/>
          <p:cNvSpPr/>
          <p:nvPr/>
        </p:nvSpPr>
        <p:spPr>
          <a:xfrm>
            <a:off x="4017971" y="2192892"/>
            <a:ext cx="183674" cy="191846"/>
          </a:xfrm>
          <a:prstGeom prst="roundRect">
            <a:avLst>
              <a:gd name="adj" fmla="val 12720"/>
            </a:avLst>
          </a:prstGeom>
          <a:noFill/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6" name="Line"/>
          <p:cNvSpPr/>
          <p:nvPr/>
        </p:nvSpPr>
        <p:spPr>
          <a:xfrm>
            <a:off x="4113783" y="2380255"/>
            <a:ext cx="0" cy="194448"/>
          </a:xfrm>
          <a:prstGeom prst="line">
            <a:avLst/>
          </a:prstGeom>
          <a:ln w="25400">
            <a:solidFill>
              <a:schemeClr val="accent5"/>
            </a:solidFill>
          </a:ln>
        </p:spPr>
        <p:txBody>
          <a:bodyPr lIns="17144" tIns="17144" rIns="17144" bIns="17144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7" name="Line"/>
          <p:cNvSpPr/>
          <p:nvPr/>
        </p:nvSpPr>
        <p:spPr>
          <a:xfrm>
            <a:off x="4017473" y="2583877"/>
            <a:ext cx="183675" cy="131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9894"/>
                </a:lnTo>
                <a:cubicBezTo>
                  <a:pt x="0" y="8443"/>
                  <a:pt x="0" y="7281"/>
                  <a:pt x="2" y="6338"/>
                </a:cubicBezTo>
                <a:cubicBezTo>
                  <a:pt x="4" y="5394"/>
                  <a:pt x="8" y="4668"/>
                  <a:pt x="16" y="4087"/>
                </a:cubicBezTo>
                <a:cubicBezTo>
                  <a:pt x="27" y="3250"/>
                  <a:pt x="43" y="2502"/>
                  <a:pt x="64" y="1887"/>
                </a:cubicBezTo>
                <a:cubicBezTo>
                  <a:pt x="85" y="1272"/>
                  <a:pt x="110" y="790"/>
                  <a:pt x="139" y="485"/>
                </a:cubicBezTo>
                <a:cubicBezTo>
                  <a:pt x="158" y="242"/>
                  <a:pt x="183" y="121"/>
                  <a:pt x="215" y="61"/>
                </a:cubicBezTo>
                <a:cubicBezTo>
                  <a:pt x="247" y="0"/>
                  <a:pt x="286" y="0"/>
                  <a:pt x="335" y="0"/>
                </a:cubicBezTo>
                <a:lnTo>
                  <a:pt x="21265" y="0"/>
                </a:lnTo>
                <a:cubicBezTo>
                  <a:pt x="21314" y="0"/>
                  <a:pt x="21353" y="0"/>
                  <a:pt x="21385" y="61"/>
                </a:cubicBezTo>
                <a:cubicBezTo>
                  <a:pt x="21417" y="121"/>
                  <a:pt x="21442" y="242"/>
                  <a:pt x="21461" y="485"/>
                </a:cubicBezTo>
                <a:cubicBezTo>
                  <a:pt x="21490" y="790"/>
                  <a:pt x="21515" y="1272"/>
                  <a:pt x="21536" y="1887"/>
                </a:cubicBezTo>
                <a:cubicBezTo>
                  <a:pt x="21557" y="2502"/>
                  <a:pt x="21573" y="3250"/>
                  <a:pt x="21584" y="4087"/>
                </a:cubicBezTo>
                <a:cubicBezTo>
                  <a:pt x="21592" y="4668"/>
                  <a:pt x="21596" y="5394"/>
                  <a:pt x="21598" y="6338"/>
                </a:cubicBezTo>
                <a:cubicBezTo>
                  <a:pt x="21600" y="7281"/>
                  <a:pt x="21600" y="8443"/>
                  <a:pt x="21600" y="9894"/>
                </a:cubicBezTo>
                <a:lnTo>
                  <a:pt x="21600" y="21600"/>
                </a:lnTo>
              </a:path>
            </a:pathLst>
          </a:custGeom>
          <a:ln w="25400">
            <a:solidFill>
              <a:schemeClr val="accent5"/>
            </a:solidFill>
          </a:ln>
        </p:spPr>
        <p:txBody>
          <a:bodyPr lIns="0" tIns="0" rIns="0" bIns="0" anchor="ctr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8" name="Rounded Rectangle"/>
          <p:cNvSpPr/>
          <p:nvPr/>
        </p:nvSpPr>
        <p:spPr>
          <a:xfrm>
            <a:off x="3943546" y="2757206"/>
            <a:ext cx="126618" cy="156452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9" name="Rounded Rectangle"/>
          <p:cNvSpPr/>
          <p:nvPr/>
        </p:nvSpPr>
        <p:spPr>
          <a:xfrm>
            <a:off x="4134112" y="2756033"/>
            <a:ext cx="126618" cy="156452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0" name="Rounded Rectangle"/>
          <p:cNvSpPr/>
          <p:nvPr/>
        </p:nvSpPr>
        <p:spPr>
          <a:xfrm>
            <a:off x="3866569" y="1690924"/>
            <a:ext cx="251121" cy="179548"/>
          </a:xfrm>
          <a:prstGeom prst="roundRect">
            <a:avLst>
              <a:gd name="adj" fmla="val 12720"/>
            </a:avLst>
          </a:prstGeom>
          <a:solidFill>
            <a:schemeClr val="accent1">
              <a:alpha val="9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3473360" y="1653226"/>
            <a:ext cx="724714" cy="258466"/>
          </a:xfrm>
          <a:prstGeom prst="rect">
            <a:avLst/>
          </a:prstGeom>
          <a:noFill/>
          <a:ln>
            <a:solidFill>
              <a:srgbClr val="FF66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3265708" y="2673803"/>
            <a:ext cx="1012576" cy="297097"/>
          </a:xfrm>
          <a:prstGeom prst="rect">
            <a:avLst/>
          </a:prstGeom>
          <a:noFill/>
          <a:ln>
            <a:solidFill>
              <a:srgbClr val="FF66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3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3285200" y="2037767"/>
            <a:ext cx="69362" cy="192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t">
            <a:spAutoFit/>
          </a:bodyPr>
          <a:lstStyle>
            <a:lvl1pPr>
              <a:defRPr sz="25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②</a:t>
            </a:r>
            <a:endParaRPr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4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3149665" y="2572804"/>
            <a:ext cx="69362" cy="192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t">
            <a:spAutoFit/>
          </a:bodyPr>
          <a:lstStyle>
            <a:lvl1pPr>
              <a:defRPr sz="25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①</a:t>
            </a:r>
            <a:endParaRPr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3407800" y="2171513"/>
            <a:ext cx="870484" cy="262417"/>
          </a:xfrm>
          <a:prstGeom prst="rect">
            <a:avLst/>
          </a:prstGeom>
          <a:noFill/>
          <a:ln>
            <a:solidFill>
              <a:srgbClr val="FF66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6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3372421" y="1540736"/>
            <a:ext cx="69362" cy="192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t">
            <a:spAutoFit/>
          </a:bodyPr>
          <a:lstStyle>
            <a:lvl1pPr>
              <a:defRPr sz="25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③</a:t>
            </a:r>
            <a:endParaRPr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7" name="Rounded Rectangle"/>
          <p:cNvSpPr/>
          <p:nvPr/>
        </p:nvSpPr>
        <p:spPr>
          <a:xfrm>
            <a:off x="3460093" y="2199781"/>
            <a:ext cx="186917" cy="191846"/>
          </a:xfrm>
          <a:prstGeom prst="roundRect">
            <a:avLst>
              <a:gd name="adj" fmla="val 12720"/>
            </a:avLst>
          </a:prstGeom>
          <a:noFill/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8" name="Line"/>
          <p:cNvSpPr/>
          <p:nvPr/>
        </p:nvSpPr>
        <p:spPr>
          <a:xfrm>
            <a:off x="3546958" y="2401726"/>
            <a:ext cx="0" cy="292025"/>
          </a:xfrm>
          <a:prstGeom prst="line">
            <a:avLst/>
          </a:prstGeom>
          <a:ln w="25400">
            <a:solidFill>
              <a:schemeClr val="accent5"/>
            </a:solidFill>
          </a:ln>
        </p:spPr>
        <p:txBody>
          <a:bodyPr lIns="17144" tIns="17144" rIns="17144" bIns="17144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9" name="Line"/>
          <p:cNvSpPr/>
          <p:nvPr/>
        </p:nvSpPr>
        <p:spPr>
          <a:xfrm>
            <a:off x="3371178" y="2578989"/>
            <a:ext cx="372836" cy="1275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9894"/>
                </a:lnTo>
                <a:cubicBezTo>
                  <a:pt x="0" y="8443"/>
                  <a:pt x="0" y="7281"/>
                  <a:pt x="2" y="6338"/>
                </a:cubicBezTo>
                <a:cubicBezTo>
                  <a:pt x="4" y="5394"/>
                  <a:pt x="8" y="4668"/>
                  <a:pt x="16" y="4087"/>
                </a:cubicBezTo>
                <a:cubicBezTo>
                  <a:pt x="27" y="3250"/>
                  <a:pt x="43" y="2502"/>
                  <a:pt x="64" y="1887"/>
                </a:cubicBezTo>
                <a:cubicBezTo>
                  <a:pt x="85" y="1272"/>
                  <a:pt x="110" y="790"/>
                  <a:pt x="139" y="485"/>
                </a:cubicBezTo>
                <a:cubicBezTo>
                  <a:pt x="158" y="242"/>
                  <a:pt x="183" y="121"/>
                  <a:pt x="215" y="61"/>
                </a:cubicBezTo>
                <a:cubicBezTo>
                  <a:pt x="247" y="0"/>
                  <a:pt x="286" y="0"/>
                  <a:pt x="335" y="0"/>
                </a:cubicBezTo>
                <a:lnTo>
                  <a:pt x="21265" y="0"/>
                </a:lnTo>
                <a:cubicBezTo>
                  <a:pt x="21314" y="0"/>
                  <a:pt x="21353" y="0"/>
                  <a:pt x="21385" y="61"/>
                </a:cubicBezTo>
                <a:cubicBezTo>
                  <a:pt x="21417" y="121"/>
                  <a:pt x="21442" y="242"/>
                  <a:pt x="21461" y="485"/>
                </a:cubicBezTo>
                <a:cubicBezTo>
                  <a:pt x="21490" y="790"/>
                  <a:pt x="21515" y="1272"/>
                  <a:pt x="21536" y="1887"/>
                </a:cubicBezTo>
                <a:cubicBezTo>
                  <a:pt x="21557" y="2502"/>
                  <a:pt x="21573" y="3250"/>
                  <a:pt x="21584" y="4087"/>
                </a:cubicBezTo>
                <a:cubicBezTo>
                  <a:pt x="21592" y="4668"/>
                  <a:pt x="21596" y="5394"/>
                  <a:pt x="21598" y="6338"/>
                </a:cubicBezTo>
                <a:cubicBezTo>
                  <a:pt x="21600" y="7281"/>
                  <a:pt x="21600" y="8443"/>
                  <a:pt x="21600" y="9894"/>
                </a:cubicBezTo>
                <a:lnTo>
                  <a:pt x="21600" y="21600"/>
                </a:lnTo>
              </a:path>
            </a:pathLst>
          </a:custGeom>
          <a:ln w="25400">
            <a:solidFill>
              <a:schemeClr val="accent5"/>
            </a:solidFill>
          </a:ln>
        </p:spPr>
        <p:txBody>
          <a:bodyPr lIns="0" tIns="0" rIns="0" bIns="0" anchor="ctr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0" name="Rounded Rectangle"/>
          <p:cNvSpPr/>
          <p:nvPr/>
        </p:nvSpPr>
        <p:spPr>
          <a:xfrm>
            <a:off x="3302105" y="2749671"/>
            <a:ext cx="128852" cy="156452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1" name="Rounded Rectangle"/>
          <p:cNvSpPr/>
          <p:nvPr/>
        </p:nvSpPr>
        <p:spPr>
          <a:xfrm>
            <a:off x="3674767" y="2749671"/>
            <a:ext cx="128852" cy="156452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2" name="Rounded Rectangle"/>
          <p:cNvSpPr/>
          <p:nvPr/>
        </p:nvSpPr>
        <p:spPr>
          <a:xfrm>
            <a:off x="3488436" y="2749671"/>
            <a:ext cx="128852" cy="156452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3" name="矩形 112"/>
          <p:cNvSpPr/>
          <p:nvPr/>
        </p:nvSpPr>
        <p:spPr>
          <a:xfrm flipH="1">
            <a:off x="3936794" y="2100227"/>
            <a:ext cx="390171" cy="92178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4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3888459" y="1982071"/>
            <a:ext cx="69361" cy="192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t">
            <a:spAutoFit/>
          </a:bodyPr>
          <a:lstStyle>
            <a:lvl1pPr>
              <a:defRPr sz="25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④</a:t>
            </a:r>
            <a:endParaRPr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8" name="Data Science">
            <a:extLst>
              <a:ext uri="{FF2B5EF4-FFF2-40B4-BE49-F238E27FC236}">
                <a16:creationId xmlns:a16="http://schemas.microsoft.com/office/drawing/2014/main" id="{4E3ACB36-B7E3-892F-0FF9-26EBCA8E787F}"/>
              </a:ext>
            </a:extLst>
          </p:cNvPr>
          <p:cNvSpPr txBox="1"/>
          <p:nvPr/>
        </p:nvSpPr>
        <p:spPr>
          <a:xfrm>
            <a:off x="2650332" y="3490294"/>
            <a:ext cx="1761857" cy="1284967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拓扑涉及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种运营单元：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①</a:t>
            </a:r>
            <a:r>
              <a:rPr lang="zh-CN" altLang="en-US" sz="900" u="sng" dirty="0">
                <a:solidFill>
                  <a:schemeClr val="tx1"/>
                </a:solidFill>
                <a:latin typeface="+mn-ea"/>
              </a:rPr>
              <a:t>叶子层拉通：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如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SPU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、博文、单曲、房源排行；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②</a:t>
            </a:r>
            <a:r>
              <a:rPr lang="zh-CN" altLang="en-US" sz="900" u="sng" dirty="0">
                <a:solidFill>
                  <a:schemeClr val="tx1"/>
                </a:solidFill>
                <a:latin typeface="+mn-ea"/>
              </a:rPr>
              <a:t>父层拉通：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如店铺、话题、专辑、小区排行；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③</a:t>
            </a:r>
            <a:r>
              <a:rPr lang="zh-CN" altLang="en-US" sz="900" u="sng" dirty="0">
                <a:solidFill>
                  <a:schemeClr val="tx1"/>
                </a:solidFill>
                <a:latin typeface="+mn-ea"/>
              </a:rPr>
              <a:t>根层拉通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（如有）：如品牌、热点、经纪公司、开发商排行；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④</a:t>
            </a:r>
            <a:r>
              <a:rPr lang="zh-CN" altLang="en-US" sz="900" u="sng" dirty="0">
                <a:solidFill>
                  <a:schemeClr val="tx1"/>
                </a:solidFill>
                <a:latin typeface="+mn-ea"/>
              </a:rPr>
              <a:t>父层内比较：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如店内好品、专辑内歌曲排行。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Rounded Rectangle">
            <a:extLst>
              <a:ext uri="{FF2B5EF4-FFF2-40B4-BE49-F238E27FC236}">
                <a16:creationId xmlns:a16="http://schemas.microsoft.com/office/drawing/2014/main" id="{150D3DDF-52E2-A44B-2B2B-444B857A2882}"/>
              </a:ext>
            </a:extLst>
          </p:cNvPr>
          <p:cNvSpPr/>
          <p:nvPr/>
        </p:nvSpPr>
        <p:spPr>
          <a:xfrm>
            <a:off x="3695043" y="2199781"/>
            <a:ext cx="183674" cy="191846"/>
          </a:xfrm>
          <a:prstGeom prst="roundRect">
            <a:avLst>
              <a:gd name="adj" fmla="val 12720"/>
            </a:avLst>
          </a:prstGeom>
          <a:noFill/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0" name="Line">
            <a:extLst>
              <a:ext uri="{FF2B5EF4-FFF2-40B4-BE49-F238E27FC236}">
                <a16:creationId xmlns:a16="http://schemas.microsoft.com/office/drawing/2014/main" id="{BE8A2FD5-286F-8FEB-28B9-76B0A7881EF1}"/>
              </a:ext>
            </a:extLst>
          </p:cNvPr>
          <p:cNvSpPr/>
          <p:nvPr/>
        </p:nvSpPr>
        <p:spPr>
          <a:xfrm>
            <a:off x="3543113" y="2072882"/>
            <a:ext cx="251983" cy="116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9894"/>
                </a:lnTo>
                <a:cubicBezTo>
                  <a:pt x="0" y="8443"/>
                  <a:pt x="0" y="7281"/>
                  <a:pt x="2" y="6338"/>
                </a:cubicBezTo>
                <a:cubicBezTo>
                  <a:pt x="4" y="5394"/>
                  <a:pt x="8" y="4668"/>
                  <a:pt x="16" y="4087"/>
                </a:cubicBezTo>
                <a:cubicBezTo>
                  <a:pt x="27" y="3250"/>
                  <a:pt x="43" y="2502"/>
                  <a:pt x="64" y="1887"/>
                </a:cubicBezTo>
                <a:cubicBezTo>
                  <a:pt x="85" y="1272"/>
                  <a:pt x="110" y="790"/>
                  <a:pt x="139" y="485"/>
                </a:cubicBezTo>
                <a:cubicBezTo>
                  <a:pt x="158" y="242"/>
                  <a:pt x="183" y="121"/>
                  <a:pt x="215" y="61"/>
                </a:cubicBezTo>
                <a:cubicBezTo>
                  <a:pt x="247" y="0"/>
                  <a:pt x="286" y="0"/>
                  <a:pt x="335" y="0"/>
                </a:cubicBezTo>
                <a:lnTo>
                  <a:pt x="21265" y="0"/>
                </a:lnTo>
                <a:cubicBezTo>
                  <a:pt x="21314" y="0"/>
                  <a:pt x="21353" y="0"/>
                  <a:pt x="21385" y="61"/>
                </a:cubicBezTo>
                <a:cubicBezTo>
                  <a:pt x="21417" y="121"/>
                  <a:pt x="21442" y="242"/>
                  <a:pt x="21461" y="485"/>
                </a:cubicBezTo>
                <a:cubicBezTo>
                  <a:pt x="21490" y="790"/>
                  <a:pt x="21515" y="1272"/>
                  <a:pt x="21536" y="1887"/>
                </a:cubicBezTo>
                <a:cubicBezTo>
                  <a:pt x="21557" y="2502"/>
                  <a:pt x="21573" y="3250"/>
                  <a:pt x="21584" y="4087"/>
                </a:cubicBezTo>
                <a:cubicBezTo>
                  <a:pt x="21592" y="4668"/>
                  <a:pt x="21596" y="5394"/>
                  <a:pt x="21598" y="6338"/>
                </a:cubicBezTo>
                <a:cubicBezTo>
                  <a:pt x="21600" y="7281"/>
                  <a:pt x="21600" y="8443"/>
                  <a:pt x="21600" y="9894"/>
                </a:cubicBezTo>
                <a:lnTo>
                  <a:pt x="21600" y="21600"/>
                </a:lnTo>
              </a:path>
            </a:pathLst>
          </a:custGeom>
          <a:ln w="25400">
            <a:solidFill>
              <a:schemeClr val="accent5"/>
            </a:solidFill>
          </a:ln>
        </p:spPr>
        <p:txBody>
          <a:bodyPr lIns="0" tIns="0" rIns="0" bIns="0" anchor="ctr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Data Science">
            <a:extLst>
              <a:ext uri="{FF2B5EF4-FFF2-40B4-BE49-F238E27FC236}">
                <a16:creationId xmlns:a16="http://schemas.microsoft.com/office/drawing/2014/main" id="{0F2AE64A-B78C-7098-1304-2AE4D77F7EB8}"/>
              </a:ext>
            </a:extLst>
          </p:cNvPr>
          <p:cNvSpPr txBox="1"/>
          <p:nvPr/>
        </p:nvSpPr>
        <p:spPr>
          <a:xfrm>
            <a:off x="4769572" y="3243389"/>
            <a:ext cx="1196689" cy="59247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品类垂类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如内容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垂类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专题主题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如酒店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特色主题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7" name="Data Science">
            <a:extLst>
              <a:ext uri="{FF2B5EF4-FFF2-40B4-BE49-F238E27FC236}">
                <a16:creationId xmlns:a16="http://schemas.microsoft.com/office/drawing/2014/main" id="{8BAA1E05-66ED-9F4F-404C-B245F1074D0A}"/>
              </a:ext>
            </a:extLst>
          </p:cNvPr>
          <p:cNvSpPr txBox="1"/>
          <p:nvPr/>
        </p:nvSpPr>
        <p:spPr>
          <a:xfrm>
            <a:off x="6544554" y="4309045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更新周期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8" name="Data Science">
            <a:extLst>
              <a:ext uri="{FF2B5EF4-FFF2-40B4-BE49-F238E27FC236}">
                <a16:creationId xmlns:a16="http://schemas.microsoft.com/office/drawing/2014/main" id="{3FB51182-A220-8D46-1477-66762CA8242E}"/>
              </a:ext>
            </a:extLst>
          </p:cNvPr>
          <p:cNvSpPr txBox="1"/>
          <p:nvPr/>
        </p:nvSpPr>
        <p:spPr>
          <a:xfrm>
            <a:off x="6366764" y="4519555"/>
            <a:ext cx="1236140" cy="315471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近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x/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自然周期的日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周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季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年，或成立以来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9" name="Data Science">
            <a:extLst>
              <a:ext uri="{FF2B5EF4-FFF2-40B4-BE49-F238E27FC236}">
                <a16:creationId xmlns:a16="http://schemas.microsoft.com/office/drawing/2014/main" id="{996BE499-6958-E2A2-F801-3ED731ADF766}"/>
              </a:ext>
            </a:extLst>
          </p:cNvPr>
          <p:cNvSpPr txBox="1"/>
          <p:nvPr/>
        </p:nvSpPr>
        <p:spPr>
          <a:xfrm>
            <a:off x="6525407" y="1595971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选排方式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0" name="Data Science">
            <a:extLst>
              <a:ext uri="{FF2B5EF4-FFF2-40B4-BE49-F238E27FC236}">
                <a16:creationId xmlns:a16="http://schemas.microsoft.com/office/drawing/2014/main" id="{21457526-5202-3065-60FE-7536FA0B1E1F}"/>
              </a:ext>
            </a:extLst>
          </p:cNvPr>
          <p:cNvSpPr txBox="1"/>
          <p:nvPr/>
        </p:nvSpPr>
        <p:spPr>
          <a:xfrm>
            <a:off x="6349693" y="1802913"/>
            <a:ext cx="1039801" cy="176972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评选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指数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综合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C8E1C3-FD89-909F-56C6-CFBB6F3AB51B}"/>
              </a:ext>
            </a:extLst>
          </p:cNvPr>
          <p:cNvSpPr txBox="1"/>
          <p:nvPr/>
        </p:nvSpPr>
        <p:spPr>
          <a:xfrm>
            <a:off x="2515892" y="1597793"/>
            <a:ext cx="999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品牌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热点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经纪公司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开发商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…</a:t>
            </a:r>
            <a:endParaRPr lang="zh-CN" altLang="en-US" sz="900" dirty="0"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97DBC10-037F-66B1-CDD2-8278EDCD592C}"/>
              </a:ext>
            </a:extLst>
          </p:cNvPr>
          <p:cNvSpPr txBox="1"/>
          <p:nvPr/>
        </p:nvSpPr>
        <p:spPr>
          <a:xfrm>
            <a:off x="2511235" y="2140854"/>
            <a:ext cx="870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店铺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话题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专辑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小区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…</a:t>
            </a:r>
            <a:endParaRPr lang="zh-CN" altLang="en-US" sz="900" dirty="0">
              <a:latin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89F1833-941C-F528-54F4-321D822E1260}"/>
              </a:ext>
            </a:extLst>
          </p:cNvPr>
          <p:cNvSpPr txBox="1"/>
          <p:nvPr/>
        </p:nvSpPr>
        <p:spPr>
          <a:xfrm>
            <a:off x="2522250" y="2674387"/>
            <a:ext cx="859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SPU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博文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单曲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房源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…</a:t>
            </a:r>
            <a:endParaRPr lang="zh-CN" altLang="en-US" sz="900" dirty="0">
              <a:latin typeface="+mn-ea"/>
            </a:endParaRPr>
          </a:p>
        </p:txBody>
      </p:sp>
      <p:sp>
        <p:nvSpPr>
          <p:cNvPr id="24" name="Shape">
            <a:extLst>
              <a:ext uri="{FF2B5EF4-FFF2-40B4-BE49-F238E27FC236}">
                <a16:creationId xmlns:a16="http://schemas.microsoft.com/office/drawing/2014/main" id="{8F5FB7CF-5198-1CE5-D174-C535499BCD13}"/>
              </a:ext>
            </a:extLst>
          </p:cNvPr>
          <p:cNvSpPr/>
          <p:nvPr/>
        </p:nvSpPr>
        <p:spPr>
          <a:xfrm>
            <a:off x="8104295" y="2422643"/>
            <a:ext cx="947954" cy="327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5"/>
            </a:solidFill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latin typeface="+mn-ea"/>
              </a:rPr>
              <a:t>运营手段</a:t>
            </a:r>
            <a:endParaRPr sz="1400" b="1" dirty="0">
              <a:latin typeface="+mn-ea"/>
            </a:endParaRPr>
          </a:p>
        </p:txBody>
      </p:sp>
      <p:sp>
        <p:nvSpPr>
          <p:cNvPr id="25" name="Shape">
            <a:extLst>
              <a:ext uri="{FF2B5EF4-FFF2-40B4-BE49-F238E27FC236}">
                <a16:creationId xmlns:a16="http://schemas.microsoft.com/office/drawing/2014/main" id="{C861520F-C703-5E2E-1904-9B8EB096118C}"/>
              </a:ext>
            </a:extLst>
          </p:cNvPr>
          <p:cNvSpPr/>
          <p:nvPr/>
        </p:nvSpPr>
        <p:spPr>
          <a:xfrm>
            <a:off x="8104294" y="3140401"/>
            <a:ext cx="947954" cy="327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5"/>
            </a:solidFill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latin typeface="+mn-ea"/>
              </a:rPr>
              <a:t>商业模式</a:t>
            </a:r>
            <a:endParaRPr sz="1400" b="1" dirty="0">
              <a:latin typeface="+mn-ea"/>
            </a:endParaRPr>
          </a:p>
        </p:txBody>
      </p:sp>
      <p:sp>
        <p:nvSpPr>
          <p:cNvPr id="26" name="加号 25">
            <a:extLst>
              <a:ext uri="{FF2B5EF4-FFF2-40B4-BE49-F238E27FC236}">
                <a16:creationId xmlns:a16="http://schemas.microsoft.com/office/drawing/2014/main" id="{3B39E37D-6D7A-AA1F-9352-CBBD2E1152EC}"/>
              </a:ext>
            </a:extLst>
          </p:cNvPr>
          <p:cNvSpPr/>
          <p:nvPr/>
        </p:nvSpPr>
        <p:spPr>
          <a:xfrm>
            <a:off x="8456220" y="2809264"/>
            <a:ext cx="244103" cy="244103"/>
          </a:xfrm>
          <a:prstGeom prst="mathPlus">
            <a:avLst/>
          </a:prstGeom>
          <a:noFill/>
          <a:ln w="3175">
            <a:solidFill>
              <a:srgbClr val="0079FF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米菲PPT3">
            <a:extLst>
              <a:ext uri="{FF2B5EF4-FFF2-40B4-BE49-F238E27FC236}">
                <a16:creationId xmlns:a16="http://schemas.microsoft.com/office/drawing/2014/main" id="{5325386C-0850-E904-EE94-659D8B0167E0}"/>
              </a:ext>
            </a:extLst>
          </p:cNvPr>
          <p:cNvSpPr/>
          <p:nvPr/>
        </p:nvSpPr>
        <p:spPr>
          <a:xfrm rot="5400000" flipH="1">
            <a:off x="7026303" y="2810597"/>
            <a:ext cx="1735632" cy="314892"/>
          </a:xfrm>
          <a:prstGeom prst="triangle">
            <a:avLst>
              <a:gd name="adj" fmla="val 48601"/>
            </a:avLst>
          </a:prstGeom>
          <a:gradFill flip="none" rotWithShape="1">
            <a:gsLst>
              <a:gs pos="1000">
                <a:srgbClr val="FFFFFF"/>
              </a:gs>
              <a:gs pos="50000">
                <a:schemeClr val="accent4">
                  <a:alpha val="63182"/>
                  <a:lumMod val="20000"/>
                  <a:lumOff val="80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MiSans Medium" panose="00000600000000000000" pitchFamily="2" charset="-122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">
            <a:extLst>
              <a:ext uri="{FF2B5EF4-FFF2-40B4-BE49-F238E27FC236}">
                <a16:creationId xmlns:a16="http://schemas.microsoft.com/office/drawing/2014/main" id="{E6BAA326-333E-4167-BA32-EF3CEBDFCE7A}"/>
              </a:ext>
            </a:extLst>
          </p:cNvPr>
          <p:cNvSpPr/>
          <p:nvPr/>
        </p:nvSpPr>
        <p:spPr>
          <a:xfrm>
            <a:off x="4705752" y="554286"/>
            <a:ext cx="3680079" cy="4365195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sz="90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榜单竞品分析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多行业榜单分析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运营手段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+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商业模式示意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zh-CN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6736061-F097-49BF-A507-6B6567E904AA}"/>
              </a:ext>
            </a:extLst>
          </p:cNvPr>
          <p:cNvGrpSpPr/>
          <p:nvPr/>
        </p:nvGrpSpPr>
        <p:grpSpPr>
          <a:xfrm>
            <a:off x="4770371" y="1113058"/>
            <a:ext cx="1225740" cy="582345"/>
            <a:chOff x="2477724" y="1674432"/>
            <a:chExt cx="1225740" cy="582345"/>
          </a:xfrm>
        </p:grpSpPr>
        <p:sp>
          <p:nvSpPr>
            <p:cNvPr id="20" name="Data Science">
              <a:extLst>
                <a:ext uri="{FF2B5EF4-FFF2-40B4-BE49-F238E27FC236}">
                  <a16:creationId xmlns:a16="http://schemas.microsoft.com/office/drawing/2014/main" id="{1CC46EBA-C393-4635-9D6E-1B0B1B263F1E}"/>
                </a:ext>
              </a:extLst>
            </p:cNvPr>
            <p:cNvSpPr txBox="1"/>
            <p:nvPr/>
          </p:nvSpPr>
          <p:spPr>
            <a:xfrm>
              <a:off x="2477724" y="1674432"/>
              <a:ext cx="1225740" cy="19236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间接</a:t>
              </a:r>
              <a:r>
                <a:rPr lang="en-US" altLang="zh-CN" sz="1000" b="1" dirty="0">
                  <a:solidFill>
                    <a:schemeClr val="tx1"/>
                  </a:solidFill>
                </a:rPr>
                <a:t>-B</a:t>
              </a:r>
              <a:r>
                <a:rPr lang="zh-CN" altLang="en-US" sz="1000" b="1" dirty="0">
                  <a:solidFill>
                    <a:schemeClr val="tx1"/>
                  </a:solidFill>
                </a:rPr>
                <a:t>冲榜带动</a:t>
              </a:r>
            </a:p>
          </p:txBody>
        </p:sp>
        <p:sp>
          <p:nvSpPr>
            <p:cNvPr id="21" name="Rounded Rectangle">
              <a:extLst>
                <a:ext uri="{FF2B5EF4-FFF2-40B4-BE49-F238E27FC236}">
                  <a16:creationId xmlns:a16="http://schemas.microsoft.com/office/drawing/2014/main" id="{CA15697D-F364-4E7A-9A14-AE50716EB7A4}"/>
                </a:ext>
              </a:extLst>
            </p:cNvPr>
            <p:cNvSpPr/>
            <p:nvPr/>
          </p:nvSpPr>
          <p:spPr>
            <a:xfrm>
              <a:off x="2498903" y="1860777"/>
              <a:ext cx="1133431" cy="396000"/>
            </a:xfrm>
            <a:prstGeom prst="roundRect">
              <a:avLst>
                <a:gd name="adj" fmla="val 12720"/>
              </a:avLst>
            </a:prstGeom>
            <a:solidFill>
              <a:schemeClr val="accent5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dirty="0">
                  <a:latin typeface="+mn-ea"/>
                </a:rPr>
                <a:t>冲榜带动交易、流量采买、服务购买等</a:t>
              </a:r>
              <a:endParaRPr lang="en-US" altLang="zh-CN" sz="900" dirty="0">
                <a:latin typeface="+mn-ea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014667A-46BD-40E3-9F8A-7A37D73702C8}"/>
              </a:ext>
            </a:extLst>
          </p:cNvPr>
          <p:cNvGrpSpPr/>
          <p:nvPr/>
        </p:nvGrpSpPr>
        <p:grpSpPr>
          <a:xfrm>
            <a:off x="4748859" y="1879261"/>
            <a:ext cx="1193723" cy="606042"/>
            <a:chOff x="2444126" y="1672502"/>
            <a:chExt cx="1225740" cy="606042"/>
          </a:xfrm>
        </p:grpSpPr>
        <p:sp>
          <p:nvSpPr>
            <p:cNvPr id="23" name="Data Science">
              <a:extLst>
                <a:ext uri="{FF2B5EF4-FFF2-40B4-BE49-F238E27FC236}">
                  <a16:creationId xmlns:a16="http://schemas.microsoft.com/office/drawing/2014/main" id="{2F6B321D-0634-4C3F-A7E9-4E115CC965BF}"/>
                </a:ext>
              </a:extLst>
            </p:cNvPr>
            <p:cNvSpPr txBox="1"/>
            <p:nvPr/>
          </p:nvSpPr>
          <p:spPr>
            <a:xfrm>
              <a:off x="2444126" y="1672502"/>
              <a:ext cx="1225740" cy="19236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间接</a:t>
              </a:r>
              <a:r>
                <a:rPr lang="en-US" altLang="zh-CN" sz="1000" b="1" dirty="0">
                  <a:solidFill>
                    <a:schemeClr val="tx1"/>
                  </a:solidFill>
                </a:rPr>
                <a:t>-C</a:t>
              </a:r>
              <a:r>
                <a:rPr lang="zh-CN" altLang="en-US" sz="1000" b="1" dirty="0">
                  <a:solidFill>
                    <a:schemeClr val="tx1"/>
                  </a:solidFill>
                </a:rPr>
                <a:t>增值收入</a:t>
              </a:r>
            </a:p>
          </p:txBody>
        </p:sp>
        <p:sp>
          <p:nvSpPr>
            <p:cNvPr id="24" name="Rounded Rectangle">
              <a:extLst>
                <a:ext uri="{FF2B5EF4-FFF2-40B4-BE49-F238E27FC236}">
                  <a16:creationId xmlns:a16="http://schemas.microsoft.com/office/drawing/2014/main" id="{755F0C68-3C97-42DD-AFA8-6595BA220A0A}"/>
                </a:ext>
              </a:extLst>
            </p:cNvPr>
            <p:cNvSpPr/>
            <p:nvPr/>
          </p:nvSpPr>
          <p:spPr>
            <a:xfrm>
              <a:off x="2498903" y="1882544"/>
              <a:ext cx="1141788" cy="396000"/>
            </a:xfrm>
            <a:prstGeom prst="roundRect">
              <a:avLst>
                <a:gd name="adj" fmla="val 12720"/>
              </a:avLst>
            </a:prstGeom>
            <a:solidFill>
              <a:schemeClr val="accent5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dirty="0">
                  <a:latin typeface="+mn-ea"/>
                </a:rPr>
                <a:t>榜单规则及展现带动会员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lang="zh-CN" altLang="en-US" sz="900" dirty="0">
                  <a:latin typeface="+mn-ea"/>
                </a:rPr>
                <a:t>道具充值</a:t>
              </a:r>
              <a:endParaRPr lang="en-US" altLang="zh-CN" sz="900" dirty="0">
                <a:latin typeface="+mn-ea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B8386A6-950F-4859-900F-126504A5D03C}"/>
              </a:ext>
            </a:extLst>
          </p:cNvPr>
          <p:cNvGrpSpPr/>
          <p:nvPr/>
        </p:nvGrpSpPr>
        <p:grpSpPr>
          <a:xfrm>
            <a:off x="4727022" y="2721275"/>
            <a:ext cx="1225740" cy="568057"/>
            <a:chOff x="2421825" y="1751866"/>
            <a:chExt cx="1225740" cy="303818"/>
          </a:xfrm>
        </p:grpSpPr>
        <p:sp>
          <p:nvSpPr>
            <p:cNvPr id="26" name="Data Science">
              <a:extLst>
                <a:ext uri="{FF2B5EF4-FFF2-40B4-BE49-F238E27FC236}">
                  <a16:creationId xmlns:a16="http://schemas.microsoft.com/office/drawing/2014/main" id="{C78A00C4-511C-4C43-AA1B-B352731ED402}"/>
                </a:ext>
              </a:extLst>
            </p:cNvPr>
            <p:cNvSpPr txBox="1"/>
            <p:nvPr/>
          </p:nvSpPr>
          <p:spPr>
            <a:xfrm>
              <a:off x="2421825" y="1751866"/>
              <a:ext cx="1225740" cy="102881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直接</a:t>
              </a:r>
              <a:r>
                <a:rPr lang="en-US" altLang="zh-CN" sz="1000" b="1" dirty="0">
                  <a:solidFill>
                    <a:schemeClr val="tx1"/>
                  </a:solidFill>
                </a:rPr>
                <a:t>-</a:t>
              </a:r>
              <a:r>
                <a:rPr lang="zh-CN" altLang="en-US" sz="1000" b="1" dirty="0">
                  <a:solidFill>
                    <a:schemeClr val="tx1"/>
                  </a:solidFill>
                </a:rPr>
                <a:t>广告收入</a:t>
              </a:r>
            </a:p>
          </p:txBody>
        </p:sp>
        <p:sp>
          <p:nvSpPr>
            <p:cNvPr id="27" name="Rounded Rectangle">
              <a:extLst>
                <a:ext uri="{FF2B5EF4-FFF2-40B4-BE49-F238E27FC236}">
                  <a16:creationId xmlns:a16="http://schemas.microsoft.com/office/drawing/2014/main" id="{261AB61A-DA33-4F32-984C-C4D6C53B7EFC}"/>
                </a:ext>
              </a:extLst>
            </p:cNvPr>
            <p:cNvSpPr/>
            <p:nvPr/>
          </p:nvSpPr>
          <p:spPr>
            <a:xfrm>
              <a:off x="2498903" y="1843889"/>
              <a:ext cx="1110069" cy="211795"/>
            </a:xfrm>
            <a:prstGeom prst="roundRect">
              <a:avLst>
                <a:gd name="adj" fmla="val 12720"/>
              </a:avLst>
            </a:prstGeom>
            <a:solidFill>
              <a:schemeClr val="accent5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dirty="0">
                  <a:latin typeface="+mn-ea"/>
                </a:rPr>
                <a:t>卖位置</a:t>
              </a:r>
              <a:r>
                <a:rPr lang="en-US" altLang="zh-CN" sz="900" dirty="0">
                  <a:latin typeface="+mn-ea"/>
                </a:rPr>
                <a:t>+</a:t>
              </a:r>
              <a:r>
                <a:rPr lang="zh-CN" altLang="en-US" sz="900" dirty="0">
                  <a:latin typeface="+mn-ea"/>
                </a:rPr>
                <a:t>冠名权</a:t>
              </a:r>
              <a:endParaRPr lang="en-US" altLang="zh-CN" sz="900" dirty="0">
                <a:latin typeface="+mn-ea"/>
              </a:endParaRPr>
            </a:p>
            <a:p>
              <a:pPr algn="ctr"/>
              <a:r>
                <a:rPr lang="en-US" altLang="zh-CN" sz="900" dirty="0">
                  <a:latin typeface="+mn-ea"/>
                </a:rPr>
                <a:t>+</a:t>
              </a:r>
              <a:r>
                <a:rPr lang="zh-CN" altLang="en-US" sz="900" dirty="0">
                  <a:latin typeface="+mn-ea"/>
                </a:rPr>
                <a:t>专项钱</a:t>
              </a:r>
              <a:r>
                <a:rPr lang="en-US" altLang="zh-CN" sz="900" dirty="0">
                  <a:latin typeface="+mn-ea"/>
                </a:rPr>
                <a:t>(</a:t>
              </a:r>
              <a:r>
                <a:rPr lang="zh-CN" altLang="en-US" sz="900" dirty="0">
                  <a:latin typeface="+mn-ea"/>
                </a:rPr>
                <a:t>如大促新品</a:t>
              </a:r>
              <a:r>
                <a:rPr lang="en-US" altLang="zh-CN" sz="900" dirty="0">
                  <a:latin typeface="+mn-ea"/>
                </a:rPr>
                <a:t>)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1B1F71E-B6F5-4BC8-BA14-48C5899C0A50}"/>
              </a:ext>
            </a:extLst>
          </p:cNvPr>
          <p:cNvGrpSpPr/>
          <p:nvPr/>
        </p:nvGrpSpPr>
        <p:grpSpPr>
          <a:xfrm>
            <a:off x="4785589" y="3556918"/>
            <a:ext cx="1225740" cy="580254"/>
            <a:chOff x="2477724" y="1769515"/>
            <a:chExt cx="1225740" cy="287407"/>
          </a:xfrm>
        </p:grpSpPr>
        <p:sp>
          <p:nvSpPr>
            <p:cNvPr id="29" name="Data Science">
              <a:extLst>
                <a:ext uri="{FF2B5EF4-FFF2-40B4-BE49-F238E27FC236}">
                  <a16:creationId xmlns:a16="http://schemas.microsoft.com/office/drawing/2014/main" id="{27E2AB5F-A740-4F0A-AB4A-1F5A8F229308}"/>
                </a:ext>
              </a:extLst>
            </p:cNvPr>
            <p:cNvSpPr txBox="1"/>
            <p:nvPr/>
          </p:nvSpPr>
          <p:spPr>
            <a:xfrm>
              <a:off x="2477724" y="1769515"/>
              <a:ext cx="1225740" cy="95278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endParaRPr lang="zh-CN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Rounded Rectangle">
              <a:extLst>
                <a:ext uri="{FF2B5EF4-FFF2-40B4-BE49-F238E27FC236}">
                  <a16:creationId xmlns:a16="http://schemas.microsoft.com/office/drawing/2014/main" id="{E5AD8592-BED2-4176-A14B-A9BBFDC950D0}"/>
                </a:ext>
              </a:extLst>
            </p:cNvPr>
            <p:cNvSpPr/>
            <p:nvPr/>
          </p:nvSpPr>
          <p:spPr>
            <a:xfrm>
              <a:off x="2498903" y="1860778"/>
              <a:ext cx="1093441" cy="196144"/>
            </a:xfrm>
            <a:prstGeom prst="roundRect">
              <a:avLst>
                <a:gd name="adj" fmla="val 12720"/>
              </a:avLst>
            </a:prstGeom>
            <a:solidFill>
              <a:schemeClr val="accent5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dirty="0">
                  <a:latin typeface="+mn-ea"/>
                </a:rPr>
                <a:t>平台数据具备权威分析价值，收取费用</a:t>
              </a:r>
              <a:endParaRPr lang="en-US" altLang="zh-CN" sz="900" dirty="0">
                <a:latin typeface="+mn-ea"/>
              </a:endParaRPr>
            </a:p>
          </p:txBody>
        </p:sp>
      </p:grpSp>
      <p:sp>
        <p:nvSpPr>
          <p:cNvPr id="31" name="Data Science">
            <a:extLst>
              <a:ext uri="{FF2B5EF4-FFF2-40B4-BE49-F238E27FC236}">
                <a16:creationId xmlns:a16="http://schemas.microsoft.com/office/drawing/2014/main" id="{BB55EC2A-3112-48F3-AFDB-8670645B951A}"/>
              </a:ext>
            </a:extLst>
          </p:cNvPr>
          <p:cNvSpPr txBox="1"/>
          <p:nvPr/>
        </p:nvSpPr>
        <p:spPr>
          <a:xfrm>
            <a:off x="4759743" y="3554473"/>
            <a:ext cx="1225740" cy="19236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直接</a:t>
            </a:r>
            <a:r>
              <a:rPr lang="en-US" altLang="zh-CN" sz="1000" b="1" dirty="0">
                <a:solidFill>
                  <a:schemeClr val="tx1"/>
                </a:solidFill>
              </a:rPr>
              <a:t>-</a:t>
            </a:r>
            <a:r>
              <a:rPr lang="zh-CN" altLang="en-US" sz="1000" b="1" dirty="0">
                <a:solidFill>
                  <a:schemeClr val="tx1"/>
                </a:solidFill>
              </a:rPr>
              <a:t>数据服务</a:t>
            </a:r>
          </a:p>
        </p:txBody>
      </p:sp>
      <p:sp>
        <p:nvSpPr>
          <p:cNvPr id="33" name="Shape">
            <a:extLst>
              <a:ext uri="{FF2B5EF4-FFF2-40B4-BE49-F238E27FC236}">
                <a16:creationId xmlns:a16="http://schemas.microsoft.com/office/drawing/2014/main" id="{AC5E1FF0-455E-4D3E-B154-59200643EEE5}"/>
              </a:ext>
            </a:extLst>
          </p:cNvPr>
          <p:cNvSpPr/>
          <p:nvPr/>
        </p:nvSpPr>
        <p:spPr>
          <a:xfrm>
            <a:off x="4879511" y="649749"/>
            <a:ext cx="947954" cy="327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5"/>
            </a:solidFill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latin typeface="+mn-ea"/>
              </a:rPr>
              <a:t>商业模式</a:t>
            </a:r>
            <a:endParaRPr sz="1400" b="1" dirty="0">
              <a:latin typeface="+mn-ea"/>
            </a:endParaRPr>
          </a:p>
        </p:txBody>
      </p:sp>
      <p:sp>
        <p:nvSpPr>
          <p:cNvPr id="78" name="Rounded Rectangle">
            <a:extLst>
              <a:ext uri="{FF2B5EF4-FFF2-40B4-BE49-F238E27FC236}">
                <a16:creationId xmlns:a16="http://schemas.microsoft.com/office/drawing/2014/main" id="{D33D8C7D-8D7A-4B2B-BFFD-135F2B0C8812}"/>
              </a:ext>
            </a:extLst>
          </p:cNvPr>
          <p:cNvSpPr/>
          <p:nvPr/>
        </p:nvSpPr>
        <p:spPr>
          <a:xfrm>
            <a:off x="497305" y="542158"/>
            <a:ext cx="3801896" cy="4377161"/>
          </a:xfrm>
          <a:prstGeom prst="roundRect">
            <a:avLst>
              <a:gd name="adj" fmla="val 4117"/>
            </a:avLst>
          </a:prstGeom>
          <a:noFill/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sz="900" dirty="0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0CA983C-7C09-458E-9C20-9F7F1D6B2820}"/>
              </a:ext>
            </a:extLst>
          </p:cNvPr>
          <p:cNvGrpSpPr/>
          <p:nvPr/>
        </p:nvGrpSpPr>
        <p:grpSpPr>
          <a:xfrm>
            <a:off x="579585" y="1202018"/>
            <a:ext cx="1225740" cy="589325"/>
            <a:chOff x="2477724" y="1667452"/>
            <a:chExt cx="1225740" cy="589325"/>
          </a:xfrm>
        </p:grpSpPr>
        <p:sp>
          <p:nvSpPr>
            <p:cNvPr id="80" name="Data Science">
              <a:extLst>
                <a:ext uri="{FF2B5EF4-FFF2-40B4-BE49-F238E27FC236}">
                  <a16:creationId xmlns:a16="http://schemas.microsoft.com/office/drawing/2014/main" id="{37A93C0E-AEA7-495F-92B5-751B7B119A27}"/>
                </a:ext>
              </a:extLst>
            </p:cNvPr>
            <p:cNvSpPr txBox="1"/>
            <p:nvPr/>
          </p:nvSpPr>
          <p:spPr>
            <a:xfrm>
              <a:off x="2477724" y="1667452"/>
              <a:ext cx="1225740" cy="19236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分节点营销</a:t>
              </a:r>
            </a:p>
          </p:txBody>
        </p:sp>
        <p:sp>
          <p:nvSpPr>
            <p:cNvPr id="81" name="Rounded Rectangle">
              <a:extLst>
                <a:ext uri="{FF2B5EF4-FFF2-40B4-BE49-F238E27FC236}">
                  <a16:creationId xmlns:a16="http://schemas.microsoft.com/office/drawing/2014/main" id="{BCA7385F-9907-4655-B69D-F7D9AFCA45DF}"/>
                </a:ext>
              </a:extLst>
            </p:cNvPr>
            <p:cNvSpPr/>
            <p:nvPr/>
          </p:nvSpPr>
          <p:spPr>
            <a:xfrm>
              <a:off x="2535983" y="1860777"/>
              <a:ext cx="1096351" cy="396000"/>
            </a:xfrm>
            <a:prstGeom prst="roundRect">
              <a:avLst>
                <a:gd name="adj" fmla="val 12720"/>
              </a:avLst>
            </a:prstGeom>
            <a:solidFill>
              <a:schemeClr val="accent6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dirty="0"/>
                <a:t>平日</a:t>
              </a:r>
              <a:r>
                <a:rPr lang="en-US" altLang="zh-CN" sz="900" dirty="0"/>
                <a:t>/</a:t>
              </a:r>
              <a:r>
                <a:rPr lang="zh-CN" altLang="en-US" sz="900" dirty="0"/>
                <a:t>大促</a:t>
              </a:r>
              <a:r>
                <a:rPr lang="en-US" altLang="zh-CN" sz="900" dirty="0"/>
                <a:t>/</a:t>
              </a:r>
              <a:r>
                <a:rPr lang="zh-CN" altLang="en-US" sz="900" dirty="0"/>
                <a:t>定期</a:t>
              </a:r>
              <a:r>
                <a:rPr lang="en-US" altLang="zh-CN" sz="900" dirty="0"/>
                <a:t>/</a:t>
              </a:r>
              <a:r>
                <a:rPr lang="zh-CN" altLang="en-US" sz="900" dirty="0"/>
                <a:t>热点</a:t>
              </a:r>
              <a:endParaRPr sz="900" dirty="0"/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4B196EFF-AE2B-49DE-9255-272577A545C0}"/>
              </a:ext>
            </a:extLst>
          </p:cNvPr>
          <p:cNvGrpSpPr/>
          <p:nvPr/>
        </p:nvGrpSpPr>
        <p:grpSpPr>
          <a:xfrm>
            <a:off x="592000" y="1946246"/>
            <a:ext cx="1225740" cy="628088"/>
            <a:chOff x="2477724" y="1667452"/>
            <a:chExt cx="1225740" cy="523187"/>
          </a:xfrm>
        </p:grpSpPr>
        <p:sp>
          <p:nvSpPr>
            <p:cNvPr id="83" name="Data Science">
              <a:extLst>
                <a:ext uri="{FF2B5EF4-FFF2-40B4-BE49-F238E27FC236}">
                  <a16:creationId xmlns:a16="http://schemas.microsoft.com/office/drawing/2014/main" id="{32F61F7F-FDB2-4A79-87FF-24072FDBD19B}"/>
                </a:ext>
              </a:extLst>
            </p:cNvPr>
            <p:cNvSpPr txBox="1"/>
            <p:nvPr/>
          </p:nvSpPr>
          <p:spPr>
            <a:xfrm>
              <a:off x="2477724" y="1667452"/>
              <a:ext cx="1225740" cy="19236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线上线下共振</a:t>
              </a:r>
            </a:p>
          </p:txBody>
        </p:sp>
        <p:sp>
          <p:nvSpPr>
            <p:cNvPr id="84" name="Rounded Rectangle">
              <a:extLst>
                <a:ext uri="{FF2B5EF4-FFF2-40B4-BE49-F238E27FC236}">
                  <a16:creationId xmlns:a16="http://schemas.microsoft.com/office/drawing/2014/main" id="{1A81AACE-0CF2-4DEB-938A-50B7946567DA}"/>
                </a:ext>
              </a:extLst>
            </p:cNvPr>
            <p:cNvSpPr/>
            <p:nvPr/>
          </p:nvSpPr>
          <p:spPr>
            <a:xfrm>
              <a:off x="2498903" y="1860778"/>
              <a:ext cx="1133431" cy="329861"/>
            </a:xfrm>
            <a:prstGeom prst="roundRect">
              <a:avLst>
                <a:gd name="adj" fmla="val 12720"/>
              </a:avLst>
            </a:prstGeom>
            <a:solidFill>
              <a:schemeClr val="accent6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b="1" dirty="0"/>
                <a:t>线上</a:t>
              </a:r>
              <a:r>
                <a:rPr lang="en-US" altLang="zh-CN" sz="900" b="1" dirty="0"/>
                <a:t>:</a:t>
              </a:r>
              <a:r>
                <a:rPr lang="zh-CN" altLang="en-US" sz="900" dirty="0"/>
                <a:t>福利</a:t>
              </a:r>
              <a:r>
                <a:rPr lang="en-US" altLang="zh-CN" sz="900" dirty="0"/>
                <a:t>+</a:t>
              </a:r>
              <a:r>
                <a:rPr lang="zh-CN" altLang="en-US" sz="900" dirty="0"/>
                <a:t>抽奖</a:t>
              </a:r>
              <a:r>
                <a:rPr lang="en-US" altLang="zh-CN" sz="900" dirty="0"/>
                <a:t>+</a:t>
              </a:r>
              <a:r>
                <a:rPr lang="zh-CN" altLang="en-US" sz="900" dirty="0"/>
                <a:t>荣誉</a:t>
              </a:r>
              <a:endParaRPr lang="en-US" altLang="zh-CN" sz="900" dirty="0"/>
            </a:p>
            <a:p>
              <a:pPr algn="ctr"/>
              <a:r>
                <a:rPr lang="zh-CN" altLang="en-US" sz="900" b="1" dirty="0"/>
                <a:t>线下</a:t>
              </a:r>
              <a:r>
                <a:rPr lang="en-US" altLang="zh-CN" sz="900" b="1" dirty="0"/>
                <a:t>:</a:t>
              </a:r>
              <a:r>
                <a:rPr lang="zh-CN" altLang="en-US" sz="900" dirty="0"/>
                <a:t>盛典</a:t>
              </a:r>
              <a:r>
                <a:rPr lang="en-US" altLang="zh-CN" sz="900" dirty="0"/>
                <a:t>+</a:t>
              </a:r>
              <a:r>
                <a:rPr lang="zh-CN" altLang="en-US" sz="900" dirty="0"/>
                <a:t>体验</a:t>
              </a:r>
              <a:r>
                <a:rPr lang="en-US" altLang="zh-CN" sz="900" dirty="0"/>
                <a:t>+</a:t>
              </a:r>
              <a:r>
                <a:rPr lang="zh-CN" altLang="en-US" sz="900" dirty="0"/>
                <a:t>物料</a:t>
              </a:r>
              <a:r>
                <a:rPr lang="en-US" altLang="zh-CN" sz="900" dirty="0"/>
                <a:t> </a:t>
              </a:r>
              <a:endParaRPr sz="900" dirty="0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695F3FAD-CC3D-40E9-AE2D-F62C00FD68B8}"/>
              </a:ext>
            </a:extLst>
          </p:cNvPr>
          <p:cNvGrpSpPr/>
          <p:nvPr/>
        </p:nvGrpSpPr>
        <p:grpSpPr>
          <a:xfrm>
            <a:off x="598927" y="2801666"/>
            <a:ext cx="1225740" cy="594539"/>
            <a:chOff x="2477724" y="1753762"/>
            <a:chExt cx="1225740" cy="317981"/>
          </a:xfrm>
        </p:grpSpPr>
        <p:sp>
          <p:nvSpPr>
            <p:cNvPr id="86" name="Data Science">
              <a:extLst>
                <a:ext uri="{FF2B5EF4-FFF2-40B4-BE49-F238E27FC236}">
                  <a16:creationId xmlns:a16="http://schemas.microsoft.com/office/drawing/2014/main" id="{81A5F1FF-78B8-4BE1-B9C9-A423525822BD}"/>
                </a:ext>
              </a:extLst>
            </p:cNvPr>
            <p:cNvSpPr txBox="1"/>
            <p:nvPr/>
          </p:nvSpPr>
          <p:spPr>
            <a:xfrm>
              <a:off x="2477724" y="1753762"/>
              <a:ext cx="1225740" cy="102881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全场景心智打造</a:t>
              </a:r>
            </a:p>
          </p:txBody>
        </p:sp>
        <p:sp>
          <p:nvSpPr>
            <p:cNvPr id="87" name="Rounded Rectangle">
              <a:extLst>
                <a:ext uri="{FF2B5EF4-FFF2-40B4-BE49-F238E27FC236}">
                  <a16:creationId xmlns:a16="http://schemas.microsoft.com/office/drawing/2014/main" id="{5CCADE85-64C1-4520-81CD-1B418E01512E}"/>
                </a:ext>
              </a:extLst>
            </p:cNvPr>
            <p:cNvSpPr/>
            <p:nvPr/>
          </p:nvSpPr>
          <p:spPr>
            <a:xfrm>
              <a:off x="2498903" y="1860778"/>
              <a:ext cx="1133431" cy="210965"/>
            </a:xfrm>
            <a:prstGeom prst="roundRect">
              <a:avLst>
                <a:gd name="adj" fmla="val 12720"/>
              </a:avLst>
            </a:prstGeom>
            <a:solidFill>
              <a:schemeClr val="accent6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b="1" dirty="0">
                  <a:latin typeface="+mn-ea"/>
                </a:rPr>
                <a:t>站内</a:t>
              </a:r>
              <a:r>
                <a:rPr lang="en-US" altLang="zh-CN" sz="900" b="1" dirty="0">
                  <a:latin typeface="+mn-ea"/>
                </a:rPr>
                <a:t>:</a:t>
              </a:r>
              <a:r>
                <a:rPr lang="zh-CN" altLang="en-US" sz="900" dirty="0">
                  <a:latin typeface="+mn-ea"/>
                </a:rPr>
                <a:t>流量场</a:t>
              </a:r>
              <a:r>
                <a:rPr lang="en-US" altLang="zh-CN" sz="900" dirty="0">
                  <a:latin typeface="+mn-ea"/>
                </a:rPr>
                <a:t>+</a:t>
              </a:r>
              <a:r>
                <a:rPr lang="zh-CN" altLang="en-US" sz="900" dirty="0">
                  <a:latin typeface="+mn-ea"/>
                </a:rPr>
                <a:t>营销场</a:t>
              </a:r>
              <a:endParaRPr lang="en-US" altLang="zh-CN" sz="900" dirty="0">
                <a:latin typeface="+mn-ea"/>
              </a:endParaRPr>
            </a:p>
            <a:p>
              <a:pPr algn="ctr"/>
              <a:r>
                <a:rPr lang="zh-CN" altLang="en-US" sz="900" b="1" dirty="0">
                  <a:latin typeface="+mn-ea"/>
                </a:rPr>
                <a:t>站外</a:t>
              </a:r>
              <a:r>
                <a:rPr lang="en-US" altLang="zh-CN" sz="900" b="1" dirty="0">
                  <a:latin typeface="+mn-ea"/>
                </a:rPr>
                <a:t>:</a:t>
              </a:r>
              <a:r>
                <a:rPr lang="zh-CN" altLang="en-US" sz="900" dirty="0">
                  <a:latin typeface="+mn-ea"/>
                </a:rPr>
                <a:t>渠道</a:t>
              </a:r>
              <a:r>
                <a:rPr lang="en-US" altLang="zh-CN" sz="900" dirty="0">
                  <a:latin typeface="+mn-ea"/>
                </a:rPr>
                <a:t>+</a:t>
              </a:r>
              <a:r>
                <a:rPr lang="zh-CN" altLang="en-US" sz="900" dirty="0">
                  <a:latin typeface="+mn-ea"/>
                </a:rPr>
                <a:t>生态共建</a:t>
              </a:r>
              <a:endParaRPr lang="en-US" altLang="zh-CN" sz="900" dirty="0">
                <a:latin typeface="+mn-ea"/>
              </a:endParaRP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5AAF9234-F34D-4554-AAAE-D8125F454B46}"/>
              </a:ext>
            </a:extLst>
          </p:cNvPr>
          <p:cNvGrpSpPr/>
          <p:nvPr/>
        </p:nvGrpSpPr>
        <p:grpSpPr>
          <a:xfrm>
            <a:off x="600762" y="3546045"/>
            <a:ext cx="1225740" cy="693605"/>
            <a:chOff x="2477724" y="1720974"/>
            <a:chExt cx="1225740" cy="343551"/>
          </a:xfrm>
        </p:grpSpPr>
        <p:sp>
          <p:nvSpPr>
            <p:cNvPr id="89" name="Data Science">
              <a:extLst>
                <a:ext uri="{FF2B5EF4-FFF2-40B4-BE49-F238E27FC236}">
                  <a16:creationId xmlns:a16="http://schemas.microsoft.com/office/drawing/2014/main" id="{CA96E2C9-7B28-4D8E-91B1-0FCC37513C64}"/>
                </a:ext>
              </a:extLst>
            </p:cNvPr>
            <p:cNvSpPr txBox="1"/>
            <p:nvPr/>
          </p:nvSpPr>
          <p:spPr>
            <a:xfrm>
              <a:off x="2477724" y="1720974"/>
              <a:ext cx="1225740" cy="19236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9050" tIns="19050" rIns="19050" bIns="19050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分层精细化运营</a:t>
              </a:r>
            </a:p>
          </p:txBody>
        </p:sp>
        <p:sp>
          <p:nvSpPr>
            <p:cNvPr id="90" name="Rounded Rectangle">
              <a:extLst>
                <a:ext uri="{FF2B5EF4-FFF2-40B4-BE49-F238E27FC236}">
                  <a16:creationId xmlns:a16="http://schemas.microsoft.com/office/drawing/2014/main" id="{4982C57A-8C20-4470-93D5-6BCC9DD4BF8E}"/>
                </a:ext>
              </a:extLst>
            </p:cNvPr>
            <p:cNvSpPr/>
            <p:nvPr/>
          </p:nvSpPr>
          <p:spPr>
            <a:xfrm>
              <a:off x="2498903" y="1868381"/>
              <a:ext cx="1133431" cy="196144"/>
            </a:xfrm>
            <a:prstGeom prst="roundRect">
              <a:avLst>
                <a:gd name="adj" fmla="val 12720"/>
              </a:avLst>
            </a:prstGeom>
            <a:solidFill>
              <a:schemeClr val="accent6">
                <a:lumMod val="20000"/>
                <a:lumOff val="80000"/>
                <a:alpha val="9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r>
                <a:rPr lang="zh-CN" altLang="en-US" sz="900" b="1" dirty="0">
                  <a:latin typeface="+mn-ea"/>
                </a:rPr>
                <a:t>用户</a:t>
              </a:r>
              <a:r>
                <a:rPr lang="en-US" altLang="zh-CN" sz="900" b="1" dirty="0">
                  <a:latin typeface="+mn-ea"/>
                </a:rPr>
                <a:t>:</a:t>
              </a:r>
              <a:r>
                <a:rPr lang="zh-CN" altLang="en-US" sz="900" dirty="0">
                  <a:latin typeface="+mn-ea"/>
                </a:rPr>
                <a:t>会员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lang="zh-CN" altLang="en-US" sz="900" dirty="0">
                  <a:latin typeface="+mn-ea"/>
                </a:rPr>
                <a:t>普户</a:t>
              </a:r>
              <a:r>
                <a:rPr lang="en-US" altLang="zh-CN" sz="900" dirty="0">
                  <a:latin typeface="+mn-ea"/>
                </a:rPr>
                <a:t>+</a:t>
              </a:r>
              <a:r>
                <a:rPr lang="zh-CN" altLang="en-US" sz="900" dirty="0">
                  <a:latin typeface="+mn-ea"/>
                </a:rPr>
                <a:t>达人</a:t>
              </a:r>
              <a:endParaRPr lang="en-US" altLang="zh-CN" sz="900" dirty="0">
                <a:latin typeface="+mn-ea"/>
              </a:endParaRPr>
            </a:p>
            <a:p>
              <a:pPr algn="ctr"/>
              <a:r>
                <a:rPr lang="zh-CN" altLang="en-US" sz="900" b="1" dirty="0">
                  <a:latin typeface="+mn-ea"/>
                </a:rPr>
                <a:t>供给</a:t>
              </a:r>
              <a:r>
                <a:rPr lang="en-US" altLang="zh-CN" sz="900" b="1" dirty="0">
                  <a:latin typeface="+mn-ea"/>
                </a:rPr>
                <a:t>:</a:t>
              </a:r>
              <a:r>
                <a:rPr lang="zh-CN" altLang="en-US" sz="900" dirty="0">
                  <a:latin typeface="+mn-ea"/>
                </a:rPr>
                <a:t>在榜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lang="zh-CN" altLang="en-US" sz="900" dirty="0">
                  <a:latin typeface="+mn-ea"/>
                </a:rPr>
                <a:t>冲榜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lang="zh-CN" altLang="en-US" sz="900" dirty="0">
                  <a:latin typeface="+mn-ea"/>
                </a:rPr>
                <a:t>榜外</a:t>
              </a:r>
              <a:endParaRPr lang="en-US" altLang="zh-CN" sz="900" dirty="0">
                <a:latin typeface="+mn-ea"/>
              </a:endParaRPr>
            </a:p>
          </p:txBody>
        </p:sp>
      </p:grpSp>
      <p:sp>
        <p:nvSpPr>
          <p:cNvPr id="91" name="Shape">
            <a:extLst>
              <a:ext uri="{FF2B5EF4-FFF2-40B4-BE49-F238E27FC236}">
                <a16:creationId xmlns:a16="http://schemas.microsoft.com/office/drawing/2014/main" id="{E6702E58-6326-43EF-9388-067E995FC776}"/>
              </a:ext>
            </a:extLst>
          </p:cNvPr>
          <p:cNvSpPr/>
          <p:nvPr/>
        </p:nvSpPr>
        <p:spPr>
          <a:xfrm>
            <a:off x="737820" y="813263"/>
            <a:ext cx="947954" cy="327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5"/>
            </a:solidFill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latin typeface="+mn-ea"/>
              </a:rPr>
              <a:t>运营手段</a:t>
            </a:r>
            <a:endParaRPr sz="1400" b="1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852824D-C24D-1F63-D140-ABD150A1C015}"/>
              </a:ext>
            </a:extLst>
          </p:cNvPr>
          <p:cNvGrpSpPr/>
          <p:nvPr/>
        </p:nvGrpSpPr>
        <p:grpSpPr>
          <a:xfrm>
            <a:off x="1832879" y="597402"/>
            <a:ext cx="2617570" cy="2056324"/>
            <a:chOff x="1675302" y="1068985"/>
            <a:chExt cx="2148848" cy="1814073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54CA815-BC29-9FA4-5704-1508E1EB06E1}"/>
                </a:ext>
              </a:extLst>
            </p:cNvPr>
            <p:cNvGrpSpPr/>
            <p:nvPr/>
          </p:nvGrpSpPr>
          <p:grpSpPr>
            <a:xfrm>
              <a:off x="1754954" y="1068985"/>
              <a:ext cx="1772026" cy="1654623"/>
              <a:chOff x="1774990" y="977934"/>
              <a:chExt cx="2375039" cy="2349285"/>
            </a:xfrm>
          </p:grpSpPr>
          <p:pic>
            <p:nvPicPr>
              <p:cNvPr id="8" name="Picture 2">
                <a:extLst>
                  <a:ext uri="{FF2B5EF4-FFF2-40B4-BE49-F238E27FC236}">
                    <a16:creationId xmlns:a16="http://schemas.microsoft.com/office/drawing/2014/main" id="{1FC66BC0-A615-738E-2E1C-BF6B294FEE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7017"/>
              <a:stretch/>
            </p:blipFill>
            <p:spPr bwMode="auto">
              <a:xfrm>
                <a:off x="1774990" y="977934"/>
                <a:ext cx="1252046" cy="23492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A7C69997-8937-F447-8E84-D90F1F919CCD}"/>
                  </a:ext>
                </a:extLst>
              </p:cNvPr>
              <p:cNvGrpSpPr/>
              <p:nvPr/>
            </p:nvGrpSpPr>
            <p:grpSpPr>
              <a:xfrm>
                <a:off x="2989593" y="977934"/>
                <a:ext cx="1160436" cy="2349285"/>
                <a:chOff x="3029179" y="635918"/>
                <a:chExt cx="2372530" cy="4588043"/>
              </a:xfrm>
            </p:grpSpPr>
            <p:pic>
              <p:nvPicPr>
                <p:cNvPr id="10" name="图片 9">
                  <a:extLst>
                    <a:ext uri="{FF2B5EF4-FFF2-40B4-BE49-F238E27FC236}">
                      <a16:creationId xmlns:a16="http://schemas.microsoft.com/office/drawing/2014/main" id="{D0C91FEB-DB9B-D8D1-66F3-644748E2E1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b="10799"/>
                <a:stretch/>
              </p:blipFill>
              <p:spPr>
                <a:xfrm>
                  <a:off x="3029179" y="635918"/>
                  <a:ext cx="2372530" cy="4588043"/>
                </a:xfrm>
                <a:prstGeom prst="rect">
                  <a:avLst/>
                </a:prstGeom>
              </p:spPr>
            </p:pic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FD063C25-E336-A840-0689-A71BF52E55F9}"/>
                    </a:ext>
                  </a:extLst>
                </p:cNvPr>
                <p:cNvSpPr/>
                <p:nvPr/>
              </p:nvSpPr>
              <p:spPr>
                <a:xfrm>
                  <a:off x="3046262" y="2050473"/>
                  <a:ext cx="966014" cy="223951"/>
                </a:xfrm>
                <a:prstGeom prst="rect">
                  <a:avLst/>
                </a:prstGeom>
                <a:noFill/>
                <a:ln w="19050"/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dirty="0">
                    <a:solidFill>
                      <a:srgbClr val="FFFFFF"/>
                    </a:solidFill>
                    <a:ea typeface="MiSans Medium" panose="00000600000000000000" pitchFamily="2" charset="-122"/>
                  </a:endParaRPr>
                </a:p>
              </p:txBody>
            </p:sp>
          </p:grp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A67ACA4-835D-9A72-E42E-F1144011FC4A}"/>
                </a:ext>
              </a:extLst>
            </p:cNvPr>
            <p:cNvSpPr txBox="1"/>
            <p:nvPr/>
          </p:nvSpPr>
          <p:spPr>
            <a:xfrm>
              <a:off x="1675302" y="2706571"/>
              <a:ext cx="2148848" cy="176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" b="1" dirty="0">
                  <a:latin typeface="+mn-ea"/>
                </a:rPr>
                <a:t>节点营销：</a:t>
              </a:r>
              <a:r>
                <a:rPr lang="zh-CN" altLang="en-US" sz="700" dirty="0">
                  <a:latin typeface="+mn-ea"/>
                </a:rPr>
                <a:t>天猫</a:t>
              </a:r>
              <a:r>
                <a:rPr lang="en-US" altLang="zh-CN" sz="700" dirty="0">
                  <a:latin typeface="+mn-ea"/>
                </a:rPr>
                <a:t>618/</a:t>
              </a:r>
              <a:r>
                <a:rPr lang="zh-CN" altLang="en-US" sz="700" dirty="0">
                  <a:latin typeface="+mn-ea"/>
                </a:rPr>
                <a:t>双</a:t>
              </a:r>
              <a:r>
                <a:rPr lang="en-US" altLang="zh-CN" sz="700" dirty="0">
                  <a:latin typeface="+mn-ea"/>
                </a:rPr>
                <a:t>11</a:t>
              </a:r>
              <a:r>
                <a:rPr lang="zh-CN" altLang="en-US" sz="700" dirty="0">
                  <a:latin typeface="+mn-ea"/>
                </a:rPr>
                <a:t>大促活动榜单（仅取活动期数据）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92C3EA17-0AA3-4B4C-7964-BE752BD179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2744" y="2778724"/>
            <a:ext cx="1093568" cy="201559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4D5958A-C0F7-D4FB-0C04-754592E1FD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2704" y="2761401"/>
            <a:ext cx="961436" cy="197593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7CCB385-0A24-0D7B-049E-B12DF365A04A}"/>
              </a:ext>
            </a:extLst>
          </p:cNvPr>
          <p:cNvSpPr txBox="1"/>
          <p:nvPr/>
        </p:nvSpPr>
        <p:spPr>
          <a:xfrm>
            <a:off x="1938846" y="4719264"/>
            <a:ext cx="236035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心智打造：</a:t>
            </a:r>
            <a:r>
              <a:rPr lang="zh-CN" altLang="en-US" sz="700" dirty="0">
                <a:latin typeface="+mn-ea"/>
              </a:rPr>
              <a:t>携程口碑榜权益活动设计</a:t>
            </a:r>
            <a:r>
              <a:rPr lang="en-US" altLang="zh-CN" sz="700" dirty="0">
                <a:latin typeface="+mn-ea"/>
              </a:rPr>
              <a:t>/</a:t>
            </a:r>
            <a:r>
              <a:rPr lang="zh-CN" altLang="en-US" sz="700" dirty="0">
                <a:latin typeface="+mn-ea"/>
              </a:rPr>
              <a:t>天猫榜单</a:t>
            </a:r>
            <a:r>
              <a:rPr lang="en-US" altLang="zh-CN" sz="700" dirty="0">
                <a:latin typeface="+mn-ea"/>
              </a:rPr>
              <a:t>x</a:t>
            </a:r>
            <a:r>
              <a:rPr lang="zh-CN" altLang="en-US" sz="700" dirty="0">
                <a:latin typeface="+mn-ea"/>
              </a:rPr>
              <a:t>小红书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AA4233C-C906-E1CC-2607-624736967557}"/>
              </a:ext>
            </a:extLst>
          </p:cNvPr>
          <p:cNvGrpSpPr/>
          <p:nvPr/>
        </p:nvGrpSpPr>
        <p:grpSpPr>
          <a:xfrm>
            <a:off x="6039535" y="2778724"/>
            <a:ext cx="2346296" cy="2109962"/>
            <a:chOff x="5683325" y="982447"/>
            <a:chExt cx="1865210" cy="1650048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88A56384-7DD1-BFEF-0A53-E30470381D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4849" b="15097"/>
            <a:stretch/>
          </p:blipFill>
          <p:spPr>
            <a:xfrm>
              <a:off x="5741548" y="982447"/>
              <a:ext cx="860607" cy="1493600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AD3D4B1-A51A-5776-6B15-205B9EF8763B}"/>
                </a:ext>
              </a:extLst>
            </p:cNvPr>
            <p:cNvSpPr/>
            <p:nvPr/>
          </p:nvSpPr>
          <p:spPr>
            <a:xfrm>
              <a:off x="5710386" y="1653482"/>
              <a:ext cx="891769" cy="218849"/>
            </a:xfrm>
            <a:prstGeom prst="rect">
              <a:avLst/>
            </a:prstGeom>
            <a:noFill/>
            <a:ln w="190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FFFFFF"/>
                </a:solidFill>
                <a:ea typeface="MiSans Medium" panose="00000600000000000000" pitchFamily="2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C59BAE1-ED72-DB4A-2462-0829BAFB511A}"/>
                </a:ext>
              </a:extLst>
            </p:cNvPr>
            <p:cNvSpPr txBox="1"/>
            <p:nvPr/>
          </p:nvSpPr>
          <p:spPr>
            <a:xfrm>
              <a:off x="5683325" y="2476047"/>
              <a:ext cx="1865210" cy="156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00" b="1" dirty="0">
                  <a:latin typeface="+mn-ea"/>
                </a:rPr>
                <a:t>广告：</a:t>
              </a:r>
              <a:r>
                <a:rPr lang="zh-CN" altLang="en-US" sz="700" dirty="0">
                  <a:latin typeface="+mn-ea"/>
                </a:rPr>
                <a:t>京东</a:t>
              </a:r>
              <a:r>
                <a:rPr lang="en-US" altLang="zh-CN" sz="700" dirty="0">
                  <a:latin typeface="+mn-ea"/>
                </a:rPr>
                <a:t>/</a:t>
              </a:r>
              <a:r>
                <a:rPr lang="zh-CN" altLang="en-US" sz="700" dirty="0">
                  <a:latin typeface="+mn-ea"/>
                </a:rPr>
                <a:t>携程榜单落地页品牌广告投放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1AC39A43-E12E-E92B-3833-D4C34FB517C0}"/>
              </a:ext>
            </a:extLst>
          </p:cNvPr>
          <p:cNvGrpSpPr/>
          <p:nvPr/>
        </p:nvGrpSpPr>
        <p:grpSpPr>
          <a:xfrm>
            <a:off x="6026193" y="597818"/>
            <a:ext cx="2426506" cy="2136197"/>
            <a:chOff x="3377429" y="793386"/>
            <a:chExt cx="1779401" cy="1559832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4E181521-0360-A69C-34CC-FA2C87A980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930" t="5777" r="-930" b="2628"/>
            <a:stretch/>
          </p:blipFill>
          <p:spPr>
            <a:xfrm>
              <a:off x="3430324" y="793386"/>
              <a:ext cx="717520" cy="1480542"/>
            </a:xfrm>
            <a:prstGeom prst="rect">
              <a:avLst/>
            </a:prstGeom>
          </p:spPr>
        </p:pic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BCA3098-1F1E-F3FB-FDB2-3F237D0D58F1}"/>
                </a:ext>
              </a:extLst>
            </p:cNvPr>
            <p:cNvSpPr txBox="1"/>
            <p:nvPr/>
          </p:nvSpPr>
          <p:spPr>
            <a:xfrm>
              <a:off x="3377429" y="2207140"/>
              <a:ext cx="1779401" cy="146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" b="1" dirty="0">
                  <a:latin typeface="+mn-ea"/>
                </a:rPr>
                <a:t>间接：</a:t>
              </a:r>
              <a:r>
                <a:rPr lang="en-US" altLang="zh-CN" sz="700" dirty="0">
                  <a:latin typeface="+mn-ea"/>
                </a:rPr>
                <a:t>D+</a:t>
              </a:r>
              <a:r>
                <a:rPr lang="zh-CN" altLang="en-US" sz="700" dirty="0">
                  <a:latin typeface="+mn-ea"/>
                </a:rPr>
                <a:t>带货榜间接带动电商交易</a:t>
              </a:r>
              <a:r>
                <a:rPr lang="en-US" altLang="zh-CN" sz="700" dirty="0">
                  <a:latin typeface="+mn-ea"/>
                </a:rPr>
                <a:t>/ QQ</a:t>
              </a:r>
              <a:r>
                <a:rPr lang="zh-CN" altLang="en-US" sz="700" dirty="0">
                  <a:latin typeface="+mn-ea"/>
                </a:rPr>
                <a:t>音乐绿钻打榜加权</a:t>
              </a:r>
            </a:p>
          </p:txBody>
        </p:sp>
      </p:grpSp>
      <p:pic>
        <p:nvPicPr>
          <p:cNvPr id="47" name="图片 46">
            <a:extLst>
              <a:ext uri="{FF2B5EF4-FFF2-40B4-BE49-F238E27FC236}">
                <a16:creationId xmlns:a16="http://schemas.microsoft.com/office/drawing/2014/main" id="{FB87FCDB-DDBF-D4A5-3421-1A76B2F4122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13170"/>
          <a:stretch/>
        </p:blipFill>
        <p:spPr>
          <a:xfrm>
            <a:off x="7203770" y="2763849"/>
            <a:ext cx="1027037" cy="1933320"/>
          </a:xfrm>
          <a:prstGeom prst="rect">
            <a:avLst/>
          </a:prstGeom>
        </p:spPr>
      </p:pic>
      <p:grpSp>
        <p:nvGrpSpPr>
          <p:cNvPr id="50" name="组合 49">
            <a:extLst>
              <a:ext uri="{FF2B5EF4-FFF2-40B4-BE49-F238E27FC236}">
                <a16:creationId xmlns:a16="http://schemas.microsoft.com/office/drawing/2014/main" id="{CEA3FE65-E8FE-BB94-A0E5-7C4C8F3ADBB4}"/>
              </a:ext>
            </a:extLst>
          </p:cNvPr>
          <p:cNvGrpSpPr/>
          <p:nvPr/>
        </p:nvGrpSpPr>
        <p:grpSpPr>
          <a:xfrm>
            <a:off x="7125262" y="601989"/>
            <a:ext cx="1205752" cy="1911536"/>
            <a:chOff x="3385735" y="389860"/>
            <a:chExt cx="2372530" cy="4059183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EAE0394B-F99B-DDF0-3C22-34C6FE0703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t="7580" b="13502"/>
            <a:stretch/>
          </p:blipFill>
          <p:spPr>
            <a:xfrm>
              <a:off x="3385735" y="389860"/>
              <a:ext cx="2372530" cy="4059183"/>
            </a:xfrm>
            <a:prstGeom prst="rect">
              <a:avLst/>
            </a:prstGeom>
          </p:spPr>
        </p:pic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489B7C29-FA06-C58C-DF4E-8CB7125B43CB}"/>
                </a:ext>
              </a:extLst>
            </p:cNvPr>
            <p:cNvSpPr/>
            <p:nvPr/>
          </p:nvSpPr>
          <p:spPr>
            <a:xfrm>
              <a:off x="3562441" y="3874357"/>
              <a:ext cx="2025245" cy="364253"/>
            </a:xfrm>
            <a:prstGeom prst="rect">
              <a:avLst/>
            </a:prstGeom>
            <a:noFill/>
            <a:ln w="19050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FFFFFF"/>
                </a:solidFill>
                <a:ea typeface="MiSans Medium" panose="00000600000000000000" pitchFamily="2" charset="-122"/>
              </a:endParaRPr>
            </a:p>
          </p:txBody>
        </p:sp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FA2B1DBE-2EA1-CDF6-E5BD-913667E49455}"/>
              </a:ext>
            </a:extLst>
          </p:cNvPr>
          <p:cNvSpPr/>
          <p:nvPr/>
        </p:nvSpPr>
        <p:spPr>
          <a:xfrm>
            <a:off x="7212681" y="3175139"/>
            <a:ext cx="855528" cy="279848"/>
          </a:xfrm>
          <a:prstGeom prst="rect">
            <a:avLst/>
          </a:prstGeom>
          <a:noFill/>
          <a:ln w="190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rgbClr val="FFFFFF"/>
              </a:solidFill>
              <a:ea typeface="MiSans Medium" panose="000006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8597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表格 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914991"/>
              </p:ext>
            </p:extLst>
          </p:nvPr>
        </p:nvGraphicFramePr>
        <p:xfrm>
          <a:off x="163790" y="1165106"/>
          <a:ext cx="8904009" cy="3847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3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9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221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平台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美团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点评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D+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B+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6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用户心智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明确消费意图，进行搜索、比价、决策的本地生活交履平台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看星评内容发现与决策的本地生活消费指南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兴趣内容消遣，激发潜在需求及消费冲动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出行导航工具，找地儿、查路线、看附近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48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/>
                        <a:t>资产</a:t>
                      </a:r>
                      <a:endParaRPr lang="en-US" altLang="zh-CN" sz="1000" b="1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/>
                        <a:t>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95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/>
                        <a:t>优势资产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供给、交易、履约服务、交易星评、明确意向流量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交易星评、打卡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流量、内容互动、内容生态（明星</a:t>
                      </a:r>
                      <a:r>
                        <a:rPr lang="en-US" altLang="zh-CN" sz="1000" dirty="0"/>
                        <a:t>/</a:t>
                      </a:r>
                      <a:r>
                        <a:rPr lang="zh-CN" altLang="en-US" sz="1000" dirty="0"/>
                        <a:t>达人等）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流量、导航数据、淘系资产（芝麻信用等）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/>
                        <a:t>榜单引用现状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供给门槛均要求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在线合作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，主要榜单引用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销量、星评、供给信息</a:t>
                      </a:r>
                      <a:r>
                        <a:rPr lang="zh-CN" altLang="en-US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等</a:t>
                      </a:r>
                      <a:endParaRPr lang="en-US" altLang="zh-CN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685800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均有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星级、评价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门槛，主要榜单引用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星评打卡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交易量</a:t>
                      </a:r>
                      <a:r>
                        <a:rPr lang="en-US" altLang="zh-CN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额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流量</a:t>
                      </a:r>
                    </a:p>
                    <a:p>
                      <a:pPr marL="0" indent="0" algn="l" defTabSz="685800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供给信息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流量</a:t>
                      </a:r>
                      <a:r>
                        <a:rPr lang="en-US" altLang="zh-CN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内容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相关资产权重最大，主要榜单引用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交易、环境体验信息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等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导航</a:t>
                      </a:r>
                      <a:r>
                        <a:rPr lang="en-US" altLang="zh-CN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流量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资产权重大，其他资产结合导航验证（如到达后评价），设置导航特色榜（轮胎磨损榜等）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99948"/>
                  </a:ext>
                </a:extLst>
              </a:tr>
            </a:tbl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550298" y="1889815"/>
            <a:ext cx="2361522" cy="2072346"/>
            <a:chOff x="-32299" y="608871"/>
            <a:chExt cx="3531845" cy="3099362"/>
          </a:xfrm>
        </p:grpSpPr>
        <p:sp>
          <p:nvSpPr>
            <p:cNvPr id="9" name="任意形状 8"/>
            <p:cNvSpPr/>
            <p:nvPr/>
          </p:nvSpPr>
          <p:spPr>
            <a:xfrm>
              <a:off x="756066" y="1425002"/>
              <a:ext cx="1862663" cy="1784534"/>
            </a:xfrm>
            <a:custGeom>
              <a:avLst/>
              <a:gdLst>
                <a:gd name="connsiteX0" fmla="*/ 672353 w 1532965"/>
                <a:gd name="connsiteY0" fmla="*/ 0 h 1600200"/>
                <a:gd name="connsiteX1" fmla="*/ 161365 w 1532965"/>
                <a:gd name="connsiteY1" fmla="*/ 437030 h 1600200"/>
                <a:gd name="connsiteX2" fmla="*/ 0 w 1532965"/>
                <a:gd name="connsiteY2" fmla="*/ 1095936 h 1600200"/>
                <a:gd name="connsiteX3" fmla="*/ 665629 w 1532965"/>
                <a:gd name="connsiteY3" fmla="*/ 1600200 h 1600200"/>
                <a:gd name="connsiteX4" fmla="*/ 1532965 w 1532965"/>
                <a:gd name="connsiteY4" fmla="*/ 1196788 h 1600200"/>
                <a:gd name="connsiteX5" fmla="*/ 1089212 w 1532965"/>
                <a:gd name="connsiteY5" fmla="*/ 490818 h 1600200"/>
                <a:gd name="connsiteX6" fmla="*/ 672353 w 1532965"/>
                <a:gd name="connsiteY6" fmla="*/ 0 h 1600200"/>
                <a:gd name="connsiteX0-1" fmla="*/ 893734 w 1754346"/>
                <a:gd name="connsiteY0-2" fmla="*/ 0 h 1600200"/>
                <a:gd name="connsiteX1-3" fmla="*/ 382746 w 1754346"/>
                <a:gd name="connsiteY1-4" fmla="*/ 437030 h 1600200"/>
                <a:gd name="connsiteX2-5" fmla="*/ 0 w 1754346"/>
                <a:gd name="connsiteY2-6" fmla="*/ 1230690 h 1600200"/>
                <a:gd name="connsiteX3-7" fmla="*/ 887010 w 1754346"/>
                <a:gd name="connsiteY3-8" fmla="*/ 1600200 h 1600200"/>
                <a:gd name="connsiteX4-9" fmla="*/ 1754346 w 1754346"/>
                <a:gd name="connsiteY4-10" fmla="*/ 1196788 h 1600200"/>
                <a:gd name="connsiteX5-11" fmla="*/ 1310593 w 1754346"/>
                <a:gd name="connsiteY5-12" fmla="*/ 490818 h 1600200"/>
                <a:gd name="connsiteX6-13" fmla="*/ 893734 w 1754346"/>
                <a:gd name="connsiteY6-14" fmla="*/ 0 h 1600200"/>
                <a:gd name="connsiteX0-15" fmla="*/ 893734 w 1754346"/>
                <a:gd name="connsiteY0-16" fmla="*/ 0 h 1817400"/>
                <a:gd name="connsiteX1-17" fmla="*/ 382746 w 1754346"/>
                <a:gd name="connsiteY1-18" fmla="*/ 437030 h 1817400"/>
                <a:gd name="connsiteX2-19" fmla="*/ 0 w 1754346"/>
                <a:gd name="connsiteY2-20" fmla="*/ 1230690 h 1817400"/>
                <a:gd name="connsiteX3-21" fmla="*/ 887009 w 1754346"/>
                <a:gd name="connsiteY3-22" fmla="*/ 1817400 h 1817400"/>
                <a:gd name="connsiteX4-23" fmla="*/ 1754346 w 1754346"/>
                <a:gd name="connsiteY4-24" fmla="*/ 1196788 h 1817400"/>
                <a:gd name="connsiteX5-25" fmla="*/ 1310593 w 1754346"/>
                <a:gd name="connsiteY5-26" fmla="*/ 490818 h 1817400"/>
                <a:gd name="connsiteX6-27" fmla="*/ 893734 w 1754346"/>
                <a:gd name="connsiteY6-28" fmla="*/ 0 h 1817400"/>
                <a:gd name="connsiteX0-29" fmla="*/ 893734 w 1754346"/>
                <a:gd name="connsiteY0-30" fmla="*/ 0 h 1817400"/>
                <a:gd name="connsiteX1-31" fmla="*/ 654447 w 1754346"/>
                <a:gd name="connsiteY1-32" fmla="*/ 590992 h 1817400"/>
                <a:gd name="connsiteX2-33" fmla="*/ 0 w 1754346"/>
                <a:gd name="connsiteY2-34" fmla="*/ 1230690 h 1817400"/>
                <a:gd name="connsiteX3-35" fmla="*/ 887009 w 1754346"/>
                <a:gd name="connsiteY3-36" fmla="*/ 1817400 h 1817400"/>
                <a:gd name="connsiteX4-37" fmla="*/ 1754346 w 1754346"/>
                <a:gd name="connsiteY4-38" fmla="*/ 1196788 h 1817400"/>
                <a:gd name="connsiteX5-39" fmla="*/ 1310593 w 1754346"/>
                <a:gd name="connsiteY5-40" fmla="*/ 490818 h 1817400"/>
                <a:gd name="connsiteX6-41" fmla="*/ 893734 w 1754346"/>
                <a:gd name="connsiteY6-42" fmla="*/ 0 h 1817400"/>
                <a:gd name="connsiteX0-43" fmla="*/ 902791 w 1763403"/>
                <a:gd name="connsiteY0-44" fmla="*/ 0 h 1817400"/>
                <a:gd name="connsiteX1-45" fmla="*/ 663504 w 1763403"/>
                <a:gd name="connsiteY1-46" fmla="*/ 590992 h 1817400"/>
                <a:gd name="connsiteX2-47" fmla="*/ 0 w 1763403"/>
                <a:gd name="connsiteY2-48" fmla="*/ 1230690 h 1817400"/>
                <a:gd name="connsiteX3-49" fmla="*/ 896066 w 1763403"/>
                <a:gd name="connsiteY3-50" fmla="*/ 1817400 h 1817400"/>
                <a:gd name="connsiteX4-51" fmla="*/ 1763403 w 1763403"/>
                <a:gd name="connsiteY4-52" fmla="*/ 1196788 h 1817400"/>
                <a:gd name="connsiteX5-53" fmla="*/ 1319650 w 1763403"/>
                <a:gd name="connsiteY5-54" fmla="*/ 490818 h 1817400"/>
                <a:gd name="connsiteX6-55" fmla="*/ 902791 w 1763403"/>
                <a:gd name="connsiteY6-56" fmla="*/ 0 h 1817400"/>
                <a:gd name="connsiteX0-57" fmla="*/ 902791 w 1763403"/>
                <a:gd name="connsiteY0-58" fmla="*/ 0 h 1549676"/>
                <a:gd name="connsiteX1-59" fmla="*/ 663504 w 1763403"/>
                <a:gd name="connsiteY1-60" fmla="*/ 590992 h 1549676"/>
                <a:gd name="connsiteX2-61" fmla="*/ 0 w 1763403"/>
                <a:gd name="connsiteY2-62" fmla="*/ 1230690 h 1549676"/>
                <a:gd name="connsiteX3-63" fmla="*/ 903302 w 1763403"/>
                <a:gd name="connsiteY3-64" fmla="*/ 1549676 h 1549676"/>
                <a:gd name="connsiteX4-65" fmla="*/ 1763403 w 1763403"/>
                <a:gd name="connsiteY4-66" fmla="*/ 1196788 h 1549676"/>
                <a:gd name="connsiteX5-67" fmla="*/ 1319650 w 1763403"/>
                <a:gd name="connsiteY5-68" fmla="*/ 490818 h 1549676"/>
                <a:gd name="connsiteX6-69" fmla="*/ 902791 w 1763403"/>
                <a:gd name="connsiteY6-70" fmla="*/ 0 h 1549676"/>
                <a:gd name="connsiteX0-71" fmla="*/ 902791 w 1862662"/>
                <a:gd name="connsiteY0-72" fmla="*/ 0 h 1549676"/>
                <a:gd name="connsiteX1-73" fmla="*/ 663504 w 1862662"/>
                <a:gd name="connsiteY1-74" fmla="*/ 590992 h 1549676"/>
                <a:gd name="connsiteX2-75" fmla="*/ 0 w 1862662"/>
                <a:gd name="connsiteY2-76" fmla="*/ 1230690 h 1549676"/>
                <a:gd name="connsiteX3-77" fmla="*/ 903302 w 1862662"/>
                <a:gd name="connsiteY3-78" fmla="*/ 1549676 h 1549676"/>
                <a:gd name="connsiteX4-79" fmla="*/ 1862662 w 1862662"/>
                <a:gd name="connsiteY4-80" fmla="*/ 1240903 h 1549676"/>
                <a:gd name="connsiteX5-81" fmla="*/ 1319650 w 1862662"/>
                <a:gd name="connsiteY5-82" fmla="*/ 490818 h 1549676"/>
                <a:gd name="connsiteX6-83" fmla="*/ 902791 w 1862662"/>
                <a:gd name="connsiteY6-84" fmla="*/ 0 h 1549676"/>
                <a:gd name="connsiteX0-85" fmla="*/ 895021 w 1862662"/>
                <a:gd name="connsiteY0-86" fmla="*/ 0 h 1464204"/>
                <a:gd name="connsiteX1-87" fmla="*/ 663504 w 1862662"/>
                <a:gd name="connsiteY1-88" fmla="*/ 505520 h 1464204"/>
                <a:gd name="connsiteX2-89" fmla="*/ 0 w 1862662"/>
                <a:gd name="connsiteY2-90" fmla="*/ 1145218 h 1464204"/>
                <a:gd name="connsiteX3-91" fmla="*/ 903302 w 1862662"/>
                <a:gd name="connsiteY3-92" fmla="*/ 1464204 h 1464204"/>
                <a:gd name="connsiteX4-93" fmla="*/ 1862662 w 1862662"/>
                <a:gd name="connsiteY4-94" fmla="*/ 1155431 h 1464204"/>
                <a:gd name="connsiteX5-95" fmla="*/ 1319650 w 1862662"/>
                <a:gd name="connsiteY5-96" fmla="*/ 405346 h 1464204"/>
                <a:gd name="connsiteX6-97" fmla="*/ 895021 w 1862662"/>
                <a:gd name="connsiteY6-98" fmla="*/ 0 h 1464204"/>
                <a:gd name="connsiteX0-99" fmla="*/ 908100 w 1875741"/>
                <a:gd name="connsiteY0-100" fmla="*/ 0 h 1464204"/>
                <a:gd name="connsiteX1-101" fmla="*/ 0 w 1875741"/>
                <a:gd name="connsiteY1-102" fmla="*/ 116845 h 1464204"/>
                <a:gd name="connsiteX2-103" fmla="*/ 13079 w 1875741"/>
                <a:gd name="connsiteY2-104" fmla="*/ 1145218 h 1464204"/>
                <a:gd name="connsiteX3-105" fmla="*/ 916381 w 1875741"/>
                <a:gd name="connsiteY3-106" fmla="*/ 1464204 h 1464204"/>
                <a:gd name="connsiteX4-107" fmla="*/ 1875741 w 1875741"/>
                <a:gd name="connsiteY4-108" fmla="*/ 1155431 h 1464204"/>
                <a:gd name="connsiteX5-109" fmla="*/ 1332729 w 1875741"/>
                <a:gd name="connsiteY5-110" fmla="*/ 405346 h 1464204"/>
                <a:gd name="connsiteX6-111" fmla="*/ 908100 w 1875741"/>
                <a:gd name="connsiteY6-112" fmla="*/ 0 h 1464204"/>
                <a:gd name="connsiteX0-113" fmla="*/ 908100 w 1875741"/>
                <a:gd name="connsiteY0-114" fmla="*/ 0 h 1464204"/>
                <a:gd name="connsiteX1-115" fmla="*/ 0 w 1875741"/>
                <a:gd name="connsiteY1-116" fmla="*/ 116845 h 1464204"/>
                <a:gd name="connsiteX2-117" fmla="*/ 13079 w 1875741"/>
                <a:gd name="connsiteY2-118" fmla="*/ 1145218 h 1464204"/>
                <a:gd name="connsiteX3-119" fmla="*/ 916381 w 1875741"/>
                <a:gd name="connsiteY3-120" fmla="*/ 1464204 h 1464204"/>
                <a:gd name="connsiteX4-121" fmla="*/ 1875741 w 1875741"/>
                <a:gd name="connsiteY4-122" fmla="*/ 1155431 h 1464204"/>
                <a:gd name="connsiteX5-123" fmla="*/ 1611822 w 1875741"/>
                <a:gd name="connsiteY5-124" fmla="*/ 223935 h 1464204"/>
                <a:gd name="connsiteX6-125" fmla="*/ 908100 w 1875741"/>
                <a:gd name="connsiteY6-126" fmla="*/ 0 h 1464204"/>
                <a:gd name="connsiteX0-127" fmla="*/ 895021 w 1862662"/>
                <a:gd name="connsiteY0-128" fmla="*/ 0 h 1464204"/>
                <a:gd name="connsiteX1-129" fmla="*/ 628836 w 1862662"/>
                <a:gd name="connsiteY1-130" fmla="*/ 493621 h 1464204"/>
                <a:gd name="connsiteX2-131" fmla="*/ 0 w 1862662"/>
                <a:gd name="connsiteY2-132" fmla="*/ 1145218 h 1464204"/>
                <a:gd name="connsiteX3-133" fmla="*/ 903302 w 1862662"/>
                <a:gd name="connsiteY3-134" fmla="*/ 1464204 h 1464204"/>
                <a:gd name="connsiteX4-135" fmla="*/ 1862662 w 1862662"/>
                <a:gd name="connsiteY4-136" fmla="*/ 1155431 h 1464204"/>
                <a:gd name="connsiteX5-137" fmla="*/ 1598743 w 1862662"/>
                <a:gd name="connsiteY5-138" fmla="*/ 223935 h 1464204"/>
                <a:gd name="connsiteX6-139" fmla="*/ 895021 w 1862662"/>
                <a:gd name="connsiteY6-140" fmla="*/ 0 h 1464204"/>
                <a:gd name="connsiteX0-141" fmla="*/ 895021 w 1862662"/>
                <a:gd name="connsiteY0-142" fmla="*/ 0 h 1673526"/>
                <a:gd name="connsiteX1-143" fmla="*/ 628836 w 1862662"/>
                <a:gd name="connsiteY1-144" fmla="*/ 493621 h 1673526"/>
                <a:gd name="connsiteX2-145" fmla="*/ 0 w 1862662"/>
                <a:gd name="connsiteY2-146" fmla="*/ 1145218 h 1673526"/>
                <a:gd name="connsiteX3-147" fmla="*/ 889347 w 1862662"/>
                <a:gd name="connsiteY3-148" fmla="*/ 1673526 h 1673526"/>
                <a:gd name="connsiteX4-149" fmla="*/ 1862662 w 1862662"/>
                <a:gd name="connsiteY4-150" fmla="*/ 1155431 h 1673526"/>
                <a:gd name="connsiteX5-151" fmla="*/ 1598743 w 1862662"/>
                <a:gd name="connsiteY5-152" fmla="*/ 223935 h 1673526"/>
                <a:gd name="connsiteX6-153" fmla="*/ 895021 w 1862662"/>
                <a:gd name="connsiteY6-154" fmla="*/ 0 h 1673526"/>
                <a:gd name="connsiteX0-155" fmla="*/ 895021 w 1862662"/>
                <a:gd name="connsiteY0-156" fmla="*/ 0 h 1673526"/>
                <a:gd name="connsiteX1-157" fmla="*/ 628836 w 1862662"/>
                <a:gd name="connsiteY1-158" fmla="*/ 493621 h 1673526"/>
                <a:gd name="connsiteX2-159" fmla="*/ 0 w 1862662"/>
                <a:gd name="connsiteY2-160" fmla="*/ 1145218 h 1673526"/>
                <a:gd name="connsiteX3-161" fmla="*/ 889347 w 1862662"/>
                <a:gd name="connsiteY3-162" fmla="*/ 1673526 h 1673526"/>
                <a:gd name="connsiteX4-163" fmla="*/ 1862662 w 1862662"/>
                <a:gd name="connsiteY4-164" fmla="*/ 1155431 h 1673526"/>
                <a:gd name="connsiteX5-165" fmla="*/ 1459196 w 1862662"/>
                <a:gd name="connsiteY5-166" fmla="*/ 293708 h 1673526"/>
                <a:gd name="connsiteX6-167" fmla="*/ 895021 w 1862662"/>
                <a:gd name="connsiteY6-168" fmla="*/ 0 h 1673526"/>
                <a:gd name="connsiteX0" fmla="*/ 895021 w 1862662"/>
                <a:gd name="connsiteY0" fmla="*/ 0 h 1673526"/>
                <a:gd name="connsiteX1" fmla="*/ 628836 w 1862662"/>
                <a:gd name="connsiteY1" fmla="*/ 493621 h 1673526"/>
                <a:gd name="connsiteX2" fmla="*/ 0 w 1862662"/>
                <a:gd name="connsiteY2" fmla="*/ 1145218 h 1673526"/>
                <a:gd name="connsiteX3" fmla="*/ 889347 w 1862662"/>
                <a:gd name="connsiteY3" fmla="*/ 1673526 h 1673526"/>
                <a:gd name="connsiteX4" fmla="*/ 1862662 w 1862662"/>
                <a:gd name="connsiteY4" fmla="*/ 1155431 h 1673526"/>
                <a:gd name="connsiteX5" fmla="*/ 1646901 w 1862662"/>
                <a:gd name="connsiteY5" fmla="*/ 260178 h 1673526"/>
                <a:gd name="connsiteX6" fmla="*/ 895021 w 1862662"/>
                <a:gd name="connsiteY6" fmla="*/ 0 h 167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2662" h="1673526">
                  <a:moveTo>
                    <a:pt x="895021" y="0"/>
                  </a:moveTo>
                  <a:lnTo>
                    <a:pt x="628836" y="493621"/>
                  </a:lnTo>
                  <a:lnTo>
                    <a:pt x="0" y="1145218"/>
                  </a:lnTo>
                  <a:lnTo>
                    <a:pt x="889347" y="1673526"/>
                  </a:lnTo>
                  <a:lnTo>
                    <a:pt x="1862662" y="1155431"/>
                  </a:lnTo>
                  <a:lnTo>
                    <a:pt x="1646901" y="260178"/>
                  </a:lnTo>
                  <a:lnTo>
                    <a:pt x="895021" y="0"/>
                  </a:lnTo>
                  <a:close/>
                </a:path>
              </a:pathLst>
            </a:custGeom>
            <a:solidFill>
              <a:srgbClr val="FFD100">
                <a:alpha val="2313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900">
                <a:latin typeface="+mn-ea"/>
              </a:endParaRPr>
            </a:p>
          </p:txBody>
        </p:sp>
        <p:cxnSp>
          <p:nvCxnSpPr>
            <p:cNvPr id="10" name="米菲PPT13"/>
            <p:cNvCxnSpPr>
              <a:cxnSpLocks/>
              <a:stCxn id="31" idx="4"/>
            </p:cNvCxnSpPr>
            <p:nvPr/>
          </p:nvCxnSpPr>
          <p:spPr>
            <a:xfrm>
              <a:off x="1652537" y="2174376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米菲PPT14"/>
            <p:cNvCxnSpPr/>
            <p:nvPr/>
          </p:nvCxnSpPr>
          <p:spPr>
            <a:xfrm flipV="1">
              <a:off x="2734276" y="1531115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米菲PPT20"/>
            <p:cNvCxnSpPr/>
            <p:nvPr/>
          </p:nvCxnSpPr>
          <p:spPr>
            <a:xfrm flipH="1" flipV="1">
              <a:off x="588738" y="1507891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米菲PPT21"/>
            <p:cNvCxnSpPr/>
            <p:nvPr/>
          </p:nvCxnSpPr>
          <p:spPr>
            <a:xfrm>
              <a:off x="1662816" y="891561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米菲PPT22"/>
            <p:cNvCxnSpPr/>
            <p:nvPr/>
          </p:nvCxnSpPr>
          <p:spPr>
            <a:xfrm flipV="1">
              <a:off x="582985" y="887304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米菲PPT23"/>
            <p:cNvCxnSpPr/>
            <p:nvPr/>
          </p:nvCxnSpPr>
          <p:spPr>
            <a:xfrm flipV="1">
              <a:off x="1651395" y="1513233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米菲PPT24"/>
            <p:cNvSpPr/>
            <p:nvPr/>
          </p:nvSpPr>
          <p:spPr>
            <a:xfrm>
              <a:off x="1625558" y="852694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17" name="米菲PPT25"/>
            <p:cNvSpPr/>
            <p:nvPr/>
          </p:nvSpPr>
          <p:spPr>
            <a:xfrm>
              <a:off x="2697833" y="1471767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18" name="米菲PPT26"/>
            <p:cNvSpPr/>
            <p:nvPr/>
          </p:nvSpPr>
          <p:spPr>
            <a:xfrm>
              <a:off x="553127" y="1471767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19" name="米菲PPT27"/>
            <p:cNvCxnSpPr/>
            <p:nvPr/>
          </p:nvCxnSpPr>
          <p:spPr>
            <a:xfrm flipH="1" flipV="1">
              <a:off x="588738" y="273242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米菲PPT28"/>
            <p:cNvCxnSpPr>
              <a:cxnSpLocks/>
              <a:stCxn id="18" idx="4"/>
              <a:endCxn id="23" idx="4"/>
            </p:cNvCxnSpPr>
            <p:nvPr/>
          </p:nvCxnSpPr>
          <p:spPr>
            <a:xfrm>
              <a:off x="597941" y="1561393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米菲PPT29"/>
            <p:cNvCxnSpPr/>
            <p:nvPr/>
          </p:nvCxnSpPr>
          <p:spPr>
            <a:xfrm flipV="1">
              <a:off x="1637832" y="273242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米菲PPT30"/>
            <p:cNvSpPr/>
            <p:nvPr/>
          </p:nvSpPr>
          <p:spPr>
            <a:xfrm>
              <a:off x="2697833" y="2687611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23" name="米菲PPT31"/>
            <p:cNvSpPr/>
            <p:nvPr/>
          </p:nvSpPr>
          <p:spPr>
            <a:xfrm>
              <a:off x="553127" y="2687611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24" name="米菲PPT44"/>
            <p:cNvSpPr txBox="1"/>
            <p:nvPr/>
          </p:nvSpPr>
          <p:spPr>
            <a:xfrm>
              <a:off x="1346089" y="608871"/>
              <a:ext cx="615539" cy="345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5" name="米菲PPT45"/>
            <p:cNvSpPr txBox="1"/>
            <p:nvPr/>
          </p:nvSpPr>
          <p:spPr>
            <a:xfrm>
              <a:off x="-32299" y="1100730"/>
              <a:ext cx="761381" cy="552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内容互动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6" name="米菲PPT46"/>
            <p:cNvSpPr txBox="1"/>
            <p:nvPr/>
          </p:nvSpPr>
          <p:spPr>
            <a:xfrm>
              <a:off x="24316" y="2569894"/>
              <a:ext cx="638616" cy="345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7" name="米菲PPT47"/>
            <p:cNvSpPr txBox="1"/>
            <p:nvPr/>
          </p:nvSpPr>
          <p:spPr>
            <a:xfrm>
              <a:off x="2231233" y="981196"/>
              <a:ext cx="1268313" cy="552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行为资产</a:t>
              </a:r>
              <a:endParaRPr lang="en-US" altLang="zh-CN" sz="900" dirty="0">
                <a:solidFill>
                  <a:schemeClr val="accent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（星评</a:t>
              </a:r>
              <a:r>
                <a:rPr lang="en-US" altLang="zh-CN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/</a:t>
              </a:r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明确）</a:t>
              </a:r>
            </a:p>
          </p:txBody>
        </p:sp>
        <p:sp>
          <p:nvSpPr>
            <p:cNvPr id="28" name="米菲PPT48"/>
            <p:cNvSpPr txBox="1"/>
            <p:nvPr/>
          </p:nvSpPr>
          <p:spPr>
            <a:xfrm>
              <a:off x="2676905" y="2385346"/>
              <a:ext cx="694413" cy="552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履约</a:t>
              </a:r>
              <a:endParaRPr lang="en-US" altLang="zh-CN" sz="900" dirty="0">
                <a:solidFill>
                  <a:schemeClr val="accent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服务</a:t>
              </a:r>
              <a:endParaRPr lang="en-US" altLang="zh-CN" sz="900" dirty="0">
                <a:solidFill>
                  <a:schemeClr val="accent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29" name="米菲PPT93"/>
            <p:cNvSpPr/>
            <p:nvPr/>
          </p:nvSpPr>
          <p:spPr>
            <a:xfrm>
              <a:off x="1625558" y="3299496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30" name="米菲PPT94"/>
            <p:cNvSpPr txBox="1"/>
            <p:nvPr/>
          </p:nvSpPr>
          <p:spPr>
            <a:xfrm>
              <a:off x="938917" y="3363005"/>
              <a:ext cx="1448035" cy="345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交易</a:t>
              </a:r>
            </a:p>
          </p:txBody>
        </p:sp>
        <p:sp>
          <p:nvSpPr>
            <p:cNvPr id="31" name="米菲PPT25"/>
            <p:cNvSpPr/>
            <p:nvPr/>
          </p:nvSpPr>
          <p:spPr>
            <a:xfrm>
              <a:off x="1607724" y="2084750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32" name="米菲PPT20"/>
            <p:cNvCxnSpPr>
              <a:cxnSpLocks/>
              <a:stCxn id="31" idx="0"/>
              <a:endCxn id="16" idx="4"/>
            </p:cNvCxnSpPr>
            <p:nvPr/>
          </p:nvCxnSpPr>
          <p:spPr>
            <a:xfrm flipV="1">
              <a:off x="1652537" y="942320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米菲PPT27"/>
            <p:cNvCxnSpPr>
              <a:cxnSpLocks/>
              <a:stCxn id="31" idx="3"/>
              <a:endCxn id="23" idx="7"/>
            </p:cNvCxnSpPr>
            <p:nvPr/>
          </p:nvCxnSpPr>
          <p:spPr>
            <a:xfrm flipH="1">
              <a:off x="629628" y="2161251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米菲PPT29"/>
            <p:cNvCxnSpPr>
              <a:cxnSpLocks/>
              <a:stCxn id="31" idx="6"/>
              <a:endCxn id="22" idx="1"/>
            </p:cNvCxnSpPr>
            <p:nvPr/>
          </p:nvCxnSpPr>
          <p:spPr>
            <a:xfrm>
              <a:off x="1697350" y="2129563"/>
              <a:ext cx="1013608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米菲PPT48"/>
            <p:cNvSpPr txBox="1"/>
            <p:nvPr/>
          </p:nvSpPr>
          <p:spPr>
            <a:xfrm>
              <a:off x="1263599" y="2169651"/>
              <a:ext cx="781187" cy="345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美团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</p:grpSp>
      <p:grpSp>
        <p:nvGrpSpPr>
          <p:cNvPr id="36" name="组合 35"/>
          <p:cNvGrpSpPr>
            <a:grpSpLocks noChangeAspect="1"/>
          </p:cNvGrpSpPr>
          <p:nvPr/>
        </p:nvGrpSpPr>
        <p:grpSpPr>
          <a:xfrm>
            <a:off x="2729521" y="1896672"/>
            <a:ext cx="2292841" cy="2081180"/>
            <a:chOff x="3259374" y="587964"/>
            <a:chExt cx="3412131" cy="3097146"/>
          </a:xfrm>
        </p:grpSpPr>
        <p:sp>
          <p:nvSpPr>
            <p:cNvPr id="37" name="任意形状 36"/>
            <p:cNvSpPr/>
            <p:nvPr/>
          </p:nvSpPr>
          <p:spPr>
            <a:xfrm>
              <a:off x="4052428" y="1612941"/>
              <a:ext cx="1774801" cy="1378623"/>
            </a:xfrm>
            <a:custGeom>
              <a:avLst/>
              <a:gdLst>
                <a:gd name="connsiteX0" fmla="*/ 721894 w 1366787"/>
                <a:gd name="connsiteY0" fmla="*/ 0 h 1463040"/>
                <a:gd name="connsiteX1" fmla="*/ 346509 w 1366787"/>
                <a:gd name="connsiteY1" fmla="*/ 433136 h 1463040"/>
                <a:gd name="connsiteX2" fmla="*/ 0 w 1366787"/>
                <a:gd name="connsiteY2" fmla="*/ 1058778 h 1463040"/>
                <a:gd name="connsiteX3" fmla="*/ 702644 w 1366787"/>
                <a:gd name="connsiteY3" fmla="*/ 1463040 h 1463040"/>
                <a:gd name="connsiteX4" fmla="*/ 1260909 w 1366787"/>
                <a:gd name="connsiteY4" fmla="*/ 943275 h 1463040"/>
                <a:gd name="connsiteX5" fmla="*/ 1366787 w 1366787"/>
                <a:gd name="connsiteY5" fmla="*/ 269507 h 1463040"/>
                <a:gd name="connsiteX6" fmla="*/ 721894 w 1366787"/>
                <a:gd name="connsiteY6" fmla="*/ 0 h 1463040"/>
                <a:gd name="connsiteX0-1" fmla="*/ 721894 w 1461337"/>
                <a:gd name="connsiteY0-2" fmla="*/ 0 h 1463040"/>
                <a:gd name="connsiteX1-3" fmla="*/ 346509 w 1461337"/>
                <a:gd name="connsiteY1-4" fmla="*/ 433136 h 1463040"/>
                <a:gd name="connsiteX2-5" fmla="*/ 0 w 1461337"/>
                <a:gd name="connsiteY2-6" fmla="*/ 1058778 h 1463040"/>
                <a:gd name="connsiteX3-7" fmla="*/ 702644 w 1461337"/>
                <a:gd name="connsiteY3-8" fmla="*/ 1463040 h 1463040"/>
                <a:gd name="connsiteX4-9" fmla="*/ 1461337 w 1461337"/>
                <a:gd name="connsiteY4-10" fmla="*/ 1056017 h 1463040"/>
                <a:gd name="connsiteX5-11" fmla="*/ 1366787 w 1461337"/>
                <a:gd name="connsiteY5-12" fmla="*/ 269507 h 1463040"/>
                <a:gd name="connsiteX6-13" fmla="*/ 721894 w 1461337"/>
                <a:gd name="connsiteY6-14" fmla="*/ 0 h 1463040"/>
                <a:gd name="connsiteX0-15" fmla="*/ 721894 w 1461337"/>
                <a:gd name="connsiteY0-16" fmla="*/ 0 h 1759211"/>
                <a:gd name="connsiteX1-17" fmla="*/ 346509 w 1461337"/>
                <a:gd name="connsiteY1-18" fmla="*/ 433136 h 1759211"/>
                <a:gd name="connsiteX2-19" fmla="*/ 0 w 1461337"/>
                <a:gd name="connsiteY2-20" fmla="*/ 1058778 h 1759211"/>
                <a:gd name="connsiteX3-21" fmla="*/ 694639 w 1461337"/>
                <a:gd name="connsiteY3-22" fmla="*/ 1759211 h 1759211"/>
                <a:gd name="connsiteX4-23" fmla="*/ 1461337 w 1461337"/>
                <a:gd name="connsiteY4-24" fmla="*/ 1056017 h 1759211"/>
                <a:gd name="connsiteX5-25" fmla="*/ 1366787 w 1461337"/>
                <a:gd name="connsiteY5-26" fmla="*/ 269507 h 1759211"/>
                <a:gd name="connsiteX6-27" fmla="*/ 721894 w 1461337"/>
                <a:gd name="connsiteY6-28" fmla="*/ 0 h 1759211"/>
                <a:gd name="connsiteX0-29" fmla="*/ 866083 w 1605526"/>
                <a:gd name="connsiteY0-30" fmla="*/ 0 h 1759211"/>
                <a:gd name="connsiteX1-31" fmla="*/ 490698 w 1605526"/>
                <a:gd name="connsiteY1-32" fmla="*/ 433136 h 1759211"/>
                <a:gd name="connsiteX2-33" fmla="*/ 0 w 1605526"/>
                <a:gd name="connsiteY2-34" fmla="*/ 1139885 h 1759211"/>
                <a:gd name="connsiteX3-35" fmla="*/ 838828 w 1605526"/>
                <a:gd name="connsiteY3-36" fmla="*/ 1759211 h 1759211"/>
                <a:gd name="connsiteX4-37" fmla="*/ 1605526 w 1605526"/>
                <a:gd name="connsiteY4-38" fmla="*/ 1056017 h 1759211"/>
                <a:gd name="connsiteX5-39" fmla="*/ 1510976 w 1605526"/>
                <a:gd name="connsiteY5-40" fmla="*/ 269507 h 1759211"/>
                <a:gd name="connsiteX6-41" fmla="*/ 866083 w 1605526"/>
                <a:gd name="connsiteY6-42" fmla="*/ 0 h 1759211"/>
                <a:gd name="connsiteX0-43" fmla="*/ 848296 w 1605526"/>
                <a:gd name="connsiteY0-44" fmla="*/ 0 h 1572437"/>
                <a:gd name="connsiteX1-45" fmla="*/ 490698 w 1605526"/>
                <a:gd name="connsiteY1-46" fmla="*/ 246362 h 1572437"/>
                <a:gd name="connsiteX2-47" fmla="*/ 0 w 1605526"/>
                <a:gd name="connsiteY2-48" fmla="*/ 953111 h 1572437"/>
                <a:gd name="connsiteX3-49" fmla="*/ 838828 w 1605526"/>
                <a:gd name="connsiteY3-50" fmla="*/ 1572437 h 1572437"/>
                <a:gd name="connsiteX4-51" fmla="*/ 1605526 w 1605526"/>
                <a:gd name="connsiteY4-52" fmla="*/ 869243 h 1572437"/>
                <a:gd name="connsiteX5-53" fmla="*/ 1510976 w 1605526"/>
                <a:gd name="connsiteY5-54" fmla="*/ 82733 h 1572437"/>
                <a:gd name="connsiteX6-55" fmla="*/ 848296 w 1605526"/>
                <a:gd name="connsiteY6-56" fmla="*/ 0 h 1572437"/>
                <a:gd name="connsiteX0-57" fmla="*/ 848296 w 1605526"/>
                <a:gd name="connsiteY0-58" fmla="*/ 73964 h 1489704"/>
                <a:gd name="connsiteX1-59" fmla="*/ 490698 w 1605526"/>
                <a:gd name="connsiteY1-60" fmla="*/ 163629 h 1489704"/>
                <a:gd name="connsiteX2-61" fmla="*/ 0 w 1605526"/>
                <a:gd name="connsiteY2-62" fmla="*/ 870378 h 1489704"/>
                <a:gd name="connsiteX3-63" fmla="*/ 838828 w 1605526"/>
                <a:gd name="connsiteY3-64" fmla="*/ 1489704 h 1489704"/>
                <a:gd name="connsiteX4-65" fmla="*/ 1605526 w 1605526"/>
                <a:gd name="connsiteY4-66" fmla="*/ 786510 h 1489704"/>
                <a:gd name="connsiteX5-67" fmla="*/ 1510976 w 1605526"/>
                <a:gd name="connsiteY5-68" fmla="*/ 0 h 1489704"/>
                <a:gd name="connsiteX6-69" fmla="*/ 848296 w 1605526"/>
                <a:gd name="connsiteY6-70" fmla="*/ 73964 h 1489704"/>
                <a:gd name="connsiteX0-71" fmla="*/ 848296 w 1605526"/>
                <a:gd name="connsiteY0-72" fmla="*/ 125196 h 1540936"/>
                <a:gd name="connsiteX1-73" fmla="*/ 89626 w 1605526"/>
                <a:gd name="connsiteY1-74" fmla="*/ 0 h 1540936"/>
                <a:gd name="connsiteX2-75" fmla="*/ 0 w 1605526"/>
                <a:gd name="connsiteY2-76" fmla="*/ 921610 h 1540936"/>
                <a:gd name="connsiteX3-77" fmla="*/ 838828 w 1605526"/>
                <a:gd name="connsiteY3-78" fmla="*/ 1540936 h 1540936"/>
                <a:gd name="connsiteX4-79" fmla="*/ 1605526 w 1605526"/>
                <a:gd name="connsiteY4-80" fmla="*/ 837742 h 1540936"/>
                <a:gd name="connsiteX5-81" fmla="*/ 1510976 w 1605526"/>
                <a:gd name="connsiteY5-82" fmla="*/ 51232 h 1540936"/>
                <a:gd name="connsiteX6-83" fmla="*/ 848296 w 1605526"/>
                <a:gd name="connsiteY6-84" fmla="*/ 125196 h 1540936"/>
                <a:gd name="connsiteX0-85" fmla="*/ 848296 w 1605526"/>
                <a:gd name="connsiteY0-86" fmla="*/ 83539 h 1499279"/>
                <a:gd name="connsiteX1-87" fmla="*/ 172940 w 1605526"/>
                <a:gd name="connsiteY1-88" fmla="*/ 0 h 1499279"/>
                <a:gd name="connsiteX2-89" fmla="*/ 0 w 1605526"/>
                <a:gd name="connsiteY2-90" fmla="*/ 879953 h 1499279"/>
                <a:gd name="connsiteX3-91" fmla="*/ 838828 w 1605526"/>
                <a:gd name="connsiteY3-92" fmla="*/ 1499279 h 1499279"/>
                <a:gd name="connsiteX4-93" fmla="*/ 1605526 w 1605526"/>
                <a:gd name="connsiteY4-94" fmla="*/ 796085 h 1499279"/>
                <a:gd name="connsiteX5-95" fmla="*/ 1510976 w 1605526"/>
                <a:gd name="connsiteY5-96" fmla="*/ 9575 h 1499279"/>
                <a:gd name="connsiteX6-97" fmla="*/ 848296 w 1605526"/>
                <a:gd name="connsiteY6-98" fmla="*/ 83539 h 1499279"/>
                <a:gd name="connsiteX0-99" fmla="*/ 848296 w 1605526"/>
                <a:gd name="connsiteY0-100" fmla="*/ 83539 h 1388196"/>
                <a:gd name="connsiteX1-101" fmla="*/ 172940 w 1605526"/>
                <a:gd name="connsiteY1-102" fmla="*/ 0 h 1388196"/>
                <a:gd name="connsiteX2-103" fmla="*/ 0 w 1605526"/>
                <a:gd name="connsiteY2-104" fmla="*/ 879953 h 1388196"/>
                <a:gd name="connsiteX3-105" fmla="*/ 866599 w 1605526"/>
                <a:gd name="connsiteY3-106" fmla="*/ 1388196 h 1388196"/>
                <a:gd name="connsiteX4-107" fmla="*/ 1605526 w 1605526"/>
                <a:gd name="connsiteY4-108" fmla="*/ 796085 h 1388196"/>
                <a:gd name="connsiteX5-109" fmla="*/ 1510976 w 1605526"/>
                <a:gd name="connsiteY5-110" fmla="*/ 9575 h 1388196"/>
                <a:gd name="connsiteX6-111" fmla="*/ 848296 w 1605526"/>
                <a:gd name="connsiteY6-112" fmla="*/ 83539 h 1388196"/>
                <a:gd name="connsiteX0-113" fmla="*/ 848296 w 1605526"/>
                <a:gd name="connsiteY0-114" fmla="*/ 83539 h 1249341"/>
                <a:gd name="connsiteX1-115" fmla="*/ 172940 w 1605526"/>
                <a:gd name="connsiteY1-116" fmla="*/ 0 h 1249341"/>
                <a:gd name="connsiteX2-117" fmla="*/ 0 w 1605526"/>
                <a:gd name="connsiteY2-118" fmla="*/ 879953 h 1249341"/>
                <a:gd name="connsiteX3-119" fmla="*/ 838828 w 1605526"/>
                <a:gd name="connsiteY3-120" fmla="*/ 1249341 h 1249341"/>
                <a:gd name="connsiteX4-121" fmla="*/ 1605526 w 1605526"/>
                <a:gd name="connsiteY4-122" fmla="*/ 796085 h 1249341"/>
                <a:gd name="connsiteX5-123" fmla="*/ 1510976 w 1605526"/>
                <a:gd name="connsiteY5-124" fmla="*/ 9575 h 1249341"/>
                <a:gd name="connsiteX6-125" fmla="*/ 848296 w 1605526"/>
                <a:gd name="connsiteY6-126" fmla="*/ 83539 h 1249341"/>
                <a:gd name="connsiteX0-127" fmla="*/ 848296 w 1760916"/>
                <a:gd name="connsiteY0-128" fmla="*/ 198935 h 1364737"/>
                <a:gd name="connsiteX1-129" fmla="*/ 172940 w 1760916"/>
                <a:gd name="connsiteY1-130" fmla="*/ 115396 h 1364737"/>
                <a:gd name="connsiteX2-131" fmla="*/ 0 w 1760916"/>
                <a:gd name="connsiteY2-132" fmla="*/ 995349 h 1364737"/>
                <a:gd name="connsiteX3-133" fmla="*/ 838828 w 1760916"/>
                <a:gd name="connsiteY3-134" fmla="*/ 1364737 h 1364737"/>
                <a:gd name="connsiteX4-135" fmla="*/ 1605526 w 1760916"/>
                <a:gd name="connsiteY4-136" fmla="*/ 911481 h 1364737"/>
                <a:gd name="connsiteX5-137" fmla="*/ 1760916 w 1760916"/>
                <a:gd name="connsiteY5-138" fmla="*/ 0 h 1364737"/>
                <a:gd name="connsiteX6-139" fmla="*/ 848296 w 1760916"/>
                <a:gd name="connsiteY6-140" fmla="*/ 198935 h 1364737"/>
                <a:gd name="connsiteX0-141" fmla="*/ 848296 w 1774801"/>
                <a:gd name="connsiteY0-142" fmla="*/ 212821 h 1378623"/>
                <a:gd name="connsiteX1-143" fmla="*/ 172940 w 1774801"/>
                <a:gd name="connsiteY1-144" fmla="*/ 129282 h 1378623"/>
                <a:gd name="connsiteX2-145" fmla="*/ 0 w 1774801"/>
                <a:gd name="connsiteY2-146" fmla="*/ 1009235 h 1378623"/>
                <a:gd name="connsiteX3-147" fmla="*/ 838828 w 1774801"/>
                <a:gd name="connsiteY3-148" fmla="*/ 1378623 h 1378623"/>
                <a:gd name="connsiteX4-149" fmla="*/ 1605526 w 1774801"/>
                <a:gd name="connsiteY4-150" fmla="*/ 925367 h 1378623"/>
                <a:gd name="connsiteX5-151" fmla="*/ 1774801 w 1774801"/>
                <a:gd name="connsiteY5-152" fmla="*/ 0 h 1378623"/>
                <a:gd name="connsiteX6-153" fmla="*/ 848296 w 1774801"/>
                <a:gd name="connsiteY6-154" fmla="*/ 212821 h 137862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774801" h="1378623">
                  <a:moveTo>
                    <a:pt x="848296" y="212821"/>
                  </a:moveTo>
                  <a:lnTo>
                    <a:pt x="172940" y="129282"/>
                  </a:lnTo>
                  <a:lnTo>
                    <a:pt x="0" y="1009235"/>
                  </a:lnTo>
                  <a:lnTo>
                    <a:pt x="838828" y="1378623"/>
                  </a:lnTo>
                  <a:lnTo>
                    <a:pt x="1605526" y="925367"/>
                  </a:lnTo>
                  <a:lnTo>
                    <a:pt x="1774801" y="0"/>
                  </a:lnTo>
                  <a:lnTo>
                    <a:pt x="848296" y="212821"/>
                  </a:lnTo>
                  <a:close/>
                </a:path>
              </a:pathLst>
            </a:custGeom>
            <a:solidFill>
              <a:srgbClr val="FFD1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900">
                <a:latin typeface="+mn-ea"/>
              </a:endParaRPr>
            </a:p>
          </p:txBody>
        </p:sp>
        <p:cxnSp>
          <p:nvCxnSpPr>
            <p:cNvPr id="38" name="米菲PPT13"/>
            <p:cNvCxnSpPr>
              <a:stCxn id="59" idx="4"/>
            </p:cNvCxnSpPr>
            <p:nvPr/>
          </p:nvCxnSpPr>
          <p:spPr>
            <a:xfrm>
              <a:off x="4894931" y="2177988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米菲PPT14"/>
            <p:cNvCxnSpPr/>
            <p:nvPr/>
          </p:nvCxnSpPr>
          <p:spPr>
            <a:xfrm flipV="1">
              <a:off x="5976670" y="1534727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米菲PPT20"/>
            <p:cNvCxnSpPr/>
            <p:nvPr/>
          </p:nvCxnSpPr>
          <p:spPr>
            <a:xfrm flipH="1" flipV="1">
              <a:off x="3831132" y="1511503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米菲PPT21"/>
            <p:cNvCxnSpPr/>
            <p:nvPr/>
          </p:nvCxnSpPr>
          <p:spPr>
            <a:xfrm>
              <a:off x="4905210" y="895173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米菲PPT22"/>
            <p:cNvCxnSpPr/>
            <p:nvPr/>
          </p:nvCxnSpPr>
          <p:spPr>
            <a:xfrm flipV="1">
              <a:off x="3825379" y="890916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米菲PPT23"/>
            <p:cNvCxnSpPr/>
            <p:nvPr/>
          </p:nvCxnSpPr>
          <p:spPr>
            <a:xfrm flipV="1">
              <a:off x="4893789" y="151684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米菲PPT24"/>
            <p:cNvSpPr/>
            <p:nvPr/>
          </p:nvSpPr>
          <p:spPr>
            <a:xfrm>
              <a:off x="4867952" y="856306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45" name="米菲PPT25"/>
            <p:cNvSpPr/>
            <p:nvPr/>
          </p:nvSpPr>
          <p:spPr>
            <a:xfrm>
              <a:off x="5940227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46" name="米菲PPT26"/>
            <p:cNvSpPr/>
            <p:nvPr/>
          </p:nvSpPr>
          <p:spPr>
            <a:xfrm>
              <a:off x="3795521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47" name="米菲PPT27"/>
            <p:cNvCxnSpPr/>
            <p:nvPr/>
          </p:nvCxnSpPr>
          <p:spPr>
            <a:xfrm flipH="1" flipV="1">
              <a:off x="3831132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米菲PPT28"/>
            <p:cNvCxnSpPr>
              <a:stCxn id="46" idx="4"/>
              <a:endCxn id="51" idx="4"/>
            </p:cNvCxnSpPr>
            <p:nvPr/>
          </p:nvCxnSpPr>
          <p:spPr>
            <a:xfrm>
              <a:off x="3840335" y="1565005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米菲PPT29"/>
            <p:cNvCxnSpPr/>
            <p:nvPr/>
          </p:nvCxnSpPr>
          <p:spPr>
            <a:xfrm flipV="1">
              <a:off x="4880226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米菲PPT30"/>
            <p:cNvSpPr/>
            <p:nvPr/>
          </p:nvSpPr>
          <p:spPr>
            <a:xfrm>
              <a:off x="5940227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51" name="米菲PPT31"/>
            <p:cNvSpPr/>
            <p:nvPr/>
          </p:nvSpPr>
          <p:spPr>
            <a:xfrm>
              <a:off x="3795521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52" name="米菲PPT44"/>
            <p:cNvSpPr txBox="1"/>
            <p:nvPr/>
          </p:nvSpPr>
          <p:spPr>
            <a:xfrm>
              <a:off x="4611749" y="587964"/>
              <a:ext cx="639141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3" name="米菲PPT45"/>
            <p:cNvSpPr txBox="1"/>
            <p:nvPr/>
          </p:nvSpPr>
          <p:spPr>
            <a:xfrm>
              <a:off x="3283079" y="999582"/>
              <a:ext cx="667415" cy="549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内容互动</a:t>
              </a:r>
              <a:endParaRPr lang="en-US" altLang="zh-CN" sz="900" dirty="0">
                <a:solidFill>
                  <a:schemeClr val="accent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4" name="米菲PPT46"/>
            <p:cNvSpPr txBox="1"/>
            <p:nvPr/>
          </p:nvSpPr>
          <p:spPr>
            <a:xfrm>
              <a:off x="3259374" y="2551541"/>
              <a:ext cx="673842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</a:p>
          </p:txBody>
        </p:sp>
        <p:sp>
          <p:nvSpPr>
            <p:cNvPr id="55" name="米菲PPT47"/>
            <p:cNvSpPr txBox="1"/>
            <p:nvPr/>
          </p:nvSpPr>
          <p:spPr>
            <a:xfrm>
              <a:off x="5525487" y="977175"/>
              <a:ext cx="1146018" cy="549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行为资产（星评打卡）</a:t>
              </a:r>
            </a:p>
          </p:txBody>
        </p:sp>
        <p:sp>
          <p:nvSpPr>
            <p:cNvPr id="56" name="米菲PPT48"/>
            <p:cNvSpPr txBox="1"/>
            <p:nvPr/>
          </p:nvSpPr>
          <p:spPr>
            <a:xfrm>
              <a:off x="5926677" y="2345430"/>
              <a:ext cx="639141" cy="549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履约服务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7" name="米菲PPT93"/>
            <p:cNvSpPr/>
            <p:nvPr/>
          </p:nvSpPr>
          <p:spPr>
            <a:xfrm>
              <a:off x="4867952" y="3303108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58" name="米菲PPT94"/>
            <p:cNvSpPr txBox="1"/>
            <p:nvPr/>
          </p:nvSpPr>
          <p:spPr>
            <a:xfrm>
              <a:off x="3818173" y="3341593"/>
              <a:ext cx="2183118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交易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59" name="米菲PPT25"/>
            <p:cNvSpPr/>
            <p:nvPr/>
          </p:nvSpPr>
          <p:spPr>
            <a:xfrm>
              <a:off x="4850118" y="2088362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60" name="米菲PPT20"/>
            <p:cNvCxnSpPr>
              <a:stCxn id="59" idx="0"/>
              <a:endCxn id="44" idx="4"/>
            </p:cNvCxnSpPr>
            <p:nvPr/>
          </p:nvCxnSpPr>
          <p:spPr>
            <a:xfrm flipV="1">
              <a:off x="4894931" y="945932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米菲PPT27"/>
            <p:cNvCxnSpPr>
              <a:stCxn id="59" idx="3"/>
              <a:endCxn id="51" idx="7"/>
            </p:cNvCxnSpPr>
            <p:nvPr/>
          </p:nvCxnSpPr>
          <p:spPr>
            <a:xfrm flipH="1">
              <a:off x="3872022" y="2164863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米菲PPT29"/>
            <p:cNvCxnSpPr>
              <a:stCxn id="59" idx="6"/>
              <a:endCxn id="50" idx="1"/>
            </p:cNvCxnSpPr>
            <p:nvPr/>
          </p:nvCxnSpPr>
          <p:spPr>
            <a:xfrm>
              <a:off x="4939744" y="2133175"/>
              <a:ext cx="1013608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米菲PPT48"/>
            <p:cNvSpPr txBox="1"/>
            <p:nvPr/>
          </p:nvSpPr>
          <p:spPr>
            <a:xfrm>
              <a:off x="4518798" y="2173338"/>
              <a:ext cx="800310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点评</a:t>
              </a:r>
            </a:p>
          </p:txBody>
        </p:sp>
      </p:grpSp>
      <p:grpSp>
        <p:nvGrpSpPr>
          <p:cNvPr id="64" name="组合 63"/>
          <p:cNvGrpSpPr>
            <a:grpSpLocks noChangeAspect="1"/>
          </p:cNvGrpSpPr>
          <p:nvPr/>
        </p:nvGrpSpPr>
        <p:grpSpPr>
          <a:xfrm>
            <a:off x="4886504" y="1891649"/>
            <a:ext cx="2213926" cy="2086745"/>
            <a:chOff x="3254934" y="534057"/>
            <a:chExt cx="3294695" cy="3105428"/>
          </a:xfrm>
        </p:grpSpPr>
        <p:sp>
          <p:nvSpPr>
            <p:cNvPr id="65" name="任意形状 64"/>
            <p:cNvSpPr/>
            <p:nvPr/>
          </p:nvSpPr>
          <p:spPr>
            <a:xfrm>
              <a:off x="3988719" y="971976"/>
              <a:ext cx="1407868" cy="2204309"/>
            </a:xfrm>
            <a:custGeom>
              <a:avLst/>
              <a:gdLst>
                <a:gd name="connsiteX0" fmla="*/ 721894 w 1366787"/>
                <a:gd name="connsiteY0" fmla="*/ 0 h 1463040"/>
                <a:gd name="connsiteX1" fmla="*/ 346509 w 1366787"/>
                <a:gd name="connsiteY1" fmla="*/ 433136 h 1463040"/>
                <a:gd name="connsiteX2" fmla="*/ 0 w 1366787"/>
                <a:gd name="connsiteY2" fmla="*/ 1058778 h 1463040"/>
                <a:gd name="connsiteX3" fmla="*/ 702644 w 1366787"/>
                <a:gd name="connsiteY3" fmla="*/ 1463040 h 1463040"/>
                <a:gd name="connsiteX4" fmla="*/ 1260909 w 1366787"/>
                <a:gd name="connsiteY4" fmla="*/ 943275 h 1463040"/>
                <a:gd name="connsiteX5" fmla="*/ 1366787 w 1366787"/>
                <a:gd name="connsiteY5" fmla="*/ 269507 h 1463040"/>
                <a:gd name="connsiteX6" fmla="*/ 721894 w 1366787"/>
                <a:gd name="connsiteY6" fmla="*/ 0 h 1463040"/>
                <a:gd name="connsiteX0-1" fmla="*/ 721894 w 1461337"/>
                <a:gd name="connsiteY0-2" fmla="*/ 0 h 1463040"/>
                <a:gd name="connsiteX1-3" fmla="*/ 346509 w 1461337"/>
                <a:gd name="connsiteY1-4" fmla="*/ 433136 h 1463040"/>
                <a:gd name="connsiteX2-5" fmla="*/ 0 w 1461337"/>
                <a:gd name="connsiteY2-6" fmla="*/ 1058778 h 1463040"/>
                <a:gd name="connsiteX3-7" fmla="*/ 702644 w 1461337"/>
                <a:gd name="connsiteY3-8" fmla="*/ 1463040 h 1463040"/>
                <a:gd name="connsiteX4-9" fmla="*/ 1461337 w 1461337"/>
                <a:gd name="connsiteY4-10" fmla="*/ 1056017 h 1463040"/>
                <a:gd name="connsiteX5-11" fmla="*/ 1366787 w 1461337"/>
                <a:gd name="connsiteY5-12" fmla="*/ 269507 h 1463040"/>
                <a:gd name="connsiteX6-13" fmla="*/ 721894 w 1461337"/>
                <a:gd name="connsiteY6-14" fmla="*/ 0 h 1463040"/>
                <a:gd name="connsiteX0-15" fmla="*/ 721893 w 1461337"/>
                <a:gd name="connsiteY0-16" fmla="*/ 0 h 1851369"/>
                <a:gd name="connsiteX1-17" fmla="*/ 346509 w 1461337"/>
                <a:gd name="connsiteY1-18" fmla="*/ 821465 h 1851369"/>
                <a:gd name="connsiteX2-19" fmla="*/ 0 w 1461337"/>
                <a:gd name="connsiteY2-20" fmla="*/ 1447107 h 1851369"/>
                <a:gd name="connsiteX3-21" fmla="*/ 702644 w 1461337"/>
                <a:gd name="connsiteY3-22" fmla="*/ 1851369 h 1851369"/>
                <a:gd name="connsiteX4-23" fmla="*/ 1461337 w 1461337"/>
                <a:gd name="connsiteY4-24" fmla="*/ 1444346 h 1851369"/>
                <a:gd name="connsiteX5-25" fmla="*/ 1366787 w 1461337"/>
                <a:gd name="connsiteY5-26" fmla="*/ 657836 h 1851369"/>
                <a:gd name="connsiteX6-27" fmla="*/ 721893 w 1461337"/>
                <a:gd name="connsiteY6-28" fmla="*/ 0 h 1851369"/>
                <a:gd name="connsiteX0-29" fmla="*/ 706892 w 1461337"/>
                <a:gd name="connsiteY0-30" fmla="*/ 0 h 1851369"/>
                <a:gd name="connsiteX1-31" fmla="*/ 346509 w 1461337"/>
                <a:gd name="connsiteY1-32" fmla="*/ 821465 h 1851369"/>
                <a:gd name="connsiteX2-33" fmla="*/ 0 w 1461337"/>
                <a:gd name="connsiteY2-34" fmla="*/ 1447107 h 1851369"/>
                <a:gd name="connsiteX3-35" fmla="*/ 702644 w 1461337"/>
                <a:gd name="connsiteY3-36" fmla="*/ 1851369 h 1851369"/>
                <a:gd name="connsiteX4-37" fmla="*/ 1461337 w 1461337"/>
                <a:gd name="connsiteY4-38" fmla="*/ 1444346 h 1851369"/>
                <a:gd name="connsiteX5-39" fmla="*/ 1366787 w 1461337"/>
                <a:gd name="connsiteY5-40" fmla="*/ 657836 h 1851369"/>
                <a:gd name="connsiteX6-41" fmla="*/ 706892 w 1461337"/>
                <a:gd name="connsiteY6-42" fmla="*/ 0 h 1851369"/>
                <a:gd name="connsiteX0-43" fmla="*/ 706892 w 1644308"/>
                <a:gd name="connsiteY0-44" fmla="*/ 0 h 1851369"/>
                <a:gd name="connsiteX1-45" fmla="*/ 346509 w 1644308"/>
                <a:gd name="connsiteY1-46" fmla="*/ 821465 h 1851369"/>
                <a:gd name="connsiteX2-47" fmla="*/ 0 w 1644308"/>
                <a:gd name="connsiteY2-48" fmla="*/ 1447107 h 1851369"/>
                <a:gd name="connsiteX3-49" fmla="*/ 702644 w 1644308"/>
                <a:gd name="connsiteY3-50" fmla="*/ 1851369 h 1851369"/>
                <a:gd name="connsiteX4-51" fmla="*/ 1461337 w 1644308"/>
                <a:gd name="connsiteY4-52" fmla="*/ 1444346 h 1851369"/>
                <a:gd name="connsiteX5-53" fmla="*/ 1644308 w 1644308"/>
                <a:gd name="connsiteY5-54" fmla="*/ 500325 h 1851369"/>
                <a:gd name="connsiteX6-55" fmla="*/ 706892 w 1644308"/>
                <a:gd name="connsiteY6-56" fmla="*/ 0 h 1851369"/>
                <a:gd name="connsiteX0-57" fmla="*/ 930427 w 1867843"/>
                <a:gd name="connsiteY0-58" fmla="*/ 0 h 1851369"/>
                <a:gd name="connsiteX1-59" fmla="*/ 0 w 1867843"/>
                <a:gd name="connsiteY1-60" fmla="*/ 491440 h 1851369"/>
                <a:gd name="connsiteX2-61" fmla="*/ 223535 w 1867843"/>
                <a:gd name="connsiteY2-62" fmla="*/ 1447107 h 1851369"/>
                <a:gd name="connsiteX3-63" fmla="*/ 926179 w 1867843"/>
                <a:gd name="connsiteY3-64" fmla="*/ 1851369 h 1851369"/>
                <a:gd name="connsiteX4-65" fmla="*/ 1684872 w 1867843"/>
                <a:gd name="connsiteY4-66" fmla="*/ 1444346 h 1851369"/>
                <a:gd name="connsiteX5-67" fmla="*/ 1867843 w 1867843"/>
                <a:gd name="connsiteY5-68" fmla="*/ 500325 h 1851369"/>
                <a:gd name="connsiteX6-69" fmla="*/ 930427 w 1867843"/>
                <a:gd name="connsiteY6-70" fmla="*/ 0 h 1851369"/>
                <a:gd name="connsiteX0-71" fmla="*/ 930427 w 1867843"/>
                <a:gd name="connsiteY0-72" fmla="*/ 0 h 1851369"/>
                <a:gd name="connsiteX1-73" fmla="*/ 0 w 1867843"/>
                <a:gd name="connsiteY1-74" fmla="*/ 491440 h 1851369"/>
                <a:gd name="connsiteX2-75" fmla="*/ 553560 w 1867843"/>
                <a:gd name="connsiteY2-76" fmla="*/ 1252093 h 1851369"/>
                <a:gd name="connsiteX3-77" fmla="*/ 926179 w 1867843"/>
                <a:gd name="connsiteY3-78" fmla="*/ 1851369 h 1851369"/>
                <a:gd name="connsiteX4-79" fmla="*/ 1684872 w 1867843"/>
                <a:gd name="connsiteY4-80" fmla="*/ 1444346 h 1851369"/>
                <a:gd name="connsiteX5-81" fmla="*/ 1867843 w 1867843"/>
                <a:gd name="connsiteY5-82" fmla="*/ 500325 h 1851369"/>
                <a:gd name="connsiteX6-83" fmla="*/ 930427 w 1867843"/>
                <a:gd name="connsiteY6-84" fmla="*/ 0 h 1851369"/>
                <a:gd name="connsiteX0-85" fmla="*/ 930427 w 1867843"/>
                <a:gd name="connsiteY0-86" fmla="*/ 0 h 1444346"/>
                <a:gd name="connsiteX1-87" fmla="*/ 0 w 1867843"/>
                <a:gd name="connsiteY1-88" fmla="*/ 491440 h 1444346"/>
                <a:gd name="connsiteX2-89" fmla="*/ 553560 w 1867843"/>
                <a:gd name="connsiteY2-90" fmla="*/ 1252093 h 1444346"/>
                <a:gd name="connsiteX3-91" fmla="*/ 926179 w 1867843"/>
                <a:gd name="connsiteY3-92" fmla="*/ 1408835 h 1444346"/>
                <a:gd name="connsiteX4-93" fmla="*/ 1684872 w 1867843"/>
                <a:gd name="connsiteY4-94" fmla="*/ 1444346 h 1444346"/>
                <a:gd name="connsiteX5-95" fmla="*/ 1867843 w 1867843"/>
                <a:gd name="connsiteY5-96" fmla="*/ 500325 h 1444346"/>
                <a:gd name="connsiteX6-97" fmla="*/ 930427 w 1867843"/>
                <a:gd name="connsiteY6-98" fmla="*/ 0 h 1444346"/>
                <a:gd name="connsiteX0-99" fmla="*/ 930427 w 1867843"/>
                <a:gd name="connsiteY0-100" fmla="*/ 0 h 1408835"/>
                <a:gd name="connsiteX1-101" fmla="*/ 0 w 1867843"/>
                <a:gd name="connsiteY1-102" fmla="*/ 491440 h 1408835"/>
                <a:gd name="connsiteX2-103" fmla="*/ 553560 w 1867843"/>
                <a:gd name="connsiteY2-104" fmla="*/ 1252093 h 1408835"/>
                <a:gd name="connsiteX3-105" fmla="*/ 926179 w 1867843"/>
                <a:gd name="connsiteY3-106" fmla="*/ 1408835 h 1408835"/>
                <a:gd name="connsiteX4-107" fmla="*/ 1437353 w 1867843"/>
                <a:gd name="connsiteY4-108" fmla="*/ 1309336 h 1408835"/>
                <a:gd name="connsiteX5-109" fmla="*/ 1867843 w 1867843"/>
                <a:gd name="connsiteY5-110" fmla="*/ 500325 h 1408835"/>
                <a:gd name="connsiteX6-111" fmla="*/ 930427 w 1867843"/>
                <a:gd name="connsiteY6-112" fmla="*/ 0 h 1408835"/>
                <a:gd name="connsiteX0-113" fmla="*/ 930427 w 1867843"/>
                <a:gd name="connsiteY0-114" fmla="*/ 0 h 1408835"/>
                <a:gd name="connsiteX1-115" fmla="*/ 0 w 1867843"/>
                <a:gd name="connsiteY1-116" fmla="*/ 491440 h 1408835"/>
                <a:gd name="connsiteX2-117" fmla="*/ 349443 w 1867843"/>
                <a:gd name="connsiteY2-118" fmla="*/ 1376832 h 1408835"/>
                <a:gd name="connsiteX3-119" fmla="*/ 926179 w 1867843"/>
                <a:gd name="connsiteY3-120" fmla="*/ 1408835 h 1408835"/>
                <a:gd name="connsiteX4-121" fmla="*/ 1437353 w 1867843"/>
                <a:gd name="connsiteY4-122" fmla="*/ 1309336 h 1408835"/>
                <a:gd name="connsiteX5-123" fmla="*/ 1867843 w 1867843"/>
                <a:gd name="connsiteY5-124" fmla="*/ 500325 h 1408835"/>
                <a:gd name="connsiteX6-125" fmla="*/ 930427 w 1867843"/>
                <a:gd name="connsiteY6-126" fmla="*/ 0 h 1408835"/>
                <a:gd name="connsiteX0-127" fmla="*/ 930427 w 1867843"/>
                <a:gd name="connsiteY0-128" fmla="*/ 0 h 1486349"/>
                <a:gd name="connsiteX1-129" fmla="*/ 0 w 1867843"/>
                <a:gd name="connsiteY1-130" fmla="*/ 568954 h 1486349"/>
                <a:gd name="connsiteX2-131" fmla="*/ 349443 w 1867843"/>
                <a:gd name="connsiteY2-132" fmla="*/ 1454346 h 1486349"/>
                <a:gd name="connsiteX3-133" fmla="*/ 926179 w 1867843"/>
                <a:gd name="connsiteY3-134" fmla="*/ 1486349 h 1486349"/>
                <a:gd name="connsiteX4-135" fmla="*/ 1437353 w 1867843"/>
                <a:gd name="connsiteY4-136" fmla="*/ 1386850 h 1486349"/>
                <a:gd name="connsiteX5-137" fmla="*/ 1867843 w 1867843"/>
                <a:gd name="connsiteY5-138" fmla="*/ 577839 h 1486349"/>
                <a:gd name="connsiteX6-139" fmla="*/ 930427 w 1867843"/>
                <a:gd name="connsiteY6-140" fmla="*/ 0 h 1486349"/>
                <a:gd name="connsiteX0-141" fmla="*/ 830159 w 1767575"/>
                <a:gd name="connsiteY0-142" fmla="*/ 0 h 1486349"/>
                <a:gd name="connsiteX1-143" fmla="*/ 0 w 1767575"/>
                <a:gd name="connsiteY1-144" fmla="*/ 626251 h 1486349"/>
                <a:gd name="connsiteX2-145" fmla="*/ 249175 w 1767575"/>
                <a:gd name="connsiteY2-146" fmla="*/ 1454346 h 1486349"/>
                <a:gd name="connsiteX3-147" fmla="*/ 825911 w 1767575"/>
                <a:gd name="connsiteY3-148" fmla="*/ 1486349 h 1486349"/>
                <a:gd name="connsiteX4-149" fmla="*/ 1337085 w 1767575"/>
                <a:gd name="connsiteY4-150" fmla="*/ 1386850 h 1486349"/>
                <a:gd name="connsiteX5-151" fmla="*/ 1767575 w 1767575"/>
                <a:gd name="connsiteY5-152" fmla="*/ 577839 h 1486349"/>
                <a:gd name="connsiteX6-153" fmla="*/ 830159 w 1767575"/>
                <a:gd name="connsiteY6-154" fmla="*/ 0 h 1486349"/>
                <a:gd name="connsiteX0-155" fmla="*/ 873131 w 1810547"/>
                <a:gd name="connsiteY0-156" fmla="*/ 0 h 1486349"/>
                <a:gd name="connsiteX1-157" fmla="*/ 0 w 1810547"/>
                <a:gd name="connsiteY1-158" fmla="*/ 597603 h 1486349"/>
                <a:gd name="connsiteX2-159" fmla="*/ 292147 w 1810547"/>
                <a:gd name="connsiteY2-160" fmla="*/ 1454346 h 1486349"/>
                <a:gd name="connsiteX3-161" fmla="*/ 868883 w 1810547"/>
                <a:gd name="connsiteY3-162" fmla="*/ 1486349 h 1486349"/>
                <a:gd name="connsiteX4-163" fmla="*/ 1380057 w 1810547"/>
                <a:gd name="connsiteY4-164" fmla="*/ 1386850 h 1486349"/>
                <a:gd name="connsiteX5-165" fmla="*/ 1810547 w 1810547"/>
                <a:gd name="connsiteY5-166" fmla="*/ 577839 h 1486349"/>
                <a:gd name="connsiteX6-167" fmla="*/ 873131 w 1810547"/>
                <a:gd name="connsiteY6-168" fmla="*/ 0 h 1486349"/>
                <a:gd name="connsiteX0-169" fmla="*/ 873131 w 1810547"/>
                <a:gd name="connsiteY0-170" fmla="*/ 0 h 1486349"/>
                <a:gd name="connsiteX1-171" fmla="*/ 0 w 1810547"/>
                <a:gd name="connsiteY1-172" fmla="*/ 597603 h 1486349"/>
                <a:gd name="connsiteX2-173" fmla="*/ 292147 w 1810547"/>
                <a:gd name="connsiteY2-174" fmla="*/ 1454346 h 1486349"/>
                <a:gd name="connsiteX3-175" fmla="*/ 868883 w 1810547"/>
                <a:gd name="connsiteY3-176" fmla="*/ 1486349 h 1486349"/>
                <a:gd name="connsiteX4-177" fmla="*/ 1334187 w 1810547"/>
                <a:gd name="connsiteY4-178" fmla="*/ 1356271 h 1486349"/>
                <a:gd name="connsiteX5-179" fmla="*/ 1810547 w 1810547"/>
                <a:gd name="connsiteY5-180" fmla="*/ 577839 h 1486349"/>
                <a:gd name="connsiteX6-181" fmla="*/ 873131 w 1810547"/>
                <a:gd name="connsiteY6-182" fmla="*/ 0 h 1486349"/>
                <a:gd name="connsiteX0-183" fmla="*/ 873131 w 1810547"/>
                <a:gd name="connsiteY0-184" fmla="*/ 0 h 1517345"/>
                <a:gd name="connsiteX1-185" fmla="*/ 0 w 1810547"/>
                <a:gd name="connsiteY1-186" fmla="*/ 597603 h 1517345"/>
                <a:gd name="connsiteX2-187" fmla="*/ 128350 w 1810547"/>
                <a:gd name="connsiteY2-188" fmla="*/ 1517345 h 1517345"/>
                <a:gd name="connsiteX3-189" fmla="*/ 868883 w 1810547"/>
                <a:gd name="connsiteY3-190" fmla="*/ 1486349 h 1517345"/>
                <a:gd name="connsiteX4-191" fmla="*/ 1334187 w 1810547"/>
                <a:gd name="connsiteY4-192" fmla="*/ 1356271 h 1517345"/>
                <a:gd name="connsiteX5-193" fmla="*/ 1810547 w 1810547"/>
                <a:gd name="connsiteY5-194" fmla="*/ 577839 h 1517345"/>
                <a:gd name="connsiteX6-195" fmla="*/ 873131 w 1810547"/>
                <a:gd name="connsiteY6-196" fmla="*/ 0 h 1517345"/>
                <a:gd name="connsiteX0-197" fmla="*/ 914788 w 1852204"/>
                <a:gd name="connsiteY0-198" fmla="*/ 0 h 1517345"/>
                <a:gd name="connsiteX1-199" fmla="*/ 0 w 1852204"/>
                <a:gd name="connsiteY1-200" fmla="*/ 583718 h 1517345"/>
                <a:gd name="connsiteX2-201" fmla="*/ 170007 w 1852204"/>
                <a:gd name="connsiteY2-202" fmla="*/ 1517345 h 1517345"/>
                <a:gd name="connsiteX3-203" fmla="*/ 910540 w 1852204"/>
                <a:gd name="connsiteY3-204" fmla="*/ 1486349 h 1517345"/>
                <a:gd name="connsiteX4-205" fmla="*/ 1375844 w 1852204"/>
                <a:gd name="connsiteY4-206" fmla="*/ 1356271 h 1517345"/>
                <a:gd name="connsiteX5-207" fmla="*/ 1852204 w 1852204"/>
                <a:gd name="connsiteY5-208" fmla="*/ 577839 h 1517345"/>
                <a:gd name="connsiteX6-209" fmla="*/ 914788 w 1852204"/>
                <a:gd name="connsiteY6-210" fmla="*/ 0 h 1517345"/>
                <a:gd name="connsiteX0-211" fmla="*/ 914788 w 1852204"/>
                <a:gd name="connsiteY0-212" fmla="*/ 0 h 2069542"/>
                <a:gd name="connsiteX1-213" fmla="*/ 0 w 1852204"/>
                <a:gd name="connsiteY1-214" fmla="*/ 583718 h 2069542"/>
                <a:gd name="connsiteX2-215" fmla="*/ 170007 w 1852204"/>
                <a:gd name="connsiteY2-216" fmla="*/ 1517345 h 2069542"/>
                <a:gd name="connsiteX3-217" fmla="*/ 924426 w 1852204"/>
                <a:gd name="connsiteY3-218" fmla="*/ 2069542 h 2069542"/>
                <a:gd name="connsiteX4-219" fmla="*/ 1375844 w 1852204"/>
                <a:gd name="connsiteY4-220" fmla="*/ 1356271 h 2069542"/>
                <a:gd name="connsiteX5-221" fmla="*/ 1852204 w 1852204"/>
                <a:gd name="connsiteY5-222" fmla="*/ 577839 h 2069542"/>
                <a:gd name="connsiteX6-223" fmla="*/ 914788 w 1852204"/>
                <a:gd name="connsiteY6-224" fmla="*/ 0 h 2069542"/>
                <a:gd name="connsiteX0-225" fmla="*/ 914788 w 1852204"/>
                <a:gd name="connsiteY0-226" fmla="*/ 0 h 2027885"/>
                <a:gd name="connsiteX1-227" fmla="*/ 0 w 1852204"/>
                <a:gd name="connsiteY1-228" fmla="*/ 583718 h 2027885"/>
                <a:gd name="connsiteX2-229" fmla="*/ 170007 w 1852204"/>
                <a:gd name="connsiteY2-230" fmla="*/ 1517345 h 2027885"/>
                <a:gd name="connsiteX3-231" fmla="*/ 924426 w 1852204"/>
                <a:gd name="connsiteY3-232" fmla="*/ 2027885 h 2027885"/>
                <a:gd name="connsiteX4-233" fmla="*/ 1375844 w 1852204"/>
                <a:gd name="connsiteY4-234" fmla="*/ 1356271 h 2027885"/>
                <a:gd name="connsiteX5-235" fmla="*/ 1852204 w 1852204"/>
                <a:gd name="connsiteY5-236" fmla="*/ 577839 h 2027885"/>
                <a:gd name="connsiteX6-237" fmla="*/ 914788 w 1852204"/>
                <a:gd name="connsiteY6-238" fmla="*/ 0 h 2027885"/>
                <a:gd name="connsiteX0-239" fmla="*/ 914788 w 1574494"/>
                <a:gd name="connsiteY0-240" fmla="*/ 0 h 2027885"/>
                <a:gd name="connsiteX1-241" fmla="*/ 0 w 1574494"/>
                <a:gd name="connsiteY1-242" fmla="*/ 583718 h 2027885"/>
                <a:gd name="connsiteX2-243" fmla="*/ 170007 w 1574494"/>
                <a:gd name="connsiteY2-244" fmla="*/ 1517345 h 2027885"/>
                <a:gd name="connsiteX3-245" fmla="*/ 924426 w 1574494"/>
                <a:gd name="connsiteY3-246" fmla="*/ 2027885 h 2027885"/>
                <a:gd name="connsiteX4-247" fmla="*/ 1375844 w 1574494"/>
                <a:gd name="connsiteY4-248" fmla="*/ 1356271 h 2027885"/>
                <a:gd name="connsiteX5-249" fmla="*/ 1574494 w 1574494"/>
                <a:gd name="connsiteY5-250" fmla="*/ 716694 h 2027885"/>
                <a:gd name="connsiteX6-251" fmla="*/ 914788 w 1574494"/>
                <a:gd name="connsiteY6-252" fmla="*/ 0 h 2027885"/>
                <a:gd name="connsiteX0-253" fmla="*/ 914788 w 1407868"/>
                <a:gd name="connsiteY0-254" fmla="*/ 0 h 2027885"/>
                <a:gd name="connsiteX1-255" fmla="*/ 0 w 1407868"/>
                <a:gd name="connsiteY1-256" fmla="*/ 583718 h 2027885"/>
                <a:gd name="connsiteX2-257" fmla="*/ 170007 w 1407868"/>
                <a:gd name="connsiteY2-258" fmla="*/ 1517345 h 2027885"/>
                <a:gd name="connsiteX3-259" fmla="*/ 924426 w 1407868"/>
                <a:gd name="connsiteY3-260" fmla="*/ 2027885 h 2027885"/>
                <a:gd name="connsiteX4-261" fmla="*/ 1375844 w 1407868"/>
                <a:gd name="connsiteY4-262" fmla="*/ 1356271 h 2027885"/>
                <a:gd name="connsiteX5-263" fmla="*/ 1407868 w 1407868"/>
                <a:gd name="connsiteY5-264" fmla="*/ 813894 h 2027885"/>
                <a:gd name="connsiteX6-265" fmla="*/ 914788 w 1407868"/>
                <a:gd name="connsiteY6-266" fmla="*/ 0 h 2027885"/>
                <a:gd name="connsiteX0" fmla="*/ 914788 w 1407868"/>
                <a:gd name="connsiteY0" fmla="*/ 0 h 2027885"/>
                <a:gd name="connsiteX1" fmla="*/ 0 w 1407868"/>
                <a:gd name="connsiteY1" fmla="*/ 583718 h 2027885"/>
                <a:gd name="connsiteX2" fmla="*/ 134431 w 1407868"/>
                <a:gd name="connsiteY2" fmla="*/ 1475592 h 2027885"/>
                <a:gd name="connsiteX3" fmla="*/ 924426 w 1407868"/>
                <a:gd name="connsiteY3" fmla="*/ 2027885 h 2027885"/>
                <a:gd name="connsiteX4" fmla="*/ 1375844 w 1407868"/>
                <a:gd name="connsiteY4" fmla="*/ 1356271 h 2027885"/>
                <a:gd name="connsiteX5" fmla="*/ 1407868 w 1407868"/>
                <a:gd name="connsiteY5" fmla="*/ 813894 h 2027885"/>
                <a:gd name="connsiteX6" fmla="*/ 914788 w 1407868"/>
                <a:gd name="connsiteY6" fmla="*/ 0 h 2027885"/>
                <a:gd name="connsiteX0" fmla="*/ 914787 w 1407868"/>
                <a:gd name="connsiteY0" fmla="*/ 0 h 2069638"/>
                <a:gd name="connsiteX1" fmla="*/ 0 w 1407868"/>
                <a:gd name="connsiteY1" fmla="*/ 625471 h 2069638"/>
                <a:gd name="connsiteX2" fmla="*/ 134431 w 1407868"/>
                <a:gd name="connsiteY2" fmla="*/ 1517345 h 2069638"/>
                <a:gd name="connsiteX3" fmla="*/ 924426 w 1407868"/>
                <a:gd name="connsiteY3" fmla="*/ 2069638 h 2069638"/>
                <a:gd name="connsiteX4" fmla="*/ 1375844 w 1407868"/>
                <a:gd name="connsiteY4" fmla="*/ 1398024 h 2069638"/>
                <a:gd name="connsiteX5" fmla="*/ 1407868 w 1407868"/>
                <a:gd name="connsiteY5" fmla="*/ 855647 h 2069638"/>
                <a:gd name="connsiteX6" fmla="*/ 914787 w 1407868"/>
                <a:gd name="connsiteY6" fmla="*/ 0 h 2069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7868" h="2069638">
                  <a:moveTo>
                    <a:pt x="914787" y="0"/>
                  </a:moveTo>
                  <a:lnTo>
                    <a:pt x="0" y="625471"/>
                  </a:lnTo>
                  <a:lnTo>
                    <a:pt x="134431" y="1517345"/>
                  </a:lnTo>
                  <a:lnTo>
                    <a:pt x="924426" y="2069638"/>
                  </a:lnTo>
                  <a:lnTo>
                    <a:pt x="1375844" y="1398024"/>
                  </a:lnTo>
                  <a:lnTo>
                    <a:pt x="1407868" y="855647"/>
                  </a:lnTo>
                  <a:lnTo>
                    <a:pt x="914787" y="0"/>
                  </a:lnTo>
                  <a:close/>
                </a:path>
              </a:pathLst>
            </a:custGeom>
            <a:solidFill>
              <a:srgbClr val="FFD1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700" dirty="0">
                <a:latin typeface="+mn-ea"/>
              </a:endParaRPr>
            </a:p>
          </p:txBody>
        </p:sp>
        <p:cxnSp>
          <p:nvCxnSpPr>
            <p:cNvPr id="66" name="米菲PPT13"/>
            <p:cNvCxnSpPr>
              <a:stCxn id="87" idx="4"/>
            </p:cNvCxnSpPr>
            <p:nvPr/>
          </p:nvCxnSpPr>
          <p:spPr>
            <a:xfrm>
              <a:off x="4894931" y="2177988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米菲PPT14"/>
            <p:cNvCxnSpPr/>
            <p:nvPr/>
          </p:nvCxnSpPr>
          <p:spPr>
            <a:xfrm flipV="1">
              <a:off x="5976670" y="1534727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米菲PPT20"/>
            <p:cNvCxnSpPr/>
            <p:nvPr/>
          </p:nvCxnSpPr>
          <p:spPr>
            <a:xfrm flipH="1" flipV="1">
              <a:off x="3831132" y="1511503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米菲PPT21"/>
            <p:cNvCxnSpPr/>
            <p:nvPr/>
          </p:nvCxnSpPr>
          <p:spPr>
            <a:xfrm>
              <a:off x="4905210" y="895173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米菲PPT22"/>
            <p:cNvCxnSpPr/>
            <p:nvPr/>
          </p:nvCxnSpPr>
          <p:spPr>
            <a:xfrm flipV="1">
              <a:off x="3825379" y="890916"/>
              <a:ext cx="1079831" cy="618060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米菲PPT23"/>
            <p:cNvCxnSpPr/>
            <p:nvPr/>
          </p:nvCxnSpPr>
          <p:spPr>
            <a:xfrm flipV="1">
              <a:off x="4893789" y="1516845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米菲PPT24"/>
            <p:cNvSpPr/>
            <p:nvPr/>
          </p:nvSpPr>
          <p:spPr>
            <a:xfrm>
              <a:off x="4867952" y="856306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73" name="米菲PPT25"/>
            <p:cNvSpPr/>
            <p:nvPr/>
          </p:nvSpPr>
          <p:spPr>
            <a:xfrm>
              <a:off x="5940227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74" name="米菲PPT26"/>
            <p:cNvSpPr/>
            <p:nvPr/>
          </p:nvSpPr>
          <p:spPr>
            <a:xfrm>
              <a:off x="3795521" y="1475379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75" name="米菲PPT27"/>
            <p:cNvCxnSpPr/>
            <p:nvPr/>
          </p:nvCxnSpPr>
          <p:spPr>
            <a:xfrm flipH="1" flipV="1">
              <a:off x="3831132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米菲PPT28"/>
            <p:cNvCxnSpPr>
              <a:stCxn id="74" idx="4"/>
              <a:endCxn id="79" idx="4"/>
            </p:cNvCxnSpPr>
            <p:nvPr/>
          </p:nvCxnSpPr>
          <p:spPr>
            <a:xfrm>
              <a:off x="3840335" y="1565005"/>
              <a:ext cx="0" cy="1215844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米菲PPT29"/>
            <p:cNvCxnSpPr/>
            <p:nvPr/>
          </p:nvCxnSpPr>
          <p:spPr>
            <a:xfrm flipV="1">
              <a:off x="4880226" y="2736037"/>
              <a:ext cx="1079831" cy="61806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米菲PPT30"/>
            <p:cNvSpPr/>
            <p:nvPr/>
          </p:nvSpPr>
          <p:spPr>
            <a:xfrm>
              <a:off x="5940227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79" name="米菲PPT31"/>
            <p:cNvSpPr/>
            <p:nvPr/>
          </p:nvSpPr>
          <p:spPr>
            <a:xfrm>
              <a:off x="3795521" y="2691223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80" name="米菲PPT44"/>
            <p:cNvSpPr txBox="1"/>
            <p:nvPr/>
          </p:nvSpPr>
          <p:spPr>
            <a:xfrm>
              <a:off x="4568091" y="534057"/>
              <a:ext cx="673822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1" name="米菲PPT45"/>
            <p:cNvSpPr txBox="1"/>
            <p:nvPr/>
          </p:nvSpPr>
          <p:spPr>
            <a:xfrm>
              <a:off x="3300402" y="930743"/>
              <a:ext cx="681226" cy="549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内容互动</a:t>
              </a:r>
            </a:p>
          </p:txBody>
        </p:sp>
        <p:sp>
          <p:nvSpPr>
            <p:cNvPr id="82" name="米菲PPT46"/>
            <p:cNvSpPr txBox="1"/>
            <p:nvPr/>
          </p:nvSpPr>
          <p:spPr>
            <a:xfrm>
              <a:off x="3254934" y="2580718"/>
              <a:ext cx="681226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</a:p>
          </p:txBody>
        </p:sp>
        <p:sp>
          <p:nvSpPr>
            <p:cNvPr id="83" name="米菲PPT47"/>
            <p:cNvSpPr txBox="1"/>
            <p:nvPr/>
          </p:nvSpPr>
          <p:spPr>
            <a:xfrm>
              <a:off x="5455846" y="912836"/>
              <a:ext cx="972505" cy="549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行为资产</a:t>
              </a:r>
              <a:endParaRPr lang="en-US" altLang="zh-CN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（星评）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4" name="米菲PPT48"/>
            <p:cNvSpPr txBox="1"/>
            <p:nvPr/>
          </p:nvSpPr>
          <p:spPr>
            <a:xfrm>
              <a:off x="5875807" y="2476714"/>
              <a:ext cx="673822" cy="549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履约服务</a:t>
              </a:r>
            </a:p>
          </p:txBody>
        </p:sp>
        <p:sp>
          <p:nvSpPr>
            <p:cNvPr id="85" name="米菲PPT93"/>
            <p:cNvSpPr/>
            <p:nvPr/>
          </p:nvSpPr>
          <p:spPr>
            <a:xfrm>
              <a:off x="4867952" y="3303108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86" name="米菲PPT94"/>
            <p:cNvSpPr txBox="1"/>
            <p:nvPr/>
          </p:nvSpPr>
          <p:spPr>
            <a:xfrm>
              <a:off x="4215401" y="3295968"/>
              <a:ext cx="1338783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交易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87" name="米菲PPT25"/>
            <p:cNvSpPr/>
            <p:nvPr/>
          </p:nvSpPr>
          <p:spPr>
            <a:xfrm>
              <a:off x="4850118" y="2088362"/>
              <a:ext cx="89626" cy="89626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7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88" name="米菲PPT20"/>
            <p:cNvCxnSpPr>
              <a:stCxn id="87" idx="0"/>
              <a:endCxn id="72" idx="4"/>
            </p:cNvCxnSpPr>
            <p:nvPr/>
          </p:nvCxnSpPr>
          <p:spPr>
            <a:xfrm flipV="1">
              <a:off x="4894931" y="945932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米菲PPT27"/>
            <p:cNvCxnSpPr>
              <a:stCxn id="87" idx="3"/>
              <a:endCxn id="79" idx="7"/>
            </p:cNvCxnSpPr>
            <p:nvPr/>
          </p:nvCxnSpPr>
          <p:spPr>
            <a:xfrm flipH="1">
              <a:off x="3872022" y="2164863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米菲PPT29"/>
            <p:cNvCxnSpPr>
              <a:stCxn id="87" idx="6"/>
              <a:endCxn id="78" idx="1"/>
            </p:cNvCxnSpPr>
            <p:nvPr/>
          </p:nvCxnSpPr>
          <p:spPr>
            <a:xfrm>
              <a:off x="4939744" y="2133175"/>
              <a:ext cx="1013608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米菲PPT48"/>
            <p:cNvSpPr txBox="1"/>
            <p:nvPr/>
          </p:nvSpPr>
          <p:spPr>
            <a:xfrm>
              <a:off x="4624637" y="2143098"/>
              <a:ext cx="584262" cy="389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D+</a:t>
              </a:r>
              <a:endParaRPr lang="zh-CN" altLang="en-US" sz="11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</p:grpSp>
      <p:grpSp>
        <p:nvGrpSpPr>
          <p:cNvPr id="92" name="组合 91"/>
          <p:cNvGrpSpPr>
            <a:grpSpLocks noChangeAspect="1"/>
          </p:cNvGrpSpPr>
          <p:nvPr/>
        </p:nvGrpSpPr>
        <p:grpSpPr>
          <a:xfrm>
            <a:off x="6971218" y="1924228"/>
            <a:ext cx="2172782" cy="2054166"/>
            <a:chOff x="3278731" y="575174"/>
            <a:chExt cx="3233464" cy="3056947"/>
          </a:xfrm>
        </p:grpSpPr>
        <p:sp>
          <p:nvSpPr>
            <p:cNvPr id="93" name="任意形状 92"/>
            <p:cNvSpPr/>
            <p:nvPr/>
          </p:nvSpPr>
          <p:spPr>
            <a:xfrm rot="21417117">
              <a:off x="4495198" y="1251782"/>
              <a:ext cx="1325698" cy="1455351"/>
            </a:xfrm>
            <a:custGeom>
              <a:avLst/>
              <a:gdLst>
                <a:gd name="connsiteX0" fmla="*/ 721894 w 1366787"/>
                <a:gd name="connsiteY0" fmla="*/ 0 h 1463040"/>
                <a:gd name="connsiteX1" fmla="*/ 346509 w 1366787"/>
                <a:gd name="connsiteY1" fmla="*/ 433136 h 1463040"/>
                <a:gd name="connsiteX2" fmla="*/ 0 w 1366787"/>
                <a:gd name="connsiteY2" fmla="*/ 1058778 h 1463040"/>
                <a:gd name="connsiteX3" fmla="*/ 702644 w 1366787"/>
                <a:gd name="connsiteY3" fmla="*/ 1463040 h 1463040"/>
                <a:gd name="connsiteX4" fmla="*/ 1260909 w 1366787"/>
                <a:gd name="connsiteY4" fmla="*/ 943275 h 1463040"/>
                <a:gd name="connsiteX5" fmla="*/ 1366787 w 1366787"/>
                <a:gd name="connsiteY5" fmla="*/ 269507 h 1463040"/>
                <a:gd name="connsiteX6" fmla="*/ 721894 w 1366787"/>
                <a:gd name="connsiteY6" fmla="*/ 0 h 1463040"/>
                <a:gd name="connsiteX0-1" fmla="*/ 721894 w 1461337"/>
                <a:gd name="connsiteY0-2" fmla="*/ 0 h 1463040"/>
                <a:gd name="connsiteX1-3" fmla="*/ 346509 w 1461337"/>
                <a:gd name="connsiteY1-4" fmla="*/ 433136 h 1463040"/>
                <a:gd name="connsiteX2-5" fmla="*/ 0 w 1461337"/>
                <a:gd name="connsiteY2-6" fmla="*/ 1058778 h 1463040"/>
                <a:gd name="connsiteX3-7" fmla="*/ 702644 w 1461337"/>
                <a:gd name="connsiteY3-8" fmla="*/ 1463040 h 1463040"/>
                <a:gd name="connsiteX4-9" fmla="*/ 1461337 w 1461337"/>
                <a:gd name="connsiteY4-10" fmla="*/ 1056017 h 1463040"/>
                <a:gd name="connsiteX5-11" fmla="*/ 1366787 w 1461337"/>
                <a:gd name="connsiteY5-12" fmla="*/ 269507 h 1463040"/>
                <a:gd name="connsiteX6-13" fmla="*/ 721894 w 1461337"/>
                <a:gd name="connsiteY6-14" fmla="*/ 0 h 1463040"/>
                <a:gd name="connsiteX0-15" fmla="*/ 721893 w 1461337"/>
                <a:gd name="connsiteY0-16" fmla="*/ 0 h 1851369"/>
                <a:gd name="connsiteX1-17" fmla="*/ 346509 w 1461337"/>
                <a:gd name="connsiteY1-18" fmla="*/ 821465 h 1851369"/>
                <a:gd name="connsiteX2-19" fmla="*/ 0 w 1461337"/>
                <a:gd name="connsiteY2-20" fmla="*/ 1447107 h 1851369"/>
                <a:gd name="connsiteX3-21" fmla="*/ 702644 w 1461337"/>
                <a:gd name="connsiteY3-22" fmla="*/ 1851369 h 1851369"/>
                <a:gd name="connsiteX4-23" fmla="*/ 1461337 w 1461337"/>
                <a:gd name="connsiteY4-24" fmla="*/ 1444346 h 1851369"/>
                <a:gd name="connsiteX5-25" fmla="*/ 1366787 w 1461337"/>
                <a:gd name="connsiteY5-26" fmla="*/ 657836 h 1851369"/>
                <a:gd name="connsiteX6-27" fmla="*/ 721893 w 1461337"/>
                <a:gd name="connsiteY6-28" fmla="*/ 0 h 1851369"/>
                <a:gd name="connsiteX0-29" fmla="*/ 706892 w 1461337"/>
                <a:gd name="connsiteY0-30" fmla="*/ 0 h 1851369"/>
                <a:gd name="connsiteX1-31" fmla="*/ 346509 w 1461337"/>
                <a:gd name="connsiteY1-32" fmla="*/ 821465 h 1851369"/>
                <a:gd name="connsiteX2-33" fmla="*/ 0 w 1461337"/>
                <a:gd name="connsiteY2-34" fmla="*/ 1447107 h 1851369"/>
                <a:gd name="connsiteX3-35" fmla="*/ 702644 w 1461337"/>
                <a:gd name="connsiteY3-36" fmla="*/ 1851369 h 1851369"/>
                <a:gd name="connsiteX4-37" fmla="*/ 1461337 w 1461337"/>
                <a:gd name="connsiteY4-38" fmla="*/ 1444346 h 1851369"/>
                <a:gd name="connsiteX5-39" fmla="*/ 1366787 w 1461337"/>
                <a:gd name="connsiteY5-40" fmla="*/ 657836 h 1851369"/>
                <a:gd name="connsiteX6-41" fmla="*/ 706892 w 1461337"/>
                <a:gd name="connsiteY6-42" fmla="*/ 0 h 1851369"/>
                <a:gd name="connsiteX0-43" fmla="*/ 706892 w 1644308"/>
                <a:gd name="connsiteY0-44" fmla="*/ 0 h 1851369"/>
                <a:gd name="connsiteX1-45" fmla="*/ 346509 w 1644308"/>
                <a:gd name="connsiteY1-46" fmla="*/ 821465 h 1851369"/>
                <a:gd name="connsiteX2-47" fmla="*/ 0 w 1644308"/>
                <a:gd name="connsiteY2-48" fmla="*/ 1447107 h 1851369"/>
                <a:gd name="connsiteX3-49" fmla="*/ 702644 w 1644308"/>
                <a:gd name="connsiteY3-50" fmla="*/ 1851369 h 1851369"/>
                <a:gd name="connsiteX4-51" fmla="*/ 1461337 w 1644308"/>
                <a:gd name="connsiteY4-52" fmla="*/ 1444346 h 1851369"/>
                <a:gd name="connsiteX5-53" fmla="*/ 1644308 w 1644308"/>
                <a:gd name="connsiteY5-54" fmla="*/ 500325 h 1851369"/>
                <a:gd name="connsiteX6-55" fmla="*/ 706892 w 1644308"/>
                <a:gd name="connsiteY6-56" fmla="*/ 0 h 1851369"/>
                <a:gd name="connsiteX0-57" fmla="*/ 930427 w 1867843"/>
                <a:gd name="connsiteY0-58" fmla="*/ 0 h 1851369"/>
                <a:gd name="connsiteX1-59" fmla="*/ 0 w 1867843"/>
                <a:gd name="connsiteY1-60" fmla="*/ 491440 h 1851369"/>
                <a:gd name="connsiteX2-61" fmla="*/ 223535 w 1867843"/>
                <a:gd name="connsiteY2-62" fmla="*/ 1447107 h 1851369"/>
                <a:gd name="connsiteX3-63" fmla="*/ 926179 w 1867843"/>
                <a:gd name="connsiteY3-64" fmla="*/ 1851369 h 1851369"/>
                <a:gd name="connsiteX4-65" fmla="*/ 1684872 w 1867843"/>
                <a:gd name="connsiteY4-66" fmla="*/ 1444346 h 1851369"/>
                <a:gd name="connsiteX5-67" fmla="*/ 1867843 w 1867843"/>
                <a:gd name="connsiteY5-68" fmla="*/ 500325 h 1851369"/>
                <a:gd name="connsiteX6-69" fmla="*/ 930427 w 1867843"/>
                <a:gd name="connsiteY6-70" fmla="*/ 0 h 1851369"/>
                <a:gd name="connsiteX0-71" fmla="*/ 930427 w 1867843"/>
                <a:gd name="connsiteY0-72" fmla="*/ 0 h 1851369"/>
                <a:gd name="connsiteX1-73" fmla="*/ 0 w 1867843"/>
                <a:gd name="connsiteY1-74" fmla="*/ 491440 h 1851369"/>
                <a:gd name="connsiteX2-75" fmla="*/ 553560 w 1867843"/>
                <a:gd name="connsiteY2-76" fmla="*/ 1252093 h 1851369"/>
                <a:gd name="connsiteX3-77" fmla="*/ 926179 w 1867843"/>
                <a:gd name="connsiteY3-78" fmla="*/ 1851369 h 1851369"/>
                <a:gd name="connsiteX4-79" fmla="*/ 1684872 w 1867843"/>
                <a:gd name="connsiteY4-80" fmla="*/ 1444346 h 1851369"/>
                <a:gd name="connsiteX5-81" fmla="*/ 1867843 w 1867843"/>
                <a:gd name="connsiteY5-82" fmla="*/ 500325 h 1851369"/>
                <a:gd name="connsiteX6-83" fmla="*/ 930427 w 1867843"/>
                <a:gd name="connsiteY6-84" fmla="*/ 0 h 1851369"/>
                <a:gd name="connsiteX0-85" fmla="*/ 930427 w 1867843"/>
                <a:gd name="connsiteY0-86" fmla="*/ 0 h 1444346"/>
                <a:gd name="connsiteX1-87" fmla="*/ 0 w 1867843"/>
                <a:gd name="connsiteY1-88" fmla="*/ 491440 h 1444346"/>
                <a:gd name="connsiteX2-89" fmla="*/ 553560 w 1867843"/>
                <a:gd name="connsiteY2-90" fmla="*/ 1252093 h 1444346"/>
                <a:gd name="connsiteX3-91" fmla="*/ 926179 w 1867843"/>
                <a:gd name="connsiteY3-92" fmla="*/ 1408835 h 1444346"/>
                <a:gd name="connsiteX4-93" fmla="*/ 1684872 w 1867843"/>
                <a:gd name="connsiteY4-94" fmla="*/ 1444346 h 1444346"/>
                <a:gd name="connsiteX5-95" fmla="*/ 1867843 w 1867843"/>
                <a:gd name="connsiteY5-96" fmla="*/ 500325 h 1444346"/>
                <a:gd name="connsiteX6-97" fmla="*/ 930427 w 1867843"/>
                <a:gd name="connsiteY6-98" fmla="*/ 0 h 1444346"/>
                <a:gd name="connsiteX0-99" fmla="*/ 930427 w 1867843"/>
                <a:gd name="connsiteY0-100" fmla="*/ 0 h 1408835"/>
                <a:gd name="connsiteX1-101" fmla="*/ 0 w 1867843"/>
                <a:gd name="connsiteY1-102" fmla="*/ 491440 h 1408835"/>
                <a:gd name="connsiteX2-103" fmla="*/ 553560 w 1867843"/>
                <a:gd name="connsiteY2-104" fmla="*/ 1252093 h 1408835"/>
                <a:gd name="connsiteX3-105" fmla="*/ 926179 w 1867843"/>
                <a:gd name="connsiteY3-106" fmla="*/ 1408835 h 1408835"/>
                <a:gd name="connsiteX4-107" fmla="*/ 1437353 w 1867843"/>
                <a:gd name="connsiteY4-108" fmla="*/ 1309336 h 1408835"/>
                <a:gd name="connsiteX5-109" fmla="*/ 1867843 w 1867843"/>
                <a:gd name="connsiteY5-110" fmla="*/ 500325 h 1408835"/>
                <a:gd name="connsiteX6-111" fmla="*/ 930427 w 1867843"/>
                <a:gd name="connsiteY6-112" fmla="*/ 0 h 1408835"/>
                <a:gd name="connsiteX0-113" fmla="*/ 930427 w 1437353"/>
                <a:gd name="connsiteY0-114" fmla="*/ 0 h 1408835"/>
                <a:gd name="connsiteX1-115" fmla="*/ 0 w 1437353"/>
                <a:gd name="connsiteY1-116" fmla="*/ 491440 h 1408835"/>
                <a:gd name="connsiteX2-117" fmla="*/ 553560 w 1437353"/>
                <a:gd name="connsiteY2-118" fmla="*/ 1252093 h 1408835"/>
                <a:gd name="connsiteX3-119" fmla="*/ 926179 w 1437353"/>
                <a:gd name="connsiteY3-120" fmla="*/ 1408835 h 1408835"/>
                <a:gd name="connsiteX4-121" fmla="*/ 1437353 w 1437353"/>
                <a:gd name="connsiteY4-122" fmla="*/ 1309336 h 1408835"/>
                <a:gd name="connsiteX5-123" fmla="*/ 1147789 w 1437353"/>
                <a:gd name="connsiteY5-124" fmla="*/ 905356 h 1408835"/>
                <a:gd name="connsiteX6-125" fmla="*/ 930427 w 1437353"/>
                <a:gd name="connsiteY6-126" fmla="*/ 0 h 1408835"/>
                <a:gd name="connsiteX0-127" fmla="*/ 840421 w 1347347"/>
                <a:gd name="connsiteY0-128" fmla="*/ 0 h 1408835"/>
                <a:gd name="connsiteX1-129" fmla="*/ 0 w 1347347"/>
                <a:gd name="connsiteY1-130" fmla="*/ 558945 h 1408835"/>
                <a:gd name="connsiteX2-131" fmla="*/ 463554 w 1347347"/>
                <a:gd name="connsiteY2-132" fmla="*/ 1252093 h 1408835"/>
                <a:gd name="connsiteX3-133" fmla="*/ 836173 w 1347347"/>
                <a:gd name="connsiteY3-134" fmla="*/ 1408835 h 1408835"/>
                <a:gd name="connsiteX4-135" fmla="*/ 1347347 w 1347347"/>
                <a:gd name="connsiteY4-136" fmla="*/ 1309336 h 1408835"/>
                <a:gd name="connsiteX5-137" fmla="*/ 1057783 w 1347347"/>
                <a:gd name="connsiteY5-138" fmla="*/ 905356 h 1408835"/>
                <a:gd name="connsiteX6-139" fmla="*/ 840421 w 1347347"/>
                <a:gd name="connsiteY6-140" fmla="*/ 0 h 1408835"/>
                <a:gd name="connsiteX0-141" fmla="*/ 855423 w 1347347"/>
                <a:gd name="connsiteY0-142" fmla="*/ 0 h 1408835"/>
                <a:gd name="connsiteX1-143" fmla="*/ 0 w 1347347"/>
                <a:gd name="connsiteY1-144" fmla="*/ 558945 h 1408835"/>
                <a:gd name="connsiteX2-145" fmla="*/ 463554 w 1347347"/>
                <a:gd name="connsiteY2-146" fmla="*/ 1252093 h 1408835"/>
                <a:gd name="connsiteX3-147" fmla="*/ 836173 w 1347347"/>
                <a:gd name="connsiteY3-148" fmla="*/ 1408835 h 1408835"/>
                <a:gd name="connsiteX4-149" fmla="*/ 1347347 w 1347347"/>
                <a:gd name="connsiteY4-150" fmla="*/ 1309336 h 1408835"/>
                <a:gd name="connsiteX5-151" fmla="*/ 1057783 w 1347347"/>
                <a:gd name="connsiteY5-152" fmla="*/ 905356 h 1408835"/>
                <a:gd name="connsiteX6-153" fmla="*/ 855423 w 1347347"/>
                <a:gd name="connsiteY6-154" fmla="*/ 0 h 1408835"/>
                <a:gd name="connsiteX0-155" fmla="*/ 855423 w 1347347"/>
                <a:gd name="connsiteY0-156" fmla="*/ 0 h 1408835"/>
                <a:gd name="connsiteX1-157" fmla="*/ 0 w 1347347"/>
                <a:gd name="connsiteY1-158" fmla="*/ 558945 h 1408835"/>
                <a:gd name="connsiteX2-159" fmla="*/ 628567 w 1347347"/>
                <a:gd name="connsiteY2-160" fmla="*/ 1139585 h 1408835"/>
                <a:gd name="connsiteX3-161" fmla="*/ 836173 w 1347347"/>
                <a:gd name="connsiteY3-162" fmla="*/ 1408835 h 1408835"/>
                <a:gd name="connsiteX4-163" fmla="*/ 1347347 w 1347347"/>
                <a:gd name="connsiteY4-164" fmla="*/ 1309336 h 1408835"/>
                <a:gd name="connsiteX5-165" fmla="*/ 1057783 w 1347347"/>
                <a:gd name="connsiteY5-166" fmla="*/ 905356 h 1408835"/>
                <a:gd name="connsiteX6-167" fmla="*/ 855423 w 1347347"/>
                <a:gd name="connsiteY6-168" fmla="*/ 0 h 1408835"/>
                <a:gd name="connsiteX0-169" fmla="*/ 855423 w 1347347"/>
                <a:gd name="connsiteY0-170" fmla="*/ 0 h 1333829"/>
                <a:gd name="connsiteX1-171" fmla="*/ 0 w 1347347"/>
                <a:gd name="connsiteY1-172" fmla="*/ 558945 h 1333829"/>
                <a:gd name="connsiteX2-173" fmla="*/ 628567 w 1347347"/>
                <a:gd name="connsiteY2-174" fmla="*/ 1139585 h 1333829"/>
                <a:gd name="connsiteX3-175" fmla="*/ 821172 w 1347347"/>
                <a:gd name="connsiteY3-176" fmla="*/ 1333829 h 1333829"/>
                <a:gd name="connsiteX4-177" fmla="*/ 1347347 w 1347347"/>
                <a:gd name="connsiteY4-178" fmla="*/ 1309336 h 1333829"/>
                <a:gd name="connsiteX5-179" fmla="*/ 1057783 w 1347347"/>
                <a:gd name="connsiteY5-180" fmla="*/ 905356 h 1333829"/>
                <a:gd name="connsiteX6-181" fmla="*/ 855423 w 1347347"/>
                <a:gd name="connsiteY6-182" fmla="*/ 0 h 1333829"/>
                <a:gd name="connsiteX0-183" fmla="*/ 855423 w 1347347"/>
                <a:gd name="connsiteY0-184" fmla="*/ 0 h 1357195"/>
                <a:gd name="connsiteX1-185" fmla="*/ 0 w 1347347"/>
                <a:gd name="connsiteY1-186" fmla="*/ 558945 h 1357195"/>
                <a:gd name="connsiteX2-187" fmla="*/ 628567 w 1347347"/>
                <a:gd name="connsiteY2-188" fmla="*/ 1139585 h 1357195"/>
                <a:gd name="connsiteX3-189" fmla="*/ 821172 w 1347347"/>
                <a:gd name="connsiteY3-190" fmla="*/ 1357195 h 1357195"/>
                <a:gd name="connsiteX4-191" fmla="*/ 1347347 w 1347347"/>
                <a:gd name="connsiteY4-192" fmla="*/ 1309336 h 1357195"/>
                <a:gd name="connsiteX5-193" fmla="*/ 1057783 w 1347347"/>
                <a:gd name="connsiteY5-194" fmla="*/ 905356 h 1357195"/>
                <a:gd name="connsiteX6-195" fmla="*/ 855423 w 1347347"/>
                <a:gd name="connsiteY6-196" fmla="*/ 0 h 1357195"/>
                <a:gd name="connsiteX0-197" fmla="*/ 855423 w 1057783"/>
                <a:gd name="connsiteY0-198" fmla="*/ 0 h 1357195"/>
                <a:gd name="connsiteX1-199" fmla="*/ 0 w 1057783"/>
                <a:gd name="connsiteY1-200" fmla="*/ 558945 h 1357195"/>
                <a:gd name="connsiteX2-201" fmla="*/ 628567 w 1057783"/>
                <a:gd name="connsiteY2-202" fmla="*/ 1139585 h 1357195"/>
                <a:gd name="connsiteX3-203" fmla="*/ 821172 w 1057783"/>
                <a:gd name="connsiteY3-204" fmla="*/ 1357195 h 1357195"/>
                <a:gd name="connsiteX4-205" fmla="*/ 1020207 w 1057783"/>
                <a:gd name="connsiteY4-206" fmla="*/ 1128240 h 1357195"/>
                <a:gd name="connsiteX5-207" fmla="*/ 1057783 w 1057783"/>
                <a:gd name="connsiteY5-208" fmla="*/ 905356 h 1357195"/>
                <a:gd name="connsiteX6-209" fmla="*/ 855423 w 1057783"/>
                <a:gd name="connsiteY6-210" fmla="*/ 0 h 1357195"/>
                <a:gd name="connsiteX0-211" fmla="*/ 855423 w 1057783"/>
                <a:gd name="connsiteY0-212" fmla="*/ 0 h 1847906"/>
                <a:gd name="connsiteX1-213" fmla="*/ 0 w 1057783"/>
                <a:gd name="connsiteY1-214" fmla="*/ 558945 h 1847906"/>
                <a:gd name="connsiteX2-215" fmla="*/ 628567 w 1057783"/>
                <a:gd name="connsiteY2-216" fmla="*/ 1139585 h 1847906"/>
                <a:gd name="connsiteX3-217" fmla="*/ 832855 w 1057783"/>
                <a:gd name="connsiteY3-218" fmla="*/ 1847906 h 1847906"/>
                <a:gd name="connsiteX4-219" fmla="*/ 1020207 w 1057783"/>
                <a:gd name="connsiteY4-220" fmla="*/ 1128240 h 1847906"/>
                <a:gd name="connsiteX5-221" fmla="*/ 1057783 w 1057783"/>
                <a:gd name="connsiteY5-222" fmla="*/ 905356 h 1847906"/>
                <a:gd name="connsiteX6-223" fmla="*/ 855423 w 1057783"/>
                <a:gd name="connsiteY6-224" fmla="*/ 0 h 1847906"/>
                <a:gd name="connsiteX0-225" fmla="*/ 855423 w 1057783"/>
                <a:gd name="connsiteY0-226" fmla="*/ 0 h 1847906"/>
                <a:gd name="connsiteX1-227" fmla="*/ 0 w 1057783"/>
                <a:gd name="connsiteY1-228" fmla="*/ 558945 h 1847906"/>
                <a:gd name="connsiteX2-229" fmla="*/ 645443 w 1057783"/>
                <a:gd name="connsiteY2-230" fmla="*/ 1164900 h 1847906"/>
                <a:gd name="connsiteX3-231" fmla="*/ 832855 w 1057783"/>
                <a:gd name="connsiteY3-232" fmla="*/ 1847906 h 1847906"/>
                <a:gd name="connsiteX4-233" fmla="*/ 1020207 w 1057783"/>
                <a:gd name="connsiteY4-234" fmla="*/ 1128240 h 1847906"/>
                <a:gd name="connsiteX5-235" fmla="*/ 1057783 w 1057783"/>
                <a:gd name="connsiteY5-236" fmla="*/ 905356 h 1847906"/>
                <a:gd name="connsiteX6-237" fmla="*/ 855423 w 1057783"/>
                <a:gd name="connsiteY6-238" fmla="*/ 0 h 1847906"/>
                <a:gd name="connsiteX0-239" fmla="*/ 729426 w 931786"/>
                <a:gd name="connsiteY0-240" fmla="*/ 0 h 1847906"/>
                <a:gd name="connsiteX1-241" fmla="*/ 0 w 931786"/>
                <a:gd name="connsiteY1-242" fmla="*/ 571544 h 1847906"/>
                <a:gd name="connsiteX2-243" fmla="*/ 519446 w 931786"/>
                <a:gd name="connsiteY2-244" fmla="*/ 1164900 h 1847906"/>
                <a:gd name="connsiteX3-245" fmla="*/ 706858 w 931786"/>
                <a:gd name="connsiteY3-246" fmla="*/ 1847906 h 1847906"/>
                <a:gd name="connsiteX4-247" fmla="*/ 894210 w 931786"/>
                <a:gd name="connsiteY4-248" fmla="*/ 1128240 h 1847906"/>
                <a:gd name="connsiteX5-249" fmla="*/ 931786 w 931786"/>
                <a:gd name="connsiteY5-250" fmla="*/ 905356 h 1847906"/>
                <a:gd name="connsiteX6-251" fmla="*/ 729426 w 931786"/>
                <a:gd name="connsiteY6-252" fmla="*/ 0 h 1847906"/>
                <a:gd name="connsiteX0-253" fmla="*/ 742026 w 944386"/>
                <a:gd name="connsiteY0-254" fmla="*/ 0 h 1847906"/>
                <a:gd name="connsiteX1-255" fmla="*/ 0 w 944386"/>
                <a:gd name="connsiteY1-256" fmla="*/ 621944 h 1847906"/>
                <a:gd name="connsiteX2-257" fmla="*/ 532046 w 944386"/>
                <a:gd name="connsiteY2-258" fmla="*/ 1164900 h 1847906"/>
                <a:gd name="connsiteX3-259" fmla="*/ 719458 w 944386"/>
                <a:gd name="connsiteY3-260" fmla="*/ 1847906 h 1847906"/>
                <a:gd name="connsiteX4-261" fmla="*/ 906810 w 944386"/>
                <a:gd name="connsiteY4-262" fmla="*/ 1128240 h 1847906"/>
                <a:gd name="connsiteX5-263" fmla="*/ 944386 w 944386"/>
                <a:gd name="connsiteY5-264" fmla="*/ 905356 h 1847906"/>
                <a:gd name="connsiteX6-265" fmla="*/ 742026 w 944386"/>
                <a:gd name="connsiteY6-266" fmla="*/ 0 h 1847906"/>
                <a:gd name="connsiteX0-267" fmla="*/ 214376 w 416736"/>
                <a:gd name="connsiteY0-268" fmla="*/ 0 h 1847906"/>
                <a:gd name="connsiteX1-269" fmla="*/ 0 w 416736"/>
                <a:gd name="connsiteY1-270" fmla="*/ 844113 h 1847906"/>
                <a:gd name="connsiteX2-271" fmla="*/ 4396 w 416736"/>
                <a:gd name="connsiteY2-272" fmla="*/ 1164900 h 1847906"/>
                <a:gd name="connsiteX3-273" fmla="*/ 191808 w 416736"/>
                <a:gd name="connsiteY3-274" fmla="*/ 1847906 h 1847906"/>
                <a:gd name="connsiteX4-275" fmla="*/ 379160 w 416736"/>
                <a:gd name="connsiteY4-276" fmla="*/ 1128240 h 1847906"/>
                <a:gd name="connsiteX5-277" fmla="*/ 416736 w 416736"/>
                <a:gd name="connsiteY5-278" fmla="*/ 905356 h 1847906"/>
                <a:gd name="connsiteX6-279" fmla="*/ 214376 w 416736"/>
                <a:gd name="connsiteY6-280" fmla="*/ 0 h 1847906"/>
                <a:gd name="connsiteX0-281" fmla="*/ 214376 w 416736"/>
                <a:gd name="connsiteY0-282" fmla="*/ 0 h 1917334"/>
                <a:gd name="connsiteX1-283" fmla="*/ 0 w 416736"/>
                <a:gd name="connsiteY1-284" fmla="*/ 844113 h 1917334"/>
                <a:gd name="connsiteX2-285" fmla="*/ 4396 w 416736"/>
                <a:gd name="connsiteY2-286" fmla="*/ 1164900 h 1917334"/>
                <a:gd name="connsiteX3-287" fmla="*/ 219579 w 416736"/>
                <a:gd name="connsiteY3-288" fmla="*/ 1917334 h 1917334"/>
                <a:gd name="connsiteX4-289" fmla="*/ 379160 w 416736"/>
                <a:gd name="connsiteY4-290" fmla="*/ 1128240 h 1917334"/>
                <a:gd name="connsiteX5-291" fmla="*/ 416736 w 416736"/>
                <a:gd name="connsiteY5-292" fmla="*/ 905356 h 1917334"/>
                <a:gd name="connsiteX6-293" fmla="*/ 214376 w 416736"/>
                <a:gd name="connsiteY6-294" fmla="*/ 0 h 1917334"/>
                <a:gd name="connsiteX0-295" fmla="*/ 214376 w 1152669"/>
                <a:gd name="connsiteY0-296" fmla="*/ 0 h 1917334"/>
                <a:gd name="connsiteX1-297" fmla="*/ 0 w 1152669"/>
                <a:gd name="connsiteY1-298" fmla="*/ 844113 h 1917334"/>
                <a:gd name="connsiteX2-299" fmla="*/ 4396 w 1152669"/>
                <a:gd name="connsiteY2-300" fmla="*/ 1164900 h 1917334"/>
                <a:gd name="connsiteX3-301" fmla="*/ 219579 w 1152669"/>
                <a:gd name="connsiteY3-302" fmla="*/ 1917334 h 1917334"/>
                <a:gd name="connsiteX4-303" fmla="*/ 379160 w 1152669"/>
                <a:gd name="connsiteY4-304" fmla="*/ 1128240 h 1917334"/>
                <a:gd name="connsiteX5-305" fmla="*/ 1152669 w 1152669"/>
                <a:gd name="connsiteY5-306" fmla="*/ 516560 h 1917334"/>
                <a:gd name="connsiteX6-307" fmla="*/ 214376 w 1152669"/>
                <a:gd name="connsiteY6-308" fmla="*/ 0 h 1917334"/>
                <a:gd name="connsiteX0-309" fmla="*/ 214376 w 1152669"/>
                <a:gd name="connsiteY0-310" fmla="*/ 0 h 1750708"/>
                <a:gd name="connsiteX1-311" fmla="*/ 0 w 1152669"/>
                <a:gd name="connsiteY1-312" fmla="*/ 844113 h 1750708"/>
                <a:gd name="connsiteX2-313" fmla="*/ 4396 w 1152669"/>
                <a:gd name="connsiteY2-314" fmla="*/ 1164900 h 1750708"/>
                <a:gd name="connsiteX3-315" fmla="*/ 191808 w 1152669"/>
                <a:gd name="connsiteY3-316" fmla="*/ 1750708 h 1750708"/>
                <a:gd name="connsiteX4-317" fmla="*/ 379160 w 1152669"/>
                <a:gd name="connsiteY4-318" fmla="*/ 1128240 h 1750708"/>
                <a:gd name="connsiteX5-319" fmla="*/ 1152669 w 1152669"/>
                <a:gd name="connsiteY5-320" fmla="*/ 516560 h 1750708"/>
                <a:gd name="connsiteX6-321" fmla="*/ 214376 w 1152669"/>
                <a:gd name="connsiteY6-322" fmla="*/ 0 h 1750708"/>
                <a:gd name="connsiteX0-323" fmla="*/ 334961 w 1273254"/>
                <a:gd name="connsiteY0-324" fmla="*/ 0 h 1750708"/>
                <a:gd name="connsiteX1-325" fmla="*/ 120585 w 1273254"/>
                <a:gd name="connsiteY1-326" fmla="*/ 844113 h 1750708"/>
                <a:gd name="connsiteX2-327" fmla="*/ 12 w 1273254"/>
                <a:gd name="connsiteY2-328" fmla="*/ 1220442 h 1750708"/>
                <a:gd name="connsiteX3-329" fmla="*/ 312393 w 1273254"/>
                <a:gd name="connsiteY3-330" fmla="*/ 1750708 h 1750708"/>
                <a:gd name="connsiteX4-331" fmla="*/ 499745 w 1273254"/>
                <a:gd name="connsiteY4-332" fmla="*/ 1128240 h 1750708"/>
                <a:gd name="connsiteX5-333" fmla="*/ 1273254 w 1273254"/>
                <a:gd name="connsiteY5-334" fmla="*/ 516560 h 1750708"/>
                <a:gd name="connsiteX6-335" fmla="*/ 334961 w 1273254"/>
                <a:gd name="connsiteY6-336" fmla="*/ 0 h 1750708"/>
                <a:gd name="connsiteX0-337" fmla="*/ 334961 w 1273254"/>
                <a:gd name="connsiteY0-338" fmla="*/ 0 h 1653508"/>
                <a:gd name="connsiteX1-339" fmla="*/ 120585 w 1273254"/>
                <a:gd name="connsiteY1-340" fmla="*/ 844113 h 1653508"/>
                <a:gd name="connsiteX2-341" fmla="*/ 12 w 1273254"/>
                <a:gd name="connsiteY2-342" fmla="*/ 1220442 h 1653508"/>
                <a:gd name="connsiteX3-343" fmla="*/ 298509 w 1273254"/>
                <a:gd name="connsiteY3-344" fmla="*/ 1653508 h 1653508"/>
                <a:gd name="connsiteX4-345" fmla="*/ 499745 w 1273254"/>
                <a:gd name="connsiteY4-346" fmla="*/ 1128240 h 1653508"/>
                <a:gd name="connsiteX5-347" fmla="*/ 1273254 w 1273254"/>
                <a:gd name="connsiteY5-348" fmla="*/ 516560 h 1653508"/>
                <a:gd name="connsiteX6-349" fmla="*/ 334961 w 1273254"/>
                <a:gd name="connsiteY6-350" fmla="*/ 0 h 1653508"/>
                <a:gd name="connsiteX0-351" fmla="*/ 334961 w 1273254"/>
                <a:gd name="connsiteY0-352" fmla="*/ 0 h 1661419"/>
                <a:gd name="connsiteX1-353" fmla="*/ 120585 w 1273254"/>
                <a:gd name="connsiteY1-354" fmla="*/ 844113 h 1661419"/>
                <a:gd name="connsiteX2-355" fmla="*/ 12 w 1273254"/>
                <a:gd name="connsiteY2-356" fmla="*/ 1220442 h 1661419"/>
                <a:gd name="connsiteX3-357" fmla="*/ 314332 w 1273254"/>
                <a:gd name="connsiteY3-358" fmla="*/ 1661419 h 1661419"/>
                <a:gd name="connsiteX4-359" fmla="*/ 499745 w 1273254"/>
                <a:gd name="connsiteY4-360" fmla="*/ 1128240 h 1661419"/>
                <a:gd name="connsiteX5-361" fmla="*/ 1273254 w 1273254"/>
                <a:gd name="connsiteY5-362" fmla="*/ 516560 h 1661419"/>
                <a:gd name="connsiteX6-363" fmla="*/ 334961 w 1273254"/>
                <a:gd name="connsiteY6-364" fmla="*/ 0 h 1661419"/>
                <a:gd name="connsiteX0-365" fmla="*/ 334970 w 1273263"/>
                <a:gd name="connsiteY0-366" fmla="*/ 0 h 1661419"/>
                <a:gd name="connsiteX1-367" fmla="*/ 70810 w 1273263"/>
                <a:gd name="connsiteY1-368" fmla="*/ 888366 h 1661419"/>
                <a:gd name="connsiteX2-369" fmla="*/ 21 w 1273263"/>
                <a:gd name="connsiteY2-370" fmla="*/ 1220442 h 1661419"/>
                <a:gd name="connsiteX3-371" fmla="*/ 314341 w 1273263"/>
                <a:gd name="connsiteY3-372" fmla="*/ 1661419 h 1661419"/>
                <a:gd name="connsiteX4-373" fmla="*/ 499754 w 1273263"/>
                <a:gd name="connsiteY4-374" fmla="*/ 1128240 h 1661419"/>
                <a:gd name="connsiteX5-375" fmla="*/ 1273263 w 1273263"/>
                <a:gd name="connsiteY5-376" fmla="*/ 516560 h 1661419"/>
                <a:gd name="connsiteX6-377" fmla="*/ 334970 w 1273263"/>
                <a:gd name="connsiteY6-378" fmla="*/ 0 h 1661419"/>
                <a:gd name="connsiteX0-379" fmla="*/ 307327 w 1245620"/>
                <a:gd name="connsiteY0-380" fmla="*/ 0 h 1661419"/>
                <a:gd name="connsiteX1-381" fmla="*/ 43167 w 1245620"/>
                <a:gd name="connsiteY1-382" fmla="*/ 888366 h 1661419"/>
                <a:gd name="connsiteX2-383" fmla="*/ 35 w 1245620"/>
                <a:gd name="connsiteY2-384" fmla="*/ 1214911 h 1661419"/>
                <a:gd name="connsiteX3-385" fmla="*/ 286698 w 1245620"/>
                <a:gd name="connsiteY3-386" fmla="*/ 1661419 h 1661419"/>
                <a:gd name="connsiteX4-387" fmla="*/ 472111 w 1245620"/>
                <a:gd name="connsiteY4-388" fmla="*/ 1128240 h 1661419"/>
                <a:gd name="connsiteX5-389" fmla="*/ 1245620 w 1245620"/>
                <a:gd name="connsiteY5-390" fmla="*/ 516560 h 1661419"/>
                <a:gd name="connsiteX6-391" fmla="*/ 307327 w 1245620"/>
                <a:gd name="connsiteY6-392" fmla="*/ 0 h 1661419"/>
                <a:gd name="connsiteX0" fmla="*/ 348363 w 1286656"/>
                <a:gd name="connsiteY0" fmla="*/ 0 h 1661419"/>
                <a:gd name="connsiteX1" fmla="*/ 84203 w 1286656"/>
                <a:gd name="connsiteY1" fmla="*/ 888366 h 1661419"/>
                <a:gd name="connsiteX2" fmla="*/ 18 w 1286656"/>
                <a:gd name="connsiteY2" fmla="*/ 1195636 h 1661419"/>
                <a:gd name="connsiteX3" fmla="*/ 327734 w 1286656"/>
                <a:gd name="connsiteY3" fmla="*/ 1661419 h 1661419"/>
                <a:gd name="connsiteX4" fmla="*/ 513147 w 1286656"/>
                <a:gd name="connsiteY4" fmla="*/ 1128240 h 1661419"/>
                <a:gd name="connsiteX5" fmla="*/ 1286656 w 1286656"/>
                <a:gd name="connsiteY5" fmla="*/ 516560 h 1661419"/>
                <a:gd name="connsiteX6" fmla="*/ 348363 w 1286656"/>
                <a:gd name="connsiteY6" fmla="*/ 0 h 1661419"/>
                <a:gd name="connsiteX0" fmla="*/ 348363 w 681451"/>
                <a:gd name="connsiteY0" fmla="*/ 0 h 1661419"/>
                <a:gd name="connsiteX1" fmla="*/ 84203 w 681451"/>
                <a:gd name="connsiteY1" fmla="*/ 888366 h 1661419"/>
                <a:gd name="connsiteX2" fmla="*/ 18 w 681451"/>
                <a:gd name="connsiteY2" fmla="*/ 1195636 h 1661419"/>
                <a:gd name="connsiteX3" fmla="*/ 327734 w 681451"/>
                <a:gd name="connsiteY3" fmla="*/ 1661419 h 1661419"/>
                <a:gd name="connsiteX4" fmla="*/ 513147 w 681451"/>
                <a:gd name="connsiteY4" fmla="*/ 1128240 h 1661419"/>
                <a:gd name="connsiteX5" fmla="*/ 681451 w 681451"/>
                <a:gd name="connsiteY5" fmla="*/ 987113 h 1661419"/>
                <a:gd name="connsiteX6" fmla="*/ 348363 w 681451"/>
                <a:gd name="connsiteY6" fmla="*/ 0 h 1661419"/>
                <a:gd name="connsiteX0" fmla="*/ 348363 w 663432"/>
                <a:gd name="connsiteY0" fmla="*/ 0 h 1661419"/>
                <a:gd name="connsiteX1" fmla="*/ 84203 w 663432"/>
                <a:gd name="connsiteY1" fmla="*/ 888366 h 1661419"/>
                <a:gd name="connsiteX2" fmla="*/ 18 w 663432"/>
                <a:gd name="connsiteY2" fmla="*/ 1195636 h 1661419"/>
                <a:gd name="connsiteX3" fmla="*/ 327734 w 663432"/>
                <a:gd name="connsiteY3" fmla="*/ 1661419 h 1661419"/>
                <a:gd name="connsiteX4" fmla="*/ 513147 w 663432"/>
                <a:gd name="connsiteY4" fmla="*/ 1128240 h 1661419"/>
                <a:gd name="connsiteX5" fmla="*/ 663431 w 663432"/>
                <a:gd name="connsiteY5" fmla="*/ 849673 h 1661419"/>
                <a:gd name="connsiteX6" fmla="*/ 348363 w 663432"/>
                <a:gd name="connsiteY6" fmla="*/ 0 h 1661419"/>
                <a:gd name="connsiteX0" fmla="*/ 348363 w 663431"/>
                <a:gd name="connsiteY0" fmla="*/ 0 h 1661419"/>
                <a:gd name="connsiteX1" fmla="*/ 84203 w 663431"/>
                <a:gd name="connsiteY1" fmla="*/ 888366 h 1661419"/>
                <a:gd name="connsiteX2" fmla="*/ 18 w 663431"/>
                <a:gd name="connsiteY2" fmla="*/ 1195636 h 1661419"/>
                <a:gd name="connsiteX3" fmla="*/ 327734 w 663431"/>
                <a:gd name="connsiteY3" fmla="*/ 1661419 h 1661419"/>
                <a:gd name="connsiteX4" fmla="*/ 574104 w 663431"/>
                <a:gd name="connsiteY4" fmla="*/ 1088885 h 1661419"/>
                <a:gd name="connsiteX5" fmla="*/ 663431 w 663431"/>
                <a:gd name="connsiteY5" fmla="*/ 849673 h 1661419"/>
                <a:gd name="connsiteX6" fmla="*/ 348363 w 663431"/>
                <a:gd name="connsiteY6" fmla="*/ 0 h 1661419"/>
                <a:gd name="connsiteX0" fmla="*/ 348363 w 699221"/>
                <a:gd name="connsiteY0" fmla="*/ 0 h 1661419"/>
                <a:gd name="connsiteX1" fmla="*/ 84203 w 699221"/>
                <a:gd name="connsiteY1" fmla="*/ 888366 h 1661419"/>
                <a:gd name="connsiteX2" fmla="*/ 18 w 699221"/>
                <a:gd name="connsiteY2" fmla="*/ 1195636 h 1661419"/>
                <a:gd name="connsiteX3" fmla="*/ 327734 w 699221"/>
                <a:gd name="connsiteY3" fmla="*/ 1661419 h 1661419"/>
                <a:gd name="connsiteX4" fmla="*/ 574104 w 699221"/>
                <a:gd name="connsiteY4" fmla="*/ 1088885 h 1661419"/>
                <a:gd name="connsiteX5" fmla="*/ 699221 w 699221"/>
                <a:gd name="connsiteY5" fmla="*/ 808960 h 1661419"/>
                <a:gd name="connsiteX6" fmla="*/ 348363 w 699221"/>
                <a:gd name="connsiteY6" fmla="*/ 0 h 1661419"/>
                <a:gd name="connsiteX0" fmla="*/ 348362 w 699220"/>
                <a:gd name="connsiteY0" fmla="*/ 0 h 1661419"/>
                <a:gd name="connsiteX1" fmla="*/ 91350 w 699220"/>
                <a:gd name="connsiteY1" fmla="*/ 752283 h 1661419"/>
                <a:gd name="connsiteX2" fmla="*/ 17 w 699220"/>
                <a:gd name="connsiteY2" fmla="*/ 1195636 h 1661419"/>
                <a:gd name="connsiteX3" fmla="*/ 327733 w 699220"/>
                <a:gd name="connsiteY3" fmla="*/ 1661419 h 1661419"/>
                <a:gd name="connsiteX4" fmla="*/ 574103 w 699220"/>
                <a:gd name="connsiteY4" fmla="*/ 1088885 h 1661419"/>
                <a:gd name="connsiteX5" fmla="*/ 699220 w 699220"/>
                <a:gd name="connsiteY5" fmla="*/ 808960 h 1661419"/>
                <a:gd name="connsiteX6" fmla="*/ 348362 w 699220"/>
                <a:gd name="connsiteY6" fmla="*/ 0 h 1661419"/>
                <a:gd name="connsiteX0" fmla="*/ 348370 w 699228"/>
                <a:gd name="connsiteY0" fmla="*/ 0 h 1661419"/>
                <a:gd name="connsiteX1" fmla="*/ 57356 w 699228"/>
                <a:gd name="connsiteY1" fmla="*/ 758976 h 1661419"/>
                <a:gd name="connsiteX2" fmla="*/ 25 w 699228"/>
                <a:gd name="connsiteY2" fmla="*/ 1195636 h 1661419"/>
                <a:gd name="connsiteX3" fmla="*/ 327741 w 699228"/>
                <a:gd name="connsiteY3" fmla="*/ 1661419 h 1661419"/>
                <a:gd name="connsiteX4" fmla="*/ 574111 w 699228"/>
                <a:gd name="connsiteY4" fmla="*/ 1088885 h 1661419"/>
                <a:gd name="connsiteX5" fmla="*/ 699228 w 699228"/>
                <a:gd name="connsiteY5" fmla="*/ 808960 h 1661419"/>
                <a:gd name="connsiteX6" fmla="*/ 348370 w 699228"/>
                <a:gd name="connsiteY6" fmla="*/ 0 h 1661419"/>
                <a:gd name="connsiteX0" fmla="*/ 348371 w 699229"/>
                <a:gd name="connsiteY0" fmla="*/ 0 h 1542804"/>
                <a:gd name="connsiteX1" fmla="*/ 57357 w 699229"/>
                <a:gd name="connsiteY1" fmla="*/ 758976 h 1542804"/>
                <a:gd name="connsiteX2" fmla="*/ 26 w 699229"/>
                <a:gd name="connsiteY2" fmla="*/ 1195636 h 1542804"/>
                <a:gd name="connsiteX3" fmla="*/ 342386 w 699229"/>
                <a:gd name="connsiteY3" fmla="*/ 1542803 h 1542804"/>
                <a:gd name="connsiteX4" fmla="*/ 574112 w 699229"/>
                <a:gd name="connsiteY4" fmla="*/ 1088885 h 1542804"/>
                <a:gd name="connsiteX5" fmla="*/ 699229 w 699229"/>
                <a:gd name="connsiteY5" fmla="*/ 808960 h 1542804"/>
                <a:gd name="connsiteX6" fmla="*/ 348371 w 699229"/>
                <a:gd name="connsiteY6" fmla="*/ 0 h 1542804"/>
                <a:gd name="connsiteX0" fmla="*/ 425659 w 699229"/>
                <a:gd name="connsiteY0" fmla="*/ 1 h 1572747"/>
                <a:gd name="connsiteX1" fmla="*/ 57357 w 699229"/>
                <a:gd name="connsiteY1" fmla="*/ 788921 h 1572747"/>
                <a:gd name="connsiteX2" fmla="*/ 26 w 699229"/>
                <a:gd name="connsiteY2" fmla="*/ 1225581 h 1572747"/>
                <a:gd name="connsiteX3" fmla="*/ 342386 w 699229"/>
                <a:gd name="connsiteY3" fmla="*/ 1572748 h 1572747"/>
                <a:gd name="connsiteX4" fmla="*/ 574112 w 699229"/>
                <a:gd name="connsiteY4" fmla="*/ 1118830 h 1572747"/>
                <a:gd name="connsiteX5" fmla="*/ 699229 w 699229"/>
                <a:gd name="connsiteY5" fmla="*/ 838905 h 1572747"/>
                <a:gd name="connsiteX6" fmla="*/ 425659 w 699229"/>
                <a:gd name="connsiteY6" fmla="*/ 1 h 1572747"/>
                <a:gd name="connsiteX0" fmla="*/ 435388 w 699229"/>
                <a:gd name="connsiteY0" fmla="*/ 0 h 1597811"/>
                <a:gd name="connsiteX1" fmla="*/ 57357 w 699229"/>
                <a:gd name="connsiteY1" fmla="*/ 813983 h 1597811"/>
                <a:gd name="connsiteX2" fmla="*/ 26 w 699229"/>
                <a:gd name="connsiteY2" fmla="*/ 1250643 h 1597811"/>
                <a:gd name="connsiteX3" fmla="*/ 342386 w 699229"/>
                <a:gd name="connsiteY3" fmla="*/ 1597810 h 1597811"/>
                <a:gd name="connsiteX4" fmla="*/ 574112 w 699229"/>
                <a:gd name="connsiteY4" fmla="*/ 1143892 h 1597811"/>
                <a:gd name="connsiteX5" fmla="*/ 699229 w 699229"/>
                <a:gd name="connsiteY5" fmla="*/ 863967 h 1597811"/>
                <a:gd name="connsiteX6" fmla="*/ 435388 w 699229"/>
                <a:gd name="connsiteY6" fmla="*/ 0 h 1597811"/>
                <a:gd name="connsiteX0" fmla="*/ 432262 w 699229"/>
                <a:gd name="connsiteY0" fmla="*/ 0 h 1538274"/>
                <a:gd name="connsiteX1" fmla="*/ 57357 w 699229"/>
                <a:gd name="connsiteY1" fmla="*/ 754447 h 1538274"/>
                <a:gd name="connsiteX2" fmla="*/ 26 w 699229"/>
                <a:gd name="connsiteY2" fmla="*/ 1191107 h 1538274"/>
                <a:gd name="connsiteX3" fmla="*/ 342386 w 699229"/>
                <a:gd name="connsiteY3" fmla="*/ 1538274 h 1538274"/>
                <a:gd name="connsiteX4" fmla="*/ 574112 w 699229"/>
                <a:gd name="connsiteY4" fmla="*/ 1084356 h 1538274"/>
                <a:gd name="connsiteX5" fmla="*/ 699229 w 699229"/>
                <a:gd name="connsiteY5" fmla="*/ 804431 h 1538274"/>
                <a:gd name="connsiteX6" fmla="*/ 432262 w 699229"/>
                <a:gd name="connsiteY6" fmla="*/ 0 h 1538274"/>
                <a:gd name="connsiteX0" fmla="*/ 432262 w 1252212"/>
                <a:gd name="connsiteY0" fmla="*/ 0 h 1538274"/>
                <a:gd name="connsiteX1" fmla="*/ 57357 w 1252212"/>
                <a:gd name="connsiteY1" fmla="*/ 754447 h 1538274"/>
                <a:gd name="connsiteX2" fmla="*/ 26 w 1252212"/>
                <a:gd name="connsiteY2" fmla="*/ 1191107 h 1538274"/>
                <a:gd name="connsiteX3" fmla="*/ 342386 w 1252212"/>
                <a:gd name="connsiteY3" fmla="*/ 1538274 h 1538274"/>
                <a:gd name="connsiteX4" fmla="*/ 574112 w 1252212"/>
                <a:gd name="connsiteY4" fmla="*/ 1084356 h 1538274"/>
                <a:gd name="connsiteX5" fmla="*/ 1252212 w 1252212"/>
                <a:gd name="connsiteY5" fmla="*/ 527232 h 1538274"/>
                <a:gd name="connsiteX6" fmla="*/ 432262 w 1252212"/>
                <a:gd name="connsiteY6" fmla="*/ 0 h 1538274"/>
                <a:gd name="connsiteX0" fmla="*/ 424268 w 1252212"/>
                <a:gd name="connsiteY0" fmla="*/ -1 h 1386078"/>
                <a:gd name="connsiteX1" fmla="*/ 57357 w 1252212"/>
                <a:gd name="connsiteY1" fmla="*/ 602251 h 1386078"/>
                <a:gd name="connsiteX2" fmla="*/ 26 w 1252212"/>
                <a:gd name="connsiteY2" fmla="*/ 1038911 h 1386078"/>
                <a:gd name="connsiteX3" fmla="*/ 342386 w 1252212"/>
                <a:gd name="connsiteY3" fmla="*/ 1386078 h 1386078"/>
                <a:gd name="connsiteX4" fmla="*/ 574112 w 1252212"/>
                <a:gd name="connsiteY4" fmla="*/ 932160 h 1386078"/>
                <a:gd name="connsiteX5" fmla="*/ 1252212 w 1252212"/>
                <a:gd name="connsiteY5" fmla="*/ 375036 h 1386078"/>
                <a:gd name="connsiteX6" fmla="*/ 424268 w 1252212"/>
                <a:gd name="connsiteY6" fmla="*/ -1 h 1386078"/>
                <a:gd name="connsiteX0" fmla="*/ 414365 w 1252212"/>
                <a:gd name="connsiteY0" fmla="*/ 0 h 1340826"/>
                <a:gd name="connsiteX1" fmla="*/ 57357 w 1252212"/>
                <a:gd name="connsiteY1" fmla="*/ 556999 h 1340826"/>
                <a:gd name="connsiteX2" fmla="*/ 26 w 1252212"/>
                <a:gd name="connsiteY2" fmla="*/ 993659 h 1340826"/>
                <a:gd name="connsiteX3" fmla="*/ 342386 w 1252212"/>
                <a:gd name="connsiteY3" fmla="*/ 1340826 h 1340826"/>
                <a:gd name="connsiteX4" fmla="*/ 574112 w 1252212"/>
                <a:gd name="connsiteY4" fmla="*/ 886908 h 1340826"/>
                <a:gd name="connsiteX5" fmla="*/ 1252212 w 1252212"/>
                <a:gd name="connsiteY5" fmla="*/ 329784 h 1340826"/>
                <a:gd name="connsiteX6" fmla="*/ 414365 w 1252212"/>
                <a:gd name="connsiteY6" fmla="*/ 0 h 1340826"/>
                <a:gd name="connsiteX0" fmla="*/ 424668 w 1252212"/>
                <a:gd name="connsiteY0" fmla="*/ 0 h 1393691"/>
                <a:gd name="connsiteX1" fmla="*/ 57357 w 1252212"/>
                <a:gd name="connsiteY1" fmla="*/ 609864 h 1393691"/>
                <a:gd name="connsiteX2" fmla="*/ 26 w 1252212"/>
                <a:gd name="connsiteY2" fmla="*/ 1046524 h 1393691"/>
                <a:gd name="connsiteX3" fmla="*/ 342386 w 1252212"/>
                <a:gd name="connsiteY3" fmla="*/ 1393691 h 1393691"/>
                <a:gd name="connsiteX4" fmla="*/ 574112 w 1252212"/>
                <a:gd name="connsiteY4" fmla="*/ 939773 h 1393691"/>
                <a:gd name="connsiteX5" fmla="*/ 1252212 w 1252212"/>
                <a:gd name="connsiteY5" fmla="*/ 382649 h 1393691"/>
                <a:gd name="connsiteX6" fmla="*/ 424668 w 1252212"/>
                <a:gd name="connsiteY6" fmla="*/ 0 h 139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52212" h="1393691">
                  <a:moveTo>
                    <a:pt x="424668" y="0"/>
                  </a:moveTo>
                  <a:lnTo>
                    <a:pt x="57357" y="609864"/>
                  </a:lnTo>
                  <a:cubicBezTo>
                    <a:pt x="58822" y="716793"/>
                    <a:pt x="-1439" y="939595"/>
                    <a:pt x="26" y="1046524"/>
                  </a:cubicBezTo>
                  <a:lnTo>
                    <a:pt x="342386" y="1393691"/>
                  </a:lnTo>
                  <a:lnTo>
                    <a:pt x="574112" y="939773"/>
                  </a:lnTo>
                  <a:lnTo>
                    <a:pt x="1252212" y="382649"/>
                  </a:lnTo>
                  <a:lnTo>
                    <a:pt x="424668" y="0"/>
                  </a:lnTo>
                  <a:close/>
                </a:path>
              </a:pathLst>
            </a:custGeom>
            <a:solidFill>
              <a:srgbClr val="FFD1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900" dirty="0">
                <a:latin typeface="+mn-ea"/>
              </a:endParaRPr>
            </a:p>
          </p:txBody>
        </p:sp>
        <p:cxnSp>
          <p:nvCxnSpPr>
            <p:cNvPr id="94" name="米菲PPT13"/>
            <p:cNvCxnSpPr>
              <a:stCxn id="115" idx="4"/>
            </p:cNvCxnSpPr>
            <p:nvPr/>
          </p:nvCxnSpPr>
          <p:spPr>
            <a:xfrm>
              <a:off x="4894927" y="2177989"/>
              <a:ext cx="11039" cy="1147645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米菲PPT14"/>
            <p:cNvCxnSpPr/>
            <p:nvPr/>
          </p:nvCxnSpPr>
          <p:spPr>
            <a:xfrm flipV="1">
              <a:off x="5976666" y="1534728"/>
              <a:ext cx="0" cy="121584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米菲PPT20"/>
            <p:cNvCxnSpPr/>
            <p:nvPr/>
          </p:nvCxnSpPr>
          <p:spPr>
            <a:xfrm flipH="1" flipV="1">
              <a:off x="3831128" y="1511504"/>
              <a:ext cx="1079831" cy="618061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米菲PPT21"/>
            <p:cNvCxnSpPr/>
            <p:nvPr/>
          </p:nvCxnSpPr>
          <p:spPr>
            <a:xfrm>
              <a:off x="4905206" y="895174"/>
              <a:ext cx="1079831" cy="618061"/>
            </a:xfrm>
            <a:prstGeom prst="line">
              <a:avLst/>
            </a:prstGeom>
            <a:ln w="158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米菲PPT22"/>
            <p:cNvCxnSpPr/>
            <p:nvPr/>
          </p:nvCxnSpPr>
          <p:spPr>
            <a:xfrm flipV="1">
              <a:off x="3825375" y="890916"/>
              <a:ext cx="1079831" cy="618061"/>
            </a:xfrm>
            <a:prstGeom prst="line">
              <a:avLst/>
            </a:prstGeom>
            <a:ln w="158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米菲PPT23"/>
            <p:cNvCxnSpPr/>
            <p:nvPr/>
          </p:nvCxnSpPr>
          <p:spPr>
            <a:xfrm flipV="1">
              <a:off x="4893784" y="1516846"/>
              <a:ext cx="1079831" cy="618061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49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米菲PPT24"/>
            <p:cNvSpPr/>
            <p:nvPr/>
          </p:nvSpPr>
          <p:spPr>
            <a:xfrm>
              <a:off x="4867948" y="856306"/>
              <a:ext cx="89626" cy="89627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101" name="米菲PPT25"/>
            <p:cNvSpPr/>
            <p:nvPr/>
          </p:nvSpPr>
          <p:spPr>
            <a:xfrm>
              <a:off x="5940222" y="1475380"/>
              <a:ext cx="89626" cy="89627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102" name="米菲PPT26"/>
            <p:cNvSpPr/>
            <p:nvPr/>
          </p:nvSpPr>
          <p:spPr>
            <a:xfrm>
              <a:off x="3795518" y="1475380"/>
              <a:ext cx="89626" cy="89627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103" name="米菲PPT27"/>
            <p:cNvCxnSpPr/>
            <p:nvPr/>
          </p:nvCxnSpPr>
          <p:spPr>
            <a:xfrm flipH="1" flipV="1">
              <a:off x="3831128" y="2736038"/>
              <a:ext cx="1079831" cy="618061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米菲PPT28"/>
            <p:cNvCxnSpPr>
              <a:stCxn id="102" idx="4"/>
              <a:endCxn id="107" idx="4"/>
            </p:cNvCxnSpPr>
            <p:nvPr/>
          </p:nvCxnSpPr>
          <p:spPr>
            <a:xfrm>
              <a:off x="3840331" y="1565006"/>
              <a:ext cx="0" cy="121584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米菲PPT29"/>
            <p:cNvCxnSpPr/>
            <p:nvPr/>
          </p:nvCxnSpPr>
          <p:spPr>
            <a:xfrm flipV="1">
              <a:off x="4880223" y="2736038"/>
              <a:ext cx="1079831" cy="618061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米菲PPT30"/>
            <p:cNvSpPr/>
            <p:nvPr/>
          </p:nvSpPr>
          <p:spPr>
            <a:xfrm>
              <a:off x="5940222" y="2691225"/>
              <a:ext cx="89626" cy="89627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107" name="米菲PPT31"/>
            <p:cNvSpPr/>
            <p:nvPr/>
          </p:nvSpPr>
          <p:spPr>
            <a:xfrm>
              <a:off x="3795518" y="2691225"/>
              <a:ext cx="89626" cy="89627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108" name="米菲PPT44"/>
            <p:cNvSpPr txBox="1"/>
            <p:nvPr/>
          </p:nvSpPr>
          <p:spPr>
            <a:xfrm>
              <a:off x="4349227" y="575174"/>
              <a:ext cx="1106267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流量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09" name="米菲PPT45"/>
            <p:cNvSpPr txBox="1"/>
            <p:nvPr/>
          </p:nvSpPr>
          <p:spPr>
            <a:xfrm>
              <a:off x="3303719" y="923378"/>
              <a:ext cx="654170" cy="549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内容互动</a:t>
              </a:r>
            </a:p>
          </p:txBody>
        </p:sp>
        <p:sp>
          <p:nvSpPr>
            <p:cNvPr id="110" name="米菲PPT46"/>
            <p:cNvSpPr txBox="1"/>
            <p:nvPr/>
          </p:nvSpPr>
          <p:spPr>
            <a:xfrm>
              <a:off x="3278731" y="2587499"/>
              <a:ext cx="654170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供给</a:t>
              </a:r>
            </a:p>
          </p:txBody>
        </p:sp>
        <p:sp>
          <p:nvSpPr>
            <p:cNvPr id="111" name="米菲PPT47"/>
            <p:cNvSpPr txBox="1"/>
            <p:nvPr/>
          </p:nvSpPr>
          <p:spPr>
            <a:xfrm>
              <a:off x="5477253" y="935317"/>
              <a:ext cx="1014094" cy="549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行为资产（导航）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2" name="米菲PPT48"/>
            <p:cNvSpPr txBox="1"/>
            <p:nvPr/>
          </p:nvSpPr>
          <p:spPr>
            <a:xfrm>
              <a:off x="5884874" y="2492465"/>
              <a:ext cx="627321" cy="549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履约服务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3" name="米菲PPT93"/>
            <p:cNvSpPr/>
            <p:nvPr/>
          </p:nvSpPr>
          <p:spPr>
            <a:xfrm>
              <a:off x="4867949" y="3303110"/>
              <a:ext cx="89626" cy="89627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114" name="米菲PPT94"/>
            <p:cNvSpPr txBox="1"/>
            <p:nvPr/>
          </p:nvSpPr>
          <p:spPr>
            <a:xfrm>
              <a:off x="4232968" y="3288604"/>
              <a:ext cx="1338781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accent1"/>
                  </a:solidFill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交易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115" name="米菲PPT25"/>
            <p:cNvSpPr/>
            <p:nvPr/>
          </p:nvSpPr>
          <p:spPr>
            <a:xfrm>
              <a:off x="4850115" y="2088363"/>
              <a:ext cx="89626" cy="89627"/>
            </a:xfrm>
            <a:prstGeom prst="ellipse">
              <a:avLst/>
            </a:prstGeom>
            <a:gradFill flip="none" rotWithShape="1">
              <a:gsLst>
                <a:gs pos="9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9800000" scaled="0"/>
              <a:tileRect/>
            </a:gradFill>
            <a:ln w="22225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ctr">
              <a:noAutofit/>
            </a:bodyPr>
            <a:lstStyle/>
            <a:p>
              <a:pPr algn="ctr" defTabSz="914400"/>
              <a:endParaRPr lang="zh-CN" altLang="en-US" sz="900" dirty="0">
                <a:solidFill>
                  <a:srgbClr val="FFFFFF"/>
                </a:solidFill>
                <a:latin typeface="+mn-ea"/>
                <a:cs typeface="MiSans Medium" panose="00000600000000000000" pitchFamily="2" charset="-122"/>
              </a:endParaRPr>
            </a:p>
          </p:txBody>
        </p:sp>
        <p:cxnSp>
          <p:nvCxnSpPr>
            <p:cNvPr id="116" name="米菲PPT20"/>
            <p:cNvCxnSpPr>
              <a:stCxn id="115" idx="0"/>
              <a:endCxn id="100" idx="4"/>
            </p:cNvCxnSpPr>
            <p:nvPr/>
          </p:nvCxnSpPr>
          <p:spPr>
            <a:xfrm flipV="1">
              <a:off x="4894928" y="945932"/>
              <a:ext cx="17834" cy="114243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米菲PPT27"/>
            <p:cNvCxnSpPr>
              <a:stCxn id="115" idx="3"/>
              <a:endCxn id="107" idx="7"/>
            </p:cNvCxnSpPr>
            <p:nvPr/>
          </p:nvCxnSpPr>
          <p:spPr>
            <a:xfrm flipH="1">
              <a:off x="3872020" y="2164864"/>
              <a:ext cx="991221" cy="539485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米菲PPT29"/>
            <p:cNvCxnSpPr>
              <a:stCxn id="115" idx="6"/>
              <a:endCxn id="106" idx="1"/>
            </p:cNvCxnSpPr>
            <p:nvPr/>
          </p:nvCxnSpPr>
          <p:spPr>
            <a:xfrm>
              <a:off x="4939742" y="2133176"/>
              <a:ext cx="1013607" cy="571173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米菲PPT48"/>
            <p:cNvSpPr txBox="1"/>
            <p:nvPr/>
          </p:nvSpPr>
          <p:spPr>
            <a:xfrm>
              <a:off x="4624637" y="2127978"/>
              <a:ext cx="584262" cy="34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accent1"/>
                  </a:solidFill>
                  <a:effectLst/>
                  <a:latin typeface="+mn-ea"/>
                  <a:cs typeface="MiSans Medium" panose="00000600000000000000" pitchFamily="2" charset="-122"/>
                  <a:sym typeface="MiSans Bold" panose="00000800000000000000" pitchFamily="2" charset="-122"/>
                </a:rPr>
                <a:t>B+</a:t>
              </a:r>
              <a:endParaRPr lang="zh-CN" altLang="en-US" sz="900" dirty="0">
                <a:solidFill>
                  <a:schemeClr val="accent1"/>
                </a:solidFill>
                <a:effectLst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</p:grpSp>
      <p:sp>
        <p:nvSpPr>
          <p:cNvPr id="124" name="文本占位符 5"/>
          <p:cNvSpPr>
            <a:spLocks noGrp="1"/>
          </p:cNvSpPr>
          <p:nvPr>
            <p:ph type="body" sz="quarter" idx="22"/>
          </p:nvPr>
        </p:nvSpPr>
        <p:spPr>
          <a:xfrm>
            <a:off x="308706" y="123823"/>
            <a:ext cx="8583088" cy="266037"/>
          </a:xfrm>
        </p:spPr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榜单竞品分析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到餐榜单分析</a:t>
            </a:r>
          </a:p>
        </p:txBody>
      </p:sp>
      <p:sp>
        <p:nvSpPr>
          <p:cNvPr id="214" name="米菲PPT78-22"/>
          <p:cNvSpPr/>
          <p:nvPr/>
        </p:nvSpPr>
        <p:spPr>
          <a:xfrm rot="5400000">
            <a:off x="1492640" y="2218690"/>
            <a:ext cx="411571" cy="411571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5" name="米菲PPT78-22"/>
          <p:cNvSpPr/>
          <p:nvPr/>
        </p:nvSpPr>
        <p:spPr>
          <a:xfrm rot="5400000">
            <a:off x="3716131" y="2376334"/>
            <a:ext cx="250397" cy="213594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6" name="米菲PPT78-22"/>
          <p:cNvSpPr/>
          <p:nvPr/>
        </p:nvSpPr>
        <p:spPr>
          <a:xfrm rot="5400000">
            <a:off x="5713780" y="2039644"/>
            <a:ext cx="567574" cy="567574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7" name="米菲PPT78-22"/>
          <p:cNvSpPr/>
          <p:nvPr/>
        </p:nvSpPr>
        <p:spPr>
          <a:xfrm rot="5400000">
            <a:off x="7858974" y="2074841"/>
            <a:ext cx="432021" cy="432021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8" name="米菲PPT78-7"/>
          <p:cNvSpPr/>
          <p:nvPr/>
        </p:nvSpPr>
        <p:spPr>
          <a:xfrm rot="3434039" flipH="1" flipV="1">
            <a:off x="3408448" y="2419573"/>
            <a:ext cx="795072" cy="896107"/>
          </a:xfrm>
          <a:prstGeom prst="arc">
            <a:avLst>
              <a:gd name="adj1" fmla="val 6612607"/>
              <a:gd name="adj2" fmla="val 17049545"/>
            </a:avLst>
          </a:prstGeom>
          <a:noFill/>
          <a:ln w="9525">
            <a:solidFill>
              <a:srgbClr val="FF0000"/>
            </a:solidFill>
            <a:headEnd type="arrow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2302" tIns="41148" rIns="82302" bIns="41148"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9" name="米菲PPT78-7"/>
          <p:cNvSpPr/>
          <p:nvPr/>
        </p:nvSpPr>
        <p:spPr>
          <a:xfrm rot="6881472" flipH="1" flipV="1">
            <a:off x="5499785" y="2420026"/>
            <a:ext cx="963860" cy="913765"/>
          </a:xfrm>
          <a:prstGeom prst="arc">
            <a:avLst>
              <a:gd name="adj1" fmla="val 9450803"/>
              <a:gd name="adj2" fmla="val 17519546"/>
            </a:avLst>
          </a:prstGeom>
          <a:noFill/>
          <a:ln w="9525">
            <a:solidFill>
              <a:srgbClr val="FF0000"/>
            </a:solidFill>
            <a:headEnd type="arrow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2302" tIns="41148" rIns="82302" bIns="41148"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20" name="米菲PPT78-7"/>
          <p:cNvSpPr/>
          <p:nvPr/>
        </p:nvSpPr>
        <p:spPr>
          <a:xfrm rot="4523408" flipH="1" flipV="1">
            <a:off x="8047019" y="2063594"/>
            <a:ext cx="678006" cy="760227"/>
          </a:xfrm>
          <a:prstGeom prst="arc">
            <a:avLst>
              <a:gd name="adj1" fmla="val 12422710"/>
              <a:gd name="adj2" fmla="val 15083083"/>
            </a:avLst>
          </a:prstGeom>
          <a:noFill/>
          <a:ln w="9525">
            <a:solidFill>
              <a:srgbClr val="FF0000"/>
            </a:solidFill>
            <a:headEnd type="arrow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2302" tIns="41148" rIns="82302" bIns="41148"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22" name="米菲PPT78-7"/>
          <p:cNvSpPr/>
          <p:nvPr/>
        </p:nvSpPr>
        <p:spPr>
          <a:xfrm rot="3881297" flipH="1" flipV="1">
            <a:off x="1138046" y="2546992"/>
            <a:ext cx="985742" cy="896107"/>
          </a:xfrm>
          <a:prstGeom prst="arc">
            <a:avLst>
              <a:gd name="adj1" fmla="val 6038805"/>
              <a:gd name="adj2" fmla="val 15717124"/>
            </a:avLst>
          </a:prstGeom>
          <a:noFill/>
          <a:ln w="12700">
            <a:solidFill>
              <a:srgbClr val="FF0000"/>
            </a:solidFill>
            <a:headEnd type="arrow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2302" tIns="41148" rIns="82302" bIns="41148"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C6C4C7-9330-2740-3095-2A9F261C2C77}"/>
              </a:ext>
            </a:extLst>
          </p:cNvPr>
          <p:cNvSpPr txBox="1"/>
          <p:nvPr/>
        </p:nvSpPr>
        <p:spPr>
          <a:xfrm>
            <a:off x="396883" y="346829"/>
            <a:ext cx="86709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用户心智和使用路径的差异，带来各平台资产的差异性。</a:t>
            </a:r>
            <a:r>
              <a:rPr lang="en-US" altLang="zh-CN" sz="1200" b="1" dirty="0">
                <a:latin typeface="+mn-ea"/>
              </a:rPr>
              <a:t>D+</a:t>
            </a:r>
            <a:r>
              <a:rPr lang="en-US" altLang="zh-CN" sz="1200" dirty="0">
                <a:latin typeface="+mn-ea"/>
              </a:rPr>
              <a:t> </a:t>
            </a:r>
            <a:r>
              <a:rPr lang="zh-CN" altLang="en-US" sz="1200" dirty="0">
                <a:latin typeface="+mn-ea"/>
              </a:rPr>
              <a:t>的流量规模大且可控，内容及围绕内容的互动、生态资产极具优势，且不断追补供给、交易等资产，试图改善榜单营销过热问题；</a:t>
            </a:r>
            <a:r>
              <a:rPr lang="en-US" altLang="zh-CN" sz="1200" b="1" dirty="0">
                <a:latin typeface="+mn-ea"/>
              </a:rPr>
              <a:t>B+ </a:t>
            </a:r>
            <a:r>
              <a:rPr lang="zh-CN" altLang="en-US" sz="1200" dirty="0">
                <a:latin typeface="+mn-ea"/>
              </a:rPr>
              <a:t>利用导航及流量优势构建榜单，但流量未充分转化为交易流量，其它资产沉淀不足；</a:t>
            </a:r>
            <a:endParaRPr lang="en-US" altLang="zh-CN" sz="1200" dirty="0">
              <a:latin typeface="+mn-ea"/>
            </a:endParaRP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+mn-ea"/>
              </a:rPr>
              <a:t>我方应进一步加强资产建设，加强榜单对核心资产的多维引用，提升公信力及心智。放大流量反哺，形成资产沉淀正循环；</a:t>
            </a:r>
            <a:endParaRPr lang="en-US" altLang="zh-CN" sz="1200" b="1" dirty="0"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effectLst/>
        </p:spPr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榜单竞品分析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美团侧榜单定位选择</a:t>
            </a:r>
          </a:p>
        </p:txBody>
      </p:sp>
      <p:sp>
        <p:nvSpPr>
          <p:cNvPr id="5" name="米菲PPT5"/>
          <p:cNvSpPr txBox="1"/>
          <p:nvPr/>
        </p:nvSpPr>
        <p:spPr>
          <a:xfrm flipH="1">
            <a:off x="4330036" y="1461143"/>
            <a:ext cx="4584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问题不足</a:t>
            </a:r>
            <a:endParaRPr lang="en-US" altLang="zh-CN" sz="1200" dirty="0">
              <a:solidFill>
                <a:schemeClr val="bg1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3" name="米菲PPT23"/>
          <p:cNvSpPr txBox="1"/>
          <p:nvPr/>
        </p:nvSpPr>
        <p:spPr>
          <a:xfrm>
            <a:off x="1213592" y="561800"/>
            <a:ext cx="3217820" cy="143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点评用户以中高线城市为主，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DAU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约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2-3kw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星评内容满足用户决策需求</a:t>
            </a:r>
            <a:endParaRPr lang="en-US" altLang="zh-CN" sz="1200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必吃榜年度发榜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,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较难反映用户快速变化的需求，较难牵引商户及时调整经营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200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9" name="米菲PPT29"/>
          <p:cNvSpPr txBox="1"/>
          <p:nvPr/>
        </p:nvSpPr>
        <p:spPr>
          <a:xfrm>
            <a:off x="5093759" y="557464"/>
            <a:ext cx="3898179" cy="115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美团用户城市及层级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</a:rPr>
              <a:t>更广泛，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</a:rPr>
              <a:t>DAU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</a:rPr>
              <a:t>约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</a:rPr>
              <a:t>1.8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</a:rPr>
              <a:t>亿</a:t>
            </a:r>
            <a:endParaRPr lang="en-US" altLang="zh-CN" sz="1200" b="1" dirty="0">
              <a:latin typeface="+mn-ea"/>
              <a:cs typeface="MiSans Medium" panose="00000600000000000000" pitchFamily="2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交履服务优势，帮助用户综合决策（好吃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+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吃到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+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优惠）</a:t>
            </a:r>
            <a:endParaRPr lang="en-US" altLang="zh-CN" sz="1200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侧重有效反映用户快速变化的需求</a:t>
            </a:r>
            <a:r>
              <a:rPr lang="en-US" altLang="zh-CN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,</a:t>
            </a:r>
            <a:r>
              <a:rPr lang="zh-CN" altLang="en-US" sz="1200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并牵引商户及时调整经营</a:t>
            </a:r>
            <a:endParaRPr lang="en-US" altLang="zh-CN" sz="1200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39" name="米菲PPT32-1"/>
          <p:cNvSpPr/>
          <p:nvPr/>
        </p:nvSpPr>
        <p:spPr>
          <a:xfrm>
            <a:off x="2516689" y="2132252"/>
            <a:ext cx="956303" cy="95630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用户差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城市差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40" name="米菲PPT32-2"/>
          <p:cNvSpPr/>
          <p:nvPr/>
        </p:nvSpPr>
        <p:spPr>
          <a:xfrm>
            <a:off x="5524863" y="2129992"/>
            <a:ext cx="956303" cy="95630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41" name="米菲PPT32-3"/>
          <p:cNvSpPr/>
          <p:nvPr/>
        </p:nvSpPr>
        <p:spPr>
          <a:xfrm>
            <a:off x="3594393" y="2431215"/>
            <a:ext cx="317551" cy="317551"/>
          </a:xfrm>
          <a:custGeom>
            <a:avLst/>
            <a:gdLst>
              <a:gd name="connsiteX0" fmla="*/ 72000 w 733457"/>
              <a:gd name="connsiteY0" fmla="*/ 300043 h 733457"/>
              <a:gd name="connsiteX1" fmla="*/ 228043 w 733457"/>
              <a:gd name="connsiteY1" fmla="*/ 300043 h 733457"/>
              <a:gd name="connsiteX2" fmla="*/ 300043 w 733457"/>
              <a:gd name="connsiteY2" fmla="*/ 228043 h 733457"/>
              <a:gd name="connsiteX3" fmla="*/ 300043 w 733457"/>
              <a:gd name="connsiteY3" fmla="*/ 72000 h 733457"/>
              <a:gd name="connsiteX4" fmla="*/ 372043 w 733457"/>
              <a:gd name="connsiteY4" fmla="*/ 0 h 733457"/>
              <a:gd name="connsiteX5" fmla="*/ 433414 w 733457"/>
              <a:gd name="connsiteY5" fmla="*/ 72000 h 733457"/>
              <a:gd name="connsiteX6" fmla="*/ 433414 w 733457"/>
              <a:gd name="connsiteY6" fmla="*/ 228043 h 733457"/>
              <a:gd name="connsiteX7" fmla="*/ 505414 w 733457"/>
              <a:gd name="connsiteY7" fmla="*/ 300043 h 733457"/>
              <a:gd name="connsiteX8" fmla="*/ 661457 w 733457"/>
              <a:gd name="connsiteY8" fmla="*/ 300043 h 733457"/>
              <a:gd name="connsiteX9" fmla="*/ 733457 w 733457"/>
              <a:gd name="connsiteY9" fmla="*/ 372043 h 733457"/>
              <a:gd name="connsiteX10" fmla="*/ 661457 w 733457"/>
              <a:gd name="connsiteY10" fmla="*/ 433414 h 733457"/>
              <a:gd name="connsiteX11" fmla="*/ 505414 w 733457"/>
              <a:gd name="connsiteY11" fmla="*/ 433414 h 733457"/>
              <a:gd name="connsiteX12" fmla="*/ 433414 w 733457"/>
              <a:gd name="connsiteY12" fmla="*/ 505414 h 733457"/>
              <a:gd name="connsiteX13" fmla="*/ 433414 w 733457"/>
              <a:gd name="connsiteY13" fmla="*/ 661457 h 733457"/>
              <a:gd name="connsiteX14" fmla="*/ 361414 w 733457"/>
              <a:gd name="connsiteY14" fmla="*/ 733457 h 733457"/>
              <a:gd name="connsiteX15" fmla="*/ 300043 w 733457"/>
              <a:gd name="connsiteY15" fmla="*/ 661457 h 733457"/>
              <a:gd name="connsiteX16" fmla="*/ 300043 w 733457"/>
              <a:gd name="connsiteY16" fmla="*/ 505414 h 733457"/>
              <a:gd name="connsiteX17" fmla="*/ 228043 w 733457"/>
              <a:gd name="connsiteY17" fmla="*/ 433414 h 733457"/>
              <a:gd name="connsiteX18" fmla="*/ 72000 w 733457"/>
              <a:gd name="connsiteY18" fmla="*/ 433414 h 733457"/>
              <a:gd name="connsiteX19" fmla="*/ 0 w 733457"/>
              <a:gd name="connsiteY19" fmla="*/ 361414 h 733457"/>
              <a:gd name="connsiteX20" fmla="*/ 72000 w 733457"/>
              <a:gd name="connsiteY20" fmla="*/ 300043 h 73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33457" h="733457">
                <a:moveTo>
                  <a:pt x="72000" y="300043"/>
                </a:moveTo>
                <a:lnTo>
                  <a:pt x="228043" y="300043"/>
                </a:lnTo>
                <a:cubicBezTo>
                  <a:pt x="267787" y="300043"/>
                  <a:pt x="300043" y="267787"/>
                  <a:pt x="300043" y="228043"/>
                </a:cubicBezTo>
                <a:lnTo>
                  <a:pt x="300043" y="72000"/>
                </a:lnTo>
                <a:cubicBezTo>
                  <a:pt x="300043" y="32256"/>
                  <a:pt x="332299" y="0"/>
                  <a:pt x="372043" y="0"/>
                </a:cubicBezTo>
                <a:cubicBezTo>
                  <a:pt x="401158" y="0"/>
                  <a:pt x="433414" y="32256"/>
                  <a:pt x="433414" y="72000"/>
                </a:cubicBezTo>
                <a:lnTo>
                  <a:pt x="433414" y="228043"/>
                </a:lnTo>
                <a:cubicBezTo>
                  <a:pt x="433414" y="267787"/>
                  <a:pt x="465670" y="300043"/>
                  <a:pt x="505414" y="300043"/>
                </a:cubicBezTo>
                <a:lnTo>
                  <a:pt x="661457" y="300043"/>
                </a:lnTo>
                <a:cubicBezTo>
                  <a:pt x="701201" y="300043"/>
                  <a:pt x="733457" y="332299"/>
                  <a:pt x="733457" y="372043"/>
                </a:cubicBezTo>
                <a:cubicBezTo>
                  <a:pt x="733457" y="401158"/>
                  <a:pt x="701201" y="433414"/>
                  <a:pt x="661457" y="433414"/>
                </a:cubicBezTo>
                <a:lnTo>
                  <a:pt x="505414" y="433414"/>
                </a:lnTo>
                <a:cubicBezTo>
                  <a:pt x="465670" y="433414"/>
                  <a:pt x="433414" y="465670"/>
                  <a:pt x="433414" y="505414"/>
                </a:cubicBezTo>
                <a:lnTo>
                  <a:pt x="433414" y="661457"/>
                </a:lnTo>
                <a:cubicBezTo>
                  <a:pt x="433414" y="701201"/>
                  <a:pt x="401158" y="733457"/>
                  <a:pt x="361414" y="733457"/>
                </a:cubicBezTo>
                <a:cubicBezTo>
                  <a:pt x="332299" y="733457"/>
                  <a:pt x="300043" y="701201"/>
                  <a:pt x="300043" y="661457"/>
                </a:cubicBezTo>
                <a:lnTo>
                  <a:pt x="300043" y="505414"/>
                </a:lnTo>
                <a:cubicBezTo>
                  <a:pt x="300043" y="465670"/>
                  <a:pt x="267787" y="433414"/>
                  <a:pt x="228043" y="433414"/>
                </a:cubicBezTo>
                <a:lnTo>
                  <a:pt x="72000" y="433414"/>
                </a:lnTo>
                <a:cubicBezTo>
                  <a:pt x="32256" y="433414"/>
                  <a:pt x="0" y="401158"/>
                  <a:pt x="0" y="361414"/>
                </a:cubicBezTo>
                <a:cubicBezTo>
                  <a:pt x="0" y="332299"/>
                  <a:pt x="32256" y="300043"/>
                  <a:pt x="72000" y="300043"/>
                </a:cubicBezTo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42" name="米菲PPT32-3"/>
          <p:cNvSpPr/>
          <p:nvPr/>
        </p:nvSpPr>
        <p:spPr>
          <a:xfrm>
            <a:off x="5111049" y="2456845"/>
            <a:ext cx="317551" cy="317551"/>
          </a:xfrm>
          <a:custGeom>
            <a:avLst/>
            <a:gdLst>
              <a:gd name="connsiteX0" fmla="*/ 72000 w 733457"/>
              <a:gd name="connsiteY0" fmla="*/ 300043 h 733457"/>
              <a:gd name="connsiteX1" fmla="*/ 228043 w 733457"/>
              <a:gd name="connsiteY1" fmla="*/ 300043 h 733457"/>
              <a:gd name="connsiteX2" fmla="*/ 300043 w 733457"/>
              <a:gd name="connsiteY2" fmla="*/ 228043 h 733457"/>
              <a:gd name="connsiteX3" fmla="*/ 300043 w 733457"/>
              <a:gd name="connsiteY3" fmla="*/ 72000 h 733457"/>
              <a:gd name="connsiteX4" fmla="*/ 372043 w 733457"/>
              <a:gd name="connsiteY4" fmla="*/ 0 h 733457"/>
              <a:gd name="connsiteX5" fmla="*/ 433414 w 733457"/>
              <a:gd name="connsiteY5" fmla="*/ 72000 h 733457"/>
              <a:gd name="connsiteX6" fmla="*/ 433414 w 733457"/>
              <a:gd name="connsiteY6" fmla="*/ 228043 h 733457"/>
              <a:gd name="connsiteX7" fmla="*/ 505414 w 733457"/>
              <a:gd name="connsiteY7" fmla="*/ 300043 h 733457"/>
              <a:gd name="connsiteX8" fmla="*/ 661457 w 733457"/>
              <a:gd name="connsiteY8" fmla="*/ 300043 h 733457"/>
              <a:gd name="connsiteX9" fmla="*/ 733457 w 733457"/>
              <a:gd name="connsiteY9" fmla="*/ 372043 h 733457"/>
              <a:gd name="connsiteX10" fmla="*/ 661457 w 733457"/>
              <a:gd name="connsiteY10" fmla="*/ 433414 h 733457"/>
              <a:gd name="connsiteX11" fmla="*/ 505414 w 733457"/>
              <a:gd name="connsiteY11" fmla="*/ 433414 h 733457"/>
              <a:gd name="connsiteX12" fmla="*/ 433414 w 733457"/>
              <a:gd name="connsiteY12" fmla="*/ 505414 h 733457"/>
              <a:gd name="connsiteX13" fmla="*/ 433414 w 733457"/>
              <a:gd name="connsiteY13" fmla="*/ 661457 h 733457"/>
              <a:gd name="connsiteX14" fmla="*/ 361414 w 733457"/>
              <a:gd name="connsiteY14" fmla="*/ 733457 h 733457"/>
              <a:gd name="connsiteX15" fmla="*/ 300043 w 733457"/>
              <a:gd name="connsiteY15" fmla="*/ 661457 h 733457"/>
              <a:gd name="connsiteX16" fmla="*/ 300043 w 733457"/>
              <a:gd name="connsiteY16" fmla="*/ 505414 h 733457"/>
              <a:gd name="connsiteX17" fmla="*/ 228043 w 733457"/>
              <a:gd name="connsiteY17" fmla="*/ 433414 h 733457"/>
              <a:gd name="connsiteX18" fmla="*/ 72000 w 733457"/>
              <a:gd name="connsiteY18" fmla="*/ 433414 h 733457"/>
              <a:gd name="connsiteX19" fmla="*/ 0 w 733457"/>
              <a:gd name="connsiteY19" fmla="*/ 361414 h 733457"/>
              <a:gd name="connsiteX20" fmla="*/ 72000 w 733457"/>
              <a:gd name="connsiteY20" fmla="*/ 300043 h 73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33457" h="733457">
                <a:moveTo>
                  <a:pt x="72000" y="300043"/>
                </a:moveTo>
                <a:lnTo>
                  <a:pt x="228043" y="300043"/>
                </a:lnTo>
                <a:cubicBezTo>
                  <a:pt x="267787" y="300043"/>
                  <a:pt x="300043" y="267787"/>
                  <a:pt x="300043" y="228043"/>
                </a:cubicBezTo>
                <a:lnTo>
                  <a:pt x="300043" y="72000"/>
                </a:lnTo>
                <a:cubicBezTo>
                  <a:pt x="300043" y="32256"/>
                  <a:pt x="332299" y="0"/>
                  <a:pt x="372043" y="0"/>
                </a:cubicBezTo>
                <a:cubicBezTo>
                  <a:pt x="401158" y="0"/>
                  <a:pt x="433414" y="32256"/>
                  <a:pt x="433414" y="72000"/>
                </a:cubicBezTo>
                <a:lnTo>
                  <a:pt x="433414" y="228043"/>
                </a:lnTo>
                <a:cubicBezTo>
                  <a:pt x="433414" y="267787"/>
                  <a:pt x="465670" y="300043"/>
                  <a:pt x="505414" y="300043"/>
                </a:cubicBezTo>
                <a:lnTo>
                  <a:pt x="661457" y="300043"/>
                </a:lnTo>
                <a:cubicBezTo>
                  <a:pt x="701201" y="300043"/>
                  <a:pt x="733457" y="332299"/>
                  <a:pt x="733457" y="372043"/>
                </a:cubicBezTo>
                <a:cubicBezTo>
                  <a:pt x="733457" y="401158"/>
                  <a:pt x="701201" y="433414"/>
                  <a:pt x="661457" y="433414"/>
                </a:cubicBezTo>
                <a:lnTo>
                  <a:pt x="505414" y="433414"/>
                </a:lnTo>
                <a:cubicBezTo>
                  <a:pt x="465670" y="433414"/>
                  <a:pt x="433414" y="465670"/>
                  <a:pt x="433414" y="505414"/>
                </a:cubicBezTo>
                <a:lnTo>
                  <a:pt x="433414" y="661457"/>
                </a:lnTo>
                <a:cubicBezTo>
                  <a:pt x="433414" y="701201"/>
                  <a:pt x="401158" y="733457"/>
                  <a:pt x="361414" y="733457"/>
                </a:cubicBezTo>
                <a:cubicBezTo>
                  <a:pt x="332299" y="733457"/>
                  <a:pt x="300043" y="701201"/>
                  <a:pt x="300043" y="661457"/>
                </a:cubicBezTo>
                <a:lnTo>
                  <a:pt x="300043" y="505414"/>
                </a:lnTo>
                <a:cubicBezTo>
                  <a:pt x="300043" y="465670"/>
                  <a:pt x="267787" y="433414"/>
                  <a:pt x="228043" y="433414"/>
                </a:cubicBezTo>
                <a:lnTo>
                  <a:pt x="72000" y="433414"/>
                </a:lnTo>
                <a:cubicBezTo>
                  <a:pt x="32256" y="433414"/>
                  <a:pt x="0" y="401158"/>
                  <a:pt x="0" y="361414"/>
                </a:cubicBezTo>
                <a:cubicBezTo>
                  <a:pt x="0" y="332299"/>
                  <a:pt x="32256" y="300043"/>
                  <a:pt x="72000" y="300043"/>
                </a:cubicBezTo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43" name="米菲PPT32-1"/>
          <p:cNvSpPr/>
          <p:nvPr/>
        </p:nvSpPr>
        <p:spPr>
          <a:xfrm>
            <a:off x="4033345" y="2119470"/>
            <a:ext cx="956303" cy="95630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44" name="米菲PPT26-1"/>
          <p:cNvSpPr/>
          <p:nvPr/>
        </p:nvSpPr>
        <p:spPr>
          <a:xfrm rot="5400000" flipV="1">
            <a:off x="739421" y="2088319"/>
            <a:ext cx="937470" cy="1037443"/>
          </a:xfrm>
          <a:prstGeom prst="roundRect">
            <a:avLst>
              <a:gd name="adj" fmla="val 11974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algn="ctr" defTabSz="457200"/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美团榜单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 defTabSz="457200"/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定位差异</a:t>
            </a:r>
          </a:p>
        </p:txBody>
      </p:sp>
      <p:sp>
        <p:nvSpPr>
          <p:cNvPr id="45" name="等于 44"/>
          <p:cNvSpPr/>
          <p:nvPr/>
        </p:nvSpPr>
        <p:spPr>
          <a:xfrm>
            <a:off x="1875270" y="2393205"/>
            <a:ext cx="493024" cy="429879"/>
          </a:xfrm>
          <a:prstGeom prst="mathEqual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7" name="米菲PPT24"/>
          <p:cNvSpPr txBox="1"/>
          <p:nvPr/>
        </p:nvSpPr>
        <p:spPr>
          <a:xfrm>
            <a:off x="5405032" y="3129134"/>
            <a:ext cx="12266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0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时效性、灵活性强</a:t>
            </a:r>
          </a:p>
        </p:txBody>
      </p:sp>
      <p:sp>
        <p:nvSpPr>
          <p:cNvPr id="171" name="米菲PPT28"/>
          <p:cNvSpPr txBox="1"/>
          <p:nvPr/>
        </p:nvSpPr>
        <p:spPr>
          <a:xfrm>
            <a:off x="6980932" y="3125388"/>
            <a:ext cx="109149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000" b="1" dirty="0">
                <a:solidFill>
                  <a:srgbClr val="FF0000"/>
                </a:solidFill>
                <a:latin typeface="+mn-ea"/>
                <a:sym typeface="MiSans Medium" panose="00000600000000000000" pitchFamily="2" charset="-122"/>
              </a:rPr>
              <a:t>可做功、有反馈</a:t>
            </a:r>
          </a:p>
        </p:txBody>
      </p:sp>
      <p:sp>
        <p:nvSpPr>
          <p:cNvPr id="22" name="米菲PPT32-2"/>
          <p:cNvSpPr/>
          <p:nvPr/>
        </p:nvSpPr>
        <p:spPr>
          <a:xfrm>
            <a:off x="7048526" y="2138305"/>
            <a:ext cx="956303" cy="95630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algn="ctr"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兼顾</a:t>
            </a:r>
            <a:r>
              <a:rPr lang="en-US" altLang="zh-CN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B</a:t>
            </a: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经营</a:t>
            </a:r>
          </a:p>
        </p:txBody>
      </p:sp>
      <p:sp>
        <p:nvSpPr>
          <p:cNvPr id="26" name="米菲PPT24"/>
          <p:cNvSpPr txBox="1"/>
          <p:nvPr/>
        </p:nvSpPr>
        <p:spPr>
          <a:xfrm>
            <a:off x="3898159" y="3120336"/>
            <a:ext cx="12266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0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帮助用户综合决策</a:t>
            </a:r>
          </a:p>
        </p:txBody>
      </p:sp>
      <p:sp>
        <p:nvSpPr>
          <p:cNvPr id="28" name="米菲PPT24"/>
          <p:cNvSpPr txBox="1"/>
          <p:nvPr/>
        </p:nvSpPr>
        <p:spPr>
          <a:xfrm>
            <a:off x="2465916" y="3125387"/>
            <a:ext cx="1226674" cy="246221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0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代表更广大用户</a:t>
            </a:r>
          </a:p>
        </p:txBody>
      </p:sp>
      <p:sp>
        <p:nvSpPr>
          <p:cNvPr id="24" name="AutoShape 2">
            <a:extLst>
              <a:ext uri="{FF2B5EF4-FFF2-40B4-BE49-F238E27FC236}">
                <a16:creationId xmlns:a16="http://schemas.microsoft.com/office/drawing/2014/main" id="{4514F739-93C6-78A4-36D3-8A4ED99D7A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96807" y="209407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+mn-ea"/>
            </a:endParaRPr>
          </a:p>
        </p:txBody>
      </p:sp>
      <p:sp>
        <p:nvSpPr>
          <p:cNvPr id="30" name="AutoShape 4">
            <a:extLst>
              <a:ext uri="{FF2B5EF4-FFF2-40B4-BE49-F238E27FC236}">
                <a16:creationId xmlns:a16="http://schemas.microsoft.com/office/drawing/2014/main" id="{83EF541A-8D0B-D592-14A2-DAB71C68E7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67002" y="187505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+mn-ea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C15C6CA0-0C6C-B391-480A-1E94A9407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43" y="641914"/>
            <a:ext cx="611705" cy="61170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2B64DAEF-323E-023D-7B21-1ED863D2A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044" y="632566"/>
            <a:ext cx="621053" cy="621053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8AA13936-D4AE-E51F-FF4A-05571ECBA6FF}"/>
              </a:ext>
            </a:extLst>
          </p:cNvPr>
          <p:cNvSpPr txBox="1"/>
          <p:nvPr/>
        </p:nvSpPr>
        <p:spPr>
          <a:xfrm>
            <a:off x="4027497" y="2345255"/>
            <a:ext cx="9563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交履</a:t>
            </a: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服务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资产引用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48" name="米菲PPT32-3">
            <a:extLst>
              <a:ext uri="{FF2B5EF4-FFF2-40B4-BE49-F238E27FC236}">
                <a16:creationId xmlns:a16="http://schemas.microsoft.com/office/drawing/2014/main" id="{FC57F54F-8914-8FD1-BC1A-CE7E23131386}"/>
              </a:ext>
            </a:extLst>
          </p:cNvPr>
          <p:cNvSpPr/>
          <p:nvPr/>
        </p:nvSpPr>
        <p:spPr>
          <a:xfrm>
            <a:off x="6599242" y="2459375"/>
            <a:ext cx="317551" cy="317551"/>
          </a:xfrm>
          <a:custGeom>
            <a:avLst/>
            <a:gdLst>
              <a:gd name="connsiteX0" fmla="*/ 72000 w 733457"/>
              <a:gd name="connsiteY0" fmla="*/ 300043 h 733457"/>
              <a:gd name="connsiteX1" fmla="*/ 228043 w 733457"/>
              <a:gd name="connsiteY1" fmla="*/ 300043 h 733457"/>
              <a:gd name="connsiteX2" fmla="*/ 300043 w 733457"/>
              <a:gd name="connsiteY2" fmla="*/ 228043 h 733457"/>
              <a:gd name="connsiteX3" fmla="*/ 300043 w 733457"/>
              <a:gd name="connsiteY3" fmla="*/ 72000 h 733457"/>
              <a:gd name="connsiteX4" fmla="*/ 372043 w 733457"/>
              <a:gd name="connsiteY4" fmla="*/ 0 h 733457"/>
              <a:gd name="connsiteX5" fmla="*/ 433414 w 733457"/>
              <a:gd name="connsiteY5" fmla="*/ 72000 h 733457"/>
              <a:gd name="connsiteX6" fmla="*/ 433414 w 733457"/>
              <a:gd name="connsiteY6" fmla="*/ 228043 h 733457"/>
              <a:gd name="connsiteX7" fmla="*/ 505414 w 733457"/>
              <a:gd name="connsiteY7" fmla="*/ 300043 h 733457"/>
              <a:gd name="connsiteX8" fmla="*/ 661457 w 733457"/>
              <a:gd name="connsiteY8" fmla="*/ 300043 h 733457"/>
              <a:gd name="connsiteX9" fmla="*/ 733457 w 733457"/>
              <a:gd name="connsiteY9" fmla="*/ 372043 h 733457"/>
              <a:gd name="connsiteX10" fmla="*/ 661457 w 733457"/>
              <a:gd name="connsiteY10" fmla="*/ 433414 h 733457"/>
              <a:gd name="connsiteX11" fmla="*/ 505414 w 733457"/>
              <a:gd name="connsiteY11" fmla="*/ 433414 h 733457"/>
              <a:gd name="connsiteX12" fmla="*/ 433414 w 733457"/>
              <a:gd name="connsiteY12" fmla="*/ 505414 h 733457"/>
              <a:gd name="connsiteX13" fmla="*/ 433414 w 733457"/>
              <a:gd name="connsiteY13" fmla="*/ 661457 h 733457"/>
              <a:gd name="connsiteX14" fmla="*/ 361414 w 733457"/>
              <a:gd name="connsiteY14" fmla="*/ 733457 h 733457"/>
              <a:gd name="connsiteX15" fmla="*/ 300043 w 733457"/>
              <a:gd name="connsiteY15" fmla="*/ 661457 h 733457"/>
              <a:gd name="connsiteX16" fmla="*/ 300043 w 733457"/>
              <a:gd name="connsiteY16" fmla="*/ 505414 h 733457"/>
              <a:gd name="connsiteX17" fmla="*/ 228043 w 733457"/>
              <a:gd name="connsiteY17" fmla="*/ 433414 h 733457"/>
              <a:gd name="connsiteX18" fmla="*/ 72000 w 733457"/>
              <a:gd name="connsiteY18" fmla="*/ 433414 h 733457"/>
              <a:gd name="connsiteX19" fmla="*/ 0 w 733457"/>
              <a:gd name="connsiteY19" fmla="*/ 361414 h 733457"/>
              <a:gd name="connsiteX20" fmla="*/ 72000 w 733457"/>
              <a:gd name="connsiteY20" fmla="*/ 300043 h 73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33457" h="733457">
                <a:moveTo>
                  <a:pt x="72000" y="300043"/>
                </a:moveTo>
                <a:lnTo>
                  <a:pt x="228043" y="300043"/>
                </a:lnTo>
                <a:cubicBezTo>
                  <a:pt x="267787" y="300043"/>
                  <a:pt x="300043" y="267787"/>
                  <a:pt x="300043" y="228043"/>
                </a:cubicBezTo>
                <a:lnTo>
                  <a:pt x="300043" y="72000"/>
                </a:lnTo>
                <a:cubicBezTo>
                  <a:pt x="300043" y="32256"/>
                  <a:pt x="332299" y="0"/>
                  <a:pt x="372043" y="0"/>
                </a:cubicBezTo>
                <a:cubicBezTo>
                  <a:pt x="401158" y="0"/>
                  <a:pt x="433414" y="32256"/>
                  <a:pt x="433414" y="72000"/>
                </a:cubicBezTo>
                <a:lnTo>
                  <a:pt x="433414" y="228043"/>
                </a:lnTo>
                <a:cubicBezTo>
                  <a:pt x="433414" y="267787"/>
                  <a:pt x="465670" y="300043"/>
                  <a:pt x="505414" y="300043"/>
                </a:cubicBezTo>
                <a:lnTo>
                  <a:pt x="661457" y="300043"/>
                </a:lnTo>
                <a:cubicBezTo>
                  <a:pt x="701201" y="300043"/>
                  <a:pt x="733457" y="332299"/>
                  <a:pt x="733457" y="372043"/>
                </a:cubicBezTo>
                <a:cubicBezTo>
                  <a:pt x="733457" y="401158"/>
                  <a:pt x="701201" y="433414"/>
                  <a:pt x="661457" y="433414"/>
                </a:cubicBezTo>
                <a:lnTo>
                  <a:pt x="505414" y="433414"/>
                </a:lnTo>
                <a:cubicBezTo>
                  <a:pt x="465670" y="433414"/>
                  <a:pt x="433414" y="465670"/>
                  <a:pt x="433414" y="505414"/>
                </a:cubicBezTo>
                <a:lnTo>
                  <a:pt x="433414" y="661457"/>
                </a:lnTo>
                <a:cubicBezTo>
                  <a:pt x="433414" y="701201"/>
                  <a:pt x="401158" y="733457"/>
                  <a:pt x="361414" y="733457"/>
                </a:cubicBezTo>
                <a:cubicBezTo>
                  <a:pt x="332299" y="733457"/>
                  <a:pt x="300043" y="701201"/>
                  <a:pt x="300043" y="661457"/>
                </a:cubicBezTo>
                <a:lnTo>
                  <a:pt x="300043" y="505414"/>
                </a:lnTo>
                <a:cubicBezTo>
                  <a:pt x="300043" y="465670"/>
                  <a:pt x="267787" y="433414"/>
                  <a:pt x="228043" y="433414"/>
                </a:cubicBezTo>
                <a:lnTo>
                  <a:pt x="72000" y="433414"/>
                </a:lnTo>
                <a:cubicBezTo>
                  <a:pt x="32256" y="433414"/>
                  <a:pt x="0" y="401158"/>
                  <a:pt x="0" y="361414"/>
                </a:cubicBezTo>
                <a:cubicBezTo>
                  <a:pt x="0" y="332299"/>
                  <a:pt x="32256" y="300043"/>
                  <a:pt x="72000" y="300043"/>
                </a:cubicBezTo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659F996-4FD5-B1AA-7BD4-0FC2366EA6FE}"/>
              </a:ext>
            </a:extLst>
          </p:cNvPr>
          <p:cNvSpPr txBox="1"/>
          <p:nvPr/>
        </p:nvSpPr>
        <p:spPr>
          <a:xfrm>
            <a:off x="5421807" y="2341524"/>
            <a:ext cx="11624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指数榜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MiSans Bold" panose="00000800000000000000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为主矩阵</a:t>
            </a: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356AB80F-DB06-A3EE-02F4-5C4CFDAE91E4}"/>
              </a:ext>
            </a:extLst>
          </p:cNvPr>
          <p:cNvGrpSpPr/>
          <p:nvPr/>
        </p:nvGrpSpPr>
        <p:grpSpPr>
          <a:xfrm>
            <a:off x="6077760" y="3498984"/>
            <a:ext cx="1499297" cy="1275072"/>
            <a:chOff x="6003001" y="3507520"/>
            <a:chExt cx="1499297" cy="1365250"/>
          </a:xfrm>
        </p:grpSpPr>
        <p:sp>
          <p:nvSpPr>
            <p:cNvPr id="53" name="梯形 52">
              <a:extLst>
                <a:ext uri="{FF2B5EF4-FFF2-40B4-BE49-F238E27FC236}">
                  <a16:creationId xmlns:a16="http://schemas.microsoft.com/office/drawing/2014/main" id="{2BD617AF-B134-C34B-5F71-830D6309BA1C}"/>
                </a:ext>
              </a:extLst>
            </p:cNvPr>
            <p:cNvSpPr/>
            <p:nvPr/>
          </p:nvSpPr>
          <p:spPr>
            <a:xfrm rot="10800000">
              <a:off x="6027652" y="3507520"/>
              <a:ext cx="1428154" cy="1365250"/>
            </a:xfrm>
            <a:prstGeom prst="trapezoid">
              <a:avLst>
                <a:gd name="adj" fmla="val 3611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54DE38B-0CB8-362D-D758-D6182626144C}"/>
                </a:ext>
              </a:extLst>
            </p:cNvPr>
            <p:cNvSpPr/>
            <p:nvPr/>
          </p:nvSpPr>
          <p:spPr>
            <a:xfrm>
              <a:off x="6003001" y="3840159"/>
              <a:ext cx="1452805" cy="724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69900" dist="139700" dir="5400000" algn="t" rotWithShape="0">
                <a:schemeClr val="accent2">
                  <a:alpha val="2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D7BE7659-48B1-F6EB-4033-13A9E2B74D3E}"/>
                </a:ext>
              </a:extLst>
            </p:cNvPr>
            <p:cNvSpPr/>
            <p:nvPr/>
          </p:nvSpPr>
          <p:spPr>
            <a:xfrm>
              <a:off x="6043123" y="4219691"/>
              <a:ext cx="1452805" cy="724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69900" dist="139700" dir="5400000" algn="t" rotWithShape="0">
                <a:schemeClr val="accent2">
                  <a:alpha val="2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DDCEAD1E-740D-4D9B-3024-9086844B2ED6}"/>
                </a:ext>
              </a:extLst>
            </p:cNvPr>
            <p:cNvSpPr/>
            <p:nvPr/>
          </p:nvSpPr>
          <p:spPr>
            <a:xfrm>
              <a:off x="6049493" y="4530849"/>
              <a:ext cx="1452805" cy="724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69900" dist="139700" dir="5400000" algn="t" rotWithShape="0">
                <a:schemeClr val="accent2">
                  <a:alpha val="2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DED88D87-6850-91F4-ED48-0FBDE410DB08}"/>
                </a:ext>
              </a:extLst>
            </p:cNvPr>
            <p:cNvSpPr txBox="1"/>
            <p:nvPr/>
          </p:nvSpPr>
          <p:spPr>
            <a:xfrm>
              <a:off x="6128390" y="3516622"/>
              <a:ext cx="1226675" cy="2636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iSans Bold" panose="00000800000000000000" pitchFamily="2" charset="-122"/>
                </a:rPr>
                <a:t>流量</a:t>
              </a: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80A2CDA3-F04A-2834-8D0C-9A621C1D207F}"/>
                </a:ext>
              </a:extLst>
            </p:cNvPr>
            <p:cNvSpPr txBox="1"/>
            <p:nvPr/>
          </p:nvSpPr>
          <p:spPr>
            <a:xfrm>
              <a:off x="6128390" y="3910570"/>
              <a:ext cx="1226675" cy="2636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iSans Bold" panose="00000800000000000000" pitchFamily="2" charset="-122"/>
                </a:rPr>
                <a:t>前履约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28D4BD81-FB09-A00D-8BC4-BFCFDA565817}"/>
                </a:ext>
              </a:extLst>
            </p:cNvPr>
            <p:cNvSpPr txBox="1"/>
            <p:nvPr/>
          </p:nvSpPr>
          <p:spPr>
            <a:xfrm>
              <a:off x="6116065" y="4261544"/>
              <a:ext cx="1226675" cy="2636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chemeClr val="accent3"/>
                  </a:solidFill>
                  <a:latin typeface="+mn-ea"/>
                  <a:sym typeface="MiSans Bold" panose="00000800000000000000" pitchFamily="2" charset="-122"/>
                </a:rPr>
                <a:t>交易</a:t>
              </a:r>
              <a:r>
                <a:rPr lang="en-US" altLang="zh-CN" sz="1000" b="1" kern="0" dirty="0">
                  <a:solidFill>
                    <a:schemeClr val="accent3"/>
                  </a:solidFill>
                  <a:latin typeface="+mn-ea"/>
                  <a:sym typeface="MiSans Bold" panose="00000800000000000000" pitchFamily="2" charset="-122"/>
                </a:rPr>
                <a:t>/</a:t>
              </a:r>
              <a:r>
                <a:rPr lang="zh-CN" altLang="en-US" sz="1000" b="1" kern="0" dirty="0">
                  <a:solidFill>
                    <a:schemeClr val="accent3"/>
                  </a:solidFill>
                  <a:latin typeface="+mn-ea"/>
                  <a:sym typeface="MiSans Bold" panose="00000800000000000000" pitchFamily="2" charset="-122"/>
                </a:rPr>
                <a:t>后履约</a:t>
              </a: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35BC3F9E-BBF0-541C-CEF8-980A5A9B4CB7}"/>
                </a:ext>
              </a:extLst>
            </p:cNvPr>
            <p:cNvSpPr txBox="1"/>
            <p:nvPr/>
          </p:nvSpPr>
          <p:spPr>
            <a:xfrm>
              <a:off x="6116065" y="4591995"/>
              <a:ext cx="1226675" cy="2636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sym typeface="MiSans Bold" panose="00000800000000000000" pitchFamily="2" charset="-122"/>
                </a:rPr>
                <a:t>星评</a:t>
              </a:r>
            </a:p>
          </p:txBody>
        </p:sp>
      </p:grpSp>
      <p:cxnSp>
        <p:nvCxnSpPr>
          <p:cNvPr id="129" name="连接符: 肘形 128">
            <a:extLst>
              <a:ext uri="{FF2B5EF4-FFF2-40B4-BE49-F238E27FC236}">
                <a16:creationId xmlns:a16="http://schemas.microsoft.com/office/drawing/2014/main" id="{418FCAC0-206A-7B18-7CB2-1804C2071F37}"/>
              </a:ext>
            </a:extLst>
          </p:cNvPr>
          <p:cNvCxnSpPr>
            <a:cxnSpLocks/>
            <a:stCxn id="61" idx="3"/>
          </p:cNvCxnSpPr>
          <p:nvPr/>
        </p:nvCxnSpPr>
        <p:spPr>
          <a:xfrm flipV="1">
            <a:off x="7417499" y="3525027"/>
            <a:ext cx="197108" cy="801287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本框 131">
            <a:extLst>
              <a:ext uri="{FF2B5EF4-FFF2-40B4-BE49-F238E27FC236}">
                <a16:creationId xmlns:a16="http://schemas.microsoft.com/office/drawing/2014/main" id="{2C2BAFCD-B719-2423-DCD1-15BEA5067BA4}"/>
              </a:ext>
            </a:extLst>
          </p:cNvPr>
          <p:cNvSpPr txBox="1"/>
          <p:nvPr/>
        </p:nvSpPr>
        <p:spPr>
          <a:xfrm>
            <a:off x="7570687" y="3462032"/>
            <a:ext cx="11734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牵引不同商家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MiSans Bold" panose="00000800000000000000" pitchFamily="2" charset="-122"/>
            </a:endParaRPr>
          </a:p>
          <a:p>
            <a:pPr algn="ctr"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逐层漏斗改善</a:t>
            </a: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39E1C288-6202-8620-C8F4-5BE33FDB2CC3}"/>
              </a:ext>
            </a:extLst>
          </p:cNvPr>
          <p:cNvSpPr txBox="1"/>
          <p:nvPr/>
        </p:nvSpPr>
        <p:spPr>
          <a:xfrm>
            <a:off x="5928546" y="4794332"/>
            <a:ext cx="21438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000" b="1" kern="0" dirty="0">
                <a:solidFill>
                  <a:srgbClr val="FF0000"/>
                </a:solidFill>
                <a:latin typeface="+mn-ea"/>
                <a:sym typeface="MiSans Bold" panose="00000800000000000000" pitchFamily="2" charset="-122"/>
              </a:rPr>
              <a:t>全层指数胜出</a:t>
            </a:r>
            <a:r>
              <a:rPr lang="en-US" altLang="zh-CN" sz="1000" b="1" kern="0" dirty="0">
                <a:solidFill>
                  <a:srgbClr val="FF0000"/>
                </a:solidFill>
                <a:latin typeface="+mn-ea"/>
                <a:sym typeface="MiSans Bold" panose="00000800000000000000" pitchFamily="2" charset="-122"/>
              </a:rPr>
              <a:t>=</a:t>
            </a:r>
            <a:r>
              <a:rPr lang="zh-CN" altLang="en-US" sz="1000" b="1" kern="0" dirty="0">
                <a:solidFill>
                  <a:srgbClr val="FF0000"/>
                </a:solidFill>
                <a:latin typeface="+mn-ea"/>
                <a:sym typeface="MiSans Bold" panose="00000800000000000000" pitchFamily="2" charset="-122"/>
              </a:rPr>
              <a:t>超级好店</a:t>
            </a:r>
            <a:r>
              <a:rPr lang="en-US" altLang="zh-CN" sz="1000" b="1" kern="0" dirty="0">
                <a:solidFill>
                  <a:srgbClr val="FF0000"/>
                </a:solidFill>
                <a:latin typeface="+mn-ea"/>
                <a:sym typeface="MiSans Bold" panose="00000800000000000000" pitchFamily="2" charset="-122"/>
              </a:rPr>
              <a:t>=</a:t>
            </a:r>
            <a:r>
              <a:rPr lang="zh-CN" altLang="en-US" sz="1000" b="1" kern="0" dirty="0">
                <a:solidFill>
                  <a:srgbClr val="FF0000"/>
                </a:solidFill>
                <a:latin typeface="+mn-ea"/>
                <a:sym typeface="MiSans Bold" panose="00000800000000000000" pitchFamily="2" charset="-122"/>
              </a:rPr>
              <a:t>至尊荣誉</a:t>
            </a:r>
          </a:p>
        </p:txBody>
      </p:sp>
      <p:cxnSp>
        <p:nvCxnSpPr>
          <p:cNvPr id="177" name="连接符: 肘形 176">
            <a:extLst>
              <a:ext uri="{FF2B5EF4-FFF2-40B4-BE49-F238E27FC236}">
                <a16:creationId xmlns:a16="http://schemas.microsoft.com/office/drawing/2014/main" id="{61C1794D-2F75-EE23-76C1-32AB824B904E}"/>
              </a:ext>
            </a:extLst>
          </p:cNvPr>
          <p:cNvCxnSpPr>
            <a:cxnSpLocks/>
            <a:endCxn id="61" idx="1"/>
          </p:cNvCxnSpPr>
          <p:nvPr/>
        </p:nvCxnSpPr>
        <p:spPr>
          <a:xfrm rot="16200000" flipH="1">
            <a:off x="5746151" y="3881641"/>
            <a:ext cx="716890" cy="172456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文本框 189">
            <a:extLst>
              <a:ext uri="{FF2B5EF4-FFF2-40B4-BE49-F238E27FC236}">
                <a16:creationId xmlns:a16="http://schemas.microsoft.com/office/drawing/2014/main" id="{D84C206F-D7EA-63EC-A554-4D6250CFCE10}"/>
              </a:ext>
            </a:extLst>
          </p:cNvPr>
          <p:cNvSpPr txBox="1"/>
          <p:nvPr/>
        </p:nvSpPr>
        <p:spPr>
          <a:xfrm>
            <a:off x="5029719" y="3592165"/>
            <a:ext cx="1173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MiSans Bold" panose="00000800000000000000" pitchFamily="2" charset="-122"/>
              </a:rPr>
              <a:t>指数设计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193" name="米菲PPT26-1">
            <a:extLst>
              <a:ext uri="{FF2B5EF4-FFF2-40B4-BE49-F238E27FC236}">
                <a16:creationId xmlns:a16="http://schemas.microsoft.com/office/drawing/2014/main" id="{75F7AB9A-0757-FF18-DD2D-70E451D85D88}"/>
              </a:ext>
            </a:extLst>
          </p:cNvPr>
          <p:cNvSpPr/>
          <p:nvPr/>
        </p:nvSpPr>
        <p:spPr>
          <a:xfrm rot="5400000" flipV="1">
            <a:off x="5172857" y="3435469"/>
            <a:ext cx="359284" cy="1226674"/>
          </a:xfrm>
          <a:prstGeom prst="roundRect">
            <a:avLst>
              <a:gd name="adj" fmla="val 1197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algn="ctr" defTabSz="457200"/>
            <a:r>
              <a:rPr lang="zh-CN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分用户经营</a:t>
            </a:r>
            <a:endParaRPr lang="en-US" altLang="zh-CN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 defTabSz="457200"/>
            <a:r>
              <a:rPr lang="zh-CN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（如高价值、复购）</a:t>
            </a:r>
          </a:p>
        </p:txBody>
      </p:sp>
      <p:sp>
        <p:nvSpPr>
          <p:cNvPr id="194" name="米菲PPT26-1">
            <a:extLst>
              <a:ext uri="{FF2B5EF4-FFF2-40B4-BE49-F238E27FC236}">
                <a16:creationId xmlns:a16="http://schemas.microsoft.com/office/drawing/2014/main" id="{F36098BB-D79D-268F-A4DC-FFAC3C8E983A}"/>
              </a:ext>
            </a:extLst>
          </p:cNvPr>
          <p:cNvSpPr/>
          <p:nvPr/>
        </p:nvSpPr>
        <p:spPr>
          <a:xfrm rot="5400000" flipV="1">
            <a:off x="5172857" y="3836087"/>
            <a:ext cx="359284" cy="1226674"/>
          </a:xfrm>
          <a:prstGeom prst="roundRect">
            <a:avLst>
              <a:gd name="adj" fmla="val 1197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algn="ctr" defTabSz="457200"/>
            <a:r>
              <a:rPr lang="zh-CN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分对象经营</a:t>
            </a:r>
            <a:endParaRPr lang="en-US" altLang="zh-CN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 defTabSz="457200"/>
            <a:r>
              <a:rPr lang="zh-CN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（如店、菜品）</a:t>
            </a:r>
          </a:p>
        </p:txBody>
      </p:sp>
      <p:sp>
        <p:nvSpPr>
          <p:cNvPr id="195" name="米菲PPT26-1">
            <a:extLst>
              <a:ext uri="{FF2B5EF4-FFF2-40B4-BE49-F238E27FC236}">
                <a16:creationId xmlns:a16="http://schemas.microsoft.com/office/drawing/2014/main" id="{D0B4C257-D02D-F714-7A7B-D853813FA84A}"/>
              </a:ext>
            </a:extLst>
          </p:cNvPr>
          <p:cNvSpPr/>
          <p:nvPr/>
        </p:nvSpPr>
        <p:spPr>
          <a:xfrm rot="5400000" flipV="1">
            <a:off x="5172857" y="4224043"/>
            <a:ext cx="359284" cy="1226674"/>
          </a:xfrm>
          <a:prstGeom prst="roundRect">
            <a:avLst>
              <a:gd name="adj" fmla="val 1197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algn="ctr" defTabSz="457200"/>
            <a:r>
              <a:rPr lang="zh-CN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营销经营</a:t>
            </a:r>
            <a:endParaRPr lang="en-US" altLang="zh-CN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 defTabSz="457200"/>
            <a:r>
              <a:rPr lang="zh-CN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（如大促期、折扣）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CE0B3DB7-4015-1876-A01D-32BC9F25B38B}"/>
              </a:ext>
            </a:extLst>
          </p:cNvPr>
          <p:cNvSpPr/>
          <p:nvPr/>
        </p:nvSpPr>
        <p:spPr>
          <a:xfrm>
            <a:off x="6387318" y="1969643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上榜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营销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indent="177800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流量感知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身份荣誉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平台背书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A2132F-975D-62B3-8563-0E26ECB136C5}"/>
              </a:ext>
            </a:extLst>
          </p:cNvPr>
          <p:cNvSpPr/>
          <p:nvPr/>
        </p:nvSpPr>
        <p:spPr>
          <a:xfrm>
            <a:off x="6387318" y="2529105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矩阵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指南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indent="177800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趋势洞察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把握风向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策略参谋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BDEE17-BA7D-0EF4-3C10-D6D990048501}"/>
              </a:ext>
            </a:extLst>
          </p:cNvPr>
          <p:cNvSpPr/>
          <p:nvPr/>
        </p:nvSpPr>
        <p:spPr>
          <a:xfrm>
            <a:off x="6392882" y="3138196"/>
            <a:ext cx="2129979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规则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服务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indent="177800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自助工具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沟通机制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00C530F-5A62-6DA0-89D0-73FCA7C3F39D}"/>
              </a:ext>
            </a:extLst>
          </p:cNvPr>
          <p:cNvSpPr/>
          <p:nvPr/>
        </p:nvSpPr>
        <p:spPr>
          <a:xfrm>
            <a:off x="6395460" y="3697658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验榜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生意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indent="177800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真实到店核销，沉淀资产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会员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CDC056-F4E7-D7B4-7201-EA7BABC0EC23}"/>
              </a:ext>
            </a:extLst>
          </p:cNvPr>
          <p:cNvSpPr/>
          <p:nvPr/>
        </p:nvSpPr>
        <p:spPr>
          <a:xfrm>
            <a:off x="820392" y="3697001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验榜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体验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indent="177800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吃得上吃得优惠，满足分享欲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C9E86D-A6B0-382A-C1CC-0D57B114BC7A}"/>
              </a:ext>
            </a:extLst>
          </p:cNvPr>
          <p:cNvSpPr/>
          <p:nvPr/>
        </p:nvSpPr>
        <p:spPr>
          <a:xfrm>
            <a:off x="815804" y="3115128"/>
            <a:ext cx="2136812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规则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信任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indent="177800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合理性、权威性、综合度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947791-6395-7A05-F130-304A401FD2DD}"/>
              </a:ext>
            </a:extLst>
          </p:cNvPr>
          <p:cNvSpPr/>
          <p:nvPr/>
        </p:nvSpPr>
        <p:spPr>
          <a:xfrm>
            <a:off x="817076" y="2533255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>
              <a:lnSpc>
                <a:spcPct val="12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  <a:sym typeface="MiSans Medium" panose="00000600000000000000" pitchFamily="2" charset="-122"/>
              </a:rPr>
              <a:t>矩阵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sym typeface="MiSans Medium" panose="00000600000000000000" pitchFamily="2" charset="-122"/>
              </a:rPr>
              <a:t>场景</a:t>
            </a:r>
            <a:endParaRPr lang="en-US" altLang="zh-CN" sz="1200" b="1" dirty="0">
              <a:solidFill>
                <a:srgbClr val="FF0000"/>
              </a:solidFill>
              <a:latin typeface="+mn-ea"/>
              <a:sym typeface="MiSans Medium" panose="00000600000000000000" pitchFamily="2" charset="-122"/>
            </a:endParaRPr>
          </a:p>
          <a:p>
            <a:pPr indent="177800">
              <a:lnSpc>
                <a:spcPct val="120000"/>
              </a:lnSpc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满足细分需求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8B2438-575C-B5A7-51DD-C63614922DDD}"/>
              </a:ext>
            </a:extLst>
          </p:cNvPr>
          <p:cNvSpPr/>
          <p:nvPr/>
        </p:nvSpPr>
        <p:spPr>
          <a:xfrm>
            <a:off x="817076" y="1951382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看榜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即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决策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indent="177800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高效选择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兴趣激发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趋势发现</a:t>
            </a:r>
          </a:p>
        </p:txBody>
      </p:sp>
      <p:graphicFrame>
        <p:nvGraphicFramePr>
          <p:cNvPr id="5" name="对象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占位符 10"/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榜单定位及需求分析</a:t>
            </a:r>
            <a:endParaRPr lang="en-US" altLang="zh-CN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8" name="米菲PPT13"/>
          <p:cNvSpPr/>
          <p:nvPr/>
        </p:nvSpPr>
        <p:spPr>
          <a:xfrm>
            <a:off x="815804" y="1287196"/>
            <a:ext cx="7899843" cy="261158"/>
          </a:xfrm>
          <a:prstGeom prst="trapezoid">
            <a:avLst>
              <a:gd name="adj" fmla="val 153377"/>
            </a:avLst>
          </a:prstGeom>
          <a:noFill/>
          <a:ln w="1778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5" tIns="19205" rIns="38405" bIns="19205" rtlCol="0" anchor="ctr"/>
          <a:lstStyle/>
          <a:p>
            <a:pPr algn="ctr" defTabSz="685800">
              <a:defRPr/>
            </a:pPr>
            <a:endParaRPr lang="zh-CN" altLang="en-US" sz="900" b="1" dirty="0">
              <a:solidFill>
                <a:prstClr val="white"/>
              </a:solidFill>
              <a:latin typeface="+mn-ea"/>
              <a:cs typeface="+mn-ea"/>
            </a:endParaRPr>
          </a:p>
        </p:txBody>
      </p:sp>
      <p:sp>
        <p:nvSpPr>
          <p:cNvPr id="69" name="米菲PPT48"/>
          <p:cNvSpPr/>
          <p:nvPr/>
        </p:nvSpPr>
        <p:spPr>
          <a:xfrm>
            <a:off x="3755476" y="1306804"/>
            <a:ext cx="1827595" cy="28429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ffectLst/>
        </p:spPr>
        <p:txBody>
          <a:bodyPr vert="horz" wrap="square" lIns="0" tIns="58" rIns="0" bIns="0"/>
          <a:lstStyle/>
          <a:p>
            <a:pPr marL="233045" indent="-223520" algn="ctr" eaLnBrk="0">
              <a:lnSpc>
                <a:spcPct val="130000"/>
              </a:lnSpc>
            </a:pPr>
            <a:r>
              <a:rPr lang="zh-CN" altLang="en-US" sz="1200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榜单需求分析及主要举措</a:t>
            </a:r>
          </a:p>
        </p:txBody>
      </p:sp>
      <p:sp>
        <p:nvSpPr>
          <p:cNvPr id="82" name="米菲PPT56"/>
          <p:cNvSpPr/>
          <p:nvPr/>
        </p:nvSpPr>
        <p:spPr>
          <a:xfrm>
            <a:off x="889374" y="2008435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87" name="米菲PPT56"/>
          <p:cNvSpPr/>
          <p:nvPr/>
        </p:nvSpPr>
        <p:spPr>
          <a:xfrm>
            <a:off x="873771" y="3054135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cxnSp>
        <p:nvCxnSpPr>
          <p:cNvPr id="160" name="直接连接符 159"/>
          <p:cNvCxnSpPr/>
          <p:nvPr/>
        </p:nvCxnSpPr>
        <p:spPr>
          <a:xfrm>
            <a:off x="3782211" y="4835213"/>
            <a:ext cx="7784881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0" name="米菲PPT60"/>
          <p:cNvSpPr/>
          <p:nvPr/>
        </p:nvSpPr>
        <p:spPr>
          <a:xfrm>
            <a:off x="6486944" y="3169204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3" name="米菲PPT56"/>
          <p:cNvSpPr/>
          <p:nvPr/>
        </p:nvSpPr>
        <p:spPr>
          <a:xfrm>
            <a:off x="889374" y="2478335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4" name="米菲PPT56"/>
          <p:cNvSpPr/>
          <p:nvPr/>
        </p:nvSpPr>
        <p:spPr>
          <a:xfrm>
            <a:off x="895724" y="3132385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5" name="米菲PPT56"/>
          <p:cNvSpPr/>
          <p:nvPr/>
        </p:nvSpPr>
        <p:spPr>
          <a:xfrm>
            <a:off x="895724" y="3799135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A43EF69-9ED5-8BA6-D4EB-79A60860D49E}"/>
              </a:ext>
            </a:extLst>
          </p:cNvPr>
          <p:cNvSpPr txBox="1"/>
          <p:nvPr/>
        </p:nvSpPr>
        <p:spPr>
          <a:xfrm>
            <a:off x="396883" y="369881"/>
            <a:ext cx="85095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/>
              <a:t>为找店尝鲜的用餐用户，提供场景化、持久信赖的高效综合决策服务。 同时为长效经营的商家，提供经营指引服务。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满足</a:t>
            </a:r>
            <a:r>
              <a:rPr lang="en-US" altLang="zh-CN" sz="1200" dirty="0"/>
              <a:t>C</a:t>
            </a:r>
            <a:r>
              <a:rPr lang="zh-CN" altLang="en-US" sz="1200" dirty="0"/>
              <a:t>端用户决策需求，通过榜单矩阵满足场景化需求，完善规则的信任表达，满足榜单验证一致性体验。</a:t>
            </a:r>
            <a:endParaRPr lang="en-US" altLang="zh-C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满足</a:t>
            </a:r>
            <a:r>
              <a:rPr lang="en-US" altLang="zh-CN" sz="1200" dirty="0"/>
              <a:t>B</a:t>
            </a:r>
            <a:r>
              <a:rPr lang="zh-CN" altLang="en-US" sz="1200" dirty="0"/>
              <a:t>端用户长效经营中的营销曝光、洞察指南、服务辅导和真实生意增长需求。</a:t>
            </a:r>
          </a:p>
        </p:txBody>
      </p:sp>
      <p:sp>
        <p:nvSpPr>
          <p:cNvPr id="7" name="米菲PPT56">
            <a:extLst>
              <a:ext uri="{FF2B5EF4-FFF2-40B4-BE49-F238E27FC236}">
                <a16:creationId xmlns:a16="http://schemas.microsoft.com/office/drawing/2014/main" id="{58B9C969-9492-2418-4ABA-C2863E9717F5}"/>
              </a:ext>
            </a:extLst>
          </p:cNvPr>
          <p:cNvSpPr/>
          <p:nvPr/>
        </p:nvSpPr>
        <p:spPr>
          <a:xfrm>
            <a:off x="889374" y="2059006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2" name="米菲PPT56">
            <a:extLst>
              <a:ext uri="{FF2B5EF4-FFF2-40B4-BE49-F238E27FC236}">
                <a16:creationId xmlns:a16="http://schemas.microsoft.com/office/drawing/2014/main" id="{FB31EBBB-D0FF-18D0-34AD-A55FEDAA4DAA}"/>
              </a:ext>
            </a:extLst>
          </p:cNvPr>
          <p:cNvSpPr/>
          <p:nvPr/>
        </p:nvSpPr>
        <p:spPr>
          <a:xfrm>
            <a:off x="889374" y="2641710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3" name="米菲PPT56">
            <a:extLst>
              <a:ext uri="{FF2B5EF4-FFF2-40B4-BE49-F238E27FC236}">
                <a16:creationId xmlns:a16="http://schemas.microsoft.com/office/drawing/2014/main" id="{949D1135-6246-D387-2534-377786E7413D}"/>
              </a:ext>
            </a:extLst>
          </p:cNvPr>
          <p:cNvSpPr/>
          <p:nvPr/>
        </p:nvSpPr>
        <p:spPr>
          <a:xfrm>
            <a:off x="889374" y="3227503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4" name="米菲PPT56">
            <a:extLst>
              <a:ext uri="{FF2B5EF4-FFF2-40B4-BE49-F238E27FC236}">
                <a16:creationId xmlns:a16="http://schemas.microsoft.com/office/drawing/2014/main" id="{B366FEBC-8C84-7999-4AFC-95034C284BA0}"/>
              </a:ext>
            </a:extLst>
          </p:cNvPr>
          <p:cNvSpPr/>
          <p:nvPr/>
        </p:nvSpPr>
        <p:spPr>
          <a:xfrm>
            <a:off x="888863" y="3815233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5" name="米菲PPT60">
            <a:extLst>
              <a:ext uri="{FF2B5EF4-FFF2-40B4-BE49-F238E27FC236}">
                <a16:creationId xmlns:a16="http://schemas.microsoft.com/office/drawing/2014/main" id="{F7306C54-BDEB-02BC-F8B5-52D2C85243FE}"/>
              </a:ext>
            </a:extLst>
          </p:cNvPr>
          <p:cNvSpPr/>
          <p:nvPr/>
        </p:nvSpPr>
        <p:spPr>
          <a:xfrm>
            <a:off x="6467894" y="2077004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6" name="米菲PPT60">
            <a:extLst>
              <a:ext uri="{FF2B5EF4-FFF2-40B4-BE49-F238E27FC236}">
                <a16:creationId xmlns:a16="http://schemas.microsoft.com/office/drawing/2014/main" id="{F40855E1-CA06-ED9E-12B5-FEF1D10F6292}"/>
              </a:ext>
            </a:extLst>
          </p:cNvPr>
          <p:cNvSpPr/>
          <p:nvPr/>
        </p:nvSpPr>
        <p:spPr>
          <a:xfrm>
            <a:off x="6467893" y="2633706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7" name="米菲PPT60">
            <a:extLst>
              <a:ext uri="{FF2B5EF4-FFF2-40B4-BE49-F238E27FC236}">
                <a16:creationId xmlns:a16="http://schemas.microsoft.com/office/drawing/2014/main" id="{BB379777-776D-9F49-39D0-F6469E3FB97A}"/>
              </a:ext>
            </a:extLst>
          </p:cNvPr>
          <p:cNvSpPr/>
          <p:nvPr/>
        </p:nvSpPr>
        <p:spPr>
          <a:xfrm>
            <a:off x="6458443" y="3240376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8" name="米菲PPT60">
            <a:extLst>
              <a:ext uri="{FF2B5EF4-FFF2-40B4-BE49-F238E27FC236}">
                <a16:creationId xmlns:a16="http://schemas.microsoft.com/office/drawing/2014/main" id="{11BFEF1B-DF4D-13F9-F93F-FC77B5FD92DA}"/>
              </a:ext>
            </a:extLst>
          </p:cNvPr>
          <p:cNvSpPr/>
          <p:nvPr/>
        </p:nvSpPr>
        <p:spPr>
          <a:xfrm>
            <a:off x="6465006" y="3805483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4ACA930-7C68-C579-DAB3-27D7D7B4E9A0}"/>
              </a:ext>
            </a:extLst>
          </p:cNvPr>
          <p:cNvSpPr/>
          <p:nvPr/>
        </p:nvSpPr>
        <p:spPr>
          <a:xfrm>
            <a:off x="817076" y="1620574"/>
            <a:ext cx="2135543" cy="234094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用户需求及价值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4C5CCB6-266C-08A4-C3FE-4122E9112CEC}"/>
              </a:ext>
            </a:extLst>
          </p:cNvPr>
          <p:cNvSpPr/>
          <p:nvPr/>
        </p:nvSpPr>
        <p:spPr>
          <a:xfrm>
            <a:off x="6387318" y="1615921"/>
            <a:ext cx="2135543" cy="234094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商家需求及价值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F106959-DBD7-E889-0ADA-BF70CCB8133C}"/>
              </a:ext>
            </a:extLst>
          </p:cNvPr>
          <p:cNvSpPr/>
          <p:nvPr/>
        </p:nvSpPr>
        <p:spPr>
          <a:xfrm>
            <a:off x="3027712" y="1955719"/>
            <a:ext cx="3273520" cy="4571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提升榜单用户心智渗透，加强商家流量等感知</a:t>
            </a:r>
            <a:endParaRPr lang="en-US" altLang="zh-CN" sz="10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流量场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营销场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心智场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MiSans Medium" panose="00000600000000000000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3414CA-B11E-C664-66EB-9EAEE96C3BB7}"/>
              </a:ext>
            </a:extLst>
          </p:cNvPr>
          <p:cNvSpPr/>
          <p:nvPr/>
        </p:nvSpPr>
        <p:spPr>
          <a:xfrm>
            <a:off x="3035989" y="2522752"/>
            <a:ext cx="3273520" cy="4571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  <a:latin typeface="+mn-ea"/>
                <a:sym typeface="MiSans Medium" panose="00000600000000000000" pitchFamily="2" charset="-122"/>
              </a:rPr>
              <a:t>完善榜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sym typeface="MiSans Medium" panose="00000600000000000000" pitchFamily="2" charset="-122"/>
              </a:rPr>
              <a:t>单矩阵，</a:t>
            </a:r>
            <a:r>
              <a:rPr lang="zh-CN" altLang="en-US" sz="1200" b="1">
                <a:solidFill>
                  <a:schemeClr val="tx1"/>
                </a:solidFill>
                <a:latin typeface="+mn-ea"/>
                <a:sym typeface="MiSans Medium" panose="00000600000000000000" pitchFamily="2" charset="-122"/>
              </a:rPr>
              <a:t>合理扩大供给覆盖，牵引冲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sym typeface="MiSans Medium" panose="00000600000000000000" pitchFamily="2" charset="-122"/>
              </a:rPr>
              <a:t>榜</a:t>
            </a:r>
            <a:endParaRPr lang="en-US" altLang="zh-CN" sz="1200" b="1" dirty="0">
              <a:solidFill>
                <a:schemeClr val="tx1"/>
              </a:solidFill>
              <a:latin typeface="+mn-ea"/>
              <a:sym typeface="MiSans Medium" panose="00000600000000000000" pitchFamily="2" charset="-122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矩阵覆盖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消费报告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冲榜指南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71B25B2-39DE-F4F3-EF85-19BA89FB0D93}"/>
              </a:ext>
            </a:extLst>
          </p:cNvPr>
          <p:cNvSpPr/>
          <p:nvPr/>
        </p:nvSpPr>
        <p:spPr>
          <a:xfrm>
            <a:off x="3035989" y="3134242"/>
            <a:ext cx="3273520" cy="4571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优化榜单规则及引用资产建设，加强商户辅导</a:t>
            </a: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资产评测治理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商户辅导诊断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公信力共建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MiSans Medium" panose="00000600000000000000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261D388-8006-92A5-EC2B-9A5CC761B7CE}"/>
              </a:ext>
            </a:extLst>
          </p:cNvPr>
          <p:cNvSpPr/>
          <p:nvPr/>
        </p:nvSpPr>
        <p:spPr>
          <a:xfrm>
            <a:off x="3042011" y="3694314"/>
            <a:ext cx="3273520" cy="4571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引导转化，强调验榜一致性，促进分享</a:t>
            </a: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榜单落地页改版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MiSans Medium" panose="00000600000000000000" pitchFamily="2" charset="-122"/>
              </a:rPr>
              <a:t>营销权益玩法设计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MiSans Medium" panose="00000600000000000000" pitchFamily="2" charset="-122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D91DFCF5-4906-6E5D-1BD0-C7EEC16520E8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flipH="1" flipV="1">
            <a:off x="1884210" y="3572276"/>
            <a:ext cx="5351" cy="124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5A6C7D2-4E6D-6E3B-5912-EC90E07735B1}"/>
              </a:ext>
            </a:extLst>
          </p:cNvPr>
          <p:cNvCxnSpPr>
            <a:cxnSpLocks/>
            <a:stCxn id="21" idx="0"/>
            <a:endCxn id="20" idx="2"/>
          </p:cNvCxnSpPr>
          <p:nvPr/>
        </p:nvCxnSpPr>
        <p:spPr>
          <a:xfrm flipV="1">
            <a:off x="1884210" y="2990403"/>
            <a:ext cx="2035" cy="124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878A6FD-61DC-09AB-73F8-77D14B9BC9C5}"/>
              </a:ext>
            </a:extLst>
          </p:cNvPr>
          <p:cNvCxnSpPr>
            <a:cxnSpLocks/>
            <a:stCxn id="20" idx="0"/>
            <a:endCxn id="19" idx="2"/>
          </p:cNvCxnSpPr>
          <p:nvPr/>
        </p:nvCxnSpPr>
        <p:spPr>
          <a:xfrm flipV="1">
            <a:off x="1886245" y="2408530"/>
            <a:ext cx="0" cy="124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CF4D34D9-55DE-5383-485E-17A45D3F366A}"/>
              </a:ext>
            </a:extLst>
          </p:cNvPr>
          <p:cNvCxnSpPr>
            <a:stCxn id="19" idx="1"/>
            <a:endCxn id="22" idx="1"/>
          </p:cNvCxnSpPr>
          <p:nvPr/>
        </p:nvCxnSpPr>
        <p:spPr>
          <a:xfrm rot="10800000" flipH="1" flipV="1">
            <a:off x="817076" y="2179955"/>
            <a:ext cx="3316" cy="1745619"/>
          </a:xfrm>
          <a:prstGeom prst="bentConnector3">
            <a:avLst>
              <a:gd name="adj1" fmla="val -68938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C6B307FE-87C5-64F2-2588-6F391A654358}"/>
              </a:ext>
            </a:extLst>
          </p:cNvPr>
          <p:cNvCxnSpPr>
            <a:cxnSpLocks/>
            <a:stCxn id="26" idx="0"/>
            <a:endCxn id="25" idx="2"/>
          </p:cNvCxnSpPr>
          <p:nvPr/>
        </p:nvCxnSpPr>
        <p:spPr>
          <a:xfrm flipH="1" flipV="1">
            <a:off x="7457872" y="3595344"/>
            <a:ext cx="6757" cy="102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0C16CC69-2DD0-306B-2103-D179DDBD685C}"/>
              </a:ext>
            </a:extLst>
          </p:cNvPr>
          <p:cNvCxnSpPr>
            <a:cxnSpLocks/>
            <a:stCxn id="25" idx="0"/>
            <a:endCxn id="24" idx="2"/>
          </p:cNvCxnSpPr>
          <p:nvPr/>
        </p:nvCxnSpPr>
        <p:spPr>
          <a:xfrm flipH="1" flipV="1">
            <a:off x="7456487" y="2986253"/>
            <a:ext cx="1385" cy="151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DEBE1FA5-6AA2-B235-25DC-E20ED725F075}"/>
              </a:ext>
            </a:extLst>
          </p:cNvPr>
          <p:cNvCxnSpPr>
            <a:cxnSpLocks/>
            <a:stCxn id="24" idx="0"/>
            <a:endCxn id="23" idx="2"/>
          </p:cNvCxnSpPr>
          <p:nvPr/>
        </p:nvCxnSpPr>
        <p:spPr>
          <a:xfrm flipV="1">
            <a:off x="7456487" y="2426791"/>
            <a:ext cx="0" cy="102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611A6488-B114-DD7A-557F-E6E23516E43D}"/>
              </a:ext>
            </a:extLst>
          </p:cNvPr>
          <p:cNvCxnSpPr>
            <a:cxnSpLocks/>
            <a:stCxn id="23" idx="3"/>
            <a:endCxn id="26" idx="3"/>
          </p:cNvCxnSpPr>
          <p:nvPr/>
        </p:nvCxnSpPr>
        <p:spPr>
          <a:xfrm>
            <a:off x="8525656" y="2198217"/>
            <a:ext cx="8142" cy="1728015"/>
          </a:xfrm>
          <a:prstGeom prst="bentConnector3">
            <a:avLst>
              <a:gd name="adj1" fmla="val 22954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3401BDD-6342-7A63-B4F0-DFF34662A51E}"/>
              </a:ext>
            </a:extLst>
          </p:cNvPr>
          <p:cNvSpPr/>
          <p:nvPr/>
        </p:nvSpPr>
        <p:spPr>
          <a:xfrm>
            <a:off x="3027712" y="1627085"/>
            <a:ext cx="3273520" cy="234094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主要举措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10B86BB-3808-E157-2D08-B86FAB10F65F}"/>
              </a:ext>
            </a:extLst>
          </p:cNvPr>
          <p:cNvSpPr/>
          <p:nvPr/>
        </p:nvSpPr>
        <p:spPr>
          <a:xfrm>
            <a:off x="815804" y="4320988"/>
            <a:ext cx="7717994" cy="383977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主要目标：看榜用户规模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渗透率，上榜门店店均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GTV</a:t>
            </a:r>
            <a:endParaRPr lang="zh-CN" altLang="en-US" sz="1200" b="1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08706" y="123823"/>
            <a:ext cx="8583088" cy="266037"/>
          </a:xfrm>
        </p:spPr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举措一：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  <a:sym typeface="MiSans Medium" panose="00000600000000000000" pitchFamily="2" charset="-122"/>
              </a:rPr>
              <a:t>提升榜单用户心智渗透，加强榜单营销</a:t>
            </a:r>
            <a:endParaRPr lang="en-US" altLang="zh-CN" sz="1400" dirty="0">
              <a:solidFill>
                <a:schemeClr val="tx1"/>
              </a:solidFill>
              <a:latin typeface="+mn-ea"/>
              <a:ea typeface="+mn-ea"/>
              <a:sym typeface="MiSans Medium" panose="00000600000000000000" pitchFamily="2" charset="-122"/>
            </a:endParaRPr>
          </a:p>
        </p:txBody>
      </p:sp>
      <p:sp>
        <p:nvSpPr>
          <p:cNvPr id="6" name="米菲PPT36"/>
          <p:cNvSpPr/>
          <p:nvPr/>
        </p:nvSpPr>
        <p:spPr>
          <a:xfrm rot="10800000" flipV="1">
            <a:off x="189360" y="1402499"/>
            <a:ext cx="796004" cy="361569"/>
          </a:xfrm>
          <a:prstGeom prst="roundRect">
            <a:avLst>
              <a:gd name="adj" fmla="val 29084"/>
            </a:avLst>
          </a:prstGeom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流量场</a:t>
            </a:r>
          </a:p>
        </p:txBody>
      </p:sp>
      <p:sp>
        <p:nvSpPr>
          <p:cNvPr id="9" name="米菲PPT36"/>
          <p:cNvSpPr/>
          <p:nvPr/>
        </p:nvSpPr>
        <p:spPr>
          <a:xfrm rot="10800000" flipV="1">
            <a:off x="184077" y="3824161"/>
            <a:ext cx="796005" cy="361569"/>
          </a:xfrm>
          <a:prstGeom prst="roundRect">
            <a:avLst>
              <a:gd name="adj" fmla="val 29084"/>
            </a:avLst>
          </a:prstGeom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心智场</a:t>
            </a:r>
          </a:p>
        </p:txBody>
      </p:sp>
      <p:sp>
        <p:nvSpPr>
          <p:cNvPr id="14" name="矩形 13"/>
          <p:cNvSpPr/>
          <p:nvPr/>
        </p:nvSpPr>
        <p:spPr>
          <a:xfrm>
            <a:off x="1209446" y="887222"/>
            <a:ext cx="2493894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平日保量：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上榜门店搜推场景流量提权。针对特定场景、特定用户、特定成榜词展示策略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216595" y="1391178"/>
            <a:ext cx="2493894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节点爆发：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节点大促期间，专属流量额外加持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16595" y="3407002"/>
            <a:ext cx="2486745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身份荣誉：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线上加强上榜门店标识露出和荣誉体系；打造用户验榜身份及荣誉体系。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5385" y="1744076"/>
            <a:ext cx="9468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latin typeface="+mn-ea"/>
              </a:rPr>
              <a:t>多场景</a:t>
            </a:r>
            <a:endParaRPr kumimoji="1" lang="en-US" altLang="zh-CN" sz="900" dirty="0">
              <a:latin typeface="+mn-ea"/>
            </a:endParaRPr>
          </a:p>
          <a:p>
            <a:pPr algn="ctr"/>
            <a:r>
              <a:rPr kumimoji="1" lang="zh-CN" altLang="en-US" sz="900" dirty="0">
                <a:latin typeface="+mn-ea"/>
              </a:rPr>
              <a:t>分时段</a:t>
            </a:r>
            <a:endParaRPr kumimoji="1" lang="en-US" altLang="zh-CN" sz="900" dirty="0">
              <a:latin typeface="+mn-ea"/>
            </a:endParaRPr>
          </a:p>
          <a:p>
            <a:pPr algn="ctr"/>
            <a:r>
              <a:rPr kumimoji="1" lang="zh-CN" altLang="en-US" sz="900" dirty="0">
                <a:latin typeface="+mn-ea"/>
              </a:rPr>
              <a:t>精细化</a:t>
            </a:r>
            <a:endParaRPr kumimoji="1" lang="en-US" altLang="zh-CN" sz="900" dirty="0">
              <a:latin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0138" y="4185730"/>
            <a:ext cx="946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latin typeface="+mn-ea"/>
              </a:rPr>
              <a:t>双线共振</a:t>
            </a:r>
            <a:endParaRPr kumimoji="1" lang="en-US" altLang="zh-CN" sz="900" dirty="0">
              <a:latin typeface="+mn-ea"/>
            </a:endParaRPr>
          </a:p>
          <a:p>
            <a:pPr algn="ctr"/>
            <a:r>
              <a:rPr kumimoji="1" lang="zh-CN" altLang="en-US" sz="900" dirty="0">
                <a:latin typeface="+mn-ea"/>
              </a:rPr>
              <a:t>多方联动</a:t>
            </a:r>
            <a:endParaRPr kumimoji="1" lang="en-US" altLang="zh-CN" sz="900" dirty="0">
              <a:latin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209446" y="3910958"/>
            <a:ext cx="2486745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物料覆盖：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线下门店覆盖，同时覆盖人群聚集选店场景，如地铁口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商圈，到综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外卖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Cross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左大括号 22"/>
          <p:cNvSpPr/>
          <p:nvPr/>
        </p:nvSpPr>
        <p:spPr>
          <a:xfrm>
            <a:off x="1018746" y="1080565"/>
            <a:ext cx="147571" cy="102389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24" name="左大括号 23"/>
          <p:cNvSpPr/>
          <p:nvPr/>
        </p:nvSpPr>
        <p:spPr>
          <a:xfrm>
            <a:off x="1021668" y="3418503"/>
            <a:ext cx="153341" cy="122680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26" name="米菲PPT38"/>
          <p:cNvSpPr txBox="1"/>
          <p:nvPr/>
        </p:nvSpPr>
        <p:spPr>
          <a:xfrm>
            <a:off x="1741329" y="547274"/>
            <a:ext cx="1430127" cy="27699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核心动作</a:t>
            </a:r>
          </a:p>
        </p:txBody>
      </p:sp>
      <p:sp>
        <p:nvSpPr>
          <p:cNvPr id="2" name="米菲PPT36"/>
          <p:cNvSpPr/>
          <p:nvPr/>
        </p:nvSpPr>
        <p:spPr>
          <a:xfrm rot="10800000" flipV="1">
            <a:off x="184077" y="2689268"/>
            <a:ext cx="796005" cy="361569"/>
          </a:xfrm>
          <a:prstGeom prst="roundRect">
            <a:avLst>
              <a:gd name="adj" fmla="val 29084"/>
            </a:avLst>
          </a:prstGeom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营销场</a:t>
            </a:r>
          </a:p>
        </p:txBody>
      </p:sp>
      <p:sp>
        <p:nvSpPr>
          <p:cNvPr id="3" name="矩形 2"/>
          <p:cNvSpPr/>
          <p:nvPr/>
        </p:nvSpPr>
        <p:spPr>
          <a:xfrm>
            <a:off x="1209446" y="2399090"/>
            <a:ext cx="2493894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叠浪营销：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年度“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212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”叠浪周期“好店好价日”，顺应时令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假日营销日历，抓住热点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9446" y="2903046"/>
            <a:ext cx="2493894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工具赋能：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神券、会员权益矩阵 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x 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榜单矩阵 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Cross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，共同提升渗透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9002" y="3021703"/>
            <a:ext cx="9468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latin typeface="+mn-ea"/>
              </a:rPr>
              <a:t>核心城市</a:t>
            </a:r>
            <a:endParaRPr kumimoji="1" lang="en-US" altLang="zh-CN" sz="900" dirty="0">
              <a:latin typeface="+mn-ea"/>
            </a:endParaRPr>
          </a:p>
          <a:p>
            <a:pPr algn="ctr"/>
            <a:r>
              <a:rPr kumimoji="1" lang="zh-CN" altLang="en-US" sz="900" dirty="0">
                <a:latin typeface="+mn-ea"/>
              </a:rPr>
              <a:t>核心供给</a:t>
            </a:r>
            <a:endParaRPr kumimoji="1" lang="en-US" altLang="zh-CN" sz="900" dirty="0">
              <a:latin typeface="+mn-ea"/>
            </a:endParaRPr>
          </a:p>
          <a:p>
            <a:pPr algn="ctr"/>
            <a:r>
              <a:rPr kumimoji="1" lang="zh-CN" altLang="en-US" sz="900" dirty="0">
                <a:latin typeface="+mn-ea"/>
              </a:rPr>
              <a:t>核心用户</a:t>
            </a:r>
            <a:endParaRPr kumimoji="1" lang="en-US" altLang="zh-CN" sz="900" dirty="0">
              <a:latin typeface="+mn-ea"/>
            </a:endParaRPr>
          </a:p>
        </p:txBody>
      </p:sp>
      <p:sp>
        <p:nvSpPr>
          <p:cNvPr id="10" name="左大括号 9"/>
          <p:cNvSpPr/>
          <p:nvPr/>
        </p:nvSpPr>
        <p:spPr>
          <a:xfrm>
            <a:off x="988286" y="2563780"/>
            <a:ext cx="153341" cy="68610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07945516-090F-AAC3-2672-21DA1CE86F25}"/>
              </a:ext>
            </a:extLst>
          </p:cNvPr>
          <p:cNvGrpSpPr/>
          <p:nvPr/>
        </p:nvGrpSpPr>
        <p:grpSpPr>
          <a:xfrm>
            <a:off x="3817751" y="2203473"/>
            <a:ext cx="1430127" cy="1254205"/>
            <a:chOff x="6176628" y="277314"/>
            <a:chExt cx="1518893" cy="1332051"/>
          </a:xfrm>
        </p:grpSpPr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01E5B92F-C24D-CDEA-DAF2-6C630C20D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234"/>
            <a:stretch/>
          </p:blipFill>
          <p:spPr>
            <a:xfrm>
              <a:off x="6176628" y="277314"/>
              <a:ext cx="1518893" cy="1332051"/>
            </a:xfrm>
            <a:prstGeom prst="rect">
              <a:avLst/>
            </a:prstGeom>
          </p:spPr>
        </p:pic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57043F53-5AEA-7B9C-AD33-C9A883B138D4}"/>
                </a:ext>
              </a:extLst>
            </p:cNvPr>
            <p:cNvSpPr/>
            <p:nvPr/>
          </p:nvSpPr>
          <p:spPr>
            <a:xfrm>
              <a:off x="7319801" y="619853"/>
              <a:ext cx="242737" cy="213043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  <a:prstDash val="sysDot"/>
                </a:ln>
                <a:noFill/>
                <a:latin typeface="+mn-ea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2CD0B106-3A12-0F14-99F1-504B1C4F3B6E}"/>
                </a:ext>
              </a:extLst>
            </p:cNvPr>
            <p:cNvSpPr/>
            <p:nvPr/>
          </p:nvSpPr>
          <p:spPr>
            <a:xfrm>
              <a:off x="6229690" y="305249"/>
              <a:ext cx="741330" cy="203149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rgbClr val="FF0000"/>
                  </a:solidFill>
                  <a:prstDash val="sysDot"/>
                </a:ln>
                <a:noFill/>
                <a:latin typeface="+mn-ea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43C06BFE-65E8-E010-94D7-E9DB74810A0C}"/>
              </a:ext>
            </a:extLst>
          </p:cNvPr>
          <p:cNvGrpSpPr/>
          <p:nvPr/>
        </p:nvGrpSpPr>
        <p:grpSpPr>
          <a:xfrm>
            <a:off x="3797577" y="682501"/>
            <a:ext cx="1484644" cy="1260691"/>
            <a:chOff x="7189996" y="918891"/>
            <a:chExt cx="1707712" cy="1450110"/>
          </a:xfrm>
        </p:grpSpPr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FF6C9F9C-623C-1647-9A66-43DAE1245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13201" y="918891"/>
              <a:ext cx="1646679" cy="1313174"/>
            </a:xfrm>
            <a:prstGeom prst="rect">
              <a:avLst/>
            </a:prstGeom>
          </p:spPr>
        </p:pic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FC0B15BE-1991-350E-CB67-6DB121CD66F9}"/>
                </a:ext>
              </a:extLst>
            </p:cNvPr>
            <p:cNvSpPr/>
            <p:nvPr/>
          </p:nvSpPr>
          <p:spPr>
            <a:xfrm>
              <a:off x="7189996" y="1269505"/>
              <a:ext cx="1707712" cy="1099496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  <a:prstDash val="sysDot"/>
                </a:ln>
                <a:noFill/>
                <a:latin typeface="+mn-ea"/>
              </a:endParaRPr>
            </a:p>
          </p:txBody>
        </p:sp>
      </p:grpSp>
      <p:sp>
        <p:nvSpPr>
          <p:cNvPr id="92" name="米菲PPT38">
            <a:extLst>
              <a:ext uri="{FF2B5EF4-FFF2-40B4-BE49-F238E27FC236}">
                <a16:creationId xmlns:a16="http://schemas.microsoft.com/office/drawing/2014/main" id="{70EE41A4-0B25-D352-45C2-29E7869F3534}"/>
              </a:ext>
            </a:extLst>
          </p:cNvPr>
          <p:cNvSpPr txBox="1"/>
          <p:nvPr/>
        </p:nvSpPr>
        <p:spPr>
          <a:xfrm>
            <a:off x="3792930" y="1937068"/>
            <a:ext cx="1430127" cy="2308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D+ 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找信息场景常驻榜单</a:t>
            </a:r>
          </a:p>
        </p:txBody>
      </p:sp>
      <p:sp>
        <p:nvSpPr>
          <p:cNvPr id="94" name="米菲PPT38">
            <a:extLst>
              <a:ext uri="{FF2B5EF4-FFF2-40B4-BE49-F238E27FC236}">
                <a16:creationId xmlns:a16="http://schemas.microsoft.com/office/drawing/2014/main" id="{0A7221E0-8483-4ADD-6977-3AB36E6FFFDB}"/>
              </a:ext>
            </a:extLst>
          </p:cNvPr>
          <p:cNvSpPr txBox="1"/>
          <p:nvPr/>
        </p:nvSpPr>
        <p:spPr>
          <a:xfrm>
            <a:off x="5390522" y="1930373"/>
            <a:ext cx="1556294" cy="2308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JD 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复访用户动态展示金刚</a:t>
            </a:r>
          </a:p>
        </p:txBody>
      </p:sp>
      <p:sp>
        <p:nvSpPr>
          <p:cNvPr id="95" name="米菲PPT38">
            <a:extLst>
              <a:ext uri="{FF2B5EF4-FFF2-40B4-BE49-F238E27FC236}">
                <a16:creationId xmlns:a16="http://schemas.microsoft.com/office/drawing/2014/main" id="{21C902A1-A49F-1F1A-ACFD-0B1260BF9EC9}"/>
              </a:ext>
            </a:extLst>
          </p:cNvPr>
          <p:cNvSpPr txBox="1"/>
          <p:nvPr/>
        </p:nvSpPr>
        <p:spPr>
          <a:xfrm>
            <a:off x="3765633" y="3366800"/>
            <a:ext cx="1792391" cy="2308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B+ 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成榜词搜索列表、蝉联荣誉</a:t>
            </a:r>
          </a:p>
        </p:txBody>
      </p:sp>
      <p:pic>
        <p:nvPicPr>
          <p:cNvPr id="97" name="图片 96" descr="图形用户界面&#10;&#10;AI 生成的内容可能不正确。">
            <a:extLst>
              <a:ext uri="{FF2B5EF4-FFF2-40B4-BE49-F238E27FC236}">
                <a16:creationId xmlns:a16="http://schemas.microsoft.com/office/drawing/2014/main" id="{B0A8944B-FFF9-F2AB-F997-354DD119E5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4562"/>
          <a:stretch>
            <a:fillRect/>
          </a:stretch>
        </p:blipFill>
        <p:spPr>
          <a:xfrm>
            <a:off x="5322354" y="689206"/>
            <a:ext cx="1274095" cy="9776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93" name="组合 92"/>
          <p:cNvGrpSpPr/>
          <p:nvPr/>
        </p:nvGrpSpPr>
        <p:grpSpPr>
          <a:xfrm>
            <a:off x="5770777" y="842556"/>
            <a:ext cx="1328930" cy="1108807"/>
            <a:chOff x="6993603" y="4148739"/>
            <a:chExt cx="918000" cy="701775"/>
          </a:xfrm>
        </p:grpSpPr>
        <p:pic>
          <p:nvPicPr>
            <p:cNvPr id="81" name="图片 80" descr="徽标&#10;&#10;AI 生成的内容可能不正确。"/>
            <p:cNvPicPr>
              <a:picLocks noChangeAspect="1"/>
            </p:cNvPicPr>
            <p:nvPr/>
          </p:nvPicPr>
          <p:blipFill>
            <a:blip r:embed="rId6"/>
            <a:srcRect b="64695"/>
            <a:stretch>
              <a:fillRect/>
            </a:stretch>
          </p:blipFill>
          <p:spPr>
            <a:xfrm>
              <a:off x="6993603" y="4148739"/>
              <a:ext cx="918000" cy="70177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82" name="椭圆 81"/>
            <p:cNvSpPr/>
            <p:nvPr/>
          </p:nvSpPr>
          <p:spPr>
            <a:xfrm>
              <a:off x="7134867" y="4497275"/>
              <a:ext cx="226110" cy="22611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+mn-ea"/>
              </a:endParaRPr>
            </a:p>
          </p:txBody>
        </p:sp>
      </p:grpSp>
      <p:sp>
        <p:nvSpPr>
          <p:cNvPr id="104" name="矩形 103">
            <a:extLst>
              <a:ext uri="{FF2B5EF4-FFF2-40B4-BE49-F238E27FC236}">
                <a16:creationId xmlns:a16="http://schemas.microsoft.com/office/drawing/2014/main" id="{EA4CA8F2-8731-14FE-8DF1-C757769F2644}"/>
              </a:ext>
            </a:extLst>
          </p:cNvPr>
          <p:cNvSpPr/>
          <p:nvPr/>
        </p:nvSpPr>
        <p:spPr>
          <a:xfrm>
            <a:off x="1216595" y="4414912"/>
            <a:ext cx="2486745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生态背书：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商家、用户、明星、达人、专家名厨、政府、媒体、渠道整合，联合发声背书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22C06379-2206-931C-DF30-0827A8947132}"/>
              </a:ext>
            </a:extLst>
          </p:cNvPr>
          <p:cNvSpPr/>
          <p:nvPr/>
        </p:nvSpPr>
        <p:spPr>
          <a:xfrm>
            <a:off x="7772347" y="2258978"/>
            <a:ext cx="901255" cy="90125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稀缺资源</a:t>
            </a:r>
          </a:p>
        </p:txBody>
      </p:sp>
      <p:pic>
        <p:nvPicPr>
          <p:cNvPr id="107" name="图片 106">
            <a:extLst>
              <a:ext uri="{FF2B5EF4-FFF2-40B4-BE49-F238E27FC236}">
                <a16:creationId xmlns:a16="http://schemas.microsoft.com/office/drawing/2014/main" id="{8D026A10-B282-8C47-118C-335D0F568A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1038" y="2198166"/>
            <a:ext cx="957113" cy="1164678"/>
          </a:xfrm>
          <a:prstGeom prst="rect">
            <a:avLst/>
          </a:prstGeom>
        </p:spPr>
      </p:pic>
      <p:sp>
        <p:nvSpPr>
          <p:cNvPr id="108" name="米菲PPT38">
            <a:extLst>
              <a:ext uri="{FF2B5EF4-FFF2-40B4-BE49-F238E27FC236}">
                <a16:creationId xmlns:a16="http://schemas.microsoft.com/office/drawing/2014/main" id="{CE5C3257-AB83-BD72-2288-D1D13E497C4F}"/>
              </a:ext>
            </a:extLst>
          </p:cNvPr>
          <p:cNvSpPr txBox="1"/>
          <p:nvPr/>
        </p:nvSpPr>
        <p:spPr>
          <a:xfrm>
            <a:off x="5447954" y="3364822"/>
            <a:ext cx="1518893" cy="2308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业务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Cross 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必吃榜打包袋</a:t>
            </a:r>
          </a:p>
        </p:txBody>
      </p:sp>
      <p:sp>
        <p:nvSpPr>
          <p:cNvPr id="109" name="米菲PPT36">
            <a:extLst>
              <a:ext uri="{FF2B5EF4-FFF2-40B4-BE49-F238E27FC236}">
                <a16:creationId xmlns:a16="http://schemas.microsoft.com/office/drawing/2014/main" id="{D9FC6AEE-D347-E59B-7EF6-F94B3D0A35BA}"/>
              </a:ext>
            </a:extLst>
          </p:cNvPr>
          <p:cNvSpPr/>
          <p:nvPr/>
        </p:nvSpPr>
        <p:spPr>
          <a:xfrm rot="10800000" flipV="1">
            <a:off x="7450312" y="1922245"/>
            <a:ext cx="785792" cy="187189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明星周边</a:t>
            </a:r>
            <a:endParaRPr lang="zh-CN" altLang="en-US" sz="1050" dirty="0">
              <a:solidFill>
                <a:schemeClr val="tx1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10" name="米菲PPT36">
            <a:extLst>
              <a:ext uri="{FF2B5EF4-FFF2-40B4-BE49-F238E27FC236}">
                <a16:creationId xmlns:a16="http://schemas.microsoft.com/office/drawing/2014/main" id="{51DF137A-3C58-FFB2-25B0-9E4B55FA02AB}"/>
              </a:ext>
            </a:extLst>
          </p:cNvPr>
          <p:cNvSpPr/>
          <p:nvPr/>
        </p:nvSpPr>
        <p:spPr>
          <a:xfrm rot="10800000" flipV="1">
            <a:off x="8284620" y="1927697"/>
            <a:ext cx="785792" cy="187189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锦鲤礼包</a:t>
            </a:r>
          </a:p>
        </p:txBody>
      </p:sp>
      <p:sp>
        <p:nvSpPr>
          <p:cNvPr id="114" name="米菲PPT38">
            <a:extLst>
              <a:ext uri="{FF2B5EF4-FFF2-40B4-BE49-F238E27FC236}">
                <a16:creationId xmlns:a16="http://schemas.microsoft.com/office/drawing/2014/main" id="{951D59C3-B6FB-5AFC-BFA5-126520B59223}"/>
              </a:ext>
            </a:extLst>
          </p:cNvPr>
          <p:cNvSpPr txBox="1"/>
          <p:nvPr/>
        </p:nvSpPr>
        <p:spPr>
          <a:xfrm>
            <a:off x="7644201" y="6471694"/>
            <a:ext cx="1518893" cy="246221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携程</a:t>
            </a:r>
            <a:r>
              <a:rPr lang="en-US" altLang="zh-CN" sz="10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-</a:t>
            </a:r>
            <a:r>
              <a:rPr lang="zh-CN" altLang="en-US" sz="10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明周边星</a:t>
            </a:r>
          </a:p>
        </p:txBody>
      </p:sp>
      <p:sp>
        <p:nvSpPr>
          <p:cNvPr id="117" name="米菲PPT36">
            <a:extLst>
              <a:ext uri="{FF2B5EF4-FFF2-40B4-BE49-F238E27FC236}">
                <a16:creationId xmlns:a16="http://schemas.microsoft.com/office/drawing/2014/main" id="{987AC352-281A-B35C-D1CC-E5F4C407D27E}"/>
              </a:ext>
            </a:extLst>
          </p:cNvPr>
          <p:cNvSpPr/>
          <p:nvPr/>
        </p:nvSpPr>
        <p:spPr>
          <a:xfrm rot="10800000" flipV="1">
            <a:off x="7450311" y="3237239"/>
            <a:ext cx="785792" cy="187189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综艺合作</a:t>
            </a:r>
          </a:p>
        </p:txBody>
      </p:sp>
      <p:sp>
        <p:nvSpPr>
          <p:cNvPr id="118" name="米菲PPT36">
            <a:extLst>
              <a:ext uri="{FF2B5EF4-FFF2-40B4-BE49-F238E27FC236}">
                <a16:creationId xmlns:a16="http://schemas.microsoft.com/office/drawing/2014/main" id="{5EF3CFEF-781A-D1D3-AC9E-332D640CDBA7}"/>
              </a:ext>
            </a:extLst>
          </p:cNvPr>
          <p:cNvSpPr/>
          <p:nvPr/>
        </p:nvSpPr>
        <p:spPr>
          <a:xfrm rot="10800000" flipV="1">
            <a:off x="8284620" y="3237726"/>
            <a:ext cx="785792" cy="187189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跨圈交流</a:t>
            </a:r>
          </a:p>
        </p:txBody>
      </p:sp>
      <p:sp>
        <p:nvSpPr>
          <p:cNvPr id="119" name="米菲PPT36">
            <a:extLst>
              <a:ext uri="{FF2B5EF4-FFF2-40B4-BE49-F238E27FC236}">
                <a16:creationId xmlns:a16="http://schemas.microsoft.com/office/drawing/2014/main" id="{A5AFA862-DB7A-006B-AD20-F38403693984}"/>
              </a:ext>
            </a:extLst>
          </p:cNvPr>
          <p:cNvSpPr/>
          <p:nvPr/>
        </p:nvSpPr>
        <p:spPr>
          <a:xfrm rot="10800000" flipV="1">
            <a:off x="7450311" y="3507133"/>
            <a:ext cx="785792" cy="187189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联合广告</a:t>
            </a:r>
          </a:p>
        </p:txBody>
      </p:sp>
      <p:sp>
        <p:nvSpPr>
          <p:cNvPr id="120" name="米菲PPT38">
            <a:extLst>
              <a:ext uri="{FF2B5EF4-FFF2-40B4-BE49-F238E27FC236}">
                <a16:creationId xmlns:a16="http://schemas.microsoft.com/office/drawing/2014/main" id="{F6E9697E-CF25-E184-2416-12FD4E7C739A}"/>
              </a:ext>
            </a:extLst>
          </p:cNvPr>
          <p:cNvSpPr txBox="1"/>
          <p:nvPr/>
        </p:nvSpPr>
        <p:spPr>
          <a:xfrm>
            <a:off x="7537298" y="1272166"/>
            <a:ext cx="1430127" cy="27699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吸引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C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端</a:t>
            </a:r>
          </a:p>
        </p:txBody>
      </p:sp>
      <p:sp>
        <p:nvSpPr>
          <p:cNvPr id="121" name="右大括号 120">
            <a:extLst>
              <a:ext uri="{FF2B5EF4-FFF2-40B4-BE49-F238E27FC236}">
                <a16:creationId xmlns:a16="http://schemas.microsoft.com/office/drawing/2014/main" id="{B374549E-B98A-A0E2-AB6E-3C4BCF374D76}"/>
              </a:ext>
            </a:extLst>
          </p:cNvPr>
          <p:cNvSpPr/>
          <p:nvPr/>
        </p:nvSpPr>
        <p:spPr>
          <a:xfrm>
            <a:off x="7135131" y="600440"/>
            <a:ext cx="213852" cy="427527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米菲PPT38">
            <a:extLst>
              <a:ext uri="{FF2B5EF4-FFF2-40B4-BE49-F238E27FC236}">
                <a16:creationId xmlns:a16="http://schemas.microsoft.com/office/drawing/2014/main" id="{4472905D-73FD-D4C3-D9B2-8E9E5C01CC42}"/>
              </a:ext>
            </a:extLst>
          </p:cNvPr>
          <p:cNvSpPr txBox="1"/>
          <p:nvPr/>
        </p:nvSpPr>
        <p:spPr>
          <a:xfrm>
            <a:off x="7507910" y="3713791"/>
            <a:ext cx="1430127" cy="27699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吸引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B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端</a:t>
            </a:r>
          </a:p>
        </p:txBody>
      </p:sp>
      <p:sp>
        <p:nvSpPr>
          <p:cNvPr id="123" name="米菲PPT38">
            <a:extLst>
              <a:ext uri="{FF2B5EF4-FFF2-40B4-BE49-F238E27FC236}">
                <a16:creationId xmlns:a16="http://schemas.microsoft.com/office/drawing/2014/main" id="{3A73D374-C985-7B84-CDF5-5BD57A8CB9A9}"/>
              </a:ext>
            </a:extLst>
          </p:cNvPr>
          <p:cNvSpPr txBox="1"/>
          <p:nvPr/>
        </p:nvSpPr>
        <p:spPr>
          <a:xfrm>
            <a:off x="7135131" y="2573489"/>
            <a:ext cx="831627" cy="27699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撬动</a:t>
            </a:r>
          </a:p>
        </p:txBody>
      </p:sp>
      <p:sp>
        <p:nvSpPr>
          <p:cNvPr id="124" name="米菲PPT36">
            <a:extLst>
              <a:ext uri="{FF2B5EF4-FFF2-40B4-BE49-F238E27FC236}">
                <a16:creationId xmlns:a16="http://schemas.microsoft.com/office/drawing/2014/main" id="{6FE860DC-BEAB-22A8-B4C9-4697477FAEC9}"/>
              </a:ext>
            </a:extLst>
          </p:cNvPr>
          <p:cNvSpPr/>
          <p:nvPr/>
        </p:nvSpPr>
        <p:spPr>
          <a:xfrm rot="10800000" flipV="1">
            <a:off x="7444551" y="1626560"/>
            <a:ext cx="785791" cy="193283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盛典门票</a:t>
            </a:r>
          </a:p>
        </p:txBody>
      </p:sp>
      <p:sp>
        <p:nvSpPr>
          <p:cNvPr id="125" name="米菲PPT36">
            <a:extLst>
              <a:ext uri="{FF2B5EF4-FFF2-40B4-BE49-F238E27FC236}">
                <a16:creationId xmlns:a16="http://schemas.microsoft.com/office/drawing/2014/main" id="{ABB59ACE-2133-7720-2B3B-693B1BA91E0D}"/>
              </a:ext>
            </a:extLst>
          </p:cNvPr>
          <p:cNvSpPr/>
          <p:nvPr/>
        </p:nvSpPr>
        <p:spPr>
          <a:xfrm rot="10800000" flipV="1">
            <a:off x="8280620" y="1626561"/>
            <a:ext cx="785791" cy="193283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名人共餐</a:t>
            </a:r>
          </a:p>
        </p:txBody>
      </p:sp>
      <p:sp>
        <p:nvSpPr>
          <p:cNvPr id="126" name="米菲PPT36">
            <a:extLst>
              <a:ext uri="{FF2B5EF4-FFF2-40B4-BE49-F238E27FC236}">
                <a16:creationId xmlns:a16="http://schemas.microsoft.com/office/drawing/2014/main" id="{5F87725D-5CC6-B04C-52CF-E68A87CA02B4}"/>
              </a:ext>
            </a:extLst>
          </p:cNvPr>
          <p:cNvSpPr/>
          <p:nvPr/>
        </p:nvSpPr>
        <p:spPr>
          <a:xfrm rot="10800000" flipV="1">
            <a:off x="8290179" y="3507134"/>
            <a:ext cx="785792" cy="187189"/>
          </a:xfrm>
          <a:prstGeom prst="roundRect">
            <a:avLst>
              <a:gd name="adj" fmla="val 2908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zh-CN" altLang="en-US" sz="105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超级认证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CB8B359-00E0-06A9-0C46-AD0C38A01AC7}"/>
              </a:ext>
            </a:extLst>
          </p:cNvPr>
          <p:cNvSpPr/>
          <p:nvPr/>
        </p:nvSpPr>
        <p:spPr>
          <a:xfrm>
            <a:off x="3801524" y="3228712"/>
            <a:ext cx="540218" cy="191278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pic>
        <p:nvPicPr>
          <p:cNvPr id="132" name="图片 131">
            <a:extLst>
              <a:ext uri="{FF2B5EF4-FFF2-40B4-BE49-F238E27FC236}">
                <a16:creationId xmlns:a16="http://schemas.microsoft.com/office/drawing/2014/main" id="{02142356-78E2-C483-E5EC-509FF45F62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1459" y="3643002"/>
            <a:ext cx="1518893" cy="1229104"/>
          </a:xfrm>
          <a:prstGeom prst="rect">
            <a:avLst/>
          </a:prstGeom>
        </p:spPr>
      </p:pic>
      <p:sp>
        <p:nvSpPr>
          <p:cNvPr id="133" name="米菲PPT38">
            <a:extLst>
              <a:ext uri="{FF2B5EF4-FFF2-40B4-BE49-F238E27FC236}">
                <a16:creationId xmlns:a16="http://schemas.microsoft.com/office/drawing/2014/main" id="{1FDA5A2E-E0A5-50F3-EA9D-D244E538821C}"/>
              </a:ext>
            </a:extLst>
          </p:cNvPr>
          <p:cNvSpPr txBox="1"/>
          <p:nvPr/>
        </p:nvSpPr>
        <p:spPr>
          <a:xfrm>
            <a:off x="5361218" y="4781492"/>
            <a:ext cx="1518893" cy="2308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微博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-QQ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音乐 联合发榜</a:t>
            </a:r>
          </a:p>
        </p:txBody>
      </p:sp>
      <p:pic>
        <p:nvPicPr>
          <p:cNvPr id="134" name="图片 133" descr="手机屏幕的截图&#10;&#10;AI 生成的内容可能不正确。"/>
          <p:cNvPicPr>
            <a:picLocks noChangeAspect="1"/>
          </p:cNvPicPr>
          <p:nvPr/>
        </p:nvPicPr>
        <p:blipFill>
          <a:blip r:embed="rId9"/>
          <a:srcRect b="25161"/>
          <a:stretch/>
        </p:blipFill>
        <p:spPr>
          <a:xfrm>
            <a:off x="4110765" y="3636035"/>
            <a:ext cx="719644" cy="11671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35" name="米菲PPT38">
            <a:extLst>
              <a:ext uri="{FF2B5EF4-FFF2-40B4-BE49-F238E27FC236}">
                <a16:creationId xmlns:a16="http://schemas.microsoft.com/office/drawing/2014/main" id="{8F7DEF4E-F8DE-C240-26AF-D56CD30CC2B4}"/>
              </a:ext>
            </a:extLst>
          </p:cNvPr>
          <p:cNvSpPr txBox="1"/>
          <p:nvPr/>
        </p:nvSpPr>
        <p:spPr>
          <a:xfrm>
            <a:off x="3703341" y="4781492"/>
            <a:ext cx="1619014" cy="2308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携程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 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口碑榜用户身份及荣誉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87A924-6D42-2E2D-F15F-90CDCE4C7F5D}"/>
              </a:ext>
            </a:extLst>
          </p:cNvPr>
          <p:cNvSpPr/>
          <p:nvPr/>
        </p:nvSpPr>
        <p:spPr>
          <a:xfrm>
            <a:off x="1216595" y="1895134"/>
            <a:ext cx="2442229" cy="36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流量感知：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商家感觉有流量，如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POI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页、固定入口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C9B758E7-2771-FA11-6586-E6150EE92CEF}"/>
              </a:ext>
            </a:extLst>
          </p:cNvPr>
          <p:cNvSpPr/>
          <p:nvPr/>
        </p:nvSpPr>
        <p:spPr>
          <a:xfrm>
            <a:off x="5221648" y="2860282"/>
            <a:ext cx="1581946" cy="1622907"/>
          </a:xfrm>
          <a:prstGeom prst="rect">
            <a:avLst/>
          </a:prstGeom>
          <a:solidFill>
            <a:srgbClr val="E7E6E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50D1DC-A583-1497-6CB1-9FB5B4D4132C}"/>
              </a:ext>
            </a:extLst>
          </p:cNvPr>
          <p:cNvSpPr/>
          <p:nvPr/>
        </p:nvSpPr>
        <p:spPr>
          <a:xfrm>
            <a:off x="6800888" y="1249969"/>
            <a:ext cx="1581946" cy="1622907"/>
          </a:xfrm>
          <a:prstGeom prst="rect">
            <a:avLst/>
          </a:prstGeom>
          <a:solidFill>
            <a:schemeClr val="accent3">
              <a:lumMod val="60000"/>
              <a:lumOff val="40000"/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FE8BFE-E078-DED1-F445-BF1BC5AA664D}"/>
              </a:ext>
            </a:extLst>
          </p:cNvPr>
          <p:cNvSpPr/>
          <p:nvPr/>
        </p:nvSpPr>
        <p:spPr>
          <a:xfrm>
            <a:off x="5212186" y="1243619"/>
            <a:ext cx="1581946" cy="1616664"/>
          </a:xfrm>
          <a:prstGeom prst="rect">
            <a:avLst/>
          </a:prstGeom>
          <a:solidFill>
            <a:srgbClr val="FFDBD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C1D7D5-6BE8-8AB7-B164-A2855FDA100B}"/>
              </a:ext>
            </a:extLst>
          </p:cNvPr>
          <p:cNvSpPr/>
          <p:nvPr/>
        </p:nvSpPr>
        <p:spPr>
          <a:xfrm>
            <a:off x="6805719" y="2860282"/>
            <a:ext cx="1581946" cy="1622907"/>
          </a:xfrm>
          <a:prstGeom prst="rect">
            <a:avLst/>
          </a:prstGeom>
          <a:solidFill>
            <a:srgbClr val="FFDBD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03834" y="124088"/>
            <a:ext cx="8583088" cy="266037"/>
          </a:xfrm>
        </p:spPr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举措二：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  <a:sym typeface="MiSans Medium" panose="00000600000000000000" pitchFamily="2" charset="-122"/>
              </a:rPr>
              <a:t>建设榜单矩阵，指引商户合理冲榜</a:t>
            </a:r>
            <a:endParaRPr lang="zh-CN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3" name="米菲PPT23"/>
          <p:cNvSpPr txBox="1"/>
          <p:nvPr/>
        </p:nvSpPr>
        <p:spPr>
          <a:xfrm>
            <a:off x="5765838" y="851411"/>
            <a:ext cx="2070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上榜门店（提单产、优密度）</a:t>
            </a:r>
          </a:p>
        </p:txBody>
      </p:sp>
      <p:sp>
        <p:nvSpPr>
          <p:cNvPr id="25" name="米菲PPT23"/>
          <p:cNvSpPr txBox="1"/>
          <p:nvPr/>
        </p:nvSpPr>
        <p:spPr>
          <a:xfrm>
            <a:off x="1388765" y="871514"/>
            <a:ext cx="18841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未上榜门店（覆盖真好店）</a:t>
            </a:r>
          </a:p>
        </p:txBody>
      </p:sp>
      <p:sp>
        <p:nvSpPr>
          <p:cNvPr id="76" name="矩形 75"/>
          <p:cNvSpPr/>
          <p:nvPr/>
        </p:nvSpPr>
        <p:spPr>
          <a:xfrm>
            <a:off x="722979" y="2898295"/>
            <a:ext cx="1581946" cy="1622907"/>
          </a:xfrm>
          <a:prstGeom prst="rect">
            <a:avLst/>
          </a:prstGeom>
          <a:solidFill>
            <a:srgbClr val="E7E6E6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15981" y="1274681"/>
            <a:ext cx="1581946" cy="1616664"/>
          </a:xfrm>
          <a:prstGeom prst="rect">
            <a:avLst/>
          </a:prstGeom>
          <a:solidFill>
            <a:srgbClr val="FFDBD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309514" y="2891344"/>
            <a:ext cx="1581946" cy="1622907"/>
          </a:xfrm>
          <a:prstGeom prst="rect">
            <a:avLst/>
          </a:prstGeom>
          <a:solidFill>
            <a:srgbClr val="FFDBD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309514" y="1268438"/>
            <a:ext cx="1581946" cy="1622907"/>
          </a:xfrm>
          <a:prstGeom prst="rect">
            <a:avLst/>
          </a:prstGeom>
          <a:solidFill>
            <a:schemeClr val="accent3">
              <a:lumMod val="60000"/>
              <a:lumOff val="40000"/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cxnSp>
        <p:nvCxnSpPr>
          <p:cNvPr id="26" name="米菲PPT18"/>
          <p:cNvCxnSpPr/>
          <p:nvPr/>
        </p:nvCxnSpPr>
        <p:spPr>
          <a:xfrm>
            <a:off x="706981" y="2894819"/>
            <a:ext cx="3185713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米菲PPT19"/>
          <p:cNvCxnSpPr>
            <a:stCxn id="32" idx="0"/>
          </p:cNvCxnSpPr>
          <p:nvPr/>
        </p:nvCxnSpPr>
        <p:spPr>
          <a:xfrm flipH="1" flipV="1">
            <a:off x="2309514" y="1268438"/>
            <a:ext cx="4422" cy="3275841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米菲PPT21"/>
          <p:cNvSpPr txBox="1"/>
          <p:nvPr/>
        </p:nvSpPr>
        <p:spPr>
          <a:xfrm>
            <a:off x="1951915" y="1076967"/>
            <a:ext cx="724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合作</a:t>
            </a:r>
          </a:p>
        </p:txBody>
      </p:sp>
      <p:sp>
        <p:nvSpPr>
          <p:cNvPr id="32" name="米菲PPT22"/>
          <p:cNvSpPr txBox="1"/>
          <p:nvPr/>
        </p:nvSpPr>
        <p:spPr>
          <a:xfrm>
            <a:off x="1944786" y="4544279"/>
            <a:ext cx="7382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未合作</a:t>
            </a:r>
          </a:p>
        </p:txBody>
      </p:sp>
      <p:sp>
        <p:nvSpPr>
          <p:cNvPr id="33" name="米菲PPT23"/>
          <p:cNvSpPr txBox="1"/>
          <p:nvPr/>
        </p:nvSpPr>
        <p:spPr>
          <a:xfrm>
            <a:off x="3749644" y="2771734"/>
            <a:ext cx="7976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核心门店</a:t>
            </a:r>
          </a:p>
        </p:txBody>
      </p:sp>
      <p:sp>
        <p:nvSpPr>
          <p:cNvPr id="34" name="米菲PPT23"/>
          <p:cNvSpPr txBox="1"/>
          <p:nvPr/>
        </p:nvSpPr>
        <p:spPr>
          <a:xfrm>
            <a:off x="-92676" y="2589478"/>
            <a:ext cx="9998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非核心门店</a:t>
            </a:r>
          </a:p>
        </p:txBody>
      </p:sp>
      <p:sp>
        <p:nvSpPr>
          <p:cNvPr id="37" name="米菲PPT23"/>
          <p:cNvSpPr txBox="1"/>
          <p:nvPr/>
        </p:nvSpPr>
        <p:spPr>
          <a:xfrm>
            <a:off x="2269285" y="1230176"/>
            <a:ext cx="1248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门店数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: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2.4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  <a:sym typeface="MiSans Medium" panose="00000600000000000000" pitchFamily="2" charset="-122"/>
            </a:endParaRPr>
          </a:p>
          <a:p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GTV: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660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51" name="米菲PPT31-2"/>
          <p:cNvSpPr txBox="1"/>
          <p:nvPr/>
        </p:nvSpPr>
        <p:spPr>
          <a:xfrm>
            <a:off x="2743232" y="3294008"/>
            <a:ext cx="1121542" cy="507831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榜单引入履约服务，牵引合作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美团榜优化门槛</a:t>
            </a:r>
          </a:p>
        </p:txBody>
      </p:sp>
      <p:sp>
        <p:nvSpPr>
          <p:cNvPr id="55" name="米菲PPT31-2"/>
          <p:cNvSpPr txBox="1"/>
          <p:nvPr/>
        </p:nvSpPr>
        <p:spPr>
          <a:xfrm>
            <a:off x="2697289" y="1729864"/>
            <a:ext cx="1117121" cy="230832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  <a:cs typeface="MiSans Medium" panose="00000600000000000000" pitchFamily="2" charset="-122"/>
              </a:rPr>
              <a:t>加强冲榜服务</a:t>
            </a:r>
          </a:p>
        </p:txBody>
      </p:sp>
      <p:sp>
        <p:nvSpPr>
          <p:cNvPr id="60" name="米菲PPT36"/>
          <p:cNvSpPr txBox="1"/>
          <p:nvPr/>
        </p:nvSpPr>
        <p:spPr>
          <a:xfrm>
            <a:off x="739497" y="3370084"/>
            <a:ext cx="1000693" cy="369332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rPr>
              <a:t>低优，通过矩阵自然覆盖</a:t>
            </a:r>
          </a:p>
        </p:txBody>
      </p:sp>
      <p:sp>
        <p:nvSpPr>
          <p:cNvPr id="61" name="米菲PPT23"/>
          <p:cNvSpPr txBox="1"/>
          <p:nvPr/>
        </p:nvSpPr>
        <p:spPr>
          <a:xfrm>
            <a:off x="659227" y="1230176"/>
            <a:ext cx="146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门店数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: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215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  <a:sym typeface="MiSans Medium" panose="00000600000000000000" pitchFamily="2" charset="-122"/>
            </a:endParaRPr>
          </a:p>
          <a:p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GTV: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5,291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62" name="米菲PPT23"/>
          <p:cNvSpPr txBox="1"/>
          <p:nvPr/>
        </p:nvSpPr>
        <p:spPr>
          <a:xfrm>
            <a:off x="664194" y="4145871"/>
            <a:ext cx="1245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门店数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：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554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63" name="米菲PPT23"/>
          <p:cNvSpPr txBox="1"/>
          <p:nvPr/>
        </p:nvSpPr>
        <p:spPr>
          <a:xfrm>
            <a:off x="2254577" y="4145871"/>
            <a:ext cx="1438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门店数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: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0.7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如费大厨、很久以前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71" name="米菲PPT31-2"/>
          <p:cNvSpPr txBox="1"/>
          <p:nvPr/>
        </p:nvSpPr>
        <p:spPr>
          <a:xfrm>
            <a:off x="752418" y="1706781"/>
            <a:ext cx="999823" cy="507831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抢占城区商圈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/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品类，避免竞对独占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cxnSp>
        <p:nvCxnSpPr>
          <p:cNvPr id="5" name="米菲PPT18"/>
          <p:cNvCxnSpPr/>
          <p:nvPr/>
        </p:nvCxnSpPr>
        <p:spPr>
          <a:xfrm>
            <a:off x="5317650" y="2882657"/>
            <a:ext cx="3147619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米菲PPT19"/>
          <p:cNvCxnSpPr>
            <a:endCxn id="49" idx="2"/>
          </p:cNvCxnSpPr>
          <p:nvPr/>
        </p:nvCxnSpPr>
        <p:spPr>
          <a:xfrm flipH="1" flipV="1">
            <a:off x="6799172" y="1306790"/>
            <a:ext cx="1" cy="3159545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米菲PPT22"/>
          <p:cNvSpPr txBox="1"/>
          <p:nvPr/>
        </p:nvSpPr>
        <p:spPr>
          <a:xfrm>
            <a:off x="6426701" y="4544279"/>
            <a:ext cx="7349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未合作</a:t>
            </a:r>
          </a:p>
        </p:txBody>
      </p:sp>
      <p:sp>
        <p:nvSpPr>
          <p:cNvPr id="12" name="米菲PPT23"/>
          <p:cNvSpPr txBox="1"/>
          <p:nvPr/>
        </p:nvSpPr>
        <p:spPr>
          <a:xfrm>
            <a:off x="8320336" y="2770775"/>
            <a:ext cx="7349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核心门店</a:t>
            </a:r>
          </a:p>
        </p:txBody>
      </p:sp>
      <p:sp>
        <p:nvSpPr>
          <p:cNvPr id="24" name="米菲PPT23"/>
          <p:cNvSpPr txBox="1"/>
          <p:nvPr/>
        </p:nvSpPr>
        <p:spPr>
          <a:xfrm>
            <a:off x="4449876" y="2770775"/>
            <a:ext cx="8669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非核心门店</a:t>
            </a:r>
          </a:p>
        </p:txBody>
      </p:sp>
      <p:sp>
        <p:nvSpPr>
          <p:cNvPr id="49" name="米菲PPT21"/>
          <p:cNvSpPr txBox="1"/>
          <p:nvPr/>
        </p:nvSpPr>
        <p:spPr>
          <a:xfrm>
            <a:off x="6483312" y="1075957"/>
            <a:ext cx="6317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合作</a:t>
            </a:r>
          </a:p>
        </p:txBody>
      </p:sp>
      <p:sp>
        <p:nvSpPr>
          <p:cNvPr id="66" name="米菲PPT23"/>
          <p:cNvSpPr txBox="1"/>
          <p:nvPr/>
        </p:nvSpPr>
        <p:spPr>
          <a:xfrm>
            <a:off x="6762165" y="1230176"/>
            <a:ext cx="1257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门店数：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16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  <a:sym typeface="MiSans Medium" panose="00000600000000000000" pitchFamily="2" charset="-122"/>
            </a:endParaRPr>
          </a:p>
          <a:p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GTV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：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7.2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亿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67" name="米菲PPT23"/>
          <p:cNvSpPr txBox="1"/>
          <p:nvPr/>
        </p:nvSpPr>
        <p:spPr>
          <a:xfrm>
            <a:off x="5173462" y="1230176"/>
            <a:ext cx="1581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门店数：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98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  <a:sym typeface="MiSans Medium" panose="00000600000000000000" pitchFamily="2" charset="-122"/>
            </a:endParaRPr>
          </a:p>
          <a:p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GTV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：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5.7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亿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68" name="米菲PPT23"/>
          <p:cNvSpPr txBox="1"/>
          <p:nvPr/>
        </p:nvSpPr>
        <p:spPr>
          <a:xfrm>
            <a:off x="5190681" y="4099863"/>
            <a:ext cx="1480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门店数：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13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如海福多共富海鲜面馆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69" name="米菲PPT23"/>
          <p:cNvSpPr txBox="1"/>
          <p:nvPr/>
        </p:nvSpPr>
        <p:spPr>
          <a:xfrm>
            <a:off x="6755409" y="4114552"/>
            <a:ext cx="1634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  <a:sym typeface="MiSans Medium" panose="00000600000000000000" pitchFamily="2" charset="-122"/>
              </a:rPr>
              <a:t>门店数：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</a:t>
            </a:r>
            <a:r>
              <a:rPr lang="en-US" altLang="zh-CN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0.6</a:t>
            </a:r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万家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  <a:p>
            <a:r>
              <a: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如北京宜宾招待所、潇湘阁</a:t>
            </a:r>
            <a:endParaRPr lang="en-US" altLang="zh-CN" sz="900" i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79" name="米菲PPT31-2"/>
          <p:cNvSpPr txBox="1"/>
          <p:nvPr/>
        </p:nvSpPr>
        <p:spPr>
          <a:xfrm>
            <a:off x="6892984" y="3290096"/>
            <a:ext cx="1368530" cy="507831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榜单引入履约服务，牵引合作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稀缺资源促合作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80" name="米菲PPT31-2"/>
          <p:cNvSpPr txBox="1"/>
          <p:nvPr/>
        </p:nvSpPr>
        <p:spPr>
          <a:xfrm>
            <a:off x="5302312" y="3263472"/>
            <a:ext cx="1368530" cy="369332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88900" indent="-88900" defTabSz="457200">
              <a:buFont typeface="Arial" panose="020B0604020202020204" pitchFamily="34" charset="0"/>
              <a:buChar char="•"/>
              <a:defRPr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</a:lstStyle>
          <a:p>
            <a:r>
              <a:rPr lang="zh-CN" altLang="en-US" dirty="0"/>
              <a:t>根据供需控上榜门店</a:t>
            </a:r>
            <a:endParaRPr lang="en-US" altLang="zh-CN" dirty="0"/>
          </a:p>
          <a:p>
            <a:r>
              <a:rPr lang="zh-CN" altLang="en-US" dirty="0"/>
              <a:t>控泛搜等流量</a:t>
            </a:r>
            <a:endParaRPr lang="en-US" altLang="zh-CN" dirty="0"/>
          </a:p>
        </p:txBody>
      </p:sp>
      <p:sp>
        <p:nvSpPr>
          <p:cNvPr id="89" name="米菲PPT31-2"/>
          <p:cNvSpPr txBox="1"/>
          <p:nvPr/>
        </p:nvSpPr>
        <p:spPr>
          <a:xfrm>
            <a:off x="5765838" y="1922607"/>
            <a:ext cx="2139912" cy="369332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加强榜单营销、流量倾斜及服务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引入、强化</a:t>
            </a: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因子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94" name="米菲PPT23"/>
          <p:cNvSpPr txBox="1"/>
          <p:nvPr/>
        </p:nvSpPr>
        <p:spPr>
          <a:xfrm>
            <a:off x="112347" y="4787253"/>
            <a:ext cx="37007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*</a:t>
            </a: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GTV</a:t>
            </a:r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：</a:t>
            </a: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10</a:t>
            </a:r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月日均</a:t>
            </a: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GTV</a:t>
            </a:r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总计，上榜为美团</a:t>
            </a: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/</a:t>
            </a:r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  <a:sym typeface="MiSans Medium" panose="00000600000000000000" pitchFamily="2" charset="-122"/>
              </a:rPr>
              <a:t>点评任一榜单</a:t>
            </a:r>
            <a:endParaRPr lang="en-US" altLang="zh-CN" sz="8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" name="米菲PPT31-2">
            <a:extLst>
              <a:ext uri="{FF2B5EF4-FFF2-40B4-BE49-F238E27FC236}">
                <a16:creationId xmlns:a16="http://schemas.microsoft.com/office/drawing/2014/main" id="{C81E1233-44AC-1D39-BFC1-F5492053D603}"/>
              </a:ext>
            </a:extLst>
          </p:cNvPr>
          <p:cNvSpPr txBox="1"/>
          <p:nvPr/>
        </p:nvSpPr>
        <p:spPr>
          <a:xfrm>
            <a:off x="774837" y="2628440"/>
            <a:ext cx="988213" cy="507831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txBody>
          <a:bodyPr wrap="square" rtlCol="0">
            <a:no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挖掘潜力新店、飙升、小店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7" name="米菲PPT31-2">
            <a:extLst>
              <a:ext uri="{FF2B5EF4-FFF2-40B4-BE49-F238E27FC236}">
                <a16:creationId xmlns:a16="http://schemas.microsoft.com/office/drawing/2014/main" id="{55E12045-5C65-E993-05AA-A03404C4F865}"/>
              </a:ext>
            </a:extLst>
          </p:cNvPr>
          <p:cNvSpPr txBox="1"/>
          <p:nvPr/>
        </p:nvSpPr>
        <p:spPr>
          <a:xfrm>
            <a:off x="1801774" y="2628741"/>
            <a:ext cx="939021" cy="507831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根据需求细分场景榜单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  <a:p>
            <a:pPr marL="88900" indent="-88900" defTabSz="4572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打造</a:t>
            </a:r>
            <a:r>
              <a:rPr lang="zh-CN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菜品</a:t>
            </a:r>
            <a:r>
              <a:rPr lang="zh-CN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榜</a:t>
            </a:r>
            <a:endParaRPr lang="en-US" altLang="zh-CN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3" name="对话气泡: 矩形 12">
            <a:extLst>
              <a:ext uri="{FF2B5EF4-FFF2-40B4-BE49-F238E27FC236}">
                <a16:creationId xmlns:a16="http://schemas.microsoft.com/office/drawing/2014/main" id="{EED4A482-AF48-3E0F-2BF4-333DCBCBDDFA}"/>
              </a:ext>
            </a:extLst>
          </p:cNvPr>
          <p:cNvSpPr/>
          <p:nvPr/>
        </p:nvSpPr>
        <p:spPr>
          <a:xfrm>
            <a:off x="2755183" y="2192310"/>
            <a:ext cx="2064961" cy="541598"/>
          </a:xfrm>
          <a:prstGeom prst="wedgeRectCallout">
            <a:avLst>
              <a:gd name="adj1" fmla="val -52849"/>
              <a:gd name="adj2" fmla="val 76371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以热搜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</a:rPr>
              <a:t>Top300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词为例，品类搜索词达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</a:rPr>
              <a:t>148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个，其中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个无品类（铁锅炖、地锅鸡等），榜单前台只展示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</a:rPr>
              <a:t>20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个固定品类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营销日历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热点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主题场景缺少榜单建设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8B93549-B618-31FC-12D8-B4B8BC5D382B}"/>
              </a:ext>
            </a:extLst>
          </p:cNvPr>
          <p:cNvSpPr txBox="1"/>
          <p:nvPr/>
        </p:nvSpPr>
        <p:spPr>
          <a:xfrm>
            <a:off x="407235" y="421281"/>
            <a:ext cx="8509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物理世界抢区域，刚需好店有覆盖</a:t>
            </a:r>
          </a:p>
        </p:txBody>
      </p:sp>
    </p:spTree>
    <p:extLst>
      <p:ext uri="{BB962C8B-B14F-4D97-AF65-F5344CB8AC3E}">
        <p14:creationId xmlns:p14="http://schemas.microsoft.com/office/powerpoint/2010/main" val="304454252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03834" y="124088"/>
            <a:ext cx="8583088" cy="266037"/>
          </a:xfrm>
        </p:spPr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榜单密度优化初探</a:t>
            </a:r>
            <a:endParaRPr lang="zh-CN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" name="米菲PPT23">
            <a:extLst>
              <a:ext uri="{FF2B5EF4-FFF2-40B4-BE49-F238E27FC236}">
                <a16:creationId xmlns:a16="http://schemas.microsoft.com/office/drawing/2014/main" id="{46AC176F-853E-5B8B-6F60-D731187FB78A}"/>
              </a:ext>
            </a:extLst>
          </p:cNvPr>
          <p:cNvSpPr txBox="1"/>
          <p:nvPr/>
        </p:nvSpPr>
        <p:spPr>
          <a:xfrm>
            <a:off x="412152" y="369882"/>
            <a:ext cx="8474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  <a:sym typeface="MiSans Medium" panose="00000600000000000000" pitchFamily="2" charset="-122"/>
              </a:rPr>
              <a:t>以美团侧榜单页可筛选的行政区</a:t>
            </a:r>
            <a:r>
              <a:rPr lang="en-US" altLang="zh-CN" sz="1200" dirty="0">
                <a:latin typeface="+mn-ea"/>
                <a:sym typeface="MiSans Medium" panose="00000600000000000000" pitchFamily="2" charset="-122"/>
              </a:rPr>
              <a:t>/</a:t>
            </a:r>
            <a:r>
              <a:rPr lang="zh-CN" altLang="en-US" sz="1200" dirty="0">
                <a:latin typeface="+mn-ea"/>
                <a:sym typeface="MiSans Medium" panose="00000600000000000000" pitchFamily="2" charset="-122"/>
              </a:rPr>
              <a:t>商圈看，上榜门店覆盖占比＞</a:t>
            </a:r>
            <a:r>
              <a:rPr lang="en-US" altLang="zh-CN" sz="1200" dirty="0">
                <a:latin typeface="+mn-ea"/>
                <a:sym typeface="MiSans Medium" panose="00000600000000000000" pitchFamily="2" charset="-122"/>
              </a:rPr>
              <a:t>20%</a:t>
            </a:r>
            <a:r>
              <a:rPr lang="zh-CN" altLang="en-US" sz="1200" dirty="0">
                <a:latin typeface="+mn-ea"/>
                <a:sym typeface="MiSans Medium" panose="00000600000000000000" pitchFamily="2" charset="-122"/>
              </a:rPr>
              <a:t>的共</a:t>
            </a:r>
            <a:r>
              <a:rPr lang="en-US" altLang="zh-CN" sz="1200" dirty="0">
                <a:latin typeface="+mn-ea"/>
                <a:sym typeface="MiSans Medium" panose="00000600000000000000" pitchFamily="2" charset="-122"/>
              </a:rPr>
              <a:t>343</a:t>
            </a:r>
            <a:r>
              <a:rPr lang="zh-CN" altLang="en-US" sz="1200" dirty="0">
                <a:latin typeface="+mn-ea"/>
                <a:sym typeface="MiSans Medium" panose="00000600000000000000" pitchFamily="2" charset="-122"/>
              </a:rPr>
              <a:t>个。包括供给较少的下沉区县（</a:t>
            </a:r>
            <a:r>
              <a:rPr lang="zh-CN" altLang="en-US" sz="1200" i="1" dirty="0">
                <a:solidFill>
                  <a:schemeClr val="bg1">
                    <a:lumMod val="50000"/>
                  </a:schemeClr>
                </a:solidFill>
                <a:latin typeface="+mn-ea"/>
                <a:sym typeface="MiSans Medium" panose="00000600000000000000" pitchFamily="2" charset="-122"/>
              </a:rPr>
              <a:t>优化为县市级成榜</a:t>
            </a:r>
            <a:r>
              <a:rPr lang="zh-CN" altLang="en-US" sz="1200" dirty="0">
                <a:latin typeface="+mn-ea"/>
                <a:sym typeface="MiSans Medium" panose="00000600000000000000" pitchFamily="2" charset="-122"/>
              </a:rPr>
              <a:t>），以及集中度高的商场商圈（</a:t>
            </a:r>
            <a:r>
              <a:rPr lang="zh-CN" altLang="en-US" sz="1200" i="1" dirty="0">
                <a:solidFill>
                  <a:schemeClr val="bg1">
                    <a:lumMod val="50000"/>
                  </a:schemeClr>
                </a:solidFill>
                <a:latin typeface="+mn-ea"/>
                <a:sym typeface="MiSans Medium" panose="00000600000000000000" pitchFamily="2" charset="-122"/>
              </a:rPr>
              <a:t>优化为分层提高门槛</a:t>
            </a:r>
            <a:r>
              <a:rPr lang="zh-CN" altLang="en-US" sz="1200" dirty="0">
                <a:latin typeface="+mn-ea"/>
                <a:sym typeface="MiSans Medium" panose="00000600000000000000" pitchFamily="2" charset="-122"/>
              </a:rPr>
              <a:t>）</a:t>
            </a:r>
            <a:endParaRPr lang="en-US" altLang="zh-CN" sz="1200" dirty="0">
              <a:latin typeface="+mn-ea"/>
              <a:sym typeface="MiSans Medium" panose="000006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更深入看，可能存在同层门店过密情况，如东莞</a:t>
            </a:r>
            <a:r>
              <a:rPr lang="en-US" altLang="zh-CN" sz="1200" dirty="0">
                <a:latin typeface="+mn-ea"/>
              </a:rPr>
              <a:t>-</a:t>
            </a:r>
            <a:r>
              <a:rPr lang="zh-CN" altLang="en-US" sz="1200" dirty="0">
                <a:latin typeface="+mn-ea"/>
              </a:rPr>
              <a:t>石龙镇经济型价格带分布过多，可通过榜单规则调节</a:t>
            </a:r>
          </a:p>
        </p:txBody>
      </p:sp>
      <p:graphicFrame>
        <p:nvGraphicFramePr>
          <p:cNvPr id="29" name="图表 28">
            <a:extLst>
              <a:ext uri="{FF2B5EF4-FFF2-40B4-BE49-F238E27FC236}">
                <a16:creationId xmlns:a16="http://schemas.microsoft.com/office/drawing/2014/main" id="{61D0E95A-1597-4052-9EEF-C85F083F8D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0969103"/>
              </p:ext>
            </p:extLst>
          </p:nvPr>
        </p:nvGraphicFramePr>
        <p:xfrm>
          <a:off x="127689" y="1065581"/>
          <a:ext cx="2869092" cy="17273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68EFF0A7-90FF-2B7A-5661-5AF839FD3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884799"/>
              </p:ext>
            </p:extLst>
          </p:nvPr>
        </p:nvGraphicFramePr>
        <p:xfrm>
          <a:off x="5782847" y="1483902"/>
          <a:ext cx="3182136" cy="3193739"/>
        </p:xfrm>
        <a:graphic>
          <a:graphicData uri="http://schemas.openxmlformats.org/drawingml/2006/table">
            <a:tbl>
              <a:tblPr/>
              <a:tblGrid>
                <a:gridCol w="720090">
                  <a:extLst>
                    <a:ext uri="{9D8B030D-6E8A-4147-A177-3AD203B41FA5}">
                      <a16:colId xmlns:a16="http://schemas.microsoft.com/office/drawing/2014/main" val="614296138"/>
                    </a:ext>
                  </a:extLst>
                </a:gridCol>
                <a:gridCol w="542655">
                  <a:extLst>
                    <a:ext uri="{9D8B030D-6E8A-4147-A177-3AD203B41FA5}">
                      <a16:colId xmlns:a16="http://schemas.microsoft.com/office/drawing/2014/main" val="1345488170"/>
                    </a:ext>
                  </a:extLst>
                </a:gridCol>
                <a:gridCol w="693393">
                  <a:extLst>
                    <a:ext uri="{9D8B030D-6E8A-4147-A177-3AD203B41FA5}">
                      <a16:colId xmlns:a16="http://schemas.microsoft.com/office/drawing/2014/main" val="2439728483"/>
                    </a:ext>
                  </a:extLst>
                </a:gridCol>
                <a:gridCol w="743638">
                  <a:extLst>
                    <a:ext uri="{9D8B030D-6E8A-4147-A177-3AD203B41FA5}">
                      <a16:colId xmlns:a16="http://schemas.microsoft.com/office/drawing/2014/main" val="3170881357"/>
                    </a:ext>
                  </a:extLst>
                </a:gridCol>
                <a:gridCol w="482360">
                  <a:extLst>
                    <a:ext uri="{9D8B030D-6E8A-4147-A177-3AD203B41FA5}">
                      <a16:colId xmlns:a16="http://schemas.microsoft.com/office/drawing/2014/main" val="2675072797"/>
                    </a:ext>
                  </a:extLst>
                </a:gridCol>
              </a:tblGrid>
              <a:tr h="9533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维度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≤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元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(50,150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元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endParaRPr lang="zh-CN" altLang="en-US" sz="9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(150,300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元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&gt;300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元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24758"/>
                  </a:ext>
                </a:extLst>
              </a:tr>
              <a:tr h="52434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门店</a:t>
                      </a:r>
                      <a:endParaRPr lang="en-US" altLang="zh-CN" sz="9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分布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62.6%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37%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0.5%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983639"/>
                  </a:ext>
                </a:extLst>
              </a:tr>
              <a:tr h="52434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全榜</a:t>
                      </a:r>
                      <a:endParaRPr lang="en-US" altLang="zh-CN" sz="9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分布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69.0%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31%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758603"/>
                  </a:ext>
                </a:extLst>
              </a:tr>
              <a:tr h="66734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美团榜分布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71.1%</a:t>
                      </a:r>
                      <a:endParaRPr lang="zh-CN" altLang="en-US" sz="9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00B050"/>
                          </a:solidFill>
                          <a:effectLst/>
                          <a:latin typeface="+mn-ea"/>
                          <a:ea typeface="+mn-ea"/>
                        </a:rPr>
                        <a:t>29%</a:t>
                      </a:r>
                      <a:endParaRPr lang="zh-CN" altLang="en-US" sz="900" dirty="0">
                        <a:solidFill>
                          <a:srgbClr val="00B05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0.0%</a:t>
                      </a:r>
                      <a:endParaRPr lang="zh-CN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519817"/>
                  </a:ext>
                </a:extLst>
              </a:tr>
              <a:tr h="52434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点评榜分布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67.6%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32%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0.0%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539631"/>
                  </a:ext>
                </a:extLst>
              </a:tr>
            </a:tbl>
          </a:graphicData>
        </a:graphic>
      </p:graphicFrame>
      <p:sp>
        <p:nvSpPr>
          <p:cNvPr id="35" name="Rectangle 5">
            <a:extLst>
              <a:ext uri="{FF2B5EF4-FFF2-40B4-BE49-F238E27FC236}">
                <a16:creationId xmlns:a16="http://schemas.microsoft.com/office/drawing/2014/main" id="{8D2C171E-16A0-0BE9-2298-F10208E07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9228" y="4620697"/>
            <a:ext cx="44177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+mn-ea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CEB6DEE-9FDD-00A4-EEF8-5617F1A4A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359319"/>
              </p:ext>
            </p:extLst>
          </p:nvPr>
        </p:nvGraphicFramePr>
        <p:xfrm>
          <a:off x="275092" y="3073176"/>
          <a:ext cx="2721689" cy="1920240"/>
        </p:xfrm>
        <a:graphic>
          <a:graphicData uri="http://schemas.openxmlformats.org/drawingml/2006/table">
            <a:tbl>
              <a:tblPr/>
              <a:tblGrid>
                <a:gridCol w="579216">
                  <a:extLst>
                    <a:ext uri="{9D8B030D-6E8A-4147-A177-3AD203B41FA5}">
                      <a16:colId xmlns:a16="http://schemas.microsoft.com/office/drawing/2014/main" val="954922579"/>
                    </a:ext>
                  </a:extLst>
                </a:gridCol>
                <a:gridCol w="810067">
                  <a:extLst>
                    <a:ext uri="{9D8B030D-6E8A-4147-A177-3AD203B41FA5}">
                      <a16:colId xmlns:a16="http://schemas.microsoft.com/office/drawing/2014/main" val="3705914393"/>
                    </a:ext>
                  </a:extLst>
                </a:gridCol>
                <a:gridCol w="415534">
                  <a:extLst>
                    <a:ext uri="{9D8B030D-6E8A-4147-A177-3AD203B41FA5}">
                      <a16:colId xmlns:a16="http://schemas.microsoft.com/office/drawing/2014/main" val="1345488170"/>
                    </a:ext>
                  </a:extLst>
                </a:gridCol>
                <a:gridCol w="448950">
                  <a:extLst>
                    <a:ext uri="{9D8B030D-6E8A-4147-A177-3AD203B41FA5}">
                      <a16:colId xmlns:a16="http://schemas.microsoft.com/office/drawing/2014/main" val="2439728483"/>
                    </a:ext>
                  </a:extLst>
                </a:gridCol>
                <a:gridCol w="467922">
                  <a:extLst>
                    <a:ext uri="{9D8B030D-6E8A-4147-A177-3AD203B41FA5}">
                      <a16:colId xmlns:a16="http://schemas.microsoft.com/office/drawing/2014/main" val="788754076"/>
                    </a:ext>
                  </a:extLst>
                </a:gridCol>
              </a:tblGrid>
              <a:tr h="35797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城市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前台行政区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商圈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门店数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美团上榜门店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点评上榜门店</a:t>
                      </a:r>
                      <a:endParaRPr lang="en-US" altLang="zh-CN" sz="9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24758"/>
                  </a:ext>
                </a:extLst>
              </a:tr>
              <a:tr h="35797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英德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（下沉）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合地广场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983639"/>
                  </a:ext>
                </a:extLst>
              </a:tr>
              <a:tr h="357975"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香河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（下沉）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迎宾路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758603"/>
                  </a:ext>
                </a:extLst>
              </a:tr>
              <a:tr h="357975"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汉阴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（下沉）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毅成美食城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519817"/>
                  </a:ext>
                </a:extLst>
              </a:tr>
              <a:tr h="223734"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荥阳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吾悦广场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293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539631"/>
                  </a:ext>
                </a:extLst>
              </a:tr>
              <a:tr h="227454"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太仓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太仓万达广场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328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299676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AC69F6C4-1C49-AF60-70C0-A33060086CAF}"/>
              </a:ext>
            </a:extLst>
          </p:cNvPr>
          <p:cNvSpPr txBox="1"/>
          <p:nvPr/>
        </p:nvSpPr>
        <p:spPr>
          <a:xfrm>
            <a:off x="960977" y="2842344"/>
            <a:ext cx="16351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latin typeface="+mn-ea"/>
              </a:rPr>
              <a:t>高上榜覆盖率行政区示例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682F6A1-5CAC-4052-2CFA-71BDA3A7F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0933" y="1493885"/>
            <a:ext cx="1160173" cy="179648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9F01791-69CA-D3CF-08B8-492B66EAF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8982" y="2287229"/>
            <a:ext cx="1190152" cy="220466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B03500B-51AF-4C28-ADF4-2962395083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093" y="3686435"/>
            <a:ext cx="1246244" cy="101566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59C9914-D347-29E4-C944-004566487066}"/>
              </a:ext>
            </a:extLst>
          </p:cNvPr>
          <p:cNvSpPr txBox="1"/>
          <p:nvPr/>
        </p:nvSpPr>
        <p:spPr>
          <a:xfrm>
            <a:off x="2734510" y="1107671"/>
            <a:ext cx="200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英德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合地广场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10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家店基本都上榜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F4CDEA3B-EA39-D920-12EA-F39520D967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4898" y="1452520"/>
            <a:ext cx="1121272" cy="2204664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A1556001-8145-7AB3-E308-5EBC392179CF}"/>
              </a:ext>
            </a:extLst>
          </p:cNvPr>
          <p:cNvSpPr txBox="1"/>
          <p:nvPr/>
        </p:nvSpPr>
        <p:spPr>
          <a:xfrm>
            <a:off x="4532294" y="1142519"/>
            <a:ext cx="11495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太仓万达压线上榜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1712B9-E601-71EF-1D82-9AB647C26A1C}"/>
              </a:ext>
            </a:extLst>
          </p:cNvPr>
          <p:cNvSpPr/>
          <p:nvPr/>
        </p:nvSpPr>
        <p:spPr>
          <a:xfrm>
            <a:off x="4885048" y="3356349"/>
            <a:ext cx="351345" cy="184594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065ED7E-D168-9F50-BEF9-1E8C00BAE7BF}"/>
              </a:ext>
            </a:extLst>
          </p:cNvPr>
          <p:cNvSpPr txBox="1"/>
          <p:nvPr/>
        </p:nvSpPr>
        <p:spPr>
          <a:xfrm>
            <a:off x="6327372" y="1142519"/>
            <a:ext cx="20930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示例：东莞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石龙镇同价格带门店过密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举措三：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  <a:ea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优化榜单规则，加强商户辅导，提升公信力</a:t>
            </a:r>
            <a:endParaRPr lang="en-US" altLang="zh-CN" sz="1400" b="1" dirty="0">
              <a:solidFill>
                <a:schemeClr val="tx1"/>
              </a:solidFill>
              <a:latin typeface="+mn-ea"/>
              <a:ea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9" name="Rectangle 9"/>
          <p:cNvSpPr/>
          <p:nvPr/>
        </p:nvSpPr>
        <p:spPr>
          <a:xfrm>
            <a:off x="182952" y="8499493"/>
            <a:ext cx="1398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800" dirty="0">
                <a:solidFill>
                  <a:srgbClr val="0F1115"/>
                </a:solidFill>
                <a:latin typeface="+mn-ea"/>
              </a:rPr>
              <a:t>在现有评价星级及榜单页面增加上榜</a:t>
            </a:r>
            <a:r>
              <a:rPr lang="zh-CN" altLang="en-US" sz="800" i="0" dirty="0">
                <a:solidFill>
                  <a:srgbClr val="0F1115"/>
                </a:solidFill>
                <a:effectLst/>
                <a:latin typeface="+mn-ea"/>
              </a:rPr>
              <a:t>竞争力诊断</a:t>
            </a:r>
            <a:r>
              <a:rPr lang="zh-CN" altLang="en-US" sz="800" dirty="0">
                <a:solidFill>
                  <a:srgbClr val="0F1115"/>
                </a:solidFill>
                <a:latin typeface="+mn-ea"/>
              </a:rPr>
              <a:t>。</a:t>
            </a:r>
            <a:endParaRPr lang="zh-CN" altLang="en-US" sz="800" i="0" dirty="0">
              <a:solidFill>
                <a:srgbClr val="0F1115"/>
              </a:solidFill>
              <a:effectLst/>
              <a:latin typeface="+mn-ea"/>
            </a:endParaRPr>
          </a:p>
        </p:txBody>
      </p:sp>
      <p:sp>
        <p:nvSpPr>
          <p:cNvPr id="86" name="米菲PPT3">
            <a:extLst>
              <a:ext uri="{FF2B5EF4-FFF2-40B4-BE49-F238E27FC236}">
                <a16:creationId xmlns:a16="http://schemas.microsoft.com/office/drawing/2014/main" id="{52A05370-61E4-08D1-75D1-481DCD7F0524}"/>
              </a:ext>
            </a:extLst>
          </p:cNvPr>
          <p:cNvSpPr/>
          <p:nvPr/>
        </p:nvSpPr>
        <p:spPr>
          <a:xfrm rot="16200000" flipH="1">
            <a:off x="6063846" y="2615781"/>
            <a:ext cx="1701214" cy="626475"/>
          </a:xfrm>
          <a:prstGeom prst="triangle">
            <a:avLst>
              <a:gd name="adj" fmla="val 50358"/>
            </a:avLst>
          </a:prstGeom>
          <a:gradFill flip="none" rotWithShape="1">
            <a:gsLst>
              <a:gs pos="1000">
                <a:srgbClr val="FFFFFF"/>
              </a:gs>
              <a:gs pos="50000">
                <a:schemeClr val="accent4">
                  <a:alpha val="63182"/>
                  <a:lumMod val="20000"/>
                  <a:lumOff val="80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EF1B461C-A899-8CB2-9F20-FBB7464773BB}"/>
              </a:ext>
            </a:extLst>
          </p:cNvPr>
          <p:cNvSpPr txBox="1"/>
          <p:nvPr/>
        </p:nvSpPr>
        <p:spPr>
          <a:xfrm>
            <a:off x="6830807" y="2164512"/>
            <a:ext cx="206098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在冲榜过程中也逐渐对“好评榜”及“人气榜”的真实性</a:t>
            </a:r>
            <a:r>
              <a:rPr lang="zh-CN" altLang="en-US" sz="900" i="1" dirty="0">
                <a:solidFill>
                  <a:srgbClr val="C00000"/>
                </a:solidFill>
                <a:latin typeface="+mn-ea"/>
              </a:rPr>
              <a:t>产生怀疑</a:t>
            </a:r>
            <a:r>
              <a:rPr lang="en-US" altLang="zh-CN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——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商户原声</a:t>
            </a:r>
            <a:endParaRPr lang="en-US" altLang="zh-CN" sz="900" i="1" dirty="0">
              <a:solidFill>
                <a:srgbClr val="000000">
                  <a:lumMod val="65000"/>
                  <a:lumOff val="35000"/>
                </a:srgbClr>
              </a:solidFill>
              <a:latin typeface="+mn-ea"/>
            </a:endParaRP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客单价</a:t>
            </a:r>
            <a:r>
              <a:rPr lang="en-US" altLang="zh-CN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50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元的争鲜和客单价</a:t>
            </a:r>
            <a:r>
              <a:rPr lang="en-US" altLang="zh-CN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200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元的鮨桐日本料理</a:t>
            </a:r>
            <a:r>
              <a:rPr lang="zh-CN" altLang="en-US" sz="900" i="1" dirty="0">
                <a:solidFill>
                  <a:srgbClr val="C00000"/>
                </a:solidFill>
                <a:latin typeface="+mn-ea"/>
              </a:rPr>
              <a:t>同时在一个榜单，有失公允</a:t>
            </a:r>
            <a:r>
              <a:rPr lang="en-US" altLang="zh-CN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——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商户原声</a:t>
            </a:r>
            <a:endParaRPr lang="en-US" altLang="zh-CN" sz="900" i="1" dirty="0">
              <a:solidFill>
                <a:srgbClr val="000000">
                  <a:lumMod val="65000"/>
                  <a:lumOff val="35000"/>
                </a:srgbClr>
              </a:solidFill>
              <a:latin typeface="+mn-ea"/>
            </a:endParaRP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“备战</a:t>
            </a:r>
            <a:r>
              <a:rPr lang="en-US" altLang="zh-CN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4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年必吃榜也没进入，依然</a:t>
            </a:r>
            <a:r>
              <a:rPr lang="zh-CN" altLang="en-US" sz="900" i="1" dirty="0">
                <a:solidFill>
                  <a:srgbClr val="C00000"/>
                </a:solidFill>
                <a:latin typeface="+mn-ea"/>
              </a:rPr>
              <a:t>摸不清方向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”“同行交流了，</a:t>
            </a:r>
            <a:r>
              <a:rPr lang="zh-CN" altLang="en-US" sz="900" i="1" dirty="0">
                <a:solidFill>
                  <a:srgbClr val="C00000"/>
                </a:solidFill>
                <a:latin typeface="+mn-ea"/>
              </a:rPr>
              <a:t>大家都不知道原因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”“</a:t>
            </a:r>
            <a:r>
              <a:rPr lang="zh-CN" altLang="en-US" sz="900" i="1" dirty="0">
                <a:solidFill>
                  <a:srgbClr val="C00000"/>
                </a:solidFill>
                <a:latin typeface="+mn-ea"/>
              </a:rPr>
              <a:t>下榜解释成本更大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”</a:t>
            </a:r>
            <a:r>
              <a:rPr lang="en-US" altLang="zh-CN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——</a:t>
            </a:r>
            <a:r>
              <a:rPr lang="zh-CN" altLang="en-US" sz="900" i="1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</a:rPr>
              <a:t>走访结论</a:t>
            </a:r>
            <a:endParaRPr lang="en-US" altLang="zh-CN" sz="900" i="1" dirty="0">
              <a:solidFill>
                <a:srgbClr val="000000">
                  <a:lumMod val="65000"/>
                  <a:lumOff val="35000"/>
                </a:srgbClr>
              </a:solidFill>
              <a:latin typeface="+mn-ea"/>
            </a:endParaRPr>
          </a:p>
        </p:txBody>
      </p:sp>
      <p:sp>
        <p:nvSpPr>
          <p:cNvPr id="91" name="米菲PPT26-1">
            <a:extLst>
              <a:ext uri="{FF2B5EF4-FFF2-40B4-BE49-F238E27FC236}">
                <a16:creationId xmlns:a16="http://schemas.microsoft.com/office/drawing/2014/main" id="{D2A3951C-B049-FBAE-D36C-73D941B22723}"/>
              </a:ext>
            </a:extLst>
          </p:cNvPr>
          <p:cNvSpPr/>
          <p:nvPr/>
        </p:nvSpPr>
        <p:spPr>
          <a:xfrm rot="5400000" flipV="1">
            <a:off x="579712" y="987006"/>
            <a:ext cx="937470" cy="1183465"/>
          </a:xfrm>
          <a:prstGeom prst="roundRect">
            <a:avLst>
              <a:gd name="adj" fmla="val 11974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algn="ctr" defTabSz="457200"/>
            <a:r>
              <a:rPr lang="zh-CN" altLang="en-US" sz="1200" b="1" kern="0" dirty="0">
                <a:latin typeface="+mn-ea"/>
              </a:rPr>
              <a:t>优化榜单规则</a:t>
            </a:r>
          </a:p>
        </p:txBody>
      </p:sp>
      <p:sp>
        <p:nvSpPr>
          <p:cNvPr id="92" name="米菲PPT26-1">
            <a:extLst>
              <a:ext uri="{FF2B5EF4-FFF2-40B4-BE49-F238E27FC236}">
                <a16:creationId xmlns:a16="http://schemas.microsoft.com/office/drawing/2014/main" id="{47BB2AF3-CC0E-6BB7-53BD-7DADAAF21212}"/>
              </a:ext>
            </a:extLst>
          </p:cNvPr>
          <p:cNvSpPr/>
          <p:nvPr/>
        </p:nvSpPr>
        <p:spPr>
          <a:xfrm rot="5400000" flipV="1">
            <a:off x="659344" y="2706623"/>
            <a:ext cx="751514" cy="1183465"/>
          </a:xfrm>
          <a:prstGeom prst="roundRect">
            <a:avLst>
              <a:gd name="adj" fmla="val 11974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algn="ctr" defTabSz="914400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商户辅导</a:t>
            </a:r>
          </a:p>
        </p:txBody>
      </p:sp>
      <p:sp>
        <p:nvSpPr>
          <p:cNvPr id="93" name="米菲PPT26-1">
            <a:extLst>
              <a:ext uri="{FF2B5EF4-FFF2-40B4-BE49-F238E27FC236}">
                <a16:creationId xmlns:a16="http://schemas.microsoft.com/office/drawing/2014/main" id="{57DE9994-B55B-0C8D-E30A-8663D51245E9}"/>
              </a:ext>
            </a:extLst>
          </p:cNvPr>
          <p:cNvSpPr/>
          <p:nvPr/>
        </p:nvSpPr>
        <p:spPr>
          <a:xfrm rot="5400000" flipV="1">
            <a:off x="554456" y="3846669"/>
            <a:ext cx="937470" cy="1183465"/>
          </a:xfrm>
          <a:prstGeom prst="roundRect">
            <a:avLst>
              <a:gd name="adj" fmla="val 11974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algn="ctr" defTabSz="914400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</a:rPr>
              <a:t>公信力提升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A8972164-8FE5-F74D-E30D-B0C99C4ADD80}"/>
              </a:ext>
            </a:extLst>
          </p:cNvPr>
          <p:cNvSpPr txBox="1"/>
          <p:nvPr/>
        </p:nvSpPr>
        <p:spPr>
          <a:xfrm>
            <a:off x="336632" y="2018682"/>
            <a:ext cx="14236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强化榜单好店筛选作用</a:t>
            </a:r>
            <a:endParaRPr lang="zh-CN" altLang="en-US" sz="900" dirty="0">
              <a:latin typeface="+mn-ea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D5B441C0-9239-5139-70A9-ACFBBD263A21}"/>
              </a:ext>
            </a:extLst>
          </p:cNvPr>
          <p:cNvSpPr/>
          <p:nvPr/>
        </p:nvSpPr>
        <p:spPr>
          <a:xfrm>
            <a:off x="2054877" y="551648"/>
            <a:ext cx="4479159" cy="30766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目标对齐：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cs typeface="+mn-cs"/>
              </a:rPr>
              <a:t>优先满足物理世界真实好店上榜，兼顾考虑交易及竞合目的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14599A1-9F58-4FC8-BF52-7B6A12D71924}"/>
              </a:ext>
            </a:extLst>
          </p:cNvPr>
          <p:cNvSpPr/>
          <p:nvPr/>
        </p:nvSpPr>
        <p:spPr>
          <a:xfrm>
            <a:off x="2054877" y="992686"/>
            <a:ext cx="4479160" cy="30766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尾部排水：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合理化榜单密度</a:t>
            </a:r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适当优化门槛，在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GTV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小影响下排水过密、擦边上榜门店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D1702E30-D548-71F4-0EBF-8E750B917728}"/>
              </a:ext>
            </a:extLst>
          </p:cNvPr>
          <p:cNvSpPr/>
          <p:nvPr/>
        </p:nvSpPr>
        <p:spPr>
          <a:xfrm>
            <a:off x="2054877" y="1433724"/>
            <a:ext cx="4479158" cy="30766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头部拔高：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通过拉长资产累积周期（如月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季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连续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N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周）凸显头部好店影响力和稀缺度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BA0EFFDD-35EB-96F3-1013-3130C1454D9A}"/>
              </a:ext>
            </a:extLst>
          </p:cNvPr>
          <p:cNvSpPr/>
          <p:nvPr/>
        </p:nvSpPr>
        <p:spPr>
          <a:xfrm>
            <a:off x="2054877" y="1874762"/>
            <a:ext cx="4479158" cy="30766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划对赛道：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价格带高、高流低销而埋没的好店，通过调整或新增规则，上榜合适赛道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F051996-CA03-CA65-49CF-5AA4FED2D0AB}"/>
              </a:ext>
            </a:extLst>
          </p:cNvPr>
          <p:cNvSpPr/>
          <p:nvPr/>
        </p:nvSpPr>
        <p:spPr>
          <a:xfrm>
            <a:off x="2054877" y="2315800"/>
            <a:ext cx="4479158" cy="30766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业务对齐：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面对假期、营销突发，及产品、下沉迭代变化，建立预案和规则对齐机制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111" name="左大括号 110">
            <a:extLst>
              <a:ext uri="{FF2B5EF4-FFF2-40B4-BE49-F238E27FC236}">
                <a16:creationId xmlns:a16="http://schemas.microsoft.com/office/drawing/2014/main" id="{13A2CB28-A70D-B335-3172-DC8793716DC5}"/>
              </a:ext>
            </a:extLst>
          </p:cNvPr>
          <p:cNvSpPr/>
          <p:nvPr/>
        </p:nvSpPr>
        <p:spPr>
          <a:xfrm>
            <a:off x="1750513" y="539824"/>
            <a:ext cx="236304" cy="208363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112" name="左大括号 111">
            <a:extLst>
              <a:ext uri="{FF2B5EF4-FFF2-40B4-BE49-F238E27FC236}">
                <a16:creationId xmlns:a16="http://schemas.microsoft.com/office/drawing/2014/main" id="{F8ACCBF8-CCD1-5AD8-F7B9-B488E1D3445B}"/>
              </a:ext>
            </a:extLst>
          </p:cNvPr>
          <p:cNvSpPr/>
          <p:nvPr/>
        </p:nvSpPr>
        <p:spPr>
          <a:xfrm>
            <a:off x="1732591" y="2792475"/>
            <a:ext cx="254225" cy="93589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4E784F2-D81D-4970-9DBE-DF2E3B43E4F7}"/>
              </a:ext>
            </a:extLst>
          </p:cNvPr>
          <p:cNvSpPr/>
          <p:nvPr/>
        </p:nvSpPr>
        <p:spPr>
          <a:xfrm>
            <a:off x="2054877" y="2756838"/>
            <a:ext cx="4501756" cy="2131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产品工具：</a:t>
            </a:r>
            <a:r>
              <a:rPr lang="zh-CN" altLang="en-US" sz="900" dirty="0">
                <a:solidFill>
                  <a:srgbClr val="0F1115"/>
                </a:solidFill>
                <a:latin typeface="quote-cjk-patch"/>
                <a:sym typeface="MiSans Bold" panose="00000800000000000000" pitchFamily="2" charset="-122"/>
              </a:rPr>
              <a:t>完善针对规则的商户辅导</a:t>
            </a:r>
            <a:r>
              <a:rPr lang="zh-CN" altLang="en-US" sz="900" i="0" dirty="0">
                <a:solidFill>
                  <a:srgbClr val="0F1115"/>
                </a:solidFill>
                <a:effectLst/>
                <a:latin typeface="quote-cjk-patch"/>
              </a:rPr>
              <a:t>诊断</a:t>
            </a:r>
          </a:p>
        </p:txBody>
      </p:sp>
      <p:sp>
        <p:nvSpPr>
          <p:cNvPr id="118" name="左大括号 117">
            <a:extLst>
              <a:ext uri="{FF2B5EF4-FFF2-40B4-BE49-F238E27FC236}">
                <a16:creationId xmlns:a16="http://schemas.microsoft.com/office/drawing/2014/main" id="{208441DE-2A7D-958C-B60F-720F3C12C999}"/>
              </a:ext>
            </a:extLst>
          </p:cNvPr>
          <p:cNvSpPr/>
          <p:nvPr/>
        </p:nvSpPr>
        <p:spPr>
          <a:xfrm>
            <a:off x="1726646" y="3925868"/>
            <a:ext cx="236304" cy="102506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+mn-ea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E511BF2-6EEC-4233-A512-086F4E27D4CF}"/>
              </a:ext>
            </a:extLst>
          </p:cNvPr>
          <p:cNvSpPr/>
          <p:nvPr/>
        </p:nvSpPr>
        <p:spPr>
          <a:xfrm>
            <a:off x="2054877" y="3103370"/>
            <a:ext cx="4466276" cy="247093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辅导手册：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案例分析、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FAQ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文档等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C07C4DC-B90B-4E8A-AE60-CD4329B7ABE7}"/>
              </a:ext>
            </a:extLst>
          </p:cNvPr>
          <p:cNvSpPr/>
          <p:nvPr/>
        </p:nvSpPr>
        <p:spPr>
          <a:xfrm>
            <a:off x="2054877" y="3483840"/>
            <a:ext cx="4466276" cy="247093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沟通机制：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建立线上线下商家交流通道，进行解读交流反馈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64A04F5-C045-47DC-8E1B-14DDA4409AD4}"/>
              </a:ext>
            </a:extLst>
          </p:cNvPr>
          <p:cNvSpPr/>
          <p:nvPr/>
        </p:nvSpPr>
        <p:spPr>
          <a:xfrm>
            <a:off x="2054877" y="3864310"/>
            <a:ext cx="4479157" cy="283696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真评引导：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联动会员、平台侧推进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C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端用户促评引导激励策略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FE725E4-2525-4362-B979-995166AC2C31}"/>
              </a:ext>
            </a:extLst>
          </p:cNvPr>
          <p:cNvSpPr/>
          <p:nvPr/>
        </p:nvSpPr>
        <p:spPr>
          <a:xfrm>
            <a:off x="2054877" y="4281383"/>
            <a:ext cx="4479157" cy="283696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放大真优资产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：差异化凸显高质量用户真实评价展示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CC362DB-7E3D-451D-BD67-4BB04413A8DA}"/>
              </a:ext>
            </a:extLst>
          </p:cNvPr>
          <p:cNvSpPr/>
          <p:nvPr/>
        </p:nvSpPr>
        <p:spPr>
          <a:xfrm>
            <a:off x="2054877" y="4698459"/>
            <a:ext cx="4479157" cy="283696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恶意差评治理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：联动平台评价产品、客户服务体验团队，优化恶意差评体验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流程问题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举措四：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  <a:ea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引导转化，强调验榜一致性，促进分享</a:t>
            </a:r>
            <a:endParaRPr lang="en-US" altLang="zh-CN" sz="1400" b="1" dirty="0">
              <a:solidFill>
                <a:schemeClr val="tx1"/>
              </a:solidFill>
              <a:latin typeface="+mn-ea"/>
              <a:ea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25094" y="4025619"/>
            <a:ext cx="2058669" cy="757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latin typeface="+mn-ea"/>
              </a:rPr>
              <a:t>定向招募有传播力的站外美食</a:t>
            </a:r>
            <a:r>
              <a:rPr lang="en-US" altLang="zh-CN" sz="1000" dirty="0">
                <a:latin typeface="+mn-ea"/>
              </a:rPr>
              <a:t>KOC</a:t>
            </a:r>
            <a:r>
              <a:rPr lang="zh-CN" altLang="en-US" sz="1000" dirty="0">
                <a:latin typeface="+mn-ea"/>
              </a:rPr>
              <a:t>，共写验榜故事，提升全网影响力及榜单一致性认知</a:t>
            </a:r>
          </a:p>
        </p:txBody>
      </p:sp>
      <p:graphicFrame>
        <p:nvGraphicFramePr>
          <p:cNvPr id="11" name="图示 10"/>
          <p:cNvGraphicFramePr/>
          <p:nvPr>
            <p:extLst>
              <p:ext uri="{D42A27DB-BD31-4B8C-83A1-F6EECF244321}">
                <p14:modId xmlns:p14="http://schemas.microsoft.com/office/powerpoint/2010/main" val="235299342"/>
              </p:ext>
            </p:extLst>
          </p:nvPr>
        </p:nvGraphicFramePr>
        <p:xfrm>
          <a:off x="3070640" y="658781"/>
          <a:ext cx="2968487" cy="28246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6263784" y="3613982"/>
            <a:ext cx="1960419" cy="369332"/>
            <a:chOff x="783858" y="230798"/>
            <a:chExt cx="1901453" cy="508759"/>
          </a:xfrm>
        </p:grpSpPr>
        <p:sp>
          <p:nvSpPr>
            <p:cNvPr id="20" name="圆角矩形 19"/>
            <p:cNvSpPr/>
            <p:nvPr/>
          </p:nvSpPr>
          <p:spPr>
            <a:xfrm>
              <a:off x="975484" y="230798"/>
              <a:ext cx="1548444" cy="508759"/>
            </a:xfrm>
            <a:prstGeom prst="round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圆角矩形 4"/>
            <p:cNvSpPr txBox="1"/>
            <p:nvPr/>
          </p:nvSpPr>
          <p:spPr>
            <a:xfrm>
              <a:off x="783858" y="255635"/>
              <a:ext cx="1901453" cy="4590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41910" rIns="41910" bIns="41910" numCol="1" spcCol="1270" anchor="ctr" anchorCtr="0">
              <a:noAutofit/>
            </a:bodyPr>
            <a:lstStyle/>
            <a:p>
              <a:pPr marL="171450" lvl="0" indent="-17145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ü"/>
              </a:pPr>
              <a:r>
                <a:rPr lang="zh-CN" altLang="en-US" sz="1100" dirty="0">
                  <a:solidFill>
                    <a:schemeClr val="tx1"/>
                  </a:solidFill>
                  <a:latin typeface="+mn-ea"/>
                </a:rPr>
                <a:t>激励站内外</a:t>
              </a:r>
              <a:r>
                <a:rPr lang="zh-CN" altLang="en-US" sz="1100" dirty="0">
                  <a:solidFill>
                    <a:srgbClr val="C00000"/>
                  </a:solidFill>
                  <a:latin typeface="+mn-ea"/>
                  <a:sym typeface="MiSans Bold" panose="00000800000000000000" pitchFamily="2" charset="-122"/>
                </a:rPr>
                <a:t>分享</a:t>
              </a:r>
              <a:endParaRPr lang="zh-CN" altLang="en-US" sz="1100" kern="1200" dirty="0">
                <a:solidFill>
                  <a:srgbClr val="C00000"/>
                </a:solidFill>
                <a:latin typeface="+mn-ea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36005" y="4025619"/>
            <a:ext cx="2058668" cy="988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latin typeface="+mn-ea"/>
              </a:rPr>
              <a:t>提供榜单专属权益，如“打卡榜单送菜品” 。结合会员升级玩法，如“验榜图鉴”及推荐语等信息，激励转化</a:t>
            </a:r>
          </a:p>
        </p:txBody>
      </p:sp>
      <p:pic>
        <p:nvPicPr>
          <p:cNvPr id="31" name="图片 30" descr="图形用户界面&#10;&#10;AI 生成的内容可能不正确。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113" y="594424"/>
            <a:ext cx="1202400" cy="2605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32" name="组合 31"/>
          <p:cNvGrpSpPr/>
          <p:nvPr/>
        </p:nvGrpSpPr>
        <p:grpSpPr>
          <a:xfrm>
            <a:off x="610304" y="3665210"/>
            <a:ext cx="1960419" cy="369332"/>
            <a:chOff x="783858" y="230798"/>
            <a:chExt cx="1901453" cy="508759"/>
          </a:xfrm>
        </p:grpSpPr>
        <p:sp>
          <p:nvSpPr>
            <p:cNvPr id="33" name="圆角矩形 32"/>
            <p:cNvSpPr/>
            <p:nvPr/>
          </p:nvSpPr>
          <p:spPr>
            <a:xfrm>
              <a:off x="975484" y="230798"/>
              <a:ext cx="1548444" cy="508759"/>
            </a:xfrm>
            <a:prstGeom prst="round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4" name="圆角矩形 4"/>
            <p:cNvSpPr txBox="1"/>
            <p:nvPr/>
          </p:nvSpPr>
          <p:spPr>
            <a:xfrm>
              <a:off x="783858" y="255635"/>
              <a:ext cx="1901453" cy="4590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41910" rIns="41910" bIns="41910" numCol="1" spcCol="1270" anchor="ctr" anchorCtr="0">
              <a:noAutofit/>
            </a:bodyPr>
            <a:lstStyle/>
            <a:p>
              <a:pPr marL="171450" lvl="0" indent="-17145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ü"/>
              </a:pPr>
              <a:r>
                <a:rPr lang="zh-CN" altLang="en-US" sz="1100" dirty="0">
                  <a:solidFill>
                    <a:schemeClr val="tx1"/>
                  </a:solidFill>
                  <a:latin typeface="+mn-ea"/>
                </a:rPr>
                <a:t>引导消费者</a:t>
              </a:r>
              <a:r>
                <a:rPr lang="zh-CN" altLang="en-US" sz="1100" dirty="0">
                  <a:solidFill>
                    <a:srgbClr val="C00000"/>
                  </a:solidFill>
                  <a:latin typeface="+mn-ea"/>
                </a:rPr>
                <a:t>榜单转化</a:t>
              </a:r>
              <a:endParaRPr lang="zh-CN" altLang="en-US" sz="1100" kern="1200" dirty="0">
                <a:solidFill>
                  <a:srgbClr val="C00000"/>
                </a:solidFill>
                <a:latin typeface="+mn-ea"/>
              </a:endParaRPr>
            </a:p>
          </p:txBody>
        </p:sp>
      </p:grpSp>
      <p:cxnSp>
        <p:nvCxnSpPr>
          <p:cNvPr id="40" name="直线箭头连接符 39"/>
          <p:cNvCxnSpPr>
            <a:cxnSpLocks/>
            <a:endCxn id="45" idx="1"/>
          </p:cNvCxnSpPr>
          <p:nvPr/>
        </p:nvCxnSpPr>
        <p:spPr>
          <a:xfrm flipV="1">
            <a:off x="2770212" y="3790780"/>
            <a:ext cx="689774" cy="7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/>
          <p:cNvCxnSpPr>
            <a:stCxn id="21" idx="1"/>
            <a:endCxn id="45" idx="3"/>
          </p:cNvCxnSpPr>
          <p:nvPr/>
        </p:nvCxnSpPr>
        <p:spPr>
          <a:xfrm flipH="1" flipV="1">
            <a:off x="5420405" y="3790780"/>
            <a:ext cx="843379" cy="7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3459986" y="3606113"/>
            <a:ext cx="1960419" cy="369332"/>
            <a:chOff x="783858" y="230798"/>
            <a:chExt cx="1901453" cy="508759"/>
          </a:xfrm>
        </p:grpSpPr>
        <p:sp>
          <p:nvSpPr>
            <p:cNvPr id="44" name="圆角矩形 43"/>
            <p:cNvSpPr/>
            <p:nvPr/>
          </p:nvSpPr>
          <p:spPr>
            <a:xfrm>
              <a:off x="975484" y="230798"/>
              <a:ext cx="1548444" cy="508759"/>
            </a:xfrm>
            <a:prstGeom prst="roundRect">
              <a:avLst/>
            </a:prstGeom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5" name="圆角矩形 4"/>
            <p:cNvSpPr txBox="1"/>
            <p:nvPr/>
          </p:nvSpPr>
          <p:spPr>
            <a:xfrm>
              <a:off x="783858" y="255635"/>
              <a:ext cx="1901453" cy="4590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41910" rIns="41910" bIns="41910" numCol="1" spcCol="1270" anchor="ctr" anchorCtr="0">
              <a:noAutofit/>
            </a:bodyPr>
            <a:lstStyle/>
            <a:p>
              <a:pPr marL="171450" lvl="0" indent="-17145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ü"/>
              </a:pPr>
              <a:r>
                <a:rPr lang="zh-CN" altLang="en-US" sz="1100" dirty="0">
                  <a:solidFill>
                    <a:schemeClr val="tx1"/>
                  </a:solidFill>
                  <a:latin typeface="+mn-ea"/>
                </a:rPr>
                <a:t>助力商户真实生意</a:t>
              </a:r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3312786" y="4025619"/>
            <a:ext cx="2286000" cy="52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latin typeface="+mn-ea"/>
                <a:sym typeface="MiSans Medium" panose="00000600000000000000" pitchFamily="2" charset="-122"/>
              </a:rPr>
              <a:t>激励到店核销，提升真实生意转化。商家专注于提升一致性服务及体验。</a:t>
            </a:r>
            <a:endParaRPr lang="en-US" altLang="zh-CN" sz="1000" dirty="0">
              <a:latin typeface="+mn-ea"/>
              <a:sym typeface="MiSans Medium" panose="00000600000000000000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0B5BDD-7C2C-2DC0-ABA8-871CCF3100D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4752"/>
          <a:stretch/>
        </p:blipFill>
        <p:spPr>
          <a:xfrm>
            <a:off x="6555700" y="407889"/>
            <a:ext cx="1363983" cy="27923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1316EF6-BCAF-27B7-51F3-F1E67A710B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6143" y="590292"/>
            <a:ext cx="1281909" cy="259192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67CC994-8360-0565-589F-C7B9CD96DBE5}"/>
              </a:ext>
            </a:extLst>
          </p:cNvPr>
          <p:cNvSpPr/>
          <p:nvPr/>
        </p:nvSpPr>
        <p:spPr>
          <a:xfrm>
            <a:off x="852514" y="1368612"/>
            <a:ext cx="771563" cy="309946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13" name="米菲PPT22">
            <a:extLst>
              <a:ext uri="{FF2B5EF4-FFF2-40B4-BE49-F238E27FC236}">
                <a16:creationId xmlns:a16="http://schemas.microsoft.com/office/drawing/2014/main" id="{C2BF03CF-5BDA-5818-E557-F988DCE053F2}"/>
              </a:ext>
            </a:extLst>
          </p:cNvPr>
          <p:cNvSpPr txBox="1"/>
          <p:nvPr/>
        </p:nvSpPr>
        <p:spPr>
          <a:xfrm>
            <a:off x="85721" y="3200250"/>
            <a:ext cx="162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B+ </a:t>
            </a:r>
            <a:r>
              <a:rPr lang="zh-CN" altLang="en-US" sz="9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榜单页展示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赠品、专属价</a:t>
            </a:r>
            <a:endParaRPr lang="en-US" altLang="zh-CN" sz="900" dirty="0"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/>
            <a:r>
              <a:rPr lang="zh-CN" altLang="en-US" sz="900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下单</a:t>
            </a:r>
            <a:r>
              <a:rPr lang="zh-CN" altLang="en-US" sz="9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备注</a:t>
            </a:r>
            <a:r>
              <a:rPr lang="zh-CN" altLang="en-US" sz="900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必买榜送小样</a:t>
            </a:r>
          </a:p>
        </p:txBody>
      </p:sp>
      <p:sp>
        <p:nvSpPr>
          <p:cNvPr id="14" name="米菲PPT22">
            <a:extLst>
              <a:ext uri="{FF2B5EF4-FFF2-40B4-BE49-F238E27FC236}">
                <a16:creationId xmlns:a16="http://schemas.microsoft.com/office/drawing/2014/main" id="{A041D877-A274-AB96-7B49-3D0BC0254234}"/>
              </a:ext>
            </a:extLst>
          </p:cNvPr>
          <p:cNvSpPr txBox="1"/>
          <p:nvPr/>
        </p:nvSpPr>
        <p:spPr>
          <a:xfrm>
            <a:off x="1602382" y="3233442"/>
            <a:ext cx="12920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携程 </a:t>
            </a:r>
            <a:r>
              <a:rPr lang="zh-CN" altLang="en-US" sz="9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验榜勋章</a:t>
            </a:r>
            <a:r>
              <a:rPr lang="en-US" altLang="zh-CN" sz="9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9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任务</a:t>
            </a:r>
          </a:p>
        </p:txBody>
      </p:sp>
      <p:sp>
        <p:nvSpPr>
          <p:cNvPr id="5" name="米菲PPT22">
            <a:extLst>
              <a:ext uri="{FF2B5EF4-FFF2-40B4-BE49-F238E27FC236}">
                <a16:creationId xmlns:a16="http://schemas.microsoft.com/office/drawing/2014/main" id="{0A7AAABE-AA77-C47E-F184-0B33C57A70EF}"/>
              </a:ext>
            </a:extLst>
          </p:cNvPr>
          <p:cNvSpPr txBox="1"/>
          <p:nvPr/>
        </p:nvSpPr>
        <p:spPr>
          <a:xfrm>
            <a:off x="6544612" y="3233442"/>
            <a:ext cx="12920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携程 </a:t>
            </a:r>
            <a:r>
              <a:rPr lang="zh-CN" altLang="en-US" sz="900" b="1" dirty="0"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百大试睡师招募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/>
          <p:cNvGrpSpPr/>
          <p:nvPr/>
        </p:nvGrpSpPr>
        <p:grpSpPr>
          <a:xfrm>
            <a:off x="2206590" y="1274844"/>
            <a:ext cx="4473844" cy="3812890"/>
            <a:chOff x="2738435" y="640323"/>
            <a:chExt cx="3827914" cy="4458366"/>
          </a:xfrm>
        </p:grpSpPr>
        <p:grpSp>
          <p:nvGrpSpPr>
            <p:cNvPr id="59" name="组合 58"/>
            <p:cNvGrpSpPr/>
            <p:nvPr/>
          </p:nvGrpSpPr>
          <p:grpSpPr>
            <a:xfrm>
              <a:off x="2738435" y="640323"/>
              <a:ext cx="3827914" cy="4458366"/>
              <a:chOff x="442778" y="654441"/>
              <a:chExt cx="3827914" cy="4458366"/>
            </a:xfrm>
          </p:grpSpPr>
          <p:sp>
            <p:nvSpPr>
              <p:cNvPr id="67" name="米菲PPT10-2"/>
              <p:cNvSpPr/>
              <p:nvPr/>
            </p:nvSpPr>
            <p:spPr>
              <a:xfrm rot="10800000">
                <a:off x="442778" y="654441"/>
                <a:ext cx="3827914" cy="4458366"/>
              </a:xfrm>
              <a:prstGeom prst="roundRect">
                <a:avLst>
                  <a:gd name="adj" fmla="val 2257"/>
                </a:avLst>
              </a:prstGeom>
              <a:noFill/>
              <a:ln w="15875">
                <a:gradFill>
                  <a:gsLst>
                    <a:gs pos="100000">
                      <a:schemeClr val="accent1"/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    <a:noAutofit/>
              </a:bodyPr>
              <a:lstStyle/>
              <a:p>
                <a:pPr algn="ctr" defTabSz="457200"/>
                <a:endParaRPr lang="zh-CN" altLang="en-US" sz="1795" dirty="0">
                  <a:latin typeface="+mn-ea"/>
                  <a:cs typeface="MiSans Medium" panose="00000600000000000000" pitchFamily="2" charset="-122"/>
                </a:endParaRP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1512488" y="1052903"/>
                <a:ext cx="2007968" cy="467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zh-CN" altLang="en-US" sz="1000" b="1" dirty="0">
                    <a:latin typeface="+mn-ea"/>
                  </a:rPr>
                  <a:t>排序统一、展示个性化</a:t>
                </a:r>
                <a:endParaRPr lang="en-US" altLang="zh-CN" sz="1000" b="1" dirty="0">
                  <a:latin typeface="+mn-ea"/>
                </a:endParaRPr>
              </a:p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zh-CN" altLang="en-US" sz="1000" dirty="0">
                    <a:latin typeface="+mn-ea"/>
                  </a:rPr>
                  <a:t>兼顾大众选择及用户需求偏好</a:t>
                </a:r>
                <a:endParaRPr lang="en-US" altLang="zh-CN" sz="1000" dirty="0">
                  <a:latin typeface="+mn-ea"/>
                </a:endParaRPr>
              </a:p>
            </p:txBody>
          </p:sp>
        </p:grpSp>
        <p:pic>
          <p:nvPicPr>
            <p:cNvPr id="48" name="图片 47"/>
            <p:cNvPicPr>
              <a:picLocks noChangeAspect="1"/>
            </p:cNvPicPr>
            <p:nvPr/>
          </p:nvPicPr>
          <p:blipFill rotWithShape="1">
            <a:blip r:embed="rId3"/>
            <a:srcRect t="6544" b="16838"/>
            <a:stretch>
              <a:fillRect/>
            </a:stretch>
          </p:blipFill>
          <p:spPr>
            <a:xfrm>
              <a:off x="2917822" y="1695251"/>
              <a:ext cx="1046621" cy="2613973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/>
        </p:nvSpPr>
        <p:spPr>
          <a:xfrm>
            <a:off x="2402815" y="3711570"/>
            <a:ext cx="747383" cy="223790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15F2AD8-56C2-E277-7714-BE691527F5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33"/>
          <a:stretch/>
        </p:blipFill>
        <p:spPr>
          <a:xfrm>
            <a:off x="430207" y="2153610"/>
            <a:ext cx="1084224" cy="2235526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个性化榜单讨论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348351" y="1274844"/>
            <a:ext cx="1924949" cy="3812890"/>
            <a:chOff x="538300" y="654441"/>
            <a:chExt cx="1896782" cy="4458366"/>
          </a:xfrm>
        </p:grpSpPr>
        <p:sp>
          <p:nvSpPr>
            <p:cNvPr id="8" name="米菲PPT10-2"/>
            <p:cNvSpPr/>
            <p:nvPr/>
          </p:nvSpPr>
          <p:spPr>
            <a:xfrm rot="10800000">
              <a:off x="538300" y="654441"/>
              <a:ext cx="1773460" cy="4458366"/>
            </a:xfrm>
            <a:prstGeom prst="roundRect">
              <a:avLst>
                <a:gd name="adj" fmla="val 2257"/>
              </a:avLst>
            </a:prstGeom>
            <a:noFill/>
            <a:ln w="15875">
              <a:gradFill>
                <a:gsLst>
                  <a:gs pos="100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  <a:noAutofit/>
            </a:bodyPr>
            <a:lstStyle/>
            <a:p>
              <a:pPr algn="ctr" defTabSz="457200"/>
              <a:endParaRPr lang="zh-CN" altLang="en-US" sz="1795" dirty="0"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566101" y="1049783"/>
              <a:ext cx="1868981" cy="4678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488" indent="-90488">
                <a:buFont typeface="Arial" panose="020B0604020202020204" pitchFamily="34" charset="0"/>
                <a:buChar char="•"/>
              </a:pPr>
              <a:r>
                <a:rPr lang="zh-CN" altLang="en-US" sz="1000" b="1" dirty="0">
                  <a:latin typeface="+mn-ea"/>
                </a:rPr>
                <a:t>排序、展示均统一</a:t>
              </a:r>
              <a:endParaRPr lang="en-US" altLang="zh-CN" sz="1000" b="1" dirty="0">
                <a:latin typeface="+mn-ea"/>
              </a:endParaRPr>
            </a:p>
            <a:p>
              <a:pPr marL="90488" indent="-90488"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latin typeface="+mn-ea"/>
                </a:rPr>
                <a:t>凸显大众选择权威及公信力</a:t>
              </a:r>
              <a:endParaRPr lang="en-US" altLang="zh-CN" sz="1000" dirty="0">
                <a:latin typeface="+mn-ea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6752409" y="1266798"/>
            <a:ext cx="2206026" cy="3812890"/>
            <a:chOff x="265837" y="654441"/>
            <a:chExt cx="2291096" cy="4458366"/>
          </a:xfrm>
        </p:grpSpPr>
        <p:sp>
          <p:nvSpPr>
            <p:cNvPr id="89" name="米菲PPT10-2"/>
            <p:cNvSpPr/>
            <p:nvPr/>
          </p:nvSpPr>
          <p:spPr>
            <a:xfrm rot="10800000">
              <a:off x="265837" y="654441"/>
              <a:ext cx="2291096" cy="4458366"/>
            </a:xfrm>
            <a:prstGeom prst="roundRect">
              <a:avLst>
                <a:gd name="adj" fmla="val 2257"/>
              </a:avLst>
            </a:prstGeom>
            <a:noFill/>
            <a:ln w="15875">
              <a:gradFill>
                <a:gsLst>
                  <a:gs pos="100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  <a:noAutofit/>
            </a:bodyPr>
            <a:lstStyle/>
            <a:p>
              <a:pPr algn="ctr" defTabSz="457200"/>
              <a:endParaRPr lang="zh-CN" altLang="en-US" sz="1795" dirty="0">
                <a:latin typeface="+mn-ea"/>
                <a:cs typeface="MiSans Medium" panose="00000600000000000000" pitchFamily="2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395815" y="1064393"/>
              <a:ext cx="2007968" cy="4678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88900" indent="-88900">
                <a:buFont typeface="Arial" panose="020B0604020202020204" pitchFamily="34" charset="0"/>
                <a:buChar char="•"/>
              </a:pPr>
              <a:r>
                <a:rPr lang="zh-CN" altLang="en-US" sz="1000" b="1" dirty="0">
                  <a:latin typeface="+mn-ea"/>
                </a:rPr>
                <a:t>排序个性化</a:t>
              </a:r>
              <a:endParaRPr lang="en-US" altLang="zh-CN" sz="1000" dirty="0">
                <a:latin typeface="+mn-ea"/>
              </a:endParaRPr>
            </a:p>
            <a:p>
              <a:pPr marL="88900" indent="-88900"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latin typeface="+mn-ea"/>
                </a:rPr>
                <a:t>承接深度用户的消费溢出</a:t>
              </a:r>
              <a:endParaRPr lang="en-US" altLang="zh-CN" sz="1000" dirty="0">
                <a:latin typeface="+mn-ea"/>
              </a:endParaRPr>
            </a:p>
          </p:txBody>
        </p:sp>
      </p:grpSp>
      <p:sp>
        <p:nvSpPr>
          <p:cNvPr id="92" name="文本框 91"/>
          <p:cNvSpPr txBox="1"/>
          <p:nvPr/>
        </p:nvSpPr>
        <p:spPr>
          <a:xfrm>
            <a:off x="286326" y="4395529"/>
            <a:ext cx="1818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</a:rPr>
              <a:t>多数榜单选择，适合矩阵较少时，如腾讯视频、</a:t>
            </a:r>
            <a:r>
              <a:rPr lang="en-US" altLang="zh-CN" sz="900" dirty="0">
                <a:latin typeface="+mn-ea"/>
              </a:rPr>
              <a:t>App Store</a:t>
            </a:r>
            <a:r>
              <a:rPr lang="zh-CN" altLang="en-US" sz="900" dirty="0">
                <a:latin typeface="+mn-ea"/>
              </a:rPr>
              <a:t>榜</a:t>
            </a:r>
            <a:endParaRPr lang="en-US" altLang="zh-CN" sz="900" dirty="0">
              <a:latin typeface="+mn-ea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2245157" y="4395529"/>
            <a:ext cx="437376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</a:rPr>
              <a:t>如京东排行榜品类顺序①及推荐列表②、点评的品类顺序展示个性化 。适合品类、场景矩阵多，用户需求差异较大时，</a:t>
            </a:r>
            <a:r>
              <a:rPr lang="zh-CN" altLang="en-US" sz="900" b="1" dirty="0">
                <a:latin typeface="+mn-ea"/>
              </a:rPr>
              <a:t>美团侧榜单品类、主题场景展示可采纳</a:t>
            </a:r>
            <a:endParaRPr lang="en-US" altLang="zh-CN" sz="900" b="1" dirty="0"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</a:rPr>
              <a:t>同时，可考虑</a:t>
            </a:r>
            <a:r>
              <a:rPr lang="zh-CN" altLang="en-US" sz="900" b="1" dirty="0">
                <a:latin typeface="+mn-ea"/>
              </a:rPr>
              <a:t>根据用户</a:t>
            </a:r>
            <a:r>
              <a:rPr lang="en-US" altLang="zh-CN" sz="900" b="1" dirty="0">
                <a:latin typeface="+mn-ea"/>
              </a:rPr>
              <a:t>LBS</a:t>
            </a:r>
            <a:r>
              <a:rPr lang="zh-CN" altLang="en-US" sz="900" b="1" dirty="0">
                <a:latin typeface="+mn-ea"/>
              </a:rPr>
              <a:t>距离，而非选区域的方式，个性化展示榜单③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5"/>
          <a:srcRect t="6042" b="21825"/>
          <a:stretch>
            <a:fillRect/>
          </a:stretch>
        </p:blipFill>
        <p:spPr>
          <a:xfrm>
            <a:off x="3349419" y="2085726"/>
            <a:ext cx="1250530" cy="2015753"/>
          </a:xfrm>
          <a:prstGeom prst="rect">
            <a:avLst/>
          </a:prstGeom>
        </p:spPr>
      </p:pic>
      <p:sp>
        <p:nvSpPr>
          <p:cNvPr id="94" name="文本框 93"/>
          <p:cNvSpPr txBox="1"/>
          <p:nvPr/>
        </p:nvSpPr>
        <p:spPr>
          <a:xfrm>
            <a:off x="6642539" y="4389200"/>
            <a:ext cx="2416541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+mn-ea"/>
              </a:rPr>
              <a:t>如微博热搜</a:t>
            </a:r>
            <a:r>
              <a:rPr lang="en-US" altLang="zh-CN" sz="900" dirty="0">
                <a:latin typeface="+mn-ea"/>
              </a:rPr>
              <a:t>-</a:t>
            </a:r>
            <a:r>
              <a:rPr lang="zh-CN" altLang="en-US" sz="900" dirty="0">
                <a:latin typeface="+mn-ea"/>
              </a:rPr>
              <a:t>我的，网易云音乐</a:t>
            </a:r>
            <a:r>
              <a:rPr lang="en-US" altLang="zh-CN" sz="900" dirty="0">
                <a:latin typeface="+mn-ea"/>
              </a:rPr>
              <a:t>-</a:t>
            </a:r>
            <a:r>
              <a:rPr lang="zh-CN" altLang="en-US" sz="900" dirty="0">
                <a:latin typeface="+mn-ea"/>
              </a:rPr>
              <a:t>我的热榜。根据用户兴趣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协同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位置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关系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一定热度综合计算，榜单排序个性化。</a:t>
            </a:r>
            <a:endParaRPr lang="en-US" altLang="zh-CN" sz="900" dirty="0"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b="1" dirty="0">
                <a:latin typeface="+mn-ea"/>
              </a:rPr>
              <a:t>建议优先强化非个性化榜单心智及渗透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384762" y="412618"/>
            <a:ext cx="85011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为凸显榜单的大众选择权威及公信力，多数榜单为“千人一面”的非个性化排序、展示。美团侧可参考点评等“千人多面”的形式，保持排序统一，但在</a:t>
            </a:r>
            <a:r>
              <a:rPr lang="zh-CN" altLang="en-US" sz="1200" b="1" dirty="0">
                <a:latin typeface="+mn-ea"/>
              </a:rPr>
              <a:t>品类、主题场景进行个性化展示</a:t>
            </a:r>
            <a:r>
              <a:rPr lang="zh-CN" altLang="en-US" sz="1200" dirty="0">
                <a:latin typeface="+mn-ea"/>
              </a:rPr>
              <a:t>，还可考虑</a:t>
            </a:r>
            <a:r>
              <a:rPr lang="zh-CN" altLang="en-US" sz="1200" b="1" dirty="0">
                <a:latin typeface="+mn-ea"/>
              </a:rPr>
              <a:t>根据用户</a:t>
            </a:r>
            <a:r>
              <a:rPr lang="en-US" altLang="zh-CN" sz="1200" b="1" dirty="0">
                <a:latin typeface="+mn-ea"/>
              </a:rPr>
              <a:t>LBS</a:t>
            </a:r>
            <a:r>
              <a:rPr lang="zh-CN" altLang="en-US" sz="1200" b="1" dirty="0">
                <a:latin typeface="+mn-ea"/>
              </a:rPr>
              <a:t>距离</a:t>
            </a:r>
            <a:r>
              <a:rPr lang="zh-CN" altLang="en-US" sz="1200" dirty="0">
                <a:latin typeface="+mn-ea"/>
              </a:rPr>
              <a:t>，而非选区域的方式</a:t>
            </a:r>
            <a:r>
              <a:rPr lang="zh-CN" altLang="en-US" sz="1200" b="1" dirty="0">
                <a:latin typeface="+mn-ea"/>
              </a:rPr>
              <a:t>，个性化展示榜单</a:t>
            </a:r>
            <a:r>
              <a:rPr lang="zh-CN" altLang="en-US" sz="1200" dirty="0">
                <a:latin typeface="+mn-ea"/>
              </a:rPr>
              <a:t>。兼顾大众选择及用户需求偏好，提升榜单转化；</a:t>
            </a:r>
            <a:endParaRPr lang="en-US" altLang="zh-CN" sz="1200" dirty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“千人千面”的榜单入口均关联主榜，承接深度用户主榜消费后的消费溢出。建议优先强化非个性化榜单心智及渗透</a:t>
            </a:r>
            <a:endParaRPr lang="en-US" altLang="zh-CN" sz="1200" dirty="0">
              <a:latin typeface="+mn-ea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692224" y="2663241"/>
            <a:ext cx="907725" cy="254006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41" name="对话气泡: 矩形 40"/>
          <p:cNvSpPr/>
          <p:nvPr/>
        </p:nvSpPr>
        <p:spPr>
          <a:xfrm>
            <a:off x="3550003" y="3711570"/>
            <a:ext cx="960359" cy="558384"/>
          </a:xfrm>
          <a:prstGeom prst="wedgeRectCallout">
            <a:avLst/>
          </a:prstGeom>
          <a:solidFill>
            <a:schemeClr val="accent1">
              <a:lumMod val="20000"/>
              <a:lumOff val="80000"/>
              <a:alpha val="89000"/>
            </a:schemeClr>
          </a:solidFill>
          <a:ln w="3175">
            <a:noFill/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900" dirty="0">
                <a:latin typeface="+mn-ea"/>
              </a:rPr>
              <a:t>根据用户搜索、浏览记录个性化展示品类等顺序</a:t>
            </a:r>
            <a:endParaRPr lang="en-US" altLang="zh-CN" sz="900" dirty="0">
              <a:latin typeface="+mn-ea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0BACB19-CA6E-3531-41B9-357E36310753}"/>
              </a:ext>
            </a:extLst>
          </p:cNvPr>
          <p:cNvSpPr/>
          <p:nvPr/>
        </p:nvSpPr>
        <p:spPr>
          <a:xfrm>
            <a:off x="403420" y="1344969"/>
            <a:ext cx="1660330" cy="2699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千人一面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DDEBB6F-A3D3-4D12-07AC-1C89DDD5ABF2}"/>
              </a:ext>
            </a:extLst>
          </p:cNvPr>
          <p:cNvSpPr/>
          <p:nvPr/>
        </p:nvSpPr>
        <p:spPr>
          <a:xfrm>
            <a:off x="2373247" y="1339666"/>
            <a:ext cx="4265418" cy="28301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千人多面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CB7579E-3197-C865-F0A3-3C22FB48E859}"/>
              </a:ext>
            </a:extLst>
          </p:cNvPr>
          <p:cNvSpPr/>
          <p:nvPr/>
        </p:nvSpPr>
        <p:spPr>
          <a:xfrm>
            <a:off x="6805323" y="1344969"/>
            <a:ext cx="2118309" cy="2699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千人千面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6291A6E2-6101-3122-BDA7-16B16976B8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344" y="2020765"/>
            <a:ext cx="1163925" cy="238707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69DC8340-9B78-EB8B-313D-34A3849C318E}"/>
              </a:ext>
            </a:extLst>
          </p:cNvPr>
          <p:cNvSpPr/>
          <p:nvPr/>
        </p:nvSpPr>
        <p:spPr>
          <a:xfrm>
            <a:off x="2402814" y="3390005"/>
            <a:ext cx="946607" cy="223791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B299B3-8039-9ACA-B54A-282A1B1BE26F}"/>
              </a:ext>
            </a:extLst>
          </p:cNvPr>
          <p:cNvSpPr txBox="1"/>
          <p:nvPr/>
        </p:nvSpPr>
        <p:spPr>
          <a:xfrm>
            <a:off x="2195987" y="3245720"/>
            <a:ext cx="359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5EE9A3C-0352-9D4B-2FB5-32FDBF2E331D}"/>
              </a:ext>
            </a:extLst>
          </p:cNvPr>
          <p:cNvSpPr txBox="1"/>
          <p:nvPr/>
        </p:nvSpPr>
        <p:spPr>
          <a:xfrm>
            <a:off x="2190606" y="3590465"/>
            <a:ext cx="3386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②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A5E212B-1200-7858-6029-4A68B7924DA4}"/>
              </a:ext>
            </a:extLst>
          </p:cNvPr>
          <p:cNvSpPr txBox="1"/>
          <p:nvPr/>
        </p:nvSpPr>
        <p:spPr>
          <a:xfrm>
            <a:off x="4381007" y="2531985"/>
            <a:ext cx="359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①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35DC5DF-4745-6CDB-CFD5-6251180074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311" y="2106683"/>
            <a:ext cx="1164158" cy="2337318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40E8BBCE-FAE5-CC0E-733B-015834F78456}"/>
              </a:ext>
            </a:extLst>
          </p:cNvPr>
          <p:cNvSpPr/>
          <p:nvPr/>
        </p:nvSpPr>
        <p:spPr>
          <a:xfrm>
            <a:off x="4810448" y="2789475"/>
            <a:ext cx="907725" cy="160884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8DB65205-EBEA-4C4E-E8EE-C6A740E595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7141" y="2051290"/>
            <a:ext cx="1272185" cy="2373644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B574F848-8FE9-03EC-A584-121AA1C55AD9}"/>
              </a:ext>
            </a:extLst>
          </p:cNvPr>
          <p:cNvSpPr txBox="1"/>
          <p:nvPr/>
        </p:nvSpPr>
        <p:spPr>
          <a:xfrm>
            <a:off x="4634867" y="2612071"/>
            <a:ext cx="359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①</a:t>
            </a:r>
          </a:p>
        </p:txBody>
      </p:sp>
      <p:sp>
        <p:nvSpPr>
          <p:cNvPr id="43" name="对话气泡: 矩形 42">
            <a:extLst>
              <a:ext uri="{FF2B5EF4-FFF2-40B4-BE49-F238E27FC236}">
                <a16:creationId xmlns:a16="http://schemas.microsoft.com/office/drawing/2014/main" id="{A760E669-0B4B-B306-9AC9-E27609BBCF6C}"/>
              </a:ext>
            </a:extLst>
          </p:cNvPr>
          <p:cNvSpPr/>
          <p:nvPr/>
        </p:nvSpPr>
        <p:spPr>
          <a:xfrm>
            <a:off x="5655453" y="3723221"/>
            <a:ext cx="960359" cy="528611"/>
          </a:xfrm>
          <a:prstGeom prst="wedgeRectCallout">
            <a:avLst/>
          </a:prstGeom>
          <a:solidFill>
            <a:schemeClr val="accent3">
              <a:lumMod val="20000"/>
              <a:lumOff val="80000"/>
              <a:alpha val="89000"/>
            </a:schemeClr>
          </a:solidFill>
          <a:ln w="3175">
            <a:noFill/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900" dirty="0">
                <a:latin typeface="+mn-ea"/>
              </a:rPr>
              <a:t>可考虑根据用户距离而非选商圈方式，个性化展示</a:t>
            </a:r>
            <a:endParaRPr lang="en-US" altLang="zh-CN" sz="900" dirty="0">
              <a:latin typeface="+mn-ea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C42E80B2-AABF-575D-AD06-73BE104CFA1D}"/>
              </a:ext>
            </a:extLst>
          </p:cNvPr>
          <p:cNvCxnSpPr>
            <a:cxnSpLocks/>
          </p:cNvCxnSpPr>
          <p:nvPr/>
        </p:nvCxnSpPr>
        <p:spPr>
          <a:xfrm>
            <a:off x="4649722" y="2106683"/>
            <a:ext cx="7377" cy="228245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图片 51">
            <a:extLst>
              <a:ext uri="{FF2B5EF4-FFF2-40B4-BE49-F238E27FC236}">
                <a16:creationId xmlns:a16="http://schemas.microsoft.com/office/drawing/2014/main" id="{F83E8070-0B5D-8F33-F019-6A658A590C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9199" y="2086256"/>
            <a:ext cx="1036210" cy="2205326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988EC9B8-E891-6073-0194-F6DE1AF246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5510" y="2208178"/>
            <a:ext cx="990388" cy="2047243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C17B3F95-0D4F-C24A-6D14-C85A440CF45D}"/>
              </a:ext>
            </a:extLst>
          </p:cNvPr>
          <p:cNvSpPr/>
          <p:nvPr/>
        </p:nvSpPr>
        <p:spPr>
          <a:xfrm>
            <a:off x="8524297" y="2444595"/>
            <a:ext cx="376729" cy="1587183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91" name="对话气泡: 矩形 90"/>
          <p:cNvSpPr/>
          <p:nvPr/>
        </p:nvSpPr>
        <p:spPr>
          <a:xfrm>
            <a:off x="6797899" y="3565353"/>
            <a:ext cx="1112258" cy="576429"/>
          </a:xfrm>
          <a:prstGeom prst="wedgeRectCallout">
            <a:avLst/>
          </a:prstGeom>
          <a:solidFill>
            <a:schemeClr val="accent1">
              <a:lumMod val="20000"/>
              <a:lumOff val="80000"/>
              <a:alpha val="89000"/>
            </a:schemeClr>
          </a:solidFill>
          <a:ln w="3175">
            <a:noFill/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900" dirty="0">
                <a:latin typeface="+mn-ea"/>
              </a:rPr>
              <a:t>错过热点（登顶、霸榜）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兴趣热点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好友正在看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关注人热点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本地热点</a:t>
            </a:r>
            <a:endParaRPr lang="en-US" altLang="zh-CN" sz="900" dirty="0">
              <a:latin typeface="+mn-ea"/>
            </a:endParaRPr>
          </a:p>
        </p:txBody>
      </p:sp>
      <p:sp>
        <p:nvSpPr>
          <p:cNvPr id="62" name="对话气泡: 矩形 61">
            <a:extLst>
              <a:ext uri="{FF2B5EF4-FFF2-40B4-BE49-F238E27FC236}">
                <a16:creationId xmlns:a16="http://schemas.microsoft.com/office/drawing/2014/main" id="{BCFEF9DD-4011-6DF6-456E-A643BDEBF975}"/>
              </a:ext>
            </a:extLst>
          </p:cNvPr>
          <p:cNvSpPr/>
          <p:nvPr/>
        </p:nvSpPr>
        <p:spPr>
          <a:xfrm>
            <a:off x="7948192" y="3559151"/>
            <a:ext cx="1112258" cy="582631"/>
          </a:xfrm>
          <a:prstGeom prst="wedgeRectCallout">
            <a:avLst/>
          </a:prstGeom>
          <a:solidFill>
            <a:schemeClr val="accent1">
              <a:lumMod val="20000"/>
              <a:lumOff val="80000"/>
              <a:alpha val="89000"/>
            </a:schemeClr>
          </a:solidFill>
          <a:ln w="3175">
            <a:noFill/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900" dirty="0">
                <a:latin typeface="+mn-ea"/>
              </a:rPr>
              <a:t>结合全站热歌、曲风偏好、搜索等用户行为及协同</a:t>
            </a:r>
            <a:endParaRPr lang="en-US" altLang="zh-CN" sz="900" dirty="0">
              <a:latin typeface="+mn-ea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89010AA-E7F1-7BAC-9D9B-E789B8DD13BB}"/>
              </a:ext>
            </a:extLst>
          </p:cNvPr>
          <p:cNvSpPr/>
          <p:nvPr/>
        </p:nvSpPr>
        <p:spPr>
          <a:xfrm>
            <a:off x="4684500" y="2955019"/>
            <a:ext cx="174891" cy="132659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A48C5C5-1F20-36BB-11B6-115866E6097E}"/>
              </a:ext>
            </a:extLst>
          </p:cNvPr>
          <p:cNvSpPr txBox="1"/>
          <p:nvPr/>
        </p:nvSpPr>
        <p:spPr>
          <a:xfrm>
            <a:off x="4562436" y="2995205"/>
            <a:ext cx="359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AD3172-595F-6AE9-7408-7163E8F94F11}"/>
              </a:ext>
            </a:extLst>
          </p:cNvPr>
          <p:cNvSpPr/>
          <p:nvPr/>
        </p:nvSpPr>
        <p:spPr>
          <a:xfrm>
            <a:off x="5332690" y="2146281"/>
            <a:ext cx="174891" cy="132659"/>
          </a:xfrm>
          <a:prstGeom prst="rect">
            <a:avLst/>
          </a:prstGeom>
          <a:noFill/>
          <a:ln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  <a:prstDash val="sysDot"/>
              </a:ln>
              <a:noFill/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E933F4-6E61-B79A-D723-20B171A7C5BD}"/>
              </a:ext>
            </a:extLst>
          </p:cNvPr>
          <p:cNvSpPr txBox="1"/>
          <p:nvPr/>
        </p:nvSpPr>
        <p:spPr>
          <a:xfrm>
            <a:off x="5211779" y="2193131"/>
            <a:ext cx="359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③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>
            <a:spLocks noGrp="1"/>
          </p:cNvSpPr>
          <p:nvPr>
            <p:ph type="title"/>
          </p:nvPr>
        </p:nvSpPr>
        <p:spPr>
          <a:xfrm>
            <a:off x="308705" y="176126"/>
            <a:ext cx="8584470" cy="547945"/>
          </a:xfrm>
        </p:spPr>
        <p:txBody>
          <a:bodyPr>
            <a:normAutofit/>
          </a:bodyPr>
          <a:lstStyle/>
          <a:p>
            <a:r>
              <a:rPr kumimoji="1" lang="zh-CN" altLang="en-US" dirty="0">
                <a:latin typeface="+mn-ea"/>
                <a:ea typeface="+mn-ea"/>
              </a:rPr>
              <a:t>组织职能分工调研</a:t>
            </a:r>
            <a:r>
              <a:rPr kumimoji="1" lang="en-US" altLang="zh-CN" dirty="0">
                <a:latin typeface="+mn-ea"/>
                <a:ea typeface="+mn-ea"/>
              </a:rPr>
              <a:t>-D+</a:t>
            </a:r>
            <a:r>
              <a:rPr kumimoji="1" lang="zh-CN" altLang="en-US" dirty="0">
                <a:latin typeface="+mn-ea"/>
                <a:ea typeface="+mn-ea"/>
              </a:rPr>
              <a:t>心动榜</a:t>
            </a:r>
            <a:r>
              <a:rPr kumimoji="1"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（甄选榜之前调研在平行团队生活服务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-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内容与营销</a:t>
            </a:r>
            <a:r>
              <a:rPr kumimoji="1"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-</a:t>
            </a:r>
            <a:r>
              <a:rPr kumimoji="1"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内容与创作者负责）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763DEA4-C596-3ABA-E7EE-E86F8089B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306912"/>
              </p:ext>
            </p:extLst>
          </p:nvPr>
        </p:nvGraphicFramePr>
        <p:xfrm>
          <a:off x="500329" y="651043"/>
          <a:ext cx="8183483" cy="4171722"/>
        </p:xfrm>
        <a:graphic>
          <a:graphicData uri="http://schemas.openxmlformats.org/drawingml/2006/table">
            <a:tbl>
              <a:tblPr/>
              <a:tblGrid>
                <a:gridCol w="480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5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62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31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1794">
                <a:tc rowSpan="2" gridSpan="2"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环节</a:t>
                      </a:r>
                      <a:r>
                        <a:rPr lang="en-US" altLang="zh-CN" sz="800" b="1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部门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生活服务</a:t>
                      </a:r>
                      <a:r>
                        <a:rPr lang="en-US" altLang="zh-CN" sz="800" b="1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内容与营销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生活服务</a:t>
                      </a:r>
                      <a:r>
                        <a:rPr lang="en-US" altLang="zh-CN" sz="800" b="1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用户与商家产品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生活服务</a:t>
                      </a:r>
                      <a:r>
                        <a:rPr lang="en-US" altLang="zh-CN" sz="800" b="1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各大区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生活服务</a:t>
                      </a:r>
                      <a:r>
                        <a:rPr lang="en-US" altLang="zh-CN" sz="800" b="1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服务体验与治理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中国交易与广告</a:t>
                      </a:r>
                      <a:r>
                        <a:rPr lang="en-US" altLang="zh-CN" sz="800" b="1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生活服务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57"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频道运营</a:t>
                      </a:r>
                      <a:r>
                        <a:rPr lang="en-US" altLang="zh-CN" sz="800" b="1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榜单运营</a:t>
                      </a:r>
                      <a:endParaRPr lang="en-US" altLang="zh-CN" sz="800" b="1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（仅心动榜）</a:t>
                      </a:r>
                      <a:endParaRPr lang="en-US" altLang="zh-CN" sz="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品牌传播</a:t>
                      </a:r>
                      <a:r>
                        <a:rPr lang="en-US" altLang="zh-CN" sz="800" b="1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市场传播</a:t>
                      </a:r>
                      <a:endParaRPr lang="en-US" altLang="zh-CN" sz="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独立</a:t>
                      </a:r>
                      <a:r>
                        <a:rPr lang="en-US" altLang="zh-CN" sz="800" b="1" dirty="0">
                          <a:effectLst/>
                          <a:latin typeface="+mn-ea"/>
                          <a:ea typeface="+mn-ea"/>
                        </a:rPr>
                        <a:t>Tab-</a:t>
                      </a:r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团购</a:t>
                      </a:r>
                      <a:r>
                        <a:rPr lang="en-US" altLang="zh-CN" sz="800" b="1" dirty="0">
                          <a:effectLst/>
                          <a:latin typeface="+mn-ea"/>
                          <a:ea typeface="+mn-ea"/>
                        </a:rPr>
                        <a:t>Tab</a:t>
                      </a:r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营销</a:t>
                      </a:r>
                      <a:endParaRPr lang="en-US" altLang="zh-CN" sz="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运营（区域运营）</a:t>
                      </a:r>
                      <a:endParaRPr lang="en-US" altLang="zh-CN" sz="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内容治理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业务算法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57"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榜单规则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制定并迭代榜单规则，保证榜单公信力</a:t>
                      </a: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搭建榜单评分模型，通过数据和算法确定上榜商家。</a:t>
                      </a: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83"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榜单功能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负责榜单的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C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端产品能力设计，榜单门店流量侧召排策略迭代，持续提升榜单公信力与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BC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端榜单感知度</a:t>
                      </a: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负责榜单的搜推排机制，通过用户行为、地理位置等数据动态调整榜单排序，实现千人千面的推荐。</a:t>
                      </a: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283"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榜单供给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①制定榜单招商规则，并匹配招商资源；②制定榜单品类策略，保证榜单菜品丰富度、市场匹配度。</a:t>
                      </a: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负责招商策略在商家层面的落地。</a:t>
                      </a: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6772">
                <a:tc rowSpan="2"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榜单运营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用户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①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流量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统筹榜单流量策略，在日常和营销节点匹配不同的流量玩法，提高用户复访；</a:t>
                      </a:r>
                    </a:p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活动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负责榜单日常活动运营和节点大促玩法，提升榜单带来的交易转化。</a:t>
                      </a: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负责榜单相关的产品体验与影响力运营</a:t>
                      </a: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2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商家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①负责榜单商家的全生命周期运营与分层激励</a:t>
                      </a:r>
                    </a:p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②推动商家内容生产，提升榜单相关的内容供给</a:t>
                      </a: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配合营销团队完成各类商家运营动作在大区的落地</a:t>
                      </a: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446"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 dirty="0">
                          <a:effectLst/>
                          <a:latin typeface="+mn-ea"/>
                          <a:ea typeface="+mn-ea"/>
                        </a:rPr>
                        <a:t>榜单宣传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①负责“心动榜”日常的账号运营、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IP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心智打造；</a:t>
                      </a:r>
                    </a:p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②在发榜周期负责榜单发布会、榜单传播、榜单造势等职责</a:t>
                      </a: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>
                          <a:effectLst/>
                          <a:latin typeface="+mn-ea"/>
                          <a:ea typeface="+mn-ea"/>
                        </a:rPr>
                        <a:t>配合榜单传播工作在商家侧的落地，包括宣贯、答疑、物料进店等。</a:t>
                      </a: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446"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800" b="1">
                          <a:effectLst/>
                          <a:latin typeface="+mn-ea"/>
                          <a:ea typeface="+mn-ea"/>
                        </a:rPr>
                        <a:t>榜单治理</a:t>
                      </a:r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800">
                        <a:effectLst/>
                        <a:latin typeface="+mn-ea"/>
                        <a:ea typeface="+mn-ea"/>
                      </a:endParaRP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负责榜单的负向规则制定，通过内容审核、风险防控、违规判罚等方式治理上榜商家的负向行为。有权根据违规情况剔除上榜商家</a:t>
                      </a: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配合治理团队提供算法模型，通过算法数据识别违规行为和内容。</a:t>
                      </a:r>
                    </a:p>
                  </a:txBody>
                  <a:tcPr marL="11750" marR="11750" marT="1469" marB="146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0A982D48-EDC6-4641-ACAC-DCDC31323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396" y="114176"/>
            <a:ext cx="979232" cy="212829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8BA0985-7248-4D1D-A08A-825290CC6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8000" y="106156"/>
            <a:ext cx="979351" cy="2128558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50AC8CD-2010-4DDF-980C-A15C2AD4B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624" y="90255"/>
            <a:ext cx="979351" cy="2128558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BD1D606-0D4C-4D3A-A9B4-97E6F38440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2347" y="90255"/>
            <a:ext cx="979039" cy="212855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D4805BF2-3314-4BF0-851B-71AF6F4F5C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2758" y="106035"/>
            <a:ext cx="979351" cy="2128558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F597FF24-53FE-47C0-917C-2A1B456EAB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79" y="106035"/>
            <a:ext cx="979039" cy="2128558"/>
          </a:xfrm>
          <a:prstGeom prst="rect">
            <a:avLst/>
          </a:prstGeom>
        </p:spPr>
      </p:pic>
      <p:pic>
        <p:nvPicPr>
          <p:cNvPr id="44" name="Picture 2">
            <a:extLst>
              <a:ext uri="{FF2B5EF4-FFF2-40B4-BE49-F238E27FC236}">
                <a16:creationId xmlns:a16="http://schemas.microsoft.com/office/drawing/2014/main" id="{ACA273C9-8884-4AC4-B2F4-8DB5302104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017"/>
          <a:stretch/>
        </p:blipFill>
        <p:spPr bwMode="auto">
          <a:xfrm>
            <a:off x="405225" y="114176"/>
            <a:ext cx="1180799" cy="214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732F8868-4F53-4C19-B644-FBD9AF2EA3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8505" y="2419098"/>
            <a:ext cx="978910" cy="2127600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B99CD95E-C035-479C-B26E-3EF8860B26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613" y="2419098"/>
            <a:ext cx="981393" cy="2127600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C6756D16-973A-470E-8592-51E0ABE06D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9993" y="2419098"/>
            <a:ext cx="981393" cy="2127600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2261C3AF-7EDB-4A26-9B68-4292685540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1736" y="2401934"/>
            <a:ext cx="981393" cy="2127600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37088C15-B79B-48A7-AD94-F6A7852305B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2935" y="2407138"/>
            <a:ext cx="981393" cy="2127600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A1FB1F7B-BDF5-4CA8-AEF0-75D5FC2AE1DC}"/>
              </a:ext>
            </a:extLst>
          </p:cNvPr>
          <p:cNvSpPr txBox="1"/>
          <p:nvPr/>
        </p:nvSpPr>
        <p:spPr>
          <a:xfrm>
            <a:off x="638666" y="2210020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天猫必买榜</a:t>
            </a:r>
            <a:endParaRPr lang="zh-CN" altLang="en-US" sz="700" dirty="0">
              <a:latin typeface="+mn-ea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F828AED-977D-44EC-8E98-2E0FB5090B98}"/>
              </a:ext>
            </a:extLst>
          </p:cNvPr>
          <p:cNvSpPr txBox="1"/>
          <p:nvPr/>
        </p:nvSpPr>
        <p:spPr>
          <a:xfrm>
            <a:off x="1848368" y="2210020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京东金榜</a:t>
            </a:r>
            <a:endParaRPr lang="zh-CN" altLang="en-US" sz="700" dirty="0">
              <a:latin typeface="+mn-ea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1CA6300-15B1-4A4D-B2C7-E0F26BA3239D}"/>
              </a:ext>
            </a:extLst>
          </p:cNvPr>
          <p:cNvSpPr txBox="1"/>
          <p:nvPr/>
        </p:nvSpPr>
        <p:spPr>
          <a:xfrm>
            <a:off x="2918858" y="2210020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京东数据榜</a:t>
            </a:r>
            <a:endParaRPr lang="zh-CN" altLang="en-US" sz="700" dirty="0">
              <a:latin typeface="+mn-ea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783B40E8-21E5-4834-98D5-CD599C7DB110}"/>
              </a:ext>
            </a:extLst>
          </p:cNvPr>
          <p:cNvSpPr txBox="1"/>
          <p:nvPr/>
        </p:nvSpPr>
        <p:spPr>
          <a:xfrm>
            <a:off x="3940603" y="2201879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天猫竞速榜</a:t>
            </a:r>
            <a:endParaRPr lang="zh-CN" altLang="en-US" sz="700" dirty="0">
              <a:latin typeface="+mn-ea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9BF97E8-D2AB-4F0E-A0EC-DA0504A5DBE9}"/>
              </a:ext>
            </a:extLst>
          </p:cNvPr>
          <p:cNvSpPr txBox="1"/>
          <p:nvPr/>
        </p:nvSpPr>
        <p:spPr>
          <a:xfrm>
            <a:off x="5077474" y="2201879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微博热搜</a:t>
            </a:r>
            <a:endParaRPr lang="zh-CN" altLang="en-US" sz="700" dirty="0">
              <a:latin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FA24557-BD1A-4071-9F2E-D65576A608E9}"/>
              </a:ext>
            </a:extLst>
          </p:cNvPr>
          <p:cNvSpPr txBox="1"/>
          <p:nvPr/>
        </p:nvSpPr>
        <p:spPr>
          <a:xfrm>
            <a:off x="6064617" y="2201879"/>
            <a:ext cx="8050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+mn-ea"/>
              </a:rPr>
              <a:t>B</a:t>
            </a:r>
            <a:r>
              <a:rPr lang="zh-CN" altLang="en-US" sz="700" b="1" dirty="0">
                <a:latin typeface="+mn-ea"/>
              </a:rPr>
              <a:t>站百大</a:t>
            </a:r>
            <a:r>
              <a:rPr lang="en-US" altLang="zh-CN" sz="700" b="1" dirty="0">
                <a:latin typeface="+mn-ea"/>
              </a:rPr>
              <a:t>UP</a:t>
            </a:r>
            <a:r>
              <a:rPr lang="zh-CN" altLang="en-US" sz="700" b="1" dirty="0">
                <a:latin typeface="+mn-ea"/>
              </a:rPr>
              <a:t>主</a:t>
            </a:r>
            <a:endParaRPr lang="zh-CN" altLang="en-US" sz="700" dirty="0">
              <a:latin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E4F8B8C-41DA-464E-8BCD-5A98E9D82110}"/>
              </a:ext>
            </a:extLst>
          </p:cNvPr>
          <p:cNvSpPr txBox="1"/>
          <p:nvPr/>
        </p:nvSpPr>
        <p:spPr>
          <a:xfrm>
            <a:off x="7043968" y="2207083"/>
            <a:ext cx="957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抖音直播人气榜</a:t>
            </a:r>
            <a:endParaRPr lang="zh-CN" altLang="en-US" sz="700" dirty="0">
              <a:latin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4B1997E-F827-4F16-AA68-024842755B2B}"/>
              </a:ext>
            </a:extLst>
          </p:cNvPr>
          <p:cNvSpPr txBox="1"/>
          <p:nvPr/>
        </p:nvSpPr>
        <p:spPr>
          <a:xfrm>
            <a:off x="660468" y="4531027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猫眼票房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AE38FFC-1CB5-4910-93AA-565DCCAC4A69}"/>
              </a:ext>
            </a:extLst>
          </p:cNvPr>
          <p:cNvSpPr txBox="1"/>
          <p:nvPr/>
        </p:nvSpPr>
        <p:spPr>
          <a:xfrm>
            <a:off x="1718399" y="4524975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爱奇艺风云榜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0A606CE-17AF-4545-A3A2-3F69BE27864D}"/>
              </a:ext>
            </a:extLst>
          </p:cNvPr>
          <p:cNvSpPr txBox="1"/>
          <p:nvPr/>
        </p:nvSpPr>
        <p:spPr>
          <a:xfrm>
            <a:off x="4875493" y="4531027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+mn-ea"/>
              </a:rPr>
              <a:t>App Store</a:t>
            </a:r>
            <a:r>
              <a:rPr lang="zh-CN" altLang="en-US" sz="700" b="1" dirty="0">
                <a:latin typeface="+mn-ea"/>
              </a:rPr>
              <a:t>游戏榜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CCDAC5D-A7A4-48DC-83E8-BA6638E47D15}"/>
              </a:ext>
            </a:extLst>
          </p:cNvPr>
          <p:cNvSpPr txBox="1"/>
          <p:nvPr/>
        </p:nvSpPr>
        <p:spPr>
          <a:xfrm>
            <a:off x="3880006" y="4513558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王者荣耀排行榜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549576F3-E8C3-4FA7-85FF-CC2A33D8DF9D}"/>
              </a:ext>
            </a:extLst>
          </p:cNvPr>
          <p:cNvSpPr txBox="1"/>
          <p:nvPr/>
        </p:nvSpPr>
        <p:spPr>
          <a:xfrm>
            <a:off x="6104597" y="4534738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携程口碑榜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FB910FE-FCC2-40E0-8521-F9C465722A85}"/>
              </a:ext>
            </a:extLst>
          </p:cNvPr>
          <p:cNvSpPr txBox="1"/>
          <p:nvPr/>
        </p:nvSpPr>
        <p:spPr>
          <a:xfrm>
            <a:off x="7054468" y="4531027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 贝壳新房排行榜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2734CF5-28C8-488C-BACC-DC9B45D8A222}"/>
              </a:ext>
            </a:extLst>
          </p:cNvPr>
          <p:cNvSpPr txBox="1"/>
          <p:nvPr/>
        </p:nvSpPr>
        <p:spPr>
          <a:xfrm>
            <a:off x="8141509" y="4508660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汽车之家排行榜</a:t>
            </a:r>
            <a:endParaRPr lang="en-US" altLang="zh-CN" sz="700" b="1" dirty="0"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3DB371-BA5A-1973-8D78-99F6393A76C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23414" y="2419098"/>
            <a:ext cx="1001609" cy="21276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4E0A88D-A5CC-379B-0778-9372048B26E9}"/>
              </a:ext>
            </a:extLst>
          </p:cNvPr>
          <p:cNvSpPr txBox="1"/>
          <p:nvPr/>
        </p:nvSpPr>
        <p:spPr>
          <a:xfrm>
            <a:off x="2843369" y="4524975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腾讯音乐榜</a:t>
            </a:r>
            <a:endParaRPr lang="en-US" altLang="zh-CN" sz="700" b="1" dirty="0">
              <a:latin typeface="+mn-ea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9E303C8-2928-E2AC-979B-10526203AFB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1166" y="2398115"/>
            <a:ext cx="999704" cy="213662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A7881A49-3414-147D-5FF0-6074606363B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60840" y="114176"/>
            <a:ext cx="1003745" cy="2128558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C1616A1B-6033-7BDD-8CF4-C960BB23359C}"/>
              </a:ext>
            </a:extLst>
          </p:cNvPr>
          <p:cNvSpPr txBox="1"/>
          <p:nvPr/>
        </p:nvSpPr>
        <p:spPr>
          <a:xfrm>
            <a:off x="8289027" y="2187763"/>
            <a:ext cx="7114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抖查查榜</a:t>
            </a:r>
            <a:endParaRPr lang="zh-CN" altLang="en-US" sz="700" dirty="0">
              <a:latin typeface="+mn-ea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6CE4CDA9-8D47-339C-F352-9429BEE4CBE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01022" y="3036161"/>
            <a:ext cx="972125" cy="9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33482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27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28795101485287943888E+00&quot;&gt;&lt;m_msothmcolidx val=&quot;0&quot;/&gt;&lt;m_rgb r=&quot;59&quot; g=&quot;8A&quot; b=&quot;39&quot;/&gt;&lt;/elem&gt;&lt;elem m_fUsage=&quot;1.81000000000000005329E+00&quot;&gt;&lt;m_msothmcolidx val=&quot;0&quot;/&gt;&lt;m_rgb r=&quot;81&quot; g=&quot;E1&quot; b=&quot;6B&quot;/&gt;&lt;/elem&gt;&lt;elem m_fUsage=&quot;1.31533513454961004108E+00&quot;&gt;&lt;m_msothmcolidx val=&quot;0&quot;/&gt;&lt;m_rgb r=&quot;8D&quot; g=&quot;BA&quot; b=&quot;E2&quot;/&gt;&lt;/elem&gt;&lt;elem m_fUsage=&quot;1.23947023701656355854E+00&quot;&gt;&lt;m_msothmcolidx val=&quot;0&quot;/&gt;&lt;m_rgb r=&quot;FF&quot; g=&quot;E9&quot; b=&quot;7D&quot;/&gt;&lt;/elem&gt;&lt;elem m_fUsage=&quot;1.12193100000000001160E+00&quot;&gt;&lt;m_msothmcolidx val=&quot;0&quot;/&gt;&lt;m_rgb r=&quot;5F&quot; g=&quot;D5&quot; b=&quot;DE&quot;/&gt;&lt;/elem&gt;&lt;elem m_fUsage=&quot;8.17629381196525284459E-01&quot;&gt;&lt;m_msothmcolidx val=&quot;0&quot;/&gt;&lt;m_rgb r=&quot;FF&quot; g=&quot;DD&quot; b=&quot;3C&quot;/&gt;&lt;/elem&gt;&lt;elem m_fUsage=&quot;3.48678440100000153201E-01&quot;&gt;&lt;m_msothmcolidx val=&quot;0&quot;/&gt;&lt;m_rgb r=&quot;FF&quot; g=&quot;B6&quot; b=&quot;5B&quot;/&gt;&lt;/elem&gt;&lt;elem m_fUsage=&quot;2.82429536481000165171E-01&quot;&gt;&lt;m_msothmcolidx val=&quot;0&quot;/&gt;&lt;m_rgb r=&quot;F4&quot; g=&quot;80&quot; b=&quot;32&quot;/&gt;&lt;/elem&gt;&lt;elem m_fUsage=&quot;2.54186582832900132001E-01&quot;&gt;&lt;m_msothmcolidx val=&quot;0&quot;/&gt;&lt;m_rgb r=&quot;94&quot; g=&quot;E2&quot; b=&quot;E9&quot;/&gt;&lt;/elem&gt;&lt;elem m_fUsage=&quot;9.84770902183611934744E-02&quot;&gt;&lt;m_msothmcolidx val=&quot;0&quot;/&gt;&lt;m_rgb r=&quot;FF&quot; g=&quot;EF&quot; b=&quot;A2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美团点评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100"/>
      </a:accent1>
      <a:accent2>
        <a:srgbClr val="FE8C00"/>
      </a:accent2>
      <a:accent3>
        <a:srgbClr val="FF4949"/>
      </a:accent3>
      <a:accent4>
        <a:srgbClr val="FF6600"/>
      </a:accent4>
      <a:accent5>
        <a:srgbClr val="00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>
          <a:outerShdw blurRad="469900" dist="139700" dir="5400000" algn="t" rotWithShape="0">
            <a:schemeClr val="accent2">
              <a:alpha val="24000"/>
            </a:schemeClr>
          </a:outerShdw>
        </a:effectLst>
      </a:spPr>
      <a:bodyPr rtlCol="0" anchor="ctr"/>
      <a:lstStyle>
        <a:defPPr algn="ctr">
          <a:defRPr sz="1400" dirty="0">
            <a:solidFill>
              <a:srgbClr val="FFFFFF"/>
            </a:solidFill>
            <a:ea typeface="MiSans Medium" panose="00000600000000000000" pitchFamily="2" charset="-122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20980</TotalTime>
  <Words>4374</Words>
  <Application>Microsoft Office PowerPoint</Application>
  <PresentationFormat>全屏显示(16:9)</PresentationFormat>
  <Paragraphs>543</Paragraphs>
  <Slides>15</Slides>
  <Notes>14</Notes>
  <HiddenSlides>1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MiSans Medium</vt:lpstr>
      <vt:lpstr>quote-cjk-patch</vt:lpstr>
      <vt:lpstr>等线</vt:lpstr>
      <vt:lpstr>Microsoft YaHei</vt:lpstr>
      <vt:lpstr>Arial</vt:lpstr>
      <vt:lpstr>Calibri</vt:lpstr>
      <vt:lpstr>Wingdings</vt:lpstr>
      <vt:lpstr>Office 主题​​</vt:lpstr>
      <vt:lpstr>think-cell 幻灯片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组织职能分工调研-D+心动榜（甄选榜之前调研在平行团队生活服务-内容与营销-内容与创作者负责）</vt:lpstr>
      <vt:lpstr>PowerPoint 演示文稿</vt:lpstr>
    </vt:vector>
  </TitlesOfParts>
  <Company>windows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陈婧佳</dc:creator>
  <cp:lastModifiedBy>韩速</cp:lastModifiedBy>
  <cp:revision>1718</cp:revision>
  <cp:lastPrinted>2025-11-14T02:05:37Z</cp:lastPrinted>
  <dcterms:created xsi:type="dcterms:W3CDTF">2025-11-14T02:05:37Z</dcterms:created>
  <dcterms:modified xsi:type="dcterms:W3CDTF">2026-02-06T11:50:55Z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榜单定位及举措讨论-251120.pptx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2c2a64517becf6be3b02af382c6c66c2bc630b5d</vt:lpwstr>
  </property>
  <property fmtid="{D5CDD505-2E9C-101B-9397-08002B2CF9AE}" pid="7" name="ICV">
    <vt:lpwstr>C181CBB1924B97FA718E1669E4783B39_42</vt:lpwstr>
  </property>
  <property fmtid="{D5CDD505-2E9C-101B-9397-08002B2CF9AE}" pid="8" name="KSOProductBuildVer">
    <vt:lpwstr>2052-0.0.0.0</vt:lpwstr>
  </property>
</Properties>
</file>