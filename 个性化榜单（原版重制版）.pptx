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.bin" ContentType="application/vnd.openxmlformats-officedocument.oleObject"/>
  <Override PartName="/ppt/embeddings/oleObject30.bin" ContentType="application/vnd.openxmlformats-officedocument.oleObject"/>
  <Override PartName="/ppt/embeddings/oleObject31.bin" ContentType="application/vnd.openxmlformats-officedocument.oleObject"/>
  <Override PartName="/ppt/embeddings/oleObject32.bin" ContentType="application/vnd.openxmlformats-officedocument.oleObject"/>
  <Override PartName="/ppt/embeddings/oleObject33.bin" ContentType="application/vnd.openxmlformats-officedocument.oleObject"/>
  <Override PartName="/ppt/embeddings/oleObject34.bin" ContentType="application/vnd.openxmlformats-officedocument.oleObject"/>
  <Override PartName="/ppt/embeddings/oleObject35.bin" ContentType="application/vnd.openxmlformats-officedocument.oleObject"/>
  <Override PartName="/ppt/embeddings/oleObject36.bin" ContentType="application/vnd.openxmlformats-officedocument.oleObject"/>
  <Override PartName="/ppt/embeddings/oleObject37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48"/>
  </p:notesMasterIdLst>
  <p:handoutMasterIdLst>
    <p:handoutMasterId r:id="rId49"/>
  </p:handoutMasterIdLst>
  <p:sldIdLst>
    <p:sldId id="14999171" r:id="rId2"/>
    <p:sldId id="15716333" r:id="rId3"/>
    <p:sldId id="15716334" r:id="rId4"/>
    <p:sldId id="15716328" r:id="rId5"/>
    <p:sldId id="15716329" r:id="rId6"/>
    <p:sldId id="256" r:id="rId7"/>
    <p:sldId id="15716325" r:id="rId8"/>
    <p:sldId id="15716300" r:id="rId9"/>
    <p:sldId id="15716330" r:id="rId10"/>
    <p:sldId id="15716331" r:id="rId11"/>
    <p:sldId id="15716332" r:id="rId12"/>
    <p:sldId id="14998990" r:id="rId13"/>
    <p:sldId id="15716301" r:id="rId14"/>
    <p:sldId id="15716307" r:id="rId15"/>
    <p:sldId id="15716322" r:id="rId16"/>
    <p:sldId id="15716323" r:id="rId17"/>
    <p:sldId id="15716324" r:id="rId18"/>
    <p:sldId id="15716327" r:id="rId19"/>
    <p:sldId id="15716326" r:id="rId20"/>
    <p:sldId id="15716316" r:id="rId21"/>
    <p:sldId id="15716321" r:id="rId22"/>
    <p:sldId id="15716313" r:id="rId23"/>
    <p:sldId id="15716302" r:id="rId24"/>
    <p:sldId id="15716303" r:id="rId25"/>
    <p:sldId id="15716305" r:id="rId26"/>
    <p:sldId id="15716304" r:id="rId27"/>
    <p:sldId id="15716309" r:id="rId28"/>
    <p:sldId id="15716311" r:id="rId29"/>
    <p:sldId id="15716320" r:id="rId30"/>
    <p:sldId id="15716312" r:id="rId31"/>
    <p:sldId id="15716318" r:id="rId32"/>
    <p:sldId id="15716317" r:id="rId33"/>
    <p:sldId id="15716314" r:id="rId34"/>
    <p:sldId id="15716306" r:id="rId35"/>
    <p:sldId id="15716288" r:id="rId36"/>
    <p:sldId id="15716294" r:id="rId37"/>
    <p:sldId id="15716310" r:id="rId38"/>
    <p:sldId id="15716293" r:id="rId39"/>
    <p:sldId id="15716308" r:id="rId40"/>
    <p:sldId id="15716297" r:id="rId41"/>
    <p:sldId id="15716298" r:id="rId42"/>
    <p:sldId id="15716299" r:id="rId43"/>
    <p:sldId id="15716283" r:id="rId44"/>
    <p:sldId id="15716296" r:id="rId45"/>
    <p:sldId id="15716286" r:id="rId46"/>
    <p:sldId id="15716315" r:id="rId47"/>
  </p:sldIdLst>
  <p:sldSz cx="9144000" cy="5143500" type="screen16x9"/>
  <p:notesSz cx="7104063" cy="10234613"/>
  <p:custDataLst>
    <p:tags r:id="rId5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正文" id="{F0977A69-A7A4-2A4D-B3D3-A38B1C7EA371}">
          <p14:sldIdLst>
            <p14:sldId id="14999171"/>
            <p14:sldId id="15716333"/>
            <p14:sldId id="15716334"/>
            <p14:sldId id="15716328"/>
            <p14:sldId id="15716329"/>
            <p14:sldId id="256"/>
            <p14:sldId id="15716325"/>
            <p14:sldId id="15716300"/>
            <p14:sldId id="15716330"/>
            <p14:sldId id="15716331"/>
            <p14:sldId id="15716332"/>
            <p14:sldId id="14998990"/>
            <p14:sldId id="15716301"/>
            <p14:sldId id="15716307"/>
            <p14:sldId id="15716322"/>
            <p14:sldId id="15716323"/>
            <p14:sldId id="15716324"/>
            <p14:sldId id="15716327"/>
            <p14:sldId id="15716326"/>
            <p14:sldId id="15716316"/>
            <p14:sldId id="15716321"/>
            <p14:sldId id="15716313"/>
            <p14:sldId id="15716302"/>
            <p14:sldId id="15716303"/>
            <p14:sldId id="15716305"/>
            <p14:sldId id="15716304"/>
            <p14:sldId id="15716309"/>
            <p14:sldId id="15716311"/>
            <p14:sldId id="15716320"/>
            <p14:sldId id="15716312"/>
            <p14:sldId id="15716318"/>
            <p14:sldId id="15716317"/>
            <p14:sldId id="15716314"/>
            <p14:sldId id="15716306"/>
            <p14:sldId id="15716288"/>
            <p14:sldId id="15716294"/>
            <p14:sldId id="15716310"/>
            <p14:sldId id="15716293"/>
            <p14:sldId id="15716308"/>
            <p14:sldId id="15716297"/>
            <p14:sldId id="15716298"/>
            <p14:sldId id="15716299"/>
            <p14:sldId id="15716283"/>
            <p14:sldId id="15716296"/>
            <p14:sldId id="15716286"/>
            <p14:sldId id="15716315"/>
          </p14:sldIdLst>
        </p14:section>
        <p14:section name="备注" id="{434DFA73-2E08-514A-BCEA-E728BA305965}">
          <p14:sldIdLst/>
        </p14:section>
      </p14:sectionLst>
    </p:ext>
    <p:ext uri="{EFAFB233-063F-42B5-8137-9DF3F51BA10A}">
      <p15:sldGuideLst xmlns:p15="http://schemas.microsoft.com/office/powerpoint/2012/main">
        <p15:guide id="1" pos="1701" userDrawn="1">
          <p15:clr>
            <a:srgbClr val="A4A3A4"/>
          </p15:clr>
        </p15:guide>
        <p15:guide id="2" orient="horz" pos="2346" userDrawn="1">
          <p15:clr>
            <a:srgbClr val="A4A3A4"/>
          </p15:clr>
        </p15:guide>
        <p15:guide id="3" orient="horz" pos="1688" userDrawn="1">
          <p15:clr>
            <a:srgbClr val="A4A3A4"/>
          </p15:clr>
        </p15:guide>
        <p15:guide id="4" pos="5670" userDrawn="1">
          <p15:clr>
            <a:srgbClr val="A4A3A4"/>
          </p15:clr>
        </p15:guide>
        <p15:guide id="5" orient="horz" pos="14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ang yohann" initials="wy" lastIdx="1" clrIdx="0"/>
  <p:cmAuthor id="2" name="Luke Lu" initials="LL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600"/>
    <a:srgbClr val="FF6600"/>
    <a:srgbClr val="FFF2EF"/>
    <a:srgbClr val="000000"/>
    <a:srgbClr val="E17B00"/>
    <a:srgbClr val="D1001B"/>
    <a:srgbClr val="FFFBEB"/>
    <a:srgbClr val="FFF9DD"/>
    <a:srgbClr val="FFFBF3"/>
    <a:srgbClr val="FFD7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42" autoAdjust="0"/>
    <p:restoredTop sz="88586" autoAdjust="0"/>
  </p:normalViewPr>
  <p:slideViewPr>
    <p:cSldViewPr snapToGrid="0" showGuides="1">
      <p:cViewPr>
        <p:scale>
          <a:sx n="125" d="100"/>
          <a:sy n="125" d="100"/>
        </p:scale>
        <p:origin x="702" y="186"/>
      </p:cViewPr>
      <p:guideLst>
        <p:guide pos="1701"/>
        <p:guide orient="horz" pos="2346"/>
        <p:guide orient="horz" pos="1688"/>
        <p:guide pos="5670"/>
        <p:guide orient="horz" pos="14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76" d="100"/>
          <a:sy n="76" d="100"/>
        </p:scale>
        <p:origin x="3448" y="7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handoutMaster" Target="handoutMasters/handoutMaster1.xml"/><Relationship Id="rId50" Type="http://schemas.openxmlformats.org/officeDocument/2006/relationships/tags" Target="tags/tag1.xml"/><Relationship Id="rId51" Type="http://schemas.openxmlformats.org/officeDocument/2006/relationships/commentAuthors" Target="commentAuthors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3078428" cy="513508"/>
          </a:xfrm>
          <a:prstGeom prst="rect">
            <a:avLst/>
          </a:prstGeom>
        </p:spPr>
        <p:txBody>
          <a:bodyPr vert="horz" lIns="94668" tIns="47334" rIns="94668" bIns="47334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992" y="2"/>
            <a:ext cx="3078428" cy="513508"/>
          </a:xfrm>
          <a:prstGeom prst="rect">
            <a:avLst/>
          </a:prstGeom>
        </p:spPr>
        <p:txBody>
          <a:bodyPr vert="horz" lIns="94668" tIns="47334" rIns="94668" bIns="47334" rtlCol="0"/>
          <a:lstStyle>
            <a:lvl1pPr algn="r">
              <a:defRPr sz="1200"/>
            </a:lvl1pPr>
          </a:lstStyle>
          <a:p>
            <a:fld id="{55BC94BE-2FCD-E14D-BE46-75045743C492}" type="datetime1">
              <a:rPr kumimoji="1" lang="zh-CN" altLang="en-US" smtClean="0"/>
              <a:t>2026/8/18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107"/>
            <a:ext cx="3078428" cy="513507"/>
          </a:xfrm>
          <a:prstGeom prst="rect">
            <a:avLst/>
          </a:prstGeom>
        </p:spPr>
        <p:txBody>
          <a:bodyPr vert="horz" lIns="94668" tIns="47334" rIns="94668" bIns="47334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992" y="9721107"/>
            <a:ext cx="3078428" cy="513507"/>
          </a:xfrm>
          <a:prstGeom prst="rect">
            <a:avLst/>
          </a:prstGeom>
        </p:spPr>
        <p:txBody>
          <a:bodyPr vert="horz" lIns="94668" tIns="47334" rIns="94668" bIns="47334" rtlCol="0" anchor="b"/>
          <a:lstStyle>
            <a:lvl1pPr algn="r">
              <a:defRPr sz="1200"/>
            </a:lvl1pPr>
          </a:lstStyle>
          <a:p>
            <a:fld id="{2B85C933-74A5-4A4D-B3F1-D428FDB7A8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3078428" cy="513508"/>
          </a:xfrm>
          <a:prstGeom prst="rect">
            <a:avLst/>
          </a:prstGeom>
        </p:spPr>
        <p:txBody>
          <a:bodyPr vert="horz" lIns="94668" tIns="47334" rIns="94668" bIns="47334" rtlCol="0"/>
          <a:lstStyle>
            <a:lvl1pPr algn="l">
              <a:defRPr sz="12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992" y="2"/>
            <a:ext cx="3078428" cy="513508"/>
          </a:xfrm>
          <a:prstGeom prst="rect">
            <a:avLst/>
          </a:prstGeom>
        </p:spPr>
        <p:txBody>
          <a:bodyPr vert="horz" lIns="94668" tIns="47334" rIns="94668" bIns="47334" rtlCol="0"/>
          <a:lstStyle>
            <a:lvl1pPr algn="r">
              <a:defRPr sz="12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fld id="{DBD08E20-E2E4-BC43-9479-D71B4713CF91}" type="datetime1">
              <a:rPr kumimoji="1" lang="zh-CN" altLang="en-US" smtClean="0"/>
              <a:t>2026/8/18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20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68" tIns="47334" rIns="94668" bIns="47334" rtlCol="0" anchor="ctr"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5"/>
          </p:nvPr>
        </p:nvSpPr>
        <p:spPr>
          <a:xfrm>
            <a:off x="4024201" y="9721330"/>
            <a:ext cx="3078206" cy="513284"/>
          </a:xfrm>
          <a:prstGeom prst="rect">
            <a:avLst/>
          </a:prstGeom>
        </p:spPr>
        <p:txBody>
          <a:bodyPr vert="horz" lIns="94668" tIns="47334" rIns="94668" bIns="47334" rtlCol="0" anchor="b"/>
          <a:lstStyle>
            <a:lvl1pPr algn="r">
              <a:defRPr sz="1200"/>
            </a:lvl1pPr>
          </a:lstStyle>
          <a:p>
            <a:fld id="{AD210192-B253-41D5-A493-1466DCB1FD7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4"/>
          </p:nvPr>
        </p:nvSpPr>
        <p:spPr>
          <a:xfrm>
            <a:off x="1" y="9721330"/>
            <a:ext cx="3078206" cy="513284"/>
          </a:xfrm>
          <a:prstGeom prst="rect">
            <a:avLst/>
          </a:prstGeom>
        </p:spPr>
        <p:txBody>
          <a:bodyPr vert="horz" lIns="94668" tIns="47334" rIns="94668" bIns="47334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1" name="备注占位符 10"/>
          <p:cNvSpPr>
            <a:spLocks noGrp="1"/>
          </p:cNvSpPr>
          <p:nvPr>
            <p:ph type="body" sz="quarter" idx="3"/>
          </p:nvPr>
        </p:nvSpPr>
        <p:spPr>
          <a:xfrm>
            <a:off x="710739" y="4925235"/>
            <a:ext cx="5682588" cy="4029439"/>
          </a:xfrm>
          <a:prstGeom prst="rect">
            <a:avLst/>
          </a:prstGeom>
        </p:spPr>
        <p:txBody>
          <a:bodyPr vert="horz" lIns="94668" tIns="47334" rIns="94668" bIns="47334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  <a:sym typeface="+mn-lt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Relationship Id="rId3" Type="http://schemas.openxmlformats.org/officeDocument/2006/relationships/hyperlink" Target="https://www.fxbaogao.com/view?id=5523378" TargetMode="Externa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2026/8/18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2032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覆盖：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区域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场景，店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动线：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被动，固定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个性化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资产表达：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可信、多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GC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、可见</a:t>
            </a:r>
            <a:endParaRPr lang="en-US" altLang="zh-CN" sz="1200" b="1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可得性：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交履组合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latin typeface="+mn-ea"/>
              </a:rPr>
              <a:t>标准：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「好」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定义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，优质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商户标尺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。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当资产（真实好评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上榜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被大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V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收录）成为获取流量的硬通货时，商家的动作将自发向“提升服务品质”转移。</a:t>
            </a:r>
            <a:r>
              <a:rPr lang="zh-CN" altLang="en-US" sz="1200" b="1" i="0" dirty="0">
                <a:solidFill>
                  <a:srgbClr val="1B1B1E"/>
                </a:solidFill>
                <a:effectLst/>
                <a:latin typeface="Inter"/>
              </a:rPr>
              <a:t>资产越厚，商家迁移去竞品的沉没成本就越高。我们用长期资产锁死优质供给。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4651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覆盖：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区域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场景，店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动线：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被动，固定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个性化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资产表达：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可信、多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GC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、可见</a:t>
            </a:r>
            <a:endParaRPr lang="en-US" altLang="zh-CN" sz="1200" b="1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可得性：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交履组合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latin typeface="+mn-ea"/>
              </a:rPr>
              <a:t>标准：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「好」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定义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，优质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商户标尺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。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当资产（真实好评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上榜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被大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V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收录）成为获取流量的硬通货时，商家的动作将自发向“提升服务品质”转移。</a:t>
            </a:r>
            <a:r>
              <a:rPr lang="zh-CN" altLang="en-US" sz="1200" b="1" i="0" dirty="0">
                <a:solidFill>
                  <a:srgbClr val="1B1B1E"/>
                </a:solidFill>
                <a:effectLst/>
                <a:latin typeface="Inter"/>
              </a:rPr>
              <a:t>资产越厚，商家迁移去竞品的沉没成本就越高。我们用长期资产锁死优质供给。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2156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覆盖：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区域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场景，店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动线：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被动，固定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个性化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资产表达：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可信、多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GC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、可见</a:t>
            </a:r>
            <a:endParaRPr lang="en-US" altLang="zh-CN" sz="1200" b="1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可得性：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交履组合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latin typeface="+mn-ea"/>
              </a:rPr>
              <a:t>标准：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「好」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定义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，优质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商户标尺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。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当资产（真实好评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上榜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被大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V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收录）成为获取流量的硬通货时，商家的动作将自发向“提升服务品质”转移。</a:t>
            </a:r>
            <a:r>
              <a:rPr lang="zh-CN" altLang="en-US" sz="1200" b="1" i="0" dirty="0">
                <a:solidFill>
                  <a:srgbClr val="1B1B1E"/>
                </a:solidFill>
                <a:effectLst/>
                <a:latin typeface="Inter"/>
              </a:rPr>
              <a:t>资产越厚，商家迁移去竞品的沉没成本就越高。我们用长期资产锁死优质供给。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6965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覆盖：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区域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场景，店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动线：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被动，固定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个性化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资产表达：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可信、多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GC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、可见</a:t>
            </a:r>
            <a:endParaRPr lang="en-US" altLang="zh-CN" sz="1200" b="1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可得性：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交履组合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latin typeface="+mn-ea"/>
              </a:rPr>
              <a:t>标准：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「好」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定义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，优质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商户标尺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。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当资产（真实好评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上榜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被大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V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收录）成为获取流量的硬通货时，商家的动作将自发向“提升服务品质”转移。</a:t>
            </a:r>
            <a:r>
              <a:rPr lang="zh-CN" altLang="en-US" sz="1200" b="1" i="0" dirty="0">
                <a:solidFill>
                  <a:srgbClr val="1B1B1E"/>
                </a:solidFill>
                <a:effectLst/>
                <a:latin typeface="Inter"/>
              </a:rPr>
              <a:t>资产越厚，商家迁移去竞品的沉没成本就越高。我们用长期资产锁死优质供给。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4049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覆盖：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区域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场景，店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动线：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主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被动，固定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个性化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资产表达：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可信、多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GC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、可见</a:t>
            </a:r>
            <a:endParaRPr lang="en-US" altLang="zh-CN" sz="1200" b="1" dirty="0">
              <a:latin typeface="+mn-ea"/>
              <a:cs typeface="Microsoft YaHei" pitchFamily="34" charset="-120"/>
            </a:endParaRPr>
          </a:p>
          <a:p>
            <a:r>
              <a:rPr lang="zh-CN" altLang="en-US" sz="1200" b="1" dirty="0">
                <a:latin typeface="+mn-ea"/>
                <a:cs typeface="Microsoft YaHei" pitchFamily="34" charset="-120"/>
              </a:rPr>
              <a:t>可得性：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交履组合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latin typeface="+mn-ea"/>
              </a:rPr>
              <a:t>标准：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「好」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店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品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定义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，优质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商户标尺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。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当资产（真实好评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上榜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被大</a:t>
            </a:r>
            <a:r>
              <a:rPr lang="en-US" altLang="zh-CN" sz="1200" b="0" i="0" dirty="0">
                <a:solidFill>
                  <a:srgbClr val="1B1B1E"/>
                </a:solidFill>
                <a:effectLst/>
                <a:latin typeface="Inter"/>
              </a:rPr>
              <a:t>V</a:t>
            </a:r>
            <a:r>
              <a:rPr lang="zh-CN" altLang="en-US" sz="1200" b="0" i="0" dirty="0">
                <a:solidFill>
                  <a:srgbClr val="1B1B1E"/>
                </a:solidFill>
                <a:effectLst/>
                <a:latin typeface="Inter"/>
              </a:rPr>
              <a:t>收录）成为获取流量的硬通货时，商家的动作将自发向“提升服务品质”转移。</a:t>
            </a:r>
            <a:r>
              <a:rPr lang="zh-CN" altLang="en-US" sz="1200" b="1" i="0" dirty="0">
                <a:solidFill>
                  <a:srgbClr val="1B1B1E"/>
                </a:solidFill>
                <a:effectLst/>
                <a:latin typeface="Inter"/>
              </a:rPr>
              <a:t>资产越厚，商家迁移去竞品的沉没成本就越高。我们用长期资产锁死优质供给。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2026/8/18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87321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2026/8/18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55752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2026/8/18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94761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sz="1200" strike="sngStrike" dirty="0">
                <a:solidFill>
                  <a:srgbClr val="FFC000"/>
                </a:solidFill>
                <a:latin typeface="+mn-ea"/>
              </a:rPr>
              <a:t>美团资产试点</a:t>
            </a:r>
            <a:r>
              <a:rPr lang="zh-CN" altLang="en-US" sz="1200" dirty="0">
                <a:solidFill>
                  <a:srgbClr val="FFC000"/>
                </a:solidFill>
                <a:latin typeface="+mn-ea"/>
              </a:rPr>
              <a:t>、</a:t>
            </a:r>
            <a:r>
              <a:rPr lang="zh-CN" altLang="en-US" sz="1200" strike="sngStrike" dirty="0">
                <a:solidFill>
                  <a:schemeClr val="accent6"/>
                </a:solidFill>
                <a:latin typeface="+mn-ea"/>
              </a:rPr>
              <a:t>美团资产引入对比扩量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2026/8/18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68052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2026/8/18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3974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2026/8/18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2026/8/18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93753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2026/8/18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42572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2026/8/18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31203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2026/8/18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56416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2026/8/18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02272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2026/8/18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95662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2026/8/18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24602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2026/8/18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1476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2026/8/18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60613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2026/8/18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54030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2026/8/18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15131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2026/8/18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07427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2026/8/18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623856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2026/8/18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303347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2026/8/18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129252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2026/8/18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766206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r>
              <a:rPr lang="en-US" altLang="zh-CN" dirty="0">
                <a:hlinkClick r:id="rId3"/>
              </a:rPr>
              <a:t>https://www.fxbaogao.com/view?id=5523378</a:t>
            </a:r>
            <a:r>
              <a:rPr lang="en-US" altLang="zh-CN" dirty="0"/>
              <a:t> https://www.iimedia.cn/c400/109027.html 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2026/8/18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221713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2026/8/18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748671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2026/8/18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842424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2026/8/18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88448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2026/8/18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597362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2026/8/18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174277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2026/8/18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42321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2026/8/18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233850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2026/8/18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820633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2026/8/18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561615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2026/8/18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037589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2026/8/18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373064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2026/8/18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293940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2026/8/18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947613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2026/8/18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43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23971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2026/8/18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44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922658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2026/8/18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45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098946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需求，最后是榜单。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物理世界的了解。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找店时候相关决策的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GC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准确度还是要提升。常州的体验，忙了一天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zh-CN" altLang="en-US" dirty="0"/>
              <a:t>意图识别，结构化展示，履约丰富度和深度。</a:t>
            </a:r>
            <a:r>
              <a:rPr lang="en-US" altLang="zh-CN" dirty="0"/>
              <a:t>8:00</a:t>
            </a:r>
            <a:r>
              <a:rPr lang="zh-CN" altLang="en-US" dirty="0"/>
              <a:t>打车，</a:t>
            </a:r>
            <a:r>
              <a:rPr lang="en-US" altLang="zh-CN" dirty="0"/>
              <a:t>9</a:t>
            </a:r>
            <a:r>
              <a:rPr lang="zh-CN" altLang="en-US" dirty="0"/>
              <a:t>点打烊，是否可以提前点菜。</a:t>
            </a:r>
            <a:endParaRPr lang="en-US" altLang="zh-CN" dirty="0"/>
          </a:p>
          <a:p>
            <a:r>
              <a:rPr lang="zh-CN" altLang="en-US" dirty="0"/>
              <a:t>需求发现，准确度对比。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订到餐厅。用户需求的讲法。</a:t>
            </a:r>
            <a:r>
              <a:rPr lang="en-US" altLang="zh-CN" dirty="0"/>
              <a:t>GC</a:t>
            </a:r>
            <a:r>
              <a:rPr lang="zh-CN" altLang="en-US" dirty="0"/>
              <a:t>能力和榜单的结合。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钉钉工具流，</a:t>
            </a:r>
            <a:r>
              <a:rPr lang="en-US" altLang="zh-CN" dirty="0"/>
              <a:t>1.AI</a:t>
            </a:r>
            <a:r>
              <a:rPr lang="zh-CN" altLang="en-US" dirty="0"/>
              <a:t>时代的企业工作平台变成了</a:t>
            </a:r>
            <a:r>
              <a:rPr lang="en-US" altLang="zh-CN" dirty="0"/>
              <a:t>AI</a:t>
            </a:r>
            <a:r>
              <a:rPr lang="zh-CN" altLang="en-US" dirty="0"/>
              <a:t>时代的管理者监控平台。</a:t>
            </a:r>
            <a:r>
              <a:rPr lang="en-US" altLang="zh-CN" dirty="0"/>
              <a:t>2. </a:t>
            </a:r>
            <a:r>
              <a:rPr lang="zh-CN" altLang="en-US" dirty="0"/>
              <a:t>支付宝的产品，如转账等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新店的资产迁移。对需求了解和供给了解。汇报种类</a:t>
            </a:r>
            <a:r>
              <a:rPr lang="en-US" altLang="zh-CN" dirty="0"/>
              <a:t>1</a:t>
            </a:r>
            <a:r>
              <a:rPr lang="zh-CN" altLang="en-US" dirty="0"/>
              <a:t>：方向正确，路径模糊。汇报种类</a:t>
            </a:r>
            <a:r>
              <a:rPr lang="en-US" altLang="zh-CN" dirty="0"/>
              <a:t>2</a:t>
            </a:r>
            <a:r>
              <a:rPr lang="zh-CN" altLang="en-US" dirty="0"/>
              <a:t>：务实讨论，竞争要资源。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引发材料讨论的目标是什么？</a:t>
            </a:r>
            <a:r>
              <a:rPr lang="en-US" altLang="zh-CN" dirty="0"/>
              <a:t>1</a:t>
            </a:r>
            <a:r>
              <a:rPr lang="zh-CN" altLang="en-US" dirty="0"/>
              <a:t>、用现在使用榜单的体验更好、留存更好。</a:t>
            </a:r>
            <a:r>
              <a:rPr lang="en-US" altLang="zh-CN" dirty="0"/>
              <a:t>2</a:t>
            </a:r>
            <a:r>
              <a:rPr lang="zh-CN" altLang="en-US" dirty="0"/>
              <a:t>、榜单的宽度更多，用户识别更大。</a:t>
            </a:r>
            <a:r>
              <a:rPr lang="en-US" altLang="zh-CN" dirty="0"/>
              <a:t>3</a:t>
            </a:r>
            <a:r>
              <a:rPr lang="zh-CN" altLang="en-US" dirty="0"/>
              <a:t>、公信力榜单收敛数量，而是尝试个性化。榜单之间的不可能三角（服务好，价格低，供给多）</a:t>
            </a:r>
            <a:r>
              <a:rPr lang="en-US" altLang="zh-CN" dirty="0"/>
              <a:t>4</a:t>
            </a:r>
            <a:r>
              <a:rPr lang="zh-CN" altLang="en-US" dirty="0"/>
              <a:t>、个性化搜索变成个性化收藏。（</a:t>
            </a:r>
            <a:r>
              <a:rPr lang="en-US" altLang="zh-CN" dirty="0"/>
              <a:t>by</a:t>
            </a:r>
            <a:r>
              <a:rPr lang="zh-CN" altLang="en-US" dirty="0"/>
              <a:t>会员维度等。）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时代到来后，榜单效率的优化。 收敛讨论。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2026/8/18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46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16873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0" name="对象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252000" y="987426"/>
            <a:ext cx="8639999" cy="3595025"/>
          </a:xfrm>
          <a:prstGeom prst="rect">
            <a:avLst/>
          </a:prstGeom>
        </p:spPr>
        <p:txBody>
          <a:bodyPr tIns="90000" bIns="90000"/>
          <a:lstStyle>
            <a:lvl1pPr>
              <a:lnSpc>
                <a:spcPct val="120000"/>
              </a:lnSpc>
              <a:spcBef>
                <a:spcPts val="1200"/>
              </a:spcBef>
              <a:buClr>
                <a:srgbClr val="FFD100"/>
              </a:buClr>
              <a:defRPr sz="1800" b="0" i="0" baseline="0"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</a:lstStyle>
          <a:p>
            <a:r>
              <a:rPr kumimoji="1" lang="zh-CN" altLang="en-US" dirty="0"/>
              <a:t>目录一
目录二
目录三
目录四
目录五</a:t>
            </a:r>
          </a:p>
        </p:txBody>
      </p:sp>
      <p:sp>
        <p:nvSpPr>
          <p:cNvPr id="7" name="标题 2"/>
          <p:cNvSpPr>
            <a:spLocks noGrp="1"/>
          </p:cNvSpPr>
          <p:nvPr>
            <p:ph type="title"/>
          </p:nvPr>
        </p:nvSpPr>
        <p:spPr>
          <a:xfrm>
            <a:off x="384306" y="288001"/>
            <a:ext cx="7285837" cy="4273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kumimoji="1" lang="zh-CN" altLang="en-US" sz="2400" b="0" i="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j-cs"/>
                <a:sym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252000" y="298634"/>
            <a:ext cx="45719" cy="4273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 baseline="0">
              <a:latin typeface="Calibri" panose="020F0502020204030204" pitchFamily="34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goal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对象 9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90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0" name="对象 9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0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"/>
          <p:cNvSpPr/>
          <p:nvPr userDrawn="1"/>
        </p:nvSpPr>
        <p:spPr>
          <a:xfrm>
            <a:off x="0" y="5037438"/>
            <a:ext cx="9144000" cy="114300"/>
          </a:xfrm>
          <a:prstGeom prst="rect">
            <a:avLst/>
          </a:prstGeom>
          <a:solidFill>
            <a:srgbClr val="FFD1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 baseline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23" hasCustomPrompt="1"/>
          </p:nvPr>
        </p:nvSpPr>
        <p:spPr>
          <a:xfrm>
            <a:off x="1813560" y="1424941"/>
            <a:ext cx="7078234" cy="3461385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>
            <a:lvl1pPr>
              <a:lnSpc>
                <a:spcPct val="100000"/>
              </a:lnSpc>
              <a:defRPr sz="1000" baseline="0">
                <a:latin typeface="Calibri" panose="020F0502020204030204" pitchFamily="34" charset="0"/>
                <a:ea typeface="楷体" panose="02010609060101010101" pitchFamily="49" charset="-122"/>
              </a:defRPr>
            </a:lvl1pPr>
            <a:lvl2pPr>
              <a:lnSpc>
                <a:spcPct val="120000"/>
              </a:lnSpc>
              <a:defRPr sz="1200"/>
            </a:lvl2pPr>
            <a:lvl3pPr>
              <a:lnSpc>
                <a:spcPct val="120000"/>
              </a:lnSpc>
              <a:defRPr sz="1050"/>
            </a:lvl3pPr>
            <a:lvl4pPr>
              <a:lnSpc>
                <a:spcPct val="120000"/>
              </a:lnSpc>
              <a:defRPr sz="1050"/>
            </a:lvl4pPr>
            <a:lvl5pPr>
              <a:lnSpc>
                <a:spcPct val="120000"/>
              </a:lnSpc>
              <a:defRPr sz="1050"/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6" name="标题 2"/>
          <p:cNvSpPr>
            <a:spLocks noGrp="1"/>
          </p:cNvSpPr>
          <p:nvPr>
            <p:ph type="title" hasCustomPrompt="1"/>
          </p:nvPr>
        </p:nvSpPr>
        <p:spPr>
          <a:xfrm>
            <a:off x="308705" y="439480"/>
            <a:ext cx="8584470" cy="855921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>
              <a:defRPr kumimoji="1" lang="zh-CN" altLang="en-US" sz="1600" b="0" i="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j-cs"/>
                <a:sym typeface="+mj-lt"/>
              </a:defRPr>
            </a:lvl1pPr>
          </a:lstStyle>
          <a:p>
            <a:r>
              <a:rPr lang="en-US" altLang="zh-CN" dirty="0"/>
              <a:t>TGX:</a:t>
            </a:r>
            <a:r>
              <a:rPr lang="zh-CN" altLang="en-US" dirty="0"/>
              <a:t> </a:t>
            </a:r>
            <a:r>
              <a:rPr lang="en-US" altLang="zh-CN" dirty="0"/>
              <a:t>XXXXXXX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22" hasCustomPrompt="1"/>
          </p:nvPr>
        </p:nvSpPr>
        <p:spPr>
          <a:xfrm>
            <a:off x="308706" y="123826"/>
            <a:ext cx="8583088" cy="26603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200" b="1" i="0" kern="1200" baseline="0" dirty="0" smtClean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2pPr>
            <a:lvl3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3pPr>
            <a:lvl4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4pPr>
            <a:lvl5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5pPr>
          </a:lstStyle>
          <a:p>
            <a:r>
              <a:rPr kumimoji="1" lang="en-US" altLang="zh-CN" dirty="0">
                <a:solidFill>
                  <a:schemeClr val="bg1">
                    <a:lumMod val="50000"/>
                  </a:schemeClr>
                </a:solidFill>
              </a:rPr>
              <a:t>4 </a:t>
            </a:r>
            <a:r>
              <a:rPr kumimoji="1" lang="en-US" altLang="zh-CN" dirty="0" err="1">
                <a:solidFill>
                  <a:schemeClr val="bg1">
                    <a:lumMod val="50000"/>
                  </a:schemeClr>
                </a:solidFill>
              </a:rPr>
              <a:t>Teamgoal</a:t>
            </a:r>
            <a:r>
              <a:rPr kumimoji="1" lang="zh-CN" altLang="en-US" dirty="0">
                <a:solidFill>
                  <a:schemeClr val="bg1">
                    <a:lumMod val="50000"/>
                  </a:schemeClr>
                </a:solidFill>
              </a:rPr>
              <a:t>进展同步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250826" y="123826"/>
            <a:ext cx="57881" cy="11715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 baseline="0">
              <a:latin typeface="Calibri" panose="020F0502020204030204" pitchFamily="34" charset="0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250824" y="1424941"/>
            <a:ext cx="1417956" cy="34613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请使用这个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对象 9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90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0" name="对象 9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0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"/>
          <p:cNvSpPr/>
          <p:nvPr userDrawn="1"/>
        </p:nvSpPr>
        <p:spPr>
          <a:xfrm>
            <a:off x="0" y="5037438"/>
            <a:ext cx="9144000" cy="114300"/>
          </a:xfrm>
          <a:prstGeom prst="rect">
            <a:avLst/>
          </a:prstGeom>
          <a:solidFill>
            <a:srgbClr val="FFD1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 baseline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15" name="标题 2"/>
          <p:cNvSpPr>
            <a:spLocks noGrp="1"/>
          </p:cNvSpPr>
          <p:nvPr>
            <p:ph type="title"/>
          </p:nvPr>
        </p:nvSpPr>
        <p:spPr>
          <a:xfrm>
            <a:off x="308705" y="439480"/>
            <a:ext cx="8584470" cy="547945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>
              <a:defRPr kumimoji="1" lang="zh-CN" altLang="en-US" sz="1800" b="0" i="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j-cs"/>
                <a:sym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23" hasCustomPrompt="1"/>
          </p:nvPr>
        </p:nvSpPr>
        <p:spPr>
          <a:xfrm>
            <a:off x="252207" y="1131888"/>
            <a:ext cx="8639588" cy="351631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lnSpc>
                <a:spcPct val="120000"/>
              </a:lnSpc>
              <a:buClr>
                <a:schemeClr val="accent1"/>
              </a:buClr>
              <a:defRPr sz="1400" baseline="0">
                <a:latin typeface="Calibri" panose="020F0502020204030204" pitchFamily="34" charset="0"/>
                <a:ea typeface="楷体" panose="02010609060101010101" pitchFamily="49" charset="-122"/>
              </a:defRPr>
            </a:lvl1pPr>
            <a:lvl2pPr>
              <a:lnSpc>
                <a:spcPct val="120000"/>
              </a:lnSpc>
              <a:defRPr sz="1200"/>
            </a:lvl2pPr>
            <a:lvl3pPr>
              <a:lnSpc>
                <a:spcPct val="120000"/>
              </a:lnSpc>
              <a:defRPr sz="1050"/>
            </a:lvl3pPr>
            <a:lvl4pPr>
              <a:lnSpc>
                <a:spcPct val="120000"/>
              </a:lnSpc>
              <a:defRPr sz="1050"/>
            </a:lvl4pPr>
            <a:lvl5pPr>
              <a:lnSpc>
                <a:spcPct val="120000"/>
              </a:lnSpc>
              <a:defRPr sz="1050"/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6" name="文本占位符 6"/>
          <p:cNvSpPr>
            <a:spLocks noGrp="1"/>
          </p:cNvSpPr>
          <p:nvPr>
            <p:ph type="body" sz="quarter" idx="22" hasCustomPrompt="1"/>
          </p:nvPr>
        </p:nvSpPr>
        <p:spPr>
          <a:xfrm>
            <a:off x="308706" y="123824"/>
            <a:ext cx="8583088" cy="26603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200" b="1" i="0" kern="1200" baseline="0" dirty="0" smtClean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2pPr>
            <a:lvl3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3pPr>
            <a:lvl4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4pPr>
            <a:lvl5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5pPr>
          </a:lstStyle>
          <a:p>
            <a:r>
              <a:rPr kumimoji="1" lang="zh-CN" altLang="en-US" dirty="0">
                <a:solidFill>
                  <a:schemeClr val="bg1">
                    <a:lumMod val="50000"/>
                  </a:schemeClr>
                </a:solidFill>
              </a:rPr>
              <a:t>单击此处添加副标题</a:t>
            </a: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2" name="对象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1354104" y="2045244"/>
            <a:ext cx="6435792" cy="57653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000" b="1" i="0" baseline="0"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</a:lstStyle>
          <a:p>
            <a:r>
              <a:rPr kumimoji="1" lang="zh-CN" altLang="en-US" dirty="0"/>
              <a:t>单击此处添加章节标题</a:t>
            </a:r>
          </a:p>
        </p:txBody>
      </p:sp>
      <p:sp>
        <p:nvSpPr>
          <p:cNvPr id="5" name="矩形"/>
          <p:cNvSpPr/>
          <p:nvPr userDrawn="1"/>
        </p:nvSpPr>
        <p:spPr>
          <a:xfrm>
            <a:off x="-5052" y="4061865"/>
            <a:ext cx="9149052" cy="108163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baseline="0" dirty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2117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728384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tags" Target="../tags/tag2.xml"/><Relationship Id="rId9" Type="http://schemas.openxmlformats.org/officeDocument/2006/relationships/oleObject" Target="../embeddings/oleObject1.bin"/><Relationship Id="rId10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/>
          <p:cNvGraphicFramePr>
            <a:graphicFrameLocks noChangeAspect="1"/>
          </p:cNvGraphicFramePr>
          <p:nvPr userDrawn="1">
            <p:custDataLst>
              <p:tags r:id="rId8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9" imgW="0" imgH="0" progId="TCLayout.ActiveDocument.1">
                  <p:embed/>
                </p:oleObj>
              </mc:Choice>
              <mc:Fallback>
                <p:oleObj name="think-cell 幻灯片" r:id="rId9" imgW="0" imgH="0" progId="TCLayout.ActiveDocument.1">
                  <p:embed/>
                  <p:pic>
                    <p:nvPicPr>
                      <p:cNvPr id="0" name="对象 4" hidden="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"/>
          <p:cNvSpPr/>
          <p:nvPr userDrawn="1"/>
        </p:nvSpPr>
        <p:spPr>
          <a:xfrm>
            <a:off x="0" y="5037438"/>
            <a:ext cx="9144000" cy="114300"/>
          </a:xfrm>
          <a:prstGeom prst="rect">
            <a:avLst/>
          </a:prstGeom>
          <a:solidFill>
            <a:srgbClr val="FFD1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 baseline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7" name="文本占位符 11"/>
          <p:cNvSpPr txBox="1"/>
          <p:nvPr userDrawn="1"/>
        </p:nvSpPr>
        <p:spPr>
          <a:xfrm>
            <a:off x="7736320" y="4739965"/>
            <a:ext cx="1078947" cy="251811"/>
          </a:xfrm>
          <a:prstGeom prst="rect">
            <a:avLst/>
          </a:prstGeom>
        </p:spPr>
        <p:txBody>
          <a:bodyPr wrap="none" anchor="ctr"/>
          <a:lstStyle>
            <a:lvl1pPr marL="0" indent="0" algn="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48968B-9B7E-4AEF-AF8F-76389AEE4EF7}" type="slidenum">
              <a:rPr kumimoji="1" lang="zh-CN" altLang="en-US" sz="1000" baseline="0" smtClean="0"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rPr>
              <a:t>‹#›</a:t>
            </a:fld>
            <a:endParaRPr kumimoji="1" lang="zh-CN" altLang="en-US" sz="1000" baseline="0" dirty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6" name="标题占位符 5"/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5" r:id="rId5"/>
    <p:sldLayoutId id="2147483656" r:id="rId6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60000"/>
        <a:buFont typeface="Wingdings" panose="05000000000000000000" pitchFamily="2" charset="2"/>
        <a:buChar char="¡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60000"/>
        <a:buFont typeface="Wingdings" panose="05000000000000000000" pitchFamily="2" charset="2"/>
        <a:buChar char="¡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60000"/>
        <a:buFont typeface="Wingdings" panose="05000000000000000000" pitchFamily="2" charset="2"/>
        <a:buChar char="n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2.em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2.em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3.png"/><Relationship Id="rId5" Type="http://schemas.openxmlformats.org/officeDocument/2006/relationships/oleObject" Target="../embeddings/oleObject8.bin"/><Relationship Id="rId6" Type="http://schemas.openxmlformats.org/officeDocument/2006/relationships/image" Target="../media/image2.emf"/><Relationship Id="rId7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3.png"/><Relationship Id="rId5" Type="http://schemas.openxmlformats.org/officeDocument/2006/relationships/oleObject" Target="../embeddings/oleObject9.bin"/><Relationship Id="rId6" Type="http://schemas.openxmlformats.org/officeDocument/2006/relationships/image" Target="../media/image2.emf"/><Relationship Id="rId7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3.png"/><Relationship Id="rId5" Type="http://schemas.openxmlformats.org/officeDocument/2006/relationships/oleObject" Target="../embeddings/oleObject10.bin"/><Relationship Id="rId6" Type="http://schemas.openxmlformats.org/officeDocument/2006/relationships/image" Target="../media/image2.emf"/><Relationship Id="rId7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2.em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4" Type="http://schemas.openxmlformats.org/officeDocument/2006/relationships/oleObject" Target="../embeddings/oleObject11.bin"/><Relationship Id="rId5" Type="http://schemas.openxmlformats.org/officeDocument/2006/relationships/image" Target="../media/image2.em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2.em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2.emf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2.emf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Relationship Id="rId4" Type="http://schemas.openxmlformats.org/officeDocument/2006/relationships/oleObject" Target="../embeddings/oleObject13.bin"/><Relationship Id="rId5" Type="http://schemas.openxmlformats.org/officeDocument/2006/relationships/image" Target="../media/image2.emf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Relationship Id="rId4" Type="http://schemas.openxmlformats.org/officeDocument/2006/relationships/oleObject" Target="../embeddings/oleObject14.bin"/><Relationship Id="rId5" Type="http://schemas.openxmlformats.org/officeDocument/2006/relationships/image" Target="../media/image2.emf"/><Relationship Id="rId6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Relationship Id="rId4" Type="http://schemas.openxmlformats.org/officeDocument/2006/relationships/oleObject" Target="../embeddings/oleObject15.bin"/><Relationship Id="rId5" Type="http://schemas.openxmlformats.org/officeDocument/2006/relationships/image" Target="../media/image2.emf"/><Relationship Id="rId6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Relationship Id="rId4" Type="http://schemas.openxmlformats.org/officeDocument/2006/relationships/oleObject" Target="../embeddings/oleObject16.bin"/><Relationship Id="rId5" Type="http://schemas.openxmlformats.org/officeDocument/2006/relationships/image" Target="../media/image2.emf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Relationship Id="rId4" Type="http://schemas.openxmlformats.org/officeDocument/2006/relationships/oleObject" Target="../embeddings/oleObject17.bin"/><Relationship Id="rId5" Type="http://schemas.openxmlformats.org/officeDocument/2006/relationships/image" Target="../media/image2.emf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Relationship Id="rId4" Type="http://schemas.openxmlformats.org/officeDocument/2006/relationships/oleObject" Target="../embeddings/oleObject18.bin"/><Relationship Id="rId5" Type="http://schemas.openxmlformats.org/officeDocument/2006/relationships/image" Target="../media/image2.emf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Relationship Id="rId4" Type="http://schemas.openxmlformats.org/officeDocument/2006/relationships/oleObject" Target="../embeddings/oleObject19.bin"/><Relationship Id="rId5" Type="http://schemas.openxmlformats.org/officeDocument/2006/relationships/image" Target="../media/image2.emf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Relationship Id="rId4" Type="http://schemas.openxmlformats.org/officeDocument/2006/relationships/oleObject" Target="../embeddings/oleObject20.bin"/><Relationship Id="rId5" Type="http://schemas.openxmlformats.org/officeDocument/2006/relationships/image" Target="../media/image2.emf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2.emf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Relationship Id="rId4" Type="http://schemas.openxmlformats.org/officeDocument/2006/relationships/oleObject" Target="../embeddings/oleObject21.bin"/><Relationship Id="rId5" Type="http://schemas.openxmlformats.org/officeDocument/2006/relationships/image" Target="../media/image2.emf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tags" Target="../tags/tag2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Relationship Id="rId4" Type="http://schemas.openxmlformats.org/officeDocument/2006/relationships/oleObject" Target="../embeddings/oleObject22.bin"/><Relationship Id="rId5" Type="http://schemas.openxmlformats.org/officeDocument/2006/relationships/image" Target="../media/image2.emf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Relationship Id="rId4" Type="http://schemas.openxmlformats.org/officeDocument/2006/relationships/oleObject" Target="../embeddings/oleObject23.bin"/><Relationship Id="rId5" Type="http://schemas.openxmlformats.org/officeDocument/2006/relationships/image" Target="../media/image2.emf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Relationship Id="rId4" Type="http://schemas.openxmlformats.org/officeDocument/2006/relationships/oleObject" Target="../embeddings/oleObject24.bin"/><Relationship Id="rId5" Type="http://schemas.openxmlformats.org/officeDocument/2006/relationships/image" Target="../media/image2.emf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Relationship Id="rId4" Type="http://schemas.openxmlformats.org/officeDocument/2006/relationships/oleObject" Target="../embeddings/oleObject25.bin"/><Relationship Id="rId5" Type="http://schemas.openxmlformats.org/officeDocument/2006/relationships/image" Target="../media/image2.emf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Relationship Id="rId4" Type="http://schemas.openxmlformats.org/officeDocument/2006/relationships/oleObject" Target="../embeddings/oleObject25.bin"/><Relationship Id="rId5" Type="http://schemas.openxmlformats.org/officeDocument/2006/relationships/image" Target="../media/image2.emf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tags" Target="../tags/tag3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Relationship Id="rId4" Type="http://schemas.openxmlformats.org/officeDocument/2006/relationships/oleObject" Target="../embeddings/oleObject26.bin"/><Relationship Id="rId5" Type="http://schemas.openxmlformats.org/officeDocument/2006/relationships/image" Target="../media/image2.emf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tags" Target="../tags/tag3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Relationship Id="rId4" Type="http://schemas.openxmlformats.org/officeDocument/2006/relationships/oleObject" Target="../embeddings/oleObject25.bin"/><Relationship Id="rId5" Type="http://schemas.openxmlformats.org/officeDocument/2006/relationships/image" Target="../media/image2.emf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tags" Target="../tags/tag3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Relationship Id="rId4" Type="http://schemas.openxmlformats.org/officeDocument/2006/relationships/oleObject" Target="../embeddings/oleObject23.bin"/><Relationship Id="rId5" Type="http://schemas.openxmlformats.org/officeDocument/2006/relationships/image" Target="../media/image2.emf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tags" Target="../tags/tag3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Relationship Id="rId4" Type="http://schemas.openxmlformats.org/officeDocument/2006/relationships/image" Target="../media/image15.png"/><Relationship Id="rId5" Type="http://schemas.microsoft.com/office/2007/relationships/hdphoto" Target="../media/hdphoto1.wdp"/><Relationship Id="rId6" Type="http://schemas.openxmlformats.org/officeDocument/2006/relationships/oleObject" Target="../embeddings/oleObject27.bin"/><Relationship Id="rId7" Type="http://schemas.openxmlformats.org/officeDocument/2006/relationships/image" Target="../media/image2.emf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Relationship Id="rId4" Type="http://schemas.openxmlformats.org/officeDocument/2006/relationships/oleObject" Target="../embeddings/oleObject28.bin"/><Relationship Id="rId5" Type="http://schemas.openxmlformats.org/officeDocument/2006/relationships/image" Target="../media/image2.emf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tags" Target="../tags/tag3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Relationship Id="rId4" Type="http://schemas.openxmlformats.org/officeDocument/2006/relationships/oleObject" Target="../embeddings/oleObject28.bin"/><Relationship Id="rId5" Type="http://schemas.openxmlformats.org/officeDocument/2006/relationships/image" Target="../media/image2.emf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Relationship Id="rId4" Type="http://schemas.openxmlformats.org/officeDocument/2006/relationships/oleObject" Target="../embeddings/oleObject29.bin"/><Relationship Id="rId5" Type="http://schemas.openxmlformats.org/officeDocument/2006/relationships/image" Target="../media/image2.emf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tags" Target="../tags/tag3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Relationship Id="rId4" Type="http://schemas.openxmlformats.org/officeDocument/2006/relationships/oleObject" Target="../embeddings/oleObject30.bin"/><Relationship Id="rId5" Type="http://schemas.openxmlformats.org/officeDocument/2006/relationships/image" Target="../media/image2.emf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Relationship Id="rId4" Type="http://schemas.openxmlformats.org/officeDocument/2006/relationships/image" Target="../media/image3.png"/><Relationship Id="rId5" Type="http://schemas.openxmlformats.org/officeDocument/2006/relationships/oleObject" Target="../embeddings/oleObject31.bin"/><Relationship Id="rId6" Type="http://schemas.openxmlformats.org/officeDocument/2006/relationships/image" Target="../media/image2.emf"/><Relationship Id="rId7" Type="http://schemas.openxmlformats.org/officeDocument/2006/relationships/image" Target="../media/image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tags" Target="../tags/tag4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Relationship Id="rId4" Type="http://schemas.openxmlformats.org/officeDocument/2006/relationships/image" Target="../media/image3.png"/><Relationship Id="rId5" Type="http://schemas.openxmlformats.org/officeDocument/2006/relationships/oleObject" Target="../embeddings/oleObject32.bin"/><Relationship Id="rId6" Type="http://schemas.openxmlformats.org/officeDocument/2006/relationships/image" Target="../media/image2.emf"/><Relationship Id="rId7" Type="http://schemas.openxmlformats.org/officeDocument/2006/relationships/image" Target="../media/image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Relationship Id="rId4" Type="http://schemas.openxmlformats.org/officeDocument/2006/relationships/image" Target="../media/image3.png"/><Relationship Id="rId5" Type="http://schemas.openxmlformats.org/officeDocument/2006/relationships/oleObject" Target="../embeddings/oleObject33.bin"/><Relationship Id="rId6" Type="http://schemas.openxmlformats.org/officeDocument/2006/relationships/image" Target="../media/image2.emf"/><Relationship Id="rId7" Type="http://schemas.openxmlformats.org/officeDocument/2006/relationships/image" Target="../media/image4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Relationship Id="rId4" Type="http://schemas.openxmlformats.org/officeDocument/2006/relationships/oleObject" Target="../embeddings/oleObject34.bin"/><Relationship Id="rId5" Type="http://schemas.openxmlformats.org/officeDocument/2006/relationships/image" Target="../media/image2.emf"/><Relationship Id="rId6" Type="http://schemas.openxmlformats.org/officeDocument/2006/relationships/image" Target="../media/image16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Relationship Id="rId4" Type="http://schemas.openxmlformats.org/officeDocument/2006/relationships/oleObject" Target="../embeddings/oleObject35.bin"/><Relationship Id="rId5" Type="http://schemas.openxmlformats.org/officeDocument/2006/relationships/image" Target="../media/image2.emf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tags" Target="../tags/tag4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Relationship Id="rId4" Type="http://schemas.openxmlformats.org/officeDocument/2006/relationships/oleObject" Target="../embeddings/oleObject36.bin"/><Relationship Id="rId5" Type="http://schemas.openxmlformats.org/officeDocument/2006/relationships/image" Target="../media/image2.emf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tags" Target="../tags/tag4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Relationship Id="rId4" Type="http://schemas.openxmlformats.org/officeDocument/2006/relationships/oleObject" Target="../embeddings/oleObject37.bin"/><Relationship Id="rId5" Type="http://schemas.openxmlformats.org/officeDocument/2006/relationships/image" Target="../media/image2.emf"/><Relationship Id="rId6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个性化</a:t>
            </a:r>
            <a:endParaRPr lang="zh-CN" altLang="en-US" dirty="0">
              <a:effectLst/>
            </a:endParaRPr>
          </a:p>
        </p:txBody>
      </p:sp>
      <p:sp>
        <p:nvSpPr>
          <p:cNvPr id="3" name="Text 7">
            <a:extLst>
              <a:ext uri="{FF2B5EF4-FFF2-40B4-BE49-F238E27FC236}">
                <a16:creationId xmlns:a16="http://schemas.microsoft.com/office/drawing/2014/main" id="{23777197-6C17-1E03-E0FB-7A08400971E6}"/>
              </a:ext>
            </a:extLst>
          </p:cNvPr>
          <p:cNvSpPr/>
          <p:nvPr/>
        </p:nvSpPr>
        <p:spPr>
          <a:xfrm>
            <a:off x="6824696" y="414324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到餐事业部</a:t>
            </a: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</a:t>
            </a:r>
            <a:r>
              <a:rPr lang="zh-CN" alt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资产运营</a:t>
            </a:r>
            <a:endParaRPr lang="en-US" sz="1200" dirty="0"/>
          </a:p>
        </p:txBody>
      </p:sp>
      <p:sp>
        <p:nvSpPr>
          <p:cNvPr id="4" name="Text 7">
            <a:extLst>
              <a:ext uri="{FF2B5EF4-FFF2-40B4-BE49-F238E27FC236}">
                <a16:creationId xmlns:a16="http://schemas.microsoft.com/office/drawing/2014/main" id="{A5AA0EA7-C406-0817-D821-F48040560E45}"/>
              </a:ext>
            </a:extLst>
          </p:cNvPr>
          <p:cNvSpPr/>
          <p:nvPr/>
        </p:nvSpPr>
        <p:spPr>
          <a:xfrm>
            <a:off x="7546056" y="45090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CN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</a:t>
            </a:r>
            <a:r>
              <a:rPr lang="zh-CN" alt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</a:t>
            </a:r>
            <a:r>
              <a:rPr lang="en-US" altLang="zh-CN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r>
              <a:rPr lang="zh-CN" alt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431433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椭圆 10">
            <a:extLst>
              <a:ext uri="{FF2B5EF4-FFF2-40B4-BE49-F238E27FC236}">
                <a16:creationId xmlns:a16="http://schemas.microsoft.com/office/drawing/2014/main" id="{E7F33C12-8391-897A-AFC9-B63FC6C71ECC}"/>
              </a:ext>
            </a:extLst>
          </p:cNvPr>
          <p:cNvSpPr/>
          <p:nvPr/>
        </p:nvSpPr>
        <p:spPr>
          <a:xfrm>
            <a:off x="1614704" y="432380"/>
            <a:ext cx="886840" cy="90201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圈菜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26EA1CCD-0308-0DEB-BC56-5D5E95760336}"/>
              </a:ext>
            </a:extLst>
          </p:cNvPr>
          <p:cNvSpPr/>
          <p:nvPr/>
        </p:nvSpPr>
        <p:spPr>
          <a:xfrm>
            <a:off x="7240948" y="432380"/>
            <a:ext cx="886840" cy="90201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排店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选店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50D1E7E-D9CD-16F0-F67B-B573594EE427}"/>
              </a:ext>
            </a:extLst>
          </p:cNvPr>
          <p:cNvSpPr txBox="1"/>
          <p:nvPr/>
        </p:nvSpPr>
        <p:spPr>
          <a:xfrm>
            <a:off x="3989723" y="160993"/>
            <a:ext cx="13683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哪些店有这些菜</a:t>
            </a:r>
            <a:endParaRPr lang="zh-CN" altLang="en-US" sz="1200" dirty="0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2A6901F-AE50-9E7D-336A-9C1F599886CB}"/>
              </a:ext>
            </a:extLst>
          </p:cNvPr>
          <p:cNvSpPr/>
          <p:nvPr/>
        </p:nvSpPr>
        <p:spPr>
          <a:xfrm>
            <a:off x="4230490" y="437991"/>
            <a:ext cx="886840" cy="90201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召店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C12D663-2D8D-ED81-C529-3889FCA4F80D}"/>
              </a:ext>
            </a:extLst>
          </p:cNvPr>
          <p:cNvSpPr txBox="1"/>
          <p:nvPr/>
        </p:nvSpPr>
        <p:spPr>
          <a:xfrm>
            <a:off x="1440516" y="156946"/>
            <a:ext cx="11586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确定有哪些菜</a:t>
            </a:r>
            <a:endParaRPr lang="zh-CN" altLang="en-US" sz="12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F2C10BF-75AC-0198-6DE5-CF3DCDC513CC}"/>
              </a:ext>
            </a:extLst>
          </p:cNvPr>
          <p:cNvSpPr txBox="1"/>
          <p:nvPr/>
        </p:nvSpPr>
        <p:spPr>
          <a:xfrm>
            <a:off x="6544866" y="156946"/>
            <a:ext cx="21146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哪些店值得上榜</a:t>
            </a:r>
            <a:r>
              <a:rPr lang="en-US" altLang="zh-CN" sz="1200" dirty="0">
                <a:latin typeface="+mn-ea"/>
              </a:rPr>
              <a:t>/</a:t>
            </a:r>
            <a:r>
              <a:rPr lang="zh-CN" altLang="en-US" sz="1200" dirty="0">
                <a:latin typeface="+mn-ea"/>
              </a:rPr>
              <a:t>排名靠前</a:t>
            </a:r>
            <a:endParaRPr lang="zh-CN" altLang="en-US" sz="12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B12BD33-78AC-276A-1C79-9FBAEFE67221}"/>
              </a:ext>
            </a:extLst>
          </p:cNvPr>
          <p:cNvSpPr txBox="1"/>
          <p:nvPr/>
        </p:nvSpPr>
        <p:spPr>
          <a:xfrm>
            <a:off x="106820" y="1956119"/>
            <a:ext cx="11586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特色菜链路</a:t>
            </a:r>
            <a:endParaRPr lang="zh-CN" altLang="en-US" sz="12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AB48440-85E5-A30A-F32E-1C078FC34EB8}"/>
              </a:ext>
            </a:extLst>
          </p:cNvPr>
          <p:cNvSpPr txBox="1"/>
          <p:nvPr/>
        </p:nvSpPr>
        <p:spPr>
          <a:xfrm>
            <a:off x="106820" y="3314255"/>
            <a:ext cx="11586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新品链路</a:t>
            </a:r>
            <a:endParaRPr lang="zh-CN" altLang="en-US" sz="12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53FF92F-0103-03FC-923C-FEB416134074}"/>
              </a:ext>
            </a:extLst>
          </p:cNvPr>
          <p:cNvSpPr txBox="1"/>
          <p:nvPr/>
        </p:nvSpPr>
        <p:spPr>
          <a:xfrm>
            <a:off x="106820" y="4286568"/>
            <a:ext cx="11586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稳定大菜链路</a:t>
            </a:r>
            <a:endParaRPr lang="zh-CN" altLang="en-US" sz="1200" dirty="0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6647869D-06D2-DF9C-0C9C-4320BB66D6C4}"/>
              </a:ext>
            </a:extLst>
          </p:cNvPr>
          <p:cNvSpPr/>
          <p:nvPr/>
        </p:nvSpPr>
        <p:spPr>
          <a:xfrm>
            <a:off x="1614704" y="1648470"/>
            <a:ext cx="886840" cy="90201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8F78C75-CDA8-223D-0600-D4EBE2CAA425}"/>
              </a:ext>
            </a:extLst>
          </p:cNvPr>
          <p:cNvSpPr txBox="1"/>
          <p:nvPr/>
        </p:nvSpPr>
        <p:spPr>
          <a:xfrm>
            <a:off x="1565908" y="1868646"/>
            <a:ext cx="984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城市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x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特色菜字典</a:t>
            </a: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60B83B27-146B-2305-EF0E-11621EF64E0E}"/>
              </a:ext>
            </a:extLst>
          </p:cNvPr>
          <p:cNvSpPr/>
          <p:nvPr/>
        </p:nvSpPr>
        <p:spPr>
          <a:xfrm>
            <a:off x="1614704" y="4018620"/>
            <a:ext cx="886840" cy="90201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E74CF24-3BF0-3D00-CEC1-E83F3220A162}"/>
              </a:ext>
            </a:extLst>
          </p:cNvPr>
          <p:cNvSpPr txBox="1"/>
          <p:nvPr/>
        </p:nvSpPr>
        <p:spPr>
          <a:xfrm>
            <a:off x="1565908" y="4238796"/>
            <a:ext cx="984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高搜等热门经典菜</a:t>
            </a: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267288A0-9868-174F-A75A-CA93082BD286}"/>
              </a:ext>
            </a:extLst>
          </p:cNvPr>
          <p:cNvSpPr/>
          <p:nvPr/>
        </p:nvSpPr>
        <p:spPr>
          <a:xfrm>
            <a:off x="1614704" y="2999932"/>
            <a:ext cx="886840" cy="90201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EC87468-A79D-7A08-E69F-F00DF6B53BDA}"/>
              </a:ext>
            </a:extLst>
          </p:cNvPr>
          <p:cNvSpPr txBox="1"/>
          <p:nvPr/>
        </p:nvSpPr>
        <p:spPr>
          <a:xfrm>
            <a:off x="1565908" y="3309957"/>
            <a:ext cx="9844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GC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录入新品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49834857-142C-87DC-7119-6E279CBC7EC7}"/>
              </a:ext>
            </a:extLst>
          </p:cNvPr>
          <p:cNvSpPr txBox="1"/>
          <p:nvPr/>
        </p:nvSpPr>
        <p:spPr>
          <a:xfrm>
            <a:off x="2616228" y="558416"/>
            <a:ext cx="13423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/>
              <a:t>标准菜</a:t>
            </a:r>
            <a:r>
              <a:rPr lang="en-US" altLang="zh-CN" sz="1200" dirty="0"/>
              <a:t>-</a:t>
            </a:r>
            <a:r>
              <a:rPr lang="zh-CN" altLang="en-US" sz="1200" dirty="0"/>
              <a:t>门店映射</a:t>
            </a:r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234B397C-D8A9-A286-007E-A991561C2008}"/>
              </a:ext>
            </a:extLst>
          </p:cNvPr>
          <p:cNvCxnSpPr>
            <a:stCxn id="11" idx="6"/>
            <a:endCxn id="15" idx="2"/>
          </p:cNvCxnSpPr>
          <p:nvPr/>
        </p:nvCxnSpPr>
        <p:spPr>
          <a:xfrm>
            <a:off x="2501544" y="883389"/>
            <a:ext cx="1728946" cy="56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E7D6D9E8-40AF-192A-28A3-DF29644D83E4}"/>
              </a:ext>
            </a:extLst>
          </p:cNvPr>
          <p:cNvSpPr txBox="1"/>
          <p:nvPr/>
        </p:nvSpPr>
        <p:spPr>
          <a:xfrm>
            <a:off x="2522519" y="917091"/>
            <a:ext cx="15165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/>
              <a:t>准确率优于召回率</a:t>
            </a:r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0DF3507C-DD77-5533-D408-16AA750BD1A2}"/>
              </a:ext>
            </a:extLst>
          </p:cNvPr>
          <p:cNvCxnSpPr>
            <a:cxnSpLocks/>
            <a:stCxn id="15" idx="6"/>
            <a:endCxn id="12" idx="2"/>
          </p:cNvCxnSpPr>
          <p:nvPr/>
        </p:nvCxnSpPr>
        <p:spPr>
          <a:xfrm flipV="1">
            <a:off x="5117330" y="883389"/>
            <a:ext cx="2123618" cy="56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8D2B5534-F36F-448D-7AF2-6F7C8161330D}"/>
              </a:ext>
            </a:extLst>
          </p:cNvPr>
          <p:cNvSpPr txBox="1"/>
          <p:nvPr/>
        </p:nvSpPr>
        <p:spPr>
          <a:xfrm>
            <a:off x="5249917" y="522190"/>
            <a:ext cx="15963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/>
              <a:t>店、店</a:t>
            </a:r>
            <a:r>
              <a:rPr lang="en-US" altLang="zh-CN" sz="1200" dirty="0"/>
              <a:t>-</a:t>
            </a:r>
            <a:r>
              <a:rPr lang="zh-CN" altLang="en-US" sz="1200" dirty="0"/>
              <a:t>菜关系门槛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26D64DF1-142F-95F0-EA37-31B2619AC449}"/>
              </a:ext>
            </a:extLst>
          </p:cNvPr>
          <p:cNvSpPr txBox="1"/>
          <p:nvPr/>
        </p:nvSpPr>
        <p:spPr>
          <a:xfrm>
            <a:off x="5094724" y="945654"/>
            <a:ext cx="196971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/>
              <a:t>店资产为主、菜资产补充</a:t>
            </a:r>
          </a:p>
        </p:txBody>
      </p:sp>
    </p:spTree>
    <p:extLst>
      <p:ext uri="{BB962C8B-B14F-4D97-AF65-F5344CB8AC3E}">
        <p14:creationId xmlns:p14="http://schemas.microsoft.com/office/powerpoint/2010/main" val="4149044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892E7247-A82C-05C1-084D-BEE1DB027A37}"/>
              </a:ext>
            </a:extLst>
          </p:cNvPr>
          <p:cNvSpPr/>
          <p:nvPr/>
        </p:nvSpPr>
        <p:spPr>
          <a:xfrm>
            <a:off x="5230306" y="1128253"/>
            <a:ext cx="3102533" cy="2322870"/>
          </a:xfrm>
          <a:prstGeom prst="roundRect">
            <a:avLst>
              <a:gd name="adj" fmla="val 0"/>
            </a:avLst>
          </a:prstGeom>
          <a:noFill/>
          <a:ln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C8434C04-0AAD-7D5D-A8E6-55FE6BF7484A}"/>
              </a:ext>
            </a:extLst>
          </p:cNvPr>
          <p:cNvSpPr/>
          <p:nvPr/>
        </p:nvSpPr>
        <p:spPr>
          <a:xfrm>
            <a:off x="2474962" y="1128253"/>
            <a:ext cx="1478485" cy="2322870"/>
          </a:xfrm>
          <a:prstGeom prst="roundRect">
            <a:avLst>
              <a:gd name="adj" fmla="val 0"/>
            </a:avLst>
          </a:prstGeom>
          <a:noFill/>
          <a:ln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AFE3936-F586-0DBB-0321-973BAFE0697E}"/>
              </a:ext>
            </a:extLst>
          </p:cNvPr>
          <p:cNvSpPr txBox="1"/>
          <p:nvPr/>
        </p:nvSpPr>
        <p:spPr>
          <a:xfrm>
            <a:off x="899543" y="1225010"/>
            <a:ext cx="11586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高线</a:t>
            </a:r>
            <a:endParaRPr lang="zh-CN" altLang="en-US" sz="1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A4DD0C0-9951-A410-702C-228A9164F865}"/>
              </a:ext>
            </a:extLst>
          </p:cNvPr>
          <p:cNvSpPr txBox="1"/>
          <p:nvPr/>
        </p:nvSpPr>
        <p:spPr>
          <a:xfrm>
            <a:off x="549782" y="2492244"/>
            <a:ext cx="19251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中低线</a:t>
            </a:r>
            <a:endParaRPr lang="zh-CN" altLang="en-US" sz="12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33C6A02-E866-5AD8-DAE2-649807DC42FC}"/>
              </a:ext>
            </a:extLst>
          </p:cNvPr>
          <p:cNvSpPr txBox="1"/>
          <p:nvPr/>
        </p:nvSpPr>
        <p:spPr>
          <a:xfrm>
            <a:off x="482331" y="4132868"/>
            <a:ext cx="20195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当地人线下资产</a:t>
            </a:r>
            <a:r>
              <a:rPr lang="en-US" altLang="zh-CN" sz="1200" dirty="0">
                <a:latin typeface="+mn-ea"/>
              </a:rPr>
              <a:t>/</a:t>
            </a:r>
            <a:r>
              <a:rPr lang="zh-CN" altLang="en-US" sz="1200" dirty="0">
                <a:latin typeface="+mn-ea"/>
              </a:rPr>
              <a:t>好店挖掘</a:t>
            </a:r>
            <a:endParaRPr lang="zh-CN" altLang="en-US" sz="1200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6FFF2AF-BC00-013C-2AAB-B2A47C04B1F5}"/>
              </a:ext>
            </a:extLst>
          </p:cNvPr>
          <p:cNvSpPr/>
          <p:nvPr/>
        </p:nvSpPr>
        <p:spPr>
          <a:xfrm>
            <a:off x="2655456" y="1364699"/>
            <a:ext cx="1158621" cy="4845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点评生产榜单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4BCCD1A3-09B2-B1A9-EBB5-25429813D166}"/>
              </a:ext>
            </a:extLst>
          </p:cNvPr>
          <p:cNvSpPr/>
          <p:nvPr/>
        </p:nvSpPr>
        <p:spPr>
          <a:xfrm>
            <a:off x="2655457" y="2612350"/>
            <a:ext cx="1158621" cy="4845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点评生产榜单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CEAC8DD-C436-551A-2231-E1B85874837C}"/>
              </a:ext>
            </a:extLst>
          </p:cNvPr>
          <p:cNvSpPr/>
          <p:nvPr/>
        </p:nvSpPr>
        <p:spPr>
          <a:xfrm>
            <a:off x="6931588" y="2618660"/>
            <a:ext cx="1291390" cy="4845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美团生产榜单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F494882-88D5-9126-875F-3CFD903CE4AF}"/>
              </a:ext>
            </a:extLst>
          </p:cNvPr>
          <p:cNvSpPr/>
          <p:nvPr/>
        </p:nvSpPr>
        <p:spPr>
          <a:xfrm>
            <a:off x="5355814" y="2618661"/>
            <a:ext cx="1253112" cy="484507"/>
          </a:xfrm>
          <a:prstGeom prst="roundRect">
            <a:avLst/>
          </a:prstGeom>
          <a:solidFill>
            <a:schemeClr val="accent1">
              <a:alpha val="7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D5ECA68-9C6A-62C7-C639-014DB9C733B0}"/>
              </a:ext>
            </a:extLst>
          </p:cNvPr>
          <p:cNvSpPr txBox="1"/>
          <p:nvPr/>
        </p:nvSpPr>
        <p:spPr>
          <a:xfrm>
            <a:off x="2210370" y="737765"/>
            <a:ext cx="19498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点评侧当地人推荐榜展现</a:t>
            </a:r>
            <a:endParaRPr lang="zh-CN" altLang="en-US" sz="1200" dirty="0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CBC8689-1683-B695-3BD1-12BB7605B6BB}"/>
              </a:ext>
            </a:extLst>
          </p:cNvPr>
          <p:cNvSpPr/>
          <p:nvPr/>
        </p:nvSpPr>
        <p:spPr>
          <a:xfrm>
            <a:off x="411969" y="516194"/>
            <a:ext cx="8171591" cy="3237271"/>
          </a:xfrm>
          <a:prstGeom prst="roundRect">
            <a:avLst>
              <a:gd name="adj" fmla="val 11548"/>
            </a:avLst>
          </a:prstGeom>
          <a:noFill/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81907F1-B744-80AF-6043-6D3FBE604C21}"/>
              </a:ext>
            </a:extLst>
          </p:cNvPr>
          <p:cNvSpPr txBox="1"/>
          <p:nvPr/>
        </p:nvSpPr>
        <p:spPr>
          <a:xfrm>
            <a:off x="411969" y="1457742"/>
            <a:ext cx="20777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当地人线上流量、评价资产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点评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&gt;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美团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4C66FC1-1CCD-F60E-99CC-4D26AFC3ECBE}"/>
              </a:ext>
            </a:extLst>
          </p:cNvPr>
          <p:cNvSpPr txBox="1"/>
          <p:nvPr/>
        </p:nvSpPr>
        <p:spPr>
          <a:xfrm>
            <a:off x="453207" y="2699484"/>
            <a:ext cx="20777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当地人线上流量、评价资产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点评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&lt;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美团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0E827A8-300C-0AB0-34A3-835E9355B8CD}"/>
              </a:ext>
            </a:extLst>
          </p:cNvPr>
          <p:cNvSpPr txBox="1"/>
          <p:nvPr/>
        </p:nvSpPr>
        <p:spPr>
          <a:xfrm>
            <a:off x="5532111" y="737765"/>
            <a:ext cx="21536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美团侧当地人推荐榜展现</a:t>
            </a:r>
            <a:endParaRPr lang="zh-CN" altLang="en-US" sz="1200" dirty="0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FD7130B2-7DBD-44FD-CCEB-521A3F917F24}"/>
              </a:ext>
            </a:extLst>
          </p:cNvPr>
          <p:cNvSpPr/>
          <p:nvPr/>
        </p:nvSpPr>
        <p:spPr>
          <a:xfrm>
            <a:off x="6251094" y="1312124"/>
            <a:ext cx="1158621" cy="5040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点评生产榜单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CCC1C23-90A2-D043-95B5-B73EEA94E1FD}"/>
              </a:ext>
            </a:extLst>
          </p:cNvPr>
          <p:cNvSpPr txBox="1"/>
          <p:nvPr/>
        </p:nvSpPr>
        <p:spPr>
          <a:xfrm>
            <a:off x="6559161" y="2712680"/>
            <a:ext cx="4203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/>
              <a:t>+</a:t>
            </a:r>
            <a:endParaRPr lang="zh-CN" altLang="en-US" sz="1200" dirty="0"/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EA44E19B-1184-710B-ABC4-7B0671843BC9}"/>
              </a:ext>
            </a:extLst>
          </p:cNvPr>
          <p:cNvCxnSpPr>
            <a:cxnSpLocks/>
          </p:cNvCxnSpPr>
          <p:nvPr/>
        </p:nvCxnSpPr>
        <p:spPr>
          <a:xfrm>
            <a:off x="4018073" y="1606952"/>
            <a:ext cx="10667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D10BD05D-4915-23B7-3420-2DA4C91D3A67}"/>
              </a:ext>
            </a:extLst>
          </p:cNvPr>
          <p:cNvSpPr txBox="1"/>
          <p:nvPr/>
        </p:nvSpPr>
        <p:spPr>
          <a:xfrm>
            <a:off x="3972127" y="1260194"/>
            <a:ext cx="11586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复用</a:t>
            </a:r>
            <a:endParaRPr lang="zh-CN" altLang="en-US" sz="1200" dirty="0"/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E5F0DEB4-B24B-8C55-B7D4-CF0C8FEE79B4}"/>
              </a:ext>
            </a:extLst>
          </p:cNvPr>
          <p:cNvCxnSpPr>
            <a:cxnSpLocks/>
          </p:cNvCxnSpPr>
          <p:nvPr/>
        </p:nvCxnSpPr>
        <p:spPr>
          <a:xfrm>
            <a:off x="4084561" y="2839002"/>
            <a:ext cx="10002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4D8EA2EB-BCCE-558B-A666-475C5D63ED9E}"/>
              </a:ext>
            </a:extLst>
          </p:cNvPr>
          <p:cNvSpPr txBox="1"/>
          <p:nvPr/>
        </p:nvSpPr>
        <p:spPr>
          <a:xfrm>
            <a:off x="3926181" y="2492244"/>
            <a:ext cx="12531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先复用，再对比</a:t>
            </a:r>
            <a:endParaRPr lang="zh-CN" altLang="en-US" sz="1200" dirty="0"/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F66CE594-0964-FA9A-F203-19F3276CE5E7}"/>
              </a:ext>
            </a:extLst>
          </p:cNvPr>
          <p:cNvSpPr/>
          <p:nvPr/>
        </p:nvSpPr>
        <p:spPr>
          <a:xfrm>
            <a:off x="5367246" y="2612350"/>
            <a:ext cx="869253" cy="4845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点评生产榜单</a:t>
            </a: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79756065-FFCD-5F5F-A8B3-159A411D5624}"/>
              </a:ext>
            </a:extLst>
          </p:cNvPr>
          <p:cNvCxnSpPr>
            <a:cxnSpLocks/>
            <a:stCxn id="28" idx="1"/>
          </p:cNvCxnSpPr>
          <p:nvPr/>
        </p:nvCxnSpPr>
        <p:spPr>
          <a:xfrm flipH="1">
            <a:off x="6320651" y="2851180"/>
            <a:ext cx="238510" cy="0"/>
          </a:xfrm>
          <a:prstGeom prst="straightConnector1">
            <a:avLst/>
          </a:prstGeom>
          <a:ln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箭头: 右 61">
            <a:extLst>
              <a:ext uri="{FF2B5EF4-FFF2-40B4-BE49-F238E27FC236}">
                <a16:creationId xmlns:a16="http://schemas.microsoft.com/office/drawing/2014/main" id="{8203EDF6-96E8-5ACA-A180-0612E6D4DCB2}"/>
              </a:ext>
            </a:extLst>
          </p:cNvPr>
          <p:cNvSpPr/>
          <p:nvPr/>
        </p:nvSpPr>
        <p:spPr>
          <a:xfrm rot="16200000">
            <a:off x="1385413" y="3826672"/>
            <a:ext cx="213360" cy="250094"/>
          </a:xfrm>
          <a:prstGeom prst="rightArrow">
            <a:avLst/>
          </a:prstGeom>
          <a:solidFill>
            <a:schemeClr val="accent1">
              <a:alpha val="7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7072F11E-4BC1-50EC-F6A7-D18D2899A66D}"/>
              </a:ext>
            </a:extLst>
          </p:cNvPr>
          <p:cNvCxnSpPr/>
          <p:nvPr/>
        </p:nvCxnSpPr>
        <p:spPr>
          <a:xfrm flipH="1">
            <a:off x="4084561" y="3261360"/>
            <a:ext cx="1000241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12EFFC36-4F37-AB94-937A-0138367E15B4}"/>
              </a:ext>
            </a:extLst>
          </p:cNvPr>
          <p:cNvSpPr txBox="1"/>
          <p:nvPr/>
        </p:nvSpPr>
        <p:spPr>
          <a:xfrm>
            <a:off x="3952803" y="3015177"/>
            <a:ext cx="12531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反向挖掘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8662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45">
            <a:extLst>
              <a:ext uri="{FF2B5EF4-FFF2-40B4-BE49-F238E27FC236}">
                <a16:creationId xmlns:a16="http://schemas.microsoft.com/office/drawing/2014/main" id="{517E4041-08AF-7754-2B2B-275A65A0EA2F}"/>
              </a:ext>
            </a:extLst>
          </p:cNvPr>
          <p:cNvSpPr/>
          <p:nvPr/>
        </p:nvSpPr>
        <p:spPr>
          <a:xfrm>
            <a:off x="253364" y="6262570"/>
            <a:ext cx="8234363" cy="913426"/>
          </a:xfrm>
          <a:prstGeom prst="roundRect">
            <a:avLst>
              <a:gd name="adj" fmla="val 5774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accent5">
                <a:lumMod val="40000"/>
                <a:lumOff val="60000"/>
              </a:schemeClr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5" name="弧形 154">
            <a:extLst>
              <a:ext uri="{FF2B5EF4-FFF2-40B4-BE49-F238E27FC236}">
                <a16:creationId xmlns:a16="http://schemas.microsoft.com/office/drawing/2014/main" id="{1F49FA56-5EB1-E501-CA99-A026FB9A5491}"/>
              </a:ext>
            </a:extLst>
          </p:cNvPr>
          <p:cNvSpPr/>
          <p:nvPr/>
        </p:nvSpPr>
        <p:spPr>
          <a:xfrm rot="7704953">
            <a:off x="3935279" y="7149981"/>
            <a:ext cx="1176764" cy="1179012"/>
          </a:xfrm>
          <a:prstGeom prst="arc">
            <a:avLst>
              <a:gd name="adj1" fmla="val 20022392"/>
              <a:gd name="adj2" fmla="val 18685200"/>
            </a:avLst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Shape 6">
            <a:extLst>
              <a:ext uri="{FF2B5EF4-FFF2-40B4-BE49-F238E27FC236}">
                <a16:creationId xmlns:a16="http://schemas.microsoft.com/office/drawing/2014/main" id="{1B87045B-2CBE-1A2D-B479-DF39BC9E17EE}"/>
              </a:ext>
            </a:extLst>
          </p:cNvPr>
          <p:cNvSpPr/>
          <p:nvPr/>
        </p:nvSpPr>
        <p:spPr>
          <a:xfrm>
            <a:off x="253365" y="2044368"/>
            <a:ext cx="8234363" cy="2921063"/>
          </a:xfrm>
          <a:prstGeom prst="roundRect">
            <a:avLst>
              <a:gd name="adj" fmla="val 2221"/>
            </a:avLst>
          </a:prstGeom>
          <a:noFill/>
          <a:ln w="6350">
            <a:solidFill>
              <a:schemeClr val="bg1">
                <a:lumMod val="50000"/>
              </a:schemeClr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" name="Shape 0"/>
          <p:cNvSpPr/>
          <p:nvPr/>
        </p:nvSpPr>
        <p:spPr>
          <a:xfrm>
            <a:off x="253365" y="126683"/>
            <a:ext cx="8234364" cy="354711"/>
          </a:xfrm>
          <a:prstGeom prst="roundRect">
            <a:avLst>
              <a:gd name="adj" fmla="val 15467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253365" y="126684"/>
            <a:ext cx="8234364" cy="62557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 err="1">
                <a:latin typeface="+mn-ea"/>
                <a:cs typeface="Microsoft YaHei" pitchFamily="34" charset="-120"/>
              </a:rPr>
              <a:t>到餐资产运营</a:t>
            </a:r>
            <a:endParaRPr lang="en-US" sz="1200" b="1" dirty="0">
              <a:latin typeface="+mn-ea"/>
              <a:cs typeface="Microsoft YaHei" pitchFamily="34" charset="-120"/>
            </a:endParaRPr>
          </a:p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强化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用户及商家</a:t>
            </a:r>
            <a:r>
              <a:rPr lang="en-US" altLang="zh-CN" sz="1200" b="1" dirty="0" err="1">
                <a:latin typeface="+mn-ea"/>
                <a:cs typeface="Microsoft YaHei" pitchFamily="34" charset="-120"/>
              </a:rPr>
              <a:t>长期积累的差异化数据资产，构建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基于资产的</a:t>
            </a:r>
            <a:r>
              <a:rPr lang="en-US" altLang="zh-CN" sz="1200" b="1" dirty="0" err="1">
                <a:latin typeface="+mn-ea"/>
                <a:cs typeface="Microsoft YaHei" pitchFamily="34" charset="-120"/>
              </a:rPr>
              <a:t>有壁垒的用户到店餐饮消费决策信任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服务</a:t>
            </a:r>
            <a:r>
              <a:rPr lang="en-US" altLang="zh-CN" sz="1200" b="1" dirty="0" err="1">
                <a:latin typeface="+mn-ea"/>
                <a:cs typeface="Microsoft YaHei" pitchFamily="34" charset="-120"/>
              </a:rPr>
              <a:t>体系</a:t>
            </a:r>
            <a:endParaRPr lang="en-US" altLang="zh-CN" sz="1200" dirty="0">
              <a:latin typeface="+mn-ea"/>
            </a:endParaRPr>
          </a:p>
          <a:p>
            <a:pPr algn="ctr"/>
            <a:r>
              <a:rPr lang="en-US" altLang="zh-CN" sz="1200" dirty="0" err="1">
                <a:latin typeface="+mn-ea"/>
              </a:rPr>
              <a:t>支持用户选店选品决策PMF</a:t>
            </a:r>
            <a:r>
              <a:rPr lang="en-US" altLang="zh-CN" sz="1200" dirty="0">
                <a:latin typeface="+mn-ea"/>
              </a:rPr>
              <a:t> </a:t>
            </a:r>
            <a:r>
              <a:rPr lang="zh-CN" altLang="en-US" sz="1200" dirty="0">
                <a:latin typeface="+mn-ea"/>
              </a:rPr>
              <a:t>，主要强化服务用户能力。</a:t>
            </a:r>
            <a:r>
              <a:rPr lang="en-US" altLang="zh-CN" sz="1200" dirty="0" err="1">
                <a:latin typeface="+mn-ea"/>
              </a:rPr>
              <a:t>兼助商户长效经营</a:t>
            </a:r>
            <a:r>
              <a:rPr lang="zh-CN" altLang="en-US" sz="1200" dirty="0">
                <a:latin typeface="+mn-ea"/>
              </a:rPr>
              <a:t>的流量、背书及牵引</a:t>
            </a:r>
            <a:r>
              <a:rPr lang="en-US" sz="1200" b="1" dirty="0">
                <a:latin typeface="+mn-ea"/>
                <a:cs typeface="Microsoft YaHei" pitchFamily="34" charset="-120"/>
              </a:rPr>
              <a:t> </a:t>
            </a:r>
            <a:endParaRPr lang="en-US" sz="1200" dirty="0">
              <a:latin typeface="+mn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253365" y="557403"/>
            <a:ext cx="8234364" cy="417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>
              <a:latin typeface="+mn-ea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53365" y="790261"/>
            <a:ext cx="8234363" cy="1162095"/>
          </a:xfrm>
          <a:prstGeom prst="roundRect">
            <a:avLst>
              <a:gd name="adj" fmla="val 2221"/>
            </a:avLst>
          </a:prstGeom>
          <a:solidFill>
            <a:schemeClr val="bg1">
              <a:lumMod val="95000"/>
            </a:schemeClr>
          </a:solidFill>
          <a:ln w="6350">
            <a:noFill/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5094" y="1074467"/>
            <a:ext cx="350766" cy="823269"/>
          </a:xfrm>
          <a:prstGeom prst="roundRect">
            <a:avLst>
              <a:gd name="adj" fmla="val 9843"/>
            </a:avLst>
          </a:prstGeom>
          <a:solidFill>
            <a:schemeClr val="bg1"/>
          </a:solidFill>
          <a:ln/>
        </p:spPr>
        <p:txBody>
          <a:bodyPr anchor="ctr"/>
          <a:lstStyle/>
          <a:p>
            <a:r>
              <a:rPr lang="zh-CN" altLang="en-US" sz="1200" b="1" dirty="0">
                <a:latin typeface="+mn-ea"/>
              </a:rPr>
              <a:t>资产价值</a:t>
            </a:r>
          </a:p>
        </p:txBody>
      </p:sp>
      <p:sp>
        <p:nvSpPr>
          <p:cNvPr id="47" name="Shape 45"/>
          <p:cNvSpPr/>
          <p:nvPr/>
        </p:nvSpPr>
        <p:spPr>
          <a:xfrm>
            <a:off x="253364" y="5264545"/>
            <a:ext cx="8234363" cy="950119"/>
          </a:xfrm>
          <a:prstGeom prst="roundRect">
            <a:avLst>
              <a:gd name="adj" fmla="val 5774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A5D6A7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04036" y="5319152"/>
            <a:ext cx="354711" cy="828000"/>
          </a:xfrm>
          <a:prstGeom prst="roundRect">
            <a:avLst>
              <a:gd name="adj" fmla="val 9843"/>
            </a:avLst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资产应用</a:t>
            </a:r>
            <a:endParaRPr lang="en-US" altLang="zh-CN" sz="1200" dirty="0">
              <a:latin typeface="+mn-ea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799287" y="5319152"/>
            <a:ext cx="1800000" cy="82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 anchor="ctr"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榜单矩阵</a:t>
            </a:r>
            <a:endParaRPr lang="en-US" altLang="zh-CN" sz="1200" dirty="0">
              <a:latin typeface="+mn-ea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658748" y="5359604"/>
            <a:ext cx="1773555" cy="228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>
              <a:latin typeface="+mn-ea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2739827" y="5319152"/>
            <a:ext cx="1800000" cy="82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</a:rPr>
              <a:t>个人合集</a:t>
            </a:r>
            <a:endParaRPr lang="zh-CN" alt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4680367" y="5319152"/>
            <a:ext cx="1800000" cy="82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  <a:cs typeface="Microsoft YaHei" pitchFamily="34" charset="-120"/>
              </a:rPr>
              <a:t>多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GC/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评价</a:t>
            </a:r>
            <a:endParaRPr lang="en-US" altLang="zh-CN" sz="1200" dirty="0">
              <a:latin typeface="+mn-ea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6620906" y="5319152"/>
            <a:ext cx="1800000" cy="82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  <a:cs typeface="Microsoft YaHei" pitchFamily="34" charset="-120"/>
              </a:rPr>
              <a:t>星级</a:t>
            </a:r>
            <a:endParaRPr lang="en-US" altLang="zh-CN" sz="1200" dirty="0">
              <a:latin typeface="+mn-ea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253364" y="7227646"/>
            <a:ext cx="8234363" cy="1013460"/>
          </a:xfrm>
          <a:prstGeom prst="roundRect">
            <a:avLst>
              <a:gd name="adj" fmla="val 5774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FFCC8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7" name="Shape 65"/>
          <p:cNvSpPr/>
          <p:nvPr/>
        </p:nvSpPr>
        <p:spPr>
          <a:xfrm>
            <a:off x="304037" y="7303656"/>
            <a:ext cx="354711" cy="874109"/>
          </a:xfrm>
          <a:prstGeom prst="roundRect">
            <a:avLst>
              <a:gd name="adj" fmla="val 9843"/>
            </a:avLst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资产计算</a:t>
            </a:r>
            <a:endParaRPr lang="en-US" altLang="zh-CN" sz="1200" dirty="0">
              <a:latin typeface="+mn-ea"/>
            </a:endParaRPr>
          </a:p>
          <a:p>
            <a:endParaRPr lang="zh-CN" altLang="en-US" sz="1200" dirty="0">
              <a:latin typeface="+mn-ea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799288" y="7303656"/>
            <a:ext cx="1800000" cy="8741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规则计算</a:t>
            </a:r>
            <a:endParaRPr lang="en-US" sz="1200" dirty="0">
              <a:latin typeface="+mn-ea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2739828" y="7303656"/>
            <a:ext cx="1800000" cy="8741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 err="1">
                <a:latin typeface="+mn-ea"/>
                <a:cs typeface="Microsoft YaHei" pitchFamily="34" charset="-120"/>
              </a:rPr>
              <a:t>结构化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组织及</a:t>
            </a:r>
            <a:r>
              <a:rPr lang="en-US" sz="1200" b="1" dirty="0" err="1">
                <a:latin typeface="+mn-ea"/>
                <a:cs typeface="Microsoft YaHei" pitchFamily="34" charset="-120"/>
              </a:rPr>
              <a:t>质量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筛选</a:t>
            </a:r>
            <a:endParaRPr lang="en-US" sz="1200" dirty="0">
              <a:latin typeface="+mn-ea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2533651" y="7595025"/>
            <a:ext cx="1583531" cy="494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200" dirty="0">
              <a:latin typeface="+mn-ea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4680368" y="7303656"/>
            <a:ext cx="1800000" cy="8741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1200" b="1" err="1">
                <a:latin typeface="+mn-ea"/>
              </a:rPr>
              <a:t>AI</a:t>
            </a:r>
            <a:r>
              <a:rPr lang="en-US" altLang="zh-CN" sz="1200" b="1">
                <a:latin typeface="+mn-ea"/>
              </a:rPr>
              <a:t>挖掘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4281869" y="7341660"/>
            <a:ext cx="1710214" cy="228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>
              <a:latin typeface="+mn-ea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4345210" y="7595025"/>
            <a:ext cx="1646873" cy="494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200" dirty="0">
              <a:latin typeface="+mn-ea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6620907" y="7303656"/>
            <a:ext cx="1800000" cy="8741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公信力治理</a:t>
            </a:r>
            <a:endParaRPr lang="en-US" sz="1200" dirty="0">
              <a:latin typeface="+mn-ea"/>
            </a:endParaRPr>
          </a:p>
        </p:txBody>
      </p:sp>
      <p:sp>
        <p:nvSpPr>
          <p:cNvPr id="84" name="Text 82"/>
          <p:cNvSpPr/>
          <p:nvPr/>
        </p:nvSpPr>
        <p:spPr>
          <a:xfrm>
            <a:off x="6156770" y="7595025"/>
            <a:ext cx="2178939" cy="494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200" dirty="0">
              <a:latin typeface="+mn-ea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253364" y="8342452"/>
            <a:ext cx="8234363" cy="1393508"/>
          </a:xfrm>
          <a:prstGeom prst="roundRect">
            <a:avLst>
              <a:gd name="adj" fmla="val 3937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BCAAA4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304037" y="8380457"/>
            <a:ext cx="354711" cy="1317498"/>
          </a:xfrm>
          <a:prstGeom prst="roundRect">
            <a:avLst>
              <a:gd name="adj" fmla="val 9843"/>
            </a:avLst>
          </a:prstGeom>
          <a:solidFill>
            <a:schemeClr val="bg1">
              <a:lumMod val="85000"/>
            </a:schemeClr>
          </a:solidFill>
          <a:ln/>
        </p:spPr>
        <p:txBody>
          <a:bodyPr anchor="ctr"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资产数据</a:t>
            </a:r>
            <a:endParaRPr lang="en-US" altLang="zh-CN" sz="1200" dirty="0">
              <a:latin typeface="+mn-ea"/>
            </a:endParaRPr>
          </a:p>
        </p:txBody>
      </p:sp>
      <p:sp>
        <p:nvSpPr>
          <p:cNvPr id="88" name="Shape 86"/>
          <p:cNvSpPr/>
          <p:nvPr/>
        </p:nvSpPr>
        <p:spPr>
          <a:xfrm>
            <a:off x="750189" y="8418462"/>
            <a:ext cx="3887343" cy="1216152"/>
          </a:xfrm>
          <a:prstGeom prst="roundRect">
            <a:avLst>
              <a:gd name="adj" fmla="val 3383"/>
            </a:avLst>
          </a:prstGeom>
          <a:solidFill>
            <a:srgbClr val="FFFFFF"/>
          </a:solidFill>
          <a:ln w="6350">
            <a:solidFill>
              <a:srgbClr val="A1887F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9" name="Text 87"/>
          <p:cNvSpPr/>
          <p:nvPr/>
        </p:nvSpPr>
        <p:spPr>
          <a:xfrm>
            <a:off x="734949" y="8418462"/>
            <a:ext cx="3800475" cy="202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 err="1">
                <a:latin typeface="+mn-ea"/>
                <a:cs typeface="Microsoft YaHei" pitchFamily="34" charset="-120"/>
              </a:rPr>
              <a:t>维度</a:t>
            </a:r>
            <a:endParaRPr lang="en-US" sz="1200" dirty="0">
              <a:latin typeface="+mn-ea"/>
            </a:endParaRPr>
          </a:p>
        </p:txBody>
      </p:sp>
      <p:sp>
        <p:nvSpPr>
          <p:cNvPr id="90" name="Shape 88"/>
          <p:cNvSpPr/>
          <p:nvPr/>
        </p:nvSpPr>
        <p:spPr>
          <a:xfrm>
            <a:off x="781096" y="8659159"/>
            <a:ext cx="633413" cy="329375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交易</a:t>
            </a:r>
            <a:endParaRPr lang="en-US" altLang="zh-CN" sz="1200" dirty="0">
              <a:latin typeface="+mn-ea"/>
            </a:endParaRPr>
          </a:p>
        </p:txBody>
      </p:sp>
      <p:sp>
        <p:nvSpPr>
          <p:cNvPr id="92" name="Shape 90"/>
          <p:cNvSpPr/>
          <p:nvPr/>
        </p:nvSpPr>
        <p:spPr>
          <a:xfrm>
            <a:off x="1467945" y="8659159"/>
            <a:ext cx="633413" cy="329375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评价</a:t>
            </a:r>
            <a:endParaRPr lang="en-US" altLang="zh-CN" sz="1200" dirty="0">
              <a:latin typeface="+mn-ea"/>
            </a:endParaRPr>
          </a:p>
          <a:p>
            <a:pPr algn="ctr"/>
            <a:endParaRPr lang="zh-CN" altLang="en-US" sz="1200" dirty="0"/>
          </a:p>
        </p:txBody>
      </p:sp>
      <p:sp>
        <p:nvSpPr>
          <p:cNvPr id="94" name="Shape 92"/>
          <p:cNvSpPr/>
          <p:nvPr/>
        </p:nvSpPr>
        <p:spPr>
          <a:xfrm>
            <a:off x="2154794" y="8659159"/>
            <a:ext cx="948737" cy="329375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收藏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/</a:t>
            </a:r>
            <a:r>
              <a:rPr lang="en-US" altLang="zh-CN" sz="1200" b="1" dirty="0" err="1">
                <a:latin typeface="+mn-ea"/>
                <a:cs typeface="Microsoft YaHei" pitchFamily="34" charset="-120"/>
              </a:rPr>
              <a:t>打卡</a:t>
            </a:r>
            <a:endParaRPr lang="en-US" altLang="zh-CN" sz="1200" dirty="0">
              <a:latin typeface="+mn-ea"/>
            </a:endParaRPr>
          </a:p>
          <a:p>
            <a:pPr algn="ctr"/>
            <a:endParaRPr lang="zh-CN" alt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3156967" y="8659159"/>
            <a:ext cx="633413" cy="329375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履约</a:t>
            </a:r>
            <a:endParaRPr lang="en-US" altLang="zh-CN" sz="1200" dirty="0">
              <a:latin typeface="+mn-ea"/>
            </a:endParaRPr>
          </a:p>
        </p:txBody>
      </p:sp>
      <p:sp>
        <p:nvSpPr>
          <p:cNvPr id="98" name="Shape 96"/>
          <p:cNvSpPr/>
          <p:nvPr/>
        </p:nvSpPr>
        <p:spPr>
          <a:xfrm>
            <a:off x="3843814" y="8659159"/>
            <a:ext cx="760095" cy="325688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GC信息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00" name="Shape 98"/>
          <p:cNvSpPr/>
          <p:nvPr/>
        </p:nvSpPr>
        <p:spPr>
          <a:xfrm>
            <a:off x="908223" y="9060857"/>
            <a:ext cx="3597783" cy="468725"/>
          </a:xfrm>
          <a:prstGeom prst="roundRect">
            <a:avLst>
              <a:gd name="adj" fmla="val 5852"/>
            </a:avLst>
          </a:prstGeom>
          <a:solidFill>
            <a:schemeClr val="bg1">
              <a:lumMod val="95000"/>
            </a:schemeClr>
          </a:solidFill>
          <a:ln w="381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差异化壁垒来源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：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长期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多维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真实</a:t>
            </a:r>
            <a:endParaRPr lang="en-US" altLang="zh-CN" sz="1200" b="1" dirty="0">
              <a:latin typeface="+mn-ea"/>
              <a:cs typeface="Microsoft YaHei" pitchFamily="34" charset="-120"/>
            </a:endParaRPr>
          </a:p>
          <a:p>
            <a:pPr algn="ctr"/>
            <a:r>
              <a:rPr lang="zh-CN" altLang="en-US" sz="1200" dirty="0">
                <a:latin typeface="+mn-ea"/>
                <a:cs typeface="Microsoft YaHei" pitchFamily="34" charset="-120"/>
              </a:rPr>
              <a:t>竞品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无法复制底层数据资产的厚度和真实性</a:t>
            </a:r>
            <a:endParaRPr lang="en-US" altLang="zh-CN" sz="1200" dirty="0">
              <a:latin typeface="+mn-ea"/>
            </a:endParaRPr>
          </a:p>
          <a:p>
            <a:endParaRPr lang="zh-CN" altLang="en-US" sz="1200" dirty="0"/>
          </a:p>
        </p:txBody>
      </p:sp>
      <p:sp>
        <p:nvSpPr>
          <p:cNvPr id="102" name="Shape 100"/>
          <p:cNvSpPr/>
          <p:nvPr/>
        </p:nvSpPr>
        <p:spPr>
          <a:xfrm>
            <a:off x="4680368" y="8418462"/>
            <a:ext cx="3718682" cy="1216152"/>
          </a:xfrm>
          <a:prstGeom prst="roundRect">
            <a:avLst>
              <a:gd name="adj" fmla="val 3383"/>
            </a:avLst>
          </a:prstGeom>
          <a:solidFill>
            <a:srgbClr val="FFFFFF"/>
          </a:solidFill>
          <a:ln w="6350">
            <a:solidFill>
              <a:srgbClr val="A1887F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3" name="Text 101"/>
          <p:cNvSpPr/>
          <p:nvPr/>
        </p:nvSpPr>
        <p:spPr>
          <a:xfrm>
            <a:off x="4623911" y="8418462"/>
            <a:ext cx="3775139" cy="202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对象：物理世界的数字化映射</a:t>
            </a:r>
            <a:endParaRPr lang="en-US" sz="1200" dirty="0">
              <a:latin typeface="+mn-ea"/>
            </a:endParaRPr>
          </a:p>
        </p:txBody>
      </p:sp>
      <p:sp>
        <p:nvSpPr>
          <p:cNvPr id="104" name="Shape 102"/>
          <p:cNvSpPr/>
          <p:nvPr/>
        </p:nvSpPr>
        <p:spPr>
          <a:xfrm>
            <a:off x="4750594" y="8671827"/>
            <a:ext cx="1076801" cy="874109"/>
          </a:xfrm>
          <a:prstGeom prst="roundRect">
            <a:avLst>
              <a:gd name="adj" fmla="val 3138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05" name="Text 103"/>
          <p:cNvSpPr/>
          <p:nvPr/>
        </p:nvSpPr>
        <p:spPr>
          <a:xfrm>
            <a:off x="4750594" y="8671827"/>
            <a:ext cx="1076801" cy="8741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店</a:t>
            </a:r>
            <a:endParaRPr lang="en-US" sz="1200" dirty="0">
              <a:latin typeface="+mn-ea"/>
            </a:endParaRPr>
          </a:p>
          <a:p>
            <a:pPr algn="ctr"/>
            <a:r>
              <a:rPr lang="en-US" sz="1200" dirty="0">
                <a:latin typeface="+mn-ea"/>
                <a:cs typeface="Microsoft YaHei" pitchFamily="34" charset="-120"/>
              </a:rPr>
              <a:t> </a:t>
            </a:r>
            <a:endParaRPr lang="en-US" sz="1200" dirty="0">
              <a:latin typeface="+mn-ea"/>
            </a:endParaRPr>
          </a:p>
          <a:p>
            <a:pPr algn="ctr"/>
            <a:r>
              <a:rPr lang="en-US" sz="900" dirty="0" err="1">
                <a:latin typeface="+mn-ea"/>
                <a:cs typeface="Microsoft YaHei" pitchFamily="34" charset="-120"/>
              </a:rPr>
              <a:t>当前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重点</a:t>
            </a:r>
            <a:endParaRPr lang="en-US" altLang="zh-CN" sz="900" dirty="0">
              <a:latin typeface="+mn-ea"/>
              <a:cs typeface="Microsoft YaHei" pitchFamily="34" charset="-120"/>
            </a:endParaRPr>
          </a:p>
          <a:p>
            <a:pPr algn="ctr"/>
            <a:r>
              <a:rPr lang="en-US" sz="900" dirty="0">
                <a:latin typeface="+mn-ea"/>
                <a:cs typeface="Microsoft YaHei" pitchFamily="34" charset="-120"/>
              </a:rPr>
              <a:t>「</a:t>
            </a:r>
            <a:r>
              <a:rPr lang="en-US" sz="900" dirty="0" err="1">
                <a:latin typeface="+mn-ea"/>
                <a:cs typeface="Microsoft YaHei" pitchFamily="34" charset="-120"/>
              </a:rPr>
              <a:t>找店决策」主阵地</a:t>
            </a:r>
            <a:endParaRPr lang="en-US" sz="900" dirty="0">
              <a:latin typeface="+mn-ea"/>
            </a:endParaRPr>
          </a:p>
        </p:txBody>
      </p:sp>
      <p:sp>
        <p:nvSpPr>
          <p:cNvPr id="108" name="Shape 106"/>
          <p:cNvSpPr/>
          <p:nvPr/>
        </p:nvSpPr>
        <p:spPr>
          <a:xfrm>
            <a:off x="7157562" y="8671827"/>
            <a:ext cx="1076801" cy="874109"/>
          </a:xfrm>
          <a:prstGeom prst="roundRect">
            <a:avLst>
              <a:gd name="adj" fmla="val 3138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09" name="Text 107"/>
          <p:cNvSpPr/>
          <p:nvPr/>
        </p:nvSpPr>
        <p:spPr>
          <a:xfrm>
            <a:off x="7157562" y="8671827"/>
            <a:ext cx="1076801" cy="8741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人</a:t>
            </a:r>
            <a:endParaRPr lang="en-US" sz="1200" dirty="0">
              <a:latin typeface="+mn-ea"/>
            </a:endParaRPr>
          </a:p>
          <a:p>
            <a:pPr algn="ctr"/>
            <a:endParaRPr lang="en-US" sz="1200" dirty="0">
              <a:latin typeface="+mn-ea"/>
              <a:cs typeface="Microsoft YaHei" pitchFamily="34" charset="-120"/>
            </a:endParaRPr>
          </a:p>
          <a:p>
            <a:pPr algn="ctr"/>
            <a:r>
              <a:rPr lang="zh-CN" altLang="en-US" sz="900" dirty="0">
                <a:latin typeface="+mn-ea"/>
                <a:cs typeface="Microsoft YaHei" pitchFamily="34" charset="-120"/>
              </a:rPr>
              <a:t>待扩展方向</a:t>
            </a:r>
            <a:endParaRPr lang="en-US" altLang="zh-CN" sz="900" dirty="0">
              <a:latin typeface="+mn-ea"/>
              <a:cs typeface="Microsoft YaHei" pitchFamily="34" charset="-120"/>
            </a:endParaRPr>
          </a:p>
          <a:p>
            <a:pPr algn="ctr"/>
            <a:r>
              <a:rPr lang="en-US" altLang="zh-CN" sz="900" dirty="0">
                <a:latin typeface="+mn-ea"/>
                <a:cs typeface="Microsoft YaHei" pitchFamily="34" charset="-120"/>
              </a:rPr>
              <a:t>「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相信人，而到店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」</a:t>
            </a:r>
            <a:endParaRPr lang="en-US" altLang="zh-CN" sz="900" dirty="0">
              <a:latin typeface="+mn-ea"/>
            </a:endParaRPr>
          </a:p>
        </p:txBody>
      </p:sp>
      <p:sp>
        <p:nvSpPr>
          <p:cNvPr id="164" name="Text 20"/>
          <p:cNvSpPr/>
          <p:nvPr/>
        </p:nvSpPr>
        <p:spPr>
          <a:xfrm>
            <a:off x="5957850" y="1493326"/>
            <a:ext cx="2280285" cy="1988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altLang="zh-CN" sz="1200" b="1" dirty="0">
              <a:latin typeface="+mn-ea"/>
              <a:cs typeface="Microsoft YaHei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711797" y="4983033"/>
            <a:ext cx="1140143" cy="177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↑ 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输出</a:t>
            </a:r>
            <a:endParaRPr lang="en-US" sz="1200" dirty="0">
              <a:latin typeface="+mn-ea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B0D215A-3764-1B17-D50E-D0E721AA1F69}"/>
              </a:ext>
            </a:extLst>
          </p:cNvPr>
          <p:cNvSpPr txBox="1"/>
          <p:nvPr/>
        </p:nvSpPr>
        <p:spPr>
          <a:xfrm>
            <a:off x="806912" y="802774"/>
            <a:ext cx="66835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i="0" dirty="0">
                <a:effectLst/>
                <a:latin typeface="+mn-ea"/>
              </a:rPr>
              <a:t>C</a:t>
            </a:r>
            <a:r>
              <a:rPr lang="zh-CN" altLang="en-US" sz="1200" b="1" i="0" dirty="0">
                <a:effectLst/>
                <a:latin typeface="+mn-ea"/>
              </a:rPr>
              <a:t>端占心智 </a:t>
            </a:r>
            <a:r>
              <a:rPr lang="en-US" altLang="zh-CN" sz="1200" b="1" i="0" dirty="0">
                <a:effectLst/>
                <a:latin typeface="+mn-ea"/>
              </a:rPr>
              <a:t>× B</a:t>
            </a:r>
            <a:r>
              <a:rPr lang="zh-CN" altLang="en-US" sz="1200" b="1" i="0" dirty="0">
                <a:effectLst/>
                <a:latin typeface="+mn-ea"/>
              </a:rPr>
              <a:t>端促</a:t>
            </a:r>
            <a:r>
              <a:rPr lang="zh-CN" altLang="en-US" sz="1200" b="1" dirty="0">
                <a:latin typeface="+mn-ea"/>
              </a:rPr>
              <a:t>品质</a:t>
            </a:r>
            <a:r>
              <a:rPr lang="zh-CN" altLang="en-US" sz="1200" b="1" i="0" dirty="0">
                <a:effectLst/>
                <a:latin typeface="+mn-ea"/>
              </a:rPr>
              <a:t> </a:t>
            </a:r>
            <a:r>
              <a:rPr lang="en-US" altLang="zh-CN" sz="1200" b="1" i="0" dirty="0">
                <a:effectLst/>
                <a:latin typeface="+mn-ea"/>
              </a:rPr>
              <a:t>× </a:t>
            </a:r>
            <a:r>
              <a:rPr lang="zh-CN" altLang="en-US" sz="1200" b="1" i="0" dirty="0">
                <a:effectLst/>
                <a:latin typeface="+mn-ea"/>
              </a:rPr>
              <a:t>平台筑壁垒</a:t>
            </a:r>
            <a:r>
              <a:rPr lang="zh-CN" altLang="en-US" sz="1200" b="0" i="0" dirty="0">
                <a:effectLst/>
                <a:latin typeface="+mn-ea"/>
              </a:rPr>
              <a:t> </a:t>
            </a:r>
            <a:endParaRPr lang="zh-CN" altLang="en-US" sz="1200" dirty="0">
              <a:latin typeface="+mn-ea"/>
            </a:endParaRPr>
          </a:p>
        </p:txBody>
      </p:sp>
      <p:sp>
        <p:nvSpPr>
          <p:cNvPr id="4" name="Text 15"/>
          <p:cNvSpPr/>
          <p:nvPr/>
        </p:nvSpPr>
        <p:spPr>
          <a:xfrm>
            <a:off x="3338520" y="1082916"/>
            <a:ext cx="2466000" cy="823269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200" b="1" dirty="0" err="1">
                <a:latin typeface="+mn-ea"/>
                <a:cs typeface="Microsoft YaHei" pitchFamily="34" charset="-120"/>
              </a:rPr>
              <a:t>B端：商户长效经营牵引</a:t>
            </a:r>
            <a:endParaRPr lang="en-US" sz="1200" b="1" dirty="0">
              <a:latin typeface="+mn-ea"/>
              <a:cs typeface="Microsoft YaHei" pitchFamily="34" charset="-120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  <a:cs typeface="Microsoft YaHei" pitchFamily="34" charset="-120"/>
              </a:rPr>
              <a:t>长效经营攒资产，沉淀信任正循环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6" name="Text 11"/>
          <p:cNvSpPr/>
          <p:nvPr/>
        </p:nvSpPr>
        <p:spPr>
          <a:xfrm>
            <a:off x="759190" y="1083449"/>
            <a:ext cx="2466000" cy="807504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200" b="1" dirty="0" err="1">
                <a:latin typeface="+mn-ea"/>
                <a:cs typeface="Microsoft YaHei" pitchFamily="34" charset="-120"/>
              </a:rPr>
              <a:t>C端：用户选店选品决策</a:t>
            </a:r>
            <a:endParaRPr lang="en-US" sz="1200" b="1" dirty="0">
              <a:latin typeface="+mn-ea"/>
              <a:cs typeface="Microsoft YaHei" pitchFamily="34" charset="-120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  <a:cs typeface="Microsoft YaHei" pitchFamily="34" charset="-120"/>
              </a:rPr>
              <a:t>用户因信任而来，而转化</a:t>
            </a:r>
            <a:endParaRPr lang="en-US" altLang="zh-CN" sz="1200" b="1" dirty="0">
              <a:solidFill>
                <a:schemeClr val="bg1">
                  <a:lumMod val="50000"/>
                </a:schemeClr>
              </a:solidFill>
              <a:latin typeface="+mn-ea"/>
              <a:cs typeface="Microsoft YaHei" pitchFamily="34" charset="-120"/>
            </a:endParaRPr>
          </a:p>
        </p:txBody>
      </p:sp>
      <p:sp>
        <p:nvSpPr>
          <p:cNvPr id="7" name="Text 19"/>
          <p:cNvSpPr/>
          <p:nvPr/>
        </p:nvSpPr>
        <p:spPr>
          <a:xfrm>
            <a:off x="5917850" y="1082917"/>
            <a:ext cx="2466000" cy="82326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200" b="1" dirty="0" err="1">
                <a:latin typeface="+mn-ea"/>
                <a:cs typeface="Microsoft YaHei" pitchFamily="34" charset="-120"/>
              </a:rPr>
              <a:t>平台</a:t>
            </a:r>
            <a:r>
              <a:rPr lang="en-US" sz="1200" b="1" dirty="0">
                <a:latin typeface="+mn-ea"/>
                <a:cs typeface="Microsoft YaHei" pitchFamily="34" charset="-120"/>
              </a:rPr>
              <a:t>：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差异化竞争力</a:t>
            </a:r>
            <a:endParaRPr lang="en-US" sz="1200" b="1" dirty="0">
              <a:latin typeface="+mn-ea"/>
              <a:cs typeface="Microsoft YaHei" pitchFamily="34" charset="-120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高价值用户及优质商户生态</a:t>
            </a:r>
            <a:endParaRPr lang="en-US" altLang="zh-CN" sz="1200" b="1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89A62740-7819-6DB8-A118-B6E446CE1A50}"/>
              </a:ext>
            </a:extLst>
          </p:cNvPr>
          <p:cNvSpPr/>
          <p:nvPr/>
        </p:nvSpPr>
        <p:spPr>
          <a:xfrm>
            <a:off x="1668372" y="2939912"/>
            <a:ext cx="886840" cy="90201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用户决策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C484439-03E8-79FA-47D3-BC0F3AC06C12}"/>
              </a:ext>
            </a:extLst>
          </p:cNvPr>
          <p:cNvSpPr txBox="1"/>
          <p:nvPr/>
        </p:nvSpPr>
        <p:spPr>
          <a:xfrm>
            <a:off x="2769934" y="3162051"/>
            <a:ext cx="12285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更多用户行为资产沉淀</a:t>
            </a:r>
            <a:endParaRPr lang="en-US" altLang="zh-CN" sz="1200" dirty="0">
              <a:latin typeface="+mn-ea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B2B8402-BC49-0CBD-0FD2-B9ECA22392F4}"/>
              </a:ext>
            </a:extLst>
          </p:cNvPr>
          <p:cNvSpPr txBox="1"/>
          <p:nvPr/>
        </p:nvSpPr>
        <p:spPr>
          <a:xfrm>
            <a:off x="1440629" y="2243421"/>
            <a:ext cx="12285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更多用户</a:t>
            </a:r>
            <a:endParaRPr lang="en-US" altLang="zh-CN" sz="1200" dirty="0">
              <a:latin typeface="+mn-ea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B988FBE-0D8A-B5FB-4927-7655C6C23C27}"/>
              </a:ext>
            </a:extLst>
          </p:cNvPr>
          <p:cNvSpPr txBox="1"/>
          <p:nvPr/>
        </p:nvSpPr>
        <p:spPr>
          <a:xfrm>
            <a:off x="1427099" y="4333110"/>
            <a:ext cx="12285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更强信任壁垒</a:t>
            </a:r>
            <a:endParaRPr lang="en-US" altLang="zh-CN" sz="1200" dirty="0">
              <a:latin typeface="+mn-ea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B6FD191-0447-5214-2655-8E350AFA1F67}"/>
              </a:ext>
            </a:extLst>
          </p:cNvPr>
          <p:cNvSpPr txBox="1"/>
          <p:nvPr/>
        </p:nvSpPr>
        <p:spPr>
          <a:xfrm>
            <a:off x="224096" y="3254069"/>
            <a:ext cx="13510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更好的决策体验</a:t>
            </a:r>
          </a:p>
        </p:txBody>
      </p:sp>
      <p:sp>
        <p:nvSpPr>
          <p:cNvPr id="34" name="弧形 33">
            <a:extLst>
              <a:ext uri="{FF2B5EF4-FFF2-40B4-BE49-F238E27FC236}">
                <a16:creationId xmlns:a16="http://schemas.microsoft.com/office/drawing/2014/main" id="{4C754BEB-F055-4B22-8324-5B760BADE92A}"/>
              </a:ext>
            </a:extLst>
          </p:cNvPr>
          <p:cNvSpPr/>
          <p:nvPr/>
        </p:nvSpPr>
        <p:spPr>
          <a:xfrm>
            <a:off x="1918836" y="2371874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36" name="弧形 35">
            <a:extLst>
              <a:ext uri="{FF2B5EF4-FFF2-40B4-BE49-F238E27FC236}">
                <a16:creationId xmlns:a16="http://schemas.microsoft.com/office/drawing/2014/main" id="{6D4F55BF-AE7C-5039-34F9-19FEB3E11B88}"/>
              </a:ext>
            </a:extLst>
          </p:cNvPr>
          <p:cNvSpPr/>
          <p:nvPr/>
        </p:nvSpPr>
        <p:spPr>
          <a:xfrm rot="5400000">
            <a:off x="2045518" y="3157320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37" name="弧形 36">
            <a:extLst>
              <a:ext uri="{FF2B5EF4-FFF2-40B4-BE49-F238E27FC236}">
                <a16:creationId xmlns:a16="http://schemas.microsoft.com/office/drawing/2014/main" id="{52E9912B-B4F9-2895-D17C-5FC658F56764}"/>
              </a:ext>
            </a:extLst>
          </p:cNvPr>
          <p:cNvSpPr/>
          <p:nvPr/>
        </p:nvSpPr>
        <p:spPr>
          <a:xfrm rot="10800000">
            <a:off x="842616" y="3177493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38" name="弧形 37">
            <a:extLst>
              <a:ext uri="{FF2B5EF4-FFF2-40B4-BE49-F238E27FC236}">
                <a16:creationId xmlns:a16="http://schemas.microsoft.com/office/drawing/2014/main" id="{DDCC8238-B56E-55A2-40B9-C6B4C96BF338}"/>
              </a:ext>
            </a:extLst>
          </p:cNvPr>
          <p:cNvSpPr/>
          <p:nvPr/>
        </p:nvSpPr>
        <p:spPr>
          <a:xfrm rot="16200000">
            <a:off x="754587" y="2505560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9C8EC8F-3C2D-34C3-763C-BA0EB4ACC68B}"/>
              </a:ext>
            </a:extLst>
          </p:cNvPr>
          <p:cNvSpPr txBox="1"/>
          <p:nvPr/>
        </p:nvSpPr>
        <p:spPr>
          <a:xfrm>
            <a:off x="4683125" y="3159710"/>
            <a:ext cx="12285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商家积累更多资产</a:t>
            </a:r>
          </a:p>
        </p:txBody>
      </p:sp>
      <p:sp>
        <p:nvSpPr>
          <p:cNvPr id="40" name="箭头: 右 39">
            <a:extLst>
              <a:ext uri="{FF2B5EF4-FFF2-40B4-BE49-F238E27FC236}">
                <a16:creationId xmlns:a16="http://schemas.microsoft.com/office/drawing/2014/main" id="{86232731-405E-AA88-1A9A-6AF57221565B}"/>
              </a:ext>
            </a:extLst>
          </p:cNvPr>
          <p:cNvSpPr/>
          <p:nvPr/>
        </p:nvSpPr>
        <p:spPr>
          <a:xfrm>
            <a:off x="4051533" y="3246675"/>
            <a:ext cx="662861" cy="25136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A966339F-2020-09AF-6658-DA375BACAED1}"/>
              </a:ext>
            </a:extLst>
          </p:cNvPr>
          <p:cNvSpPr txBox="1"/>
          <p:nvPr/>
        </p:nvSpPr>
        <p:spPr>
          <a:xfrm>
            <a:off x="3914600" y="3017876"/>
            <a:ext cx="9285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真实产生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0292F71-0E56-9B34-6137-74C52C6280CB}"/>
              </a:ext>
            </a:extLst>
          </p:cNvPr>
          <p:cNvSpPr txBox="1"/>
          <p:nvPr/>
        </p:nvSpPr>
        <p:spPr>
          <a:xfrm>
            <a:off x="6051295" y="4253192"/>
            <a:ext cx="12285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更优质商户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62B163D-EA05-8BE6-E0FB-C97BB76180BA}"/>
              </a:ext>
            </a:extLst>
          </p:cNvPr>
          <p:cNvSpPr txBox="1"/>
          <p:nvPr/>
        </p:nvSpPr>
        <p:spPr>
          <a:xfrm>
            <a:off x="6051010" y="2237732"/>
            <a:ext cx="12285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更多资产获得更多信任流量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0772151B-F445-98D6-4BF8-ECF3D2957006}"/>
              </a:ext>
            </a:extLst>
          </p:cNvPr>
          <p:cNvSpPr txBox="1"/>
          <p:nvPr/>
        </p:nvSpPr>
        <p:spPr>
          <a:xfrm>
            <a:off x="7206553" y="3093199"/>
            <a:ext cx="128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更强改善经营的动力与合作意愿</a:t>
            </a:r>
          </a:p>
        </p:txBody>
      </p:sp>
      <p:sp>
        <p:nvSpPr>
          <p:cNvPr id="111" name="弧形 110">
            <a:extLst>
              <a:ext uri="{FF2B5EF4-FFF2-40B4-BE49-F238E27FC236}">
                <a16:creationId xmlns:a16="http://schemas.microsoft.com/office/drawing/2014/main" id="{5D1BD973-12FC-862D-0FB7-9B53B98F852D}"/>
              </a:ext>
            </a:extLst>
          </p:cNvPr>
          <p:cNvSpPr/>
          <p:nvPr/>
        </p:nvSpPr>
        <p:spPr>
          <a:xfrm rot="21160491">
            <a:off x="-1960542" y="2304719"/>
            <a:ext cx="9308171" cy="2686267"/>
          </a:xfrm>
          <a:prstGeom prst="arc">
            <a:avLst>
              <a:gd name="adj1" fmla="val 17089764"/>
              <a:gd name="adj2" fmla="val 20582677"/>
            </a:avLst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114" name="弧形 113">
            <a:extLst>
              <a:ext uri="{FF2B5EF4-FFF2-40B4-BE49-F238E27FC236}">
                <a16:creationId xmlns:a16="http://schemas.microsoft.com/office/drawing/2014/main" id="{7EEF91F7-3F27-0595-D92B-329074960E76}"/>
              </a:ext>
            </a:extLst>
          </p:cNvPr>
          <p:cNvSpPr/>
          <p:nvPr/>
        </p:nvSpPr>
        <p:spPr>
          <a:xfrm rot="16200000">
            <a:off x="5186094" y="2489638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115" name="弧形 114">
            <a:extLst>
              <a:ext uri="{FF2B5EF4-FFF2-40B4-BE49-F238E27FC236}">
                <a16:creationId xmlns:a16="http://schemas.microsoft.com/office/drawing/2014/main" id="{DB554CBA-BCFF-9CE5-E3BD-4D34E9F2478E}"/>
              </a:ext>
            </a:extLst>
          </p:cNvPr>
          <p:cNvSpPr/>
          <p:nvPr/>
        </p:nvSpPr>
        <p:spPr>
          <a:xfrm>
            <a:off x="6554839" y="2456635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116" name="弧形 115">
            <a:extLst>
              <a:ext uri="{FF2B5EF4-FFF2-40B4-BE49-F238E27FC236}">
                <a16:creationId xmlns:a16="http://schemas.microsoft.com/office/drawing/2014/main" id="{73AB4FD1-4942-D0F9-AD11-438D0BB76B95}"/>
              </a:ext>
            </a:extLst>
          </p:cNvPr>
          <p:cNvSpPr/>
          <p:nvPr/>
        </p:nvSpPr>
        <p:spPr>
          <a:xfrm rot="5400000">
            <a:off x="6630849" y="3057906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117" name="弧形 116">
            <a:extLst>
              <a:ext uri="{FF2B5EF4-FFF2-40B4-BE49-F238E27FC236}">
                <a16:creationId xmlns:a16="http://schemas.microsoft.com/office/drawing/2014/main" id="{ADBA8071-DCCC-39D7-C769-D791F9FC8E53}"/>
              </a:ext>
            </a:extLst>
          </p:cNvPr>
          <p:cNvSpPr/>
          <p:nvPr/>
        </p:nvSpPr>
        <p:spPr>
          <a:xfrm rot="10800000">
            <a:off x="5308868" y="3132880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122" name="椭圆 121">
            <a:extLst>
              <a:ext uri="{FF2B5EF4-FFF2-40B4-BE49-F238E27FC236}">
                <a16:creationId xmlns:a16="http://schemas.microsoft.com/office/drawing/2014/main" id="{AA23A51F-0C3D-18B0-10E0-332F27BC0A1E}"/>
              </a:ext>
            </a:extLst>
          </p:cNvPr>
          <p:cNvSpPr/>
          <p:nvPr/>
        </p:nvSpPr>
        <p:spPr>
          <a:xfrm>
            <a:off x="6199283" y="2902740"/>
            <a:ext cx="886840" cy="90201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商家经营</a:t>
            </a:r>
          </a:p>
        </p:txBody>
      </p:sp>
      <p:sp>
        <p:nvSpPr>
          <p:cNvPr id="123" name="弧形 122">
            <a:extLst>
              <a:ext uri="{FF2B5EF4-FFF2-40B4-BE49-F238E27FC236}">
                <a16:creationId xmlns:a16="http://schemas.microsoft.com/office/drawing/2014/main" id="{496D3895-36C6-3249-FA59-9A44C4088DEF}"/>
              </a:ext>
            </a:extLst>
          </p:cNvPr>
          <p:cNvSpPr/>
          <p:nvPr/>
        </p:nvSpPr>
        <p:spPr>
          <a:xfrm rot="10359915">
            <a:off x="1303764" y="1759770"/>
            <a:ext cx="9308171" cy="2686267"/>
          </a:xfrm>
          <a:prstGeom prst="arc">
            <a:avLst>
              <a:gd name="adj1" fmla="val 17089764"/>
              <a:gd name="adj2" fmla="val 20582677"/>
            </a:avLst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128" name="Text 105"/>
          <p:cNvSpPr/>
          <p:nvPr/>
        </p:nvSpPr>
        <p:spPr>
          <a:xfrm>
            <a:off x="5954078" y="8671827"/>
            <a:ext cx="1076801" cy="87410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菜</a:t>
            </a:r>
            <a:endParaRPr lang="en-US" sz="1200" dirty="0">
              <a:latin typeface="+mn-ea"/>
            </a:endParaRPr>
          </a:p>
          <a:p>
            <a:pPr algn="ctr"/>
            <a:r>
              <a:rPr lang="en-US" sz="1200" dirty="0">
                <a:latin typeface="+mn-ea"/>
                <a:cs typeface="Microsoft YaHei" pitchFamily="34" charset="-120"/>
              </a:rPr>
              <a:t> </a:t>
            </a:r>
            <a:endParaRPr lang="en-US" sz="1200" dirty="0">
              <a:latin typeface="+mn-ea"/>
            </a:endParaRPr>
          </a:p>
          <a:p>
            <a:pPr algn="ctr"/>
            <a:r>
              <a:rPr lang="zh-CN" altLang="en-US" sz="900" dirty="0">
                <a:latin typeface="+mn-ea"/>
                <a:cs typeface="Microsoft YaHei" pitchFamily="34" charset="-120"/>
              </a:rPr>
              <a:t>待</a:t>
            </a:r>
            <a:r>
              <a:rPr lang="en-US" sz="900" dirty="0" err="1">
                <a:latin typeface="+mn-ea"/>
                <a:cs typeface="Microsoft YaHei" pitchFamily="34" charset="-120"/>
              </a:rPr>
              <a:t>扩展方向</a:t>
            </a:r>
            <a:endParaRPr lang="en-US" sz="900" dirty="0">
              <a:latin typeface="+mn-ea"/>
            </a:endParaRPr>
          </a:p>
          <a:p>
            <a:pPr algn="ctr"/>
            <a:r>
              <a:rPr lang="en-US" sz="900" dirty="0">
                <a:latin typeface="+mn-ea"/>
                <a:cs typeface="Microsoft YaHei" pitchFamily="34" charset="-120"/>
              </a:rPr>
              <a:t>「先选品，后到店」</a:t>
            </a:r>
            <a:endParaRPr lang="en-US" sz="900" dirty="0">
              <a:latin typeface="+mn-ea"/>
            </a:endParaRPr>
          </a:p>
        </p:txBody>
      </p:sp>
      <p:sp>
        <p:nvSpPr>
          <p:cNvPr id="156" name="Shape 46">
            <a:extLst>
              <a:ext uri="{FF2B5EF4-FFF2-40B4-BE49-F238E27FC236}">
                <a16:creationId xmlns:a16="http://schemas.microsoft.com/office/drawing/2014/main" id="{B9908C9A-22D1-B3E5-2FB8-7962E0D0F558}"/>
              </a:ext>
            </a:extLst>
          </p:cNvPr>
          <p:cNvSpPr/>
          <p:nvPr/>
        </p:nvSpPr>
        <p:spPr>
          <a:xfrm>
            <a:off x="295094" y="6346756"/>
            <a:ext cx="354711" cy="766920"/>
          </a:xfrm>
          <a:prstGeom prst="roundRect">
            <a:avLst>
              <a:gd name="adj" fmla="val 9843"/>
            </a:avLst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表达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87" name="Shape 46">
            <a:extLst>
              <a:ext uri="{FF2B5EF4-FFF2-40B4-BE49-F238E27FC236}">
                <a16:creationId xmlns:a16="http://schemas.microsoft.com/office/drawing/2014/main" id="{2C49E12B-B887-9FD0-90D1-699DA5F47927}"/>
              </a:ext>
            </a:extLst>
          </p:cNvPr>
          <p:cNvSpPr/>
          <p:nvPr/>
        </p:nvSpPr>
        <p:spPr>
          <a:xfrm>
            <a:off x="806912" y="6346755"/>
            <a:ext cx="1792376" cy="780569"/>
          </a:xfrm>
          <a:prstGeom prst="roundRect">
            <a:avLst>
              <a:gd name="adj" fmla="val 9843"/>
            </a:avLst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  <a:cs typeface="Microsoft YaHei" pitchFamily="34" charset="-120"/>
              </a:rPr>
              <a:t>用户动线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88" name="Shape 46">
            <a:extLst>
              <a:ext uri="{FF2B5EF4-FFF2-40B4-BE49-F238E27FC236}">
                <a16:creationId xmlns:a16="http://schemas.microsoft.com/office/drawing/2014/main" id="{A481A4EB-90D9-CDE7-466B-6D6C76413D13}"/>
              </a:ext>
            </a:extLst>
          </p:cNvPr>
          <p:cNvSpPr/>
          <p:nvPr/>
        </p:nvSpPr>
        <p:spPr>
          <a:xfrm>
            <a:off x="2739828" y="6346755"/>
            <a:ext cx="1792376" cy="780569"/>
          </a:xfrm>
          <a:prstGeom prst="roundRect">
            <a:avLst>
              <a:gd name="adj" fmla="val 9843"/>
            </a:avLst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</a:rPr>
              <a:t>活动</a:t>
            </a:r>
            <a:r>
              <a:rPr lang="en-US" altLang="zh-CN" sz="1200" b="1" dirty="0">
                <a:latin typeface="+mn-ea"/>
              </a:rPr>
              <a:t>/</a:t>
            </a:r>
            <a:r>
              <a:rPr lang="zh-CN" altLang="en-US" sz="1200" b="1" dirty="0">
                <a:latin typeface="+mn-ea"/>
              </a:rPr>
              <a:t>营销场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89" name="Shape 46">
            <a:extLst>
              <a:ext uri="{FF2B5EF4-FFF2-40B4-BE49-F238E27FC236}">
                <a16:creationId xmlns:a16="http://schemas.microsoft.com/office/drawing/2014/main" id="{C78AE707-AB2F-1431-029C-8D925395139E}"/>
              </a:ext>
            </a:extLst>
          </p:cNvPr>
          <p:cNvSpPr/>
          <p:nvPr/>
        </p:nvSpPr>
        <p:spPr>
          <a:xfrm>
            <a:off x="4691575" y="6335015"/>
            <a:ext cx="1792376" cy="780569"/>
          </a:xfrm>
          <a:prstGeom prst="roundRect">
            <a:avLst>
              <a:gd name="adj" fmla="val 9843"/>
            </a:avLst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</a:rPr>
              <a:t>商家服务教育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190" name="Shape 46">
            <a:extLst>
              <a:ext uri="{FF2B5EF4-FFF2-40B4-BE49-F238E27FC236}">
                <a16:creationId xmlns:a16="http://schemas.microsoft.com/office/drawing/2014/main" id="{3F7ECDB6-C924-3C5A-E5A0-96E00F8779A3}"/>
              </a:ext>
            </a:extLst>
          </p:cNvPr>
          <p:cNvSpPr/>
          <p:nvPr/>
        </p:nvSpPr>
        <p:spPr>
          <a:xfrm>
            <a:off x="6620907" y="6345096"/>
            <a:ext cx="1792376" cy="780569"/>
          </a:xfrm>
          <a:prstGeom prst="roundRect">
            <a:avLst>
              <a:gd name="adj" fmla="val 9843"/>
            </a:avLst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</a:rPr>
              <a:t>物料</a:t>
            </a:r>
            <a:r>
              <a:rPr lang="en-US" altLang="zh-CN" sz="1200" b="1" dirty="0">
                <a:latin typeface="+mn-ea"/>
              </a:rPr>
              <a:t>/</a:t>
            </a:r>
            <a:r>
              <a:rPr lang="zh-CN" altLang="en-US" sz="1200" b="1" dirty="0">
                <a:latin typeface="+mn-ea"/>
              </a:rPr>
              <a:t>荣誉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191" name="Shape 61">
            <a:extLst>
              <a:ext uri="{FF2B5EF4-FFF2-40B4-BE49-F238E27FC236}">
                <a16:creationId xmlns:a16="http://schemas.microsoft.com/office/drawing/2014/main" id="{1BF6A0E9-511D-134F-9490-C61765BD3FB1}"/>
              </a:ext>
            </a:extLst>
          </p:cNvPr>
          <p:cNvSpPr/>
          <p:nvPr/>
        </p:nvSpPr>
        <p:spPr>
          <a:xfrm>
            <a:off x="8968937" y="5310413"/>
            <a:ext cx="1800000" cy="82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</a:rPr>
              <a:t>智能掌柜</a:t>
            </a:r>
            <a:endParaRPr lang="en-US" altLang="zh-CN" sz="1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28294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6">
            <a:extLst>
              <a:ext uri="{FF2B5EF4-FFF2-40B4-BE49-F238E27FC236}">
                <a16:creationId xmlns:a16="http://schemas.microsoft.com/office/drawing/2014/main" id="{1B87045B-2CBE-1A2D-B479-DF39BC9E17EE}"/>
              </a:ext>
            </a:extLst>
          </p:cNvPr>
          <p:cNvSpPr/>
          <p:nvPr/>
        </p:nvSpPr>
        <p:spPr>
          <a:xfrm>
            <a:off x="253365" y="2044368"/>
            <a:ext cx="8234363" cy="2921063"/>
          </a:xfrm>
          <a:prstGeom prst="roundRect">
            <a:avLst>
              <a:gd name="adj" fmla="val 2221"/>
            </a:avLst>
          </a:prstGeom>
          <a:noFill/>
          <a:ln w="6350">
            <a:solidFill>
              <a:schemeClr val="bg1">
                <a:lumMod val="50000"/>
              </a:schemeClr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9" name="Shape 26">
            <a:extLst>
              <a:ext uri="{FF2B5EF4-FFF2-40B4-BE49-F238E27FC236}">
                <a16:creationId xmlns:a16="http://schemas.microsoft.com/office/drawing/2014/main" id="{F399989F-46AA-3E6A-FC11-7BE566B2FFFB}"/>
              </a:ext>
            </a:extLst>
          </p:cNvPr>
          <p:cNvSpPr/>
          <p:nvPr/>
        </p:nvSpPr>
        <p:spPr>
          <a:xfrm>
            <a:off x="14702788" y="4810453"/>
            <a:ext cx="4845606" cy="1372172"/>
          </a:xfrm>
          <a:prstGeom prst="roundRect">
            <a:avLst>
              <a:gd name="adj" fmla="val 5933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90CAF9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" name="Shape 0"/>
          <p:cNvSpPr/>
          <p:nvPr/>
        </p:nvSpPr>
        <p:spPr>
          <a:xfrm>
            <a:off x="253365" y="126683"/>
            <a:ext cx="8234364" cy="354711"/>
          </a:xfrm>
          <a:prstGeom prst="roundRect">
            <a:avLst>
              <a:gd name="adj" fmla="val 15467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253365" y="126684"/>
            <a:ext cx="8234364" cy="62557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 err="1">
                <a:latin typeface="+mn-ea"/>
                <a:cs typeface="Microsoft YaHei" pitchFamily="34" charset="-120"/>
              </a:rPr>
              <a:t>到餐资产运营</a:t>
            </a:r>
            <a:endParaRPr lang="en-US" sz="1200" b="1" dirty="0">
              <a:latin typeface="+mn-ea"/>
              <a:cs typeface="Microsoft YaHei" pitchFamily="34" charset="-120"/>
            </a:endParaRPr>
          </a:p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强化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用户及商家</a:t>
            </a:r>
            <a:r>
              <a:rPr lang="en-US" altLang="zh-CN" sz="1200" b="1" dirty="0" err="1">
                <a:latin typeface="+mn-ea"/>
                <a:cs typeface="Microsoft YaHei" pitchFamily="34" charset="-120"/>
              </a:rPr>
              <a:t>长期积累的差异化数据资产，构建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基于资产的</a:t>
            </a:r>
            <a:r>
              <a:rPr lang="en-US" altLang="zh-CN" sz="1200" b="1" dirty="0" err="1">
                <a:latin typeface="+mn-ea"/>
                <a:cs typeface="Microsoft YaHei" pitchFamily="34" charset="-120"/>
              </a:rPr>
              <a:t>有壁垒的用户到店餐饮消费决策信任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服务</a:t>
            </a:r>
            <a:r>
              <a:rPr lang="en-US" altLang="zh-CN" sz="1200" b="1" dirty="0" err="1">
                <a:latin typeface="+mn-ea"/>
                <a:cs typeface="Microsoft YaHei" pitchFamily="34" charset="-120"/>
              </a:rPr>
              <a:t>体系</a:t>
            </a:r>
            <a:endParaRPr lang="en-US" altLang="zh-CN" sz="1200" dirty="0">
              <a:latin typeface="+mn-ea"/>
            </a:endParaRPr>
          </a:p>
          <a:p>
            <a:pPr algn="ctr"/>
            <a:r>
              <a:rPr lang="en-US" altLang="zh-CN" sz="1200" dirty="0" err="1">
                <a:latin typeface="+mn-ea"/>
              </a:rPr>
              <a:t>支持用户选店选品决策PMF</a:t>
            </a:r>
            <a:r>
              <a:rPr lang="en-US" altLang="zh-CN" sz="1200" dirty="0">
                <a:latin typeface="+mn-ea"/>
              </a:rPr>
              <a:t> </a:t>
            </a:r>
            <a:r>
              <a:rPr lang="zh-CN" altLang="en-US" sz="1200" dirty="0">
                <a:latin typeface="+mn-ea"/>
              </a:rPr>
              <a:t>，主要强化服务用户能力。</a:t>
            </a:r>
            <a:r>
              <a:rPr lang="en-US" altLang="zh-CN" sz="1200" dirty="0" err="1">
                <a:latin typeface="+mn-ea"/>
              </a:rPr>
              <a:t>兼助商户长效经营</a:t>
            </a:r>
            <a:r>
              <a:rPr lang="zh-CN" altLang="en-US" sz="1200" dirty="0">
                <a:latin typeface="+mn-ea"/>
              </a:rPr>
              <a:t>的流量、背书及牵引</a:t>
            </a:r>
            <a:r>
              <a:rPr lang="en-US" sz="1200" b="1" dirty="0">
                <a:latin typeface="+mn-ea"/>
                <a:cs typeface="Microsoft YaHei" pitchFamily="34" charset="-120"/>
              </a:rPr>
              <a:t> </a:t>
            </a:r>
            <a:endParaRPr lang="en-US" sz="1200" dirty="0">
              <a:latin typeface="+mn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253365" y="557403"/>
            <a:ext cx="8234364" cy="417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>
              <a:latin typeface="+mn-ea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53365" y="790261"/>
            <a:ext cx="8234363" cy="1162095"/>
          </a:xfrm>
          <a:prstGeom prst="roundRect">
            <a:avLst>
              <a:gd name="adj" fmla="val 2221"/>
            </a:avLst>
          </a:prstGeom>
          <a:solidFill>
            <a:schemeClr val="bg1">
              <a:lumMod val="95000"/>
            </a:schemeClr>
          </a:solidFill>
          <a:ln w="6350">
            <a:noFill/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5094" y="1074467"/>
            <a:ext cx="350766" cy="823269"/>
          </a:xfrm>
          <a:prstGeom prst="roundRect">
            <a:avLst>
              <a:gd name="adj" fmla="val 9843"/>
            </a:avLst>
          </a:prstGeom>
          <a:solidFill>
            <a:schemeClr val="bg1"/>
          </a:solidFill>
          <a:ln/>
        </p:spPr>
        <p:txBody>
          <a:bodyPr anchor="ctr"/>
          <a:lstStyle/>
          <a:p>
            <a:r>
              <a:rPr lang="zh-CN" altLang="en-US" sz="1200" b="1" dirty="0">
                <a:latin typeface="+mn-ea"/>
              </a:rPr>
              <a:t>资产价值</a:t>
            </a:r>
          </a:p>
        </p:txBody>
      </p:sp>
      <p:sp>
        <p:nvSpPr>
          <p:cNvPr id="47" name="Shape 45"/>
          <p:cNvSpPr/>
          <p:nvPr/>
        </p:nvSpPr>
        <p:spPr>
          <a:xfrm>
            <a:off x="240364" y="5242451"/>
            <a:ext cx="8234363" cy="950119"/>
          </a:xfrm>
          <a:prstGeom prst="roundRect">
            <a:avLst>
              <a:gd name="adj" fmla="val 5774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A5D6A7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91036" y="5297058"/>
            <a:ext cx="354711" cy="828000"/>
          </a:xfrm>
          <a:prstGeom prst="roundRect">
            <a:avLst>
              <a:gd name="adj" fmla="val 9843"/>
            </a:avLst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资产应用</a:t>
            </a:r>
            <a:endParaRPr lang="en-US" altLang="zh-CN" sz="1200" dirty="0">
              <a:latin typeface="+mn-ea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786287" y="5297058"/>
            <a:ext cx="1800000" cy="82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 anchor="ctr"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榜单矩阵</a:t>
            </a:r>
            <a:endParaRPr lang="en-US" altLang="zh-CN" sz="1200" dirty="0">
              <a:latin typeface="+mn-ea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645748" y="5337510"/>
            <a:ext cx="1773555" cy="228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>
              <a:latin typeface="+mn-ea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2726827" y="5297058"/>
            <a:ext cx="1800000" cy="82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</a:rPr>
              <a:t>个人合集</a:t>
            </a:r>
            <a:endParaRPr lang="zh-CN" alt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4667367" y="5297058"/>
            <a:ext cx="1800000" cy="82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  <a:cs typeface="Microsoft YaHei" pitchFamily="34" charset="-120"/>
              </a:rPr>
              <a:t>多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GC/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评价</a:t>
            </a:r>
            <a:endParaRPr lang="en-US" altLang="zh-CN" sz="1200" dirty="0">
              <a:latin typeface="+mn-ea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6607906" y="5297058"/>
            <a:ext cx="1800000" cy="82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 anchor="ctr"/>
          <a:lstStyle/>
          <a:p>
            <a:pPr algn="ctr"/>
            <a:r>
              <a:rPr lang="zh-CN" altLang="en-US" sz="1200" b="1" dirty="0">
                <a:latin typeface="+mn-ea"/>
                <a:cs typeface="Microsoft YaHei" pitchFamily="34" charset="-120"/>
              </a:rPr>
              <a:t>星级</a:t>
            </a:r>
            <a:endParaRPr lang="en-US" altLang="zh-CN" sz="1200" dirty="0">
              <a:latin typeface="+mn-ea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240363" y="6281247"/>
            <a:ext cx="8234363" cy="1013460"/>
          </a:xfrm>
          <a:prstGeom prst="roundRect">
            <a:avLst>
              <a:gd name="adj" fmla="val 5774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FFCC8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7" name="Shape 65"/>
          <p:cNvSpPr/>
          <p:nvPr/>
        </p:nvSpPr>
        <p:spPr>
          <a:xfrm>
            <a:off x="291036" y="6357257"/>
            <a:ext cx="354711" cy="874109"/>
          </a:xfrm>
          <a:prstGeom prst="roundRect">
            <a:avLst>
              <a:gd name="adj" fmla="val 9843"/>
            </a:avLst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资产计算</a:t>
            </a:r>
            <a:endParaRPr lang="en-US" altLang="zh-CN" sz="1200" dirty="0">
              <a:latin typeface="+mn-ea"/>
            </a:endParaRPr>
          </a:p>
          <a:p>
            <a:endParaRPr lang="zh-CN" altLang="en-US" sz="1200" dirty="0">
              <a:latin typeface="+mn-ea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786287" y="6357257"/>
            <a:ext cx="1800000" cy="8741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规则计算</a:t>
            </a:r>
            <a:endParaRPr lang="en-US" sz="1200" dirty="0">
              <a:latin typeface="+mn-ea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2726827" y="6357257"/>
            <a:ext cx="1800000" cy="8741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 err="1">
                <a:latin typeface="+mn-ea"/>
                <a:cs typeface="Microsoft YaHei" pitchFamily="34" charset="-120"/>
              </a:rPr>
              <a:t>结构化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及</a:t>
            </a:r>
            <a:r>
              <a:rPr lang="en-US" sz="1200" b="1" dirty="0" err="1">
                <a:latin typeface="+mn-ea"/>
                <a:cs typeface="Microsoft YaHei" pitchFamily="34" charset="-120"/>
              </a:rPr>
              <a:t>质量定义</a:t>
            </a:r>
            <a:endParaRPr lang="en-US" sz="1200" dirty="0">
              <a:latin typeface="+mn-ea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2520650" y="6648626"/>
            <a:ext cx="1583531" cy="494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200" dirty="0">
              <a:latin typeface="+mn-ea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4667367" y="6357257"/>
            <a:ext cx="1800000" cy="8741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anchor="ctr"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AI挖掘</a:t>
            </a:r>
            <a:endParaRPr lang="en-US" altLang="zh-CN" sz="1200" dirty="0">
              <a:latin typeface="+mn-ea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4268868" y="6395261"/>
            <a:ext cx="1710214" cy="228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>
              <a:latin typeface="+mn-ea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4332209" y="6648626"/>
            <a:ext cx="1646873" cy="494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200" dirty="0">
              <a:latin typeface="+mn-ea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6607906" y="6357257"/>
            <a:ext cx="1800000" cy="8741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公信力治理</a:t>
            </a:r>
            <a:endParaRPr lang="en-US" sz="1200" dirty="0">
              <a:latin typeface="+mn-ea"/>
            </a:endParaRPr>
          </a:p>
        </p:txBody>
      </p:sp>
      <p:sp>
        <p:nvSpPr>
          <p:cNvPr id="84" name="Text 82"/>
          <p:cNvSpPr/>
          <p:nvPr/>
        </p:nvSpPr>
        <p:spPr>
          <a:xfrm>
            <a:off x="6143769" y="6648626"/>
            <a:ext cx="2178939" cy="494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200" dirty="0">
              <a:latin typeface="+mn-ea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240363" y="7396053"/>
            <a:ext cx="8234363" cy="1393508"/>
          </a:xfrm>
          <a:prstGeom prst="roundRect">
            <a:avLst>
              <a:gd name="adj" fmla="val 3937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BCAAA4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291036" y="7434058"/>
            <a:ext cx="354711" cy="1317498"/>
          </a:xfrm>
          <a:prstGeom prst="roundRect">
            <a:avLst>
              <a:gd name="adj" fmla="val 9843"/>
            </a:avLst>
          </a:prstGeom>
          <a:solidFill>
            <a:schemeClr val="bg1">
              <a:lumMod val="85000"/>
            </a:schemeClr>
          </a:solidFill>
          <a:ln/>
        </p:spPr>
        <p:txBody>
          <a:bodyPr anchor="ctr"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资产数据</a:t>
            </a:r>
            <a:endParaRPr lang="en-US" altLang="zh-CN" sz="1200" dirty="0">
              <a:latin typeface="+mn-ea"/>
            </a:endParaRPr>
          </a:p>
        </p:txBody>
      </p:sp>
      <p:sp>
        <p:nvSpPr>
          <p:cNvPr id="88" name="Shape 86"/>
          <p:cNvSpPr/>
          <p:nvPr/>
        </p:nvSpPr>
        <p:spPr>
          <a:xfrm>
            <a:off x="737188" y="7472063"/>
            <a:ext cx="3887343" cy="1216152"/>
          </a:xfrm>
          <a:prstGeom prst="roundRect">
            <a:avLst>
              <a:gd name="adj" fmla="val 3383"/>
            </a:avLst>
          </a:prstGeom>
          <a:solidFill>
            <a:srgbClr val="FFFFFF"/>
          </a:solidFill>
          <a:ln w="6350">
            <a:solidFill>
              <a:srgbClr val="A1887F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9" name="Text 87"/>
          <p:cNvSpPr/>
          <p:nvPr/>
        </p:nvSpPr>
        <p:spPr>
          <a:xfrm>
            <a:off x="721948" y="7472063"/>
            <a:ext cx="3800475" cy="202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 err="1">
                <a:latin typeface="+mn-ea"/>
                <a:cs typeface="Microsoft YaHei" pitchFamily="34" charset="-120"/>
              </a:rPr>
              <a:t>维度</a:t>
            </a:r>
            <a:endParaRPr lang="en-US" sz="1200" dirty="0">
              <a:latin typeface="+mn-ea"/>
            </a:endParaRPr>
          </a:p>
        </p:txBody>
      </p:sp>
      <p:sp>
        <p:nvSpPr>
          <p:cNvPr id="90" name="Shape 88"/>
          <p:cNvSpPr/>
          <p:nvPr/>
        </p:nvSpPr>
        <p:spPr>
          <a:xfrm>
            <a:off x="768095" y="7712760"/>
            <a:ext cx="633413" cy="329375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交易</a:t>
            </a:r>
            <a:endParaRPr lang="en-US" altLang="zh-CN" sz="1200" dirty="0">
              <a:latin typeface="+mn-ea"/>
            </a:endParaRPr>
          </a:p>
        </p:txBody>
      </p:sp>
      <p:sp>
        <p:nvSpPr>
          <p:cNvPr id="92" name="Shape 90"/>
          <p:cNvSpPr/>
          <p:nvPr/>
        </p:nvSpPr>
        <p:spPr>
          <a:xfrm>
            <a:off x="1454944" y="7712760"/>
            <a:ext cx="633413" cy="329375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评价</a:t>
            </a:r>
            <a:endParaRPr lang="en-US" altLang="zh-CN" sz="1200" dirty="0">
              <a:latin typeface="+mn-ea"/>
            </a:endParaRPr>
          </a:p>
          <a:p>
            <a:pPr algn="ctr"/>
            <a:endParaRPr lang="zh-CN" altLang="en-US" sz="1200" dirty="0"/>
          </a:p>
        </p:txBody>
      </p:sp>
      <p:sp>
        <p:nvSpPr>
          <p:cNvPr id="94" name="Shape 92"/>
          <p:cNvSpPr/>
          <p:nvPr/>
        </p:nvSpPr>
        <p:spPr>
          <a:xfrm>
            <a:off x="2141793" y="7712760"/>
            <a:ext cx="948737" cy="329375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收藏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/</a:t>
            </a:r>
            <a:r>
              <a:rPr lang="en-US" altLang="zh-CN" sz="1200" b="1" dirty="0" err="1">
                <a:latin typeface="+mn-ea"/>
                <a:cs typeface="Microsoft YaHei" pitchFamily="34" charset="-120"/>
              </a:rPr>
              <a:t>打卡</a:t>
            </a:r>
            <a:endParaRPr lang="en-US" altLang="zh-CN" sz="1200" dirty="0">
              <a:latin typeface="+mn-ea"/>
            </a:endParaRPr>
          </a:p>
          <a:p>
            <a:pPr algn="ctr"/>
            <a:endParaRPr lang="zh-CN" alt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3143966" y="7712760"/>
            <a:ext cx="633413" cy="329375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履约</a:t>
            </a:r>
            <a:endParaRPr lang="en-US" altLang="zh-CN" sz="1200" dirty="0">
              <a:latin typeface="+mn-ea"/>
            </a:endParaRPr>
          </a:p>
        </p:txBody>
      </p:sp>
      <p:sp>
        <p:nvSpPr>
          <p:cNvPr id="98" name="Shape 96"/>
          <p:cNvSpPr/>
          <p:nvPr/>
        </p:nvSpPr>
        <p:spPr>
          <a:xfrm>
            <a:off x="3830813" y="7712760"/>
            <a:ext cx="760095" cy="325688"/>
          </a:xfrm>
          <a:prstGeom prst="roundRect">
            <a:avLst>
              <a:gd name="adj" fmla="val 832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GC信息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00" name="Shape 98"/>
          <p:cNvSpPr/>
          <p:nvPr/>
        </p:nvSpPr>
        <p:spPr>
          <a:xfrm>
            <a:off x="895222" y="8114458"/>
            <a:ext cx="3597783" cy="468725"/>
          </a:xfrm>
          <a:prstGeom prst="roundRect">
            <a:avLst>
              <a:gd name="adj" fmla="val 5852"/>
            </a:avLst>
          </a:prstGeom>
          <a:solidFill>
            <a:schemeClr val="bg1">
              <a:lumMod val="95000"/>
            </a:schemeClr>
          </a:solidFill>
          <a:ln w="381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差异化壁垒来源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：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长期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多维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真实</a:t>
            </a:r>
            <a:endParaRPr lang="en-US" altLang="zh-CN" sz="1200" b="1" dirty="0">
              <a:latin typeface="+mn-ea"/>
              <a:cs typeface="Microsoft YaHei" pitchFamily="34" charset="-120"/>
            </a:endParaRPr>
          </a:p>
          <a:p>
            <a:pPr algn="ctr"/>
            <a:r>
              <a:rPr lang="zh-CN" altLang="en-US" sz="1200" dirty="0">
                <a:latin typeface="+mn-ea"/>
                <a:cs typeface="Microsoft YaHei" pitchFamily="34" charset="-120"/>
              </a:rPr>
              <a:t>竞品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无法复制底层数据资产的厚度和真实性</a:t>
            </a:r>
            <a:endParaRPr lang="en-US" altLang="zh-CN" sz="1200" dirty="0">
              <a:latin typeface="+mn-ea"/>
            </a:endParaRPr>
          </a:p>
          <a:p>
            <a:endParaRPr lang="zh-CN" altLang="en-US" sz="1200" dirty="0"/>
          </a:p>
        </p:txBody>
      </p:sp>
      <p:sp>
        <p:nvSpPr>
          <p:cNvPr id="102" name="Shape 100"/>
          <p:cNvSpPr/>
          <p:nvPr/>
        </p:nvSpPr>
        <p:spPr>
          <a:xfrm>
            <a:off x="4667367" y="7472063"/>
            <a:ext cx="3718682" cy="1216152"/>
          </a:xfrm>
          <a:prstGeom prst="roundRect">
            <a:avLst>
              <a:gd name="adj" fmla="val 3383"/>
            </a:avLst>
          </a:prstGeom>
          <a:solidFill>
            <a:srgbClr val="FFFFFF"/>
          </a:solidFill>
          <a:ln w="6350">
            <a:solidFill>
              <a:srgbClr val="A1887F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3" name="Text 101"/>
          <p:cNvSpPr/>
          <p:nvPr/>
        </p:nvSpPr>
        <p:spPr>
          <a:xfrm>
            <a:off x="4610910" y="7472063"/>
            <a:ext cx="3775139" cy="202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对象：物理世界的数字化映射</a:t>
            </a:r>
            <a:endParaRPr lang="en-US" sz="1200" dirty="0">
              <a:latin typeface="+mn-ea"/>
            </a:endParaRPr>
          </a:p>
        </p:txBody>
      </p:sp>
      <p:sp>
        <p:nvSpPr>
          <p:cNvPr id="104" name="Shape 102"/>
          <p:cNvSpPr/>
          <p:nvPr/>
        </p:nvSpPr>
        <p:spPr>
          <a:xfrm>
            <a:off x="4737593" y="7725428"/>
            <a:ext cx="1076801" cy="874109"/>
          </a:xfrm>
          <a:prstGeom prst="roundRect">
            <a:avLst>
              <a:gd name="adj" fmla="val 3138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05" name="Text 103"/>
          <p:cNvSpPr/>
          <p:nvPr/>
        </p:nvSpPr>
        <p:spPr>
          <a:xfrm>
            <a:off x="4737593" y="7725428"/>
            <a:ext cx="1076801" cy="8741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店</a:t>
            </a:r>
            <a:endParaRPr lang="en-US" sz="1200" dirty="0">
              <a:latin typeface="+mn-ea"/>
            </a:endParaRPr>
          </a:p>
          <a:p>
            <a:pPr algn="ctr"/>
            <a:r>
              <a:rPr lang="en-US" sz="1200" dirty="0">
                <a:latin typeface="+mn-ea"/>
                <a:cs typeface="Microsoft YaHei" pitchFamily="34" charset="-120"/>
              </a:rPr>
              <a:t> </a:t>
            </a:r>
            <a:endParaRPr lang="en-US" sz="1200" dirty="0">
              <a:latin typeface="+mn-ea"/>
            </a:endParaRPr>
          </a:p>
          <a:p>
            <a:pPr algn="ctr"/>
            <a:r>
              <a:rPr lang="en-US" sz="900" dirty="0" err="1">
                <a:latin typeface="+mn-ea"/>
                <a:cs typeface="Microsoft YaHei" pitchFamily="34" charset="-120"/>
              </a:rPr>
              <a:t>当前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重点</a:t>
            </a:r>
            <a:endParaRPr lang="en-US" altLang="zh-CN" sz="900" dirty="0">
              <a:latin typeface="+mn-ea"/>
              <a:cs typeface="Microsoft YaHei" pitchFamily="34" charset="-120"/>
            </a:endParaRPr>
          </a:p>
          <a:p>
            <a:pPr algn="ctr"/>
            <a:r>
              <a:rPr lang="en-US" sz="900" dirty="0">
                <a:latin typeface="+mn-ea"/>
                <a:cs typeface="Microsoft YaHei" pitchFamily="34" charset="-120"/>
              </a:rPr>
              <a:t>「</a:t>
            </a:r>
            <a:r>
              <a:rPr lang="en-US" sz="900" dirty="0" err="1">
                <a:latin typeface="+mn-ea"/>
                <a:cs typeface="Microsoft YaHei" pitchFamily="34" charset="-120"/>
              </a:rPr>
              <a:t>找店决策」主阵地</a:t>
            </a:r>
            <a:endParaRPr lang="en-US" sz="900" dirty="0">
              <a:latin typeface="+mn-ea"/>
            </a:endParaRPr>
          </a:p>
        </p:txBody>
      </p:sp>
      <p:sp>
        <p:nvSpPr>
          <p:cNvPr id="108" name="Shape 106"/>
          <p:cNvSpPr/>
          <p:nvPr/>
        </p:nvSpPr>
        <p:spPr>
          <a:xfrm>
            <a:off x="7144561" y="7725428"/>
            <a:ext cx="1076801" cy="874109"/>
          </a:xfrm>
          <a:prstGeom prst="roundRect">
            <a:avLst>
              <a:gd name="adj" fmla="val 3138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09" name="Text 107"/>
          <p:cNvSpPr/>
          <p:nvPr/>
        </p:nvSpPr>
        <p:spPr>
          <a:xfrm>
            <a:off x="7144561" y="7725428"/>
            <a:ext cx="1076801" cy="8741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人</a:t>
            </a:r>
            <a:endParaRPr lang="en-US" sz="1200" dirty="0">
              <a:latin typeface="+mn-ea"/>
            </a:endParaRPr>
          </a:p>
          <a:p>
            <a:pPr algn="ctr"/>
            <a:endParaRPr lang="en-US" sz="1200" dirty="0">
              <a:latin typeface="+mn-ea"/>
              <a:cs typeface="Microsoft YaHei" pitchFamily="34" charset="-120"/>
            </a:endParaRPr>
          </a:p>
          <a:p>
            <a:pPr algn="ctr"/>
            <a:r>
              <a:rPr lang="zh-CN" altLang="en-US" sz="900" dirty="0">
                <a:latin typeface="+mn-ea"/>
                <a:cs typeface="Microsoft YaHei" pitchFamily="34" charset="-120"/>
              </a:rPr>
              <a:t>扩展方向</a:t>
            </a:r>
            <a:endParaRPr lang="en-US" altLang="zh-CN" sz="900" dirty="0">
              <a:latin typeface="+mn-ea"/>
              <a:cs typeface="Microsoft YaHei" pitchFamily="34" charset="-120"/>
            </a:endParaRPr>
          </a:p>
          <a:p>
            <a:pPr algn="ctr"/>
            <a:r>
              <a:rPr lang="en-US" altLang="zh-CN" sz="900" dirty="0">
                <a:latin typeface="+mn-ea"/>
                <a:cs typeface="Microsoft YaHei" pitchFamily="34" charset="-120"/>
              </a:rPr>
              <a:t>「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相信人，而到店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」</a:t>
            </a:r>
            <a:endParaRPr lang="en-US" altLang="zh-CN" sz="900" dirty="0">
              <a:latin typeface="+mn-ea"/>
            </a:endParaRPr>
          </a:p>
        </p:txBody>
      </p:sp>
      <p:sp>
        <p:nvSpPr>
          <p:cNvPr id="112" name="Text 110"/>
          <p:cNvSpPr/>
          <p:nvPr/>
        </p:nvSpPr>
        <p:spPr>
          <a:xfrm rot="16200000">
            <a:off x="400335" y="9353464"/>
            <a:ext cx="228029" cy="1013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>
              <a:latin typeface="+mn-ea"/>
            </a:endParaRPr>
          </a:p>
        </p:txBody>
      </p:sp>
      <p:sp>
        <p:nvSpPr>
          <p:cNvPr id="118" name="Shape 116"/>
          <p:cNvSpPr/>
          <p:nvPr/>
        </p:nvSpPr>
        <p:spPr>
          <a:xfrm>
            <a:off x="299624" y="9796244"/>
            <a:ext cx="8234363" cy="570071"/>
          </a:xfrm>
          <a:prstGeom prst="roundRect">
            <a:avLst>
              <a:gd name="adj" fmla="val 7218"/>
            </a:avLst>
          </a:prstGeom>
          <a:solidFill>
            <a:srgbClr val="FFFFFF"/>
          </a:solidFill>
          <a:ln w="6350">
            <a:solidFill>
              <a:srgbClr val="90A4AE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 sz="1200" dirty="0">
              <a:latin typeface="+mn-ea"/>
            </a:endParaRPr>
          </a:p>
        </p:txBody>
      </p:sp>
      <p:sp>
        <p:nvSpPr>
          <p:cNvPr id="119" name="Text 117"/>
          <p:cNvSpPr/>
          <p:nvPr/>
        </p:nvSpPr>
        <p:spPr>
          <a:xfrm>
            <a:off x="299624" y="9796244"/>
            <a:ext cx="8234363" cy="228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资产飞轮：用户消费→行为沉淀为资产→计算加工为信任信号→驱动新用户决策→牵引商户改善经营→更多真实消费→更厚资产沉淀</a:t>
            </a:r>
            <a:endParaRPr lang="en-US" sz="1200" dirty="0">
              <a:latin typeface="+mn-ea"/>
            </a:endParaRPr>
          </a:p>
        </p:txBody>
      </p:sp>
      <p:sp>
        <p:nvSpPr>
          <p:cNvPr id="120" name="Text 118"/>
          <p:cNvSpPr/>
          <p:nvPr/>
        </p:nvSpPr>
        <p:spPr>
          <a:xfrm>
            <a:off x="299624" y="10036940"/>
            <a:ext cx="8234363" cy="152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用户到店消费</a:t>
            </a:r>
            <a:r>
              <a:rPr lang="en-US" sz="1200" dirty="0">
                <a:latin typeface="+mn-ea"/>
                <a:cs typeface="Microsoft YaHei" pitchFamily="34" charset="-120"/>
              </a:rPr>
              <a:t>  →  </a:t>
            </a:r>
            <a:r>
              <a:rPr lang="en-US" sz="1200" b="1" dirty="0">
                <a:latin typeface="+mn-ea"/>
                <a:cs typeface="Microsoft YaHei" pitchFamily="34" charset="-120"/>
              </a:rPr>
              <a:t>行为→资产</a:t>
            </a:r>
            <a:r>
              <a:rPr lang="en-US" sz="1200" dirty="0">
                <a:latin typeface="+mn-ea"/>
                <a:cs typeface="Microsoft YaHei" pitchFamily="34" charset="-120"/>
              </a:rPr>
              <a:t>  →  </a:t>
            </a:r>
            <a:r>
              <a:rPr lang="en-US" sz="1200" b="1" dirty="0">
                <a:latin typeface="+mn-ea"/>
                <a:cs typeface="Microsoft YaHei" pitchFamily="34" charset="-120"/>
              </a:rPr>
              <a:t>计算→信任信号</a:t>
            </a:r>
            <a:r>
              <a:rPr lang="en-US" sz="1200" dirty="0">
                <a:latin typeface="+mn-ea"/>
                <a:cs typeface="Microsoft YaHei" pitchFamily="34" charset="-120"/>
              </a:rPr>
              <a:t>  →  </a:t>
            </a:r>
            <a:r>
              <a:rPr lang="en-US" sz="1200" b="1" dirty="0">
                <a:latin typeface="+mn-ea"/>
                <a:cs typeface="Microsoft YaHei" pitchFamily="34" charset="-120"/>
              </a:rPr>
              <a:t>驱动新用户决策</a:t>
            </a:r>
            <a:r>
              <a:rPr lang="en-US" sz="1200" dirty="0">
                <a:latin typeface="+mn-ea"/>
                <a:cs typeface="Microsoft YaHei" pitchFamily="34" charset="-120"/>
              </a:rPr>
              <a:t>  →  </a:t>
            </a:r>
            <a:r>
              <a:rPr lang="en-US" sz="1200" b="1" dirty="0">
                <a:latin typeface="+mn-ea"/>
                <a:cs typeface="Microsoft YaHei" pitchFamily="34" charset="-120"/>
              </a:rPr>
              <a:t>牵引商户改善</a:t>
            </a:r>
            <a:r>
              <a:rPr lang="en-US" sz="1200" dirty="0">
                <a:latin typeface="+mn-ea"/>
                <a:cs typeface="Microsoft YaHei" pitchFamily="34" charset="-120"/>
              </a:rPr>
              <a:t>  →  </a:t>
            </a:r>
            <a:r>
              <a:rPr lang="en-US" sz="1200" b="1" dirty="0">
                <a:latin typeface="+mn-ea"/>
                <a:cs typeface="Microsoft YaHei" pitchFamily="34" charset="-120"/>
              </a:rPr>
              <a:t>更多真实消费 ↩</a:t>
            </a:r>
            <a:endParaRPr lang="en-US" sz="1200" dirty="0">
              <a:latin typeface="+mn-ea"/>
            </a:endParaRPr>
          </a:p>
        </p:txBody>
      </p:sp>
      <p:sp>
        <p:nvSpPr>
          <p:cNvPr id="121" name="Text 119"/>
          <p:cNvSpPr/>
          <p:nvPr/>
        </p:nvSpPr>
        <p:spPr>
          <a:xfrm>
            <a:off x="299624" y="10214296"/>
            <a:ext cx="8234363" cy="126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+mn-ea"/>
                <a:cs typeface="Microsoft YaHei" pitchFamily="34" charset="-120"/>
              </a:rPr>
              <a:t>飞轮越转越厚 → 竞品越难复制 → 壁垒不在产品形态，在数据资产的沉淀厚度</a:t>
            </a:r>
            <a:endParaRPr lang="en-US" sz="1200" dirty="0">
              <a:latin typeface="+mn-ea"/>
            </a:endParaRPr>
          </a:p>
        </p:txBody>
      </p:sp>
      <p:sp>
        <p:nvSpPr>
          <p:cNvPr id="131" name="Text 129"/>
          <p:cNvSpPr/>
          <p:nvPr/>
        </p:nvSpPr>
        <p:spPr>
          <a:xfrm>
            <a:off x="772763" y="12313539"/>
            <a:ext cx="3521774" cy="962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200" dirty="0">
              <a:latin typeface="+mn-ea"/>
            </a:endParaRPr>
          </a:p>
        </p:txBody>
      </p:sp>
      <p:sp>
        <p:nvSpPr>
          <p:cNvPr id="133" name="Text 131"/>
          <p:cNvSpPr/>
          <p:nvPr/>
        </p:nvSpPr>
        <p:spPr>
          <a:xfrm>
            <a:off x="4509897" y="11173397"/>
            <a:ext cx="3775139" cy="962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200" dirty="0">
              <a:latin typeface="+mn-ea"/>
            </a:endParaRPr>
          </a:p>
        </p:txBody>
      </p:sp>
      <p:sp>
        <p:nvSpPr>
          <p:cNvPr id="164" name="Text 20"/>
          <p:cNvSpPr/>
          <p:nvPr/>
        </p:nvSpPr>
        <p:spPr>
          <a:xfrm>
            <a:off x="5957850" y="1493326"/>
            <a:ext cx="2280285" cy="1988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altLang="zh-CN" sz="1200" b="1" dirty="0">
              <a:latin typeface="+mn-ea"/>
              <a:cs typeface="Microsoft YaHei" pitchFamily="34" charset="-12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6DBD553-D741-0C36-C916-B37A17B4D779}"/>
              </a:ext>
            </a:extLst>
          </p:cNvPr>
          <p:cNvSpPr txBox="1"/>
          <p:nvPr/>
        </p:nvSpPr>
        <p:spPr>
          <a:xfrm>
            <a:off x="10092985" y="1738766"/>
            <a:ext cx="43588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+mn-ea"/>
                <a:cs typeface="Microsoft YaHei" pitchFamily="34" charset="-120"/>
              </a:rPr>
              <a:t>需求动线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-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流量背书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dirty="0">
                <a:latin typeface="+mn-ea"/>
                <a:cs typeface="Microsoft YaHei" pitchFamily="34" charset="-120"/>
              </a:rPr>
              <a:t>资产应用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-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经营诊断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dirty="0">
                <a:latin typeface="+mn-ea"/>
                <a:cs typeface="Microsoft YaHei" pitchFamily="34" charset="-120"/>
              </a:rPr>
              <a:t>资产沉淀画像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-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特色成长</a:t>
            </a:r>
            <a:endParaRPr lang="en-US" altLang="zh-CN" sz="1200" dirty="0">
              <a:latin typeface="+mn-ea"/>
              <a:cs typeface="Microsoft YaHei" pitchFamily="34" charset="-120"/>
            </a:endParaRPr>
          </a:p>
        </p:txBody>
      </p:sp>
      <p:sp>
        <p:nvSpPr>
          <p:cNvPr id="25" name="Shape 26">
            <a:extLst>
              <a:ext uri="{FF2B5EF4-FFF2-40B4-BE49-F238E27FC236}">
                <a16:creationId xmlns:a16="http://schemas.microsoft.com/office/drawing/2014/main" id="{9F7CEEFC-714F-485C-0DDA-D9E3A23E5916}"/>
              </a:ext>
            </a:extLst>
          </p:cNvPr>
          <p:cNvSpPr/>
          <p:nvPr/>
        </p:nvSpPr>
        <p:spPr>
          <a:xfrm>
            <a:off x="9630251" y="3661681"/>
            <a:ext cx="8234363" cy="924782"/>
          </a:xfrm>
          <a:prstGeom prst="roundRect">
            <a:avLst>
              <a:gd name="adj" fmla="val 5933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90CAF9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9">
            <a:extLst>
              <a:ext uri="{FF2B5EF4-FFF2-40B4-BE49-F238E27FC236}">
                <a16:creationId xmlns:a16="http://schemas.microsoft.com/office/drawing/2014/main" id="{3AA7B099-991E-84DF-871F-BE7B04C6F1E9}"/>
              </a:ext>
            </a:extLst>
          </p:cNvPr>
          <p:cNvSpPr/>
          <p:nvPr/>
        </p:nvSpPr>
        <p:spPr>
          <a:xfrm>
            <a:off x="10035635" y="3737690"/>
            <a:ext cx="1646873" cy="760095"/>
          </a:xfrm>
          <a:prstGeom prst="roundRect">
            <a:avLst>
              <a:gd name="adj" fmla="val 5414"/>
            </a:avLst>
          </a:prstGeom>
          <a:solidFill>
            <a:srgbClr val="FFFFFF"/>
          </a:solidFill>
          <a:ln w="6350">
            <a:solidFill>
              <a:srgbClr val="64B5F6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9" name="Shape 30">
            <a:extLst>
              <a:ext uri="{FF2B5EF4-FFF2-40B4-BE49-F238E27FC236}">
                <a16:creationId xmlns:a16="http://schemas.microsoft.com/office/drawing/2014/main" id="{B6941492-2E9B-E247-53FF-8D76D59120EC}"/>
              </a:ext>
            </a:extLst>
          </p:cNvPr>
          <p:cNvSpPr/>
          <p:nvPr/>
        </p:nvSpPr>
        <p:spPr>
          <a:xfrm>
            <a:off x="10035635" y="3737691"/>
            <a:ext cx="1646873" cy="215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68" name="Text 31">
            <a:extLst>
              <a:ext uri="{FF2B5EF4-FFF2-40B4-BE49-F238E27FC236}">
                <a16:creationId xmlns:a16="http://schemas.microsoft.com/office/drawing/2014/main" id="{66BFEECF-C9FC-79DC-3E1C-6279F2FA3ED0}"/>
              </a:ext>
            </a:extLst>
          </p:cNvPr>
          <p:cNvSpPr/>
          <p:nvPr/>
        </p:nvSpPr>
        <p:spPr>
          <a:xfrm>
            <a:off x="10035635" y="3737691"/>
            <a:ext cx="1646873" cy="21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200" b="1" dirty="0">
                <a:latin typeface="+mn-ea"/>
                <a:cs typeface="Microsoft YaHei" pitchFamily="34" charset="-120"/>
              </a:rPr>
              <a:t>经营诊断</a:t>
            </a:r>
            <a:endParaRPr lang="en-US" sz="1200" dirty="0">
              <a:latin typeface="+mn-ea"/>
            </a:endParaRPr>
          </a:p>
        </p:txBody>
      </p:sp>
      <p:sp>
        <p:nvSpPr>
          <p:cNvPr id="87" name="Text 32">
            <a:extLst>
              <a:ext uri="{FF2B5EF4-FFF2-40B4-BE49-F238E27FC236}">
                <a16:creationId xmlns:a16="http://schemas.microsoft.com/office/drawing/2014/main" id="{50E61921-F511-2AA1-46D9-CB86E39FD6F1}"/>
              </a:ext>
            </a:extLst>
          </p:cNvPr>
          <p:cNvSpPr/>
          <p:nvPr/>
        </p:nvSpPr>
        <p:spPr>
          <a:xfrm>
            <a:off x="10098976" y="3978387"/>
            <a:ext cx="1520190" cy="481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 err="1">
                <a:latin typeface="+mn-ea"/>
                <a:cs typeface="Microsoft YaHei" pitchFamily="34" charset="-120"/>
              </a:rPr>
              <a:t>区域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x</a:t>
            </a:r>
            <a:r>
              <a:rPr lang="en-US" sz="1200" dirty="0" err="1">
                <a:latin typeface="+mn-ea"/>
                <a:cs typeface="Microsoft YaHei" pitchFamily="34" charset="-120"/>
              </a:rPr>
              <a:t>人群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x</a:t>
            </a:r>
            <a:r>
              <a:rPr lang="en-US" sz="1200" dirty="0" err="1">
                <a:latin typeface="+mn-ea"/>
                <a:cs typeface="Microsoft YaHei" pitchFamily="34" charset="-120"/>
              </a:rPr>
              <a:t>品类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x</a:t>
            </a:r>
            <a:r>
              <a:rPr lang="en-US" sz="1200" dirty="0" err="1">
                <a:latin typeface="+mn-ea"/>
                <a:cs typeface="Microsoft YaHei" pitchFamily="34" charset="-120"/>
              </a:rPr>
              <a:t>场景</a:t>
            </a:r>
            <a:endParaRPr lang="en-US" sz="1200" dirty="0">
              <a:latin typeface="+mn-ea"/>
            </a:endParaRPr>
          </a:p>
          <a:p>
            <a:r>
              <a:rPr lang="zh-CN" altLang="en-US" sz="1200" dirty="0">
                <a:latin typeface="+mn-ea"/>
                <a:cs typeface="Microsoft YaHei" pitchFamily="34" charset="-120"/>
              </a:rPr>
              <a:t>需求拉动资产，资产分析需求</a:t>
            </a:r>
            <a:endParaRPr lang="en-US" sz="1200" dirty="0">
              <a:latin typeface="+mn-ea"/>
            </a:endParaRPr>
          </a:p>
        </p:txBody>
      </p:sp>
      <p:sp>
        <p:nvSpPr>
          <p:cNvPr id="142" name="Shape 33">
            <a:extLst>
              <a:ext uri="{FF2B5EF4-FFF2-40B4-BE49-F238E27FC236}">
                <a16:creationId xmlns:a16="http://schemas.microsoft.com/office/drawing/2014/main" id="{C528FF29-E691-6DBA-BD28-8A0FE40ED554}"/>
              </a:ext>
            </a:extLst>
          </p:cNvPr>
          <p:cNvSpPr/>
          <p:nvPr/>
        </p:nvSpPr>
        <p:spPr>
          <a:xfrm>
            <a:off x="11771185" y="3737690"/>
            <a:ext cx="1646873" cy="760095"/>
          </a:xfrm>
          <a:prstGeom prst="roundRect">
            <a:avLst>
              <a:gd name="adj" fmla="val 5414"/>
            </a:avLst>
          </a:prstGeom>
          <a:solidFill>
            <a:srgbClr val="FFFFFF"/>
          </a:solidFill>
          <a:ln w="6350">
            <a:solidFill>
              <a:srgbClr val="64B5F6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3" name="Shape 34">
            <a:extLst>
              <a:ext uri="{FF2B5EF4-FFF2-40B4-BE49-F238E27FC236}">
                <a16:creationId xmlns:a16="http://schemas.microsoft.com/office/drawing/2014/main" id="{48D0A522-C5BF-24FF-2988-6C5A2A986244}"/>
              </a:ext>
            </a:extLst>
          </p:cNvPr>
          <p:cNvSpPr/>
          <p:nvPr/>
        </p:nvSpPr>
        <p:spPr>
          <a:xfrm>
            <a:off x="11771185" y="3737691"/>
            <a:ext cx="1646873" cy="215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145" name="Text 35">
            <a:extLst>
              <a:ext uri="{FF2B5EF4-FFF2-40B4-BE49-F238E27FC236}">
                <a16:creationId xmlns:a16="http://schemas.microsoft.com/office/drawing/2014/main" id="{279F16E6-DEAF-B56F-13D1-4D6080508A8F}"/>
              </a:ext>
            </a:extLst>
          </p:cNvPr>
          <p:cNvSpPr/>
          <p:nvPr/>
        </p:nvSpPr>
        <p:spPr>
          <a:xfrm>
            <a:off x="11771185" y="3737691"/>
            <a:ext cx="1646873" cy="21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用户画像</a:t>
            </a:r>
            <a:endParaRPr lang="en-US" sz="1200" dirty="0">
              <a:latin typeface="+mn-ea"/>
            </a:endParaRPr>
          </a:p>
        </p:txBody>
      </p:sp>
      <p:sp>
        <p:nvSpPr>
          <p:cNvPr id="146" name="Text 36">
            <a:extLst>
              <a:ext uri="{FF2B5EF4-FFF2-40B4-BE49-F238E27FC236}">
                <a16:creationId xmlns:a16="http://schemas.microsoft.com/office/drawing/2014/main" id="{B8DB8286-32A8-EF58-DB16-26C9D6F01C45}"/>
              </a:ext>
            </a:extLst>
          </p:cNvPr>
          <p:cNvSpPr/>
          <p:nvPr/>
        </p:nvSpPr>
        <p:spPr>
          <a:xfrm>
            <a:off x="11834527" y="3978387"/>
            <a:ext cx="1520190" cy="481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CN" altLang="en-US" sz="1200" dirty="0">
                <a:latin typeface="+mn-ea"/>
                <a:cs typeface="Microsoft YaHei" pitchFamily="34" charset="-120"/>
              </a:rPr>
              <a:t>信息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资产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行为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dirty="0">
                <a:latin typeface="+mn-ea"/>
              </a:rPr>
              <a:t>画像动态资产，资产决定画像</a:t>
            </a:r>
            <a:endParaRPr lang="en-US" sz="1200" dirty="0">
              <a:latin typeface="+mn-ea"/>
            </a:endParaRPr>
          </a:p>
        </p:txBody>
      </p:sp>
      <p:sp>
        <p:nvSpPr>
          <p:cNvPr id="147" name="Shape 37">
            <a:extLst>
              <a:ext uri="{FF2B5EF4-FFF2-40B4-BE49-F238E27FC236}">
                <a16:creationId xmlns:a16="http://schemas.microsoft.com/office/drawing/2014/main" id="{A8128954-0CB8-ACE4-17C3-4B860945C90E}"/>
              </a:ext>
            </a:extLst>
          </p:cNvPr>
          <p:cNvSpPr/>
          <p:nvPr/>
        </p:nvSpPr>
        <p:spPr>
          <a:xfrm>
            <a:off x="13506735" y="3737690"/>
            <a:ext cx="1646873" cy="760095"/>
          </a:xfrm>
          <a:prstGeom prst="roundRect">
            <a:avLst>
              <a:gd name="adj" fmla="val 5414"/>
            </a:avLst>
          </a:prstGeom>
          <a:solidFill>
            <a:srgbClr val="FFFFFF"/>
          </a:solidFill>
          <a:ln w="6350">
            <a:solidFill>
              <a:srgbClr val="64B5F6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8" name="Shape 38">
            <a:extLst>
              <a:ext uri="{FF2B5EF4-FFF2-40B4-BE49-F238E27FC236}">
                <a16:creationId xmlns:a16="http://schemas.microsoft.com/office/drawing/2014/main" id="{3644D959-465A-3281-BB2E-4E4C858B3FF4}"/>
              </a:ext>
            </a:extLst>
          </p:cNvPr>
          <p:cNvSpPr/>
          <p:nvPr/>
        </p:nvSpPr>
        <p:spPr>
          <a:xfrm>
            <a:off x="13506735" y="3737691"/>
            <a:ext cx="1646873" cy="215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149" name="Text 39">
            <a:extLst>
              <a:ext uri="{FF2B5EF4-FFF2-40B4-BE49-F238E27FC236}">
                <a16:creationId xmlns:a16="http://schemas.microsoft.com/office/drawing/2014/main" id="{7EA73321-5D99-A34D-B7FE-C76314C02594}"/>
              </a:ext>
            </a:extLst>
          </p:cNvPr>
          <p:cNvSpPr/>
          <p:nvPr/>
        </p:nvSpPr>
        <p:spPr>
          <a:xfrm>
            <a:off x="13506735" y="3737691"/>
            <a:ext cx="1646873" cy="21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用户动线</a:t>
            </a:r>
            <a:endParaRPr lang="en-US" sz="1200" dirty="0">
              <a:latin typeface="+mn-ea"/>
            </a:endParaRPr>
          </a:p>
        </p:txBody>
      </p:sp>
      <p:sp>
        <p:nvSpPr>
          <p:cNvPr id="150" name="Text 40">
            <a:extLst>
              <a:ext uri="{FF2B5EF4-FFF2-40B4-BE49-F238E27FC236}">
                <a16:creationId xmlns:a16="http://schemas.microsoft.com/office/drawing/2014/main" id="{35EA1533-D84B-7191-549C-25D5912AC58A}"/>
              </a:ext>
            </a:extLst>
          </p:cNvPr>
          <p:cNvSpPr/>
          <p:nvPr/>
        </p:nvSpPr>
        <p:spPr>
          <a:xfrm>
            <a:off x="13570077" y="3978387"/>
            <a:ext cx="1520190" cy="481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zh-CN" sz="1200" dirty="0" err="1">
                <a:latin typeface="+mn-ea"/>
                <a:cs typeface="Microsoft YaHei" pitchFamily="34" charset="-120"/>
              </a:rPr>
              <a:t>激发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-&gt;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信息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-&gt;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对比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-&gt;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闭环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-&gt;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评价</a:t>
            </a:r>
            <a:endParaRPr lang="en-US" altLang="zh-CN" sz="1200" dirty="0">
              <a:latin typeface="+mn-ea"/>
            </a:endParaRPr>
          </a:p>
          <a:p>
            <a:r>
              <a:rPr lang="zh-CN" altLang="en-US" sz="1200" dirty="0">
                <a:latin typeface="+mn-ea"/>
              </a:rPr>
              <a:t>资产应用承接需求，资产信任带动转化</a:t>
            </a:r>
            <a:endParaRPr lang="en-US" sz="1200" dirty="0">
              <a:latin typeface="+mn-ea"/>
            </a:endParaRPr>
          </a:p>
        </p:txBody>
      </p:sp>
      <p:sp>
        <p:nvSpPr>
          <p:cNvPr id="151" name="Shape 41">
            <a:extLst>
              <a:ext uri="{FF2B5EF4-FFF2-40B4-BE49-F238E27FC236}">
                <a16:creationId xmlns:a16="http://schemas.microsoft.com/office/drawing/2014/main" id="{083DB141-CADD-D878-76E7-0641448246A8}"/>
              </a:ext>
            </a:extLst>
          </p:cNvPr>
          <p:cNvSpPr/>
          <p:nvPr/>
        </p:nvSpPr>
        <p:spPr>
          <a:xfrm>
            <a:off x="15242286" y="3737690"/>
            <a:ext cx="2533650" cy="760095"/>
          </a:xfrm>
          <a:prstGeom prst="roundRect">
            <a:avLst>
              <a:gd name="adj" fmla="val 5414"/>
            </a:avLst>
          </a:prstGeom>
          <a:solidFill>
            <a:srgbClr val="FFFFFF"/>
          </a:solidFill>
          <a:ln w="6350">
            <a:solidFill>
              <a:srgbClr val="64B5F6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2" name="Shape 42">
            <a:extLst>
              <a:ext uri="{FF2B5EF4-FFF2-40B4-BE49-F238E27FC236}">
                <a16:creationId xmlns:a16="http://schemas.microsoft.com/office/drawing/2014/main" id="{75E6FAED-2993-28CD-1639-4DEA03043685}"/>
              </a:ext>
            </a:extLst>
          </p:cNvPr>
          <p:cNvSpPr/>
          <p:nvPr/>
        </p:nvSpPr>
        <p:spPr>
          <a:xfrm>
            <a:off x="15242286" y="3737691"/>
            <a:ext cx="2533650" cy="215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153" name="Text 43">
            <a:extLst>
              <a:ext uri="{FF2B5EF4-FFF2-40B4-BE49-F238E27FC236}">
                <a16:creationId xmlns:a16="http://schemas.microsoft.com/office/drawing/2014/main" id="{B662ED16-F21D-C084-2297-D8FE53DD6749}"/>
              </a:ext>
            </a:extLst>
          </p:cNvPr>
          <p:cNvSpPr/>
          <p:nvPr/>
        </p:nvSpPr>
        <p:spPr>
          <a:xfrm>
            <a:off x="15242286" y="3737691"/>
            <a:ext cx="2533650" cy="21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200" b="1" dirty="0">
                <a:latin typeface="+mn-ea"/>
              </a:rPr>
              <a:t>个人资产</a:t>
            </a:r>
            <a:endParaRPr lang="en-US" sz="1200" b="1" dirty="0">
              <a:latin typeface="+mn-ea"/>
            </a:endParaRPr>
          </a:p>
        </p:txBody>
      </p:sp>
      <p:sp>
        <p:nvSpPr>
          <p:cNvPr id="154" name="Text 44">
            <a:extLst>
              <a:ext uri="{FF2B5EF4-FFF2-40B4-BE49-F238E27FC236}">
                <a16:creationId xmlns:a16="http://schemas.microsoft.com/office/drawing/2014/main" id="{90FEAAC1-B2A4-AF88-B1D8-60E4F6E05502}"/>
              </a:ext>
            </a:extLst>
          </p:cNvPr>
          <p:cNvSpPr/>
          <p:nvPr/>
        </p:nvSpPr>
        <p:spPr>
          <a:xfrm>
            <a:off x="15305627" y="3978387"/>
            <a:ext cx="2406968" cy="481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CN" altLang="en-US" sz="1200" dirty="0">
                <a:latin typeface="+mn-ea"/>
                <a:cs typeface="Microsoft YaHei" pitchFamily="34" charset="-120"/>
              </a:rPr>
              <a:t>个人资产沉淀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记录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应用</a:t>
            </a:r>
            <a:endParaRPr lang="en-US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dirty="0">
                <a:latin typeface="+mn-ea"/>
                <a:cs typeface="Microsoft YaHei" pitchFamily="34" charset="-120"/>
              </a:rPr>
              <a:t>个人资产沉淀：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dirty="0">
                <a:latin typeface="+mn-ea"/>
                <a:cs typeface="Microsoft YaHei" pitchFamily="34" charset="-120"/>
              </a:rPr>
              <a:t>资产发现：</a:t>
            </a:r>
            <a:endParaRPr lang="en-US" sz="1200" dirty="0">
              <a:latin typeface="+mn-ea"/>
            </a:endParaRPr>
          </a:p>
        </p:txBody>
      </p:sp>
      <p:sp>
        <p:nvSpPr>
          <p:cNvPr id="158" name="Shape 26"/>
          <p:cNvSpPr/>
          <p:nvPr/>
        </p:nvSpPr>
        <p:spPr>
          <a:xfrm>
            <a:off x="9797413" y="4823923"/>
            <a:ext cx="4845606" cy="1372172"/>
          </a:xfrm>
          <a:prstGeom prst="roundRect">
            <a:avLst>
              <a:gd name="adj" fmla="val 5933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90CAF9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9" name="Shape 27"/>
          <p:cNvSpPr/>
          <p:nvPr/>
        </p:nvSpPr>
        <p:spPr>
          <a:xfrm>
            <a:off x="9811397" y="6713458"/>
            <a:ext cx="278702" cy="848773"/>
          </a:xfrm>
          <a:prstGeom prst="roundRect">
            <a:avLst>
              <a:gd name="adj" fmla="val 9843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需求层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60" name="Shape 29"/>
          <p:cNvSpPr/>
          <p:nvPr/>
        </p:nvSpPr>
        <p:spPr>
          <a:xfrm>
            <a:off x="10212298" y="5250380"/>
            <a:ext cx="1646873" cy="760095"/>
          </a:xfrm>
          <a:prstGeom prst="roundRect">
            <a:avLst>
              <a:gd name="adj" fmla="val 5414"/>
            </a:avLst>
          </a:prstGeom>
          <a:solidFill>
            <a:srgbClr val="FFFFFF"/>
          </a:solidFill>
          <a:ln w="6350">
            <a:solidFill>
              <a:srgbClr val="64B5F6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1" name="Shape 30"/>
          <p:cNvSpPr/>
          <p:nvPr/>
        </p:nvSpPr>
        <p:spPr>
          <a:xfrm>
            <a:off x="10212298" y="5250381"/>
            <a:ext cx="1646873" cy="215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162" name="Text 31"/>
          <p:cNvSpPr/>
          <p:nvPr/>
        </p:nvSpPr>
        <p:spPr>
          <a:xfrm>
            <a:off x="10212298" y="5250381"/>
            <a:ext cx="1646873" cy="21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 err="1">
                <a:latin typeface="+mn-ea"/>
                <a:cs typeface="Microsoft YaHei" pitchFamily="34" charset="-120"/>
              </a:rPr>
              <a:t>需求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及动线</a:t>
            </a:r>
            <a:endParaRPr lang="en-US" sz="1200" dirty="0">
              <a:latin typeface="+mn-ea"/>
            </a:endParaRPr>
          </a:p>
        </p:txBody>
      </p:sp>
      <p:sp>
        <p:nvSpPr>
          <p:cNvPr id="163" name="Text 32"/>
          <p:cNvSpPr/>
          <p:nvPr/>
        </p:nvSpPr>
        <p:spPr>
          <a:xfrm>
            <a:off x="10275639" y="5491077"/>
            <a:ext cx="1520190" cy="481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 err="1">
                <a:latin typeface="+mn-ea"/>
                <a:cs typeface="Microsoft YaHei" pitchFamily="34" charset="-120"/>
              </a:rPr>
              <a:t>区域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x</a:t>
            </a:r>
            <a:r>
              <a:rPr lang="en-US" sz="1200" dirty="0" err="1">
                <a:latin typeface="+mn-ea"/>
                <a:cs typeface="Microsoft YaHei" pitchFamily="34" charset="-120"/>
              </a:rPr>
              <a:t>人群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x</a:t>
            </a:r>
            <a:r>
              <a:rPr lang="en-US" sz="1200" dirty="0" err="1">
                <a:latin typeface="+mn-ea"/>
                <a:cs typeface="Microsoft YaHei" pitchFamily="34" charset="-120"/>
              </a:rPr>
              <a:t>品类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x</a:t>
            </a:r>
            <a:r>
              <a:rPr lang="en-US" sz="1200" dirty="0" err="1">
                <a:latin typeface="+mn-ea"/>
                <a:cs typeface="Microsoft YaHei" pitchFamily="34" charset="-120"/>
              </a:rPr>
              <a:t>场景</a:t>
            </a:r>
            <a:endParaRPr lang="en-US" sz="1200" dirty="0">
              <a:latin typeface="+mn-ea"/>
            </a:endParaRPr>
          </a:p>
          <a:p>
            <a:r>
              <a:rPr lang="zh-CN" altLang="en-US" sz="1200" dirty="0">
                <a:latin typeface="+mn-ea"/>
                <a:cs typeface="Microsoft YaHei" pitchFamily="34" charset="-120"/>
              </a:rPr>
              <a:t>需求拉动资产，资产分析需求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1200" dirty="0" err="1">
                <a:latin typeface="+mn-ea"/>
                <a:cs typeface="Microsoft YaHei" pitchFamily="34" charset="-120"/>
              </a:rPr>
              <a:t>激发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-&gt;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信息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-&gt;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对比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-&gt;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闭环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-&gt;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评价</a:t>
            </a:r>
            <a:endParaRPr lang="en-US" altLang="zh-CN" sz="1200" dirty="0">
              <a:latin typeface="+mn-ea"/>
            </a:endParaRPr>
          </a:p>
          <a:p>
            <a:r>
              <a:rPr lang="zh-CN" altLang="en-US" sz="1200" dirty="0">
                <a:latin typeface="+mn-ea"/>
              </a:rPr>
              <a:t>资产应用承接需求，资产信任带动转化</a:t>
            </a:r>
            <a:endParaRPr lang="en-US" altLang="zh-CN" sz="1200" dirty="0">
              <a:latin typeface="+mn-ea"/>
            </a:endParaRPr>
          </a:p>
          <a:p>
            <a:endParaRPr lang="en-US" sz="1200" dirty="0">
              <a:latin typeface="+mn-ea"/>
            </a:endParaRPr>
          </a:p>
        </p:txBody>
      </p:sp>
      <p:sp>
        <p:nvSpPr>
          <p:cNvPr id="165" name="Shape 33"/>
          <p:cNvSpPr/>
          <p:nvPr/>
        </p:nvSpPr>
        <p:spPr>
          <a:xfrm>
            <a:off x="11947848" y="5250380"/>
            <a:ext cx="1646873" cy="760095"/>
          </a:xfrm>
          <a:prstGeom prst="roundRect">
            <a:avLst>
              <a:gd name="adj" fmla="val 5414"/>
            </a:avLst>
          </a:prstGeom>
          <a:solidFill>
            <a:srgbClr val="FFFFFF"/>
          </a:solidFill>
          <a:ln w="6350">
            <a:solidFill>
              <a:srgbClr val="64B5F6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6" name="Shape 34"/>
          <p:cNvSpPr/>
          <p:nvPr/>
        </p:nvSpPr>
        <p:spPr>
          <a:xfrm>
            <a:off x="11947848" y="5250381"/>
            <a:ext cx="1646873" cy="215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167" name="Text 35"/>
          <p:cNvSpPr/>
          <p:nvPr/>
        </p:nvSpPr>
        <p:spPr>
          <a:xfrm>
            <a:off x="11947848" y="5250381"/>
            <a:ext cx="1646873" cy="21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用户画像</a:t>
            </a:r>
            <a:endParaRPr lang="en-US" sz="1200" dirty="0">
              <a:latin typeface="+mn-ea"/>
            </a:endParaRPr>
          </a:p>
        </p:txBody>
      </p:sp>
      <p:sp>
        <p:nvSpPr>
          <p:cNvPr id="168" name="Text 36"/>
          <p:cNvSpPr/>
          <p:nvPr/>
        </p:nvSpPr>
        <p:spPr>
          <a:xfrm>
            <a:off x="12011190" y="5491077"/>
            <a:ext cx="1520190" cy="481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CN" altLang="en-US" sz="1200" dirty="0">
                <a:latin typeface="+mn-ea"/>
                <a:cs typeface="Microsoft YaHei" pitchFamily="34" charset="-120"/>
              </a:rPr>
              <a:t>信息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资产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行为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dirty="0">
                <a:latin typeface="+mn-ea"/>
              </a:rPr>
              <a:t>画像动态资产，资产决定画像</a:t>
            </a:r>
            <a:endParaRPr lang="en-US" sz="1200" dirty="0">
              <a:latin typeface="+mn-ea"/>
            </a:endParaRPr>
          </a:p>
        </p:txBody>
      </p:sp>
      <p:sp>
        <p:nvSpPr>
          <p:cNvPr id="169" name="Text 40"/>
          <p:cNvSpPr/>
          <p:nvPr/>
        </p:nvSpPr>
        <p:spPr>
          <a:xfrm>
            <a:off x="13746740" y="5491077"/>
            <a:ext cx="1520190" cy="481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>
              <a:latin typeface="+mn-ea"/>
            </a:endParaRPr>
          </a:p>
        </p:txBody>
      </p:sp>
      <p:sp>
        <p:nvSpPr>
          <p:cNvPr id="170" name="Shape 41"/>
          <p:cNvSpPr/>
          <p:nvPr/>
        </p:nvSpPr>
        <p:spPr>
          <a:xfrm>
            <a:off x="15137009" y="6875377"/>
            <a:ext cx="2533650" cy="760095"/>
          </a:xfrm>
          <a:prstGeom prst="roundRect">
            <a:avLst>
              <a:gd name="adj" fmla="val 5414"/>
            </a:avLst>
          </a:prstGeom>
          <a:solidFill>
            <a:srgbClr val="FFFFFF"/>
          </a:solidFill>
          <a:ln w="6350">
            <a:solidFill>
              <a:srgbClr val="64B5F6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1" name="Shape 42"/>
          <p:cNvSpPr/>
          <p:nvPr/>
        </p:nvSpPr>
        <p:spPr>
          <a:xfrm>
            <a:off x="15137009" y="6875378"/>
            <a:ext cx="2533650" cy="215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172" name="Text 43"/>
          <p:cNvSpPr/>
          <p:nvPr/>
        </p:nvSpPr>
        <p:spPr>
          <a:xfrm>
            <a:off x="15137009" y="6875378"/>
            <a:ext cx="2533650" cy="21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200" b="1" dirty="0">
                <a:latin typeface="+mn-ea"/>
              </a:rPr>
              <a:t>个人资产</a:t>
            </a:r>
            <a:endParaRPr lang="en-US" sz="1200" b="1" dirty="0">
              <a:latin typeface="+mn-ea"/>
            </a:endParaRPr>
          </a:p>
        </p:txBody>
      </p:sp>
      <p:sp>
        <p:nvSpPr>
          <p:cNvPr id="173" name="Text 44"/>
          <p:cNvSpPr/>
          <p:nvPr/>
        </p:nvSpPr>
        <p:spPr>
          <a:xfrm>
            <a:off x="15200350" y="7116074"/>
            <a:ext cx="2406968" cy="481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CN" altLang="en-US" sz="1200" dirty="0">
                <a:latin typeface="+mn-ea"/>
                <a:cs typeface="Microsoft YaHei" pitchFamily="34" charset="-120"/>
              </a:rPr>
              <a:t>个人资产沉淀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记录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应用</a:t>
            </a:r>
            <a:endParaRPr lang="en-US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dirty="0">
                <a:latin typeface="+mn-ea"/>
                <a:cs typeface="Microsoft YaHei" pitchFamily="34" charset="-120"/>
              </a:rPr>
              <a:t>个人资产沉淀：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dirty="0">
                <a:latin typeface="+mn-ea"/>
                <a:cs typeface="Microsoft YaHei" pitchFamily="34" charset="-120"/>
              </a:rPr>
              <a:t>资产发现：</a:t>
            </a:r>
            <a:endParaRPr lang="en-US" sz="1200" dirty="0">
              <a:latin typeface="+mn-ea"/>
            </a:endParaRPr>
          </a:p>
        </p:txBody>
      </p:sp>
      <p:sp>
        <p:nvSpPr>
          <p:cNvPr id="174" name="Shape 27">
            <a:extLst>
              <a:ext uri="{FF2B5EF4-FFF2-40B4-BE49-F238E27FC236}">
                <a16:creationId xmlns:a16="http://schemas.microsoft.com/office/drawing/2014/main" id="{63A739E2-8897-6D90-1155-CA517C8C85C1}"/>
              </a:ext>
            </a:extLst>
          </p:cNvPr>
          <p:cNvSpPr/>
          <p:nvPr/>
        </p:nvSpPr>
        <p:spPr>
          <a:xfrm>
            <a:off x="18022893" y="6423583"/>
            <a:ext cx="278702" cy="848773"/>
          </a:xfrm>
          <a:prstGeom prst="roundRect">
            <a:avLst>
              <a:gd name="adj" fmla="val 9843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需求层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75" name="Text 25">
            <a:extLst>
              <a:ext uri="{FF2B5EF4-FFF2-40B4-BE49-F238E27FC236}">
                <a16:creationId xmlns:a16="http://schemas.microsoft.com/office/drawing/2014/main" id="{06D59FF6-99BD-B490-A8A3-C32212307AAE}"/>
              </a:ext>
            </a:extLst>
          </p:cNvPr>
          <p:cNvSpPr/>
          <p:nvPr/>
        </p:nvSpPr>
        <p:spPr>
          <a:xfrm>
            <a:off x="11738822" y="4901028"/>
            <a:ext cx="1140143" cy="177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1200" b="1" dirty="0">
                <a:latin typeface="+mn-ea"/>
                <a:cs typeface="Microsoft YaHei" pitchFamily="34" charset="-120"/>
              </a:rPr>
              <a:t>C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端</a:t>
            </a:r>
            <a:endParaRPr lang="en-US" sz="1200" dirty="0">
              <a:latin typeface="+mn-ea"/>
            </a:endParaRPr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541FDAA4-BA2F-C04F-131A-F296FFA85A37}"/>
              </a:ext>
            </a:extLst>
          </p:cNvPr>
          <p:cNvSpPr txBox="1"/>
          <p:nvPr/>
        </p:nvSpPr>
        <p:spPr>
          <a:xfrm>
            <a:off x="235815" y="10582325"/>
            <a:ext cx="43588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+mn-ea"/>
                <a:cs typeface="Microsoft YaHei" pitchFamily="34" charset="-120"/>
              </a:rPr>
              <a:t>信任输出层：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en-US" altLang="zh-CN" sz="1200" dirty="0">
                <a:latin typeface="+mn-ea"/>
                <a:cs typeface="Microsoft YaHei" pitchFamily="34" charset="-120"/>
              </a:rPr>
              <a:t>1.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心智锚点：用户决策的主动复访理由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商家品牌化理由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en-US" altLang="zh-CN" sz="1200" dirty="0">
                <a:latin typeface="+mn-ea"/>
                <a:cs typeface="Microsoft YaHei" pitchFamily="34" charset="-120"/>
              </a:rPr>
              <a:t>2.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好的定义：标杆模板、策略优先级、资源配给、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en-US" altLang="zh-CN" sz="1200" dirty="0">
                <a:latin typeface="+mn-ea"/>
                <a:cs typeface="Microsoft YaHei" pitchFamily="34" charset="-120"/>
              </a:rPr>
              <a:t>3.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决策信任信号：用户选择依据，商家背书学习？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en-US" altLang="zh-CN" sz="1200" dirty="0">
                <a:latin typeface="+mn-ea"/>
                <a:cs typeface="Microsoft YaHei" pitchFamily="34" charset="-120"/>
              </a:rPr>
              <a:t>4.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决策流量：到餐不等于团购，强找优惠心智到全旅程业务实质。也是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AI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分发全</a:t>
            </a:r>
            <a:endParaRPr lang="en-US" altLang="zh-CN" sz="1200" dirty="0">
              <a:latin typeface="+mn-ea"/>
              <a:cs typeface="Microsoft YaHei" pitchFamily="34" charset="-120"/>
            </a:endParaRPr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66EA77B0-6F16-6C48-A856-1BF63A26459C}"/>
              </a:ext>
            </a:extLst>
          </p:cNvPr>
          <p:cNvSpPr txBox="1"/>
          <p:nvPr/>
        </p:nvSpPr>
        <p:spPr>
          <a:xfrm>
            <a:off x="282005" y="10147637"/>
            <a:ext cx="43588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+mn-ea"/>
                <a:cs typeface="Microsoft YaHei" pitchFamily="34" charset="-120"/>
              </a:rPr>
              <a:t>竞争：</a:t>
            </a:r>
            <a:endParaRPr lang="en-US" altLang="zh-CN" sz="1200" dirty="0">
              <a:latin typeface="+mn-ea"/>
              <a:cs typeface="Microsoft YaHei" pitchFamily="34" charset="-120"/>
            </a:endParaRPr>
          </a:p>
          <a:p>
            <a:r>
              <a:rPr lang="zh-CN" altLang="en-US" sz="1200" dirty="0">
                <a:latin typeface="+mn-ea"/>
                <a:cs typeface="Microsoft YaHei" pitchFamily="34" charset="-120"/>
              </a:rPr>
              <a:t>高德扫街榜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小红书内容，先从决策心智入手</a:t>
            </a:r>
            <a:endParaRPr lang="en-US" altLang="zh-CN" sz="1200" dirty="0">
              <a:latin typeface="+mn-ea"/>
              <a:cs typeface="Microsoft YaHei" pitchFamily="34" charset="-120"/>
            </a:endParaRPr>
          </a:p>
        </p:txBody>
      </p:sp>
      <p:sp>
        <p:nvSpPr>
          <p:cNvPr id="180" name="Text 25">
            <a:extLst>
              <a:ext uri="{FF2B5EF4-FFF2-40B4-BE49-F238E27FC236}">
                <a16:creationId xmlns:a16="http://schemas.microsoft.com/office/drawing/2014/main" id="{B0853361-484F-4655-6A43-85D3C6AB4082}"/>
              </a:ext>
            </a:extLst>
          </p:cNvPr>
          <p:cNvSpPr/>
          <p:nvPr/>
        </p:nvSpPr>
        <p:spPr>
          <a:xfrm>
            <a:off x="16672772" y="4937135"/>
            <a:ext cx="1140143" cy="177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1200" b="1" dirty="0">
                <a:latin typeface="+mn-ea"/>
                <a:cs typeface="Microsoft YaHei" pitchFamily="34" charset="-120"/>
              </a:rPr>
              <a:t>B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端</a:t>
            </a:r>
            <a:endParaRPr lang="en-US" sz="1200" dirty="0">
              <a:latin typeface="+mn-ea"/>
            </a:endParaRPr>
          </a:p>
        </p:txBody>
      </p:sp>
      <p:sp>
        <p:nvSpPr>
          <p:cNvPr id="181" name="Shape 41">
            <a:extLst>
              <a:ext uri="{FF2B5EF4-FFF2-40B4-BE49-F238E27FC236}">
                <a16:creationId xmlns:a16="http://schemas.microsoft.com/office/drawing/2014/main" id="{5C6D3F00-2B5E-D730-7054-770852EE956B}"/>
              </a:ext>
            </a:extLst>
          </p:cNvPr>
          <p:cNvSpPr/>
          <p:nvPr/>
        </p:nvSpPr>
        <p:spPr>
          <a:xfrm>
            <a:off x="14946509" y="5194734"/>
            <a:ext cx="2533650" cy="760095"/>
          </a:xfrm>
          <a:prstGeom prst="roundRect">
            <a:avLst>
              <a:gd name="adj" fmla="val 5414"/>
            </a:avLst>
          </a:prstGeom>
          <a:solidFill>
            <a:srgbClr val="FFFFFF"/>
          </a:solidFill>
          <a:ln w="6350">
            <a:solidFill>
              <a:srgbClr val="64B5F6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2" name="Shape 42">
            <a:extLst>
              <a:ext uri="{FF2B5EF4-FFF2-40B4-BE49-F238E27FC236}">
                <a16:creationId xmlns:a16="http://schemas.microsoft.com/office/drawing/2014/main" id="{008204F4-3840-DD4E-927D-F05BB9C8F63C}"/>
              </a:ext>
            </a:extLst>
          </p:cNvPr>
          <p:cNvSpPr/>
          <p:nvPr/>
        </p:nvSpPr>
        <p:spPr>
          <a:xfrm>
            <a:off x="14946509" y="5194735"/>
            <a:ext cx="2533650" cy="215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183" name="Text 43">
            <a:extLst>
              <a:ext uri="{FF2B5EF4-FFF2-40B4-BE49-F238E27FC236}">
                <a16:creationId xmlns:a16="http://schemas.microsoft.com/office/drawing/2014/main" id="{8A3C9981-DF94-3CA1-3A90-7DDF60D161D4}"/>
              </a:ext>
            </a:extLst>
          </p:cNvPr>
          <p:cNvSpPr/>
          <p:nvPr/>
        </p:nvSpPr>
        <p:spPr>
          <a:xfrm>
            <a:off x="14946509" y="5194735"/>
            <a:ext cx="2533650" cy="21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200" b="1" dirty="0">
                <a:latin typeface="+mn-ea"/>
              </a:rPr>
              <a:t>低成本</a:t>
            </a:r>
            <a:endParaRPr lang="en-US" sz="1200" b="1" dirty="0">
              <a:latin typeface="+mn-ea"/>
            </a:endParaRPr>
          </a:p>
        </p:txBody>
      </p:sp>
      <p:sp>
        <p:nvSpPr>
          <p:cNvPr id="184" name="Text 44">
            <a:extLst>
              <a:ext uri="{FF2B5EF4-FFF2-40B4-BE49-F238E27FC236}">
                <a16:creationId xmlns:a16="http://schemas.microsoft.com/office/drawing/2014/main" id="{1EB7E1A3-740C-1347-E686-50B9902FFB42}"/>
              </a:ext>
            </a:extLst>
          </p:cNvPr>
          <p:cNvSpPr/>
          <p:nvPr/>
        </p:nvSpPr>
        <p:spPr>
          <a:xfrm>
            <a:off x="15009850" y="5435431"/>
            <a:ext cx="2406968" cy="481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CN" altLang="en-US" sz="1200">
                <a:latin typeface="+mn-ea"/>
                <a:cs typeface="Microsoft YaHei" pitchFamily="34" charset="-120"/>
              </a:rPr>
              <a:t>不用反复获取注意力</a:t>
            </a:r>
            <a:endParaRPr lang="en-US" sz="1200" dirty="0">
              <a:latin typeface="+mn-ea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749469" y="5037792"/>
            <a:ext cx="1140143" cy="177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↑ 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输出</a:t>
            </a:r>
            <a:endParaRPr lang="en-US" sz="1200" dirty="0">
              <a:latin typeface="+mn-ea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B0D215A-3764-1B17-D50E-D0E721AA1F69}"/>
              </a:ext>
            </a:extLst>
          </p:cNvPr>
          <p:cNvSpPr txBox="1"/>
          <p:nvPr/>
        </p:nvSpPr>
        <p:spPr>
          <a:xfrm>
            <a:off x="806912" y="802774"/>
            <a:ext cx="66835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i="0" dirty="0">
                <a:effectLst/>
                <a:latin typeface="+mn-ea"/>
              </a:rPr>
              <a:t>C</a:t>
            </a:r>
            <a:r>
              <a:rPr lang="zh-CN" altLang="en-US" sz="1200" b="1" i="0" dirty="0">
                <a:effectLst/>
                <a:latin typeface="+mn-ea"/>
              </a:rPr>
              <a:t>端占心智 </a:t>
            </a:r>
            <a:r>
              <a:rPr lang="en-US" altLang="zh-CN" sz="1200" b="1" i="0" dirty="0">
                <a:effectLst/>
                <a:latin typeface="+mn-ea"/>
              </a:rPr>
              <a:t>× B</a:t>
            </a:r>
            <a:r>
              <a:rPr lang="zh-CN" altLang="en-US" sz="1200" b="1" i="0" dirty="0">
                <a:effectLst/>
                <a:latin typeface="+mn-ea"/>
              </a:rPr>
              <a:t>端促</a:t>
            </a:r>
            <a:r>
              <a:rPr lang="zh-CN" altLang="en-US" sz="1200" b="1" dirty="0">
                <a:latin typeface="+mn-ea"/>
              </a:rPr>
              <a:t>品质</a:t>
            </a:r>
            <a:r>
              <a:rPr lang="zh-CN" altLang="en-US" sz="1200" b="1" i="0" dirty="0">
                <a:effectLst/>
                <a:latin typeface="+mn-ea"/>
              </a:rPr>
              <a:t> </a:t>
            </a:r>
            <a:r>
              <a:rPr lang="en-US" altLang="zh-CN" sz="1200" b="1" i="0" dirty="0">
                <a:effectLst/>
                <a:latin typeface="+mn-ea"/>
              </a:rPr>
              <a:t>× </a:t>
            </a:r>
            <a:r>
              <a:rPr lang="zh-CN" altLang="en-US" sz="1200" b="1" i="0" dirty="0">
                <a:effectLst/>
                <a:latin typeface="+mn-ea"/>
              </a:rPr>
              <a:t>平台筑壁垒</a:t>
            </a:r>
            <a:r>
              <a:rPr lang="zh-CN" altLang="en-US" sz="1200" b="0" i="0" dirty="0">
                <a:effectLst/>
                <a:latin typeface="+mn-ea"/>
              </a:rPr>
              <a:t> </a:t>
            </a:r>
            <a:endParaRPr lang="zh-CN" altLang="en-US" sz="1200" dirty="0">
              <a:latin typeface="+mn-ea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10D2C7F-7DAD-F7FA-371B-F02E9EF43BA9}"/>
              </a:ext>
            </a:extLst>
          </p:cNvPr>
          <p:cNvSpPr txBox="1"/>
          <p:nvPr/>
        </p:nvSpPr>
        <p:spPr>
          <a:xfrm>
            <a:off x="9215438" y="39402"/>
            <a:ext cx="396716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战略意义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：</a:t>
            </a:r>
            <a:endParaRPr lang="en-US" altLang="zh-CN" sz="1200" dirty="0">
              <a:latin typeface="+mn-ea"/>
            </a:endParaRPr>
          </a:p>
          <a:p>
            <a:r>
              <a:rPr lang="en-US" altLang="zh-CN" sz="1200" dirty="0" err="1">
                <a:latin typeface="+mn-ea"/>
                <a:cs typeface="Microsoft YaHei" pitchFamily="34" charset="-120"/>
              </a:rPr>
              <a:t>用户行为→资产→信任→商家沉淀→商家被牵引→平台沉淀差异化竞争力。飞轮效应，越转越厚，竞品越难追赶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。</a:t>
            </a:r>
          </a:p>
          <a:p>
            <a:r>
              <a:rPr lang="zh-CN" altLang="en-US" sz="1200" b="0" i="0" dirty="0">
                <a:effectLst/>
                <a:latin typeface="+mn-ea"/>
              </a:rPr>
              <a:t>优质经营→好评沉淀→信任标签→自然流量→更多优质用户。</a:t>
            </a:r>
            <a:r>
              <a:rPr lang="zh-CN" altLang="en-US" sz="1200" b="0" i="0" dirty="0">
                <a:solidFill>
                  <a:srgbClr val="666666"/>
                </a:solidFill>
                <a:effectLst/>
                <a:latin typeface="+mn-ea"/>
              </a:rPr>
              <a:t>用户行为产生的真实数据→驱动商户改善→</a:t>
            </a:r>
            <a:r>
              <a:rPr lang="zh-CN" altLang="en-US" sz="1200" b="1" i="0" dirty="0">
                <a:solidFill>
                  <a:srgbClr val="666666"/>
                </a:solidFill>
                <a:effectLst/>
                <a:latin typeface="+mn-ea"/>
              </a:rPr>
              <a:t>形成</a:t>
            </a:r>
            <a:r>
              <a:rPr lang="en-US" altLang="zh-CN" sz="1200" b="1" i="0" dirty="0">
                <a:solidFill>
                  <a:srgbClr val="666666"/>
                </a:solidFill>
                <a:effectLst/>
                <a:latin typeface="+mn-ea"/>
              </a:rPr>
              <a:t>"</a:t>
            </a:r>
            <a:r>
              <a:rPr lang="zh-CN" altLang="en-US" sz="1200" b="1" i="0" dirty="0">
                <a:solidFill>
                  <a:srgbClr val="666666"/>
                </a:solidFill>
                <a:effectLst/>
                <a:latin typeface="+mn-ea"/>
              </a:rPr>
              <a:t>你变好，流量就来</a:t>
            </a:r>
            <a:r>
              <a:rPr lang="en-US" altLang="zh-CN" sz="1200" b="1" i="0" dirty="0">
                <a:solidFill>
                  <a:srgbClr val="666666"/>
                </a:solidFill>
                <a:effectLst/>
                <a:latin typeface="+mn-ea"/>
              </a:rPr>
              <a:t>"</a:t>
            </a:r>
            <a:r>
              <a:rPr lang="zh-CN" altLang="en-US" sz="1200" b="1" i="0" dirty="0">
                <a:solidFill>
                  <a:srgbClr val="666666"/>
                </a:solidFill>
                <a:effectLst/>
                <a:latin typeface="+mn-ea"/>
              </a:rPr>
              <a:t>的正向循环</a:t>
            </a:r>
            <a:r>
              <a:rPr lang="zh-CN" altLang="en-US" sz="1200" b="0" i="0" dirty="0">
                <a:solidFill>
                  <a:srgbClr val="666666"/>
                </a:solidFill>
                <a:effectLst/>
                <a:latin typeface="+mn-ea"/>
              </a:rPr>
              <a:t>，跳出</a:t>
            </a:r>
            <a:r>
              <a:rPr lang="en-US" altLang="zh-CN" sz="1200" b="0" i="0" dirty="0">
                <a:solidFill>
                  <a:srgbClr val="666666"/>
                </a:solidFill>
                <a:effectLst/>
                <a:latin typeface="+mn-ea"/>
              </a:rPr>
              <a:t>"</a:t>
            </a:r>
            <a:r>
              <a:rPr lang="zh-CN" altLang="en-US" sz="1200" b="0" i="0" dirty="0">
                <a:solidFill>
                  <a:srgbClr val="666666"/>
                </a:solidFill>
                <a:effectLst/>
                <a:latin typeface="+mn-ea"/>
              </a:rPr>
              <a:t>花钱买流量</a:t>
            </a:r>
            <a:r>
              <a:rPr lang="en-US" altLang="zh-CN" sz="1200" b="0" i="0" dirty="0">
                <a:solidFill>
                  <a:srgbClr val="666666"/>
                </a:solidFill>
                <a:effectLst/>
                <a:latin typeface="+mn-ea"/>
              </a:rPr>
              <a:t>"</a:t>
            </a:r>
            <a:r>
              <a:rPr lang="zh-CN" altLang="en-US" sz="1200" b="0" i="0" dirty="0">
                <a:solidFill>
                  <a:srgbClr val="666666"/>
                </a:solidFill>
                <a:effectLst/>
                <a:latin typeface="+mn-ea"/>
              </a:rPr>
              <a:t>的零和博弈</a:t>
            </a:r>
            <a:endParaRPr lang="en-US" altLang="zh-CN" sz="1200" dirty="0">
              <a:latin typeface="+mn-ea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</p:txBody>
      </p:sp>
      <p:sp>
        <p:nvSpPr>
          <p:cNvPr id="4" name="Text 15"/>
          <p:cNvSpPr/>
          <p:nvPr/>
        </p:nvSpPr>
        <p:spPr>
          <a:xfrm>
            <a:off x="3338520" y="1082916"/>
            <a:ext cx="2466000" cy="823269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200" b="1" dirty="0" err="1">
                <a:latin typeface="+mn-ea"/>
                <a:cs typeface="Microsoft YaHei" pitchFamily="34" charset="-120"/>
              </a:rPr>
              <a:t>B端：商户长效经营牵引</a:t>
            </a:r>
            <a:endParaRPr lang="en-US" sz="1200" b="1" dirty="0">
              <a:latin typeface="+mn-ea"/>
              <a:cs typeface="Microsoft YaHei" pitchFamily="34" charset="-120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  <a:cs typeface="Microsoft YaHei" pitchFamily="34" charset="-120"/>
              </a:rPr>
              <a:t>长效经营攒资产，沉淀信任正循环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6" name="Text 11"/>
          <p:cNvSpPr/>
          <p:nvPr/>
        </p:nvSpPr>
        <p:spPr>
          <a:xfrm>
            <a:off x="759190" y="1083449"/>
            <a:ext cx="2466000" cy="807504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200" b="1" dirty="0" err="1">
                <a:latin typeface="+mn-ea"/>
                <a:cs typeface="Microsoft YaHei" pitchFamily="34" charset="-120"/>
              </a:rPr>
              <a:t>C端：用户选店选品决策</a:t>
            </a:r>
            <a:endParaRPr lang="en-US" sz="1200" b="1" dirty="0">
              <a:latin typeface="+mn-ea"/>
              <a:cs typeface="Microsoft YaHei" pitchFamily="34" charset="-120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  <a:cs typeface="Microsoft YaHei" pitchFamily="34" charset="-120"/>
              </a:rPr>
              <a:t>用户因信任而来，而转化</a:t>
            </a:r>
            <a:endParaRPr lang="en-US" altLang="zh-CN" sz="1200" b="1" dirty="0">
              <a:solidFill>
                <a:schemeClr val="bg1">
                  <a:lumMod val="50000"/>
                </a:schemeClr>
              </a:solidFill>
              <a:latin typeface="+mn-ea"/>
              <a:cs typeface="Microsoft YaHei" pitchFamily="34" charset="-120"/>
            </a:endParaRPr>
          </a:p>
        </p:txBody>
      </p:sp>
      <p:sp>
        <p:nvSpPr>
          <p:cNvPr id="7" name="Text 19"/>
          <p:cNvSpPr/>
          <p:nvPr/>
        </p:nvSpPr>
        <p:spPr>
          <a:xfrm>
            <a:off x="5917850" y="1082917"/>
            <a:ext cx="2466000" cy="82326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200" b="1" dirty="0" err="1">
                <a:latin typeface="+mn-ea"/>
                <a:cs typeface="Microsoft YaHei" pitchFamily="34" charset="-120"/>
              </a:rPr>
              <a:t>平台</a:t>
            </a:r>
            <a:r>
              <a:rPr lang="en-US" sz="1200" b="1" dirty="0">
                <a:latin typeface="+mn-ea"/>
                <a:cs typeface="Microsoft YaHei" pitchFamily="34" charset="-120"/>
              </a:rPr>
              <a:t>：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差异化竞争力</a:t>
            </a:r>
            <a:endParaRPr lang="en-US" sz="1200" b="1" dirty="0">
              <a:latin typeface="+mn-ea"/>
              <a:cs typeface="Microsoft YaHei" pitchFamily="34" charset="-120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高价值用户及优质商户生态</a:t>
            </a:r>
            <a:endParaRPr lang="en-US" altLang="zh-CN" sz="1200" b="1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89A62740-7819-6DB8-A118-B6E446CE1A50}"/>
              </a:ext>
            </a:extLst>
          </p:cNvPr>
          <p:cNvSpPr/>
          <p:nvPr/>
        </p:nvSpPr>
        <p:spPr>
          <a:xfrm>
            <a:off x="1668372" y="2939912"/>
            <a:ext cx="886840" cy="90201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用户决策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C484439-03E8-79FA-47D3-BC0F3AC06C12}"/>
              </a:ext>
            </a:extLst>
          </p:cNvPr>
          <p:cNvSpPr txBox="1"/>
          <p:nvPr/>
        </p:nvSpPr>
        <p:spPr>
          <a:xfrm>
            <a:off x="2769934" y="3162051"/>
            <a:ext cx="12285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更多用户行为资产沉淀</a:t>
            </a:r>
            <a:endParaRPr lang="en-US" altLang="zh-CN" sz="1200" dirty="0">
              <a:latin typeface="+mn-ea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B2B8402-BC49-0CBD-0FD2-B9ECA22392F4}"/>
              </a:ext>
            </a:extLst>
          </p:cNvPr>
          <p:cNvSpPr txBox="1"/>
          <p:nvPr/>
        </p:nvSpPr>
        <p:spPr>
          <a:xfrm>
            <a:off x="1440629" y="2243421"/>
            <a:ext cx="12285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更多用户</a:t>
            </a:r>
            <a:endParaRPr lang="en-US" altLang="zh-CN" sz="1200" dirty="0">
              <a:latin typeface="+mn-ea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B988FBE-0D8A-B5FB-4927-7655C6C23C27}"/>
              </a:ext>
            </a:extLst>
          </p:cNvPr>
          <p:cNvSpPr txBox="1"/>
          <p:nvPr/>
        </p:nvSpPr>
        <p:spPr>
          <a:xfrm>
            <a:off x="1427099" y="4333110"/>
            <a:ext cx="12285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更强信任壁垒</a:t>
            </a:r>
            <a:endParaRPr lang="en-US" altLang="zh-CN" sz="1200" dirty="0">
              <a:latin typeface="+mn-ea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B6FD191-0447-5214-2655-8E350AFA1F67}"/>
              </a:ext>
            </a:extLst>
          </p:cNvPr>
          <p:cNvSpPr txBox="1"/>
          <p:nvPr/>
        </p:nvSpPr>
        <p:spPr>
          <a:xfrm>
            <a:off x="224096" y="3254069"/>
            <a:ext cx="13510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更好的决策体验</a:t>
            </a:r>
          </a:p>
        </p:txBody>
      </p:sp>
      <p:sp>
        <p:nvSpPr>
          <p:cNvPr id="34" name="弧形 33">
            <a:extLst>
              <a:ext uri="{FF2B5EF4-FFF2-40B4-BE49-F238E27FC236}">
                <a16:creationId xmlns:a16="http://schemas.microsoft.com/office/drawing/2014/main" id="{4C754BEB-F055-4B22-8324-5B760BADE92A}"/>
              </a:ext>
            </a:extLst>
          </p:cNvPr>
          <p:cNvSpPr/>
          <p:nvPr/>
        </p:nvSpPr>
        <p:spPr>
          <a:xfrm>
            <a:off x="1918836" y="2371874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36" name="弧形 35">
            <a:extLst>
              <a:ext uri="{FF2B5EF4-FFF2-40B4-BE49-F238E27FC236}">
                <a16:creationId xmlns:a16="http://schemas.microsoft.com/office/drawing/2014/main" id="{6D4F55BF-AE7C-5039-34F9-19FEB3E11B88}"/>
              </a:ext>
            </a:extLst>
          </p:cNvPr>
          <p:cNvSpPr/>
          <p:nvPr/>
        </p:nvSpPr>
        <p:spPr>
          <a:xfrm rot="5400000">
            <a:off x="2045518" y="3157320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37" name="弧形 36">
            <a:extLst>
              <a:ext uri="{FF2B5EF4-FFF2-40B4-BE49-F238E27FC236}">
                <a16:creationId xmlns:a16="http://schemas.microsoft.com/office/drawing/2014/main" id="{52E9912B-B4F9-2895-D17C-5FC658F56764}"/>
              </a:ext>
            </a:extLst>
          </p:cNvPr>
          <p:cNvSpPr/>
          <p:nvPr/>
        </p:nvSpPr>
        <p:spPr>
          <a:xfrm rot="10800000">
            <a:off x="842616" y="3177493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38" name="弧形 37">
            <a:extLst>
              <a:ext uri="{FF2B5EF4-FFF2-40B4-BE49-F238E27FC236}">
                <a16:creationId xmlns:a16="http://schemas.microsoft.com/office/drawing/2014/main" id="{DDCC8238-B56E-55A2-40B9-C6B4C96BF338}"/>
              </a:ext>
            </a:extLst>
          </p:cNvPr>
          <p:cNvSpPr/>
          <p:nvPr/>
        </p:nvSpPr>
        <p:spPr>
          <a:xfrm rot="16200000">
            <a:off x="754587" y="2505560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9C8EC8F-3C2D-34C3-763C-BA0EB4ACC68B}"/>
              </a:ext>
            </a:extLst>
          </p:cNvPr>
          <p:cNvSpPr txBox="1"/>
          <p:nvPr/>
        </p:nvSpPr>
        <p:spPr>
          <a:xfrm>
            <a:off x="4683125" y="3159710"/>
            <a:ext cx="12285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商家积累更多资产</a:t>
            </a:r>
          </a:p>
        </p:txBody>
      </p:sp>
      <p:sp>
        <p:nvSpPr>
          <p:cNvPr id="40" name="箭头: 右 39">
            <a:extLst>
              <a:ext uri="{FF2B5EF4-FFF2-40B4-BE49-F238E27FC236}">
                <a16:creationId xmlns:a16="http://schemas.microsoft.com/office/drawing/2014/main" id="{86232731-405E-AA88-1A9A-6AF57221565B}"/>
              </a:ext>
            </a:extLst>
          </p:cNvPr>
          <p:cNvSpPr/>
          <p:nvPr/>
        </p:nvSpPr>
        <p:spPr>
          <a:xfrm>
            <a:off x="4051533" y="3246675"/>
            <a:ext cx="662861" cy="25136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A966339F-2020-09AF-6658-DA375BACAED1}"/>
              </a:ext>
            </a:extLst>
          </p:cNvPr>
          <p:cNvSpPr txBox="1"/>
          <p:nvPr/>
        </p:nvSpPr>
        <p:spPr>
          <a:xfrm>
            <a:off x="3914600" y="3017876"/>
            <a:ext cx="9285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真实产生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0292F71-0E56-9B34-6137-74C52C6280CB}"/>
              </a:ext>
            </a:extLst>
          </p:cNvPr>
          <p:cNvSpPr txBox="1"/>
          <p:nvPr/>
        </p:nvSpPr>
        <p:spPr>
          <a:xfrm>
            <a:off x="6051295" y="4253192"/>
            <a:ext cx="12285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更优质商户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62B163D-EA05-8BE6-E0FB-C97BB76180BA}"/>
              </a:ext>
            </a:extLst>
          </p:cNvPr>
          <p:cNvSpPr txBox="1"/>
          <p:nvPr/>
        </p:nvSpPr>
        <p:spPr>
          <a:xfrm>
            <a:off x="6051010" y="2237732"/>
            <a:ext cx="12285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更多资产获得更多信任流量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0772151B-F445-98D6-4BF8-ECF3D2957006}"/>
              </a:ext>
            </a:extLst>
          </p:cNvPr>
          <p:cNvSpPr txBox="1"/>
          <p:nvPr/>
        </p:nvSpPr>
        <p:spPr>
          <a:xfrm>
            <a:off x="7206553" y="3093199"/>
            <a:ext cx="128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更强改善经营的动力与合作意愿</a:t>
            </a:r>
          </a:p>
        </p:txBody>
      </p:sp>
      <p:sp>
        <p:nvSpPr>
          <p:cNvPr id="111" name="弧形 110">
            <a:extLst>
              <a:ext uri="{FF2B5EF4-FFF2-40B4-BE49-F238E27FC236}">
                <a16:creationId xmlns:a16="http://schemas.microsoft.com/office/drawing/2014/main" id="{5D1BD973-12FC-862D-0FB7-9B53B98F852D}"/>
              </a:ext>
            </a:extLst>
          </p:cNvPr>
          <p:cNvSpPr/>
          <p:nvPr/>
        </p:nvSpPr>
        <p:spPr>
          <a:xfrm rot="21160491">
            <a:off x="-1960542" y="2304719"/>
            <a:ext cx="9308171" cy="2686267"/>
          </a:xfrm>
          <a:prstGeom prst="arc">
            <a:avLst>
              <a:gd name="adj1" fmla="val 17089764"/>
              <a:gd name="adj2" fmla="val 20582677"/>
            </a:avLst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114" name="弧形 113">
            <a:extLst>
              <a:ext uri="{FF2B5EF4-FFF2-40B4-BE49-F238E27FC236}">
                <a16:creationId xmlns:a16="http://schemas.microsoft.com/office/drawing/2014/main" id="{7EEF91F7-3F27-0595-D92B-329074960E76}"/>
              </a:ext>
            </a:extLst>
          </p:cNvPr>
          <p:cNvSpPr/>
          <p:nvPr/>
        </p:nvSpPr>
        <p:spPr>
          <a:xfrm rot="16200000">
            <a:off x="5186094" y="2489638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115" name="弧形 114">
            <a:extLst>
              <a:ext uri="{FF2B5EF4-FFF2-40B4-BE49-F238E27FC236}">
                <a16:creationId xmlns:a16="http://schemas.microsoft.com/office/drawing/2014/main" id="{DB554CBA-BCFF-9CE5-E3BD-4D34E9F2478E}"/>
              </a:ext>
            </a:extLst>
          </p:cNvPr>
          <p:cNvSpPr/>
          <p:nvPr/>
        </p:nvSpPr>
        <p:spPr>
          <a:xfrm>
            <a:off x="6554839" y="2456635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116" name="弧形 115">
            <a:extLst>
              <a:ext uri="{FF2B5EF4-FFF2-40B4-BE49-F238E27FC236}">
                <a16:creationId xmlns:a16="http://schemas.microsoft.com/office/drawing/2014/main" id="{73AB4FD1-4942-D0F9-AD11-438D0BB76B95}"/>
              </a:ext>
            </a:extLst>
          </p:cNvPr>
          <p:cNvSpPr/>
          <p:nvPr/>
        </p:nvSpPr>
        <p:spPr>
          <a:xfrm rot="5400000">
            <a:off x="6630849" y="3057906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117" name="弧形 116">
            <a:extLst>
              <a:ext uri="{FF2B5EF4-FFF2-40B4-BE49-F238E27FC236}">
                <a16:creationId xmlns:a16="http://schemas.microsoft.com/office/drawing/2014/main" id="{ADBA8071-DCCC-39D7-C769-D791F9FC8E53}"/>
              </a:ext>
            </a:extLst>
          </p:cNvPr>
          <p:cNvSpPr/>
          <p:nvPr/>
        </p:nvSpPr>
        <p:spPr>
          <a:xfrm rot="10800000">
            <a:off x="5308868" y="3132880"/>
            <a:ext cx="1297963" cy="1176996"/>
          </a:xfrm>
          <a:prstGeom prst="arc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122" name="椭圆 121">
            <a:extLst>
              <a:ext uri="{FF2B5EF4-FFF2-40B4-BE49-F238E27FC236}">
                <a16:creationId xmlns:a16="http://schemas.microsoft.com/office/drawing/2014/main" id="{AA23A51F-0C3D-18B0-10E0-332F27BC0A1E}"/>
              </a:ext>
            </a:extLst>
          </p:cNvPr>
          <p:cNvSpPr/>
          <p:nvPr/>
        </p:nvSpPr>
        <p:spPr>
          <a:xfrm>
            <a:off x="6199283" y="2902740"/>
            <a:ext cx="886840" cy="90201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商家经营</a:t>
            </a:r>
          </a:p>
        </p:txBody>
      </p:sp>
      <p:sp>
        <p:nvSpPr>
          <p:cNvPr id="123" name="弧形 122">
            <a:extLst>
              <a:ext uri="{FF2B5EF4-FFF2-40B4-BE49-F238E27FC236}">
                <a16:creationId xmlns:a16="http://schemas.microsoft.com/office/drawing/2014/main" id="{496D3895-36C6-3249-FA59-9A44C4088DEF}"/>
              </a:ext>
            </a:extLst>
          </p:cNvPr>
          <p:cNvSpPr/>
          <p:nvPr/>
        </p:nvSpPr>
        <p:spPr>
          <a:xfrm rot="10359915">
            <a:off x="1303764" y="1759770"/>
            <a:ext cx="9308171" cy="2686267"/>
          </a:xfrm>
          <a:prstGeom prst="arc">
            <a:avLst>
              <a:gd name="adj1" fmla="val 17089764"/>
              <a:gd name="adj2" fmla="val 20582677"/>
            </a:avLst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124" name="Shape 100">
            <a:extLst>
              <a:ext uri="{FF2B5EF4-FFF2-40B4-BE49-F238E27FC236}">
                <a16:creationId xmlns:a16="http://schemas.microsoft.com/office/drawing/2014/main" id="{3818A530-BCFF-C64C-E7FC-CBE7F214F95E}"/>
              </a:ext>
            </a:extLst>
          </p:cNvPr>
          <p:cNvSpPr/>
          <p:nvPr/>
        </p:nvSpPr>
        <p:spPr>
          <a:xfrm>
            <a:off x="9630251" y="8966273"/>
            <a:ext cx="2777582" cy="1216152"/>
          </a:xfrm>
          <a:prstGeom prst="roundRect">
            <a:avLst>
              <a:gd name="adj" fmla="val 3383"/>
            </a:avLst>
          </a:prstGeom>
          <a:solidFill>
            <a:srgbClr val="FFFFFF"/>
          </a:solidFill>
          <a:ln w="6350">
            <a:solidFill>
              <a:srgbClr val="A1887F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5" name="Text 101">
            <a:extLst>
              <a:ext uri="{FF2B5EF4-FFF2-40B4-BE49-F238E27FC236}">
                <a16:creationId xmlns:a16="http://schemas.microsoft.com/office/drawing/2014/main" id="{6A9BC1B9-CE46-3831-D71A-EC54F74A9C57}"/>
              </a:ext>
            </a:extLst>
          </p:cNvPr>
          <p:cNvSpPr/>
          <p:nvPr/>
        </p:nvSpPr>
        <p:spPr>
          <a:xfrm>
            <a:off x="9808321" y="6672477"/>
            <a:ext cx="2784665" cy="198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200" b="1" dirty="0">
                <a:latin typeface="+mn-ea"/>
                <a:cs typeface="Microsoft YaHei" pitchFamily="34" charset="-120"/>
              </a:rPr>
              <a:t>分布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/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策略</a:t>
            </a:r>
            <a:r>
              <a:rPr lang="en-US" sz="1200" b="1" dirty="0">
                <a:latin typeface="+mn-ea"/>
                <a:cs typeface="Microsoft YaHei" pitchFamily="34" charset="-120"/>
              </a:rPr>
              <a:t>：物理世界的数字化映射</a:t>
            </a:r>
            <a:endParaRPr lang="en-US" sz="1200" dirty="0">
              <a:latin typeface="+mn-ea"/>
            </a:endParaRPr>
          </a:p>
        </p:txBody>
      </p:sp>
      <p:sp>
        <p:nvSpPr>
          <p:cNvPr id="128" name="Text 105"/>
          <p:cNvSpPr/>
          <p:nvPr/>
        </p:nvSpPr>
        <p:spPr>
          <a:xfrm>
            <a:off x="5941077" y="7725428"/>
            <a:ext cx="1076801" cy="87410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+mn-ea"/>
                <a:cs typeface="Microsoft YaHei" pitchFamily="34" charset="-120"/>
              </a:rPr>
              <a:t>菜</a:t>
            </a:r>
            <a:endParaRPr lang="en-US" sz="1200" dirty="0">
              <a:latin typeface="+mn-ea"/>
            </a:endParaRPr>
          </a:p>
          <a:p>
            <a:pPr algn="ctr"/>
            <a:r>
              <a:rPr lang="en-US" sz="1200" dirty="0">
                <a:latin typeface="+mn-ea"/>
                <a:cs typeface="Microsoft YaHei" pitchFamily="34" charset="-120"/>
              </a:rPr>
              <a:t> </a:t>
            </a:r>
            <a:endParaRPr lang="en-US" sz="1200" dirty="0">
              <a:latin typeface="+mn-ea"/>
            </a:endParaRPr>
          </a:p>
          <a:p>
            <a:pPr algn="ctr"/>
            <a:r>
              <a:rPr lang="en-US" sz="900" dirty="0" err="1">
                <a:latin typeface="+mn-ea"/>
                <a:cs typeface="Microsoft YaHei" pitchFamily="34" charset="-120"/>
              </a:rPr>
              <a:t>扩展方向</a:t>
            </a:r>
            <a:endParaRPr lang="en-US" sz="900" dirty="0">
              <a:latin typeface="+mn-ea"/>
            </a:endParaRPr>
          </a:p>
          <a:p>
            <a:pPr algn="ctr"/>
            <a:r>
              <a:rPr lang="en-US" sz="900" dirty="0">
                <a:latin typeface="+mn-ea"/>
                <a:cs typeface="Microsoft YaHei" pitchFamily="34" charset="-120"/>
              </a:rPr>
              <a:t>「先选品，后到店」</a:t>
            </a:r>
            <a:endParaRPr lang="en-US" sz="9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41188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hape 26">
            <a:extLst>
              <a:ext uri="{FF2B5EF4-FFF2-40B4-BE49-F238E27FC236}">
                <a16:creationId xmlns:a16="http://schemas.microsoft.com/office/drawing/2014/main" id="{F399989F-46AA-3E6A-FC11-7BE566B2FFFB}"/>
              </a:ext>
            </a:extLst>
          </p:cNvPr>
          <p:cNvSpPr/>
          <p:nvPr/>
        </p:nvSpPr>
        <p:spPr>
          <a:xfrm>
            <a:off x="14702788" y="4810453"/>
            <a:ext cx="4845606" cy="1372172"/>
          </a:xfrm>
          <a:prstGeom prst="roundRect">
            <a:avLst>
              <a:gd name="adj" fmla="val 5933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90CAF9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" name="Shape 0"/>
          <p:cNvSpPr/>
          <p:nvPr/>
        </p:nvSpPr>
        <p:spPr>
          <a:xfrm>
            <a:off x="253365" y="126683"/>
            <a:ext cx="8234364" cy="354711"/>
          </a:xfrm>
          <a:prstGeom prst="roundRect">
            <a:avLst>
              <a:gd name="adj" fmla="val 15467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253365" y="126684"/>
            <a:ext cx="8234364" cy="62557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 err="1">
                <a:latin typeface="+mn-ea"/>
                <a:cs typeface="Microsoft YaHei" pitchFamily="34" charset="-120"/>
              </a:rPr>
              <a:t>到餐资产运营</a:t>
            </a:r>
            <a:endParaRPr lang="en-US" sz="1200" b="1" dirty="0">
              <a:latin typeface="+mn-ea"/>
              <a:cs typeface="Microsoft YaHei" pitchFamily="34" charset="-120"/>
            </a:endParaRPr>
          </a:p>
          <a:p>
            <a:pPr algn="ctr"/>
            <a:r>
              <a:rPr lang="en-US" altLang="zh-CN" sz="1200" b="1" dirty="0" err="1">
                <a:latin typeface="+mn-ea"/>
                <a:cs typeface="Microsoft YaHei" pitchFamily="34" charset="-120"/>
              </a:rPr>
              <a:t>强化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用户及商家</a:t>
            </a:r>
            <a:r>
              <a:rPr lang="en-US" altLang="zh-CN" sz="1200" b="1" dirty="0" err="1">
                <a:latin typeface="+mn-ea"/>
                <a:cs typeface="Microsoft YaHei" pitchFamily="34" charset="-120"/>
              </a:rPr>
              <a:t>长期积累的差异化数据资产，构建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基于资产的</a:t>
            </a:r>
            <a:r>
              <a:rPr lang="en-US" altLang="zh-CN" sz="1200" b="1" dirty="0" err="1">
                <a:latin typeface="+mn-ea"/>
                <a:cs typeface="Microsoft YaHei" pitchFamily="34" charset="-120"/>
              </a:rPr>
              <a:t>有壁垒的用户到店餐饮消费决策信任</a:t>
            </a:r>
            <a:r>
              <a:rPr lang="zh-CN" altLang="en-US" sz="1200" b="1" dirty="0">
                <a:latin typeface="+mn-ea"/>
                <a:cs typeface="Microsoft YaHei" pitchFamily="34" charset="-120"/>
              </a:rPr>
              <a:t>服务</a:t>
            </a:r>
            <a:r>
              <a:rPr lang="en-US" altLang="zh-CN" sz="1200" b="1" dirty="0" err="1">
                <a:latin typeface="+mn-ea"/>
                <a:cs typeface="Microsoft YaHei" pitchFamily="34" charset="-120"/>
              </a:rPr>
              <a:t>体系</a:t>
            </a:r>
            <a:endParaRPr lang="en-US" altLang="zh-CN" sz="1200" dirty="0">
              <a:latin typeface="+mn-ea"/>
            </a:endParaRPr>
          </a:p>
          <a:p>
            <a:pPr algn="ctr"/>
            <a:r>
              <a:rPr lang="en-US" altLang="zh-CN" sz="1200" dirty="0" err="1">
                <a:latin typeface="+mn-ea"/>
              </a:rPr>
              <a:t>支持用户选店选品决策PMF</a:t>
            </a:r>
            <a:r>
              <a:rPr lang="en-US" altLang="zh-CN" sz="1200" dirty="0">
                <a:latin typeface="+mn-ea"/>
              </a:rPr>
              <a:t> </a:t>
            </a:r>
            <a:r>
              <a:rPr lang="zh-CN" altLang="en-US" sz="1200" dirty="0">
                <a:latin typeface="+mn-ea"/>
              </a:rPr>
              <a:t>，主要强化服务用户能力。</a:t>
            </a:r>
            <a:r>
              <a:rPr lang="en-US" altLang="zh-CN" sz="1200" dirty="0" err="1">
                <a:latin typeface="+mn-ea"/>
              </a:rPr>
              <a:t>兼助商户长效经营</a:t>
            </a:r>
            <a:r>
              <a:rPr lang="zh-CN" altLang="en-US" sz="1200" dirty="0">
                <a:latin typeface="+mn-ea"/>
              </a:rPr>
              <a:t>的流量、背书及牵引</a:t>
            </a:r>
            <a:r>
              <a:rPr lang="en-US" sz="1200" b="1" dirty="0">
                <a:latin typeface="+mn-ea"/>
                <a:cs typeface="Microsoft YaHei" pitchFamily="34" charset="-120"/>
              </a:rPr>
              <a:t> </a:t>
            </a:r>
            <a:endParaRPr lang="en-US" sz="1200" dirty="0">
              <a:latin typeface="+mn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253365" y="557403"/>
            <a:ext cx="8234364" cy="417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>
              <a:latin typeface="+mn-ea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69805" y="835554"/>
            <a:ext cx="8234364" cy="2699283"/>
          </a:xfrm>
          <a:prstGeom prst="roundRect">
            <a:avLst>
              <a:gd name="adj" fmla="val 2221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CE93D8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5574" y="1103042"/>
            <a:ext cx="278702" cy="982465"/>
          </a:xfrm>
          <a:prstGeom prst="roundRect">
            <a:avLst>
              <a:gd name="adj" fmla="val 9843"/>
            </a:avLst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anchor="ctr"/>
          <a:lstStyle/>
          <a:p>
            <a:r>
              <a:rPr lang="zh-CN" altLang="en-US" sz="900" b="1" dirty="0">
                <a:latin typeface="+mn-ea"/>
              </a:rPr>
              <a:t>资产价值</a:t>
            </a:r>
          </a:p>
        </p:txBody>
      </p:sp>
      <p:sp>
        <p:nvSpPr>
          <p:cNvPr id="11" name="Shape 9"/>
          <p:cNvSpPr/>
          <p:nvPr/>
        </p:nvSpPr>
        <p:spPr>
          <a:xfrm>
            <a:off x="660044" y="1129588"/>
            <a:ext cx="2448000" cy="956452"/>
          </a:xfrm>
          <a:prstGeom prst="roundRect">
            <a:avLst>
              <a:gd name="adj" fmla="val 2304"/>
            </a:avLst>
          </a:prstGeom>
          <a:solidFill>
            <a:srgbClr val="FFFFFF"/>
          </a:solidFill>
          <a:ln w="12700">
            <a:solidFill>
              <a:srgbClr val="AB47B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84216" y="1129589"/>
            <a:ext cx="1786223" cy="240697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3" name="Text 11"/>
          <p:cNvSpPr/>
          <p:nvPr/>
        </p:nvSpPr>
        <p:spPr>
          <a:xfrm>
            <a:off x="651487" y="1103575"/>
            <a:ext cx="2466000" cy="33539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 err="1">
                <a:latin typeface="+mn-ea"/>
                <a:cs typeface="Microsoft YaHei" pitchFamily="34" charset="-120"/>
              </a:rPr>
              <a:t>C端：用户选店选品决策</a:t>
            </a:r>
            <a:endParaRPr lang="en-US" sz="900" b="1" dirty="0">
              <a:latin typeface="+mn-ea"/>
              <a:cs typeface="Microsoft YaHei" pitchFamily="34" charset="-120"/>
            </a:endParaRPr>
          </a:p>
          <a:p>
            <a:pPr algn="ctr"/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+mn-ea"/>
                <a:cs typeface="Microsoft YaHei" pitchFamily="34" charset="-120"/>
              </a:rPr>
              <a:t>用户因信任而来，而转化</a:t>
            </a:r>
            <a:endParaRPr lang="en-US" altLang="zh-CN" sz="900" b="1" dirty="0">
              <a:solidFill>
                <a:schemeClr val="bg1">
                  <a:lumMod val="50000"/>
                </a:schemeClr>
              </a:solidFill>
              <a:latin typeface="+mn-ea"/>
              <a:cs typeface="Microsoft YaHei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27924" y="1446295"/>
            <a:ext cx="2364693" cy="565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zh-CN" altLang="en-US" sz="900" b="1" dirty="0">
                <a:latin typeface="+mn-ea"/>
                <a:cs typeface="Microsoft YaHei" pitchFamily="34" charset="-120"/>
              </a:rPr>
              <a:t>密度：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信息全、资产厚、密度大</a:t>
            </a:r>
            <a:endParaRPr lang="en-US" altLang="zh-CN" sz="900" dirty="0">
              <a:latin typeface="+mn-ea"/>
              <a:cs typeface="Microsoft YaHei" pitchFamily="34" charset="-120"/>
            </a:endParaRPr>
          </a:p>
          <a:p>
            <a:pPr>
              <a:lnSpc>
                <a:spcPct val="150000"/>
              </a:lnSpc>
            </a:pPr>
            <a:r>
              <a:rPr lang="zh-CN" altLang="en-US" sz="900" b="1" dirty="0">
                <a:latin typeface="+mn-ea"/>
                <a:cs typeface="Microsoft YaHei" pitchFamily="34" charset="-120"/>
              </a:rPr>
              <a:t>信任：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资产表达信任</a:t>
            </a:r>
            <a:endParaRPr lang="en-US" altLang="zh-CN" sz="900" dirty="0">
              <a:latin typeface="+mn-ea"/>
              <a:cs typeface="Microsoft YaHei" pitchFamily="34" charset="-120"/>
            </a:endParaRPr>
          </a:p>
          <a:p>
            <a:pPr>
              <a:lnSpc>
                <a:spcPct val="150000"/>
              </a:lnSpc>
            </a:pPr>
            <a:r>
              <a:rPr lang="zh-CN" altLang="en-US" sz="900" b="1" dirty="0">
                <a:latin typeface="+mn-ea"/>
                <a:cs typeface="Microsoft YaHei" pitchFamily="34" charset="-120"/>
              </a:rPr>
              <a:t>闭环：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信任直达交履，交履促成评价</a:t>
            </a:r>
            <a:endParaRPr lang="en-US" altLang="zh-CN" sz="900" dirty="0">
              <a:latin typeface="+mn-ea"/>
              <a:cs typeface="Microsoft YaHei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08839" y="1132400"/>
            <a:ext cx="2448000" cy="953107"/>
          </a:xfrm>
          <a:prstGeom prst="roundRect">
            <a:avLst>
              <a:gd name="adj" fmla="val 2304"/>
            </a:avLst>
          </a:prstGeom>
          <a:solidFill>
            <a:srgbClr val="FFFFFF"/>
          </a:solidFill>
          <a:ln w="12700">
            <a:solidFill>
              <a:srgbClr val="AB47B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16" name="Shape 14"/>
          <p:cNvSpPr/>
          <p:nvPr/>
        </p:nvSpPr>
        <p:spPr>
          <a:xfrm>
            <a:off x="3230101" y="1132933"/>
            <a:ext cx="1786223" cy="240697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7" name="Text 15"/>
          <p:cNvSpPr/>
          <p:nvPr/>
        </p:nvSpPr>
        <p:spPr>
          <a:xfrm>
            <a:off x="3198350" y="1126583"/>
            <a:ext cx="2466000" cy="3315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 err="1">
                <a:latin typeface="+mn-ea"/>
                <a:cs typeface="Microsoft YaHei" pitchFamily="34" charset="-120"/>
              </a:rPr>
              <a:t>B端：商户长效经营牵引</a:t>
            </a:r>
            <a:endParaRPr lang="en-US" sz="900" b="1" dirty="0">
              <a:latin typeface="+mn-ea"/>
              <a:cs typeface="Microsoft YaHei" pitchFamily="34" charset="-120"/>
            </a:endParaRPr>
          </a:p>
          <a:p>
            <a:pPr algn="ctr"/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+mn-ea"/>
                <a:cs typeface="Microsoft YaHei" pitchFamily="34" charset="-120"/>
              </a:rPr>
              <a:t>长效经营攒资产，沉淀信任正循环</a:t>
            </a:r>
            <a:endParaRPr lang="en-US" sz="9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313847" y="1455449"/>
            <a:ext cx="2272962" cy="606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zh-CN" altLang="en-US" sz="900" b="1" dirty="0">
                <a:latin typeface="+mn-ea"/>
                <a:cs typeface="Microsoft YaHei" pitchFamily="34" charset="-120"/>
              </a:rPr>
              <a:t>背书：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资产是线上信用证明</a:t>
            </a:r>
            <a:endParaRPr lang="en-US" altLang="zh-CN" sz="900" dirty="0">
              <a:latin typeface="+mn-ea"/>
              <a:cs typeface="Microsoft YaHei" pitchFamily="34" charset="-120"/>
            </a:endParaRPr>
          </a:p>
          <a:p>
            <a:pPr>
              <a:lnSpc>
                <a:spcPct val="150000"/>
              </a:lnSpc>
            </a:pPr>
            <a:r>
              <a:rPr lang="zh-CN" altLang="en-US" sz="900" b="1" dirty="0">
                <a:latin typeface="+mn-ea"/>
                <a:cs typeface="Microsoft YaHei" pitchFamily="34" charset="-120"/>
              </a:rPr>
              <a:t>指引：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筹备沉淀资产，改善经营动作</a:t>
            </a:r>
            <a:endParaRPr lang="en-US" altLang="zh-CN" sz="900" dirty="0">
              <a:latin typeface="+mn-ea"/>
              <a:cs typeface="Microsoft YaHei" pitchFamily="34" charset="-120"/>
            </a:endParaRPr>
          </a:p>
          <a:p>
            <a:pPr>
              <a:lnSpc>
                <a:spcPct val="150000"/>
              </a:lnSpc>
            </a:pPr>
            <a:r>
              <a:rPr lang="zh-CN" altLang="en-US" sz="900" b="1" dirty="0">
                <a:latin typeface="+mn-ea"/>
                <a:cs typeface="Microsoft YaHei" pitchFamily="34" charset="-120"/>
              </a:rPr>
              <a:t>生意：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买流量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-&gt;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提品质、攒资产、赚流量</a:t>
            </a:r>
            <a:endParaRPr lang="en-US" altLang="zh-CN" sz="900" dirty="0">
              <a:latin typeface="+mn-ea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834939" y="1132400"/>
            <a:ext cx="2448000" cy="953107"/>
          </a:xfrm>
          <a:prstGeom prst="roundRect">
            <a:avLst>
              <a:gd name="adj" fmla="val 2304"/>
            </a:avLst>
          </a:prstGeom>
          <a:solidFill>
            <a:srgbClr val="FFFFFF"/>
          </a:solidFill>
          <a:ln w="12700">
            <a:solidFill>
              <a:srgbClr val="AB47BC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828589" y="1126049"/>
            <a:ext cx="2466000" cy="32569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</p:sp>
      <p:sp>
        <p:nvSpPr>
          <p:cNvPr id="21" name="Text 19"/>
          <p:cNvSpPr/>
          <p:nvPr/>
        </p:nvSpPr>
        <p:spPr>
          <a:xfrm>
            <a:off x="6164314" y="1126049"/>
            <a:ext cx="1786223" cy="341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 err="1">
                <a:latin typeface="+mn-ea"/>
                <a:cs typeface="Microsoft YaHei" pitchFamily="34" charset="-120"/>
              </a:rPr>
              <a:t>平台</a:t>
            </a:r>
            <a:r>
              <a:rPr lang="en-US" sz="900" b="1" dirty="0">
                <a:latin typeface="+mn-ea"/>
                <a:cs typeface="Microsoft YaHei" pitchFamily="34" charset="-120"/>
              </a:rPr>
              <a:t>：</a:t>
            </a:r>
            <a:r>
              <a:rPr lang="zh-CN" altLang="en-US" sz="900" b="1" dirty="0">
                <a:latin typeface="+mn-ea"/>
                <a:cs typeface="Microsoft YaHei" pitchFamily="34" charset="-120"/>
              </a:rPr>
              <a:t>差异化竞争力</a:t>
            </a:r>
            <a:endParaRPr lang="en-US" sz="900" b="1" dirty="0">
              <a:latin typeface="+mn-ea"/>
              <a:cs typeface="Microsoft YaHei" pitchFamily="34" charset="-120"/>
            </a:endParaRPr>
          </a:p>
          <a:p>
            <a:pPr algn="ctr"/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+mn-ea"/>
                <a:cs typeface="Microsoft YaHei" pitchFamily="34" charset="-120"/>
              </a:rPr>
              <a:t>生态向好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257137" y="3733652"/>
            <a:ext cx="8234363" cy="950119"/>
          </a:xfrm>
          <a:prstGeom prst="roundRect">
            <a:avLst>
              <a:gd name="adj" fmla="val 5774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A5D6A7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07810" y="3771657"/>
            <a:ext cx="278702" cy="874109"/>
          </a:xfrm>
          <a:prstGeom prst="roundRect">
            <a:avLst>
              <a:gd name="adj" fmla="val 9843"/>
            </a:avLst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/>
          <a:lstStyle/>
          <a:p>
            <a:r>
              <a:rPr lang="en-US" altLang="zh-CN" sz="900" b="1" dirty="0" err="1">
                <a:latin typeface="+mn-ea"/>
                <a:cs typeface="Microsoft YaHei" pitchFamily="34" charset="-120"/>
              </a:rPr>
              <a:t>资产应用层</a:t>
            </a:r>
            <a:endParaRPr lang="en-US" altLang="zh-CN" sz="900" dirty="0">
              <a:latin typeface="+mn-ea"/>
            </a:endParaRPr>
          </a:p>
          <a:p>
            <a:endParaRPr lang="zh-CN" altLang="en-US" sz="900" dirty="0">
              <a:latin typeface="+mn-ea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662521" y="3809661"/>
            <a:ext cx="1773555" cy="785432"/>
          </a:xfrm>
          <a:prstGeom prst="roundRect">
            <a:avLst>
              <a:gd name="adj" fmla="val 5239"/>
            </a:avLst>
          </a:prstGeom>
          <a:solidFill>
            <a:srgbClr val="FFFFFF"/>
          </a:solidFill>
          <a:ln w="6350">
            <a:solidFill>
              <a:srgbClr val="81C784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62521" y="3809661"/>
            <a:ext cx="1773555" cy="22802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</p:sp>
      <p:sp>
        <p:nvSpPr>
          <p:cNvPr id="52" name="Text 50"/>
          <p:cNvSpPr/>
          <p:nvPr/>
        </p:nvSpPr>
        <p:spPr>
          <a:xfrm>
            <a:off x="662521" y="3809661"/>
            <a:ext cx="1773555" cy="228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latin typeface="+mn-ea"/>
                <a:cs typeface="Microsoft YaHei" pitchFamily="34" charset="-120"/>
              </a:rPr>
              <a:t>榜单矩阵</a:t>
            </a:r>
            <a:endParaRPr lang="en-US" sz="900" dirty="0">
              <a:latin typeface="+mn-ea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725862" y="4063026"/>
            <a:ext cx="1646873" cy="494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b="1" dirty="0">
                <a:latin typeface="+mn-ea"/>
                <a:cs typeface="Microsoft YaHei" pitchFamily="34" charset="-120"/>
              </a:rPr>
              <a:t>让用户「看榜决策」</a:t>
            </a:r>
            <a:endParaRPr lang="en-US" sz="900" dirty="0">
              <a:latin typeface="+mn-ea"/>
            </a:endParaRPr>
          </a:p>
          <a:p>
            <a:r>
              <a:rPr lang="en-US" sz="900" dirty="0">
                <a:latin typeface="+mn-ea"/>
                <a:cs typeface="Microsoft YaHei" pitchFamily="34" charset="-120"/>
              </a:rPr>
              <a:t>IP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榜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场景榜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指数榜</a:t>
            </a:r>
            <a:endParaRPr lang="en-US" sz="900" dirty="0">
              <a:latin typeface="+mn-ea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2524754" y="3809661"/>
            <a:ext cx="1773555" cy="785432"/>
          </a:xfrm>
          <a:prstGeom prst="roundRect">
            <a:avLst>
              <a:gd name="adj" fmla="val 5239"/>
            </a:avLst>
          </a:prstGeom>
          <a:solidFill>
            <a:srgbClr val="FFFFFF"/>
          </a:solidFill>
          <a:ln w="6350">
            <a:solidFill>
              <a:srgbClr val="81C784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2524754" y="3809661"/>
            <a:ext cx="1773555" cy="22802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</p:sp>
      <p:sp>
        <p:nvSpPr>
          <p:cNvPr id="56" name="Text 54"/>
          <p:cNvSpPr/>
          <p:nvPr/>
        </p:nvSpPr>
        <p:spPr>
          <a:xfrm>
            <a:off x="2524754" y="3809661"/>
            <a:ext cx="1773555" cy="228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 err="1">
                <a:latin typeface="+mn-ea"/>
                <a:cs typeface="Microsoft YaHei" pitchFamily="34" charset="-120"/>
              </a:rPr>
              <a:t>个性化合集</a:t>
            </a:r>
            <a:endParaRPr lang="en-US" sz="900" dirty="0">
              <a:latin typeface="+mn-ea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2588095" y="4063026"/>
            <a:ext cx="1646873" cy="494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b="1" dirty="0" err="1">
                <a:latin typeface="+mn-ea"/>
                <a:cs typeface="Microsoft YaHei" pitchFamily="34" charset="-120"/>
              </a:rPr>
              <a:t>让用户</a:t>
            </a:r>
            <a:r>
              <a:rPr lang="en-US" sz="900" b="1" dirty="0">
                <a:latin typeface="+mn-ea"/>
                <a:cs typeface="Microsoft YaHei" pitchFamily="34" charset="-120"/>
              </a:rPr>
              <a:t>「</a:t>
            </a:r>
            <a:r>
              <a:rPr lang="zh-CN" altLang="en-US" sz="900" b="1" dirty="0">
                <a:latin typeface="+mn-ea"/>
                <a:cs typeface="Microsoft YaHei" pitchFamily="34" charset="-120"/>
              </a:rPr>
              <a:t>个性化</a:t>
            </a:r>
            <a:r>
              <a:rPr lang="en-US" altLang="zh-CN" sz="900" b="1" dirty="0">
                <a:latin typeface="+mn-ea"/>
                <a:cs typeface="Microsoft YaHei" pitchFamily="34" charset="-120"/>
              </a:rPr>
              <a:t>/</a:t>
            </a:r>
            <a:r>
              <a:rPr lang="en-US" sz="900" b="1" dirty="0">
                <a:latin typeface="+mn-ea"/>
                <a:cs typeface="Microsoft YaHei" pitchFamily="34" charset="-120"/>
              </a:rPr>
              <a:t>看</a:t>
            </a:r>
            <a:r>
              <a:rPr lang="zh-CN" altLang="en-US" sz="900" b="1" dirty="0">
                <a:latin typeface="+mn-ea"/>
                <a:cs typeface="Microsoft YaHei" pitchFamily="34" charset="-120"/>
              </a:rPr>
              <a:t>人</a:t>
            </a:r>
            <a:r>
              <a:rPr lang="en-US" sz="900" b="1" dirty="0" err="1">
                <a:latin typeface="+mn-ea"/>
                <a:cs typeface="Microsoft YaHei" pitchFamily="34" charset="-120"/>
              </a:rPr>
              <a:t>决策</a:t>
            </a:r>
            <a:r>
              <a:rPr lang="en-US" sz="900" b="1" dirty="0">
                <a:latin typeface="+mn-ea"/>
                <a:cs typeface="Microsoft YaHei" pitchFamily="34" charset="-120"/>
              </a:rPr>
              <a:t>」</a:t>
            </a:r>
          </a:p>
          <a:p>
            <a:r>
              <a:rPr lang="zh-CN" altLang="en-US" sz="900" dirty="0">
                <a:latin typeface="+mn-ea"/>
              </a:rPr>
              <a:t>个性化合集</a:t>
            </a:r>
            <a:r>
              <a:rPr lang="en-US" altLang="zh-CN" sz="900" dirty="0">
                <a:latin typeface="+mn-ea"/>
              </a:rPr>
              <a:t>+UGC</a:t>
            </a:r>
            <a:r>
              <a:rPr lang="zh-CN" altLang="en-US" sz="900" dirty="0">
                <a:latin typeface="+mn-ea"/>
              </a:rPr>
              <a:t>合集</a:t>
            </a:r>
            <a:endParaRPr lang="en-US" sz="900" dirty="0">
              <a:latin typeface="+mn-ea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4386987" y="3809661"/>
            <a:ext cx="1773555" cy="785432"/>
          </a:xfrm>
          <a:prstGeom prst="roundRect">
            <a:avLst>
              <a:gd name="adj" fmla="val 5239"/>
            </a:avLst>
          </a:prstGeom>
          <a:solidFill>
            <a:srgbClr val="FFFFFF"/>
          </a:solidFill>
          <a:ln w="6350">
            <a:solidFill>
              <a:srgbClr val="81C784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386987" y="3809661"/>
            <a:ext cx="1773555" cy="22802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</p:sp>
      <p:sp>
        <p:nvSpPr>
          <p:cNvPr id="60" name="Text 58"/>
          <p:cNvSpPr/>
          <p:nvPr/>
        </p:nvSpPr>
        <p:spPr>
          <a:xfrm>
            <a:off x="4386987" y="3809661"/>
            <a:ext cx="1773555" cy="228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900" b="1" dirty="0">
                <a:latin typeface="+mn-ea"/>
                <a:cs typeface="Microsoft YaHei" pitchFamily="34" charset="-120"/>
              </a:rPr>
              <a:t>GC</a:t>
            </a:r>
            <a:endParaRPr lang="en-US" sz="900" dirty="0">
              <a:latin typeface="+mn-ea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4450328" y="4063026"/>
            <a:ext cx="1646873" cy="494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b="1" dirty="0" err="1">
                <a:latin typeface="+mn-ea"/>
                <a:cs typeface="Microsoft YaHei" pitchFamily="34" charset="-120"/>
              </a:rPr>
              <a:t>让用户「看</a:t>
            </a:r>
            <a:r>
              <a:rPr lang="zh-CN" altLang="en-US" sz="900" b="1" dirty="0">
                <a:latin typeface="+mn-ea"/>
                <a:cs typeface="Microsoft YaHei" pitchFamily="34" charset="-120"/>
              </a:rPr>
              <a:t>信息</a:t>
            </a:r>
            <a:r>
              <a:rPr lang="en-US" sz="900" b="1" dirty="0" err="1">
                <a:latin typeface="+mn-ea"/>
                <a:cs typeface="Microsoft YaHei" pitchFamily="34" charset="-120"/>
              </a:rPr>
              <a:t>决策</a:t>
            </a:r>
            <a:r>
              <a:rPr lang="en-US" sz="900" b="1" dirty="0">
                <a:latin typeface="+mn-ea"/>
                <a:cs typeface="Microsoft YaHei" pitchFamily="34" charset="-120"/>
              </a:rPr>
              <a:t>」</a:t>
            </a:r>
            <a:endParaRPr lang="en-US" sz="900" dirty="0">
              <a:latin typeface="+mn-ea"/>
              <a:cs typeface="Microsoft YaHei" pitchFamily="34" charset="-120"/>
            </a:endParaRPr>
          </a:p>
          <a:p>
            <a:r>
              <a:rPr lang="zh-CN" altLang="en-US" sz="900" dirty="0">
                <a:latin typeface="+mn-ea"/>
                <a:cs typeface="Microsoft YaHei" pitchFamily="34" charset="-120"/>
              </a:rPr>
              <a:t>基础信息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评价等非标长尾信息</a:t>
            </a:r>
            <a:endParaRPr lang="en-US" sz="900" dirty="0">
              <a:latin typeface="+mn-ea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6249219" y="3809661"/>
            <a:ext cx="2153603" cy="785432"/>
          </a:xfrm>
          <a:prstGeom prst="roundRect">
            <a:avLst>
              <a:gd name="adj" fmla="val 5239"/>
            </a:avLst>
          </a:prstGeom>
          <a:solidFill>
            <a:srgbClr val="FFFFFF"/>
          </a:solidFill>
          <a:ln w="6350">
            <a:solidFill>
              <a:srgbClr val="81C784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6249219" y="3809661"/>
            <a:ext cx="2153603" cy="22802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zh-CN" altLang="en-US" sz="900" dirty="0">
              <a:latin typeface="+mn-ea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6249219" y="3809661"/>
            <a:ext cx="2153603" cy="228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900" b="1" dirty="0">
                <a:latin typeface="+mn-ea"/>
                <a:cs typeface="Microsoft YaHei" pitchFamily="34" charset="-120"/>
              </a:rPr>
              <a:t>星级</a:t>
            </a:r>
            <a:endParaRPr lang="en-US" sz="900" dirty="0">
              <a:latin typeface="+mn-ea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6312561" y="4063026"/>
            <a:ext cx="2026920" cy="494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zh-CN" sz="900" b="1" dirty="0" err="1">
                <a:latin typeface="+mn-ea"/>
                <a:cs typeface="Microsoft YaHei" pitchFamily="34" charset="-120"/>
              </a:rPr>
              <a:t>让用户「看</a:t>
            </a:r>
            <a:r>
              <a:rPr lang="zh-CN" altLang="en-US" sz="900" b="1" dirty="0">
                <a:latin typeface="+mn-ea"/>
                <a:cs typeface="Microsoft YaHei" pitchFamily="34" charset="-120"/>
              </a:rPr>
              <a:t>分</a:t>
            </a:r>
            <a:r>
              <a:rPr lang="en-US" altLang="zh-CN" sz="900" b="1" dirty="0" err="1">
                <a:latin typeface="+mn-ea"/>
                <a:cs typeface="Microsoft YaHei" pitchFamily="34" charset="-120"/>
              </a:rPr>
              <a:t>决策</a:t>
            </a:r>
            <a:r>
              <a:rPr lang="en-US" altLang="zh-CN" sz="900" b="1" dirty="0">
                <a:latin typeface="+mn-ea"/>
                <a:cs typeface="Microsoft YaHei" pitchFamily="34" charset="-120"/>
              </a:rPr>
              <a:t>」</a:t>
            </a:r>
            <a:endParaRPr lang="en-US" altLang="zh-CN" sz="900" dirty="0">
              <a:latin typeface="+mn-ea"/>
              <a:cs typeface="Microsoft YaHei" pitchFamily="34" charset="-120"/>
            </a:endParaRPr>
          </a:p>
          <a:p>
            <a:r>
              <a:rPr lang="zh-CN" altLang="en-US" sz="900" dirty="0">
                <a:latin typeface="+mn-ea"/>
                <a:cs typeface="Microsoft YaHei" pitchFamily="34" charset="-120"/>
              </a:rPr>
              <a:t>标准化分数</a:t>
            </a:r>
            <a:endParaRPr lang="en-US" sz="900" dirty="0">
              <a:latin typeface="+mn-ea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257137" y="4810453"/>
            <a:ext cx="8234363" cy="950119"/>
          </a:xfrm>
          <a:prstGeom prst="roundRect">
            <a:avLst>
              <a:gd name="adj" fmla="val 5774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FFCC8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307810" y="4848458"/>
            <a:ext cx="278702" cy="874109"/>
          </a:xfrm>
          <a:prstGeom prst="roundRect">
            <a:avLst>
              <a:gd name="adj" fmla="val 9843"/>
            </a:avLst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/>
          <a:lstStyle/>
          <a:p>
            <a:r>
              <a:rPr lang="en-US" altLang="zh-CN" sz="900" b="1" dirty="0" err="1">
                <a:latin typeface="+mn-ea"/>
                <a:cs typeface="Microsoft YaHei" pitchFamily="34" charset="-120"/>
              </a:rPr>
              <a:t>资产计算层</a:t>
            </a:r>
            <a:endParaRPr lang="en-US" altLang="zh-CN" sz="900" dirty="0">
              <a:latin typeface="+mn-ea"/>
            </a:endParaRPr>
          </a:p>
          <a:p>
            <a:endParaRPr lang="zh-CN" altLang="en-US" sz="900" dirty="0">
              <a:latin typeface="+mn-ea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662521" y="4886462"/>
            <a:ext cx="1710214" cy="785432"/>
          </a:xfrm>
          <a:prstGeom prst="roundRect">
            <a:avLst>
              <a:gd name="adj" fmla="val 5239"/>
            </a:avLst>
          </a:prstGeom>
          <a:solidFill>
            <a:srgbClr val="FFFFFF"/>
          </a:solidFill>
          <a:ln w="6350">
            <a:solidFill>
              <a:srgbClr val="FFB74D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662521" y="4886462"/>
            <a:ext cx="1710214" cy="228029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71" name="Text 69"/>
          <p:cNvSpPr/>
          <p:nvPr/>
        </p:nvSpPr>
        <p:spPr>
          <a:xfrm>
            <a:off x="662521" y="4886462"/>
            <a:ext cx="1710214" cy="2280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latin typeface="+mn-ea"/>
                <a:cs typeface="Microsoft YaHei" pitchFamily="34" charset="-120"/>
              </a:rPr>
              <a:t>规则计算</a:t>
            </a:r>
            <a:endParaRPr lang="en-US" sz="900" dirty="0">
              <a:latin typeface="+mn-ea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725863" y="5139827"/>
            <a:ext cx="1583531" cy="494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CN" altLang="en-US" sz="900" dirty="0">
                <a:latin typeface="+mn-ea"/>
                <a:cs typeface="Microsoft YaHei" pitchFamily="34" charset="-120"/>
              </a:rPr>
              <a:t>多维数据综合计算</a:t>
            </a:r>
            <a:endParaRPr lang="en-US" sz="900" dirty="0">
              <a:latin typeface="+mn-ea"/>
              <a:cs typeface="Microsoft YaHei" pitchFamily="34" charset="-120"/>
            </a:endParaRPr>
          </a:p>
          <a:p>
            <a:r>
              <a:rPr lang="en-US" sz="900" dirty="0" err="1">
                <a:latin typeface="+mn-ea"/>
                <a:cs typeface="Microsoft YaHei" pitchFamily="34" charset="-120"/>
              </a:rPr>
              <a:t>非标体验→标准化信用体系</a:t>
            </a:r>
            <a:endParaRPr lang="en-US" sz="900" dirty="0">
              <a:latin typeface="+mn-ea"/>
            </a:endParaRPr>
          </a:p>
          <a:p>
            <a:r>
              <a:rPr lang="en-US" sz="900" dirty="0" err="1">
                <a:latin typeface="+mn-ea"/>
                <a:cs typeface="Microsoft YaHei" pitchFamily="34" charset="-120"/>
              </a:rPr>
              <a:t>可解释</a:t>
            </a:r>
            <a:r>
              <a:rPr lang="en-US" sz="900" dirty="0">
                <a:latin typeface="+mn-ea"/>
                <a:cs typeface="Microsoft YaHei" pitchFamily="34" charset="-120"/>
              </a:rPr>
              <a:t> · 可迭代 · </a:t>
            </a:r>
            <a:r>
              <a:rPr lang="en-US" sz="900" dirty="0" err="1">
                <a:latin typeface="+mn-ea"/>
                <a:cs typeface="Microsoft YaHei" pitchFamily="34" charset="-120"/>
              </a:rPr>
              <a:t>可审计</a:t>
            </a:r>
            <a:endParaRPr lang="en-US" sz="900" dirty="0">
              <a:latin typeface="+mn-ea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2474081" y="4886462"/>
            <a:ext cx="1710214" cy="785432"/>
          </a:xfrm>
          <a:prstGeom prst="roundRect">
            <a:avLst>
              <a:gd name="adj" fmla="val 5239"/>
            </a:avLst>
          </a:prstGeom>
          <a:solidFill>
            <a:srgbClr val="FFFFFF"/>
          </a:solidFill>
          <a:ln w="6350">
            <a:solidFill>
              <a:srgbClr val="FFB74D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2474081" y="4886462"/>
            <a:ext cx="1710214" cy="228029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75" name="Text 73"/>
          <p:cNvSpPr/>
          <p:nvPr/>
        </p:nvSpPr>
        <p:spPr>
          <a:xfrm>
            <a:off x="2474081" y="4886462"/>
            <a:ext cx="1710214" cy="2280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latin typeface="+mn-ea"/>
                <a:cs typeface="Microsoft YaHei" pitchFamily="34" charset="-120"/>
              </a:rPr>
              <a:t>结构化 + 质量定义</a:t>
            </a:r>
            <a:endParaRPr lang="en-US" sz="900" dirty="0">
              <a:latin typeface="+mn-ea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2537423" y="5139827"/>
            <a:ext cx="1583531" cy="494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 err="1">
                <a:latin typeface="+mn-ea"/>
                <a:cs typeface="Microsoft YaHei" pitchFamily="34" charset="-120"/>
              </a:rPr>
              <a:t>资产分级（A</a:t>
            </a:r>
            <a:r>
              <a:rPr lang="en-US" sz="900" dirty="0">
                <a:latin typeface="+mn-ea"/>
                <a:cs typeface="Microsoft YaHei" pitchFamily="34" charset="-120"/>
              </a:rPr>
              <a:t>/B/</a:t>
            </a:r>
            <a:r>
              <a:rPr lang="en-US" sz="900" dirty="0" err="1">
                <a:latin typeface="+mn-ea"/>
                <a:cs typeface="Microsoft YaHei" pitchFamily="34" charset="-120"/>
              </a:rPr>
              <a:t>C类资产</a:t>
            </a:r>
            <a:r>
              <a:rPr lang="en-US" sz="900" dirty="0">
                <a:latin typeface="+mn-ea"/>
                <a:cs typeface="Microsoft YaHei" pitchFamily="34" charset="-120"/>
              </a:rPr>
              <a:t>）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、</a:t>
            </a:r>
            <a:endParaRPr lang="en-US" sz="900" dirty="0">
              <a:latin typeface="+mn-ea"/>
            </a:endParaRPr>
          </a:p>
          <a:p>
            <a:r>
              <a:rPr lang="en-US" sz="900" dirty="0" err="1">
                <a:latin typeface="+mn-ea"/>
                <a:cs typeface="Microsoft YaHei" pitchFamily="34" charset="-120"/>
              </a:rPr>
              <a:t>质量标准（有效</a:t>
            </a:r>
            <a:r>
              <a:rPr lang="en-US" sz="900" dirty="0">
                <a:latin typeface="+mn-ea"/>
                <a:cs typeface="Microsoft YaHei" pitchFamily="34" charset="-120"/>
              </a:rPr>
              <a:t>/</a:t>
            </a:r>
            <a:r>
              <a:rPr lang="en-US" sz="900" dirty="0" err="1">
                <a:latin typeface="+mn-ea"/>
                <a:cs typeface="Microsoft YaHei" pitchFamily="34" charset="-120"/>
              </a:rPr>
              <a:t>无效</a:t>
            </a:r>
            <a:r>
              <a:rPr lang="en-US" sz="900" dirty="0">
                <a:latin typeface="+mn-ea"/>
                <a:cs typeface="Microsoft YaHei" pitchFamily="34" charset="-120"/>
              </a:rPr>
              <a:t>/</a:t>
            </a:r>
            <a:r>
              <a:rPr lang="en-US" sz="900" dirty="0" err="1">
                <a:latin typeface="+mn-ea"/>
                <a:cs typeface="Microsoft YaHei" pitchFamily="34" charset="-120"/>
              </a:rPr>
              <a:t>低质</a:t>
            </a:r>
            <a:r>
              <a:rPr lang="en-US" sz="900" dirty="0">
                <a:latin typeface="+mn-ea"/>
                <a:cs typeface="Microsoft YaHei" pitchFamily="34" charset="-120"/>
              </a:rPr>
              <a:t>）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、</a:t>
            </a:r>
            <a:endParaRPr lang="en-US" sz="900" dirty="0">
              <a:latin typeface="+mn-ea"/>
            </a:endParaRPr>
          </a:p>
          <a:p>
            <a:r>
              <a:rPr lang="en-US" sz="900" b="1" dirty="0" err="1">
                <a:latin typeface="+mn-ea"/>
                <a:cs typeface="Microsoft YaHei" pitchFamily="34" charset="-120"/>
              </a:rPr>
              <a:t>标准即壁垒：定义「好</a:t>
            </a:r>
            <a:r>
              <a:rPr lang="en-US" sz="900" b="1" dirty="0">
                <a:latin typeface="+mn-ea"/>
                <a:cs typeface="Microsoft YaHei" pitchFamily="34" charset="-120"/>
              </a:rPr>
              <a:t>」</a:t>
            </a:r>
            <a:endParaRPr lang="en-US" sz="900" dirty="0">
              <a:latin typeface="+mn-ea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4285641" y="4886462"/>
            <a:ext cx="1710214" cy="785432"/>
          </a:xfrm>
          <a:prstGeom prst="roundRect">
            <a:avLst>
              <a:gd name="adj" fmla="val 5239"/>
            </a:avLst>
          </a:prstGeom>
          <a:solidFill>
            <a:srgbClr val="FFFFFF"/>
          </a:solidFill>
          <a:ln w="6350">
            <a:solidFill>
              <a:srgbClr val="FFB74D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4285641" y="4886462"/>
            <a:ext cx="1710214" cy="2280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</p:sp>
      <p:sp>
        <p:nvSpPr>
          <p:cNvPr id="79" name="Text 77"/>
          <p:cNvSpPr/>
          <p:nvPr/>
        </p:nvSpPr>
        <p:spPr>
          <a:xfrm>
            <a:off x="4285641" y="4886462"/>
            <a:ext cx="1710214" cy="228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latin typeface="+mn-ea"/>
                <a:cs typeface="Microsoft YaHei" pitchFamily="34" charset="-120"/>
              </a:rPr>
              <a:t>AI挖掘</a:t>
            </a:r>
            <a:endParaRPr lang="en-US" sz="900" dirty="0">
              <a:latin typeface="+mn-ea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4348982" y="5139827"/>
            <a:ext cx="1646873" cy="494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CN" altLang="en-US" sz="900" dirty="0">
                <a:latin typeface="+mn-ea"/>
                <a:cs typeface="Microsoft YaHei" pitchFamily="34" charset="-120"/>
              </a:rPr>
              <a:t>语义理解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信息挖掘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识别</a:t>
            </a:r>
            <a:endParaRPr lang="en-US" sz="900" dirty="0">
              <a:latin typeface="+mn-ea"/>
            </a:endParaRPr>
          </a:p>
          <a:p>
            <a:r>
              <a:rPr lang="en-US" sz="900" b="1" dirty="0" err="1">
                <a:latin typeface="+mn-ea"/>
                <a:cs typeface="Microsoft YaHei" pitchFamily="34" charset="-120"/>
              </a:rPr>
              <a:t>符合物理世界AI战略</a:t>
            </a:r>
            <a:endParaRPr lang="en-US" sz="900" dirty="0">
              <a:latin typeface="+mn-ea"/>
            </a:endParaRPr>
          </a:p>
        </p:txBody>
      </p:sp>
      <p:sp>
        <p:nvSpPr>
          <p:cNvPr id="81" name="Shape 79"/>
          <p:cNvSpPr/>
          <p:nvPr/>
        </p:nvSpPr>
        <p:spPr>
          <a:xfrm>
            <a:off x="6097200" y="4886462"/>
            <a:ext cx="2305622" cy="785432"/>
          </a:xfrm>
          <a:prstGeom prst="roundRect">
            <a:avLst>
              <a:gd name="adj" fmla="val 5239"/>
            </a:avLst>
          </a:prstGeom>
          <a:solidFill>
            <a:srgbClr val="FFFFFF"/>
          </a:solidFill>
          <a:ln w="6350">
            <a:solidFill>
              <a:srgbClr val="FFB74D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6097200" y="4886462"/>
            <a:ext cx="2305622" cy="228029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83" name="Text 81"/>
          <p:cNvSpPr/>
          <p:nvPr/>
        </p:nvSpPr>
        <p:spPr>
          <a:xfrm>
            <a:off x="6097200" y="4886462"/>
            <a:ext cx="2305622" cy="2280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latin typeface="+mn-ea"/>
                <a:cs typeface="Microsoft YaHei" pitchFamily="34" charset="-120"/>
              </a:rPr>
              <a:t>公信力治理</a:t>
            </a:r>
            <a:endParaRPr lang="en-US" sz="900" dirty="0">
              <a:latin typeface="+mn-ea"/>
            </a:endParaRPr>
          </a:p>
        </p:txBody>
      </p:sp>
      <p:sp>
        <p:nvSpPr>
          <p:cNvPr id="84" name="Text 82"/>
          <p:cNvSpPr/>
          <p:nvPr/>
        </p:nvSpPr>
        <p:spPr>
          <a:xfrm>
            <a:off x="6160542" y="5139827"/>
            <a:ext cx="2178939" cy="494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>
                <a:latin typeface="+mn-ea"/>
                <a:cs typeface="Microsoft YaHei" pitchFamily="34" charset="-120"/>
              </a:rPr>
              <a:t>反刷分/反虚假（底线红线）</a:t>
            </a:r>
            <a:endParaRPr lang="en-US" sz="900" dirty="0">
              <a:latin typeface="+mn-ea"/>
            </a:endParaRPr>
          </a:p>
          <a:p>
            <a:r>
              <a:rPr lang="en-US" sz="900" dirty="0">
                <a:latin typeface="+mn-ea"/>
                <a:cs typeface="Microsoft YaHei" pitchFamily="34" charset="-120"/>
              </a:rPr>
              <a:t>团购打卡/奖励评论的真实感稀释治理</a:t>
            </a:r>
            <a:endParaRPr lang="en-US" sz="900" dirty="0">
              <a:latin typeface="+mn-ea"/>
            </a:endParaRPr>
          </a:p>
          <a:p>
            <a:r>
              <a:rPr lang="en-US" sz="900" dirty="0">
                <a:latin typeface="+mn-ea"/>
                <a:cs typeface="Microsoft YaHei" pitchFamily="34" charset="-120"/>
              </a:rPr>
              <a:t>上下榜全生命周期 · 投诉/处置/沟通</a:t>
            </a:r>
            <a:endParaRPr lang="en-US" sz="900" dirty="0">
              <a:latin typeface="+mn-ea"/>
            </a:endParaRPr>
          </a:p>
          <a:p>
            <a:r>
              <a:rPr lang="en-US" sz="900" b="1" dirty="0">
                <a:latin typeface="+mn-ea"/>
                <a:cs typeface="Microsoft YaHei" pitchFamily="34" charset="-120"/>
              </a:rPr>
              <a:t>公信力=信任地基，不可妥协</a:t>
            </a:r>
            <a:endParaRPr lang="en-US" sz="900" dirty="0">
              <a:latin typeface="+mn-ea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257137" y="5887254"/>
            <a:ext cx="8234363" cy="1393508"/>
          </a:xfrm>
          <a:prstGeom prst="roundRect">
            <a:avLst>
              <a:gd name="adj" fmla="val 3937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BCAAA4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307810" y="5925259"/>
            <a:ext cx="278702" cy="1317498"/>
          </a:xfrm>
          <a:prstGeom prst="roundRect">
            <a:avLst>
              <a:gd name="adj" fmla="val 9843"/>
            </a:avLst>
          </a:prstGeom>
          <a:solidFill>
            <a:schemeClr val="bg1">
              <a:lumMod val="85000"/>
            </a:schemeClr>
          </a:solidFill>
          <a:ln/>
        </p:spPr>
        <p:txBody>
          <a:bodyPr anchor="ctr"/>
          <a:lstStyle/>
          <a:p>
            <a:r>
              <a:rPr lang="en-US" altLang="zh-CN" sz="900" b="1" dirty="0" err="1">
                <a:latin typeface="+mn-ea"/>
                <a:cs typeface="Microsoft YaHei" pitchFamily="34" charset="-120"/>
              </a:rPr>
              <a:t>资产数据层</a:t>
            </a:r>
            <a:endParaRPr lang="en-US" altLang="zh-CN" sz="900" dirty="0">
              <a:latin typeface="+mn-ea"/>
            </a:endParaRPr>
          </a:p>
        </p:txBody>
      </p:sp>
      <p:sp>
        <p:nvSpPr>
          <p:cNvPr id="88" name="Shape 86"/>
          <p:cNvSpPr/>
          <p:nvPr/>
        </p:nvSpPr>
        <p:spPr>
          <a:xfrm>
            <a:off x="662521" y="5963264"/>
            <a:ext cx="3800475" cy="1216152"/>
          </a:xfrm>
          <a:prstGeom prst="roundRect">
            <a:avLst>
              <a:gd name="adj" fmla="val 3383"/>
            </a:avLst>
          </a:prstGeom>
          <a:solidFill>
            <a:srgbClr val="FFFFFF"/>
          </a:solidFill>
          <a:ln w="6350">
            <a:solidFill>
              <a:srgbClr val="A1887F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9" name="Text 87"/>
          <p:cNvSpPr/>
          <p:nvPr/>
        </p:nvSpPr>
        <p:spPr>
          <a:xfrm>
            <a:off x="662521" y="5963264"/>
            <a:ext cx="3800475" cy="202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 err="1">
                <a:latin typeface="+mn-ea"/>
                <a:cs typeface="Microsoft YaHei" pitchFamily="34" charset="-120"/>
              </a:rPr>
              <a:t>维度</a:t>
            </a:r>
            <a:endParaRPr lang="en-US" sz="900" dirty="0">
              <a:latin typeface="+mn-ea"/>
            </a:endParaRPr>
          </a:p>
        </p:txBody>
      </p:sp>
      <p:sp>
        <p:nvSpPr>
          <p:cNvPr id="90" name="Shape 88"/>
          <p:cNvSpPr/>
          <p:nvPr/>
        </p:nvSpPr>
        <p:spPr>
          <a:xfrm>
            <a:off x="763867" y="6216629"/>
            <a:ext cx="633413" cy="329375"/>
          </a:xfrm>
          <a:prstGeom prst="roundRect">
            <a:avLst>
              <a:gd name="adj" fmla="val 8329"/>
            </a:avLst>
          </a:prstGeom>
          <a:solidFill>
            <a:srgbClr val="EFEBE9"/>
          </a:solidFill>
          <a:ln w="6350">
            <a:solidFill>
              <a:srgbClr val="8D6E63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63867" y="6216629"/>
            <a:ext cx="633413" cy="329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 err="1">
                <a:latin typeface="+mn-ea"/>
                <a:cs typeface="Microsoft YaHei" pitchFamily="34" charset="-120"/>
              </a:rPr>
              <a:t>交易</a:t>
            </a:r>
            <a:endParaRPr lang="en-US" sz="900" dirty="0">
              <a:latin typeface="+mn-ea"/>
            </a:endParaRPr>
          </a:p>
        </p:txBody>
      </p:sp>
      <p:sp>
        <p:nvSpPr>
          <p:cNvPr id="92" name="Shape 90"/>
          <p:cNvSpPr/>
          <p:nvPr/>
        </p:nvSpPr>
        <p:spPr>
          <a:xfrm>
            <a:off x="1473289" y="6216629"/>
            <a:ext cx="633413" cy="329375"/>
          </a:xfrm>
          <a:prstGeom prst="roundRect">
            <a:avLst>
              <a:gd name="adj" fmla="val 8329"/>
            </a:avLst>
          </a:prstGeom>
          <a:solidFill>
            <a:srgbClr val="EFEBE9"/>
          </a:solidFill>
          <a:ln w="6350">
            <a:solidFill>
              <a:srgbClr val="8D6E63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473289" y="6216629"/>
            <a:ext cx="633413" cy="329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 err="1">
                <a:latin typeface="+mn-ea"/>
                <a:cs typeface="Microsoft YaHei" pitchFamily="34" charset="-120"/>
              </a:rPr>
              <a:t>评价</a:t>
            </a:r>
            <a:endParaRPr lang="en-US" sz="900" dirty="0">
              <a:latin typeface="+mn-ea"/>
            </a:endParaRPr>
          </a:p>
        </p:txBody>
      </p:sp>
      <p:sp>
        <p:nvSpPr>
          <p:cNvPr id="94" name="Shape 92"/>
          <p:cNvSpPr/>
          <p:nvPr/>
        </p:nvSpPr>
        <p:spPr>
          <a:xfrm>
            <a:off x="2182711" y="6216629"/>
            <a:ext cx="633413" cy="329375"/>
          </a:xfrm>
          <a:prstGeom prst="roundRect">
            <a:avLst>
              <a:gd name="adj" fmla="val 8329"/>
            </a:avLst>
          </a:prstGeom>
          <a:solidFill>
            <a:srgbClr val="EFEBE9"/>
          </a:solidFill>
          <a:ln w="6350">
            <a:solidFill>
              <a:srgbClr val="8D6E63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182711" y="6216629"/>
            <a:ext cx="633413" cy="329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latin typeface="+mn-ea"/>
                <a:cs typeface="Microsoft YaHei" pitchFamily="34" charset="-120"/>
              </a:rPr>
              <a:t>收藏/</a:t>
            </a:r>
            <a:r>
              <a:rPr lang="en-US" sz="900" b="1" dirty="0" err="1">
                <a:latin typeface="+mn-ea"/>
                <a:cs typeface="Microsoft YaHei" pitchFamily="34" charset="-120"/>
              </a:rPr>
              <a:t>打卡</a:t>
            </a:r>
            <a:endParaRPr lang="en-US" sz="900" dirty="0">
              <a:latin typeface="+mn-ea"/>
            </a:endParaRPr>
          </a:p>
        </p:txBody>
      </p:sp>
      <p:sp>
        <p:nvSpPr>
          <p:cNvPr id="96" name="Shape 94"/>
          <p:cNvSpPr/>
          <p:nvPr/>
        </p:nvSpPr>
        <p:spPr>
          <a:xfrm>
            <a:off x="2892133" y="6216629"/>
            <a:ext cx="633413" cy="329375"/>
          </a:xfrm>
          <a:prstGeom prst="roundRect">
            <a:avLst>
              <a:gd name="adj" fmla="val 8329"/>
            </a:avLst>
          </a:prstGeom>
          <a:solidFill>
            <a:srgbClr val="EFEBE9"/>
          </a:solidFill>
          <a:ln w="6350">
            <a:solidFill>
              <a:srgbClr val="8D6E63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2892133" y="6216629"/>
            <a:ext cx="633413" cy="329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 err="1">
                <a:latin typeface="+mn-ea"/>
                <a:cs typeface="Microsoft YaHei" pitchFamily="34" charset="-120"/>
              </a:rPr>
              <a:t>履约</a:t>
            </a:r>
            <a:endParaRPr lang="en-US" sz="900" dirty="0">
              <a:latin typeface="+mn-ea"/>
            </a:endParaRPr>
          </a:p>
        </p:txBody>
      </p:sp>
      <p:sp>
        <p:nvSpPr>
          <p:cNvPr id="98" name="Shape 96"/>
          <p:cNvSpPr/>
          <p:nvPr/>
        </p:nvSpPr>
        <p:spPr>
          <a:xfrm>
            <a:off x="3601555" y="6216629"/>
            <a:ext cx="760095" cy="329375"/>
          </a:xfrm>
          <a:prstGeom prst="roundRect">
            <a:avLst>
              <a:gd name="adj" fmla="val 8329"/>
            </a:avLst>
          </a:prstGeom>
          <a:solidFill>
            <a:srgbClr val="EFEBE9"/>
          </a:solidFill>
          <a:ln w="6350">
            <a:solidFill>
              <a:srgbClr val="8D6E63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601555" y="6216629"/>
            <a:ext cx="760095" cy="329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 err="1">
                <a:latin typeface="+mn-ea"/>
                <a:cs typeface="Microsoft YaHei" pitchFamily="34" charset="-120"/>
              </a:rPr>
              <a:t>GC信息</a:t>
            </a:r>
            <a:endParaRPr lang="en-US" sz="900" dirty="0">
              <a:latin typeface="+mn-ea"/>
            </a:endParaRPr>
          </a:p>
        </p:txBody>
      </p:sp>
      <p:sp>
        <p:nvSpPr>
          <p:cNvPr id="100" name="Shape 98"/>
          <p:cNvSpPr/>
          <p:nvPr/>
        </p:nvSpPr>
        <p:spPr>
          <a:xfrm>
            <a:off x="763867" y="6622013"/>
            <a:ext cx="3597783" cy="468725"/>
          </a:xfrm>
          <a:prstGeom prst="roundRect">
            <a:avLst>
              <a:gd name="adj" fmla="val 5852"/>
            </a:avLst>
          </a:prstGeom>
          <a:solidFill>
            <a:srgbClr val="D7CCC8"/>
          </a:solidFill>
          <a:ln w="3810">
            <a:solidFill>
              <a:srgbClr val="8D6E63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89204" y="6634681"/>
            <a:ext cx="3547110" cy="4433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 err="1">
                <a:latin typeface="+mn-ea"/>
                <a:cs typeface="Microsoft YaHei" pitchFamily="34" charset="-120"/>
              </a:rPr>
              <a:t>差异化壁垒来源</a:t>
            </a:r>
            <a:r>
              <a:rPr lang="en-US" sz="900" b="1" dirty="0">
                <a:latin typeface="+mn-ea"/>
                <a:cs typeface="Microsoft YaHei" pitchFamily="34" charset="-120"/>
              </a:rPr>
              <a:t>：</a:t>
            </a:r>
            <a:r>
              <a:rPr lang="zh-CN" altLang="en-US" sz="900" b="1" dirty="0">
                <a:latin typeface="+mn-ea"/>
                <a:cs typeface="Microsoft YaHei" pitchFamily="34" charset="-120"/>
              </a:rPr>
              <a:t>长期</a:t>
            </a:r>
            <a:r>
              <a:rPr lang="en-US" altLang="zh-CN" sz="900" b="1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900" b="1" dirty="0">
                <a:latin typeface="+mn-ea"/>
                <a:cs typeface="Microsoft YaHei" pitchFamily="34" charset="-120"/>
              </a:rPr>
              <a:t>多维</a:t>
            </a:r>
            <a:r>
              <a:rPr lang="en-US" altLang="zh-CN" sz="900" b="1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900" b="1" dirty="0">
                <a:latin typeface="+mn-ea"/>
                <a:cs typeface="Microsoft YaHei" pitchFamily="34" charset="-120"/>
              </a:rPr>
              <a:t>真实</a:t>
            </a:r>
            <a:endParaRPr lang="en-US" altLang="zh-CN" sz="900" b="1" dirty="0">
              <a:latin typeface="+mn-ea"/>
              <a:cs typeface="Microsoft YaHei" pitchFamily="34" charset="-120"/>
            </a:endParaRPr>
          </a:p>
          <a:p>
            <a:pPr algn="ctr"/>
            <a:r>
              <a:rPr lang="zh-CN" altLang="en-US" sz="900" dirty="0">
                <a:latin typeface="+mn-ea"/>
                <a:cs typeface="Microsoft YaHei" pitchFamily="34" charset="-120"/>
              </a:rPr>
              <a:t>竞品</a:t>
            </a:r>
            <a:r>
              <a:rPr lang="en-US" sz="900" dirty="0" err="1">
                <a:latin typeface="+mn-ea"/>
                <a:cs typeface="Microsoft YaHei" pitchFamily="34" charset="-120"/>
              </a:rPr>
              <a:t>无法复制底层数据资产的厚度和真实性</a:t>
            </a:r>
            <a:endParaRPr lang="en-US" sz="900" dirty="0">
              <a:latin typeface="+mn-ea"/>
            </a:endParaRPr>
          </a:p>
        </p:txBody>
      </p:sp>
      <p:sp>
        <p:nvSpPr>
          <p:cNvPr id="102" name="Shape 100"/>
          <p:cNvSpPr/>
          <p:nvPr/>
        </p:nvSpPr>
        <p:spPr>
          <a:xfrm>
            <a:off x="4627683" y="5963264"/>
            <a:ext cx="3775139" cy="1216152"/>
          </a:xfrm>
          <a:prstGeom prst="roundRect">
            <a:avLst>
              <a:gd name="adj" fmla="val 3383"/>
            </a:avLst>
          </a:prstGeom>
          <a:solidFill>
            <a:srgbClr val="FFFFFF"/>
          </a:solidFill>
          <a:ln w="6350">
            <a:solidFill>
              <a:srgbClr val="A1887F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3" name="Text 101"/>
          <p:cNvSpPr/>
          <p:nvPr/>
        </p:nvSpPr>
        <p:spPr>
          <a:xfrm>
            <a:off x="4627683" y="5963264"/>
            <a:ext cx="3775139" cy="202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latin typeface="+mn-ea"/>
                <a:cs typeface="Microsoft YaHei" pitchFamily="34" charset="-120"/>
              </a:rPr>
              <a:t>对象：物理世界的数字化映射</a:t>
            </a:r>
            <a:endParaRPr lang="en-US" sz="900" dirty="0">
              <a:latin typeface="+mn-ea"/>
            </a:endParaRPr>
          </a:p>
        </p:txBody>
      </p:sp>
      <p:sp>
        <p:nvSpPr>
          <p:cNvPr id="104" name="Shape 102"/>
          <p:cNvSpPr/>
          <p:nvPr/>
        </p:nvSpPr>
        <p:spPr>
          <a:xfrm>
            <a:off x="4754366" y="6216629"/>
            <a:ext cx="1076801" cy="874109"/>
          </a:xfrm>
          <a:prstGeom prst="roundRect">
            <a:avLst>
              <a:gd name="adj" fmla="val 3138"/>
            </a:avLst>
          </a:prstGeom>
          <a:solidFill>
            <a:srgbClr val="EFEBE9"/>
          </a:solidFill>
          <a:ln w="6350">
            <a:solidFill>
              <a:srgbClr val="8D6E63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754366" y="6216629"/>
            <a:ext cx="1076801" cy="8741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latin typeface="+mn-ea"/>
                <a:cs typeface="Microsoft YaHei" pitchFamily="34" charset="-120"/>
              </a:rPr>
              <a:t>店</a:t>
            </a:r>
            <a:endParaRPr lang="en-US" sz="900" dirty="0">
              <a:latin typeface="+mn-ea"/>
            </a:endParaRPr>
          </a:p>
          <a:p>
            <a:pPr algn="ctr"/>
            <a:r>
              <a:rPr lang="en-US" sz="900" dirty="0">
                <a:latin typeface="+mn-ea"/>
                <a:cs typeface="Microsoft YaHei" pitchFamily="34" charset="-120"/>
              </a:rPr>
              <a:t> </a:t>
            </a:r>
            <a:endParaRPr lang="en-US" sz="900" dirty="0">
              <a:latin typeface="+mn-ea"/>
            </a:endParaRPr>
          </a:p>
          <a:p>
            <a:pPr algn="ctr"/>
            <a:r>
              <a:rPr lang="en-US" sz="900" dirty="0" err="1">
                <a:latin typeface="+mn-ea"/>
                <a:cs typeface="Microsoft YaHei" pitchFamily="34" charset="-120"/>
              </a:rPr>
              <a:t>当前核心对象</a:t>
            </a:r>
            <a:endParaRPr lang="en-US" sz="900" dirty="0">
              <a:latin typeface="+mn-ea"/>
            </a:endParaRPr>
          </a:p>
          <a:p>
            <a:pPr algn="ctr"/>
            <a:r>
              <a:rPr lang="en-US" sz="900" dirty="0">
                <a:latin typeface="+mn-ea"/>
                <a:cs typeface="Microsoft YaHei" pitchFamily="34" charset="-120"/>
              </a:rPr>
              <a:t>「</a:t>
            </a:r>
            <a:r>
              <a:rPr lang="en-US" sz="900" dirty="0" err="1">
                <a:latin typeface="+mn-ea"/>
                <a:cs typeface="Microsoft YaHei" pitchFamily="34" charset="-120"/>
              </a:rPr>
              <a:t>找店决策」主阵地</a:t>
            </a:r>
            <a:endParaRPr lang="en-US" sz="900" dirty="0">
              <a:latin typeface="+mn-ea"/>
            </a:endParaRPr>
          </a:p>
        </p:txBody>
      </p:sp>
      <p:sp>
        <p:nvSpPr>
          <p:cNvPr id="106" name="Shape 104"/>
          <p:cNvSpPr/>
          <p:nvPr/>
        </p:nvSpPr>
        <p:spPr>
          <a:xfrm>
            <a:off x="5957850" y="6216629"/>
            <a:ext cx="1076801" cy="874109"/>
          </a:xfrm>
          <a:prstGeom prst="roundRect">
            <a:avLst>
              <a:gd name="adj" fmla="val 3138"/>
            </a:avLst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957850" y="6216629"/>
            <a:ext cx="1076801" cy="874109"/>
          </a:xfrm>
          <a:prstGeom prst="rect">
            <a:avLst/>
          </a:prstGeom>
          <a:solidFill>
            <a:srgbClr val="EFEBE9"/>
          </a:solidFill>
          <a:ln w="6350">
            <a:solidFill>
              <a:srgbClr val="8D6E6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latin typeface="+mn-ea"/>
                <a:cs typeface="Microsoft YaHei" pitchFamily="34" charset="-120"/>
              </a:rPr>
              <a:t>菜</a:t>
            </a:r>
            <a:endParaRPr lang="en-US" sz="900" dirty="0">
              <a:latin typeface="+mn-ea"/>
            </a:endParaRPr>
          </a:p>
          <a:p>
            <a:pPr algn="ctr"/>
            <a:r>
              <a:rPr lang="en-US" sz="900" dirty="0">
                <a:latin typeface="+mn-ea"/>
                <a:cs typeface="Microsoft YaHei" pitchFamily="34" charset="-120"/>
              </a:rPr>
              <a:t> </a:t>
            </a:r>
            <a:endParaRPr lang="en-US" sz="900" dirty="0">
              <a:latin typeface="+mn-ea"/>
            </a:endParaRPr>
          </a:p>
          <a:p>
            <a:pPr algn="ctr"/>
            <a:r>
              <a:rPr lang="en-US" sz="900" dirty="0" err="1">
                <a:latin typeface="+mn-ea"/>
                <a:cs typeface="Microsoft YaHei" pitchFamily="34" charset="-120"/>
              </a:rPr>
              <a:t>扩展方向</a:t>
            </a:r>
            <a:endParaRPr lang="en-US" sz="900" dirty="0">
              <a:latin typeface="+mn-ea"/>
            </a:endParaRPr>
          </a:p>
          <a:p>
            <a:pPr algn="ctr"/>
            <a:r>
              <a:rPr lang="en-US" sz="900" dirty="0">
                <a:latin typeface="+mn-ea"/>
                <a:cs typeface="Microsoft YaHei" pitchFamily="34" charset="-120"/>
              </a:rPr>
              <a:t>「先选品，后到店」</a:t>
            </a:r>
            <a:endParaRPr lang="en-US" sz="900" dirty="0">
              <a:latin typeface="+mn-ea"/>
            </a:endParaRPr>
          </a:p>
        </p:txBody>
      </p:sp>
      <p:sp>
        <p:nvSpPr>
          <p:cNvPr id="108" name="Shape 106"/>
          <p:cNvSpPr/>
          <p:nvPr/>
        </p:nvSpPr>
        <p:spPr>
          <a:xfrm>
            <a:off x="7161334" y="6216629"/>
            <a:ext cx="1076801" cy="874109"/>
          </a:xfrm>
          <a:prstGeom prst="roundRect">
            <a:avLst>
              <a:gd name="adj" fmla="val 3138"/>
            </a:avLst>
          </a:prstGeom>
          <a:solidFill>
            <a:srgbClr val="EFEBE9"/>
          </a:solidFill>
          <a:ln w="6350">
            <a:solidFill>
              <a:srgbClr val="8D6E63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7161334" y="6216629"/>
            <a:ext cx="1076801" cy="8741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latin typeface="+mn-ea"/>
                <a:cs typeface="Microsoft YaHei" pitchFamily="34" charset="-120"/>
              </a:rPr>
              <a:t>人</a:t>
            </a:r>
            <a:endParaRPr lang="en-US" sz="900" dirty="0">
              <a:latin typeface="+mn-ea"/>
            </a:endParaRPr>
          </a:p>
          <a:p>
            <a:pPr algn="ctr"/>
            <a:endParaRPr lang="en-US" sz="900" dirty="0">
              <a:latin typeface="+mn-ea"/>
              <a:cs typeface="Microsoft YaHei" pitchFamily="34" charset="-120"/>
            </a:endParaRPr>
          </a:p>
          <a:p>
            <a:pPr algn="ctr"/>
            <a:r>
              <a:rPr lang="zh-CN" altLang="en-US" sz="900" dirty="0">
                <a:latin typeface="+mn-ea"/>
                <a:cs typeface="Microsoft YaHei" pitchFamily="34" charset="-120"/>
              </a:rPr>
              <a:t>扩展方向</a:t>
            </a:r>
            <a:endParaRPr lang="en-US" altLang="zh-CN" sz="900" dirty="0">
              <a:latin typeface="+mn-ea"/>
              <a:cs typeface="Microsoft YaHei" pitchFamily="34" charset="-120"/>
            </a:endParaRPr>
          </a:p>
          <a:p>
            <a:pPr algn="ctr"/>
            <a:r>
              <a:rPr lang="en-US" altLang="zh-CN" sz="900" dirty="0">
                <a:latin typeface="+mn-ea"/>
                <a:cs typeface="Microsoft YaHei" pitchFamily="34" charset="-120"/>
              </a:rPr>
              <a:t>「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信任人，而决策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」</a:t>
            </a:r>
            <a:endParaRPr lang="en-US" altLang="zh-CN" sz="900" dirty="0">
              <a:latin typeface="+mn-ea"/>
            </a:endParaRPr>
          </a:p>
        </p:txBody>
      </p:sp>
      <p:sp>
        <p:nvSpPr>
          <p:cNvPr id="112" name="Text 110"/>
          <p:cNvSpPr/>
          <p:nvPr/>
        </p:nvSpPr>
        <p:spPr>
          <a:xfrm rot="16200000">
            <a:off x="304038" y="8462391"/>
            <a:ext cx="228029" cy="1013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900" dirty="0">
              <a:latin typeface="+mn-ea"/>
            </a:endParaRPr>
          </a:p>
        </p:txBody>
      </p:sp>
      <p:sp>
        <p:nvSpPr>
          <p:cNvPr id="118" name="Shape 116"/>
          <p:cNvSpPr/>
          <p:nvPr/>
        </p:nvSpPr>
        <p:spPr>
          <a:xfrm>
            <a:off x="257137" y="7401110"/>
            <a:ext cx="8234363" cy="570071"/>
          </a:xfrm>
          <a:prstGeom prst="roundRect">
            <a:avLst>
              <a:gd name="adj" fmla="val 7218"/>
            </a:avLst>
          </a:prstGeom>
          <a:solidFill>
            <a:srgbClr val="FFFFFF"/>
          </a:solidFill>
          <a:ln w="6350">
            <a:solidFill>
              <a:srgbClr val="90A4AE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 sz="900" dirty="0">
              <a:latin typeface="+mn-ea"/>
            </a:endParaRPr>
          </a:p>
        </p:txBody>
      </p:sp>
      <p:sp>
        <p:nvSpPr>
          <p:cNvPr id="119" name="Text 117"/>
          <p:cNvSpPr/>
          <p:nvPr/>
        </p:nvSpPr>
        <p:spPr>
          <a:xfrm>
            <a:off x="257137" y="7401110"/>
            <a:ext cx="8234363" cy="228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latin typeface="+mn-ea"/>
                <a:cs typeface="Microsoft YaHei" pitchFamily="34" charset="-120"/>
              </a:rPr>
              <a:t>资产飞轮：用户消费→行为沉淀为资产→计算加工为信任信号→驱动新用户决策→牵引商户改善经营→更多真实消费→更厚资产沉淀</a:t>
            </a:r>
            <a:endParaRPr lang="en-US" sz="900" dirty="0">
              <a:latin typeface="+mn-ea"/>
            </a:endParaRPr>
          </a:p>
        </p:txBody>
      </p:sp>
      <p:sp>
        <p:nvSpPr>
          <p:cNvPr id="120" name="Text 118"/>
          <p:cNvSpPr/>
          <p:nvPr/>
        </p:nvSpPr>
        <p:spPr>
          <a:xfrm>
            <a:off x="257137" y="7641806"/>
            <a:ext cx="8234363" cy="152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latin typeface="+mn-ea"/>
                <a:cs typeface="Microsoft YaHei" pitchFamily="34" charset="-120"/>
              </a:rPr>
              <a:t>用户到店消费</a:t>
            </a:r>
            <a:r>
              <a:rPr lang="en-US" sz="900" dirty="0">
                <a:latin typeface="+mn-ea"/>
                <a:cs typeface="Microsoft YaHei" pitchFamily="34" charset="-120"/>
              </a:rPr>
              <a:t>  →  </a:t>
            </a:r>
            <a:r>
              <a:rPr lang="en-US" sz="900" b="1" dirty="0">
                <a:latin typeface="+mn-ea"/>
                <a:cs typeface="Microsoft YaHei" pitchFamily="34" charset="-120"/>
              </a:rPr>
              <a:t>行为→资产</a:t>
            </a:r>
            <a:r>
              <a:rPr lang="en-US" sz="900" dirty="0">
                <a:latin typeface="+mn-ea"/>
                <a:cs typeface="Microsoft YaHei" pitchFamily="34" charset="-120"/>
              </a:rPr>
              <a:t>  →  </a:t>
            </a:r>
            <a:r>
              <a:rPr lang="en-US" sz="900" b="1" dirty="0">
                <a:latin typeface="+mn-ea"/>
                <a:cs typeface="Microsoft YaHei" pitchFamily="34" charset="-120"/>
              </a:rPr>
              <a:t>计算→信任信号</a:t>
            </a:r>
            <a:r>
              <a:rPr lang="en-US" sz="900" dirty="0">
                <a:latin typeface="+mn-ea"/>
                <a:cs typeface="Microsoft YaHei" pitchFamily="34" charset="-120"/>
              </a:rPr>
              <a:t>  →  </a:t>
            </a:r>
            <a:r>
              <a:rPr lang="en-US" sz="900" b="1" dirty="0">
                <a:latin typeface="+mn-ea"/>
                <a:cs typeface="Microsoft YaHei" pitchFamily="34" charset="-120"/>
              </a:rPr>
              <a:t>驱动新用户决策</a:t>
            </a:r>
            <a:r>
              <a:rPr lang="en-US" sz="900" dirty="0">
                <a:latin typeface="+mn-ea"/>
                <a:cs typeface="Microsoft YaHei" pitchFamily="34" charset="-120"/>
              </a:rPr>
              <a:t>  →  </a:t>
            </a:r>
            <a:r>
              <a:rPr lang="en-US" sz="900" b="1" dirty="0">
                <a:latin typeface="+mn-ea"/>
                <a:cs typeface="Microsoft YaHei" pitchFamily="34" charset="-120"/>
              </a:rPr>
              <a:t>牵引商户改善</a:t>
            </a:r>
            <a:r>
              <a:rPr lang="en-US" sz="900" dirty="0">
                <a:latin typeface="+mn-ea"/>
                <a:cs typeface="Microsoft YaHei" pitchFamily="34" charset="-120"/>
              </a:rPr>
              <a:t>  →  </a:t>
            </a:r>
            <a:r>
              <a:rPr lang="en-US" sz="900" b="1" dirty="0">
                <a:latin typeface="+mn-ea"/>
                <a:cs typeface="Microsoft YaHei" pitchFamily="34" charset="-120"/>
              </a:rPr>
              <a:t>更多真实消费 ↩</a:t>
            </a:r>
            <a:endParaRPr lang="en-US" sz="900" dirty="0">
              <a:latin typeface="+mn-ea"/>
            </a:endParaRPr>
          </a:p>
        </p:txBody>
      </p:sp>
      <p:sp>
        <p:nvSpPr>
          <p:cNvPr id="121" name="Text 119"/>
          <p:cNvSpPr/>
          <p:nvPr/>
        </p:nvSpPr>
        <p:spPr>
          <a:xfrm>
            <a:off x="257137" y="7819162"/>
            <a:ext cx="8234363" cy="126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latin typeface="+mn-ea"/>
                <a:cs typeface="Microsoft YaHei" pitchFamily="34" charset="-120"/>
              </a:rPr>
              <a:t>飞轮越转越厚 → 竞品越难复制 → 壁垒不在产品形态，在数据资产的沉淀厚度</a:t>
            </a:r>
            <a:endParaRPr lang="en-US" sz="900" dirty="0">
              <a:latin typeface="+mn-ea"/>
            </a:endParaRPr>
          </a:p>
        </p:txBody>
      </p:sp>
      <p:sp>
        <p:nvSpPr>
          <p:cNvPr id="131" name="Text 129"/>
          <p:cNvSpPr/>
          <p:nvPr/>
        </p:nvSpPr>
        <p:spPr>
          <a:xfrm>
            <a:off x="772763" y="12313539"/>
            <a:ext cx="3521774" cy="962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900" dirty="0">
              <a:latin typeface="+mn-ea"/>
            </a:endParaRPr>
          </a:p>
        </p:txBody>
      </p:sp>
      <p:sp>
        <p:nvSpPr>
          <p:cNvPr id="133" name="Text 131"/>
          <p:cNvSpPr/>
          <p:nvPr/>
        </p:nvSpPr>
        <p:spPr>
          <a:xfrm>
            <a:off x="4509897" y="11173397"/>
            <a:ext cx="3775139" cy="962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900" dirty="0">
              <a:latin typeface="+mn-ea"/>
            </a:endParaRPr>
          </a:p>
        </p:txBody>
      </p:sp>
      <p:sp>
        <p:nvSpPr>
          <p:cNvPr id="164" name="Text 20"/>
          <p:cNvSpPr/>
          <p:nvPr/>
        </p:nvSpPr>
        <p:spPr>
          <a:xfrm>
            <a:off x="5917282" y="1334717"/>
            <a:ext cx="2280285" cy="1988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900" b="1" dirty="0">
              <a:latin typeface="+mn-ea"/>
            </a:endParaRPr>
          </a:p>
          <a:p>
            <a:r>
              <a:rPr lang="zh-CN" altLang="en-US" sz="900" b="1" dirty="0">
                <a:latin typeface="+mn-ea"/>
              </a:rPr>
              <a:t>定位：</a:t>
            </a:r>
            <a:r>
              <a:rPr lang="zh-CN" altLang="en-US" sz="900" b="0" i="0" dirty="0">
                <a:solidFill>
                  <a:srgbClr val="1B1B1E"/>
                </a:solidFill>
                <a:effectLst/>
                <a:latin typeface="Inter"/>
              </a:rPr>
              <a:t>到餐</a:t>
            </a:r>
            <a:r>
              <a:rPr lang="zh-CN" altLang="en-US" sz="900" dirty="0">
                <a:solidFill>
                  <a:srgbClr val="1B1B1E"/>
                </a:solidFill>
                <a:latin typeface="Inter"/>
              </a:rPr>
              <a:t>≠</a:t>
            </a:r>
            <a:r>
              <a:rPr lang="zh-CN" altLang="en-US" sz="900" b="0" i="0" dirty="0">
                <a:solidFill>
                  <a:srgbClr val="1B1B1E"/>
                </a:solidFill>
                <a:effectLst/>
                <a:latin typeface="Inter"/>
              </a:rPr>
              <a:t>团购，信任资产支撑全旅程的高客单、高品质变现底座</a:t>
            </a:r>
            <a:endParaRPr lang="en-US" altLang="zh-CN" sz="900" b="1" dirty="0">
              <a:latin typeface="+mn-ea"/>
            </a:endParaRPr>
          </a:p>
          <a:p>
            <a:r>
              <a:rPr lang="zh-CN" altLang="en-US" sz="900" b="1" dirty="0">
                <a:latin typeface="+mn-ea"/>
              </a:rPr>
              <a:t>生态：</a:t>
            </a:r>
            <a:r>
              <a:rPr lang="zh-CN" altLang="en-US" sz="900" dirty="0">
                <a:latin typeface="+mn-ea"/>
              </a:rPr>
              <a:t>筛选高价值用户</a:t>
            </a:r>
            <a:r>
              <a:rPr lang="en-US" altLang="zh-CN" sz="900" dirty="0">
                <a:latin typeface="+mn-ea"/>
              </a:rPr>
              <a:t>x</a:t>
            </a:r>
            <a:r>
              <a:rPr lang="zh-CN" altLang="en-US" sz="900" dirty="0">
                <a:latin typeface="+mn-ea"/>
              </a:rPr>
              <a:t>优质商户</a:t>
            </a:r>
            <a:endParaRPr lang="en-US" altLang="zh-CN" sz="900" dirty="0">
              <a:latin typeface="+mn-ea"/>
            </a:endParaRPr>
          </a:p>
          <a:p>
            <a:r>
              <a:rPr lang="zh-CN" altLang="en-US" sz="900" b="1" dirty="0">
                <a:latin typeface="+mn-ea"/>
              </a:rPr>
              <a:t>粘性：</a:t>
            </a:r>
            <a:r>
              <a:rPr lang="zh-CN" altLang="en-US" sz="900" dirty="0">
                <a:latin typeface="+mn-ea"/>
              </a:rPr>
              <a:t>用户依赖</a:t>
            </a:r>
            <a:r>
              <a:rPr lang="en-US" altLang="zh-CN" sz="900" dirty="0">
                <a:latin typeface="+mn-ea"/>
              </a:rPr>
              <a:t>+</a:t>
            </a:r>
            <a:r>
              <a:rPr lang="zh-CN" altLang="en-US" sz="900" dirty="0">
                <a:latin typeface="+mn-ea"/>
              </a:rPr>
              <a:t>商户稳定</a:t>
            </a:r>
            <a:endParaRPr lang="en-US" altLang="zh-CN" sz="900" dirty="0">
              <a:latin typeface="+mn-ea"/>
            </a:endParaRPr>
          </a:p>
          <a:p>
            <a:endParaRPr lang="en-US" altLang="zh-CN" sz="900" b="1" dirty="0">
              <a:latin typeface="+mn-ea"/>
            </a:endParaRPr>
          </a:p>
          <a:p>
            <a:r>
              <a:rPr lang="zh-CN" altLang="en-US" sz="900" b="1" dirty="0">
                <a:latin typeface="+mn-ea"/>
              </a:rPr>
              <a:t>生态：</a:t>
            </a:r>
            <a:r>
              <a:rPr lang="zh-CN" altLang="en-US" sz="900" dirty="0">
                <a:latin typeface="+mn-ea"/>
              </a:rPr>
              <a:t>头腰尾，成长生态</a:t>
            </a:r>
            <a:endParaRPr lang="en-US" altLang="zh-CN" sz="900" dirty="0">
              <a:latin typeface="+mn-ea"/>
            </a:endParaRPr>
          </a:p>
          <a:p>
            <a:r>
              <a:rPr lang="zh-CN" altLang="en-US" sz="900" b="1" dirty="0">
                <a:latin typeface="+mn-ea"/>
              </a:rPr>
              <a:t>合作协同：</a:t>
            </a:r>
            <a:r>
              <a:rPr lang="zh-CN" altLang="en-US" sz="900" dirty="0">
                <a:latin typeface="+mn-ea"/>
              </a:rPr>
              <a:t>约束确定性，稳态服务。杠杆其它业务。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粘性：</a:t>
            </a:r>
            <a:r>
              <a:rPr lang="en-US" altLang="zh-CN" sz="900" dirty="0" err="1">
                <a:latin typeface="+mn-ea"/>
                <a:cs typeface="Microsoft YaHei" pitchFamily="34" charset="-120"/>
              </a:rPr>
              <a:t>资产越厚迁移成本越高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、合作意向越强。</a:t>
            </a:r>
            <a:endParaRPr lang="en-US" altLang="zh-CN" sz="900" dirty="0">
              <a:latin typeface="+mn-ea"/>
              <a:cs typeface="Microsoft YaHei" pitchFamily="34" charset="-120"/>
            </a:endParaRPr>
          </a:p>
          <a:p>
            <a:endParaRPr lang="en-US" altLang="zh-CN" sz="900" dirty="0">
              <a:latin typeface="+mn-ea"/>
            </a:endParaRPr>
          </a:p>
          <a:p>
            <a:r>
              <a:rPr lang="en-US" altLang="zh-CN" sz="900" b="1" dirty="0">
                <a:latin typeface="+mn-ea"/>
              </a:rPr>
              <a:t>AI</a:t>
            </a:r>
            <a:r>
              <a:rPr lang="zh-CN" altLang="en-US" sz="900" b="1" dirty="0">
                <a:latin typeface="+mn-ea"/>
              </a:rPr>
              <a:t>：</a:t>
            </a:r>
            <a:r>
              <a:rPr lang="en-US" altLang="zh-CN" sz="900" b="1" dirty="0">
                <a:latin typeface="+mn-ea"/>
                <a:cs typeface="Microsoft YaHei" pitchFamily="34" charset="-120"/>
              </a:rPr>
              <a:t>“</a:t>
            </a:r>
            <a:r>
              <a:rPr lang="zh-CN" altLang="en-US" sz="900" b="1" dirty="0">
                <a:latin typeface="+mn-ea"/>
                <a:cs typeface="Microsoft YaHei" pitchFamily="34" charset="-120"/>
              </a:rPr>
              <a:t>避免幻觉的公共信任源</a:t>
            </a:r>
            <a:r>
              <a:rPr lang="en-US" altLang="zh-CN" sz="900" b="1" dirty="0">
                <a:latin typeface="+mn-ea"/>
                <a:cs typeface="Microsoft YaHei" pitchFamily="34" charset="-120"/>
              </a:rPr>
              <a:t>”</a:t>
            </a:r>
          </a:p>
          <a:p>
            <a:r>
              <a:rPr lang="en-US" altLang="zh-CN" sz="900" dirty="0" err="1">
                <a:latin typeface="+mn-ea"/>
                <a:cs typeface="Microsoft YaHei" pitchFamily="34" charset="-120"/>
              </a:rPr>
              <a:t>谁的数据被AI引用，谁就掌握AI时代的流量分发权。资产运营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=</a:t>
            </a:r>
            <a:r>
              <a:rPr lang="en-US" altLang="zh-CN" sz="900" dirty="0" err="1">
                <a:latin typeface="+mn-ea"/>
                <a:cs typeface="Microsoft YaHei" pitchFamily="34" charset="-120"/>
              </a:rPr>
              <a:t>AI推荐的信任锚点和知识供给方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。</a:t>
            </a:r>
            <a:endParaRPr lang="en-US" altLang="zh-CN" sz="900" b="1" dirty="0">
              <a:latin typeface="+mn-ea"/>
            </a:endParaRPr>
          </a:p>
          <a:p>
            <a:endParaRPr lang="en-US" sz="900" b="1" dirty="0">
              <a:latin typeface="+mn-ea"/>
              <a:cs typeface="Microsoft YaHei" pitchFamily="34" charset="-120"/>
            </a:endParaRPr>
          </a:p>
          <a:p>
            <a:r>
              <a:rPr lang="zh-CN" altLang="en-US" sz="900" b="1" dirty="0">
                <a:latin typeface="+mn-ea"/>
                <a:cs typeface="Microsoft YaHei" pitchFamily="34" charset="-120"/>
              </a:rPr>
              <a:t>战略意义：到餐不等于团购迁移，逐渐强化品质、服务。</a:t>
            </a:r>
            <a:r>
              <a:rPr lang="en-US" altLang="zh-CN" sz="900" b="1" dirty="0" err="1">
                <a:latin typeface="+mn-ea"/>
                <a:cs typeface="Microsoft YaHei" pitchFamily="34" charset="-120"/>
              </a:rPr>
              <a:t>战略意义</a:t>
            </a:r>
            <a:r>
              <a:rPr lang="en-US" altLang="zh-CN" sz="900" b="1" dirty="0">
                <a:latin typeface="+mn-ea"/>
                <a:cs typeface="Microsoft YaHei" pitchFamily="34" charset="-120"/>
              </a:rPr>
              <a:t>：</a:t>
            </a:r>
            <a:endParaRPr lang="en-US" altLang="zh-CN" sz="900" dirty="0">
              <a:latin typeface="+mn-ea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900" b="0" i="1" dirty="0">
                <a:solidFill>
                  <a:srgbClr val="1B1B1E"/>
                </a:solidFill>
                <a:effectLst/>
                <a:latin typeface="Inter"/>
              </a:rPr>
              <a:t>战略意义（重点标红这句话）：</a:t>
            </a:r>
            <a:r>
              <a:rPr lang="zh-CN" altLang="en-US" sz="900" b="0" i="0" dirty="0">
                <a:solidFill>
                  <a:srgbClr val="1B1B1E"/>
                </a:solidFill>
                <a:effectLst/>
                <a:latin typeface="Inter"/>
              </a:rPr>
              <a:t> </a:t>
            </a:r>
            <a:r>
              <a:rPr lang="zh-CN" altLang="en-US" sz="900" b="1" i="0" dirty="0">
                <a:solidFill>
                  <a:srgbClr val="1B1B1E"/>
                </a:solidFill>
                <a:effectLst/>
                <a:latin typeface="Inter"/>
              </a:rPr>
              <a:t>谁的数据被大模型引用，谁就掌握下一代分发入口！</a:t>
            </a:r>
            <a:r>
              <a:rPr lang="zh-CN" altLang="en-US" sz="900" b="0" i="0" dirty="0">
                <a:solidFill>
                  <a:srgbClr val="1B1B1E"/>
                </a:solidFill>
                <a:effectLst/>
                <a:latin typeface="Inter"/>
              </a:rPr>
              <a:t> 我们沉淀的十年多维资产，是大模型消除“物理世界幻觉”的唯一解药。同时，</a:t>
            </a:r>
            <a:endParaRPr lang="en-US" altLang="zh-CN" sz="900" dirty="0">
              <a:latin typeface="+mn-ea"/>
            </a:endParaRPr>
          </a:p>
          <a:p>
            <a:endParaRPr lang="en-US" altLang="zh-CN" sz="900" b="1" dirty="0">
              <a:latin typeface="+mn-ea"/>
              <a:cs typeface="Microsoft YaHei" pitchFamily="34" charset="-12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6DBD553-D741-0C36-C916-B37A17B4D779}"/>
              </a:ext>
            </a:extLst>
          </p:cNvPr>
          <p:cNvSpPr txBox="1"/>
          <p:nvPr/>
        </p:nvSpPr>
        <p:spPr>
          <a:xfrm>
            <a:off x="10092985" y="1738766"/>
            <a:ext cx="435881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latin typeface="+mn-ea"/>
                <a:cs typeface="Microsoft YaHei" pitchFamily="34" charset="-120"/>
              </a:rPr>
              <a:t>需求动线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-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流量背书</a:t>
            </a:r>
            <a:endParaRPr lang="en-US" altLang="zh-CN" sz="900" dirty="0">
              <a:latin typeface="+mn-ea"/>
              <a:cs typeface="Microsoft YaHei" pitchFamily="34" charset="-120"/>
            </a:endParaRPr>
          </a:p>
          <a:p>
            <a:r>
              <a:rPr lang="zh-CN" altLang="en-US" sz="900" dirty="0">
                <a:latin typeface="+mn-ea"/>
                <a:cs typeface="Microsoft YaHei" pitchFamily="34" charset="-120"/>
              </a:rPr>
              <a:t>资产应用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-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经营诊断</a:t>
            </a:r>
            <a:endParaRPr lang="en-US" altLang="zh-CN" sz="900" dirty="0">
              <a:latin typeface="+mn-ea"/>
              <a:cs typeface="Microsoft YaHei" pitchFamily="34" charset="-120"/>
            </a:endParaRPr>
          </a:p>
          <a:p>
            <a:r>
              <a:rPr lang="zh-CN" altLang="en-US" sz="900" dirty="0">
                <a:latin typeface="+mn-ea"/>
                <a:cs typeface="Microsoft YaHei" pitchFamily="34" charset="-120"/>
              </a:rPr>
              <a:t>资产沉淀画像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-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特色成长</a:t>
            </a:r>
            <a:endParaRPr lang="en-US" altLang="zh-CN" sz="900" dirty="0">
              <a:latin typeface="+mn-ea"/>
              <a:cs typeface="Microsoft YaHei" pitchFamily="34" charset="-120"/>
            </a:endParaRPr>
          </a:p>
        </p:txBody>
      </p:sp>
      <p:sp>
        <p:nvSpPr>
          <p:cNvPr id="25" name="Shape 26">
            <a:extLst>
              <a:ext uri="{FF2B5EF4-FFF2-40B4-BE49-F238E27FC236}">
                <a16:creationId xmlns:a16="http://schemas.microsoft.com/office/drawing/2014/main" id="{9F7CEEFC-714F-485C-0DDA-D9E3A23E5916}"/>
              </a:ext>
            </a:extLst>
          </p:cNvPr>
          <p:cNvSpPr/>
          <p:nvPr/>
        </p:nvSpPr>
        <p:spPr>
          <a:xfrm>
            <a:off x="9630251" y="3661681"/>
            <a:ext cx="8234363" cy="924782"/>
          </a:xfrm>
          <a:prstGeom prst="roundRect">
            <a:avLst>
              <a:gd name="adj" fmla="val 5933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90CAF9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9">
            <a:extLst>
              <a:ext uri="{FF2B5EF4-FFF2-40B4-BE49-F238E27FC236}">
                <a16:creationId xmlns:a16="http://schemas.microsoft.com/office/drawing/2014/main" id="{3AA7B099-991E-84DF-871F-BE7B04C6F1E9}"/>
              </a:ext>
            </a:extLst>
          </p:cNvPr>
          <p:cNvSpPr/>
          <p:nvPr/>
        </p:nvSpPr>
        <p:spPr>
          <a:xfrm>
            <a:off x="10035635" y="3737690"/>
            <a:ext cx="1646873" cy="760095"/>
          </a:xfrm>
          <a:prstGeom prst="roundRect">
            <a:avLst>
              <a:gd name="adj" fmla="val 5414"/>
            </a:avLst>
          </a:prstGeom>
          <a:solidFill>
            <a:srgbClr val="FFFFFF"/>
          </a:solidFill>
          <a:ln w="6350">
            <a:solidFill>
              <a:srgbClr val="64B5F6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9" name="Shape 30">
            <a:extLst>
              <a:ext uri="{FF2B5EF4-FFF2-40B4-BE49-F238E27FC236}">
                <a16:creationId xmlns:a16="http://schemas.microsoft.com/office/drawing/2014/main" id="{B6941492-2E9B-E247-53FF-8D76D59120EC}"/>
              </a:ext>
            </a:extLst>
          </p:cNvPr>
          <p:cNvSpPr/>
          <p:nvPr/>
        </p:nvSpPr>
        <p:spPr>
          <a:xfrm>
            <a:off x="10035635" y="3737691"/>
            <a:ext cx="1646873" cy="215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68" name="Text 31">
            <a:extLst>
              <a:ext uri="{FF2B5EF4-FFF2-40B4-BE49-F238E27FC236}">
                <a16:creationId xmlns:a16="http://schemas.microsoft.com/office/drawing/2014/main" id="{66BFEECF-C9FC-79DC-3E1C-6279F2FA3ED0}"/>
              </a:ext>
            </a:extLst>
          </p:cNvPr>
          <p:cNvSpPr/>
          <p:nvPr/>
        </p:nvSpPr>
        <p:spPr>
          <a:xfrm>
            <a:off x="10035635" y="3737691"/>
            <a:ext cx="1646873" cy="21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900" b="1" dirty="0">
                <a:latin typeface="+mn-ea"/>
                <a:cs typeface="Microsoft YaHei" pitchFamily="34" charset="-120"/>
              </a:rPr>
              <a:t>经营诊断</a:t>
            </a:r>
            <a:endParaRPr lang="en-US" sz="900" dirty="0">
              <a:latin typeface="+mn-ea"/>
            </a:endParaRPr>
          </a:p>
        </p:txBody>
      </p:sp>
      <p:sp>
        <p:nvSpPr>
          <p:cNvPr id="87" name="Text 32">
            <a:extLst>
              <a:ext uri="{FF2B5EF4-FFF2-40B4-BE49-F238E27FC236}">
                <a16:creationId xmlns:a16="http://schemas.microsoft.com/office/drawing/2014/main" id="{50E61921-F511-2AA1-46D9-CB86E39FD6F1}"/>
              </a:ext>
            </a:extLst>
          </p:cNvPr>
          <p:cNvSpPr/>
          <p:nvPr/>
        </p:nvSpPr>
        <p:spPr>
          <a:xfrm>
            <a:off x="10098976" y="3978387"/>
            <a:ext cx="1520190" cy="481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 err="1">
                <a:latin typeface="+mn-ea"/>
                <a:cs typeface="Microsoft YaHei" pitchFamily="34" charset="-120"/>
              </a:rPr>
              <a:t>区域</a:t>
            </a:r>
            <a:r>
              <a:rPr lang="en-US" altLang="zh-CN" sz="900" dirty="0" err="1">
                <a:latin typeface="+mn-ea"/>
                <a:cs typeface="Microsoft YaHei" pitchFamily="34" charset="-120"/>
              </a:rPr>
              <a:t>x</a:t>
            </a:r>
            <a:r>
              <a:rPr lang="en-US" sz="900" dirty="0" err="1">
                <a:latin typeface="+mn-ea"/>
                <a:cs typeface="Microsoft YaHei" pitchFamily="34" charset="-120"/>
              </a:rPr>
              <a:t>人群</a:t>
            </a:r>
            <a:r>
              <a:rPr lang="en-US" altLang="zh-CN" sz="900" dirty="0" err="1">
                <a:latin typeface="+mn-ea"/>
                <a:cs typeface="Microsoft YaHei" pitchFamily="34" charset="-120"/>
              </a:rPr>
              <a:t>x</a:t>
            </a:r>
            <a:r>
              <a:rPr lang="en-US" sz="900" dirty="0" err="1">
                <a:latin typeface="+mn-ea"/>
                <a:cs typeface="Microsoft YaHei" pitchFamily="34" charset="-120"/>
              </a:rPr>
              <a:t>品类</a:t>
            </a:r>
            <a:r>
              <a:rPr lang="en-US" altLang="zh-CN" sz="900" dirty="0" err="1">
                <a:latin typeface="+mn-ea"/>
                <a:cs typeface="Microsoft YaHei" pitchFamily="34" charset="-120"/>
              </a:rPr>
              <a:t>x</a:t>
            </a:r>
            <a:r>
              <a:rPr lang="en-US" sz="900" dirty="0" err="1">
                <a:latin typeface="+mn-ea"/>
                <a:cs typeface="Microsoft YaHei" pitchFamily="34" charset="-120"/>
              </a:rPr>
              <a:t>场景</a:t>
            </a:r>
            <a:endParaRPr lang="en-US" sz="900" dirty="0">
              <a:latin typeface="+mn-ea"/>
            </a:endParaRPr>
          </a:p>
          <a:p>
            <a:r>
              <a:rPr lang="zh-CN" altLang="en-US" sz="900" dirty="0">
                <a:latin typeface="+mn-ea"/>
                <a:cs typeface="Microsoft YaHei" pitchFamily="34" charset="-120"/>
              </a:rPr>
              <a:t>需求拉动资产，资产分析需求</a:t>
            </a:r>
            <a:endParaRPr lang="en-US" sz="900" dirty="0">
              <a:latin typeface="+mn-ea"/>
            </a:endParaRPr>
          </a:p>
        </p:txBody>
      </p:sp>
      <p:sp>
        <p:nvSpPr>
          <p:cNvPr id="142" name="Shape 33">
            <a:extLst>
              <a:ext uri="{FF2B5EF4-FFF2-40B4-BE49-F238E27FC236}">
                <a16:creationId xmlns:a16="http://schemas.microsoft.com/office/drawing/2014/main" id="{C528FF29-E691-6DBA-BD28-8A0FE40ED554}"/>
              </a:ext>
            </a:extLst>
          </p:cNvPr>
          <p:cNvSpPr/>
          <p:nvPr/>
        </p:nvSpPr>
        <p:spPr>
          <a:xfrm>
            <a:off x="11771185" y="3737690"/>
            <a:ext cx="1646873" cy="760095"/>
          </a:xfrm>
          <a:prstGeom prst="roundRect">
            <a:avLst>
              <a:gd name="adj" fmla="val 5414"/>
            </a:avLst>
          </a:prstGeom>
          <a:solidFill>
            <a:srgbClr val="FFFFFF"/>
          </a:solidFill>
          <a:ln w="6350">
            <a:solidFill>
              <a:srgbClr val="64B5F6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3" name="Shape 34">
            <a:extLst>
              <a:ext uri="{FF2B5EF4-FFF2-40B4-BE49-F238E27FC236}">
                <a16:creationId xmlns:a16="http://schemas.microsoft.com/office/drawing/2014/main" id="{48D0A522-C5BF-24FF-2988-6C5A2A986244}"/>
              </a:ext>
            </a:extLst>
          </p:cNvPr>
          <p:cNvSpPr/>
          <p:nvPr/>
        </p:nvSpPr>
        <p:spPr>
          <a:xfrm>
            <a:off x="11771185" y="3737691"/>
            <a:ext cx="1646873" cy="215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145" name="Text 35">
            <a:extLst>
              <a:ext uri="{FF2B5EF4-FFF2-40B4-BE49-F238E27FC236}">
                <a16:creationId xmlns:a16="http://schemas.microsoft.com/office/drawing/2014/main" id="{279F16E6-DEAF-B56F-13D1-4D6080508A8F}"/>
              </a:ext>
            </a:extLst>
          </p:cNvPr>
          <p:cNvSpPr/>
          <p:nvPr/>
        </p:nvSpPr>
        <p:spPr>
          <a:xfrm>
            <a:off x="11771185" y="3737691"/>
            <a:ext cx="1646873" cy="21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latin typeface="+mn-ea"/>
                <a:cs typeface="Microsoft YaHei" pitchFamily="34" charset="-120"/>
              </a:rPr>
              <a:t>用户画像</a:t>
            </a:r>
            <a:endParaRPr lang="en-US" sz="900" dirty="0">
              <a:latin typeface="+mn-ea"/>
            </a:endParaRPr>
          </a:p>
        </p:txBody>
      </p:sp>
      <p:sp>
        <p:nvSpPr>
          <p:cNvPr id="146" name="Text 36">
            <a:extLst>
              <a:ext uri="{FF2B5EF4-FFF2-40B4-BE49-F238E27FC236}">
                <a16:creationId xmlns:a16="http://schemas.microsoft.com/office/drawing/2014/main" id="{B8DB8286-32A8-EF58-DB16-26C9D6F01C45}"/>
              </a:ext>
            </a:extLst>
          </p:cNvPr>
          <p:cNvSpPr/>
          <p:nvPr/>
        </p:nvSpPr>
        <p:spPr>
          <a:xfrm>
            <a:off x="11834527" y="3978387"/>
            <a:ext cx="1520190" cy="481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CN" altLang="en-US" sz="900" dirty="0">
                <a:latin typeface="+mn-ea"/>
                <a:cs typeface="Microsoft YaHei" pitchFamily="34" charset="-120"/>
              </a:rPr>
              <a:t>信息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资产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行为</a:t>
            </a:r>
            <a:endParaRPr lang="en-US" altLang="zh-CN" sz="900" dirty="0">
              <a:latin typeface="+mn-ea"/>
              <a:cs typeface="Microsoft YaHei" pitchFamily="34" charset="-120"/>
            </a:endParaRPr>
          </a:p>
          <a:p>
            <a:r>
              <a:rPr lang="zh-CN" altLang="en-US" sz="900" dirty="0">
                <a:latin typeface="+mn-ea"/>
              </a:rPr>
              <a:t>画像动态资产，资产决定画像</a:t>
            </a:r>
            <a:endParaRPr lang="en-US" sz="900" dirty="0">
              <a:latin typeface="+mn-ea"/>
            </a:endParaRPr>
          </a:p>
        </p:txBody>
      </p:sp>
      <p:sp>
        <p:nvSpPr>
          <p:cNvPr id="147" name="Shape 37">
            <a:extLst>
              <a:ext uri="{FF2B5EF4-FFF2-40B4-BE49-F238E27FC236}">
                <a16:creationId xmlns:a16="http://schemas.microsoft.com/office/drawing/2014/main" id="{A8128954-0CB8-ACE4-17C3-4B860945C90E}"/>
              </a:ext>
            </a:extLst>
          </p:cNvPr>
          <p:cNvSpPr/>
          <p:nvPr/>
        </p:nvSpPr>
        <p:spPr>
          <a:xfrm>
            <a:off x="13506735" y="3737690"/>
            <a:ext cx="1646873" cy="760095"/>
          </a:xfrm>
          <a:prstGeom prst="roundRect">
            <a:avLst>
              <a:gd name="adj" fmla="val 5414"/>
            </a:avLst>
          </a:prstGeom>
          <a:solidFill>
            <a:srgbClr val="FFFFFF"/>
          </a:solidFill>
          <a:ln w="6350">
            <a:solidFill>
              <a:srgbClr val="64B5F6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8" name="Shape 38">
            <a:extLst>
              <a:ext uri="{FF2B5EF4-FFF2-40B4-BE49-F238E27FC236}">
                <a16:creationId xmlns:a16="http://schemas.microsoft.com/office/drawing/2014/main" id="{3644D959-465A-3281-BB2E-4E4C858B3FF4}"/>
              </a:ext>
            </a:extLst>
          </p:cNvPr>
          <p:cNvSpPr/>
          <p:nvPr/>
        </p:nvSpPr>
        <p:spPr>
          <a:xfrm>
            <a:off x="13506735" y="3737691"/>
            <a:ext cx="1646873" cy="215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149" name="Text 39">
            <a:extLst>
              <a:ext uri="{FF2B5EF4-FFF2-40B4-BE49-F238E27FC236}">
                <a16:creationId xmlns:a16="http://schemas.microsoft.com/office/drawing/2014/main" id="{7EA73321-5D99-A34D-B7FE-C76314C02594}"/>
              </a:ext>
            </a:extLst>
          </p:cNvPr>
          <p:cNvSpPr/>
          <p:nvPr/>
        </p:nvSpPr>
        <p:spPr>
          <a:xfrm>
            <a:off x="13506735" y="3737691"/>
            <a:ext cx="1646873" cy="21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latin typeface="+mn-ea"/>
                <a:cs typeface="Microsoft YaHei" pitchFamily="34" charset="-120"/>
              </a:rPr>
              <a:t>用户动线</a:t>
            </a:r>
            <a:endParaRPr lang="en-US" sz="900" dirty="0">
              <a:latin typeface="+mn-ea"/>
            </a:endParaRPr>
          </a:p>
        </p:txBody>
      </p:sp>
      <p:sp>
        <p:nvSpPr>
          <p:cNvPr id="150" name="Text 40">
            <a:extLst>
              <a:ext uri="{FF2B5EF4-FFF2-40B4-BE49-F238E27FC236}">
                <a16:creationId xmlns:a16="http://schemas.microsoft.com/office/drawing/2014/main" id="{35EA1533-D84B-7191-549C-25D5912AC58A}"/>
              </a:ext>
            </a:extLst>
          </p:cNvPr>
          <p:cNvSpPr/>
          <p:nvPr/>
        </p:nvSpPr>
        <p:spPr>
          <a:xfrm>
            <a:off x="13570077" y="3978387"/>
            <a:ext cx="1520190" cy="481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zh-CN" sz="900" dirty="0" err="1">
                <a:latin typeface="+mn-ea"/>
                <a:cs typeface="Microsoft YaHei" pitchFamily="34" charset="-120"/>
              </a:rPr>
              <a:t>激发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-&gt;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信息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-&gt;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对比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-&gt;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闭环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-&gt;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评价</a:t>
            </a:r>
            <a:endParaRPr lang="en-US" altLang="zh-CN" sz="900" dirty="0">
              <a:latin typeface="+mn-ea"/>
            </a:endParaRPr>
          </a:p>
          <a:p>
            <a:r>
              <a:rPr lang="zh-CN" altLang="en-US" sz="900" dirty="0">
                <a:latin typeface="+mn-ea"/>
              </a:rPr>
              <a:t>资产应用承接需求，资产信任带动转化</a:t>
            </a:r>
            <a:endParaRPr lang="en-US" sz="900" dirty="0">
              <a:latin typeface="+mn-ea"/>
            </a:endParaRPr>
          </a:p>
        </p:txBody>
      </p:sp>
      <p:sp>
        <p:nvSpPr>
          <p:cNvPr id="151" name="Shape 41">
            <a:extLst>
              <a:ext uri="{FF2B5EF4-FFF2-40B4-BE49-F238E27FC236}">
                <a16:creationId xmlns:a16="http://schemas.microsoft.com/office/drawing/2014/main" id="{083DB141-CADD-D878-76E7-0641448246A8}"/>
              </a:ext>
            </a:extLst>
          </p:cNvPr>
          <p:cNvSpPr/>
          <p:nvPr/>
        </p:nvSpPr>
        <p:spPr>
          <a:xfrm>
            <a:off x="15242286" y="3737690"/>
            <a:ext cx="2533650" cy="760095"/>
          </a:xfrm>
          <a:prstGeom prst="roundRect">
            <a:avLst>
              <a:gd name="adj" fmla="val 5414"/>
            </a:avLst>
          </a:prstGeom>
          <a:solidFill>
            <a:srgbClr val="FFFFFF"/>
          </a:solidFill>
          <a:ln w="6350">
            <a:solidFill>
              <a:srgbClr val="64B5F6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2" name="Shape 42">
            <a:extLst>
              <a:ext uri="{FF2B5EF4-FFF2-40B4-BE49-F238E27FC236}">
                <a16:creationId xmlns:a16="http://schemas.microsoft.com/office/drawing/2014/main" id="{75E6FAED-2993-28CD-1639-4DEA03043685}"/>
              </a:ext>
            </a:extLst>
          </p:cNvPr>
          <p:cNvSpPr/>
          <p:nvPr/>
        </p:nvSpPr>
        <p:spPr>
          <a:xfrm>
            <a:off x="15242286" y="3737691"/>
            <a:ext cx="2533650" cy="215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153" name="Text 43">
            <a:extLst>
              <a:ext uri="{FF2B5EF4-FFF2-40B4-BE49-F238E27FC236}">
                <a16:creationId xmlns:a16="http://schemas.microsoft.com/office/drawing/2014/main" id="{B662ED16-F21D-C084-2297-D8FE53DD6749}"/>
              </a:ext>
            </a:extLst>
          </p:cNvPr>
          <p:cNvSpPr/>
          <p:nvPr/>
        </p:nvSpPr>
        <p:spPr>
          <a:xfrm>
            <a:off x="15242286" y="3737691"/>
            <a:ext cx="2533650" cy="21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900" b="1" dirty="0">
                <a:latin typeface="+mn-ea"/>
              </a:rPr>
              <a:t>个人资产</a:t>
            </a:r>
            <a:endParaRPr lang="en-US" sz="900" b="1" dirty="0">
              <a:latin typeface="+mn-ea"/>
            </a:endParaRPr>
          </a:p>
        </p:txBody>
      </p:sp>
      <p:sp>
        <p:nvSpPr>
          <p:cNvPr id="154" name="Text 44">
            <a:extLst>
              <a:ext uri="{FF2B5EF4-FFF2-40B4-BE49-F238E27FC236}">
                <a16:creationId xmlns:a16="http://schemas.microsoft.com/office/drawing/2014/main" id="{90FEAAC1-B2A4-AF88-B1D8-60E4F6E05502}"/>
              </a:ext>
            </a:extLst>
          </p:cNvPr>
          <p:cNvSpPr/>
          <p:nvPr/>
        </p:nvSpPr>
        <p:spPr>
          <a:xfrm>
            <a:off x="15305627" y="3978387"/>
            <a:ext cx="2406968" cy="481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CN" altLang="en-US" sz="900" dirty="0">
                <a:latin typeface="+mn-ea"/>
                <a:cs typeface="Microsoft YaHei" pitchFamily="34" charset="-120"/>
              </a:rPr>
              <a:t>个人资产沉淀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记录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应用</a:t>
            </a:r>
            <a:endParaRPr lang="en-US" sz="900" dirty="0">
              <a:latin typeface="+mn-ea"/>
              <a:cs typeface="Microsoft YaHei" pitchFamily="34" charset="-120"/>
            </a:endParaRPr>
          </a:p>
          <a:p>
            <a:r>
              <a:rPr lang="zh-CN" altLang="en-US" sz="900" dirty="0">
                <a:latin typeface="+mn-ea"/>
                <a:cs typeface="Microsoft YaHei" pitchFamily="34" charset="-120"/>
              </a:rPr>
              <a:t>个人资产沉淀：</a:t>
            </a:r>
            <a:endParaRPr lang="en-US" altLang="zh-CN" sz="900" dirty="0">
              <a:latin typeface="+mn-ea"/>
              <a:cs typeface="Microsoft YaHei" pitchFamily="34" charset="-120"/>
            </a:endParaRPr>
          </a:p>
          <a:p>
            <a:r>
              <a:rPr lang="zh-CN" altLang="en-US" sz="900" dirty="0">
                <a:latin typeface="+mn-ea"/>
                <a:cs typeface="Microsoft YaHei" pitchFamily="34" charset="-120"/>
              </a:rPr>
              <a:t>资产发现：</a:t>
            </a:r>
            <a:endParaRPr lang="en-US" sz="900" dirty="0">
              <a:latin typeface="+mn-ea"/>
            </a:endParaRPr>
          </a:p>
        </p:txBody>
      </p:sp>
      <p:sp>
        <p:nvSpPr>
          <p:cNvPr id="158" name="Shape 26"/>
          <p:cNvSpPr/>
          <p:nvPr/>
        </p:nvSpPr>
        <p:spPr>
          <a:xfrm>
            <a:off x="9797413" y="4823923"/>
            <a:ext cx="4845606" cy="1372172"/>
          </a:xfrm>
          <a:prstGeom prst="roundRect">
            <a:avLst>
              <a:gd name="adj" fmla="val 5933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90CAF9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9" name="Shape 27"/>
          <p:cNvSpPr/>
          <p:nvPr/>
        </p:nvSpPr>
        <p:spPr>
          <a:xfrm>
            <a:off x="9857587" y="5196730"/>
            <a:ext cx="278702" cy="848773"/>
          </a:xfrm>
          <a:prstGeom prst="roundRect">
            <a:avLst>
              <a:gd name="adj" fmla="val 9843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r>
              <a:rPr lang="en-US" altLang="zh-CN" sz="900" b="1" dirty="0" err="1">
                <a:latin typeface="+mn-ea"/>
                <a:cs typeface="Microsoft YaHei" pitchFamily="34" charset="-120"/>
              </a:rPr>
              <a:t>需求层</a:t>
            </a:r>
            <a:endParaRPr lang="en-US" altLang="zh-CN" sz="900" dirty="0">
              <a:latin typeface="+mn-ea"/>
            </a:endParaRPr>
          </a:p>
        </p:txBody>
      </p:sp>
      <p:sp>
        <p:nvSpPr>
          <p:cNvPr id="160" name="Shape 29"/>
          <p:cNvSpPr/>
          <p:nvPr/>
        </p:nvSpPr>
        <p:spPr>
          <a:xfrm>
            <a:off x="10212298" y="5250380"/>
            <a:ext cx="1646873" cy="760095"/>
          </a:xfrm>
          <a:prstGeom prst="roundRect">
            <a:avLst>
              <a:gd name="adj" fmla="val 5414"/>
            </a:avLst>
          </a:prstGeom>
          <a:solidFill>
            <a:srgbClr val="FFFFFF"/>
          </a:solidFill>
          <a:ln w="6350">
            <a:solidFill>
              <a:srgbClr val="64B5F6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1" name="Shape 30"/>
          <p:cNvSpPr/>
          <p:nvPr/>
        </p:nvSpPr>
        <p:spPr>
          <a:xfrm>
            <a:off x="10212298" y="5250381"/>
            <a:ext cx="1646873" cy="215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162" name="Text 31"/>
          <p:cNvSpPr/>
          <p:nvPr/>
        </p:nvSpPr>
        <p:spPr>
          <a:xfrm>
            <a:off x="10212298" y="5250381"/>
            <a:ext cx="1646873" cy="21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 err="1">
                <a:latin typeface="+mn-ea"/>
                <a:cs typeface="Microsoft YaHei" pitchFamily="34" charset="-120"/>
              </a:rPr>
              <a:t>需求</a:t>
            </a:r>
            <a:r>
              <a:rPr lang="zh-CN" altLang="en-US" sz="900" b="1" dirty="0">
                <a:latin typeface="+mn-ea"/>
                <a:cs typeface="Microsoft YaHei" pitchFamily="34" charset="-120"/>
              </a:rPr>
              <a:t>及动线</a:t>
            </a:r>
            <a:endParaRPr lang="en-US" sz="900" dirty="0">
              <a:latin typeface="+mn-ea"/>
            </a:endParaRPr>
          </a:p>
        </p:txBody>
      </p:sp>
      <p:sp>
        <p:nvSpPr>
          <p:cNvPr id="163" name="Text 32"/>
          <p:cNvSpPr/>
          <p:nvPr/>
        </p:nvSpPr>
        <p:spPr>
          <a:xfrm>
            <a:off x="10275639" y="5491077"/>
            <a:ext cx="1520190" cy="481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 err="1">
                <a:latin typeface="+mn-ea"/>
                <a:cs typeface="Microsoft YaHei" pitchFamily="34" charset="-120"/>
              </a:rPr>
              <a:t>区域</a:t>
            </a:r>
            <a:r>
              <a:rPr lang="en-US" altLang="zh-CN" sz="900" dirty="0" err="1">
                <a:latin typeface="+mn-ea"/>
                <a:cs typeface="Microsoft YaHei" pitchFamily="34" charset="-120"/>
              </a:rPr>
              <a:t>x</a:t>
            </a:r>
            <a:r>
              <a:rPr lang="en-US" sz="900" dirty="0" err="1">
                <a:latin typeface="+mn-ea"/>
                <a:cs typeface="Microsoft YaHei" pitchFamily="34" charset="-120"/>
              </a:rPr>
              <a:t>人群</a:t>
            </a:r>
            <a:r>
              <a:rPr lang="en-US" altLang="zh-CN" sz="900" dirty="0" err="1">
                <a:latin typeface="+mn-ea"/>
                <a:cs typeface="Microsoft YaHei" pitchFamily="34" charset="-120"/>
              </a:rPr>
              <a:t>x</a:t>
            </a:r>
            <a:r>
              <a:rPr lang="en-US" sz="900" dirty="0" err="1">
                <a:latin typeface="+mn-ea"/>
                <a:cs typeface="Microsoft YaHei" pitchFamily="34" charset="-120"/>
              </a:rPr>
              <a:t>品类</a:t>
            </a:r>
            <a:r>
              <a:rPr lang="en-US" altLang="zh-CN" sz="900" dirty="0" err="1">
                <a:latin typeface="+mn-ea"/>
                <a:cs typeface="Microsoft YaHei" pitchFamily="34" charset="-120"/>
              </a:rPr>
              <a:t>x</a:t>
            </a:r>
            <a:r>
              <a:rPr lang="en-US" sz="900" dirty="0" err="1">
                <a:latin typeface="+mn-ea"/>
                <a:cs typeface="Microsoft YaHei" pitchFamily="34" charset="-120"/>
              </a:rPr>
              <a:t>场景</a:t>
            </a:r>
            <a:endParaRPr lang="en-US" sz="900" dirty="0">
              <a:latin typeface="+mn-ea"/>
            </a:endParaRPr>
          </a:p>
          <a:p>
            <a:r>
              <a:rPr lang="zh-CN" altLang="en-US" sz="900" dirty="0">
                <a:latin typeface="+mn-ea"/>
                <a:cs typeface="Microsoft YaHei" pitchFamily="34" charset="-120"/>
              </a:rPr>
              <a:t>需求拉动资产，资产分析需求</a:t>
            </a:r>
            <a:endParaRPr lang="en-US" altLang="zh-CN" sz="900" dirty="0">
              <a:latin typeface="+mn-ea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altLang="zh-CN" sz="900" dirty="0" err="1">
                <a:latin typeface="+mn-ea"/>
                <a:cs typeface="Microsoft YaHei" pitchFamily="34" charset="-120"/>
              </a:rPr>
              <a:t>激发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-&gt;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信息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-&gt;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对比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-&gt;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闭环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-&gt;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评价</a:t>
            </a:r>
            <a:endParaRPr lang="en-US" altLang="zh-CN" sz="900" dirty="0">
              <a:latin typeface="+mn-ea"/>
            </a:endParaRPr>
          </a:p>
          <a:p>
            <a:r>
              <a:rPr lang="zh-CN" altLang="en-US" sz="900" dirty="0">
                <a:latin typeface="+mn-ea"/>
              </a:rPr>
              <a:t>资产应用承接需求，资产信任带动转化</a:t>
            </a:r>
            <a:endParaRPr lang="en-US" altLang="zh-CN" sz="900" dirty="0">
              <a:latin typeface="+mn-ea"/>
            </a:endParaRPr>
          </a:p>
          <a:p>
            <a:endParaRPr lang="en-US" sz="900" dirty="0">
              <a:latin typeface="+mn-ea"/>
            </a:endParaRPr>
          </a:p>
        </p:txBody>
      </p:sp>
      <p:sp>
        <p:nvSpPr>
          <p:cNvPr id="165" name="Shape 33"/>
          <p:cNvSpPr/>
          <p:nvPr/>
        </p:nvSpPr>
        <p:spPr>
          <a:xfrm>
            <a:off x="11947848" y="5250380"/>
            <a:ext cx="1646873" cy="760095"/>
          </a:xfrm>
          <a:prstGeom prst="roundRect">
            <a:avLst>
              <a:gd name="adj" fmla="val 5414"/>
            </a:avLst>
          </a:prstGeom>
          <a:solidFill>
            <a:srgbClr val="FFFFFF"/>
          </a:solidFill>
          <a:ln w="6350">
            <a:solidFill>
              <a:srgbClr val="64B5F6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6" name="Shape 34"/>
          <p:cNvSpPr/>
          <p:nvPr/>
        </p:nvSpPr>
        <p:spPr>
          <a:xfrm>
            <a:off x="11947848" y="5250381"/>
            <a:ext cx="1646873" cy="215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167" name="Text 35"/>
          <p:cNvSpPr/>
          <p:nvPr/>
        </p:nvSpPr>
        <p:spPr>
          <a:xfrm>
            <a:off x="11947848" y="5250381"/>
            <a:ext cx="1646873" cy="21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latin typeface="+mn-ea"/>
                <a:cs typeface="Microsoft YaHei" pitchFamily="34" charset="-120"/>
              </a:rPr>
              <a:t>用户画像</a:t>
            </a:r>
            <a:endParaRPr lang="en-US" sz="900" dirty="0">
              <a:latin typeface="+mn-ea"/>
            </a:endParaRPr>
          </a:p>
        </p:txBody>
      </p:sp>
      <p:sp>
        <p:nvSpPr>
          <p:cNvPr id="168" name="Text 36"/>
          <p:cNvSpPr/>
          <p:nvPr/>
        </p:nvSpPr>
        <p:spPr>
          <a:xfrm>
            <a:off x="12011190" y="5491077"/>
            <a:ext cx="1520190" cy="481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CN" altLang="en-US" sz="900" dirty="0">
                <a:latin typeface="+mn-ea"/>
                <a:cs typeface="Microsoft YaHei" pitchFamily="34" charset="-120"/>
              </a:rPr>
              <a:t>信息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资产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x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行为</a:t>
            </a:r>
            <a:endParaRPr lang="en-US" altLang="zh-CN" sz="900" dirty="0">
              <a:latin typeface="+mn-ea"/>
              <a:cs typeface="Microsoft YaHei" pitchFamily="34" charset="-120"/>
            </a:endParaRPr>
          </a:p>
          <a:p>
            <a:r>
              <a:rPr lang="zh-CN" altLang="en-US" sz="900" dirty="0">
                <a:latin typeface="+mn-ea"/>
              </a:rPr>
              <a:t>画像动态资产，资产决定画像</a:t>
            </a:r>
            <a:endParaRPr lang="en-US" sz="900" dirty="0">
              <a:latin typeface="+mn-ea"/>
            </a:endParaRPr>
          </a:p>
        </p:txBody>
      </p:sp>
      <p:sp>
        <p:nvSpPr>
          <p:cNvPr id="169" name="Text 40"/>
          <p:cNvSpPr/>
          <p:nvPr/>
        </p:nvSpPr>
        <p:spPr>
          <a:xfrm>
            <a:off x="13746740" y="5491077"/>
            <a:ext cx="1520190" cy="481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00" dirty="0">
              <a:latin typeface="+mn-ea"/>
            </a:endParaRPr>
          </a:p>
        </p:txBody>
      </p:sp>
      <p:sp>
        <p:nvSpPr>
          <p:cNvPr id="170" name="Shape 41"/>
          <p:cNvSpPr/>
          <p:nvPr/>
        </p:nvSpPr>
        <p:spPr>
          <a:xfrm>
            <a:off x="15137009" y="6875377"/>
            <a:ext cx="2533650" cy="760095"/>
          </a:xfrm>
          <a:prstGeom prst="roundRect">
            <a:avLst>
              <a:gd name="adj" fmla="val 5414"/>
            </a:avLst>
          </a:prstGeom>
          <a:solidFill>
            <a:srgbClr val="FFFFFF"/>
          </a:solidFill>
          <a:ln w="6350">
            <a:solidFill>
              <a:srgbClr val="64B5F6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1" name="Shape 42"/>
          <p:cNvSpPr/>
          <p:nvPr/>
        </p:nvSpPr>
        <p:spPr>
          <a:xfrm>
            <a:off x="15137009" y="6875378"/>
            <a:ext cx="2533650" cy="215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172" name="Text 43"/>
          <p:cNvSpPr/>
          <p:nvPr/>
        </p:nvSpPr>
        <p:spPr>
          <a:xfrm>
            <a:off x="15137009" y="6875378"/>
            <a:ext cx="2533650" cy="21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900" b="1" dirty="0">
                <a:latin typeface="+mn-ea"/>
              </a:rPr>
              <a:t>个人资产</a:t>
            </a:r>
            <a:endParaRPr lang="en-US" sz="900" b="1" dirty="0">
              <a:latin typeface="+mn-ea"/>
            </a:endParaRPr>
          </a:p>
        </p:txBody>
      </p:sp>
      <p:sp>
        <p:nvSpPr>
          <p:cNvPr id="173" name="Text 44"/>
          <p:cNvSpPr/>
          <p:nvPr/>
        </p:nvSpPr>
        <p:spPr>
          <a:xfrm>
            <a:off x="15200350" y="7116074"/>
            <a:ext cx="2406968" cy="481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CN" altLang="en-US" sz="900" dirty="0">
                <a:latin typeface="+mn-ea"/>
                <a:cs typeface="Microsoft YaHei" pitchFamily="34" charset="-120"/>
              </a:rPr>
              <a:t>个人资产沉淀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记录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应用</a:t>
            </a:r>
            <a:endParaRPr lang="en-US" sz="900" dirty="0">
              <a:latin typeface="+mn-ea"/>
              <a:cs typeface="Microsoft YaHei" pitchFamily="34" charset="-120"/>
            </a:endParaRPr>
          </a:p>
          <a:p>
            <a:r>
              <a:rPr lang="zh-CN" altLang="en-US" sz="900" dirty="0">
                <a:latin typeface="+mn-ea"/>
                <a:cs typeface="Microsoft YaHei" pitchFamily="34" charset="-120"/>
              </a:rPr>
              <a:t>个人资产沉淀：</a:t>
            </a:r>
            <a:endParaRPr lang="en-US" altLang="zh-CN" sz="900" dirty="0">
              <a:latin typeface="+mn-ea"/>
              <a:cs typeface="Microsoft YaHei" pitchFamily="34" charset="-120"/>
            </a:endParaRPr>
          </a:p>
          <a:p>
            <a:r>
              <a:rPr lang="zh-CN" altLang="en-US" sz="900" dirty="0">
                <a:latin typeface="+mn-ea"/>
                <a:cs typeface="Microsoft YaHei" pitchFamily="34" charset="-120"/>
              </a:rPr>
              <a:t>资产发现：</a:t>
            </a:r>
            <a:endParaRPr lang="en-US" sz="900" dirty="0">
              <a:latin typeface="+mn-ea"/>
            </a:endParaRPr>
          </a:p>
        </p:txBody>
      </p:sp>
      <p:sp>
        <p:nvSpPr>
          <p:cNvPr id="174" name="Shape 27">
            <a:extLst>
              <a:ext uri="{FF2B5EF4-FFF2-40B4-BE49-F238E27FC236}">
                <a16:creationId xmlns:a16="http://schemas.microsoft.com/office/drawing/2014/main" id="{63A739E2-8897-6D90-1155-CA517C8C85C1}"/>
              </a:ext>
            </a:extLst>
          </p:cNvPr>
          <p:cNvSpPr/>
          <p:nvPr/>
        </p:nvSpPr>
        <p:spPr>
          <a:xfrm>
            <a:off x="18022893" y="6423583"/>
            <a:ext cx="278702" cy="848773"/>
          </a:xfrm>
          <a:prstGeom prst="roundRect">
            <a:avLst>
              <a:gd name="adj" fmla="val 9843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r>
              <a:rPr lang="en-US" altLang="zh-CN" sz="900" b="1" dirty="0" err="1">
                <a:latin typeface="+mn-ea"/>
                <a:cs typeface="Microsoft YaHei" pitchFamily="34" charset="-120"/>
              </a:rPr>
              <a:t>需求层</a:t>
            </a:r>
            <a:endParaRPr lang="en-US" altLang="zh-CN" sz="900" dirty="0">
              <a:latin typeface="+mn-ea"/>
            </a:endParaRPr>
          </a:p>
        </p:txBody>
      </p:sp>
      <p:sp>
        <p:nvSpPr>
          <p:cNvPr id="175" name="Text 25">
            <a:extLst>
              <a:ext uri="{FF2B5EF4-FFF2-40B4-BE49-F238E27FC236}">
                <a16:creationId xmlns:a16="http://schemas.microsoft.com/office/drawing/2014/main" id="{06D59FF6-99BD-B490-A8A3-C32212307AAE}"/>
              </a:ext>
            </a:extLst>
          </p:cNvPr>
          <p:cNvSpPr/>
          <p:nvPr/>
        </p:nvSpPr>
        <p:spPr>
          <a:xfrm>
            <a:off x="11738822" y="4901028"/>
            <a:ext cx="1140143" cy="177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900" b="1" dirty="0">
                <a:latin typeface="+mn-ea"/>
                <a:cs typeface="Microsoft YaHei" pitchFamily="34" charset="-120"/>
              </a:rPr>
              <a:t>C</a:t>
            </a:r>
            <a:r>
              <a:rPr lang="zh-CN" altLang="en-US" sz="900" b="1" dirty="0">
                <a:latin typeface="+mn-ea"/>
                <a:cs typeface="Microsoft YaHei" pitchFamily="34" charset="-120"/>
              </a:rPr>
              <a:t>端</a:t>
            </a:r>
            <a:endParaRPr lang="en-US" sz="900" dirty="0">
              <a:latin typeface="+mn-ea"/>
            </a:endParaRPr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541FDAA4-BA2F-C04F-131A-F296FFA85A37}"/>
              </a:ext>
            </a:extLst>
          </p:cNvPr>
          <p:cNvSpPr txBox="1"/>
          <p:nvPr/>
        </p:nvSpPr>
        <p:spPr>
          <a:xfrm>
            <a:off x="193328" y="8187191"/>
            <a:ext cx="4358814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latin typeface="+mn-ea"/>
                <a:cs typeface="Microsoft YaHei" pitchFamily="34" charset="-120"/>
              </a:rPr>
              <a:t>信任输出层：</a:t>
            </a:r>
            <a:endParaRPr lang="en-US" altLang="zh-CN" sz="900" dirty="0">
              <a:latin typeface="+mn-ea"/>
              <a:cs typeface="Microsoft YaHei" pitchFamily="34" charset="-120"/>
            </a:endParaRPr>
          </a:p>
          <a:p>
            <a:r>
              <a:rPr lang="en-US" altLang="zh-CN" sz="900" dirty="0">
                <a:latin typeface="+mn-ea"/>
                <a:cs typeface="Microsoft YaHei" pitchFamily="34" charset="-120"/>
              </a:rPr>
              <a:t>1.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心智锚点：用户决策的主动复访理由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商家品牌化理由</a:t>
            </a:r>
            <a:endParaRPr lang="en-US" altLang="zh-CN" sz="900" dirty="0">
              <a:latin typeface="+mn-ea"/>
              <a:cs typeface="Microsoft YaHei" pitchFamily="34" charset="-120"/>
            </a:endParaRPr>
          </a:p>
          <a:p>
            <a:r>
              <a:rPr lang="en-US" altLang="zh-CN" sz="900" dirty="0">
                <a:latin typeface="+mn-ea"/>
                <a:cs typeface="Microsoft YaHei" pitchFamily="34" charset="-120"/>
              </a:rPr>
              <a:t>2.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好的定义：标杆模板、策略优先级、资源配给、</a:t>
            </a:r>
            <a:endParaRPr lang="en-US" altLang="zh-CN" sz="900" dirty="0">
              <a:latin typeface="+mn-ea"/>
              <a:cs typeface="Microsoft YaHei" pitchFamily="34" charset="-120"/>
            </a:endParaRPr>
          </a:p>
          <a:p>
            <a:r>
              <a:rPr lang="en-US" altLang="zh-CN" sz="900" dirty="0">
                <a:latin typeface="+mn-ea"/>
                <a:cs typeface="Microsoft YaHei" pitchFamily="34" charset="-120"/>
              </a:rPr>
              <a:t>3.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决策信任信号：用户选择依据，商家背书学习？</a:t>
            </a:r>
            <a:endParaRPr lang="en-US" altLang="zh-CN" sz="900" dirty="0">
              <a:latin typeface="+mn-ea"/>
              <a:cs typeface="Microsoft YaHei" pitchFamily="34" charset="-120"/>
            </a:endParaRPr>
          </a:p>
          <a:p>
            <a:r>
              <a:rPr lang="en-US" altLang="zh-CN" sz="900" dirty="0">
                <a:latin typeface="+mn-ea"/>
                <a:cs typeface="Microsoft YaHei" pitchFamily="34" charset="-120"/>
              </a:rPr>
              <a:t>4.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决策流量：到餐不等于团购，强找优惠心智到全旅程业务实质。也是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AI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分发全</a:t>
            </a:r>
            <a:endParaRPr lang="en-US" altLang="zh-CN" sz="900" dirty="0">
              <a:latin typeface="+mn-ea"/>
              <a:cs typeface="Microsoft YaHei" pitchFamily="34" charset="-120"/>
            </a:endParaRPr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66EA77B0-6F16-6C48-A856-1BF63A26459C}"/>
              </a:ext>
            </a:extLst>
          </p:cNvPr>
          <p:cNvSpPr txBox="1"/>
          <p:nvPr/>
        </p:nvSpPr>
        <p:spPr>
          <a:xfrm>
            <a:off x="193328" y="9269231"/>
            <a:ext cx="43588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latin typeface="+mn-ea"/>
                <a:cs typeface="Microsoft YaHei" pitchFamily="34" charset="-120"/>
              </a:rPr>
              <a:t>竞争：</a:t>
            </a:r>
            <a:endParaRPr lang="en-US" altLang="zh-CN" sz="900" dirty="0">
              <a:latin typeface="+mn-ea"/>
              <a:cs typeface="Microsoft YaHei" pitchFamily="34" charset="-120"/>
            </a:endParaRPr>
          </a:p>
          <a:p>
            <a:r>
              <a:rPr lang="zh-CN" altLang="en-US" sz="900" dirty="0">
                <a:latin typeface="+mn-ea"/>
                <a:cs typeface="Microsoft YaHei" pitchFamily="34" charset="-120"/>
              </a:rPr>
              <a:t>高德扫街榜</a:t>
            </a:r>
            <a:r>
              <a:rPr lang="en-US" altLang="zh-CN" sz="900" dirty="0">
                <a:latin typeface="+mn-ea"/>
                <a:cs typeface="Microsoft YaHei" pitchFamily="34" charset="-120"/>
              </a:rPr>
              <a:t>+</a:t>
            </a:r>
            <a:r>
              <a:rPr lang="zh-CN" altLang="en-US" sz="900" dirty="0">
                <a:latin typeface="+mn-ea"/>
                <a:cs typeface="Microsoft YaHei" pitchFamily="34" charset="-120"/>
              </a:rPr>
              <a:t>小红书内容，先从决策心智入手</a:t>
            </a:r>
            <a:endParaRPr lang="en-US" altLang="zh-CN" sz="900" dirty="0">
              <a:latin typeface="+mn-ea"/>
              <a:cs typeface="Microsoft YaHei" pitchFamily="34" charset="-120"/>
            </a:endParaRPr>
          </a:p>
        </p:txBody>
      </p:sp>
      <p:sp>
        <p:nvSpPr>
          <p:cNvPr id="180" name="Text 25">
            <a:extLst>
              <a:ext uri="{FF2B5EF4-FFF2-40B4-BE49-F238E27FC236}">
                <a16:creationId xmlns:a16="http://schemas.microsoft.com/office/drawing/2014/main" id="{B0853361-484F-4655-6A43-85D3C6AB4082}"/>
              </a:ext>
            </a:extLst>
          </p:cNvPr>
          <p:cNvSpPr/>
          <p:nvPr/>
        </p:nvSpPr>
        <p:spPr>
          <a:xfrm>
            <a:off x="16672772" y="4937135"/>
            <a:ext cx="1140143" cy="177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900" b="1" dirty="0">
                <a:latin typeface="+mn-ea"/>
                <a:cs typeface="Microsoft YaHei" pitchFamily="34" charset="-120"/>
              </a:rPr>
              <a:t>B</a:t>
            </a:r>
            <a:r>
              <a:rPr lang="zh-CN" altLang="en-US" sz="900" b="1" dirty="0">
                <a:latin typeface="+mn-ea"/>
                <a:cs typeface="Microsoft YaHei" pitchFamily="34" charset="-120"/>
              </a:rPr>
              <a:t>端</a:t>
            </a:r>
            <a:endParaRPr lang="en-US" sz="900" dirty="0">
              <a:latin typeface="+mn-ea"/>
            </a:endParaRPr>
          </a:p>
        </p:txBody>
      </p:sp>
      <p:sp>
        <p:nvSpPr>
          <p:cNvPr id="181" name="Shape 41">
            <a:extLst>
              <a:ext uri="{FF2B5EF4-FFF2-40B4-BE49-F238E27FC236}">
                <a16:creationId xmlns:a16="http://schemas.microsoft.com/office/drawing/2014/main" id="{5C6D3F00-2B5E-D730-7054-770852EE956B}"/>
              </a:ext>
            </a:extLst>
          </p:cNvPr>
          <p:cNvSpPr/>
          <p:nvPr/>
        </p:nvSpPr>
        <p:spPr>
          <a:xfrm>
            <a:off x="14946509" y="5194734"/>
            <a:ext cx="2533650" cy="760095"/>
          </a:xfrm>
          <a:prstGeom prst="roundRect">
            <a:avLst>
              <a:gd name="adj" fmla="val 5414"/>
            </a:avLst>
          </a:prstGeom>
          <a:solidFill>
            <a:srgbClr val="FFFFFF"/>
          </a:solidFill>
          <a:ln w="6350">
            <a:solidFill>
              <a:srgbClr val="64B5F6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2" name="Shape 42">
            <a:extLst>
              <a:ext uri="{FF2B5EF4-FFF2-40B4-BE49-F238E27FC236}">
                <a16:creationId xmlns:a16="http://schemas.microsoft.com/office/drawing/2014/main" id="{008204F4-3840-DD4E-927D-F05BB9C8F63C}"/>
              </a:ext>
            </a:extLst>
          </p:cNvPr>
          <p:cNvSpPr/>
          <p:nvPr/>
        </p:nvSpPr>
        <p:spPr>
          <a:xfrm>
            <a:off x="14946509" y="5194735"/>
            <a:ext cx="2533650" cy="215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183" name="Text 43">
            <a:extLst>
              <a:ext uri="{FF2B5EF4-FFF2-40B4-BE49-F238E27FC236}">
                <a16:creationId xmlns:a16="http://schemas.microsoft.com/office/drawing/2014/main" id="{8A3C9981-DF94-3CA1-3A90-7DDF60D161D4}"/>
              </a:ext>
            </a:extLst>
          </p:cNvPr>
          <p:cNvSpPr/>
          <p:nvPr/>
        </p:nvSpPr>
        <p:spPr>
          <a:xfrm>
            <a:off x="14946509" y="5194735"/>
            <a:ext cx="2533650" cy="21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900" b="1" dirty="0">
                <a:latin typeface="+mn-ea"/>
              </a:rPr>
              <a:t>低成本</a:t>
            </a:r>
            <a:endParaRPr lang="en-US" sz="900" b="1" dirty="0">
              <a:latin typeface="+mn-ea"/>
            </a:endParaRPr>
          </a:p>
        </p:txBody>
      </p:sp>
      <p:sp>
        <p:nvSpPr>
          <p:cNvPr id="184" name="Text 44">
            <a:extLst>
              <a:ext uri="{FF2B5EF4-FFF2-40B4-BE49-F238E27FC236}">
                <a16:creationId xmlns:a16="http://schemas.microsoft.com/office/drawing/2014/main" id="{1EB7E1A3-740C-1347-E686-50B9902FFB42}"/>
              </a:ext>
            </a:extLst>
          </p:cNvPr>
          <p:cNvSpPr/>
          <p:nvPr/>
        </p:nvSpPr>
        <p:spPr>
          <a:xfrm>
            <a:off x="15009850" y="5435431"/>
            <a:ext cx="2406968" cy="481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CN" altLang="en-US" sz="900">
                <a:latin typeface="+mn-ea"/>
                <a:cs typeface="Microsoft YaHei" pitchFamily="34" charset="-120"/>
              </a:rPr>
              <a:t>不用反复获取注意力</a:t>
            </a:r>
            <a:endParaRPr lang="en-US" sz="900" dirty="0">
              <a:latin typeface="+mn-ea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800475" y="3638640"/>
            <a:ext cx="1140143" cy="177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latin typeface="+mn-ea"/>
                <a:cs typeface="Microsoft YaHei" pitchFamily="34" charset="-120"/>
              </a:rPr>
              <a:t>↑ 输出价值</a:t>
            </a:r>
            <a:endParaRPr lang="en-US" sz="900" dirty="0">
              <a:latin typeface="+mn-ea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B0D215A-3764-1B17-D50E-D0E721AA1F69}"/>
              </a:ext>
            </a:extLst>
          </p:cNvPr>
          <p:cNvSpPr txBox="1"/>
          <p:nvPr/>
        </p:nvSpPr>
        <p:spPr>
          <a:xfrm>
            <a:off x="806912" y="802774"/>
            <a:ext cx="66835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i="0" dirty="0">
                <a:effectLst/>
                <a:latin typeface="+mn-ea"/>
              </a:rPr>
              <a:t>C</a:t>
            </a:r>
            <a:r>
              <a:rPr lang="zh-CN" altLang="en-US" sz="1200" b="1" i="0" dirty="0">
                <a:effectLst/>
                <a:latin typeface="+mn-ea"/>
              </a:rPr>
              <a:t>端占心智 </a:t>
            </a:r>
            <a:r>
              <a:rPr lang="en-US" altLang="zh-CN" sz="1200" b="1" i="0" dirty="0">
                <a:effectLst/>
                <a:latin typeface="+mn-ea"/>
              </a:rPr>
              <a:t>× B</a:t>
            </a:r>
            <a:r>
              <a:rPr lang="zh-CN" altLang="en-US" sz="1200" b="1" i="0" dirty="0">
                <a:effectLst/>
                <a:latin typeface="+mn-ea"/>
              </a:rPr>
              <a:t>端促</a:t>
            </a:r>
            <a:r>
              <a:rPr lang="zh-CN" altLang="en-US" sz="1200" b="1" dirty="0">
                <a:latin typeface="+mn-ea"/>
              </a:rPr>
              <a:t>品质</a:t>
            </a:r>
            <a:r>
              <a:rPr lang="zh-CN" altLang="en-US" sz="1200" b="1" i="0" dirty="0">
                <a:effectLst/>
                <a:latin typeface="+mn-ea"/>
              </a:rPr>
              <a:t> </a:t>
            </a:r>
            <a:r>
              <a:rPr lang="en-US" altLang="zh-CN" sz="1200" b="1" i="0" dirty="0">
                <a:effectLst/>
                <a:latin typeface="+mn-ea"/>
              </a:rPr>
              <a:t>× </a:t>
            </a:r>
            <a:r>
              <a:rPr lang="zh-CN" altLang="en-US" sz="1200" b="1" i="0" dirty="0">
                <a:effectLst/>
                <a:latin typeface="+mn-ea"/>
              </a:rPr>
              <a:t>平台筑壁垒</a:t>
            </a:r>
            <a:r>
              <a:rPr lang="zh-CN" altLang="en-US" sz="1200" b="0" i="0" dirty="0">
                <a:effectLst/>
                <a:latin typeface="+mn-ea"/>
              </a:rPr>
              <a:t> </a:t>
            </a:r>
            <a:endParaRPr lang="zh-CN" altLang="en-US" sz="1200" dirty="0">
              <a:latin typeface="+mn-ea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10D2C7F-7DAD-F7FA-371B-F02E9EF43BA9}"/>
              </a:ext>
            </a:extLst>
          </p:cNvPr>
          <p:cNvSpPr txBox="1"/>
          <p:nvPr/>
        </p:nvSpPr>
        <p:spPr>
          <a:xfrm>
            <a:off x="9215438" y="39402"/>
            <a:ext cx="396716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 err="1">
                <a:latin typeface="+mn-ea"/>
                <a:cs typeface="Microsoft YaHei" pitchFamily="34" charset="-120"/>
              </a:rPr>
              <a:t>战略意义</a:t>
            </a:r>
            <a:r>
              <a:rPr lang="en-US" altLang="zh-CN" sz="1200" b="1" dirty="0">
                <a:latin typeface="+mn-ea"/>
                <a:cs typeface="Microsoft YaHei" pitchFamily="34" charset="-120"/>
              </a:rPr>
              <a:t>：</a:t>
            </a:r>
            <a:endParaRPr lang="en-US" altLang="zh-CN" sz="1200" dirty="0">
              <a:latin typeface="+mn-ea"/>
            </a:endParaRPr>
          </a:p>
          <a:p>
            <a:r>
              <a:rPr lang="en-US" altLang="zh-CN" sz="1200" dirty="0" err="1">
                <a:latin typeface="+mn-ea"/>
                <a:cs typeface="Microsoft YaHei" pitchFamily="34" charset="-120"/>
              </a:rPr>
              <a:t>用户行为→资产→信任→商家沉淀→商家被牵引→平台沉淀差异化竞争力。飞轮效应，越转越厚，竞品越难追赶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。</a:t>
            </a:r>
          </a:p>
          <a:p>
            <a:r>
              <a:rPr lang="zh-CN" altLang="en-US" sz="1200" b="0" i="0" dirty="0">
                <a:effectLst/>
                <a:latin typeface="-apple-system"/>
              </a:rPr>
              <a:t>优质经营→好评沉淀→信任标签→自然流量→更多优质用户。</a:t>
            </a:r>
            <a:r>
              <a:rPr lang="zh-CN" altLang="en-US" sz="1200" b="0" i="0" dirty="0">
                <a:solidFill>
                  <a:srgbClr val="666666"/>
                </a:solidFill>
                <a:effectLst/>
                <a:latin typeface="-apple-system"/>
              </a:rPr>
              <a:t>用户行为产生的真实数据→驱动商户改善→</a:t>
            </a:r>
            <a:r>
              <a:rPr lang="zh-CN" altLang="en-US" sz="1200" b="1" i="0" dirty="0">
                <a:solidFill>
                  <a:srgbClr val="666666"/>
                </a:solidFill>
                <a:effectLst/>
                <a:latin typeface="-apple-system"/>
              </a:rPr>
              <a:t>形成</a:t>
            </a:r>
            <a:r>
              <a:rPr lang="en-US" altLang="zh-CN" sz="1200" b="1" i="0" dirty="0">
                <a:solidFill>
                  <a:srgbClr val="666666"/>
                </a:solidFill>
                <a:effectLst/>
                <a:latin typeface="-apple-system"/>
              </a:rPr>
              <a:t>"</a:t>
            </a:r>
            <a:r>
              <a:rPr lang="zh-CN" altLang="en-US" sz="1200" b="1" i="0" dirty="0">
                <a:solidFill>
                  <a:srgbClr val="666666"/>
                </a:solidFill>
                <a:effectLst/>
                <a:latin typeface="-apple-system"/>
              </a:rPr>
              <a:t>你变好，流量就来</a:t>
            </a:r>
            <a:r>
              <a:rPr lang="en-US" altLang="zh-CN" sz="1200" b="1" i="0" dirty="0">
                <a:solidFill>
                  <a:srgbClr val="666666"/>
                </a:solidFill>
                <a:effectLst/>
                <a:latin typeface="-apple-system"/>
              </a:rPr>
              <a:t>"</a:t>
            </a:r>
            <a:r>
              <a:rPr lang="zh-CN" altLang="en-US" sz="1200" b="1" i="0" dirty="0">
                <a:solidFill>
                  <a:srgbClr val="666666"/>
                </a:solidFill>
                <a:effectLst/>
                <a:latin typeface="-apple-system"/>
              </a:rPr>
              <a:t>的正向循环</a:t>
            </a:r>
            <a:r>
              <a:rPr lang="zh-CN" altLang="en-US" sz="1200" b="0" i="0" dirty="0">
                <a:solidFill>
                  <a:srgbClr val="666666"/>
                </a:solidFill>
                <a:effectLst/>
                <a:latin typeface="-apple-system"/>
              </a:rPr>
              <a:t>，跳出</a:t>
            </a:r>
            <a:r>
              <a:rPr lang="en-US" altLang="zh-CN" sz="1200" b="0" i="0" dirty="0">
                <a:solidFill>
                  <a:srgbClr val="666666"/>
                </a:solidFill>
                <a:effectLst/>
                <a:latin typeface="-apple-system"/>
              </a:rPr>
              <a:t>"</a:t>
            </a:r>
            <a:r>
              <a:rPr lang="zh-CN" altLang="en-US" sz="1200" b="0" i="0" dirty="0">
                <a:solidFill>
                  <a:srgbClr val="666666"/>
                </a:solidFill>
                <a:effectLst/>
                <a:latin typeface="-apple-system"/>
              </a:rPr>
              <a:t>花钱买流量</a:t>
            </a:r>
            <a:r>
              <a:rPr lang="en-US" altLang="zh-CN" sz="1200" b="0" i="0" dirty="0">
                <a:solidFill>
                  <a:srgbClr val="666666"/>
                </a:solidFill>
                <a:effectLst/>
                <a:latin typeface="-apple-system"/>
              </a:rPr>
              <a:t>"</a:t>
            </a:r>
            <a:r>
              <a:rPr lang="zh-CN" altLang="en-US" sz="1200" b="0" i="0" dirty="0">
                <a:solidFill>
                  <a:srgbClr val="666666"/>
                </a:solidFill>
                <a:effectLst/>
                <a:latin typeface="-apple-system"/>
              </a:rPr>
              <a:t>的零和博弈</a:t>
            </a:r>
            <a:endParaRPr lang="en-US" altLang="zh-CN" sz="1200" dirty="0">
              <a:latin typeface="+mn-ea"/>
            </a:endParaRPr>
          </a:p>
          <a:p>
            <a:endParaRPr lang="en-US" altLang="zh-CN" sz="1200" dirty="0">
              <a:latin typeface="+mn-ea"/>
              <a:cs typeface="Microsoft YaHei" pitchFamily="34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: 圆角 4">
            <a:extLst>
              <a:ext uri="{FF2B5EF4-FFF2-40B4-BE49-F238E27FC236}">
                <a16:creationId xmlns:a16="http://schemas.microsoft.com/office/drawing/2014/main" id="{51A5D107-8811-352E-2CC2-42421CFA26EA}"/>
              </a:ext>
            </a:extLst>
          </p:cNvPr>
          <p:cNvSpPr/>
          <p:nvPr/>
        </p:nvSpPr>
        <p:spPr>
          <a:xfrm>
            <a:off x="1041683" y="6448267"/>
            <a:ext cx="2818200" cy="4137703"/>
          </a:xfrm>
          <a:prstGeom prst="roundRect">
            <a:avLst>
              <a:gd name="adj" fmla="val 13287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个人食单</a:t>
            </a:r>
            <a:r>
              <a:rPr lang="en-US" altLang="zh-CN" sz="1200" dirty="0">
                <a:solidFill>
                  <a:schemeClr val="tx1"/>
                </a:solidFill>
              </a:rPr>
              <a:t>-</a:t>
            </a:r>
            <a:r>
              <a:rPr lang="zh-CN" altLang="en-US" sz="1200" dirty="0">
                <a:solidFill>
                  <a:schemeClr val="tx1"/>
                </a:solidFill>
              </a:rPr>
              <a:t>标题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34" name="矩形: 圆角 133">
            <a:extLst>
              <a:ext uri="{FF2B5EF4-FFF2-40B4-BE49-F238E27FC236}">
                <a16:creationId xmlns:a16="http://schemas.microsoft.com/office/drawing/2014/main" id="{0E6EBBFB-1C2D-D610-86B4-0621E666E4C6}"/>
              </a:ext>
            </a:extLst>
          </p:cNvPr>
          <p:cNvSpPr/>
          <p:nvPr/>
        </p:nvSpPr>
        <p:spPr>
          <a:xfrm>
            <a:off x="1969064" y="7851391"/>
            <a:ext cx="1260000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个人资产证据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41D41667-3E3B-D85E-D36B-55625D73177B}"/>
              </a:ext>
            </a:extLst>
          </p:cNvPr>
          <p:cNvSpPr/>
          <p:nvPr/>
        </p:nvSpPr>
        <p:spPr>
          <a:xfrm>
            <a:off x="1165248" y="6913883"/>
            <a:ext cx="534695" cy="534695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37" name="椭圆 136">
            <a:extLst>
              <a:ext uri="{FF2B5EF4-FFF2-40B4-BE49-F238E27FC236}">
                <a16:creationId xmlns:a16="http://schemas.microsoft.com/office/drawing/2014/main" id="{1DB01F2D-126B-8AF7-71D9-FEB4949C3061}"/>
              </a:ext>
            </a:extLst>
          </p:cNvPr>
          <p:cNvSpPr/>
          <p:nvPr/>
        </p:nvSpPr>
        <p:spPr>
          <a:xfrm>
            <a:off x="1697355" y="6913882"/>
            <a:ext cx="534695" cy="534695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39" name="矩形: 圆角 138">
            <a:extLst>
              <a:ext uri="{FF2B5EF4-FFF2-40B4-BE49-F238E27FC236}">
                <a16:creationId xmlns:a16="http://schemas.microsoft.com/office/drawing/2014/main" id="{4B67665B-8E94-1380-4053-B662375EFDD2}"/>
              </a:ext>
            </a:extLst>
          </p:cNvPr>
          <p:cNvSpPr/>
          <p:nvPr/>
        </p:nvSpPr>
        <p:spPr>
          <a:xfrm>
            <a:off x="1073089" y="7300207"/>
            <a:ext cx="1377694" cy="15962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证据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身份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圈层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A312B5E8-A284-9204-B33A-052313195E4C}"/>
              </a:ext>
            </a:extLst>
          </p:cNvPr>
          <p:cNvSpPr txBox="1"/>
          <p:nvPr/>
        </p:nvSpPr>
        <p:spPr>
          <a:xfrm>
            <a:off x="976962" y="7042729"/>
            <a:ext cx="8739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/>
              <a:t>创建者</a:t>
            </a: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332ACEC1-4AE8-0662-5B9A-2A6D6007335F}"/>
              </a:ext>
            </a:extLst>
          </p:cNvPr>
          <p:cNvSpPr txBox="1"/>
          <p:nvPr/>
        </p:nvSpPr>
        <p:spPr>
          <a:xfrm>
            <a:off x="1615360" y="7033079"/>
            <a:ext cx="7215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/>
              <a:t>共建者</a:t>
            </a:r>
          </a:p>
        </p:txBody>
      </p:sp>
      <p:sp>
        <p:nvSpPr>
          <p:cNvPr id="153" name="矩形: 圆角 152">
            <a:extLst>
              <a:ext uri="{FF2B5EF4-FFF2-40B4-BE49-F238E27FC236}">
                <a16:creationId xmlns:a16="http://schemas.microsoft.com/office/drawing/2014/main" id="{68834A0A-392E-98EA-1227-D7CF03A775BD}"/>
              </a:ext>
            </a:extLst>
          </p:cNvPr>
          <p:cNvSpPr/>
          <p:nvPr/>
        </p:nvSpPr>
        <p:spPr>
          <a:xfrm>
            <a:off x="1194083" y="7564403"/>
            <a:ext cx="2541976" cy="2437448"/>
          </a:xfrm>
          <a:prstGeom prst="roundRect">
            <a:avLst>
              <a:gd name="adj" fmla="val 5167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54" name="矩形: 圆角 153">
            <a:extLst>
              <a:ext uri="{FF2B5EF4-FFF2-40B4-BE49-F238E27FC236}">
                <a16:creationId xmlns:a16="http://schemas.microsoft.com/office/drawing/2014/main" id="{D06CA56F-9BBB-329F-1C3D-1C7DBCF606CA}"/>
              </a:ext>
            </a:extLst>
          </p:cNvPr>
          <p:cNvSpPr/>
          <p:nvPr/>
        </p:nvSpPr>
        <p:spPr>
          <a:xfrm>
            <a:off x="1232521" y="7628490"/>
            <a:ext cx="693788" cy="62580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门店</a:t>
            </a:r>
            <a:endParaRPr lang="en-US" altLang="zh-CN" sz="1200" dirty="0"/>
          </a:p>
        </p:txBody>
      </p:sp>
      <p:sp>
        <p:nvSpPr>
          <p:cNvPr id="155" name="矩形: 圆角 154">
            <a:extLst>
              <a:ext uri="{FF2B5EF4-FFF2-40B4-BE49-F238E27FC236}">
                <a16:creationId xmlns:a16="http://schemas.microsoft.com/office/drawing/2014/main" id="{2CC9666D-089D-257A-DF07-DB7738ACD17C}"/>
              </a:ext>
            </a:extLst>
          </p:cNvPr>
          <p:cNvSpPr/>
          <p:nvPr/>
        </p:nvSpPr>
        <p:spPr>
          <a:xfrm>
            <a:off x="3278378" y="7838837"/>
            <a:ext cx="390058" cy="43240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1" name="文本框 160">
            <a:extLst>
              <a:ext uri="{FF2B5EF4-FFF2-40B4-BE49-F238E27FC236}">
                <a16:creationId xmlns:a16="http://schemas.microsoft.com/office/drawing/2014/main" id="{36AA6886-D143-9A0A-D15B-296A651911D2}"/>
              </a:ext>
            </a:extLst>
          </p:cNvPr>
          <p:cNvSpPr txBox="1"/>
          <p:nvPr/>
        </p:nvSpPr>
        <p:spPr>
          <a:xfrm>
            <a:off x="3263095" y="7869849"/>
            <a:ext cx="4576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用户状态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2" name="矩形: 圆角 161">
            <a:extLst>
              <a:ext uri="{FF2B5EF4-FFF2-40B4-BE49-F238E27FC236}">
                <a16:creationId xmlns:a16="http://schemas.microsoft.com/office/drawing/2014/main" id="{F8853F7A-5C94-B3D8-B1C7-A7836B43B174}"/>
              </a:ext>
            </a:extLst>
          </p:cNvPr>
          <p:cNvSpPr/>
          <p:nvPr/>
        </p:nvSpPr>
        <p:spPr>
          <a:xfrm>
            <a:off x="2174685" y="10149031"/>
            <a:ext cx="1476323" cy="34012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互动区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63" name="矩形: 圆角 162">
            <a:extLst>
              <a:ext uri="{FF2B5EF4-FFF2-40B4-BE49-F238E27FC236}">
                <a16:creationId xmlns:a16="http://schemas.microsoft.com/office/drawing/2014/main" id="{F39DBDFB-AD67-61AA-6324-FED3F5087A16}"/>
              </a:ext>
            </a:extLst>
          </p:cNvPr>
          <p:cNvSpPr/>
          <p:nvPr/>
        </p:nvSpPr>
        <p:spPr>
          <a:xfrm>
            <a:off x="1964702" y="8074292"/>
            <a:ext cx="1260000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组合动态信息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4" name="矩形: 圆角 163">
            <a:extLst>
              <a:ext uri="{FF2B5EF4-FFF2-40B4-BE49-F238E27FC236}">
                <a16:creationId xmlns:a16="http://schemas.microsoft.com/office/drawing/2014/main" id="{81FE88D3-1013-FA72-0DD6-5EF71C0A27C8}"/>
              </a:ext>
            </a:extLst>
          </p:cNvPr>
          <p:cNvSpPr/>
          <p:nvPr/>
        </p:nvSpPr>
        <p:spPr>
          <a:xfrm>
            <a:off x="1969064" y="7628490"/>
            <a:ext cx="1681944" cy="18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门店基本信息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5" name="矩形: 圆角 194">
            <a:extLst>
              <a:ext uri="{FF2B5EF4-FFF2-40B4-BE49-F238E27FC236}">
                <a16:creationId xmlns:a16="http://schemas.microsoft.com/office/drawing/2014/main" id="{63B8336B-5B72-7E54-52BB-18092CDB6F9B}"/>
              </a:ext>
            </a:extLst>
          </p:cNvPr>
          <p:cNvSpPr/>
          <p:nvPr/>
        </p:nvSpPr>
        <p:spPr>
          <a:xfrm>
            <a:off x="5240471" y="-3750620"/>
            <a:ext cx="4334274" cy="49599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流量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动线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96" name="矩形: 圆角 195">
            <a:extLst>
              <a:ext uri="{FF2B5EF4-FFF2-40B4-BE49-F238E27FC236}">
                <a16:creationId xmlns:a16="http://schemas.microsoft.com/office/drawing/2014/main" id="{B366FDD7-A207-30AD-BB47-3C475FC5D52E}"/>
              </a:ext>
            </a:extLst>
          </p:cNvPr>
          <p:cNvSpPr/>
          <p:nvPr/>
        </p:nvSpPr>
        <p:spPr>
          <a:xfrm>
            <a:off x="2819857" y="7309296"/>
            <a:ext cx="960308" cy="14870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食单数据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98" name="矩形: 圆角 197">
            <a:extLst>
              <a:ext uri="{FF2B5EF4-FFF2-40B4-BE49-F238E27FC236}">
                <a16:creationId xmlns:a16="http://schemas.microsoft.com/office/drawing/2014/main" id="{55A3F7D3-5E77-FF11-1C49-1E9FC2D0EC30}"/>
              </a:ext>
            </a:extLst>
          </p:cNvPr>
          <p:cNvSpPr/>
          <p:nvPr/>
        </p:nvSpPr>
        <p:spPr>
          <a:xfrm>
            <a:off x="9842440" y="-3740983"/>
            <a:ext cx="4115972" cy="49599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价值激励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206" name="矩形: 圆角 21">
            <a:extLst>
              <a:ext uri="{FF2B5EF4-FFF2-40B4-BE49-F238E27FC236}">
                <a16:creationId xmlns:a16="http://schemas.microsoft.com/office/drawing/2014/main" id="{0625382B-2BB0-B461-D65B-29B0D1F0EC1F}"/>
              </a:ext>
            </a:extLst>
          </p:cNvPr>
          <p:cNvSpPr/>
          <p:nvPr/>
        </p:nvSpPr>
        <p:spPr>
          <a:xfrm>
            <a:off x="5294713" y="-3383490"/>
            <a:ext cx="988282" cy="2769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个性化推荐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07" name="矩形: 圆角 21">
            <a:extLst>
              <a:ext uri="{FF2B5EF4-FFF2-40B4-BE49-F238E27FC236}">
                <a16:creationId xmlns:a16="http://schemas.microsoft.com/office/drawing/2014/main" id="{ABFE74FB-9B2A-C8DB-9A26-00287B7A5E81}"/>
              </a:ext>
            </a:extLst>
          </p:cNvPr>
          <p:cNvSpPr/>
          <p:nvPr/>
        </p:nvSpPr>
        <p:spPr>
          <a:xfrm>
            <a:off x="6310137" y="-3383490"/>
            <a:ext cx="988282" cy="2769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搜索关联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08" name="矩形: 圆角 21">
            <a:extLst>
              <a:ext uri="{FF2B5EF4-FFF2-40B4-BE49-F238E27FC236}">
                <a16:creationId xmlns:a16="http://schemas.microsoft.com/office/drawing/2014/main" id="{5AA03130-6EDC-B63C-8295-0A700A5E96BD}"/>
              </a:ext>
            </a:extLst>
          </p:cNvPr>
          <p:cNvSpPr/>
          <p:nvPr/>
        </p:nvSpPr>
        <p:spPr>
          <a:xfrm>
            <a:off x="7511337" y="-3383490"/>
            <a:ext cx="988282" cy="2769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POI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09" name="矩形: 圆角 21">
            <a:extLst>
              <a:ext uri="{FF2B5EF4-FFF2-40B4-BE49-F238E27FC236}">
                <a16:creationId xmlns:a16="http://schemas.microsoft.com/office/drawing/2014/main" id="{73600A22-54B8-6946-6B99-F515715B355D}"/>
              </a:ext>
            </a:extLst>
          </p:cNvPr>
          <p:cNvSpPr/>
          <p:nvPr/>
        </p:nvSpPr>
        <p:spPr>
          <a:xfrm>
            <a:off x="8528753" y="-3383490"/>
            <a:ext cx="988282" cy="2769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频道入口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26" name="矩形: 圆角 225">
            <a:extLst>
              <a:ext uri="{FF2B5EF4-FFF2-40B4-BE49-F238E27FC236}">
                <a16:creationId xmlns:a16="http://schemas.microsoft.com/office/drawing/2014/main" id="{E4611570-9D18-3719-140C-9208A763C18F}"/>
              </a:ext>
            </a:extLst>
          </p:cNvPr>
          <p:cNvSpPr/>
          <p:nvPr/>
        </p:nvSpPr>
        <p:spPr>
          <a:xfrm>
            <a:off x="7896043" y="-2969728"/>
            <a:ext cx="1607202" cy="35823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分发策略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227" name="矩形: 圆角 226">
            <a:extLst>
              <a:ext uri="{FF2B5EF4-FFF2-40B4-BE49-F238E27FC236}">
                <a16:creationId xmlns:a16="http://schemas.microsoft.com/office/drawing/2014/main" id="{E6EB596F-C1A9-AB96-1437-15A7A9F461F2}"/>
              </a:ext>
            </a:extLst>
          </p:cNvPr>
          <p:cNvSpPr/>
          <p:nvPr/>
        </p:nvSpPr>
        <p:spPr>
          <a:xfrm>
            <a:off x="10143841" y="-2979188"/>
            <a:ext cx="1607202" cy="35823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激励策略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234" name="矩形: 圆角 21">
            <a:extLst>
              <a:ext uri="{FF2B5EF4-FFF2-40B4-BE49-F238E27FC236}">
                <a16:creationId xmlns:a16="http://schemas.microsoft.com/office/drawing/2014/main" id="{E5888875-1FFF-D73A-1825-6E9ACB595842}"/>
              </a:ext>
            </a:extLst>
          </p:cNvPr>
          <p:cNvSpPr/>
          <p:nvPr/>
        </p:nvSpPr>
        <p:spPr>
          <a:xfrm>
            <a:off x="9863412" y="-3403367"/>
            <a:ext cx="988282" cy="2769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荣誉价值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35" name="矩形: 圆角 21">
            <a:extLst>
              <a:ext uri="{FF2B5EF4-FFF2-40B4-BE49-F238E27FC236}">
                <a16:creationId xmlns:a16="http://schemas.microsoft.com/office/drawing/2014/main" id="{41C28451-2C75-29CD-FD8D-7CC4B353CFD9}"/>
              </a:ext>
            </a:extLst>
          </p:cNvPr>
          <p:cNvSpPr/>
          <p:nvPr/>
        </p:nvSpPr>
        <p:spPr>
          <a:xfrm>
            <a:off x="10893579" y="-3402937"/>
            <a:ext cx="988282" cy="2769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反馈价值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36" name="矩形: 圆角 21">
            <a:extLst>
              <a:ext uri="{FF2B5EF4-FFF2-40B4-BE49-F238E27FC236}">
                <a16:creationId xmlns:a16="http://schemas.microsoft.com/office/drawing/2014/main" id="{CBA98609-777D-E476-B5F1-05F529C11946}"/>
              </a:ext>
            </a:extLst>
          </p:cNvPr>
          <p:cNvSpPr/>
          <p:nvPr/>
        </p:nvSpPr>
        <p:spPr>
          <a:xfrm>
            <a:off x="11921845" y="-3383492"/>
            <a:ext cx="988282" cy="2769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体验价值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37" name="矩形: 圆角 21">
            <a:extLst>
              <a:ext uri="{FF2B5EF4-FFF2-40B4-BE49-F238E27FC236}">
                <a16:creationId xmlns:a16="http://schemas.microsoft.com/office/drawing/2014/main" id="{6D9458B4-C314-5767-0C83-C42E36C82B18}"/>
              </a:ext>
            </a:extLst>
          </p:cNvPr>
          <p:cNvSpPr/>
          <p:nvPr/>
        </p:nvSpPr>
        <p:spPr>
          <a:xfrm>
            <a:off x="12932900" y="-3383492"/>
            <a:ext cx="988282" cy="2769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金钱价值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45" name="矩形: 圆角 21">
            <a:extLst>
              <a:ext uri="{FF2B5EF4-FFF2-40B4-BE49-F238E27FC236}">
                <a16:creationId xmlns:a16="http://schemas.microsoft.com/office/drawing/2014/main" id="{189D5EB3-EE0B-DF17-8F0F-252D6D11D4FB}"/>
              </a:ext>
            </a:extLst>
          </p:cNvPr>
          <p:cNvSpPr/>
          <p:nvPr/>
        </p:nvSpPr>
        <p:spPr>
          <a:xfrm>
            <a:off x="4225047" y="-3393128"/>
            <a:ext cx="988282" cy="2769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地图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54" name="矩形: 圆角 253">
            <a:extLst>
              <a:ext uri="{FF2B5EF4-FFF2-40B4-BE49-F238E27FC236}">
                <a16:creationId xmlns:a16="http://schemas.microsoft.com/office/drawing/2014/main" id="{2BBFC738-B7D7-97B0-CF81-DFAD5355872F}"/>
              </a:ext>
            </a:extLst>
          </p:cNvPr>
          <p:cNvSpPr/>
          <p:nvPr/>
        </p:nvSpPr>
        <p:spPr>
          <a:xfrm>
            <a:off x="1974644" y="8543762"/>
            <a:ext cx="1260000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消费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10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次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55" name="矩形: 圆角 254">
            <a:extLst>
              <a:ext uri="{FF2B5EF4-FFF2-40B4-BE49-F238E27FC236}">
                <a16:creationId xmlns:a16="http://schemas.microsoft.com/office/drawing/2014/main" id="{9457C1D8-FCCD-5F64-717B-A057DE6F32BE}"/>
              </a:ext>
            </a:extLst>
          </p:cNvPr>
          <p:cNvSpPr/>
          <p:nvPr/>
        </p:nvSpPr>
        <p:spPr>
          <a:xfrm>
            <a:off x="1238101" y="8320861"/>
            <a:ext cx="693788" cy="62580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门店</a:t>
            </a:r>
            <a:endParaRPr lang="en-US" altLang="zh-CN" sz="1200" dirty="0"/>
          </a:p>
        </p:txBody>
      </p:sp>
      <p:sp>
        <p:nvSpPr>
          <p:cNvPr id="256" name="矩形: 圆角 255">
            <a:extLst>
              <a:ext uri="{FF2B5EF4-FFF2-40B4-BE49-F238E27FC236}">
                <a16:creationId xmlns:a16="http://schemas.microsoft.com/office/drawing/2014/main" id="{DDA3E5AB-4850-2345-A5FB-978B13294A6F}"/>
              </a:ext>
            </a:extLst>
          </p:cNvPr>
          <p:cNvSpPr/>
          <p:nvPr/>
        </p:nvSpPr>
        <p:spPr>
          <a:xfrm>
            <a:off x="3283958" y="8531208"/>
            <a:ext cx="390058" cy="43240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57" name="文本框 256">
            <a:extLst>
              <a:ext uri="{FF2B5EF4-FFF2-40B4-BE49-F238E27FC236}">
                <a16:creationId xmlns:a16="http://schemas.microsoft.com/office/drawing/2014/main" id="{7593A903-A83A-8CAD-836B-8B396256E0AF}"/>
              </a:ext>
            </a:extLst>
          </p:cNvPr>
          <p:cNvSpPr txBox="1"/>
          <p:nvPr/>
        </p:nvSpPr>
        <p:spPr>
          <a:xfrm>
            <a:off x="3256961" y="8551024"/>
            <a:ext cx="4576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用户状态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58" name="矩形: 圆角 257">
            <a:extLst>
              <a:ext uri="{FF2B5EF4-FFF2-40B4-BE49-F238E27FC236}">
                <a16:creationId xmlns:a16="http://schemas.microsoft.com/office/drawing/2014/main" id="{624443FA-0F72-F4B4-E960-E6B5A4DD33AA}"/>
              </a:ext>
            </a:extLst>
          </p:cNvPr>
          <p:cNvSpPr/>
          <p:nvPr/>
        </p:nvSpPr>
        <p:spPr>
          <a:xfrm>
            <a:off x="1970282" y="8766663"/>
            <a:ext cx="1260000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有包间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/100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人跟吃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59" name="矩形: 圆角 258">
            <a:extLst>
              <a:ext uri="{FF2B5EF4-FFF2-40B4-BE49-F238E27FC236}">
                <a16:creationId xmlns:a16="http://schemas.microsoft.com/office/drawing/2014/main" id="{38C1F2B8-27E1-66FF-CD32-ECB5C8234F66}"/>
              </a:ext>
            </a:extLst>
          </p:cNvPr>
          <p:cNvSpPr/>
          <p:nvPr/>
        </p:nvSpPr>
        <p:spPr>
          <a:xfrm>
            <a:off x="1974644" y="8320861"/>
            <a:ext cx="1681944" cy="18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xx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火锅店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F26478BD-C9A7-D7A9-9906-312C2D087333}"/>
              </a:ext>
            </a:extLst>
          </p:cNvPr>
          <p:cNvSpPr/>
          <p:nvPr/>
        </p:nvSpPr>
        <p:spPr>
          <a:xfrm>
            <a:off x="2569989" y="7070727"/>
            <a:ext cx="1214619" cy="27250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个人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食单简介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5C9E06FA-A954-C47B-9DC4-F81B47091C43}"/>
              </a:ext>
            </a:extLst>
          </p:cNvPr>
          <p:cNvSpPr/>
          <p:nvPr/>
        </p:nvSpPr>
        <p:spPr>
          <a:xfrm>
            <a:off x="2149591" y="687533"/>
            <a:ext cx="1512353" cy="4284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需求探测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D932E324-D94B-FAE6-F182-B50232B6A482}"/>
              </a:ext>
            </a:extLst>
          </p:cNvPr>
          <p:cNvSpPr/>
          <p:nvPr/>
        </p:nvSpPr>
        <p:spPr>
          <a:xfrm>
            <a:off x="3771656" y="687533"/>
            <a:ext cx="1510416" cy="4284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用户画像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B34B022A-6548-6662-5BC0-EA55CB0D880E}"/>
              </a:ext>
            </a:extLst>
          </p:cNvPr>
          <p:cNvSpPr/>
          <p:nvPr/>
        </p:nvSpPr>
        <p:spPr>
          <a:xfrm>
            <a:off x="5391784" y="687533"/>
            <a:ext cx="1523730" cy="4284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用户动线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7F5D5724-99A8-B350-873B-2922354377E6}"/>
              </a:ext>
            </a:extLst>
          </p:cNvPr>
          <p:cNvSpPr/>
          <p:nvPr/>
        </p:nvSpPr>
        <p:spPr>
          <a:xfrm>
            <a:off x="7014877" y="707204"/>
            <a:ext cx="1512353" cy="4284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成长体系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F8C6C87-A747-B456-18AE-7742E02BFA8C}"/>
              </a:ext>
            </a:extLst>
          </p:cNvPr>
          <p:cNvSpPr txBox="1"/>
          <p:nvPr/>
        </p:nvSpPr>
        <p:spPr>
          <a:xfrm>
            <a:off x="1169020" y="1441596"/>
            <a:ext cx="717848" cy="6048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12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</a:rPr>
              <a:t>资产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应用层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ED3D6D25-977A-4EF2-F289-632E1A9682E3}"/>
              </a:ext>
            </a:extLst>
          </p:cNvPr>
          <p:cNvSpPr/>
          <p:nvPr/>
        </p:nvSpPr>
        <p:spPr>
          <a:xfrm>
            <a:off x="2141231" y="1576415"/>
            <a:ext cx="1512353" cy="42731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榜单矩阵</a:t>
            </a:r>
            <a:endParaRPr lang="en-US" altLang="zh-CN" sz="1200" dirty="0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AF9C9F03-C620-E091-3071-7B4D5C17C5C3}"/>
              </a:ext>
            </a:extLst>
          </p:cNvPr>
          <p:cNvSpPr/>
          <p:nvPr/>
        </p:nvSpPr>
        <p:spPr>
          <a:xfrm>
            <a:off x="3770687" y="1602564"/>
            <a:ext cx="1512353" cy="42731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个性化合集</a:t>
            </a:r>
            <a:endParaRPr lang="en-US" altLang="zh-CN" sz="1200" dirty="0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268145DA-1ED5-7844-5E1D-8FC07F273861}"/>
              </a:ext>
            </a:extLst>
          </p:cNvPr>
          <p:cNvSpPr/>
          <p:nvPr/>
        </p:nvSpPr>
        <p:spPr>
          <a:xfrm>
            <a:off x="5384073" y="1576415"/>
            <a:ext cx="1521792" cy="42731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en-US" altLang="zh-CN" sz="1200" dirty="0"/>
              <a:t>POI/GC</a:t>
            </a:r>
            <a:endParaRPr lang="zh-CN" altLang="en-US" sz="1200" dirty="0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4462B18F-58A7-52CE-91E9-0CCB290F2D9B}"/>
              </a:ext>
            </a:extLst>
          </p:cNvPr>
          <p:cNvSpPr/>
          <p:nvPr/>
        </p:nvSpPr>
        <p:spPr>
          <a:xfrm>
            <a:off x="7014932" y="1585846"/>
            <a:ext cx="1512353" cy="42731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策略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BB96981-3323-2509-5986-14CF69801B3F}"/>
              </a:ext>
            </a:extLst>
          </p:cNvPr>
          <p:cNvSpPr txBox="1"/>
          <p:nvPr/>
        </p:nvSpPr>
        <p:spPr>
          <a:xfrm>
            <a:off x="1169020" y="544734"/>
            <a:ext cx="717848" cy="6048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12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</a:rPr>
              <a:t>用户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需求层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DE1D6FF6-3978-07DA-D21C-30B4F1C88128}"/>
              </a:ext>
            </a:extLst>
          </p:cNvPr>
          <p:cNvSpPr/>
          <p:nvPr/>
        </p:nvSpPr>
        <p:spPr>
          <a:xfrm>
            <a:off x="9109879" y="6341966"/>
            <a:ext cx="6583988" cy="579601"/>
          </a:xfrm>
          <a:prstGeom prst="roundRect">
            <a:avLst>
              <a:gd name="adj" fmla="val 5571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744252AD-D663-035D-F060-83C935A20DCC}"/>
              </a:ext>
            </a:extLst>
          </p:cNvPr>
          <p:cNvSpPr txBox="1"/>
          <p:nvPr/>
        </p:nvSpPr>
        <p:spPr>
          <a:xfrm>
            <a:off x="1169073" y="3274516"/>
            <a:ext cx="717848" cy="605689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12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</a:rPr>
              <a:t>资产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数据层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41A8E6FA-4CAC-EDCF-4B8A-AD13D36D4927}"/>
              </a:ext>
            </a:extLst>
          </p:cNvPr>
          <p:cNvSpPr/>
          <p:nvPr/>
        </p:nvSpPr>
        <p:spPr>
          <a:xfrm>
            <a:off x="9227843" y="6412153"/>
            <a:ext cx="1512353" cy="427313"/>
          </a:xfrm>
          <a:prstGeom prst="round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交易</a:t>
            </a:r>
            <a:endParaRPr lang="en-US" altLang="zh-CN" sz="1200" dirty="0"/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6EF89FD7-17F4-9BCB-8DC9-72AB45A6E3C6}"/>
              </a:ext>
            </a:extLst>
          </p:cNvPr>
          <p:cNvSpPr/>
          <p:nvPr/>
        </p:nvSpPr>
        <p:spPr>
          <a:xfrm>
            <a:off x="14070662" y="6412153"/>
            <a:ext cx="1512353" cy="427313"/>
          </a:xfrm>
          <a:prstGeom prst="round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en-US" altLang="zh-CN" sz="1200" dirty="0"/>
              <a:t>GC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E1481548-C889-4953-2972-5F25293F2BD5}"/>
              </a:ext>
            </a:extLst>
          </p:cNvPr>
          <p:cNvSpPr/>
          <p:nvPr/>
        </p:nvSpPr>
        <p:spPr>
          <a:xfrm>
            <a:off x="10842116" y="6412153"/>
            <a:ext cx="1512353" cy="427313"/>
          </a:xfrm>
          <a:prstGeom prst="round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评价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5689F3F5-3BAB-3338-0C34-4FFAFB5563D9}"/>
              </a:ext>
            </a:extLst>
          </p:cNvPr>
          <p:cNvSpPr/>
          <p:nvPr/>
        </p:nvSpPr>
        <p:spPr>
          <a:xfrm>
            <a:off x="12456389" y="6412153"/>
            <a:ext cx="1512353" cy="427313"/>
          </a:xfrm>
          <a:prstGeom prst="round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收藏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打卡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B85DCDD6-FC1E-A792-1E69-1AED4ED9A1E5}"/>
              </a:ext>
            </a:extLst>
          </p:cNvPr>
          <p:cNvSpPr txBox="1"/>
          <p:nvPr/>
        </p:nvSpPr>
        <p:spPr>
          <a:xfrm>
            <a:off x="1169020" y="2362491"/>
            <a:ext cx="717848" cy="6048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12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</a:rPr>
              <a:t>资产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计算层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32" name="AutoShape 2">
            <a:extLst>
              <a:ext uri="{FF2B5EF4-FFF2-40B4-BE49-F238E27FC236}">
                <a16:creationId xmlns:a16="http://schemas.microsoft.com/office/drawing/2014/main" id="{14D192E0-ADBF-D68F-26EF-D464CEB6A6A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56972" y="253859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3" name="矩形: 圆角 132">
            <a:extLst>
              <a:ext uri="{FF2B5EF4-FFF2-40B4-BE49-F238E27FC236}">
                <a16:creationId xmlns:a16="http://schemas.microsoft.com/office/drawing/2014/main" id="{8FB316A6-1566-FB3E-0AA0-50503BF1E789}"/>
              </a:ext>
            </a:extLst>
          </p:cNvPr>
          <p:cNvSpPr/>
          <p:nvPr/>
        </p:nvSpPr>
        <p:spPr>
          <a:xfrm>
            <a:off x="2059358" y="2321904"/>
            <a:ext cx="6594283" cy="727252"/>
          </a:xfrm>
          <a:prstGeom prst="roundRect">
            <a:avLst>
              <a:gd name="adj" fmla="val 5571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135" name="矩形: 圆角 134">
            <a:extLst>
              <a:ext uri="{FF2B5EF4-FFF2-40B4-BE49-F238E27FC236}">
                <a16:creationId xmlns:a16="http://schemas.microsoft.com/office/drawing/2014/main" id="{229DB4C7-2267-A237-D9A6-6A1736FAD8AF}"/>
              </a:ext>
            </a:extLst>
          </p:cNvPr>
          <p:cNvSpPr/>
          <p:nvPr/>
        </p:nvSpPr>
        <p:spPr>
          <a:xfrm>
            <a:off x="2123242" y="2471485"/>
            <a:ext cx="1512353" cy="42731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规则计算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40" name="矩形: 圆角 139">
            <a:extLst>
              <a:ext uri="{FF2B5EF4-FFF2-40B4-BE49-F238E27FC236}">
                <a16:creationId xmlns:a16="http://schemas.microsoft.com/office/drawing/2014/main" id="{CEFCF87F-B582-7059-AC7C-45A8109C5EDF}"/>
              </a:ext>
            </a:extLst>
          </p:cNvPr>
          <p:cNvSpPr/>
          <p:nvPr/>
        </p:nvSpPr>
        <p:spPr>
          <a:xfrm>
            <a:off x="3745605" y="2471485"/>
            <a:ext cx="1512353" cy="42731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结构化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41" name="矩形: 圆角 140">
            <a:extLst>
              <a:ext uri="{FF2B5EF4-FFF2-40B4-BE49-F238E27FC236}">
                <a16:creationId xmlns:a16="http://schemas.microsoft.com/office/drawing/2014/main" id="{A23A366A-12C7-06FE-328E-1FFD132F307D}"/>
              </a:ext>
            </a:extLst>
          </p:cNvPr>
          <p:cNvSpPr/>
          <p:nvPr/>
        </p:nvSpPr>
        <p:spPr>
          <a:xfrm>
            <a:off x="5393878" y="2471485"/>
            <a:ext cx="1512353" cy="42731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质量定义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42" name="矩形: 圆角 141">
            <a:extLst>
              <a:ext uri="{FF2B5EF4-FFF2-40B4-BE49-F238E27FC236}">
                <a16:creationId xmlns:a16="http://schemas.microsoft.com/office/drawing/2014/main" id="{E0FBC00E-5D62-7DDC-35E5-B8591B3DA6FB}"/>
              </a:ext>
            </a:extLst>
          </p:cNvPr>
          <p:cNvSpPr/>
          <p:nvPr/>
        </p:nvSpPr>
        <p:spPr>
          <a:xfrm>
            <a:off x="7033348" y="2471485"/>
            <a:ext cx="1512353" cy="42731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en-US" altLang="zh-CN" sz="1200" dirty="0"/>
              <a:t>AI</a:t>
            </a:r>
            <a:r>
              <a:rPr lang="zh-CN" altLang="en-US" sz="1200" dirty="0"/>
              <a:t>挖掘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47" name="矩形: 圆角 146">
            <a:extLst>
              <a:ext uri="{FF2B5EF4-FFF2-40B4-BE49-F238E27FC236}">
                <a16:creationId xmlns:a16="http://schemas.microsoft.com/office/drawing/2014/main" id="{F094BA67-9822-AC61-936D-8B8B9D125F6B}"/>
              </a:ext>
            </a:extLst>
          </p:cNvPr>
          <p:cNvSpPr/>
          <p:nvPr/>
        </p:nvSpPr>
        <p:spPr>
          <a:xfrm>
            <a:off x="2054148" y="1513313"/>
            <a:ext cx="6594338" cy="541616"/>
          </a:xfrm>
          <a:prstGeom prst="roundRect">
            <a:avLst>
              <a:gd name="adj" fmla="val 5571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BE65FA7E-ED77-08A2-68A5-045F56E7EB1D}"/>
              </a:ext>
            </a:extLst>
          </p:cNvPr>
          <p:cNvSpPr/>
          <p:nvPr/>
        </p:nvSpPr>
        <p:spPr>
          <a:xfrm>
            <a:off x="2054094" y="625378"/>
            <a:ext cx="6594338" cy="541616"/>
          </a:xfrm>
          <a:prstGeom prst="roundRect">
            <a:avLst>
              <a:gd name="adj" fmla="val 5571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07EA882D-4EE7-D21D-D51C-622AB32A5AEC}"/>
              </a:ext>
            </a:extLst>
          </p:cNvPr>
          <p:cNvSpPr/>
          <p:nvPr/>
        </p:nvSpPr>
        <p:spPr>
          <a:xfrm>
            <a:off x="9998378" y="5496602"/>
            <a:ext cx="6583988" cy="541616"/>
          </a:xfrm>
          <a:prstGeom prst="roundRect">
            <a:avLst>
              <a:gd name="adj" fmla="val 5571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7717A28-863C-55BA-2AA3-3260F9A2B4DB}"/>
              </a:ext>
            </a:extLst>
          </p:cNvPr>
          <p:cNvSpPr txBox="1"/>
          <p:nvPr/>
        </p:nvSpPr>
        <p:spPr>
          <a:xfrm>
            <a:off x="9113249" y="5523231"/>
            <a:ext cx="717848" cy="46166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12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</a:rPr>
              <a:t>资产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输入层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677D2BE-C957-CDCD-FD70-2D5F7D309D72}"/>
              </a:ext>
            </a:extLst>
          </p:cNvPr>
          <p:cNvSpPr/>
          <p:nvPr/>
        </p:nvSpPr>
        <p:spPr>
          <a:xfrm>
            <a:off x="10073175" y="5559686"/>
            <a:ext cx="1512353" cy="427313"/>
          </a:xfrm>
          <a:prstGeom prst="round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/>
              <a:t>提升交易</a:t>
            </a:r>
            <a:endParaRPr lang="en-US" altLang="zh-CN" sz="1200" dirty="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38E03B9-B0A9-B78D-C00E-E6F6418A5324}"/>
              </a:ext>
            </a:extLst>
          </p:cNvPr>
          <p:cNvSpPr/>
          <p:nvPr/>
        </p:nvSpPr>
        <p:spPr>
          <a:xfrm>
            <a:off x="11698387" y="5553753"/>
            <a:ext cx="1512353" cy="427313"/>
          </a:xfrm>
          <a:prstGeom prst="round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提升评价</a:t>
            </a:r>
            <a:endParaRPr lang="en-US" altLang="zh-CN" sz="1200" dirty="0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AEDFE4AB-5CA9-B8FF-B868-0BDBCCABCF80}"/>
              </a:ext>
            </a:extLst>
          </p:cNvPr>
          <p:cNvSpPr/>
          <p:nvPr/>
        </p:nvSpPr>
        <p:spPr>
          <a:xfrm>
            <a:off x="13323599" y="5553753"/>
            <a:ext cx="1512353" cy="427313"/>
          </a:xfrm>
          <a:prstGeom prst="round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收藏打卡送菜</a:t>
            </a:r>
            <a:endParaRPr lang="en-US" altLang="zh-CN" sz="1200" dirty="0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B15BE2D-43CC-DE56-560D-6DF71C5ABC0B}"/>
              </a:ext>
            </a:extLst>
          </p:cNvPr>
          <p:cNvSpPr/>
          <p:nvPr/>
        </p:nvSpPr>
        <p:spPr>
          <a:xfrm>
            <a:off x="14948812" y="5553753"/>
            <a:ext cx="1512353" cy="427313"/>
          </a:xfrm>
          <a:prstGeom prst="round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en-US" altLang="zh-CN" sz="1200" dirty="0"/>
              <a:t>GC</a:t>
            </a:r>
            <a:r>
              <a:rPr lang="zh-CN" altLang="en-US" sz="1200" dirty="0"/>
              <a:t>输入</a:t>
            </a:r>
            <a:endParaRPr lang="en-US" altLang="zh-CN" sz="1200" dirty="0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4785FA3-0F57-176E-6694-B1B389EA715C}"/>
              </a:ext>
            </a:extLst>
          </p:cNvPr>
          <p:cNvSpPr/>
          <p:nvPr/>
        </p:nvSpPr>
        <p:spPr>
          <a:xfrm>
            <a:off x="2054148" y="3173916"/>
            <a:ext cx="3286874" cy="768846"/>
          </a:xfrm>
          <a:prstGeom prst="roundRect">
            <a:avLst>
              <a:gd name="adj" fmla="val 5571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t"/>
          <a:lstStyle/>
          <a:p>
            <a:pPr algn="ctr"/>
            <a:r>
              <a:rPr lang="zh-CN" altLang="en-US" sz="1200" dirty="0">
                <a:latin typeface="+mn-ea"/>
              </a:rPr>
              <a:t>维度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5F13289-AD59-3B15-CE5F-2B9A43748164}"/>
              </a:ext>
            </a:extLst>
          </p:cNvPr>
          <p:cNvSpPr/>
          <p:nvPr/>
        </p:nvSpPr>
        <p:spPr>
          <a:xfrm>
            <a:off x="2091391" y="3553980"/>
            <a:ext cx="610879" cy="351953"/>
          </a:xfrm>
          <a:prstGeom prst="round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交易</a:t>
            </a:r>
            <a:endParaRPr lang="en-US" altLang="zh-CN" sz="1200" dirty="0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316062C-B207-C142-91D4-9E4A87014CC6}"/>
              </a:ext>
            </a:extLst>
          </p:cNvPr>
          <p:cNvSpPr/>
          <p:nvPr/>
        </p:nvSpPr>
        <p:spPr>
          <a:xfrm>
            <a:off x="5775000" y="3182965"/>
            <a:ext cx="2863188" cy="742031"/>
          </a:xfrm>
          <a:prstGeom prst="roundRect">
            <a:avLst>
              <a:gd name="adj" fmla="val 5571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t"/>
          <a:lstStyle/>
          <a:p>
            <a:pPr algn="ctr"/>
            <a:r>
              <a:rPr lang="zh-CN" altLang="en-US" sz="1200" dirty="0">
                <a:latin typeface="+mn-ea"/>
              </a:rPr>
              <a:t>对象</a:t>
            </a:r>
          </a:p>
        </p:txBody>
      </p:sp>
      <p:sp>
        <p:nvSpPr>
          <p:cNvPr id="14" name="乘号 13">
            <a:extLst>
              <a:ext uri="{FF2B5EF4-FFF2-40B4-BE49-F238E27FC236}">
                <a16:creationId xmlns:a16="http://schemas.microsoft.com/office/drawing/2014/main" id="{8F373740-ED88-705D-4CBF-C1CC4204FD0E}"/>
              </a:ext>
            </a:extLst>
          </p:cNvPr>
          <p:cNvSpPr/>
          <p:nvPr/>
        </p:nvSpPr>
        <p:spPr>
          <a:xfrm>
            <a:off x="5351371" y="3349271"/>
            <a:ext cx="413280" cy="413280"/>
          </a:xfrm>
          <a:prstGeom prst="mathMultiply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1798796-00D6-2669-5E48-C7D681E79000}"/>
              </a:ext>
            </a:extLst>
          </p:cNvPr>
          <p:cNvSpPr/>
          <p:nvPr/>
        </p:nvSpPr>
        <p:spPr>
          <a:xfrm>
            <a:off x="2736952" y="3553980"/>
            <a:ext cx="610879" cy="351953"/>
          </a:xfrm>
          <a:prstGeom prst="round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评价</a:t>
            </a:r>
            <a:endParaRPr lang="en-US" altLang="zh-CN" sz="1200" dirty="0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32345DF-FABF-FE78-5428-8D97BBC04DB1}"/>
              </a:ext>
            </a:extLst>
          </p:cNvPr>
          <p:cNvSpPr/>
          <p:nvPr/>
        </p:nvSpPr>
        <p:spPr>
          <a:xfrm>
            <a:off x="3392787" y="3553980"/>
            <a:ext cx="610879" cy="351953"/>
          </a:xfrm>
          <a:prstGeom prst="round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收藏</a:t>
            </a:r>
            <a:r>
              <a:rPr lang="en-US" altLang="zh-CN" sz="1200" dirty="0"/>
              <a:t>/</a:t>
            </a:r>
            <a:r>
              <a:rPr lang="zh-CN" altLang="en-US" sz="1200" dirty="0"/>
              <a:t>打卡</a:t>
            </a:r>
            <a:endParaRPr lang="en-US" altLang="zh-CN" sz="1200" dirty="0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070DCF7-80C3-9A29-8E39-69D2D014CBD9}"/>
              </a:ext>
            </a:extLst>
          </p:cNvPr>
          <p:cNvSpPr/>
          <p:nvPr/>
        </p:nvSpPr>
        <p:spPr>
          <a:xfrm>
            <a:off x="4030436" y="3553980"/>
            <a:ext cx="610879" cy="351953"/>
          </a:xfrm>
          <a:prstGeom prst="round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履约</a:t>
            </a:r>
            <a:endParaRPr lang="en-US" altLang="zh-CN" sz="1200" dirty="0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14F32078-F4CB-38D1-8E16-FAD32F07EBF5}"/>
              </a:ext>
            </a:extLst>
          </p:cNvPr>
          <p:cNvSpPr/>
          <p:nvPr/>
        </p:nvSpPr>
        <p:spPr>
          <a:xfrm>
            <a:off x="4680537" y="3553980"/>
            <a:ext cx="610879" cy="351953"/>
          </a:xfrm>
          <a:prstGeom prst="round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en-US" altLang="zh-CN" sz="1200" dirty="0"/>
              <a:t>GC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CF4D2B31-C9AD-2B12-21C1-F772614B54C4}"/>
              </a:ext>
            </a:extLst>
          </p:cNvPr>
          <p:cNvSpPr/>
          <p:nvPr/>
        </p:nvSpPr>
        <p:spPr>
          <a:xfrm>
            <a:off x="5813225" y="3553980"/>
            <a:ext cx="896606" cy="351953"/>
          </a:xfrm>
          <a:prstGeom prst="round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店</a:t>
            </a:r>
            <a:endParaRPr lang="en-US" altLang="zh-CN" sz="1200" dirty="0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48197AD-A015-8BF4-87E3-175658631BCC}"/>
              </a:ext>
            </a:extLst>
          </p:cNvPr>
          <p:cNvSpPr/>
          <p:nvPr/>
        </p:nvSpPr>
        <p:spPr>
          <a:xfrm>
            <a:off x="6758291" y="3553980"/>
            <a:ext cx="896606" cy="351953"/>
          </a:xfrm>
          <a:prstGeom prst="round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菜</a:t>
            </a:r>
            <a:endParaRPr lang="en-US" altLang="zh-CN" sz="1200" dirty="0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E253ED0B-3A3E-9F33-648C-5669A37A9C12}"/>
              </a:ext>
            </a:extLst>
          </p:cNvPr>
          <p:cNvSpPr/>
          <p:nvPr/>
        </p:nvSpPr>
        <p:spPr>
          <a:xfrm>
            <a:off x="7694047" y="3553980"/>
            <a:ext cx="896606" cy="351953"/>
          </a:xfrm>
          <a:prstGeom prst="round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人</a:t>
            </a:r>
            <a:endParaRPr lang="en-US" altLang="zh-CN" sz="1200" dirty="0"/>
          </a:p>
        </p:txBody>
      </p:sp>
      <p:cxnSp>
        <p:nvCxnSpPr>
          <p:cNvPr id="37" name="连接符: 肘形 36">
            <a:extLst>
              <a:ext uri="{FF2B5EF4-FFF2-40B4-BE49-F238E27FC236}">
                <a16:creationId xmlns:a16="http://schemas.microsoft.com/office/drawing/2014/main" id="{21D3ABC3-34B7-3643-0198-F374DFD30C02}"/>
              </a:ext>
            </a:extLst>
          </p:cNvPr>
          <p:cNvCxnSpPr>
            <a:stCxn id="25" idx="1"/>
            <a:endCxn id="45" idx="1"/>
          </p:cNvCxnSpPr>
          <p:nvPr/>
        </p:nvCxnSpPr>
        <p:spPr>
          <a:xfrm rot="10800000" flipH="1" flipV="1">
            <a:off x="1169019" y="1743995"/>
            <a:ext cx="53" cy="1833365"/>
          </a:xfrm>
          <a:prstGeom prst="bentConnector3">
            <a:avLst>
              <a:gd name="adj1" fmla="val -43132075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AC9635E2-A967-4A30-B722-6E08056B0E0D}"/>
              </a:ext>
            </a:extLst>
          </p:cNvPr>
          <p:cNvSpPr txBox="1"/>
          <p:nvPr/>
        </p:nvSpPr>
        <p:spPr>
          <a:xfrm>
            <a:off x="286398" y="2546641"/>
            <a:ext cx="6815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牵引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E8AF69EB-AF9A-0A3E-8174-1955BEE8A231}"/>
              </a:ext>
            </a:extLst>
          </p:cNvPr>
          <p:cNvSpPr/>
          <p:nvPr/>
        </p:nvSpPr>
        <p:spPr>
          <a:xfrm>
            <a:off x="8779539" y="625378"/>
            <a:ext cx="1143393" cy="3317384"/>
          </a:xfrm>
          <a:prstGeom prst="round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公信力治理</a:t>
            </a:r>
            <a:endParaRPr lang="en-US" altLang="zh-CN" sz="1200" dirty="0"/>
          </a:p>
        </p:txBody>
      </p:sp>
    </p:spTree>
    <p:extLst>
      <p:ext uri="{BB962C8B-B14F-4D97-AF65-F5344CB8AC3E}">
        <p14:creationId xmlns:p14="http://schemas.microsoft.com/office/powerpoint/2010/main" val="4170448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" name="标题 12"/>
          <p:cNvSpPr>
            <a:spLocks noGrp="1"/>
          </p:cNvSpPr>
          <p:nvPr>
            <p:ph type="title"/>
          </p:nvPr>
        </p:nvSpPr>
        <p:spPr/>
        <p:txBody>
          <a:bodyPr vert="horz">
            <a:noAutofit/>
          </a:bodyPr>
          <a:lstStyle/>
          <a:p>
            <a:r>
              <a:rPr lang="zh-CN" altLang="en-US" sz="2100" b="1" dirty="0">
                <a:latin typeface="+mn-ea"/>
                <a:ea typeface="+mn-ea"/>
              </a:rPr>
              <a:t>目录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0292D91-4E94-1299-139C-09FCB5B46DF6}"/>
              </a:ext>
            </a:extLst>
          </p:cNvPr>
          <p:cNvSpPr txBox="1"/>
          <p:nvPr/>
        </p:nvSpPr>
        <p:spPr>
          <a:xfrm>
            <a:off x="579914" y="906020"/>
            <a:ext cx="7459185" cy="1886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latin typeface="+mj-ea"/>
              </a:rPr>
              <a:t>榜单运营数据概览</a:t>
            </a:r>
            <a:endParaRPr lang="en-US" altLang="zh-CN" sz="2000" dirty="0">
              <a:latin typeface="+mj-ea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sz="2000" dirty="0">
                <a:latin typeface="+mj-ea"/>
              </a:rPr>
              <a:t>榜单用户动线建设</a:t>
            </a:r>
            <a:endParaRPr kumimoji="1" lang="en-US" altLang="zh-CN" sz="2000" dirty="0">
              <a:latin typeface="+mj-ea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sz="2000" dirty="0">
                <a:latin typeface="+mj-ea"/>
              </a:rPr>
              <a:t>榜单矩阵建设</a:t>
            </a:r>
            <a:endParaRPr lang="en-US" altLang="zh-CN" sz="2000" dirty="0">
              <a:latin typeface="+mj-ea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000" dirty="0"/>
              <a:t> AI</a:t>
            </a:r>
            <a:r>
              <a:rPr lang="zh-CN" altLang="en-US" sz="2000" dirty="0"/>
              <a:t>榜单生成及智能运营规划</a:t>
            </a:r>
            <a:r>
              <a:rPr lang="en-US" altLang="zh-CN" sz="2000" dirty="0"/>
              <a:t>&amp;</a:t>
            </a:r>
            <a:r>
              <a:rPr lang="zh-CN" altLang="en-US" sz="2000" dirty="0"/>
              <a:t>进展</a:t>
            </a:r>
            <a:endParaRPr lang="zh-CN" altLang="en-US" sz="200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421030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图片 158">
            <a:extLst>
              <a:ext uri="{FF2B5EF4-FFF2-40B4-BE49-F238E27FC236}">
                <a16:creationId xmlns:a16="http://schemas.microsoft.com/office/drawing/2014/main" id="{715828CD-176B-7A07-67D6-727DD6B017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800" y="-9592104"/>
            <a:ext cx="9859850" cy="5658745"/>
          </a:xfrm>
          <a:prstGeom prst="rect">
            <a:avLst/>
          </a:prstGeom>
        </p:spPr>
      </p:pic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5" imgW="0" imgH="0" progId="TCLayout.ActiveDocument.1">
                  <p:embed/>
                </p:oleObj>
              </mc:Choice>
              <mc:Fallback>
                <p:oleObj name="think-cell 幻灯片" r:id="rId5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7A1B3C51-C11C-8CDC-B70A-FC80155E75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3509294" y="-7217939"/>
            <a:ext cx="8290411" cy="5892356"/>
          </a:xfrm>
          <a:prstGeom prst="rect">
            <a:avLst/>
          </a:prstGeom>
        </p:spPr>
      </p:pic>
      <p:sp>
        <p:nvSpPr>
          <p:cNvPr id="11" name="箭头: 五边形 10">
            <a:extLst>
              <a:ext uri="{FF2B5EF4-FFF2-40B4-BE49-F238E27FC236}">
                <a16:creationId xmlns:a16="http://schemas.microsoft.com/office/drawing/2014/main" id="{B082F2F7-1068-A9FA-BC97-33D268400DF0}"/>
              </a:ext>
            </a:extLst>
          </p:cNvPr>
          <p:cNvSpPr/>
          <p:nvPr/>
        </p:nvSpPr>
        <p:spPr>
          <a:xfrm>
            <a:off x="937194" y="609943"/>
            <a:ext cx="1512353" cy="257680"/>
          </a:xfrm>
          <a:prstGeom prst="homePlat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灵感激发</a:t>
            </a:r>
          </a:p>
        </p:txBody>
      </p:sp>
      <p:sp>
        <p:nvSpPr>
          <p:cNvPr id="32" name="箭头: V 形 31">
            <a:extLst>
              <a:ext uri="{FF2B5EF4-FFF2-40B4-BE49-F238E27FC236}">
                <a16:creationId xmlns:a16="http://schemas.microsoft.com/office/drawing/2014/main" id="{23B7E120-07A6-1E17-2C38-F1211F948EC2}"/>
              </a:ext>
            </a:extLst>
          </p:cNvPr>
          <p:cNvSpPr/>
          <p:nvPr/>
        </p:nvSpPr>
        <p:spPr>
          <a:xfrm>
            <a:off x="2692259" y="618335"/>
            <a:ext cx="1510416" cy="257680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信息获取</a:t>
            </a:r>
          </a:p>
        </p:txBody>
      </p:sp>
      <p:sp>
        <p:nvSpPr>
          <p:cNvPr id="33" name="箭头: V 形 32">
            <a:extLst>
              <a:ext uri="{FF2B5EF4-FFF2-40B4-BE49-F238E27FC236}">
                <a16:creationId xmlns:a16="http://schemas.microsoft.com/office/drawing/2014/main" id="{578D6870-D1E8-3DAC-323B-2CCE709222CC}"/>
              </a:ext>
            </a:extLst>
          </p:cNvPr>
          <p:cNvSpPr/>
          <p:nvPr/>
        </p:nvSpPr>
        <p:spPr>
          <a:xfrm>
            <a:off x="4443450" y="618335"/>
            <a:ext cx="1523730" cy="257680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对比选择</a:t>
            </a:r>
          </a:p>
        </p:txBody>
      </p:sp>
      <p:sp>
        <p:nvSpPr>
          <p:cNvPr id="34" name="箭头: V 形 33">
            <a:extLst>
              <a:ext uri="{FF2B5EF4-FFF2-40B4-BE49-F238E27FC236}">
                <a16:creationId xmlns:a16="http://schemas.microsoft.com/office/drawing/2014/main" id="{A57D9564-2307-01BC-C554-262A5E1E06B4}"/>
              </a:ext>
            </a:extLst>
          </p:cNvPr>
          <p:cNvSpPr/>
          <p:nvPr/>
        </p:nvSpPr>
        <p:spPr>
          <a:xfrm>
            <a:off x="6207954" y="618335"/>
            <a:ext cx="1512353" cy="257680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决策闭环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22E22ED-68B4-3641-2F15-3AF32D9C8A5F}"/>
              </a:ext>
            </a:extLst>
          </p:cNvPr>
          <p:cNvSpPr txBox="1"/>
          <p:nvPr/>
        </p:nvSpPr>
        <p:spPr>
          <a:xfrm>
            <a:off x="-348942" y="1198554"/>
            <a:ext cx="11222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资产表达</a:t>
            </a:r>
            <a:r>
              <a:rPr lang="en-US" altLang="zh-CN" sz="1200" dirty="0">
                <a:solidFill>
                  <a:srgbClr val="0D0D0D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用户动线体验及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38D451EC-16D1-A308-D849-283B61C34176}"/>
              </a:ext>
            </a:extLst>
          </p:cNvPr>
          <p:cNvSpPr/>
          <p:nvPr/>
        </p:nvSpPr>
        <p:spPr>
          <a:xfrm>
            <a:off x="939130" y="982657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场景前置触达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9B71615D-9AE1-8154-EFCE-D4D49F1E2286}"/>
              </a:ext>
            </a:extLst>
          </p:cNvPr>
          <p:cNvSpPr/>
          <p:nvPr/>
        </p:nvSpPr>
        <p:spPr>
          <a:xfrm>
            <a:off x="17445085" y="-4801529"/>
            <a:ext cx="1512353" cy="427313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搜索比较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榜单页筛选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A0E6F357-F58D-8096-BEC3-7F07760C29B3}"/>
              </a:ext>
            </a:extLst>
          </p:cNvPr>
          <p:cNvSpPr/>
          <p:nvPr/>
        </p:nvSpPr>
        <p:spPr>
          <a:xfrm>
            <a:off x="2699866" y="982657"/>
            <a:ext cx="1521792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动线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x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榜单标签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4C87D21C-163C-E8E1-40B3-8831B4E3B853}"/>
              </a:ext>
            </a:extLst>
          </p:cNvPr>
          <p:cNvSpPr/>
          <p:nvPr/>
        </p:nvSpPr>
        <p:spPr>
          <a:xfrm>
            <a:off x="6207955" y="977856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履约产品组合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表达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94298399-2182-A10B-64D4-F85F11573FAE}"/>
              </a:ext>
            </a:extLst>
          </p:cNvPr>
          <p:cNvSpPr/>
          <p:nvPr/>
        </p:nvSpPr>
        <p:spPr>
          <a:xfrm>
            <a:off x="21797876" y="-3318880"/>
            <a:ext cx="6960194" cy="2128937"/>
          </a:xfrm>
          <a:prstGeom prst="roundRect">
            <a:avLst>
              <a:gd name="adj" fmla="val 5571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8A64C5C6-87EA-13FE-E519-66D0D0018055}"/>
              </a:ext>
            </a:extLst>
          </p:cNvPr>
          <p:cNvSpPr txBox="1"/>
          <p:nvPr/>
        </p:nvSpPr>
        <p:spPr>
          <a:xfrm>
            <a:off x="9526619" y="-2925601"/>
            <a:ext cx="4953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决策环节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20DB24A-E215-28DB-3B37-DD09F60ED16D}"/>
              </a:ext>
            </a:extLst>
          </p:cNvPr>
          <p:cNvSpPr/>
          <p:nvPr/>
        </p:nvSpPr>
        <p:spPr>
          <a:xfrm>
            <a:off x="21872673" y="-2610182"/>
            <a:ext cx="1512353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区域</a:t>
            </a:r>
            <a:r>
              <a:rPr lang="en-US" altLang="zh-CN" sz="1200" dirty="0">
                <a:solidFill>
                  <a:schemeClr val="tx1"/>
                </a:solidFill>
              </a:rPr>
              <a:t>x</a:t>
            </a:r>
            <a:r>
              <a:rPr lang="zh-CN" altLang="en-US" sz="1200" dirty="0">
                <a:solidFill>
                  <a:schemeClr val="tx1"/>
                </a:solidFill>
              </a:rPr>
              <a:t>主题</a:t>
            </a:r>
            <a:r>
              <a:rPr lang="en-US" altLang="zh-CN" sz="1200" dirty="0">
                <a:solidFill>
                  <a:schemeClr val="tx1"/>
                </a:solidFill>
              </a:rPr>
              <a:t>x</a:t>
            </a:r>
            <a:r>
              <a:rPr lang="zh-CN" altLang="en-US" sz="1200" dirty="0">
                <a:solidFill>
                  <a:schemeClr val="tx1"/>
                </a:solidFill>
              </a:rPr>
              <a:t>供给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/>
          </a:p>
          <a:p>
            <a:pPr algn="ctr"/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优先节日场景，逐渐完善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894D3FD-BF09-99B7-602D-3387AB5D2EBB}"/>
              </a:ext>
            </a:extLst>
          </p:cNvPr>
          <p:cNvSpPr/>
          <p:nvPr/>
        </p:nvSpPr>
        <p:spPr>
          <a:xfrm>
            <a:off x="-2679482" y="0"/>
            <a:ext cx="1195011" cy="17681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品类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zh-CN" altLang="en-US" sz="1200" dirty="0"/>
              <a:t>地址</a:t>
            </a:r>
            <a:endParaRPr lang="en-US" altLang="zh-CN" sz="1200" dirty="0"/>
          </a:p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菜品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A3534B3-2320-6866-F3B4-A21000B4DA93}"/>
              </a:ext>
            </a:extLst>
          </p:cNvPr>
          <p:cNvSpPr/>
          <p:nvPr/>
        </p:nvSpPr>
        <p:spPr>
          <a:xfrm>
            <a:off x="25378928" y="-2603753"/>
            <a:ext cx="3276857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交易</a:t>
            </a:r>
            <a:r>
              <a:rPr lang="en-US" altLang="zh-CN" sz="1200" dirty="0"/>
              <a:t>/GC/</a:t>
            </a:r>
            <a:r>
              <a:rPr lang="zh-CN" altLang="en-US" sz="1200" dirty="0"/>
              <a:t>履约</a:t>
            </a:r>
            <a:r>
              <a:rPr lang="en-US" altLang="zh-CN" sz="1200" dirty="0"/>
              <a:t>/</a:t>
            </a:r>
            <a:r>
              <a:rPr lang="zh-CN" altLang="en-US" sz="1200" dirty="0"/>
              <a:t>用户行为</a:t>
            </a:r>
            <a:endParaRPr lang="en-US" altLang="zh-CN" sz="1200" dirty="0"/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规则算法优化、更匹配物理世界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E0E4B88C-8445-D05C-710B-2D11628A402D}"/>
              </a:ext>
            </a:extLst>
          </p:cNvPr>
          <p:cNvSpPr txBox="1"/>
          <p:nvPr/>
        </p:nvSpPr>
        <p:spPr>
          <a:xfrm>
            <a:off x="-230165" y="-45737"/>
            <a:ext cx="28523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+mn-ea"/>
              </a:rPr>
              <a:t>8</a:t>
            </a:r>
            <a:r>
              <a:rPr lang="zh-CN" altLang="en-US" sz="1800" dirty="0">
                <a:latin typeface="+mn-ea"/>
              </a:rPr>
              <a:t>月夏站计划讨论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7566BC90-687D-1CCA-F15D-B4583002D94B}"/>
              </a:ext>
            </a:extLst>
          </p:cNvPr>
          <p:cNvSpPr/>
          <p:nvPr/>
        </p:nvSpPr>
        <p:spPr>
          <a:xfrm>
            <a:off x="21872672" y="-3108209"/>
            <a:ext cx="3265481" cy="3938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榜单矩阵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C83E41F-2D3A-D90D-D9AA-463CF0B6F26E}"/>
              </a:ext>
            </a:extLst>
          </p:cNvPr>
          <p:cNvSpPr/>
          <p:nvPr/>
        </p:nvSpPr>
        <p:spPr>
          <a:xfrm>
            <a:off x="25378928" y="-3108209"/>
            <a:ext cx="3276856" cy="3938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资产引用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94677B64-3188-EE25-5C1A-2BDACB69A98B}"/>
              </a:ext>
            </a:extLst>
          </p:cNvPr>
          <p:cNvSpPr txBox="1"/>
          <p:nvPr/>
        </p:nvSpPr>
        <p:spPr>
          <a:xfrm>
            <a:off x="25118206" y="-3046650"/>
            <a:ext cx="3091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/>
                </a:solidFill>
              </a:rPr>
              <a:t>x</a:t>
            </a:r>
            <a:endParaRPr lang="zh-CN" altLang="en-US" sz="1200" dirty="0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8F1B5AC7-0D6D-FAC6-6633-B45689E5DA13}"/>
              </a:ext>
            </a:extLst>
          </p:cNvPr>
          <p:cNvSpPr/>
          <p:nvPr/>
        </p:nvSpPr>
        <p:spPr>
          <a:xfrm>
            <a:off x="23625800" y="-2600524"/>
            <a:ext cx="1512354" cy="12540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区域</a:t>
            </a:r>
            <a:r>
              <a:rPr lang="en-US" altLang="zh-CN" sz="1200" dirty="0">
                <a:solidFill>
                  <a:schemeClr val="tx1"/>
                </a:solidFill>
              </a:rPr>
              <a:t>x</a:t>
            </a:r>
            <a:r>
              <a:rPr lang="zh-CN" altLang="en-US" sz="1200" dirty="0">
                <a:solidFill>
                  <a:schemeClr val="tx1"/>
                </a:solidFill>
              </a:rPr>
              <a:t>品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菜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地</a:t>
            </a:r>
            <a:r>
              <a:rPr lang="en-US" altLang="zh-CN" sz="1200" dirty="0">
                <a:solidFill>
                  <a:schemeClr val="tx1"/>
                </a:solidFill>
              </a:rPr>
              <a:t>x</a:t>
            </a:r>
            <a:r>
              <a:rPr lang="zh-CN" altLang="en-US" sz="1200" dirty="0">
                <a:solidFill>
                  <a:schemeClr val="tx1"/>
                </a:solidFill>
              </a:rPr>
              <a:t>供给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/>
          </a:p>
          <a:p>
            <a:pPr algn="ctr"/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完善可比维度、优化密度</a:t>
            </a:r>
          </a:p>
        </p:txBody>
      </p:sp>
      <p:sp>
        <p:nvSpPr>
          <p:cNvPr id="130" name="矩形: 圆角 129">
            <a:extLst>
              <a:ext uri="{FF2B5EF4-FFF2-40B4-BE49-F238E27FC236}">
                <a16:creationId xmlns:a16="http://schemas.microsoft.com/office/drawing/2014/main" id="{AA3B15C7-5997-2681-E82D-AF7D099C1E73}"/>
              </a:ext>
            </a:extLst>
          </p:cNvPr>
          <p:cNvSpPr/>
          <p:nvPr/>
        </p:nvSpPr>
        <p:spPr>
          <a:xfrm>
            <a:off x="875391" y="459396"/>
            <a:ext cx="8757260" cy="1844550"/>
          </a:xfrm>
          <a:prstGeom prst="round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20EB383-106E-64F1-F789-E6A48AFAB048}"/>
              </a:ext>
            </a:extLst>
          </p:cNvPr>
          <p:cNvSpPr/>
          <p:nvPr/>
        </p:nvSpPr>
        <p:spPr>
          <a:xfrm>
            <a:off x="1001717" y="2612632"/>
            <a:ext cx="2657030" cy="3938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IP</a:t>
            </a:r>
            <a:r>
              <a:rPr lang="zh-CN" altLang="en-US" sz="1200" dirty="0">
                <a:solidFill>
                  <a:schemeClr val="tx1"/>
                </a:solidFill>
              </a:rPr>
              <a:t>榜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扩大心智影响力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2712FA0B-17C3-10E3-D2E6-97F63A744DCC}"/>
              </a:ext>
            </a:extLst>
          </p:cNvPr>
          <p:cNvSpPr/>
          <p:nvPr/>
        </p:nvSpPr>
        <p:spPr>
          <a:xfrm>
            <a:off x="3893558" y="2609397"/>
            <a:ext cx="2700000" cy="4248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场景榜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养心智、提转化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6E777B9D-FF33-345F-DB3D-E189208670AF}"/>
              </a:ext>
            </a:extLst>
          </p:cNvPr>
          <p:cNvSpPr/>
          <p:nvPr/>
        </p:nvSpPr>
        <p:spPr>
          <a:xfrm>
            <a:off x="6838768" y="2609397"/>
            <a:ext cx="2700000" cy="4248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指数</a:t>
            </a:r>
            <a:r>
              <a:rPr lang="zh-CN" altLang="en-US" sz="1200" dirty="0"/>
              <a:t>榜</a:t>
            </a:r>
            <a:endParaRPr lang="en-US" altLang="zh-CN" sz="1200" dirty="0"/>
          </a:p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守约束、调结构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7D17E0FE-1230-318C-8F9C-95DF2C394DEC}"/>
              </a:ext>
            </a:extLst>
          </p:cNvPr>
          <p:cNvSpPr/>
          <p:nvPr/>
        </p:nvSpPr>
        <p:spPr>
          <a:xfrm>
            <a:off x="23137799" y="587410"/>
            <a:ext cx="4235028" cy="3354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To</a:t>
            </a:r>
            <a:r>
              <a:rPr lang="zh-CN" altLang="en-US" sz="1200" dirty="0">
                <a:solidFill>
                  <a:schemeClr val="tx1"/>
                </a:solidFill>
              </a:rPr>
              <a:t>到餐</a:t>
            </a:r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DF36368F-9A9C-5A89-D9EB-8838D0B36C61}"/>
              </a:ext>
            </a:extLst>
          </p:cNvPr>
          <p:cNvSpPr/>
          <p:nvPr/>
        </p:nvSpPr>
        <p:spPr>
          <a:xfrm>
            <a:off x="22725281" y="1162624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核心供给定义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4ADF6B27-A8D5-A5D2-4B81-BBE05D2BD154}"/>
              </a:ext>
            </a:extLst>
          </p:cNvPr>
          <p:cNvSpPr/>
          <p:nvPr/>
        </p:nvSpPr>
        <p:spPr>
          <a:xfrm>
            <a:off x="25024660" y="1191809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优先做功样板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45FB81DC-B2DD-E4C2-ADA1-08BE5B25E41C}"/>
              </a:ext>
            </a:extLst>
          </p:cNvPr>
          <p:cNvSpPr/>
          <p:nvPr/>
        </p:nvSpPr>
        <p:spPr>
          <a:xfrm>
            <a:off x="22769049" y="2647029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基于用户需求的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GC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协同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109E0B6F-E1C2-2DD6-EE1E-2C64D355F110}"/>
              </a:ext>
            </a:extLst>
          </p:cNvPr>
          <p:cNvSpPr/>
          <p:nvPr/>
        </p:nvSpPr>
        <p:spPr>
          <a:xfrm>
            <a:off x="25024660" y="2656830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智能掌柜分析牵引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83233728-7BBE-5F94-BDC3-294010306EE7}"/>
              </a:ext>
            </a:extLst>
          </p:cNvPr>
          <p:cNvSpPr/>
          <p:nvPr/>
        </p:nvSpPr>
        <p:spPr>
          <a:xfrm>
            <a:off x="22769048" y="4041108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交履组合牵引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D700F2F0-E051-04AA-A5B9-5F821D1ECC8C}"/>
              </a:ext>
            </a:extLst>
          </p:cNvPr>
          <p:cNvSpPr/>
          <p:nvPr/>
        </p:nvSpPr>
        <p:spPr>
          <a:xfrm>
            <a:off x="25024659" y="4050909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高流低转承接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4692BD40-B8C0-BB2A-2680-21B72EEEE720}"/>
              </a:ext>
            </a:extLst>
          </p:cNvPr>
          <p:cNvSpPr/>
          <p:nvPr/>
        </p:nvSpPr>
        <p:spPr>
          <a:xfrm>
            <a:off x="19778198" y="5956351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会员组合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0" name="箭头: V 形 159">
            <a:extLst>
              <a:ext uri="{FF2B5EF4-FFF2-40B4-BE49-F238E27FC236}">
                <a16:creationId xmlns:a16="http://schemas.microsoft.com/office/drawing/2014/main" id="{FD0574BF-F907-678E-B58A-ED250470952A}"/>
              </a:ext>
            </a:extLst>
          </p:cNvPr>
          <p:cNvSpPr/>
          <p:nvPr/>
        </p:nvSpPr>
        <p:spPr>
          <a:xfrm>
            <a:off x="7961081" y="618335"/>
            <a:ext cx="1512353" cy="257680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验证反馈</a:t>
            </a:r>
          </a:p>
        </p:txBody>
      </p:sp>
      <p:sp>
        <p:nvSpPr>
          <p:cNvPr id="161" name="矩形: 圆角 160">
            <a:extLst>
              <a:ext uri="{FF2B5EF4-FFF2-40B4-BE49-F238E27FC236}">
                <a16:creationId xmlns:a16="http://schemas.microsoft.com/office/drawing/2014/main" id="{FB589EE6-D63F-6E31-5E40-3652D1DB6F76}"/>
              </a:ext>
            </a:extLst>
          </p:cNvPr>
          <p:cNvSpPr/>
          <p:nvPr/>
        </p:nvSpPr>
        <p:spPr>
          <a:xfrm>
            <a:off x="937194" y="1278459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内容化表达如地图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2" name="矩形: 圆角 161">
            <a:extLst>
              <a:ext uri="{FF2B5EF4-FFF2-40B4-BE49-F238E27FC236}">
                <a16:creationId xmlns:a16="http://schemas.microsoft.com/office/drawing/2014/main" id="{BC0E5C23-9254-89BE-5A01-1FEA0E7C0CFA}"/>
              </a:ext>
            </a:extLst>
          </p:cNvPr>
          <p:cNvSpPr/>
          <p:nvPr/>
        </p:nvSpPr>
        <p:spPr>
          <a:xfrm>
            <a:off x="937194" y="1569478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个性化分发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5" name="矩形: 圆角 164">
            <a:extLst>
              <a:ext uri="{FF2B5EF4-FFF2-40B4-BE49-F238E27FC236}">
                <a16:creationId xmlns:a16="http://schemas.microsoft.com/office/drawing/2014/main" id="{CB38831D-7DF1-D1CF-1545-2EB7E3B46622}"/>
              </a:ext>
            </a:extLst>
          </p:cNvPr>
          <p:cNvSpPr/>
          <p:nvPr/>
        </p:nvSpPr>
        <p:spPr>
          <a:xfrm>
            <a:off x="2685602" y="1278459"/>
            <a:ext cx="1521792" cy="235626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GC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资产表达强化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(AI)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6" name="矩形: 圆角 165">
            <a:extLst>
              <a:ext uri="{FF2B5EF4-FFF2-40B4-BE49-F238E27FC236}">
                <a16:creationId xmlns:a16="http://schemas.microsoft.com/office/drawing/2014/main" id="{F0E07FAD-D561-A7D6-2630-22AC321E17B8}"/>
              </a:ext>
            </a:extLst>
          </p:cNvPr>
          <p:cNvSpPr/>
          <p:nvPr/>
        </p:nvSpPr>
        <p:spPr>
          <a:xfrm>
            <a:off x="4435844" y="977856"/>
            <a:ext cx="1521792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搜索承接</a:t>
            </a:r>
          </a:p>
        </p:txBody>
      </p:sp>
      <p:sp>
        <p:nvSpPr>
          <p:cNvPr id="167" name="矩形: 圆角 166">
            <a:extLst>
              <a:ext uri="{FF2B5EF4-FFF2-40B4-BE49-F238E27FC236}">
                <a16:creationId xmlns:a16="http://schemas.microsoft.com/office/drawing/2014/main" id="{929B70EA-A5D7-5C39-B4F6-4E734DFC3E13}"/>
              </a:ext>
            </a:extLst>
          </p:cNvPr>
          <p:cNvSpPr/>
          <p:nvPr/>
        </p:nvSpPr>
        <p:spPr>
          <a:xfrm>
            <a:off x="4443449" y="1279998"/>
            <a:ext cx="1506582" cy="234086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榜单页改造</a:t>
            </a:r>
          </a:p>
        </p:txBody>
      </p:sp>
      <p:sp>
        <p:nvSpPr>
          <p:cNvPr id="169" name="矩形: 圆角 168">
            <a:extLst>
              <a:ext uri="{FF2B5EF4-FFF2-40B4-BE49-F238E27FC236}">
                <a16:creationId xmlns:a16="http://schemas.microsoft.com/office/drawing/2014/main" id="{E90C222F-D24F-0667-5876-18E17888ABFB}"/>
              </a:ext>
            </a:extLst>
          </p:cNvPr>
          <p:cNvSpPr/>
          <p:nvPr/>
        </p:nvSpPr>
        <p:spPr>
          <a:xfrm>
            <a:off x="7961080" y="975914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完善分享、召回</a:t>
            </a:r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C0488769-3A5D-13F8-2829-6F19D757EB60}"/>
              </a:ext>
            </a:extLst>
          </p:cNvPr>
          <p:cNvSpPr txBox="1"/>
          <p:nvPr/>
        </p:nvSpPr>
        <p:spPr>
          <a:xfrm>
            <a:off x="-248747" y="3095473"/>
            <a:ext cx="10220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资产应用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11F54D12-7DD6-3C0D-CCF0-21A30C7543EB}"/>
              </a:ext>
            </a:extLst>
          </p:cNvPr>
          <p:cNvSpPr txBox="1"/>
          <p:nvPr/>
        </p:nvSpPr>
        <p:spPr>
          <a:xfrm>
            <a:off x="101013" y="4517088"/>
            <a:ext cx="6874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资产计算及数据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9B246921-C13B-E241-A74D-BAC33421D909}"/>
              </a:ext>
            </a:extLst>
          </p:cNvPr>
          <p:cNvSpPr txBox="1"/>
          <p:nvPr/>
        </p:nvSpPr>
        <p:spPr>
          <a:xfrm>
            <a:off x="293178" y="5266177"/>
            <a:ext cx="4953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商家牵引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179" name="矩形: 圆角 178">
            <a:extLst>
              <a:ext uri="{FF2B5EF4-FFF2-40B4-BE49-F238E27FC236}">
                <a16:creationId xmlns:a16="http://schemas.microsoft.com/office/drawing/2014/main" id="{CF932E37-4386-2D2A-9062-9995CA42BF7B}"/>
              </a:ext>
            </a:extLst>
          </p:cNvPr>
          <p:cNvSpPr/>
          <p:nvPr/>
        </p:nvSpPr>
        <p:spPr>
          <a:xfrm>
            <a:off x="1001717" y="3116965"/>
            <a:ext cx="2657030" cy="214133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团侧动线运营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0" name="矩形: 圆角 179">
            <a:extLst>
              <a:ext uri="{FF2B5EF4-FFF2-40B4-BE49-F238E27FC236}">
                <a16:creationId xmlns:a16="http://schemas.microsoft.com/office/drawing/2014/main" id="{EE6DBA89-EF2B-E90A-2544-712E86CD3F96}"/>
              </a:ext>
            </a:extLst>
          </p:cNvPr>
          <p:cNvSpPr/>
          <p:nvPr/>
        </p:nvSpPr>
        <p:spPr>
          <a:xfrm>
            <a:off x="3893558" y="3095473"/>
            <a:ext cx="2700000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旅游、约会场景试点调优、强化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1" name="矩形: 圆角 180">
            <a:extLst>
              <a:ext uri="{FF2B5EF4-FFF2-40B4-BE49-F238E27FC236}">
                <a16:creationId xmlns:a16="http://schemas.microsoft.com/office/drawing/2014/main" id="{739F5B72-9AF8-10E4-0A2F-4A25B692DDC1}"/>
              </a:ext>
            </a:extLst>
          </p:cNvPr>
          <p:cNvSpPr/>
          <p:nvPr/>
        </p:nvSpPr>
        <p:spPr>
          <a:xfrm>
            <a:off x="1001717" y="3395833"/>
            <a:ext cx="2657030" cy="214133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节点联合营销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2" name="矩形: 圆角 181">
            <a:extLst>
              <a:ext uri="{FF2B5EF4-FFF2-40B4-BE49-F238E27FC236}">
                <a16:creationId xmlns:a16="http://schemas.microsoft.com/office/drawing/2014/main" id="{6688E339-ABBD-B8C7-C568-0CFE35F1E529}"/>
              </a:ext>
            </a:extLst>
          </p:cNvPr>
          <p:cNvSpPr/>
          <p:nvPr/>
        </p:nvSpPr>
        <p:spPr>
          <a:xfrm>
            <a:off x="3893558" y="3397373"/>
            <a:ext cx="2700000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旅游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县域下沉共建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3" name="矩形: 圆角 182">
            <a:extLst>
              <a:ext uri="{FF2B5EF4-FFF2-40B4-BE49-F238E27FC236}">
                <a16:creationId xmlns:a16="http://schemas.microsoft.com/office/drawing/2014/main" id="{DDFDBF70-AC5D-3F91-9DE4-FC9B985E8768}"/>
              </a:ext>
            </a:extLst>
          </p:cNvPr>
          <p:cNvSpPr/>
          <p:nvPr/>
        </p:nvSpPr>
        <p:spPr>
          <a:xfrm>
            <a:off x="6838768" y="3096616"/>
            <a:ext cx="2700000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上榜率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健康度评估，优化密度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4" name="矩形: 圆角 183">
            <a:extLst>
              <a:ext uri="{FF2B5EF4-FFF2-40B4-BE49-F238E27FC236}">
                <a16:creationId xmlns:a16="http://schemas.microsoft.com/office/drawing/2014/main" id="{2E92094F-CB21-2CF4-2851-D46E942822FA}"/>
              </a:ext>
            </a:extLst>
          </p:cNvPr>
          <p:cNvSpPr/>
          <p:nvPr/>
        </p:nvSpPr>
        <p:spPr>
          <a:xfrm>
            <a:off x="6828369" y="3412782"/>
            <a:ext cx="2700000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区域及指数维度补齐（新店等）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E9571A97-7180-C738-3CBE-D733C3D15F69}"/>
              </a:ext>
            </a:extLst>
          </p:cNvPr>
          <p:cNvSpPr/>
          <p:nvPr/>
        </p:nvSpPr>
        <p:spPr>
          <a:xfrm>
            <a:off x="933167" y="4553107"/>
            <a:ext cx="2016000" cy="39387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GC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挖掘及重点场景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GC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牵引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（评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履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/GC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激励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工单等）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87" name="矩形 186">
            <a:extLst>
              <a:ext uri="{FF2B5EF4-FFF2-40B4-BE49-F238E27FC236}">
                <a16:creationId xmlns:a16="http://schemas.microsoft.com/office/drawing/2014/main" id="{04C55455-7951-C107-EDB6-C57FD5A2388C}"/>
              </a:ext>
            </a:extLst>
          </p:cNvPr>
          <p:cNvSpPr/>
          <p:nvPr/>
        </p:nvSpPr>
        <p:spPr>
          <a:xfrm>
            <a:off x="5324111" y="4553107"/>
            <a:ext cx="2016000" cy="386257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好店挖掘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坏店清退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（信息提报链路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交叉验证）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88" name="矩形 187">
            <a:extLst>
              <a:ext uri="{FF2B5EF4-FFF2-40B4-BE49-F238E27FC236}">
                <a16:creationId xmlns:a16="http://schemas.microsoft.com/office/drawing/2014/main" id="{C358F90E-1374-539A-661E-1740CDF79DA2}"/>
              </a:ext>
            </a:extLst>
          </p:cNvPr>
          <p:cNvSpPr/>
          <p:nvPr/>
        </p:nvSpPr>
        <p:spPr>
          <a:xfrm>
            <a:off x="7519582" y="4553107"/>
            <a:ext cx="2016000" cy="39387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剔刷剔作弊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0" name="矩形 189">
            <a:extLst>
              <a:ext uri="{FF2B5EF4-FFF2-40B4-BE49-F238E27FC236}">
                <a16:creationId xmlns:a16="http://schemas.microsoft.com/office/drawing/2014/main" id="{32D1DD92-27E0-B5EC-AD01-A2D52BC3A4A1}"/>
              </a:ext>
            </a:extLst>
          </p:cNvPr>
          <p:cNvSpPr/>
          <p:nvPr/>
        </p:nvSpPr>
        <p:spPr>
          <a:xfrm>
            <a:off x="6825758" y="5307689"/>
            <a:ext cx="2727042" cy="39387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品类细化及划分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1" name="矩形 190">
            <a:extLst>
              <a:ext uri="{FF2B5EF4-FFF2-40B4-BE49-F238E27FC236}">
                <a16:creationId xmlns:a16="http://schemas.microsoft.com/office/drawing/2014/main" id="{74371F43-54EB-CABB-0F19-558614A1E98B}"/>
              </a:ext>
            </a:extLst>
          </p:cNvPr>
          <p:cNvSpPr/>
          <p:nvPr/>
        </p:nvSpPr>
        <p:spPr>
          <a:xfrm>
            <a:off x="3979777" y="5300074"/>
            <a:ext cx="2739361" cy="39387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荣誉强化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&amp;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线下物料覆盖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0" name="矩形: 圆角 199">
            <a:extLst>
              <a:ext uri="{FF2B5EF4-FFF2-40B4-BE49-F238E27FC236}">
                <a16:creationId xmlns:a16="http://schemas.microsoft.com/office/drawing/2014/main" id="{A1F44295-B266-D160-3514-CCA85036BEBD}"/>
              </a:ext>
            </a:extLst>
          </p:cNvPr>
          <p:cNvSpPr/>
          <p:nvPr/>
        </p:nvSpPr>
        <p:spPr>
          <a:xfrm>
            <a:off x="7970882" y="1274720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评价引导</a:t>
            </a:r>
          </a:p>
        </p:txBody>
      </p:sp>
      <p:sp>
        <p:nvSpPr>
          <p:cNvPr id="201" name="矩形: 圆角 200">
            <a:extLst>
              <a:ext uri="{FF2B5EF4-FFF2-40B4-BE49-F238E27FC236}">
                <a16:creationId xmlns:a16="http://schemas.microsoft.com/office/drawing/2014/main" id="{16A5767D-B635-F162-E5C4-8DCB735DEBD2}"/>
              </a:ext>
            </a:extLst>
          </p:cNvPr>
          <p:cNvSpPr/>
          <p:nvPr/>
        </p:nvSpPr>
        <p:spPr>
          <a:xfrm>
            <a:off x="893578" y="2502283"/>
            <a:ext cx="8757260" cy="1696347"/>
          </a:xfrm>
          <a:prstGeom prst="round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2" name="矩形 201">
            <a:extLst>
              <a:ext uri="{FF2B5EF4-FFF2-40B4-BE49-F238E27FC236}">
                <a16:creationId xmlns:a16="http://schemas.microsoft.com/office/drawing/2014/main" id="{BB12C0A8-6A46-F771-9047-53768FB23C88}"/>
              </a:ext>
            </a:extLst>
          </p:cNvPr>
          <p:cNvSpPr/>
          <p:nvPr/>
        </p:nvSpPr>
        <p:spPr>
          <a:xfrm>
            <a:off x="3128639" y="4553107"/>
            <a:ext cx="2016000" cy="39387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算法规则优化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8663353C-9751-B173-A6CC-3C95AF78A397}"/>
              </a:ext>
            </a:extLst>
          </p:cNvPr>
          <p:cNvSpPr/>
          <p:nvPr/>
        </p:nvSpPr>
        <p:spPr>
          <a:xfrm>
            <a:off x="925923" y="5305421"/>
            <a:ext cx="2947235" cy="39387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商户指导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&amp;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诊断工具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5" name="矩形: 圆角 204">
            <a:extLst>
              <a:ext uri="{FF2B5EF4-FFF2-40B4-BE49-F238E27FC236}">
                <a16:creationId xmlns:a16="http://schemas.microsoft.com/office/drawing/2014/main" id="{69A4407B-5D0A-FE73-C606-1C85A53906AF}"/>
              </a:ext>
            </a:extLst>
          </p:cNvPr>
          <p:cNvSpPr/>
          <p:nvPr/>
        </p:nvSpPr>
        <p:spPr>
          <a:xfrm>
            <a:off x="2692259" y="1604426"/>
            <a:ext cx="1521792" cy="235626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连锁信息复用</a:t>
            </a:r>
          </a:p>
        </p:txBody>
      </p:sp>
      <p:sp>
        <p:nvSpPr>
          <p:cNvPr id="206" name="矩形: 圆角 205">
            <a:extLst>
              <a:ext uri="{FF2B5EF4-FFF2-40B4-BE49-F238E27FC236}">
                <a16:creationId xmlns:a16="http://schemas.microsoft.com/office/drawing/2014/main" id="{FAF63D61-1D39-357E-64A4-D48DEC35841F}"/>
              </a:ext>
            </a:extLst>
          </p:cNvPr>
          <p:cNvSpPr/>
          <p:nvPr/>
        </p:nvSpPr>
        <p:spPr>
          <a:xfrm>
            <a:off x="6201296" y="1287287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权益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营销组合</a:t>
            </a:r>
          </a:p>
        </p:txBody>
      </p:sp>
      <p:sp>
        <p:nvSpPr>
          <p:cNvPr id="208" name="文本框 207">
            <a:extLst>
              <a:ext uri="{FF2B5EF4-FFF2-40B4-BE49-F238E27FC236}">
                <a16:creationId xmlns:a16="http://schemas.microsoft.com/office/drawing/2014/main" id="{DF915892-9878-21E4-F628-06C813229A15}"/>
              </a:ext>
            </a:extLst>
          </p:cNvPr>
          <p:cNvSpPr txBox="1"/>
          <p:nvPr/>
        </p:nvSpPr>
        <p:spPr>
          <a:xfrm>
            <a:off x="-5414" y="7299188"/>
            <a:ext cx="4953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信任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209" name="矩形: 圆角 208">
            <a:extLst>
              <a:ext uri="{FF2B5EF4-FFF2-40B4-BE49-F238E27FC236}">
                <a16:creationId xmlns:a16="http://schemas.microsoft.com/office/drawing/2014/main" id="{420D0536-D5A5-37B6-1B32-AF19C15FB150}"/>
              </a:ext>
            </a:extLst>
          </p:cNvPr>
          <p:cNvSpPr/>
          <p:nvPr/>
        </p:nvSpPr>
        <p:spPr>
          <a:xfrm>
            <a:off x="5372864" y="7347048"/>
            <a:ext cx="1014244" cy="31958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线下物料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0" name="矩形: 圆角 209">
            <a:extLst>
              <a:ext uri="{FF2B5EF4-FFF2-40B4-BE49-F238E27FC236}">
                <a16:creationId xmlns:a16="http://schemas.microsoft.com/office/drawing/2014/main" id="{63E05CD6-5D76-2F03-98FC-8B8366FF9A82}"/>
              </a:ext>
            </a:extLst>
          </p:cNvPr>
          <p:cNvSpPr/>
          <p:nvPr/>
        </p:nvSpPr>
        <p:spPr>
          <a:xfrm>
            <a:off x="684631" y="7293122"/>
            <a:ext cx="2216401" cy="301037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  <a:latin typeface="+mn-ea"/>
              </a:rPr>
              <a:t>toC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市场宣发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1" name="矩形: 圆角 210">
            <a:extLst>
              <a:ext uri="{FF2B5EF4-FFF2-40B4-BE49-F238E27FC236}">
                <a16:creationId xmlns:a16="http://schemas.microsoft.com/office/drawing/2014/main" id="{554CD493-BA20-D256-46FF-9646C4AE6FC8}"/>
              </a:ext>
            </a:extLst>
          </p:cNvPr>
          <p:cNvSpPr/>
          <p:nvPr/>
        </p:nvSpPr>
        <p:spPr>
          <a:xfrm>
            <a:off x="7201396" y="7290042"/>
            <a:ext cx="1014244" cy="31958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政府共建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C5D7130-2929-766C-B791-A2E2585D4434}"/>
              </a:ext>
            </a:extLst>
          </p:cNvPr>
          <p:cNvSpPr/>
          <p:nvPr/>
        </p:nvSpPr>
        <p:spPr>
          <a:xfrm>
            <a:off x="873177" y="4448500"/>
            <a:ext cx="8757260" cy="639912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97C7F1E-2631-7B22-9736-73E5B0B713C6}"/>
              </a:ext>
            </a:extLst>
          </p:cNvPr>
          <p:cNvSpPr/>
          <p:nvPr/>
        </p:nvSpPr>
        <p:spPr>
          <a:xfrm>
            <a:off x="873177" y="5181435"/>
            <a:ext cx="8757260" cy="594313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0A51EA0-1F3A-FCE0-8A2D-CE861FD7D83F}"/>
              </a:ext>
            </a:extLst>
          </p:cNvPr>
          <p:cNvSpPr/>
          <p:nvPr/>
        </p:nvSpPr>
        <p:spPr>
          <a:xfrm>
            <a:off x="3893559" y="3686493"/>
            <a:ext cx="2700000" cy="188753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场景标签细化，如约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景观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旅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非遗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DE43E71-9614-7573-A2DD-6CBD6417F7E3}"/>
              </a:ext>
            </a:extLst>
          </p:cNvPr>
          <p:cNvSpPr/>
          <p:nvPr/>
        </p:nvSpPr>
        <p:spPr>
          <a:xfrm>
            <a:off x="936809" y="1875899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酒旅等业务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cross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B49E1F57-EF0F-183C-2221-CF2ADB877305}"/>
              </a:ext>
            </a:extLst>
          </p:cNvPr>
          <p:cNvSpPr/>
          <p:nvPr/>
        </p:nvSpPr>
        <p:spPr>
          <a:xfrm>
            <a:off x="3893558" y="3965124"/>
            <a:ext cx="2700000" cy="195719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讨论其它主题如仪式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互动感可行性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ACCBD38-7C06-6ECB-5D4E-410CFA12434B}"/>
              </a:ext>
            </a:extLst>
          </p:cNvPr>
          <p:cNvSpPr/>
          <p:nvPr/>
        </p:nvSpPr>
        <p:spPr>
          <a:xfrm>
            <a:off x="6838768" y="3696360"/>
            <a:ext cx="2700000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特色大单品指数，如烤鱼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烤鸭试点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D5A90A82-5993-B00A-F1F3-F401E5CB7E1E}"/>
              </a:ext>
            </a:extLst>
          </p:cNvPr>
          <p:cNvSpPr/>
          <p:nvPr/>
        </p:nvSpPr>
        <p:spPr>
          <a:xfrm>
            <a:off x="9863226" y="2612632"/>
            <a:ext cx="2657030" cy="3938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个性化榜单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CB9B52E7-6290-58CF-D0BA-13F676526D75}"/>
              </a:ext>
            </a:extLst>
          </p:cNvPr>
          <p:cNvSpPr/>
          <p:nvPr/>
        </p:nvSpPr>
        <p:spPr>
          <a:xfrm>
            <a:off x="12755067" y="2609397"/>
            <a:ext cx="2700000" cy="4248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UGC</a:t>
            </a:r>
            <a:r>
              <a:rPr lang="zh-CN" altLang="en-US" sz="1200" dirty="0"/>
              <a:t>榜单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1" name="矩形: 圆角 150">
            <a:extLst>
              <a:ext uri="{FF2B5EF4-FFF2-40B4-BE49-F238E27FC236}">
                <a16:creationId xmlns:a16="http://schemas.microsoft.com/office/drawing/2014/main" id="{B3C43F8E-F8C9-58BF-875D-A385DE1470CD}"/>
              </a:ext>
            </a:extLst>
          </p:cNvPr>
          <p:cNvSpPr/>
          <p:nvPr/>
        </p:nvSpPr>
        <p:spPr>
          <a:xfrm>
            <a:off x="9863226" y="3116965"/>
            <a:ext cx="2657030" cy="214133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团侧动线运营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2" name="矩形: 圆角 151">
            <a:extLst>
              <a:ext uri="{FF2B5EF4-FFF2-40B4-BE49-F238E27FC236}">
                <a16:creationId xmlns:a16="http://schemas.microsoft.com/office/drawing/2014/main" id="{83D7139C-29CE-A64F-9045-28C801AB4BD9}"/>
              </a:ext>
            </a:extLst>
          </p:cNvPr>
          <p:cNvSpPr/>
          <p:nvPr/>
        </p:nvSpPr>
        <p:spPr>
          <a:xfrm>
            <a:off x="12755067" y="3095473"/>
            <a:ext cx="2700000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旅游、约会场景试点调优、强化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8" name="矩形: 圆角 157">
            <a:extLst>
              <a:ext uri="{FF2B5EF4-FFF2-40B4-BE49-F238E27FC236}">
                <a16:creationId xmlns:a16="http://schemas.microsoft.com/office/drawing/2014/main" id="{9B728E3C-AEEC-4C9E-5B65-F2AAC605AEC4}"/>
              </a:ext>
            </a:extLst>
          </p:cNvPr>
          <p:cNvSpPr/>
          <p:nvPr/>
        </p:nvSpPr>
        <p:spPr>
          <a:xfrm>
            <a:off x="9863226" y="3395833"/>
            <a:ext cx="2657030" cy="214133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节点联合营销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3" name="矩形: 圆角 162">
            <a:extLst>
              <a:ext uri="{FF2B5EF4-FFF2-40B4-BE49-F238E27FC236}">
                <a16:creationId xmlns:a16="http://schemas.microsoft.com/office/drawing/2014/main" id="{737A7C5B-51B4-5627-F0D1-5A324B07A951}"/>
              </a:ext>
            </a:extLst>
          </p:cNvPr>
          <p:cNvSpPr/>
          <p:nvPr/>
        </p:nvSpPr>
        <p:spPr>
          <a:xfrm>
            <a:off x="12755067" y="3397373"/>
            <a:ext cx="2700000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旅游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县域下沉共建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0" name="矩形: 圆角 169">
            <a:extLst>
              <a:ext uri="{FF2B5EF4-FFF2-40B4-BE49-F238E27FC236}">
                <a16:creationId xmlns:a16="http://schemas.microsoft.com/office/drawing/2014/main" id="{1827C1D9-EAC9-C3D7-2B61-2C396369F2DF}"/>
              </a:ext>
            </a:extLst>
          </p:cNvPr>
          <p:cNvSpPr/>
          <p:nvPr/>
        </p:nvSpPr>
        <p:spPr>
          <a:xfrm>
            <a:off x="9755087" y="2502283"/>
            <a:ext cx="5992913" cy="1696347"/>
          </a:xfrm>
          <a:prstGeom prst="round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1" name="矩形: 圆角 170">
            <a:extLst>
              <a:ext uri="{FF2B5EF4-FFF2-40B4-BE49-F238E27FC236}">
                <a16:creationId xmlns:a16="http://schemas.microsoft.com/office/drawing/2014/main" id="{F01019A4-64BE-2880-B414-D4340896FFB2}"/>
              </a:ext>
            </a:extLst>
          </p:cNvPr>
          <p:cNvSpPr/>
          <p:nvPr/>
        </p:nvSpPr>
        <p:spPr>
          <a:xfrm>
            <a:off x="12755068" y="3686493"/>
            <a:ext cx="2700000" cy="188753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场景标签细化，如约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景观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旅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非遗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3" name="矩形: 圆角 172">
            <a:extLst>
              <a:ext uri="{FF2B5EF4-FFF2-40B4-BE49-F238E27FC236}">
                <a16:creationId xmlns:a16="http://schemas.microsoft.com/office/drawing/2014/main" id="{8086E7BB-A5CD-3773-E243-C18010DA8793}"/>
              </a:ext>
            </a:extLst>
          </p:cNvPr>
          <p:cNvSpPr/>
          <p:nvPr/>
        </p:nvSpPr>
        <p:spPr>
          <a:xfrm>
            <a:off x="12755067" y="3965124"/>
            <a:ext cx="2700000" cy="195719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讨论其它主题如仪式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互动感可行性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29946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B5033CFB-A1F7-015D-34E9-9CFE7335D2E6}"/>
              </a:ext>
            </a:extLst>
          </p:cNvPr>
          <p:cNvSpPr/>
          <p:nvPr/>
        </p:nvSpPr>
        <p:spPr>
          <a:xfrm>
            <a:off x="-406399" y="-909320"/>
            <a:ext cx="10655300" cy="7935169"/>
          </a:xfrm>
          <a:prstGeom prst="roundRect">
            <a:avLst>
              <a:gd name="adj" fmla="val 76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59" name="图片 158">
            <a:extLst>
              <a:ext uri="{FF2B5EF4-FFF2-40B4-BE49-F238E27FC236}">
                <a16:creationId xmlns:a16="http://schemas.microsoft.com/office/drawing/2014/main" id="{715828CD-176B-7A07-67D6-727DD6B017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800" y="-9592104"/>
            <a:ext cx="9859850" cy="5658745"/>
          </a:xfrm>
          <a:prstGeom prst="rect">
            <a:avLst/>
          </a:prstGeom>
        </p:spPr>
      </p:pic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5" imgW="0" imgH="0" progId="TCLayout.ActiveDocument.1">
                  <p:embed/>
                </p:oleObj>
              </mc:Choice>
              <mc:Fallback>
                <p:oleObj name="think-cell 幻灯片" r:id="rId5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7A1B3C51-C11C-8CDC-B70A-FC80155E75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3509294" y="-7217939"/>
            <a:ext cx="8290411" cy="5892356"/>
          </a:xfrm>
          <a:prstGeom prst="rect">
            <a:avLst/>
          </a:prstGeom>
        </p:spPr>
      </p:pic>
      <p:sp>
        <p:nvSpPr>
          <p:cNvPr id="35" name="文本框 34">
            <a:extLst>
              <a:ext uri="{FF2B5EF4-FFF2-40B4-BE49-F238E27FC236}">
                <a16:creationId xmlns:a16="http://schemas.microsoft.com/office/drawing/2014/main" id="{622E22ED-68B4-3641-2F15-3AF32D9C8A5F}"/>
              </a:ext>
            </a:extLst>
          </p:cNvPr>
          <p:cNvSpPr txBox="1"/>
          <p:nvPr/>
        </p:nvSpPr>
        <p:spPr>
          <a:xfrm>
            <a:off x="-228317" y="808434"/>
            <a:ext cx="931472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用户动线体验</a:t>
            </a:r>
            <a:endParaRPr lang="en-US" altLang="zh-CN" sz="1200" dirty="0">
              <a:solidFill>
                <a:srgbClr val="0D0D0D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38D451EC-16D1-A308-D849-283B61C34176}"/>
              </a:ext>
            </a:extLst>
          </p:cNvPr>
          <p:cNvSpPr/>
          <p:nvPr/>
        </p:nvSpPr>
        <p:spPr>
          <a:xfrm>
            <a:off x="-4130916" y="3233301"/>
            <a:ext cx="1587106" cy="223058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猜喜全量</a:t>
            </a:r>
            <a:r>
              <a:rPr lang="en-US" altLang="zh-CN" sz="1200" b="1" dirty="0">
                <a:solidFill>
                  <a:schemeClr val="accent6"/>
                </a:solidFill>
                <a:latin typeface="+mn-ea"/>
              </a:rPr>
              <a:t>-&gt;</a:t>
            </a:r>
            <a:r>
              <a:rPr lang="zh-CN" altLang="en-US" sz="1200" b="1" dirty="0">
                <a:solidFill>
                  <a:schemeClr val="accent6"/>
                </a:solidFill>
                <a:latin typeface="+mn-ea"/>
              </a:rPr>
              <a:t>策略调优</a:t>
            </a:r>
            <a:endParaRPr lang="en-US" altLang="zh-CN" sz="1200" b="1" dirty="0">
              <a:solidFill>
                <a:schemeClr val="accent6"/>
              </a:solidFill>
              <a:latin typeface="+mn-ea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9B71615D-9AE1-8154-EFCE-D4D49F1E2286}"/>
              </a:ext>
            </a:extLst>
          </p:cNvPr>
          <p:cNvSpPr/>
          <p:nvPr/>
        </p:nvSpPr>
        <p:spPr>
          <a:xfrm>
            <a:off x="17445085" y="-4801529"/>
            <a:ext cx="1512353" cy="427313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搜索比较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榜单页筛选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4C87D21C-163C-E8E1-40B3-8831B4E3B853}"/>
              </a:ext>
            </a:extLst>
          </p:cNvPr>
          <p:cNvSpPr/>
          <p:nvPr/>
        </p:nvSpPr>
        <p:spPr>
          <a:xfrm>
            <a:off x="6932997" y="686900"/>
            <a:ext cx="2657030" cy="58320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预订产品组合</a:t>
            </a:r>
            <a:r>
              <a:rPr lang="en-US" altLang="zh-CN" sz="1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表达</a:t>
            </a:r>
            <a:endParaRPr lang="en-US" altLang="zh-CN" sz="12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1200" dirty="0">
                <a:solidFill>
                  <a:srgbClr val="FFA6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约会榜</a:t>
            </a:r>
            <a:r>
              <a:rPr lang="en-US" altLang="zh-CN" sz="1200" dirty="0">
                <a:solidFill>
                  <a:srgbClr val="FFA6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+</a:t>
            </a:r>
            <a:r>
              <a:rPr lang="zh-CN" altLang="en-US" sz="1200" dirty="0">
                <a:solidFill>
                  <a:srgbClr val="FFA6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订座功能</a:t>
            </a:r>
            <a:endParaRPr lang="en-US" altLang="zh-CN" sz="1200" dirty="0">
              <a:solidFill>
                <a:srgbClr val="FFA6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12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资产</a:t>
            </a:r>
            <a:r>
              <a:rPr lang="en-US" altLang="zh-CN" sz="12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zh-CN" altLang="en-US" sz="12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履约联动方案</a:t>
            </a:r>
            <a:r>
              <a:rPr lang="en-US" altLang="zh-CN" sz="12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r>
              <a:rPr lang="zh-CN" altLang="en-US" sz="12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七夕直订试点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94298399-2182-A10B-64D4-F85F11573FAE}"/>
              </a:ext>
            </a:extLst>
          </p:cNvPr>
          <p:cNvSpPr/>
          <p:nvPr/>
        </p:nvSpPr>
        <p:spPr>
          <a:xfrm>
            <a:off x="21797876" y="-3318880"/>
            <a:ext cx="6960194" cy="2128937"/>
          </a:xfrm>
          <a:prstGeom prst="roundRect">
            <a:avLst>
              <a:gd name="adj" fmla="val 5571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8A64C5C6-87EA-13FE-E519-66D0D0018055}"/>
              </a:ext>
            </a:extLst>
          </p:cNvPr>
          <p:cNvSpPr txBox="1"/>
          <p:nvPr/>
        </p:nvSpPr>
        <p:spPr>
          <a:xfrm>
            <a:off x="9526619" y="-2925601"/>
            <a:ext cx="4953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决策环节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20DB24A-E215-28DB-3B37-DD09F60ED16D}"/>
              </a:ext>
            </a:extLst>
          </p:cNvPr>
          <p:cNvSpPr/>
          <p:nvPr/>
        </p:nvSpPr>
        <p:spPr>
          <a:xfrm>
            <a:off x="21872673" y="-2610182"/>
            <a:ext cx="1512353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区域</a:t>
            </a:r>
            <a:r>
              <a:rPr lang="en-US" altLang="zh-CN" sz="1200" dirty="0">
                <a:solidFill>
                  <a:schemeClr val="tx1"/>
                </a:solidFill>
              </a:rPr>
              <a:t>x</a:t>
            </a:r>
            <a:r>
              <a:rPr lang="zh-CN" altLang="en-US" sz="1200" dirty="0">
                <a:solidFill>
                  <a:schemeClr val="tx1"/>
                </a:solidFill>
              </a:rPr>
              <a:t>主题</a:t>
            </a:r>
            <a:r>
              <a:rPr lang="en-US" altLang="zh-CN" sz="1200" dirty="0">
                <a:solidFill>
                  <a:schemeClr val="tx1"/>
                </a:solidFill>
              </a:rPr>
              <a:t>x</a:t>
            </a:r>
            <a:r>
              <a:rPr lang="zh-CN" altLang="en-US" sz="1200" dirty="0">
                <a:solidFill>
                  <a:schemeClr val="tx1"/>
                </a:solidFill>
              </a:rPr>
              <a:t>供给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/>
          </a:p>
          <a:p>
            <a:pPr algn="ctr"/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优先节日场景，逐渐完善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894D3FD-BF09-99B7-602D-3387AB5D2EBB}"/>
              </a:ext>
            </a:extLst>
          </p:cNvPr>
          <p:cNvSpPr/>
          <p:nvPr/>
        </p:nvSpPr>
        <p:spPr>
          <a:xfrm>
            <a:off x="-2679482" y="0"/>
            <a:ext cx="1195011" cy="17681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品类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zh-CN" altLang="en-US" sz="1200" dirty="0"/>
              <a:t>地址</a:t>
            </a:r>
            <a:endParaRPr lang="en-US" altLang="zh-CN" sz="1200" dirty="0"/>
          </a:p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菜品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A3534B3-2320-6866-F3B4-A21000B4DA93}"/>
              </a:ext>
            </a:extLst>
          </p:cNvPr>
          <p:cNvSpPr/>
          <p:nvPr/>
        </p:nvSpPr>
        <p:spPr>
          <a:xfrm>
            <a:off x="25378928" y="-2603753"/>
            <a:ext cx="3276857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交易</a:t>
            </a:r>
            <a:r>
              <a:rPr lang="en-US" altLang="zh-CN" sz="1200" dirty="0"/>
              <a:t>/GC/</a:t>
            </a:r>
            <a:r>
              <a:rPr lang="zh-CN" altLang="en-US" sz="1200" dirty="0"/>
              <a:t>履约</a:t>
            </a:r>
            <a:r>
              <a:rPr lang="en-US" altLang="zh-CN" sz="1200" dirty="0"/>
              <a:t>/</a:t>
            </a:r>
            <a:r>
              <a:rPr lang="zh-CN" altLang="en-US" sz="1200" dirty="0"/>
              <a:t>用户行为</a:t>
            </a:r>
            <a:endParaRPr lang="en-US" altLang="zh-CN" sz="1200" dirty="0"/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规则算法优化、更匹配物理世界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E0E4B88C-8445-D05C-710B-2D11628A402D}"/>
              </a:ext>
            </a:extLst>
          </p:cNvPr>
          <p:cNvSpPr txBox="1"/>
          <p:nvPr/>
        </p:nvSpPr>
        <p:spPr>
          <a:xfrm>
            <a:off x="-5169367" y="-1359449"/>
            <a:ext cx="28523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+mn-ea"/>
              </a:rPr>
              <a:t>8</a:t>
            </a:r>
            <a:r>
              <a:rPr lang="zh-CN" altLang="en-US" sz="1800" dirty="0">
                <a:latin typeface="+mn-ea"/>
              </a:rPr>
              <a:t>月夏站计划讨论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7566BC90-687D-1CCA-F15D-B4583002D94B}"/>
              </a:ext>
            </a:extLst>
          </p:cNvPr>
          <p:cNvSpPr/>
          <p:nvPr/>
        </p:nvSpPr>
        <p:spPr>
          <a:xfrm>
            <a:off x="21872672" y="-3108209"/>
            <a:ext cx="3265481" cy="3938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榜单矩阵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C83E41F-2D3A-D90D-D9AA-463CF0B6F26E}"/>
              </a:ext>
            </a:extLst>
          </p:cNvPr>
          <p:cNvSpPr/>
          <p:nvPr/>
        </p:nvSpPr>
        <p:spPr>
          <a:xfrm>
            <a:off x="25378928" y="-3108209"/>
            <a:ext cx="3276856" cy="3938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资产引用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94677B64-3188-EE25-5C1A-2BDACB69A98B}"/>
              </a:ext>
            </a:extLst>
          </p:cNvPr>
          <p:cNvSpPr txBox="1"/>
          <p:nvPr/>
        </p:nvSpPr>
        <p:spPr>
          <a:xfrm>
            <a:off x="25118206" y="-3046650"/>
            <a:ext cx="3091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/>
                </a:solidFill>
              </a:rPr>
              <a:t>x</a:t>
            </a:r>
            <a:endParaRPr lang="zh-CN" altLang="en-US" sz="1200" dirty="0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8F1B5AC7-0D6D-FAC6-6633-B45689E5DA13}"/>
              </a:ext>
            </a:extLst>
          </p:cNvPr>
          <p:cNvSpPr/>
          <p:nvPr/>
        </p:nvSpPr>
        <p:spPr>
          <a:xfrm>
            <a:off x="23625800" y="-2600524"/>
            <a:ext cx="1512354" cy="12540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区域</a:t>
            </a:r>
            <a:r>
              <a:rPr lang="en-US" altLang="zh-CN" sz="1200" dirty="0">
                <a:solidFill>
                  <a:schemeClr val="tx1"/>
                </a:solidFill>
              </a:rPr>
              <a:t>x</a:t>
            </a:r>
            <a:r>
              <a:rPr lang="zh-CN" altLang="en-US" sz="1200" dirty="0">
                <a:solidFill>
                  <a:schemeClr val="tx1"/>
                </a:solidFill>
              </a:rPr>
              <a:t>品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菜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地</a:t>
            </a:r>
            <a:r>
              <a:rPr lang="en-US" altLang="zh-CN" sz="1200" dirty="0">
                <a:solidFill>
                  <a:schemeClr val="tx1"/>
                </a:solidFill>
              </a:rPr>
              <a:t>x</a:t>
            </a:r>
            <a:r>
              <a:rPr lang="zh-CN" altLang="en-US" sz="1200" dirty="0">
                <a:solidFill>
                  <a:schemeClr val="tx1"/>
                </a:solidFill>
              </a:rPr>
              <a:t>供给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/>
          </a:p>
          <a:p>
            <a:pPr algn="ctr"/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完善可比维度、优化密度</a:t>
            </a:r>
          </a:p>
        </p:txBody>
      </p:sp>
      <p:sp>
        <p:nvSpPr>
          <p:cNvPr id="130" name="矩形: 圆角 129">
            <a:extLst>
              <a:ext uri="{FF2B5EF4-FFF2-40B4-BE49-F238E27FC236}">
                <a16:creationId xmlns:a16="http://schemas.microsoft.com/office/drawing/2014/main" id="{AA3B15C7-5997-2681-E82D-AF7D099C1E73}"/>
              </a:ext>
            </a:extLst>
          </p:cNvPr>
          <p:cNvSpPr/>
          <p:nvPr/>
        </p:nvSpPr>
        <p:spPr>
          <a:xfrm>
            <a:off x="889530" y="11417"/>
            <a:ext cx="8865558" cy="2151044"/>
          </a:xfrm>
          <a:prstGeom prst="roundRect">
            <a:avLst>
              <a:gd name="adj" fmla="val 9742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2712FA0B-17C3-10E3-D2E6-97F63A744DCC}"/>
              </a:ext>
            </a:extLst>
          </p:cNvPr>
          <p:cNvSpPr/>
          <p:nvPr/>
        </p:nvSpPr>
        <p:spPr>
          <a:xfrm>
            <a:off x="1041463" y="2463141"/>
            <a:ext cx="2700000" cy="4248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榜单矩阵</a:t>
            </a:r>
            <a:r>
              <a:rPr lang="en-US" altLang="zh-CN" sz="1200" dirty="0"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r>
              <a:rPr lang="zh-CN" altLang="en-US" sz="1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场景榜</a:t>
            </a:r>
            <a:endParaRPr lang="en-US" altLang="zh-CN" sz="12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6E777B9D-FF33-345F-DB3D-E189208670AF}"/>
              </a:ext>
            </a:extLst>
          </p:cNvPr>
          <p:cNvSpPr/>
          <p:nvPr/>
        </p:nvSpPr>
        <p:spPr>
          <a:xfrm>
            <a:off x="3987685" y="2473371"/>
            <a:ext cx="2700000" cy="4248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榜单矩阵</a:t>
            </a:r>
            <a:r>
              <a:rPr lang="en-US" altLang="zh-CN" sz="1200" dirty="0"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r>
              <a:rPr lang="zh-CN" altLang="en-US" sz="1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指数</a:t>
            </a: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榜</a:t>
            </a:r>
            <a:endParaRPr lang="en-US" altLang="zh-CN" sz="1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7D17E0FE-1230-318C-8F9C-95DF2C394DEC}"/>
              </a:ext>
            </a:extLst>
          </p:cNvPr>
          <p:cNvSpPr/>
          <p:nvPr/>
        </p:nvSpPr>
        <p:spPr>
          <a:xfrm>
            <a:off x="23137799" y="587410"/>
            <a:ext cx="4235028" cy="3354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To</a:t>
            </a:r>
            <a:r>
              <a:rPr lang="zh-CN" altLang="en-US" sz="1200" dirty="0">
                <a:solidFill>
                  <a:schemeClr val="tx1"/>
                </a:solidFill>
              </a:rPr>
              <a:t>到餐</a:t>
            </a:r>
          </a:p>
        </p:txBody>
      </p:sp>
      <p:sp>
        <p:nvSpPr>
          <p:cNvPr id="161" name="矩形: 圆角 160">
            <a:extLst>
              <a:ext uri="{FF2B5EF4-FFF2-40B4-BE49-F238E27FC236}">
                <a16:creationId xmlns:a16="http://schemas.microsoft.com/office/drawing/2014/main" id="{FB589EE6-D63F-6E31-5E40-3652D1DB6F76}"/>
              </a:ext>
            </a:extLst>
          </p:cNvPr>
          <p:cNvSpPr/>
          <p:nvPr/>
        </p:nvSpPr>
        <p:spPr>
          <a:xfrm>
            <a:off x="-3928297" y="2106162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内容化表达如地图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2" name="矩形: 圆角 161">
            <a:extLst>
              <a:ext uri="{FF2B5EF4-FFF2-40B4-BE49-F238E27FC236}">
                <a16:creationId xmlns:a16="http://schemas.microsoft.com/office/drawing/2014/main" id="{BC0E5C23-9254-89BE-5A01-1FEA0E7C0CFA}"/>
              </a:ext>
            </a:extLst>
          </p:cNvPr>
          <p:cNvSpPr/>
          <p:nvPr/>
        </p:nvSpPr>
        <p:spPr>
          <a:xfrm>
            <a:off x="-3928297" y="2397181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个性化分发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5" name="矩形: 圆角 164">
            <a:extLst>
              <a:ext uri="{FF2B5EF4-FFF2-40B4-BE49-F238E27FC236}">
                <a16:creationId xmlns:a16="http://schemas.microsoft.com/office/drawing/2014/main" id="{CB38831D-7DF1-D1CF-1545-2EB7E3B46622}"/>
              </a:ext>
            </a:extLst>
          </p:cNvPr>
          <p:cNvSpPr/>
          <p:nvPr/>
        </p:nvSpPr>
        <p:spPr>
          <a:xfrm>
            <a:off x="4020626" y="686899"/>
            <a:ext cx="2698512" cy="58320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GC</a:t>
            </a:r>
            <a:r>
              <a:rPr lang="zh-CN" altLang="en-US" sz="1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资产表达强化</a:t>
            </a:r>
            <a:endParaRPr lang="en-US" altLang="zh-CN" sz="12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12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当地人推荐方言语音</a:t>
            </a:r>
            <a:endParaRPr lang="en-US" altLang="zh-CN" sz="12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7" name="矩形: 圆角 166">
            <a:extLst>
              <a:ext uri="{FF2B5EF4-FFF2-40B4-BE49-F238E27FC236}">
                <a16:creationId xmlns:a16="http://schemas.microsoft.com/office/drawing/2014/main" id="{929B70EA-A5D7-5C39-B4F6-4E734DFC3E13}"/>
              </a:ext>
            </a:extLst>
          </p:cNvPr>
          <p:cNvSpPr/>
          <p:nvPr/>
        </p:nvSpPr>
        <p:spPr>
          <a:xfrm>
            <a:off x="4020626" y="1401057"/>
            <a:ext cx="2698512" cy="58320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榜单页改造</a:t>
            </a:r>
            <a:endParaRPr lang="en-US" altLang="zh-CN" sz="12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1200" dirty="0">
                <a:solidFill>
                  <a:srgbClr val="FFA6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扩充热门地标、附近找店</a:t>
            </a:r>
            <a:endParaRPr lang="en-US" altLang="zh-CN" sz="1200" dirty="0">
              <a:solidFill>
                <a:srgbClr val="FFA6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12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支持宝藏榜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zh-CN" altLang="en-US" sz="1200" dirty="0">
                <a:solidFill>
                  <a:schemeClr val="bg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榜单推荐</a:t>
            </a:r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C0488769-3A5D-13F8-2829-6F19D757EB60}"/>
              </a:ext>
            </a:extLst>
          </p:cNvPr>
          <p:cNvSpPr txBox="1"/>
          <p:nvPr/>
        </p:nvSpPr>
        <p:spPr>
          <a:xfrm>
            <a:off x="-257405" y="3412437"/>
            <a:ext cx="1063207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0D0D0D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资产应用</a:t>
            </a:r>
            <a:r>
              <a:rPr lang="en-US" altLang="zh-CN" sz="1200" b="1" dirty="0">
                <a:solidFill>
                  <a:srgbClr val="0D0D0D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r>
              <a:rPr lang="zh-CN" altLang="en-US" sz="1200" b="1" dirty="0">
                <a:solidFill>
                  <a:srgbClr val="0D0D0D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榜单及合集</a:t>
            </a:r>
            <a:endParaRPr lang="en-US" altLang="zh-CN" sz="1200" b="1" dirty="0">
              <a:solidFill>
                <a:srgbClr val="0D0D0D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11F54D12-7DD6-3C0D-CCF0-21A30C7543EB}"/>
              </a:ext>
            </a:extLst>
          </p:cNvPr>
          <p:cNvSpPr txBox="1"/>
          <p:nvPr/>
        </p:nvSpPr>
        <p:spPr>
          <a:xfrm>
            <a:off x="-234821" y="5335619"/>
            <a:ext cx="1091031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资产计算及数据</a:t>
            </a:r>
            <a:endParaRPr lang="en-US" altLang="zh-CN" sz="1200" dirty="0">
              <a:solidFill>
                <a:srgbClr val="0D0D0D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9B246921-C13B-E241-A74D-BAC33421D909}"/>
              </a:ext>
            </a:extLst>
          </p:cNvPr>
          <p:cNvSpPr txBox="1"/>
          <p:nvPr/>
        </p:nvSpPr>
        <p:spPr>
          <a:xfrm>
            <a:off x="-257405" y="6211569"/>
            <a:ext cx="1157618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商家牵引</a:t>
            </a:r>
            <a:endParaRPr lang="en-US" altLang="zh-CN" sz="1200" dirty="0">
              <a:solidFill>
                <a:srgbClr val="0D0D0D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0" name="矩形: 圆角 179">
            <a:extLst>
              <a:ext uri="{FF2B5EF4-FFF2-40B4-BE49-F238E27FC236}">
                <a16:creationId xmlns:a16="http://schemas.microsoft.com/office/drawing/2014/main" id="{EE6DBA89-EF2B-E90A-2544-712E86CD3F96}"/>
              </a:ext>
            </a:extLst>
          </p:cNvPr>
          <p:cNvSpPr/>
          <p:nvPr/>
        </p:nvSpPr>
        <p:spPr>
          <a:xfrm>
            <a:off x="1069129" y="2959876"/>
            <a:ext cx="2700000" cy="58320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当地人推荐</a:t>
            </a:r>
            <a:endParaRPr lang="en-US" altLang="zh-CN" sz="12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1200" dirty="0">
                <a:solidFill>
                  <a:srgbClr val="FFA6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县域扩城、非遗子榜</a:t>
            </a:r>
            <a:endParaRPr lang="en-US" altLang="zh-CN" sz="1200" dirty="0">
              <a:solidFill>
                <a:srgbClr val="FFA6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12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优化专项、美团资产成榜对比扩量</a:t>
            </a:r>
            <a:endParaRPr lang="en-US" altLang="zh-CN" sz="12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E9571A97-7180-C738-3CBE-D733C3D15F69}"/>
              </a:ext>
            </a:extLst>
          </p:cNvPr>
          <p:cNvSpPr/>
          <p:nvPr/>
        </p:nvSpPr>
        <p:spPr>
          <a:xfrm>
            <a:off x="1064795" y="5327548"/>
            <a:ext cx="2704334" cy="475149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GC</a:t>
            </a:r>
            <a:r>
              <a:rPr lang="zh-CN" altLang="en-US" sz="1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及履约组合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12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预订履约规则联动</a:t>
            </a:r>
            <a:r>
              <a:rPr lang="zh-CN" altLang="en-US" sz="1200" dirty="0">
                <a:solidFill>
                  <a:schemeClr val="bg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，智点联动</a:t>
            </a:r>
            <a:endParaRPr lang="en-US" altLang="zh-CN" sz="1200" dirty="0">
              <a:solidFill>
                <a:schemeClr val="bg2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7" name="矩形 186">
            <a:extLst>
              <a:ext uri="{FF2B5EF4-FFF2-40B4-BE49-F238E27FC236}">
                <a16:creationId xmlns:a16="http://schemas.microsoft.com/office/drawing/2014/main" id="{04C55455-7951-C107-EDB6-C57FD5A2388C}"/>
              </a:ext>
            </a:extLst>
          </p:cNvPr>
          <p:cNvSpPr/>
          <p:nvPr/>
        </p:nvSpPr>
        <p:spPr>
          <a:xfrm>
            <a:off x="6962982" y="5337124"/>
            <a:ext cx="2648802" cy="482977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好店挖掘</a:t>
            </a:r>
            <a:r>
              <a:rPr lang="en-US" altLang="zh-CN" sz="1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坏店清退</a:t>
            </a:r>
            <a:endParaRPr lang="en-US" altLang="zh-CN" sz="12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1200" dirty="0">
                <a:solidFill>
                  <a:schemeClr val="accent6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top</a:t>
            </a:r>
            <a:r>
              <a:rPr lang="zh-CN" altLang="en-US" sz="1200" dirty="0">
                <a:solidFill>
                  <a:schemeClr val="accent6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预订</a:t>
            </a:r>
            <a:r>
              <a:rPr lang="en-US" altLang="zh-CN" sz="1200" dirty="0">
                <a:solidFill>
                  <a:schemeClr val="accent6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1200" dirty="0">
                <a:solidFill>
                  <a:schemeClr val="accent6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收藏</a:t>
            </a:r>
            <a:r>
              <a:rPr lang="zh-CN" altLang="en-US" sz="1200" dirty="0">
                <a:solidFill>
                  <a:schemeClr val="accent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等好店</a:t>
            </a:r>
            <a:r>
              <a:rPr lang="zh-CN" altLang="en-US" sz="1200" dirty="0">
                <a:solidFill>
                  <a:schemeClr val="accent6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挖掘链路</a:t>
            </a:r>
          </a:p>
        </p:txBody>
      </p:sp>
      <p:sp>
        <p:nvSpPr>
          <p:cNvPr id="190" name="矩形 189">
            <a:extLst>
              <a:ext uri="{FF2B5EF4-FFF2-40B4-BE49-F238E27FC236}">
                <a16:creationId xmlns:a16="http://schemas.microsoft.com/office/drawing/2014/main" id="{32D1DD92-27E0-B5EC-AD01-A2D52BC3A4A1}"/>
              </a:ext>
            </a:extLst>
          </p:cNvPr>
          <p:cNvSpPr/>
          <p:nvPr/>
        </p:nvSpPr>
        <p:spPr>
          <a:xfrm>
            <a:off x="6962982" y="6140114"/>
            <a:ext cx="2648802" cy="386257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榜单商户供给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1200" dirty="0">
                <a:solidFill>
                  <a:schemeClr val="accent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榜单高搜池新签、供给做功</a:t>
            </a:r>
            <a:endParaRPr lang="en-US" altLang="zh-CN" sz="1200" dirty="0">
              <a:solidFill>
                <a:schemeClr val="accent6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1" name="矩形 190">
            <a:extLst>
              <a:ext uri="{FF2B5EF4-FFF2-40B4-BE49-F238E27FC236}">
                <a16:creationId xmlns:a16="http://schemas.microsoft.com/office/drawing/2014/main" id="{74371F43-54EB-CABB-0F19-558614A1E98B}"/>
              </a:ext>
            </a:extLst>
          </p:cNvPr>
          <p:cNvSpPr/>
          <p:nvPr/>
        </p:nvSpPr>
        <p:spPr>
          <a:xfrm>
            <a:off x="4018767" y="6132499"/>
            <a:ext cx="2666269" cy="39387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荣誉强化</a:t>
            </a:r>
            <a:r>
              <a:rPr lang="en-US" altLang="zh-CN" sz="1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&amp;</a:t>
            </a:r>
            <a:r>
              <a:rPr lang="zh-CN" altLang="en-US" sz="1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线下物料覆盖</a:t>
            </a:r>
            <a:endParaRPr lang="en-US" altLang="zh-CN" sz="12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1200" dirty="0">
                <a:solidFill>
                  <a:schemeClr val="accent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当地人推荐榜物料定稿、铺设</a:t>
            </a:r>
          </a:p>
        </p:txBody>
      </p:sp>
      <p:sp>
        <p:nvSpPr>
          <p:cNvPr id="201" name="矩形: 圆角 200">
            <a:extLst>
              <a:ext uri="{FF2B5EF4-FFF2-40B4-BE49-F238E27FC236}">
                <a16:creationId xmlns:a16="http://schemas.microsoft.com/office/drawing/2014/main" id="{16A5767D-B635-F162-E5C4-8DCB735DEBD2}"/>
              </a:ext>
            </a:extLst>
          </p:cNvPr>
          <p:cNvSpPr/>
          <p:nvPr/>
        </p:nvSpPr>
        <p:spPr>
          <a:xfrm>
            <a:off x="893578" y="2240296"/>
            <a:ext cx="5900728" cy="2772470"/>
          </a:xfrm>
          <a:prstGeom prst="round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02" name="矩形 201">
            <a:extLst>
              <a:ext uri="{FF2B5EF4-FFF2-40B4-BE49-F238E27FC236}">
                <a16:creationId xmlns:a16="http://schemas.microsoft.com/office/drawing/2014/main" id="{BB12C0A8-6A46-F771-9047-53768FB23C88}"/>
              </a:ext>
            </a:extLst>
          </p:cNvPr>
          <p:cNvSpPr/>
          <p:nvPr/>
        </p:nvSpPr>
        <p:spPr>
          <a:xfrm>
            <a:off x="4018767" y="5337124"/>
            <a:ext cx="2666269" cy="475149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规则设计</a:t>
            </a:r>
            <a:endParaRPr lang="en-US" altLang="zh-CN" sz="12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1200" dirty="0">
                <a:solidFill>
                  <a:srgbClr val="FFC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当地人推荐美团资产试点</a:t>
            </a:r>
            <a:r>
              <a:rPr lang="zh-CN" altLang="en-US" sz="1200" dirty="0">
                <a:solidFill>
                  <a:schemeClr val="accent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、菜榜试点</a:t>
            </a:r>
          </a:p>
        </p:txBody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8663353C-9751-B173-A6CC-3C95AF78A397}"/>
              </a:ext>
            </a:extLst>
          </p:cNvPr>
          <p:cNvSpPr/>
          <p:nvPr/>
        </p:nvSpPr>
        <p:spPr>
          <a:xfrm>
            <a:off x="1064796" y="6137846"/>
            <a:ext cx="2704333" cy="39387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商户指导</a:t>
            </a:r>
            <a:r>
              <a:rPr lang="en-US" altLang="zh-CN" sz="1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&amp;</a:t>
            </a:r>
            <a:r>
              <a:rPr lang="zh-CN" altLang="en-US" sz="1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诊断工具</a:t>
            </a:r>
            <a:endParaRPr lang="en-US" altLang="zh-CN" sz="12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场景榜牵引指南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08" name="文本框 207">
            <a:extLst>
              <a:ext uri="{FF2B5EF4-FFF2-40B4-BE49-F238E27FC236}">
                <a16:creationId xmlns:a16="http://schemas.microsoft.com/office/drawing/2014/main" id="{DF915892-9878-21E4-F628-06C813229A15}"/>
              </a:ext>
            </a:extLst>
          </p:cNvPr>
          <p:cNvSpPr txBox="1"/>
          <p:nvPr/>
        </p:nvSpPr>
        <p:spPr>
          <a:xfrm>
            <a:off x="-5414" y="7299188"/>
            <a:ext cx="4953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信任</a:t>
            </a:r>
            <a:endParaRPr lang="en-US" altLang="zh-CN" sz="1200" dirty="0">
              <a:solidFill>
                <a:srgbClr val="0D0D0D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09" name="矩形: 圆角 208">
            <a:extLst>
              <a:ext uri="{FF2B5EF4-FFF2-40B4-BE49-F238E27FC236}">
                <a16:creationId xmlns:a16="http://schemas.microsoft.com/office/drawing/2014/main" id="{420D0536-D5A5-37B6-1B32-AF19C15FB150}"/>
              </a:ext>
            </a:extLst>
          </p:cNvPr>
          <p:cNvSpPr/>
          <p:nvPr/>
        </p:nvSpPr>
        <p:spPr>
          <a:xfrm>
            <a:off x="5372864" y="7347048"/>
            <a:ext cx="1014244" cy="31958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线下物料</a:t>
            </a:r>
            <a:endParaRPr lang="en-US" altLang="zh-CN" sz="12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10" name="矩形: 圆角 209">
            <a:extLst>
              <a:ext uri="{FF2B5EF4-FFF2-40B4-BE49-F238E27FC236}">
                <a16:creationId xmlns:a16="http://schemas.microsoft.com/office/drawing/2014/main" id="{63E05CD6-5D76-2F03-98FC-8B8366FF9A82}"/>
              </a:ext>
            </a:extLst>
          </p:cNvPr>
          <p:cNvSpPr/>
          <p:nvPr/>
        </p:nvSpPr>
        <p:spPr>
          <a:xfrm>
            <a:off x="684631" y="7293122"/>
            <a:ext cx="2216401" cy="301037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toC</a:t>
            </a:r>
            <a:r>
              <a:rPr lang="en-US" altLang="zh-CN" sz="1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r>
              <a:rPr lang="zh-CN" altLang="en-US" sz="1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市场宣发</a:t>
            </a:r>
            <a:endParaRPr lang="en-US" altLang="zh-CN" sz="12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11" name="矩形: 圆角 210">
            <a:extLst>
              <a:ext uri="{FF2B5EF4-FFF2-40B4-BE49-F238E27FC236}">
                <a16:creationId xmlns:a16="http://schemas.microsoft.com/office/drawing/2014/main" id="{554CD493-BA20-D256-46FF-9646C4AE6FC8}"/>
              </a:ext>
            </a:extLst>
          </p:cNvPr>
          <p:cNvSpPr/>
          <p:nvPr/>
        </p:nvSpPr>
        <p:spPr>
          <a:xfrm>
            <a:off x="7201396" y="7290042"/>
            <a:ext cx="1014244" cy="31958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政府共建</a:t>
            </a:r>
            <a:endParaRPr lang="en-US" altLang="zh-CN" sz="12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C5D7130-2929-766C-B791-A2E2585D4434}"/>
              </a:ext>
            </a:extLst>
          </p:cNvPr>
          <p:cNvSpPr/>
          <p:nvPr/>
        </p:nvSpPr>
        <p:spPr>
          <a:xfrm>
            <a:off x="889530" y="5232517"/>
            <a:ext cx="8865558" cy="645908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97C7F1E-2631-7B22-9736-73E5B0B713C6}"/>
              </a:ext>
            </a:extLst>
          </p:cNvPr>
          <p:cNvSpPr/>
          <p:nvPr/>
        </p:nvSpPr>
        <p:spPr>
          <a:xfrm>
            <a:off x="889530" y="6013860"/>
            <a:ext cx="8865558" cy="594313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DE43E71-9614-7573-A2DD-6CBD6417F7E3}"/>
              </a:ext>
            </a:extLst>
          </p:cNvPr>
          <p:cNvSpPr/>
          <p:nvPr/>
        </p:nvSpPr>
        <p:spPr>
          <a:xfrm>
            <a:off x="-3928682" y="2703602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酒旅等业务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cross</a:t>
            </a:r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D5A90A82-5993-B00A-F1F3-F401E5CB7E1E}"/>
              </a:ext>
            </a:extLst>
          </p:cNvPr>
          <p:cNvSpPr/>
          <p:nvPr/>
        </p:nvSpPr>
        <p:spPr>
          <a:xfrm>
            <a:off x="6954754" y="2497784"/>
            <a:ext cx="2657030" cy="3938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合集</a:t>
            </a:r>
            <a:r>
              <a:rPr lang="en-US" altLang="zh-CN" sz="1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r>
              <a:rPr lang="zh-CN" altLang="en-US" sz="1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个性化榜单</a:t>
            </a: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zh-CN" altLang="en-US" sz="1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合集）</a:t>
            </a:r>
            <a:endParaRPr lang="en-US" altLang="zh-CN" sz="12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0" name="矩形: 圆角 169">
            <a:extLst>
              <a:ext uri="{FF2B5EF4-FFF2-40B4-BE49-F238E27FC236}">
                <a16:creationId xmlns:a16="http://schemas.microsoft.com/office/drawing/2014/main" id="{1827C1D9-EAC9-C3D7-2B61-2C396369F2DF}"/>
              </a:ext>
            </a:extLst>
          </p:cNvPr>
          <p:cNvSpPr/>
          <p:nvPr/>
        </p:nvSpPr>
        <p:spPr>
          <a:xfrm>
            <a:off x="6863236" y="2241869"/>
            <a:ext cx="2891852" cy="2770897"/>
          </a:xfrm>
          <a:prstGeom prst="round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5AD5D572-DC7C-2580-5E47-E7CE2E7DF6B8}"/>
              </a:ext>
            </a:extLst>
          </p:cNvPr>
          <p:cNvSpPr/>
          <p:nvPr/>
        </p:nvSpPr>
        <p:spPr>
          <a:xfrm>
            <a:off x="-4120966" y="3537931"/>
            <a:ext cx="1587106" cy="223058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Push/Sug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产品化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9892DF0D-94D6-58E6-3735-260C168B45DD}"/>
              </a:ext>
            </a:extLst>
          </p:cNvPr>
          <p:cNvSpPr/>
          <p:nvPr/>
        </p:nvSpPr>
        <p:spPr>
          <a:xfrm>
            <a:off x="7752339" y="-259796"/>
            <a:ext cx="2002749" cy="24485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rgbClr val="FFC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lang="zh-CN" altLang="en-US" sz="1200" b="1" dirty="0">
                <a:solidFill>
                  <a:srgbClr val="FFC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月</a:t>
            </a:r>
            <a:r>
              <a:rPr lang="en-US" altLang="zh-CN" sz="1200" b="1" dirty="0">
                <a:solidFill>
                  <a:schemeClr val="accent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-&gt;8</a:t>
            </a:r>
            <a:r>
              <a:rPr lang="zh-CN" altLang="en-US" sz="1200" b="1" dirty="0">
                <a:solidFill>
                  <a:schemeClr val="accent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月</a:t>
            </a:r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-&gt;9</a:t>
            </a: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月后计划</a:t>
            </a:r>
            <a:endParaRPr lang="en-US" altLang="zh-CN" sz="1200" b="1" dirty="0">
              <a:solidFill>
                <a:schemeClr val="bg1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296DC8E8-75D6-1B24-464B-2008CDB879EF}"/>
              </a:ext>
            </a:extLst>
          </p:cNvPr>
          <p:cNvSpPr/>
          <p:nvPr/>
        </p:nvSpPr>
        <p:spPr>
          <a:xfrm>
            <a:off x="1064796" y="686899"/>
            <a:ext cx="2743457" cy="58320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场景前置触达</a:t>
            </a:r>
            <a:endParaRPr lang="en-US" altLang="zh-CN" sz="12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1200" dirty="0">
                <a:solidFill>
                  <a:srgbClr val="FFA6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猜喜全量、渠道投放、地图榜单找店</a:t>
            </a:r>
            <a:endParaRPr lang="en-US" altLang="zh-CN" sz="1200" dirty="0">
              <a:solidFill>
                <a:srgbClr val="FFA6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12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猜喜策略优化、</a:t>
            </a: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push</a:t>
            </a:r>
            <a:r>
              <a:rPr lang="zh-CN" altLang="en-US" sz="1200" dirty="0">
                <a:solidFill>
                  <a:schemeClr val="bg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产品化</a:t>
            </a:r>
            <a:endParaRPr lang="en-US" altLang="zh-CN" sz="1200" dirty="0">
              <a:solidFill>
                <a:schemeClr val="bg2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EA56D90-9F42-F020-C541-776D7C6A204E}"/>
              </a:ext>
            </a:extLst>
          </p:cNvPr>
          <p:cNvSpPr/>
          <p:nvPr/>
        </p:nvSpPr>
        <p:spPr>
          <a:xfrm>
            <a:off x="-2240648" y="-1450772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个性化分发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5BA0615B-D969-CD26-675B-54A9462E5B14}"/>
              </a:ext>
            </a:extLst>
          </p:cNvPr>
          <p:cNvSpPr/>
          <p:nvPr/>
        </p:nvSpPr>
        <p:spPr>
          <a:xfrm>
            <a:off x="-2241033" y="-1144351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酒旅等业务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cross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748D412-E34C-468A-3B96-3A2C844BE5C2}"/>
              </a:ext>
            </a:extLst>
          </p:cNvPr>
          <p:cNvSpPr/>
          <p:nvPr/>
        </p:nvSpPr>
        <p:spPr>
          <a:xfrm>
            <a:off x="1108254" y="150232"/>
            <a:ext cx="2700000" cy="4248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动线建设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0E6F3A9-8406-2698-69E8-AC3FADBE7B44}"/>
              </a:ext>
            </a:extLst>
          </p:cNvPr>
          <p:cNvSpPr/>
          <p:nvPr/>
        </p:nvSpPr>
        <p:spPr>
          <a:xfrm>
            <a:off x="4020626" y="130734"/>
            <a:ext cx="2700000" cy="4248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资产表达强化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C42327D-3A11-8B12-B8F5-61914781EC5F}"/>
              </a:ext>
            </a:extLst>
          </p:cNvPr>
          <p:cNvSpPr/>
          <p:nvPr/>
        </p:nvSpPr>
        <p:spPr>
          <a:xfrm>
            <a:off x="6932998" y="150232"/>
            <a:ext cx="2657030" cy="4248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交履组合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7874F24A-D0E8-F900-F6C9-A91A71E01EBE}"/>
              </a:ext>
            </a:extLst>
          </p:cNvPr>
          <p:cNvSpPr/>
          <p:nvPr/>
        </p:nvSpPr>
        <p:spPr>
          <a:xfrm>
            <a:off x="1094784" y="1401058"/>
            <a:ext cx="2743457" cy="58320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大搜链路强化</a:t>
            </a:r>
            <a:endParaRPr lang="en-US" altLang="zh-CN" sz="12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12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搜索下挂灰度及数据效果回收</a:t>
            </a:r>
            <a:endParaRPr lang="en-US" altLang="zh-CN" sz="12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584A3E6F-7FFB-3C36-5FC3-FDB66B75AED1}"/>
              </a:ext>
            </a:extLst>
          </p:cNvPr>
          <p:cNvSpPr/>
          <p:nvPr/>
        </p:nvSpPr>
        <p:spPr>
          <a:xfrm>
            <a:off x="1069129" y="3594242"/>
            <a:ext cx="2700000" cy="58320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约会榜</a:t>
            </a:r>
            <a:endParaRPr lang="en-US" altLang="zh-CN" sz="12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12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规则加强履约组合、榜单更新</a:t>
            </a:r>
            <a:endParaRPr lang="en-US" altLang="zh-CN" sz="12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3F5AD386-BAB5-09DC-53B1-3476B096A033}"/>
              </a:ext>
            </a:extLst>
          </p:cNvPr>
          <p:cNvSpPr/>
          <p:nvPr/>
        </p:nvSpPr>
        <p:spPr>
          <a:xfrm>
            <a:off x="1069129" y="4235706"/>
            <a:ext cx="2700000" cy="58320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新场景探索</a:t>
            </a:r>
            <a:r>
              <a:rPr lang="en-US" altLang="zh-CN" sz="1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r>
              <a:rPr lang="zh-CN" altLang="en-US" sz="1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宴聚榜</a:t>
            </a:r>
            <a:endParaRPr lang="en-US" altLang="zh-CN" sz="12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1200" dirty="0">
                <a:solidFill>
                  <a:schemeClr val="bg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试点建设商务宴</a:t>
            </a: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1200" dirty="0">
                <a:solidFill>
                  <a:schemeClr val="bg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生日宴</a:t>
            </a: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1200" dirty="0">
                <a:solidFill>
                  <a:schemeClr val="bg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大聚场景</a:t>
            </a: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E948254B-3BB0-0BE4-930E-F9F691127490}"/>
              </a:ext>
            </a:extLst>
          </p:cNvPr>
          <p:cNvSpPr/>
          <p:nvPr/>
        </p:nvSpPr>
        <p:spPr>
          <a:xfrm>
            <a:off x="3972337" y="2959876"/>
            <a:ext cx="2700000" cy="58320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品类扩充</a:t>
            </a:r>
            <a:endParaRPr lang="en-US" altLang="zh-CN" sz="12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1200" dirty="0">
                <a:solidFill>
                  <a:srgbClr val="FFA6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扩充</a:t>
            </a:r>
            <a:r>
              <a:rPr lang="en-US" altLang="zh-CN" sz="1200" dirty="0">
                <a:solidFill>
                  <a:srgbClr val="FFA6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lang="zh-CN" altLang="en-US" sz="1200" dirty="0">
                <a:solidFill>
                  <a:srgbClr val="FFA6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个高需品类</a:t>
            </a:r>
            <a:endParaRPr lang="en-US" altLang="zh-CN" sz="1200" dirty="0">
              <a:solidFill>
                <a:srgbClr val="FFA6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98005206-C85F-08E8-81DF-ECF5958D0CDF}"/>
              </a:ext>
            </a:extLst>
          </p:cNvPr>
          <p:cNvSpPr/>
          <p:nvPr/>
        </p:nvSpPr>
        <p:spPr>
          <a:xfrm>
            <a:off x="3987685" y="3594242"/>
            <a:ext cx="2684652" cy="578738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维度补齐</a:t>
            </a:r>
            <a:endParaRPr lang="en-US" altLang="zh-CN" sz="12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12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试点美团资产特色菜榜</a:t>
            </a:r>
            <a:r>
              <a:rPr lang="en-US" altLang="zh-CN" sz="1200" dirty="0">
                <a:solidFill>
                  <a:schemeClr val="accent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1200" dirty="0">
                <a:solidFill>
                  <a:schemeClr val="bg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探索新店榜</a:t>
            </a:r>
            <a:endParaRPr lang="en-US" altLang="zh-CN" sz="1200" dirty="0">
              <a:solidFill>
                <a:schemeClr val="bg2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F2CA3562-8758-E6DB-DA88-6F4EB9F32D69}"/>
              </a:ext>
            </a:extLst>
          </p:cNvPr>
          <p:cNvSpPr/>
          <p:nvPr/>
        </p:nvSpPr>
        <p:spPr>
          <a:xfrm>
            <a:off x="4006068" y="4222232"/>
            <a:ext cx="2684652" cy="578738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优化密度</a:t>
            </a:r>
            <a:endParaRPr lang="en-US" altLang="zh-CN" sz="12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1200" dirty="0">
                <a:solidFill>
                  <a:schemeClr val="bg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指数榜密度约束优化</a:t>
            </a:r>
            <a:endParaRPr lang="en-US" altLang="zh-CN" sz="1200" dirty="0">
              <a:solidFill>
                <a:schemeClr val="bg2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72C35CEA-E28F-BDC1-6566-5F9B9C5A7370}"/>
              </a:ext>
            </a:extLst>
          </p:cNvPr>
          <p:cNvSpPr/>
          <p:nvPr/>
        </p:nvSpPr>
        <p:spPr>
          <a:xfrm>
            <a:off x="6954754" y="2984679"/>
            <a:ext cx="2700000" cy="58320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用户个人资产</a:t>
            </a:r>
            <a:endParaRPr lang="en-US" altLang="zh-CN" sz="12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12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个人资产数据整理及线上服务可调用</a:t>
            </a:r>
            <a:endParaRPr lang="en-US" altLang="zh-CN" sz="12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CBCEA2C9-7F34-3AAF-C110-CE5B2AF4B76D}"/>
              </a:ext>
            </a:extLst>
          </p:cNvPr>
          <p:cNvSpPr/>
          <p:nvPr/>
        </p:nvSpPr>
        <p:spPr>
          <a:xfrm>
            <a:off x="6962982" y="4237008"/>
            <a:ext cx="2700000" cy="58320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游戏化玩法</a:t>
            </a:r>
            <a:endParaRPr lang="en-US" altLang="zh-CN" sz="12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1200" dirty="0">
                <a:solidFill>
                  <a:schemeClr val="bg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报告</a:t>
            </a: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1200" dirty="0">
                <a:solidFill>
                  <a:schemeClr val="bg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地图集卡</a:t>
            </a: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1200" dirty="0">
                <a:solidFill>
                  <a:schemeClr val="bg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人格等</a:t>
            </a:r>
            <a:r>
              <a:rPr lang="zh-CN" altLang="en-US" sz="12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详案</a:t>
            </a:r>
            <a:r>
              <a:rPr lang="zh-CN" altLang="en-US" sz="1200" dirty="0">
                <a:solidFill>
                  <a:schemeClr val="bg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及上线</a:t>
            </a:r>
            <a:endParaRPr lang="en-US" altLang="zh-CN" sz="1200" dirty="0">
              <a:solidFill>
                <a:schemeClr val="bg2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29B316F1-B79C-4662-B989-2E7030112548}"/>
              </a:ext>
            </a:extLst>
          </p:cNvPr>
          <p:cNvSpPr/>
          <p:nvPr/>
        </p:nvSpPr>
        <p:spPr>
          <a:xfrm>
            <a:off x="6962982" y="3617694"/>
            <a:ext cx="2700000" cy="58320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个性化合集</a:t>
            </a:r>
            <a:endParaRPr lang="en-US" altLang="zh-CN" sz="12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12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个性化分发策略及</a:t>
            </a:r>
            <a:r>
              <a:rPr lang="zh-CN" altLang="en-US" sz="1200" dirty="0">
                <a:solidFill>
                  <a:schemeClr val="bg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上线</a:t>
            </a:r>
            <a:endParaRPr lang="en-US" altLang="zh-CN" sz="1200" dirty="0">
              <a:solidFill>
                <a:schemeClr val="bg2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E86BD1CF-FCB7-ACE6-3A73-8BFD5AF22966}"/>
              </a:ext>
            </a:extLst>
          </p:cNvPr>
          <p:cNvSpPr/>
          <p:nvPr/>
        </p:nvSpPr>
        <p:spPr>
          <a:xfrm>
            <a:off x="889530" y="-813341"/>
            <a:ext cx="8865558" cy="4952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夯实榜单心智体验及质量，持续丰富用户决策场景及应用</a:t>
            </a:r>
          </a:p>
        </p:txBody>
      </p:sp>
      <p:sp>
        <p:nvSpPr>
          <p:cNvPr id="131" name="矩形: 圆角 130">
            <a:extLst>
              <a:ext uri="{FF2B5EF4-FFF2-40B4-BE49-F238E27FC236}">
                <a16:creationId xmlns:a16="http://schemas.microsoft.com/office/drawing/2014/main" id="{8EBC9F97-52CC-767C-3BC6-B244BB56EFC1}"/>
              </a:ext>
            </a:extLst>
          </p:cNvPr>
          <p:cNvSpPr/>
          <p:nvPr/>
        </p:nvSpPr>
        <p:spPr>
          <a:xfrm>
            <a:off x="6932997" y="1405906"/>
            <a:ext cx="2657030" cy="58320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排队产品组合</a:t>
            </a:r>
            <a:r>
              <a:rPr lang="en-US" altLang="zh-CN" sz="1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表达</a:t>
            </a:r>
            <a:endParaRPr lang="en-US" altLang="zh-CN" sz="1200" dirty="0">
              <a:solidFill>
                <a:srgbClr val="FFA6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排队及排队加速融入</a:t>
            </a:r>
          </a:p>
        </p:txBody>
      </p:sp>
    </p:spTree>
    <p:extLst>
      <p:ext uri="{BB962C8B-B14F-4D97-AF65-F5344CB8AC3E}">
        <p14:creationId xmlns:p14="http://schemas.microsoft.com/office/powerpoint/2010/main" val="2198625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图片 158">
            <a:extLst>
              <a:ext uri="{FF2B5EF4-FFF2-40B4-BE49-F238E27FC236}">
                <a16:creationId xmlns:a16="http://schemas.microsoft.com/office/drawing/2014/main" id="{715828CD-176B-7A07-67D6-727DD6B017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800" y="-9592104"/>
            <a:ext cx="9859850" cy="5658745"/>
          </a:xfrm>
          <a:prstGeom prst="rect">
            <a:avLst/>
          </a:prstGeom>
        </p:spPr>
      </p:pic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5" imgW="0" imgH="0" progId="TCLayout.ActiveDocument.1">
                  <p:embed/>
                </p:oleObj>
              </mc:Choice>
              <mc:Fallback>
                <p:oleObj name="think-cell 幻灯片" r:id="rId5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7A1B3C51-C11C-8CDC-B70A-FC80155E75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3509294" y="-7217939"/>
            <a:ext cx="8290411" cy="5892356"/>
          </a:xfrm>
          <a:prstGeom prst="rect">
            <a:avLst/>
          </a:prstGeom>
        </p:spPr>
      </p:pic>
      <p:sp>
        <p:nvSpPr>
          <p:cNvPr id="11" name="箭头: 五边形 10">
            <a:extLst>
              <a:ext uri="{FF2B5EF4-FFF2-40B4-BE49-F238E27FC236}">
                <a16:creationId xmlns:a16="http://schemas.microsoft.com/office/drawing/2014/main" id="{B082F2F7-1068-A9FA-BC97-33D268400DF0}"/>
              </a:ext>
            </a:extLst>
          </p:cNvPr>
          <p:cNvSpPr/>
          <p:nvPr/>
        </p:nvSpPr>
        <p:spPr>
          <a:xfrm>
            <a:off x="990379" y="-47832"/>
            <a:ext cx="1612788" cy="279502"/>
          </a:xfrm>
          <a:prstGeom prst="homePlat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灵感激发</a:t>
            </a:r>
          </a:p>
        </p:txBody>
      </p:sp>
      <p:sp>
        <p:nvSpPr>
          <p:cNvPr id="32" name="箭头: V 形 31">
            <a:extLst>
              <a:ext uri="{FF2B5EF4-FFF2-40B4-BE49-F238E27FC236}">
                <a16:creationId xmlns:a16="http://schemas.microsoft.com/office/drawing/2014/main" id="{23B7E120-07A6-1E17-2C38-F1211F948EC2}"/>
              </a:ext>
            </a:extLst>
          </p:cNvPr>
          <p:cNvSpPr/>
          <p:nvPr/>
        </p:nvSpPr>
        <p:spPr>
          <a:xfrm>
            <a:off x="2745443" y="-39440"/>
            <a:ext cx="1693090" cy="279502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信息获取</a:t>
            </a:r>
          </a:p>
        </p:txBody>
      </p:sp>
      <p:sp>
        <p:nvSpPr>
          <p:cNvPr id="33" name="箭头: V 形 32">
            <a:extLst>
              <a:ext uri="{FF2B5EF4-FFF2-40B4-BE49-F238E27FC236}">
                <a16:creationId xmlns:a16="http://schemas.microsoft.com/office/drawing/2014/main" id="{578D6870-D1E8-3DAC-323B-2CCE709222CC}"/>
              </a:ext>
            </a:extLst>
          </p:cNvPr>
          <p:cNvSpPr/>
          <p:nvPr/>
        </p:nvSpPr>
        <p:spPr>
          <a:xfrm>
            <a:off x="4496634" y="-39440"/>
            <a:ext cx="1615417" cy="279502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对比选择</a:t>
            </a:r>
          </a:p>
        </p:txBody>
      </p:sp>
      <p:sp>
        <p:nvSpPr>
          <p:cNvPr id="34" name="箭头: V 形 33">
            <a:extLst>
              <a:ext uri="{FF2B5EF4-FFF2-40B4-BE49-F238E27FC236}">
                <a16:creationId xmlns:a16="http://schemas.microsoft.com/office/drawing/2014/main" id="{A57D9564-2307-01BC-C554-262A5E1E06B4}"/>
              </a:ext>
            </a:extLst>
          </p:cNvPr>
          <p:cNvSpPr/>
          <p:nvPr/>
        </p:nvSpPr>
        <p:spPr>
          <a:xfrm>
            <a:off x="6261139" y="-39440"/>
            <a:ext cx="1603355" cy="279502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决策闭环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22E22ED-68B4-3641-2F15-3AF32D9C8A5F}"/>
              </a:ext>
            </a:extLst>
          </p:cNvPr>
          <p:cNvSpPr txBox="1"/>
          <p:nvPr/>
        </p:nvSpPr>
        <p:spPr>
          <a:xfrm>
            <a:off x="-348942" y="1198554"/>
            <a:ext cx="11222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资产表达</a:t>
            </a:r>
            <a:r>
              <a:rPr lang="en-US" altLang="zh-CN" sz="1200" dirty="0">
                <a:solidFill>
                  <a:srgbClr val="0D0D0D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用户动线体验及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38D451EC-16D1-A308-D849-283B61C34176}"/>
              </a:ext>
            </a:extLst>
          </p:cNvPr>
          <p:cNvSpPr/>
          <p:nvPr/>
        </p:nvSpPr>
        <p:spPr>
          <a:xfrm>
            <a:off x="-2590041" y="3177480"/>
            <a:ext cx="1587106" cy="223058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猜喜全量</a:t>
            </a:r>
            <a:r>
              <a:rPr lang="en-US" altLang="zh-CN" sz="1200" b="1" dirty="0">
                <a:solidFill>
                  <a:schemeClr val="accent6"/>
                </a:solidFill>
                <a:latin typeface="+mn-ea"/>
              </a:rPr>
              <a:t>-&gt;</a:t>
            </a:r>
            <a:r>
              <a:rPr lang="zh-CN" altLang="en-US" sz="1200" b="1" dirty="0">
                <a:solidFill>
                  <a:schemeClr val="accent6"/>
                </a:solidFill>
                <a:latin typeface="+mn-ea"/>
              </a:rPr>
              <a:t>策略调优</a:t>
            </a:r>
            <a:endParaRPr lang="en-US" altLang="zh-CN" sz="1200" b="1" dirty="0">
              <a:solidFill>
                <a:schemeClr val="accent6"/>
              </a:solidFill>
              <a:latin typeface="+mn-ea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9B71615D-9AE1-8154-EFCE-D4D49F1E2286}"/>
              </a:ext>
            </a:extLst>
          </p:cNvPr>
          <p:cNvSpPr/>
          <p:nvPr/>
        </p:nvSpPr>
        <p:spPr>
          <a:xfrm>
            <a:off x="17445085" y="-4801529"/>
            <a:ext cx="1512353" cy="427313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搜索比较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榜单页筛选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A0E6F357-F58D-8096-BEC3-7F07760C29B3}"/>
              </a:ext>
            </a:extLst>
          </p:cNvPr>
          <p:cNvSpPr/>
          <p:nvPr/>
        </p:nvSpPr>
        <p:spPr>
          <a:xfrm>
            <a:off x="2745442" y="293557"/>
            <a:ext cx="1695047" cy="58320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动线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x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榜单标签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rgbClr val="FFC000"/>
                </a:solidFill>
                <a:latin typeface="+mn-ea"/>
              </a:rPr>
              <a:t>？？？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4C87D21C-163C-E8E1-40B3-8831B4E3B853}"/>
              </a:ext>
            </a:extLst>
          </p:cNvPr>
          <p:cNvSpPr/>
          <p:nvPr/>
        </p:nvSpPr>
        <p:spPr>
          <a:xfrm>
            <a:off x="6265849" y="295810"/>
            <a:ext cx="1598645" cy="57154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履约产品组合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表达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rgbClr val="FFC000"/>
                </a:solidFill>
                <a:latin typeface="+mn-ea"/>
              </a:rPr>
              <a:t>约会榜</a:t>
            </a:r>
            <a:r>
              <a:rPr lang="en-US" altLang="zh-CN" sz="1200" dirty="0">
                <a:solidFill>
                  <a:srgbClr val="FFC000"/>
                </a:solidFill>
                <a:latin typeface="+mn-ea"/>
              </a:rPr>
              <a:t>+</a:t>
            </a:r>
            <a:r>
              <a:rPr lang="zh-CN" altLang="en-US" sz="1200" dirty="0">
                <a:solidFill>
                  <a:srgbClr val="FFC000"/>
                </a:solidFill>
                <a:latin typeface="+mn-ea"/>
              </a:rPr>
              <a:t>订座功能</a:t>
            </a:r>
            <a:endParaRPr lang="en-US" altLang="zh-CN" sz="1200" dirty="0">
              <a:solidFill>
                <a:srgbClr val="FFC000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accent6"/>
                </a:solidFill>
                <a:latin typeface="+mn-ea"/>
              </a:rPr>
              <a:t>七夕联动</a:t>
            </a:r>
            <a:r>
              <a:rPr lang="en-US" altLang="zh-CN" sz="1200" dirty="0">
                <a:solidFill>
                  <a:schemeClr val="accent6"/>
                </a:solidFill>
                <a:latin typeface="+mn-ea"/>
              </a:rPr>
              <a:t>SLA</a:t>
            </a:r>
            <a:r>
              <a:rPr lang="zh-CN" altLang="en-US" sz="1200" dirty="0">
                <a:solidFill>
                  <a:schemeClr val="accent6"/>
                </a:solidFill>
                <a:latin typeface="+mn-ea"/>
              </a:rPr>
              <a:t>试点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94298399-2182-A10B-64D4-F85F11573FAE}"/>
              </a:ext>
            </a:extLst>
          </p:cNvPr>
          <p:cNvSpPr/>
          <p:nvPr/>
        </p:nvSpPr>
        <p:spPr>
          <a:xfrm>
            <a:off x="21797876" y="-3318880"/>
            <a:ext cx="6960194" cy="2128937"/>
          </a:xfrm>
          <a:prstGeom prst="roundRect">
            <a:avLst>
              <a:gd name="adj" fmla="val 5571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8A64C5C6-87EA-13FE-E519-66D0D0018055}"/>
              </a:ext>
            </a:extLst>
          </p:cNvPr>
          <p:cNvSpPr txBox="1"/>
          <p:nvPr/>
        </p:nvSpPr>
        <p:spPr>
          <a:xfrm>
            <a:off x="9526619" y="-2925601"/>
            <a:ext cx="4953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决策环节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20DB24A-E215-28DB-3B37-DD09F60ED16D}"/>
              </a:ext>
            </a:extLst>
          </p:cNvPr>
          <p:cNvSpPr/>
          <p:nvPr/>
        </p:nvSpPr>
        <p:spPr>
          <a:xfrm>
            <a:off x="21872673" y="-2610182"/>
            <a:ext cx="1512353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区域</a:t>
            </a:r>
            <a:r>
              <a:rPr lang="en-US" altLang="zh-CN" sz="1200" dirty="0">
                <a:solidFill>
                  <a:schemeClr val="tx1"/>
                </a:solidFill>
              </a:rPr>
              <a:t>x</a:t>
            </a:r>
            <a:r>
              <a:rPr lang="zh-CN" altLang="en-US" sz="1200" dirty="0">
                <a:solidFill>
                  <a:schemeClr val="tx1"/>
                </a:solidFill>
              </a:rPr>
              <a:t>主题</a:t>
            </a:r>
            <a:r>
              <a:rPr lang="en-US" altLang="zh-CN" sz="1200" dirty="0">
                <a:solidFill>
                  <a:schemeClr val="tx1"/>
                </a:solidFill>
              </a:rPr>
              <a:t>x</a:t>
            </a:r>
            <a:r>
              <a:rPr lang="zh-CN" altLang="en-US" sz="1200" dirty="0">
                <a:solidFill>
                  <a:schemeClr val="tx1"/>
                </a:solidFill>
              </a:rPr>
              <a:t>供给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/>
          </a:p>
          <a:p>
            <a:pPr algn="ctr"/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优先节日场景，逐渐完善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894D3FD-BF09-99B7-602D-3387AB5D2EBB}"/>
              </a:ext>
            </a:extLst>
          </p:cNvPr>
          <p:cNvSpPr/>
          <p:nvPr/>
        </p:nvSpPr>
        <p:spPr>
          <a:xfrm>
            <a:off x="-2679482" y="0"/>
            <a:ext cx="1195011" cy="17681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品类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zh-CN" altLang="en-US" sz="1200" dirty="0"/>
              <a:t>地址</a:t>
            </a:r>
            <a:endParaRPr lang="en-US" altLang="zh-CN" sz="1200" dirty="0"/>
          </a:p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菜品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A3534B3-2320-6866-F3B4-A21000B4DA93}"/>
              </a:ext>
            </a:extLst>
          </p:cNvPr>
          <p:cNvSpPr/>
          <p:nvPr/>
        </p:nvSpPr>
        <p:spPr>
          <a:xfrm>
            <a:off x="25378928" y="-2603753"/>
            <a:ext cx="3276857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交易</a:t>
            </a:r>
            <a:r>
              <a:rPr lang="en-US" altLang="zh-CN" sz="1200" dirty="0"/>
              <a:t>/GC/</a:t>
            </a:r>
            <a:r>
              <a:rPr lang="zh-CN" altLang="en-US" sz="1200" dirty="0"/>
              <a:t>履约</a:t>
            </a:r>
            <a:r>
              <a:rPr lang="en-US" altLang="zh-CN" sz="1200" dirty="0"/>
              <a:t>/</a:t>
            </a:r>
            <a:r>
              <a:rPr lang="zh-CN" altLang="en-US" sz="1200" dirty="0"/>
              <a:t>用户行为</a:t>
            </a:r>
            <a:endParaRPr lang="en-US" altLang="zh-CN" sz="1200" dirty="0"/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规则算法优化、更匹配物理世界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E0E4B88C-8445-D05C-710B-2D11628A402D}"/>
              </a:ext>
            </a:extLst>
          </p:cNvPr>
          <p:cNvSpPr txBox="1"/>
          <p:nvPr/>
        </p:nvSpPr>
        <p:spPr>
          <a:xfrm>
            <a:off x="-2751344" y="-871618"/>
            <a:ext cx="28523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+mn-ea"/>
              </a:rPr>
              <a:t>8</a:t>
            </a:r>
            <a:r>
              <a:rPr lang="zh-CN" altLang="en-US" sz="1800" dirty="0">
                <a:latin typeface="+mn-ea"/>
              </a:rPr>
              <a:t>月夏站计划讨论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7566BC90-687D-1CCA-F15D-B4583002D94B}"/>
              </a:ext>
            </a:extLst>
          </p:cNvPr>
          <p:cNvSpPr/>
          <p:nvPr/>
        </p:nvSpPr>
        <p:spPr>
          <a:xfrm>
            <a:off x="21872672" y="-3108209"/>
            <a:ext cx="3265481" cy="3938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榜单矩阵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C83E41F-2D3A-D90D-D9AA-463CF0B6F26E}"/>
              </a:ext>
            </a:extLst>
          </p:cNvPr>
          <p:cNvSpPr/>
          <p:nvPr/>
        </p:nvSpPr>
        <p:spPr>
          <a:xfrm>
            <a:off x="25378928" y="-3108209"/>
            <a:ext cx="3276856" cy="3938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资产引用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94677B64-3188-EE25-5C1A-2BDACB69A98B}"/>
              </a:ext>
            </a:extLst>
          </p:cNvPr>
          <p:cNvSpPr txBox="1"/>
          <p:nvPr/>
        </p:nvSpPr>
        <p:spPr>
          <a:xfrm>
            <a:off x="25118206" y="-3046650"/>
            <a:ext cx="3091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/>
                </a:solidFill>
              </a:rPr>
              <a:t>x</a:t>
            </a:r>
            <a:endParaRPr lang="zh-CN" altLang="en-US" sz="1200" dirty="0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8F1B5AC7-0D6D-FAC6-6633-B45689E5DA13}"/>
              </a:ext>
            </a:extLst>
          </p:cNvPr>
          <p:cNvSpPr/>
          <p:nvPr/>
        </p:nvSpPr>
        <p:spPr>
          <a:xfrm>
            <a:off x="23625800" y="-2600524"/>
            <a:ext cx="1512354" cy="12540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区域</a:t>
            </a:r>
            <a:r>
              <a:rPr lang="en-US" altLang="zh-CN" sz="1200" dirty="0">
                <a:solidFill>
                  <a:schemeClr val="tx1"/>
                </a:solidFill>
              </a:rPr>
              <a:t>x</a:t>
            </a:r>
            <a:r>
              <a:rPr lang="zh-CN" altLang="en-US" sz="1200" dirty="0">
                <a:solidFill>
                  <a:schemeClr val="tx1"/>
                </a:solidFill>
              </a:rPr>
              <a:t>品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菜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地</a:t>
            </a:r>
            <a:r>
              <a:rPr lang="en-US" altLang="zh-CN" sz="1200" dirty="0">
                <a:solidFill>
                  <a:schemeClr val="tx1"/>
                </a:solidFill>
              </a:rPr>
              <a:t>x</a:t>
            </a:r>
            <a:r>
              <a:rPr lang="zh-CN" altLang="en-US" sz="1200" dirty="0">
                <a:solidFill>
                  <a:schemeClr val="tx1"/>
                </a:solidFill>
              </a:rPr>
              <a:t>供给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/>
          </a:p>
          <a:p>
            <a:pPr algn="ctr"/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完善可比维度、优化密度</a:t>
            </a:r>
          </a:p>
        </p:txBody>
      </p:sp>
      <p:sp>
        <p:nvSpPr>
          <p:cNvPr id="130" name="矩形: 圆角 129">
            <a:extLst>
              <a:ext uri="{FF2B5EF4-FFF2-40B4-BE49-F238E27FC236}">
                <a16:creationId xmlns:a16="http://schemas.microsoft.com/office/drawing/2014/main" id="{AA3B15C7-5997-2681-E82D-AF7D099C1E73}"/>
              </a:ext>
            </a:extLst>
          </p:cNvPr>
          <p:cNvSpPr/>
          <p:nvPr/>
        </p:nvSpPr>
        <p:spPr>
          <a:xfrm>
            <a:off x="788419" y="-141373"/>
            <a:ext cx="8966668" cy="2445319"/>
          </a:xfrm>
          <a:prstGeom prst="roundRect">
            <a:avLst>
              <a:gd name="adj" fmla="val 9742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20EB383-106E-64F1-F789-E6A48AFAB048}"/>
              </a:ext>
            </a:extLst>
          </p:cNvPr>
          <p:cNvSpPr/>
          <p:nvPr/>
        </p:nvSpPr>
        <p:spPr>
          <a:xfrm>
            <a:off x="1001717" y="2612632"/>
            <a:ext cx="2657030" cy="3938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IP</a:t>
            </a:r>
            <a:r>
              <a:rPr lang="zh-CN" altLang="en-US" sz="1200" dirty="0">
                <a:solidFill>
                  <a:schemeClr val="tx1"/>
                </a:solidFill>
              </a:rPr>
              <a:t>榜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扩大心智影响力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2712FA0B-17C3-10E3-D2E6-97F63A744DCC}"/>
              </a:ext>
            </a:extLst>
          </p:cNvPr>
          <p:cNvSpPr/>
          <p:nvPr/>
        </p:nvSpPr>
        <p:spPr>
          <a:xfrm>
            <a:off x="3893558" y="2609397"/>
            <a:ext cx="2700000" cy="4248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场景榜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养心智、提转化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6E777B9D-FF33-345F-DB3D-E189208670AF}"/>
              </a:ext>
            </a:extLst>
          </p:cNvPr>
          <p:cNvSpPr/>
          <p:nvPr/>
        </p:nvSpPr>
        <p:spPr>
          <a:xfrm>
            <a:off x="6838768" y="2609397"/>
            <a:ext cx="2700000" cy="4248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指数</a:t>
            </a:r>
            <a:r>
              <a:rPr lang="zh-CN" altLang="en-US" sz="1200" dirty="0"/>
              <a:t>榜</a:t>
            </a:r>
            <a:endParaRPr lang="en-US" altLang="zh-CN" sz="1200" dirty="0"/>
          </a:p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守约束、调结构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7D17E0FE-1230-318C-8F9C-95DF2C394DEC}"/>
              </a:ext>
            </a:extLst>
          </p:cNvPr>
          <p:cNvSpPr/>
          <p:nvPr/>
        </p:nvSpPr>
        <p:spPr>
          <a:xfrm>
            <a:off x="23137799" y="587410"/>
            <a:ext cx="4235028" cy="3354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To</a:t>
            </a:r>
            <a:r>
              <a:rPr lang="zh-CN" altLang="en-US" sz="1200" dirty="0">
                <a:solidFill>
                  <a:schemeClr val="tx1"/>
                </a:solidFill>
              </a:rPr>
              <a:t>到餐</a:t>
            </a:r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DF36368F-9A9C-5A89-D9EB-8838D0B36C61}"/>
              </a:ext>
            </a:extLst>
          </p:cNvPr>
          <p:cNvSpPr/>
          <p:nvPr/>
        </p:nvSpPr>
        <p:spPr>
          <a:xfrm>
            <a:off x="22725281" y="1162624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核心供给定义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4ADF6B27-A8D5-A5D2-4B81-BBE05D2BD154}"/>
              </a:ext>
            </a:extLst>
          </p:cNvPr>
          <p:cNvSpPr/>
          <p:nvPr/>
        </p:nvSpPr>
        <p:spPr>
          <a:xfrm>
            <a:off x="25024660" y="1191809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优先做功样板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45FB81DC-B2DD-E4C2-ADA1-08BE5B25E41C}"/>
              </a:ext>
            </a:extLst>
          </p:cNvPr>
          <p:cNvSpPr/>
          <p:nvPr/>
        </p:nvSpPr>
        <p:spPr>
          <a:xfrm>
            <a:off x="22769049" y="2647029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基于用户需求的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GC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协同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109E0B6F-E1C2-2DD6-EE1E-2C64D355F110}"/>
              </a:ext>
            </a:extLst>
          </p:cNvPr>
          <p:cNvSpPr/>
          <p:nvPr/>
        </p:nvSpPr>
        <p:spPr>
          <a:xfrm>
            <a:off x="25024660" y="2656830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智能掌柜分析牵引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83233728-7BBE-5F94-BDC3-294010306EE7}"/>
              </a:ext>
            </a:extLst>
          </p:cNvPr>
          <p:cNvSpPr/>
          <p:nvPr/>
        </p:nvSpPr>
        <p:spPr>
          <a:xfrm>
            <a:off x="22769048" y="4041108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交履组合牵引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D700F2F0-E051-04AA-A5B9-5F821D1ECC8C}"/>
              </a:ext>
            </a:extLst>
          </p:cNvPr>
          <p:cNvSpPr/>
          <p:nvPr/>
        </p:nvSpPr>
        <p:spPr>
          <a:xfrm>
            <a:off x="25024659" y="4050909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高流低转承接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4692BD40-B8C0-BB2A-2680-21B72EEEE720}"/>
              </a:ext>
            </a:extLst>
          </p:cNvPr>
          <p:cNvSpPr/>
          <p:nvPr/>
        </p:nvSpPr>
        <p:spPr>
          <a:xfrm>
            <a:off x="19778198" y="5956351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会员组合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0" name="箭头: V 形 159">
            <a:extLst>
              <a:ext uri="{FF2B5EF4-FFF2-40B4-BE49-F238E27FC236}">
                <a16:creationId xmlns:a16="http://schemas.microsoft.com/office/drawing/2014/main" id="{FD0574BF-F907-678E-B58A-ED250470952A}"/>
              </a:ext>
            </a:extLst>
          </p:cNvPr>
          <p:cNvSpPr/>
          <p:nvPr/>
        </p:nvSpPr>
        <p:spPr>
          <a:xfrm>
            <a:off x="8014266" y="-39440"/>
            <a:ext cx="1603355" cy="279502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验证反馈</a:t>
            </a:r>
          </a:p>
        </p:txBody>
      </p:sp>
      <p:sp>
        <p:nvSpPr>
          <p:cNvPr id="161" name="矩形: 圆角 160">
            <a:extLst>
              <a:ext uri="{FF2B5EF4-FFF2-40B4-BE49-F238E27FC236}">
                <a16:creationId xmlns:a16="http://schemas.microsoft.com/office/drawing/2014/main" id="{FB589EE6-D63F-6E31-5E40-3652D1DB6F76}"/>
              </a:ext>
            </a:extLst>
          </p:cNvPr>
          <p:cNvSpPr/>
          <p:nvPr/>
        </p:nvSpPr>
        <p:spPr>
          <a:xfrm>
            <a:off x="-2387422" y="2050341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内容化表达如地图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2" name="矩形: 圆角 161">
            <a:extLst>
              <a:ext uri="{FF2B5EF4-FFF2-40B4-BE49-F238E27FC236}">
                <a16:creationId xmlns:a16="http://schemas.microsoft.com/office/drawing/2014/main" id="{BC0E5C23-9254-89BE-5A01-1FEA0E7C0CFA}"/>
              </a:ext>
            </a:extLst>
          </p:cNvPr>
          <p:cNvSpPr/>
          <p:nvPr/>
        </p:nvSpPr>
        <p:spPr>
          <a:xfrm>
            <a:off x="-2387422" y="2341360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个性化分发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5" name="矩形: 圆角 164">
            <a:extLst>
              <a:ext uri="{FF2B5EF4-FFF2-40B4-BE49-F238E27FC236}">
                <a16:creationId xmlns:a16="http://schemas.microsoft.com/office/drawing/2014/main" id="{CB38831D-7DF1-D1CF-1545-2EB7E3B46622}"/>
              </a:ext>
            </a:extLst>
          </p:cNvPr>
          <p:cNvSpPr/>
          <p:nvPr/>
        </p:nvSpPr>
        <p:spPr>
          <a:xfrm>
            <a:off x="2745442" y="940542"/>
            <a:ext cx="1695047" cy="58320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GC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资产表达强化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accent6"/>
                </a:solidFill>
                <a:latin typeface="+mn-ea"/>
              </a:rPr>
              <a:t>当地人推荐方言语音</a:t>
            </a:r>
            <a:endParaRPr lang="en-US" altLang="zh-CN" sz="1200" dirty="0">
              <a:solidFill>
                <a:schemeClr val="accent6"/>
              </a:solidFill>
              <a:latin typeface="+mn-ea"/>
            </a:endParaRPr>
          </a:p>
          <a:p>
            <a:pPr algn="ctr"/>
            <a:r>
              <a:rPr lang="en-US" altLang="zh-CN" sz="1200" dirty="0">
                <a:solidFill>
                  <a:schemeClr val="accent6"/>
                </a:solidFill>
                <a:latin typeface="+mn-ea"/>
              </a:rPr>
              <a:t>AI</a:t>
            </a:r>
            <a:r>
              <a:rPr lang="zh-CN" altLang="en-US" sz="1200" dirty="0">
                <a:solidFill>
                  <a:schemeClr val="accent6"/>
                </a:solidFill>
                <a:latin typeface="+mn-ea"/>
              </a:rPr>
              <a:t>动态图片</a:t>
            </a:r>
          </a:p>
        </p:txBody>
      </p:sp>
      <p:sp>
        <p:nvSpPr>
          <p:cNvPr id="166" name="矩形: 圆角 165">
            <a:extLst>
              <a:ext uri="{FF2B5EF4-FFF2-40B4-BE49-F238E27FC236}">
                <a16:creationId xmlns:a16="http://schemas.microsoft.com/office/drawing/2014/main" id="{F0E07FAD-D561-A7D6-2630-22AC321E17B8}"/>
              </a:ext>
            </a:extLst>
          </p:cNvPr>
          <p:cNvSpPr/>
          <p:nvPr/>
        </p:nvSpPr>
        <p:spPr>
          <a:xfrm>
            <a:off x="4502077" y="293557"/>
            <a:ext cx="1609973" cy="578937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搜索承接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rgbClr val="FFC000"/>
                </a:solidFill>
                <a:latin typeface="+mn-ea"/>
              </a:rPr>
              <a:t>搜索下挂灰度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？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accent6"/>
                </a:solidFill>
                <a:latin typeface="+mn-ea"/>
              </a:rPr>
              <a:t>筛</a:t>
            </a:r>
            <a:r>
              <a:rPr lang="en-US" altLang="zh-CN" sz="1200" dirty="0">
                <a:solidFill>
                  <a:schemeClr val="accent6"/>
                </a:solidFill>
                <a:latin typeface="+mn-ea"/>
              </a:rPr>
              <a:t>/</a:t>
            </a:r>
            <a:r>
              <a:rPr lang="en-US" altLang="zh-CN" sz="1200" dirty="0" err="1">
                <a:solidFill>
                  <a:schemeClr val="accent6"/>
                </a:solidFill>
                <a:latin typeface="+mn-ea"/>
              </a:rPr>
              <a:t>sug</a:t>
            </a:r>
            <a:r>
              <a:rPr lang="en-US" altLang="zh-CN" sz="1200" dirty="0">
                <a:solidFill>
                  <a:schemeClr val="accent6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accent6"/>
                </a:solidFill>
                <a:latin typeface="+mn-ea"/>
              </a:rPr>
              <a:t>默认产品化</a:t>
            </a:r>
            <a:r>
              <a:rPr lang="en-US" altLang="zh-CN" sz="1200" dirty="0">
                <a:solidFill>
                  <a:schemeClr val="accent6"/>
                </a:solidFill>
                <a:latin typeface="+mn-ea"/>
              </a:rPr>
              <a:t>?</a:t>
            </a:r>
            <a:endParaRPr lang="zh-CN" altLang="en-US" sz="1200" dirty="0">
              <a:solidFill>
                <a:schemeClr val="accent6"/>
              </a:solidFill>
              <a:latin typeface="+mn-ea"/>
            </a:endParaRPr>
          </a:p>
        </p:txBody>
      </p:sp>
      <p:sp>
        <p:nvSpPr>
          <p:cNvPr id="167" name="矩形: 圆角 166">
            <a:extLst>
              <a:ext uri="{FF2B5EF4-FFF2-40B4-BE49-F238E27FC236}">
                <a16:creationId xmlns:a16="http://schemas.microsoft.com/office/drawing/2014/main" id="{929B70EA-A5D7-5C39-B4F6-4E734DFC3E13}"/>
              </a:ext>
            </a:extLst>
          </p:cNvPr>
          <p:cNvSpPr/>
          <p:nvPr/>
        </p:nvSpPr>
        <p:spPr>
          <a:xfrm>
            <a:off x="4502078" y="940542"/>
            <a:ext cx="1593882" cy="578936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榜单页改造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rgbClr val="FFC000"/>
                </a:solidFill>
                <a:latin typeface="+mn-ea"/>
              </a:rPr>
              <a:t>扩充热门地标</a:t>
            </a:r>
            <a:endParaRPr lang="en-US" altLang="zh-CN" sz="1200" dirty="0">
              <a:solidFill>
                <a:srgbClr val="FFC000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accent6"/>
                </a:solidFill>
                <a:latin typeface="+mn-ea"/>
              </a:rPr>
              <a:t>增加子榜</a:t>
            </a:r>
            <a:r>
              <a:rPr lang="en-US" altLang="zh-CN" sz="1200" dirty="0">
                <a:solidFill>
                  <a:schemeClr val="accent6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accent6"/>
                </a:solidFill>
                <a:latin typeface="+mn-ea"/>
              </a:rPr>
              <a:t>宝藏榜</a:t>
            </a:r>
          </a:p>
        </p:txBody>
      </p:sp>
      <p:sp>
        <p:nvSpPr>
          <p:cNvPr id="169" name="矩形: 圆角 168">
            <a:extLst>
              <a:ext uri="{FF2B5EF4-FFF2-40B4-BE49-F238E27FC236}">
                <a16:creationId xmlns:a16="http://schemas.microsoft.com/office/drawing/2014/main" id="{E90C222F-D24F-0667-5876-18E17888ABFB}"/>
              </a:ext>
            </a:extLst>
          </p:cNvPr>
          <p:cNvSpPr/>
          <p:nvPr/>
        </p:nvSpPr>
        <p:spPr>
          <a:xfrm>
            <a:off x="8013146" y="293556"/>
            <a:ext cx="1512353" cy="573799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完善分享、召回</a:t>
            </a:r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C0488769-3A5D-13F8-2829-6F19D757EB60}"/>
              </a:ext>
            </a:extLst>
          </p:cNvPr>
          <p:cNvSpPr txBox="1"/>
          <p:nvPr/>
        </p:nvSpPr>
        <p:spPr>
          <a:xfrm>
            <a:off x="-248747" y="3095473"/>
            <a:ext cx="10220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资产应用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11F54D12-7DD6-3C0D-CCF0-21A30C7543EB}"/>
              </a:ext>
            </a:extLst>
          </p:cNvPr>
          <p:cNvSpPr txBox="1"/>
          <p:nvPr/>
        </p:nvSpPr>
        <p:spPr>
          <a:xfrm>
            <a:off x="101013" y="4517088"/>
            <a:ext cx="6874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资产计算及数据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9B246921-C13B-E241-A74D-BAC33421D909}"/>
              </a:ext>
            </a:extLst>
          </p:cNvPr>
          <p:cNvSpPr txBox="1"/>
          <p:nvPr/>
        </p:nvSpPr>
        <p:spPr>
          <a:xfrm>
            <a:off x="293178" y="5266177"/>
            <a:ext cx="4953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商家牵引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179" name="矩形: 圆角 178">
            <a:extLst>
              <a:ext uri="{FF2B5EF4-FFF2-40B4-BE49-F238E27FC236}">
                <a16:creationId xmlns:a16="http://schemas.microsoft.com/office/drawing/2014/main" id="{CF932E37-4386-2D2A-9062-9995CA42BF7B}"/>
              </a:ext>
            </a:extLst>
          </p:cNvPr>
          <p:cNvSpPr/>
          <p:nvPr/>
        </p:nvSpPr>
        <p:spPr>
          <a:xfrm>
            <a:off x="1001717" y="3116965"/>
            <a:ext cx="2657030" cy="214133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团侧动线运营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0" name="矩形: 圆角 179">
            <a:extLst>
              <a:ext uri="{FF2B5EF4-FFF2-40B4-BE49-F238E27FC236}">
                <a16:creationId xmlns:a16="http://schemas.microsoft.com/office/drawing/2014/main" id="{EE6DBA89-EF2B-E90A-2544-712E86CD3F96}"/>
              </a:ext>
            </a:extLst>
          </p:cNvPr>
          <p:cNvSpPr/>
          <p:nvPr/>
        </p:nvSpPr>
        <p:spPr>
          <a:xfrm>
            <a:off x="3893558" y="3095473"/>
            <a:ext cx="2700000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旅游、约会场景试点调优、强化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1" name="矩形: 圆角 180">
            <a:extLst>
              <a:ext uri="{FF2B5EF4-FFF2-40B4-BE49-F238E27FC236}">
                <a16:creationId xmlns:a16="http://schemas.microsoft.com/office/drawing/2014/main" id="{739F5B72-9AF8-10E4-0A2F-4A25B692DDC1}"/>
              </a:ext>
            </a:extLst>
          </p:cNvPr>
          <p:cNvSpPr/>
          <p:nvPr/>
        </p:nvSpPr>
        <p:spPr>
          <a:xfrm>
            <a:off x="1001717" y="3395833"/>
            <a:ext cx="2657030" cy="214133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节点联合营销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2" name="矩形: 圆角 181">
            <a:extLst>
              <a:ext uri="{FF2B5EF4-FFF2-40B4-BE49-F238E27FC236}">
                <a16:creationId xmlns:a16="http://schemas.microsoft.com/office/drawing/2014/main" id="{6688E339-ABBD-B8C7-C568-0CFE35F1E529}"/>
              </a:ext>
            </a:extLst>
          </p:cNvPr>
          <p:cNvSpPr/>
          <p:nvPr/>
        </p:nvSpPr>
        <p:spPr>
          <a:xfrm>
            <a:off x="3893558" y="3397373"/>
            <a:ext cx="2700000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旅游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县域下沉共建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3" name="矩形: 圆角 182">
            <a:extLst>
              <a:ext uri="{FF2B5EF4-FFF2-40B4-BE49-F238E27FC236}">
                <a16:creationId xmlns:a16="http://schemas.microsoft.com/office/drawing/2014/main" id="{DDFDBF70-AC5D-3F91-9DE4-FC9B985E8768}"/>
              </a:ext>
            </a:extLst>
          </p:cNvPr>
          <p:cNvSpPr/>
          <p:nvPr/>
        </p:nvSpPr>
        <p:spPr>
          <a:xfrm>
            <a:off x="6838768" y="3096616"/>
            <a:ext cx="2700000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上榜率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健康度评估，优化密度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4" name="矩形: 圆角 183">
            <a:extLst>
              <a:ext uri="{FF2B5EF4-FFF2-40B4-BE49-F238E27FC236}">
                <a16:creationId xmlns:a16="http://schemas.microsoft.com/office/drawing/2014/main" id="{2E92094F-CB21-2CF4-2851-D46E942822FA}"/>
              </a:ext>
            </a:extLst>
          </p:cNvPr>
          <p:cNvSpPr/>
          <p:nvPr/>
        </p:nvSpPr>
        <p:spPr>
          <a:xfrm>
            <a:off x="6828369" y="3412782"/>
            <a:ext cx="2700000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区域及指数维度补齐（新店等）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E9571A97-7180-C738-3CBE-D733C3D15F69}"/>
              </a:ext>
            </a:extLst>
          </p:cNvPr>
          <p:cNvSpPr/>
          <p:nvPr/>
        </p:nvSpPr>
        <p:spPr>
          <a:xfrm>
            <a:off x="933167" y="4553107"/>
            <a:ext cx="2016000" cy="39387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GC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挖掘及重点场景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GC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牵引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（评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履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/GC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激励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工单等）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87" name="矩形 186">
            <a:extLst>
              <a:ext uri="{FF2B5EF4-FFF2-40B4-BE49-F238E27FC236}">
                <a16:creationId xmlns:a16="http://schemas.microsoft.com/office/drawing/2014/main" id="{04C55455-7951-C107-EDB6-C57FD5A2388C}"/>
              </a:ext>
            </a:extLst>
          </p:cNvPr>
          <p:cNvSpPr/>
          <p:nvPr/>
        </p:nvSpPr>
        <p:spPr>
          <a:xfrm>
            <a:off x="5324111" y="4553107"/>
            <a:ext cx="2016000" cy="386257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好店挖掘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坏店清退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（信息提报链路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交叉验证）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88" name="矩形 187">
            <a:extLst>
              <a:ext uri="{FF2B5EF4-FFF2-40B4-BE49-F238E27FC236}">
                <a16:creationId xmlns:a16="http://schemas.microsoft.com/office/drawing/2014/main" id="{C358F90E-1374-539A-661E-1740CDF79DA2}"/>
              </a:ext>
            </a:extLst>
          </p:cNvPr>
          <p:cNvSpPr/>
          <p:nvPr/>
        </p:nvSpPr>
        <p:spPr>
          <a:xfrm>
            <a:off x="7519582" y="4553107"/>
            <a:ext cx="2016000" cy="39387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剔刷剔作弊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0" name="矩形 189">
            <a:extLst>
              <a:ext uri="{FF2B5EF4-FFF2-40B4-BE49-F238E27FC236}">
                <a16:creationId xmlns:a16="http://schemas.microsoft.com/office/drawing/2014/main" id="{32D1DD92-27E0-B5EC-AD01-A2D52BC3A4A1}"/>
              </a:ext>
            </a:extLst>
          </p:cNvPr>
          <p:cNvSpPr/>
          <p:nvPr/>
        </p:nvSpPr>
        <p:spPr>
          <a:xfrm>
            <a:off x="6825758" y="5307689"/>
            <a:ext cx="2727042" cy="39387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品类细化及划分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1" name="矩形 190">
            <a:extLst>
              <a:ext uri="{FF2B5EF4-FFF2-40B4-BE49-F238E27FC236}">
                <a16:creationId xmlns:a16="http://schemas.microsoft.com/office/drawing/2014/main" id="{74371F43-54EB-CABB-0F19-558614A1E98B}"/>
              </a:ext>
            </a:extLst>
          </p:cNvPr>
          <p:cNvSpPr/>
          <p:nvPr/>
        </p:nvSpPr>
        <p:spPr>
          <a:xfrm>
            <a:off x="3979777" y="5300074"/>
            <a:ext cx="2739361" cy="39387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荣誉强化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&amp;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线下物料覆盖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0" name="矩形: 圆角 199">
            <a:extLst>
              <a:ext uri="{FF2B5EF4-FFF2-40B4-BE49-F238E27FC236}">
                <a16:creationId xmlns:a16="http://schemas.microsoft.com/office/drawing/2014/main" id="{A1F44295-B266-D160-3514-CCA85036BEBD}"/>
              </a:ext>
            </a:extLst>
          </p:cNvPr>
          <p:cNvSpPr/>
          <p:nvPr/>
        </p:nvSpPr>
        <p:spPr>
          <a:xfrm>
            <a:off x="8013147" y="947896"/>
            <a:ext cx="1512353" cy="542258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评价引导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accent6"/>
                </a:solidFill>
                <a:latin typeface="+mn-ea"/>
              </a:rPr>
              <a:t>评价激励</a:t>
            </a:r>
          </a:p>
        </p:txBody>
      </p:sp>
      <p:sp>
        <p:nvSpPr>
          <p:cNvPr id="201" name="矩形: 圆角 200">
            <a:extLst>
              <a:ext uri="{FF2B5EF4-FFF2-40B4-BE49-F238E27FC236}">
                <a16:creationId xmlns:a16="http://schemas.microsoft.com/office/drawing/2014/main" id="{16A5767D-B635-F162-E5C4-8DCB735DEBD2}"/>
              </a:ext>
            </a:extLst>
          </p:cNvPr>
          <p:cNvSpPr/>
          <p:nvPr/>
        </p:nvSpPr>
        <p:spPr>
          <a:xfrm>
            <a:off x="893578" y="2502283"/>
            <a:ext cx="8757260" cy="1696347"/>
          </a:xfrm>
          <a:prstGeom prst="round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2" name="矩形 201">
            <a:extLst>
              <a:ext uri="{FF2B5EF4-FFF2-40B4-BE49-F238E27FC236}">
                <a16:creationId xmlns:a16="http://schemas.microsoft.com/office/drawing/2014/main" id="{BB12C0A8-6A46-F771-9047-53768FB23C88}"/>
              </a:ext>
            </a:extLst>
          </p:cNvPr>
          <p:cNvSpPr/>
          <p:nvPr/>
        </p:nvSpPr>
        <p:spPr>
          <a:xfrm>
            <a:off x="3128639" y="4553107"/>
            <a:ext cx="2016000" cy="39387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算法规则优化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8663353C-9751-B173-A6CC-3C95AF78A397}"/>
              </a:ext>
            </a:extLst>
          </p:cNvPr>
          <p:cNvSpPr/>
          <p:nvPr/>
        </p:nvSpPr>
        <p:spPr>
          <a:xfrm>
            <a:off x="925923" y="5305421"/>
            <a:ext cx="2947235" cy="39387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商户指导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&amp;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诊断工具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5" name="矩形: 圆角 204">
            <a:extLst>
              <a:ext uri="{FF2B5EF4-FFF2-40B4-BE49-F238E27FC236}">
                <a16:creationId xmlns:a16="http://schemas.microsoft.com/office/drawing/2014/main" id="{69A4407B-5D0A-FE73-C606-1C85A53906AF}"/>
              </a:ext>
            </a:extLst>
          </p:cNvPr>
          <p:cNvSpPr/>
          <p:nvPr/>
        </p:nvSpPr>
        <p:spPr>
          <a:xfrm>
            <a:off x="2745442" y="1584954"/>
            <a:ext cx="1690401" cy="58320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连锁信息复用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accent6"/>
                </a:solidFill>
                <a:latin typeface="+mn-ea"/>
              </a:rPr>
              <a:t>榜单页</a:t>
            </a:r>
            <a:r>
              <a:rPr lang="en-US" altLang="zh-CN" sz="1200" dirty="0">
                <a:solidFill>
                  <a:schemeClr val="accent6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accent6"/>
                </a:solidFill>
                <a:latin typeface="+mn-ea"/>
              </a:rPr>
              <a:t>标签</a:t>
            </a:r>
            <a:r>
              <a:rPr lang="en-US" altLang="zh-CN" sz="1200" dirty="0">
                <a:solidFill>
                  <a:schemeClr val="accent6"/>
                </a:solidFill>
                <a:latin typeface="+mn-ea"/>
              </a:rPr>
              <a:t>/POI</a:t>
            </a:r>
            <a:r>
              <a:rPr lang="zh-CN" altLang="en-US" sz="1200" dirty="0">
                <a:solidFill>
                  <a:schemeClr val="accent6"/>
                </a:solidFill>
                <a:latin typeface="+mn-ea"/>
              </a:rPr>
              <a:t>优化</a:t>
            </a:r>
          </a:p>
        </p:txBody>
      </p:sp>
      <p:sp>
        <p:nvSpPr>
          <p:cNvPr id="206" name="矩形: 圆角 205">
            <a:extLst>
              <a:ext uri="{FF2B5EF4-FFF2-40B4-BE49-F238E27FC236}">
                <a16:creationId xmlns:a16="http://schemas.microsoft.com/office/drawing/2014/main" id="{FAF63D61-1D39-357E-64A4-D48DEC35841F}"/>
              </a:ext>
            </a:extLst>
          </p:cNvPr>
          <p:cNvSpPr/>
          <p:nvPr/>
        </p:nvSpPr>
        <p:spPr>
          <a:xfrm>
            <a:off x="6265850" y="922845"/>
            <a:ext cx="1598645" cy="596633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权益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营销组合</a:t>
            </a:r>
          </a:p>
        </p:txBody>
      </p:sp>
      <p:sp>
        <p:nvSpPr>
          <p:cNvPr id="208" name="文本框 207">
            <a:extLst>
              <a:ext uri="{FF2B5EF4-FFF2-40B4-BE49-F238E27FC236}">
                <a16:creationId xmlns:a16="http://schemas.microsoft.com/office/drawing/2014/main" id="{DF915892-9878-21E4-F628-06C813229A15}"/>
              </a:ext>
            </a:extLst>
          </p:cNvPr>
          <p:cNvSpPr txBox="1"/>
          <p:nvPr/>
        </p:nvSpPr>
        <p:spPr>
          <a:xfrm>
            <a:off x="-5414" y="7299188"/>
            <a:ext cx="4953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信任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209" name="矩形: 圆角 208">
            <a:extLst>
              <a:ext uri="{FF2B5EF4-FFF2-40B4-BE49-F238E27FC236}">
                <a16:creationId xmlns:a16="http://schemas.microsoft.com/office/drawing/2014/main" id="{420D0536-D5A5-37B6-1B32-AF19C15FB150}"/>
              </a:ext>
            </a:extLst>
          </p:cNvPr>
          <p:cNvSpPr/>
          <p:nvPr/>
        </p:nvSpPr>
        <p:spPr>
          <a:xfrm>
            <a:off x="5372864" y="7347048"/>
            <a:ext cx="1014244" cy="31958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线下物料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0" name="矩形: 圆角 209">
            <a:extLst>
              <a:ext uri="{FF2B5EF4-FFF2-40B4-BE49-F238E27FC236}">
                <a16:creationId xmlns:a16="http://schemas.microsoft.com/office/drawing/2014/main" id="{63E05CD6-5D76-2F03-98FC-8B8366FF9A82}"/>
              </a:ext>
            </a:extLst>
          </p:cNvPr>
          <p:cNvSpPr/>
          <p:nvPr/>
        </p:nvSpPr>
        <p:spPr>
          <a:xfrm>
            <a:off x="684631" y="7293122"/>
            <a:ext cx="2216401" cy="301037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  <a:latin typeface="+mn-ea"/>
              </a:rPr>
              <a:t>toC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市场宣发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1" name="矩形: 圆角 210">
            <a:extLst>
              <a:ext uri="{FF2B5EF4-FFF2-40B4-BE49-F238E27FC236}">
                <a16:creationId xmlns:a16="http://schemas.microsoft.com/office/drawing/2014/main" id="{554CD493-BA20-D256-46FF-9646C4AE6FC8}"/>
              </a:ext>
            </a:extLst>
          </p:cNvPr>
          <p:cNvSpPr/>
          <p:nvPr/>
        </p:nvSpPr>
        <p:spPr>
          <a:xfrm>
            <a:off x="7201396" y="7290042"/>
            <a:ext cx="1014244" cy="31958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政府共建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C5D7130-2929-766C-B791-A2E2585D4434}"/>
              </a:ext>
            </a:extLst>
          </p:cNvPr>
          <p:cNvSpPr/>
          <p:nvPr/>
        </p:nvSpPr>
        <p:spPr>
          <a:xfrm>
            <a:off x="873177" y="4448500"/>
            <a:ext cx="8757260" cy="639912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97C7F1E-2631-7B22-9736-73E5B0B713C6}"/>
              </a:ext>
            </a:extLst>
          </p:cNvPr>
          <p:cNvSpPr/>
          <p:nvPr/>
        </p:nvSpPr>
        <p:spPr>
          <a:xfrm>
            <a:off x="873177" y="5181435"/>
            <a:ext cx="8757260" cy="594313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0A51EA0-1F3A-FCE0-8A2D-CE861FD7D83F}"/>
              </a:ext>
            </a:extLst>
          </p:cNvPr>
          <p:cNvSpPr/>
          <p:nvPr/>
        </p:nvSpPr>
        <p:spPr>
          <a:xfrm>
            <a:off x="3893559" y="3686493"/>
            <a:ext cx="2700000" cy="188753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场景标签细化，如约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景观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旅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非遗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DE43E71-9614-7573-A2DD-6CBD6417F7E3}"/>
              </a:ext>
            </a:extLst>
          </p:cNvPr>
          <p:cNvSpPr/>
          <p:nvPr/>
        </p:nvSpPr>
        <p:spPr>
          <a:xfrm>
            <a:off x="-2387807" y="2647781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酒旅等业务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cross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B49E1F57-EF0F-183C-2221-CF2ADB877305}"/>
              </a:ext>
            </a:extLst>
          </p:cNvPr>
          <p:cNvSpPr/>
          <p:nvPr/>
        </p:nvSpPr>
        <p:spPr>
          <a:xfrm>
            <a:off x="3893558" y="3965124"/>
            <a:ext cx="2700000" cy="195719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讨论其它主题如仪式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互动感可行性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ACCBD38-7C06-6ECB-5D4E-410CFA12434B}"/>
              </a:ext>
            </a:extLst>
          </p:cNvPr>
          <p:cNvSpPr/>
          <p:nvPr/>
        </p:nvSpPr>
        <p:spPr>
          <a:xfrm>
            <a:off x="6838768" y="3696360"/>
            <a:ext cx="2700000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特色大单品指数，如烤鱼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烤鸭试点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D5A90A82-5993-B00A-F1F3-F401E5CB7E1E}"/>
              </a:ext>
            </a:extLst>
          </p:cNvPr>
          <p:cNvSpPr/>
          <p:nvPr/>
        </p:nvSpPr>
        <p:spPr>
          <a:xfrm>
            <a:off x="9863226" y="2612632"/>
            <a:ext cx="2657030" cy="3938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个性化榜单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CB9B52E7-6290-58CF-D0BA-13F676526D75}"/>
              </a:ext>
            </a:extLst>
          </p:cNvPr>
          <p:cNvSpPr/>
          <p:nvPr/>
        </p:nvSpPr>
        <p:spPr>
          <a:xfrm>
            <a:off x="12755067" y="2609397"/>
            <a:ext cx="2700000" cy="4248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UGC</a:t>
            </a:r>
            <a:r>
              <a:rPr lang="zh-CN" altLang="en-US" sz="1200" dirty="0"/>
              <a:t>榜单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1" name="矩形: 圆角 150">
            <a:extLst>
              <a:ext uri="{FF2B5EF4-FFF2-40B4-BE49-F238E27FC236}">
                <a16:creationId xmlns:a16="http://schemas.microsoft.com/office/drawing/2014/main" id="{B3C43F8E-F8C9-58BF-875D-A385DE1470CD}"/>
              </a:ext>
            </a:extLst>
          </p:cNvPr>
          <p:cNvSpPr/>
          <p:nvPr/>
        </p:nvSpPr>
        <p:spPr>
          <a:xfrm>
            <a:off x="9863226" y="3116965"/>
            <a:ext cx="2657030" cy="214133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团侧动线运营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2" name="矩形: 圆角 151">
            <a:extLst>
              <a:ext uri="{FF2B5EF4-FFF2-40B4-BE49-F238E27FC236}">
                <a16:creationId xmlns:a16="http://schemas.microsoft.com/office/drawing/2014/main" id="{83D7139C-29CE-A64F-9045-28C801AB4BD9}"/>
              </a:ext>
            </a:extLst>
          </p:cNvPr>
          <p:cNvSpPr/>
          <p:nvPr/>
        </p:nvSpPr>
        <p:spPr>
          <a:xfrm>
            <a:off x="12755067" y="3095473"/>
            <a:ext cx="2700000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旅游、约会场景试点调优、强化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8" name="矩形: 圆角 157">
            <a:extLst>
              <a:ext uri="{FF2B5EF4-FFF2-40B4-BE49-F238E27FC236}">
                <a16:creationId xmlns:a16="http://schemas.microsoft.com/office/drawing/2014/main" id="{9B728E3C-AEEC-4C9E-5B65-F2AAC605AEC4}"/>
              </a:ext>
            </a:extLst>
          </p:cNvPr>
          <p:cNvSpPr/>
          <p:nvPr/>
        </p:nvSpPr>
        <p:spPr>
          <a:xfrm>
            <a:off x="9863226" y="3395833"/>
            <a:ext cx="2657030" cy="214133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节点联合营销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3" name="矩形: 圆角 162">
            <a:extLst>
              <a:ext uri="{FF2B5EF4-FFF2-40B4-BE49-F238E27FC236}">
                <a16:creationId xmlns:a16="http://schemas.microsoft.com/office/drawing/2014/main" id="{737A7C5B-51B4-5627-F0D1-5A324B07A951}"/>
              </a:ext>
            </a:extLst>
          </p:cNvPr>
          <p:cNvSpPr/>
          <p:nvPr/>
        </p:nvSpPr>
        <p:spPr>
          <a:xfrm>
            <a:off x="12755067" y="3397373"/>
            <a:ext cx="2700000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旅游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县域下沉共建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0" name="矩形: 圆角 169">
            <a:extLst>
              <a:ext uri="{FF2B5EF4-FFF2-40B4-BE49-F238E27FC236}">
                <a16:creationId xmlns:a16="http://schemas.microsoft.com/office/drawing/2014/main" id="{1827C1D9-EAC9-C3D7-2B61-2C396369F2DF}"/>
              </a:ext>
            </a:extLst>
          </p:cNvPr>
          <p:cNvSpPr/>
          <p:nvPr/>
        </p:nvSpPr>
        <p:spPr>
          <a:xfrm>
            <a:off x="9755087" y="2502283"/>
            <a:ext cx="5992913" cy="1696347"/>
          </a:xfrm>
          <a:prstGeom prst="round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1" name="矩形: 圆角 170">
            <a:extLst>
              <a:ext uri="{FF2B5EF4-FFF2-40B4-BE49-F238E27FC236}">
                <a16:creationId xmlns:a16="http://schemas.microsoft.com/office/drawing/2014/main" id="{F01019A4-64BE-2880-B414-D4340896FFB2}"/>
              </a:ext>
            </a:extLst>
          </p:cNvPr>
          <p:cNvSpPr/>
          <p:nvPr/>
        </p:nvSpPr>
        <p:spPr>
          <a:xfrm>
            <a:off x="12755068" y="3686493"/>
            <a:ext cx="2700000" cy="188753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场景标签细化，如约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景观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旅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非遗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3" name="矩形: 圆角 172">
            <a:extLst>
              <a:ext uri="{FF2B5EF4-FFF2-40B4-BE49-F238E27FC236}">
                <a16:creationId xmlns:a16="http://schemas.microsoft.com/office/drawing/2014/main" id="{8086E7BB-A5CD-3773-E243-C18010DA8793}"/>
              </a:ext>
            </a:extLst>
          </p:cNvPr>
          <p:cNvSpPr/>
          <p:nvPr/>
        </p:nvSpPr>
        <p:spPr>
          <a:xfrm>
            <a:off x="12755067" y="3965124"/>
            <a:ext cx="2700000" cy="195719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讨论其它主题如仪式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互动感可行性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5AD5D572-DC7C-2580-5E47-E7CE2E7DF6B8}"/>
              </a:ext>
            </a:extLst>
          </p:cNvPr>
          <p:cNvSpPr/>
          <p:nvPr/>
        </p:nvSpPr>
        <p:spPr>
          <a:xfrm>
            <a:off x="-2580091" y="3482110"/>
            <a:ext cx="1587106" cy="223058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Push/Sug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产品化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9892DF0D-94D6-58E6-3735-260C168B45DD}"/>
              </a:ext>
            </a:extLst>
          </p:cNvPr>
          <p:cNvSpPr/>
          <p:nvPr/>
        </p:nvSpPr>
        <p:spPr>
          <a:xfrm>
            <a:off x="8215640" y="-899039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rgbClr val="FFC000"/>
                </a:solidFill>
                <a:latin typeface="+mn-ea"/>
              </a:rPr>
              <a:t>已完成</a:t>
            </a:r>
            <a:r>
              <a:rPr lang="en-US" altLang="zh-CN" sz="1200" b="1" dirty="0">
                <a:solidFill>
                  <a:schemeClr val="accent6"/>
                </a:solidFill>
                <a:latin typeface="+mn-ea"/>
              </a:rPr>
              <a:t>-&gt;8</a:t>
            </a:r>
            <a:r>
              <a:rPr lang="zh-CN" altLang="en-US" sz="1200" b="1" dirty="0">
                <a:solidFill>
                  <a:schemeClr val="accent6"/>
                </a:solidFill>
                <a:latin typeface="+mn-ea"/>
              </a:rPr>
              <a:t>月计划</a:t>
            </a:r>
            <a:endParaRPr lang="en-US" altLang="zh-CN" sz="1200" b="1" dirty="0">
              <a:solidFill>
                <a:schemeClr val="accent6"/>
              </a:solidFill>
              <a:latin typeface="+mn-ea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296DC8E8-75D6-1B24-464B-2008CDB879EF}"/>
              </a:ext>
            </a:extLst>
          </p:cNvPr>
          <p:cNvSpPr/>
          <p:nvPr/>
        </p:nvSpPr>
        <p:spPr>
          <a:xfrm>
            <a:off x="944877" y="296405"/>
            <a:ext cx="1658290" cy="58320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场景前置触达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rgbClr val="FFC000"/>
                </a:solidFill>
                <a:latin typeface="+mn-ea"/>
              </a:rPr>
              <a:t>渠道投放</a:t>
            </a:r>
            <a:endParaRPr lang="en-US" altLang="zh-CN" sz="1200" dirty="0">
              <a:solidFill>
                <a:srgbClr val="FFC000"/>
              </a:solidFill>
              <a:latin typeface="+mn-ea"/>
            </a:endParaRPr>
          </a:p>
          <a:p>
            <a:pPr algn="ctr"/>
            <a:r>
              <a:rPr lang="en-US" altLang="zh-CN" sz="1200" dirty="0">
                <a:solidFill>
                  <a:schemeClr val="accent6"/>
                </a:solidFill>
                <a:latin typeface="+mn-ea"/>
              </a:rPr>
              <a:t>push</a:t>
            </a:r>
            <a:r>
              <a:rPr lang="zh-CN" altLang="en-US" sz="1200" dirty="0">
                <a:solidFill>
                  <a:schemeClr val="accent6"/>
                </a:solidFill>
                <a:latin typeface="+mn-ea"/>
              </a:rPr>
              <a:t>产品化</a:t>
            </a:r>
            <a:endParaRPr lang="en-US" altLang="zh-CN" sz="1200" dirty="0">
              <a:solidFill>
                <a:schemeClr val="accent6"/>
              </a:solidFill>
              <a:latin typeface="+mn-ea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3D030D97-06D7-2F2D-1E10-E673E370D300}"/>
              </a:ext>
            </a:extLst>
          </p:cNvPr>
          <p:cNvSpPr/>
          <p:nvPr/>
        </p:nvSpPr>
        <p:spPr>
          <a:xfrm>
            <a:off x="937193" y="944869"/>
            <a:ext cx="1665973" cy="58320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内容化表达如地图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accent6"/>
                </a:solidFill>
                <a:latin typeface="+mn-ea"/>
              </a:rPr>
              <a:t>地图</a:t>
            </a:r>
            <a:r>
              <a:rPr lang="en-US" altLang="zh-CN" sz="1200" dirty="0">
                <a:solidFill>
                  <a:schemeClr val="accent6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accent6"/>
                </a:solidFill>
                <a:latin typeface="+mn-ea"/>
              </a:rPr>
              <a:t>附近找店上线</a:t>
            </a:r>
            <a:endParaRPr lang="en-US" altLang="zh-CN" sz="1200" dirty="0">
              <a:solidFill>
                <a:schemeClr val="accent6"/>
              </a:solidFill>
              <a:latin typeface="+mn-ea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EA56D90-9F42-F020-C541-776D7C6A204E}"/>
              </a:ext>
            </a:extLst>
          </p:cNvPr>
          <p:cNvSpPr/>
          <p:nvPr/>
        </p:nvSpPr>
        <p:spPr>
          <a:xfrm>
            <a:off x="177375" y="-962941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个性化分发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5BA0615B-D969-CD26-675B-54A9462E5B14}"/>
              </a:ext>
            </a:extLst>
          </p:cNvPr>
          <p:cNvSpPr/>
          <p:nvPr/>
        </p:nvSpPr>
        <p:spPr>
          <a:xfrm>
            <a:off x="176990" y="-656520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酒旅等业务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cross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84099FC6-3F99-FF9E-21A2-0DCAA4FA4903}"/>
              </a:ext>
            </a:extLst>
          </p:cNvPr>
          <p:cNvSpPr/>
          <p:nvPr/>
        </p:nvSpPr>
        <p:spPr>
          <a:xfrm>
            <a:off x="925923" y="1594487"/>
            <a:ext cx="1677244" cy="58320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个性化分发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rgbClr val="FFC000"/>
                </a:solidFill>
                <a:latin typeface="+mn-ea"/>
              </a:rPr>
              <a:t>猜喜全量</a:t>
            </a:r>
            <a:r>
              <a:rPr lang="en-US" altLang="zh-CN" sz="1200" dirty="0">
                <a:solidFill>
                  <a:schemeClr val="accent6"/>
                </a:solidFill>
                <a:latin typeface="+mn-ea"/>
              </a:rPr>
              <a:t>-&gt;</a:t>
            </a:r>
            <a:r>
              <a:rPr lang="zh-CN" altLang="en-US" sz="1200" dirty="0">
                <a:solidFill>
                  <a:schemeClr val="accent6"/>
                </a:solidFill>
                <a:latin typeface="+mn-ea"/>
              </a:rPr>
              <a:t>策略优化</a:t>
            </a:r>
            <a:endParaRPr lang="en-US" altLang="zh-CN" sz="1200" dirty="0">
              <a:solidFill>
                <a:schemeClr val="accent6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128984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: 圆角 4">
            <a:extLst>
              <a:ext uri="{FF2B5EF4-FFF2-40B4-BE49-F238E27FC236}">
                <a16:creationId xmlns:a16="http://schemas.microsoft.com/office/drawing/2014/main" id="{974C4838-37CA-EEA7-5B96-497D99C6F274}"/>
              </a:ext>
            </a:extLst>
          </p:cNvPr>
          <p:cNvSpPr/>
          <p:nvPr/>
        </p:nvSpPr>
        <p:spPr>
          <a:xfrm>
            <a:off x="2120029" y="1306530"/>
            <a:ext cx="1451009" cy="83243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tx1"/>
                </a:solidFill>
                <a:latin typeface="+mn-ea"/>
              </a:rPr>
              <a:t>商家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（含菜品等）</a:t>
            </a:r>
          </a:p>
        </p:txBody>
      </p:sp>
      <p:sp>
        <p:nvSpPr>
          <p:cNvPr id="8" name="矩形: 圆角 21">
            <a:extLst>
              <a:ext uri="{FF2B5EF4-FFF2-40B4-BE49-F238E27FC236}">
                <a16:creationId xmlns:a16="http://schemas.microsoft.com/office/drawing/2014/main" id="{685FC6A4-852B-45BA-D2DF-F658E36BA00F}"/>
              </a:ext>
            </a:extLst>
          </p:cNvPr>
          <p:cNvSpPr/>
          <p:nvPr/>
        </p:nvSpPr>
        <p:spPr>
          <a:xfrm>
            <a:off x="6322122" y="1306530"/>
            <a:ext cx="1451009" cy="83243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用户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227D456C-BF56-6044-40FE-27BE0A9EC9C5}"/>
              </a:ext>
            </a:extLst>
          </p:cNvPr>
          <p:cNvCxnSpPr>
            <a:cxnSpLocks/>
            <a:stCxn id="8" idx="1"/>
            <a:endCxn id="5" idx="3"/>
          </p:cNvCxnSpPr>
          <p:nvPr/>
        </p:nvCxnSpPr>
        <p:spPr>
          <a:xfrm flipH="1">
            <a:off x="3571038" y="1722746"/>
            <a:ext cx="2751084" cy="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占位符 1">
            <a:extLst>
              <a:ext uri="{FF2B5EF4-FFF2-40B4-BE49-F238E27FC236}">
                <a16:creationId xmlns:a16="http://schemas.microsoft.com/office/drawing/2014/main" id="{4CC044FF-127F-D26B-F6DF-DD8CCE232405}"/>
              </a:ext>
            </a:extLst>
          </p:cNvPr>
          <p:cNvSpPr txBox="1">
            <a:spLocks/>
          </p:cNvSpPr>
          <p:nvPr/>
        </p:nvSpPr>
        <p:spPr>
          <a:xfrm>
            <a:off x="4037463" y="1799312"/>
            <a:ext cx="1806001" cy="343711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dirty="0">
                <a:latin typeface="+mn-ea"/>
              </a:rPr>
              <a:t>行为关系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5" name="文本占位符 1">
            <a:extLst>
              <a:ext uri="{FF2B5EF4-FFF2-40B4-BE49-F238E27FC236}">
                <a16:creationId xmlns:a16="http://schemas.microsoft.com/office/drawing/2014/main" id="{9EAF09FE-BA5B-E7EE-DCB5-1FCF5B16E8F4}"/>
              </a:ext>
            </a:extLst>
          </p:cNvPr>
          <p:cNvSpPr txBox="1">
            <a:spLocks/>
          </p:cNvSpPr>
          <p:nvPr/>
        </p:nvSpPr>
        <p:spPr>
          <a:xfrm>
            <a:off x="168074" y="1306529"/>
            <a:ext cx="2069076" cy="832432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dirty="0">
                <a:latin typeface="+mn-ea"/>
              </a:rPr>
              <a:t>积累资产</a:t>
            </a:r>
            <a:endParaRPr lang="en-US" altLang="zh-CN" sz="1200" dirty="0">
              <a:latin typeface="+mn-ea"/>
            </a:endParaRPr>
          </a:p>
          <a:p>
            <a:pPr marL="0" indent="0" algn="ctr">
              <a:buNone/>
            </a:pPr>
            <a:r>
              <a:rPr lang="zh-CN" altLang="en-US" sz="1200" dirty="0">
                <a:latin typeface="+mn-ea"/>
              </a:rPr>
              <a:t>根据资产评选商家榜</a:t>
            </a:r>
            <a:endParaRPr lang="en-US" altLang="zh-CN" sz="1200" dirty="0">
              <a:latin typeface="+mn-ea"/>
            </a:endParaRPr>
          </a:p>
          <a:p>
            <a:pPr marL="0" indent="0" algn="ctr">
              <a:buNone/>
            </a:pPr>
            <a:r>
              <a:rPr lang="zh-CN" altLang="en-US" sz="1200" dirty="0">
                <a:latin typeface="+mn-ea"/>
              </a:rPr>
              <a:t>从而定义好的店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6" name="文本占位符 1">
            <a:extLst>
              <a:ext uri="{FF2B5EF4-FFF2-40B4-BE49-F238E27FC236}">
                <a16:creationId xmlns:a16="http://schemas.microsoft.com/office/drawing/2014/main" id="{4823E38B-2739-F85E-49AC-366C130BBDAD}"/>
              </a:ext>
            </a:extLst>
          </p:cNvPr>
          <p:cNvSpPr txBox="1">
            <a:spLocks/>
          </p:cNvSpPr>
          <p:nvPr/>
        </p:nvSpPr>
        <p:spPr>
          <a:xfrm>
            <a:off x="7586715" y="1209675"/>
            <a:ext cx="2069076" cy="1581961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dirty="0">
                <a:latin typeface="+mn-ea"/>
              </a:rPr>
              <a:t>同样积累了资产</a:t>
            </a:r>
            <a:endParaRPr lang="en-US" altLang="zh-CN" sz="1200" dirty="0">
              <a:latin typeface="+mn-ea"/>
            </a:endParaRPr>
          </a:p>
          <a:p>
            <a:pPr marL="0" indent="0" algn="ctr">
              <a:buNone/>
            </a:pPr>
            <a:r>
              <a:rPr lang="zh-CN" altLang="en-US" sz="1200" dirty="0">
                <a:latin typeface="+mn-ea"/>
              </a:rPr>
              <a:t>什么产品形态表达？</a:t>
            </a:r>
            <a:endParaRPr lang="en-US" altLang="zh-CN" sz="1200" dirty="0">
              <a:latin typeface="+mn-ea"/>
            </a:endParaRPr>
          </a:p>
          <a:p>
            <a:pPr marL="0" indent="0" algn="ctr">
              <a:buNone/>
            </a:pPr>
            <a:r>
              <a:rPr lang="zh-CN" altLang="en-US" sz="1200" dirty="0">
                <a:latin typeface="+mn-ea"/>
              </a:rPr>
              <a:t>来</a:t>
            </a:r>
            <a:r>
              <a:rPr lang="en-US" altLang="zh-CN" sz="1200" dirty="0">
                <a:latin typeface="+mn-ea"/>
              </a:rPr>
              <a:t>1.</a:t>
            </a:r>
            <a:r>
              <a:rPr lang="zh-CN" altLang="en-US" sz="1200" dirty="0">
                <a:latin typeface="+mn-ea"/>
              </a:rPr>
              <a:t>定义好的用户</a:t>
            </a:r>
            <a:endParaRPr lang="en-US" altLang="zh-CN" sz="1200" dirty="0">
              <a:latin typeface="+mn-ea"/>
            </a:endParaRPr>
          </a:p>
          <a:p>
            <a:pPr marL="0" indent="0" algn="ctr">
              <a:buNone/>
            </a:pPr>
            <a:r>
              <a:rPr lang="en-US" altLang="zh-CN" sz="1200" dirty="0">
                <a:latin typeface="+mn-ea"/>
              </a:rPr>
              <a:t>2.</a:t>
            </a:r>
            <a:r>
              <a:rPr lang="zh-CN" altLang="en-US" sz="1200" dirty="0">
                <a:latin typeface="+mn-ea"/>
              </a:rPr>
              <a:t>找到合适的有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9" name="矩形: 圆角 21">
            <a:extLst>
              <a:ext uri="{FF2B5EF4-FFF2-40B4-BE49-F238E27FC236}">
                <a16:creationId xmlns:a16="http://schemas.microsoft.com/office/drawing/2014/main" id="{23F7AB87-9E36-DBA0-9174-5A66A8FC2BF0}"/>
              </a:ext>
            </a:extLst>
          </p:cNvPr>
          <p:cNvSpPr/>
          <p:nvPr/>
        </p:nvSpPr>
        <p:spPr>
          <a:xfrm>
            <a:off x="5862277" y="-512745"/>
            <a:ext cx="1451009" cy="8324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其它用户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AD00ADFF-7A62-6834-9259-429995C043BB}"/>
              </a:ext>
            </a:extLst>
          </p:cNvPr>
          <p:cNvCxnSpPr/>
          <p:nvPr/>
        </p:nvCxnSpPr>
        <p:spPr>
          <a:xfrm flipH="1">
            <a:off x="3457575" y="0"/>
            <a:ext cx="2314575" cy="1209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占位符 1">
            <a:extLst>
              <a:ext uri="{FF2B5EF4-FFF2-40B4-BE49-F238E27FC236}">
                <a16:creationId xmlns:a16="http://schemas.microsoft.com/office/drawing/2014/main" id="{674B5D9F-CF8D-4BC8-5495-7A48AEECAEC6}"/>
              </a:ext>
            </a:extLst>
          </p:cNvPr>
          <p:cNvSpPr txBox="1">
            <a:spLocks/>
          </p:cNvSpPr>
          <p:nvPr/>
        </p:nvSpPr>
        <p:spPr>
          <a:xfrm>
            <a:off x="2810165" y="676939"/>
            <a:ext cx="1806001" cy="343711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>
                <a:latin typeface="+mn-ea"/>
              </a:rPr>
              <a:t>直接找店决策</a:t>
            </a:r>
            <a:endParaRPr lang="en-US" altLang="zh-CN" sz="1600" dirty="0">
              <a:latin typeface="+mn-ea"/>
            </a:endParaRPr>
          </a:p>
        </p:txBody>
      </p:sp>
      <p:cxnSp>
        <p:nvCxnSpPr>
          <p:cNvPr id="30" name="连接符: 曲线 29">
            <a:extLst>
              <a:ext uri="{FF2B5EF4-FFF2-40B4-BE49-F238E27FC236}">
                <a16:creationId xmlns:a16="http://schemas.microsoft.com/office/drawing/2014/main" id="{25FEA654-81ED-79B3-5F3C-C24ADAE11AF4}"/>
              </a:ext>
            </a:extLst>
          </p:cNvPr>
          <p:cNvCxnSpPr>
            <a:cxnSpLocks/>
          </p:cNvCxnSpPr>
          <p:nvPr/>
        </p:nvCxnSpPr>
        <p:spPr>
          <a:xfrm rot="10800000" flipV="1">
            <a:off x="4056276" y="505648"/>
            <a:ext cx="2531504" cy="800881"/>
          </a:xfrm>
          <a:prstGeom prst="curvedConnector3">
            <a:avLst>
              <a:gd name="adj1" fmla="val -5686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: 圆角 21">
            <a:extLst>
              <a:ext uri="{FF2B5EF4-FFF2-40B4-BE49-F238E27FC236}">
                <a16:creationId xmlns:a16="http://schemas.microsoft.com/office/drawing/2014/main" id="{5B1D9DAD-2183-9997-4AC8-63168363F9B0}"/>
              </a:ext>
            </a:extLst>
          </p:cNvPr>
          <p:cNvSpPr/>
          <p:nvPr/>
        </p:nvSpPr>
        <p:spPr>
          <a:xfrm>
            <a:off x="4218139" y="3131200"/>
            <a:ext cx="1451009" cy="83243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私藏美食集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D42BB694-0D06-ACE3-F756-BD10FF5AFE16}"/>
              </a:ext>
            </a:extLst>
          </p:cNvPr>
          <p:cNvCxnSpPr>
            <a:cxnSpLocks/>
            <a:stCxn id="33" idx="1"/>
            <a:endCxn id="5" idx="2"/>
          </p:cNvCxnSpPr>
          <p:nvPr/>
        </p:nvCxnSpPr>
        <p:spPr>
          <a:xfrm flipH="1" flipV="1">
            <a:off x="2845534" y="2138962"/>
            <a:ext cx="1372605" cy="1408454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6274080E-2FF0-A26B-AAAD-05952DEB7238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5615898" y="2138962"/>
            <a:ext cx="1431729" cy="1510653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占位符 1">
            <a:extLst>
              <a:ext uri="{FF2B5EF4-FFF2-40B4-BE49-F238E27FC236}">
                <a16:creationId xmlns:a16="http://schemas.microsoft.com/office/drawing/2014/main" id="{64E9894E-90C7-2214-D19E-5F219488D3C4}"/>
              </a:ext>
            </a:extLst>
          </p:cNvPr>
          <p:cNvSpPr txBox="1">
            <a:spLocks/>
          </p:cNvSpPr>
          <p:nvPr/>
        </p:nvSpPr>
        <p:spPr>
          <a:xfrm>
            <a:off x="3909105" y="4031946"/>
            <a:ext cx="2069076" cy="832432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dirty="0">
                <a:latin typeface="+mn-ea"/>
              </a:rPr>
              <a:t>新增的部分</a:t>
            </a:r>
            <a:endParaRPr lang="en-US" altLang="zh-CN" sz="1200" dirty="0">
              <a:latin typeface="+mn-ea"/>
            </a:endParaRPr>
          </a:p>
          <a:p>
            <a:pPr marL="0" indent="0" algn="ctr">
              <a:buNone/>
            </a:pPr>
            <a:r>
              <a:rPr lang="zh-CN" altLang="en-US" sz="1200" dirty="0">
                <a:latin typeface="+mn-ea"/>
              </a:rPr>
              <a:t>也可以有榜单</a:t>
            </a:r>
            <a:endParaRPr lang="en-US" altLang="zh-CN" sz="1200" dirty="0">
              <a:latin typeface="+mn-ea"/>
            </a:endParaRPr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B9F26D7A-D52E-8A91-53A3-DBEF7AF5D3BD}"/>
              </a:ext>
            </a:extLst>
          </p:cNvPr>
          <p:cNvCxnSpPr>
            <a:cxnSpLocks/>
          </p:cNvCxnSpPr>
          <p:nvPr/>
        </p:nvCxnSpPr>
        <p:spPr>
          <a:xfrm flipV="1">
            <a:off x="5598286" y="2151460"/>
            <a:ext cx="1735007" cy="1812172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占位符 1">
            <a:extLst>
              <a:ext uri="{FF2B5EF4-FFF2-40B4-BE49-F238E27FC236}">
                <a16:creationId xmlns:a16="http://schemas.microsoft.com/office/drawing/2014/main" id="{E4EB5F11-0AE8-5E11-32F2-B14B096D5FE0}"/>
              </a:ext>
            </a:extLst>
          </p:cNvPr>
          <p:cNvSpPr txBox="1">
            <a:spLocks/>
          </p:cNvSpPr>
          <p:nvPr/>
        </p:nvSpPr>
        <p:spPr>
          <a:xfrm>
            <a:off x="5110451" y="2631744"/>
            <a:ext cx="1806001" cy="343711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dirty="0">
                <a:latin typeface="+mn-ea"/>
              </a:rPr>
              <a:t>创建、挖掘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35" name="文本占位符 1">
            <a:extLst>
              <a:ext uri="{FF2B5EF4-FFF2-40B4-BE49-F238E27FC236}">
                <a16:creationId xmlns:a16="http://schemas.microsoft.com/office/drawing/2014/main" id="{7157F663-4B5E-2DB8-1A8C-631DFE02CAA4}"/>
              </a:ext>
            </a:extLst>
          </p:cNvPr>
          <p:cNvSpPr txBox="1">
            <a:spLocks/>
          </p:cNvSpPr>
          <p:nvPr/>
        </p:nvSpPr>
        <p:spPr>
          <a:xfrm>
            <a:off x="6384263" y="2627683"/>
            <a:ext cx="1806001" cy="343711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dirty="0">
                <a:latin typeface="+mn-ea"/>
              </a:rPr>
              <a:t>身份</a:t>
            </a:r>
            <a:r>
              <a:rPr lang="en-US" altLang="zh-CN" sz="1200" dirty="0">
                <a:latin typeface="+mn-ea"/>
              </a:rPr>
              <a:t>/</a:t>
            </a:r>
            <a:r>
              <a:rPr lang="zh-CN" altLang="en-US" sz="1200" dirty="0">
                <a:latin typeface="+mn-ea"/>
              </a:rPr>
              <a:t>荣誉、</a:t>
            </a:r>
            <a:r>
              <a:rPr lang="en-US" altLang="zh-CN" sz="1200" dirty="0">
                <a:latin typeface="+mn-ea"/>
              </a:rPr>
              <a:t>Fork</a:t>
            </a:r>
          </a:p>
        </p:txBody>
      </p:sp>
      <p:sp>
        <p:nvSpPr>
          <p:cNvPr id="139" name="文本占位符 1">
            <a:extLst>
              <a:ext uri="{FF2B5EF4-FFF2-40B4-BE49-F238E27FC236}">
                <a16:creationId xmlns:a16="http://schemas.microsoft.com/office/drawing/2014/main" id="{F4497AB5-C9C8-8A89-ED0A-A11B988CBA1C}"/>
              </a:ext>
            </a:extLst>
          </p:cNvPr>
          <p:cNvSpPr txBox="1">
            <a:spLocks/>
          </p:cNvSpPr>
          <p:nvPr/>
        </p:nvSpPr>
        <p:spPr>
          <a:xfrm>
            <a:off x="2480155" y="2559440"/>
            <a:ext cx="1806001" cy="343711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dirty="0">
                <a:latin typeface="+mn-ea"/>
              </a:rPr>
              <a:t>映射</a:t>
            </a:r>
            <a:endParaRPr lang="en-US" altLang="zh-CN" sz="1200" dirty="0">
              <a:latin typeface="+mn-ea"/>
            </a:endParaRPr>
          </a:p>
        </p:txBody>
      </p:sp>
      <p:cxnSp>
        <p:nvCxnSpPr>
          <p:cNvPr id="140" name="连接符: 曲线 139">
            <a:extLst>
              <a:ext uri="{FF2B5EF4-FFF2-40B4-BE49-F238E27FC236}">
                <a16:creationId xmlns:a16="http://schemas.microsoft.com/office/drawing/2014/main" id="{C41E164F-2842-8FE6-7F97-8CB3AAAF674E}"/>
              </a:ext>
            </a:extLst>
          </p:cNvPr>
          <p:cNvCxnSpPr>
            <a:cxnSpLocks/>
            <a:stCxn id="19" idx="3"/>
            <a:endCxn id="5" idx="2"/>
          </p:cNvCxnSpPr>
          <p:nvPr/>
        </p:nvCxnSpPr>
        <p:spPr>
          <a:xfrm flipH="1">
            <a:off x="2845534" y="-96529"/>
            <a:ext cx="4467752" cy="2235491"/>
          </a:xfrm>
          <a:prstGeom prst="curvedConnector4">
            <a:avLst>
              <a:gd name="adj1" fmla="val -61827"/>
              <a:gd name="adj2" fmla="val 275971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文本占位符 1">
            <a:extLst>
              <a:ext uri="{FF2B5EF4-FFF2-40B4-BE49-F238E27FC236}">
                <a16:creationId xmlns:a16="http://schemas.microsoft.com/office/drawing/2014/main" id="{C8D9ABBD-1224-EE3E-B8EE-3F32DC8970B0}"/>
              </a:ext>
            </a:extLst>
          </p:cNvPr>
          <p:cNvSpPr txBox="1">
            <a:spLocks/>
          </p:cNvSpPr>
          <p:nvPr/>
        </p:nvSpPr>
        <p:spPr>
          <a:xfrm>
            <a:off x="5173449" y="689041"/>
            <a:ext cx="2531504" cy="343711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>
                <a:latin typeface="+mn-ea"/>
              </a:rPr>
              <a:t>通过圈层、牛逼用户决策</a:t>
            </a:r>
            <a:endParaRPr lang="en-US" altLang="zh-CN" sz="1600" dirty="0">
              <a:latin typeface="+mn-ea"/>
            </a:endParaRPr>
          </a:p>
        </p:txBody>
      </p:sp>
      <p:sp>
        <p:nvSpPr>
          <p:cNvPr id="147" name="文本占位符 1">
            <a:extLst>
              <a:ext uri="{FF2B5EF4-FFF2-40B4-BE49-F238E27FC236}">
                <a16:creationId xmlns:a16="http://schemas.microsoft.com/office/drawing/2014/main" id="{418027E2-E202-5BAE-E098-A56345352B0A}"/>
              </a:ext>
            </a:extLst>
          </p:cNvPr>
          <p:cNvSpPr txBox="1">
            <a:spLocks/>
          </p:cNvSpPr>
          <p:nvPr/>
        </p:nvSpPr>
        <p:spPr>
          <a:xfrm>
            <a:off x="9475115" y="750852"/>
            <a:ext cx="2531504" cy="343711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>
                <a:latin typeface="+mn-ea"/>
              </a:rPr>
              <a:t>通过内容户决策</a:t>
            </a:r>
            <a:endParaRPr lang="en-US" altLang="zh-CN" sz="1600" dirty="0">
              <a:latin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" name="矩形: 圆角 21">
            <a:extLst>
              <a:ext uri="{FF2B5EF4-FFF2-40B4-BE49-F238E27FC236}">
                <a16:creationId xmlns:a16="http://schemas.microsoft.com/office/drawing/2014/main" id="{C9329C64-92D5-42C5-9A60-DFF35C234E59}"/>
              </a:ext>
            </a:extLst>
          </p:cNvPr>
          <p:cNvSpPr/>
          <p:nvPr/>
        </p:nvSpPr>
        <p:spPr>
          <a:xfrm>
            <a:off x="283645" y="1881260"/>
            <a:ext cx="2129377" cy="832432"/>
          </a:xfrm>
          <a:prstGeom prst="roundRect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基于真人私享化决策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4" name="矩形: 圆角 21">
            <a:extLst>
              <a:ext uri="{FF2B5EF4-FFF2-40B4-BE49-F238E27FC236}">
                <a16:creationId xmlns:a16="http://schemas.microsoft.com/office/drawing/2014/main" id="{8A295424-93DE-B107-FE83-1C7A8108A164}"/>
              </a:ext>
            </a:extLst>
          </p:cNvPr>
          <p:cNvSpPr/>
          <p:nvPr/>
        </p:nvSpPr>
        <p:spPr>
          <a:xfrm>
            <a:off x="6068003" y="3182033"/>
            <a:ext cx="2038754" cy="83243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社交网络、朋友圈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76" name="直接箭头连接符 175">
            <a:extLst>
              <a:ext uri="{FF2B5EF4-FFF2-40B4-BE49-F238E27FC236}">
                <a16:creationId xmlns:a16="http://schemas.microsoft.com/office/drawing/2014/main" id="{293D580D-9BCB-6E7B-3099-333A3B9B296E}"/>
              </a:ext>
            </a:extLst>
          </p:cNvPr>
          <p:cNvCxnSpPr/>
          <p:nvPr/>
        </p:nvCxnSpPr>
        <p:spPr>
          <a:xfrm>
            <a:off x="3540882" y="2554033"/>
            <a:ext cx="4793381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接箭头连接符 176">
            <a:extLst>
              <a:ext uri="{FF2B5EF4-FFF2-40B4-BE49-F238E27FC236}">
                <a16:creationId xmlns:a16="http://schemas.microsoft.com/office/drawing/2014/main" id="{01BB3763-D305-C6CF-F61C-B43E15A91111}"/>
              </a:ext>
            </a:extLst>
          </p:cNvPr>
          <p:cNvCxnSpPr>
            <a:cxnSpLocks/>
          </p:cNvCxnSpPr>
          <p:nvPr/>
        </p:nvCxnSpPr>
        <p:spPr>
          <a:xfrm>
            <a:off x="5887838" y="-158573"/>
            <a:ext cx="19943" cy="5211836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文本框 180">
            <a:extLst>
              <a:ext uri="{FF2B5EF4-FFF2-40B4-BE49-F238E27FC236}">
                <a16:creationId xmlns:a16="http://schemas.microsoft.com/office/drawing/2014/main" id="{8AE86973-B785-190D-7DEA-70DF30E98992}"/>
              </a:ext>
            </a:extLst>
          </p:cNvPr>
          <p:cNvSpPr txBox="1"/>
          <p:nvPr/>
        </p:nvSpPr>
        <p:spPr>
          <a:xfrm>
            <a:off x="8366785" y="2409808"/>
            <a:ext cx="7772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+mn-ea"/>
              </a:rPr>
              <a:t>线上</a:t>
            </a:r>
            <a:endParaRPr lang="zh-CN" altLang="en-US" sz="1600" dirty="0"/>
          </a:p>
        </p:txBody>
      </p:sp>
      <p:sp>
        <p:nvSpPr>
          <p:cNvPr id="182" name="文本框 181">
            <a:extLst>
              <a:ext uri="{FF2B5EF4-FFF2-40B4-BE49-F238E27FC236}">
                <a16:creationId xmlns:a16="http://schemas.microsoft.com/office/drawing/2014/main" id="{264DB64B-088D-0EC1-0784-D73A7D608547}"/>
              </a:ext>
            </a:extLst>
          </p:cNvPr>
          <p:cNvSpPr txBox="1"/>
          <p:nvPr/>
        </p:nvSpPr>
        <p:spPr>
          <a:xfrm>
            <a:off x="2911643" y="2409808"/>
            <a:ext cx="7772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+mn-ea"/>
              </a:rPr>
              <a:t>线下</a:t>
            </a:r>
            <a:endParaRPr lang="zh-CN" altLang="en-US" sz="1600" dirty="0"/>
          </a:p>
        </p:txBody>
      </p:sp>
      <p:sp>
        <p:nvSpPr>
          <p:cNvPr id="183" name="文本框 182">
            <a:extLst>
              <a:ext uri="{FF2B5EF4-FFF2-40B4-BE49-F238E27FC236}">
                <a16:creationId xmlns:a16="http://schemas.microsoft.com/office/drawing/2014/main" id="{32D179BC-F778-A94A-C75C-97AAF82C7AAD}"/>
              </a:ext>
            </a:extLst>
          </p:cNvPr>
          <p:cNvSpPr txBox="1"/>
          <p:nvPr/>
        </p:nvSpPr>
        <p:spPr>
          <a:xfrm>
            <a:off x="5471964" y="-587455"/>
            <a:ext cx="9581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陌生人</a:t>
            </a:r>
          </a:p>
        </p:txBody>
      </p:sp>
      <p:sp>
        <p:nvSpPr>
          <p:cNvPr id="184" name="文本框 183">
            <a:extLst>
              <a:ext uri="{FF2B5EF4-FFF2-40B4-BE49-F238E27FC236}">
                <a16:creationId xmlns:a16="http://schemas.microsoft.com/office/drawing/2014/main" id="{2FC3780D-07EF-97F0-DA49-FAD7AEAB00FE}"/>
              </a:ext>
            </a:extLst>
          </p:cNvPr>
          <p:cNvSpPr txBox="1"/>
          <p:nvPr/>
        </p:nvSpPr>
        <p:spPr>
          <a:xfrm>
            <a:off x="5627447" y="5208346"/>
            <a:ext cx="9581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熟人</a:t>
            </a:r>
          </a:p>
        </p:txBody>
      </p:sp>
      <p:sp>
        <p:nvSpPr>
          <p:cNvPr id="186" name="矩形: 圆角 21">
            <a:extLst>
              <a:ext uri="{FF2B5EF4-FFF2-40B4-BE49-F238E27FC236}">
                <a16:creationId xmlns:a16="http://schemas.microsoft.com/office/drawing/2014/main" id="{306CFA84-DBFC-D2BC-1F51-82B4F1776868}"/>
              </a:ext>
            </a:extLst>
          </p:cNvPr>
          <p:cNvSpPr/>
          <p:nvPr/>
        </p:nvSpPr>
        <p:spPr>
          <a:xfrm>
            <a:off x="3688858" y="3176153"/>
            <a:ext cx="2038757" cy="83243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朋友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家人口口相传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8" name="矩形: 圆角 21">
            <a:extLst>
              <a:ext uri="{FF2B5EF4-FFF2-40B4-BE49-F238E27FC236}">
                <a16:creationId xmlns:a16="http://schemas.microsoft.com/office/drawing/2014/main" id="{84402A68-664A-CA79-4453-574B6D6B83B2}"/>
              </a:ext>
            </a:extLst>
          </p:cNvPr>
          <p:cNvSpPr/>
          <p:nvPr/>
        </p:nvSpPr>
        <p:spPr>
          <a:xfrm>
            <a:off x="6068000" y="-8215"/>
            <a:ext cx="2038757" cy="81309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KOC/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一般用户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如何借助线上资产，构建：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证据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</a:rPr>
              <a:t>+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圈层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</a:rPr>
              <a:t>+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身份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1" name="矩形: 圆角 21">
            <a:extLst>
              <a:ext uri="{FF2B5EF4-FFF2-40B4-BE49-F238E27FC236}">
                <a16:creationId xmlns:a16="http://schemas.microsoft.com/office/drawing/2014/main" id="{45F9B325-BA0D-7B95-932D-EFAE22B4D7CC}"/>
              </a:ext>
            </a:extLst>
          </p:cNvPr>
          <p:cNvSpPr/>
          <p:nvPr/>
        </p:nvSpPr>
        <p:spPr>
          <a:xfrm>
            <a:off x="6068003" y="1943620"/>
            <a:ext cx="2038757" cy="486151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明星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marL="0" indent="0" algn="ctr">
              <a:buNone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强社会身份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+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粉丝圈层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2" name="矩形: 圆角 21">
            <a:extLst>
              <a:ext uri="{FF2B5EF4-FFF2-40B4-BE49-F238E27FC236}">
                <a16:creationId xmlns:a16="http://schemas.microsoft.com/office/drawing/2014/main" id="{CD145A59-D7B8-3D0F-D892-9DCF803CDB3F}"/>
              </a:ext>
            </a:extLst>
          </p:cNvPr>
          <p:cNvSpPr/>
          <p:nvPr/>
        </p:nvSpPr>
        <p:spPr>
          <a:xfrm>
            <a:off x="6068001" y="859957"/>
            <a:ext cx="2038757" cy="486151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厨师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marL="0" indent="0" algn="ctr">
              <a:buNone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职业证据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身份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+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菜系偏好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3" name="矩形: 圆角 21">
            <a:extLst>
              <a:ext uri="{FF2B5EF4-FFF2-40B4-BE49-F238E27FC236}">
                <a16:creationId xmlns:a16="http://schemas.microsoft.com/office/drawing/2014/main" id="{B21881C2-A0AD-469B-ADAB-68043227FA65}"/>
              </a:ext>
            </a:extLst>
          </p:cNvPr>
          <p:cNvSpPr/>
          <p:nvPr/>
        </p:nvSpPr>
        <p:spPr>
          <a:xfrm>
            <a:off x="6068002" y="1404757"/>
            <a:ext cx="2038757" cy="486151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美食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KOL</a:t>
            </a:r>
          </a:p>
          <a:p>
            <a:pPr marL="0" indent="0" algn="ctr">
              <a:buNone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持续创作证据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+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人设身份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6" name="矩形: 圆角 21">
            <a:extLst>
              <a:ext uri="{FF2B5EF4-FFF2-40B4-BE49-F238E27FC236}">
                <a16:creationId xmlns:a16="http://schemas.microsoft.com/office/drawing/2014/main" id="{433B8D98-B6D2-EBA6-BCC7-CE19A5F64647}"/>
              </a:ext>
            </a:extLst>
          </p:cNvPr>
          <p:cNvSpPr/>
          <p:nvPr/>
        </p:nvSpPr>
        <p:spPr>
          <a:xfrm>
            <a:off x="3638958" y="1943619"/>
            <a:ext cx="2038757" cy="486151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司机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marL="0" indent="0" algn="ctr">
              <a:buNone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长期本地工作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+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乘客反馈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7" name="矩形: 圆角 21">
            <a:extLst>
              <a:ext uri="{FF2B5EF4-FFF2-40B4-BE49-F238E27FC236}">
                <a16:creationId xmlns:a16="http://schemas.microsoft.com/office/drawing/2014/main" id="{76F252F9-5788-1B8A-8B6D-F2283CFB10D4}"/>
              </a:ext>
            </a:extLst>
          </p:cNvPr>
          <p:cNvSpPr/>
          <p:nvPr/>
        </p:nvSpPr>
        <p:spPr>
          <a:xfrm>
            <a:off x="3638957" y="1404174"/>
            <a:ext cx="2038757" cy="486151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酒店前台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marL="0" indent="0" algn="ctr">
              <a:buNone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长期本地工作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+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旅客反馈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8" name="矩形: 圆角 21">
            <a:extLst>
              <a:ext uri="{FF2B5EF4-FFF2-40B4-BE49-F238E27FC236}">
                <a16:creationId xmlns:a16="http://schemas.microsoft.com/office/drawing/2014/main" id="{C31F9CE2-5915-8F82-0615-A704135FEE1A}"/>
              </a:ext>
            </a:extLst>
          </p:cNvPr>
          <p:cNvSpPr/>
          <p:nvPr/>
        </p:nvSpPr>
        <p:spPr>
          <a:xfrm>
            <a:off x="3638956" y="865076"/>
            <a:ext cx="2038757" cy="486151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邻桌食客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marL="0" indent="0" algn="ctr">
              <a:buNone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花钱证据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+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反馈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+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直观品相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965410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: 圆角 21">
            <a:extLst>
              <a:ext uri="{FF2B5EF4-FFF2-40B4-BE49-F238E27FC236}">
                <a16:creationId xmlns:a16="http://schemas.microsoft.com/office/drawing/2014/main" id="{23F7AB87-9E36-DBA0-9174-5A66A8FC2BF0}"/>
              </a:ext>
            </a:extLst>
          </p:cNvPr>
          <p:cNvSpPr/>
          <p:nvPr/>
        </p:nvSpPr>
        <p:spPr>
          <a:xfrm>
            <a:off x="-751140" y="1041158"/>
            <a:ext cx="1451009" cy="83243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决策用户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" name="矩形: 圆角 21">
            <a:extLst>
              <a:ext uri="{FF2B5EF4-FFF2-40B4-BE49-F238E27FC236}">
                <a16:creationId xmlns:a16="http://schemas.microsoft.com/office/drawing/2014/main" id="{1391E132-040D-7677-55F9-5B7AE1491871}"/>
              </a:ext>
            </a:extLst>
          </p:cNvPr>
          <p:cNvSpPr/>
          <p:nvPr/>
        </p:nvSpPr>
        <p:spPr>
          <a:xfrm>
            <a:off x="2371336" y="208498"/>
            <a:ext cx="2128303" cy="83243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基于平台公信力决策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榜单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星级等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3" name="矩形: 圆角 21">
            <a:extLst>
              <a:ext uri="{FF2B5EF4-FFF2-40B4-BE49-F238E27FC236}">
                <a16:creationId xmlns:a16="http://schemas.microsoft.com/office/drawing/2014/main" id="{F6CD3A5C-4EEB-526B-0237-45A060B64506}"/>
              </a:ext>
            </a:extLst>
          </p:cNvPr>
          <p:cNvSpPr/>
          <p:nvPr/>
        </p:nvSpPr>
        <p:spPr>
          <a:xfrm>
            <a:off x="2371336" y="1844307"/>
            <a:ext cx="2128303" cy="832432"/>
          </a:xfrm>
          <a:prstGeom prst="roundRect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基于真人私享化决策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marL="0" indent="0" algn="ctr">
              <a:buNone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笔记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合集等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cxnSp>
        <p:nvCxnSpPr>
          <p:cNvPr id="18" name="连接符: 肘形 17">
            <a:extLst>
              <a:ext uri="{FF2B5EF4-FFF2-40B4-BE49-F238E27FC236}">
                <a16:creationId xmlns:a16="http://schemas.microsoft.com/office/drawing/2014/main" id="{190D24EF-F493-E621-3BB3-313048CE3E44}"/>
              </a:ext>
            </a:extLst>
          </p:cNvPr>
          <p:cNvCxnSpPr>
            <a:cxnSpLocks/>
            <a:stCxn id="19" idx="3"/>
            <a:endCxn id="11" idx="1"/>
          </p:cNvCxnSpPr>
          <p:nvPr/>
        </p:nvCxnSpPr>
        <p:spPr>
          <a:xfrm flipV="1">
            <a:off x="699869" y="624714"/>
            <a:ext cx="1671467" cy="832660"/>
          </a:xfrm>
          <a:prstGeom prst="bentConnector3">
            <a:avLst>
              <a:gd name="adj1" fmla="val 7836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连接符: 肘形 19">
            <a:extLst>
              <a:ext uri="{FF2B5EF4-FFF2-40B4-BE49-F238E27FC236}">
                <a16:creationId xmlns:a16="http://schemas.microsoft.com/office/drawing/2014/main" id="{8C2FF635-A364-4BEC-A5D7-9CBEFAB7733A}"/>
              </a:ext>
            </a:extLst>
          </p:cNvPr>
          <p:cNvCxnSpPr>
            <a:cxnSpLocks/>
            <a:stCxn id="19" idx="3"/>
            <a:endCxn id="13" idx="1"/>
          </p:cNvCxnSpPr>
          <p:nvPr/>
        </p:nvCxnSpPr>
        <p:spPr>
          <a:xfrm>
            <a:off x="699869" y="1457374"/>
            <a:ext cx="1671467" cy="803149"/>
          </a:xfrm>
          <a:prstGeom prst="bentConnector3">
            <a:avLst>
              <a:gd name="adj1" fmla="val 7786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连接符: 肘形 30">
            <a:extLst>
              <a:ext uri="{FF2B5EF4-FFF2-40B4-BE49-F238E27FC236}">
                <a16:creationId xmlns:a16="http://schemas.microsoft.com/office/drawing/2014/main" id="{5D1F7551-DAAF-EDFF-BBEF-8DBD9C793CA9}"/>
              </a:ext>
            </a:extLst>
          </p:cNvPr>
          <p:cNvCxnSpPr>
            <a:cxnSpLocks/>
            <a:stCxn id="11" idx="3"/>
            <a:endCxn id="52" idx="1"/>
          </p:cNvCxnSpPr>
          <p:nvPr/>
        </p:nvCxnSpPr>
        <p:spPr>
          <a:xfrm flipV="1">
            <a:off x="4499639" y="620915"/>
            <a:ext cx="2193462" cy="379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38BB32A4-FBC0-F21A-817C-ADD1236CF92A}"/>
              </a:ext>
            </a:extLst>
          </p:cNvPr>
          <p:cNvCxnSpPr>
            <a:cxnSpLocks/>
            <a:stCxn id="13" idx="3"/>
            <a:endCxn id="132" idx="1"/>
          </p:cNvCxnSpPr>
          <p:nvPr/>
        </p:nvCxnSpPr>
        <p:spPr>
          <a:xfrm flipV="1">
            <a:off x="4499639" y="2258625"/>
            <a:ext cx="2200878" cy="189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占位符 1">
            <a:extLst>
              <a:ext uri="{FF2B5EF4-FFF2-40B4-BE49-F238E27FC236}">
                <a16:creationId xmlns:a16="http://schemas.microsoft.com/office/drawing/2014/main" id="{39A0ADA5-C306-1BEE-092C-3180A117F973}"/>
              </a:ext>
            </a:extLst>
          </p:cNvPr>
          <p:cNvSpPr txBox="1">
            <a:spLocks/>
          </p:cNvSpPr>
          <p:nvPr/>
        </p:nvSpPr>
        <p:spPr>
          <a:xfrm>
            <a:off x="4499639" y="768918"/>
            <a:ext cx="2069076" cy="233102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dirty="0">
                <a:latin typeface="+mn-ea"/>
              </a:rPr>
              <a:t>平台积累的数据资产</a:t>
            </a:r>
            <a:endParaRPr lang="en-US" altLang="zh-CN" sz="1200" dirty="0">
              <a:latin typeface="+mn-ea"/>
            </a:endParaRPr>
          </a:p>
        </p:txBody>
      </p:sp>
      <p:sp>
        <p:nvSpPr>
          <p:cNvPr id="40" name="文本占位符 1">
            <a:extLst>
              <a:ext uri="{FF2B5EF4-FFF2-40B4-BE49-F238E27FC236}">
                <a16:creationId xmlns:a16="http://schemas.microsoft.com/office/drawing/2014/main" id="{E97F8818-1BE3-CBF9-CDBE-F067C5137DAF}"/>
              </a:ext>
            </a:extLst>
          </p:cNvPr>
          <p:cNvSpPr txBox="1">
            <a:spLocks/>
          </p:cNvSpPr>
          <p:nvPr/>
        </p:nvSpPr>
        <p:spPr>
          <a:xfrm>
            <a:off x="4484281" y="1975811"/>
            <a:ext cx="2069076" cy="30283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dirty="0">
                <a:latin typeface="+mn-ea"/>
              </a:rPr>
              <a:t>用户个人行为及资产</a:t>
            </a:r>
            <a:endParaRPr lang="en-US" altLang="zh-CN" sz="1200" dirty="0">
              <a:latin typeface="+mn-ea"/>
            </a:endParaRP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7AB0AD82-89E3-657E-A87E-8D956B6BE958}"/>
              </a:ext>
            </a:extLst>
          </p:cNvPr>
          <p:cNvCxnSpPr>
            <a:cxnSpLocks/>
            <a:stCxn id="40" idx="0"/>
            <a:endCxn id="39" idx="2"/>
          </p:cNvCxnSpPr>
          <p:nvPr/>
        </p:nvCxnSpPr>
        <p:spPr>
          <a:xfrm flipV="1">
            <a:off x="5518819" y="1002020"/>
            <a:ext cx="15358" cy="973791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文本占位符 1">
            <a:extLst>
              <a:ext uri="{FF2B5EF4-FFF2-40B4-BE49-F238E27FC236}">
                <a16:creationId xmlns:a16="http://schemas.microsoft.com/office/drawing/2014/main" id="{3A4995A7-60BA-EE6C-7789-242C15EC0563}"/>
              </a:ext>
            </a:extLst>
          </p:cNvPr>
          <p:cNvSpPr txBox="1">
            <a:spLocks/>
          </p:cNvSpPr>
          <p:nvPr/>
        </p:nvSpPr>
        <p:spPr>
          <a:xfrm>
            <a:off x="4897622" y="1355304"/>
            <a:ext cx="670135" cy="233102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dirty="0">
                <a:latin typeface="+mn-ea"/>
              </a:rPr>
              <a:t>组成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38" name="矩形: 圆角 137">
            <a:extLst>
              <a:ext uri="{FF2B5EF4-FFF2-40B4-BE49-F238E27FC236}">
                <a16:creationId xmlns:a16="http://schemas.microsoft.com/office/drawing/2014/main" id="{4F2FCE72-93EA-695F-1D8C-DFBDCAE4D136}"/>
              </a:ext>
            </a:extLst>
          </p:cNvPr>
          <p:cNvSpPr/>
          <p:nvPr/>
        </p:nvSpPr>
        <p:spPr>
          <a:xfrm>
            <a:off x="3064849" y="4731601"/>
            <a:ext cx="719736" cy="41361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司机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1" name="文本占位符 1">
            <a:extLst>
              <a:ext uri="{FF2B5EF4-FFF2-40B4-BE49-F238E27FC236}">
                <a16:creationId xmlns:a16="http://schemas.microsoft.com/office/drawing/2014/main" id="{B7DE8BB2-690E-33BD-E5DF-6E03695FD22A}"/>
              </a:ext>
            </a:extLst>
          </p:cNvPr>
          <p:cNvSpPr txBox="1">
            <a:spLocks/>
          </p:cNvSpPr>
          <p:nvPr/>
        </p:nvSpPr>
        <p:spPr>
          <a:xfrm>
            <a:off x="3668999" y="4799789"/>
            <a:ext cx="1806001" cy="343711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dirty="0">
                <a:latin typeface="+mn-ea"/>
              </a:rPr>
              <a:t>长期本地人</a:t>
            </a:r>
            <a:r>
              <a:rPr lang="en-US" altLang="zh-CN" sz="1200" dirty="0">
                <a:latin typeface="+mn-ea"/>
              </a:rPr>
              <a:t>+</a:t>
            </a:r>
            <a:r>
              <a:rPr lang="zh-CN" altLang="en-US" sz="1200" dirty="0">
                <a:latin typeface="+mn-ea"/>
              </a:rPr>
              <a:t>乘客反馈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42" name="矩形: 圆角 141">
            <a:extLst>
              <a:ext uri="{FF2B5EF4-FFF2-40B4-BE49-F238E27FC236}">
                <a16:creationId xmlns:a16="http://schemas.microsoft.com/office/drawing/2014/main" id="{DDE8EAFD-2FB7-BACB-7F69-BB9F6AFB9176}"/>
              </a:ext>
            </a:extLst>
          </p:cNvPr>
          <p:cNvSpPr/>
          <p:nvPr/>
        </p:nvSpPr>
        <p:spPr>
          <a:xfrm>
            <a:off x="3064849" y="5169061"/>
            <a:ext cx="719736" cy="41361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邻桌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3" name="文本占位符 1">
            <a:extLst>
              <a:ext uri="{FF2B5EF4-FFF2-40B4-BE49-F238E27FC236}">
                <a16:creationId xmlns:a16="http://schemas.microsoft.com/office/drawing/2014/main" id="{B431FC4E-40CD-6E72-396F-FD428FD4CB6B}"/>
              </a:ext>
            </a:extLst>
          </p:cNvPr>
          <p:cNvSpPr txBox="1">
            <a:spLocks/>
          </p:cNvSpPr>
          <p:nvPr/>
        </p:nvSpPr>
        <p:spPr>
          <a:xfrm>
            <a:off x="3784586" y="5237249"/>
            <a:ext cx="1593268" cy="343711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dirty="0">
                <a:latin typeface="+mn-ea"/>
              </a:rPr>
              <a:t>亲测亲点</a:t>
            </a:r>
            <a:r>
              <a:rPr lang="en-US" altLang="zh-CN" sz="1200" dirty="0">
                <a:latin typeface="+mn-ea"/>
              </a:rPr>
              <a:t>+</a:t>
            </a:r>
            <a:r>
              <a:rPr lang="zh-CN" altLang="en-US" sz="1200" dirty="0">
                <a:latin typeface="+mn-ea"/>
              </a:rPr>
              <a:t>信息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44" name="矩形: 圆角 143">
            <a:extLst>
              <a:ext uri="{FF2B5EF4-FFF2-40B4-BE49-F238E27FC236}">
                <a16:creationId xmlns:a16="http://schemas.microsoft.com/office/drawing/2014/main" id="{BC732998-8276-5E4C-B2EC-6008F4EA1B7A}"/>
              </a:ext>
            </a:extLst>
          </p:cNvPr>
          <p:cNvSpPr/>
          <p:nvPr/>
        </p:nvSpPr>
        <p:spPr>
          <a:xfrm>
            <a:off x="3055629" y="5635344"/>
            <a:ext cx="719736" cy="41361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线上陌生人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6" name="文本占位符 1">
            <a:extLst>
              <a:ext uri="{FF2B5EF4-FFF2-40B4-BE49-F238E27FC236}">
                <a16:creationId xmlns:a16="http://schemas.microsoft.com/office/drawing/2014/main" id="{286DEC57-EC08-7383-F67F-6572FB3F8067}"/>
              </a:ext>
            </a:extLst>
          </p:cNvPr>
          <p:cNvSpPr txBox="1">
            <a:spLocks/>
          </p:cNvSpPr>
          <p:nvPr/>
        </p:nvSpPr>
        <p:spPr>
          <a:xfrm>
            <a:off x="3775366" y="5703532"/>
            <a:ext cx="1593268" cy="343711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dirty="0">
                <a:latin typeface="+mn-ea"/>
              </a:rPr>
              <a:t>证据</a:t>
            </a:r>
            <a:r>
              <a:rPr lang="en-US" altLang="zh-CN" sz="1200" dirty="0">
                <a:latin typeface="+mn-ea"/>
              </a:rPr>
              <a:t>+</a:t>
            </a:r>
            <a:r>
              <a:rPr lang="zh-CN" altLang="en-US" sz="1200" dirty="0">
                <a:latin typeface="+mn-ea"/>
              </a:rPr>
              <a:t>同好</a:t>
            </a:r>
            <a:r>
              <a:rPr lang="en-US" altLang="zh-CN" sz="1200" dirty="0">
                <a:latin typeface="+mn-ea"/>
              </a:rPr>
              <a:t>+</a:t>
            </a:r>
            <a:r>
              <a:rPr lang="zh-CN" altLang="en-US" sz="1200" dirty="0">
                <a:latin typeface="+mn-ea"/>
              </a:rPr>
              <a:t>能力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B9BEFAA3-3A0A-4406-EE85-ED456A01ED94}"/>
              </a:ext>
            </a:extLst>
          </p:cNvPr>
          <p:cNvSpPr txBox="1"/>
          <p:nvPr/>
        </p:nvSpPr>
        <p:spPr>
          <a:xfrm>
            <a:off x="2080158" y="999743"/>
            <a:ext cx="26841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算法规则驱动、聚合数据</a:t>
            </a:r>
            <a:endParaRPr lang="en-US" altLang="zh-CN" sz="1200" dirty="0">
              <a:latin typeface="+mn-ea"/>
            </a:endParaRPr>
          </a:p>
          <a:p>
            <a:pPr algn="ctr"/>
            <a:r>
              <a:rPr lang="zh-CN" altLang="en-US" sz="1200" b="0" i="0" dirty="0">
                <a:effectLst/>
                <a:latin typeface="+mn-ea"/>
              </a:rPr>
              <a:t>追求：大众、客观、</a:t>
            </a:r>
            <a:r>
              <a:rPr lang="zh-CN" altLang="en-US" sz="1200" dirty="0">
                <a:latin typeface="+mn-ea"/>
              </a:rPr>
              <a:t>排</a:t>
            </a:r>
            <a:r>
              <a:rPr lang="zh-CN" altLang="en-US" sz="1200" b="0" i="0" dirty="0">
                <a:effectLst/>
                <a:latin typeface="+mn-ea"/>
              </a:rPr>
              <a:t>雷</a:t>
            </a:r>
            <a:endParaRPr lang="zh-CN" altLang="en-US" sz="1200" dirty="0">
              <a:latin typeface="+mn-ea"/>
            </a:endParaRP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2173C3DE-8E9D-0024-4446-732AB782AAB7}"/>
              </a:ext>
            </a:extLst>
          </p:cNvPr>
          <p:cNvSpPr txBox="1"/>
          <p:nvPr/>
        </p:nvSpPr>
        <p:spPr>
          <a:xfrm>
            <a:off x="2156286" y="2664897"/>
            <a:ext cx="26841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个人品味驱动、关联行为</a:t>
            </a:r>
            <a:endParaRPr lang="en-US" altLang="zh-CN" sz="1200" dirty="0">
              <a:latin typeface="+mn-ea"/>
            </a:endParaRPr>
          </a:p>
          <a:p>
            <a:pPr algn="ctr"/>
            <a:r>
              <a:rPr lang="zh-CN" altLang="en-US" sz="1200" b="0" i="0" dirty="0">
                <a:effectLst/>
                <a:latin typeface="+mn-ea"/>
              </a:rPr>
              <a:t>追求：</a:t>
            </a:r>
            <a:r>
              <a:rPr lang="zh-CN" altLang="en-US" sz="1200" dirty="0">
                <a:latin typeface="+mn-ea"/>
              </a:rPr>
              <a:t>个性</a:t>
            </a:r>
            <a:r>
              <a:rPr lang="zh-CN" altLang="en-US" sz="1200" b="0" i="0" dirty="0">
                <a:effectLst/>
                <a:latin typeface="+mn-ea"/>
              </a:rPr>
              <a:t>、</a:t>
            </a:r>
            <a:r>
              <a:rPr lang="zh-CN" altLang="en-US" sz="1200" dirty="0">
                <a:latin typeface="+mn-ea"/>
              </a:rPr>
              <a:t>主观</a:t>
            </a:r>
            <a:r>
              <a:rPr lang="zh-CN" altLang="en-US" sz="1200" b="0" i="0" dirty="0">
                <a:effectLst/>
                <a:latin typeface="+mn-ea"/>
              </a:rPr>
              <a:t>、有趣</a:t>
            </a:r>
            <a:endParaRPr lang="zh-CN" altLang="en-US" sz="1200" dirty="0">
              <a:latin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E9D33EA-AE92-0D0C-9E2B-1BF35AFC0C68}"/>
              </a:ext>
            </a:extLst>
          </p:cNvPr>
          <p:cNvSpPr txBox="1"/>
          <p:nvPr/>
        </p:nvSpPr>
        <p:spPr>
          <a:xfrm>
            <a:off x="528507" y="583527"/>
            <a:ext cx="15516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+mn-ea"/>
              </a:rPr>
              <a:t>区分“好</a:t>
            </a:r>
            <a:r>
              <a:rPr lang="en-US" altLang="zh-CN" sz="1200" dirty="0">
                <a:latin typeface="+mn-ea"/>
              </a:rPr>
              <a:t>/</a:t>
            </a:r>
            <a:r>
              <a:rPr lang="zh-CN" altLang="en-US" sz="1200" dirty="0">
                <a:latin typeface="+mn-ea"/>
              </a:rPr>
              <a:t>坏”决策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4F522FF-A728-B071-D6AA-2B686318FE38}"/>
              </a:ext>
            </a:extLst>
          </p:cNvPr>
          <p:cNvSpPr txBox="1"/>
          <p:nvPr/>
        </p:nvSpPr>
        <p:spPr>
          <a:xfrm>
            <a:off x="528506" y="2093642"/>
            <a:ext cx="15474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+mn-ea"/>
              </a:rPr>
              <a:t>选择“同</a:t>
            </a:r>
            <a:r>
              <a:rPr lang="en-US" altLang="zh-CN" sz="1200" dirty="0">
                <a:latin typeface="+mn-ea"/>
              </a:rPr>
              <a:t>/</a:t>
            </a:r>
            <a:r>
              <a:rPr lang="zh-CN" altLang="en-US" sz="1200" dirty="0">
                <a:latin typeface="+mn-ea"/>
              </a:rPr>
              <a:t>异”决策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EF496CE6-B497-B679-40C3-D62138596725}"/>
              </a:ext>
            </a:extLst>
          </p:cNvPr>
          <p:cNvSpPr/>
          <p:nvPr/>
        </p:nvSpPr>
        <p:spPr>
          <a:xfrm>
            <a:off x="8324018" y="-1818393"/>
            <a:ext cx="482746" cy="48274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FF4F274-CCD4-B1E4-8447-8EE7A170AB1E}"/>
              </a:ext>
            </a:extLst>
          </p:cNvPr>
          <p:cNvSpPr/>
          <p:nvPr/>
        </p:nvSpPr>
        <p:spPr>
          <a:xfrm>
            <a:off x="8861960" y="-1818377"/>
            <a:ext cx="482746" cy="48274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848AE0F5-95B6-B921-71BE-1FDC1502CC23}"/>
              </a:ext>
            </a:extLst>
          </p:cNvPr>
          <p:cNvSpPr/>
          <p:nvPr/>
        </p:nvSpPr>
        <p:spPr>
          <a:xfrm>
            <a:off x="9394400" y="-1809910"/>
            <a:ext cx="482746" cy="48274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D22FF2A-32DA-346B-3BD8-3CD1B4A8923D}"/>
              </a:ext>
            </a:extLst>
          </p:cNvPr>
          <p:cNvSpPr txBox="1"/>
          <p:nvPr/>
        </p:nvSpPr>
        <p:spPr>
          <a:xfrm>
            <a:off x="8312713" y="-1831107"/>
            <a:ext cx="4940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统计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latin typeface="+mn-ea"/>
              </a:rPr>
              <a:t>评选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B653385-199A-129C-8612-55C28CF6164D}"/>
              </a:ext>
            </a:extLst>
          </p:cNvPr>
          <p:cNvSpPr txBox="1"/>
          <p:nvPr/>
        </p:nvSpPr>
        <p:spPr>
          <a:xfrm>
            <a:off x="8655248" y="-1831975"/>
            <a:ext cx="8825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GC</a:t>
            </a: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挖掘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9B1CDB5-D561-9234-F5F8-F62D8F8C67AD}"/>
              </a:ext>
            </a:extLst>
          </p:cNvPr>
          <p:cNvSpPr txBox="1"/>
          <p:nvPr/>
        </p:nvSpPr>
        <p:spPr>
          <a:xfrm>
            <a:off x="9227225" y="-1809910"/>
            <a:ext cx="8263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用户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打标</a:t>
            </a:r>
          </a:p>
        </p:txBody>
      </p:sp>
      <p:sp>
        <p:nvSpPr>
          <p:cNvPr id="52" name="矩形: 圆角 21">
            <a:extLst>
              <a:ext uri="{FF2B5EF4-FFF2-40B4-BE49-F238E27FC236}">
                <a16:creationId xmlns:a16="http://schemas.microsoft.com/office/drawing/2014/main" id="{558AF731-9E03-355D-DC3D-C27D3CD5DF90}"/>
              </a:ext>
            </a:extLst>
          </p:cNvPr>
          <p:cNvSpPr/>
          <p:nvPr/>
        </p:nvSpPr>
        <p:spPr>
          <a:xfrm>
            <a:off x="6693101" y="204699"/>
            <a:ext cx="1451009" cy="83243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头部商家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2" name="矩形: 圆角 21">
            <a:extLst>
              <a:ext uri="{FF2B5EF4-FFF2-40B4-BE49-F238E27FC236}">
                <a16:creationId xmlns:a16="http://schemas.microsoft.com/office/drawing/2014/main" id="{AFB73AE7-5712-1108-E066-596DD2056295}"/>
              </a:ext>
            </a:extLst>
          </p:cNvPr>
          <p:cNvSpPr/>
          <p:nvPr/>
        </p:nvSpPr>
        <p:spPr>
          <a:xfrm>
            <a:off x="6700517" y="1844307"/>
            <a:ext cx="1412076" cy="82863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头部商家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37" name="矩形: 圆角 21">
            <a:extLst>
              <a:ext uri="{FF2B5EF4-FFF2-40B4-BE49-F238E27FC236}">
                <a16:creationId xmlns:a16="http://schemas.microsoft.com/office/drawing/2014/main" id="{E8D1A90E-CD25-7D8D-EF6C-37581EC6EFE9}"/>
              </a:ext>
            </a:extLst>
          </p:cNvPr>
          <p:cNvSpPr/>
          <p:nvPr/>
        </p:nvSpPr>
        <p:spPr>
          <a:xfrm>
            <a:off x="8694558" y="1874790"/>
            <a:ext cx="1633702" cy="791307"/>
          </a:xfrm>
          <a:prstGeom prst="roundRect">
            <a:avLst/>
          </a:pr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tx1"/>
                </a:solidFill>
                <a:latin typeface="+mn-ea"/>
              </a:rPr>
              <a:t>特色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长</a:t>
            </a:r>
            <a:r>
              <a:rPr lang="zh-CN" altLang="en-US" sz="1600">
                <a:solidFill>
                  <a:schemeClr val="tx1"/>
                </a:solidFill>
                <a:latin typeface="+mn-ea"/>
              </a:rPr>
              <a:t>尾商家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7" name="加号 146">
            <a:extLst>
              <a:ext uri="{FF2B5EF4-FFF2-40B4-BE49-F238E27FC236}">
                <a16:creationId xmlns:a16="http://schemas.microsoft.com/office/drawing/2014/main" id="{8CCE8B93-D1B9-A830-BECD-E4C1D8553569}"/>
              </a:ext>
            </a:extLst>
          </p:cNvPr>
          <p:cNvSpPr/>
          <p:nvPr/>
        </p:nvSpPr>
        <p:spPr>
          <a:xfrm>
            <a:off x="8259753" y="2115725"/>
            <a:ext cx="250977" cy="273204"/>
          </a:xfrm>
          <a:prstGeom prst="mathPlus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3" name="椭圆 162">
            <a:extLst>
              <a:ext uri="{FF2B5EF4-FFF2-40B4-BE49-F238E27FC236}">
                <a16:creationId xmlns:a16="http://schemas.microsoft.com/office/drawing/2014/main" id="{DB8DD501-33EF-144A-30BF-A1D58D1FFD52}"/>
              </a:ext>
            </a:extLst>
          </p:cNvPr>
          <p:cNvSpPr/>
          <p:nvPr/>
        </p:nvSpPr>
        <p:spPr>
          <a:xfrm>
            <a:off x="9549080" y="-1083125"/>
            <a:ext cx="482746" cy="48274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4" name="文本框 163">
            <a:extLst>
              <a:ext uri="{FF2B5EF4-FFF2-40B4-BE49-F238E27FC236}">
                <a16:creationId xmlns:a16="http://schemas.microsoft.com/office/drawing/2014/main" id="{9318962F-7A7F-5CB3-2F52-C70F527584E5}"/>
              </a:ext>
            </a:extLst>
          </p:cNvPr>
          <p:cNvSpPr txBox="1"/>
          <p:nvPr/>
        </p:nvSpPr>
        <p:spPr>
          <a:xfrm>
            <a:off x="9537775" y="-1095839"/>
            <a:ext cx="4940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统一资产</a:t>
            </a:r>
          </a:p>
        </p:txBody>
      </p:sp>
      <p:sp>
        <p:nvSpPr>
          <p:cNvPr id="165" name="椭圆 164">
            <a:extLst>
              <a:ext uri="{FF2B5EF4-FFF2-40B4-BE49-F238E27FC236}">
                <a16:creationId xmlns:a16="http://schemas.microsoft.com/office/drawing/2014/main" id="{38F6E13F-A21F-EA21-34A6-114222FF9CB2}"/>
              </a:ext>
            </a:extLst>
          </p:cNvPr>
          <p:cNvSpPr/>
          <p:nvPr/>
        </p:nvSpPr>
        <p:spPr>
          <a:xfrm>
            <a:off x="10043131" y="-1085591"/>
            <a:ext cx="482746" cy="48274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6" name="文本框 165">
            <a:extLst>
              <a:ext uri="{FF2B5EF4-FFF2-40B4-BE49-F238E27FC236}">
                <a16:creationId xmlns:a16="http://schemas.microsoft.com/office/drawing/2014/main" id="{78E2F042-ECAD-7589-5E75-BC0D18F93A53}"/>
              </a:ext>
            </a:extLst>
          </p:cNvPr>
          <p:cNvSpPr txBox="1"/>
          <p:nvPr/>
        </p:nvSpPr>
        <p:spPr>
          <a:xfrm>
            <a:off x="10031826" y="-1098305"/>
            <a:ext cx="4940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官方标签</a:t>
            </a:r>
          </a:p>
        </p:txBody>
      </p:sp>
      <p:sp>
        <p:nvSpPr>
          <p:cNvPr id="169" name="椭圆 168">
            <a:extLst>
              <a:ext uri="{FF2B5EF4-FFF2-40B4-BE49-F238E27FC236}">
                <a16:creationId xmlns:a16="http://schemas.microsoft.com/office/drawing/2014/main" id="{28B07A38-D1B1-D4C7-67A7-709C2DD6DD4B}"/>
              </a:ext>
            </a:extLst>
          </p:cNvPr>
          <p:cNvSpPr/>
          <p:nvPr/>
        </p:nvSpPr>
        <p:spPr>
          <a:xfrm>
            <a:off x="7282956" y="5419691"/>
            <a:ext cx="482746" cy="48274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0" name="文本框 169">
            <a:extLst>
              <a:ext uri="{FF2B5EF4-FFF2-40B4-BE49-F238E27FC236}">
                <a16:creationId xmlns:a16="http://schemas.microsoft.com/office/drawing/2014/main" id="{62E648D8-704D-5B00-F457-C1A0B79D805C}"/>
              </a:ext>
            </a:extLst>
          </p:cNvPr>
          <p:cNvSpPr txBox="1"/>
          <p:nvPr/>
        </p:nvSpPr>
        <p:spPr>
          <a:xfrm>
            <a:off x="7271651" y="5406977"/>
            <a:ext cx="4940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圈层</a:t>
            </a:r>
            <a:r>
              <a:rPr lang="zh-CN" altLang="en-US" sz="1200" dirty="0">
                <a:latin typeface="+mn-ea"/>
              </a:rPr>
              <a:t>资产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1" name="椭圆 170">
            <a:extLst>
              <a:ext uri="{FF2B5EF4-FFF2-40B4-BE49-F238E27FC236}">
                <a16:creationId xmlns:a16="http://schemas.microsoft.com/office/drawing/2014/main" id="{7E7814AF-1F77-CA0C-7A2F-0622E3C56FA8}"/>
              </a:ext>
            </a:extLst>
          </p:cNvPr>
          <p:cNvSpPr/>
          <p:nvPr/>
        </p:nvSpPr>
        <p:spPr>
          <a:xfrm>
            <a:off x="7777007" y="5417225"/>
            <a:ext cx="482746" cy="48274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D3FA110C-9262-B683-D321-2FAC72D7FC45}"/>
              </a:ext>
            </a:extLst>
          </p:cNvPr>
          <p:cNvSpPr txBox="1"/>
          <p:nvPr/>
        </p:nvSpPr>
        <p:spPr>
          <a:xfrm>
            <a:off x="7765702" y="5404511"/>
            <a:ext cx="4940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用户打标</a:t>
            </a:r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AC6A6665-48A3-B4B6-0651-90A954E57014}"/>
              </a:ext>
            </a:extLst>
          </p:cNvPr>
          <p:cNvSpPr txBox="1"/>
          <p:nvPr/>
        </p:nvSpPr>
        <p:spPr>
          <a:xfrm>
            <a:off x="942639" y="-1941533"/>
            <a:ext cx="66435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/>
            <a:r>
              <a:rPr lang="en-US" altLang="zh-CN" dirty="0">
                <a:effectLst/>
              </a:rPr>
              <a:t>3.</a:t>
            </a:r>
            <a:r>
              <a:rPr lang="zh-CN" altLang="en-US" dirty="0">
                <a:effectLst/>
              </a:rPr>
              <a:t>商家满足了什么增量需求</a:t>
            </a:r>
          </a:p>
          <a:p>
            <a:pPr marR="0"/>
            <a:r>
              <a:rPr lang="en-US" altLang="zh-CN" dirty="0">
                <a:effectLst/>
              </a:rPr>
              <a:t>a. </a:t>
            </a:r>
            <a:r>
              <a:rPr lang="zh-CN" altLang="en-US" dirty="0">
                <a:effectLst/>
              </a:rPr>
              <a:t>获得精准用户、精准</a:t>
            </a:r>
            <a:r>
              <a:rPr lang="en-US" altLang="zh-CN" dirty="0">
                <a:effectLst/>
              </a:rPr>
              <a:t>GC</a:t>
            </a:r>
            <a:r>
              <a:rPr lang="zh-CN" altLang="en-US" dirty="0">
                <a:effectLst/>
              </a:rPr>
              <a:t>，拥有一种更精细化的商家</a:t>
            </a:r>
            <a:r>
              <a:rPr lang="en-US" altLang="zh-CN" dirty="0">
                <a:effectLst/>
              </a:rPr>
              <a:t>-</a:t>
            </a:r>
            <a:r>
              <a:rPr lang="zh-CN" altLang="en-US" dirty="0">
                <a:effectLst/>
              </a:rPr>
              <a:t>用户关系</a:t>
            </a:r>
          </a:p>
          <a:p>
            <a:pPr marR="0"/>
            <a:r>
              <a:rPr lang="en-US" altLang="zh-CN" dirty="0">
                <a:effectLst/>
              </a:rPr>
              <a:t>b. </a:t>
            </a:r>
            <a:r>
              <a:rPr lang="zh-CN" altLang="en-US" dirty="0">
                <a:effectLst/>
              </a:rPr>
              <a:t>可以更精准的运营，如基于私藏美食集发布任务和定向邀请等。</a:t>
            </a:r>
          </a:p>
        </p:txBody>
      </p:sp>
      <p:cxnSp>
        <p:nvCxnSpPr>
          <p:cNvPr id="175" name="连接符: 肘形 174">
            <a:extLst>
              <a:ext uri="{FF2B5EF4-FFF2-40B4-BE49-F238E27FC236}">
                <a16:creationId xmlns:a16="http://schemas.microsoft.com/office/drawing/2014/main" id="{383CF8DE-5BC0-9567-87D9-6344B78F18DD}"/>
              </a:ext>
            </a:extLst>
          </p:cNvPr>
          <p:cNvCxnSpPr>
            <a:cxnSpLocks/>
            <a:stCxn id="179" idx="2"/>
            <a:endCxn id="14" idx="2"/>
          </p:cNvCxnSpPr>
          <p:nvPr/>
        </p:nvCxnSpPr>
        <p:spPr>
          <a:xfrm rot="5400000" flipH="1">
            <a:off x="4429800" y="-756929"/>
            <a:ext cx="943855" cy="7198997"/>
          </a:xfrm>
          <a:prstGeom prst="bentConnector3">
            <a:avLst>
              <a:gd name="adj1" fmla="val -2422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矩形: 圆角 21">
            <a:extLst>
              <a:ext uri="{FF2B5EF4-FFF2-40B4-BE49-F238E27FC236}">
                <a16:creationId xmlns:a16="http://schemas.microsoft.com/office/drawing/2014/main" id="{A7DA5225-7B49-7CD8-DDE2-0D0E1FDBA5CE}"/>
              </a:ext>
            </a:extLst>
          </p:cNvPr>
          <p:cNvSpPr/>
          <p:nvPr/>
        </p:nvSpPr>
        <p:spPr>
          <a:xfrm>
            <a:off x="6531350" y="1731573"/>
            <a:ext cx="3939751" cy="1582923"/>
          </a:xfrm>
          <a:prstGeom prst="roundRect">
            <a:avLst/>
          </a:prstGeom>
          <a:noFill/>
          <a:ln w="19050"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2" name="文本占位符 1">
            <a:extLst>
              <a:ext uri="{FF2B5EF4-FFF2-40B4-BE49-F238E27FC236}">
                <a16:creationId xmlns:a16="http://schemas.microsoft.com/office/drawing/2014/main" id="{0BECE383-146D-7B87-4B53-5B4950C9C0AF}"/>
              </a:ext>
            </a:extLst>
          </p:cNvPr>
          <p:cNvSpPr txBox="1">
            <a:spLocks/>
          </p:cNvSpPr>
          <p:nvPr/>
        </p:nvSpPr>
        <p:spPr>
          <a:xfrm>
            <a:off x="4225446" y="3612296"/>
            <a:ext cx="1806001" cy="343711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dirty="0">
                <a:latin typeface="+mn-ea"/>
              </a:rPr>
              <a:t>更精准</a:t>
            </a:r>
            <a:r>
              <a:rPr lang="en-US" altLang="zh-CN" sz="1200" dirty="0">
                <a:latin typeface="+mn-ea"/>
              </a:rPr>
              <a:t>/</a:t>
            </a:r>
            <a:r>
              <a:rPr lang="zh-CN" altLang="en-US" sz="1200" dirty="0">
                <a:latin typeface="+mn-ea"/>
              </a:rPr>
              <a:t>多样的体验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83" name="矩形: 圆角 182">
            <a:extLst>
              <a:ext uri="{FF2B5EF4-FFF2-40B4-BE49-F238E27FC236}">
                <a16:creationId xmlns:a16="http://schemas.microsoft.com/office/drawing/2014/main" id="{761C9B70-6266-96B2-408A-0634DB0C7B3B}"/>
              </a:ext>
            </a:extLst>
          </p:cNvPr>
          <p:cNvSpPr/>
          <p:nvPr/>
        </p:nvSpPr>
        <p:spPr>
          <a:xfrm>
            <a:off x="6610967" y="1060594"/>
            <a:ext cx="838369" cy="29367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统一资产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4" name="矩形: 圆角 183">
            <a:extLst>
              <a:ext uri="{FF2B5EF4-FFF2-40B4-BE49-F238E27FC236}">
                <a16:creationId xmlns:a16="http://schemas.microsoft.com/office/drawing/2014/main" id="{6662CC36-2F6C-B40B-6E8B-39685FF7A49F}"/>
              </a:ext>
            </a:extLst>
          </p:cNvPr>
          <p:cNvSpPr/>
          <p:nvPr/>
        </p:nvSpPr>
        <p:spPr>
          <a:xfrm>
            <a:off x="7495464" y="1060594"/>
            <a:ext cx="838369" cy="29367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官方标签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5" name="矩形: 圆角 184">
            <a:extLst>
              <a:ext uri="{FF2B5EF4-FFF2-40B4-BE49-F238E27FC236}">
                <a16:creationId xmlns:a16="http://schemas.microsoft.com/office/drawing/2014/main" id="{3627BC58-5F20-58A3-83D0-9EC2A4FFDF0B}"/>
              </a:ext>
            </a:extLst>
          </p:cNvPr>
          <p:cNvSpPr/>
          <p:nvPr/>
        </p:nvSpPr>
        <p:spPr>
          <a:xfrm>
            <a:off x="7559581" y="2765634"/>
            <a:ext cx="838369" cy="29367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圈层资产</a:t>
            </a:r>
          </a:p>
        </p:txBody>
      </p:sp>
      <p:sp>
        <p:nvSpPr>
          <p:cNvPr id="186" name="矩形: 圆角 185">
            <a:extLst>
              <a:ext uri="{FF2B5EF4-FFF2-40B4-BE49-F238E27FC236}">
                <a16:creationId xmlns:a16="http://schemas.microsoft.com/office/drawing/2014/main" id="{FC2C4945-1625-24C2-C08B-0DB9C1D5739B}"/>
              </a:ext>
            </a:extLst>
          </p:cNvPr>
          <p:cNvSpPr/>
          <p:nvPr/>
        </p:nvSpPr>
        <p:spPr>
          <a:xfrm>
            <a:off x="8444078" y="2765634"/>
            <a:ext cx="838369" cy="29367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用户打标</a:t>
            </a:r>
          </a:p>
        </p:txBody>
      </p:sp>
    </p:spTree>
    <p:extLst>
      <p:ext uri="{BB962C8B-B14F-4D97-AF65-F5344CB8AC3E}">
        <p14:creationId xmlns:p14="http://schemas.microsoft.com/office/powerpoint/2010/main" val="2149663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: 圆角 21">
            <a:extLst>
              <a:ext uri="{FF2B5EF4-FFF2-40B4-BE49-F238E27FC236}">
                <a16:creationId xmlns:a16="http://schemas.microsoft.com/office/drawing/2014/main" id="{23F7AB87-9E36-DBA0-9174-5A66A8FC2BF0}"/>
              </a:ext>
            </a:extLst>
          </p:cNvPr>
          <p:cNvSpPr/>
          <p:nvPr/>
        </p:nvSpPr>
        <p:spPr>
          <a:xfrm>
            <a:off x="-751140" y="1041158"/>
            <a:ext cx="1451009" cy="83243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决策用户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" name="矩形: 圆角 21">
            <a:extLst>
              <a:ext uri="{FF2B5EF4-FFF2-40B4-BE49-F238E27FC236}">
                <a16:creationId xmlns:a16="http://schemas.microsoft.com/office/drawing/2014/main" id="{1391E132-040D-7677-55F9-5B7AE1491871}"/>
              </a:ext>
            </a:extLst>
          </p:cNvPr>
          <p:cNvSpPr/>
          <p:nvPr/>
        </p:nvSpPr>
        <p:spPr>
          <a:xfrm>
            <a:off x="2371336" y="208498"/>
            <a:ext cx="2128303" cy="83243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基于平台公信力决策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榜单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星级等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3" name="矩形: 圆角 21">
            <a:extLst>
              <a:ext uri="{FF2B5EF4-FFF2-40B4-BE49-F238E27FC236}">
                <a16:creationId xmlns:a16="http://schemas.microsoft.com/office/drawing/2014/main" id="{F6CD3A5C-4EEB-526B-0237-45A060B64506}"/>
              </a:ext>
            </a:extLst>
          </p:cNvPr>
          <p:cNvSpPr/>
          <p:nvPr/>
        </p:nvSpPr>
        <p:spPr>
          <a:xfrm>
            <a:off x="2371336" y="1844307"/>
            <a:ext cx="2128303" cy="832432"/>
          </a:xfrm>
          <a:prstGeom prst="roundRect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基于真人私享化决策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marL="0" indent="0" algn="ctr">
              <a:buNone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笔记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合集等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cxnSp>
        <p:nvCxnSpPr>
          <p:cNvPr id="18" name="连接符: 肘形 17">
            <a:extLst>
              <a:ext uri="{FF2B5EF4-FFF2-40B4-BE49-F238E27FC236}">
                <a16:creationId xmlns:a16="http://schemas.microsoft.com/office/drawing/2014/main" id="{190D24EF-F493-E621-3BB3-313048CE3E44}"/>
              </a:ext>
            </a:extLst>
          </p:cNvPr>
          <p:cNvCxnSpPr>
            <a:cxnSpLocks/>
            <a:stCxn id="19" idx="3"/>
            <a:endCxn id="11" idx="1"/>
          </p:cNvCxnSpPr>
          <p:nvPr/>
        </p:nvCxnSpPr>
        <p:spPr>
          <a:xfrm flipV="1">
            <a:off x="699869" y="624714"/>
            <a:ext cx="1671467" cy="832660"/>
          </a:xfrm>
          <a:prstGeom prst="bentConnector3">
            <a:avLst>
              <a:gd name="adj1" fmla="val 7836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连接符: 肘形 19">
            <a:extLst>
              <a:ext uri="{FF2B5EF4-FFF2-40B4-BE49-F238E27FC236}">
                <a16:creationId xmlns:a16="http://schemas.microsoft.com/office/drawing/2014/main" id="{8C2FF635-A364-4BEC-A5D7-9CBEFAB7733A}"/>
              </a:ext>
            </a:extLst>
          </p:cNvPr>
          <p:cNvCxnSpPr>
            <a:cxnSpLocks/>
            <a:stCxn id="19" idx="3"/>
            <a:endCxn id="13" idx="1"/>
          </p:cNvCxnSpPr>
          <p:nvPr/>
        </p:nvCxnSpPr>
        <p:spPr>
          <a:xfrm>
            <a:off x="699869" y="1457374"/>
            <a:ext cx="1671467" cy="803149"/>
          </a:xfrm>
          <a:prstGeom prst="bentConnector3">
            <a:avLst>
              <a:gd name="adj1" fmla="val 7786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连接符: 肘形 30">
            <a:extLst>
              <a:ext uri="{FF2B5EF4-FFF2-40B4-BE49-F238E27FC236}">
                <a16:creationId xmlns:a16="http://schemas.microsoft.com/office/drawing/2014/main" id="{5D1F7551-DAAF-EDFF-BBEF-8DBD9C793CA9}"/>
              </a:ext>
            </a:extLst>
          </p:cNvPr>
          <p:cNvCxnSpPr>
            <a:cxnSpLocks/>
            <a:stCxn id="11" idx="3"/>
            <a:endCxn id="52" idx="1"/>
          </p:cNvCxnSpPr>
          <p:nvPr/>
        </p:nvCxnSpPr>
        <p:spPr>
          <a:xfrm flipV="1">
            <a:off x="4499639" y="620915"/>
            <a:ext cx="2193462" cy="379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38BB32A4-FBC0-F21A-817C-ADD1236CF92A}"/>
              </a:ext>
            </a:extLst>
          </p:cNvPr>
          <p:cNvCxnSpPr>
            <a:cxnSpLocks/>
            <a:stCxn id="13" idx="3"/>
            <a:endCxn id="132" idx="1"/>
          </p:cNvCxnSpPr>
          <p:nvPr/>
        </p:nvCxnSpPr>
        <p:spPr>
          <a:xfrm flipV="1">
            <a:off x="4499639" y="2258625"/>
            <a:ext cx="2200878" cy="189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占位符 1">
            <a:extLst>
              <a:ext uri="{FF2B5EF4-FFF2-40B4-BE49-F238E27FC236}">
                <a16:creationId xmlns:a16="http://schemas.microsoft.com/office/drawing/2014/main" id="{39A0ADA5-C306-1BEE-092C-3180A117F973}"/>
              </a:ext>
            </a:extLst>
          </p:cNvPr>
          <p:cNvSpPr txBox="1">
            <a:spLocks/>
          </p:cNvSpPr>
          <p:nvPr/>
        </p:nvSpPr>
        <p:spPr>
          <a:xfrm>
            <a:off x="4499639" y="768918"/>
            <a:ext cx="2069076" cy="233102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dirty="0">
                <a:latin typeface="+mn-ea"/>
              </a:rPr>
              <a:t>平台积累的数据资产</a:t>
            </a:r>
            <a:endParaRPr lang="en-US" altLang="zh-CN" sz="1200" dirty="0">
              <a:latin typeface="+mn-ea"/>
            </a:endParaRPr>
          </a:p>
        </p:txBody>
      </p:sp>
      <p:sp>
        <p:nvSpPr>
          <p:cNvPr id="40" name="文本占位符 1">
            <a:extLst>
              <a:ext uri="{FF2B5EF4-FFF2-40B4-BE49-F238E27FC236}">
                <a16:creationId xmlns:a16="http://schemas.microsoft.com/office/drawing/2014/main" id="{E97F8818-1BE3-CBF9-CDBE-F067C5137DAF}"/>
              </a:ext>
            </a:extLst>
          </p:cNvPr>
          <p:cNvSpPr txBox="1">
            <a:spLocks/>
          </p:cNvSpPr>
          <p:nvPr/>
        </p:nvSpPr>
        <p:spPr>
          <a:xfrm>
            <a:off x="4484281" y="1975811"/>
            <a:ext cx="2069076" cy="30283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dirty="0">
                <a:latin typeface="+mn-ea"/>
              </a:rPr>
              <a:t>用户个人行为及资产</a:t>
            </a:r>
            <a:endParaRPr lang="en-US" altLang="zh-CN" sz="1200" dirty="0">
              <a:latin typeface="+mn-ea"/>
            </a:endParaRP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7AB0AD82-89E3-657E-A87E-8D956B6BE958}"/>
              </a:ext>
            </a:extLst>
          </p:cNvPr>
          <p:cNvCxnSpPr>
            <a:cxnSpLocks/>
            <a:stCxn id="40" idx="0"/>
            <a:endCxn id="39" idx="2"/>
          </p:cNvCxnSpPr>
          <p:nvPr/>
        </p:nvCxnSpPr>
        <p:spPr>
          <a:xfrm flipV="1">
            <a:off x="5518819" y="1002020"/>
            <a:ext cx="15358" cy="973791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文本占位符 1">
            <a:extLst>
              <a:ext uri="{FF2B5EF4-FFF2-40B4-BE49-F238E27FC236}">
                <a16:creationId xmlns:a16="http://schemas.microsoft.com/office/drawing/2014/main" id="{3A4995A7-60BA-EE6C-7789-242C15EC0563}"/>
              </a:ext>
            </a:extLst>
          </p:cNvPr>
          <p:cNvSpPr txBox="1">
            <a:spLocks/>
          </p:cNvSpPr>
          <p:nvPr/>
        </p:nvSpPr>
        <p:spPr>
          <a:xfrm>
            <a:off x="4897622" y="1355304"/>
            <a:ext cx="670135" cy="233102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dirty="0">
                <a:latin typeface="+mn-ea"/>
              </a:rPr>
              <a:t>组成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38" name="矩形: 圆角 137">
            <a:extLst>
              <a:ext uri="{FF2B5EF4-FFF2-40B4-BE49-F238E27FC236}">
                <a16:creationId xmlns:a16="http://schemas.microsoft.com/office/drawing/2014/main" id="{4F2FCE72-93EA-695F-1D8C-DFBDCAE4D136}"/>
              </a:ext>
            </a:extLst>
          </p:cNvPr>
          <p:cNvSpPr/>
          <p:nvPr/>
        </p:nvSpPr>
        <p:spPr>
          <a:xfrm>
            <a:off x="3064849" y="4731601"/>
            <a:ext cx="719736" cy="41361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司机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1" name="文本占位符 1">
            <a:extLst>
              <a:ext uri="{FF2B5EF4-FFF2-40B4-BE49-F238E27FC236}">
                <a16:creationId xmlns:a16="http://schemas.microsoft.com/office/drawing/2014/main" id="{B7DE8BB2-690E-33BD-E5DF-6E03695FD22A}"/>
              </a:ext>
            </a:extLst>
          </p:cNvPr>
          <p:cNvSpPr txBox="1">
            <a:spLocks/>
          </p:cNvSpPr>
          <p:nvPr/>
        </p:nvSpPr>
        <p:spPr>
          <a:xfrm>
            <a:off x="3668999" y="4799789"/>
            <a:ext cx="1806001" cy="343711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dirty="0">
                <a:latin typeface="+mn-ea"/>
              </a:rPr>
              <a:t>长期本地人</a:t>
            </a:r>
            <a:r>
              <a:rPr lang="en-US" altLang="zh-CN" sz="1200" dirty="0">
                <a:latin typeface="+mn-ea"/>
              </a:rPr>
              <a:t>+</a:t>
            </a:r>
            <a:r>
              <a:rPr lang="zh-CN" altLang="en-US" sz="1200" dirty="0">
                <a:latin typeface="+mn-ea"/>
              </a:rPr>
              <a:t>乘客反馈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42" name="矩形: 圆角 141">
            <a:extLst>
              <a:ext uri="{FF2B5EF4-FFF2-40B4-BE49-F238E27FC236}">
                <a16:creationId xmlns:a16="http://schemas.microsoft.com/office/drawing/2014/main" id="{DDE8EAFD-2FB7-BACB-7F69-BB9F6AFB9176}"/>
              </a:ext>
            </a:extLst>
          </p:cNvPr>
          <p:cNvSpPr/>
          <p:nvPr/>
        </p:nvSpPr>
        <p:spPr>
          <a:xfrm>
            <a:off x="3064849" y="5169061"/>
            <a:ext cx="719736" cy="41361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邻桌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3" name="文本占位符 1">
            <a:extLst>
              <a:ext uri="{FF2B5EF4-FFF2-40B4-BE49-F238E27FC236}">
                <a16:creationId xmlns:a16="http://schemas.microsoft.com/office/drawing/2014/main" id="{B431FC4E-40CD-6E72-396F-FD428FD4CB6B}"/>
              </a:ext>
            </a:extLst>
          </p:cNvPr>
          <p:cNvSpPr txBox="1">
            <a:spLocks/>
          </p:cNvSpPr>
          <p:nvPr/>
        </p:nvSpPr>
        <p:spPr>
          <a:xfrm>
            <a:off x="3784586" y="5237249"/>
            <a:ext cx="1593268" cy="343711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dirty="0">
                <a:latin typeface="+mn-ea"/>
              </a:rPr>
              <a:t>亲测亲点</a:t>
            </a:r>
            <a:r>
              <a:rPr lang="en-US" altLang="zh-CN" sz="1200" dirty="0">
                <a:latin typeface="+mn-ea"/>
              </a:rPr>
              <a:t>+</a:t>
            </a:r>
            <a:r>
              <a:rPr lang="zh-CN" altLang="en-US" sz="1200" dirty="0">
                <a:latin typeface="+mn-ea"/>
              </a:rPr>
              <a:t>信息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44" name="矩形: 圆角 143">
            <a:extLst>
              <a:ext uri="{FF2B5EF4-FFF2-40B4-BE49-F238E27FC236}">
                <a16:creationId xmlns:a16="http://schemas.microsoft.com/office/drawing/2014/main" id="{BC732998-8276-5E4C-B2EC-6008F4EA1B7A}"/>
              </a:ext>
            </a:extLst>
          </p:cNvPr>
          <p:cNvSpPr/>
          <p:nvPr/>
        </p:nvSpPr>
        <p:spPr>
          <a:xfrm>
            <a:off x="3055629" y="5635344"/>
            <a:ext cx="719736" cy="41361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线上陌生人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6" name="文本占位符 1">
            <a:extLst>
              <a:ext uri="{FF2B5EF4-FFF2-40B4-BE49-F238E27FC236}">
                <a16:creationId xmlns:a16="http://schemas.microsoft.com/office/drawing/2014/main" id="{286DEC57-EC08-7383-F67F-6572FB3F8067}"/>
              </a:ext>
            </a:extLst>
          </p:cNvPr>
          <p:cNvSpPr txBox="1">
            <a:spLocks/>
          </p:cNvSpPr>
          <p:nvPr/>
        </p:nvSpPr>
        <p:spPr>
          <a:xfrm>
            <a:off x="3775366" y="5703532"/>
            <a:ext cx="1593268" cy="343711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dirty="0">
                <a:latin typeface="+mn-ea"/>
              </a:rPr>
              <a:t>证据</a:t>
            </a:r>
            <a:r>
              <a:rPr lang="en-US" altLang="zh-CN" sz="1200" dirty="0">
                <a:latin typeface="+mn-ea"/>
              </a:rPr>
              <a:t>+</a:t>
            </a:r>
            <a:r>
              <a:rPr lang="zh-CN" altLang="en-US" sz="1200" dirty="0">
                <a:latin typeface="+mn-ea"/>
              </a:rPr>
              <a:t>同好</a:t>
            </a:r>
            <a:r>
              <a:rPr lang="en-US" altLang="zh-CN" sz="1200" dirty="0">
                <a:latin typeface="+mn-ea"/>
              </a:rPr>
              <a:t>+</a:t>
            </a:r>
            <a:r>
              <a:rPr lang="zh-CN" altLang="en-US" sz="1200" dirty="0">
                <a:latin typeface="+mn-ea"/>
              </a:rPr>
              <a:t>能力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B9BEFAA3-3A0A-4406-EE85-ED456A01ED94}"/>
              </a:ext>
            </a:extLst>
          </p:cNvPr>
          <p:cNvSpPr txBox="1"/>
          <p:nvPr/>
        </p:nvSpPr>
        <p:spPr>
          <a:xfrm>
            <a:off x="2080158" y="999743"/>
            <a:ext cx="26841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算法规则驱动、聚合数据</a:t>
            </a:r>
            <a:endParaRPr lang="en-US" altLang="zh-CN" sz="1200" dirty="0">
              <a:latin typeface="+mn-ea"/>
            </a:endParaRPr>
          </a:p>
          <a:p>
            <a:pPr algn="ctr"/>
            <a:r>
              <a:rPr lang="zh-CN" altLang="en-US" sz="1200" b="0" i="0" dirty="0">
                <a:effectLst/>
                <a:latin typeface="+mn-ea"/>
              </a:rPr>
              <a:t>追求：大众、客观、</a:t>
            </a:r>
            <a:r>
              <a:rPr lang="zh-CN" altLang="en-US" sz="1200" dirty="0">
                <a:latin typeface="+mn-ea"/>
              </a:rPr>
              <a:t>排</a:t>
            </a:r>
            <a:r>
              <a:rPr lang="zh-CN" altLang="en-US" sz="1200" b="0" i="0" dirty="0">
                <a:effectLst/>
                <a:latin typeface="+mn-ea"/>
              </a:rPr>
              <a:t>雷</a:t>
            </a:r>
            <a:endParaRPr lang="zh-CN" altLang="en-US" sz="1200" dirty="0">
              <a:latin typeface="+mn-ea"/>
            </a:endParaRP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2173C3DE-8E9D-0024-4446-732AB782AAB7}"/>
              </a:ext>
            </a:extLst>
          </p:cNvPr>
          <p:cNvSpPr txBox="1"/>
          <p:nvPr/>
        </p:nvSpPr>
        <p:spPr>
          <a:xfrm>
            <a:off x="2156286" y="2664897"/>
            <a:ext cx="26841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+mn-ea"/>
              </a:rPr>
              <a:t>个人品味驱动、关联行为</a:t>
            </a:r>
            <a:endParaRPr lang="en-US" altLang="zh-CN" sz="1200" dirty="0">
              <a:latin typeface="+mn-ea"/>
            </a:endParaRPr>
          </a:p>
          <a:p>
            <a:pPr algn="ctr"/>
            <a:r>
              <a:rPr lang="zh-CN" altLang="en-US" sz="1200" b="0" i="0" dirty="0">
                <a:effectLst/>
                <a:latin typeface="+mn-ea"/>
              </a:rPr>
              <a:t>追求：</a:t>
            </a:r>
            <a:r>
              <a:rPr lang="zh-CN" altLang="en-US" sz="1200" dirty="0">
                <a:latin typeface="+mn-ea"/>
              </a:rPr>
              <a:t>个性</a:t>
            </a:r>
            <a:r>
              <a:rPr lang="zh-CN" altLang="en-US" sz="1200" b="0" i="0" dirty="0">
                <a:effectLst/>
                <a:latin typeface="+mn-ea"/>
              </a:rPr>
              <a:t>、</a:t>
            </a:r>
            <a:r>
              <a:rPr lang="zh-CN" altLang="en-US" sz="1200" dirty="0">
                <a:latin typeface="+mn-ea"/>
              </a:rPr>
              <a:t>主观</a:t>
            </a:r>
            <a:r>
              <a:rPr lang="zh-CN" altLang="en-US" sz="1200" b="0" i="0" dirty="0">
                <a:effectLst/>
                <a:latin typeface="+mn-ea"/>
              </a:rPr>
              <a:t>、有趣</a:t>
            </a:r>
            <a:endParaRPr lang="zh-CN" altLang="en-US" sz="1200" dirty="0">
              <a:latin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E9D33EA-AE92-0D0C-9E2B-1BF35AFC0C68}"/>
              </a:ext>
            </a:extLst>
          </p:cNvPr>
          <p:cNvSpPr txBox="1"/>
          <p:nvPr/>
        </p:nvSpPr>
        <p:spPr>
          <a:xfrm>
            <a:off x="528507" y="583527"/>
            <a:ext cx="15516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+mn-ea"/>
              </a:rPr>
              <a:t>区分“好</a:t>
            </a:r>
            <a:r>
              <a:rPr lang="en-US" altLang="zh-CN" sz="1200" dirty="0">
                <a:latin typeface="+mn-ea"/>
              </a:rPr>
              <a:t>/</a:t>
            </a:r>
            <a:r>
              <a:rPr lang="zh-CN" altLang="en-US" sz="1200" dirty="0">
                <a:latin typeface="+mn-ea"/>
              </a:rPr>
              <a:t>坏”决策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4F522FF-A728-B071-D6AA-2B686318FE38}"/>
              </a:ext>
            </a:extLst>
          </p:cNvPr>
          <p:cNvSpPr txBox="1"/>
          <p:nvPr/>
        </p:nvSpPr>
        <p:spPr>
          <a:xfrm>
            <a:off x="528506" y="2093642"/>
            <a:ext cx="15474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+mn-ea"/>
              </a:rPr>
              <a:t>选择“同</a:t>
            </a:r>
            <a:r>
              <a:rPr lang="en-US" altLang="zh-CN" sz="1200" dirty="0">
                <a:latin typeface="+mn-ea"/>
              </a:rPr>
              <a:t>/</a:t>
            </a:r>
            <a:r>
              <a:rPr lang="zh-CN" altLang="en-US" sz="1200" dirty="0">
                <a:latin typeface="+mn-ea"/>
              </a:rPr>
              <a:t>异”决策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EF496CE6-B497-B679-40C3-D62138596725}"/>
              </a:ext>
            </a:extLst>
          </p:cNvPr>
          <p:cNvSpPr/>
          <p:nvPr/>
        </p:nvSpPr>
        <p:spPr>
          <a:xfrm>
            <a:off x="8324018" y="-1818393"/>
            <a:ext cx="482746" cy="48274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FF4F274-CCD4-B1E4-8447-8EE7A170AB1E}"/>
              </a:ext>
            </a:extLst>
          </p:cNvPr>
          <p:cNvSpPr/>
          <p:nvPr/>
        </p:nvSpPr>
        <p:spPr>
          <a:xfrm>
            <a:off x="8861960" y="-1818377"/>
            <a:ext cx="482746" cy="48274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848AE0F5-95B6-B921-71BE-1FDC1502CC23}"/>
              </a:ext>
            </a:extLst>
          </p:cNvPr>
          <p:cNvSpPr/>
          <p:nvPr/>
        </p:nvSpPr>
        <p:spPr>
          <a:xfrm>
            <a:off x="9394400" y="-1809910"/>
            <a:ext cx="482746" cy="48274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D22FF2A-32DA-346B-3BD8-3CD1B4A8923D}"/>
              </a:ext>
            </a:extLst>
          </p:cNvPr>
          <p:cNvSpPr txBox="1"/>
          <p:nvPr/>
        </p:nvSpPr>
        <p:spPr>
          <a:xfrm>
            <a:off x="8312713" y="-1831107"/>
            <a:ext cx="4940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统计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latin typeface="+mn-ea"/>
              </a:rPr>
              <a:t>评选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B653385-199A-129C-8612-55C28CF6164D}"/>
              </a:ext>
            </a:extLst>
          </p:cNvPr>
          <p:cNvSpPr txBox="1"/>
          <p:nvPr/>
        </p:nvSpPr>
        <p:spPr>
          <a:xfrm>
            <a:off x="8655248" y="-1831975"/>
            <a:ext cx="8825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GC</a:t>
            </a: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挖掘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9B1CDB5-D561-9234-F5F8-F62D8F8C67AD}"/>
              </a:ext>
            </a:extLst>
          </p:cNvPr>
          <p:cNvSpPr txBox="1"/>
          <p:nvPr/>
        </p:nvSpPr>
        <p:spPr>
          <a:xfrm>
            <a:off x="9227225" y="-1809910"/>
            <a:ext cx="8263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用户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打标</a:t>
            </a:r>
          </a:p>
        </p:txBody>
      </p:sp>
      <p:sp>
        <p:nvSpPr>
          <p:cNvPr id="52" name="矩形: 圆角 21">
            <a:extLst>
              <a:ext uri="{FF2B5EF4-FFF2-40B4-BE49-F238E27FC236}">
                <a16:creationId xmlns:a16="http://schemas.microsoft.com/office/drawing/2014/main" id="{558AF731-9E03-355D-DC3D-C27D3CD5DF90}"/>
              </a:ext>
            </a:extLst>
          </p:cNvPr>
          <p:cNvSpPr/>
          <p:nvPr/>
        </p:nvSpPr>
        <p:spPr>
          <a:xfrm>
            <a:off x="6693101" y="204699"/>
            <a:ext cx="1451009" cy="83243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头部商家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2" name="矩形: 圆角 21">
            <a:extLst>
              <a:ext uri="{FF2B5EF4-FFF2-40B4-BE49-F238E27FC236}">
                <a16:creationId xmlns:a16="http://schemas.microsoft.com/office/drawing/2014/main" id="{AFB73AE7-5712-1108-E066-596DD2056295}"/>
              </a:ext>
            </a:extLst>
          </p:cNvPr>
          <p:cNvSpPr/>
          <p:nvPr/>
        </p:nvSpPr>
        <p:spPr>
          <a:xfrm>
            <a:off x="6700517" y="1844307"/>
            <a:ext cx="1412076" cy="82863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头部商家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37" name="矩形: 圆角 21">
            <a:extLst>
              <a:ext uri="{FF2B5EF4-FFF2-40B4-BE49-F238E27FC236}">
                <a16:creationId xmlns:a16="http://schemas.microsoft.com/office/drawing/2014/main" id="{E8D1A90E-CD25-7D8D-EF6C-37581EC6EFE9}"/>
              </a:ext>
            </a:extLst>
          </p:cNvPr>
          <p:cNvSpPr/>
          <p:nvPr/>
        </p:nvSpPr>
        <p:spPr>
          <a:xfrm>
            <a:off x="8694558" y="1874790"/>
            <a:ext cx="1633702" cy="791307"/>
          </a:xfrm>
          <a:prstGeom prst="roundRect">
            <a:avLst/>
          </a:pr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tx1"/>
                </a:solidFill>
                <a:latin typeface="+mn-ea"/>
              </a:rPr>
              <a:t>特色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长</a:t>
            </a:r>
            <a:r>
              <a:rPr lang="zh-CN" altLang="en-US" sz="1600">
                <a:solidFill>
                  <a:schemeClr val="tx1"/>
                </a:solidFill>
                <a:latin typeface="+mn-ea"/>
              </a:rPr>
              <a:t>尾商家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7" name="加号 146">
            <a:extLst>
              <a:ext uri="{FF2B5EF4-FFF2-40B4-BE49-F238E27FC236}">
                <a16:creationId xmlns:a16="http://schemas.microsoft.com/office/drawing/2014/main" id="{8CCE8B93-D1B9-A830-BECD-E4C1D8553569}"/>
              </a:ext>
            </a:extLst>
          </p:cNvPr>
          <p:cNvSpPr/>
          <p:nvPr/>
        </p:nvSpPr>
        <p:spPr>
          <a:xfrm>
            <a:off x="8259753" y="2115725"/>
            <a:ext cx="250977" cy="273204"/>
          </a:xfrm>
          <a:prstGeom prst="mathPlus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3" name="椭圆 162">
            <a:extLst>
              <a:ext uri="{FF2B5EF4-FFF2-40B4-BE49-F238E27FC236}">
                <a16:creationId xmlns:a16="http://schemas.microsoft.com/office/drawing/2014/main" id="{DB8DD501-33EF-144A-30BF-A1D58D1FFD52}"/>
              </a:ext>
            </a:extLst>
          </p:cNvPr>
          <p:cNvSpPr/>
          <p:nvPr/>
        </p:nvSpPr>
        <p:spPr>
          <a:xfrm>
            <a:off x="9549080" y="-1083125"/>
            <a:ext cx="482746" cy="48274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4" name="文本框 163">
            <a:extLst>
              <a:ext uri="{FF2B5EF4-FFF2-40B4-BE49-F238E27FC236}">
                <a16:creationId xmlns:a16="http://schemas.microsoft.com/office/drawing/2014/main" id="{9318962F-7A7F-5CB3-2F52-C70F527584E5}"/>
              </a:ext>
            </a:extLst>
          </p:cNvPr>
          <p:cNvSpPr txBox="1"/>
          <p:nvPr/>
        </p:nvSpPr>
        <p:spPr>
          <a:xfrm>
            <a:off x="9537775" y="-1095839"/>
            <a:ext cx="4940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统一资产</a:t>
            </a:r>
          </a:p>
        </p:txBody>
      </p:sp>
      <p:sp>
        <p:nvSpPr>
          <p:cNvPr id="165" name="椭圆 164">
            <a:extLst>
              <a:ext uri="{FF2B5EF4-FFF2-40B4-BE49-F238E27FC236}">
                <a16:creationId xmlns:a16="http://schemas.microsoft.com/office/drawing/2014/main" id="{38F6E13F-A21F-EA21-34A6-114222FF9CB2}"/>
              </a:ext>
            </a:extLst>
          </p:cNvPr>
          <p:cNvSpPr/>
          <p:nvPr/>
        </p:nvSpPr>
        <p:spPr>
          <a:xfrm>
            <a:off x="10043131" y="-1085591"/>
            <a:ext cx="482746" cy="48274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6" name="文本框 165">
            <a:extLst>
              <a:ext uri="{FF2B5EF4-FFF2-40B4-BE49-F238E27FC236}">
                <a16:creationId xmlns:a16="http://schemas.microsoft.com/office/drawing/2014/main" id="{78E2F042-ECAD-7589-5E75-BC0D18F93A53}"/>
              </a:ext>
            </a:extLst>
          </p:cNvPr>
          <p:cNvSpPr txBox="1"/>
          <p:nvPr/>
        </p:nvSpPr>
        <p:spPr>
          <a:xfrm>
            <a:off x="10031826" y="-1098305"/>
            <a:ext cx="4940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官方标签</a:t>
            </a:r>
          </a:p>
        </p:txBody>
      </p:sp>
      <p:sp>
        <p:nvSpPr>
          <p:cNvPr id="169" name="椭圆 168">
            <a:extLst>
              <a:ext uri="{FF2B5EF4-FFF2-40B4-BE49-F238E27FC236}">
                <a16:creationId xmlns:a16="http://schemas.microsoft.com/office/drawing/2014/main" id="{28B07A38-D1B1-D4C7-67A7-709C2DD6DD4B}"/>
              </a:ext>
            </a:extLst>
          </p:cNvPr>
          <p:cNvSpPr/>
          <p:nvPr/>
        </p:nvSpPr>
        <p:spPr>
          <a:xfrm>
            <a:off x="7282956" y="5419691"/>
            <a:ext cx="482746" cy="48274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0" name="文本框 169">
            <a:extLst>
              <a:ext uri="{FF2B5EF4-FFF2-40B4-BE49-F238E27FC236}">
                <a16:creationId xmlns:a16="http://schemas.microsoft.com/office/drawing/2014/main" id="{62E648D8-704D-5B00-F457-C1A0B79D805C}"/>
              </a:ext>
            </a:extLst>
          </p:cNvPr>
          <p:cNvSpPr txBox="1"/>
          <p:nvPr/>
        </p:nvSpPr>
        <p:spPr>
          <a:xfrm>
            <a:off x="7271651" y="5406977"/>
            <a:ext cx="4940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圈层</a:t>
            </a:r>
            <a:r>
              <a:rPr lang="zh-CN" altLang="en-US" sz="1200" dirty="0">
                <a:latin typeface="+mn-ea"/>
              </a:rPr>
              <a:t>资产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1" name="椭圆 170">
            <a:extLst>
              <a:ext uri="{FF2B5EF4-FFF2-40B4-BE49-F238E27FC236}">
                <a16:creationId xmlns:a16="http://schemas.microsoft.com/office/drawing/2014/main" id="{7E7814AF-1F77-CA0C-7A2F-0622E3C56FA8}"/>
              </a:ext>
            </a:extLst>
          </p:cNvPr>
          <p:cNvSpPr/>
          <p:nvPr/>
        </p:nvSpPr>
        <p:spPr>
          <a:xfrm>
            <a:off x="7777007" y="5417225"/>
            <a:ext cx="482746" cy="48274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D3FA110C-9262-B683-D321-2FAC72D7FC45}"/>
              </a:ext>
            </a:extLst>
          </p:cNvPr>
          <p:cNvSpPr txBox="1"/>
          <p:nvPr/>
        </p:nvSpPr>
        <p:spPr>
          <a:xfrm>
            <a:off x="7765702" y="5404511"/>
            <a:ext cx="4940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用户打标</a:t>
            </a:r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AC6A6665-48A3-B4B6-0651-90A954E57014}"/>
              </a:ext>
            </a:extLst>
          </p:cNvPr>
          <p:cNvSpPr txBox="1"/>
          <p:nvPr/>
        </p:nvSpPr>
        <p:spPr>
          <a:xfrm>
            <a:off x="942639" y="-1941533"/>
            <a:ext cx="66435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/>
            <a:r>
              <a:rPr lang="en-US" altLang="zh-CN" dirty="0">
                <a:effectLst/>
              </a:rPr>
              <a:t>3.</a:t>
            </a:r>
            <a:r>
              <a:rPr lang="zh-CN" altLang="en-US" dirty="0">
                <a:effectLst/>
              </a:rPr>
              <a:t>商家满足了什么增量需求</a:t>
            </a:r>
          </a:p>
          <a:p>
            <a:pPr marR="0"/>
            <a:r>
              <a:rPr lang="en-US" altLang="zh-CN" dirty="0">
                <a:effectLst/>
              </a:rPr>
              <a:t>a. </a:t>
            </a:r>
            <a:r>
              <a:rPr lang="zh-CN" altLang="en-US" dirty="0">
                <a:effectLst/>
              </a:rPr>
              <a:t>获得精准用户、精准</a:t>
            </a:r>
            <a:r>
              <a:rPr lang="en-US" altLang="zh-CN" dirty="0">
                <a:effectLst/>
              </a:rPr>
              <a:t>GC</a:t>
            </a:r>
            <a:r>
              <a:rPr lang="zh-CN" altLang="en-US" dirty="0">
                <a:effectLst/>
              </a:rPr>
              <a:t>，拥有一种更精细化的商家</a:t>
            </a:r>
            <a:r>
              <a:rPr lang="en-US" altLang="zh-CN" dirty="0">
                <a:effectLst/>
              </a:rPr>
              <a:t>-</a:t>
            </a:r>
            <a:r>
              <a:rPr lang="zh-CN" altLang="en-US" dirty="0">
                <a:effectLst/>
              </a:rPr>
              <a:t>用户关系</a:t>
            </a:r>
          </a:p>
          <a:p>
            <a:pPr marR="0"/>
            <a:r>
              <a:rPr lang="en-US" altLang="zh-CN" dirty="0">
                <a:effectLst/>
              </a:rPr>
              <a:t>b. </a:t>
            </a:r>
            <a:r>
              <a:rPr lang="zh-CN" altLang="en-US" dirty="0">
                <a:effectLst/>
              </a:rPr>
              <a:t>可以更精准的运营，如基于私藏美食集发布任务和定向邀请等。</a:t>
            </a:r>
          </a:p>
        </p:txBody>
      </p:sp>
      <p:cxnSp>
        <p:nvCxnSpPr>
          <p:cNvPr id="175" name="连接符: 肘形 174">
            <a:extLst>
              <a:ext uri="{FF2B5EF4-FFF2-40B4-BE49-F238E27FC236}">
                <a16:creationId xmlns:a16="http://schemas.microsoft.com/office/drawing/2014/main" id="{383CF8DE-5BC0-9567-87D9-6344B78F18DD}"/>
              </a:ext>
            </a:extLst>
          </p:cNvPr>
          <p:cNvCxnSpPr>
            <a:cxnSpLocks/>
            <a:stCxn id="179" idx="2"/>
            <a:endCxn id="14" idx="2"/>
          </p:cNvCxnSpPr>
          <p:nvPr/>
        </p:nvCxnSpPr>
        <p:spPr>
          <a:xfrm rot="5400000" flipH="1">
            <a:off x="4429800" y="-756929"/>
            <a:ext cx="943855" cy="7198997"/>
          </a:xfrm>
          <a:prstGeom prst="bentConnector3">
            <a:avLst>
              <a:gd name="adj1" fmla="val -2422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矩形: 圆角 21">
            <a:extLst>
              <a:ext uri="{FF2B5EF4-FFF2-40B4-BE49-F238E27FC236}">
                <a16:creationId xmlns:a16="http://schemas.microsoft.com/office/drawing/2014/main" id="{A7DA5225-7B49-7CD8-DDE2-0D0E1FDBA5CE}"/>
              </a:ext>
            </a:extLst>
          </p:cNvPr>
          <p:cNvSpPr/>
          <p:nvPr/>
        </p:nvSpPr>
        <p:spPr>
          <a:xfrm>
            <a:off x="6531350" y="1731573"/>
            <a:ext cx="3939751" cy="1582923"/>
          </a:xfrm>
          <a:prstGeom prst="roundRect">
            <a:avLst/>
          </a:prstGeom>
          <a:noFill/>
          <a:ln w="19050"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2" name="文本占位符 1">
            <a:extLst>
              <a:ext uri="{FF2B5EF4-FFF2-40B4-BE49-F238E27FC236}">
                <a16:creationId xmlns:a16="http://schemas.microsoft.com/office/drawing/2014/main" id="{0BECE383-146D-7B87-4B53-5B4950C9C0AF}"/>
              </a:ext>
            </a:extLst>
          </p:cNvPr>
          <p:cNvSpPr txBox="1">
            <a:spLocks/>
          </p:cNvSpPr>
          <p:nvPr/>
        </p:nvSpPr>
        <p:spPr>
          <a:xfrm>
            <a:off x="4225446" y="3612296"/>
            <a:ext cx="1806001" cy="343711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dirty="0">
                <a:latin typeface="+mn-ea"/>
              </a:rPr>
              <a:t>更精准</a:t>
            </a:r>
            <a:r>
              <a:rPr lang="en-US" altLang="zh-CN" sz="1200" dirty="0">
                <a:latin typeface="+mn-ea"/>
              </a:rPr>
              <a:t>/</a:t>
            </a:r>
            <a:r>
              <a:rPr lang="zh-CN" altLang="en-US" sz="1200" dirty="0">
                <a:latin typeface="+mn-ea"/>
              </a:rPr>
              <a:t>多样的体验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83" name="矩形: 圆角 182">
            <a:extLst>
              <a:ext uri="{FF2B5EF4-FFF2-40B4-BE49-F238E27FC236}">
                <a16:creationId xmlns:a16="http://schemas.microsoft.com/office/drawing/2014/main" id="{761C9B70-6266-96B2-408A-0634DB0C7B3B}"/>
              </a:ext>
            </a:extLst>
          </p:cNvPr>
          <p:cNvSpPr/>
          <p:nvPr/>
        </p:nvSpPr>
        <p:spPr>
          <a:xfrm>
            <a:off x="6610967" y="1060594"/>
            <a:ext cx="838369" cy="29367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统一资产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4" name="矩形: 圆角 183">
            <a:extLst>
              <a:ext uri="{FF2B5EF4-FFF2-40B4-BE49-F238E27FC236}">
                <a16:creationId xmlns:a16="http://schemas.microsoft.com/office/drawing/2014/main" id="{6662CC36-2F6C-B40B-6E8B-39685FF7A49F}"/>
              </a:ext>
            </a:extLst>
          </p:cNvPr>
          <p:cNvSpPr/>
          <p:nvPr/>
        </p:nvSpPr>
        <p:spPr>
          <a:xfrm>
            <a:off x="7495464" y="1060594"/>
            <a:ext cx="838369" cy="29367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官方标签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5" name="矩形: 圆角 184">
            <a:extLst>
              <a:ext uri="{FF2B5EF4-FFF2-40B4-BE49-F238E27FC236}">
                <a16:creationId xmlns:a16="http://schemas.microsoft.com/office/drawing/2014/main" id="{3627BC58-5F20-58A3-83D0-9EC2A4FFDF0B}"/>
              </a:ext>
            </a:extLst>
          </p:cNvPr>
          <p:cNvSpPr/>
          <p:nvPr/>
        </p:nvSpPr>
        <p:spPr>
          <a:xfrm>
            <a:off x="7559581" y="2765634"/>
            <a:ext cx="838369" cy="29367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圈层资产</a:t>
            </a:r>
          </a:p>
        </p:txBody>
      </p:sp>
      <p:sp>
        <p:nvSpPr>
          <p:cNvPr id="186" name="矩形: 圆角 185">
            <a:extLst>
              <a:ext uri="{FF2B5EF4-FFF2-40B4-BE49-F238E27FC236}">
                <a16:creationId xmlns:a16="http://schemas.microsoft.com/office/drawing/2014/main" id="{FC2C4945-1625-24C2-C08B-0DB9C1D5739B}"/>
              </a:ext>
            </a:extLst>
          </p:cNvPr>
          <p:cNvSpPr/>
          <p:nvPr/>
        </p:nvSpPr>
        <p:spPr>
          <a:xfrm>
            <a:off x="8444078" y="2765634"/>
            <a:ext cx="838369" cy="29367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用户打标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80EDC96B-5EAB-90F4-0B27-5F693CFF169A}"/>
              </a:ext>
            </a:extLst>
          </p:cNvPr>
          <p:cNvSpPr/>
          <p:nvPr/>
        </p:nvSpPr>
        <p:spPr>
          <a:xfrm>
            <a:off x="4829658" y="2307397"/>
            <a:ext cx="537101" cy="310625"/>
          </a:xfrm>
          <a:prstGeom prst="roundRect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自己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0CA4B791-ECCE-D537-1E70-70BEF2DFD2C9}"/>
              </a:ext>
            </a:extLst>
          </p:cNvPr>
          <p:cNvSpPr/>
          <p:nvPr/>
        </p:nvSpPr>
        <p:spPr>
          <a:xfrm>
            <a:off x="5607387" y="2315661"/>
            <a:ext cx="537101" cy="310625"/>
          </a:xfrm>
          <a:prstGeom prst="roundRect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他人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加号 4">
            <a:extLst>
              <a:ext uri="{FF2B5EF4-FFF2-40B4-BE49-F238E27FC236}">
                <a16:creationId xmlns:a16="http://schemas.microsoft.com/office/drawing/2014/main" id="{7E19F1DA-7E2B-E365-FA41-06683C6010F6}"/>
              </a:ext>
            </a:extLst>
          </p:cNvPr>
          <p:cNvSpPr/>
          <p:nvPr/>
        </p:nvSpPr>
        <p:spPr>
          <a:xfrm>
            <a:off x="5363522" y="2326107"/>
            <a:ext cx="250977" cy="273204"/>
          </a:xfrm>
          <a:prstGeom prst="mathPlus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71516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2" name="矩形: 圆角 141">
            <a:extLst>
              <a:ext uri="{FF2B5EF4-FFF2-40B4-BE49-F238E27FC236}">
                <a16:creationId xmlns:a16="http://schemas.microsoft.com/office/drawing/2014/main" id="{DDE8EAFD-2FB7-BACB-7F69-BB9F6AFB9176}"/>
              </a:ext>
            </a:extLst>
          </p:cNvPr>
          <p:cNvSpPr/>
          <p:nvPr/>
        </p:nvSpPr>
        <p:spPr>
          <a:xfrm>
            <a:off x="2386321" y="8282949"/>
            <a:ext cx="719736" cy="41361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邻桌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3" name="文本占位符 1">
            <a:extLst>
              <a:ext uri="{FF2B5EF4-FFF2-40B4-BE49-F238E27FC236}">
                <a16:creationId xmlns:a16="http://schemas.microsoft.com/office/drawing/2014/main" id="{B431FC4E-40CD-6E72-396F-FD428FD4CB6B}"/>
              </a:ext>
            </a:extLst>
          </p:cNvPr>
          <p:cNvSpPr txBox="1">
            <a:spLocks/>
          </p:cNvSpPr>
          <p:nvPr/>
        </p:nvSpPr>
        <p:spPr>
          <a:xfrm>
            <a:off x="3106058" y="8351137"/>
            <a:ext cx="1593268" cy="343711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dirty="0">
                <a:latin typeface="+mn-ea"/>
              </a:rPr>
              <a:t>亲测亲点</a:t>
            </a:r>
            <a:r>
              <a:rPr lang="en-US" altLang="zh-CN" sz="1200" dirty="0">
                <a:latin typeface="+mn-ea"/>
              </a:rPr>
              <a:t>+</a:t>
            </a:r>
            <a:r>
              <a:rPr lang="zh-CN" altLang="en-US" sz="1200" dirty="0">
                <a:latin typeface="+mn-ea"/>
              </a:rPr>
              <a:t>信息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44" name="矩形: 圆角 143">
            <a:extLst>
              <a:ext uri="{FF2B5EF4-FFF2-40B4-BE49-F238E27FC236}">
                <a16:creationId xmlns:a16="http://schemas.microsoft.com/office/drawing/2014/main" id="{BC732998-8276-5E4C-B2EC-6008F4EA1B7A}"/>
              </a:ext>
            </a:extLst>
          </p:cNvPr>
          <p:cNvSpPr/>
          <p:nvPr/>
        </p:nvSpPr>
        <p:spPr>
          <a:xfrm>
            <a:off x="2377101" y="8749232"/>
            <a:ext cx="719736" cy="41361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线上陌生人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6" name="文本占位符 1">
            <a:extLst>
              <a:ext uri="{FF2B5EF4-FFF2-40B4-BE49-F238E27FC236}">
                <a16:creationId xmlns:a16="http://schemas.microsoft.com/office/drawing/2014/main" id="{286DEC57-EC08-7383-F67F-6572FB3F8067}"/>
              </a:ext>
            </a:extLst>
          </p:cNvPr>
          <p:cNvSpPr txBox="1">
            <a:spLocks/>
          </p:cNvSpPr>
          <p:nvPr/>
        </p:nvSpPr>
        <p:spPr>
          <a:xfrm>
            <a:off x="3096838" y="8817420"/>
            <a:ext cx="1593268" cy="343711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dirty="0">
                <a:latin typeface="+mn-ea"/>
              </a:rPr>
              <a:t>证据</a:t>
            </a:r>
            <a:r>
              <a:rPr lang="en-US" altLang="zh-CN" sz="1200" dirty="0">
                <a:latin typeface="+mn-ea"/>
              </a:rPr>
              <a:t>+</a:t>
            </a:r>
            <a:r>
              <a:rPr lang="zh-CN" altLang="en-US" sz="1200" dirty="0">
                <a:latin typeface="+mn-ea"/>
              </a:rPr>
              <a:t>同好</a:t>
            </a:r>
            <a:r>
              <a:rPr lang="en-US" altLang="zh-CN" sz="1200" dirty="0">
                <a:latin typeface="+mn-ea"/>
              </a:rPr>
              <a:t>+</a:t>
            </a:r>
            <a:r>
              <a:rPr lang="zh-CN" altLang="en-US" sz="1200" dirty="0">
                <a:latin typeface="+mn-ea"/>
              </a:rPr>
              <a:t>能力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EF496CE6-B497-B679-40C3-D62138596725}"/>
              </a:ext>
            </a:extLst>
          </p:cNvPr>
          <p:cNvSpPr/>
          <p:nvPr/>
        </p:nvSpPr>
        <p:spPr>
          <a:xfrm>
            <a:off x="10703801" y="-3232875"/>
            <a:ext cx="482746" cy="48274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FF4F274-CCD4-B1E4-8447-8EE7A170AB1E}"/>
              </a:ext>
            </a:extLst>
          </p:cNvPr>
          <p:cNvSpPr/>
          <p:nvPr/>
        </p:nvSpPr>
        <p:spPr>
          <a:xfrm>
            <a:off x="11241743" y="-3232859"/>
            <a:ext cx="482746" cy="48274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848AE0F5-95B6-B921-71BE-1FDC1502CC23}"/>
              </a:ext>
            </a:extLst>
          </p:cNvPr>
          <p:cNvSpPr/>
          <p:nvPr/>
        </p:nvSpPr>
        <p:spPr>
          <a:xfrm>
            <a:off x="11774183" y="-3224392"/>
            <a:ext cx="482746" cy="48274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D22FF2A-32DA-346B-3BD8-3CD1B4A8923D}"/>
              </a:ext>
            </a:extLst>
          </p:cNvPr>
          <p:cNvSpPr txBox="1"/>
          <p:nvPr/>
        </p:nvSpPr>
        <p:spPr>
          <a:xfrm>
            <a:off x="10692496" y="-3245589"/>
            <a:ext cx="4940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统计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latin typeface="+mn-ea"/>
              </a:rPr>
              <a:t>评选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B653385-199A-129C-8612-55C28CF6164D}"/>
              </a:ext>
            </a:extLst>
          </p:cNvPr>
          <p:cNvSpPr txBox="1"/>
          <p:nvPr/>
        </p:nvSpPr>
        <p:spPr>
          <a:xfrm>
            <a:off x="11035031" y="-3246457"/>
            <a:ext cx="8825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GC</a:t>
            </a: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挖掘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9B1CDB5-D561-9234-F5F8-F62D8F8C67AD}"/>
              </a:ext>
            </a:extLst>
          </p:cNvPr>
          <p:cNvSpPr txBox="1"/>
          <p:nvPr/>
        </p:nvSpPr>
        <p:spPr>
          <a:xfrm>
            <a:off x="11607008" y="-3224392"/>
            <a:ext cx="8263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用户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打标</a:t>
            </a:r>
          </a:p>
        </p:txBody>
      </p:sp>
      <p:sp>
        <p:nvSpPr>
          <p:cNvPr id="163" name="椭圆 162">
            <a:extLst>
              <a:ext uri="{FF2B5EF4-FFF2-40B4-BE49-F238E27FC236}">
                <a16:creationId xmlns:a16="http://schemas.microsoft.com/office/drawing/2014/main" id="{DB8DD501-33EF-144A-30BF-A1D58D1FFD52}"/>
              </a:ext>
            </a:extLst>
          </p:cNvPr>
          <p:cNvSpPr/>
          <p:nvPr/>
        </p:nvSpPr>
        <p:spPr>
          <a:xfrm>
            <a:off x="11928863" y="-2497607"/>
            <a:ext cx="482746" cy="48274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4" name="文本框 163">
            <a:extLst>
              <a:ext uri="{FF2B5EF4-FFF2-40B4-BE49-F238E27FC236}">
                <a16:creationId xmlns:a16="http://schemas.microsoft.com/office/drawing/2014/main" id="{9318962F-7A7F-5CB3-2F52-C70F527584E5}"/>
              </a:ext>
            </a:extLst>
          </p:cNvPr>
          <p:cNvSpPr txBox="1"/>
          <p:nvPr/>
        </p:nvSpPr>
        <p:spPr>
          <a:xfrm>
            <a:off x="11917558" y="-2510321"/>
            <a:ext cx="4940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统一资产</a:t>
            </a:r>
          </a:p>
        </p:txBody>
      </p:sp>
      <p:sp>
        <p:nvSpPr>
          <p:cNvPr id="165" name="椭圆 164">
            <a:extLst>
              <a:ext uri="{FF2B5EF4-FFF2-40B4-BE49-F238E27FC236}">
                <a16:creationId xmlns:a16="http://schemas.microsoft.com/office/drawing/2014/main" id="{38F6E13F-A21F-EA21-34A6-114222FF9CB2}"/>
              </a:ext>
            </a:extLst>
          </p:cNvPr>
          <p:cNvSpPr/>
          <p:nvPr/>
        </p:nvSpPr>
        <p:spPr>
          <a:xfrm>
            <a:off x="12422914" y="-2500073"/>
            <a:ext cx="482746" cy="48274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6" name="文本框 165">
            <a:extLst>
              <a:ext uri="{FF2B5EF4-FFF2-40B4-BE49-F238E27FC236}">
                <a16:creationId xmlns:a16="http://schemas.microsoft.com/office/drawing/2014/main" id="{78E2F042-ECAD-7589-5E75-BC0D18F93A53}"/>
              </a:ext>
            </a:extLst>
          </p:cNvPr>
          <p:cNvSpPr txBox="1"/>
          <p:nvPr/>
        </p:nvSpPr>
        <p:spPr>
          <a:xfrm>
            <a:off x="12411609" y="-2512787"/>
            <a:ext cx="4940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官方标签</a:t>
            </a:r>
          </a:p>
        </p:txBody>
      </p:sp>
      <p:sp>
        <p:nvSpPr>
          <p:cNvPr id="169" name="椭圆 168">
            <a:extLst>
              <a:ext uri="{FF2B5EF4-FFF2-40B4-BE49-F238E27FC236}">
                <a16:creationId xmlns:a16="http://schemas.microsoft.com/office/drawing/2014/main" id="{28B07A38-D1B1-D4C7-67A7-709C2DD6DD4B}"/>
              </a:ext>
            </a:extLst>
          </p:cNvPr>
          <p:cNvSpPr/>
          <p:nvPr/>
        </p:nvSpPr>
        <p:spPr>
          <a:xfrm>
            <a:off x="7896011" y="9001091"/>
            <a:ext cx="482746" cy="48274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0" name="文本框 169">
            <a:extLst>
              <a:ext uri="{FF2B5EF4-FFF2-40B4-BE49-F238E27FC236}">
                <a16:creationId xmlns:a16="http://schemas.microsoft.com/office/drawing/2014/main" id="{62E648D8-704D-5B00-F457-C1A0B79D805C}"/>
              </a:ext>
            </a:extLst>
          </p:cNvPr>
          <p:cNvSpPr txBox="1"/>
          <p:nvPr/>
        </p:nvSpPr>
        <p:spPr>
          <a:xfrm>
            <a:off x="7884706" y="8988377"/>
            <a:ext cx="4940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圈层</a:t>
            </a:r>
            <a:r>
              <a:rPr lang="zh-CN" altLang="en-US" sz="1200" dirty="0">
                <a:latin typeface="+mn-ea"/>
              </a:rPr>
              <a:t>资产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1" name="椭圆 170">
            <a:extLst>
              <a:ext uri="{FF2B5EF4-FFF2-40B4-BE49-F238E27FC236}">
                <a16:creationId xmlns:a16="http://schemas.microsoft.com/office/drawing/2014/main" id="{7E7814AF-1F77-CA0C-7A2F-0622E3C56FA8}"/>
              </a:ext>
            </a:extLst>
          </p:cNvPr>
          <p:cNvSpPr/>
          <p:nvPr/>
        </p:nvSpPr>
        <p:spPr>
          <a:xfrm>
            <a:off x="8390062" y="8998625"/>
            <a:ext cx="482746" cy="48274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D3FA110C-9262-B683-D321-2FAC72D7FC45}"/>
              </a:ext>
            </a:extLst>
          </p:cNvPr>
          <p:cNvSpPr txBox="1"/>
          <p:nvPr/>
        </p:nvSpPr>
        <p:spPr>
          <a:xfrm>
            <a:off x="8378757" y="8985911"/>
            <a:ext cx="4940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用户打标</a:t>
            </a:r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AC6A6665-48A3-B4B6-0651-90A954E57014}"/>
              </a:ext>
            </a:extLst>
          </p:cNvPr>
          <p:cNvSpPr txBox="1"/>
          <p:nvPr/>
        </p:nvSpPr>
        <p:spPr>
          <a:xfrm>
            <a:off x="1101759" y="-3707254"/>
            <a:ext cx="66435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/>
            <a:r>
              <a:rPr lang="en-US" altLang="zh-CN" dirty="0">
                <a:effectLst/>
              </a:rPr>
              <a:t>3.</a:t>
            </a:r>
            <a:r>
              <a:rPr lang="zh-CN" altLang="en-US" dirty="0">
                <a:effectLst/>
              </a:rPr>
              <a:t>商家满足了什么增量需求</a:t>
            </a:r>
          </a:p>
          <a:p>
            <a:pPr marR="0"/>
            <a:r>
              <a:rPr lang="en-US" altLang="zh-CN" dirty="0">
                <a:effectLst/>
              </a:rPr>
              <a:t>a. </a:t>
            </a:r>
            <a:r>
              <a:rPr lang="zh-CN" altLang="en-US" dirty="0">
                <a:effectLst/>
              </a:rPr>
              <a:t>获得精准用户、精准</a:t>
            </a:r>
            <a:r>
              <a:rPr lang="en-US" altLang="zh-CN" dirty="0">
                <a:effectLst/>
              </a:rPr>
              <a:t>GC</a:t>
            </a:r>
            <a:r>
              <a:rPr lang="zh-CN" altLang="en-US" dirty="0">
                <a:effectLst/>
              </a:rPr>
              <a:t>，拥有一种更精细化的商家</a:t>
            </a:r>
            <a:r>
              <a:rPr lang="en-US" altLang="zh-CN" dirty="0">
                <a:effectLst/>
              </a:rPr>
              <a:t>-</a:t>
            </a:r>
            <a:r>
              <a:rPr lang="zh-CN" altLang="en-US" dirty="0">
                <a:effectLst/>
              </a:rPr>
              <a:t>用户关系</a:t>
            </a:r>
          </a:p>
          <a:p>
            <a:pPr marR="0"/>
            <a:r>
              <a:rPr lang="en-US" altLang="zh-CN" dirty="0">
                <a:effectLst/>
              </a:rPr>
              <a:t>b. </a:t>
            </a:r>
            <a:r>
              <a:rPr lang="zh-CN" altLang="en-US" dirty="0">
                <a:effectLst/>
              </a:rPr>
              <a:t>可以更精准的运营，如基于私藏美食集发布任务和定向邀请等。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07075054-66A3-80E9-182B-7780456BE01F}"/>
              </a:ext>
            </a:extLst>
          </p:cNvPr>
          <p:cNvSpPr/>
          <p:nvPr/>
        </p:nvSpPr>
        <p:spPr>
          <a:xfrm>
            <a:off x="10856101" y="7560886"/>
            <a:ext cx="943501" cy="92886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店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B8357F03-80B1-D921-1341-03B77EFCB3DB}"/>
              </a:ext>
            </a:extLst>
          </p:cNvPr>
          <p:cNvSpPr/>
          <p:nvPr/>
        </p:nvSpPr>
        <p:spPr>
          <a:xfrm>
            <a:off x="11523588" y="6577180"/>
            <a:ext cx="943501" cy="92886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人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9D0F6ED5-DBD1-FE01-616C-E4DC3E45CD40}"/>
              </a:ext>
            </a:extLst>
          </p:cNvPr>
          <p:cNvSpPr/>
          <p:nvPr/>
        </p:nvSpPr>
        <p:spPr>
          <a:xfrm>
            <a:off x="10309090" y="8496112"/>
            <a:ext cx="943501" cy="92886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我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F6773EF-74E0-C51B-2D5F-0D171290B5E0}"/>
              </a:ext>
            </a:extLst>
          </p:cNvPr>
          <p:cNvSpPr txBox="1"/>
          <p:nvPr/>
        </p:nvSpPr>
        <p:spPr>
          <a:xfrm>
            <a:off x="12393042" y="932968"/>
            <a:ext cx="9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dirty="0">
                <a:effectLst/>
              </a:rPr>
              <a:t>分享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706452B-4853-C90D-5EA0-F52EC459E6B6}"/>
              </a:ext>
            </a:extLst>
          </p:cNvPr>
          <p:cNvSpPr txBox="1"/>
          <p:nvPr/>
        </p:nvSpPr>
        <p:spPr>
          <a:xfrm>
            <a:off x="3279589" y="2060983"/>
            <a:ext cx="9435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dirty="0"/>
              <a:t>自用工具</a:t>
            </a:r>
            <a:endParaRPr lang="zh-CN" altLang="en-US" dirty="0">
              <a:effectLst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58D8089-A87C-6CC3-02A7-483645042E52}"/>
              </a:ext>
            </a:extLst>
          </p:cNvPr>
          <p:cNvSpPr/>
          <p:nvPr/>
        </p:nvSpPr>
        <p:spPr>
          <a:xfrm>
            <a:off x="-2557959" y="794468"/>
            <a:ext cx="943501" cy="92886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用户</a:t>
            </a:r>
          </a:p>
        </p:txBody>
      </p:sp>
      <p:cxnSp>
        <p:nvCxnSpPr>
          <p:cNvPr id="21" name="连接符: 肘形 20">
            <a:extLst>
              <a:ext uri="{FF2B5EF4-FFF2-40B4-BE49-F238E27FC236}">
                <a16:creationId xmlns:a16="http://schemas.microsoft.com/office/drawing/2014/main" id="{3F20D037-0DF7-14CE-B8A3-805ED93D52C8}"/>
              </a:ext>
            </a:extLst>
          </p:cNvPr>
          <p:cNvCxnSpPr>
            <a:cxnSpLocks/>
            <a:stCxn id="10" idx="0"/>
            <a:endCxn id="43" idx="3"/>
          </p:cNvCxnSpPr>
          <p:nvPr/>
        </p:nvCxnSpPr>
        <p:spPr>
          <a:xfrm rot="16200000" flipV="1">
            <a:off x="3200352" y="1509995"/>
            <a:ext cx="614700" cy="48727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连接符: 肘形 27">
            <a:extLst>
              <a:ext uri="{FF2B5EF4-FFF2-40B4-BE49-F238E27FC236}">
                <a16:creationId xmlns:a16="http://schemas.microsoft.com/office/drawing/2014/main" id="{10D1E56A-DF75-253B-DF15-A04D49615153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11191517" y="135678"/>
            <a:ext cx="1201525" cy="98195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B799B2E8-B5E9-2CD2-E522-A4903F1F4586}"/>
              </a:ext>
            </a:extLst>
          </p:cNvPr>
          <p:cNvSpPr txBox="1"/>
          <p:nvPr/>
        </p:nvSpPr>
        <p:spPr>
          <a:xfrm>
            <a:off x="-1688035" y="1500480"/>
            <a:ext cx="9435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dirty="0"/>
              <a:t>创作用户</a:t>
            </a:r>
            <a:endParaRPr lang="zh-CN" altLang="en-US" dirty="0">
              <a:effectLst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18C168B2-5C72-B8CD-A94E-5C75914AF59C}"/>
              </a:ext>
            </a:extLst>
          </p:cNvPr>
          <p:cNvSpPr txBox="1"/>
          <p:nvPr/>
        </p:nvSpPr>
        <p:spPr>
          <a:xfrm>
            <a:off x="1238605" y="1261617"/>
            <a:ext cx="20254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dirty="0"/>
              <a:t>资产沉默成本</a:t>
            </a:r>
            <a:endParaRPr lang="zh-CN" altLang="en-US" dirty="0">
              <a:effectLst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8E327AC-A1C1-6D12-04C8-56BEB7A89529}"/>
              </a:ext>
            </a:extLst>
          </p:cNvPr>
          <p:cNvSpPr txBox="1"/>
          <p:nvPr/>
        </p:nvSpPr>
        <p:spPr>
          <a:xfrm>
            <a:off x="1238605" y="1823646"/>
            <a:ext cx="20254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dirty="0"/>
              <a:t>低门槛工具</a:t>
            </a:r>
            <a:endParaRPr lang="zh-CN" altLang="en-US" dirty="0">
              <a:effectLst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F4591846-B022-1222-A2EF-1CB55CCC45BD}"/>
              </a:ext>
            </a:extLst>
          </p:cNvPr>
          <p:cNvSpPr txBox="1"/>
          <p:nvPr/>
        </p:nvSpPr>
        <p:spPr>
          <a:xfrm>
            <a:off x="1238604" y="2430315"/>
            <a:ext cx="20254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dirty="0"/>
              <a:t>游戏化</a:t>
            </a:r>
            <a:endParaRPr lang="zh-CN" altLang="en-US" dirty="0">
              <a:effectLst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5031CF29-F8E9-959C-276E-AAF56D05A7C9}"/>
              </a:ext>
            </a:extLst>
          </p:cNvPr>
          <p:cNvSpPr txBox="1"/>
          <p:nvPr/>
        </p:nvSpPr>
        <p:spPr>
          <a:xfrm>
            <a:off x="1254130" y="2995780"/>
            <a:ext cx="20254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dirty="0"/>
              <a:t>激励</a:t>
            </a:r>
            <a:endParaRPr lang="zh-CN" altLang="en-US" dirty="0">
              <a:effectLst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0C3BF265-99C5-FB76-7A94-5BAC7D14465A}"/>
              </a:ext>
            </a:extLst>
          </p:cNvPr>
          <p:cNvSpPr txBox="1"/>
          <p:nvPr/>
        </p:nvSpPr>
        <p:spPr>
          <a:xfrm>
            <a:off x="5792324" y="2054478"/>
            <a:ext cx="9435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en-US" altLang="zh-CN" dirty="0"/>
              <a:t>for others</a:t>
            </a:r>
            <a:endParaRPr lang="zh-CN" altLang="en-US" dirty="0">
              <a:effectLst/>
            </a:endParaRPr>
          </a:p>
        </p:txBody>
      </p:sp>
      <p:cxnSp>
        <p:nvCxnSpPr>
          <p:cNvPr id="53" name="连接符: 肘形 52">
            <a:extLst>
              <a:ext uri="{FF2B5EF4-FFF2-40B4-BE49-F238E27FC236}">
                <a16:creationId xmlns:a16="http://schemas.microsoft.com/office/drawing/2014/main" id="{6EC0446A-5077-257A-C8F3-06C5CE692A37}"/>
              </a:ext>
            </a:extLst>
          </p:cNvPr>
          <p:cNvCxnSpPr>
            <a:cxnSpLocks/>
            <a:stCxn id="10" idx="3"/>
            <a:endCxn id="51" idx="1"/>
          </p:cNvCxnSpPr>
          <p:nvPr/>
        </p:nvCxnSpPr>
        <p:spPr>
          <a:xfrm flipV="1">
            <a:off x="4223090" y="2377644"/>
            <a:ext cx="1569234" cy="650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551302BC-1157-9789-79B8-3E55A0DB1DA0}"/>
              </a:ext>
            </a:extLst>
          </p:cNvPr>
          <p:cNvSpPr txBox="1"/>
          <p:nvPr/>
        </p:nvSpPr>
        <p:spPr>
          <a:xfrm>
            <a:off x="6717549" y="-1335647"/>
            <a:ext cx="11333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dirty="0"/>
              <a:t>消费用户</a:t>
            </a:r>
            <a:endParaRPr lang="zh-CN" altLang="en-US" dirty="0">
              <a:effectLst/>
            </a:endParaRPr>
          </a:p>
        </p:txBody>
      </p:sp>
      <p:cxnSp>
        <p:nvCxnSpPr>
          <p:cNvPr id="60" name="连接符: 肘形 59">
            <a:extLst>
              <a:ext uri="{FF2B5EF4-FFF2-40B4-BE49-F238E27FC236}">
                <a16:creationId xmlns:a16="http://schemas.microsoft.com/office/drawing/2014/main" id="{FF387237-DE08-936C-FBE2-2E17164035AA}"/>
              </a:ext>
            </a:extLst>
          </p:cNvPr>
          <p:cNvCxnSpPr>
            <a:cxnSpLocks/>
            <a:stCxn id="10" idx="2"/>
            <a:endCxn id="129" idx="3"/>
          </p:cNvCxnSpPr>
          <p:nvPr/>
        </p:nvCxnSpPr>
        <p:spPr>
          <a:xfrm rot="5400000">
            <a:off x="2545607" y="3403717"/>
            <a:ext cx="1902137" cy="50933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文本框 128">
            <a:extLst>
              <a:ext uri="{FF2B5EF4-FFF2-40B4-BE49-F238E27FC236}">
                <a16:creationId xmlns:a16="http://schemas.microsoft.com/office/drawing/2014/main" id="{0A819ACB-D9D3-6E53-2A1F-15E7EDF81BE9}"/>
              </a:ext>
            </a:extLst>
          </p:cNvPr>
          <p:cNvSpPr txBox="1"/>
          <p:nvPr/>
        </p:nvSpPr>
        <p:spPr>
          <a:xfrm>
            <a:off x="1216550" y="4286285"/>
            <a:ext cx="20254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dirty="0">
                <a:effectLst/>
              </a:rPr>
              <a:t>更好的自我个性化体验</a:t>
            </a: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3B4B9850-D22C-A4EF-34C1-98BCFD26396D}"/>
              </a:ext>
            </a:extLst>
          </p:cNvPr>
          <p:cNvSpPr txBox="1"/>
          <p:nvPr/>
        </p:nvSpPr>
        <p:spPr>
          <a:xfrm>
            <a:off x="-714902" y="3389501"/>
            <a:ext cx="20254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dirty="0">
                <a:effectLst/>
              </a:rPr>
              <a:t>更多资产积累</a:t>
            </a:r>
          </a:p>
        </p:txBody>
      </p:sp>
      <p:cxnSp>
        <p:nvCxnSpPr>
          <p:cNvPr id="133" name="连接符: 肘形 132">
            <a:extLst>
              <a:ext uri="{FF2B5EF4-FFF2-40B4-BE49-F238E27FC236}">
                <a16:creationId xmlns:a16="http://schemas.microsoft.com/office/drawing/2014/main" id="{23BABF33-7DF7-31DE-6165-080893EDC7EA}"/>
              </a:ext>
            </a:extLst>
          </p:cNvPr>
          <p:cNvCxnSpPr>
            <a:cxnSpLocks/>
            <a:stCxn id="129" idx="1"/>
            <a:endCxn id="131" idx="2"/>
          </p:cNvCxnSpPr>
          <p:nvPr/>
        </p:nvCxnSpPr>
        <p:spPr>
          <a:xfrm rot="10800000">
            <a:off x="297828" y="3758833"/>
            <a:ext cx="918722" cy="85061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连接符: 肘形 138">
            <a:extLst>
              <a:ext uri="{FF2B5EF4-FFF2-40B4-BE49-F238E27FC236}">
                <a16:creationId xmlns:a16="http://schemas.microsoft.com/office/drawing/2014/main" id="{C65A6BA3-B98B-0784-18C8-B63A2C06A798}"/>
              </a:ext>
            </a:extLst>
          </p:cNvPr>
          <p:cNvCxnSpPr>
            <a:cxnSpLocks/>
            <a:stCxn id="59" idx="1"/>
            <a:endCxn id="41" idx="0"/>
          </p:cNvCxnSpPr>
          <p:nvPr/>
        </p:nvCxnSpPr>
        <p:spPr>
          <a:xfrm rot="10800000" flipV="1">
            <a:off x="-1216283" y="-1150982"/>
            <a:ext cx="7933833" cy="265146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连接符: 肘形 147">
            <a:extLst>
              <a:ext uri="{FF2B5EF4-FFF2-40B4-BE49-F238E27FC236}">
                <a16:creationId xmlns:a16="http://schemas.microsoft.com/office/drawing/2014/main" id="{41DE1E4D-C369-71C7-C78C-7BDB24AE67C4}"/>
              </a:ext>
            </a:extLst>
          </p:cNvPr>
          <p:cNvCxnSpPr>
            <a:cxnSpLocks/>
            <a:stCxn id="51" idx="0"/>
          </p:cNvCxnSpPr>
          <p:nvPr/>
        </p:nvCxnSpPr>
        <p:spPr>
          <a:xfrm rot="5400000" flipH="1" flipV="1">
            <a:off x="5703321" y="1493724"/>
            <a:ext cx="1121508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文本框 154">
            <a:extLst>
              <a:ext uri="{FF2B5EF4-FFF2-40B4-BE49-F238E27FC236}">
                <a16:creationId xmlns:a16="http://schemas.microsoft.com/office/drawing/2014/main" id="{04FD4E5E-12A7-AB38-4785-2A56CF7925A9}"/>
              </a:ext>
            </a:extLst>
          </p:cNvPr>
          <p:cNvSpPr txBox="1"/>
          <p:nvPr/>
        </p:nvSpPr>
        <p:spPr>
          <a:xfrm>
            <a:off x="5602704" y="523822"/>
            <a:ext cx="11333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dirty="0"/>
              <a:t>精准多样的体验</a:t>
            </a:r>
            <a:endParaRPr lang="zh-CN" altLang="en-US" dirty="0">
              <a:effectLst/>
            </a:endParaRPr>
          </a:p>
        </p:txBody>
      </p:sp>
      <p:cxnSp>
        <p:nvCxnSpPr>
          <p:cNvPr id="156" name="连接符: 肘形 155">
            <a:extLst>
              <a:ext uri="{FF2B5EF4-FFF2-40B4-BE49-F238E27FC236}">
                <a16:creationId xmlns:a16="http://schemas.microsoft.com/office/drawing/2014/main" id="{7C29CC77-F2FB-B0F5-EB05-E91C2413A096}"/>
              </a:ext>
            </a:extLst>
          </p:cNvPr>
          <p:cNvCxnSpPr>
            <a:cxnSpLocks/>
            <a:stCxn id="155" idx="0"/>
            <a:endCxn id="59" idx="2"/>
          </p:cNvCxnSpPr>
          <p:nvPr/>
        </p:nvCxnSpPr>
        <p:spPr>
          <a:xfrm rot="5400000" flipH="1" flipV="1">
            <a:off x="5981720" y="-778668"/>
            <a:ext cx="1490137" cy="111484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文本框 160">
            <a:extLst>
              <a:ext uri="{FF2B5EF4-FFF2-40B4-BE49-F238E27FC236}">
                <a16:creationId xmlns:a16="http://schemas.microsoft.com/office/drawing/2014/main" id="{0CDA8D7C-A63B-4BC3-087B-138FD32DC47B}"/>
              </a:ext>
            </a:extLst>
          </p:cNvPr>
          <p:cNvSpPr txBox="1"/>
          <p:nvPr/>
        </p:nvSpPr>
        <p:spPr>
          <a:xfrm>
            <a:off x="5602704" y="3983795"/>
            <a:ext cx="9435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dirty="0">
                <a:effectLst/>
              </a:rPr>
              <a:t>打标</a:t>
            </a:r>
          </a:p>
        </p:txBody>
      </p:sp>
      <p:cxnSp>
        <p:nvCxnSpPr>
          <p:cNvPr id="162" name="连接符: 肘形 161">
            <a:extLst>
              <a:ext uri="{FF2B5EF4-FFF2-40B4-BE49-F238E27FC236}">
                <a16:creationId xmlns:a16="http://schemas.microsoft.com/office/drawing/2014/main" id="{DE58D38B-6C98-4464-1D10-1B10536CF356}"/>
              </a:ext>
            </a:extLst>
          </p:cNvPr>
          <p:cNvCxnSpPr>
            <a:cxnSpLocks/>
            <a:stCxn id="10" idx="3"/>
            <a:endCxn id="161" idx="1"/>
          </p:cNvCxnSpPr>
          <p:nvPr/>
        </p:nvCxnSpPr>
        <p:spPr>
          <a:xfrm>
            <a:off x="4223090" y="2384149"/>
            <a:ext cx="1379614" cy="178431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连接符: 肘形 172">
            <a:extLst>
              <a:ext uri="{FF2B5EF4-FFF2-40B4-BE49-F238E27FC236}">
                <a16:creationId xmlns:a16="http://schemas.microsoft.com/office/drawing/2014/main" id="{5019EDBA-9BCE-BF63-BBE4-5056DC2F0B24}"/>
              </a:ext>
            </a:extLst>
          </p:cNvPr>
          <p:cNvCxnSpPr>
            <a:cxnSpLocks/>
            <a:stCxn id="131" idx="1"/>
            <a:endCxn id="213" idx="1"/>
          </p:cNvCxnSpPr>
          <p:nvPr/>
        </p:nvCxnSpPr>
        <p:spPr>
          <a:xfrm rot="10800000" flipH="1" flipV="1">
            <a:off x="-714903" y="3574166"/>
            <a:ext cx="5845855" cy="2656069"/>
          </a:xfrm>
          <a:prstGeom prst="bentConnector3">
            <a:avLst>
              <a:gd name="adj1" fmla="val -391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文本框 179">
            <a:extLst>
              <a:ext uri="{FF2B5EF4-FFF2-40B4-BE49-F238E27FC236}">
                <a16:creationId xmlns:a16="http://schemas.microsoft.com/office/drawing/2014/main" id="{11444BAA-9A41-90D4-F442-C4ADACBECC18}"/>
              </a:ext>
            </a:extLst>
          </p:cNvPr>
          <p:cNvSpPr txBox="1"/>
          <p:nvPr/>
        </p:nvSpPr>
        <p:spPr>
          <a:xfrm>
            <a:off x="7188230" y="3845295"/>
            <a:ext cx="9435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dirty="0">
                <a:effectLst/>
              </a:rPr>
              <a:t>商家信息丰富、长尾商家发现</a:t>
            </a:r>
          </a:p>
        </p:txBody>
      </p:sp>
      <p:cxnSp>
        <p:nvCxnSpPr>
          <p:cNvPr id="181" name="连接符: 肘形 180">
            <a:extLst>
              <a:ext uri="{FF2B5EF4-FFF2-40B4-BE49-F238E27FC236}">
                <a16:creationId xmlns:a16="http://schemas.microsoft.com/office/drawing/2014/main" id="{1058DD2E-3E41-6646-1566-24E3DAF1FF9E}"/>
              </a:ext>
            </a:extLst>
          </p:cNvPr>
          <p:cNvCxnSpPr>
            <a:cxnSpLocks/>
            <a:stCxn id="161" idx="3"/>
            <a:endCxn id="180" idx="1"/>
          </p:cNvCxnSpPr>
          <p:nvPr/>
        </p:nvCxnSpPr>
        <p:spPr>
          <a:xfrm>
            <a:off x="6546205" y="4168461"/>
            <a:ext cx="642025" cy="27699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连接符: 肘形 190">
            <a:extLst>
              <a:ext uri="{FF2B5EF4-FFF2-40B4-BE49-F238E27FC236}">
                <a16:creationId xmlns:a16="http://schemas.microsoft.com/office/drawing/2014/main" id="{D9A201C1-7E1B-B13F-B89D-8BB47FD86937}"/>
              </a:ext>
            </a:extLst>
          </p:cNvPr>
          <p:cNvCxnSpPr>
            <a:cxnSpLocks/>
          </p:cNvCxnSpPr>
          <p:nvPr/>
        </p:nvCxnSpPr>
        <p:spPr>
          <a:xfrm flipH="1" flipV="1">
            <a:off x="7814304" y="-1150982"/>
            <a:ext cx="280859" cy="5596441"/>
          </a:xfrm>
          <a:prstGeom prst="bentConnector3">
            <a:avLst>
              <a:gd name="adj1" fmla="val -55618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椭圆 201">
            <a:extLst>
              <a:ext uri="{FF2B5EF4-FFF2-40B4-BE49-F238E27FC236}">
                <a16:creationId xmlns:a16="http://schemas.microsoft.com/office/drawing/2014/main" id="{A79D2DB5-C164-F786-DB0C-5FD28AA7A946}"/>
              </a:ext>
            </a:extLst>
          </p:cNvPr>
          <p:cNvSpPr/>
          <p:nvPr/>
        </p:nvSpPr>
        <p:spPr>
          <a:xfrm>
            <a:off x="5998773" y="-2289306"/>
            <a:ext cx="943501" cy="92886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用户</a:t>
            </a:r>
          </a:p>
        </p:txBody>
      </p:sp>
      <p:sp>
        <p:nvSpPr>
          <p:cNvPr id="203" name="椭圆 202">
            <a:extLst>
              <a:ext uri="{FF2B5EF4-FFF2-40B4-BE49-F238E27FC236}">
                <a16:creationId xmlns:a16="http://schemas.microsoft.com/office/drawing/2014/main" id="{DCB3BA6D-6022-37CA-9ED9-1F1C0AF914B2}"/>
              </a:ext>
            </a:extLst>
          </p:cNvPr>
          <p:cNvSpPr/>
          <p:nvPr/>
        </p:nvSpPr>
        <p:spPr>
          <a:xfrm>
            <a:off x="7342553" y="2934940"/>
            <a:ext cx="943501" cy="92886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商家</a:t>
            </a:r>
          </a:p>
        </p:txBody>
      </p:sp>
      <p:sp>
        <p:nvSpPr>
          <p:cNvPr id="204" name="椭圆 203">
            <a:extLst>
              <a:ext uri="{FF2B5EF4-FFF2-40B4-BE49-F238E27FC236}">
                <a16:creationId xmlns:a16="http://schemas.microsoft.com/office/drawing/2014/main" id="{75302CA6-C1F0-F113-88A4-1E3D6EE97ED0}"/>
              </a:ext>
            </a:extLst>
          </p:cNvPr>
          <p:cNvSpPr/>
          <p:nvPr/>
        </p:nvSpPr>
        <p:spPr>
          <a:xfrm>
            <a:off x="838806" y="6632017"/>
            <a:ext cx="943501" cy="92886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平台</a:t>
            </a:r>
          </a:p>
        </p:txBody>
      </p:sp>
      <p:sp>
        <p:nvSpPr>
          <p:cNvPr id="213" name="文本框 212">
            <a:extLst>
              <a:ext uri="{FF2B5EF4-FFF2-40B4-BE49-F238E27FC236}">
                <a16:creationId xmlns:a16="http://schemas.microsoft.com/office/drawing/2014/main" id="{B71ED00F-6F87-DBA9-72EA-CE703F3A5546}"/>
              </a:ext>
            </a:extLst>
          </p:cNvPr>
          <p:cNvSpPr txBox="1"/>
          <p:nvPr/>
        </p:nvSpPr>
        <p:spPr>
          <a:xfrm>
            <a:off x="5130953" y="5907070"/>
            <a:ext cx="9435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dirty="0">
                <a:effectLst/>
              </a:rPr>
              <a:t>更多销量资产</a:t>
            </a:r>
          </a:p>
        </p:txBody>
      </p:sp>
      <p:sp>
        <p:nvSpPr>
          <p:cNvPr id="215" name="椭圆 214">
            <a:extLst>
              <a:ext uri="{FF2B5EF4-FFF2-40B4-BE49-F238E27FC236}">
                <a16:creationId xmlns:a16="http://schemas.microsoft.com/office/drawing/2014/main" id="{F0BE689D-E585-D3E7-468C-4DE707757926}"/>
              </a:ext>
            </a:extLst>
          </p:cNvPr>
          <p:cNvSpPr/>
          <p:nvPr/>
        </p:nvSpPr>
        <p:spPr>
          <a:xfrm>
            <a:off x="5772977" y="5003601"/>
            <a:ext cx="943501" cy="92886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商家</a:t>
            </a:r>
          </a:p>
        </p:txBody>
      </p:sp>
    </p:spTree>
    <p:extLst>
      <p:ext uri="{BB962C8B-B14F-4D97-AF65-F5344CB8AC3E}">
        <p14:creationId xmlns:p14="http://schemas.microsoft.com/office/powerpoint/2010/main" val="776290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椭圆 1">
            <a:extLst>
              <a:ext uri="{FF2B5EF4-FFF2-40B4-BE49-F238E27FC236}">
                <a16:creationId xmlns:a16="http://schemas.microsoft.com/office/drawing/2014/main" id="{4F2D2FBA-CE32-31E7-9E24-9715D060D7F6}"/>
              </a:ext>
            </a:extLst>
          </p:cNvPr>
          <p:cNvSpPr/>
          <p:nvPr/>
        </p:nvSpPr>
        <p:spPr>
          <a:xfrm>
            <a:off x="7030541" y="1777058"/>
            <a:ext cx="943501" cy="92886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生产者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272DBA65-FCE6-E059-E3FE-1E46194DDFF1}"/>
              </a:ext>
            </a:extLst>
          </p:cNvPr>
          <p:cNvSpPr/>
          <p:nvPr/>
        </p:nvSpPr>
        <p:spPr>
          <a:xfrm>
            <a:off x="5227377" y="4081148"/>
            <a:ext cx="943501" cy="92886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商家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4C681994-86C4-C3F1-7880-EFF666E588AA}"/>
              </a:ext>
            </a:extLst>
          </p:cNvPr>
          <p:cNvCxnSpPr>
            <a:cxnSpLocks/>
            <a:stCxn id="2" idx="3"/>
            <a:endCxn id="4" idx="7"/>
          </p:cNvCxnSpPr>
          <p:nvPr/>
        </p:nvCxnSpPr>
        <p:spPr>
          <a:xfrm flipH="1">
            <a:off x="6032705" y="2569897"/>
            <a:ext cx="1136009" cy="164728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2DA65C62-6729-0BE1-4FCB-3C2BBF0C650D}"/>
              </a:ext>
            </a:extLst>
          </p:cNvPr>
          <p:cNvSpPr txBox="1"/>
          <p:nvPr/>
        </p:nvSpPr>
        <p:spPr>
          <a:xfrm>
            <a:off x="4749736" y="2912564"/>
            <a:ext cx="20254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dirty="0"/>
              <a:t>更多的</a:t>
            </a:r>
            <a:endParaRPr lang="en-US" altLang="zh-CN" dirty="0"/>
          </a:p>
          <a:p>
            <a:pPr marL="0" marR="0" algn="ctr"/>
            <a:r>
              <a:rPr lang="zh-CN" altLang="en-US" dirty="0">
                <a:effectLst/>
              </a:rPr>
              <a:t>交易</a:t>
            </a:r>
            <a:r>
              <a:rPr lang="en-US" altLang="zh-CN" dirty="0">
                <a:effectLst/>
              </a:rPr>
              <a:t>/</a:t>
            </a:r>
            <a:r>
              <a:rPr lang="zh-CN" altLang="en-US" dirty="0">
                <a:effectLst/>
              </a:rPr>
              <a:t>收藏资产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7FFCD9D-7835-9190-DD90-0FBC5C25EA90}"/>
              </a:ext>
            </a:extLst>
          </p:cNvPr>
          <p:cNvSpPr txBox="1"/>
          <p:nvPr/>
        </p:nvSpPr>
        <p:spPr>
          <a:xfrm>
            <a:off x="4500159" y="0"/>
            <a:ext cx="17296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dirty="0"/>
              <a:t>画像更准</a:t>
            </a:r>
            <a:endParaRPr lang="en-US" altLang="zh-CN" dirty="0"/>
          </a:p>
          <a:p>
            <a:pPr marL="0" marR="0" algn="ctr"/>
            <a:r>
              <a:rPr lang="zh-CN" altLang="en-US" dirty="0"/>
              <a:t>集卡</a:t>
            </a:r>
            <a:r>
              <a:rPr lang="en-US" altLang="zh-CN" dirty="0"/>
              <a:t>/</a:t>
            </a:r>
            <a:r>
              <a:rPr lang="zh-CN" altLang="en-US" dirty="0"/>
              <a:t>勋章越多</a:t>
            </a:r>
            <a:endParaRPr lang="zh-CN" altLang="en-US" dirty="0">
              <a:effectLst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6C90A4F-15B6-C8F0-7FC4-A8E8CF3F45A5}"/>
              </a:ext>
            </a:extLst>
          </p:cNvPr>
          <p:cNvSpPr txBox="1"/>
          <p:nvPr/>
        </p:nvSpPr>
        <p:spPr>
          <a:xfrm>
            <a:off x="10480262" y="-2711691"/>
            <a:ext cx="9435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dirty="0">
                <a:effectLst/>
              </a:rPr>
              <a:t>合集</a:t>
            </a:r>
          </a:p>
        </p:txBody>
      </p:sp>
      <p:cxnSp>
        <p:nvCxnSpPr>
          <p:cNvPr id="25" name="连接符: 肘形 24">
            <a:extLst>
              <a:ext uri="{FF2B5EF4-FFF2-40B4-BE49-F238E27FC236}">
                <a16:creationId xmlns:a16="http://schemas.microsoft.com/office/drawing/2014/main" id="{5F775F8E-0FD9-6A6B-3EF4-839DE555EA31}"/>
              </a:ext>
            </a:extLst>
          </p:cNvPr>
          <p:cNvCxnSpPr>
            <a:cxnSpLocks/>
          </p:cNvCxnSpPr>
          <p:nvPr/>
        </p:nvCxnSpPr>
        <p:spPr>
          <a:xfrm rot="16200000" flipV="1">
            <a:off x="7712101" y="-2981344"/>
            <a:ext cx="1139151" cy="101273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0AA2CC46-8018-3388-0DF1-E5153B84549D}"/>
              </a:ext>
            </a:extLst>
          </p:cNvPr>
          <p:cNvSpPr/>
          <p:nvPr/>
        </p:nvSpPr>
        <p:spPr>
          <a:xfrm>
            <a:off x="4597375" y="1601696"/>
            <a:ext cx="1632906" cy="41361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自用记录价值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D2AB2723-904E-2454-6166-973E7445C9B0}"/>
              </a:ext>
            </a:extLst>
          </p:cNvPr>
          <p:cNvSpPr/>
          <p:nvPr/>
        </p:nvSpPr>
        <p:spPr>
          <a:xfrm>
            <a:off x="8787965" y="-2393618"/>
            <a:ext cx="1383033" cy="41361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分享互动价值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27A28EF0-D771-0EFF-DF5F-2F8443826DBF}"/>
              </a:ext>
            </a:extLst>
          </p:cNvPr>
          <p:cNvSpPr/>
          <p:nvPr/>
        </p:nvSpPr>
        <p:spPr>
          <a:xfrm>
            <a:off x="-1516085" y="-1905403"/>
            <a:ext cx="1383033" cy="41361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+mn-ea"/>
              </a:rPr>
              <a:t>资产沉淀价值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8" name="矩形: 圆角 127">
            <a:extLst>
              <a:ext uri="{FF2B5EF4-FFF2-40B4-BE49-F238E27FC236}">
                <a16:creationId xmlns:a16="http://schemas.microsoft.com/office/drawing/2014/main" id="{C32A9906-C12A-DCE3-9383-6A6467F40F8A}"/>
              </a:ext>
            </a:extLst>
          </p:cNvPr>
          <p:cNvSpPr/>
          <p:nvPr/>
        </p:nvSpPr>
        <p:spPr>
          <a:xfrm>
            <a:off x="-1497471" y="-2450456"/>
            <a:ext cx="1383033" cy="41361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用户打标价值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0" name="矩形: 圆角 129">
            <a:extLst>
              <a:ext uri="{FF2B5EF4-FFF2-40B4-BE49-F238E27FC236}">
                <a16:creationId xmlns:a16="http://schemas.microsoft.com/office/drawing/2014/main" id="{19CBF137-CE2F-FFAC-C4E9-2B4FEA69B58E}"/>
              </a:ext>
            </a:extLst>
          </p:cNvPr>
          <p:cNvSpPr/>
          <p:nvPr/>
        </p:nvSpPr>
        <p:spPr>
          <a:xfrm>
            <a:off x="-1491557" y="-3018117"/>
            <a:ext cx="1383033" cy="41361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长尾分发价值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2" name="弧形 131">
            <a:extLst>
              <a:ext uri="{FF2B5EF4-FFF2-40B4-BE49-F238E27FC236}">
                <a16:creationId xmlns:a16="http://schemas.microsoft.com/office/drawing/2014/main" id="{DE85020D-5172-1EE1-D70A-73398D544456}"/>
              </a:ext>
            </a:extLst>
          </p:cNvPr>
          <p:cNvSpPr/>
          <p:nvPr/>
        </p:nvSpPr>
        <p:spPr>
          <a:xfrm rot="10800000">
            <a:off x="3522387" y="942693"/>
            <a:ext cx="2314914" cy="2409108"/>
          </a:xfrm>
          <a:prstGeom prst="arc">
            <a:avLst>
              <a:gd name="adj1" fmla="val 16200000"/>
              <a:gd name="adj2" fmla="val 20363816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弧形 133">
            <a:extLst>
              <a:ext uri="{FF2B5EF4-FFF2-40B4-BE49-F238E27FC236}">
                <a16:creationId xmlns:a16="http://schemas.microsoft.com/office/drawing/2014/main" id="{375B8DC1-D9B4-AE4D-B38F-097EDF6A6B88}"/>
              </a:ext>
            </a:extLst>
          </p:cNvPr>
          <p:cNvSpPr/>
          <p:nvPr/>
        </p:nvSpPr>
        <p:spPr>
          <a:xfrm rot="16200000">
            <a:off x="3409567" y="275215"/>
            <a:ext cx="2181185" cy="2314915"/>
          </a:xfrm>
          <a:prstGeom prst="arc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A6707C4-0F5B-E32E-AC65-F822B0583F3E}"/>
              </a:ext>
            </a:extLst>
          </p:cNvPr>
          <p:cNvSpPr txBox="1"/>
          <p:nvPr/>
        </p:nvSpPr>
        <p:spPr>
          <a:xfrm>
            <a:off x="6126758" y="725211"/>
            <a:ext cx="17296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dirty="0">
                <a:effectLst/>
              </a:rPr>
              <a:t>体验更好</a:t>
            </a:r>
          </a:p>
        </p:txBody>
      </p:sp>
      <p:sp>
        <p:nvSpPr>
          <p:cNvPr id="136" name="弧形 135">
            <a:extLst>
              <a:ext uri="{FF2B5EF4-FFF2-40B4-BE49-F238E27FC236}">
                <a16:creationId xmlns:a16="http://schemas.microsoft.com/office/drawing/2014/main" id="{DEF23C3F-DD7D-FA15-F2B8-8CB73FE0880F}"/>
              </a:ext>
            </a:extLst>
          </p:cNvPr>
          <p:cNvSpPr/>
          <p:nvPr/>
        </p:nvSpPr>
        <p:spPr>
          <a:xfrm rot="203217">
            <a:off x="4879314" y="325956"/>
            <a:ext cx="2181185" cy="2314915"/>
          </a:xfrm>
          <a:prstGeom prst="arc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2E3E012A-A8CE-9621-B118-171798970DAF}"/>
              </a:ext>
            </a:extLst>
          </p:cNvPr>
          <p:cNvSpPr txBox="1"/>
          <p:nvPr/>
        </p:nvSpPr>
        <p:spPr>
          <a:xfrm>
            <a:off x="2490976" y="1744851"/>
            <a:ext cx="17296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dirty="0"/>
              <a:t>更多记录</a:t>
            </a:r>
            <a:r>
              <a:rPr lang="en-US" altLang="zh-CN" dirty="0"/>
              <a:t>/</a:t>
            </a:r>
            <a:r>
              <a:rPr lang="zh-CN" altLang="en-US" dirty="0"/>
              <a:t>管理</a:t>
            </a:r>
            <a:endParaRPr lang="zh-CN" altLang="en-US" dirty="0">
              <a:effectLst/>
            </a:endParaRPr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7A233906-FEB0-E273-9800-12A98C905F68}"/>
              </a:ext>
            </a:extLst>
          </p:cNvPr>
          <p:cNvSpPr txBox="1"/>
          <p:nvPr/>
        </p:nvSpPr>
        <p:spPr>
          <a:xfrm>
            <a:off x="1468938" y="3815819"/>
            <a:ext cx="17296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dirty="0"/>
              <a:t>更多用户</a:t>
            </a:r>
            <a:r>
              <a:rPr lang="en-US" altLang="zh-CN" dirty="0"/>
              <a:t>GC</a:t>
            </a:r>
            <a:endParaRPr lang="zh-CN" altLang="en-US" dirty="0">
              <a:effectLst/>
            </a:endParaRPr>
          </a:p>
        </p:txBody>
      </p:sp>
      <p:sp>
        <p:nvSpPr>
          <p:cNvPr id="153" name="弧形 152">
            <a:extLst>
              <a:ext uri="{FF2B5EF4-FFF2-40B4-BE49-F238E27FC236}">
                <a16:creationId xmlns:a16="http://schemas.microsoft.com/office/drawing/2014/main" id="{F85D95FE-EBB3-937D-561F-758A49C6EF36}"/>
              </a:ext>
            </a:extLst>
          </p:cNvPr>
          <p:cNvSpPr/>
          <p:nvPr/>
        </p:nvSpPr>
        <p:spPr>
          <a:xfrm rot="21359944" flipH="1">
            <a:off x="1753805" y="2428903"/>
            <a:ext cx="1951909" cy="2314915"/>
          </a:xfrm>
          <a:prstGeom prst="arc">
            <a:avLst>
              <a:gd name="adj1" fmla="val 16742722"/>
              <a:gd name="adj2" fmla="val 0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文本框 153">
            <a:extLst>
              <a:ext uri="{FF2B5EF4-FFF2-40B4-BE49-F238E27FC236}">
                <a16:creationId xmlns:a16="http://schemas.microsoft.com/office/drawing/2014/main" id="{4988A0F2-D144-2C6F-6F6B-6899BAA42278}"/>
              </a:ext>
            </a:extLst>
          </p:cNvPr>
          <p:cNvSpPr txBox="1"/>
          <p:nvPr/>
        </p:nvSpPr>
        <p:spPr>
          <a:xfrm>
            <a:off x="2656396" y="5387831"/>
            <a:ext cx="17296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dirty="0"/>
              <a:t>更多精准流量</a:t>
            </a:r>
            <a:endParaRPr lang="zh-CN" altLang="en-US" dirty="0">
              <a:effectLst/>
            </a:endParaRPr>
          </a:p>
        </p:txBody>
      </p:sp>
      <p:sp>
        <p:nvSpPr>
          <p:cNvPr id="157" name="弧形 156">
            <a:extLst>
              <a:ext uri="{FF2B5EF4-FFF2-40B4-BE49-F238E27FC236}">
                <a16:creationId xmlns:a16="http://schemas.microsoft.com/office/drawing/2014/main" id="{7AD11D39-11DF-B1FD-3BA8-AE866EA10073}"/>
              </a:ext>
            </a:extLst>
          </p:cNvPr>
          <p:cNvSpPr/>
          <p:nvPr/>
        </p:nvSpPr>
        <p:spPr>
          <a:xfrm rot="17100000" flipH="1">
            <a:off x="1954414" y="3478351"/>
            <a:ext cx="1951909" cy="2314915"/>
          </a:xfrm>
          <a:prstGeom prst="arc">
            <a:avLst>
              <a:gd name="adj1" fmla="val 16742722"/>
              <a:gd name="adj2" fmla="val 0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弧形 157">
            <a:extLst>
              <a:ext uri="{FF2B5EF4-FFF2-40B4-BE49-F238E27FC236}">
                <a16:creationId xmlns:a16="http://schemas.microsoft.com/office/drawing/2014/main" id="{D30EB0D0-6760-2EB3-AAB0-7B40FCA7754A}"/>
              </a:ext>
            </a:extLst>
          </p:cNvPr>
          <p:cNvSpPr/>
          <p:nvPr/>
        </p:nvSpPr>
        <p:spPr>
          <a:xfrm rot="12497350" flipH="1">
            <a:off x="3540096" y="3343689"/>
            <a:ext cx="1951909" cy="2314915"/>
          </a:xfrm>
          <a:prstGeom prst="arc">
            <a:avLst>
              <a:gd name="adj1" fmla="val 17657092"/>
              <a:gd name="adj2" fmla="val 0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0" name="文本框 159">
            <a:extLst>
              <a:ext uri="{FF2B5EF4-FFF2-40B4-BE49-F238E27FC236}">
                <a16:creationId xmlns:a16="http://schemas.microsoft.com/office/drawing/2014/main" id="{1157D882-4049-7E4B-26A7-1571E13EAAE3}"/>
              </a:ext>
            </a:extLst>
          </p:cNvPr>
          <p:cNvSpPr txBox="1"/>
          <p:nvPr/>
        </p:nvSpPr>
        <p:spPr>
          <a:xfrm>
            <a:off x="1004305" y="-476190"/>
            <a:ext cx="17296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dirty="0"/>
              <a:t>更精准的消费体验</a:t>
            </a:r>
            <a:endParaRPr lang="zh-CN" altLang="en-US" dirty="0">
              <a:effectLst/>
            </a:endParaRPr>
          </a:p>
        </p:txBody>
      </p:sp>
      <p:sp>
        <p:nvSpPr>
          <p:cNvPr id="176" name="弧形 175">
            <a:extLst>
              <a:ext uri="{FF2B5EF4-FFF2-40B4-BE49-F238E27FC236}">
                <a16:creationId xmlns:a16="http://schemas.microsoft.com/office/drawing/2014/main" id="{770BFF34-9A1A-1F62-A562-4EA071519C31}"/>
              </a:ext>
            </a:extLst>
          </p:cNvPr>
          <p:cNvSpPr/>
          <p:nvPr/>
        </p:nvSpPr>
        <p:spPr>
          <a:xfrm rot="11025496">
            <a:off x="1866485" y="-857113"/>
            <a:ext cx="2181185" cy="2314915"/>
          </a:xfrm>
          <a:prstGeom prst="arc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F05F875F-4D03-3D06-C0F5-6877A52A8493}"/>
              </a:ext>
            </a:extLst>
          </p:cNvPr>
          <p:cNvSpPr txBox="1"/>
          <p:nvPr/>
        </p:nvSpPr>
        <p:spPr>
          <a:xfrm>
            <a:off x="3256387" y="-1988837"/>
            <a:ext cx="17296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dirty="0"/>
              <a:t>更多的用户</a:t>
            </a:r>
            <a:endParaRPr lang="zh-CN" altLang="en-US" dirty="0">
              <a:effectLst/>
            </a:endParaRPr>
          </a:p>
        </p:txBody>
      </p:sp>
      <p:sp>
        <p:nvSpPr>
          <p:cNvPr id="178" name="弧形 177">
            <a:extLst>
              <a:ext uri="{FF2B5EF4-FFF2-40B4-BE49-F238E27FC236}">
                <a16:creationId xmlns:a16="http://schemas.microsoft.com/office/drawing/2014/main" id="{DF02EEE7-331F-E2B1-6516-C72B8B2E34A6}"/>
              </a:ext>
            </a:extLst>
          </p:cNvPr>
          <p:cNvSpPr/>
          <p:nvPr/>
        </p:nvSpPr>
        <p:spPr>
          <a:xfrm rot="16200000">
            <a:off x="2095770" y="-1804933"/>
            <a:ext cx="2181185" cy="2314915"/>
          </a:xfrm>
          <a:prstGeom prst="arc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9" name="弧形 178">
            <a:extLst>
              <a:ext uri="{FF2B5EF4-FFF2-40B4-BE49-F238E27FC236}">
                <a16:creationId xmlns:a16="http://schemas.microsoft.com/office/drawing/2014/main" id="{3051261F-F79C-07EB-5719-921CB091A3FD}"/>
              </a:ext>
            </a:extLst>
          </p:cNvPr>
          <p:cNvSpPr/>
          <p:nvPr/>
        </p:nvSpPr>
        <p:spPr>
          <a:xfrm>
            <a:off x="3415121" y="-1623937"/>
            <a:ext cx="3967783" cy="4441301"/>
          </a:xfrm>
          <a:prstGeom prst="arc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2" name="文本框 181">
            <a:extLst>
              <a:ext uri="{FF2B5EF4-FFF2-40B4-BE49-F238E27FC236}">
                <a16:creationId xmlns:a16="http://schemas.microsoft.com/office/drawing/2014/main" id="{4A7BF385-83BB-E3B3-AE93-07BBE17272B3}"/>
              </a:ext>
            </a:extLst>
          </p:cNvPr>
          <p:cNvSpPr txBox="1"/>
          <p:nvPr/>
        </p:nvSpPr>
        <p:spPr>
          <a:xfrm>
            <a:off x="6083517" y="-999169"/>
            <a:ext cx="17296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dirty="0">
                <a:effectLst/>
              </a:rPr>
              <a:t>转化</a:t>
            </a:r>
          </a:p>
        </p:txBody>
      </p:sp>
      <p:sp>
        <p:nvSpPr>
          <p:cNvPr id="183" name="弧形 182">
            <a:extLst>
              <a:ext uri="{FF2B5EF4-FFF2-40B4-BE49-F238E27FC236}">
                <a16:creationId xmlns:a16="http://schemas.microsoft.com/office/drawing/2014/main" id="{4F4CFF2A-F5F2-E741-CCE1-ECBDB6C3F452}"/>
              </a:ext>
            </a:extLst>
          </p:cNvPr>
          <p:cNvSpPr/>
          <p:nvPr/>
        </p:nvSpPr>
        <p:spPr>
          <a:xfrm rot="21359944" flipH="1">
            <a:off x="344557" y="-1825126"/>
            <a:ext cx="3205656" cy="8548009"/>
          </a:xfrm>
          <a:prstGeom prst="arc">
            <a:avLst>
              <a:gd name="adj1" fmla="val 16124636"/>
              <a:gd name="adj2" fmla="val 6189419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49565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43A1E8EA-2C2A-1508-3D06-8AD9DE823D0A}"/>
              </a:ext>
            </a:extLst>
          </p:cNvPr>
          <p:cNvSpPr/>
          <p:nvPr/>
        </p:nvSpPr>
        <p:spPr>
          <a:xfrm>
            <a:off x="2883917" y="-4795907"/>
            <a:ext cx="6802933" cy="1803767"/>
          </a:xfrm>
          <a:prstGeom prst="roundRect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7" name="图片 36">
            <a:extLst>
              <a:ext uri="{FF2B5EF4-FFF2-40B4-BE49-F238E27FC236}">
                <a16:creationId xmlns:a16="http://schemas.microsoft.com/office/drawing/2014/main" id="{262FBD5F-BBD8-530B-9BFF-65A31F8730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91899" y="-4355913"/>
            <a:ext cx="8711707" cy="5035700"/>
          </a:xfrm>
          <a:prstGeom prst="rect">
            <a:avLst/>
          </a:prstGeom>
        </p:spPr>
      </p:pic>
      <p:sp>
        <p:nvSpPr>
          <p:cNvPr id="2" name="椭圆 1">
            <a:extLst>
              <a:ext uri="{FF2B5EF4-FFF2-40B4-BE49-F238E27FC236}">
                <a16:creationId xmlns:a16="http://schemas.microsoft.com/office/drawing/2014/main" id="{6191FD67-600A-4029-35D4-F3F38F259EDE}"/>
              </a:ext>
            </a:extLst>
          </p:cNvPr>
          <p:cNvSpPr/>
          <p:nvPr/>
        </p:nvSpPr>
        <p:spPr>
          <a:xfrm>
            <a:off x="2392957" y="-127227"/>
            <a:ext cx="1588319" cy="156368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用户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1AFC1C88-0677-9AA3-7BA1-E4EAA505F69B}"/>
              </a:ext>
            </a:extLst>
          </p:cNvPr>
          <p:cNvSpPr/>
          <p:nvPr/>
        </p:nvSpPr>
        <p:spPr>
          <a:xfrm>
            <a:off x="13061762" y="5078434"/>
            <a:ext cx="943501" cy="92886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商家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206F5948-8B89-A79E-AFE5-6DCE9558F4E3}"/>
              </a:ext>
            </a:extLst>
          </p:cNvPr>
          <p:cNvSpPr/>
          <p:nvPr/>
        </p:nvSpPr>
        <p:spPr>
          <a:xfrm>
            <a:off x="4840968" y="-127228"/>
            <a:ext cx="1588319" cy="156368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去过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想去的店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E980A271-2E52-D9BE-7917-1141070218BB}"/>
              </a:ext>
            </a:extLst>
          </p:cNvPr>
          <p:cNvCxnSpPr>
            <a:cxnSpLocks/>
            <a:stCxn id="2" idx="6"/>
            <a:endCxn id="5" idx="2"/>
          </p:cNvCxnSpPr>
          <p:nvPr/>
        </p:nvCxnSpPr>
        <p:spPr>
          <a:xfrm flipV="1">
            <a:off x="3981276" y="654616"/>
            <a:ext cx="85969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48D21F4E-5888-8DC5-A9B2-FB474AEE9950}"/>
              </a:ext>
            </a:extLst>
          </p:cNvPr>
          <p:cNvSpPr txBox="1"/>
          <p:nvPr/>
        </p:nvSpPr>
        <p:spPr>
          <a:xfrm>
            <a:off x="6322653" y="329035"/>
            <a:ext cx="10842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sz="1600" dirty="0">
                <a:latin typeface="+mn-ea"/>
              </a:rPr>
              <a:t>编辑工具</a:t>
            </a:r>
            <a:endParaRPr lang="zh-CN" altLang="en-US" sz="1600" dirty="0">
              <a:effectLst/>
              <a:latin typeface="+mn-ea"/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DDA094D9-DFFF-4205-B338-CA71EC8BA3CA}"/>
              </a:ext>
            </a:extLst>
          </p:cNvPr>
          <p:cNvSpPr/>
          <p:nvPr/>
        </p:nvSpPr>
        <p:spPr>
          <a:xfrm>
            <a:off x="4626209" y="4722158"/>
            <a:ext cx="1588319" cy="156368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他人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141F81B-E360-FB51-BB3D-647E478CDF7C}"/>
              </a:ext>
            </a:extLst>
          </p:cNvPr>
          <p:cNvSpPr txBox="1"/>
          <p:nvPr/>
        </p:nvSpPr>
        <p:spPr>
          <a:xfrm>
            <a:off x="7989918" y="2768837"/>
            <a:ext cx="12611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sz="1600" dirty="0">
                <a:latin typeface="+mn-ea"/>
              </a:rPr>
              <a:t>分享</a:t>
            </a:r>
            <a:endParaRPr lang="en-US" altLang="zh-CN" sz="1600" dirty="0">
              <a:latin typeface="+mn-ea"/>
            </a:endParaRPr>
          </a:p>
          <a:p>
            <a:pPr marL="0" marR="0" algn="ctr"/>
            <a:r>
              <a:rPr lang="zh-CN" altLang="en-US" sz="1600" dirty="0">
                <a:latin typeface="+mn-ea"/>
              </a:rPr>
              <a:t>圈层分发</a:t>
            </a:r>
            <a:endParaRPr lang="zh-CN" altLang="en-US" sz="1600" dirty="0">
              <a:effectLst/>
              <a:latin typeface="+mn-ea"/>
            </a:endParaRP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E03E36A1-7C7B-2625-1EE5-63BC257FE7BE}"/>
              </a:ext>
            </a:extLst>
          </p:cNvPr>
          <p:cNvSpPr/>
          <p:nvPr/>
        </p:nvSpPr>
        <p:spPr>
          <a:xfrm>
            <a:off x="3777840" y="2679492"/>
            <a:ext cx="1588319" cy="156368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更多店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（系统生成个性化合集）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8CBFEDD4-BD35-8825-880C-759668B86EE9}"/>
              </a:ext>
            </a:extLst>
          </p:cNvPr>
          <p:cNvCxnSpPr>
            <a:cxnSpLocks/>
            <a:stCxn id="5" idx="4"/>
            <a:endCxn id="36" idx="0"/>
          </p:cNvCxnSpPr>
          <p:nvPr/>
        </p:nvCxnSpPr>
        <p:spPr>
          <a:xfrm flipH="1">
            <a:off x="4572000" y="1436459"/>
            <a:ext cx="1063128" cy="12430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9B96D993-5C34-BAC8-49E2-E3AC980E096F}"/>
              </a:ext>
            </a:extLst>
          </p:cNvPr>
          <p:cNvSpPr txBox="1"/>
          <p:nvPr/>
        </p:nvSpPr>
        <p:spPr>
          <a:xfrm>
            <a:off x="2835038" y="1781697"/>
            <a:ext cx="1441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sz="1600" dirty="0">
                <a:latin typeface="+mn-ea"/>
              </a:rPr>
              <a:t>个性化推荐</a:t>
            </a:r>
            <a:endParaRPr lang="zh-CN" altLang="en-US" sz="1600" dirty="0">
              <a:effectLst/>
              <a:latin typeface="+mn-ea"/>
            </a:endParaRPr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FD706E96-EF0E-24CD-5227-626C9B029CFA}"/>
              </a:ext>
            </a:extLst>
          </p:cNvPr>
          <p:cNvCxnSpPr>
            <a:cxnSpLocks/>
          </p:cNvCxnSpPr>
          <p:nvPr/>
        </p:nvCxnSpPr>
        <p:spPr>
          <a:xfrm flipH="1">
            <a:off x="12103834" y="5506956"/>
            <a:ext cx="42817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0D3A9605-DA63-DD8A-5468-830A593234F6}"/>
              </a:ext>
            </a:extLst>
          </p:cNvPr>
          <p:cNvSpPr txBox="1"/>
          <p:nvPr/>
        </p:nvSpPr>
        <p:spPr>
          <a:xfrm>
            <a:off x="13061762" y="3825350"/>
            <a:ext cx="8959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sz="1600" dirty="0">
                <a:latin typeface="+mn-ea"/>
              </a:rPr>
              <a:t>转化</a:t>
            </a:r>
            <a:endParaRPr lang="zh-CN" altLang="en-US" sz="1600" dirty="0">
              <a:effectLst/>
              <a:latin typeface="+mn-ea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E3CEF031-BB32-E69E-61D5-CBF95D5B4D9A}"/>
              </a:ext>
            </a:extLst>
          </p:cNvPr>
          <p:cNvSpPr/>
          <p:nvPr/>
        </p:nvSpPr>
        <p:spPr>
          <a:xfrm>
            <a:off x="7340176" y="-150187"/>
            <a:ext cx="1588319" cy="156368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美食合集</a:t>
            </a:r>
          </a:p>
        </p:txBody>
      </p: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589B5B77-D8C3-3E02-6A32-F7DF65BFEC11}"/>
              </a:ext>
            </a:extLst>
          </p:cNvPr>
          <p:cNvCxnSpPr>
            <a:cxnSpLocks/>
            <a:stCxn id="5" idx="6"/>
            <a:endCxn id="58" idx="2"/>
          </p:cNvCxnSpPr>
          <p:nvPr/>
        </p:nvCxnSpPr>
        <p:spPr>
          <a:xfrm flipV="1">
            <a:off x="6429287" y="631657"/>
            <a:ext cx="910889" cy="229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id="{52248BC6-72A0-20E1-356C-4C72EF669118}"/>
              </a:ext>
            </a:extLst>
          </p:cNvPr>
          <p:cNvSpPr txBox="1"/>
          <p:nvPr/>
        </p:nvSpPr>
        <p:spPr>
          <a:xfrm>
            <a:off x="3788641" y="327304"/>
            <a:ext cx="11920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sz="1600" dirty="0">
                <a:effectLst/>
                <a:latin typeface="+mn-ea"/>
              </a:rPr>
              <a:t>资产</a:t>
            </a:r>
            <a:r>
              <a:rPr lang="en-US" altLang="zh-CN" sz="1600" dirty="0">
                <a:effectLst/>
                <a:latin typeface="+mn-ea"/>
              </a:rPr>
              <a:t>/</a:t>
            </a:r>
            <a:r>
              <a:rPr lang="zh-CN" altLang="en-US" sz="1600" dirty="0">
                <a:effectLst/>
                <a:latin typeface="+mn-ea"/>
              </a:rPr>
              <a:t>记录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711CA492-7A32-B7F7-AA90-FD454B49B552}"/>
              </a:ext>
            </a:extLst>
          </p:cNvPr>
          <p:cNvSpPr txBox="1"/>
          <p:nvPr/>
        </p:nvSpPr>
        <p:spPr>
          <a:xfrm>
            <a:off x="4268761" y="1766908"/>
            <a:ext cx="123260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sz="1600" dirty="0">
                <a:latin typeface="+mn-ea"/>
              </a:rPr>
              <a:t>相关性计算</a:t>
            </a:r>
            <a:endParaRPr lang="zh-CN" altLang="en-US" sz="1600" dirty="0">
              <a:effectLst/>
              <a:latin typeface="+mn-ea"/>
            </a:endParaRPr>
          </a:p>
        </p:txBody>
      </p: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F895CCBE-A503-7EC0-69BA-9E5B03D30E44}"/>
              </a:ext>
            </a:extLst>
          </p:cNvPr>
          <p:cNvCxnSpPr>
            <a:cxnSpLocks/>
            <a:stCxn id="36" idx="0"/>
            <a:endCxn id="2" idx="4"/>
          </p:cNvCxnSpPr>
          <p:nvPr/>
        </p:nvCxnSpPr>
        <p:spPr>
          <a:xfrm flipH="1" flipV="1">
            <a:off x="3187117" y="1436460"/>
            <a:ext cx="1384883" cy="1243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弧形 91">
            <a:extLst>
              <a:ext uri="{FF2B5EF4-FFF2-40B4-BE49-F238E27FC236}">
                <a16:creationId xmlns:a16="http://schemas.microsoft.com/office/drawing/2014/main" id="{00E6326D-6D19-9442-3524-14201EBF9624}"/>
              </a:ext>
            </a:extLst>
          </p:cNvPr>
          <p:cNvSpPr/>
          <p:nvPr/>
        </p:nvSpPr>
        <p:spPr>
          <a:xfrm rot="3907582">
            <a:off x="1784640" y="-872185"/>
            <a:ext cx="6270864" cy="6518684"/>
          </a:xfrm>
          <a:prstGeom prst="arc">
            <a:avLst>
              <a:gd name="adj1" fmla="val 16962472"/>
              <a:gd name="adj2" fmla="val 0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弧形 92">
            <a:extLst>
              <a:ext uri="{FF2B5EF4-FFF2-40B4-BE49-F238E27FC236}">
                <a16:creationId xmlns:a16="http://schemas.microsoft.com/office/drawing/2014/main" id="{BCEE19A0-22AF-B2AC-6903-FD47492E84BF}"/>
              </a:ext>
            </a:extLst>
          </p:cNvPr>
          <p:cNvSpPr/>
          <p:nvPr/>
        </p:nvSpPr>
        <p:spPr>
          <a:xfrm rot="11700000">
            <a:off x="2489054" y="-835040"/>
            <a:ext cx="6024621" cy="6407132"/>
          </a:xfrm>
          <a:prstGeom prst="arc">
            <a:avLst>
              <a:gd name="adj1" fmla="val 16508550"/>
              <a:gd name="adj2" fmla="val 0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+mn-ea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9B10392A-0DD2-DBAC-6F62-CD80EA8E2201}"/>
              </a:ext>
            </a:extLst>
          </p:cNvPr>
          <p:cNvSpPr txBox="1"/>
          <p:nvPr/>
        </p:nvSpPr>
        <p:spPr>
          <a:xfrm>
            <a:off x="1327038" y="3092003"/>
            <a:ext cx="12611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sz="1600" dirty="0">
                <a:latin typeface="+mn-ea"/>
              </a:rPr>
              <a:t>激励转化</a:t>
            </a:r>
            <a:endParaRPr lang="zh-CN" altLang="en-US" sz="1600" dirty="0">
              <a:effectLst/>
              <a:latin typeface="+mn-ea"/>
            </a:endParaRPr>
          </a:p>
        </p:txBody>
      </p:sp>
      <p:sp>
        <p:nvSpPr>
          <p:cNvPr id="95" name="椭圆 94">
            <a:extLst>
              <a:ext uri="{FF2B5EF4-FFF2-40B4-BE49-F238E27FC236}">
                <a16:creationId xmlns:a16="http://schemas.microsoft.com/office/drawing/2014/main" id="{0FB1AB8A-B141-F924-51F7-C844B73EBF99}"/>
              </a:ext>
            </a:extLst>
          </p:cNvPr>
          <p:cNvSpPr/>
          <p:nvPr/>
        </p:nvSpPr>
        <p:spPr>
          <a:xfrm>
            <a:off x="4242418" y="1177278"/>
            <a:ext cx="431800" cy="4318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9467AC74-41D8-3861-A99F-79CDDFC8EDDD}"/>
              </a:ext>
            </a:extLst>
          </p:cNvPr>
          <p:cNvSpPr/>
          <p:nvPr/>
        </p:nvSpPr>
        <p:spPr>
          <a:xfrm>
            <a:off x="6621301" y="-52160"/>
            <a:ext cx="431800" cy="4318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97" name="椭圆 96">
            <a:extLst>
              <a:ext uri="{FF2B5EF4-FFF2-40B4-BE49-F238E27FC236}">
                <a16:creationId xmlns:a16="http://schemas.microsoft.com/office/drawing/2014/main" id="{1B1AE10C-C278-93B9-B2C0-0F773B62210E}"/>
              </a:ext>
            </a:extLst>
          </p:cNvPr>
          <p:cNvSpPr/>
          <p:nvPr/>
        </p:nvSpPr>
        <p:spPr>
          <a:xfrm>
            <a:off x="6736713" y="3393550"/>
            <a:ext cx="431800" cy="4318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03" name="弧形 102">
            <a:extLst>
              <a:ext uri="{FF2B5EF4-FFF2-40B4-BE49-F238E27FC236}">
                <a16:creationId xmlns:a16="http://schemas.microsoft.com/office/drawing/2014/main" id="{C88DCBE3-43F1-019C-0C7C-7FCF4411EEFD}"/>
              </a:ext>
            </a:extLst>
          </p:cNvPr>
          <p:cNvSpPr/>
          <p:nvPr/>
        </p:nvSpPr>
        <p:spPr>
          <a:xfrm>
            <a:off x="4108397" y="1025960"/>
            <a:ext cx="698847" cy="712469"/>
          </a:xfrm>
          <a:prstGeom prst="arc">
            <a:avLst>
              <a:gd name="adj1" fmla="val 2265981"/>
              <a:gd name="adj2" fmla="val 887373"/>
            </a:avLst>
          </a:prstGeom>
          <a:ln>
            <a:solidFill>
              <a:schemeClr val="accent6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277FBC79-ECA4-DB44-1F76-06C9DC7532B7}"/>
              </a:ext>
            </a:extLst>
          </p:cNvPr>
          <p:cNvSpPr/>
          <p:nvPr/>
        </p:nvSpPr>
        <p:spPr>
          <a:xfrm>
            <a:off x="1738008" y="2688975"/>
            <a:ext cx="431800" cy="4318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05" name="弧形 104">
            <a:extLst>
              <a:ext uri="{FF2B5EF4-FFF2-40B4-BE49-F238E27FC236}">
                <a16:creationId xmlns:a16="http://schemas.microsoft.com/office/drawing/2014/main" id="{4C0C97BC-F8EC-75E8-D2C3-A61B4764C4C0}"/>
              </a:ext>
            </a:extLst>
          </p:cNvPr>
          <p:cNvSpPr/>
          <p:nvPr/>
        </p:nvSpPr>
        <p:spPr>
          <a:xfrm>
            <a:off x="6602043" y="3269828"/>
            <a:ext cx="698847" cy="712469"/>
          </a:xfrm>
          <a:prstGeom prst="arc">
            <a:avLst>
              <a:gd name="adj1" fmla="val 2265981"/>
              <a:gd name="adj2" fmla="val 887373"/>
            </a:avLst>
          </a:prstGeom>
          <a:ln>
            <a:solidFill>
              <a:schemeClr val="accent6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8" name="直接箭头连接符 147">
            <a:extLst>
              <a:ext uri="{FF2B5EF4-FFF2-40B4-BE49-F238E27FC236}">
                <a16:creationId xmlns:a16="http://schemas.microsoft.com/office/drawing/2014/main" id="{6CDA561A-0D12-3BE2-E98D-5339B29214CE}"/>
              </a:ext>
            </a:extLst>
          </p:cNvPr>
          <p:cNvCxnSpPr>
            <a:cxnSpLocks/>
          </p:cNvCxnSpPr>
          <p:nvPr/>
        </p:nvCxnSpPr>
        <p:spPr>
          <a:xfrm flipH="1">
            <a:off x="6508819" y="760835"/>
            <a:ext cx="720892" cy="13865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文本框 153">
            <a:extLst>
              <a:ext uri="{FF2B5EF4-FFF2-40B4-BE49-F238E27FC236}">
                <a16:creationId xmlns:a16="http://schemas.microsoft.com/office/drawing/2014/main" id="{66A341D2-7769-4341-B78F-EF968B151E0F}"/>
              </a:ext>
            </a:extLst>
          </p:cNvPr>
          <p:cNvSpPr txBox="1"/>
          <p:nvPr/>
        </p:nvSpPr>
        <p:spPr>
          <a:xfrm>
            <a:off x="6475295" y="728199"/>
            <a:ext cx="8959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en-US" altLang="zh-CN" sz="1600" dirty="0">
                <a:effectLst/>
                <a:latin typeface="+mn-ea"/>
              </a:rPr>
              <a:t>UGC</a:t>
            </a:r>
            <a:r>
              <a:rPr lang="zh-CN" altLang="en-US" sz="1600" dirty="0">
                <a:effectLst/>
                <a:latin typeface="+mn-ea"/>
              </a:rPr>
              <a:t>打标</a:t>
            </a:r>
          </a:p>
        </p:txBody>
      </p:sp>
      <p:sp>
        <p:nvSpPr>
          <p:cNvPr id="155" name="文本框 154">
            <a:extLst>
              <a:ext uri="{FF2B5EF4-FFF2-40B4-BE49-F238E27FC236}">
                <a16:creationId xmlns:a16="http://schemas.microsoft.com/office/drawing/2014/main" id="{BADB9384-0E34-05BE-AC41-B7999872C5EE}"/>
              </a:ext>
            </a:extLst>
          </p:cNvPr>
          <p:cNvSpPr txBox="1"/>
          <p:nvPr/>
        </p:nvSpPr>
        <p:spPr>
          <a:xfrm>
            <a:off x="501903" y="-2701732"/>
            <a:ext cx="20254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dirty="0"/>
              <a:t>低门槛工具</a:t>
            </a:r>
            <a:endParaRPr lang="zh-CN" altLang="en-US" dirty="0">
              <a:effectLst/>
            </a:endParaRPr>
          </a:p>
        </p:txBody>
      </p:sp>
      <p:sp>
        <p:nvSpPr>
          <p:cNvPr id="156" name="文本框 155">
            <a:extLst>
              <a:ext uri="{FF2B5EF4-FFF2-40B4-BE49-F238E27FC236}">
                <a16:creationId xmlns:a16="http://schemas.microsoft.com/office/drawing/2014/main" id="{2EEF5AB4-FF9E-B859-9FFD-D2CB8C57F096}"/>
              </a:ext>
            </a:extLst>
          </p:cNvPr>
          <p:cNvSpPr txBox="1"/>
          <p:nvPr/>
        </p:nvSpPr>
        <p:spPr>
          <a:xfrm>
            <a:off x="501902" y="-2095063"/>
            <a:ext cx="20254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dirty="0"/>
              <a:t>游戏化</a:t>
            </a:r>
            <a:endParaRPr lang="zh-CN" altLang="en-US" dirty="0">
              <a:effectLst/>
            </a:endParaRPr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175EEEE6-FD08-16B4-ADEC-4B2B462AF698}"/>
              </a:ext>
            </a:extLst>
          </p:cNvPr>
          <p:cNvSpPr txBox="1"/>
          <p:nvPr/>
        </p:nvSpPr>
        <p:spPr>
          <a:xfrm>
            <a:off x="517428" y="-1529598"/>
            <a:ext cx="20254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dirty="0">
                <a:effectLst/>
              </a:rPr>
              <a:t>节点运营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6630D88-F7DD-467B-1934-88185848D7DB}"/>
              </a:ext>
            </a:extLst>
          </p:cNvPr>
          <p:cNvSpPr/>
          <p:nvPr/>
        </p:nvSpPr>
        <p:spPr>
          <a:xfrm>
            <a:off x="6055187" y="1599087"/>
            <a:ext cx="1262614" cy="124303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点亮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集卡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年报玩法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EE02BF0F-FED1-48B2-61AB-C0E73934BC3C}"/>
              </a:ext>
            </a:extLst>
          </p:cNvPr>
          <p:cNvCxnSpPr>
            <a:cxnSpLocks/>
            <a:stCxn id="5" idx="4"/>
            <a:endCxn id="6" idx="1"/>
          </p:cNvCxnSpPr>
          <p:nvPr/>
        </p:nvCxnSpPr>
        <p:spPr>
          <a:xfrm>
            <a:off x="5635128" y="1436459"/>
            <a:ext cx="604965" cy="34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椭圆 42">
            <a:extLst>
              <a:ext uri="{FF2B5EF4-FFF2-40B4-BE49-F238E27FC236}">
                <a16:creationId xmlns:a16="http://schemas.microsoft.com/office/drawing/2014/main" id="{F917F552-A34B-3D8D-E9A6-4BCCBEFE7BF8}"/>
              </a:ext>
            </a:extLst>
          </p:cNvPr>
          <p:cNvSpPr/>
          <p:nvPr/>
        </p:nvSpPr>
        <p:spPr>
          <a:xfrm>
            <a:off x="5628028" y="1522529"/>
            <a:ext cx="431800" cy="4318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162214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: 圆角 5">
            <a:extLst>
              <a:ext uri="{FF2B5EF4-FFF2-40B4-BE49-F238E27FC236}">
                <a16:creationId xmlns:a16="http://schemas.microsoft.com/office/drawing/2014/main" id="{CABE3BB7-0E15-E01C-E96B-875B534E4BD7}"/>
              </a:ext>
            </a:extLst>
          </p:cNvPr>
          <p:cNvSpPr/>
          <p:nvPr/>
        </p:nvSpPr>
        <p:spPr>
          <a:xfrm>
            <a:off x="2082775" y="-2017804"/>
            <a:ext cx="1632906" cy="41361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用户价值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41EB167-1BCF-F3CA-D4C8-4CE20A4274EA}"/>
              </a:ext>
            </a:extLst>
          </p:cNvPr>
          <p:cNvSpPr txBox="1"/>
          <p:nvPr/>
        </p:nvSpPr>
        <p:spPr>
          <a:xfrm>
            <a:off x="3715680" y="-1995664"/>
            <a:ext cx="4980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dirty="0">
                <a:effectLst/>
              </a:rPr>
              <a:t>悦己</a:t>
            </a:r>
            <a:r>
              <a:rPr lang="en-US" altLang="zh-CN" dirty="0">
                <a:effectLst/>
              </a:rPr>
              <a:t>/</a:t>
            </a:r>
            <a:r>
              <a:rPr lang="zh-CN" altLang="en-US" dirty="0">
                <a:effectLst/>
              </a:rPr>
              <a:t>圈层的新决策方式</a:t>
            </a:r>
            <a:r>
              <a:rPr lang="en-US" altLang="zh-CN" dirty="0">
                <a:effectLst/>
              </a:rPr>
              <a:t>+</a:t>
            </a:r>
            <a:r>
              <a:rPr lang="zh-CN" altLang="en-US" dirty="0">
                <a:effectLst/>
              </a:rPr>
              <a:t>自用管理工具</a:t>
            </a:r>
            <a:r>
              <a:rPr lang="en-US" altLang="zh-CN" dirty="0"/>
              <a:t>+</a:t>
            </a:r>
            <a:r>
              <a:rPr lang="zh-CN" altLang="en-US" dirty="0">
                <a:effectLst/>
              </a:rPr>
              <a:t>互动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7CE5493-CDD0-4166-D3DB-0371BF4510C7}"/>
              </a:ext>
            </a:extLst>
          </p:cNvPr>
          <p:cNvSpPr/>
          <p:nvPr/>
        </p:nvSpPr>
        <p:spPr>
          <a:xfrm>
            <a:off x="2082775" y="-1427254"/>
            <a:ext cx="1632906" cy="41361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商家价值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3806711-9874-92A8-7985-113A8A3687BD}"/>
              </a:ext>
            </a:extLst>
          </p:cNvPr>
          <p:cNvSpPr txBox="1"/>
          <p:nvPr/>
        </p:nvSpPr>
        <p:spPr>
          <a:xfrm>
            <a:off x="3715681" y="-1405114"/>
            <a:ext cx="3347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dirty="0"/>
              <a:t>亮点</a:t>
            </a:r>
            <a:r>
              <a:rPr lang="en-US" altLang="zh-CN" dirty="0"/>
              <a:t>GC+</a:t>
            </a:r>
            <a:r>
              <a:rPr lang="zh-CN" altLang="en-US" dirty="0"/>
              <a:t>精准流量</a:t>
            </a:r>
            <a:r>
              <a:rPr lang="en-US" altLang="zh-CN" dirty="0"/>
              <a:t>+</a:t>
            </a:r>
            <a:r>
              <a:rPr lang="zh-CN" altLang="en-US" dirty="0">
                <a:effectLst/>
              </a:rPr>
              <a:t>长尾分发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89BC9E1-5D3E-6684-A111-8C2EE48F9A5F}"/>
              </a:ext>
            </a:extLst>
          </p:cNvPr>
          <p:cNvSpPr/>
          <p:nvPr/>
        </p:nvSpPr>
        <p:spPr>
          <a:xfrm>
            <a:off x="2082775" y="-791872"/>
            <a:ext cx="1632906" cy="41361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平台价值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14661E7-2FEB-97BA-701D-15C097FD63F7}"/>
              </a:ext>
            </a:extLst>
          </p:cNvPr>
          <p:cNvSpPr txBox="1"/>
          <p:nvPr/>
        </p:nvSpPr>
        <p:spPr>
          <a:xfrm>
            <a:off x="3715681" y="-769732"/>
            <a:ext cx="3347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dirty="0"/>
              <a:t>资产提升</a:t>
            </a:r>
            <a:r>
              <a:rPr lang="en-US" altLang="zh-CN" dirty="0"/>
              <a:t>+</a:t>
            </a:r>
            <a:r>
              <a:rPr lang="zh-CN" altLang="en-US" dirty="0"/>
              <a:t>规模提升</a:t>
            </a:r>
            <a:r>
              <a:rPr lang="en-US" altLang="zh-CN" dirty="0"/>
              <a:t>+</a:t>
            </a:r>
            <a:r>
              <a:rPr lang="zh-CN" altLang="en-US" dirty="0"/>
              <a:t>打标</a:t>
            </a:r>
            <a:endParaRPr lang="zh-CN" altLang="en-US" dirty="0">
              <a:effectLst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ADC080C5-4EF1-F1F1-9FA6-5B41C921633D}"/>
              </a:ext>
            </a:extLst>
          </p:cNvPr>
          <p:cNvSpPr/>
          <p:nvPr/>
        </p:nvSpPr>
        <p:spPr>
          <a:xfrm>
            <a:off x="2556296" y="2948115"/>
            <a:ext cx="4640854" cy="856800"/>
          </a:xfrm>
          <a:prstGeom prst="roundRect">
            <a:avLst>
              <a:gd name="adj" fmla="val 12921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平台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+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用户共建并行的决策生态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精细化用户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生产者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商家刻画，生态多样性提升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高质量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UGC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数据资产，反哺算法和商家经营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8CA8DD3-A2C5-8AEE-6194-90A7677A90C2}"/>
              </a:ext>
            </a:extLst>
          </p:cNvPr>
          <p:cNvSpPr/>
          <p:nvPr/>
        </p:nvSpPr>
        <p:spPr>
          <a:xfrm>
            <a:off x="599797" y="1016406"/>
            <a:ext cx="1807200" cy="8568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For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用户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E5DD2F2-BFD2-0BA7-CA66-186073D90535}"/>
              </a:ext>
            </a:extLst>
          </p:cNvPr>
          <p:cNvSpPr/>
          <p:nvPr/>
        </p:nvSpPr>
        <p:spPr>
          <a:xfrm>
            <a:off x="599797" y="2949343"/>
            <a:ext cx="1807200" cy="8568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For</a:t>
            </a:r>
            <a:r>
              <a:rPr lang="zh-CN" altLang="en-US" sz="1600" dirty="0">
                <a:solidFill>
                  <a:schemeClr val="tx1"/>
                </a:solidFill>
              </a:rPr>
              <a:t>平台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71F4DE2-BD54-3DE0-79D9-9E4CDCC1431A}"/>
              </a:ext>
            </a:extLst>
          </p:cNvPr>
          <p:cNvSpPr/>
          <p:nvPr/>
        </p:nvSpPr>
        <p:spPr>
          <a:xfrm>
            <a:off x="599797" y="1962996"/>
            <a:ext cx="1807200" cy="87011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For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商家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4F9116AF-6EEA-046E-059A-2001B017EDD7}"/>
              </a:ext>
            </a:extLst>
          </p:cNvPr>
          <p:cNvSpPr/>
          <p:nvPr/>
        </p:nvSpPr>
        <p:spPr>
          <a:xfrm>
            <a:off x="2556297" y="1962997"/>
            <a:ext cx="4644604" cy="870117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精准流量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+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长尾被发现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+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多样化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圈层化标签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11A71150-D52F-0037-4674-FF6AD8C16F07}"/>
              </a:ext>
            </a:extLst>
          </p:cNvPr>
          <p:cNvSpPr/>
          <p:nvPr/>
        </p:nvSpPr>
        <p:spPr>
          <a:xfrm>
            <a:off x="2551878" y="1016407"/>
            <a:ext cx="4644604" cy="83159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/>
            <a:r>
              <a:rPr lang="zh-CN" altLang="en-US" sz="1600" dirty="0">
                <a:solidFill>
                  <a:schemeClr val="tx1"/>
                </a:solidFill>
                <a:effectLst/>
              </a:rPr>
              <a:t>新决策体验</a:t>
            </a:r>
            <a:r>
              <a:rPr lang="en-US" altLang="zh-CN" sz="1600" dirty="0">
                <a:solidFill>
                  <a:schemeClr val="tx1"/>
                </a:solidFill>
                <a:effectLst/>
              </a:rPr>
              <a:t>+</a:t>
            </a:r>
            <a:r>
              <a:rPr lang="zh-CN" altLang="en-US" sz="1600" dirty="0">
                <a:solidFill>
                  <a:schemeClr val="tx1"/>
                </a:solidFill>
                <a:effectLst/>
              </a:rPr>
              <a:t>个人资产及</a:t>
            </a:r>
            <a:r>
              <a:rPr lang="zh-CN" altLang="en-US" sz="1600" dirty="0">
                <a:solidFill>
                  <a:schemeClr val="tx1"/>
                </a:solidFill>
              </a:rPr>
              <a:t>品味表达</a:t>
            </a:r>
            <a:r>
              <a:rPr lang="en-US" altLang="zh-CN" sz="1600" dirty="0">
                <a:solidFill>
                  <a:schemeClr val="tx1"/>
                </a:solidFill>
                <a:effectLst/>
              </a:rPr>
              <a:t>+</a:t>
            </a:r>
            <a:r>
              <a:rPr lang="zh-CN" altLang="en-US" sz="1600" dirty="0">
                <a:solidFill>
                  <a:schemeClr val="tx1"/>
                </a:solidFill>
                <a:effectLst/>
              </a:rPr>
              <a:t>自用管理工具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B6F1E25-5831-C840-35C4-3056592422D7}"/>
              </a:ext>
            </a:extLst>
          </p:cNvPr>
          <p:cNvSpPr txBox="1"/>
          <p:nvPr/>
        </p:nvSpPr>
        <p:spPr>
          <a:xfrm>
            <a:off x="13706475" y="-1604192"/>
            <a:ext cx="4572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b="1" i="0" dirty="0">
                <a:solidFill>
                  <a:srgbClr val="1B1B1E"/>
                </a:solidFill>
                <a:effectLst/>
                <a:latin typeface="Inter"/>
              </a:rPr>
              <a:t>2. ✍️ </a:t>
            </a:r>
            <a:r>
              <a:rPr lang="zh-CN" altLang="en-US" b="1" i="0" dirty="0">
                <a:solidFill>
                  <a:srgbClr val="1B1B1E"/>
                </a:solidFill>
                <a:effectLst/>
                <a:latin typeface="Inter"/>
              </a:rPr>
              <a:t>对</a:t>
            </a:r>
            <a:r>
              <a:rPr lang="en-US" altLang="zh-CN" b="1" i="0" dirty="0">
                <a:solidFill>
                  <a:srgbClr val="1B1B1E"/>
                </a:solidFill>
                <a:effectLst/>
                <a:latin typeface="Inter"/>
              </a:rPr>
              <a:t>【</a:t>
            </a:r>
            <a:r>
              <a:rPr lang="zh-CN" altLang="en-US" b="1" i="0" dirty="0">
                <a:solidFill>
                  <a:srgbClr val="1B1B1E"/>
                </a:solidFill>
                <a:effectLst/>
                <a:latin typeface="Inter"/>
              </a:rPr>
              <a:t>创作者 </a:t>
            </a:r>
            <a:r>
              <a:rPr lang="en-US" altLang="zh-CN" b="1" i="0" dirty="0">
                <a:solidFill>
                  <a:srgbClr val="1B1B1E"/>
                </a:solidFill>
                <a:effectLst/>
                <a:latin typeface="Inter"/>
              </a:rPr>
              <a:t>(KOC/</a:t>
            </a:r>
            <a:r>
              <a:rPr lang="zh-CN" altLang="en-US" b="1" i="0" dirty="0">
                <a:solidFill>
                  <a:srgbClr val="1B1B1E"/>
                </a:solidFill>
                <a:effectLst/>
                <a:latin typeface="Inter"/>
              </a:rPr>
              <a:t>达人</a:t>
            </a:r>
            <a:r>
              <a:rPr lang="en-US" altLang="zh-CN" b="1" i="0" dirty="0">
                <a:solidFill>
                  <a:srgbClr val="1B1B1E"/>
                </a:solidFill>
                <a:effectLst/>
                <a:latin typeface="Inter"/>
              </a:rPr>
              <a:t>/</a:t>
            </a:r>
            <a:r>
              <a:rPr lang="zh-CN" altLang="en-US" b="1" i="0" dirty="0">
                <a:solidFill>
                  <a:srgbClr val="1B1B1E"/>
                </a:solidFill>
                <a:effectLst/>
                <a:latin typeface="Inter"/>
              </a:rPr>
              <a:t>普通人</a:t>
            </a:r>
            <a:r>
              <a:rPr lang="en-US" altLang="zh-CN" b="1" i="0" dirty="0">
                <a:solidFill>
                  <a:srgbClr val="1B1B1E"/>
                </a:solidFill>
                <a:effectLst/>
                <a:latin typeface="Inter"/>
              </a:rPr>
              <a:t>)】</a:t>
            </a:r>
            <a:r>
              <a:rPr lang="zh-CN" altLang="en-US" b="1" i="0" dirty="0">
                <a:solidFill>
                  <a:srgbClr val="1B1B1E"/>
                </a:solidFill>
                <a:effectLst/>
                <a:latin typeface="Inter"/>
              </a:rPr>
              <a:t>的价值：从“苦力写手”到“数字主理人”</a:t>
            </a:r>
          </a:p>
          <a:p>
            <a:pPr algn="l"/>
            <a:r>
              <a:rPr lang="en-US" altLang="zh-CN" b="0" i="1" dirty="0">
                <a:solidFill>
                  <a:srgbClr val="1B1B1E"/>
                </a:solidFill>
                <a:effectLst/>
                <a:latin typeface="Inter"/>
              </a:rPr>
              <a:t>(</a:t>
            </a:r>
            <a:r>
              <a:rPr lang="zh-CN" altLang="en-US" b="0" i="1" dirty="0">
                <a:solidFill>
                  <a:srgbClr val="1B1B1E"/>
                </a:solidFill>
                <a:effectLst/>
                <a:latin typeface="Inter"/>
              </a:rPr>
              <a:t>对应图中：基于个人累积的资产及行为 ➡️ 圈层资产</a:t>
            </a:r>
            <a:r>
              <a:rPr lang="en-US" altLang="zh-CN" b="0" i="1" dirty="0">
                <a:solidFill>
                  <a:srgbClr val="1B1B1E"/>
                </a:solidFill>
                <a:effectLst/>
                <a:latin typeface="Inter"/>
              </a:rPr>
              <a:t>)</a:t>
            </a:r>
            <a:endParaRPr lang="zh-CN" altLang="en-US" b="0" i="0" dirty="0">
              <a:solidFill>
                <a:srgbClr val="1B1B1E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1B1B1E"/>
                </a:solidFill>
                <a:effectLst/>
                <a:latin typeface="Inter"/>
              </a:rPr>
              <a:t>极低的内容创作门槛：</a:t>
            </a:r>
            <a:r>
              <a:rPr lang="zh-CN" altLang="en-US" b="0" i="0" dirty="0">
                <a:solidFill>
                  <a:srgbClr val="1B1B1E"/>
                </a:solidFill>
                <a:effectLst/>
                <a:latin typeface="Inter"/>
              </a:rPr>
              <a:t> 过去，平台要求创作者写 </a:t>
            </a:r>
            <a:r>
              <a:rPr lang="en-US" altLang="zh-CN" b="0" i="0" dirty="0">
                <a:solidFill>
                  <a:srgbClr val="1B1B1E"/>
                </a:solidFill>
                <a:effectLst/>
                <a:latin typeface="Inter"/>
              </a:rPr>
              <a:t>500 </a:t>
            </a:r>
            <a:r>
              <a:rPr lang="zh-CN" altLang="en-US" b="0" i="0" dirty="0">
                <a:solidFill>
                  <a:srgbClr val="1B1B1E"/>
                </a:solidFill>
                <a:effectLst/>
                <a:latin typeface="Inter"/>
              </a:rPr>
              <a:t>字长评</a:t>
            </a:r>
            <a:r>
              <a:rPr lang="en-US" altLang="zh-CN" b="0" i="0" dirty="0">
                <a:solidFill>
                  <a:srgbClr val="1B1B1E"/>
                </a:solidFill>
                <a:effectLst/>
                <a:latin typeface="Inter"/>
              </a:rPr>
              <a:t>+</a:t>
            </a:r>
            <a:r>
              <a:rPr lang="zh-CN" altLang="en-US" b="0" i="0" dirty="0">
                <a:solidFill>
                  <a:srgbClr val="1B1B1E"/>
                </a:solidFill>
                <a:effectLst/>
                <a:latin typeface="Inter"/>
              </a:rPr>
              <a:t>精美</a:t>
            </a:r>
            <a:r>
              <a:rPr lang="en-US" altLang="zh-CN" b="0" i="0" dirty="0">
                <a:solidFill>
                  <a:srgbClr val="1B1B1E"/>
                </a:solidFill>
                <a:effectLst/>
                <a:latin typeface="Inter"/>
              </a:rPr>
              <a:t>9</a:t>
            </a:r>
            <a:r>
              <a:rPr lang="zh-CN" altLang="en-US" b="0" i="0" dirty="0">
                <a:solidFill>
                  <a:srgbClr val="1B1B1E"/>
                </a:solidFill>
                <a:effectLst/>
                <a:latin typeface="Inter"/>
              </a:rPr>
              <a:t>图，门槛极高。而“创建合集”本质上是**“策展（</a:t>
            </a:r>
            <a:r>
              <a:rPr lang="en-US" altLang="zh-CN" b="0" i="0" dirty="0">
                <a:solidFill>
                  <a:srgbClr val="1B1B1E"/>
                </a:solidFill>
                <a:effectLst/>
                <a:latin typeface="Inter"/>
              </a:rPr>
              <a:t>Curation</a:t>
            </a:r>
            <a:r>
              <a:rPr lang="zh-CN" altLang="en-US" b="0" i="0" dirty="0">
                <a:solidFill>
                  <a:srgbClr val="1B1B1E"/>
                </a:solidFill>
                <a:effectLst/>
                <a:latin typeface="Inter"/>
              </a:rPr>
              <a:t>）”**。用户只需要把几个现成的 </a:t>
            </a:r>
            <a:r>
              <a:rPr lang="en-US" altLang="zh-CN" b="0" i="0" dirty="0">
                <a:solidFill>
                  <a:srgbClr val="1B1B1E"/>
                </a:solidFill>
                <a:effectLst/>
                <a:latin typeface="Inter"/>
              </a:rPr>
              <a:t>POI </a:t>
            </a:r>
            <a:r>
              <a:rPr lang="zh-CN" altLang="en-US" b="0" i="0" dirty="0">
                <a:solidFill>
                  <a:srgbClr val="1B1B1E"/>
                </a:solidFill>
                <a:effectLst/>
                <a:latin typeface="Inter"/>
              </a:rPr>
              <a:t>拖拽到一个合集里，加上一两句神评，就能完成一次创作。这能极大激发普通人的创作欲。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1B1B1E"/>
                </a:solidFill>
                <a:effectLst/>
                <a:latin typeface="Inter"/>
              </a:rPr>
              <a:t>获得“圈层主理人”的社交货币与成就感：</a:t>
            </a:r>
            <a:r>
              <a:rPr lang="zh-CN" altLang="en-US" b="0" i="0" dirty="0">
                <a:solidFill>
                  <a:srgbClr val="1B1B1E"/>
                </a:solidFill>
                <a:effectLst/>
                <a:latin typeface="Inter"/>
              </a:rPr>
              <a:t> 创作者通过构建个性化标签（如</a:t>
            </a:r>
            <a:r>
              <a:rPr lang="en-US" altLang="zh-CN" b="0" i="0" dirty="0">
                <a:solidFill>
                  <a:srgbClr val="1B1B1E"/>
                </a:solidFill>
                <a:effectLst/>
                <a:latin typeface="Inter"/>
              </a:rPr>
              <a:t>《</a:t>
            </a:r>
            <a:r>
              <a:rPr lang="zh-CN" altLang="en-US" b="0" i="0" dirty="0">
                <a:solidFill>
                  <a:srgbClr val="1B1B1E"/>
                </a:solidFill>
                <a:effectLst/>
                <a:latin typeface="Inter"/>
              </a:rPr>
              <a:t>望京深夜碳水炸弹</a:t>
            </a:r>
            <a:r>
              <a:rPr lang="en-US" altLang="zh-CN" b="0" i="0" dirty="0">
                <a:solidFill>
                  <a:srgbClr val="1B1B1E"/>
                </a:solidFill>
                <a:effectLst/>
                <a:latin typeface="Inter"/>
              </a:rPr>
              <a:t>》</a:t>
            </a:r>
            <a:r>
              <a:rPr lang="zh-CN" altLang="en-US" b="0" i="0" dirty="0">
                <a:solidFill>
                  <a:srgbClr val="1B1B1E"/>
                </a:solidFill>
                <a:effectLst/>
                <a:latin typeface="Inter"/>
              </a:rPr>
              <a:t>），在细分圈层中建立权威。当他们的合集被大量 </a:t>
            </a:r>
            <a:r>
              <a:rPr lang="en-US" altLang="zh-CN" b="0" i="0" dirty="0">
                <a:solidFill>
                  <a:srgbClr val="1B1B1E"/>
                </a:solidFill>
                <a:effectLst/>
                <a:latin typeface="Inter"/>
              </a:rPr>
              <a:t>Fork</a:t>
            </a:r>
            <a:r>
              <a:rPr lang="zh-CN" altLang="en-US" b="0" i="0" dirty="0">
                <a:solidFill>
                  <a:srgbClr val="1B1B1E"/>
                </a:solidFill>
                <a:effectLst/>
                <a:latin typeface="Inter"/>
              </a:rPr>
              <a:t>（复制）或跟随打卡时，能获得极高的社交满足感和圈层话语权。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57E6F46-B334-CA70-36EB-19122FDD65D2}"/>
              </a:ext>
            </a:extLst>
          </p:cNvPr>
          <p:cNvSpPr txBox="1"/>
          <p:nvPr/>
        </p:nvSpPr>
        <p:spPr>
          <a:xfrm>
            <a:off x="7334250" y="5181243"/>
            <a:ext cx="597217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对创作者的价值核心在于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低门槛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+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身份感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。美团到餐的差异化资产是真实消费行为数据，这意味着数十万有资产沉淀的用户不需要从零开始创作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——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系统可以基于消费记录自动生成食单草稿，用户只需确认和编辑。这比小红书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从零写笔记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或鸭觅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通过推荐官审核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的门槛低得多。同时，勋章、称号、数据反馈等身份激励，让普通饕客从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匿名评价者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升级为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被认可的美食策展人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。附录中的用户原声也印证了这一点：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看到自己发的东西有很多点赞和浏览就会特别有成就感，虽然可能变不了现，但让生活变得开心一点。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560DAD9-A72E-6BD3-27C5-A18964B6EBD1}"/>
              </a:ext>
            </a:extLst>
          </p:cNvPr>
          <p:cNvSpPr txBox="1"/>
          <p:nvPr/>
        </p:nvSpPr>
        <p:spPr>
          <a:xfrm>
            <a:off x="257998" y="4827153"/>
            <a:ext cx="67818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第一是榜单矩阵及公信力提升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——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食单是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OGC/PGC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榜单的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UGC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补充，让到餐的信任基础设施从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平台说了算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进化到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平台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+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用户共同构建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，整体公信力不降反升。</a:t>
            </a:r>
            <a:endParaRPr lang="en-US" altLang="zh-CN" b="0" i="0" dirty="0">
              <a:solidFill>
                <a:srgbClr val="0D0D0D"/>
              </a:solidFill>
              <a:effectLst/>
              <a:latin typeface="-apple-system"/>
            </a:endParaRPr>
          </a:p>
          <a:p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第三是用户粘性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——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从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搜索→下单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的交易型关系升级为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浏览→发现→收藏→分享→下单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的关系型体验，提升频次和时长。</a:t>
            </a:r>
            <a:endParaRPr lang="en-US" altLang="zh-CN" b="0" i="0" dirty="0">
              <a:solidFill>
                <a:srgbClr val="0D0D0D"/>
              </a:solidFill>
              <a:effectLst/>
              <a:latin typeface="-apple-system"/>
            </a:endParaRPr>
          </a:p>
          <a:p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第四是内容生态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——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美团在内容创作上一直是短板，食单可能就是美团到餐的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歌单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，用最低门槛的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UGC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形态补上内容这个缺口。第五是数据飞轮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——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食单产生的结构化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UGC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数据（口味偏好、圈层属性、场景标签）反哺推荐算法和商家经营，形成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消费→食单→更多消费</a:t>
            </a:r>
            <a:r>
              <a:rPr lang="en-US" altLang="zh-CN" b="0" i="0" dirty="0">
                <a:solidFill>
                  <a:srgbClr val="0D0D0D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0D0D0D"/>
                </a:solidFill>
                <a:effectLst/>
                <a:latin typeface="-apple-system"/>
              </a:rPr>
              <a:t>的正循环。</a:t>
            </a:r>
            <a:endParaRPr lang="zh-CN" altLang="en-US" dirty="0"/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262FBD5F-BBD8-530B-9BFF-65A31F8730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2097" y="-3578098"/>
            <a:ext cx="8711707" cy="503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2743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弧形 175">
            <a:extLst>
              <a:ext uri="{FF2B5EF4-FFF2-40B4-BE49-F238E27FC236}">
                <a16:creationId xmlns:a16="http://schemas.microsoft.com/office/drawing/2014/main" id="{019F995F-F06C-4917-7DCD-EB71AF20DDB5}"/>
              </a:ext>
            </a:extLst>
          </p:cNvPr>
          <p:cNvSpPr/>
          <p:nvPr/>
        </p:nvSpPr>
        <p:spPr>
          <a:xfrm rot="7704953">
            <a:off x="6557538" y="1972386"/>
            <a:ext cx="956759" cy="922571"/>
          </a:xfrm>
          <a:prstGeom prst="arc">
            <a:avLst>
              <a:gd name="adj1" fmla="val 20022392"/>
              <a:gd name="adj2" fmla="val 18685200"/>
            </a:avLst>
          </a:prstGeom>
          <a:ln>
            <a:solidFill>
              <a:schemeClr val="accent6">
                <a:lumMod val="40000"/>
                <a:lumOff val="6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3" name="弧形 152">
            <a:extLst>
              <a:ext uri="{FF2B5EF4-FFF2-40B4-BE49-F238E27FC236}">
                <a16:creationId xmlns:a16="http://schemas.microsoft.com/office/drawing/2014/main" id="{F4C89D56-FCBC-AE0C-3D5A-719C5CE5B73A}"/>
              </a:ext>
            </a:extLst>
          </p:cNvPr>
          <p:cNvSpPr/>
          <p:nvPr/>
        </p:nvSpPr>
        <p:spPr>
          <a:xfrm rot="7704953">
            <a:off x="2158281" y="1963436"/>
            <a:ext cx="956759" cy="922571"/>
          </a:xfrm>
          <a:prstGeom prst="arc">
            <a:avLst>
              <a:gd name="adj1" fmla="val 20022392"/>
              <a:gd name="adj2" fmla="val 18685200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: 圆角 21">
            <a:extLst>
              <a:ext uri="{FF2B5EF4-FFF2-40B4-BE49-F238E27FC236}">
                <a16:creationId xmlns:a16="http://schemas.microsoft.com/office/drawing/2014/main" id="{23F7AB87-9E36-DBA0-9174-5A66A8FC2BF0}"/>
              </a:ext>
            </a:extLst>
          </p:cNvPr>
          <p:cNvSpPr/>
          <p:nvPr/>
        </p:nvSpPr>
        <p:spPr>
          <a:xfrm>
            <a:off x="-2238373" y="774458"/>
            <a:ext cx="1451009" cy="83243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决策用户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marL="0" indent="0" algn="ctr">
              <a:buNone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人群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x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场景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38" name="矩形: 圆角 137">
            <a:extLst>
              <a:ext uri="{FF2B5EF4-FFF2-40B4-BE49-F238E27FC236}">
                <a16:creationId xmlns:a16="http://schemas.microsoft.com/office/drawing/2014/main" id="{4F2FCE72-93EA-695F-1D8C-DFBDCAE4D136}"/>
              </a:ext>
            </a:extLst>
          </p:cNvPr>
          <p:cNvSpPr/>
          <p:nvPr/>
        </p:nvSpPr>
        <p:spPr>
          <a:xfrm>
            <a:off x="-1983827" y="-1845014"/>
            <a:ext cx="719736" cy="41361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司机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1" name="文本占位符 1">
            <a:extLst>
              <a:ext uri="{FF2B5EF4-FFF2-40B4-BE49-F238E27FC236}">
                <a16:creationId xmlns:a16="http://schemas.microsoft.com/office/drawing/2014/main" id="{B7DE8BB2-690E-33BD-E5DF-6E03695FD22A}"/>
              </a:ext>
            </a:extLst>
          </p:cNvPr>
          <p:cNvSpPr txBox="1">
            <a:spLocks/>
          </p:cNvSpPr>
          <p:nvPr/>
        </p:nvSpPr>
        <p:spPr>
          <a:xfrm>
            <a:off x="-1379677" y="-1776826"/>
            <a:ext cx="1806001" cy="343711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dirty="0">
                <a:latin typeface="+mn-ea"/>
              </a:rPr>
              <a:t>长期本地人</a:t>
            </a:r>
            <a:r>
              <a:rPr lang="en-US" altLang="zh-CN" sz="1200" dirty="0">
                <a:latin typeface="+mn-ea"/>
              </a:rPr>
              <a:t>+</a:t>
            </a:r>
            <a:r>
              <a:rPr lang="zh-CN" altLang="en-US" sz="1200" dirty="0">
                <a:latin typeface="+mn-ea"/>
              </a:rPr>
              <a:t>乘客反馈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42" name="矩形: 圆角 141">
            <a:extLst>
              <a:ext uri="{FF2B5EF4-FFF2-40B4-BE49-F238E27FC236}">
                <a16:creationId xmlns:a16="http://schemas.microsoft.com/office/drawing/2014/main" id="{DDE8EAFD-2FB7-BACB-7F69-BB9F6AFB9176}"/>
              </a:ext>
            </a:extLst>
          </p:cNvPr>
          <p:cNvSpPr/>
          <p:nvPr/>
        </p:nvSpPr>
        <p:spPr>
          <a:xfrm>
            <a:off x="-1983827" y="-1407554"/>
            <a:ext cx="719736" cy="41361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邻桌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3" name="文本占位符 1">
            <a:extLst>
              <a:ext uri="{FF2B5EF4-FFF2-40B4-BE49-F238E27FC236}">
                <a16:creationId xmlns:a16="http://schemas.microsoft.com/office/drawing/2014/main" id="{B431FC4E-40CD-6E72-396F-FD428FD4CB6B}"/>
              </a:ext>
            </a:extLst>
          </p:cNvPr>
          <p:cNvSpPr txBox="1">
            <a:spLocks/>
          </p:cNvSpPr>
          <p:nvPr/>
        </p:nvSpPr>
        <p:spPr>
          <a:xfrm>
            <a:off x="-1264090" y="-1339366"/>
            <a:ext cx="1593268" cy="343711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dirty="0">
                <a:latin typeface="+mn-ea"/>
              </a:rPr>
              <a:t>亲测亲点</a:t>
            </a:r>
            <a:r>
              <a:rPr lang="en-US" altLang="zh-CN" sz="1200" dirty="0">
                <a:latin typeface="+mn-ea"/>
              </a:rPr>
              <a:t>+</a:t>
            </a:r>
            <a:r>
              <a:rPr lang="zh-CN" altLang="en-US" sz="1200" dirty="0">
                <a:latin typeface="+mn-ea"/>
              </a:rPr>
              <a:t>信息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44" name="矩形: 圆角 143">
            <a:extLst>
              <a:ext uri="{FF2B5EF4-FFF2-40B4-BE49-F238E27FC236}">
                <a16:creationId xmlns:a16="http://schemas.microsoft.com/office/drawing/2014/main" id="{BC732998-8276-5E4C-B2EC-6008F4EA1B7A}"/>
              </a:ext>
            </a:extLst>
          </p:cNvPr>
          <p:cNvSpPr/>
          <p:nvPr/>
        </p:nvSpPr>
        <p:spPr>
          <a:xfrm>
            <a:off x="-1993047" y="-941271"/>
            <a:ext cx="719736" cy="41361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线上陌生人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6" name="文本占位符 1">
            <a:extLst>
              <a:ext uri="{FF2B5EF4-FFF2-40B4-BE49-F238E27FC236}">
                <a16:creationId xmlns:a16="http://schemas.microsoft.com/office/drawing/2014/main" id="{286DEC57-EC08-7383-F67F-6572FB3F8067}"/>
              </a:ext>
            </a:extLst>
          </p:cNvPr>
          <p:cNvSpPr txBox="1">
            <a:spLocks/>
          </p:cNvSpPr>
          <p:nvPr/>
        </p:nvSpPr>
        <p:spPr>
          <a:xfrm>
            <a:off x="-1273310" y="-873083"/>
            <a:ext cx="1593268" cy="343711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dirty="0">
                <a:latin typeface="+mn-ea"/>
              </a:rPr>
              <a:t>证据</a:t>
            </a:r>
            <a:r>
              <a:rPr lang="en-US" altLang="zh-CN" sz="1200" dirty="0">
                <a:latin typeface="+mn-ea"/>
              </a:rPr>
              <a:t>+</a:t>
            </a:r>
            <a:r>
              <a:rPr lang="zh-CN" altLang="en-US" sz="1200" dirty="0">
                <a:latin typeface="+mn-ea"/>
              </a:rPr>
              <a:t>同好</a:t>
            </a:r>
            <a:r>
              <a:rPr lang="en-US" altLang="zh-CN" sz="1200" dirty="0">
                <a:latin typeface="+mn-ea"/>
              </a:rPr>
              <a:t>+</a:t>
            </a:r>
            <a:r>
              <a:rPr lang="zh-CN" altLang="en-US" sz="1200" dirty="0">
                <a:latin typeface="+mn-ea"/>
              </a:rPr>
              <a:t>能力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EF496CE6-B497-B679-40C3-D62138596725}"/>
              </a:ext>
            </a:extLst>
          </p:cNvPr>
          <p:cNvSpPr/>
          <p:nvPr/>
        </p:nvSpPr>
        <p:spPr>
          <a:xfrm>
            <a:off x="8486512" y="-1268059"/>
            <a:ext cx="482746" cy="48274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FF4F274-CCD4-B1E4-8447-8EE7A170AB1E}"/>
              </a:ext>
            </a:extLst>
          </p:cNvPr>
          <p:cNvSpPr/>
          <p:nvPr/>
        </p:nvSpPr>
        <p:spPr>
          <a:xfrm>
            <a:off x="9024454" y="-1268043"/>
            <a:ext cx="482746" cy="48274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848AE0F5-95B6-B921-71BE-1FDC1502CC23}"/>
              </a:ext>
            </a:extLst>
          </p:cNvPr>
          <p:cNvSpPr/>
          <p:nvPr/>
        </p:nvSpPr>
        <p:spPr>
          <a:xfrm>
            <a:off x="9556894" y="-1259576"/>
            <a:ext cx="482746" cy="48274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D22FF2A-32DA-346B-3BD8-3CD1B4A8923D}"/>
              </a:ext>
            </a:extLst>
          </p:cNvPr>
          <p:cNvSpPr txBox="1"/>
          <p:nvPr/>
        </p:nvSpPr>
        <p:spPr>
          <a:xfrm>
            <a:off x="8475207" y="-1280773"/>
            <a:ext cx="4940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统计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latin typeface="+mn-ea"/>
              </a:rPr>
              <a:t>评选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B653385-199A-129C-8612-55C28CF6164D}"/>
              </a:ext>
            </a:extLst>
          </p:cNvPr>
          <p:cNvSpPr txBox="1"/>
          <p:nvPr/>
        </p:nvSpPr>
        <p:spPr>
          <a:xfrm>
            <a:off x="8817742" y="-1281641"/>
            <a:ext cx="8825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GC</a:t>
            </a: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挖掘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9B1CDB5-D561-9234-F5F8-F62D8F8C67AD}"/>
              </a:ext>
            </a:extLst>
          </p:cNvPr>
          <p:cNvSpPr txBox="1"/>
          <p:nvPr/>
        </p:nvSpPr>
        <p:spPr>
          <a:xfrm>
            <a:off x="9389719" y="-1259576"/>
            <a:ext cx="8263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用户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打标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D86A6853-D3D2-2EE6-25D2-8AB8204DF1E7}"/>
              </a:ext>
            </a:extLst>
          </p:cNvPr>
          <p:cNvSpPr/>
          <p:nvPr/>
        </p:nvSpPr>
        <p:spPr>
          <a:xfrm>
            <a:off x="681218" y="3621613"/>
            <a:ext cx="8277225" cy="41361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真实消费等行为资产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0D4584CC-4EBF-FD35-F8E9-14D9A8AEB117}"/>
              </a:ext>
            </a:extLst>
          </p:cNvPr>
          <p:cNvSpPr/>
          <p:nvPr/>
        </p:nvSpPr>
        <p:spPr>
          <a:xfrm>
            <a:off x="681218" y="2919764"/>
            <a:ext cx="3945930" cy="41361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初步锚定强资产用户、刺激强分享欲饕客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AEF244B-69B1-4726-3E4B-9976531EB176}"/>
              </a:ext>
            </a:extLst>
          </p:cNvPr>
          <p:cNvSpPr/>
          <p:nvPr/>
        </p:nvSpPr>
        <p:spPr>
          <a:xfrm>
            <a:off x="1938851" y="2217915"/>
            <a:ext cx="1359028" cy="41361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低门槛工具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EEBE472-051B-358E-E21B-2E703509CF68}"/>
              </a:ext>
            </a:extLst>
          </p:cNvPr>
          <p:cNvSpPr/>
          <p:nvPr/>
        </p:nvSpPr>
        <p:spPr>
          <a:xfrm>
            <a:off x="3825758" y="865389"/>
            <a:ext cx="1793280" cy="41361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个性化分发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80D89904-EECA-923E-525F-7FF4CC3BA502}"/>
              </a:ext>
            </a:extLst>
          </p:cNvPr>
          <p:cNvSpPr txBox="1">
            <a:spLocks/>
          </p:cNvSpPr>
          <p:nvPr/>
        </p:nvSpPr>
        <p:spPr>
          <a:xfrm>
            <a:off x="1751182" y="410681"/>
            <a:ext cx="1806001" cy="343711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dirty="0">
                <a:latin typeface="+mn-ea"/>
              </a:rPr>
              <a:t>生产端</a:t>
            </a:r>
            <a:endParaRPr lang="en-US" altLang="zh-CN" sz="1200" dirty="0">
              <a:latin typeface="+mn-ea"/>
            </a:endParaRPr>
          </a:p>
        </p:txBody>
      </p:sp>
      <p:sp>
        <p:nvSpPr>
          <p:cNvPr id="9" name="文本占位符 1">
            <a:extLst>
              <a:ext uri="{FF2B5EF4-FFF2-40B4-BE49-F238E27FC236}">
                <a16:creationId xmlns:a16="http://schemas.microsoft.com/office/drawing/2014/main" id="{C86AA922-5F91-EB85-A652-E4B2750921D7}"/>
              </a:ext>
            </a:extLst>
          </p:cNvPr>
          <p:cNvSpPr txBox="1">
            <a:spLocks/>
          </p:cNvSpPr>
          <p:nvPr/>
        </p:nvSpPr>
        <p:spPr>
          <a:xfrm>
            <a:off x="6338944" y="442189"/>
            <a:ext cx="1806001" cy="343711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dirty="0">
                <a:latin typeface="+mn-ea"/>
              </a:rPr>
              <a:t>消费端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0E49D46-2EEC-5B13-1ABF-DA30A1AA725A}"/>
              </a:ext>
            </a:extLst>
          </p:cNvPr>
          <p:cNvSpPr/>
          <p:nvPr/>
        </p:nvSpPr>
        <p:spPr>
          <a:xfrm>
            <a:off x="5023328" y="2916635"/>
            <a:ext cx="3945930" cy="41361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基于用户资产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输入，计算偏好、圈层、状态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82EA9E4D-3FDB-E719-065E-EA1910F24197}"/>
              </a:ext>
            </a:extLst>
          </p:cNvPr>
          <p:cNvCxnSpPr>
            <a:cxnSpLocks/>
            <a:endCxn id="4" idx="2"/>
          </p:cNvCxnSpPr>
          <p:nvPr/>
        </p:nvCxnSpPr>
        <p:spPr>
          <a:xfrm rot="16200000" flipV="1">
            <a:off x="2510067" y="3477493"/>
            <a:ext cx="288239" cy="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连接符: 肘形 29">
            <a:extLst>
              <a:ext uri="{FF2B5EF4-FFF2-40B4-BE49-F238E27FC236}">
                <a16:creationId xmlns:a16="http://schemas.microsoft.com/office/drawing/2014/main" id="{67B3D31B-35D1-7F54-21E9-A6698C9DA7A0}"/>
              </a:ext>
            </a:extLst>
          </p:cNvPr>
          <p:cNvCxnSpPr>
            <a:cxnSpLocks/>
          </p:cNvCxnSpPr>
          <p:nvPr/>
        </p:nvCxnSpPr>
        <p:spPr>
          <a:xfrm rot="16200000" flipV="1">
            <a:off x="6801256" y="3464839"/>
            <a:ext cx="288239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CB8F6B0C-CB92-AB91-8C30-E6ACA1907AB4}"/>
              </a:ext>
            </a:extLst>
          </p:cNvPr>
          <p:cNvSpPr/>
          <p:nvPr/>
        </p:nvSpPr>
        <p:spPr>
          <a:xfrm>
            <a:off x="5509138" y="-734465"/>
            <a:ext cx="1312448" cy="41361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信任网络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8" name="文本占位符 1">
            <a:extLst>
              <a:ext uri="{FF2B5EF4-FFF2-40B4-BE49-F238E27FC236}">
                <a16:creationId xmlns:a16="http://schemas.microsoft.com/office/drawing/2014/main" id="{CF5FA975-5C78-B533-D647-051A25B9E612}"/>
              </a:ext>
            </a:extLst>
          </p:cNvPr>
          <p:cNvSpPr txBox="1">
            <a:spLocks/>
          </p:cNvSpPr>
          <p:nvPr/>
        </p:nvSpPr>
        <p:spPr>
          <a:xfrm>
            <a:off x="4324145" y="2854114"/>
            <a:ext cx="1002187" cy="343711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dirty="0">
                <a:latin typeface="+mn-ea"/>
              </a:rPr>
              <a:t>转化</a:t>
            </a:r>
            <a:endParaRPr lang="en-US" altLang="zh-CN" sz="1200" dirty="0">
              <a:latin typeface="+mn-ea"/>
            </a:endParaRP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19AB3171-57D9-7176-6DF5-AC11DD9FEE31}"/>
              </a:ext>
            </a:extLst>
          </p:cNvPr>
          <p:cNvSpPr/>
          <p:nvPr/>
        </p:nvSpPr>
        <p:spPr>
          <a:xfrm>
            <a:off x="681218" y="1620470"/>
            <a:ext cx="3945930" cy="41361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系统生成个性化美食合集、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UGC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生产美食合集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5" name="连接符: 肘形 44">
            <a:extLst>
              <a:ext uri="{FF2B5EF4-FFF2-40B4-BE49-F238E27FC236}">
                <a16:creationId xmlns:a16="http://schemas.microsoft.com/office/drawing/2014/main" id="{6648FD04-9981-3D85-6065-CA68B81DC09E}"/>
              </a:ext>
            </a:extLst>
          </p:cNvPr>
          <p:cNvCxnSpPr>
            <a:cxnSpLocks/>
            <a:stCxn id="43" idx="0"/>
            <a:endCxn id="6" idx="1"/>
          </p:cNvCxnSpPr>
          <p:nvPr/>
        </p:nvCxnSpPr>
        <p:spPr>
          <a:xfrm rot="5400000" flipH="1" flipV="1">
            <a:off x="2965833" y="760546"/>
            <a:ext cx="548275" cy="117157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连接符: 肘形 45">
            <a:extLst>
              <a:ext uri="{FF2B5EF4-FFF2-40B4-BE49-F238E27FC236}">
                <a16:creationId xmlns:a16="http://schemas.microsoft.com/office/drawing/2014/main" id="{225F942B-816B-B0CE-56A0-CAFF64596C2F}"/>
              </a:ext>
            </a:extLst>
          </p:cNvPr>
          <p:cNvCxnSpPr>
            <a:cxnSpLocks/>
            <a:stCxn id="6" idx="3"/>
            <a:endCxn id="156" idx="0"/>
          </p:cNvCxnSpPr>
          <p:nvPr/>
        </p:nvCxnSpPr>
        <p:spPr>
          <a:xfrm>
            <a:off x="5619038" y="1072195"/>
            <a:ext cx="1377255" cy="54827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1B2AEAFA-9416-2C4A-3E19-456EFBE6A01D}"/>
              </a:ext>
            </a:extLst>
          </p:cNvPr>
          <p:cNvSpPr/>
          <p:nvPr/>
        </p:nvSpPr>
        <p:spPr>
          <a:xfrm>
            <a:off x="3337012" y="2227775"/>
            <a:ext cx="1290135" cy="41361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持续性激励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7CA3D7FC-80E6-7971-4356-EE71936E1556}"/>
              </a:ext>
            </a:extLst>
          </p:cNvPr>
          <p:cNvSpPr/>
          <p:nvPr/>
        </p:nvSpPr>
        <p:spPr>
          <a:xfrm>
            <a:off x="1222247" y="-619141"/>
            <a:ext cx="956759" cy="32748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信任网络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82F3C06A-66B1-A8DB-33F1-A9EC6657281B}"/>
              </a:ext>
            </a:extLst>
          </p:cNvPr>
          <p:cNvSpPr/>
          <p:nvPr/>
        </p:nvSpPr>
        <p:spPr>
          <a:xfrm>
            <a:off x="2338577" y="-587074"/>
            <a:ext cx="956759" cy="32748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信任网络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990D7207-39E6-4A8E-3F71-FA25095D3C87}"/>
              </a:ext>
            </a:extLst>
          </p:cNvPr>
          <p:cNvSpPr/>
          <p:nvPr/>
        </p:nvSpPr>
        <p:spPr>
          <a:xfrm>
            <a:off x="3618084" y="-595825"/>
            <a:ext cx="956759" cy="32748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信任网络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6" name="矩形: 圆角 155">
            <a:extLst>
              <a:ext uri="{FF2B5EF4-FFF2-40B4-BE49-F238E27FC236}">
                <a16:creationId xmlns:a16="http://schemas.microsoft.com/office/drawing/2014/main" id="{DB76E450-87D2-FFFD-A71C-E1C0D561E557}"/>
              </a:ext>
            </a:extLst>
          </p:cNvPr>
          <p:cNvSpPr/>
          <p:nvPr/>
        </p:nvSpPr>
        <p:spPr>
          <a:xfrm>
            <a:off x="5023328" y="1620470"/>
            <a:ext cx="3945930" cy="41361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消费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互动美食合集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68" name="直接箭头连接符 167">
            <a:extLst>
              <a:ext uri="{FF2B5EF4-FFF2-40B4-BE49-F238E27FC236}">
                <a16:creationId xmlns:a16="http://schemas.microsoft.com/office/drawing/2014/main" id="{A8C82BD1-7288-453D-21E2-97119B1E5BB4}"/>
              </a:ext>
            </a:extLst>
          </p:cNvPr>
          <p:cNvCxnSpPr>
            <a:cxnSpLocks/>
            <a:stCxn id="156" idx="1"/>
            <a:endCxn id="43" idx="3"/>
          </p:cNvCxnSpPr>
          <p:nvPr/>
        </p:nvCxnSpPr>
        <p:spPr>
          <a:xfrm flipH="1">
            <a:off x="4627148" y="1827276"/>
            <a:ext cx="3961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矩形: 圆角 174">
            <a:extLst>
              <a:ext uri="{FF2B5EF4-FFF2-40B4-BE49-F238E27FC236}">
                <a16:creationId xmlns:a16="http://schemas.microsoft.com/office/drawing/2014/main" id="{D36BB310-38C9-152A-6351-F55B1D0DD063}"/>
              </a:ext>
            </a:extLst>
          </p:cNvPr>
          <p:cNvSpPr/>
          <p:nvPr/>
        </p:nvSpPr>
        <p:spPr>
          <a:xfrm>
            <a:off x="5012513" y="2226865"/>
            <a:ext cx="3945930" cy="41361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游戏化玩法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9" name="矩形: 圆角 178">
            <a:extLst>
              <a:ext uri="{FF2B5EF4-FFF2-40B4-BE49-F238E27FC236}">
                <a16:creationId xmlns:a16="http://schemas.microsoft.com/office/drawing/2014/main" id="{7CAC60AF-1870-334D-C0F6-8BBCC36234A8}"/>
              </a:ext>
            </a:extLst>
          </p:cNvPr>
          <p:cNvSpPr/>
          <p:nvPr/>
        </p:nvSpPr>
        <p:spPr>
          <a:xfrm>
            <a:off x="4172325" y="1479602"/>
            <a:ext cx="1312448" cy="22020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信任网络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1" name="文本框 180">
            <a:extLst>
              <a:ext uri="{FF2B5EF4-FFF2-40B4-BE49-F238E27FC236}">
                <a16:creationId xmlns:a16="http://schemas.microsoft.com/office/drawing/2014/main" id="{0ECC24B5-433D-58A7-45C9-3C4142801368}"/>
              </a:ext>
            </a:extLst>
          </p:cNvPr>
          <p:cNvSpPr txBox="1"/>
          <p:nvPr/>
        </p:nvSpPr>
        <p:spPr>
          <a:xfrm>
            <a:off x="643118" y="4323462"/>
            <a:ext cx="62293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/>
            <a:r>
              <a:rPr lang="en-US" altLang="zh-CN" b="1" dirty="0">
                <a:effectLst/>
              </a:rPr>
              <a:t>4</a:t>
            </a:r>
            <a:r>
              <a:rPr lang="zh-CN" altLang="en-US" b="1" dirty="0">
                <a:effectLst/>
              </a:rPr>
              <a:t>）产品形态：</a:t>
            </a:r>
            <a:r>
              <a:rPr lang="zh-CN" altLang="en-US" dirty="0">
                <a:effectLst/>
              </a:rPr>
              <a:t>综上，可以提供一种基于用户已有行为资产，可以低门槛分享创作的玩法、工具。同时加强分享对象的信任感、闭环体验和游戏化。对于持续性，需要考虑生态闭环。</a:t>
            </a:r>
          </a:p>
        </p:txBody>
      </p:sp>
      <p:cxnSp>
        <p:nvCxnSpPr>
          <p:cNvPr id="184" name="直接箭头连接符 183">
            <a:extLst>
              <a:ext uri="{FF2B5EF4-FFF2-40B4-BE49-F238E27FC236}">
                <a16:creationId xmlns:a16="http://schemas.microsoft.com/office/drawing/2014/main" id="{AED268F8-A0B2-4D74-8DE0-0BD2E8B066DF}"/>
              </a:ext>
            </a:extLst>
          </p:cNvPr>
          <p:cNvCxnSpPr>
            <a:cxnSpLocks/>
            <a:stCxn id="10" idx="1"/>
            <a:endCxn id="4" idx="3"/>
          </p:cNvCxnSpPr>
          <p:nvPr/>
        </p:nvCxnSpPr>
        <p:spPr>
          <a:xfrm flipH="1">
            <a:off x="4627148" y="3123441"/>
            <a:ext cx="396180" cy="31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矩形: 圆角 187">
            <a:extLst>
              <a:ext uri="{FF2B5EF4-FFF2-40B4-BE49-F238E27FC236}">
                <a16:creationId xmlns:a16="http://schemas.microsoft.com/office/drawing/2014/main" id="{362F1F9B-7CC7-4660-C76E-AECCE6F8FA26}"/>
              </a:ext>
            </a:extLst>
          </p:cNvPr>
          <p:cNvSpPr/>
          <p:nvPr/>
        </p:nvSpPr>
        <p:spPr>
          <a:xfrm>
            <a:off x="4189747" y="1912530"/>
            <a:ext cx="1312448" cy="24902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围绕店信息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1" name="矩形: 圆角 190">
            <a:extLst>
              <a:ext uri="{FF2B5EF4-FFF2-40B4-BE49-F238E27FC236}">
                <a16:creationId xmlns:a16="http://schemas.microsoft.com/office/drawing/2014/main" id="{7D134E20-4126-975C-1C75-FF15B5BC2BFB}"/>
              </a:ext>
            </a:extLst>
          </p:cNvPr>
          <p:cNvSpPr/>
          <p:nvPr/>
        </p:nvSpPr>
        <p:spPr>
          <a:xfrm>
            <a:off x="703321" y="2226864"/>
            <a:ext cx="1151672" cy="41361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自用价值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532679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弧形 175">
            <a:extLst>
              <a:ext uri="{FF2B5EF4-FFF2-40B4-BE49-F238E27FC236}">
                <a16:creationId xmlns:a16="http://schemas.microsoft.com/office/drawing/2014/main" id="{019F995F-F06C-4917-7DCD-EB71AF20DDB5}"/>
              </a:ext>
            </a:extLst>
          </p:cNvPr>
          <p:cNvSpPr/>
          <p:nvPr/>
        </p:nvSpPr>
        <p:spPr>
          <a:xfrm rot="7704953">
            <a:off x="6557538" y="1972386"/>
            <a:ext cx="956759" cy="922571"/>
          </a:xfrm>
          <a:prstGeom prst="arc">
            <a:avLst>
              <a:gd name="adj1" fmla="val 20022392"/>
              <a:gd name="adj2" fmla="val 18685200"/>
            </a:avLst>
          </a:prstGeom>
          <a:ln>
            <a:solidFill>
              <a:schemeClr val="accent6">
                <a:lumMod val="40000"/>
                <a:lumOff val="6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3" name="弧形 152">
            <a:extLst>
              <a:ext uri="{FF2B5EF4-FFF2-40B4-BE49-F238E27FC236}">
                <a16:creationId xmlns:a16="http://schemas.microsoft.com/office/drawing/2014/main" id="{F4C89D56-FCBC-AE0C-3D5A-719C5CE5B73A}"/>
              </a:ext>
            </a:extLst>
          </p:cNvPr>
          <p:cNvSpPr/>
          <p:nvPr/>
        </p:nvSpPr>
        <p:spPr>
          <a:xfrm rot="7704953">
            <a:off x="2158281" y="1963436"/>
            <a:ext cx="956759" cy="922571"/>
          </a:xfrm>
          <a:prstGeom prst="arc">
            <a:avLst>
              <a:gd name="adj1" fmla="val 20022392"/>
              <a:gd name="adj2" fmla="val 18685200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: 圆角 21">
            <a:extLst>
              <a:ext uri="{FF2B5EF4-FFF2-40B4-BE49-F238E27FC236}">
                <a16:creationId xmlns:a16="http://schemas.microsoft.com/office/drawing/2014/main" id="{23F7AB87-9E36-DBA0-9174-5A66A8FC2BF0}"/>
              </a:ext>
            </a:extLst>
          </p:cNvPr>
          <p:cNvSpPr/>
          <p:nvPr/>
        </p:nvSpPr>
        <p:spPr>
          <a:xfrm>
            <a:off x="-2709332" y="25973"/>
            <a:ext cx="1451009" cy="83243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决策用户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marL="0" indent="0" algn="ctr">
              <a:buNone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人群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x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场景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38" name="矩形: 圆角 137">
            <a:extLst>
              <a:ext uri="{FF2B5EF4-FFF2-40B4-BE49-F238E27FC236}">
                <a16:creationId xmlns:a16="http://schemas.microsoft.com/office/drawing/2014/main" id="{4F2FCE72-93EA-695F-1D8C-DFBDCAE4D136}"/>
              </a:ext>
            </a:extLst>
          </p:cNvPr>
          <p:cNvSpPr/>
          <p:nvPr/>
        </p:nvSpPr>
        <p:spPr>
          <a:xfrm>
            <a:off x="-1983827" y="-1845014"/>
            <a:ext cx="719736" cy="41361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司机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1" name="文本占位符 1">
            <a:extLst>
              <a:ext uri="{FF2B5EF4-FFF2-40B4-BE49-F238E27FC236}">
                <a16:creationId xmlns:a16="http://schemas.microsoft.com/office/drawing/2014/main" id="{B7DE8BB2-690E-33BD-E5DF-6E03695FD22A}"/>
              </a:ext>
            </a:extLst>
          </p:cNvPr>
          <p:cNvSpPr txBox="1">
            <a:spLocks/>
          </p:cNvSpPr>
          <p:nvPr/>
        </p:nvSpPr>
        <p:spPr>
          <a:xfrm>
            <a:off x="-1379677" y="-1776826"/>
            <a:ext cx="1806001" cy="343711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dirty="0">
                <a:latin typeface="+mn-ea"/>
              </a:rPr>
              <a:t>长期本地人</a:t>
            </a:r>
            <a:r>
              <a:rPr lang="en-US" altLang="zh-CN" sz="1200" dirty="0">
                <a:latin typeface="+mn-ea"/>
              </a:rPr>
              <a:t>+</a:t>
            </a:r>
            <a:r>
              <a:rPr lang="zh-CN" altLang="en-US" sz="1200" dirty="0">
                <a:latin typeface="+mn-ea"/>
              </a:rPr>
              <a:t>乘客反馈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42" name="矩形: 圆角 141">
            <a:extLst>
              <a:ext uri="{FF2B5EF4-FFF2-40B4-BE49-F238E27FC236}">
                <a16:creationId xmlns:a16="http://schemas.microsoft.com/office/drawing/2014/main" id="{DDE8EAFD-2FB7-BACB-7F69-BB9F6AFB9176}"/>
              </a:ext>
            </a:extLst>
          </p:cNvPr>
          <p:cNvSpPr/>
          <p:nvPr/>
        </p:nvSpPr>
        <p:spPr>
          <a:xfrm>
            <a:off x="-1983827" y="-1407554"/>
            <a:ext cx="719736" cy="41361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邻桌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3" name="文本占位符 1">
            <a:extLst>
              <a:ext uri="{FF2B5EF4-FFF2-40B4-BE49-F238E27FC236}">
                <a16:creationId xmlns:a16="http://schemas.microsoft.com/office/drawing/2014/main" id="{B431FC4E-40CD-6E72-396F-FD428FD4CB6B}"/>
              </a:ext>
            </a:extLst>
          </p:cNvPr>
          <p:cNvSpPr txBox="1">
            <a:spLocks/>
          </p:cNvSpPr>
          <p:nvPr/>
        </p:nvSpPr>
        <p:spPr>
          <a:xfrm>
            <a:off x="-1264090" y="-1339366"/>
            <a:ext cx="1593268" cy="343711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dirty="0">
                <a:latin typeface="+mn-ea"/>
              </a:rPr>
              <a:t>亲测亲点</a:t>
            </a:r>
            <a:r>
              <a:rPr lang="en-US" altLang="zh-CN" sz="1200" dirty="0">
                <a:latin typeface="+mn-ea"/>
              </a:rPr>
              <a:t>+</a:t>
            </a:r>
            <a:r>
              <a:rPr lang="zh-CN" altLang="en-US" sz="1200" dirty="0">
                <a:latin typeface="+mn-ea"/>
              </a:rPr>
              <a:t>信息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44" name="矩形: 圆角 143">
            <a:extLst>
              <a:ext uri="{FF2B5EF4-FFF2-40B4-BE49-F238E27FC236}">
                <a16:creationId xmlns:a16="http://schemas.microsoft.com/office/drawing/2014/main" id="{BC732998-8276-5E4C-B2EC-6008F4EA1B7A}"/>
              </a:ext>
            </a:extLst>
          </p:cNvPr>
          <p:cNvSpPr/>
          <p:nvPr/>
        </p:nvSpPr>
        <p:spPr>
          <a:xfrm>
            <a:off x="-1993047" y="-941271"/>
            <a:ext cx="719736" cy="41361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线上陌生人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6" name="文本占位符 1">
            <a:extLst>
              <a:ext uri="{FF2B5EF4-FFF2-40B4-BE49-F238E27FC236}">
                <a16:creationId xmlns:a16="http://schemas.microsoft.com/office/drawing/2014/main" id="{286DEC57-EC08-7383-F67F-6572FB3F8067}"/>
              </a:ext>
            </a:extLst>
          </p:cNvPr>
          <p:cNvSpPr txBox="1">
            <a:spLocks/>
          </p:cNvSpPr>
          <p:nvPr/>
        </p:nvSpPr>
        <p:spPr>
          <a:xfrm>
            <a:off x="-1273310" y="-873083"/>
            <a:ext cx="1593268" cy="343711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dirty="0">
                <a:latin typeface="+mn-ea"/>
              </a:rPr>
              <a:t>证据</a:t>
            </a:r>
            <a:r>
              <a:rPr lang="en-US" altLang="zh-CN" sz="1200" dirty="0">
                <a:latin typeface="+mn-ea"/>
              </a:rPr>
              <a:t>+</a:t>
            </a:r>
            <a:r>
              <a:rPr lang="zh-CN" altLang="en-US" sz="1200" dirty="0">
                <a:latin typeface="+mn-ea"/>
              </a:rPr>
              <a:t>同好</a:t>
            </a:r>
            <a:r>
              <a:rPr lang="en-US" altLang="zh-CN" sz="1200" dirty="0">
                <a:latin typeface="+mn-ea"/>
              </a:rPr>
              <a:t>+</a:t>
            </a:r>
            <a:r>
              <a:rPr lang="zh-CN" altLang="en-US" sz="1200" dirty="0">
                <a:latin typeface="+mn-ea"/>
              </a:rPr>
              <a:t>能力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EF496CE6-B497-B679-40C3-D62138596725}"/>
              </a:ext>
            </a:extLst>
          </p:cNvPr>
          <p:cNvSpPr/>
          <p:nvPr/>
        </p:nvSpPr>
        <p:spPr>
          <a:xfrm>
            <a:off x="8486512" y="-1268059"/>
            <a:ext cx="482746" cy="48274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FF4F274-CCD4-B1E4-8447-8EE7A170AB1E}"/>
              </a:ext>
            </a:extLst>
          </p:cNvPr>
          <p:cNvSpPr/>
          <p:nvPr/>
        </p:nvSpPr>
        <p:spPr>
          <a:xfrm>
            <a:off x="9024454" y="-1268043"/>
            <a:ext cx="482746" cy="48274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848AE0F5-95B6-B921-71BE-1FDC1502CC23}"/>
              </a:ext>
            </a:extLst>
          </p:cNvPr>
          <p:cNvSpPr/>
          <p:nvPr/>
        </p:nvSpPr>
        <p:spPr>
          <a:xfrm>
            <a:off x="9556894" y="-1259576"/>
            <a:ext cx="482746" cy="48274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D22FF2A-32DA-346B-3BD8-3CD1B4A8923D}"/>
              </a:ext>
            </a:extLst>
          </p:cNvPr>
          <p:cNvSpPr txBox="1"/>
          <p:nvPr/>
        </p:nvSpPr>
        <p:spPr>
          <a:xfrm>
            <a:off x="8475207" y="-1280773"/>
            <a:ext cx="4940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统计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latin typeface="+mn-ea"/>
              </a:rPr>
              <a:t>评选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B653385-199A-129C-8612-55C28CF6164D}"/>
              </a:ext>
            </a:extLst>
          </p:cNvPr>
          <p:cNvSpPr txBox="1"/>
          <p:nvPr/>
        </p:nvSpPr>
        <p:spPr>
          <a:xfrm>
            <a:off x="8817742" y="-1281641"/>
            <a:ext cx="8825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GC</a:t>
            </a: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挖掘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9B1CDB5-D561-9234-F5F8-F62D8F8C67AD}"/>
              </a:ext>
            </a:extLst>
          </p:cNvPr>
          <p:cNvSpPr txBox="1"/>
          <p:nvPr/>
        </p:nvSpPr>
        <p:spPr>
          <a:xfrm>
            <a:off x="9389719" y="-1259576"/>
            <a:ext cx="8263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用户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打标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D86A6853-D3D2-2EE6-25D2-8AB8204DF1E7}"/>
              </a:ext>
            </a:extLst>
          </p:cNvPr>
          <p:cNvSpPr/>
          <p:nvPr/>
        </p:nvSpPr>
        <p:spPr>
          <a:xfrm>
            <a:off x="681218" y="3621613"/>
            <a:ext cx="8277225" cy="41361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真实消费等行为资产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0D4584CC-4EBF-FD35-F8E9-14D9A8AEB117}"/>
              </a:ext>
            </a:extLst>
          </p:cNvPr>
          <p:cNvSpPr/>
          <p:nvPr/>
        </p:nvSpPr>
        <p:spPr>
          <a:xfrm>
            <a:off x="681218" y="2919764"/>
            <a:ext cx="3945930" cy="41361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初步锚定强资产用户、刺激强分享欲饕客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AEF244B-69B1-4726-3E4B-9976531EB176}"/>
              </a:ext>
            </a:extLst>
          </p:cNvPr>
          <p:cNvSpPr/>
          <p:nvPr/>
        </p:nvSpPr>
        <p:spPr>
          <a:xfrm>
            <a:off x="681218" y="2217915"/>
            <a:ext cx="1900057" cy="41361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低门槛工具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EEBE472-051B-358E-E21B-2E703509CF68}"/>
              </a:ext>
            </a:extLst>
          </p:cNvPr>
          <p:cNvSpPr/>
          <p:nvPr/>
        </p:nvSpPr>
        <p:spPr>
          <a:xfrm>
            <a:off x="3825758" y="865389"/>
            <a:ext cx="1793280" cy="41361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个性化分发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80D89904-EECA-923E-525F-7FF4CC3BA502}"/>
              </a:ext>
            </a:extLst>
          </p:cNvPr>
          <p:cNvSpPr txBox="1">
            <a:spLocks/>
          </p:cNvSpPr>
          <p:nvPr/>
        </p:nvSpPr>
        <p:spPr>
          <a:xfrm>
            <a:off x="1751182" y="410681"/>
            <a:ext cx="1806001" cy="343711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dirty="0">
                <a:latin typeface="+mn-ea"/>
              </a:rPr>
              <a:t>生产端</a:t>
            </a:r>
            <a:endParaRPr lang="en-US" altLang="zh-CN" sz="1200" dirty="0">
              <a:latin typeface="+mn-ea"/>
            </a:endParaRPr>
          </a:p>
        </p:txBody>
      </p:sp>
      <p:sp>
        <p:nvSpPr>
          <p:cNvPr id="9" name="文本占位符 1">
            <a:extLst>
              <a:ext uri="{FF2B5EF4-FFF2-40B4-BE49-F238E27FC236}">
                <a16:creationId xmlns:a16="http://schemas.microsoft.com/office/drawing/2014/main" id="{C86AA922-5F91-EB85-A652-E4B2750921D7}"/>
              </a:ext>
            </a:extLst>
          </p:cNvPr>
          <p:cNvSpPr txBox="1">
            <a:spLocks/>
          </p:cNvSpPr>
          <p:nvPr/>
        </p:nvSpPr>
        <p:spPr>
          <a:xfrm>
            <a:off x="6338944" y="442189"/>
            <a:ext cx="1806001" cy="343711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dirty="0">
                <a:latin typeface="+mn-ea"/>
              </a:rPr>
              <a:t>消费端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0E49D46-2EEC-5B13-1ABF-DA30A1AA725A}"/>
              </a:ext>
            </a:extLst>
          </p:cNvPr>
          <p:cNvSpPr/>
          <p:nvPr/>
        </p:nvSpPr>
        <p:spPr>
          <a:xfrm>
            <a:off x="5023328" y="2916635"/>
            <a:ext cx="3945930" cy="41361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基于用户资产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输入，计算偏好、圈层、状态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82EA9E4D-3FDB-E719-065E-EA1910F24197}"/>
              </a:ext>
            </a:extLst>
          </p:cNvPr>
          <p:cNvCxnSpPr>
            <a:cxnSpLocks/>
            <a:endCxn id="4" idx="2"/>
          </p:cNvCxnSpPr>
          <p:nvPr/>
        </p:nvCxnSpPr>
        <p:spPr>
          <a:xfrm rot="16200000" flipV="1">
            <a:off x="2510067" y="3477493"/>
            <a:ext cx="288239" cy="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连接符: 肘形 29">
            <a:extLst>
              <a:ext uri="{FF2B5EF4-FFF2-40B4-BE49-F238E27FC236}">
                <a16:creationId xmlns:a16="http://schemas.microsoft.com/office/drawing/2014/main" id="{67B3D31B-35D1-7F54-21E9-A6698C9DA7A0}"/>
              </a:ext>
            </a:extLst>
          </p:cNvPr>
          <p:cNvCxnSpPr>
            <a:cxnSpLocks/>
          </p:cNvCxnSpPr>
          <p:nvPr/>
        </p:nvCxnSpPr>
        <p:spPr>
          <a:xfrm rot="16200000" flipV="1">
            <a:off x="6801256" y="3464839"/>
            <a:ext cx="288239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CB8F6B0C-CB92-AB91-8C30-E6ACA1907AB4}"/>
              </a:ext>
            </a:extLst>
          </p:cNvPr>
          <p:cNvSpPr/>
          <p:nvPr/>
        </p:nvSpPr>
        <p:spPr>
          <a:xfrm>
            <a:off x="5509138" y="-734465"/>
            <a:ext cx="1312448" cy="41361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信任网络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8" name="文本占位符 1">
            <a:extLst>
              <a:ext uri="{FF2B5EF4-FFF2-40B4-BE49-F238E27FC236}">
                <a16:creationId xmlns:a16="http://schemas.microsoft.com/office/drawing/2014/main" id="{CF5FA975-5C78-B533-D647-051A25B9E612}"/>
              </a:ext>
            </a:extLst>
          </p:cNvPr>
          <p:cNvSpPr txBox="1">
            <a:spLocks/>
          </p:cNvSpPr>
          <p:nvPr/>
        </p:nvSpPr>
        <p:spPr>
          <a:xfrm>
            <a:off x="4324145" y="2854114"/>
            <a:ext cx="1002187" cy="343711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dirty="0">
                <a:latin typeface="+mn-ea"/>
              </a:rPr>
              <a:t>转化</a:t>
            </a:r>
            <a:endParaRPr lang="en-US" altLang="zh-CN" sz="1200" dirty="0">
              <a:latin typeface="+mn-ea"/>
            </a:endParaRP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19AB3171-57D9-7176-6DF5-AC11DD9FEE31}"/>
              </a:ext>
            </a:extLst>
          </p:cNvPr>
          <p:cNvSpPr/>
          <p:nvPr/>
        </p:nvSpPr>
        <p:spPr>
          <a:xfrm>
            <a:off x="681218" y="1620470"/>
            <a:ext cx="3945930" cy="41361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生产合集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5" name="连接符: 肘形 44">
            <a:extLst>
              <a:ext uri="{FF2B5EF4-FFF2-40B4-BE49-F238E27FC236}">
                <a16:creationId xmlns:a16="http://schemas.microsoft.com/office/drawing/2014/main" id="{6648FD04-9981-3D85-6065-CA68B81DC09E}"/>
              </a:ext>
            </a:extLst>
          </p:cNvPr>
          <p:cNvCxnSpPr>
            <a:cxnSpLocks/>
            <a:stCxn id="43" idx="0"/>
            <a:endCxn id="6" idx="1"/>
          </p:cNvCxnSpPr>
          <p:nvPr/>
        </p:nvCxnSpPr>
        <p:spPr>
          <a:xfrm rot="5400000" flipH="1" flipV="1">
            <a:off x="2965833" y="760546"/>
            <a:ext cx="548275" cy="117157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连接符: 肘形 45">
            <a:extLst>
              <a:ext uri="{FF2B5EF4-FFF2-40B4-BE49-F238E27FC236}">
                <a16:creationId xmlns:a16="http://schemas.microsoft.com/office/drawing/2014/main" id="{225F942B-816B-B0CE-56A0-CAFF64596C2F}"/>
              </a:ext>
            </a:extLst>
          </p:cNvPr>
          <p:cNvCxnSpPr>
            <a:cxnSpLocks/>
            <a:stCxn id="6" idx="3"/>
            <a:endCxn id="156" idx="0"/>
          </p:cNvCxnSpPr>
          <p:nvPr/>
        </p:nvCxnSpPr>
        <p:spPr>
          <a:xfrm>
            <a:off x="5619038" y="1072195"/>
            <a:ext cx="1377255" cy="54827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1B2AEAFA-9416-2C4A-3E19-456EFBE6A01D}"/>
              </a:ext>
            </a:extLst>
          </p:cNvPr>
          <p:cNvSpPr/>
          <p:nvPr/>
        </p:nvSpPr>
        <p:spPr>
          <a:xfrm>
            <a:off x="2727092" y="2227775"/>
            <a:ext cx="1900056" cy="41361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持续性激励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7CA3D7FC-80E6-7971-4356-EE71936E1556}"/>
              </a:ext>
            </a:extLst>
          </p:cNvPr>
          <p:cNvSpPr/>
          <p:nvPr/>
        </p:nvSpPr>
        <p:spPr>
          <a:xfrm>
            <a:off x="1222247" y="-619141"/>
            <a:ext cx="956759" cy="32748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信任网络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82F3C06A-66B1-A8DB-33F1-A9EC6657281B}"/>
              </a:ext>
            </a:extLst>
          </p:cNvPr>
          <p:cNvSpPr/>
          <p:nvPr/>
        </p:nvSpPr>
        <p:spPr>
          <a:xfrm>
            <a:off x="2338577" y="-587074"/>
            <a:ext cx="956759" cy="32748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信任网络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990D7207-39E6-4A8E-3F71-FA25095D3C87}"/>
              </a:ext>
            </a:extLst>
          </p:cNvPr>
          <p:cNvSpPr/>
          <p:nvPr/>
        </p:nvSpPr>
        <p:spPr>
          <a:xfrm>
            <a:off x="3618084" y="-595825"/>
            <a:ext cx="956759" cy="32748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信任网络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6" name="矩形: 圆角 155">
            <a:extLst>
              <a:ext uri="{FF2B5EF4-FFF2-40B4-BE49-F238E27FC236}">
                <a16:creationId xmlns:a16="http://schemas.microsoft.com/office/drawing/2014/main" id="{DB76E450-87D2-FFFD-A71C-E1C0D561E557}"/>
              </a:ext>
            </a:extLst>
          </p:cNvPr>
          <p:cNvSpPr/>
          <p:nvPr/>
        </p:nvSpPr>
        <p:spPr>
          <a:xfrm>
            <a:off x="5023328" y="1620470"/>
            <a:ext cx="3945930" cy="41361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消费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互动合集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68" name="直接箭头连接符 167">
            <a:extLst>
              <a:ext uri="{FF2B5EF4-FFF2-40B4-BE49-F238E27FC236}">
                <a16:creationId xmlns:a16="http://schemas.microsoft.com/office/drawing/2014/main" id="{A8C82BD1-7288-453D-21E2-97119B1E5BB4}"/>
              </a:ext>
            </a:extLst>
          </p:cNvPr>
          <p:cNvCxnSpPr>
            <a:cxnSpLocks/>
            <a:stCxn id="156" idx="1"/>
            <a:endCxn id="43" idx="3"/>
          </p:cNvCxnSpPr>
          <p:nvPr/>
        </p:nvCxnSpPr>
        <p:spPr>
          <a:xfrm flipH="1">
            <a:off x="4627148" y="1827276"/>
            <a:ext cx="3961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矩形: 圆角 174">
            <a:extLst>
              <a:ext uri="{FF2B5EF4-FFF2-40B4-BE49-F238E27FC236}">
                <a16:creationId xmlns:a16="http://schemas.microsoft.com/office/drawing/2014/main" id="{D36BB310-38C9-152A-6351-F55B1D0DD063}"/>
              </a:ext>
            </a:extLst>
          </p:cNvPr>
          <p:cNvSpPr/>
          <p:nvPr/>
        </p:nvSpPr>
        <p:spPr>
          <a:xfrm>
            <a:off x="5012513" y="2226865"/>
            <a:ext cx="3945930" cy="41361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游戏化玩法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9" name="矩形: 圆角 178">
            <a:extLst>
              <a:ext uri="{FF2B5EF4-FFF2-40B4-BE49-F238E27FC236}">
                <a16:creationId xmlns:a16="http://schemas.microsoft.com/office/drawing/2014/main" id="{7CAC60AF-1870-334D-C0F6-8BBCC36234A8}"/>
              </a:ext>
            </a:extLst>
          </p:cNvPr>
          <p:cNvSpPr/>
          <p:nvPr/>
        </p:nvSpPr>
        <p:spPr>
          <a:xfrm>
            <a:off x="4172325" y="1479602"/>
            <a:ext cx="1312448" cy="22020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信任网络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1" name="文本框 180">
            <a:extLst>
              <a:ext uri="{FF2B5EF4-FFF2-40B4-BE49-F238E27FC236}">
                <a16:creationId xmlns:a16="http://schemas.microsoft.com/office/drawing/2014/main" id="{0ECC24B5-433D-58A7-45C9-3C4142801368}"/>
              </a:ext>
            </a:extLst>
          </p:cNvPr>
          <p:cNvSpPr txBox="1"/>
          <p:nvPr/>
        </p:nvSpPr>
        <p:spPr>
          <a:xfrm>
            <a:off x="643118" y="4323462"/>
            <a:ext cx="62293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/>
            <a:r>
              <a:rPr lang="en-US" altLang="zh-CN" b="1" dirty="0">
                <a:effectLst/>
              </a:rPr>
              <a:t>4</a:t>
            </a:r>
            <a:r>
              <a:rPr lang="zh-CN" altLang="en-US" b="1" dirty="0">
                <a:effectLst/>
              </a:rPr>
              <a:t>）产品形态：</a:t>
            </a:r>
            <a:r>
              <a:rPr lang="zh-CN" altLang="en-US" dirty="0">
                <a:effectLst/>
              </a:rPr>
              <a:t>综上，可以提供一种基于用户已有行为资产，可以低门槛分享创作的玩法、工具。同时加强分享对象的信任感、闭环体验和游戏化。对于持续性，需要考虑生态闭环。</a:t>
            </a:r>
          </a:p>
        </p:txBody>
      </p:sp>
      <p:cxnSp>
        <p:nvCxnSpPr>
          <p:cNvPr id="184" name="直接箭头连接符 183">
            <a:extLst>
              <a:ext uri="{FF2B5EF4-FFF2-40B4-BE49-F238E27FC236}">
                <a16:creationId xmlns:a16="http://schemas.microsoft.com/office/drawing/2014/main" id="{AED268F8-A0B2-4D74-8DE0-0BD2E8B066DF}"/>
              </a:ext>
            </a:extLst>
          </p:cNvPr>
          <p:cNvCxnSpPr>
            <a:cxnSpLocks/>
            <a:stCxn id="10" idx="1"/>
            <a:endCxn id="4" idx="3"/>
          </p:cNvCxnSpPr>
          <p:nvPr/>
        </p:nvCxnSpPr>
        <p:spPr>
          <a:xfrm flipH="1">
            <a:off x="4627148" y="3123441"/>
            <a:ext cx="396180" cy="31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矩形: 圆角 187">
            <a:extLst>
              <a:ext uri="{FF2B5EF4-FFF2-40B4-BE49-F238E27FC236}">
                <a16:creationId xmlns:a16="http://schemas.microsoft.com/office/drawing/2014/main" id="{362F1F9B-7CC7-4660-C76E-AECCE6F8FA26}"/>
              </a:ext>
            </a:extLst>
          </p:cNvPr>
          <p:cNvSpPr/>
          <p:nvPr/>
        </p:nvSpPr>
        <p:spPr>
          <a:xfrm>
            <a:off x="4189747" y="1912530"/>
            <a:ext cx="1312448" cy="24902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围绕店信息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321040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等腰三角形 1">
            <a:extLst>
              <a:ext uri="{FF2B5EF4-FFF2-40B4-BE49-F238E27FC236}">
                <a16:creationId xmlns:a16="http://schemas.microsoft.com/office/drawing/2014/main" id="{BC375248-3D70-D61D-B482-000E875B0D35}"/>
              </a:ext>
            </a:extLst>
          </p:cNvPr>
          <p:cNvSpPr/>
          <p:nvPr/>
        </p:nvSpPr>
        <p:spPr>
          <a:xfrm>
            <a:off x="172136" y="417933"/>
            <a:ext cx="4587258" cy="3442868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等腰三角形 3">
            <a:extLst>
              <a:ext uri="{FF2B5EF4-FFF2-40B4-BE49-F238E27FC236}">
                <a16:creationId xmlns:a16="http://schemas.microsoft.com/office/drawing/2014/main" id="{BC84305E-4CFB-2BC8-0B49-D1FF40CDE945}"/>
              </a:ext>
            </a:extLst>
          </p:cNvPr>
          <p:cNvSpPr/>
          <p:nvPr/>
        </p:nvSpPr>
        <p:spPr>
          <a:xfrm rot="10800000">
            <a:off x="5116582" y="502964"/>
            <a:ext cx="4282487" cy="3442868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40E24C4-7602-3752-A64C-0B1A831BF77F}"/>
              </a:ext>
            </a:extLst>
          </p:cNvPr>
          <p:cNvSpPr txBox="1"/>
          <p:nvPr/>
        </p:nvSpPr>
        <p:spPr>
          <a:xfrm>
            <a:off x="121856" y="3086071"/>
            <a:ext cx="47286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zh-CN" altLang="en-US" dirty="0">
                <a:solidFill>
                  <a:schemeClr val="tx1"/>
                </a:solidFill>
                <a:latin typeface="+mn-ea"/>
              </a:rPr>
              <a:t>主流用户</a:t>
            </a:r>
            <a:endParaRPr lang="en-US" altLang="zh-CN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2BE753B-8A1E-6F4C-3251-028A1EC034C7}"/>
              </a:ext>
            </a:extLst>
          </p:cNvPr>
          <p:cNvSpPr txBox="1"/>
          <p:nvPr/>
        </p:nvSpPr>
        <p:spPr>
          <a:xfrm>
            <a:off x="121856" y="933016"/>
            <a:ext cx="47286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zh-CN" altLang="en-US" dirty="0">
                <a:solidFill>
                  <a:schemeClr val="tx1"/>
                </a:solidFill>
                <a:latin typeface="+mn-ea"/>
              </a:rPr>
              <a:t>品鉴者</a:t>
            </a:r>
            <a:endParaRPr lang="en-US" altLang="zh-CN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82A0CC76-AF53-BACC-10F4-B985705E6503}"/>
              </a:ext>
            </a:extLst>
          </p:cNvPr>
          <p:cNvCxnSpPr>
            <a:cxnSpLocks/>
          </p:cNvCxnSpPr>
          <p:nvPr/>
        </p:nvCxnSpPr>
        <p:spPr>
          <a:xfrm>
            <a:off x="1025752" y="2677482"/>
            <a:ext cx="292084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168A4216-EC74-52FB-0E1E-1B2282BD5C74}"/>
              </a:ext>
            </a:extLst>
          </p:cNvPr>
          <p:cNvCxnSpPr>
            <a:cxnSpLocks/>
          </p:cNvCxnSpPr>
          <p:nvPr/>
        </p:nvCxnSpPr>
        <p:spPr>
          <a:xfrm>
            <a:off x="1714500" y="1593749"/>
            <a:ext cx="152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97EA2FA9-4D3A-32FC-6568-6760FF4AD504}"/>
              </a:ext>
            </a:extLst>
          </p:cNvPr>
          <p:cNvSpPr txBox="1"/>
          <p:nvPr/>
        </p:nvSpPr>
        <p:spPr>
          <a:xfrm>
            <a:off x="101449" y="1985100"/>
            <a:ext cx="47286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zh-CN" altLang="en-US" dirty="0">
                <a:solidFill>
                  <a:schemeClr val="tx1"/>
                </a:solidFill>
                <a:latin typeface="+mn-ea"/>
              </a:rPr>
              <a:t>传播者</a:t>
            </a:r>
            <a:endParaRPr lang="en-US" altLang="zh-CN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38A894F7-D353-5AED-BD84-528CE75E1F4E}"/>
              </a:ext>
            </a:extLst>
          </p:cNvPr>
          <p:cNvCxnSpPr>
            <a:cxnSpLocks/>
          </p:cNvCxnSpPr>
          <p:nvPr/>
        </p:nvCxnSpPr>
        <p:spPr>
          <a:xfrm>
            <a:off x="5727858" y="1458646"/>
            <a:ext cx="3081708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45B97B12-B47E-1BD8-E58D-7A5EC7B8124D}"/>
              </a:ext>
            </a:extLst>
          </p:cNvPr>
          <p:cNvCxnSpPr>
            <a:cxnSpLocks/>
          </p:cNvCxnSpPr>
          <p:nvPr/>
        </p:nvCxnSpPr>
        <p:spPr>
          <a:xfrm>
            <a:off x="6448363" y="2576247"/>
            <a:ext cx="165000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CD77532D-B06B-9853-F512-729875A6801B}"/>
              </a:ext>
            </a:extLst>
          </p:cNvPr>
          <p:cNvSpPr txBox="1"/>
          <p:nvPr/>
        </p:nvSpPr>
        <p:spPr>
          <a:xfrm>
            <a:off x="4921175" y="848025"/>
            <a:ext cx="47286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zh-CN" altLang="en-US" dirty="0">
                <a:latin typeface="+mn-ea"/>
              </a:rPr>
              <a:t>长尾供给</a:t>
            </a:r>
            <a:endParaRPr lang="en-US" altLang="zh-CN" dirty="0">
              <a:latin typeface="+mn-ea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B8E40BD-26D2-4B93-B651-FAC10C5592E2}"/>
              </a:ext>
            </a:extLst>
          </p:cNvPr>
          <p:cNvSpPr txBox="1"/>
          <p:nvPr/>
        </p:nvSpPr>
        <p:spPr>
          <a:xfrm>
            <a:off x="5924021" y="1855065"/>
            <a:ext cx="25700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zh-CN" altLang="en-US" dirty="0">
                <a:latin typeface="+mn-ea"/>
              </a:rPr>
              <a:t>特色优质供给</a:t>
            </a:r>
            <a:endParaRPr lang="en-US" altLang="zh-CN" dirty="0">
              <a:latin typeface="+mn-ea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66802F0-D3F9-44F6-C242-2F6080763307}"/>
              </a:ext>
            </a:extLst>
          </p:cNvPr>
          <p:cNvSpPr txBox="1"/>
          <p:nvPr/>
        </p:nvSpPr>
        <p:spPr>
          <a:xfrm>
            <a:off x="4850488" y="3001034"/>
            <a:ext cx="47286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zh-CN" altLang="en-US" dirty="0">
                <a:latin typeface="+mn-ea"/>
              </a:rPr>
              <a:t>头部供给</a:t>
            </a:r>
            <a:endParaRPr lang="en-US" altLang="zh-CN" dirty="0">
              <a:latin typeface="+mn-ea"/>
            </a:endParaRPr>
          </a:p>
        </p:txBody>
      </p:sp>
      <p:cxnSp>
        <p:nvCxnSpPr>
          <p:cNvPr id="38" name="连接符: 肘形 37">
            <a:extLst>
              <a:ext uri="{FF2B5EF4-FFF2-40B4-BE49-F238E27FC236}">
                <a16:creationId xmlns:a16="http://schemas.microsoft.com/office/drawing/2014/main" id="{9F318815-6FF2-706D-A386-EDCF00F9A464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6521" y="1117597"/>
            <a:ext cx="1921646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466A9337-12ED-122D-8599-3244B4CE3A7E}"/>
              </a:ext>
            </a:extLst>
          </p:cNvPr>
          <p:cNvSpPr txBox="1"/>
          <p:nvPr/>
        </p:nvSpPr>
        <p:spPr>
          <a:xfrm>
            <a:off x="1903028" y="680726"/>
            <a:ext cx="47286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zh-CN" altLang="en-US" dirty="0">
                <a:solidFill>
                  <a:schemeClr val="tx1"/>
                </a:solidFill>
                <a:latin typeface="+mn-ea"/>
              </a:rPr>
              <a:t>个性化推荐</a:t>
            </a:r>
            <a:endParaRPr lang="en-US" altLang="zh-CN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cxnSp>
        <p:nvCxnSpPr>
          <p:cNvPr id="47" name="连接符: 肘形 46">
            <a:extLst>
              <a:ext uri="{FF2B5EF4-FFF2-40B4-BE49-F238E27FC236}">
                <a16:creationId xmlns:a16="http://schemas.microsoft.com/office/drawing/2014/main" id="{ED7ECA29-1937-0B1C-6331-A5C33DE773A1}"/>
              </a:ext>
            </a:extLst>
          </p:cNvPr>
          <p:cNvCxnSpPr>
            <a:cxnSpLocks/>
          </p:cNvCxnSpPr>
          <p:nvPr/>
        </p:nvCxnSpPr>
        <p:spPr>
          <a:xfrm>
            <a:off x="3854980" y="2276959"/>
            <a:ext cx="1888990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C2F73A75-6902-BDAA-A4E1-8D199C50F2B5}"/>
              </a:ext>
            </a:extLst>
          </p:cNvPr>
          <p:cNvSpPr txBox="1"/>
          <p:nvPr/>
        </p:nvSpPr>
        <p:spPr>
          <a:xfrm>
            <a:off x="2315899" y="1581227"/>
            <a:ext cx="47286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altLang="zh-CN" dirty="0">
                <a:solidFill>
                  <a:schemeClr val="tx1"/>
                </a:solidFill>
                <a:latin typeface="+mn-ea"/>
              </a:rPr>
              <a:t>UGC</a:t>
            </a:r>
            <a:r>
              <a:rPr lang="zh-CN" altLang="en-US" dirty="0">
                <a:solidFill>
                  <a:schemeClr val="tx1"/>
                </a:solidFill>
                <a:latin typeface="+mn-ea"/>
              </a:rPr>
              <a:t>分享</a:t>
            </a:r>
            <a:endParaRPr lang="en-US" altLang="zh-CN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cxnSp>
        <p:nvCxnSpPr>
          <p:cNvPr id="57" name="连接符: 肘形 56">
            <a:extLst>
              <a:ext uri="{FF2B5EF4-FFF2-40B4-BE49-F238E27FC236}">
                <a16:creationId xmlns:a16="http://schemas.microsoft.com/office/drawing/2014/main" id="{92E3CB7F-A13B-14BB-E99E-52FD92D1479F}"/>
              </a:ext>
            </a:extLst>
          </p:cNvPr>
          <p:cNvCxnSpPr>
            <a:cxnSpLocks/>
          </p:cNvCxnSpPr>
          <p:nvPr/>
        </p:nvCxnSpPr>
        <p:spPr>
          <a:xfrm>
            <a:off x="4572000" y="3435474"/>
            <a:ext cx="1447800" cy="1373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5A77A05B-11A7-D431-687F-684D6105D96E}"/>
              </a:ext>
            </a:extLst>
          </p:cNvPr>
          <p:cNvSpPr txBox="1"/>
          <p:nvPr/>
        </p:nvSpPr>
        <p:spPr>
          <a:xfrm>
            <a:off x="2931285" y="2866542"/>
            <a:ext cx="47286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zh-CN" altLang="en-US" dirty="0">
                <a:latin typeface="+mn-ea"/>
              </a:rPr>
              <a:t>用户资产投票</a:t>
            </a:r>
            <a:endParaRPr lang="en-US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384753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" name="矩形: 圆角 137">
            <a:extLst>
              <a:ext uri="{FF2B5EF4-FFF2-40B4-BE49-F238E27FC236}">
                <a16:creationId xmlns:a16="http://schemas.microsoft.com/office/drawing/2014/main" id="{4F2FCE72-93EA-695F-1D8C-DFBDCAE4D136}"/>
              </a:ext>
            </a:extLst>
          </p:cNvPr>
          <p:cNvSpPr/>
          <p:nvPr/>
        </p:nvSpPr>
        <p:spPr>
          <a:xfrm>
            <a:off x="7520409" y="-1719912"/>
            <a:ext cx="719736" cy="41361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司机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41" name="文本占位符 1">
            <a:extLst>
              <a:ext uri="{FF2B5EF4-FFF2-40B4-BE49-F238E27FC236}">
                <a16:creationId xmlns:a16="http://schemas.microsoft.com/office/drawing/2014/main" id="{B7DE8BB2-690E-33BD-E5DF-6E03695FD22A}"/>
              </a:ext>
            </a:extLst>
          </p:cNvPr>
          <p:cNvSpPr txBox="1">
            <a:spLocks/>
          </p:cNvSpPr>
          <p:nvPr/>
        </p:nvSpPr>
        <p:spPr>
          <a:xfrm>
            <a:off x="8124559" y="-1651724"/>
            <a:ext cx="1806001" cy="343711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dirty="0">
                <a:latin typeface="+mn-ea"/>
              </a:rPr>
              <a:t>长期本地人</a:t>
            </a:r>
            <a:r>
              <a:rPr lang="en-US" altLang="zh-CN" sz="1200" dirty="0">
                <a:latin typeface="+mn-ea"/>
              </a:rPr>
              <a:t>+</a:t>
            </a:r>
            <a:r>
              <a:rPr lang="zh-CN" altLang="en-US" sz="1200" dirty="0">
                <a:latin typeface="+mn-ea"/>
              </a:rPr>
              <a:t>乘客反馈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42" name="矩形: 圆角 141">
            <a:extLst>
              <a:ext uri="{FF2B5EF4-FFF2-40B4-BE49-F238E27FC236}">
                <a16:creationId xmlns:a16="http://schemas.microsoft.com/office/drawing/2014/main" id="{DDE8EAFD-2FB7-BACB-7F69-BB9F6AFB9176}"/>
              </a:ext>
            </a:extLst>
          </p:cNvPr>
          <p:cNvSpPr/>
          <p:nvPr/>
        </p:nvSpPr>
        <p:spPr>
          <a:xfrm>
            <a:off x="7520409" y="-1282452"/>
            <a:ext cx="719736" cy="41361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邻桌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43" name="文本占位符 1">
            <a:extLst>
              <a:ext uri="{FF2B5EF4-FFF2-40B4-BE49-F238E27FC236}">
                <a16:creationId xmlns:a16="http://schemas.microsoft.com/office/drawing/2014/main" id="{B431FC4E-40CD-6E72-396F-FD428FD4CB6B}"/>
              </a:ext>
            </a:extLst>
          </p:cNvPr>
          <p:cNvSpPr txBox="1">
            <a:spLocks/>
          </p:cNvSpPr>
          <p:nvPr/>
        </p:nvSpPr>
        <p:spPr>
          <a:xfrm>
            <a:off x="8240146" y="-1214264"/>
            <a:ext cx="1593268" cy="343711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dirty="0">
                <a:latin typeface="+mn-ea"/>
              </a:rPr>
              <a:t>亲测亲点</a:t>
            </a:r>
            <a:r>
              <a:rPr lang="en-US" altLang="zh-CN" sz="1200" dirty="0">
                <a:latin typeface="+mn-ea"/>
              </a:rPr>
              <a:t>+</a:t>
            </a:r>
            <a:r>
              <a:rPr lang="zh-CN" altLang="en-US" sz="1200" dirty="0">
                <a:latin typeface="+mn-ea"/>
              </a:rPr>
              <a:t>信息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44" name="矩形: 圆角 143">
            <a:extLst>
              <a:ext uri="{FF2B5EF4-FFF2-40B4-BE49-F238E27FC236}">
                <a16:creationId xmlns:a16="http://schemas.microsoft.com/office/drawing/2014/main" id="{BC732998-8276-5E4C-B2EC-6008F4EA1B7A}"/>
              </a:ext>
            </a:extLst>
          </p:cNvPr>
          <p:cNvSpPr/>
          <p:nvPr/>
        </p:nvSpPr>
        <p:spPr>
          <a:xfrm>
            <a:off x="7511189" y="-816169"/>
            <a:ext cx="719736" cy="41361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线上陌生人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46" name="文本占位符 1">
            <a:extLst>
              <a:ext uri="{FF2B5EF4-FFF2-40B4-BE49-F238E27FC236}">
                <a16:creationId xmlns:a16="http://schemas.microsoft.com/office/drawing/2014/main" id="{286DEC57-EC08-7383-F67F-6572FB3F8067}"/>
              </a:ext>
            </a:extLst>
          </p:cNvPr>
          <p:cNvSpPr txBox="1">
            <a:spLocks/>
          </p:cNvSpPr>
          <p:nvPr/>
        </p:nvSpPr>
        <p:spPr>
          <a:xfrm>
            <a:off x="8230926" y="-747981"/>
            <a:ext cx="1593268" cy="343711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dirty="0">
                <a:latin typeface="+mn-ea"/>
              </a:rPr>
              <a:t>证据</a:t>
            </a:r>
            <a:r>
              <a:rPr lang="en-US" altLang="zh-CN" sz="1200" dirty="0">
                <a:latin typeface="+mn-ea"/>
              </a:rPr>
              <a:t>+</a:t>
            </a:r>
            <a:r>
              <a:rPr lang="zh-CN" altLang="en-US" sz="1200" dirty="0">
                <a:latin typeface="+mn-ea"/>
              </a:rPr>
              <a:t>同好</a:t>
            </a:r>
            <a:r>
              <a:rPr lang="en-US" altLang="zh-CN" sz="1200" dirty="0">
                <a:latin typeface="+mn-ea"/>
              </a:rPr>
              <a:t>+</a:t>
            </a:r>
            <a:r>
              <a:rPr lang="zh-CN" altLang="en-US" sz="1200" dirty="0">
                <a:latin typeface="+mn-ea"/>
              </a:rPr>
              <a:t>身份</a:t>
            </a:r>
            <a:endParaRPr lang="en-US" altLang="zh-CN" sz="1200" dirty="0">
              <a:latin typeface="+mn-ea"/>
            </a:endParaRPr>
          </a:p>
        </p:txBody>
      </p:sp>
      <p:sp>
        <p:nvSpPr>
          <p:cNvPr id="2" name="等腰三角形 1">
            <a:extLst>
              <a:ext uri="{FF2B5EF4-FFF2-40B4-BE49-F238E27FC236}">
                <a16:creationId xmlns:a16="http://schemas.microsoft.com/office/drawing/2014/main" id="{5EE6C42D-2DD7-491C-0BF9-698ED540BD4B}"/>
              </a:ext>
            </a:extLst>
          </p:cNvPr>
          <p:cNvSpPr/>
          <p:nvPr/>
        </p:nvSpPr>
        <p:spPr>
          <a:xfrm>
            <a:off x="662075" y="19173"/>
            <a:ext cx="3063875" cy="2103018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4A3D130-A65E-085A-1833-1A50BC982758}"/>
              </a:ext>
            </a:extLst>
          </p:cNvPr>
          <p:cNvSpPr/>
          <p:nvPr/>
        </p:nvSpPr>
        <p:spPr>
          <a:xfrm rot="7024200">
            <a:off x="2616271" y="1177934"/>
            <a:ext cx="1041400" cy="1308100"/>
          </a:xfrm>
          <a:custGeom>
            <a:avLst/>
            <a:gdLst>
              <a:gd name="connsiteX0" fmla="*/ 533400 w 1041400"/>
              <a:gd name="connsiteY0" fmla="*/ 0 h 1765300"/>
              <a:gd name="connsiteX1" fmla="*/ 0 w 1041400"/>
              <a:gd name="connsiteY1" fmla="*/ 1308100 h 1765300"/>
              <a:gd name="connsiteX2" fmla="*/ 609600 w 1041400"/>
              <a:gd name="connsiteY2" fmla="*/ 1765300 h 1765300"/>
              <a:gd name="connsiteX3" fmla="*/ 1041400 w 1041400"/>
              <a:gd name="connsiteY3" fmla="*/ 1308100 h 1765300"/>
              <a:gd name="connsiteX4" fmla="*/ 533400 w 1041400"/>
              <a:gd name="connsiteY4" fmla="*/ 0 h 1765300"/>
              <a:gd name="connsiteX0" fmla="*/ 533400 w 1041400"/>
              <a:gd name="connsiteY0" fmla="*/ 0 h 1308100"/>
              <a:gd name="connsiteX1" fmla="*/ 0 w 1041400"/>
              <a:gd name="connsiteY1" fmla="*/ 1308100 h 1308100"/>
              <a:gd name="connsiteX2" fmla="*/ 628650 w 1041400"/>
              <a:gd name="connsiteY2" fmla="*/ 1289050 h 1308100"/>
              <a:gd name="connsiteX3" fmla="*/ 1041400 w 1041400"/>
              <a:gd name="connsiteY3" fmla="*/ 1308100 h 1308100"/>
              <a:gd name="connsiteX4" fmla="*/ 533400 w 1041400"/>
              <a:gd name="connsiteY4" fmla="*/ 0 h 130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1400" h="1308100">
                <a:moveTo>
                  <a:pt x="533400" y="0"/>
                </a:moveTo>
                <a:lnTo>
                  <a:pt x="0" y="1308100"/>
                </a:lnTo>
                <a:lnTo>
                  <a:pt x="628650" y="1289050"/>
                </a:lnTo>
                <a:lnTo>
                  <a:pt x="1041400" y="1308100"/>
                </a:lnTo>
                <a:lnTo>
                  <a:pt x="53340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占位符 1">
            <a:extLst>
              <a:ext uri="{FF2B5EF4-FFF2-40B4-BE49-F238E27FC236}">
                <a16:creationId xmlns:a16="http://schemas.microsoft.com/office/drawing/2014/main" id="{6BA2CD8E-9CB0-9990-FC2A-7360F8C82F57}"/>
              </a:ext>
            </a:extLst>
          </p:cNvPr>
          <p:cNvSpPr txBox="1">
            <a:spLocks/>
          </p:cNvSpPr>
          <p:nvPr/>
        </p:nvSpPr>
        <p:spPr>
          <a:xfrm>
            <a:off x="1174838" y="-289763"/>
            <a:ext cx="203835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证据</a:t>
            </a:r>
          </a:p>
        </p:txBody>
      </p:sp>
      <p:sp>
        <p:nvSpPr>
          <p:cNvPr id="7" name="文本占位符 1">
            <a:extLst>
              <a:ext uri="{FF2B5EF4-FFF2-40B4-BE49-F238E27FC236}">
                <a16:creationId xmlns:a16="http://schemas.microsoft.com/office/drawing/2014/main" id="{FB00C454-A55C-88B5-0582-20D1E46446BB}"/>
              </a:ext>
            </a:extLst>
          </p:cNvPr>
          <p:cNvSpPr txBox="1">
            <a:spLocks/>
          </p:cNvSpPr>
          <p:nvPr/>
        </p:nvSpPr>
        <p:spPr>
          <a:xfrm>
            <a:off x="-643890" y="1848675"/>
            <a:ext cx="203835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同好</a:t>
            </a:r>
          </a:p>
        </p:txBody>
      </p:sp>
      <p:sp>
        <p:nvSpPr>
          <p:cNvPr id="9" name="文本占位符 1">
            <a:extLst>
              <a:ext uri="{FF2B5EF4-FFF2-40B4-BE49-F238E27FC236}">
                <a16:creationId xmlns:a16="http://schemas.microsoft.com/office/drawing/2014/main" id="{FD3F0253-F8CC-D398-CB0C-C2AFE2436E69}"/>
              </a:ext>
            </a:extLst>
          </p:cNvPr>
          <p:cNvSpPr txBox="1">
            <a:spLocks/>
          </p:cNvSpPr>
          <p:nvPr/>
        </p:nvSpPr>
        <p:spPr>
          <a:xfrm>
            <a:off x="1916464" y="1590656"/>
            <a:ext cx="203835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明星</a:t>
            </a:r>
          </a:p>
        </p:txBody>
      </p:sp>
      <p:sp>
        <p:nvSpPr>
          <p:cNvPr id="12" name="文本占位符 1">
            <a:extLst>
              <a:ext uri="{FF2B5EF4-FFF2-40B4-BE49-F238E27FC236}">
                <a16:creationId xmlns:a16="http://schemas.microsoft.com/office/drawing/2014/main" id="{6459F707-DF28-53A0-798D-2CE2ED9F5EC7}"/>
              </a:ext>
            </a:extLst>
          </p:cNvPr>
          <p:cNvSpPr txBox="1">
            <a:spLocks/>
          </p:cNvSpPr>
          <p:nvPr/>
        </p:nvSpPr>
        <p:spPr>
          <a:xfrm>
            <a:off x="2993564" y="1848675"/>
            <a:ext cx="203835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身份</a:t>
            </a:r>
          </a:p>
        </p:txBody>
      </p:sp>
      <p:sp>
        <p:nvSpPr>
          <p:cNvPr id="29" name="等腰三角形 28">
            <a:extLst>
              <a:ext uri="{FF2B5EF4-FFF2-40B4-BE49-F238E27FC236}">
                <a16:creationId xmlns:a16="http://schemas.microsoft.com/office/drawing/2014/main" id="{56647CF1-9316-0655-52B7-A425B6D731CF}"/>
              </a:ext>
            </a:extLst>
          </p:cNvPr>
          <p:cNvSpPr/>
          <p:nvPr/>
        </p:nvSpPr>
        <p:spPr>
          <a:xfrm>
            <a:off x="5283266" y="-3298"/>
            <a:ext cx="3063875" cy="2103018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id="{E18FD70E-00D2-3B85-76C1-584099A412BF}"/>
              </a:ext>
            </a:extLst>
          </p:cNvPr>
          <p:cNvSpPr/>
          <p:nvPr/>
        </p:nvSpPr>
        <p:spPr>
          <a:xfrm rot="7024200">
            <a:off x="6291403" y="656034"/>
            <a:ext cx="1384416" cy="1633232"/>
          </a:xfrm>
          <a:custGeom>
            <a:avLst/>
            <a:gdLst>
              <a:gd name="connsiteX0" fmla="*/ 533400 w 1041400"/>
              <a:gd name="connsiteY0" fmla="*/ 0 h 1765300"/>
              <a:gd name="connsiteX1" fmla="*/ 0 w 1041400"/>
              <a:gd name="connsiteY1" fmla="*/ 1308100 h 1765300"/>
              <a:gd name="connsiteX2" fmla="*/ 609600 w 1041400"/>
              <a:gd name="connsiteY2" fmla="*/ 1765300 h 1765300"/>
              <a:gd name="connsiteX3" fmla="*/ 1041400 w 1041400"/>
              <a:gd name="connsiteY3" fmla="*/ 1308100 h 1765300"/>
              <a:gd name="connsiteX4" fmla="*/ 533400 w 1041400"/>
              <a:gd name="connsiteY4" fmla="*/ 0 h 1765300"/>
              <a:gd name="connsiteX0" fmla="*/ 533400 w 1041400"/>
              <a:gd name="connsiteY0" fmla="*/ 0 h 1308100"/>
              <a:gd name="connsiteX1" fmla="*/ 0 w 1041400"/>
              <a:gd name="connsiteY1" fmla="*/ 1308100 h 1308100"/>
              <a:gd name="connsiteX2" fmla="*/ 628650 w 1041400"/>
              <a:gd name="connsiteY2" fmla="*/ 1289050 h 1308100"/>
              <a:gd name="connsiteX3" fmla="*/ 1041400 w 1041400"/>
              <a:gd name="connsiteY3" fmla="*/ 1308100 h 1308100"/>
              <a:gd name="connsiteX4" fmla="*/ 533400 w 1041400"/>
              <a:gd name="connsiteY4" fmla="*/ 0 h 1308100"/>
              <a:gd name="connsiteX0" fmla="*/ 533400 w 1384416"/>
              <a:gd name="connsiteY0" fmla="*/ 0 h 1560669"/>
              <a:gd name="connsiteX1" fmla="*/ 0 w 1384416"/>
              <a:gd name="connsiteY1" fmla="*/ 1308100 h 1560669"/>
              <a:gd name="connsiteX2" fmla="*/ 628650 w 1384416"/>
              <a:gd name="connsiteY2" fmla="*/ 1289050 h 1560669"/>
              <a:gd name="connsiteX3" fmla="*/ 1384416 w 1384416"/>
              <a:gd name="connsiteY3" fmla="*/ 1560669 h 1560669"/>
              <a:gd name="connsiteX4" fmla="*/ 533400 w 1384416"/>
              <a:gd name="connsiteY4" fmla="*/ 0 h 1560669"/>
              <a:gd name="connsiteX0" fmla="*/ 604837 w 1384416"/>
              <a:gd name="connsiteY0" fmla="*/ 0 h 1672056"/>
              <a:gd name="connsiteX1" fmla="*/ 0 w 1384416"/>
              <a:gd name="connsiteY1" fmla="*/ 1419487 h 1672056"/>
              <a:gd name="connsiteX2" fmla="*/ 628650 w 1384416"/>
              <a:gd name="connsiteY2" fmla="*/ 1400437 h 1672056"/>
              <a:gd name="connsiteX3" fmla="*/ 1384416 w 1384416"/>
              <a:gd name="connsiteY3" fmla="*/ 1672056 h 1672056"/>
              <a:gd name="connsiteX4" fmla="*/ 604837 w 1384416"/>
              <a:gd name="connsiteY4" fmla="*/ 0 h 1672056"/>
              <a:gd name="connsiteX0" fmla="*/ 604837 w 1384416"/>
              <a:gd name="connsiteY0" fmla="*/ 0 h 1672056"/>
              <a:gd name="connsiteX1" fmla="*/ 0 w 1384416"/>
              <a:gd name="connsiteY1" fmla="*/ 1419487 h 1672056"/>
              <a:gd name="connsiteX2" fmla="*/ 612813 w 1384416"/>
              <a:gd name="connsiteY2" fmla="*/ 1536892 h 1672056"/>
              <a:gd name="connsiteX3" fmla="*/ 1384416 w 1384416"/>
              <a:gd name="connsiteY3" fmla="*/ 1672056 h 1672056"/>
              <a:gd name="connsiteX4" fmla="*/ 604837 w 1384416"/>
              <a:gd name="connsiteY4" fmla="*/ 0 h 1672056"/>
              <a:gd name="connsiteX0" fmla="*/ 549800 w 1384416"/>
              <a:gd name="connsiteY0" fmla="*/ 0 h 1633232"/>
              <a:gd name="connsiteX1" fmla="*/ 0 w 1384416"/>
              <a:gd name="connsiteY1" fmla="*/ 1380663 h 1633232"/>
              <a:gd name="connsiteX2" fmla="*/ 612813 w 1384416"/>
              <a:gd name="connsiteY2" fmla="*/ 1498068 h 1633232"/>
              <a:gd name="connsiteX3" fmla="*/ 1384416 w 1384416"/>
              <a:gd name="connsiteY3" fmla="*/ 1633232 h 1633232"/>
              <a:gd name="connsiteX4" fmla="*/ 549800 w 1384416"/>
              <a:gd name="connsiteY4" fmla="*/ 0 h 1633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84416" h="1633232">
                <a:moveTo>
                  <a:pt x="549800" y="0"/>
                </a:moveTo>
                <a:lnTo>
                  <a:pt x="0" y="1380663"/>
                </a:lnTo>
                <a:lnTo>
                  <a:pt x="612813" y="1498068"/>
                </a:lnTo>
                <a:lnTo>
                  <a:pt x="1384416" y="1633232"/>
                </a:lnTo>
                <a:lnTo>
                  <a:pt x="54980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占位符 1">
            <a:extLst>
              <a:ext uri="{FF2B5EF4-FFF2-40B4-BE49-F238E27FC236}">
                <a16:creationId xmlns:a16="http://schemas.microsoft.com/office/drawing/2014/main" id="{D9D9E912-DC50-9BD0-99DB-F70AC814C996}"/>
              </a:ext>
            </a:extLst>
          </p:cNvPr>
          <p:cNvSpPr txBox="1">
            <a:spLocks/>
          </p:cNvSpPr>
          <p:nvPr/>
        </p:nvSpPr>
        <p:spPr>
          <a:xfrm>
            <a:off x="5796029" y="-312234"/>
            <a:ext cx="203835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证据</a:t>
            </a:r>
          </a:p>
        </p:txBody>
      </p:sp>
      <p:sp>
        <p:nvSpPr>
          <p:cNvPr id="37" name="文本占位符 1">
            <a:extLst>
              <a:ext uri="{FF2B5EF4-FFF2-40B4-BE49-F238E27FC236}">
                <a16:creationId xmlns:a16="http://schemas.microsoft.com/office/drawing/2014/main" id="{1BF13894-88C9-B2C0-9B4E-50DCD5664BC9}"/>
              </a:ext>
            </a:extLst>
          </p:cNvPr>
          <p:cNvSpPr txBox="1">
            <a:spLocks/>
          </p:cNvSpPr>
          <p:nvPr/>
        </p:nvSpPr>
        <p:spPr>
          <a:xfrm>
            <a:off x="3977301" y="1826204"/>
            <a:ext cx="203835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同好</a:t>
            </a:r>
          </a:p>
        </p:txBody>
      </p:sp>
      <p:sp>
        <p:nvSpPr>
          <p:cNvPr id="38" name="文本占位符 1">
            <a:extLst>
              <a:ext uri="{FF2B5EF4-FFF2-40B4-BE49-F238E27FC236}">
                <a16:creationId xmlns:a16="http://schemas.microsoft.com/office/drawing/2014/main" id="{9546477D-DA74-8078-CEDD-831FA2B2D3FC}"/>
              </a:ext>
            </a:extLst>
          </p:cNvPr>
          <p:cNvSpPr txBox="1">
            <a:spLocks/>
          </p:cNvSpPr>
          <p:nvPr/>
        </p:nvSpPr>
        <p:spPr>
          <a:xfrm>
            <a:off x="5810141" y="1089108"/>
            <a:ext cx="203835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dirty="0"/>
              <a:t>KOL</a:t>
            </a:r>
            <a:endParaRPr lang="zh-CN" altLang="en-US" dirty="0"/>
          </a:p>
        </p:txBody>
      </p:sp>
      <p:sp>
        <p:nvSpPr>
          <p:cNvPr id="43" name="文本占位符 1">
            <a:extLst>
              <a:ext uri="{FF2B5EF4-FFF2-40B4-BE49-F238E27FC236}">
                <a16:creationId xmlns:a16="http://schemas.microsoft.com/office/drawing/2014/main" id="{FCAD428A-EC04-22BD-D2D3-B3BDD8EDE18D}"/>
              </a:ext>
            </a:extLst>
          </p:cNvPr>
          <p:cNvSpPr txBox="1">
            <a:spLocks/>
          </p:cNvSpPr>
          <p:nvPr/>
        </p:nvSpPr>
        <p:spPr>
          <a:xfrm>
            <a:off x="7614755" y="1826204"/>
            <a:ext cx="203835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身份</a:t>
            </a:r>
          </a:p>
        </p:txBody>
      </p:sp>
      <p:sp>
        <p:nvSpPr>
          <p:cNvPr id="46" name="等腰三角形 45">
            <a:extLst>
              <a:ext uri="{FF2B5EF4-FFF2-40B4-BE49-F238E27FC236}">
                <a16:creationId xmlns:a16="http://schemas.microsoft.com/office/drawing/2014/main" id="{1F28811A-0DC1-97BA-CD3B-FBB6DFC6AC4C}"/>
              </a:ext>
            </a:extLst>
          </p:cNvPr>
          <p:cNvSpPr/>
          <p:nvPr/>
        </p:nvSpPr>
        <p:spPr>
          <a:xfrm>
            <a:off x="785673" y="3330383"/>
            <a:ext cx="3063875" cy="2103018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673E48D3-629D-5180-4595-61A55C5FE844}"/>
              </a:ext>
            </a:extLst>
          </p:cNvPr>
          <p:cNvSpPr/>
          <p:nvPr/>
        </p:nvSpPr>
        <p:spPr>
          <a:xfrm>
            <a:off x="1796910" y="3369117"/>
            <a:ext cx="1041400" cy="1308100"/>
          </a:xfrm>
          <a:custGeom>
            <a:avLst/>
            <a:gdLst>
              <a:gd name="connsiteX0" fmla="*/ 533400 w 1041400"/>
              <a:gd name="connsiteY0" fmla="*/ 0 h 1765300"/>
              <a:gd name="connsiteX1" fmla="*/ 0 w 1041400"/>
              <a:gd name="connsiteY1" fmla="*/ 1308100 h 1765300"/>
              <a:gd name="connsiteX2" fmla="*/ 609600 w 1041400"/>
              <a:gd name="connsiteY2" fmla="*/ 1765300 h 1765300"/>
              <a:gd name="connsiteX3" fmla="*/ 1041400 w 1041400"/>
              <a:gd name="connsiteY3" fmla="*/ 1308100 h 1765300"/>
              <a:gd name="connsiteX4" fmla="*/ 533400 w 1041400"/>
              <a:gd name="connsiteY4" fmla="*/ 0 h 1765300"/>
              <a:gd name="connsiteX0" fmla="*/ 533400 w 1041400"/>
              <a:gd name="connsiteY0" fmla="*/ 0 h 1308100"/>
              <a:gd name="connsiteX1" fmla="*/ 0 w 1041400"/>
              <a:gd name="connsiteY1" fmla="*/ 1308100 h 1308100"/>
              <a:gd name="connsiteX2" fmla="*/ 628650 w 1041400"/>
              <a:gd name="connsiteY2" fmla="*/ 1289050 h 1308100"/>
              <a:gd name="connsiteX3" fmla="*/ 1041400 w 1041400"/>
              <a:gd name="connsiteY3" fmla="*/ 1308100 h 1308100"/>
              <a:gd name="connsiteX4" fmla="*/ 533400 w 1041400"/>
              <a:gd name="connsiteY4" fmla="*/ 0 h 130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1400" h="1308100">
                <a:moveTo>
                  <a:pt x="533400" y="0"/>
                </a:moveTo>
                <a:lnTo>
                  <a:pt x="0" y="1308100"/>
                </a:lnTo>
                <a:lnTo>
                  <a:pt x="628650" y="1289050"/>
                </a:lnTo>
                <a:lnTo>
                  <a:pt x="1041400" y="1308100"/>
                </a:lnTo>
                <a:lnTo>
                  <a:pt x="53340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占位符 1">
            <a:extLst>
              <a:ext uri="{FF2B5EF4-FFF2-40B4-BE49-F238E27FC236}">
                <a16:creationId xmlns:a16="http://schemas.microsoft.com/office/drawing/2014/main" id="{D3A4D7FA-B6C8-143B-4871-4AC742935C10}"/>
              </a:ext>
            </a:extLst>
          </p:cNvPr>
          <p:cNvSpPr txBox="1">
            <a:spLocks/>
          </p:cNvSpPr>
          <p:nvPr/>
        </p:nvSpPr>
        <p:spPr>
          <a:xfrm>
            <a:off x="1298436" y="3021447"/>
            <a:ext cx="203835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证据</a:t>
            </a:r>
          </a:p>
        </p:txBody>
      </p:sp>
      <p:sp>
        <p:nvSpPr>
          <p:cNvPr id="50" name="文本占位符 1">
            <a:extLst>
              <a:ext uri="{FF2B5EF4-FFF2-40B4-BE49-F238E27FC236}">
                <a16:creationId xmlns:a16="http://schemas.microsoft.com/office/drawing/2014/main" id="{B5208C97-F67B-EE5E-A9B7-8A507FB66475}"/>
              </a:ext>
            </a:extLst>
          </p:cNvPr>
          <p:cNvSpPr txBox="1">
            <a:spLocks/>
          </p:cNvSpPr>
          <p:nvPr/>
        </p:nvSpPr>
        <p:spPr>
          <a:xfrm>
            <a:off x="-520292" y="5159885"/>
            <a:ext cx="203835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同好</a:t>
            </a:r>
          </a:p>
        </p:txBody>
      </p:sp>
      <p:sp>
        <p:nvSpPr>
          <p:cNvPr id="51" name="文本占位符 1">
            <a:extLst>
              <a:ext uri="{FF2B5EF4-FFF2-40B4-BE49-F238E27FC236}">
                <a16:creationId xmlns:a16="http://schemas.microsoft.com/office/drawing/2014/main" id="{24108E53-6DA7-F98B-8FA5-EB0B36016043}"/>
              </a:ext>
            </a:extLst>
          </p:cNvPr>
          <p:cNvSpPr txBox="1">
            <a:spLocks/>
          </p:cNvSpPr>
          <p:nvPr/>
        </p:nvSpPr>
        <p:spPr>
          <a:xfrm>
            <a:off x="1335990" y="4194422"/>
            <a:ext cx="203835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司机</a:t>
            </a:r>
          </a:p>
        </p:txBody>
      </p:sp>
      <p:sp>
        <p:nvSpPr>
          <p:cNvPr id="53" name="文本占位符 1">
            <a:extLst>
              <a:ext uri="{FF2B5EF4-FFF2-40B4-BE49-F238E27FC236}">
                <a16:creationId xmlns:a16="http://schemas.microsoft.com/office/drawing/2014/main" id="{89BAC743-0263-6EA4-4076-83C6F14F74C9}"/>
              </a:ext>
            </a:extLst>
          </p:cNvPr>
          <p:cNvSpPr txBox="1">
            <a:spLocks/>
          </p:cNvSpPr>
          <p:nvPr/>
        </p:nvSpPr>
        <p:spPr>
          <a:xfrm>
            <a:off x="3072725" y="5173565"/>
            <a:ext cx="203835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身份</a:t>
            </a:r>
          </a:p>
        </p:txBody>
      </p:sp>
      <p:sp>
        <p:nvSpPr>
          <p:cNvPr id="59" name="等腰三角形 58">
            <a:extLst>
              <a:ext uri="{FF2B5EF4-FFF2-40B4-BE49-F238E27FC236}">
                <a16:creationId xmlns:a16="http://schemas.microsoft.com/office/drawing/2014/main" id="{D6353FB6-6169-245C-85AD-ECBDDEA292F1}"/>
              </a:ext>
            </a:extLst>
          </p:cNvPr>
          <p:cNvSpPr/>
          <p:nvPr/>
        </p:nvSpPr>
        <p:spPr>
          <a:xfrm>
            <a:off x="5428682" y="3344063"/>
            <a:ext cx="3063875" cy="2103018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任意多边形: 形状 59">
            <a:extLst>
              <a:ext uri="{FF2B5EF4-FFF2-40B4-BE49-F238E27FC236}">
                <a16:creationId xmlns:a16="http://schemas.microsoft.com/office/drawing/2014/main" id="{3EF3F457-8E9D-AB98-799B-1FFAE95CB59D}"/>
              </a:ext>
            </a:extLst>
          </p:cNvPr>
          <p:cNvSpPr/>
          <p:nvPr/>
        </p:nvSpPr>
        <p:spPr>
          <a:xfrm>
            <a:off x="5554094" y="3382797"/>
            <a:ext cx="1993900" cy="1965325"/>
          </a:xfrm>
          <a:custGeom>
            <a:avLst/>
            <a:gdLst>
              <a:gd name="connsiteX0" fmla="*/ 533400 w 1041400"/>
              <a:gd name="connsiteY0" fmla="*/ 0 h 1765300"/>
              <a:gd name="connsiteX1" fmla="*/ 0 w 1041400"/>
              <a:gd name="connsiteY1" fmla="*/ 1308100 h 1765300"/>
              <a:gd name="connsiteX2" fmla="*/ 609600 w 1041400"/>
              <a:gd name="connsiteY2" fmla="*/ 1765300 h 1765300"/>
              <a:gd name="connsiteX3" fmla="*/ 1041400 w 1041400"/>
              <a:gd name="connsiteY3" fmla="*/ 1308100 h 1765300"/>
              <a:gd name="connsiteX4" fmla="*/ 533400 w 1041400"/>
              <a:gd name="connsiteY4" fmla="*/ 0 h 1765300"/>
              <a:gd name="connsiteX0" fmla="*/ 533400 w 1041400"/>
              <a:gd name="connsiteY0" fmla="*/ 0 h 1308100"/>
              <a:gd name="connsiteX1" fmla="*/ 0 w 1041400"/>
              <a:gd name="connsiteY1" fmla="*/ 1308100 h 1308100"/>
              <a:gd name="connsiteX2" fmla="*/ 628650 w 1041400"/>
              <a:gd name="connsiteY2" fmla="*/ 1289050 h 1308100"/>
              <a:gd name="connsiteX3" fmla="*/ 1041400 w 1041400"/>
              <a:gd name="connsiteY3" fmla="*/ 1308100 h 1308100"/>
              <a:gd name="connsiteX4" fmla="*/ 533400 w 1041400"/>
              <a:gd name="connsiteY4" fmla="*/ 0 h 1308100"/>
              <a:gd name="connsiteX0" fmla="*/ 1419225 w 1927225"/>
              <a:gd name="connsiteY0" fmla="*/ 0 h 1965325"/>
              <a:gd name="connsiteX1" fmla="*/ 0 w 1927225"/>
              <a:gd name="connsiteY1" fmla="*/ 1965325 h 1965325"/>
              <a:gd name="connsiteX2" fmla="*/ 1514475 w 1927225"/>
              <a:gd name="connsiteY2" fmla="*/ 1289050 h 1965325"/>
              <a:gd name="connsiteX3" fmla="*/ 1927225 w 1927225"/>
              <a:gd name="connsiteY3" fmla="*/ 1308100 h 1965325"/>
              <a:gd name="connsiteX4" fmla="*/ 1419225 w 1927225"/>
              <a:gd name="connsiteY4" fmla="*/ 0 h 1965325"/>
              <a:gd name="connsiteX0" fmla="*/ 1419225 w 1927225"/>
              <a:gd name="connsiteY0" fmla="*/ 0 h 1965325"/>
              <a:gd name="connsiteX1" fmla="*/ 0 w 1927225"/>
              <a:gd name="connsiteY1" fmla="*/ 1965325 h 1965325"/>
              <a:gd name="connsiteX2" fmla="*/ 1123950 w 1927225"/>
              <a:gd name="connsiteY2" fmla="*/ 1612900 h 1965325"/>
              <a:gd name="connsiteX3" fmla="*/ 1927225 w 1927225"/>
              <a:gd name="connsiteY3" fmla="*/ 1308100 h 1965325"/>
              <a:gd name="connsiteX4" fmla="*/ 1419225 w 1927225"/>
              <a:gd name="connsiteY4" fmla="*/ 0 h 1965325"/>
              <a:gd name="connsiteX0" fmla="*/ 1419225 w 1993900"/>
              <a:gd name="connsiteY0" fmla="*/ 0 h 1965325"/>
              <a:gd name="connsiteX1" fmla="*/ 0 w 1993900"/>
              <a:gd name="connsiteY1" fmla="*/ 1965325 h 1965325"/>
              <a:gd name="connsiteX2" fmla="*/ 1123950 w 1993900"/>
              <a:gd name="connsiteY2" fmla="*/ 1612900 h 1965325"/>
              <a:gd name="connsiteX3" fmla="*/ 1993900 w 1993900"/>
              <a:gd name="connsiteY3" fmla="*/ 1660525 h 1965325"/>
              <a:gd name="connsiteX4" fmla="*/ 1419225 w 1993900"/>
              <a:gd name="connsiteY4" fmla="*/ 0 h 1965325"/>
              <a:gd name="connsiteX0" fmla="*/ 1419225 w 1993900"/>
              <a:gd name="connsiteY0" fmla="*/ 0 h 1965325"/>
              <a:gd name="connsiteX1" fmla="*/ 0 w 1993900"/>
              <a:gd name="connsiteY1" fmla="*/ 1965325 h 1965325"/>
              <a:gd name="connsiteX2" fmla="*/ 1162050 w 1993900"/>
              <a:gd name="connsiteY2" fmla="*/ 1784350 h 1965325"/>
              <a:gd name="connsiteX3" fmla="*/ 1993900 w 1993900"/>
              <a:gd name="connsiteY3" fmla="*/ 1660525 h 1965325"/>
              <a:gd name="connsiteX4" fmla="*/ 1419225 w 1993900"/>
              <a:gd name="connsiteY4" fmla="*/ 0 h 1965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93900" h="1965325">
                <a:moveTo>
                  <a:pt x="1419225" y="0"/>
                </a:moveTo>
                <a:lnTo>
                  <a:pt x="0" y="1965325"/>
                </a:lnTo>
                <a:lnTo>
                  <a:pt x="1162050" y="1784350"/>
                </a:lnTo>
                <a:lnTo>
                  <a:pt x="1993900" y="1660525"/>
                </a:lnTo>
                <a:lnTo>
                  <a:pt x="1419225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文本占位符 1">
            <a:extLst>
              <a:ext uri="{FF2B5EF4-FFF2-40B4-BE49-F238E27FC236}">
                <a16:creationId xmlns:a16="http://schemas.microsoft.com/office/drawing/2014/main" id="{18292618-F918-74C9-773B-0677189D2559}"/>
              </a:ext>
            </a:extLst>
          </p:cNvPr>
          <p:cNvSpPr txBox="1">
            <a:spLocks/>
          </p:cNvSpPr>
          <p:nvPr/>
        </p:nvSpPr>
        <p:spPr>
          <a:xfrm>
            <a:off x="5941445" y="3035127"/>
            <a:ext cx="203835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证据</a:t>
            </a:r>
          </a:p>
        </p:txBody>
      </p:sp>
      <p:sp>
        <p:nvSpPr>
          <p:cNvPr id="63" name="文本占位符 1">
            <a:extLst>
              <a:ext uri="{FF2B5EF4-FFF2-40B4-BE49-F238E27FC236}">
                <a16:creationId xmlns:a16="http://schemas.microsoft.com/office/drawing/2014/main" id="{F044BBC0-79C6-DB53-E54D-AB7A9EE85A4A}"/>
              </a:ext>
            </a:extLst>
          </p:cNvPr>
          <p:cNvSpPr txBox="1">
            <a:spLocks/>
          </p:cNvSpPr>
          <p:nvPr/>
        </p:nvSpPr>
        <p:spPr>
          <a:xfrm>
            <a:off x="4122717" y="5173565"/>
            <a:ext cx="203835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同好</a:t>
            </a:r>
          </a:p>
        </p:txBody>
      </p:sp>
      <p:sp>
        <p:nvSpPr>
          <p:cNvPr id="128" name="文本占位符 1">
            <a:extLst>
              <a:ext uri="{FF2B5EF4-FFF2-40B4-BE49-F238E27FC236}">
                <a16:creationId xmlns:a16="http://schemas.microsoft.com/office/drawing/2014/main" id="{9C03A554-8148-E674-27F0-9928D08C373E}"/>
              </a:ext>
            </a:extLst>
          </p:cNvPr>
          <p:cNvSpPr txBox="1">
            <a:spLocks/>
          </p:cNvSpPr>
          <p:nvPr/>
        </p:nvSpPr>
        <p:spPr>
          <a:xfrm>
            <a:off x="5841926" y="3964641"/>
            <a:ext cx="203835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网友</a:t>
            </a:r>
          </a:p>
        </p:txBody>
      </p:sp>
      <p:sp>
        <p:nvSpPr>
          <p:cNvPr id="129" name="文本占位符 1">
            <a:extLst>
              <a:ext uri="{FF2B5EF4-FFF2-40B4-BE49-F238E27FC236}">
                <a16:creationId xmlns:a16="http://schemas.microsoft.com/office/drawing/2014/main" id="{A6DF4408-1B23-1E4A-2301-B3164AC305AB}"/>
              </a:ext>
            </a:extLst>
          </p:cNvPr>
          <p:cNvSpPr txBox="1">
            <a:spLocks/>
          </p:cNvSpPr>
          <p:nvPr/>
        </p:nvSpPr>
        <p:spPr>
          <a:xfrm>
            <a:off x="7733572" y="5173564"/>
            <a:ext cx="203835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身份</a:t>
            </a:r>
          </a:p>
        </p:txBody>
      </p:sp>
      <p:sp>
        <p:nvSpPr>
          <p:cNvPr id="130" name="任意多边形: 形状 129">
            <a:extLst>
              <a:ext uri="{FF2B5EF4-FFF2-40B4-BE49-F238E27FC236}">
                <a16:creationId xmlns:a16="http://schemas.microsoft.com/office/drawing/2014/main" id="{0BFFCD8A-5217-E51F-AC24-0FDE8C95774B}"/>
              </a:ext>
            </a:extLst>
          </p:cNvPr>
          <p:cNvSpPr/>
          <p:nvPr/>
        </p:nvSpPr>
        <p:spPr>
          <a:xfrm rot="21279351">
            <a:off x="5546935" y="4384419"/>
            <a:ext cx="1863476" cy="848160"/>
          </a:xfrm>
          <a:custGeom>
            <a:avLst/>
            <a:gdLst>
              <a:gd name="connsiteX0" fmla="*/ 533400 w 1041400"/>
              <a:gd name="connsiteY0" fmla="*/ 0 h 1765300"/>
              <a:gd name="connsiteX1" fmla="*/ 0 w 1041400"/>
              <a:gd name="connsiteY1" fmla="*/ 1308100 h 1765300"/>
              <a:gd name="connsiteX2" fmla="*/ 609600 w 1041400"/>
              <a:gd name="connsiteY2" fmla="*/ 1765300 h 1765300"/>
              <a:gd name="connsiteX3" fmla="*/ 1041400 w 1041400"/>
              <a:gd name="connsiteY3" fmla="*/ 1308100 h 1765300"/>
              <a:gd name="connsiteX4" fmla="*/ 533400 w 1041400"/>
              <a:gd name="connsiteY4" fmla="*/ 0 h 1765300"/>
              <a:gd name="connsiteX0" fmla="*/ 533400 w 1041400"/>
              <a:gd name="connsiteY0" fmla="*/ 0 h 1308100"/>
              <a:gd name="connsiteX1" fmla="*/ 0 w 1041400"/>
              <a:gd name="connsiteY1" fmla="*/ 1308100 h 1308100"/>
              <a:gd name="connsiteX2" fmla="*/ 628650 w 1041400"/>
              <a:gd name="connsiteY2" fmla="*/ 1289050 h 1308100"/>
              <a:gd name="connsiteX3" fmla="*/ 1041400 w 1041400"/>
              <a:gd name="connsiteY3" fmla="*/ 1308100 h 1308100"/>
              <a:gd name="connsiteX4" fmla="*/ 533400 w 1041400"/>
              <a:gd name="connsiteY4" fmla="*/ 0 h 1308100"/>
              <a:gd name="connsiteX0" fmla="*/ 1419225 w 1927225"/>
              <a:gd name="connsiteY0" fmla="*/ 0 h 1965325"/>
              <a:gd name="connsiteX1" fmla="*/ 0 w 1927225"/>
              <a:gd name="connsiteY1" fmla="*/ 1965325 h 1965325"/>
              <a:gd name="connsiteX2" fmla="*/ 1514475 w 1927225"/>
              <a:gd name="connsiteY2" fmla="*/ 1289050 h 1965325"/>
              <a:gd name="connsiteX3" fmla="*/ 1927225 w 1927225"/>
              <a:gd name="connsiteY3" fmla="*/ 1308100 h 1965325"/>
              <a:gd name="connsiteX4" fmla="*/ 1419225 w 1927225"/>
              <a:gd name="connsiteY4" fmla="*/ 0 h 1965325"/>
              <a:gd name="connsiteX0" fmla="*/ 1419225 w 1927225"/>
              <a:gd name="connsiteY0" fmla="*/ 0 h 1965325"/>
              <a:gd name="connsiteX1" fmla="*/ 0 w 1927225"/>
              <a:gd name="connsiteY1" fmla="*/ 1965325 h 1965325"/>
              <a:gd name="connsiteX2" fmla="*/ 1123950 w 1927225"/>
              <a:gd name="connsiteY2" fmla="*/ 1612900 h 1965325"/>
              <a:gd name="connsiteX3" fmla="*/ 1927225 w 1927225"/>
              <a:gd name="connsiteY3" fmla="*/ 1308100 h 1965325"/>
              <a:gd name="connsiteX4" fmla="*/ 1419225 w 1927225"/>
              <a:gd name="connsiteY4" fmla="*/ 0 h 1965325"/>
              <a:gd name="connsiteX0" fmla="*/ 1419225 w 1993900"/>
              <a:gd name="connsiteY0" fmla="*/ 0 h 1965325"/>
              <a:gd name="connsiteX1" fmla="*/ 0 w 1993900"/>
              <a:gd name="connsiteY1" fmla="*/ 1965325 h 1965325"/>
              <a:gd name="connsiteX2" fmla="*/ 1123950 w 1993900"/>
              <a:gd name="connsiteY2" fmla="*/ 1612900 h 1965325"/>
              <a:gd name="connsiteX3" fmla="*/ 1993900 w 1993900"/>
              <a:gd name="connsiteY3" fmla="*/ 1660525 h 1965325"/>
              <a:gd name="connsiteX4" fmla="*/ 1419225 w 1993900"/>
              <a:gd name="connsiteY4" fmla="*/ 0 h 1965325"/>
              <a:gd name="connsiteX0" fmla="*/ 1419225 w 1993900"/>
              <a:gd name="connsiteY0" fmla="*/ 0 h 1965325"/>
              <a:gd name="connsiteX1" fmla="*/ 0 w 1993900"/>
              <a:gd name="connsiteY1" fmla="*/ 1965325 h 1965325"/>
              <a:gd name="connsiteX2" fmla="*/ 1162050 w 1993900"/>
              <a:gd name="connsiteY2" fmla="*/ 1784350 h 1965325"/>
              <a:gd name="connsiteX3" fmla="*/ 1993900 w 1993900"/>
              <a:gd name="connsiteY3" fmla="*/ 1660525 h 1965325"/>
              <a:gd name="connsiteX4" fmla="*/ 1419225 w 1993900"/>
              <a:gd name="connsiteY4" fmla="*/ 0 h 1965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93900" h="1965325">
                <a:moveTo>
                  <a:pt x="1419225" y="0"/>
                </a:moveTo>
                <a:lnTo>
                  <a:pt x="0" y="1965325"/>
                </a:lnTo>
                <a:lnTo>
                  <a:pt x="1162050" y="1784350"/>
                </a:lnTo>
                <a:lnTo>
                  <a:pt x="1993900" y="1660525"/>
                </a:lnTo>
                <a:lnTo>
                  <a:pt x="1419225" y="0"/>
                </a:lnTo>
                <a:close/>
              </a:path>
            </a:pathLst>
          </a:cu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文本占位符 1">
            <a:extLst>
              <a:ext uri="{FF2B5EF4-FFF2-40B4-BE49-F238E27FC236}">
                <a16:creationId xmlns:a16="http://schemas.microsoft.com/office/drawing/2014/main" id="{07FB41D0-C89D-CFE2-BE16-2A45AB0F2CE4}"/>
              </a:ext>
            </a:extLst>
          </p:cNvPr>
          <p:cNvSpPr txBox="1">
            <a:spLocks/>
          </p:cNvSpPr>
          <p:nvPr/>
        </p:nvSpPr>
        <p:spPr>
          <a:xfrm>
            <a:off x="5671034" y="4734128"/>
            <a:ext cx="203835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dirty="0" err="1"/>
              <a:t>xhs</a:t>
            </a:r>
            <a:r>
              <a:rPr lang="zh-CN" altLang="en-US" dirty="0"/>
              <a:t>网友</a:t>
            </a:r>
          </a:p>
        </p:txBody>
      </p:sp>
    </p:spTree>
    <p:extLst>
      <p:ext uri="{BB962C8B-B14F-4D97-AF65-F5344CB8AC3E}">
        <p14:creationId xmlns:p14="http://schemas.microsoft.com/office/powerpoint/2010/main" val="38462865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" name="矩形: 圆角 137">
            <a:extLst>
              <a:ext uri="{FF2B5EF4-FFF2-40B4-BE49-F238E27FC236}">
                <a16:creationId xmlns:a16="http://schemas.microsoft.com/office/drawing/2014/main" id="{4F2FCE72-93EA-695F-1D8C-DFBDCAE4D136}"/>
              </a:ext>
            </a:extLst>
          </p:cNvPr>
          <p:cNvSpPr/>
          <p:nvPr/>
        </p:nvSpPr>
        <p:spPr>
          <a:xfrm>
            <a:off x="237725" y="2340725"/>
            <a:ext cx="1607202" cy="130054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个人资产行为数据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核心是交易，辅助评价、推荐语等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51A5D107-8811-352E-2CC2-42421CFA26EA}"/>
              </a:ext>
            </a:extLst>
          </p:cNvPr>
          <p:cNvSpPr/>
          <p:nvPr/>
        </p:nvSpPr>
        <p:spPr>
          <a:xfrm>
            <a:off x="3544499" y="656467"/>
            <a:ext cx="2818200" cy="4137703"/>
          </a:xfrm>
          <a:prstGeom prst="roundRect">
            <a:avLst>
              <a:gd name="adj" fmla="val 13287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个人食单</a:t>
            </a:r>
            <a:r>
              <a:rPr lang="en-US" altLang="zh-CN" sz="1200" dirty="0">
                <a:solidFill>
                  <a:schemeClr val="tx1"/>
                </a:solidFill>
              </a:rPr>
              <a:t>-</a:t>
            </a:r>
            <a:r>
              <a:rPr lang="zh-CN" altLang="en-US" sz="1200" dirty="0">
                <a:solidFill>
                  <a:schemeClr val="tx1"/>
                </a:solidFill>
              </a:rPr>
              <a:t>标题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A21981E4-E065-0CA8-AAE5-72592CF90140}"/>
              </a:ext>
            </a:extLst>
          </p:cNvPr>
          <p:cNvCxnSpPr>
            <a:cxnSpLocks/>
            <a:stCxn id="138" idx="3"/>
            <a:endCxn id="153" idx="1"/>
          </p:cNvCxnSpPr>
          <p:nvPr/>
        </p:nvCxnSpPr>
        <p:spPr>
          <a:xfrm>
            <a:off x="1844927" y="2990997"/>
            <a:ext cx="1851972" cy="33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占位符 1">
            <a:extLst>
              <a:ext uri="{FF2B5EF4-FFF2-40B4-BE49-F238E27FC236}">
                <a16:creationId xmlns:a16="http://schemas.microsoft.com/office/drawing/2014/main" id="{C0E6ED6F-5BE1-7E08-A2AB-5FEE1F955BFB}"/>
              </a:ext>
            </a:extLst>
          </p:cNvPr>
          <p:cNvSpPr txBox="1">
            <a:spLocks/>
          </p:cNvSpPr>
          <p:nvPr/>
        </p:nvSpPr>
        <p:spPr>
          <a:xfrm>
            <a:off x="1584610" y="2703423"/>
            <a:ext cx="2350801" cy="343711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1200" dirty="0"/>
              <a:t>AI</a:t>
            </a:r>
            <a:r>
              <a:rPr lang="zh-CN" altLang="en-US" sz="1200" dirty="0"/>
              <a:t>挖掘、人工确认</a:t>
            </a:r>
            <a:r>
              <a:rPr lang="en-US" altLang="zh-CN" sz="1200" dirty="0"/>
              <a:t>/</a:t>
            </a:r>
            <a:r>
              <a:rPr lang="zh-CN" altLang="en-US" sz="1200" dirty="0"/>
              <a:t>修改</a:t>
            </a:r>
            <a:endParaRPr lang="en-US" altLang="zh-CN" sz="1200" dirty="0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B5DF425-5616-D1E8-77EB-479765C885D3}"/>
              </a:ext>
            </a:extLst>
          </p:cNvPr>
          <p:cNvSpPr/>
          <p:nvPr/>
        </p:nvSpPr>
        <p:spPr>
          <a:xfrm>
            <a:off x="7536798" y="718078"/>
            <a:ext cx="1423568" cy="41361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审核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361D54F9-E0A5-BFB6-794E-35604FD39654}"/>
              </a:ext>
            </a:extLst>
          </p:cNvPr>
          <p:cNvSpPr/>
          <p:nvPr/>
        </p:nvSpPr>
        <p:spPr>
          <a:xfrm>
            <a:off x="7536798" y="1226286"/>
            <a:ext cx="1423568" cy="41361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共创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cxnSp>
        <p:nvCxnSpPr>
          <p:cNvPr id="30" name="连接符: 肘形 29">
            <a:extLst>
              <a:ext uri="{FF2B5EF4-FFF2-40B4-BE49-F238E27FC236}">
                <a16:creationId xmlns:a16="http://schemas.microsoft.com/office/drawing/2014/main" id="{9DA67EF5-2FE9-2462-DC5D-F6E57441F819}"/>
              </a:ext>
            </a:extLst>
          </p:cNvPr>
          <p:cNvCxnSpPr>
            <a:cxnSpLocks/>
            <a:stCxn id="16" idx="1"/>
          </p:cNvCxnSpPr>
          <p:nvPr/>
        </p:nvCxnSpPr>
        <p:spPr>
          <a:xfrm rot="10800000" flipV="1">
            <a:off x="6427420" y="1433091"/>
            <a:ext cx="1109378" cy="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连接符: 肘形 33">
            <a:extLst>
              <a:ext uri="{FF2B5EF4-FFF2-40B4-BE49-F238E27FC236}">
                <a16:creationId xmlns:a16="http://schemas.microsoft.com/office/drawing/2014/main" id="{70B92555-75D3-8F22-14E2-386D8B8457B9}"/>
              </a:ext>
            </a:extLst>
          </p:cNvPr>
          <p:cNvCxnSpPr>
            <a:cxnSpLocks/>
            <a:stCxn id="15" idx="1"/>
          </p:cNvCxnSpPr>
          <p:nvPr/>
        </p:nvCxnSpPr>
        <p:spPr>
          <a:xfrm rot="10800000">
            <a:off x="6427420" y="924884"/>
            <a:ext cx="1109378" cy="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矩形: 圆角 133">
            <a:extLst>
              <a:ext uri="{FF2B5EF4-FFF2-40B4-BE49-F238E27FC236}">
                <a16:creationId xmlns:a16="http://schemas.microsoft.com/office/drawing/2014/main" id="{0E6EBBFB-1C2D-D610-86B4-0621E666E4C6}"/>
              </a:ext>
            </a:extLst>
          </p:cNvPr>
          <p:cNvSpPr/>
          <p:nvPr/>
        </p:nvSpPr>
        <p:spPr>
          <a:xfrm>
            <a:off x="4471880" y="2059591"/>
            <a:ext cx="1260000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个人资产证据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41D41667-3E3B-D85E-D36B-55625D73177B}"/>
              </a:ext>
            </a:extLst>
          </p:cNvPr>
          <p:cNvSpPr/>
          <p:nvPr/>
        </p:nvSpPr>
        <p:spPr>
          <a:xfrm>
            <a:off x="3668064" y="1122083"/>
            <a:ext cx="534695" cy="534695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37" name="椭圆 136">
            <a:extLst>
              <a:ext uri="{FF2B5EF4-FFF2-40B4-BE49-F238E27FC236}">
                <a16:creationId xmlns:a16="http://schemas.microsoft.com/office/drawing/2014/main" id="{1DB01F2D-126B-8AF7-71D9-FEB4949C3061}"/>
              </a:ext>
            </a:extLst>
          </p:cNvPr>
          <p:cNvSpPr/>
          <p:nvPr/>
        </p:nvSpPr>
        <p:spPr>
          <a:xfrm>
            <a:off x="4200171" y="1122082"/>
            <a:ext cx="534695" cy="534695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39" name="矩形: 圆角 138">
            <a:extLst>
              <a:ext uri="{FF2B5EF4-FFF2-40B4-BE49-F238E27FC236}">
                <a16:creationId xmlns:a16="http://schemas.microsoft.com/office/drawing/2014/main" id="{4B67665B-8E94-1380-4053-B662375EFDD2}"/>
              </a:ext>
            </a:extLst>
          </p:cNvPr>
          <p:cNvSpPr/>
          <p:nvPr/>
        </p:nvSpPr>
        <p:spPr>
          <a:xfrm>
            <a:off x="3575905" y="1508407"/>
            <a:ext cx="1377694" cy="15962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证据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身份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圈层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A312B5E8-A284-9204-B33A-052313195E4C}"/>
              </a:ext>
            </a:extLst>
          </p:cNvPr>
          <p:cNvSpPr txBox="1"/>
          <p:nvPr/>
        </p:nvSpPr>
        <p:spPr>
          <a:xfrm>
            <a:off x="3479778" y="1250929"/>
            <a:ext cx="8739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/>
              <a:t>创建者</a:t>
            </a: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332ACEC1-4AE8-0662-5B9A-2A6D6007335F}"/>
              </a:ext>
            </a:extLst>
          </p:cNvPr>
          <p:cNvSpPr txBox="1"/>
          <p:nvPr/>
        </p:nvSpPr>
        <p:spPr>
          <a:xfrm>
            <a:off x="4118176" y="1241279"/>
            <a:ext cx="7215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/>
              <a:t>共建者</a:t>
            </a:r>
          </a:p>
        </p:txBody>
      </p:sp>
      <p:sp>
        <p:nvSpPr>
          <p:cNvPr id="153" name="矩形: 圆角 152">
            <a:extLst>
              <a:ext uri="{FF2B5EF4-FFF2-40B4-BE49-F238E27FC236}">
                <a16:creationId xmlns:a16="http://schemas.microsoft.com/office/drawing/2014/main" id="{68834A0A-392E-98EA-1227-D7CF03A775BD}"/>
              </a:ext>
            </a:extLst>
          </p:cNvPr>
          <p:cNvSpPr/>
          <p:nvPr/>
        </p:nvSpPr>
        <p:spPr>
          <a:xfrm>
            <a:off x="3696899" y="1772603"/>
            <a:ext cx="2541976" cy="2437448"/>
          </a:xfrm>
          <a:prstGeom prst="roundRect">
            <a:avLst>
              <a:gd name="adj" fmla="val 5167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54" name="矩形: 圆角 153">
            <a:extLst>
              <a:ext uri="{FF2B5EF4-FFF2-40B4-BE49-F238E27FC236}">
                <a16:creationId xmlns:a16="http://schemas.microsoft.com/office/drawing/2014/main" id="{D06CA56F-9BBB-329F-1C3D-1C7DBCF606CA}"/>
              </a:ext>
            </a:extLst>
          </p:cNvPr>
          <p:cNvSpPr/>
          <p:nvPr/>
        </p:nvSpPr>
        <p:spPr>
          <a:xfrm>
            <a:off x="3735337" y="1836690"/>
            <a:ext cx="693788" cy="62580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门店</a:t>
            </a:r>
            <a:endParaRPr lang="en-US" altLang="zh-CN" sz="1200" dirty="0"/>
          </a:p>
        </p:txBody>
      </p:sp>
      <p:sp>
        <p:nvSpPr>
          <p:cNvPr id="155" name="矩形: 圆角 154">
            <a:extLst>
              <a:ext uri="{FF2B5EF4-FFF2-40B4-BE49-F238E27FC236}">
                <a16:creationId xmlns:a16="http://schemas.microsoft.com/office/drawing/2014/main" id="{2CC9666D-089D-257A-DF07-DB7738ACD17C}"/>
              </a:ext>
            </a:extLst>
          </p:cNvPr>
          <p:cNvSpPr/>
          <p:nvPr/>
        </p:nvSpPr>
        <p:spPr>
          <a:xfrm>
            <a:off x="5781194" y="2047037"/>
            <a:ext cx="390058" cy="43240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1" name="文本框 160">
            <a:extLst>
              <a:ext uri="{FF2B5EF4-FFF2-40B4-BE49-F238E27FC236}">
                <a16:creationId xmlns:a16="http://schemas.microsoft.com/office/drawing/2014/main" id="{36AA6886-D143-9A0A-D15B-296A651911D2}"/>
              </a:ext>
            </a:extLst>
          </p:cNvPr>
          <p:cNvSpPr txBox="1"/>
          <p:nvPr/>
        </p:nvSpPr>
        <p:spPr>
          <a:xfrm>
            <a:off x="5765911" y="2078049"/>
            <a:ext cx="4576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用户状态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2" name="矩形: 圆角 161">
            <a:extLst>
              <a:ext uri="{FF2B5EF4-FFF2-40B4-BE49-F238E27FC236}">
                <a16:creationId xmlns:a16="http://schemas.microsoft.com/office/drawing/2014/main" id="{F8853F7A-5C94-B3D8-B1C7-A7836B43B174}"/>
              </a:ext>
            </a:extLst>
          </p:cNvPr>
          <p:cNvSpPr/>
          <p:nvPr/>
        </p:nvSpPr>
        <p:spPr>
          <a:xfrm>
            <a:off x="4677501" y="4357231"/>
            <a:ext cx="1476323" cy="34012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互动区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63" name="矩形: 圆角 162">
            <a:extLst>
              <a:ext uri="{FF2B5EF4-FFF2-40B4-BE49-F238E27FC236}">
                <a16:creationId xmlns:a16="http://schemas.microsoft.com/office/drawing/2014/main" id="{F39DBDFB-AD67-61AA-6324-FED3F5087A16}"/>
              </a:ext>
            </a:extLst>
          </p:cNvPr>
          <p:cNvSpPr/>
          <p:nvPr/>
        </p:nvSpPr>
        <p:spPr>
          <a:xfrm>
            <a:off x="4467518" y="2282492"/>
            <a:ext cx="1260000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组合动态信息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4" name="矩形: 圆角 163">
            <a:extLst>
              <a:ext uri="{FF2B5EF4-FFF2-40B4-BE49-F238E27FC236}">
                <a16:creationId xmlns:a16="http://schemas.microsoft.com/office/drawing/2014/main" id="{81FE88D3-1013-FA72-0DD6-5EF71C0A27C8}"/>
              </a:ext>
            </a:extLst>
          </p:cNvPr>
          <p:cNvSpPr/>
          <p:nvPr/>
        </p:nvSpPr>
        <p:spPr>
          <a:xfrm>
            <a:off x="4471880" y="1836690"/>
            <a:ext cx="1681944" cy="18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门店基本信息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3" name="矩形: 圆角 172">
            <a:extLst>
              <a:ext uri="{FF2B5EF4-FFF2-40B4-BE49-F238E27FC236}">
                <a16:creationId xmlns:a16="http://schemas.microsoft.com/office/drawing/2014/main" id="{2EE68AB0-8EAC-E926-E929-66DA901B6B0F}"/>
              </a:ext>
            </a:extLst>
          </p:cNvPr>
          <p:cNvSpPr/>
          <p:nvPr/>
        </p:nvSpPr>
        <p:spPr>
          <a:xfrm>
            <a:off x="7536798" y="4283742"/>
            <a:ext cx="1423568" cy="41361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分享</a:t>
            </a:r>
            <a:r>
              <a:rPr lang="en-US" altLang="zh-CN" sz="1200" dirty="0">
                <a:solidFill>
                  <a:schemeClr val="tx1"/>
                </a:solidFill>
              </a:rPr>
              <a:t>/remix/</a:t>
            </a:r>
            <a:r>
              <a:rPr lang="zh-CN" altLang="en-US" sz="1200" dirty="0">
                <a:solidFill>
                  <a:schemeClr val="tx1"/>
                </a:solidFill>
              </a:rPr>
              <a:t>评价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弹幕</a:t>
            </a:r>
            <a:r>
              <a:rPr lang="en-US" altLang="zh-CN" sz="1200" dirty="0">
                <a:solidFill>
                  <a:schemeClr val="tx1"/>
                </a:solidFill>
              </a:rPr>
              <a:t>/xx</a:t>
            </a:r>
            <a:r>
              <a:rPr lang="zh-CN" altLang="en-US" sz="1200" dirty="0">
                <a:solidFill>
                  <a:schemeClr val="tx1"/>
                </a:solidFill>
              </a:rPr>
              <a:t>人跟单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cxnSp>
        <p:nvCxnSpPr>
          <p:cNvPr id="174" name="连接符: 肘形 173">
            <a:extLst>
              <a:ext uri="{FF2B5EF4-FFF2-40B4-BE49-F238E27FC236}">
                <a16:creationId xmlns:a16="http://schemas.microsoft.com/office/drawing/2014/main" id="{0BD58AA9-4FFB-125A-710C-F4EC2557E069}"/>
              </a:ext>
            </a:extLst>
          </p:cNvPr>
          <p:cNvCxnSpPr>
            <a:cxnSpLocks/>
            <a:stCxn id="173" idx="1"/>
          </p:cNvCxnSpPr>
          <p:nvPr/>
        </p:nvCxnSpPr>
        <p:spPr>
          <a:xfrm rot="10800000" flipV="1">
            <a:off x="6427420" y="4490547"/>
            <a:ext cx="1109378" cy="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矩形: 圆角 183">
            <a:extLst>
              <a:ext uri="{FF2B5EF4-FFF2-40B4-BE49-F238E27FC236}">
                <a16:creationId xmlns:a16="http://schemas.microsoft.com/office/drawing/2014/main" id="{A400B8BB-F411-2F33-18CC-0C65787574D1}"/>
              </a:ext>
            </a:extLst>
          </p:cNvPr>
          <p:cNvSpPr/>
          <p:nvPr/>
        </p:nvSpPr>
        <p:spPr>
          <a:xfrm>
            <a:off x="7510470" y="2056673"/>
            <a:ext cx="1423568" cy="41361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集卡等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cxnSp>
        <p:nvCxnSpPr>
          <p:cNvPr id="187" name="直接箭头连接符 186">
            <a:extLst>
              <a:ext uri="{FF2B5EF4-FFF2-40B4-BE49-F238E27FC236}">
                <a16:creationId xmlns:a16="http://schemas.microsoft.com/office/drawing/2014/main" id="{C85828A6-804B-4766-47C1-32EC12997463}"/>
              </a:ext>
            </a:extLst>
          </p:cNvPr>
          <p:cNvCxnSpPr>
            <a:cxnSpLocks/>
            <a:stCxn id="184" idx="1"/>
          </p:cNvCxnSpPr>
          <p:nvPr/>
        </p:nvCxnSpPr>
        <p:spPr>
          <a:xfrm flipH="1">
            <a:off x="6427419" y="2263479"/>
            <a:ext cx="1083051" cy="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矩形: 圆角 194">
            <a:extLst>
              <a:ext uri="{FF2B5EF4-FFF2-40B4-BE49-F238E27FC236}">
                <a16:creationId xmlns:a16="http://schemas.microsoft.com/office/drawing/2014/main" id="{63B8336B-5B72-7E54-52BB-18092CDB6F9B}"/>
              </a:ext>
            </a:extLst>
          </p:cNvPr>
          <p:cNvSpPr/>
          <p:nvPr/>
        </p:nvSpPr>
        <p:spPr>
          <a:xfrm>
            <a:off x="237726" y="-725834"/>
            <a:ext cx="4334274" cy="49599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流量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动线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96" name="矩形: 圆角 195">
            <a:extLst>
              <a:ext uri="{FF2B5EF4-FFF2-40B4-BE49-F238E27FC236}">
                <a16:creationId xmlns:a16="http://schemas.microsoft.com/office/drawing/2014/main" id="{B366FDD7-A207-30AD-BB47-3C475FC5D52E}"/>
              </a:ext>
            </a:extLst>
          </p:cNvPr>
          <p:cNvSpPr/>
          <p:nvPr/>
        </p:nvSpPr>
        <p:spPr>
          <a:xfrm>
            <a:off x="5322673" y="1517496"/>
            <a:ext cx="960308" cy="14870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食单数据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98" name="矩形: 圆角 197">
            <a:extLst>
              <a:ext uri="{FF2B5EF4-FFF2-40B4-BE49-F238E27FC236}">
                <a16:creationId xmlns:a16="http://schemas.microsoft.com/office/drawing/2014/main" id="{55A3F7D3-5E77-FF11-1C49-1E9FC2D0EC30}"/>
              </a:ext>
            </a:extLst>
          </p:cNvPr>
          <p:cNvSpPr/>
          <p:nvPr/>
        </p:nvSpPr>
        <p:spPr>
          <a:xfrm>
            <a:off x="4839695" y="-716197"/>
            <a:ext cx="4115972" cy="49599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价值激励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cxnSp>
        <p:nvCxnSpPr>
          <p:cNvPr id="201" name="连接符: 肘形 200">
            <a:extLst>
              <a:ext uri="{FF2B5EF4-FFF2-40B4-BE49-F238E27FC236}">
                <a16:creationId xmlns:a16="http://schemas.microsoft.com/office/drawing/2014/main" id="{BEC355AD-D741-0949-3A4B-D28F00256F12}"/>
              </a:ext>
            </a:extLst>
          </p:cNvPr>
          <p:cNvCxnSpPr>
            <a:cxnSpLocks/>
            <a:stCxn id="5" idx="0"/>
            <a:endCxn id="195" idx="2"/>
          </p:cNvCxnSpPr>
          <p:nvPr/>
        </p:nvCxnSpPr>
        <p:spPr>
          <a:xfrm rot="16200000" flipV="1">
            <a:off x="3236077" y="-1061055"/>
            <a:ext cx="886308" cy="254873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矩形: 圆角 21">
            <a:extLst>
              <a:ext uri="{FF2B5EF4-FFF2-40B4-BE49-F238E27FC236}">
                <a16:creationId xmlns:a16="http://schemas.microsoft.com/office/drawing/2014/main" id="{0625382B-2BB0-B461-D65B-29B0D1F0EC1F}"/>
              </a:ext>
            </a:extLst>
          </p:cNvPr>
          <p:cNvSpPr/>
          <p:nvPr/>
        </p:nvSpPr>
        <p:spPr>
          <a:xfrm>
            <a:off x="291968" y="-358704"/>
            <a:ext cx="988282" cy="2769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个性化推荐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07" name="矩形: 圆角 21">
            <a:extLst>
              <a:ext uri="{FF2B5EF4-FFF2-40B4-BE49-F238E27FC236}">
                <a16:creationId xmlns:a16="http://schemas.microsoft.com/office/drawing/2014/main" id="{ABFE74FB-9B2A-C8DB-9A26-00287B7A5E81}"/>
              </a:ext>
            </a:extLst>
          </p:cNvPr>
          <p:cNvSpPr/>
          <p:nvPr/>
        </p:nvSpPr>
        <p:spPr>
          <a:xfrm>
            <a:off x="1307392" y="-358704"/>
            <a:ext cx="988282" cy="2769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搜索关联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08" name="矩形: 圆角 21">
            <a:extLst>
              <a:ext uri="{FF2B5EF4-FFF2-40B4-BE49-F238E27FC236}">
                <a16:creationId xmlns:a16="http://schemas.microsoft.com/office/drawing/2014/main" id="{5AA03130-6EDC-B63C-8295-0A700A5E96BD}"/>
              </a:ext>
            </a:extLst>
          </p:cNvPr>
          <p:cNvSpPr/>
          <p:nvPr/>
        </p:nvSpPr>
        <p:spPr>
          <a:xfrm>
            <a:off x="2546692" y="-358704"/>
            <a:ext cx="988282" cy="2769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POI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09" name="矩形: 圆角 21">
            <a:extLst>
              <a:ext uri="{FF2B5EF4-FFF2-40B4-BE49-F238E27FC236}">
                <a16:creationId xmlns:a16="http://schemas.microsoft.com/office/drawing/2014/main" id="{73600A22-54B8-6946-6B99-F515715B355D}"/>
              </a:ext>
            </a:extLst>
          </p:cNvPr>
          <p:cNvSpPr/>
          <p:nvPr/>
        </p:nvSpPr>
        <p:spPr>
          <a:xfrm>
            <a:off x="3564108" y="-358704"/>
            <a:ext cx="988282" cy="2769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频道入口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cxnSp>
        <p:nvCxnSpPr>
          <p:cNvPr id="211" name="连接符: 肘形 210">
            <a:extLst>
              <a:ext uri="{FF2B5EF4-FFF2-40B4-BE49-F238E27FC236}">
                <a16:creationId xmlns:a16="http://schemas.microsoft.com/office/drawing/2014/main" id="{0B4DE135-EC2A-1AE0-C421-83A0B9720EF0}"/>
              </a:ext>
            </a:extLst>
          </p:cNvPr>
          <p:cNvCxnSpPr>
            <a:cxnSpLocks/>
            <a:stCxn id="5" idx="0"/>
            <a:endCxn id="198" idx="2"/>
          </p:cNvCxnSpPr>
          <p:nvPr/>
        </p:nvCxnSpPr>
        <p:spPr>
          <a:xfrm rot="5400000" flipH="1" flipV="1">
            <a:off x="5487305" y="-753909"/>
            <a:ext cx="876671" cy="194408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矩形: 圆角 213">
            <a:extLst>
              <a:ext uri="{FF2B5EF4-FFF2-40B4-BE49-F238E27FC236}">
                <a16:creationId xmlns:a16="http://schemas.microsoft.com/office/drawing/2014/main" id="{A7BF8870-2836-FF2D-70D8-0FEF326264AE}"/>
              </a:ext>
            </a:extLst>
          </p:cNvPr>
          <p:cNvSpPr/>
          <p:nvPr/>
        </p:nvSpPr>
        <p:spPr>
          <a:xfrm>
            <a:off x="202808" y="1226286"/>
            <a:ext cx="1607202" cy="80650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用户画像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标签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cxnSp>
        <p:nvCxnSpPr>
          <p:cNvPr id="215" name="直接箭头连接符 214">
            <a:extLst>
              <a:ext uri="{FF2B5EF4-FFF2-40B4-BE49-F238E27FC236}">
                <a16:creationId xmlns:a16="http://schemas.microsoft.com/office/drawing/2014/main" id="{F481342F-D3DF-981D-0FC4-A9B5E7A86F98}"/>
              </a:ext>
            </a:extLst>
          </p:cNvPr>
          <p:cNvCxnSpPr>
            <a:cxnSpLocks/>
            <a:stCxn id="214" idx="3"/>
          </p:cNvCxnSpPr>
          <p:nvPr/>
        </p:nvCxnSpPr>
        <p:spPr>
          <a:xfrm flipV="1">
            <a:off x="1810010" y="1625423"/>
            <a:ext cx="1661383" cy="4114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" name="矩形: 圆角 219">
            <a:extLst>
              <a:ext uri="{FF2B5EF4-FFF2-40B4-BE49-F238E27FC236}">
                <a16:creationId xmlns:a16="http://schemas.microsoft.com/office/drawing/2014/main" id="{7A009307-4222-7CC9-323C-40570B22CDE0}"/>
              </a:ext>
            </a:extLst>
          </p:cNvPr>
          <p:cNvSpPr/>
          <p:nvPr/>
        </p:nvSpPr>
        <p:spPr>
          <a:xfrm>
            <a:off x="194331" y="407716"/>
            <a:ext cx="1607202" cy="80650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身份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成长策略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勋章体系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cxnSp>
        <p:nvCxnSpPr>
          <p:cNvPr id="221" name="连接符: 肘形 220">
            <a:extLst>
              <a:ext uri="{FF2B5EF4-FFF2-40B4-BE49-F238E27FC236}">
                <a16:creationId xmlns:a16="http://schemas.microsoft.com/office/drawing/2014/main" id="{C57C7B96-D77E-94AB-9C19-07376061EF0F}"/>
              </a:ext>
            </a:extLst>
          </p:cNvPr>
          <p:cNvCxnSpPr>
            <a:cxnSpLocks/>
            <a:stCxn id="220" idx="3"/>
          </p:cNvCxnSpPr>
          <p:nvPr/>
        </p:nvCxnSpPr>
        <p:spPr>
          <a:xfrm>
            <a:off x="1801533" y="810967"/>
            <a:ext cx="1678245" cy="82893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矩形: 圆角 224">
            <a:extLst>
              <a:ext uri="{FF2B5EF4-FFF2-40B4-BE49-F238E27FC236}">
                <a16:creationId xmlns:a16="http://schemas.microsoft.com/office/drawing/2014/main" id="{E76149D2-6244-96EA-C38A-1E9A2F188530}"/>
              </a:ext>
            </a:extLst>
          </p:cNvPr>
          <p:cNvSpPr/>
          <p:nvPr/>
        </p:nvSpPr>
        <p:spPr>
          <a:xfrm>
            <a:off x="9357961" y="4296509"/>
            <a:ext cx="1423568" cy="41361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随机抽卡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食单</a:t>
            </a:r>
            <a:r>
              <a:rPr lang="en-US" altLang="zh-CN" sz="1200" dirty="0">
                <a:solidFill>
                  <a:schemeClr val="tx1"/>
                </a:solidFill>
              </a:rPr>
              <a:t>pk</a:t>
            </a:r>
          </a:p>
        </p:txBody>
      </p:sp>
      <p:sp>
        <p:nvSpPr>
          <p:cNvPr id="226" name="矩形: 圆角 225">
            <a:extLst>
              <a:ext uri="{FF2B5EF4-FFF2-40B4-BE49-F238E27FC236}">
                <a16:creationId xmlns:a16="http://schemas.microsoft.com/office/drawing/2014/main" id="{E4611570-9D18-3719-140C-9208A763C18F}"/>
              </a:ext>
            </a:extLst>
          </p:cNvPr>
          <p:cNvSpPr/>
          <p:nvPr/>
        </p:nvSpPr>
        <p:spPr>
          <a:xfrm>
            <a:off x="2893298" y="55058"/>
            <a:ext cx="1607202" cy="35823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分发策略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227" name="矩形: 圆角 226">
            <a:extLst>
              <a:ext uri="{FF2B5EF4-FFF2-40B4-BE49-F238E27FC236}">
                <a16:creationId xmlns:a16="http://schemas.microsoft.com/office/drawing/2014/main" id="{E6EB596F-C1A9-AB96-1437-15A7A9F461F2}"/>
              </a:ext>
            </a:extLst>
          </p:cNvPr>
          <p:cNvSpPr/>
          <p:nvPr/>
        </p:nvSpPr>
        <p:spPr>
          <a:xfrm>
            <a:off x="5141096" y="45598"/>
            <a:ext cx="1607202" cy="35823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激励策略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228" name="矩形: 圆角 227">
            <a:extLst>
              <a:ext uri="{FF2B5EF4-FFF2-40B4-BE49-F238E27FC236}">
                <a16:creationId xmlns:a16="http://schemas.microsoft.com/office/drawing/2014/main" id="{69DD320F-5E02-77E1-7420-74E8B2CDCF3C}"/>
              </a:ext>
            </a:extLst>
          </p:cNvPr>
          <p:cNvSpPr/>
          <p:nvPr/>
        </p:nvSpPr>
        <p:spPr>
          <a:xfrm>
            <a:off x="-1713647" y="2340725"/>
            <a:ext cx="1607202" cy="130054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资产运营策略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cxnSp>
        <p:nvCxnSpPr>
          <p:cNvPr id="229" name="直接箭头连接符 228">
            <a:extLst>
              <a:ext uri="{FF2B5EF4-FFF2-40B4-BE49-F238E27FC236}">
                <a16:creationId xmlns:a16="http://schemas.microsoft.com/office/drawing/2014/main" id="{C5AEFCDD-4AD0-0A20-5958-473D3FB5AD4E}"/>
              </a:ext>
            </a:extLst>
          </p:cNvPr>
          <p:cNvCxnSpPr>
            <a:cxnSpLocks/>
            <a:stCxn id="228" idx="3"/>
            <a:endCxn id="138" idx="1"/>
          </p:cNvCxnSpPr>
          <p:nvPr/>
        </p:nvCxnSpPr>
        <p:spPr>
          <a:xfrm>
            <a:off x="-106445" y="2990997"/>
            <a:ext cx="344170" cy="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矩形: 圆角 21">
            <a:extLst>
              <a:ext uri="{FF2B5EF4-FFF2-40B4-BE49-F238E27FC236}">
                <a16:creationId xmlns:a16="http://schemas.microsoft.com/office/drawing/2014/main" id="{E5888875-1FFF-D73A-1825-6E9ACB595842}"/>
              </a:ext>
            </a:extLst>
          </p:cNvPr>
          <p:cNvSpPr/>
          <p:nvPr/>
        </p:nvSpPr>
        <p:spPr>
          <a:xfrm>
            <a:off x="4860667" y="-378581"/>
            <a:ext cx="988282" cy="2769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荣誉价值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35" name="矩形: 圆角 21">
            <a:extLst>
              <a:ext uri="{FF2B5EF4-FFF2-40B4-BE49-F238E27FC236}">
                <a16:creationId xmlns:a16="http://schemas.microsoft.com/office/drawing/2014/main" id="{41C28451-2C75-29CD-FD8D-7CC4B353CFD9}"/>
              </a:ext>
            </a:extLst>
          </p:cNvPr>
          <p:cNvSpPr/>
          <p:nvPr/>
        </p:nvSpPr>
        <p:spPr>
          <a:xfrm>
            <a:off x="5890834" y="-378151"/>
            <a:ext cx="988282" cy="2769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反馈价值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36" name="矩形: 圆角 21">
            <a:extLst>
              <a:ext uri="{FF2B5EF4-FFF2-40B4-BE49-F238E27FC236}">
                <a16:creationId xmlns:a16="http://schemas.microsoft.com/office/drawing/2014/main" id="{CBA98609-777D-E476-B5F1-05F529C11946}"/>
              </a:ext>
            </a:extLst>
          </p:cNvPr>
          <p:cNvSpPr/>
          <p:nvPr/>
        </p:nvSpPr>
        <p:spPr>
          <a:xfrm>
            <a:off x="6919100" y="-358706"/>
            <a:ext cx="988282" cy="2769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体验价值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37" name="矩形: 圆角 21">
            <a:extLst>
              <a:ext uri="{FF2B5EF4-FFF2-40B4-BE49-F238E27FC236}">
                <a16:creationId xmlns:a16="http://schemas.microsoft.com/office/drawing/2014/main" id="{6D9458B4-C314-5767-0C83-C42E36C82B18}"/>
              </a:ext>
            </a:extLst>
          </p:cNvPr>
          <p:cNvSpPr/>
          <p:nvPr/>
        </p:nvSpPr>
        <p:spPr>
          <a:xfrm>
            <a:off x="7930155" y="-358706"/>
            <a:ext cx="988282" cy="2769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金钱价值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38" name="矩形: 圆角 237">
            <a:extLst>
              <a:ext uri="{FF2B5EF4-FFF2-40B4-BE49-F238E27FC236}">
                <a16:creationId xmlns:a16="http://schemas.microsoft.com/office/drawing/2014/main" id="{C76C968E-B07B-3D48-CBA1-111B3D97F5BA}"/>
              </a:ext>
            </a:extLst>
          </p:cNvPr>
          <p:cNvSpPr/>
          <p:nvPr/>
        </p:nvSpPr>
        <p:spPr>
          <a:xfrm>
            <a:off x="-1713648" y="413355"/>
            <a:ext cx="1607202" cy="80650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任务体系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cxnSp>
        <p:nvCxnSpPr>
          <p:cNvPr id="239" name="直接箭头连接符 238">
            <a:extLst>
              <a:ext uri="{FF2B5EF4-FFF2-40B4-BE49-F238E27FC236}">
                <a16:creationId xmlns:a16="http://schemas.microsoft.com/office/drawing/2014/main" id="{270D92B7-D36B-7D4F-EB8B-C2080D7B48B4}"/>
              </a:ext>
            </a:extLst>
          </p:cNvPr>
          <p:cNvCxnSpPr>
            <a:cxnSpLocks/>
            <a:stCxn id="238" idx="3"/>
            <a:endCxn id="220" idx="1"/>
          </p:cNvCxnSpPr>
          <p:nvPr/>
        </p:nvCxnSpPr>
        <p:spPr>
          <a:xfrm flipV="1">
            <a:off x="-106446" y="810967"/>
            <a:ext cx="300777" cy="5639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" name="矩形: 圆角 21">
            <a:extLst>
              <a:ext uri="{FF2B5EF4-FFF2-40B4-BE49-F238E27FC236}">
                <a16:creationId xmlns:a16="http://schemas.microsoft.com/office/drawing/2014/main" id="{189D5EB3-EE0B-DF17-8F0F-252D6D11D4FB}"/>
              </a:ext>
            </a:extLst>
          </p:cNvPr>
          <p:cNvSpPr/>
          <p:nvPr/>
        </p:nvSpPr>
        <p:spPr>
          <a:xfrm>
            <a:off x="-777698" y="-368342"/>
            <a:ext cx="988282" cy="2769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地图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47" name="文本占位符 1">
            <a:extLst>
              <a:ext uri="{FF2B5EF4-FFF2-40B4-BE49-F238E27FC236}">
                <a16:creationId xmlns:a16="http://schemas.microsoft.com/office/drawing/2014/main" id="{0A677FA8-8892-4037-F863-FF959DE35EC1}"/>
              </a:ext>
            </a:extLst>
          </p:cNvPr>
          <p:cNvSpPr txBox="1">
            <a:spLocks/>
          </p:cNvSpPr>
          <p:nvPr/>
        </p:nvSpPr>
        <p:spPr>
          <a:xfrm>
            <a:off x="8894344" y="4702424"/>
            <a:ext cx="2350801" cy="343711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dirty="0"/>
              <a:t>计算共同吃过</a:t>
            </a:r>
            <a:r>
              <a:rPr lang="en-US" altLang="zh-CN" sz="1200" dirty="0"/>
              <a:t>/</a:t>
            </a:r>
            <a:r>
              <a:rPr lang="zh-CN" altLang="en-US" sz="1200" dirty="0"/>
              <a:t>没吃过</a:t>
            </a:r>
            <a:endParaRPr lang="en-US" altLang="zh-CN" sz="1200" dirty="0"/>
          </a:p>
        </p:txBody>
      </p:sp>
      <p:sp>
        <p:nvSpPr>
          <p:cNvPr id="248" name="矩形: 圆角 247">
            <a:extLst>
              <a:ext uri="{FF2B5EF4-FFF2-40B4-BE49-F238E27FC236}">
                <a16:creationId xmlns:a16="http://schemas.microsoft.com/office/drawing/2014/main" id="{16973380-B657-89A8-9629-C626310A136F}"/>
              </a:ext>
            </a:extLst>
          </p:cNvPr>
          <p:cNvSpPr/>
          <p:nvPr/>
        </p:nvSpPr>
        <p:spPr>
          <a:xfrm>
            <a:off x="237725" y="4500161"/>
            <a:ext cx="1607202" cy="47189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年度报告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50" name="直接箭头连接符 249">
            <a:extLst>
              <a:ext uri="{FF2B5EF4-FFF2-40B4-BE49-F238E27FC236}">
                <a16:creationId xmlns:a16="http://schemas.microsoft.com/office/drawing/2014/main" id="{DB301734-DE42-EB86-09FA-FEFF65513B9E}"/>
              </a:ext>
            </a:extLst>
          </p:cNvPr>
          <p:cNvCxnSpPr>
            <a:cxnSpLocks/>
            <a:stCxn id="138" idx="2"/>
            <a:endCxn id="248" idx="0"/>
          </p:cNvCxnSpPr>
          <p:nvPr/>
        </p:nvCxnSpPr>
        <p:spPr>
          <a:xfrm>
            <a:off x="1041326" y="3641268"/>
            <a:ext cx="0" cy="858893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4" name="矩形: 圆角 253">
            <a:extLst>
              <a:ext uri="{FF2B5EF4-FFF2-40B4-BE49-F238E27FC236}">
                <a16:creationId xmlns:a16="http://schemas.microsoft.com/office/drawing/2014/main" id="{2BBFC738-B7D7-97B0-CF81-DFAD5355872F}"/>
              </a:ext>
            </a:extLst>
          </p:cNvPr>
          <p:cNvSpPr/>
          <p:nvPr/>
        </p:nvSpPr>
        <p:spPr>
          <a:xfrm>
            <a:off x="4477460" y="2751962"/>
            <a:ext cx="1260000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消费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10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次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55" name="矩形: 圆角 254">
            <a:extLst>
              <a:ext uri="{FF2B5EF4-FFF2-40B4-BE49-F238E27FC236}">
                <a16:creationId xmlns:a16="http://schemas.microsoft.com/office/drawing/2014/main" id="{9457C1D8-FCCD-5F64-717B-A057DE6F32BE}"/>
              </a:ext>
            </a:extLst>
          </p:cNvPr>
          <p:cNvSpPr/>
          <p:nvPr/>
        </p:nvSpPr>
        <p:spPr>
          <a:xfrm>
            <a:off x="3740917" y="2529061"/>
            <a:ext cx="693788" cy="62580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门店</a:t>
            </a:r>
            <a:endParaRPr lang="en-US" altLang="zh-CN" sz="1200" dirty="0"/>
          </a:p>
        </p:txBody>
      </p:sp>
      <p:sp>
        <p:nvSpPr>
          <p:cNvPr id="256" name="矩形: 圆角 255">
            <a:extLst>
              <a:ext uri="{FF2B5EF4-FFF2-40B4-BE49-F238E27FC236}">
                <a16:creationId xmlns:a16="http://schemas.microsoft.com/office/drawing/2014/main" id="{DDA3E5AB-4850-2345-A5FB-978B13294A6F}"/>
              </a:ext>
            </a:extLst>
          </p:cNvPr>
          <p:cNvSpPr/>
          <p:nvPr/>
        </p:nvSpPr>
        <p:spPr>
          <a:xfrm>
            <a:off x="5786774" y="2739408"/>
            <a:ext cx="390058" cy="43240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57" name="文本框 256">
            <a:extLst>
              <a:ext uri="{FF2B5EF4-FFF2-40B4-BE49-F238E27FC236}">
                <a16:creationId xmlns:a16="http://schemas.microsoft.com/office/drawing/2014/main" id="{7593A903-A83A-8CAD-836B-8B396256E0AF}"/>
              </a:ext>
            </a:extLst>
          </p:cNvPr>
          <p:cNvSpPr txBox="1"/>
          <p:nvPr/>
        </p:nvSpPr>
        <p:spPr>
          <a:xfrm>
            <a:off x="5759777" y="2759224"/>
            <a:ext cx="4576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用户状态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58" name="矩形: 圆角 257">
            <a:extLst>
              <a:ext uri="{FF2B5EF4-FFF2-40B4-BE49-F238E27FC236}">
                <a16:creationId xmlns:a16="http://schemas.microsoft.com/office/drawing/2014/main" id="{624443FA-0F72-F4B4-E960-E6B5A4DD33AA}"/>
              </a:ext>
            </a:extLst>
          </p:cNvPr>
          <p:cNvSpPr/>
          <p:nvPr/>
        </p:nvSpPr>
        <p:spPr>
          <a:xfrm>
            <a:off x="4473098" y="2974863"/>
            <a:ext cx="1260000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有包间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/100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人跟吃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59" name="矩形: 圆角 258">
            <a:extLst>
              <a:ext uri="{FF2B5EF4-FFF2-40B4-BE49-F238E27FC236}">
                <a16:creationId xmlns:a16="http://schemas.microsoft.com/office/drawing/2014/main" id="{38C1F2B8-27E1-66FF-CD32-ECB5C8234F66}"/>
              </a:ext>
            </a:extLst>
          </p:cNvPr>
          <p:cNvSpPr/>
          <p:nvPr/>
        </p:nvSpPr>
        <p:spPr>
          <a:xfrm>
            <a:off x="4477460" y="2529061"/>
            <a:ext cx="1681944" cy="18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xx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火锅店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60" name="矩形: 圆角 259">
            <a:extLst>
              <a:ext uri="{FF2B5EF4-FFF2-40B4-BE49-F238E27FC236}">
                <a16:creationId xmlns:a16="http://schemas.microsoft.com/office/drawing/2014/main" id="{45AFF536-E340-0FA6-C09D-48FDD782ACC6}"/>
              </a:ext>
            </a:extLst>
          </p:cNvPr>
          <p:cNvSpPr/>
          <p:nvPr/>
        </p:nvSpPr>
        <p:spPr>
          <a:xfrm>
            <a:off x="-1732230" y="1262954"/>
            <a:ext cx="1607202" cy="80650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用户运营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cxnSp>
        <p:nvCxnSpPr>
          <p:cNvPr id="261" name="连接符: 肘形 260">
            <a:extLst>
              <a:ext uri="{FF2B5EF4-FFF2-40B4-BE49-F238E27FC236}">
                <a16:creationId xmlns:a16="http://schemas.microsoft.com/office/drawing/2014/main" id="{DAE625E1-AE10-C1F6-1F8D-BFA9ED969881}"/>
              </a:ext>
            </a:extLst>
          </p:cNvPr>
          <p:cNvCxnSpPr>
            <a:cxnSpLocks/>
            <a:stCxn id="260" idx="3"/>
            <a:endCxn id="220" idx="1"/>
          </p:cNvCxnSpPr>
          <p:nvPr/>
        </p:nvCxnSpPr>
        <p:spPr>
          <a:xfrm flipV="1">
            <a:off x="-125028" y="810967"/>
            <a:ext cx="319359" cy="855238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23809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: 圆角 4">
            <a:extLst>
              <a:ext uri="{FF2B5EF4-FFF2-40B4-BE49-F238E27FC236}">
                <a16:creationId xmlns:a16="http://schemas.microsoft.com/office/drawing/2014/main" id="{51A5D107-8811-352E-2CC2-42421CFA26EA}"/>
              </a:ext>
            </a:extLst>
          </p:cNvPr>
          <p:cNvSpPr/>
          <p:nvPr/>
        </p:nvSpPr>
        <p:spPr>
          <a:xfrm>
            <a:off x="1041683" y="6448267"/>
            <a:ext cx="2818200" cy="4137703"/>
          </a:xfrm>
          <a:prstGeom prst="roundRect">
            <a:avLst>
              <a:gd name="adj" fmla="val 13287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个人食单</a:t>
            </a:r>
            <a:r>
              <a:rPr lang="en-US" altLang="zh-CN" sz="1200" dirty="0">
                <a:solidFill>
                  <a:schemeClr val="tx1"/>
                </a:solidFill>
              </a:rPr>
              <a:t>-</a:t>
            </a:r>
            <a:r>
              <a:rPr lang="zh-CN" altLang="en-US" sz="1200" dirty="0">
                <a:solidFill>
                  <a:schemeClr val="tx1"/>
                </a:solidFill>
              </a:rPr>
              <a:t>标题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34" name="矩形: 圆角 133">
            <a:extLst>
              <a:ext uri="{FF2B5EF4-FFF2-40B4-BE49-F238E27FC236}">
                <a16:creationId xmlns:a16="http://schemas.microsoft.com/office/drawing/2014/main" id="{0E6EBBFB-1C2D-D610-86B4-0621E666E4C6}"/>
              </a:ext>
            </a:extLst>
          </p:cNvPr>
          <p:cNvSpPr/>
          <p:nvPr/>
        </p:nvSpPr>
        <p:spPr>
          <a:xfrm>
            <a:off x="1969064" y="7851391"/>
            <a:ext cx="1260000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个人资产证据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41D41667-3E3B-D85E-D36B-55625D73177B}"/>
              </a:ext>
            </a:extLst>
          </p:cNvPr>
          <p:cNvSpPr/>
          <p:nvPr/>
        </p:nvSpPr>
        <p:spPr>
          <a:xfrm>
            <a:off x="1165248" y="6913883"/>
            <a:ext cx="534695" cy="534695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37" name="椭圆 136">
            <a:extLst>
              <a:ext uri="{FF2B5EF4-FFF2-40B4-BE49-F238E27FC236}">
                <a16:creationId xmlns:a16="http://schemas.microsoft.com/office/drawing/2014/main" id="{1DB01F2D-126B-8AF7-71D9-FEB4949C3061}"/>
              </a:ext>
            </a:extLst>
          </p:cNvPr>
          <p:cNvSpPr/>
          <p:nvPr/>
        </p:nvSpPr>
        <p:spPr>
          <a:xfrm>
            <a:off x="1697355" y="6913882"/>
            <a:ext cx="534695" cy="534695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39" name="矩形: 圆角 138">
            <a:extLst>
              <a:ext uri="{FF2B5EF4-FFF2-40B4-BE49-F238E27FC236}">
                <a16:creationId xmlns:a16="http://schemas.microsoft.com/office/drawing/2014/main" id="{4B67665B-8E94-1380-4053-B662375EFDD2}"/>
              </a:ext>
            </a:extLst>
          </p:cNvPr>
          <p:cNvSpPr/>
          <p:nvPr/>
        </p:nvSpPr>
        <p:spPr>
          <a:xfrm>
            <a:off x="1073089" y="7300207"/>
            <a:ext cx="1377694" cy="15962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证据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身份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圈层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A312B5E8-A284-9204-B33A-052313195E4C}"/>
              </a:ext>
            </a:extLst>
          </p:cNvPr>
          <p:cNvSpPr txBox="1"/>
          <p:nvPr/>
        </p:nvSpPr>
        <p:spPr>
          <a:xfrm>
            <a:off x="976962" y="7042729"/>
            <a:ext cx="8739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/>
              <a:t>创建者</a:t>
            </a: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332ACEC1-4AE8-0662-5B9A-2A6D6007335F}"/>
              </a:ext>
            </a:extLst>
          </p:cNvPr>
          <p:cNvSpPr txBox="1"/>
          <p:nvPr/>
        </p:nvSpPr>
        <p:spPr>
          <a:xfrm>
            <a:off x="1615360" y="7033079"/>
            <a:ext cx="7215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/>
              <a:t>共建者</a:t>
            </a:r>
          </a:p>
        </p:txBody>
      </p:sp>
      <p:sp>
        <p:nvSpPr>
          <p:cNvPr id="153" name="矩形: 圆角 152">
            <a:extLst>
              <a:ext uri="{FF2B5EF4-FFF2-40B4-BE49-F238E27FC236}">
                <a16:creationId xmlns:a16="http://schemas.microsoft.com/office/drawing/2014/main" id="{68834A0A-392E-98EA-1227-D7CF03A775BD}"/>
              </a:ext>
            </a:extLst>
          </p:cNvPr>
          <p:cNvSpPr/>
          <p:nvPr/>
        </p:nvSpPr>
        <p:spPr>
          <a:xfrm>
            <a:off x="1194083" y="7564403"/>
            <a:ext cx="2541976" cy="2437448"/>
          </a:xfrm>
          <a:prstGeom prst="roundRect">
            <a:avLst>
              <a:gd name="adj" fmla="val 5167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54" name="矩形: 圆角 153">
            <a:extLst>
              <a:ext uri="{FF2B5EF4-FFF2-40B4-BE49-F238E27FC236}">
                <a16:creationId xmlns:a16="http://schemas.microsoft.com/office/drawing/2014/main" id="{D06CA56F-9BBB-329F-1C3D-1C7DBCF606CA}"/>
              </a:ext>
            </a:extLst>
          </p:cNvPr>
          <p:cNvSpPr/>
          <p:nvPr/>
        </p:nvSpPr>
        <p:spPr>
          <a:xfrm>
            <a:off x="1232521" y="7628490"/>
            <a:ext cx="693788" cy="62580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门店</a:t>
            </a:r>
            <a:endParaRPr lang="en-US" altLang="zh-CN" sz="1200" dirty="0"/>
          </a:p>
        </p:txBody>
      </p:sp>
      <p:sp>
        <p:nvSpPr>
          <p:cNvPr id="155" name="矩形: 圆角 154">
            <a:extLst>
              <a:ext uri="{FF2B5EF4-FFF2-40B4-BE49-F238E27FC236}">
                <a16:creationId xmlns:a16="http://schemas.microsoft.com/office/drawing/2014/main" id="{2CC9666D-089D-257A-DF07-DB7738ACD17C}"/>
              </a:ext>
            </a:extLst>
          </p:cNvPr>
          <p:cNvSpPr/>
          <p:nvPr/>
        </p:nvSpPr>
        <p:spPr>
          <a:xfrm>
            <a:off x="3278378" y="7838837"/>
            <a:ext cx="390058" cy="43240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1" name="文本框 160">
            <a:extLst>
              <a:ext uri="{FF2B5EF4-FFF2-40B4-BE49-F238E27FC236}">
                <a16:creationId xmlns:a16="http://schemas.microsoft.com/office/drawing/2014/main" id="{36AA6886-D143-9A0A-D15B-296A651911D2}"/>
              </a:ext>
            </a:extLst>
          </p:cNvPr>
          <p:cNvSpPr txBox="1"/>
          <p:nvPr/>
        </p:nvSpPr>
        <p:spPr>
          <a:xfrm>
            <a:off x="3263095" y="7869849"/>
            <a:ext cx="4576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用户状态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2" name="矩形: 圆角 161">
            <a:extLst>
              <a:ext uri="{FF2B5EF4-FFF2-40B4-BE49-F238E27FC236}">
                <a16:creationId xmlns:a16="http://schemas.microsoft.com/office/drawing/2014/main" id="{F8853F7A-5C94-B3D8-B1C7-A7836B43B174}"/>
              </a:ext>
            </a:extLst>
          </p:cNvPr>
          <p:cNvSpPr/>
          <p:nvPr/>
        </p:nvSpPr>
        <p:spPr>
          <a:xfrm>
            <a:off x="2174685" y="10149031"/>
            <a:ext cx="1476323" cy="34012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互动区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63" name="矩形: 圆角 162">
            <a:extLst>
              <a:ext uri="{FF2B5EF4-FFF2-40B4-BE49-F238E27FC236}">
                <a16:creationId xmlns:a16="http://schemas.microsoft.com/office/drawing/2014/main" id="{F39DBDFB-AD67-61AA-6324-FED3F5087A16}"/>
              </a:ext>
            </a:extLst>
          </p:cNvPr>
          <p:cNvSpPr/>
          <p:nvPr/>
        </p:nvSpPr>
        <p:spPr>
          <a:xfrm>
            <a:off x="1964702" y="8074292"/>
            <a:ext cx="1260000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组合动态信息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4" name="矩形: 圆角 163">
            <a:extLst>
              <a:ext uri="{FF2B5EF4-FFF2-40B4-BE49-F238E27FC236}">
                <a16:creationId xmlns:a16="http://schemas.microsoft.com/office/drawing/2014/main" id="{81FE88D3-1013-FA72-0DD6-5EF71C0A27C8}"/>
              </a:ext>
            </a:extLst>
          </p:cNvPr>
          <p:cNvSpPr/>
          <p:nvPr/>
        </p:nvSpPr>
        <p:spPr>
          <a:xfrm>
            <a:off x="1969064" y="7628490"/>
            <a:ext cx="1681944" cy="18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门店基本信息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5" name="矩形: 圆角 194">
            <a:extLst>
              <a:ext uri="{FF2B5EF4-FFF2-40B4-BE49-F238E27FC236}">
                <a16:creationId xmlns:a16="http://schemas.microsoft.com/office/drawing/2014/main" id="{63B8336B-5B72-7E54-52BB-18092CDB6F9B}"/>
              </a:ext>
            </a:extLst>
          </p:cNvPr>
          <p:cNvSpPr/>
          <p:nvPr/>
        </p:nvSpPr>
        <p:spPr>
          <a:xfrm>
            <a:off x="5240471" y="-3750620"/>
            <a:ext cx="4334274" cy="49599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流量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动线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96" name="矩形: 圆角 195">
            <a:extLst>
              <a:ext uri="{FF2B5EF4-FFF2-40B4-BE49-F238E27FC236}">
                <a16:creationId xmlns:a16="http://schemas.microsoft.com/office/drawing/2014/main" id="{B366FDD7-A207-30AD-BB47-3C475FC5D52E}"/>
              </a:ext>
            </a:extLst>
          </p:cNvPr>
          <p:cNvSpPr/>
          <p:nvPr/>
        </p:nvSpPr>
        <p:spPr>
          <a:xfrm>
            <a:off x="2819857" y="7309296"/>
            <a:ext cx="960308" cy="14870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食单数据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98" name="矩形: 圆角 197">
            <a:extLst>
              <a:ext uri="{FF2B5EF4-FFF2-40B4-BE49-F238E27FC236}">
                <a16:creationId xmlns:a16="http://schemas.microsoft.com/office/drawing/2014/main" id="{55A3F7D3-5E77-FF11-1C49-1E9FC2D0EC30}"/>
              </a:ext>
            </a:extLst>
          </p:cNvPr>
          <p:cNvSpPr/>
          <p:nvPr/>
        </p:nvSpPr>
        <p:spPr>
          <a:xfrm>
            <a:off x="9842440" y="-3740983"/>
            <a:ext cx="4115972" cy="49599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价值激励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206" name="矩形: 圆角 21">
            <a:extLst>
              <a:ext uri="{FF2B5EF4-FFF2-40B4-BE49-F238E27FC236}">
                <a16:creationId xmlns:a16="http://schemas.microsoft.com/office/drawing/2014/main" id="{0625382B-2BB0-B461-D65B-29B0D1F0EC1F}"/>
              </a:ext>
            </a:extLst>
          </p:cNvPr>
          <p:cNvSpPr/>
          <p:nvPr/>
        </p:nvSpPr>
        <p:spPr>
          <a:xfrm>
            <a:off x="5294713" y="-3383490"/>
            <a:ext cx="988282" cy="2769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个性化推荐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07" name="矩形: 圆角 21">
            <a:extLst>
              <a:ext uri="{FF2B5EF4-FFF2-40B4-BE49-F238E27FC236}">
                <a16:creationId xmlns:a16="http://schemas.microsoft.com/office/drawing/2014/main" id="{ABFE74FB-9B2A-C8DB-9A26-00287B7A5E81}"/>
              </a:ext>
            </a:extLst>
          </p:cNvPr>
          <p:cNvSpPr/>
          <p:nvPr/>
        </p:nvSpPr>
        <p:spPr>
          <a:xfrm>
            <a:off x="6310137" y="-3383490"/>
            <a:ext cx="988282" cy="2769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搜索关联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08" name="矩形: 圆角 21">
            <a:extLst>
              <a:ext uri="{FF2B5EF4-FFF2-40B4-BE49-F238E27FC236}">
                <a16:creationId xmlns:a16="http://schemas.microsoft.com/office/drawing/2014/main" id="{5AA03130-6EDC-B63C-8295-0A700A5E96BD}"/>
              </a:ext>
            </a:extLst>
          </p:cNvPr>
          <p:cNvSpPr/>
          <p:nvPr/>
        </p:nvSpPr>
        <p:spPr>
          <a:xfrm>
            <a:off x="7511337" y="-3383490"/>
            <a:ext cx="988282" cy="2769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POI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09" name="矩形: 圆角 21">
            <a:extLst>
              <a:ext uri="{FF2B5EF4-FFF2-40B4-BE49-F238E27FC236}">
                <a16:creationId xmlns:a16="http://schemas.microsoft.com/office/drawing/2014/main" id="{73600A22-54B8-6946-6B99-F515715B355D}"/>
              </a:ext>
            </a:extLst>
          </p:cNvPr>
          <p:cNvSpPr/>
          <p:nvPr/>
        </p:nvSpPr>
        <p:spPr>
          <a:xfrm>
            <a:off x="8528753" y="-3383490"/>
            <a:ext cx="988282" cy="2769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频道入口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25" name="矩形: 圆角 224">
            <a:extLst>
              <a:ext uri="{FF2B5EF4-FFF2-40B4-BE49-F238E27FC236}">
                <a16:creationId xmlns:a16="http://schemas.microsoft.com/office/drawing/2014/main" id="{E76149D2-6244-96EA-C38A-1E9A2F188530}"/>
              </a:ext>
            </a:extLst>
          </p:cNvPr>
          <p:cNvSpPr/>
          <p:nvPr/>
        </p:nvSpPr>
        <p:spPr>
          <a:xfrm>
            <a:off x="13004858" y="631666"/>
            <a:ext cx="1423568" cy="41361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随机抽卡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食单</a:t>
            </a:r>
            <a:r>
              <a:rPr lang="en-US" altLang="zh-CN" sz="1200" dirty="0">
                <a:solidFill>
                  <a:schemeClr val="tx1"/>
                </a:solidFill>
              </a:rPr>
              <a:t>pk/</a:t>
            </a:r>
            <a:r>
              <a:rPr lang="zh-CN" altLang="en-US" sz="1200" dirty="0">
                <a:solidFill>
                  <a:schemeClr val="tx1"/>
                </a:solidFill>
              </a:rPr>
              <a:t>碰一碰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226" name="矩形: 圆角 225">
            <a:extLst>
              <a:ext uri="{FF2B5EF4-FFF2-40B4-BE49-F238E27FC236}">
                <a16:creationId xmlns:a16="http://schemas.microsoft.com/office/drawing/2014/main" id="{E4611570-9D18-3719-140C-9208A763C18F}"/>
              </a:ext>
            </a:extLst>
          </p:cNvPr>
          <p:cNvSpPr/>
          <p:nvPr/>
        </p:nvSpPr>
        <p:spPr>
          <a:xfrm>
            <a:off x="7896043" y="-2969728"/>
            <a:ext cx="1607202" cy="35823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分发策略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227" name="矩形: 圆角 226">
            <a:extLst>
              <a:ext uri="{FF2B5EF4-FFF2-40B4-BE49-F238E27FC236}">
                <a16:creationId xmlns:a16="http://schemas.microsoft.com/office/drawing/2014/main" id="{E6EB596F-C1A9-AB96-1437-15A7A9F461F2}"/>
              </a:ext>
            </a:extLst>
          </p:cNvPr>
          <p:cNvSpPr/>
          <p:nvPr/>
        </p:nvSpPr>
        <p:spPr>
          <a:xfrm>
            <a:off x="10143841" y="-2979188"/>
            <a:ext cx="1607202" cy="35823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激励策略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234" name="矩形: 圆角 21">
            <a:extLst>
              <a:ext uri="{FF2B5EF4-FFF2-40B4-BE49-F238E27FC236}">
                <a16:creationId xmlns:a16="http://schemas.microsoft.com/office/drawing/2014/main" id="{E5888875-1FFF-D73A-1825-6E9ACB595842}"/>
              </a:ext>
            </a:extLst>
          </p:cNvPr>
          <p:cNvSpPr/>
          <p:nvPr/>
        </p:nvSpPr>
        <p:spPr>
          <a:xfrm>
            <a:off x="9863412" y="-3403367"/>
            <a:ext cx="988282" cy="2769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荣誉价值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35" name="矩形: 圆角 21">
            <a:extLst>
              <a:ext uri="{FF2B5EF4-FFF2-40B4-BE49-F238E27FC236}">
                <a16:creationId xmlns:a16="http://schemas.microsoft.com/office/drawing/2014/main" id="{41C28451-2C75-29CD-FD8D-7CC4B353CFD9}"/>
              </a:ext>
            </a:extLst>
          </p:cNvPr>
          <p:cNvSpPr/>
          <p:nvPr/>
        </p:nvSpPr>
        <p:spPr>
          <a:xfrm>
            <a:off x="10893579" y="-3402937"/>
            <a:ext cx="988282" cy="2769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反馈价值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36" name="矩形: 圆角 21">
            <a:extLst>
              <a:ext uri="{FF2B5EF4-FFF2-40B4-BE49-F238E27FC236}">
                <a16:creationId xmlns:a16="http://schemas.microsoft.com/office/drawing/2014/main" id="{CBA98609-777D-E476-B5F1-05F529C11946}"/>
              </a:ext>
            </a:extLst>
          </p:cNvPr>
          <p:cNvSpPr/>
          <p:nvPr/>
        </p:nvSpPr>
        <p:spPr>
          <a:xfrm>
            <a:off x="11921845" y="-3383492"/>
            <a:ext cx="988282" cy="2769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体验价值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37" name="矩形: 圆角 21">
            <a:extLst>
              <a:ext uri="{FF2B5EF4-FFF2-40B4-BE49-F238E27FC236}">
                <a16:creationId xmlns:a16="http://schemas.microsoft.com/office/drawing/2014/main" id="{6D9458B4-C314-5767-0C83-C42E36C82B18}"/>
              </a:ext>
            </a:extLst>
          </p:cNvPr>
          <p:cNvSpPr/>
          <p:nvPr/>
        </p:nvSpPr>
        <p:spPr>
          <a:xfrm>
            <a:off x="12932900" y="-3383492"/>
            <a:ext cx="988282" cy="2769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金钱价值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45" name="矩形: 圆角 21">
            <a:extLst>
              <a:ext uri="{FF2B5EF4-FFF2-40B4-BE49-F238E27FC236}">
                <a16:creationId xmlns:a16="http://schemas.microsoft.com/office/drawing/2014/main" id="{189D5EB3-EE0B-DF17-8F0F-252D6D11D4FB}"/>
              </a:ext>
            </a:extLst>
          </p:cNvPr>
          <p:cNvSpPr/>
          <p:nvPr/>
        </p:nvSpPr>
        <p:spPr>
          <a:xfrm>
            <a:off x="4225047" y="-3393128"/>
            <a:ext cx="988282" cy="2769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地图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47" name="文本占位符 1">
            <a:extLst>
              <a:ext uri="{FF2B5EF4-FFF2-40B4-BE49-F238E27FC236}">
                <a16:creationId xmlns:a16="http://schemas.microsoft.com/office/drawing/2014/main" id="{0A677FA8-8892-4037-F863-FF959DE35EC1}"/>
              </a:ext>
            </a:extLst>
          </p:cNvPr>
          <p:cNvSpPr txBox="1">
            <a:spLocks/>
          </p:cNvSpPr>
          <p:nvPr/>
        </p:nvSpPr>
        <p:spPr>
          <a:xfrm>
            <a:off x="12541241" y="1037581"/>
            <a:ext cx="2350801" cy="343711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dirty="0"/>
              <a:t>计算共同吃过</a:t>
            </a:r>
            <a:r>
              <a:rPr lang="en-US" altLang="zh-CN" sz="1200" dirty="0"/>
              <a:t>/</a:t>
            </a:r>
            <a:r>
              <a:rPr lang="zh-CN" altLang="en-US" sz="1200" dirty="0"/>
              <a:t>没吃过</a:t>
            </a:r>
            <a:endParaRPr lang="en-US" altLang="zh-CN" sz="1200" dirty="0"/>
          </a:p>
        </p:txBody>
      </p:sp>
      <p:sp>
        <p:nvSpPr>
          <p:cNvPr id="254" name="矩形: 圆角 253">
            <a:extLst>
              <a:ext uri="{FF2B5EF4-FFF2-40B4-BE49-F238E27FC236}">
                <a16:creationId xmlns:a16="http://schemas.microsoft.com/office/drawing/2014/main" id="{2BBFC738-B7D7-97B0-CF81-DFAD5355872F}"/>
              </a:ext>
            </a:extLst>
          </p:cNvPr>
          <p:cNvSpPr/>
          <p:nvPr/>
        </p:nvSpPr>
        <p:spPr>
          <a:xfrm>
            <a:off x="1974644" y="8543762"/>
            <a:ext cx="1260000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消费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10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次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55" name="矩形: 圆角 254">
            <a:extLst>
              <a:ext uri="{FF2B5EF4-FFF2-40B4-BE49-F238E27FC236}">
                <a16:creationId xmlns:a16="http://schemas.microsoft.com/office/drawing/2014/main" id="{9457C1D8-FCCD-5F64-717B-A057DE6F32BE}"/>
              </a:ext>
            </a:extLst>
          </p:cNvPr>
          <p:cNvSpPr/>
          <p:nvPr/>
        </p:nvSpPr>
        <p:spPr>
          <a:xfrm>
            <a:off x="1238101" y="8320861"/>
            <a:ext cx="693788" cy="62580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门店</a:t>
            </a:r>
            <a:endParaRPr lang="en-US" altLang="zh-CN" sz="1200" dirty="0"/>
          </a:p>
        </p:txBody>
      </p:sp>
      <p:sp>
        <p:nvSpPr>
          <p:cNvPr id="256" name="矩形: 圆角 255">
            <a:extLst>
              <a:ext uri="{FF2B5EF4-FFF2-40B4-BE49-F238E27FC236}">
                <a16:creationId xmlns:a16="http://schemas.microsoft.com/office/drawing/2014/main" id="{DDA3E5AB-4850-2345-A5FB-978B13294A6F}"/>
              </a:ext>
            </a:extLst>
          </p:cNvPr>
          <p:cNvSpPr/>
          <p:nvPr/>
        </p:nvSpPr>
        <p:spPr>
          <a:xfrm>
            <a:off x="3283958" y="8531208"/>
            <a:ext cx="390058" cy="43240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57" name="文本框 256">
            <a:extLst>
              <a:ext uri="{FF2B5EF4-FFF2-40B4-BE49-F238E27FC236}">
                <a16:creationId xmlns:a16="http://schemas.microsoft.com/office/drawing/2014/main" id="{7593A903-A83A-8CAD-836B-8B396256E0AF}"/>
              </a:ext>
            </a:extLst>
          </p:cNvPr>
          <p:cNvSpPr txBox="1"/>
          <p:nvPr/>
        </p:nvSpPr>
        <p:spPr>
          <a:xfrm>
            <a:off x="3256961" y="8551024"/>
            <a:ext cx="4576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用户状态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58" name="矩形: 圆角 257">
            <a:extLst>
              <a:ext uri="{FF2B5EF4-FFF2-40B4-BE49-F238E27FC236}">
                <a16:creationId xmlns:a16="http://schemas.microsoft.com/office/drawing/2014/main" id="{624443FA-0F72-F4B4-E960-E6B5A4DD33AA}"/>
              </a:ext>
            </a:extLst>
          </p:cNvPr>
          <p:cNvSpPr/>
          <p:nvPr/>
        </p:nvSpPr>
        <p:spPr>
          <a:xfrm>
            <a:off x="1970282" y="8766663"/>
            <a:ext cx="1260000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有包间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/100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人跟吃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59" name="矩形: 圆角 258">
            <a:extLst>
              <a:ext uri="{FF2B5EF4-FFF2-40B4-BE49-F238E27FC236}">
                <a16:creationId xmlns:a16="http://schemas.microsoft.com/office/drawing/2014/main" id="{38C1F2B8-27E1-66FF-CD32-ECB5C8234F66}"/>
              </a:ext>
            </a:extLst>
          </p:cNvPr>
          <p:cNvSpPr/>
          <p:nvPr/>
        </p:nvSpPr>
        <p:spPr>
          <a:xfrm>
            <a:off x="1974644" y="8320861"/>
            <a:ext cx="1681944" cy="18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xx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火锅店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F26478BD-C9A7-D7A9-9906-312C2D087333}"/>
              </a:ext>
            </a:extLst>
          </p:cNvPr>
          <p:cNvSpPr/>
          <p:nvPr/>
        </p:nvSpPr>
        <p:spPr>
          <a:xfrm>
            <a:off x="2569989" y="7070727"/>
            <a:ext cx="1214619" cy="27250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个人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食单简介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5C9E06FA-A954-C47B-9DC4-F81B47091C43}"/>
              </a:ext>
            </a:extLst>
          </p:cNvPr>
          <p:cNvSpPr/>
          <p:nvPr/>
        </p:nvSpPr>
        <p:spPr>
          <a:xfrm>
            <a:off x="1370328" y="258917"/>
            <a:ext cx="1512353" cy="4284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动线分发策略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D932E324-D94B-FAE6-F182-B50232B6A482}"/>
              </a:ext>
            </a:extLst>
          </p:cNvPr>
          <p:cNvSpPr/>
          <p:nvPr/>
        </p:nvSpPr>
        <p:spPr>
          <a:xfrm>
            <a:off x="2992393" y="258917"/>
            <a:ext cx="1510416" cy="4284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个性化食单策略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B34B022A-6548-6662-5BC0-EA55CB0D880E}"/>
              </a:ext>
            </a:extLst>
          </p:cNvPr>
          <p:cNvSpPr/>
          <p:nvPr/>
        </p:nvSpPr>
        <p:spPr>
          <a:xfrm>
            <a:off x="4612521" y="258917"/>
            <a:ext cx="1523730" cy="428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激励策略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7F5D5724-99A8-B350-873B-2922354377E6}"/>
              </a:ext>
            </a:extLst>
          </p:cNvPr>
          <p:cNvSpPr/>
          <p:nvPr/>
        </p:nvSpPr>
        <p:spPr>
          <a:xfrm>
            <a:off x="6235614" y="278588"/>
            <a:ext cx="1512353" cy="428400"/>
          </a:xfrm>
          <a:prstGeom prst="round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成长体系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F8C6C87-A747-B456-18AE-7742E02BFA8C}"/>
              </a:ext>
            </a:extLst>
          </p:cNvPr>
          <p:cNvSpPr txBox="1"/>
          <p:nvPr/>
        </p:nvSpPr>
        <p:spPr>
          <a:xfrm>
            <a:off x="632893" y="928778"/>
            <a:ext cx="495301" cy="46166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12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</a:rPr>
              <a:t>玩法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028B484-A7F9-E2E1-23BD-B7C83456D1D7}"/>
              </a:ext>
            </a:extLst>
          </p:cNvPr>
          <p:cNvSpPr txBox="1"/>
          <p:nvPr/>
        </p:nvSpPr>
        <p:spPr>
          <a:xfrm>
            <a:off x="9574745" y="2904646"/>
            <a:ext cx="495301" cy="4616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12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</a:rPr>
              <a:t>用户工具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ED3D6D25-977A-4EF2-F289-632E1A9682E3}"/>
              </a:ext>
            </a:extLst>
          </p:cNvPr>
          <p:cNvSpPr/>
          <p:nvPr/>
        </p:nvSpPr>
        <p:spPr>
          <a:xfrm>
            <a:off x="1372263" y="951339"/>
            <a:ext cx="1512353" cy="42731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地图等集卡点亮</a:t>
            </a:r>
            <a:endParaRPr lang="en-US" altLang="zh-CN" sz="1200" dirty="0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AF9C9F03-C620-E091-3071-7B4D5C17C5C3}"/>
              </a:ext>
            </a:extLst>
          </p:cNvPr>
          <p:cNvSpPr/>
          <p:nvPr/>
        </p:nvSpPr>
        <p:spPr>
          <a:xfrm>
            <a:off x="2993684" y="951339"/>
            <a:ext cx="1512353" cy="42731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年度报告</a:t>
            </a:r>
            <a:endParaRPr lang="en-US" altLang="zh-CN" sz="1200" dirty="0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268145DA-1ED5-7844-5E1D-8FC07F273861}"/>
              </a:ext>
            </a:extLst>
          </p:cNvPr>
          <p:cNvSpPr/>
          <p:nvPr/>
        </p:nvSpPr>
        <p:spPr>
          <a:xfrm>
            <a:off x="4615105" y="951339"/>
            <a:ext cx="1521792" cy="42731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重合度匹配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4462B18F-58A7-52CE-91E9-0CCB290F2D9B}"/>
              </a:ext>
            </a:extLst>
          </p:cNvPr>
          <p:cNvSpPr/>
          <p:nvPr/>
        </p:nvSpPr>
        <p:spPr>
          <a:xfrm>
            <a:off x="6245964" y="960770"/>
            <a:ext cx="1512353" cy="42731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勋章</a:t>
            </a:r>
            <a:r>
              <a:rPr lang="en-US" altLang="zh-CN" sz="1200" dirty="0"/>
              <a:t>/</a:t>
            </a:r>
            <a:r>
              <a:rPr lang="zh-CN" altLang="en-US" sz="1200" dirty="0"/>
              <a:t>人格</a:t>
            </a:r>
            <a:r>
              <a:rPr lang="en-US" altLang="zh-CN" sz="1200" dirty="0"/>
              <a:t>/ AI</a:t>
            </a:r>
            <a:r>
              <a:rPr lang="zh-CN" altLang="en-US" sz="1200" dirty="0"/>
              <a:t>画像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07EA882D-4EE7-D21D-D51C-622AB32A5AEC}"/>
              </a:ext>
            </a:extLst>
          </p:cNvPr>
          <p:cNvSpPr/>
          <p:nvPr/>
        </p:nvSpPr>
        <p:spPr>
          <a:xfrm>
            <a:off x="1285180" y="2993364"/>
            <a:ext cx="6583988" cy="541616"/>
          </a:xfrm>
          <a:prstGeom prst="roundRect">
            <a:avLst>
              <a:gd name="adj" fmla="val 5571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BB96981-3323-2509-5986-14CF69801B3F}"/>
              </a:ext>
            </a:extLst>
          </p:cNvPr>
          <p:cNvSpPr txBox="1"/>
          <p:nvPr/>
        </p:nvSpPr>
        <p:spPr>
          <a:xfrm>
            <a:off x="622598" y="250763"/>
            <a:ext cx="495301" cy="46166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12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</a:rPr>
              <a:t>流量激励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DE1D6FF6-3978-07DA-D21C-30B4F1C88128}"/>
              </a:ext>
            </a:extLst>
          </p:cNvPr>
          <p:cNvSpPr/>
          <p:nvPr/>
        </p:nvSpPr>
        <p:spPr>
          <a:xfrm>
            <a:off x="1274885" y="3672136"/>
            <a:ext cx="6583988" cy="579601"/>
          </a:xfrm>
          <a:prstGeom prst="roundRect">
            <a:avLst>
              <a:gd name="adj" fmla="val 5571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43" name="AutoShape 2">
            <a:extLst>
              <a:ext uri="{FF2B5EF4-FFF2-40B4-BE49-F238E27FC236}">
                <a16:creationId xmlns:a16="http://schemas.microsoft.com/office/drawing/2014/main" id="{0E8A3A83-03BA-DC5A-2AF1-F47ED4AE22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734940" y="291141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744252AD-D663-035D-F060-83C935A20DCC}"/>
              </a:ext>
            </a:extLst>
          </p:cNvPr>
          <p:cNvSpPr txBox="1"/>
          <p:nvPr/>
        </p:nvSpPr>
        <p:spPr>
          <a:xfrm>
            <a:off x="622597" y="3748807"/>
            <a:ext cx="495301" cy="46166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12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</a:rPr>
              <a:t>数据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41A8E6FA-4CAC-EDCF-4B8A-AD13D36D4927}"/>
              </a:ext>
            </a:extLst>
          </p:cNvPr>
          <p:cNvSpPr/>
          <p:nvPr/>
        </p:nvSpPr>
        <p:spPr>
          <a:xfrm>
            <a:off x="1392849" y="3742323"/>
            <a:ext cx="1512353" cy="42731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用户</a:t>
            </a:r>
            <a:r>
              <a:rPr lang="en-US" altLang="zh-CN" sz="1200" dirty="0"/>
              <a:t>-</a:t>
            </a:r>
            <a:r>
              <a:rPr lang="zh-CN" altLang="en-US" sz="1200" dirty="0"/>
              <a:t>门店</a:t>
            </a:r>
            <a:r>
              <a:rPr lang="zh-CN" altLang="en-US" sz="1200" dirty="0">
                <a:solidFill>
                  <a:schemeClr val="tx1"/>
                </a:solidFill>
              </a:rPr>
              <a:t>行为数据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6EF89FD7-17F4-9BCB-8DC9-72AB45A6E3C6}"/>
              </a:ext>
            </a:extLst>
          </p:cNvPr>
          <p:cNvSpPr/>
          <p:nvPr/>
        </p:nvSpPr>
        <p:spPr>
          <a:xfrm>
            <a:off x="6235668" y="3742323"/>
            <a:ext cx="1512353" cy="427313"/>
          </a:xfrm>
          <a:prstGeom prst="round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用户</a:t>
            </a:r>
            <a:r>
              <a:rPr lang="en-US" altLang="zh-CN" sz="1200" dirty="0"/>
              <a:t>-</a:t>
            </a:r>
            <a:r>
              <a:rPr lang="zh-CN" altLang="en-US" sz="1200" dirty="0"/>
              <a:t>食集</a:t>
            </a:r>
            <a:r>
              <a:rPr lang="zh-CN" altLang="en-US" sz="1200" dirty="0">
                <a:solidFill>
                  <a:schemeClr val="tx1"/>
                </a:solidFill>
              </a:rPr>
              <a:t>行为数据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E1481548-C889-4953-2972-5F25293F2BD5}"/>
              </a:ext>
            </a:extLst>
          </p:cNvPr>
          <p:cNvSpPr/>
          <p:nvPr/>
        </p:nvSpPr>
        <p:spPr>
          <a:xfrm>
            <a:off x="3007122" y="3742323"/>
            <a:ext cx="1512353" cy="427313"/>
          </a:xfrm>
          <a:prstGeom prst="round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食集</a:t>
            </a:r>
            <a:r>
              <a:rPr lang="zh-CN" altLang="en-US" sz="1200" dirty="0">
                <a:solidFill>
                  <a:schemeClr val="tx1"/>
                </a:solidFill>
              </a:rPr>
              <a:t>数据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5689F3F5-3BAB-3338-0C34-4FFAFB5563D9}"/>
              </a:ext>
            </a:extLst>
          </p:cNvPr>
          <p:cNvSpPr/>
          <p:nvPr/>
        </p:nvSpPr>
        <p:spPr>
          <a:xfrm>
            <a:off x="4621395" y="3742323"/>
            <a:ext cx="1512353" cy="427313"/>
          </a:xfrm>
          <a:prstGeom prst="round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食集</a:t>
            </a:r>
            <a:r>
              <a:rPr lang="en-US" altLang="zh-CN" sz="1200" dirty="0"/>
              <a:t>-</a:t>
            </a:r>
            <a:r>
              <a:rPr lang="zh-CN" altLang="en-US" sz="1200" dirty="0"/>
              <a:t>门店映射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07717A28-863C-55BA-2AA3-3260F9A2B4DB}"/>
              </a:ext>
            </a:extLst>
          </p:cNvPr>
          <p:cNvSpPr txBox="1"/>
          <p:nvPr/>
        </p:nvSpPr>
        <p:spPr>
          <a:xfrm>
            <a:off x="622597" y="3019993"/>
            <a:ext cx="495301" cy="46166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12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dirty="0">
                <a:solidFill>
                  <a:schemeClr val="tx1"/>
                </a:solidFill>
              </a:rPr>
              <a:t>AI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计算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C677D2BE-C957-CDCD-FD70-2D5F7D309D72}"/>
              </a:ext>
            </a:extLst>
          </p:cNvPr>
          <p:cNvSpPr/>
          <p:nvPr/>
        </p:nvSpPr>
        <p:spPr>
          <a:xfrm>
            <a:off x="1359977" y="3056448"/>
            <a:ext cx="1512353" cy="42731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个人食单</a:t>
            </a:r>
            <a:r>
              <a:rPr lang="en-US" altLang="zh-CN" sz="1200" dirty="0"/>
              <a:t>AI</a:t>
            </a:r>
            <a:r>
              <a:rPr lang="zh-CN" altLang="en-US" sz="1200" dirty="0"/>
              <a:t>生成</a:t>
            </a:r>
            <a:endParaRPr lang="en-US" altLang="zh-CN" sz="1200" dirty="0"/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938E03B9-B0A9-B78D-C00E-E6F6418A5324}"/>
              </a:ext>
            </a:extLst>
          </p:cNvPr>
          <p:cNvSpPr/>
          <p:nvPr/>
        </p:nvSpPr>
        <p:spPr>
          <a:xfrm>
            <a:off x="2985189" y="3050515"/>
            <a:ext cx="1512353" cy="42731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画像等资产计算</a:t>
            </a:r>
            <a:endParaRPr lang="en-US" altLang="zh-CN" sz="1200" dirty="0"/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AEDFE4AB-5CA9-B8FF-B868-0BDBCCABCF80}"/>
              </a:ext>
            </a:extLst>
          </p:cNvPr>
          <p:cNvSpPr/>
          <p:nvPr/>
        </p:nvSpPr>
        <p:spPr>
          <a:xfrm>
            <a:off x="4610401" y="3050515"/>
            <a:ext cx="1512353" cy="42731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用户</a:t>
            </a:r>
            <a:r>
              <a:rPr lang="en-US" altLang="zh-CN" sz="1200" dirty="0"/>
              <a:t>/</a:t>
            </a:r>
            <a:r>
              <a:rPr lang="zh-CN" altLang="en-US" sz="1200" dirty="0"/>
              <a:t>食集</a:t>
            </a:r>
            <a:r>
              <a:rPr lang="en-US" altLang="zh-CN" sz="1200" dirty="0"/>
              <a:t>/</a:t>
            </a:r>
            <a:r>
              <a:rPr lang="zh-CN" altLang="en-US" sz="1200" dirty="0"/>
              <a:t>商家</a:t>
            </a:r>
            <a:endParaRPr lang="en-US" altLang="zh-CN" sz="1200" dirty="0"/>
          </a:p>
          <a:p>
            <a:pPr algn="ctr"/>
            <a:r>
              <a:rPr lang="zh-CN" altLang="en-US" sz="1200" dirty="0"/>
              <a:t>相似度</a:t>
            </a:r>
            <a:endParaRPr lang="en-US" altLang="zh-CN" sz="1200" dirty="0"/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0B15BE2D-43CC-DE56-560D-6DF71C5ABC0B}"/>
              </a:ext>
            </a:extLst>
          </p:cNvPr>
          <p:cNvSpPr/>
          <p:nvPr/>
        </p:nvSpPr>
        <p:spPr>
          <a:xfrm>
            <a:off x="6235614" y="3050515"/>
            <a:ext cx="1512353" cy="42731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风控计算</a:t>
            </a:r>
            <a:endParaRPr lang="en-US" altLang="zh-CN" sz="1200" dirty="0"/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34C5E1C0-8CAD-C396-A8C9-112485EF7219}"/>
              </a:ext>
            </a:extLst>
          </p:cNvPr>
          <p:cNvSpPr/>
          <p:nvPr/>
        </p:nvSpPr>
        <p:spPr>
          <a:xfrm>
            <a:off x="10237327" y="2880364"/>
            <a:ext cx="6594338" cy="541616"/>
          </a:xfrm>
          <a:prstGeom prst="roundRect">
            <a:avLst>
              <a:gd name="adj" fmla="val 5571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9FFF0556-3BA9-86F0-0B5D-D191C49B7251}"/>
              </a:ext>
            </a:extLst>
          </p:cNvPr>
          <p:cNvSpPr/>
          <p:nvPr/>
        </p:nvSpPr>
        <p:spPr>
          <a:xfrm>
            <a:off x="10317318" y="2932894"/>
            <a:ext cx="1512353" cy="42731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个人食单编辑</a:t>
            </a:r>
            <a:endParaRPr lang="en-US" altLang="zh-CN" sz="1200" dirty="0"/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241F9C13-4AA0-4CB6-6B8E-DD73D73E5325}"/>
              </a:ext>
            </a:extLst>
          </p:cNvPr>
          <p:cNvSpPr/>
          <p:nvPr/>
        </p:nvSpPr>
        <p:spPr>
          <a:xfrm>
            <a:off x="11944249" y="2932894"/>
            <a:ext cx="1512353" cy="42731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食单共建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2E33D372-05D6-47EA-85E1-BBE54BB78CC8}"/>
              </a:ext>
            </a:extLst>
          </p:cNvPr>
          <p:cNvSpPr/>
          <p:nvPr/>
        </p:nvSpPr>
        <p:spPr>
          <a:xfrm>
            <a:off x="13571180" y="2932894"/>
            <a:ext cx="1512353" cy="42731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评价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推荐语编辑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A2F920E9-294E-E526-184E-9C49592F18BC}"/>
              </a:ext>
            </a:extLst>
          </p:cNvPr>
          <p:cNvSpPr/>
          <p:nvPr/>
        </p:nvSpPr>
        <p:spPr>
          <a:xfrm>
            <a:off x="15198110" y="2932894"/>
            <a:ext cx="1512353" cy="42731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任务派发体系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E2589807-6045-7853-7B93-45DC8031A1C7}"/>
              </a:ext>
            </a:extLst>
          </p:cNvPr>
          <p:cNvSpPr txBox="1"/>
          <p:nvPr/>
        </p:nvSpPr>
        <p:spPr>
          <a:xfrm>
            <a:off x="622544" y="1594637"/>
            <a:ext cx="495301" cy="46166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12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</a:rPr>
              <a:t>用户交互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AD7327A2-5230-9479-39FF-AAE7341CC9DB}"/>
              </a:ext>
            </a:extLst>
          </p:cNvPr>
          <p:cNvSpPr/>
          <p:nvPr/>
        </p:nvSpPr>
        <p:spPr>
          <a:xfrm>
            <a:off x="1351619" y="1630396"/>
            <a:ext cx="1512353" cy="42731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隐私授权</a:t>
            </a:r>
            <a:endParaRPr lang="en-US" altLang="zh-CN" sz="1200" dirty="0"/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CDDAA2CD-65E8-13C6-2E5E-C4C93C1DE81B}"/>
              </a:ext>
            </a:extLst>
          </p:cNvPr>
          <p:cNvSpPr/>
          <p:nvPr/>
        </p:nvSpPr>
        <p:spPr>
          <a:xfrm>
            <a:off x="4610401" y="1630396"/>
            <a:ext cx="1512353" cy="42731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食单生产</a:t>
            </a:r>
            <a:endParaRPr lang="en-US" altLang="zh-CN" sz="1200" dirty="0"/>
          </a:p>
        </p:txBody>
      </p:sp>
      <p:sp>
        <p:nvSpPr>
          <p:cNvPr id="128" name="矩形: 圆角 127">
            <a:extLst>
              <a:ext uri="{FF2B5EF4-FFF2-40B4-BE49-F238E27FC236}">
                <a16:creationId xmlns:a16="http://schemas.microsoft.com/office/drawing/2014/main" id="{FFF0E633-AF1C-15B8-AC09-C8085AC06A14}"/>
              </a:ext>
            </a:extLst>
          </p:cNvPr>
          <p:cNvSpPr/>
          <p:nvPr/>
        </p:nvSpPr>
        <p:spPr>
          <a:xfrm>
            <a:off x="6231822" y="1630396"/>
            <a:ext cx="1521792" cy="42731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食</a:t>
            </a:r>
            <a:r>
              <a:rPr lang="zh-CN" altLang="en-US" sz="1200"/>
              <a:t>单互动</a:t>
            </a:r>
            <a:endParaRPr lang="en-US" altLang="zh-CN" sz="1200" dirty="0"/>
          </a:p>
        </p:txBody>
      </p:sp>
      <p:sp>
        <p:nvSpPr>
          <p:cNvPr id="129" name="矩形: 圆角 128">
            <a:extLst>
              <a:ext uri="{FF2B5EF4-FFF2-40B4-BE49-F238E27FC236}">
                <a16:creationId xmlns:a16="http://schemas.microsoft.com/office/drawing/2014/main" id="{E0862839-EEE0-B0D0-C971-9AAEFF10FE2C}"/>
              </a:ext>
            </a:extLst>
          </p:cNvPr>
          <p:cNvSpPr/>
          <p:nvPr/>
        </p:nvSpPr>
        <p:spPr>
          <a:xfrm>
            <a:off x="2977239" y="1630396"/>
            <a:ext cx="1512353" cy="42731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画像编辑</a:t>
            </a:r>
            <a:endParaRPr lang="en-US" altLang="zh-CN" sz="1200" dirty="0"/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B85DCDD6-FC1E-A792-1E69-1AED4ED9A1E5}"/>
              </a:ext>
            </a:extLst>
          </p:cNvPr>
          <p:cNvSpPr txBox="1"/>
          <p:nvPr/>
        </p:nvSpPr>
        <p:spPr>
          <a:xfrm>
            <a:off x="622597" y="2291178"/>
            <a:ext cx="495301" cy="46166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12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</a:rPr>
              <a:t>运营工具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32" name="AutoShape 2">
            <a:extLst>
              <a:ext uri="{FF2B5EF4-FFF2-40B4-BE49-F238E27FC236}">
                <a16:creationId xmlns:a16="http://schemas.microsoft.com/office/drawing/2014/main" id="{14D192E0-ADBF-D68F-26EF-D464CEB6A6A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72499" y="229393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3" name="矩形: 圆角 132">
            <a:extLst>
              <a:ext uri="{FF2B5EF4-FFF2-40B4-BE49-F238E27FC236}">
                <a16:creationId xmlns:a16="http://schemas.microsoft.com/office/drawing/2014/main" id="{8FB316A6-1566-FB3E-0AA0-50503BF1E789}"/>
              </a:ext>
            </a:extLst>
          </p:cNvPr>
          <p:cNvSpPr/>
          <p:nvPr/>
        </p:nvSpPr>
        <p:spPr>
          <a:xfrm>
            <a:off x="1274885" y="2262878"/>
            <a:ext cx="6594283" cy="541616"/>
          </a:xfrm>
          <a:prstGeom prst="roundRect">
            <a:avLst>
              <a:gd name="adj" fmla="val 5571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135" name="矩形: 圆角 134">
            <a:extLst>
              <a:ext uri="{FF2B5EF4-FFF2-40B4-BE49-F238E27FC236}">
                <a16:creationId xmlns:a16="http://schemas.microsoft.com/office/drawing/2014/main" id="{229DB4C7-2267-A237-D9A6-6A1736FAD8AF}"/>
              </a:ext>
            </a:extLst>
          </p:cNvPr>
          <p:cNvSpPr/>
          <p:nvPr/>
        </p:nvSpPr>
        <p:spPr>
          <a:xfrm>
            <a:off x="1354877" y="2320411"/>
            <a:ext cx="1512353" cy="42731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审核</a:t>
            </a:r>
            <a:r>
              <a:rPr lang="zh-CN" altLang="en-US" sz="1200" dirty="0"/>
              <a:t>工具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40" name="矩形: 圆角 139">
            <a:extLst>
              <a:ext uri="{FF2B5EF4-FFF2-40B4-BE49-F238E27FC236}">
                <a16:creationId xmlns:a16="http://schemas.microsoft.com/office/drawing/2014/main" id="{CEFCF87F-B582-7059-AC7C-45A8109C5EDF}"/>
              </a:ext>
            </a:extLst>
          </p:cNvPr>
          <p:cNvSpPr/>
          <p:nvPr/>
        </p:nvSpPr>
        <p:spPr>
          <a:xfrm>
            <a:off x="2977240" y="2320411"/>
            <a:ext cx="1512353" cy="42731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食单编辑工具</a:t>
            </a:r>
            <a:endParaRPr lang="en-US" altLang="zh-CN" sz="1200" dirty="0"/>
          </a:p>
          <a:p>
            <a:pPr algn="ctr"/>
            <a:r>
              <a:rPr lang="zh-CN" altLang="en-US" sz="1200" dirty="0"/>
              <a:t>（冷启、代编）</a:t>
            </a:r>
            <a:endParaRPr lang="en-US" altLang="zh-CN" sz="1200" dirty="0"/>
          </a:p>
        </p:txBody>
      </p:sp>
      <p:sp>
        <p:nvSpPr>
          <p:cNvPr id="141" name="矩形: 圆角 140">
            <a:extLst>
              <a:ext uri="{FF2B5EF4-FFF2-40B4-BE49-F238E27FC236}">
                <a16:creationId xmlns:a16="http://schemas.microsoft.com/office/drawing/2014/main" id="{A23A366A-12C7-06FE-328E-1FFD132F307D}"/>
              </a:ext>
            </a:extLst>
          </p:cNvPr>
          <p:cNvSpPr/>
          <p:nvPr/>
        </p:nvSpPr>
        <p:spPr>
          <a:xfrm>
            <a:off x="4625513" y="2320411"/>
            <a:ext cx="1512353" cy="427313"/>
          </a:xfrm>
          <a:prstGeom prst="round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任务</a:t>
            </a:r>
            <a:r>
              <a:rPr lang="en-US" altLang="zh-CN" sz="1200" dirty="0"/>
              <a:t>/</a:t>
            </a:r>
            <a:r>
              <a:rPr lang="zh-CN" altLang="en-US" sz="1200" dirty="0"/>
              <a:t>勋章配置工具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42" name="矩形: 圆角 141">
            <a:extLst>
              <a:ext uri="{FF2B5EF4-FFF2-40B4-BE49-F238E27FC236}">
                <a16:creationId xmlns:a16="http://schemas.microsoft.com/office/drawing/2014/main" id="{E0FBC00E-5D62-7DDC-35E5-B8591B3DA6FB}"/>
              </a:ext>
            </a:extLst>
          </p:cNvPr>
          <p:cNvSpPr/>
          <p:nvPr/>
        </p:nvSpPr>
        <p:spPr>
          <a:xfrm>
            <a:off x="6264983" y="2320411"/>
            <a:ext cx="1512353" cy="427313"/>
          </a:xfrm>
          <a:prstGeom prst="round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流量</a:t>
            </a:r>
            <a:r>
              <a:rPr lang="en-US" altLang="zh-CN" sz="1200" dirty="0"/>
              <a:t>/</a:t>
            </a:r>
            <a:r>
              <a:rPr lang="zh-CN" altLang="en-US" sz="1200" dirty="0"/>
              <a:t>激励分配工具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43" name="矩形: 圆角 142">
            <a:extLst>
              <a:ext uri="{FF2B5EF4-FFF2-40B4-BE49-F238E27FC236}">
                <a16:creationId xmlns:a16="http://schemas.microsoft.com/office/drawing/2014/main" id="{22F6EA2C-1121-D0D6-95F4-B6D85E906307}"/>
              </a:ext>
            </a:extLst>
          </p:cNvPr>
          <p:cNvSpPr/>
          <p:nvPr/>
        </p:nvSpPr>
        <p:spPr>
          <a:xfrm>
            <a:off x="12932900" y="1569637"/>
            <a:ext cx="1512353" cy="42731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用户圈选工具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44" name="矩形: 圆角 143">
            <a:extLst>
              <a:ext uri="{FF2B5EF4-FFF2-40B4-BE49-F238E27FC236}">
                <a16:creationId xmlns:a16="http://schemas.microsoft.com/office/drawing/2014/main" id="{E9A04F7C-E5D7-81EF-8804-5734FA4E0A06}"/>
              </a:ext>
            </a:extLst>
          </p:cNvPr>
          <p:cNvSpPr/>
          <p:nvPr/>
        </p:nvSpPr>
        <p:spPr>
          <a:xfrm>
            <a:off x="12932900" y="39170"/>
            <a:ext cx="1512353" cy="4284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任务体系</a:t>
            </a:r>
          </a:p>
        </p:txBody>
      </p:sp>
      <p:sp>
        <p:nvSpPr>
          <p:cNvPr id="145" name="矩形: 圆角 144">
            <a:extLst>
              <a:ext uri="{FF2B5EF4-FFF2-40B4-BE49-F238E27FC236}">
                <a16:creationId xmlns:a16="http://schemas.microsoft.com/office/drawing/2014/main" id="{D32CFF40-DA56-913E-DF6A-5782F9714DFB}"/>
              </a:ext>
            </a:extLst>
          </p:cNvPr>
          <p:cNvSpPr/>
          <p:nvPr/>
        </p:nvSpPr>
        <p:spPr>
          <a:xfrm>
            <a:off x="1274831" y="1565341"/>
            <a:ext cx="6594338" cy="541616"/>
          </a:xfrm>
          <a:prstGeom prst="roundRect">
            <a:avLst>
              <a:gd name="adj" fmla="val 5571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147" name="矩形: 圆角 146">
            <a:extLst>
              <a:ext uri="{FF2B5EF4-FFF2-40B4-BE49-F238E27FC236}">
                <a16:creationId xmlns:a16="http://schemas.microsoft.com/office/drawing/2014/main" id="{F094BA67-9822-AC61-936D-8B8B9D125F6B}"/>
              </a:ext>
            </a:extLst>
          </p:cNvPr>
          <p:cNvSpPr/>
          <p:nvPr/>
        </p:nvSpPr>
        <p:spPr>
          <a:xfrm>
            <a:off x="1285180" y="888237"/>
            <a:ext cx="6594338" cy="541616"/>
          </a:xfrm>
          <a:prstGeom prst="roundRect">
            <a:avLst>
              <a:gd name="adj" fmla="val 5571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BE65FA7E-ED77-08A2-68A5-045F56E7EB1D}"/>
              </a:ext>
            </a:extLst>
          </p:cNvPr>
          <p:cNvSpPr/>
          <p:nvPr/>
        </p:nvSpPr>
        <p:spPr>
          <a:xfrm>
            <a:off x="1274831" y="196762"/>
            <a:ext cx="6594338" cy="541616"/>
          </a:xfrm>
          <a:prstGeom prst="roundRect">
            <a:avLst>
              <a:gd name="adj" fmla="val 5571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149" name="矩形: 圆角 148">
            <a:extLst>
              <a:ext uri="{FF2B5EF4-FFF2-40B4-BE49-F238E27FC236}">
                <a16:creationId xmlns:a16="http://schemas.microsoft.com/office/drawing/2014/main" id="{021C2432-6E6B-89BC-7949-3755670A93B3}"/>
              </a:ext>
            </a:extLst>
          </p:cNvPr>
          <p:cNvSpPr/>
          <p:nvPr/>
        </p:nvSpPr>
        <p:spPr>
          <a:xfrm>
            <a:off x="2953976" y="4473738"/>
            <a:ext cx="465919" cy="12558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56" name="矩形: 圆角 155">
            <a:extLst>
              <a:ext uri="{FF2B5EF4-FFF2-40B4-BE49-F238E27FC236}">
                <a16:creationId xmlns:a16="http://schemas.microsoft.com/office/drawing/2014/main" id="{2E52E3E2-9040-ADF9-5633-93383300DAB1}"/>
              </a:ext>
            </a:extLst>
          </p:cNvPr>
          <p:cNvSpPr/>
          <p:nvPr/>
        </p:nvSpPr>
        <p:spPr>
          <a:xfrm>
            <a:off x="4846001" y="4463156"/>
            <a:ext cx="465919" cy="12558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58" name="文本框 157">
            <a:extLst>
              <a:ext uri="{FF2B5EF4-FFF2-40B4-BE49-F238E27FC236}">
                <a16:creationId xmlns:a16="http://schemas.microsoft.com/office/drawing/2014/main" id="{9A1BD47F-FEA8-7F92-733B-D31755581760}"/>
              </a:ext>
            </a:extLst>
          </p:cNvPr>
          <p:cNvSpPr txBox="1"/>
          <p:nvPr/>
        </p:nvSpPr>
        <p:spPr>
          <a:xfrm>
            <a:off x="3381471" y="4405008"/>
            <a:ext cx="12897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tx1"/>
                </a:solidFill>
              </a:rPr>
              <a:t>个性化食单</a:t>
            </a:r>
            <a:r>
              <a:rPr lang="en-US" altLang="zh-CN" sz="1200" dirty="0">
                <a:solidFill>
                  <a:schemeClr val="tx1"/>
                </a:solidFill>
              </a:rPr>
              <a:t>1.0</a:t>
            </a:r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F5436B28-57E0-730B-5252-60164A664195}"/>
              </a:ext>
            </a:extLst>
          </p:cNvPr>
          <p:cNvSpPr txBox="1"/>
          <p:nvPr/>
        </p:nvSpPr>
        <p:spPr>
          <a:xfrm>
            <a:off x="5286153" y="4382526"/>
            <a:ext cx="15503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UGC</a:t>
            </a:r>
            <a:r>
              <a:rPr lang="zh-CN" altLang="en-US" sz="1200" dirty="0"/>
              <a:t>个人</a:t>
            </a:r>
            <a:r>
              <a:rPr lang="zh-CN" altLang="en-US" sz="1200" dirty="0">
                <a:solidFill>
                  <a:schemeClr val="tx1"/>
                </a:solidFill>
              </a:rPr>
              <a:t>食单</a:t>
            </a:r>
            <a:r>
              <a:rPr lang="en-US" altLang="zh-CN" sz="1200" dirty="0">
                <a:solidFill>
                  <a:schemeClr val="tx1"/>
                </a:solidFill>
              </a:rPr>
              <a:t>1.0</a:t>
            </a:r>
          </a:p>
        </p:txBody>
      </p:sp>
      <p:sp>
        <p:nvSpPr>
          <p:cNvPr id="160" name="文本框 159">
            <a:extLst>
              <a:ext uri="{FF2B5EF4-FFF2-40B4-BE49-F238E27FC236}">
                <a16:creationId xmlns:a16="http://schemas.microsoft.com/office/drawing/2014/main" id="{AFF49FBB-2F8E-9106-2F45-5D7467F0F2DD}"/>
              </a:ext>
            </a:extLst>
          </p:cNvPr>
          <p:cNvSpPr txBox="1"/>
          <p:nvPr/>
        </p:nvSpPr>
        <p:spPr>
          <a:xfrm>
            <a:off x="1178104" y="4307393"/>
            <a:ext cx="1250058" cy="461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12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</a:rPr>
              <a:t>原有榜单矩阵</a:t>
            </a:r>
            <a:endParaRPr lang="en-US" altLang="zh-CN" dirty="0">
              <a:solidFill>
                <a:schemeClr val="tx1"/>
              </a:solidFill>
            </a:endParaRPr>
          </a:p>
        </p:txBody>
      </p:sp>
      <p:cxnSp>
        <p:nvCxnSpPr>
          <p:cNvPr id="166" name="直接箭头连接符 165">
            <a:extLst>
              <a:ext uri="{FF2B5EF4-FFF2-40B4-BE49-F238E27FC236}">
                <a16:creationId xmlns:a16="http://schemas.microsoft.com/office/drawing/2014/main" id="{2EDCEAEC-30AA-8753-8103-E30B5E0F5A85}"/>
              </a:ext>
            </a:extLst>
          </p:cNvPr>
          <p:cNvCxnSpPr>
            <a:cxnSpLocks/>
            <a:stCxn id="160" idx="3"/>
            <a:endCxn id="149" idx="1"/>
          </p:cNvCxnSpPr>
          <p:nvPr/>
        </p:nvCxnSpPr>
        <p:spPr>
          <a:xfrm flipV="1">
            <a:off x="2428162" y="4536530"/>
            <a:ext cx="525814" cy="16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文本框 169">
            <a:extLst>
              <a:ext uri="{FF2B5EF4-FFF2-40B4-BE49-F238E27FC236}">
                <a16:creationId xmlns:a16="http://schemas.microsoft.com/office/drawing/2014/main" id="{DF2F9286-64D1-8B8D-AF34-E36DE11DCF1C}"/>
              </a:ext>
            </a:extLst>
          </p:cNvPr>
          <p:cNvSpPr txBox="1"/>
          <p:nvPr/>
        </p:nvSpPr>
        <p:spPr>
          <a:xfrm>
            <a:off x="3388328" y="4559585"/>
            <a:ext cx="12897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</a:rPr>
              <a:t>数据资产应用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71" name="文本框 170">
            <a:extLst>
              <a:ext uri="{FF2B5EF4-FFF2-40B4-BE49-F238E27FC236}">
                <a16:creationId xmlns:a16="http://schemas.microsoft.com/office/drawing/2014/main" id="{1284387D-391E-BF40-973D-B6EAF6761DA4}"/>
              </a:ext>
            </a:extLst>
          </p:cNvPr>
          <p:cNvSpPr txBox="1"/>
          <p:nvPr/>
        </p:nvSpPr>
        <p:spPr>
          <a:xfrm>
            <a:off x="5245047" y="4569231"/>
            <a:ext cx="12897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</a:rPr>
              <a:t>工具化、游戏化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172" name="直接箭头连接符 171">
            <a:extLst>
              <a:ext uri="{FF2B5EF4-FFF2-40B4-BE49-F238E27FC236}">
                <a16:creationId xmlns:a16="http://schemas.microsoft.com/office/drawing/2014/main" id="{91D49A18-ADC9-997E-8712-60EB7EBD0EBC}"/>
              </a:ext>
            </a:extLst>
          </p:cNvPr>
          <p:cNvCxnSpPr>
            <a:cxnSpLocks/>
          </p:cNvCxnSpPr>
          <p:nvPr/>
        </p:nvCxnSpPr>
        <p:spPr>
          <a:xfrm>
            <a:off x="4489592" y="4526171"/>
            <a:ext cx="3520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直接箭头连接符 177">
            <a:extLst>
              <a:ext uri="{FF2B5EF4-FFF2-40B4-BE49-F238E27FC236}">
                <a16:creationId xmlns:a16="http://schemas.microsoft.com/office/drawing/2014/main" id="{4D8A13E4-B965-7B3C-B0D6-15DBB71DCC69}"/>
              </a:ext>
            </a:extLst>
          </p:cNvPr>
          <p:cNvCxnSpPr>
            <a:cxnSpLocks/>
          </p:cNvCxnSpPr>
          <p:nvPr/>
        </p:nvCxnSpPr>
        <p:spPr>
          <a:xfrm>
            <a:off x="6532388" y="4504399"/>
            <a:ext cx="3520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文本框 178">
            <a:extLst>
              <a:ext uri="{FF2B5EF4-FFF2-40B4-BE49-F238E27FC236}">
                <a16:creationId xmlns:a16="http://schemas.microsoft.com/office/drawing/2014/main" id="{B820E8B3-BC7D-A3A5-632B-9C5037CEDCB3}"/>
              </a:ext>
            </a:extLst>
          </p:cNvPr>
          <p:cNvSpPr txBox="1"/>
          <p:nvPr/>
        </p:nvSpPr>
        <p:spPr>
          <a:xfrm>
            <a:off x="6838728" y="4360384"/>
            <a:ext cx="1721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/>
            <a:r>
              <a:rPr lang="zh-CN" altLang="en-US" sz="1200" dirty="0">
                <a:effectLst/>
              </a:rPr>
              <a:t>消费粘性与频次提升</a:t>
            </a:r>
          </a:p>
        </p:txBody>
      </p:sp>
      <p:sp>
        <p:nvSpPr>
          <p:cNvPr id="180" name="文本框 179">
            <a:extLst>
              <a:ext uri="{FF2B5EF4-FFF2-40B4-BE49-F238E27FC236}">
                <a16:creationId xmlns:a16="http://schemas.microsoft.com/office/drawing/2014/main" id="{FF34ADF6-75D5-1283-BCD0-F37C13339781}"/>
              </a:ext>
            </a:extLst>
          </p:cNvPr>
          <p:cNvSpPr txBox="1"/>
          <p:nvPr/>
        </p:nvSpPr>
        <p:spPr>
          <a:xfrm>
            <a:off x="6797622" y="4547089"/>
            <a:ext cx="12897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</a:rPr>
              <a:t>互动场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56904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文本占位符 1">
            <a:extLst>
              <a:ext uri="{FF2B5EF4-FFF2-40B4-BE49-F238E27FC236}">
                <a16:creationId xmlns:a16="http://schemas.microsoft.com/office/drawing/2014/main" id="{F70B205F-7808-82EC-01D7-0F3DA29624E9}"/>
              </a:ext>
            </a:extLst>
          </p:cNvPr>
          <p:cNvSpPr txBox="1">
            <a:spLocks/>
          </p:cNvSpPr>
          <p:nvPr/>
        </p:nvSpPr>
        <p:spPr>
          <a:xfrm>
            <a:off x="363354" y="331948"/>
            <a:ext cx="6435792" cy="576536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>
                <a:latin typeface="+mn-ea"/>
              </a:rPr>
              <a:t>网易云音乐</a:t>
            </a:r>
          </a:p>
        </p:txBody>
      </p:sp>
      <p:sp>
        <p:nvSpPr>
          <p:cNvPr id="48" name="Shape 2">
            <a:extLst>
              <a:ext uri="{FF2B5EF4-FFF2-40B4-BE49-F238E27FC236}">
                <a16:creationId xmlns:a16="http://schemas.microsoft.com/office/drawing/2014/main" id="{D3925FFE-6F5C-A8FD-8657-73987347C387}"/>
              </a:ext>
            </a:extLst>
          </p:cNvPr>
          <p:cNvSpPr/>
          <p:nvPr/>
        </p:nvSpPr>
        <p:spPr>
          <a:xfrm flipV="1">
            <a:off x="1145405" y="3062391"/>
            <a:ext cx="10154653" cy="32617"/>
          </a:xfrm>
          <a:prstGeom prst="line">
            <a:avLst/>
          </a:prstGeom>
          <a:noFill/>
          <a:ln w="31750">
            <a:solidFill>
              <a:srgbClr val="E13F3F"/>
            </a:solidFill>
            <a:prstDash val="solid"/>
          </a:ln>
        </p:spPr>
      </p:sp>
      <p:sp>
        <p:nvSpPr>
          <p:cNvPr id="49" name="Shape 3">
            <a:extLst>
              <a:ext uri="{FF2B5EF4-FFF2-40B4-BE49-F238E27FC236}">
                <a16:creationId xmlns:a16="http://schemas.microsoft.com/office/drawing/2014/main" id="{9E3E1C1B-7BD1-CA91-A7D9-17AED3D3A8CC}"/>
              </a:ext>
            </a:extLst>
          </p:cNvPr>
          <p:cNvSpPr/>
          <p:nvPr/>
        </p:nvSpPr>
        <p:spPr>
          <a:xfrm>
            <a:off x="1309998" y="2985280"/>
            <a:ext cx="219456" cy="219456"/>
          </a:xfrm>
          <a:prstGeom prst="ellipse">
            <a:avLst/>
          </a:prstGeom>
          <a:solidFill>
            <a:srgbClr val="E13F3F"/>
          </a:solidFill>
          <a:ln/>
        </p:spPr>
      </p:sp>
      <p:sp>
        <p:nvSpPr>
          <p:cNvPr id="50" name="Text 4">
            <a:extLst>
              <a:ext uri="{FF2B5EF4-FFF2-40B4-BE49-F238E27FC236}">
                <a16:creationId xmlns:a16="http://schemas.microsoft.com/office/drawing/2014/main" id="{D0EC1657-290F-9E98-923E-9E0A51631428}"/>
              </a:ext>
            </a:extLst>
          </p:cNvPr>
          <p:cNvSpPr/>
          <p:nvPr/>
        </p:nvSpPr>
        <p:spPr>
          <a:xfrm>
            <a:off x="1008246" y="259208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dirty="0">
                <a:latin typeface="+mn-ea"/>
                <a:cs typeface="Arial Black" pitchFamily="34" charset="-120"/>
              </a:rPr>
              <a:t>2013</a:t>
            </a:r>
            <a:endParaRPr lang="en-US" sz="1300" dirty="0">
              <a:latin typeface="+mn-ea"/>
            </a:endParaRPr>
          </a:p>
        </p:txBody>
      </p:sp>
      <p:sp>
        <p:nvSpPr>
          <p:cNvPr id="51" name="Text 5">
            <a:extLst>
              <a:ext uri="{FF2B5EF4-FFF2-40B4-BE49-F238E27FC236}">
                <a16:creationId xmlns:a16="http://schemas.microsoft.com/office/drawing/2014/main" id="{BE53DEC0-DE4E-2517-00BC-EE896D9FBAD1}"/>
              </a:ext>
            </a:extLst>
          </p:cNvPr>
          <p:cNvSpPr/>
          <p:nvPr/>
        </p:nvSpPr>
        <p:spPr>
          <a:xfrm>
            <a:off x="916806" y="3323608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latin typeface="+mn-ea"/>
                <a:cs typeface="Calibri" pitchFamily="34" charset="-120"/>
              </a:rPr>
              <a:t>MVP</a:t>
            </a:r>
            <a:endParaRPr lang="en-US" sz="1000" dirty="0">
              <a:latin typeface="+mn-ea"/>
            </a:endParaRPr>
          </a:p>
          <a:p>
            <a:pPr marL="0" indent="0" algn="ctr">
              <a:buNone/>
            </a:pPr>
            <a:r>
              <a:rPr lang="en-US" sz="1000" dirty="0">
                <a:latin typeface="+mn-ea"/>
                <a:cs typeface="Calibri" pitchFamily="34" charset="-120"/>
              </a:rPr>
              <a:t>歌单上线</a:t>
            </a:r>
            <a:endParaRPr lang="en-US" sz="1000" dirty="0">
              <a:latin typeface="+mn-ea"/>
            </a:endParaRPr>
          </a:p>
        </p:txBody>
      </p:sp>
      <p:sp>
        <p:nvSpPr>
          <p:cNvPr id="52" name="Shape 6">
            <a:extLst>
              <a:ext uri="{FF2B5EF4-FFF2-40B4-BE49-F238E27FC236}">
                <a16:creationId xmlns:a16="http://schemas.microsoft.com/office/drawing/2014/main" id="{BBB272DA-3C14-8681-976D-C975A89DBD5F}"/>
              </a:ext>
            </a:extLst>
          </p:cNvPr>
          <p:cNvSpPr/>
          <p:nvPr/>
        </p:nvSpPr>
        <p:spPr>
          <a:xfrm>
            <a:off x="2899530" y="2985280"/>
            <a:ext cx="219456" cy="219456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53" name="Text 7">
            <a:extLst>
              <a:ext uri="{FF2B5EF4-FFF2-40B4-BE49-F238E27FC236}">
                <a16:creationId xmlns:a16="http://schemas.microsoft.com/office/drawing/2014/main" id="{309FF544-4822-00DA-1682-1E9ED47761F1}"/>
              </a:ext>
            </a:extLst>
          </p:cNvPr>
          <p:cNvSpPr/>
          <p:nvPr/>
        </p:nvSpPr>
        <p:spPr>
          <a:xfrm>
            <a:off x="2597778" y="259208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dirty="0">
                <a:latin typeface="+mn-ea"/>
                <a:cs typeface="Arial Black" pitchFamily="34" charset="-120"/>
              </a:rPr>
              <a:t>2014</a:t>
            </a:r>
            <a:endParaRPr lang="en-US" sz="1300" dirty="0">
              <a:latin typeface="+mn-ea"/>
            </a:endParaRPr>
          </a:p>
        </p:txBody>
      </p:sp>
      <p:sp>
        <p:nvSpPr>
          <p:cNvPr id="54" name="Text 8">
            <a:extLst>
              <a:ext uri="{FF2B5EF4-FFF2-40B4-BE49-F238E27FC236}">
                <a16:creationId xmlns:a16="http://schemas.microsoft.com/office/drawing/2014/main" id="{927049E6-630E-1AEA-0CCF-D4279BAD72DB}"/>
              </a:ext>
            </a:extLst>
          </p:cNvPr>
          <p:cNvSpPr/>
          <p:nvPr/>
        </p:nvSpPr>
        <p:spPr>
          <a:xfrm>
            <a:off x="2506338" y="3323608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latin typeface="+mn-ea"/>
                <a:cs typeface="Calibri" pitchFamily="34" charset="-120"/>
              </a:rPr>
              <a:t>每日推荐</a:t>
            </a:r>
            <a:endParaRPr lang="en-US" sz="1000" dirty="0">
              <a:latin typeface="+mn-ea"/>
            </a:endParaRPr>
          </a:p>
          <a:p>
            <a:pPr marL="0" indent="0" algn="ctr">
              <a:buNone/>
            </a:pPr>
            <a:r>
              <a:rPr lang="en-US" sz="1000" dirty="0">
                <a:latin typeface="+mn-ea"/>
                <a:cs typeface="Calibri" pitchFamily="34" charset="-120"/>
              </a:rPr>
              <a:t>算法分发</a:t>
            </a:r>
            <a:endParaRPr lang="en-US" sz="1000" dirty="0">
              <a:latin typeface="+mn-ea"/>
            </a:endParaRPr>
          </a:p>
        </p:txBody>
      </p:sp>
      <p:sp>
        <p:nvSpPr>
          <p:cNvPr id="55" name="Shape 9">
            <a:extLst>
              <a:ext uri="{FF2B5EF4-FFF2-40B4-BE49-F238E27FC236}">
                <a16:creationId xmlns:a16="http://schemas.microsoft.com/office/drawing/2014/main" id="{84D7EEE8-A80C-2BD6-7072-D07BC4F9F4E1}"/>
              </a:ext>
            </a:extLst>
          </p:cNvPr>
          <p:cNvSpPr/>
          <p:nvPr/>
        </p:nvSpPr>
        <p:spPr>
          <a:xfrm>
            <a:off x="4489062" y="2985280"/>
            <a:ext cx="219456" cy="21945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2B09C775-E51A-08AE-8C3F-CE4F97B6432C}"/>
              </a:ext>
            </a:extLst>
          </p:cNvPr>
          <p:cNvSpPr/>
          <p:nvPr/>
        </p:nvSpPr>
        <p:spPr>
          <a:xfrm>
            <a:off x="4187310" y="259208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dirty="0">
                <a:latin typeface="+mn-ea"/>
                <a:cs typeface="Arial Black" pitchFamily="34" charset="-120"/>
              </a:rPr>
              <a:t>2017</a:t>
            </a:r>
            <a:endParaRPr lang="en-US" sz="1300" dirty="0">
              <a:latin typeface="+mn-ea"/>
            </a:endParaRPr>
          </a:p>
        </p:txBody>
      </p:sp>
      <p:sp>
        <p:nvSpPr>
          <p:cNvPr id="57" name="Text 11">
            <a:extLst>
              <a:ext uri="{FF2B5EF4-FFF2-40B4-BE49-F238E27FC236}">
                <a16:creationId xmlns:a16="http://schemas.microsoft.com/office/drawing/2014/main" id="{78645FE3-E4A3-6E7A-93F2-89C243DF2209}"/>
              </a:ext>
            </a:extLst>
          </p:cNvPr>
          <p:cNvSpPr/>
          <p:nvPr/>
        </p:nvSpPr>
        <p:spPr>
          <a:xfrm>
            <a:off x="4095870" y="3323608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latin typeface="+mn-ea"/>
                <a:cs typeface="Calibri" pitchFamily="34" charset="-120"/>
              </a:rPr>
              <a:t>社区化</a:t>
            </a:r>
            <a:endParaRPr lang="en-US" sz="1000" dirty="0">
              <a:latin typeface="+mn-ea"/>
            </a:endParaRPr>
          </a:p>
          <a:p>
            <a:pPr marL="0" indent="0" algn="ctr">
              <a:buNone/>
            </a:pPr>
            <a:r>
              <a:rPr lang="en-US" sz="1000" dirty="0">
                <a:latin typeface="+mn-ea"/>
                <a:cs typeface="Calibri" pitchFamily="34" charset="-120"/>
              </a:rPr>
              <a:t>情感连接</a:t>
            </a:r>
            <a:endParaRPr lang="en-US" sz="1000" dirty="0">
              <a:latin typeface="+mn-ea"/>
            </a:endParaRPr>
          </a:p>
        </p:txBody>
      </p:sp>
      <p:sp>
        <p:nvSpPr>
          <p:cNvPr id="58" name="Shape 12">
            <a:extLst>
              <a:ext uri="{FF2B5EF4-FFF2-40B4-BE49-F238E27FC236}">
                <a16:creationId xmlns:a16="http://schemas.microsoft.com/office/drawing/2014/main" id="{64E88247-8F8E-5085-BB3F-33036669ADF3}"/>
              </a:ext>
            </a:extLst>
          </p:cNvPr>
          <p:cNvSpPr/>
          <p:nvPr/>
        </p:nvSpPr>
        <p:spPr>
          <a:xfrm>
            <a:off x="6078594" y="2985280"/>
            <a:ext cx="219456" cy="21945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59" name="Text 13">
            <a:extLst>
              <a:ext uri="{FF2B5EF4-FFF2-40B4-BE49-F238E27FC236}">
                <a16:creationId xmlns:a16="http://schemas.microsoft.com/office/drawing/2014/main" id="{081C8C44-91E1-19AF-3AE0-18D73975469D}"/>
              </a:ext>
            </a:extLst>
          </p:cNvPr>
          <p:cNvSpPr/>
          <p:nvPr/>
        </p:nvSpPr>
        <p:spPr>
          <a:xfrm>
            <a:off x="5776842" y="259208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dirty="0">
                <a:latin typeface="+mn-ea"/>
                <a:cs typeface="Arial Black" pitchFamily="34" charset="-120"/>
              </a:rPr>
              <a:t>2018</a:t>
            </a:r>
            <a:endParaRPr lang="en-US" sz="1300" dirty="0">
              <a:latin typeface="+mn-ea"/>
            </a:endParaRPr>
          </a:p>
        </p:txBody>
      </p:sp>
      <p:sp>
        <p:nvSpPr>
          <p:cNvPr id="60" name="Text 14">
            <a:extLst>
              <a:ext uri="{FF2B5EF4-FFF2-40B4-BE49-F238E27FC236}">
                <a16:creationId xmlns:a16="http://schemas.microsoft.com/office/drawing/2014/main" id="{443D1FE4-1861-7889-87E6-172A6F5DC39A}"/>
              </a:ext>
            </a:extLst>
          </p:cNvPr>
          <p:cNvSpPr/>
          <p:nvPr/>
        </p:nvSpPr>
        <p:spPr>
          <a:xfrm>
            <a:off x="5685402" y="3323608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latin typeface="+mn-ea"/>
                <a:cs typeface="Calibri" pitchFamily="34" charset="-120"/>
              </a:rPr>
              <a:t>场景化</a:t>
            </a:r>
            <a:endParaRPr lang="en-US" sz="1000" dirty="0">
              <a:latin typeface="+mn-ea"/>
            </a:endParaRPr>
          </a:p>
          <a:p>
            <a:pPr marL="0" indent="0" algn="ctr">
              <a:buNone/>
            </a:pPr>
            <a:r>
              <a:rPr lang="en-US" sz="1000" dirty="0">
                <a:latin typeface="+mn-ea"/>
                <a:cs typeface="Calibri" pitchFamily="34" charset="-120"/>
              </a:rPr>
              <a:t>心动模式</a:t>
            </a:r>
            <a:endParaRPr lang="en-US" sz="1000" dirty="0">
              <a:latin typeface="+mn-ea"/>
            </a:endParaRPr>
          </a:p>
        </p:txBody>
      </p:sp>
      <p:sp>
        <p:nvSpPr>
          <p:cNvPr id="61" name="Shape 15">
            <a:extLst>
              <a:ext uri="{FF2B5EF4-FFF2-40B4-BE49-F238E27FC236}">
                <a16:creationId xmlns:a16="http://schemas.microsoft.com/office/drawing/2014/main" id="{16FD645C-1918-9B91-A2F6-B3ADA3841CC2}"/>
              </a:ext>
            </a:extLst>
          </p:cNvPr>
          <p:cNvSpPr/>
          <p:nvPr/>
        </p:nvSpPr>
        <p:spPr>
          <a:xfrm>
            <a:off x="7668126" y="2985280"/>
            <a:ext cx="219456" cy="219456"/>
          </a:xfrm>
          <a:prstGeom prst="ellipse">
            <a:avLst/>
          </a:prstGeom>
          <a:solidFill>
            <a:srgbClr val="7B2D8E"/>
          </a:solidFill>
          <a:ln/>
        </p:spPr>
      </p:sp>
      <p:sp>
        <p:nvSpPr>
          <p:cNvPr id="62" name="Text 16">
            <a:extLst>
              <a:ext uri="{FF2B5EF4-FFF2-40B4-BE49-F238E27FC236}">
                <a16:creationId xmlns:a16="http://schemas.microsoft.com/office/drawing/2014/main" id="{06156485-7803-89E7-5216-9ECEFCC4DFF9}"/>
              </a:ext>
            </a:extLst>
          </p:cNvPr>
          <p:cNvSpPr/>
          <p:nvPr/>
        </p:nvSpPr>
        <p:spPr>
          <a:xfrm>
            <a:off x="7366374" y="259208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dirty="0">
                <a:latin typeface="+mn-ea"/>
                <a:cs typeface="Arial Black" pitchFamily="34" charset="-120"/>
              </a:rPr>
              <a:t>2021</a:t>
            </a:r>
            <a:endParaRPr lang="en-US" sz="1300" dirty="0">
              <a:latin typeface="+mn-ea"/>
            </a:endParaRPr>
          </a:p>
        </p:txBody>
      </p:sp>
      <p:sp>
        <p:nvSpPr>
          <p:cNvPr id="63" name="Text 17">
            <a:extLst>
              <a:ext uri="{FF2B5EF4-FFF2-40B4-BE49-F238E27FC236}">
                <a16:creationId xmlns:a16="http://schemas.microsoft.com/office/drawing/2014/main" id="{4F4F00F5-6C1F-FC1C-0BF7-261D4D451E0D}"/>
              </a:ext>
            </a:extLst>
          </p:cNvPr>
          <p:cNvSpPr/>
          <p:nvPr/>
        </p:nvSpPr>
        <p:spPr>
          <a:xfrm>
            <a:off x="7274934" y="3323608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latin typeface="+mn-ea"/>
                <a:cs typeface="Calibri" pitchFamily="34" charset="-120"/>
              </a:rPr>
              <a:t>社交化</a:t>
            </a:r>
            <a:endParaRPr lang="en-US" sz="1000" dirty="0">
              <a:latin typeface="+mn-ea"/>
            </a:endParaRPr>
          </a:p>
          <a:p>
            <a:pPr marL="0" indent="0" algn="ctr">
              <a:buNone/>
            </a:pPr>
            <a:r>
              <a:rPr lang="en-US" sz="1000" dirty="0">
                <a:latin typeface="+mn-ea"/>
                <a:cs typeface="Calibri" pitchFamily="34" charset="-120"/>
              </a:rPr>
              <a:t>共创歌单</a:t>
            </a:r>
            <a:endParaRPr lang="en-US" sz="1000" dirty="0">
              <a:latin typeface="+mn-ea"/>
            </a:endParaRPr>
          </a:p>
        </p:txBody>
      </p:sp>
      <p:sp>
        <p:nvSpPr>
          <p:cNvPr id="128" name="Shape 18">
            <a:extLst>
              <a:ext uri="{FF2B5EF4-FFF2-40B4-BE49-F238E27FC236}">
                <a16:creationId xmlns:a16="http://schemas.microsoft.com/office/drawing/2014/main" id="{7B10F8A9-E573-FA7C-69D7-2FC7C2EBC763}"/>
              </a:ext>
            </a:extLst>
          </p:cNvPr>
          <p:cNvSpPr/>
          <p:nvPr/>
        </p:nvSpPr>
        <p:spPr>
          <a:xfrm>
            <a:off x="9257658" y="2985280"/>
            <a:ext cx="219456" cy="219456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129" name="Text 19">
            <a:extLst>
              <a:ext uri="{FF2B5EF4-FFF2-40B4-BE49-F238E27FC236}">
                <a16:creationId xmlns:a16="http://schemas.microsoft.com/office/drawing/2014/main" id="{0F2496B1-2850-81DC-8A5E-91B4BC0A0ECE}"/>
              </a:ext>
            </a:extLst>
          </p:cNvPr>
          <p:cNvSpPr/>
          <p:nvPr/>
        </p:nvSpPr>
        <p:spPr>
          <a:xfrm>
            <a:off x="8955906" y="259208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dirty="0">
                <a:latin typeface="+mn-ea"/>
                <a:cs typeface="Arial Black" pitchFamily="34" charset="-120"/>
              </a:rPr>
              <a:t>2023</a:t>
            </a:r>
            <a:endParaRPr lang="en-US" sz="1300" dirty="0">
              <a:latin typeface="+mn-ea"/>
            </a:endParaRPr>
          </a:p>
        </p:txBody>
      </p:sp>
      <p:sp>
        <p:nvSpPr>
          <p:cNvPr id="130" name="Text 20">
            <a:extLst>
              <a:ext uri="{FF2B5EF4-FFF2-40B4-BE49-F238E27FC236}">
                <a16:creationId xmlns:a16="http://schemas.microsoft.com/office/drawing/2014/main" id="{B5673482-9119-A853-44FB-CBE1FDFE08EF}"/>
              </a:ext>
            </a:extLst>
          </p:cNvPr>
          <p:cNvSpPr/>
          <p:nvPr/>
        </p:nvSpPr>
        <p:spPr>
          <a:xfrm>
            <a:off x="8864466" y="3323608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latin typeface="+mn-ea"/>
                <a:cs typeface="Calibri" pitchFamily="34" charset="-120"/>
              </a:rPr>
              <a:t>AI 歌单</a:t>
            </a:r>
            <a:endParaRPr lang="en-US" sz="1000" dirty="0">
              <a:latin typeface="+mn-ea"/>
            </a:endParaRPr>
          </a:p>
          <a:p>
            <a:pPr marL="0" indent="0" algn="ctr">
              <a:buNone/>
            </a:pPr>
            <a:r>
              <a:rPr lang="en-US" sz="1000" dirty="0">
                <a:latin typeface="+mn-ea"/>
                <a:cs typeface="Calibri" pitchFamily="34" charset="-120"/>
              </a:rPr>
              <a:t>自然语言</a:t>
            </a:r>
            <a:endParaRPr lang="en-US" sz="1000" dirty="0">
              <a:latin typeface="+mn-ea"/>
            </a:endParaRPr>
          </a:p>
        </p:txBody>
      </p:sp>
      <p:sp>
        <p:nvSpPr>
          <p:cNvPr id="131" name="Shape 21">
            <a:extLst>
              <a:ext uri="{FF2B5EF4-FFF2-40B4-BE49-F238E27FC236}">
                <a16:creationId xmlns:a16="http://schemas.microsoft.com/office/drawing/2014/main" id="{234EA128-E78F-5BA2-9C6C-A675F29A75BF}"/>
              </a:ext>
            </a:extLst>
          </p:cNvPr>
          <p:cNvSpPr/>
          <p:nvPr/>
        </p:nvSpPr>
        <p:spPr>
          <a:xfrm>
            <a:off x="10847190" y="2964942"/>
            <a:ext cx="219456" cy="219456"/>
          </a:xfrm>
          <a:prstGeom prst="ellipse">
            <a:avLst/>
          </a:prstGeom>
          <a:solidFill>
            <a:srgbClr val="F0C040"/>
          </a:solidFill>
          <a:ln/>
        </p:spPr>
      </p:sp>
      <p:sp>
        <p:nvSpPr>
          <p:cNvPr id="132" name="Text 22">
            <a:extLst>
              <a:ext uri="{FF2B5EF4-FFF2-40B4-BE49-F238E27FC236}">
                <a16:creationId xmlns:a16="http://schemas.microsoft.com/office/drawing/2014/main" id="{9723D58F-FC96-6734-41F1-0377E13108FC}"/>
              </a:ext>
            </a:extLst>
          </p:cNvPr>
          <p:cNvSpPr/>
          <p:nvPr/>
        </p:nvSpPr>
        <p:spPr>
          <a:xfrm>
            <a:off x="10545438" y="257175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dirty="0">
                <a:latin typeface="+mn-ea"/>
                <a:cs typeface="Arial Black" pitchFamily="34" charset="-120"/>
              </a:rPr>
              <a:t>2026</a:t>
            </a:r>
            <a:endParaRPr lang="en-US" sz="1300" dirty="0">
              <a:latin typeface="+mn-ea"/>
            </a:endParaRPr>
          </a:p>
        </p:txBody>
      </p:sp>
      <p:sp>
        <p:nvSpPr>
          <p:cNvPr id="133" name="Text 23">
            <a:extLst>
              <a:ext uri="{FF2B5EF4-FFF2-40B4-BE49-F238E27FC236}">
                <a16:creationId xmlns:a16="http://schemas.microsoft.com/office/drawing/2014/main" id="{4C0BAE0C-2FCB-B36D-A687-DE792A6BEA4B}"/>
              </a:ext>
            </a:extLst>
          </p:cNvPr>
          <p:cNvSpPr/>
          <p:nvPr/>
        </p:nvSpPr>
        <p:spPr>
          <a:xfrm>
            <a:off x="10453998" y="3316875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CN" altLang="en-US" sz="1000" dirty="0">
                <a:latin typeface="+mn-ea"/>
                <a:cs typeface="Calibri" pitchFamily="34" charset="-120"/>
              </a:rPr>
              <a:t>灵感歌单</a:t>
            </a:r>
            <a:r>
              <a:rPr lang="en-US" altLang="zh-CN" sz="1000" dirty="0">
                <a:latin typeface="+mn-ea"/>
                <a:cs typeface="Calibri" pitchFamily="34" charset="-120"/>
              </a:rPr>
              <a:t>-AI</a:t>
            </a:r>
            <a:endParaRPr lang="en-US" sz="1000" dirty="0">
              <a:latin typeface="+mn-ea"/>
            </a:endParaRPr>
          </a:p>
          <a:p>
            <a:pPr marL="0" indent="0" algn="ctr">
              <a:buNone/>
            </a:pPr>
            <a:r>
              <a:rPr lang="en-US" sz="1000" dirty="0">
                <a:latin typeface="+mn-ea"/>
                <a:cs typeface="Calibri" pitchFamily="34" charset="-120"/>
              </a:rPr>
              <a:t>对话体验</a:t>
            </a:r>
            <a:r>
              <a:rPr lang="en-US" altLang="zh-CN" sz="1000" dirty="0">
                <a:latin typeface="+mn-ea"/>
                <a:cs typeface="Calibri" pitchFamily="34" charset="-120"/>
              </a:rPr>
              <a:t>v9.5.10</a:t>
            </a:r>
            <a:endParaRPr lang="en-US" sz="1000" dirty="0">
              <a:latin typeface="+mn-ea"/>
            </a:endParaRPr>
          </a:p>
        </p:txBody>
      </p:sp>
      <p:sp>
        <p:nvSpPr>
          <p:cNvPr id="135" name="Text 5">
            <a:extLst>
              <a:ext uri="{FF2B5EF4-FFF2-40B4-BE49-F238E27FC236}">
                <a16:creationId xmlns:a16="http://schemas.microsoft.com/office/drawing/2014/main" id="{FEA7D8CB-FAD9-1832-11C9-1A2843249B14}"/>
              </a:ext>
            </a:extLst>
          </p:cNvPr>
          <p:cNvSpPr/>
          <p:nvPr/>
        </p:nvSpPr>
        <p:spPr>
          <a:xfrm>
            <a:off x="-295175" y="4098499"/>
            <a:ext cx="7940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zh-CN" altLang="en-US" sz="1200" b="1" dirty="0">
                <a:solidFill>
                  <a:srgbClr val="E13F3F"/>
                </a:solidFill>
                <a:latin typeface="+mn-ea"/>
                <a:cs typeface="Calibri" pitchFamily="34" charset="-120"/>
              </a:rPr>
              <a:t>问题</a:t>
            </a:r>
            <a:endParaRPr lang="en-US" sz="1200" b="1" dirty="0">
              <a:solidFill>
                <a:srgbClr val="E13F3F"/>
              </a:solidFill>
              <a:latin typeface="+mn-ea"/>
              <a:cs typeface="Calibri" pitchFamily="34" charset="-120"/>
            </a:endParaRPr>
          </a:p>
        </p:txBody>
      </p:sp>
      <p:sp>
        <p:nvSpPr>
          <p:cNvPr id="141" name="Text 8">
            <a:extLst>
              <a:ext uri="{FF2B5EF4-FFF2-40B4-BE49-F238E27FC236}">
                <a16:creationId xmlns:a16="http://schemas.microsoft.com/office/drawing/2014/main" id="{E3C6A58F-0934-AF1B-5F92-2BE19EA9EE3F}"/>
              </a:ext>
            </a:extLst>
          </p:cNvPr>
          <p:cNvSpPr/>
          <p:nvPr/>
        </p:nvSpPr>
        <p:spPr>
          <a:xfrm>
            <a:off x="710666" y="3839652"/>
            <a:ext cx="1507818" cy="1112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529"/>
                </a:solidFill>
                <a:latin typeface="+mn-ea"/>
                <a:cs typeface="Calibri" pitchFamily="34" charset="-120"/>
              </a:rPr>
              <a:t>传统音乐 App 以「专辑/歌手」组织内容，80%用户只听本地音乐，找歌效率极低</a:t>
            </a:r>
            <a:endParaRPr lang="en-US" sz="1200" dirty="0">
              <a:latin typeface="+mn-ea"/>
            </a:endParaRPr>
          </a:p>
        </p:txBody>
      </p:sp>
      <p:sp>
        <p:nvSpPr>
          <p:cNvPr id="142" name="Text 11">
            <a:extLst>
              <a:ext uri="{FF2B5EF4-FFF2-40B4-BE49-F238E27FC236}">
                <a16:creationId xmlns:a16="http://schemas.microsoft.com/office/drawing/2014/main" id="{3AD5C54C-C697-9935-013B-3FB1368294B0}"/>
              </a:ext>
            </a:extLst>
          </p:cNvPr>
          <p:cNvSpPr/>
          <p:nvPr/>
        </p:nvSpPr>
        <p:spPr>
          <a:xfrm>
            <a:off x="-295175" y="1944910"/>
            <a:ext cx="794084" cy="402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13F3F"/>
                </a:solidFill>
                <a:latin typeface="+mn-ea"/>
                <a:cs typeface="Calibri" pitchFamily="34" charset="-120"/>
              </a:rPr>
              <a:t>解决方案</a:t>
            </a:r>
            <a:endParaRPr lang="en-US" sz="1200" dirty="0">
              <a:latin typeface="+mn-ea"/>
            </a:endParaRPr>
          </a:p>
        </p:txBody>
      </p:sp>
      <p:sp>
        <p:nvSpPr>
          <p:cNvPr id="143" name="Text 12">
            <a:extLst>
              <a:ext uri="{FF2B5EF4-FFF2-40B4-BE49-F238E27FC236}">
                <a16:creationId xmlns:a16="http://schemas.microsoft.com/office/drawing/2014/main" id="{9710BE4D-A085-0110-7943-6674651346B1}"/>
              </a:ext>
            </a:extLst>
          </p:cNvPr>
          <p:cNvSpPr/>
          <p:nvPr/>
        </p:nvSpPr>
        <p:spPr>
          <a:xfrm>
            <a:off x="710664" y="1677272"/>
            <a:ext cx="153185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latin typeface="+mn-ea"/>
                <a:cs typeface="Calibri" pitchFamily="34" charset="-120"/>
              </a:rPr>
              <a:t>「</a:t>
            </a:r>
            <a:r>
              <a:rPr lang="en-US" sz="1200" dirty="0" err="1">
                <a:latin typeface="+mn-ea"/>
                <a:cs typeface="Calibri" pitchFamily="34" charset="-120"/>
              </a:rPr>
              <a:t>歌单」取代专辑作为一级入口，支持</a:t>
            </a:r>
            <a:r>
              <a:rPr lang="en-US" sz="1200" dirty="0">
                <a:latin typeface="+mn-ea"/>
                <a:cs typeface="Calibri" pitchFamily="34" charset="-120"/>
              </a:rPr>
              <a:t> UGC </a:t>
            </a:r>
            <a:r>
              <a:rPr lang="en-US" sz="1200" dirty="0" err="1">
                <a:latin typeface="+mn-ea"/>
                <a:cs typeface="Calibri" pitchFamily="34" charset="-120"/>
              </a:rPr>
              <a:t>创建、评论</a:t>
            </a:r>
            <a:r>
              <a:rPr lang="zh-CN" altLang="en-US" sz="1200" dirty="0">
                <a:latin typeface="+mn-ea"/>
                <a:cs typeface="Calibri" pitchFamily="34" charset="-120"/>
              </a:rPr>
              <a:t>。</a:t>
            </a:r>
            <a:r>
              <a:rPr lang="en-US" altLang="zh-CN" sz="1200" dirty="0" err="1">
                <a:latin typeface="+mn-ea"/>
                <a:cs typeface="Arial Black" pitchFamily="34" charset="-120"/>
              </a:rPr>
              <a:t>编辑团队</a:t>
            </a:r>
            <a:r>
              <a:rPr lang="en-US" altLang="zh-CN" sz="1200" dirty="0">
                <a:latin typeface="+mn-ea"/>
                <a:cs typeface="Arial Black" pitchFamily="34" charset="-120"/>
              </a:rPr>
              <a:t> + </a:t>
            </a:r>
            <a:r>
              <a:rPr lang="en-US" altLang="zh-CN" sz="1200" dirty="0" err="1">
                <a:latin typeface="+mn-ea"/>
                <a:cs typeface="Arial Black" pitchFamily="34" charset="-120"/>
              </a:rPr>
              <a:t>丁磊亲自整理</a:t>
            </a:r>
            <a:r>
              <a:rPr lang="zh-CN" altLang="en-US" sz="1200" dirty="0">
                <a:latin typeface="+mn-ea"/>
                <a:cs typeface="Arial Black" pitchFamily="34" charset="-120"/>
              </a:rPr>
              <a:t>、引入达人</a:t>
            </a:r>
            <a:r>
              <a:rPr lang="en-US" altLang="zh-CN" sz="1200" dirty="0">
                <a:latin typeface="+mn-ea"/>
                <a:cs typeface="Arial Black" pitchFamily="34" charset="-120"/>
              </a:rPr>
              <a:t>/KOL</a:t>
            </a:r>
            <a:r>
              <a:rPr lang="zh-CN" altLang="en-US" sz="1200" dirty="0">
                <a:latin typeface="+mn-ea"/>
                <a:cs typeface="Arial Black" pitchFamily="34" charset="-120"/>
              </a:rPr>
              <a:t>入驻</a:t>
            </a:r>
            <a:endParaRPr lang="en-US" altLang="zh-CN" sz="1200" dirty="0">
              <a:latin typeface="+mn-ea"/>
            </a:endParaRPr>
          </a:p>
          <a:p>
            <a:pPr marL="0" indent="0" algn="l">
              <a:buNone/>
            </a:pPr>
            <a:endParaRPr lang="en-US" sz="1200" dirty="0">
              <a:latin typeface="+mn-ea"/>
            </a:endParaRPr>
          </a:p>
        </p:txBody>
      </p:sp>
      <p:sp>
        <p:nvSpPr>
          <p:cNvPr id="147" name="Text 28">
            <a:extLst>
              <a:ext uri="{FF2B5EF4-FFF2-40B4-BE49-F238E27FC236}">
                <a16:creationId xmlns:a16="http://schemas.microsoft.com/office/drawing/2014/main" id="{E1BDD34A-59E0-6368-88A2-19F3B1B155CC}"/>
              </a:ext>
            </a:extLst>
          </p:cNvPr>
          <p:cNvSpPr/>
          <p:nvPr/>
        </p:nvSpPr>
        <p:spPr>
          <a:xfrm>
            <a:off x="-295175" y="1095867"/>
            <a:ext cx="773027" cy="227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13F3F"/>
                </a:solidFill>
                <a:latin typeface="+mn-ea"/>
                <a:cs typeface="Calibri" pitchFamily="34" charset="-120"/>
              </a:rPr>
              <a:t>用户声音</a:t>
            </a:r>
            <a:endParaRPr lang="en-US" sz="1200" dirty="0">
              <a:latin typeface="+mn-ea"/>
            </a:endParaRPr>
          </a:p>
        </p:txBody>
      </p:sp>
      <p:sp>
        <p:nvSpPr>
          <p:cNvPr id="148" name="Text 29">
            <a:extLst>
              <a:ext uri="{FF2B5EF4-FFF2-40B4-BE49-F238E27FC236}">
                <a16:creationId xmlns:a16="http://schemas.microsoft.com/office/drawing/2014/main" id="{5B3B69BD-449A-B581-9808-CE55C9EC8401}"/>
              </a:ext>
            </a:extLst>
          </p:cNvPr>
          <p:cNvSpPr/>
          <p:nvPr/>
        </p:nvSpPr>
        <p:spPr>
          <a:xfrm>
            <a:off x="710665" y="980639"/>
            <a:ext cx="15078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212529"/>
                </a:solidFill>
                <a:latin typeface="+mn-ea"/>
                <a:cs typeface="Calibri" pitchFamily="34" charset="-120"/>
              </a:rPr>
              <a:t>「终于有一个产品不让我按专辑翻歌了」「</a:t>
            </a:r>
            <a:r>
              <a:rPr lang="en-US" sz="1100" i="1" dirty="0" err="1">
                <a:solidFill>
                  <a:srgbClr val="212529"/>
                </a:solidFill>
                <a:latin typeface="+mn-ea"/>
                <a:cs typeface="Calibri" pitchFamily="34" charset="-120"/>
              </a:rPr>
              <a:t>评论区太走心了</a:t>
            </a:r>
            <a:r>
              <a:rPr lang="en-US" sz="1100" i="1" dirty="0">
                <a:solidFill>
                  <a:srgbClr val="212529"/>
                </a:solidFill>
                <a:latin typeface="+mn-ea"/>
                <a:cs typeface="Calibri" pitchFamily="34" charset="-120"/>
              </a:rPr>
              <a:t>」</a:t>
            </a:r>
            <a:endParaRPr lang="en-US" sz="1100" dirty="0">
              <a:latin typeface="+mn-ea"/>
            </a:endParaRPr>
          </a:p>
        </p:txBody>
      </p:sp>
      <p:sp>
        <p:nvSpPr>
          <p:cNvPr id="149" name="Text 8">
            <a:extLst>
              <a:ext uri="{FF2B5EF4-FFF2-40B4-BE49-F238E27FC236}">
                <a16:creationId xmlns:a16="http://schemas.microsoft.com/office/drawing/2014/main" id="{0030AD78-29F4-08C3-9A23-31456632CA65}"/>
              </a:ext>
            </a:extLst>
          </p:cNvPr>
          <p:cNvSpPr/>
          <p:nvPr/>
        </p:nvSpPr>
        <p:spPr>
          <a:xfrm>
            <a:off x="2648650" y="3839652"/>
            <a:ext cx="1188480" cy="111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529"/>
                </a:solidFill>
                <a:latin typeface="+mn-ea"/>
                <a:cs typeface="Calibri" pitchFamily="34" charset="-120"/>
              </a:rPr>
              <a:t>UGC 歌单爆发增长至千万级，用户面临信息过载，海量歌单的分发效率成为瓶颈</a:t>
            </a:r>
            <a:endParaRPr lang="en-US" sz="1200" dirty="0">
              <a:latin typeface="+mn-ea"/>
            </a:endParaRPr>
          </a:p>
        </p:txBody>
      </p:sp>
      <p:sp>
        <p:nvSpPr>
          <p:cNvPr id="156" name="Text 12">
            <a:extLst>
              <a:ext uri="{FF2B5EF4-FFF2-40B4-BE49-F238E27FC236}">
                <a16:creationId xmlns:a16="http://schemas.microsoft.com/office/drawing/2014/main" id="{CAC70A97-BA73-D753-684E-1053040B8275}"/>
              </a:ext>
            </a:extLst>
          </p:cNvPr>
          <p:cNvSpPr/>
          <p:nvPr/>
        </p:nvSpPr>
        <p:spPr>
          <a:xfrm>
            <a:off x="2675467" y="1621483"/>
            <a:ext cx="110401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529"/>
                </a:solidFill>
                <a:latin typeface="+mn-ea"/>
                <a:cs typeface="Calibri" pitchFamily="34" charset="-120"/>
              </a:rPr>
              <a:t>上线「每日推荐」（每天 30 首个性化歌曲）和个性化歌单推荐，千人千面</a:t>
            </a:r>
            <a:endParaRPr lang="en-US" sz="1200" dirty="0">
              <a:latin typeface="+mn-ea"/>
            </a:endParaRPr>
          </a:p>
        </p:txBody>
      </p:sp>
      <p:sp>
        <p:nvSpPr>
          <p:cNvPr id="157" name="Text 31">
            <a:extLst>
              <a:ext uri="{FF2B5EF4-FFF2-40B4-BE49-F238E27FC236}">
                <a16:creationId xmlns:a16="http://schemas.microsoft.com/office/drawing/2014/main" id="{BC067E9D-5D67-0ED8-399C-8BFAC8AB3643}"/>
              </a:ext>
            </a:extLst>
          </p:cNvPr>
          <p:cNvSpPr/>
          <p:nvPr/>
        </p:nvSpPr>
        <p:spPr>
          <a:xfrm>
            <a:off x="2618623" y="980639"/>
            <a:ext cx="12633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212529"/>
                </a:solidFill>
                <a:latin typeface="+mn-ea"/>
                <a:cs typeface="Calibri" pitchFamily="34" charset="-120"/>
              </a:rPr>
              <a:t>「每日推荐比我自己找的歌还准」「</a:t>
            </a:r>
            <a:r>
              <a:rPr lang="en-US" sz="1100" i="1" dirty="0" err="1">
                <a:solidFill>
                  <a:srgbClr val="212529"/>
                </a:solidFill>
                <a:latin typeface="+mn-ea"/>
                <a:cs typeface="Calibri" pitchFamily="34" charset="-120"/>
              </a:rPr>
              <a:t>网易云最懂我</a:t>
            </a:r>
            <a:r>
              <a:rPr lang="en-US" sz="1100" i="1" dirty="0">
                <a:solidFill>
                  <a:srgbClr val="212529"/>
                </a:solidFill>
                <a:latin typeface="+mn-ea"/>
                <a:cs typeface="Calibri" pitchFamily="34" charset="-120"/>
              </a:rPr>
              <a:t>」</a:t>
            </a:r>
            <a:endParaRPr lang="en-US" sz="1100" dirty="0">
              <a:latin typeface="+mn-ea"/>
            </a:endParaRPr>
          </a:p>
        </p:txBody>
      </p:sp>
      <p:sp>
        <p:nvSpPr>
          <p:cNvPr id="158" name="Text 8">
            <a:extLst>
              <a:ext uri="{FF2B5EF4-FFF2-40B4-BE49-F238E27FC236}">
                <a16:creationId xmlns:a16="http://schemas.microsoft.com/office/drawing/2014/main" id="{07F9B869-9E02-F899-1D45-2E3940EE84B4}"/>
              </a:ext>
            </a:extLst>
          </p:cNvPr>
          <p:cNvSpPr/>
          <p:nvPr/>
        </p:nvSpPr>
        <p:spPr>
          <a:xfrm>
            <a:off x="4267296" y="3839652"/>
            <a:ext cx="105216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529"/>
                </a:solidFill>
                <a:latin typeface="+mn-ea"/>
                <a:cs typeface="Calibri" pitchFamily="34" charset="-120"/>
              </a:rPr>
              <a:t>纯工具型产品在版权大战中极易被取代，需要构建版权之外的护城河</a:t>
            </a:r>
            <a:endParaRPr lang="en-US" sz="1200" dirty="0">
              <a:latin typeface="+mn-ea"/>
            </a:endParaRPr>
          </a:p>
        </p:txBody>
      </p:sp>
      <p:sp>
        <p:nvSpPr>
          <p:cNvPr id="159" name="Text 12">
            <a:extLst>
              <a:ext uri="{FF2B5EF4-FFF2-40B4-BE49-F238E27FC236}">
                <a16:creationId xmlns:a16="http://schemas.microsoft.com/office/drawing/2014/main" id="{FB1712F2-F063-297E-8E20-537E6712C001}"/>
              </a:ext>
            </a:extLst>
          </p:cNvPr>
          <p:cNvSpPr/>
          <p:nvPr/>
        </p:nvSpPr>
        <p:spPr>
          <a:xfrm>
            <a:off x="4236467" y="1621483"/>
            <a:ext cx="110401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529"/>
                </a:solidFill>
                <a:latin typeface="+mn-ea"/>
                <a:cs typeface="Calibri" pitchFamily="34" charset="-120"/>
              </a:rPr>
              <a:t>围绕歌单与评论区打造情感社区，热评文化成为现象级传播，地铁乐评专列引爆全网</a:t>
            </a:r>
            <a:endParaRPr lang="en-US" sz="1200" dirty="0">
              <a:latin typeface="+mn-ea"/>
            </a:endParaRPr>
          </a:p>
        </p:txBody>
      </p:sp>
      <p:sp>
        <p:nvSpPr>
          <p:cNvPr id="165" name="Text 31">
            <a:extLst>
              <a:ext uri="{FF2B5EF4-FFF2-40B4-BE49-F238E27FC236}">
                <a16:creationId xmlns:a16="http://schemas.microsoft.com/office/drawing/2014/main" id="{92ACCA73-52FA-9BA1-D553-00692098E214}"/>
              </a:ext>
            </a:extLst>
          </p:cNvPr>
          <p:cNvSpPr/>
          <p:nvPr/>
        </p:nvSpPr>
        <p:spPr>
          <a:xfrm>
            <a:off x="4282079" y="980639"/>
            <a:ext cx="12633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212529"/>
                </a:solidFill>
                <a:latin typeface="+mn-ea"/>
                <a:cs typeface="Calibri" pitchFamily="34" charset="-120"/>
              </a:rPr>
              <a:t>「听歌不看评论等于白听」「</a:t>
            </a:r>
            <a:r>
              <a:rPr lang="en-US" sz="1100" i="1" dirty="0" err="1">
                <a:solidFill>
                  <a:srgbClr val="212529"/>
                </a:solidFill>
                <a:latin typeface="+mn-ea"/>
                <a:cs typeface="Calibri" pitchFamily="34" charset="-120"/>
              </a:rPr>
              <a:t>网易云不是播放器，是树洞</a:t>
            </a:r>
            <a:r>
              <a:rPr lang="en-US" sz="1100" i="1" dirty="0">
                <a:solidFill>
                  <a:srgbClr val="212529"/>
                </a:solidFill>
                <a:latin typeface="+mn-ea"/>
                <a:cs typeface="Calibri" pitchFamily="34" charset="-120"/>
              </a:rPr>
              <a:t>」</a:t>
            </a:r>
            <a:endParaRPr lang="en-US" sz="1100" dirty="0">
              <a:latin typeface="+mn-ea"/>
            </a:endParaRPr>
          </a:p>
        </p:txBody>
      </p:sp>
      <p:sp>
        <p:nvSpPr>
          <p:cNvPr id="166" name="Text 8">
            <a:extLst>
              <a:ext uri="{FF2B5EF4-FFF2-40B4-BE49-F238E27FC236}">
                <a16:creationId xmlns:a16="http://schemas.microsoft.com/office/drawing/2014/main" id="{BDF96BEB-BDF7-8293-8B0C-6E91E3DE8B14}"/>
              </a:ext>
            </a:extLst>
          </p:cNvPr>
          <p:cNvSpPr/>
          <p:nvPr/>
        </p:nvSpPr>
        <p:spPr>
          <a:xfrm>
            <a:off x="5749624" y="3839652"/>
            <a:ext cx="12573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529"/>
                </a:solidFill>
                <a:latin typeface="+mn-ea"/>
                <a:cs typeface="Calibri" pitchFamily="34" charset="-120"/>
              </a:rPr>
              <a:t>每日推荐解决了「不知道听什么」，但不同场景（运动/睡前/开车）需要不同内容</a:t>
            </a:r>
            <a:endParaRPr lang="en-US" sz="1200" dirty="0">
              <a:latin typeface="+mn-ea"/>
            </a:endParaRPr>
          </a:p>
        </p:txBody>
      </p:sp>
      <p:sp>
        <p:nvSpPr>
          <p:cNvPr id="167" name="Text 12">
            <a:extLst>
              <a:ext uri="{FF2B5EF4-FFF2-40B4-BE49-F238E27FC236}">
                <a16:creationId xmlns:a16="http://schemas.microsoft.com/office/drawing/2014/main" id="{0E53629F-DC66-94C3-83D6-ED60C12927AB}"/>
              </a:ext>
            </a:extLst>
          </p:cNvPr>
          <p:cNvSpPr/>
          <p:nvPr/>
        </p:nvSpPr>
        <p:spPr>
          <a:xfrm>
            <a:off x="5797467" y="1621483"/>
            <a:ext cx="110401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529"/>
                </a:solidFill>
                <a:latin typeface="+mn-ea"/>
                <a:cs typeface="Calibri" pitchFamily="34" charset="-120"/>
              </a:rPr>
              <a:t>心动模式（歌单中插入推荐曲）、场景歌单、一起听（疫情期实时同步听歌）</a:t>
            </a:r>
            <a:endParaRPr lang="en-US" sz="1200" dirty="0">
              <a:latin typeface="+mn-ea"/>
            </a:endParaRPr>
          </a:p>
        </p:txBody>
      </p:sp>
      <p:sp>
        <p:nvSpPr>
          <p:cNvPr id="168" name="Text 31">
            <a:extLst>
              <a:ext uri="{FF2B5EF4-FFF2-40B4-BE49-F238E27FC236}">
                <a16:creationId xmlns:a16="http://schemas.microsoft.com/office/drawing/2014/main" id="{CEEA6480-A266-0DC0-E4C7-BD82AE46D327}"/>
              </a:ext>
            </a:extLst>
          </p:cNvPr>
          <p:cNvSpPr/>
          <p:nvPr/>
        </p:nvSpPr>
        <p:spPr>
          <a:xfrm>
            <a:off x="7168637" y="980639"/>
            <a:ext cx="12633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212529"/>
                </a:solidFill>
                <a:latin typeface="+mn-ea"/>
                <a:cs typeface="Calibri" pitchFamily="34" charset="-120"/>
              </a:rPr>
              <a:t>「心动模式太上头了，歌单永远听不完」「</a:t>
            </a:r>
            <a:r>
              <a:rPr lang="en-US" sz="1100" i="1" dirty="0" err="1">
                <a:solidFill>
                  <a:srgbClr val="212529"/>
                </a:solidFill>
                <a:latin typeface="+mn-ea"/>
                <a:cs typeface="Calibri" pitchFamily="34" charset="-120"/>
              </a:rPr>
              <a:t>一起听拯救了异地恋</a:t>
            </a:r>
            <a:endParaRPr lang="en-US" sz="1100" dirty="0">
              <a:latin typeface="+mn-ea"/>
            </a:endParaRPr>
          </a:p>
        </p:txBody>
      </p:sp>
      <p:sp>
        <p:nvSpPr>
          <p:cNvPr id="169" name="Text 8">
            <a:extLst>
              <a:ext uri="{FF2B5EF4-FFF2-40B4-BE49-F238E27FC236}">
                <a16:creationId xmlns:a16="http://schemas.microsoft.com/office/drawing/2014/main" id="{23E822D0-C0C4-18E5-FC4A-17BF0A2B9148}"/>
              </a:ext>
            </a:extLst>
          </p:cNvPr>
          <p:cNvSpPr/>
          <p:nvPr/>
        </p:nvSpPr>
        <p:spPr>
          <a:xfrm>
            <a:off x="7437090" y="3839652"/>
            <a:ext cx="86132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529"/>
                </a:solidFill>
                <a:latin typeface="+mn-ea"/>
                <a:cs typeface="Calibri" pitchFamily="34" charset="-120"/>
              </a:rPr>
              <a:t>歌单创建是孤立的个人行为，缺乏社交连接和协作</a:t>
            </a:r>
            <a:endParaRPr lang="en-US" sz="1200" dirty="0">
              <a:latin typeface="+mn-ea"/>
            </a:endParaRPr>
          </a:p>
        </p:txBody>
      </p:sp>
      <p:sp>
        <p:nvSpPr>
          <p:cNvPr id="170" name="Text 12">
            <a:extLst>
              <a:ext uri="{FF2B5EF4-FFF2-40B4-BE49-F238E27FC236}">
                <a16:creationId xmlns:a16="http://schemas.microsoft.com/office/drawing/2014/main" id="{8DBFB4BC-1941-8AB6-E116-43D632753BA4}"/>
              </a:ext>
            </a:extLst>
          </p:cNvPr>
          <p:cNvSpPr/>
          <p:nvPr/>
        </p:nvSpPr>
        <p:spPr>
          <a:xfrm>
            <a:off x="7358467" y="1621483"/>
            <a:ext cx="97455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529"/>
                </a:solidFill>
                <a:latin typeface="+mn-ea"/>
                <a:cs typeface="Calibri" pitchFamily="34" charset="-120"/>
              </a:rPr>
              <a:t>共创歌单（多人编辑）、社交互动增强、Mlog/云圈等社区功能</a:t>
            </a:r>
            <a:endParaRPr lang="en-US" sz="1200" dirty="0">
              <a:latin typeface="+mn-ea"/>
            </a:endParaRPr>
          </a:p>
        </p:txBody>
      </p:sp>
      <p:sp>
        <p:nvSpPr>
          <p:cNvPr id="171" name="Text 31">
            <a:extLst>
              <a:ext uri="{FF2B5EF4-FFF2-40B4-BE49-F238E27FC236}">
                <a16:creationId xmlns:a16="http://schemas.microsoft.com/office/drawing/2014/main" id="{933C6CC4-5D91-87F9-6FF6-5F0FD2FF8D43}"/>
              </a:ext>
            </a:extLst>
          </p:cNvPr>
          <p:cNvSpPr/>
          <p:nvPr/>
        </p:nvSpPr>
        <p:spPr>
          <a:xfrm>
            <a:off x="5945536" y="980639"/>
            <a:ext cx="82296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212529"/>
                </a:solidFill>
                <a:latin typeface="+mn-ea"/>
                <a:cs typeface="Calibri" pitchFamily="34" charset="-120"/>
              </a:rPr>
              <a:t>「</a:t>
            </a:r>
            <a:r>
              <a:rPr lang="en-US" sz="1100" i="1" dirty="0" err="1">
                <a:solidFill>
                  <a:srgbClr val="212529"/>
                </a:solidFill>
                <a:latin typeface="+mn-ea"/>
                <a:cs typeface="Calibri" pitchFamily="34" charset="-120"/>
              </a:rPr>
              <a:t>和男朋友的共创歌单是我们的恋爱日记</a:t>
            </a:r>
            <a:r>
              <a:rPr lang="en-US" sz="1100" i="1" dirty="0">
                <a:solidFill>
                  <a:srgbClr val="212529"/>
                </a:solidFill>
                <a:latin typeface="+mn-ea"/>
                <a:cs typeface="Calibri" pitchFamily="34" charset="-120"/>
              </a:rPr>
              <a:t>」</a:t>
            </a:r>
            <a:endParaRPr lang="en-US" sz="1100" dirty="0">
              <a:latin typeface="+mn-ea"/>
            </a:endParaRPr>
          </a:p>
        </p:txBody>
      </p:sp>
      <p:sp>
        <p:nvSpPr>
          <p:cNvPr id="172" name="Text 8">
            <a:extLst>
              <a:ext uri="{FF2B5EF4-FFF2-40B4-BE49-F238E27FC236}">
                <a16:creationId xmlns:a16="http://schemas.microsoft.com/office/drawing/2014/main" id="{14C3FEDB-B1F8-67AE-8350-124289E3CAFC}"/>
              </a:ext>
            </a:extLst>
          </p:cNvPr>
          <p:cNvSpPr/>
          <p:nvPr/>
        </p:nvSpPr>
        <p:spPr>
          <a:xfrm>
            <a:off x="8728579" y="3839652"/>
            <a:ext cx="118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529"/>
                </a:solidFill>
                <a:latin typeface="+mn-ea"/>
                <a:cs typeface="Calibri" pitchFamily="34" charset="-120"/>
              </a:rPr>
              <a:t>手动创建歌单门槛高、传统搜索不够灵活，用户难以准确表达音乐需求</a:t>
            </a:r>
            <a:endParaRPr lang="en-US" sz="1200" dirty="0">
              <a:latin typeface="+mn-ea"/>
            </a:endParaRPr>
          </a:p>
        </p:txBody>
      </p:sp>
      <p:sp>
        <p:nvSpPr>
          <p:cNvPr id="175" name="Text 12">
            <a:extLst>
              <a:ext uri="{FF2B5EF4-FFF2-40B4-BE49-F238E27FC236}">
                <a16:creationId xmlns:a16="http://schemas.microsoft.com/office/drawing/2014/main" id="{A4B416B1-592B-BC67-852C-5782765B8DF1}"/>
              </a:ext>
            </a:extLst>
          </p:cNvPr>
          <p:cNvSpPr/>
          <p:nvPr/>
        </p:nvSpPr>
        <p:spPr>
          <a:xfrm>
            <a:off x="8790009" y="1621483"/>
            <a:ext cx="11839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529"/>
                </a:solidFill>
                <a:latin typeface="+mn-ea"/>
                <a:cs typeface="Calibri" pitchFamily="34" charset="-120"/>
              </a:rPr>
              <a:t>自然语言生成歌单（如「周五下班骑车回家的路上」）、AIGC 音乐创作融入歌单</a:t>
            </a:r>
            <a:endParaRPr lang="en-US" sz="1200" dirty="0">
              <a:latin typeface="+mn-ea"/>
            </a:endParaRPr>
          </a:p>
        </p:txBody>
      </p:sp>
      <p:sp>
        <p:nvSpPr>
          <p:cNvPr id="176" name="Text 31">
            <a:extLst>
              <a:ext uri="{FF2B5EF4-FFF2-40B4-BE49-F238E27FC236}">
                <a16:creationId xmlns:a16="http://schemas.microsoft.com/office/drawing/2014/main" id="{D142A50E-D35E-A318-A947-3F83E86F31E6}"/>
              </a:ext>
            </a:extLst>
          </p:cNvPr>
          <p:cNvSpPr/>
          <p:nvPr/>
        </p:nvSpPr>
        <p:spPr>
          <a:xfrm>
            <a:off x="8832093" y="980639"/>
            <a:ext cx="11839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212529"/>
                </a:solidFill>
                <a:latin typeface="+mn-ea"/>
                <a:cs typeface="Calibri" pitchFamily="34" charset="-120"/>
              </a:rPr>
              <a:t>「</a:t>
            </a:r>
            <a:r>
              <a:rPr lang="en-US" sz="1100" i="1" dirty="0" err="1">
                <a:solidFill>
                  <a:srgbClr val="212529"/>
                </a:solidFill>
                <a:latin typeface="+mn-ea"/>
                <a:cs typeface="Calibri" pitchFamily="34" charset="-120"/>
              </a:rPr>
              <a:t>说一句话就能生成歌单太爽了</a:t>
            </a:r>
            <a:r>
              <a:rPr lang="en-US" sz="1100" i="1" dirty="0">
                <a:solidFill>
                  <a:srgbClr val="212529"/>
                </a:solidFill>
                <a:latin typeface="+mn-ea"/>
                <a:cs typeface="Calibri" pitchFamily="34" charset="-120"/>
              </a:rPr>
              <a:t>」</a:t>
            </a:r>
            <a:endParaRPr lang="en-US" sz="1100" dirty="0">
              <a:latin typeface="+mn-ea"/>
            </a:endParaRPr>
          </a:p>
        </p:txBody>
      </p:sp>
      <p:sp>
        <p:nvSpPr>
          <p:cNvPr id="177" name="Text 8">
            <a:extLst>
              <a:ext uri="{FF2B5EF4-FFF2-40B4-BE49-F238E27FC236}">
                <a16:creationId xmlns:a16="http://schemas.microsoft.com/office/drawing/2014/main" id="{E7E74A31-262D-324D-598E-A12D0E82B421}"/>
              </a:ext>
            </a:extLst>
          </p:cNvPr>
          <p:cNvSpPr/>
          <p:nvPr/>
        </p:nvSpPr>
        <p:spPr>
          <a:xfrm>
            <a:off x="10347227" y="3839652"/>
            <a:ext cx="121938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529"/>
                </a:solidFill>
                <a:latin typeface="+mn-ea"/>
                <a:cs typeface="Calibri" pitchFamily="34" charset="-120"/>
              </a:rPr>
              <a:t>音乐消费停留在「播放」层面，缺乏更深度的交互和理解</a:t>
            </a:r>
            <a:endParaRPr lang="en-US" sz="1200" dirty="0">
              <a:latin typeface="+mn-ea"/>
            </a:endParaRPr>
          </a:p>
        </p:txBody>
      </p:sp>
      <p:sp>
        <p:nvSpPr>
          <p:cNvPr id="178" name="Text 12">
            <a:extLst>
              <a:ext uri="{FF2B5EF4-FFF2-40B4-BE49-F238E27FC236}">
                <a16:creationId xmlns:a16="http://schemas.microsoft.com/office/drawing/2014/main" id="{AA38FFC8-612F-4ADC-7857-1E6E8C1D0767}"/>
              </a:ext>
            </a:extLst>
          </p:cNvPr>
          <p:cNvSpPr/>
          <p:nvPr/>
        </p:nvSpPr>
        <p:spPr>
          <a:xfrm>
            <a:off x="10430898" y="1621483"/>
            <a:ext cx="11839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529"/>
                </a:solidFill>
                <a:latin typeface="+mn-ea"/>
                <a:cs typeface="Calibri" pitchFamily="34" charset="-120"/>
              </a:rPr>
              <a:t>接入 DeepSeek-V4 大模型，对话式歌单生成、音乐品味分析、AI 乐评助手</a:t>
            </a:r>
            <a:endParaRPr lang="en-US" sz="1200" dirty="0">
              <a:latin typeface="+mn-ea"/>
            </a:endParaRPr>
          </a:p>
        </p:txBody>
      </p:sp>
      <p:sp>
        <p:nvSpPr>
          <p:cNvPr id="179" name="Text 31">
            <a:extLst>
              <a:ext uri="{FF2B5EF4-FFF2-40B4-BE49-F238E27FC236}">
                <a16:creationId xmlns:a16="http://schemas.microsoft.com/office/drawing/2014/main" id="{A3BF1F72-1A77-5472-A3B0-1505794CB104}"/>
              </a:ext>
            </a:extLst>
          </p:cNvPr>
          <p:cNvSpPr/>
          <p:nvPr/>
        </p:nvSpPr>
        <p:spPr>
          <a:xfrm>
            <a:off x="10416138" y="980639"/>
            <a:ext cx="21079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212529"/>
                </a:solidFill>
                <a:latin typeface="+mn-ea"/>
                <a:cs typeface="Calibri" pitchFamily="34" charset="-120"/>
              </a:rPr>
              <a:t>「AI 能帮我分析音乐品味太有意思了」「和 AI 聊一首歌比看百科有趣」—— 体验用户</a:t>
            </a:r>
            <a:endParaRPr lang="en-US" sz="1100" dirty="0">
              <a:latin typeface="+mn-ea"/>
            </a:endParaRPr>
          </a:p>
        </p:txBody>
      </p:sp>
      <p:sp>
        <p:nvSpPr>
          <p:cNvPr id="181" name="Text 29">
            <a:extLst>
              <a:ext uri="{FF2B5EF4-FFF2-40B4-BE49-F238E27FC236}">
                <a16:creationId xmlns:a16="http://schemas.microsoft.com/office/drawing/2014/main" id="{07AAFBA9-98B7-0DFD-BB77-3DDAC9CEA46A}"/>
              </a:ext>
            </a:extLst>
          </p:cNvPr>
          <p:cNvSpPr/>
          <p:nvPr/>
        </p:nvSpPr>
        <p:spPr>
          <a:xfrm>
            <a:off x="710665" y="-680454"/>
            <a:ext cx="15078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altLang="en-US" sz="1100" i="1" dirty="0">
                <a:solidFill>
                  <a:srgbClr val="212529"/>
                </a:solidFill>
                <a:latin typeface="+mn-ea"/>
                <a:cs typeface="Calibri" pitchFamily="34" charset="-120"/>
              </a:rPr>
              <a:t>丁磊喜欢听南斯拉夫等小众音乐</a:t>
            </a:r>
            <a:endParaRPr lang="en-US" sz="11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34335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文本占位符 1">
            <a:extLst>
              <a:ext uri="{FF2B5EF4-FFF2-40B4-BE49-F238E27FC236}">
                <a16:creationId xmlns:a16="http://schemas.microsoft.com/office/drawing/2014/main" id="{F70B205F-7808-82EC-01D7-0F3DA29624E9}"/>
              </a:ext>
            </a:extLst>
          </p:cNvPr>
          <p:cNvSpPr txBox="1">
            <a:spLocks/>
          </p:cNvSpPr>
          <p:nvPr/>
        </p:nvSpPr>
        <p:spPr>
          <a:xfrm>
            <a:off x="363354" y="331948"/>
            <a:ext cx="6435792" cy="576536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网易云音乐</a:t>
            </a:r>
          </a:p>
        </p:txBody>
      </p:sp>
      <p:sp>
        <p:nvSpPr>
          <p:cNvPr id="48" name="Shape 2">
            <a:extLst>
              <a:ext uri="{FF2B5EF4-FFF2-40B4-BE49-F238E27FC236}">
                <a16:creationId xmlns:a16="http://schemas.microsoft.com/office/drawing/2014/main" id="{D3925FFE-6F5C-A8FD-8657-73987347C387}"/>
              </a:ext>
            </a:extLst>
          </p:cNvPr>
          <p:cNvSpPr/>
          <p:nvPr/>
        </p:nvSpPr>
        <p:spPr>
          <a:xfrm flipV="1">
            <a:off x="219075" y="3062391"/>
            <a:ext cx="11080983" cy="2772"/>
          </a:xfrm>
          <a:prstGeom prst="line">
            <a:avLst/>
          </a:prstGeom>
          <a:noFill/>
          <a:ln w="31750">
            <a:solidFill>
              <a:schemeClr val="bg1">
                <a:lumMod val="85000"/>
              </a:schemeClr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49" name="Shape 3">
            <a:extLst>
              <a:ext uri="{FF2B5EF4-FFF2-40B4-BE49-F238E27FC236}">
                <a16:creationId xmlns:a16="http://schemas.microsoft.com/office/drawing/2014/main" id="{9E3E1C1B-7BD1-CA91-A7D9-17AED3D3A8CC}"/>
              </a:ext>
            </a:extLst>
          </p:cNvPr>
          <p:cNvSpPr/>
          <p:nvPr/>
        </p:nvSpPr>
        <p:spPr>
          <a:xfrm>
            <a:off x="468540" y="2964942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CN" altLang="en-US" sz="1200" dirty="0">
              <a:latin typeface="+mn-ea"/>
            </a:endParaRPr>
          </a:p>
        </p:txBody>
      </p:sp>
      <p:sp>
        <p:nvSpPr>
          <p:cNvPr id="50" name="Text 4">
            <a:extLst>
              <a:ext uri="{FF2B5EF4-FFF2-40B4-BE49-F238E27FC236}">
                <a16:creationId xmlns:a16="http://schemas.microsoft.com/office/drawing/2014/main" id="{D0EC1657-290F-9E98-923E-9E0A51631428}"/>
              </a:ext>
            </a:extLst>
          </p:cNvPr>
          <p:cNvSpPr/>
          <p:nvPr/>
        </p:nvSpPr>
        <p:spPr>
          <a:xfrm>
            <a:off x="159637" y="259208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dirty="0">
                <a:latin typeface="+mn-ea"/>
                <a:cs typeface="Arial Black" pitchFamily="34" charset="-120"/>
              </a:rPr>
              <a:t>2013</a:t>
            </a:r>
            <a:endParaRPr lang="en-US" sz="1200" dirty="0">
              <a:latin typeface="+mn-ea"/>
            </a:endParaRPr>
          </a:p>
        </p:txBody>
      </p:sp>
      <p:sp>
        <p:nvSpPr>
          <p:cNvPr id="51" name="Text 5">
            <a:extLst>
              <a:ext uri="{FF2B5EF4-FFF2-40B4-BE49-F238E27FC236}">
                <a16:creationId xmlns:a16="http://schemas.microsoft.com/office/drawing/2014/main" id="{BE53DEC0-DE4E-2517-00BC-EE896D9FBAD1}"/>
              </a:ext>
            </a:extLst>
          </p:cNvPr>
          <p:cNvSpPr/>
          <p:nvPr/>
        </p:nvSpPr>
        <p:spPr>
          <a:xfrm>
            <a:off x="91338" y="3357666"/>
            <a:ext cx="1205800" cy="1330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200" dirty="0">
                <a:latin typeface="+mn-ea"/>
                <a:cs typeface="Calibri" pitchFamily="34" charset="-120"/>
              </a:rPr>
              <a:t>网易云音乐</a:t>
            </a:r>
            <a:r>
              <a:rPr lang="en-US" altLang="zh-CN" sz="1200" dirty="0">
                <a:latin typeface="+mn-ea"/>
                <a:cs typeface="Calibri" pitchFamily="34" charset="-120"/>
              </a:rPr>
              <a:t>1.0</a:t>
            </a:r>
            <a:r>
              <a:rPr lang="zh-CN" altLang="en-US" sz="1200" dirty="0">
                <a:latin typeface="+mn-ea"/>
                <a:cs typeface="Calibri" pitchFamily="34" charset="-120"/>
              </a:rPr>
              <a:t>发布。</a:t>
            </a:r>
            <a:r>
              <a:rPr lang="en-US" sz="1200" b="1" dirty="0" err="1">
                <a:latin typeface="+mn-ea"/>
                <a:cs typeface="Calibri" pitchFamily="34" charset="-120"/>
              </a:rPr>
              <a:t>歌单</a:t>
            </a:r>
            <a:r>
              <a:rPr lang="en-US" sz="1200" b="1" dirty="0">
                <a:latin typeface="+mn-ea"/>
                <a:cs typeface="Calibri" pitchFamily="34" charset="-120"/>
              </a:rPr>
              <a:t>+</a:t>
            </a:r>
            <a:r>
              <a:rPr lang="zh-CN" altLang="en-US" sz="1200" b="1" dirty="0">
                <a:latin typeface="+mn-ea"/>
                <a:cs typeface="Calibri" pitchFamily="34" charset="-120"/>
              </a:rPr>
              <a:t>评论作为核心架构</a:t>
            </a:r>
            <a:r>
              <a:rPr lang="zh-CN" altLang="en-US" sz="1200" dirty="0">
                <a:latin typeface="+mn-ea"/>
                <a:cs typeface="Calibri" pitchFamily="34" charset="-120"/>
              </a:rPr>
              <a:t>。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取代传统专辑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/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歌手分类，首创UGC歌单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,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用户可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创建、分享、收藏</a:t>
            </a:r>
            <a:endParaRPr lang="en-US" sz="1200" dirty="0">
              <a:latin typeface="+mn-ea"/>
            </a:endParaRPr>
          </a:p>
        </p:txBody>
      </p:sp>
      <p:sp>
        <p:nvSpPr>
          <p:cNvPr id="52" name="Shape 6">
            <a:extLst>
              <a:ext uri="{FF2B5EF4-FFF2-40B4-BE49-F238E27FC236}">
                <a16:creationId xmlns:a16="http://schemas.microsoft.com/office/drawing/2014/main" id="{BBB272DA-3C14-8681-976D-C975A89DBD5F}"/>
              </a:ext>
            </a:extLst>
          </p:cNvPr>
          <p:cNvSpPr/>
          <p:nvPr/>
        </p:nvSpPr>
        <p:spPr>
          <a:xfrm>
            <a:off x="1911648" y="2986247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3" name="Text 7">
            <a:extLst>
              <a:ext uri="{FF2B5EF4-FFF2-40B4-BE49-F238E27FC236}">
                <a16:creationId xmlns:a16="http://schemas.microsoft.com/office/drawing/2014/main" id="{309FF544-4822-00DA-1682-1E9ED47761F1}"/>
              </a:ext>
            </a:extLst>
          </p:cNvPr>
          <p:cNvSpPr/>
          <p:nvPr/>
        </p:nvSpPr>
        <p:spPr>
          <a:xfrm>
            <a:off x="1600350" y="2593055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dirty="0">
                <a:latin typeface="+mn-ea"/>
                <a:cs typeface="Arial Black" pitchFamily="34" charset="-120"/>
              </a:rPr>
              <a:t>2014</a:t>
            </a:r>
            <a:endParaRPr lang="en-US" sz="1200" dirty="0">
              <a:latin typeface="+mn-ea"/>
            </a:endParaRPr>
          </a:p>
        </p:txBody>
      </p:sp>
      <p:sp>
        <p:nvSpPr>
          <p:cNvPr id="54" name="Text 8">
            <a:extLst>
              <a:ext uri="{FF2B5EF4-FFF2-40B4-BE49-F238E27FC236}">
                <a16:creationId xmlns:a16="http://schemas.microsoft.com/office/drawing/2014/main" id="{927049E6-630E-1AEA-0CCF-D4279BAD72DB}"/>
              </a:ext>
            </a:extLst>
          </p:cNvPr>
          <p:cNvSpPr/>
          <p:nvPr/>
        </p:nvSpPr>
        <p:spPr>
          <a:xfrm>
            <a:off x="1560562" y="3357666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CN" altLang="en-US" sz="1200" dirty="0">
                <a:latin typeface="+mn-ea"/>
                <a:cs typeface="Calibri" pitchFamily="34" charset="-120"/>
              </a:rPr>
              <a:t>采用</a:t>
            </a:r>
            <a:r>
              <a:rPr lang="en-US" sz="1200" dirty="0" err="1">
                <a:latin typeface="+mn-ea"/>
                <a:cs typeface="Calibri" pitchFamily="34" charset="-120"/>
              </a:rPr>
              <a:t>每日推荐</a:t>
            </a:r>
            <a:r>
              <a:rPr lang="zh-CN" altLang="en-US" sz="1200" dirty="0">
                <a:latin typeface="+mn-ea"/>
                <a:cs typeface="Calibri" pitchFamily="34" charset="-120"/>
              </a:rPr>
              <a:t>、私人</a:t>
            </a:r>
            <a:r>
              <a:rPr lang="en-US" altLang="zh-CN" sz="1200" dirty="0">
                <a:latin typeface="+mn-ea"/>
                <a:cs typeface="Calibri" pitchFamily="34" charset="-120"/>
              </a:rPr>
              <a:t>FM</a:t>
            </a:r>
            <a:r>
              <a:rPr lang="zh-CN" altLang="en-US" sz="1200" dirty="0">
                <a:latin typeface="+mn-ea"/>
                <a:cs typeface="Calibri" pitchFamily="34" charset="-120"/>
              </a:rPr>
              <a:t>等算法分发、</a:t>
            </a:r>
            <a:r>
              <a:rPr lang="zh-CN" altLang="en-US" sz="1200" b="0" i="0" dirty="0">
                <a:effectLst/>
                <a:latin typeface="+mn-ea"/>
              </a:rPr>
              <a:t>评论</a:t>
            </a:r>
            <a:r>
              <a:rPr lang="zh-CN" altLang="en-US" sz="1200" dirty="0">
                <a:latin typeface="+mn-ea"/>
              </a:rPr>
              <a:t>支持</a:t>
            </a:r>
            <a:r>
              <a:rPr lang="zh-CN" altLang="en-US" sz="1200" b="0" i="0" dirty="0">
                <a:effectLst/>
                <a:latin typeface="+mn-ea"/>
              </a:rPr>
              <a:t>点赞互动</a:t>
            </a:r>
            <a:endParaRPr lang="en-US" sz="1200" dirty="0">
              <a:latin typeface="+mn-ea"/>
            </a:endParaRPr>
          </a:p>
        </p:txBody>
      </p:sp>
      <p:sp>
        <p:nvSpPr>
          <p:cNvPr id="55" name="Shape 9">
            <a:extLst>
              <a:ext uri="{FF2B5EF4-FFF2-40B4-BE49-F238E27FC236}">
                <a16:creationId xmlns:a16="http://schemas.microsoft.com/office/drawing/2014/main" id="{84D7EEE8-A80C-2BD6-7072-D07BC4F9F4E1}"/>
              </a:ext>
            </a:extLst>
          </p:cNvPr>
          <p:cNvSpPr/>
          <p:nvPr/>
        </p:nvSpPr>
        <p:spPr>
          <a:xfrm>
            <a:off x="6240972" y="295270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2B09C775-E51A-08AE-8C3F-CE4F97B6432C}"/>
              </a:ext>
            </a:extLst>
          </p:cNvPr>
          <p:cNvSpPr/>
          <p:nvPr/>
        </p:nvSpPr>
        <p:spPr>
          <a:xfrm>
            <a:off x="5922489" y="255951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dirty="0">
                <a:latin typeface="+mn-ea"/>
                <a:cs typeface="Arial Black" pitchFamily="34" charset="-120"/>
              </a:rPr>
              <a:t>2017</a:t>
            </a:r>
            <a:endParaRPr lang="en-US" sz="1200" dirty="0">
              <a:latin typeface="+mn-ea"/>
            </a:endParaRPr>
          </a:p>
        </p:txBody>
      </p:sp>
      <p:sp>
        <p:nvSpPr>
          <p:cNvPr id="57" name="Text 11">
            <a:extLst>
              <a:ext uri="{FF2B5EF4-FFF2-40B4-BE49-F238E27FC236}">
                <a16:creationId xmlns:a16="http://schemas.microsoft.com/office/drawing/2014/main" id="{78645FE3-E4A3-6E7A-93F2-89C243DF2209}"/>
              </a:ext>
            </a:extLst>
          </p:cNvPr>
          <p:cNvSpPr/>
          <p:nvPr/>
        </p:nvSpPr>
        <p:spPr>
          <a:xfrm>
            <a:off x="5840966" y="3357666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CN" altLang="en-US" sz="1200" dirty="0">
                <a:latin typeface="+mn-ea"/>
              </a:rPr>
              <a:t>乐评专列</a:t>
            </a:r>
            <a:r>
              <a:rPr lang="en-US" altLang="zh-CN" sz="1200" dirty="0">
                <a:latin typeface="+mn-ea"/>
              </a:rPr>
              <a:t>+</a:t>
            </a:r>
            <a:r>
              <a:rPr lang="zh-CN" altLang="en-US" sz="1200" dirty="0">
                <a:latin typeface="+mn-ea"/>
              </a:rPr>
              <a:t>年度听歌报告</a:t>
            </a:r>
            <a:r>
              <a:rPr lang="en-US" altLang="zh-CN" sz="1200" dirty="0">
                <a:latin typeface="+mn-ea"/>
              </a:rPr>
              <a:t>H5</a:t>
            </a:r>
            <a:r>
              <a:rPr lang="zh-CN" altLang="en-US" sz="1200" dirty="0">
                <a:latin typeface="+mn-ea"/>
              </a:rPr>
              <a:t>，强化社区运营</a:t>
            </a:r>
            <a:endParaRPr lang="en-US" sz="1200" dirty="0">
              <a:latin typeface="+mn-ea"/>
            </a:endParaRPr>
          </a:p>
        </p:txBody>
      </p:sp>
      <p:sp>
        <p:nvSpPr>
          <p:cNvPr id="58" name="Shape 12">
            <a:extLst>
              <a:ext uri="{FF2B5EF4-FFF2-40B4-BE49-F238E27FC236}">
                <a16:creationId xmlns:a16="http://schemas.microsoft.com/office/drawing/2014/main" id="{64E88247-8F8E-5085-BB3F-33036669ADF3}"/>
              </a:ext>
            </a:extLst>
          </p:cNvPr>
          <p:cNvSpPr/>
          <p:nvPr/>
        </p:nvSpPr>
        <p:spPr>
          <a:xfrm>
            <a:off x="7684080" y="295270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9" name="Text 13">
            <a:extLst>
              <a:ext uri="{FF2B5EF4-FFF2-40B4-BE49-F238E27FC236}">
                <a16:creationId xmlns:a16="http://schemas.microsoft.com/office/drawing/2014/main" id="{081C8C44-91E1-19AF-3AE0-18D73975469D}"/>
              </a:ext>
            </a:extLst>
          </p:cNvPr>
          <p:cNvSpPr/>
          <p:nvPr/>
        </p:nvSpPr>
        <p:spPr>
          <a:xfrm>
            <a:off x="7363202" y="255951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dirty="0">
                <a:latin typeface="+mn-ea"/>
                <a:cs typeface="Arial Black" pitchFamily="34" charset="-120"/>
              </a:rPr>
              <a:t>2019-2020</a:t>
            </a:r>
            <a:endParaRPr lang="en-US" sz="1200" dirty="0">
              <a:latin typeface="+mn-ea"/>
            </a:endParaRPr>
          </a:p>
        </p:txBody>
      </p:sp>
      <p:sp>
        <p:nvSpPr>
          <p:cNvPr id="60" name="Text 14">
            <a:extLst>
              <a:ext uri="{FF2B5EF4-FFF2-40B4-BE49-F238E27FC236}">
                <a16:creationId xmlns:a16="http://schemas.microsoft.com/office/drawing/2014/main" id="{443D1FE4-1861-7889-87E6-172A6F5DC39A}"/>
              </a:ext>
            </a:extLst>
          </p:cNvPr>
          <p:cNvSpPr/>
          <p:nvPr/>
        </p:nvSpPr>
        <p:spPr>
          <a:xfrm>
            <a:off x="7169154" y="3357666"/>
            <a:ext cx="129857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200" dirty="0">
                <a:latin typeface="+mn-ea"/>
                <a:cs typeface="Calibri" pitchFamily="34" charset="-120"/>
              </a:rPr>
              <a:t>丰富歌单的“场景推荐”，</a:t>
            </a:r>
            <a:r>
              <a:rPr lang="zh-CN" altLang="en-US" sz="1200" b="0" i="0" dirty="0">
                <a:effectLst/>
                <a:latin typeface="+mn-ea"/>
              </a:rPr>
              <a:t>好听的新歌来自“周围的人”、“同样年龄”、“这种天气”、“特殊节日”等。</a:t>
            </a:r>
            <a:r>
              <a:rPr lang="en-US" altLang="zh-CN" sz="1200" b="0" i="0" dirty="0">
                <a:effectLst/>
                <a:latin typeface="+mn-ea"/>
              </a:rPr>
              <a:t> </a:t>
            </a:r>
            <a:r>
              <a:rPr lang="zh-CN" altLang="en-US" sz="1200" b="0" i="0" dirty="0">
                <a:effectLst/>
                <a:latin typeface="+mn-ea"/>
              </a:rPr>
              <a:t>上线</a:t>
            </a:r>
            <a:r>
              <a:rPr lang="en-US" sz="1200" dirty="0" err="1">
                <a:latin typeface="+mn-ea"/>
                <a:cs typeface="Calibri" pitchFamily="34" charset="-120"/>
              </a:rPr>
              <a:t>心动模式</a:t>
            </a:r>
            <a:endParaRPr lang="en-US" sz="1200" dirty="0">
              <a:latin typeface="+mn-ea"/>
            </a:endParaRPr>
          </a:p>
        </p:txBody>
      </p:sp>
      <p:sp>
        <p:nvSpPr>
          <p:cNvPr id="61" name="Shape 15">
            <a:extLst>
              <a:ext uri="{FF2B5EF4-FFF2-40B4-BE49-F238E27FC236}">
                <a16:creationId xmlns:a16="http://schemas.microsoft.com/office/drawing/2014/main" id="{16FD645C-1918-9B91-A2F6-B3ADA3841CC2}"/>
              </a:ext>
            </a:extLst>
          </p:cNvPr>
          <p:cNvSpPr/>
          <p:nvPr/>
        </p:nvSpPr>
        <p:spPr>
          <a:xfrm>
            <a:off x="9127188" y="297275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2" name="Text 16">
            <a:extLst>
              <a:ext uri="{FF2B5EF4-FFF2-40B4-BE49-F238E27FC236}">
                <a16:creationId xmlns:a16="http://schemas.microsoft.com/office/drawing/2014/main" id="{06156485-7803-89E7-5216-9ECEFCC4DFF9}"/>
              </a:ext>
            </a:extLst>
          </p:cNvPr>
          <p:cNvSpPr/>
          <p:nvPr/>
        </p:nvSpPr>
        <p:spPr>
          <a:xfrm>
            <a:off x="8803915" y="257956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dirty="0">
                <a:latin typeface="+mn-ea"/>
                <a:cs typeface="Arial Black" pitchFamily="34" charset="-120"/>
              </a:rPr>
              <a:t>2021-2022</a:t>
            </a:r>
            <a:endParaRPr lang="en-US" sz="1200" dirty="0">
              <a:latin typeface="+mn-ea"/>
            </a:endParaRPr>
          </a:p>
        </p:txBody>
      </p:sp>
      <p:sp>
        <p:nvSpPr>
          <p:cNvPr id="63" name="Text 17">
            <a:extLst>
              <a:ext uri="{FF2B5EF4-FFF2-40B4-BE49-F238E27FC236}">
                <a16:creationId xmlns:a16="http://schemas.microsoft.com/office/drawing/2014/main" id="{4F4F00F5-6C1F-FC1C-0BF7-261D4D451E0D}"/>
              </a:ext>
            </a:extLst>
          </p:cNvPr>
          <p:cNvSpPr/>
          <p:nvPr/>
        </p:nvSpPr>
        <p:spPr>
          <a:xfrm>
            <a:off x="8768434" y="3357666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CN" altLang="en-US" sz="1200" dirty="0">
                <a:latin typeface="+mn-ea"/>
                <a:cs typeface="Calibri" pitchFamily="34" charset="-120"/>
              </a:rPr>
              <a:t>一起听、</a:t>
            </a:r>
            <a:endParaRPr lang="en-US" sz="1200" dirty="0">
              <a:latin typeface="+mn-ea"/>
            </a:endParaRPr>
          </a:p>
          <a:p>
            <a:pPr marL="0" indent="0" algn="ctr">
              <a:buNone/>
            </a:pPr>
            <a:r>
              <a:rPr lang="en-US" sz="1200" dirty="0" err="1">
                <a:latin typeface="+mn-ea"/>
                <a:cs typeface="Calibri" pitchFamily="34" charset="-120"/>
              </a:rPr>
              <a:t>共创歌单</a:t>
            </a:r>
            <a:endParaRPr lang="en-US" sz="1200" dirty="0">
              <a:latin typeface="+mn-ea"/>
              <a:cs typeface="Calibri" pitchFamily="34" charset="-120"/>
            </a:endParaRPr>
          </a:p>
        </p:txBody>
      </p:sp>
      <p:sp>
        <p:nvSpPr>
          <p:cNvPr id="131" name="Shape 21">
            <a:extLst>
              <a:ext uri="{FF2B5EF4-FFF2-40B4-BE49-F238E27FC236}">
                <a16:creationId xmlns:a16="http://schemas.microsoft.com/office/drawing/2014/main" id="{234EA128-E78F-5BA2-9C6C-A675F29A75BF}"/>
              </a:ext>
            </a:extLst>
          </p:cNvPr>
          <p:cNvSpPr/>
          <p:nvPr/>
        </p:nvSpPr>
        <p:spPr>
          <a:xfrm>
            <a:off x="10570299" y="2952663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2" name="Text 22">
            <a:extLst>
              <a:ext uri="{FF2B5EF4-FFF2-40B4-BE49-F238E27FC236}">
                <a16:creationId xmlns:a16="http://schemas.microsoft.com/office/drawing/2014/main" id="{9723D58F-FC96-6734-41F1-0377E13108FC}"/>
              </a:ext>
            </a:extLst>
          </p:cNvPr>
          <p:cNvSpPr/>
          <p:nvPr/>
        </p:nvSpPr>
        <p:spPr>
          <a:xfrm>
            <a:off x="10244629" y="256379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zh-CN" altLang="en-US" sz="1200" dirty="0">
                <a:latin typeface="+mn-ea"/>
              </a:rPr>
              <a:t>近年</a:t>
            </a:r>
            <a:endParaRPr lang="en-US" sz="1200" dirty="0">
              <a:latin typeface="+mn-ea"/>
            </a:endParaRPr>
          </a:p>
        </p:txBody>
      </p:sp>
      <p:sp>
        <p:nvSpPr>
          <p:cNvPr id="133" name="Text 23">
            <a:extLst>
              <a:ext uri="{FF2B5EF4-FFF2-40B4-BE49-F238E27FC236}">
                <a16:creationId xmlns:a16="http://schemas.microsoft.com/office/drawing/2014/main" id="{4C0BAE0C-2FCB-B36D-A687-DE792A6BEA4B}"/>
              </a:ext>
            </a:extLst>
          </p:cNvPr>
          <p:cNvSpPr/>
          <p:nvPr/>
        </p:nvSpPr>
        <p:spPr>
          <a:xfrm>
            <a:off x="10153189" y="3357666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CN" altLang="en-US" sz="1200" dirty="0">
                <a:latin typeface="+mn-ea"/>
                <a:cs typeface="Calibri" pitchFamily="34" charset="-120"/>
              </a:rPr>
              <a:t>灵感歌单</a:t>
            </a:r>
            <a:r>
              <a:rPr lang="en-US" altLang="zh-CN" sz="1200" dirty="0">
                <a:latin typeface="+mn-ea"/>
                <a:cs typeface="Calibri" pitchFamily="34" charset="-120"/>
              </a:rPr>
              <a:t>-AI</a:t>
            </a:r>
            <a:endParaRPr lang="en-US" altLang="zh-CN" sz="1200" dirty="0">
              <a:latin typeface="+mn-ea"/>
            </a:endParaRPr>
          </a:p>
          <a:p>
            <a:pPr marL="0" indent="0" algn="ctr">
              <a:buNone/>
            </a:pPr>
            <a:r>
              <a:rPr lang="en-US" altLang="zh-CN" sz="1200" dirty="0" err="1">
                <a:latin typeface="+mn-ea"/>
                <a:cs typeface="Calibri" pitchFamily="34" charset="-120"/>
              </a:rPr>
              <a:t>对话</a:t>
            </a:r>
            <a:r>
              <a:rPr lang="zh-CN" altLang="en-US" sz="1200" dirty="0">
                <a:latin typeface="+mn-ea"/>
                <a:cs typeface="Calibri" pitchFamily="34" charset="-120"/>
              </a:rPr>
              <a:t>创建歌单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35" name="Text 5">
            <a:extLst>
              <a:ext uri="{FF2B5EF4-FFF2-40B4-BE49-F238E27FC236}">
                <a16:creationId xmlns:a16="http://schemas.microsoft.com/office/drawing/2014/main" id="{FEA7D8CB-FAD9-1832-11C9-1A2843249B14}"/>
              </a:ext>
            </a:extLst>
          </p:cNvPr>
          <p:cNvSpPr/>
          <p:nvPr/>
        </p:nvSpPr>
        <p:spPr>
          <a:xfrm>
            <a:off x="-1051718" y="1605002"/>
            <a:ext cx="7940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zh-CN" altLang="en-US" sz="1200" b="1" dirty="0">
                <a:latin typeface="+mn-ea"/>
                <a:cs typeface="Calibri" pitchFamily="34" charset="-120"/>
              </a:rPr>
              <a:t>痛点</a:t>
            </a:r>
            <a:endParaRPr lang="en-US" sz="1200" b="1" dirty="0">
              <a:latin typeface="+mn-ea"/>
              <a:cs typeface="Calibri" pitchFamily="34" charset="-120"/>
            </a:endParaRPr>
          </a:p>
        </p:txBody>
      </p:sp>
      <p:sp>
        <p:nvSpPr>
          <p:cNvPr id="141" name="Text 8">
            <a:extLst>
              <a:ext uri="{FF2B5EF4-FFF2-40B4-BE49-F238E27FC236}">
                <a16:creationId xmlns:a16="http://schemas.microsoft.com/office/drawing/2014/main" id="{E3C6A58F-0934-AF1B-5F92-2BE19EA9EE3F}"/>
              </a:ext>
            </a:extLst>
          </p:cNvPr>
          <p:cNvSpPr/>
          <p:nvPr/>
        </p:nvSpPr>
        <p:spPr>
          <a:xfrm>
            <a:off x="51587" y="1147569"/>
            <a:ext cx="1272818" cy="1333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zh-CN" sz="1200" dirty="0" err="1">
                <a:latin typeface="+mn-ea"/>
                <a:cs typeface="Microsoft YaHei" pitchFamily="34" charset="-120"/>
              </a:rPr>
              <a:t>行业同质化严重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，</a:t>
            </a:r>
            <a:r>
              <a:rPr lang="en-US" altLang="zh-CN" sz="1200" dirty="0" err="1">
                <a:latin typeface="+mn-ea"/>
                <a:cs typeface="Calibri" pitchFamily="34" charset="-120"/>
              </a:rPr>
              <a:t>以「专辑</a:t>
            </a:r>
            <a:r>
              <a:rPr lang="en-US" altLang="zh-CN" sz="1200" dirty="0">
                <a:latin typeface="+mn-ea"/>
                <a:cs typeface="Calibri" pitchFamily="34" charset="-120"/>
              </a:rPr>
              <a:t>/</a:t>
            </a:r>
            <a:r>
              <a:rPr lang="en-US" altLang="zh-CN" sz="1200" dirty="0" err="1">
                <a:latin typeface="+mn-ea"/>
                <a:cs typeface="Calibri" pitchFamily="34" charset="-120"/>
              </a:rPr>
              <a:t>歌手」组织内容</a:t>
            </a:r>
            <a:r>
              <a:rPr lang="zh-CN" altLang="en-US" sz="1200" dirty="0">
                <a:latin typeface="+mn-ea"/>
                <a:cs typeface="Calibri" pitchFamily="34" charset="-120"/>
              </a:rPr>
              <a:t>，</a:t>
            </a:r>
            <a:r>
              <a:rPr lang="en-US" altLang="zh-CN" sz="1200" dirty="0">
                <a:latin typeface="+mn-ea"/>
                <a:cs typeface="Calibri" pitchFamily="34" charset="-120"/>
              </a:rPr>
              <a:t> 80%用户只听本地音乐 </a:t>
            </a:r>
            <a:r>
              <a:rPr lang="zh-CN" altLang="en-US" sz="1200" dirty="0">
                <a:latin typeface="+mn-ea"/>
                <a:cs typeface="Calibri" pitchFamily="34" charset="-120"/>
              </a:rPr>
              <a:t>。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忽视音乐的情感和社交属性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，</a:t>
            </a:r>
            <a:r>
              <a:rPr lang="en-US" altLang="zh-CN" sz="1200" dirty="0" err="1">
                <a:latin typeface="+mn-ea"/>
                <a:cs typeface="Calibri" pitchFamily="34" charset="-120"/>
              </a:rPr>
              <a:t>找歌效率极低</a:t>
            </a:r>
            <a:r>
              <a:rPr lang="zh-CN" altLang="en-US" sz="1200" dirty="0">
                <a:latin typeface="+mn-ea"/>
                <a:cs typeface="Calibri" pitchFamily="34" charset="-120"/>
              </a:rPr>
              <a:t>，长尾音乐无法被发现</a:t>
            </a:r>
            <a:endParaRPr lang="en-US" altLang="zh-CN" sz="1200" dirty="0">
              <a:latin typeface="+mn-ea"/>
            </a:endParaRPr>
          </a:p>
          <a:p>
            <a:endParaRPr lang="en-US" altLang="zh-CN" sz="1200" dirty="0">
              <a:latin typeface="+mn-ea"/>
            </a:endParaRPr>
          </a:p>
          <a:p>
            <a:pPr marL="0" indent="0" algn="l">
              <a:buNone/>
            </a:pPr>
            <a:endParaRPr lang="en-US" sz="1200" b="1" dirty="0">
              <a:latin typeface="+mn-ea"/>
              <a:cs typeface="Calibri" pitchFamily="34" charset="-120"/>
            </a:endParaRPr>
          </a:p>
        </p:txBody>
      </p:sp>
      <p:sp>
        <p:nvSpPr>
          <p:cNvPr id="142" name="Text 11">
            <a:extLst>
              <a:ext uri="{FF2B5EF4-FFF2-40B4-BE49-F238E27FC236}">
                <a16:creationId xmlns:a16="http://schemas.microsoft.com/office/drawing/2014/main" id="{3AD5C54C-C697-9935-013B-3FB1368294B0}"/>
              </a:ext>
            </a:extLst>
          </p:cNvPr>
          <p:cNvSpPr/>
          <p:nvPr/>
        </p:nvSpPr>
        <p:spPr>
          <a:xfrm>
            <a:off x="-996895" y="2847324"/>
            <a:ext cx="794084" cy="402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latin typeface="+mn-ea"/>
                <a:cs typeface="Calibri" pitchFamily="34" charset="-120"/>
              </a:rPr>
              <a:t>关键节点</a:t>
            </a:r>
            <a:endParaRPr lang="en-US" sz="1200" dirty="0">
              <a:latin typeface="+mn-ea"/>
            </a:endParaRPr>
          </a:p>
        </p:txBody>
      </p:sp>
      <p:sp>
        <p:nvSpPr>
          <p:cNvPr id="143" name="Text 12">
            <a:extLst>
              <a:ext uri="{FF2B5EF4-FFF2-40B4-BE49-F238E27FC236}">
                <a16:creationId xmlns:a16="http://schemas.microsoft.com/office/drawing/2014/main" id="{9710BE4D-A085-0110-7943-6674651346B1}"/>
              </a:ext>
            </a:extLst>
          </p:cNvPr>
          <p:cNvSpPr/>
          <p:nvPr/>
        </p:nvSpPr>
        <p:spPr>
          <a:xfrm>
            <a:off x="-134569" y="6307644"/>
            <a:ext cx="1272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altLang="zh-CN" sz="1200" dirty="0" err="1">
                <a:latin typeface="+mn-ea"/>
                <a:cs typeface="Microsoft YaHei" pitchFamily="34" charset="-120"/>
              </a:rPr>
              <a:t>丁磊等团队自建种子歌单；邀请知名DJ、乐评人、独立音乐人入驻，高质量PGC内容打底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47" name="Text 28">
            <a:extLst>
              <a:ext uri="{FF2B5EF4-FFF2-40B4-BE49-F238E27FC236}">
                <a16:creationId xmlns:a16="http://schemas.microsoft.com/office/drawing/2014/main" id="{E1BDD34A-59E0-6368-88A2-19F3B1B155CC}"/>
              </a:ext>
            </a:extLst>
          </p:cNvPr>
          <p:cNvSpPr/>
          <p:nvPr/>
        </p:nvSpPr>
        <p:spPr>
          <a:xfrm>
            <a:off x="-575222" y="-1601652"/>
            <a:ext cx="773027" cy="227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13F3F"/>
                </a:solidFill>
                <a:latin typeface="+mn-ea"/>
                <a:cs typeface="Calibri" pitchFamily="34" charset="-120"/>
              </a:rPr>
              <a:t>用户声音</a:t>
            </a:r>
            <a:endParaRPr lang="en-US" sz="1200" dirty="0">
              <a:latin typeface="+mn-ea"/>
            </a:endParaRPr>
          </a:p>
        </p:txBody>
      </p:sp>
      <p:sp>
        <p:nvSpPr>
          <p:cNvPr id="148" name="Text 29">
            <a:extLst>
              <a:ext uri="{FF2B5EF4-FFF2-40B4-BE49-F238E27FC236}">
                <a16:creationId xmlns:a16="http://schemas.microsoft.com/office/drawing/2014/main" id="{5B3B69BD-449A-B581-9808-CE55C9EC8401}"/>
              </a:ext>
            </a:extLst>
          </p:cNvPr>
          <p:cNvSpPr/>
          <p:nvPr/>
        </p:nvSpPr>
        <p:spPr>
          <a:xfrm>
            <a:off x="430618" y="-1716880"/>
            <a:ext cx="15078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2529"/>
                </a:solidFill>
                <a:latin typeface="+mn-ea"/>
                <a:cs typeface="Calibri" pitchFamily="34" charset="-120"/>
              </a:rPr>
              <a:t>「终于有一个产品不让我按专辑翻歌了」「</a:t>
            </a:r>
            <a:r>
              <a:rPr lang="en-US" sz="1200" i="1" dirty="0" err="1">
                <a:solidFill>
                  <a:srgbClr val="212529"/>
                </a:solidFill>
                <a:latin typeface="+mn-ea"/>
                <a:cs typeface="Calibri" pitchFamily="34" charset="-120"/>
              </a:rPr>
              <a:t>评论区太走心了</a:t>
            </a:r>
            <a:r>
              <a:rPr lang="en-US" sz="1200" i="1" dirty="0">
                <a:solidFill>
                  <a:srgbClr val="212529"/>
                </a:solidFill>
                <a:latin typeface="+mn-ea"/>
                <a:cs typeface="Calibri" pitchFamily="34" charset="-120"/>
              </a:rPr>
              <a:t>」</a:t>
            </a:r>
            <a:endParaRPr lang="en-US" sz="1200" dirty="0">
              <a:latin typeface="+mn-ea"/>
            </a:endParaRPr>
          </a:p>
        </p:txBody>
      </p:sp>
      <p:sp>
        <p:nvSpPr>
          <p:cNvPr id="149" name="Text 8">
            <a:extLst>
              <a:ext uri="{FF2B5EF4-FFF2-40B4-BE49-F238E27FC236}">
                <a16:creationId xmlns:a16="http://schemas.microsoft.com/office/drawing/2014/main" id="{0030AD78-29F4-08C3-9A23-31456632CA65}"/>
              </a:ext>
            </a:extLst>
          </p:cNvPr>
          <p:cNvSpPr/>
          <p:nvPr/>
        </p:nvSpPr>
        <p:spPr>
          <a:xfrm>
            <a:off x="1560562" y="1147569"/>
            <a:ext cx="1188480" cy="108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latin typeface="+mn-ea"/>
                <a:cs typeface="Calibri" pitchFamily="34" charset="-120"/>
              </a:rPr>
              <a:t>UGC </a:t>
            </a:r>
            <a:r>
              <a:rPr lang="en-US" sz="1200" dirty="0" err="1">
                <a:latin typeface="+mn-ea"/>
                <a:cs typeface="Calibri" pitchFamily="34" charset="-120"/>
              </a:rPr>
              <a:t>歌单</a:t>
            </a:r>
            <a:r>
              <a:rPr lang="zh-CN" altLang="en-US" sz="1200" dirty="0">
                <a:latin typeface="+mn-ea"/>
                <a:cs typeface="Calibri" pitchFamily="34" charset="-120"/>
              </a:rPr>
              <a:t>数量</a:t>
            </a:r>
            <a:r>
              <a:rPr lang="en-US" sz="1200" dirty="0" err="1">
                <a:latin typeface="+mn-ea"/>
                <a:cs typeface="Calibri" pitchFamily="34" charset="-120"/>
              </a:rPr>
              <a:t>爆发，用户面临信息过载</a:t>
            </a:r>
            <a:r>
              <a:rPr lang="en-US" sz="1200" dirty="0">
                <a:latin typeface="+mn-ea"/>
                <a:cs typeface="Calibri" pitchFamily="34" charset="-120"/>
              </a:rPr>
              <a:t>，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 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如何</a:t>
            </a:r>
            <a:r>
              <a:rPr lang="en-US" altLang="zh-CN" sz="1200" dirty="0" err="1">
                <a:latin typeface="+mn-ea"/>
                <a:cs typeface="Microsoft YaHei" pitchFamily="34" charset="-120"/>
              </a:rPr>
              <a:t>让优质UGC被看见</a:t>
            </a:r>
            <a:r>
              <a:rPr lang="zh-CN" altLang="en-US" sz="1200" dirty="0">
                <a:latin typeface="+mn-ea"/>
                <a:cs typeface="Microsoft YaHei" pitchFamily="34" charset="-120"/>
              </a:rPr>
              <a:t>、被共鸣</a:t>
            </a:r>
            <a:r>
              <a:rPr lang="en-US" altLang="zh-CN" sz="1200" dirty="0">
                <a:latin typeface="+mn-ea"/>
                <a:cs typeface="Microsoft YaHei" pitchFamily="34" charset="-120"/>
              </a:rPr>
              <a:t>？</a:t>
            </a:r>
          </a:p>
        </p:txBody>
      </p:sp>
      <p:sp>
        <p:nvSpPr>
          <p:cNvPr id="156" name="Text 12">
            <a:extLst>
              <a:ext uri="{FF2B5EF4-FFF2-40B4-BE49-F238E27FC236}">
                <a16:creationId xmlns:a16="http://schemas.microsoft.com/office/drawing/2014/main" id="{CAC70A97-BA73-D753-684E-1053040B8275}"/>
              </a:ext>
            </a:extLst>
          </p:cNvPr>
          <p:cNvSpPr/>
          <p:nvPr/>
        </p:nvSpPr>
        <p:spPr>
          <a:xfrm>
            <a:off x="1567614" y="6270053"/>
            <a:ext cx="110401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529"/>
                </a:solidFill>
                <a:latin typeface="+mn-ea"/>
                <a:cs typeface="Calibri" pitchFamily="34" charset="-120"/>
              </a:rPr>
              <a:t>上线「每日推荐」（每天 30 </a:t>
            </a:r>
            <a:r>
              <a:rPr lang="en-US" sz="1200" dirty="0" err="1">
                <a:solidFill>
                  <a:srgbClr val="212529"/>
                </a:solidFill>
                <a:latin typeface="+mn-ea"/>
                <a:cs typeface="Calibri" pitchFamily="34" charset="-120"/>
              </a:rPr>
              <a:t>首个性化歌曲）和个性化歌单推荐，千人千面</a:t>
            </a:r>
            <a:r>
              <a:rPr lang="zh-CN" altLang="en-US" sz="1200" dirty="0">
                <a:solidFill>
                  <a:srgbClr val="212529"/>
                </a:solidFill>
                <a:latin typeface="+mn-ea"/>
                <a:cs typeface="Calibri" pitchFamily="34" charset="-120"/>
              </a:rPr>
              <a:t>。平林支持点赞</a:t>
            </a:r>
            <a:endParaRPr lang="en-US" sz="1200" dirty="0">
              <a:solidFill>
                <a:srgbClr val="212529"/>
              </a:solidFill>
              <a:latin typeface="+mn-ea"/>
              <a:cs typeface="Calibri" pitchFamily="34" charset="-120"/>
            </a:endParaRPr>
          </a:p>
          <a:p>
            <a:pPr marL="0" indent="0" algn="l">
              <a:buNone/>
            </a:pPr>
            <a:r>
              <a:rPr lang="zh-CN" altLang="en-US" sz="1200" dirty="0">
                <a:solidFill>
                  <a:srgbClr val="212529"/>
                </a:solidFill>
                <a:latin typeface="+mn-ea"/>
                <a:cs typeface="Calibri" pitchFamily="34" charset="-120"/>
              </a:rPr>
              <a:t>从编辑到算法</a:t>
            </a:r>
            <a:endParaRPr lang="en-US" sz="1200" dirty="0">
              <a:latin typeface="+mn-ea"/>
            </a:endParaRPr>
          </a:p>
        </p:txBody>
      </p:sp>
      <p:sp>
        <p:nvSpPr>
          <p:cNvPr id="157" name="Text 31">
            <a:extLst>
              <a:ext uri="{FF2B5EF4-FFF2-40B4-BE49-F238E27FC236}">
                <a16:creationId xmlns:a16="http://schemas.microsoft.com/office/drawing/2014/main" id="{BC067E9D-5D67-0ED8-399C-8BFAC8AB3643}"/>
              </a:ext>
            </a:extLst>
          </p:cNvPr>
          <p:cNvSpPr/>
          <p:nvPr/>
        </p:nvSpPr>
        <p:spPr>
          <a:xfrm>
            <a:off x="2338576" y="-1716880"/>
            <a:ext cx="12633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2529"/>
                </a:solidFill>
                <a:latin typeface="+mn-ea"/>
                <a:cs typeface="Calibri" pitchFamily="34" charset="-120"/>
              </a:rPr>
              <a:t>「每日推荐比我自己找的歌还准」「</a:t>
            </a:r>
            <a:r>
              <a:rPr lang="en-US" sz="1200" i="1" dirty="0" err="1">
                <a:solidFill>
                  <a:srgbClr val="212529"/>
                </a:solidFill>
                <a:latin typeface="+mn-ea"/>
                <a:cs typeface="Calibri" pitchFamily="34" charset="-120"/>
              </a:rPr>
              <a:t>网易云最懂我</a:t>
            </a:r>
            <a:r>
              <a:rPr lang="en-US" sz="1200" i="1" dirty="0">
                <a:solidFill>
                  <a:srgbClr val="212529"/>
                </a:solidFill>
                <a:latin typeface="+mn-ea"/>
                <a:cs typeface="Calibri" pitchFamily="34" charset="-120"/>
              </a:rPr>
              <a:t>」</a:t>
            </a:r>
            <a:endParaRPr lang="en-US" sz="1200" dirty="0">
              <a:latin typeface="+mn-ea"/>
            </a:endParaRPr>
          </a:p>
        </p:txBody>
      </p:sp>
      <p:sp>
        <p:nvSpPr>
          <p:cNvPr id="158" name="Text 8">
            <a:extLst>
              <a:ext uri="{FF2B5EF4-FFF2-40B4-BE49-F238E27FC236}">
                <a16:creationId xmlns:a16="http://schemas.microsoft.com/office/drawing/2014/main" id="{07F9B869-9E02-F899-1D45-2E3940EE84B4}"/>
              </a:ext>
            </a:extLst>
          </p:cNvPr>
          <p:cNvSpPr/>
          <p:nvPr/>
        </p:nvSpPr>
        <p:spPr>
          <a:xfrm>
            <a:off x="5779556" y="1147568"/>
            <a:ext cx="1052162" cy="1018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latin typeface="+mn-ea"/>
                <a:cs typeface="Calibri" pitchFamily="34" charset="-120"/>
              </a:rPr>
              <a:t>纯工具型产品在版权大战中极易被取代，需要构建版权之外的护城河</a:t>
            </a:r>
            <a:endParaRPr lang="en-US" sz="1200" dirty="0">
              <a:latin typeface="+mn-ea"/>
            </a:endParaRPr>
          </a:p>
        </p:txBody>
      </p:sp>
      <p:sp>
        <p:nvSpPr>
          <p:cNvPr id="159" name="Text 12">
            <a:extLst>
              <a:ext uri="{FF2B5EF4-FFF2-40B4-BE49-F238E27FC236}">
                <a16:creationId xmlns:a16="http://schemas.microsoft.com/office/drawing/2014/main" id="{FB1712F2-F063-297E-8E20-537E6712C001}"/>
              </a:ext>
            </a:extLst>
          </p:cNvPr>
          <p:cNvSpPr/>
          <p:nvPr/>
        </p:nvSpPr>
        <p:spPr>
          <a:xfrm>
            <a:off x="5113480" y="5649850"/>
            <a:ext cx="110401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 err="1">
                <a:latin typeface="+mn-ea"/>
                <a:cs typeface="Calibri" pitchFamily="34" charset="-120"/>
              </a:rPr>
              <a:t>围绕歌单与评论区打造情感社区，热评文化成为现象级传播，地铁乐评专列引爆全网</a:t>
            </a:r>
            <a:endParaRPr lang="en-US" sz="1200" dirty="0">
              <a:latin typeface="+mn-ea"/>
              <a:cs typeface="Calibri" pitchFamily="34" charset="-120"/>
            </a:endParaRPr>
          </a:p>
          <a:p>
            <a:pPr marL="0" indent="0" algn="l">
              <a:buNone/>
            </a:pPr>
            <a:endParaRPr lang="en-US" sz="1200" dirty="0">
              <a:latin typeface="+mn-ea"/>
              <a:cs typeface="Calibri" pitchFamily="34" charset="-120"/>
            </a:endParaRPr>
          </a:p>
          <a:p>
            <a:r>
              <a:rPr lang="en-US" altLang="zh-CN" sz="1200" dirty="0">
                <a:latin typeface="+mn-ea"/>
                <a:cs typeface="Microsoft YaHei" pitchFamily="34" charset="-120"/>
              </a:rPr>
              <a:t>年度听歌报告H5利用用户真实数据生成个性化海报，激发自传播意愿，一天刷屏朋友圈</a:t>
            </a:r>
            <a:endParaRPr lang="en-US" altLang="zh-CN" sz="1200" dirty="0">
              <a:latin typeface="+mn-ea"/>
            </a:endParaRPr>
          </a:p>
          <a:p>
            <a:pPr marL="0" indent="0" algn="l">
              <a:buNone/>
            </a:pPr>
            <a:endParaRPr lang="en-US" sz="1200" dirty="0">
              <a:latin typeface="+mn-ea"/>
            </a:endParaRPr>
          </a:p>
        </p:txBody>
      </p:sp>
      <p:sp>
        <p:nvSpPr>
          <p:cNvPr id="165" name="Text 31">
            <a:extLst>
              <a:ext uri="{FF2B5EF4-FFF2-40B4-BE49-F238E27FC236}">
                <a16:creationId xmlns:a16="http://schemas.microsoft.com/office/drawing/2014/main" id="{92ACCA73-52FA-9BA1-D553-00692098E214}"/>
              </a:ext>
            </a:extLst>
          </p:cNvPr>
          <p:cNvSpPr/>
          <p:nvPr/>
        </p:nvSpPr>
        <p:spPr>
          <a:xfrm>
            <a:off x="4002032" y="-1716880"/>
            <a:ext cx="12633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2529"/>
                </a:solidFill>
                <a:latin typeface="+mn-ea"/>
                <a:cs typeface="Calibri" pitchFamily="34" charset="-120"/>
              </a:rPr>
              <a:t>「听歌不看评论等于白听」「</a:t>
            </a:r>
            <a:r>
              <a:rPr lang="en-US" sz="1200" i="1" dirty="0" err="1">
                <a:solidFill>
                  <a:srgbClr val="212529"/>
                </a:solidFill>
                <a:latin typeface="+mn-ea"/>
                <a:cs typeface="Calibri" pitchFamily="34" charset="-120"/>
              </a:rPr>
              <a:t>网易云不是播放器，是树洞</a:t>
            </a:r>
            <a:r>
              <a:rPr lang="en-US" sz="1200" i="1" dirty="0">
                <a:solidFill>
                  <a:srgbClr val="212529"/>
                </a:solidFill>
                <a:latin typeface="+mn-ea"/>
                <a:cs typeface="Calibri" pitchFamily="34" charset="-120"/>
              </a:rPr>
              <a:t>」</a:t>
            </a:r>
            <a:endParaRPr lang="en-US" sz="1200" dirty="0">
              <a:latin typeface="+mn-ea"/>
            </a:endParaRPr>
          </a:p>
        </p:txBody>
      </p:sp>
      <p:sp>
        <p:nvSpPr>
          <p:cNvPr id="166" name="Text 8">
            <a:extLst>
              <a:ext uri="{FF2B5EF4-FFF2-40B4-BE49-F238E27FC236}">
                <a16:creationId xmlns:a16="http://schemas.microsoft.com/office/drawing/2014/main" id="{BDF96BEB-BDF7-8293-8B0C-6E91E3DE8B14}"/>
              </a:ext>
            </a:extLst>
          </p:cNvPr>
          <p:cNvSpPr/>
          <p:nvPr/>
        </p:nvSpPr>
        <p:spPr>
          <a:xfrm>
            <a:off x="7140448" y="1147569"/>
            <a:ext cx="12573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529"/>
                </a:solidFill>
                <a:latin typeface="+mn-ea"/>
                <a:cs typeface="Calibri" pitchFamily="34" charset="-120"/>
              </a:rPr>
              <a:t>每日推荐解决了「不知道听什么」，</a:t>
            </a:r>
            <a:r>
              <a:rPr lang="en-US" sz="1200" dirty="0" err="1">
                <a:solidFill>
                  <a:srgbClr val="212529"/>
                </a:solidFill>
                <a:latin typeface="+mn-ea"/>
                <a:cs typeface="Calibri" pitchFamily="34" charset="-120"/>
              </a:rPr>
              <a:t>但不同场景需要不同内容</a:t>
            </a:r>
            <a:r>
              <a:rPr lang="zh-CN" altLang="en-US" sz="1200" dirty="0">
                <a:solidFill>
                  <a:srgbClr val="212529"/>
                </a:solidFill>
                <a:latin typeface="+mn-ea"/>
                <a:cs typeface="Calibri" pitchFamily="34" charset="-120"/>
              </a:rPr>
              <a:t>。用户找歌需要惊喜</a:t>
            </a:r>
            <a:endParaRPr lang="en-US" sz="1200" dirty="0">
              <a:latin typeface="+mn-ea"/>
            </a:endParaRPr>
          </a:p>
        </p:txBody>
      </p:sp>
      <p:sp>
        <p:nvSpPr>
          <p:cNvPr id="167" name="Text 12">
            <a:extLst>
              <a:ext uri="{FF2B5EF4-FFF2-40B4-BE49-F238E27FC236}">
                <a16:creationId xmlns:a16="http://schemas.microsoft.com/office/drawing/2014/main" id="{0E53629F-DC66-94C3-83D6-ED60C12927AB}"/>
              </a:ext>
            </a:extLst>
          </p:cNvPr>
          <p:cNvSpPr/>
          <p:nvPr/>
        </p:nvSpPr>
        <p:spPr>
          <a:xfrm>
            <a:off x="5891932" y="7966234"/>
            <a:ext cx="110401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529"/>
                </a:solidFill>
                <a:latin typeface="+mn-ea"/>
                <a:cs typeface="Calibri" pitchFamily="34" charset="-120"/>
              </a:rPr>
              <a:t>心动模式（歌单中插入推荐曲）、</a:t>
            </a:r>
            <a:r>
              <a:rPr lang="en-US" sz="1200" dirty="0" err="1">
                <a:solidFill>
                  <a:srgbClr val="212529"/>
                </a:solidFill>
                <a:latin typeface="+mn-ea"/>
                <a:cs typeface="Calibri" pitchFamily="34" charset="-120"/>
              </a:rPr>
              <a:t>场景歌单</a:t>
            </a:r>
            <a:r>
              <a:rPr lang="en-US" sz="1200" dirty="0">
                <a:solidFill>
                  <a:srgbClr val="212529"/>
                </a:solidFill>
                <a:latin typeface="+mn-ea"/>
                <a:cs typeface="Calibri" pitchFamily="34" charset="-120"/>
              </a:rPr>
              <a:t>、</a:t>
            </a:r>
            <a:endParaRPr lang="en-US" sz="1200" dirty="0">
              <a:latin typeface="+mn-ea"/>
            </a:endParaRPr>
          </a:p>
        </p:txBody>
      </p:sp>
      <p:sp>
        <p:nvSpPr>
          <p:cNvPr id="168" name="Text 31">
            <a:extLst>
              <a:ext uri="{FF2B5EF4-FFF2-40B4-BE49-F238E27FC236}">
                <a16:creationId xmlns:a16="http://schemas.microsoft.com/office/drawing/2014/main" id="{CEEA6480-A266-0DC0-E4C7-BD82AE46D327}"/>
              </a:ext>
            </a:extLst>
          </p:cNvPr>
          <p:cNvSpPr/>
          <p:nvPr/>
        </p:nvSpPr>
        <p:spPr>
          <a:xfrm>
            <a:off x="6888590" y="-1716880"/>
            <a:ext cx="12633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2529"/>
                </a:solidFill>
                <a:latin typeface="+mn-ea"/>
                <a:cs typeface="Calibri" pitchFamily="34" charset="-120"/>
              </a:rPr>
              <a:t>「心动模式太上头了，歌单永远听不完」「</a:t>
            </a:r>
            <a:r>
              <a:rPr lang="en-US" sz="1200" i="1" dirty="0" err="1">
                <a:solidFill>
                  <a:srgbClr val="212529"/>
                </a:solidFill>
                <a:latin typeface="+mn-ea"/>
                <a:cs typeface="Calibri" pitchFamily="34" charset="-120"/>
              </a:rPr>
              <a:t>一起听拯救了异地恋</a:t>
            </a:r>
            <a:endParaRPr lang="en-US" sz="1200" dirty="0">
              <a:latin typeface="+mn-ea"/>
            </a:endParaRPr>
          </a:p>
        </p:txBody>
      </p:sp>
      <p:sp>
        <p:nvSpPr>
          <p:cNvPr id="169" name="Text 8">
            <a:extLst>
              <a:ext uri="{FF2B5EF4-FFF2-40B4-BE49-F238E27FC236}">
                <a16:creationId xmlns:a16="http://schemas.microsoft.com/office/drawing/2014/main" id="{23E822D0-C0C4-18E5-FC4A-17BF0A2B9148}"/>
              </a:ext>
            </a:extLst>
          </p:cNvPr>
          <p:cNvSpPr/>
          <p:nvPr/>
        </p:nvSpPr>
        <p:spPr>
          <a:xfrm>
            <a:off x="8706478" y="1147569"/>
            <a:ext cx="1005840" cy="410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altLang="en-US" sz="1200" dirty="0">
                <a:latin typeface="+mn-ea"/>
                <a:cs typeface="Calibri" pitchFamily="34" charset="-120"/>
              </a:rPr>
              <a:t>恰逢疫情，</a:t>
            </a:r>
            <a:r>
              <a:rPr lang="en-US" sz="1200" dirty="0" err="1">
                <a:latin typeface="+mn-ea"/>
                <a:cs typeface="Calibri" pitchFamily="34" charset="-120"/>
              </a:rPr>
              <a:t>歌单</a:t>
            </a:r>
            <a:r>
              <a:rPr lang="zh-CN" altLang="en-US" sz="1200" dirty="0">
                <a:latin typeface="+mn-ea"/>
                <a:cs typeface="Calibri" pitchFamily="34" charset="-120"/>
              </a:rPr>
              <a:t>及音乐体验</a:t>
            </a:r>
            <a:r>
              <a:rPr lang="en-US" sz="1200" dirty="0" err="1">
                <a:latin typeface="+mn-ea"/>
                <a:cs typeface="Calibri" pitchFamily="34" charset="-120"/>
              </a:rPr>
              <a:t>缺乏社交连接</a:t>
            </a:r>
            <a:r>
              <a:rPr lang="zh-CN" altLang="en-US" sz="1200" dirty="0">
                <a:latin typeface="+mn-ea"/>
                <a:cs typeface="Calibri" pitchFamily="34" charset="-120"/>
              </a:rPr>
              <a:t>和</a:t>
            </a:r>
            <a:r>
              <a:rPr lang="en-US" sz="1200" dirty="0" err="1">
                <a:latin typeface="+mn-ea"/>
                <a:cs typeface="Calibri" pitchFamily="34" charset="-120"/>
              </a:rPr>
              <a:t>协作</a:t>
            </a:r>
            <a:r>
              <a:rPr lang="en-US" altLang="zh-CN" sz="1200" dirty="0" err="1">
                <a:latin typeface="+mn-ea"/>
                <a:cs typeface="Calibri" pitchFamily="34" charset="-120"/>
              </a:rPr>
              <a:t>互动</a:t>
            </a:r>
            <a:endParaRPr lang="en-US" altLang="zh-CN" sz="1200" dirty="0">
              <a:latin typeface="+mn-ea"/>
            </a:endParaRPr>
          </a:p>
          <a:p>
            <a:pPr marL="0" indent="0" algn="l">
              <a:buNone/>
            </a:pPr>
            <a:endParaRPr lang="en-US" sz="1200" dirty="0">
              <a:latin typeface="+mn-ea"/>
            </a:endParaRPr>
          </a:p>
        </p:txBody>
      </p:sp>
      <p:sp>
        <p:nvSpPr>
          <p:cNvPr id="170" name="Text 12">
            <a:extLst>
              <a:ext uri="{FF2B5EF4-FFF2-40B4-BE49-F238E27FC236}">
                <a16:creationId xmlns:a16="http://schemas.microsoft.com/office/drawing/2014/main" id="{8DBFB4BC-1941-8AB6-E116-43D632753BA4}"/>
              </a:ext>
            </a:extLst>
          </p:cNvPr>
          <p:cNvSpPr/>
          <p:nvPr/>
        </p:nvSpPr>
        <p:spPr>
          <a:xfrm>
            <a:off x="8142251" y="6069514"/>
            <a:ext cx="97455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529"/>
                </a:solidFill>
                <a:latin typeface="+mn-ea"/>
                <a:cs typeface="Calibri" pitchFamily="34" charset="-120"/>
              </a:rPr>
              <a:t>共创歌单（多人编辑）、社交互动增强、Mlog/云圈等社区功能</a:t>
            </a:r>
            <a:endParaRPr lang="en-US" sz="1200" dirty="0">
              <a:latin typeface="+mn-ea"/>
            </a:endParaRPr>
          </a:p>
        </p:txBody>
      </p:sp>
      <p:sp>
        <p:nvSpPr>
          <p:cNvPr id="171" name="Text 31">
            <a:extLst>
              <a:ext uri="{FF2B5EF4-FFF2-40B4-BE49-F238E27FC236}">
                <a16:creationId xmlns:a16="http://schemas.microsoft.com/office/drawing/2014/main" id="{933C6CC4-5D91-87F9-6FF6-5F0FD2FF8D43}"/>
              </a:ext>
            </a:extLst>
          </p:cNvPr>
          <p:cNvSpPr/>
          <p:nvPr/>
        </p:nvSpPr>
        <p:spPr>
          <a:xfrm>
            <a:off x="5665489" y="-1716880"/>
            <a:ext cx="82296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2529"/>
                </a:solidFill>
                <a:latin typeface="+mn-ea"/>
                <a:cs typeface="Calibri" pitchFamily="34" charset="-120"/>
              </a:rPr>
              <a:t>「</a:t>
            </a:r>
            <a:r>
              <a:rPr lang="en-US" sz="1200" i="1" dirty="0" err="1">
                <a:solidFill>
                  <a:srgbClr val="212529"/>
                </a:solidFill>
                <a:latin typeface="+mn-ea"/>
                <a:cs typeface="Calibri" pitchFamily="34" charset="-120"/>
              </a:rPr>
              <a:t>和男朋友的共创歌单是我们的恋爱日记</a:t>
            </a:r>
            <a:r>
              <a:rPr lang="en-US" sz="1200" i="1" dirty="0">
                <a:solidFill>
                  <a:srgbClr val="212529"/>
                </a:solidFill>
                <a:latin typeface="+mn-ea"/>
                <a:cs typeface="Calibri" pitchFamily="34" charset="-120"/>
              </a:rPr>
              <a:t>」</a:t>
            </a:r>
            <a:endParaRPr lang="en-US" sz="1200" dirty="0">
              <a:latin typeface="+mn-ea"/>
            </a:endParaRPr>
          </a:p>
        </p:txBody>
      </p:sp>
      <p:sp>
        <p:nvSpPr>
          <p:cNvPr id="172" name="Text 8">
            <a:extLst>
              <a:ext uri="{FF2B5EF4-FFF2-40B4-BE49-F238E27FC236}">
                <a16:creationId xmlns:a16="http://schemas.microsoft.com/office/drawing/2014/main" id="{14C3FEDB-B1F8-67AE-8350-124289E3CAFC}"/>
              </a:ext>
            </a:extLst>
          </p:cNvPr>
          <p:cNvSpPr/>
          <p:nvPr/>
        </p:nvSpPr>
        <p:spPr>
          <a:xfrm>
            <a:off x="9973278" y="-807864"/>
            <a:ext cx="25043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529"/>
                </a:solidFill>
                <a:latin typeface="+mn-ea"/>
                <a:cs typeface="Calibri" pitchFamily="34" charset="-120"/>
              </a:rPr>
              <a:t>手动创建歌单门槛高、传统搜索不够灵活，用户难以准确表达音乐需求</a:t>
            </a:r>
            <a:endParaRPr lang="en-US" sz="1200" dirty="0">
              <a:latin typeface="+mn-ea"/>
            </a:endParaRPr>
          </a:p>
        </p:txBody>
      </p:sp>
      <p:sp>
        <p:nvSpPr>
          <p:cNvPr id="175" name="Text 12">
            <a:extLst>
              <a:ext uri="{FF2B5EF4-FFF2-40B4-BE49-F238E27FC236}">
                <a16:creationId xmlns:a16="http://schemas.microsoft.com/office/drawing/2014/main" id="{A4B416B1-592B-BC67-852C-5782765B8DF1}"/>
              </a:ext>
            </a:extLst>
          </p:cNvPr>
          <p:cNvSpPr/>
          <p:nvPr/>
        </p:nvSpPr>
        <p:spPr>
          <a:xfrm>
            <a:off x="11365956" y="6661282"/>
            <a:ext cx="11839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529"/>
                </a:solidFill>
                <a:latin typeface="+mn-ea"/>
                <a:cs typeface="Calibri" pitchFamily="34" charset="-120"/>
              </a:rPr>
              <a:t>自然语言生成歌单（如「周五下班骑车回家的路上」）、AIGC 音乐创作融入歌单</a:t>
            </a:r>
            <a:endParaRPr lang="en-US" sz="1200" dirty="0">
              <a:latin typeface="+mn-ea"/>
            </a:endParaRPr>
          </a:p>
        </p:txBody>
      </p:sp>
      <p:sp>
        <p:nvSpPr>
          <p:cNvPr id="176" name="Text 31">
            <a:extLst>
              <a:ext uri="{FF2B5EF4-FFF2-40B4-BE49-F238E27FC236}">
                <a16:creationId xmlns:a16="http://schemas.microsoft.com/office/drawing/2014/main" id="{D142A50E-D35E-A318-A947-3F83E86F31E6}"/>
              </a:ext>
            </a:extLst>
          </p:cNvPr>
          <p:cNvSpPr/>
          <p:nvPr/>
        </p:nvSpPr>
        <p:spPr>
          <a:xfrm>
            <a:off x="8552046" y="-1716880"/>
            <a:ext cx="11839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2529"/>
                </a:solidFill>
                <a:latin typeface="+mn-ea"/>
                <a:cs typeface="Calibri" pitchFamily="34" charset="-120"/>
              </a:rPr>
              <a:t>「</a:t>
            </a:r>
            <a:r>
              <a:rPr lang="en-US" sz="1200" i="1" dirty="0" err="1">
                <a:solidFill>
                  <a:srgbClr val="212529"/>
                </a:solidFill>
                <a:latin typeface="+mn-ea"/>
                <a:cs typeface="Calibri" pitchFamily="34" charset="-120"/>
              </a:rPr>
              <a:t>说一句话就能生成歌单太爽了</a:t>
            </a:r>
            <a:r>
              <a:rPr lang="en-US" sz="1200" i="1" dirty="0">
                <a:solidFill>
                  <a:srgbClr val="212529"/>
                </a:solidFill>
                <a:latin typeface="+mn-ea"/>
                <a:cs typeface="Calibri" pitchFamily="34" charset="-120"/>
              </a:rPr>
              <a:t>」</a:t>
            </a:r>
            <a:endParaRPr lang="en-US" sz="1200" dirty="0">
              <a:latin typeface="+mn-ea"/>
            </a:endParaRPr>
          </a:p>
        </p:txBody>
      </p:sp>
      <p:sp>
        <p:nvSpPr>
          <p:cNvPr id="178" name="Text 12">
            <a:extLst>
              <a:ext uri="{FF2B5EF4-FFF2-40B4-BE49-F238E27FC236}">
                <a16:creationId xmlns:a16="http://schemas.microsoft.com/office/drawing/2014/main" id="{AA38FFC8-612F-4ADC-7857-1E6E8C1D0767}"/>
              </a:ext>
            </a:extLst>
          </p:cNvPr>
          <p:cNvSpPr/>
          <p:nvPr/>
        </p:nvSpPr>
        <p:spPr>
          <a:xfrm>
            <a:off x="9814404" y="6661282"/>
            <a:ext cx="11839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529"/>
                </a:solidFill>
                <a:latin typeface="+mn-ea"/>
                <a:cs typeface="Calibri" pitchFamily="34" charset="-120"/>
              </a:rPr>
              <a:t>接入 DeepSeek-V4 大模型，对话式歌单生成、音乐品味分析、AI 乐评助手</a:t>
            </a:r>
            <a:endParaRPr lang="en-US" sz="1200" dirty="0">
              <a:latin typeface="+mn-ea"/>
            </a:endParaRPr>
          </a:p>
        </p:txBody>
      </p:sp>
      <p:sp>
        <p:nvSpPr>
          <p:cNvPr id="179" name="Text 31">
            <a:extLst>
              <a:ext uri="{FF2B5EF4-FFF2-40B4-BE49-F238E27FC236}">
                <a16:creationId xmlns:a16="http://schemas.microsoft.com/office/drawing/2014/main" id="{A3BF1F72-1A77-5472-A3B0-1505794CB104}"/>
              </a:ext>
            </a:extLst>
          </p:cNvPr>
          <p:cNvSpPr/>
          <p:nvPr/>
        </p:nvSpPr>
        <p:spPr>
          <a:xfrm>
            <a:off x="10136091" y="-1716880"/>
            <a:ext cx="21079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2529"/>
                </a:solidFill>
                <a:latin typeface="+mn-ea"/>
                <a:cs typeface="Calibri" pitchFamily="34" charset="-120"/>
              </a:rPr>
              <a:t>「AI 能帮我分析音乐品味太有意思了」「和 AI 聊一首歌比看百科有趣」—— 体验用户</a:t>
            </a:r>
            <a:endParaRPr lang="en-US" sz="1200" dirty="0">
              <a:latin typeface="+mn-ea"/>
            </a:endParaRPr>
          </a:p>
        </p:txBody>
      </p:sp>
      <p:sp>
        <p:nvSpPr>
          <p:cNvPr id="181" name="Text 29">
            <a:extLst>
              <a:ext uri="{FF2B5EF4-FFF2-40B4-BE49-F238E27FC236}">
                <a16:creationId xmlns:a16="http://schemas.microsoft.com/office/drawing/2014/main" id="{07AAFBA9-98B7-0DFD-BB77-3DDAC9CEA46A}"/>
              </a:ext>
            </a:extLst>
          </p:cNvPr>
          <p:cNvSpPr/>
          <p:nvPr/>
        </p:nvSpPr>
        <p:spPr>
          <a:xfrm>
            <a:off x="687996" y="-920570"/>
            <a:ext cx="15078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altLang="en-US" sz="1200" i="1" dirty="0">
                <a:solidFill>
                  <a:srgbClr val="212529"/>
                </a:solidFill>
                <a:latin typeface="+mn-ea"/>
                <a:cs typeface="Calibri" pitchFamily="34" charset="-120"/>
              </a:rPr>
              <a:t>丁磊喜欢听南斯拉夫等小众音乐</a:t>
            </a:r>
            <a:endParaRPr lang="en-US" sz="1200" dirty="0">
              <a:latin typeface="+mn-ea"/>
            </a:endParaRPr>
          </a:p>
        </p:txBody>
      </p:sp>
      <p:sp>
        <p:nvSpPr>
          <p:cNvPr id="2" name="Text 7">
            <a:extLst>
              <a:ext uri="{FF2B5EF4-FFF2-40B4-BE49-F238E27FC236}">
                <a16:creationId xmlns:a16="http://schemas.microsoft.com/office/drawing/2014/main" id="{A933CDF6-D502-D049-3C09-9DD6012F3DFD}"/>
              </a:ext>
            </a:extLst>
          </p:cNvPr>
          <p:cNvSpPr/>
          <p:nvPr/>
        </p:nvSpPr>
        <p:spPr>
          <a:xfrm>
            <a:off x="3041063" y="2593055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dirty="0">
                <a:latin typeface="+mn-ea"/>
                <a:cs typeface="Arial Black" pitchFamily="34" charset="-120"/>
              </a:rPr>
              <a:t>2015</a:t>
            </a:r>
            <a:endParaRPr lang="en-US" sz="1200" dirty="0">
              <a:latin typeface="+mn-ea"/>
            </a:endParaRPr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3210E16E-4715-7FD4-8110-D0B58B1B77D7}"/>
              </a:ext>
            </a:extLst>
          </p:cNvPr>
          <p:cNvSpPr/>
          <p:nvPr/>
        </p:nvSpPr>
        <p:spPr>
          <a:xfrm>
            <a:off x="3354756" y="2965909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799D910D-D4B7-4C19-BFC4-876966F097A5}"/>
              </a:ext>
            </a:extLst>
          </p:cNvPr>
          <p:cNvSpPr/>
          <p:nvPr/>
        </p:nvSpPr>
        <p:spPr>
          <a:xfrm>
            <a:off x="2966152" y="3357666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CN" altLang="en-US" sz="1200" dirty="0">
                <a:latin typeface="+mn-ea"/>
                <a:cs typeface="Calibri" pitchFamily="34" charset="-120"/>
              </a:rPr>
              <a:t>推出精品歌单</a:t>
            </a:r>
            <a:endParaRPr lang="en-US" sz="1200" dirty="0">
              <a:latin typeface="+mn-ea"/>
            </a:endParaRPr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9C97DE2A-43CB-1C01-80F7-200E56A48120}"/>
              </a:ext>
            </a:extLst>
          </p:cNvPr>
          <p:cNvSpPr/>
          <p:nvPr/>
        </p:nvSpPr>
        <p:spPr>
          <a:xfrm>
            <a:off x="4481776" y="2565961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dirty="0">
                <a:latin typeface="+mn-ea"/>
                <a:cs typeface="Arial Black" pitchFamily="34" charset="-120"/>
              </a:rPr>
              <a:t>2016</a:t>
            </a:r>
            <a:endParaRPr lang="en-US" sz="1200" dirty="0">
              <a:latin typeface="+mn-ea"/>
            </a:endParaRPr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5DB6C23D-C61C-D60E-A0AD-06058CEAB9E3}"/>
              </a:ext>
            </a:extLst>
          </p:cNvPr>
          <p:cNvSpPr/>
          <p:nvPr/>
        </p:nvSpPr>
        <p:spPr>
          <a:xfrm>
            <a:off x="4797864" y="2938815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EC06A2AA-556C-B2B7-D23B-4D76C54E5370}"/>
              </a:ext>
            </a:extLst>
          </p:cNvPr>
          <p:cNvSpPr/>
          <p:nvPr/>
        </p:nvSpPr>
        <p:spPr>
          <a:xfrm>
            <a:off x="4403559" y="3357666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CN" altLang="en-US" sz="1200" dirty="0">
                <a:latin typeface="+mn-ea"/>
                <a:cs typeface="Calibri" pitchFamily="34" charset="-120"/>
              </a:rPr>
              <a:t>跑步</a:t>
            </a:r>
            <a:r>
              <a:rPr lang="en-US" altLang="zh-CN" sz="1200" dirty="0">
                <a:latin typeface="+mn-ea"/>
                <a:cs typeface="Calibri" pitchFamily="34" charset="-120"/>
              </a:rPr>
              <a:t>FM</a:t>
            </a:r>
            <a:r>
              <a:rPr lang="zh-CN" altLang="en-US" sz="1200" dirty="0">
                <a:latin typeface="+mn-ea"/>
                <a:cs typeface="Calibri" pitchFamily="34" charset="-120"/>
              </a:rPr>
              <a:t>、驾驶模式歌单</a:t>
            </a:r>
            <a:endParaRPr lang="en-US" sz="1200" dirty="0">
              <a:latin typeface="+mn-ea"/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1918CAE2-7955-70A1-2109-0FC2D203D903}"/>
              </a:ext>
            </a:extLst>
          </p:cNvPr>
          <p:cNvSpPr/>
          <p:nvPr/>
        </p:nvSpPr>
        <p:spPr>
          <a:xfrm>
            <a:off x="3910509" y="6295522"/>
            <a:ext cx="110401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altLang="en-US" sz="1200" dirty="0">
                <a:solidFill>
                  <a:srgbClr val="212529"/>
                </a:solidFill>
                <a:latin typeface="+mn-ea"/>
                <a:cs typeface="Calibri" pitchFamily="34" charset="-120"/>
              </a:rPr>
              <a:t>与音乐强契合的场景推出</a:t>
            </a:r>
            <a:r>
              <a:rPr lang="en-US" altLang="zh-CN" sz="1200" dirty="0">
                <a:solidFill>
                  <a:srgbClr val="212529"/>
                </a:solidFill>
                <a:latin typeface="+mn-ea"/>
                <a:cs typeface="Calibri" pitchFamily="34" charset="-120"/>
              </a:rPr>
              <a:t>FM</a:t>
            </a:r>
            <a:endParaRPr lang="en-US" sz="1200" dirty="0">
              <a:latin typeface="+mn-ea"/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E8C0E189-B26E-265B-44FB-1135070E6288}"/>
              </a:ext>
            </a:extLst>
          </p:cNvPr>
          <p:cNvSpPr/>
          <p:nvPr/>
        </p:nvSpPr>
        <p:spPr>
          <a:xfrm>
            <a:off x="2735839" y="6367427"/>
            <a:ext cx="110401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altLang="en-US" sz="1200" dirty="0">
                <a:solidFill>
                  <a:srgbClr val="212529"/>
                </a:solidFill>
                <a:latin typeface="+mn-ea"/>
                <a:cs typeface="Calibri" pitchFamily="34" charset="-120"/>
              </a:rPr>
              <a:t>朋友圈</a:t>
            </a:r>
            <a:r>
              <a:rPr lang="en-US" altLang="zh-CN" sz="1200" dirty="0">
                <a:solidFill>
                  <a:srgbClr val="212529"/>
                </a:solidFill>
                <a:latin typeface="+mn-ea"/>
                <a:cs typeface="Calibri" pitchFamily="34" charset="-120"/>
              </a:rPr>
              <a:t>+</a:t>
            </a:r>
            <a:r>
              <a:rPr lang="zh-CN" altLang="en-US" sz="1200" dirty="0">
                <a:solidFill>
                  <a:srgbClr val="212529"/>
                </a:solidFill>
                <a:latin typeface="+mn-ea"/>
                <a:cs typeface="Calibri" pitchFamily="34" charset="-120"/>
              </a:rPr>
              <a:t>精选</a:t>
            </a:r>
            <a:endParaRPr lang="en-US" sz="1200" dirty="0">
              <a:latin typeface="+mn-ea"/>
            </a:endParaRPr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93318CC5-D0EE-54B4-61E0-6B49CFE1A46B}"/>
              </a:ext>
            </a:extLst>
          </p:cNvPr>
          <p:cNvSpPr/>
          <p:nvPr/>
        </p:nvSpPr>
        <p:spPr>
          <a:xfrm>
            <a:off x="3057772" y="1147569"/>
            <a:ext cx="105216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altLang="en-US" sz="1200" dirty="0">
                <a:latin typeface="+mn-ea"/>
                <a:cs typeface="Calibri" pitchFamily="34" charset="-120"/>
              </a:rPr>
              <a:t>歌单数量进一步增加，筛选难度增大，优质创作者流量被稀释</a:t>
            </a:r>
            <a:endParaRPr lang="en-US" sz="1200" dirty="0">
              <a:latin typeface="+mn-ea"/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36C7A4D0-0CD5-33CA-3517-2E7773A99199}"/>
              </a:ext>
            </a:extLst>
          </p:cNvPr>
          <p:cNvSpPr/>
          <p:nvPr/>
        </p:nvSpPr>
        <p:spPr>
          <a:xfrm>
            <a:off x="4418664" y="1147569"/>
            <a:ext cx="105216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altLang="en-US" sz="1200" dirty="0">
                <a:latin typeface="+mn-ea"/>
                <a:cs typeface="Calibri" pitchFamily="34" charset="-120"/>
              </a:rPr>
              <a:t>场景需求进一步丰富，运动市场上涨，跑步、驾驶有更特殊的音乐结合需求</a:t>
            </a:r>
            <a:endParaRPr lang="en-US" sz="1200" dirty="0">
              <a:latin typeface="+mn-ea"/>
            </a:endParaRPr>
          </a:p>
        </p:txBody>
      </p:sp>
      <p:sp>
        <p:nvSpPr>
          <p:cNvPr id="19" name="Text 24">
            <a:extLst>
              <a:ext uri="{FF2B5EF4-FFF2-40B4-BE49-F238E27FC236}">
                <a16:creationId xmlns:a16="http://schemas.microsoft.com/office/drawing/2014/main" id="{4A536C44-D1F8-E6E1-DFE0-A4E141DF5D95}"/>
              </a:ext>
            </a:extLst>
          </p:cNvPr>
          <p:cNvSpPr/>
          <p:nvPr/>
        </p:nvSpPr>
        <p:spPr>
          <a:xfrm>
            <a:off x="-348783" y="7578563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+mn-ea"/>
                <a:cs typeface="Calibri" pitchFamily="34" charset="-120"/>
              </a:rPr>
              <a:t>自己按专辑找</a:t>
            </a:r>
            <a:endParaRPr lang="en-US" sz="1200" dirty="0">
              <a:latin typeface="+mn-ea"/>
            </a:endParaRPr>
          </a:p>
        </p:txBody>
      </p:sp>
      <p:sp>
        <p:nvSpPr>
          <p:cNvPr id="20" name="Text 25">
            <a:extLst>
              <a:ext uri="{FF2B5EF4-FFF2-40B4-BE49-F238E27FC236}">
                <a16:creationId xmlns:a16="http://schemas.microsoft.com/office/drawing/2014/main" id="{2C7B5CDD-8D88-7266-70C7-12AD70D8E6C8}"/>
              </a:ext>
            </a:extLst>
          </p:cNvPr>
          <p:cNvSpPr/>
          <p:nvPr/>
        </p:nvSpPr>
        <p:spPr>
          <a:xfrm>
            <a:off x="1428859" y="757277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+mn-ea"/>
                <a:cs typeface="Calibri" pitchFamily="34" charset="-120"/>
              </a:rPr>
              <a:t>→  别人帮你整理</a:t>
            </a:r>
            <a:endParaRPr lang="en-US" sz="1200" dirty="0">
              <a:latin typeface="+mn-ea"/>
            </a:endParaRPr>
          </a:p>
        </p:txBody>
      </p:sp>
      <p:sp>
        <p:nvSpPr>
          <p:cNvPr id="21" name="Text 26">
            <a:extLst>
              <a:ext uri="{FF2B5EF4-FFF2-40B4-BE49-F238E27FC236}">
                <a16:creationId xmlns:a16="http://schemas.microsoft.com/office/drawing/2014/main" id="{C50F0DD6-4218-DDFB-0460-A0C1187CF44A}"/>
              </a:ext>
            </a:extLst>
          </p:cNvPr>
          <p:cNvSpPr/>
          <p:nvPr/>
        </p:nvSpPr>
        <p:spPr>
          <a:xfrm>
            <a:off x="2983339" y="757277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+mn-ea"/>
                <a:cs typeface="Calibri" pitchFamily="34" charset="-120"/>
              </a:rPr>
              <a:t>→  算法帮你挑</a:t>
            </a:r>
            <a:endParaRPr lang="en-US" sz="1200" dirty="0">
              <a:latin typeface="+mn-ea"/>
            </a:endParaRPr>
          </a:p>
        </p:txBody>
      </p:sp>
      <p:sp>
        <p:nvSpPr>
          <p:cNvPr id="22" name="Text 27">
            <a:extLst>
              <a:ext uri="{FF2B5EF4-FFF2-40B4-BE49-F238E27FC236}">
                <a16:creationId xmlns:a16="http://schemas.microsoft.com/office/drawing/2014/main" id="{4CB5C83A-2D2F-AE11-0838-585F2D3EC31E}"/>
              </a:ext>
            </a:extLst>
          </p:cNvPr>
          <p:cNvSpPr/>
          <p:nvPr/>
        </p:nvSpPr>
        <p:spPr>
          <a:xfrm>
            <a:off x="4537819" y="757277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+mn-ea"/>
                <a:cs typeface="Calibri" pitchFamily="34" charset="-120"/>
              </a:rPr>
              <a:t>→  场景自动匹配</a:t>
            </a:r>
            <a:endParaRPr lang="en-US" sz="1200" dirty="0">
              <a:latin typeface="+mn-ea"/>
            </a:endParaRPr>
          </a:p>
        </p:txBody>
      </p:sp>
      <p:sp>
        <p:nvSpPr>
          <p:cNvPr id="23" name="Text 28">
            <a:extLst>
              <a:ext uri="{FF2B5EF4-FFF2-40B4-BE49-F238E27FC236}">
                <a16:creationId xmlns:a16="http://schemas.microsoft.com/office/drawing/2014/main" id="{230F5E09-062D-D95F-E829-2104CCC0364E}"/>
              </a:ext>
            </a:extLst>
          </p:cNvPr>
          <p:cNvSpPr/>
          <p:nvPr/>
        </p:nvSpPr>
        <p:spPr>
          <a:xfrm>
            <a:off x="6275179" y="757277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+mn-ea"/>
                <a:cs typeface="Calibri" pitchFamily="34" charset="-120"/>
              </a:rPr>
              <a:t>→  说一句话 AI 生成</a:t>
            </a:r>
            <a:endParaRPr lang="en-US" sz="1200" dirty="0">
              <a:latin typeface="+mn-ea"/>
            </a:endParaRPr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5CF23771-B503-D926-B912-4C51DFA71BB8}"/>
              </a:ext>
            </a:extLst>
          </p:cNvPr>
          <p:cNvSpPr/>
          <p:nvPr/>
        </p:nvSpPr>
        <p:spPr>
          <a:xfrm>
            <a:off x="-3190080" y="-1046214"/>
            <a:ext cx="27427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6B6B"/>
                </a:solidFill>
                <a:latin typeface="+mn-ea"/>
                <a:cs typeface="Calibri" pitchFamily="34" charset="-120"/>
              </a:rPr>
              <a:t>一条主线：不断降低「找到想听的歌」的门槛</a:t>
            </a:r>
            <a:endParaRPr lang="en-US" sz="1200" dirty="0">
              <a:latin typeface="+mn-ea"/>
            </a:endParaRPr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096EAC0E-A1E9-6725-E49D-B1651CA475EF}"/>
              </a:ext>
            </a:extLst>
          </p:cNvPr>
          <p:cNvSpPr/>
          <p:nvPr/>
        </p:nvSpPr>
        <p:spPr>
          <a:xfrm>
            <a:off x="10021045" y="1147569"/>
            <a:ext cx="123846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zh-CN" sz="1200" dirty="0" err="1">
                <a:solidFill>
                  <a:srgbClr val="212529"/>
                </a:solidFill>
                <a:latin typeface="+mn-ea"/>
                <a:cs typeface="Calibri" pitchFamily="34" charset="-120"/>
              </a:rPr>
              <a:t>手动创建歌单门槛高、传统搜索不够灵活，用户难以准确表达音乐需求</a:t>
            </a:r>
            <a:r>
              <a:rPr lang="zh-CN" altLang="en-US" sz="1200" dirty="0">
                <a:solidFill>
                  <a:srgbClr val="212529"/>
                </a:solidFill>
                <a:latin typeface="+mn-ea"/>
                <a:cs typeface="Calibri" pitchFamily="34" charset="-120"/>
              </a:rPr>
              <a:t>。</a:t>
            </a:r>
            <a:endParaRPr lang="en-US" altLang="zh-CN" sz="1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682654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363E7875-1186-4938-15AA-2163F1354847}"/>
              </a:ext>
            </a:extLst>
          </p:cNvPr>
          <p:cNvCxnSpPr/>
          <p:nvPr/>
        </p:nvCxnSpPr>
        <p:spPr>
          <a:xfrm>
            <a:off x="1219200" y="2657475"/>
            <a:ext cx="63055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B536186F-41E5-2F03-60B9-D625549CABD1}"/>
              </a:ext>
            </a:extLst>
          </p:cNvPr>
          <p:cNvCxnSpPr>
            <a:cxnSpLocks/>
          </p:cNvCxnSpPr>
          <p:nvPr/>
        </p:nvCxnSpPr>
        <p:spPr>
          <a:xfrm flipV="1">
            <a:off x="4343400" y="638175"/>
            <a:ext cx="0" cy="42195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占位符 1">
            <a:extLst>
              <a:ext uri="{FF2B5EF4-FFF2-40B4-BE49-F238E27FC236}">
                <a16:creationId xmlns:a16="http://schemas.microsoft.com/office/drawing/2014/main" id="{9137386F-9687-20F2-98F7-C61CB02F7A78}"/>
              </a:ext>
            </a:extLst>
          </p:cNvPr>
          <p:cNvSpPr txBox="1">
            <a:spLocks/>
          </p:cNvSpPr>
          <p:nvPr/>
        </p:nvSpPr>
        <p:spPr>
          <a:xfrm>
            <a:off x="7058024" y="2552700"/>
            <a:ext cx="1600201" cy="418275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年龄</a:t>
            </a:r>
          </a:p>
        </p:txBody>
      </p:sp>
      <p:sp>
        <p:nvSpPr>
          <p:cNvPr id="16" name="文本占位符 1">
            <a:extLst>
              <a:ext uri="{FF2B5EF4-FFF2-40B4-BE49-F238E27FC236}">
                <a16:creationId xmlns:a16="http://schemas.microsoft.com/office/drawing/2014/main" id="{C5CA26D8-4AAF-26B5-59D4-B5A683585E97}"/>
              </a:ext>
            </a:extLst>
          </p:cNvPr>
          <p:cNvSpPr txBox="1">
            <a:spLocks/>
          </p:cNvSpPr>
          <p:nvPr/>
        </p:nvSpPr>
        <p:spPr>
          <a:xfrm>
            <a:off x="3543299" y="285750"/>
            <a:ext cx="1600201" cy="418275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美食喜好程度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6B675694-82BE-8E10-7226-DC844FF80B15}"/>
              </a:ext>
            </a:extLst>
          </p:cNvPr>
          <p:cNvSpPr/>
          <p:nvPr/>
        </p:nvSpPr>
        <p:spPr>
          <a:xfrm>
            <a:off x="5562599" y="402536"/>
            <a:ext cx="1428747" cy="73342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行业精英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8EE330E8-3E26-82A7-8E71-3A15F464894E}"/>
              </a:ext>
            </a:extLst>
          </p:cNvPr>
          <p:cNvSpPr/>
          <p:nvPr/>
        </p:nvSpPr>
        <p:spPr>
          <a:xfrm>
            <a:off x="4072889" y="916474"/>
            <a:ext cx="2766057" cy="73342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行业精英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ED8F1A2D-43B3-C562-178F-15F4E62A77C0}"/>
              </a:ext>
            </a:extLst>
          </p:cNvPr>
          <p:cNvSpPr/>
          <p:nvPr/>
        </p:nvSpPr>
        <p:spPr>
          <a:xfrm>
            <a:off x="4343400" y="1634907"/>
            <a:ext cx="2066925" cy="108427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意见领袖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89753F25-6BBE-FA0E-38CE-4217307281BA}"/>
              </a:ext>
            </a:extLst>
          </p:cNvPr>
          <p:cNvSpPr/>
          <p:nvPr/>
        </p:nvSpPr>
        <p:spPr>
          <a:xfrm>
            <a:off x="2324104" y="1415421"/>
            <a:ext cx="2066924" cy="1253156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13C9FE15-CEF1-9588-0CEF-C6F0FCD2BE65}"/>
              </a:ext>
            </a:extLst>
          </p:cNvPr>
          <p:cNvSpPr/>
          <p:nvPr/>
        </p:nvSpPr>
        <p:spPr>
          <a:xfrm>
            <a:off x="1681165" y="2642982"/>
            <a:ext cx="2766057" cy="112891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普通年轻人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开始自行决策、了解美食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3D16D93-D3FF-D3ED-2D43-51C4A88284EA}"/>
              </a:ext>
            </a:extLst>
          </p:cNvPr>
          <p:cNvSpPr txBox="1"/>
          <p:nvPr/>
        </p:nvSpPr>
        <p:spPr>
          <a:xfrm>
            <a:off x="2259813" y="1481359"/>
            <a:ext cx="218598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年轻意见领袖（如年轻白领，高线城市、家境较好的学生），接触新趋势、新事物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8239050B-1507-C9C8-40B4-4D594102D3DF}"/>
              </a:ext>
            </a:extLst>
          </p:cNvPr>
          <p:cNvSpPr/>
          <p:nvPr/>
        </p:nvSpPr>
        <p:spPr>
          <a:xfrm>
            <a:off x="4447222" y="2708336"/>
            <a:ext cx="2766057" cy="112891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大众用户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C6060A82-EC92-C16A-8ADD-18C71798CB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689296" y="-3468501"/>
            <a:ext cx="5673818" cy="3541802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8AEB2449-BB63-9B02-A996-17F73C1527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71975" y="-5155873"/>
            <a:ext cx="6457950" cy="2789429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19F6545C-9377-457A-A5BE-C870840ADC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48550" y="-5792646"/>
            <a:ext cx="48290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1026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>
            <a:extLst>
              <a:ext uri="{FF2B5EF4-FFF2-40B4-BE49-F238E27FC236}">
                <a16:creationId xmlns:a16="http://schemas.microsoft.com/office/drawing/2014/main" id="{D5FBDB91-5B74-67E6-C8A2-F96360BD7F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864866" y="-2489200"/>
            <a:ext cx="4560967" cy="267890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9B7B672-21D3-26B9-1623-AC4CE60826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630611" y="317634"/>
            <a:ext cx="8150856" cy="51435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2115F35-4E22-71D0-90E7-5D69580FD09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0955" y="-1833141"/>
            <a:ext cx="5716572" cy="5143500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C48744F0-2749-64AC-5EF4-90D5507E2C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07298" y="0"/>
            <a:ext cx="3729404" cy="5143500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A2ACBA9B-1D96-D432-FE4F-67FCC07A2D8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2788596" y="-770020"/>
            <a:ext cx="11442722" cy="2281708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A8083ED0-A95E-710C-000F-1AFAC380C96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1370394"/>
            <a:ext cx="9144000" cy="2402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9036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1E191174-0FE1-967A-69F3-1DAB26BDD997}"/>
              </a:ext>
            </a:extLst>
          </p:cNvPr>
          <p:cNvSpPr/>
          <p:nvPr/>
        </p:nvSpPr>
        <p:spPr>
          <a:xfrm>
            <a:off x="3363370" y="625062"/>
            <a:ext cx="1845733" cy="47189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情绪价值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5868620F-1360-A7B3-3381-684FBA681848}"/>
              </a:ext>
            </a:extLst>
          </p:cNvPr>
          <p:cNvSpPr/>
          <p:nvPr/>
        </p:nvSpPr>
        <p:spPr>
          <a:xfrm>
            <a:off x="1137400" y="1726393"/>
            <a:ext cx="1845733" cy="4718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悦己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20056D4E-7E72-E23A-DDC1-E7373B533A4F}"/>
              </a:ext>
            </a:extLst>
          </p:cNvPr>
          <p:cNvSpPr/>
          <p:nvPr/>
        </p:nvSpPr>
        <p:spPr>
          <a:xfrm>
            <a:off x="5595105" y="1733446"/>
            <a:ext cx="1845733" cy="4718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圈层认同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cxnSp>
        <p:nvCxnSpPr>
          <p:cNvPr id="58" name="连接符: 肘形 57">
            <a:extLst>
              <a:ext uri="{FF2B5EF4-FFF2-40B4-BE49-F238E27FC236}">
                <a16:creationId xmlns:a16="http://schemas.microsoft.com/office/drawing/2014/main" id="{F46B2F5C-E3B1-CF1F-7054-72CA79CB473A}"/>
              </a:ext>
            </a:extLst>
          </p:cNvPr>
          <p:cNvCxnSpPr>
            <a:stCxn id="54" idx="2"/>
            <a:endCxn id="55" idx="0"/>
          </p:cNvCxnSpPr>
          <p:nvPr/>
        </p:nvCxnSpPr>
        <p:spPr>
          <a:xfrm rot="5400000">
            <a:off x="2858532" y="298687"/>
            <a:ext cx="629441" cy="222597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连接符: 肘形 58">
            <a:extLst>
              <a:ext uri="{FF2B5EF4-FFF2-40B4-BE49-F238E27FC236}">
                <a16:creationId xmlns:a16="http://schemas.microsoft.com/office/drawing/2014/main" id="{FFA21FCE-967B-F28A-A9E0-EEAE59FF2ECF}"/>
              </a:ext>
            </a:extLst>
          </p:cNvPr>
          <p:cNvCxnSpPr>
            <a:cxnSpLocks/>
            <a:stCxn id="54" idx="2"/>
            <a:endCxn id="56" idx="0"/>
          </p:cNvCxnSpPr>
          <p:nvPr/>
        </p:nvCxnSpPr>
        <p:spPr>
          <a:xfrm rot="16200000" flipH="1">
            <a:off x="5083857" y="299331"/>
            <a:ext cx="636494" cy="223173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92602C7F-3191-F571-3B52-B808BE640F22}"/>
              </a:ext>
            </a:extLst>
          </p:cNvPr>
          <p:cNvSpPr txBox="1"/>
          <p:nvPr/>
        </p:nvSpPr>
        <p:spPr>
          <a:xfrm>
            <a:off x="6524338" y="978236"/>
            <a:ext cx="16115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向外链接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600" dirty="0">
                <a:latin typeface="+mn-ea"/>
              </a:rPr>
              <a:t>寻求认同与归属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FF3203DC-86FC-B1CF-5D32-D59C614C10FE}"/>
              </a:ext>
            </a:extLst>
          </p:cNvPr>
          <p:cNvSpPr txBox="1"/>
          <p:nvPr/>
        </p:nvSpPr>
        <p:spPr>
          <a:xfrm>
            <a:off x="3516841" y="1488318"/>
            <a:ext cx="14351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入场券、互动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D0666AB5-71AE-92B7-5A91-2463A05D6206}"/>
              </a:ext>
            </a:extLst>
          </p:cNvPr>
          <p:cNvSpPr txBox="1"/>
          <p:nvPr/>
        </p:nvSpPr>
        <p:spPr>
          <a:xfrm>
            <a:off x="-241846" y="2338433"/>
            <a:ext cx="40838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latin typeface="+mn-ea"/>
              </a:rPr>
              <a:t>理解“我”、表达“我”、回应“我”</a:t>
            </a:r>
            <a:endParaRPr lang="en-US" altLang="zh-CN" sz="1600" dirty="0">
              <a:latin typeface="+mn-ea"/>
            </a:endParaRPr>
          </a:p>
          <a:p>
            <a:pPr algn="ctr"/>
            <a:endParaRPr lang="en-US" altLang="zh-CN" sz="1600" dirty="0">
              <a:latin typeface="+mn-ea"/>
            </a:endParaRPr>
          </a:p>
          <a:p>
            <a:pPr algn="ctr"/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个性化、分享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E1280BA5-6850-2818-51CF-E0A27C24AA58}"/>
              </a:ext>
            </a:extLst>
          </p:cNvPr>
          <p:cNvSpPr txBox="1"/>
          <p:nvPr/>
        </p:nvSpPr>
        <p:spPr>
          <a:xfrm>
            <a:off x="4499690" y="4959110"/>
            <a:ext cx="39116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0" i="0" dirty="0">
                <a:solidFill>
                  <a:srgbClr val="333333"/>
                </a:solidFill>
                <a:effectLst/>
                <a:latin typeface="PingFang SC"/>
              </a:rPr>
              <a:t>个体化的“悦己”行为往往携带特定符号（如谷子、汉服、特定 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PingFang SC"/>
              </a:rPr>
              <a:t>IP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PingFang SC"/>
              </a:rPr>
              <a:t>），成为进入‌同频圈层‌的“社交货币”，在群体互动中实现从“独自疗愈”到“共鸣确认”的升华 。</a:t>
            </a:r>
            <a:endParaRPr lang="en-US" altLang="zh-CN" sz="1600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 algn="ctr"/>
            <a:endParaRPr lang="en-US" altLang="zh-CN" sz="16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30D6D968-EA9D-B83E-6ACA-FC7FA22036A0}"/>
              </a:ext>
            </a:extLst>
          </p:cNvPr>
          <p:cNvCxnSpPr>
            <a:cxnSpLocks/>
          </p:cNvCxnSpPr>
          <p:nvPr/>
        </p:nvCxnSpPr>
        <p:spPr>
          <a:xfrm>
            <a:off x="3157759" y="1845163"/>
            <a:ext cx="22060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68FEDA35-DB4D-3BE5-0049-4B6639FBEEEC}"/>
              </a:ext>
            </a:extLst>
          </p:cNvPr>
          <p:cNvCxnSpPr>
            <a:cxnSpLocks/>
          </p:cNvCxnSpPr>
          <p:nvPr/>
        </p:nvCxnSpPr>
        <p:spPr>
          <a:xfrm flipH="1">
            <a:off x="3157759" y="1997563"/>
            <a:ext cx="22060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本框 77">
            <a:extLst>
              <a:ext uri="{FF2B5EF4-FFF2-40B4-BE49-F238E27FC236}">
                <a16:creationId xmlns:a16="http://schemas.microsoft.com/office/drawing/2014/main" id="{CDDA5F99-F484-6002-71CE-7BACF9B0C394}"/>
              </a:ext>
            </a:extLst>
          </p:cNvPr>
          <p:cNvSpPr txBox="1"/>
          <p:nvPr/>
        </p:nvSpPr>
        <p:spPr>
          <a:xfrm>
            <a:off x="458973" y="981666"/>
            <a:ext cx="17426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向内求索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安放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疗愈情绪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B27E1563-E6A8-AF64-BC47-FF891DF95C10}"/>
              </a:ext>
            </a:extLst>
          </p:cNvPr>
          <p:cNvSpPr txBox="1"/>
          <p:nvPr/>
        </p:nvSpPr>
        <p:spPr>
          <a:xfrm>
            <a:off x="3428394" y="2000392"/>
            <a:ext cx="16150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身份确认、共鸣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4CBDA0CE-E844-F581-9B68-5FAE1550E8B6}"/>
              </a:ext>
            </a:extLst>
          </p:cNvPr>
          <p:cNvSpPr txBox="1"/>
          <p:nvPr/>
        </p:nvSpPr>
        <p:spPr>
          <a:xfrm>
            <a:off x="2060266" y="-2722441"/>
            <a:ext cx="62357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悦己：消费动机全面回归自我。从“悦人”到 “悦己”，消费者的核心转折在于追求心理契合和情 绪安放。主张值得，懂我，表达的“心”品备受青睐， 是消费者对于情绪价值的追求、</a:t>
            </a:r>
          </a:p>
          <a:p>
            <a:r>
              <a:rPr lang="zh-CN" altLang="en-US" dirty="0"/>
              <a:t>“悦己”，则意味着在消费中找 到自我价值、身份确认与情绪安放。这也是为什么消费者越来越愿意为健康、 便利、文化认同、身份符号付费。换句话说，新品不再只是满足猎奇，而是帮 助消费者找到“与我相关”的意义。</a:t>
            </a: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FF2B06B9-4B47-3531-3100-F561FAF2B492}"/>
              </a:ext>
            </a:extLst>
          </p:cNvPr>
          <p:cNvSpPr txBox="1"/>
          <p:nvPr/>
        </p:nvSpPr>
        <p:spPr>
          <a:xfrm>
            <a:off x="172202" y="-2576664"/>
            <a:ext cx="162785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情感与精神追求：从“拥有”转向“感受”，如旅游、演唱会、</a:t>
            </a:r>
            <a:r>
              <a:rPr lang="en-US" altLang="zh-CN" dirty="0" err="1"/>
              <a:t>labubu</a:t>
            </a:r>
            <a:endParaRPr lang="en-US" altLang="zh-CN" dirty="0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2A8624DC-EDFC-5AD1-4ABF-5DFF386524E0}"/>
              </a:ext>
            </a:extLst>
          </p:cNvPr>
          <p:cNvSpPr txBox="1"/>
          <p:nvPr/>
        </p:nvSpPr>
        <p:spPr>
          <a:xfrm>
            <a:off x="-2658877" y="5609585"/>
            <a:ext cx="62357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未来的竞争，不是围绕谁铺得更广，谁渗透得更深，而是围绕谁能真正懂“我”，回应“我”的新需， 进入“我”的场景，共鸣“我”的感受。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281FEAC8-EB4B-51CA-AB62-D0AF2DCBAF42}"/>
              </a:ext>
            </a:extLst>
          </p:cNvPr>
          <p:cNvSpPr txBox="1"/>
          <p:nvPr/>
        </p:nvSpPr>
        <p:spPr>
          <a:xfrm>
            <a:off x="-2718859" y="4681044"/>
            <a:ext cx="62357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latin typeface="+mn-ea"/>
              </a:rPr>
              <a:t>通过消费或行为响应</a:t>
            </a:r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将情绪转化为“取悦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治愈自我”，拒绝为外部标签买单</a:t>
            </a:r>
            <a:endParaRPr lang="en-US" altLang="zh-CN" sz="1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18713688-F22B-D072-97F8-151FE8D7B5E2}"/>
              </a:ext>
            </a:extLst>
          </p:cNvPr>
          <p:cNvSpPr txBox="1"/>
          <p:nvPr/>
        </p:nvSpPr>
        <p:spPr>
          <a:xfrm>
            <a:off x="4691976" y="2338433"/>
            <a:ext cx="40838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latin typeface="+mn-ea"/>
              </a:rPr>
              <a:t>同身份、同场景、同偏好</a:t>
            </a:r>
            <a:endParaRPr lang="en-US" altLang="zh-CN" sz="1600" dirty="0">
              <a:latin typeface="+mn-ea"/>
            </a:endParaRPr>
          </a:p>
          <a:p>
            <a:pPr algn="ctr"/>
            <a:endParaRPr lang="en-US" altLang="zh-CN" sz="1600" dirty="0">
              <a:latin typeface="+mn-ea"/>
            </a:endParaRPr>
          </a:p>
          <a:p>
            <a:pPr algn="ctr"/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社交化、匹配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8A973BB8-A165-30B5-9886-BFF889C87848}"/>
              </a:ext>
            </a:extLst>
          </p:cNvPr>
          <p:cNvSpPr txBox="1"/>
          <p:nvPr/>
        </p:nvSpPr>
        <p:spPr>
          <a:xfrm>
            <a:off x="10689250" y="-1453979"/>
            <a:ext cx="7594600" cy="1698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b="0" i="0" dirty="0">
                <a:solidFill>
                  <a:srgbClr val="333333"/>
                </a:solidFill>
                <a:effectLst/>
                <a:latin typeface="PingFang"/>
              </a:rPr>
              <a:t>“场景化”、“兴趣化”、“轻量化”</a:t>
            </a:r>
            <a:endParaRPr lang="en-US" altLang="zh-CN" b="0" i="0" dirty="0">
              <a:solidFill>
                <a:srgbClr val="333333"/>
              </a:solidFill>
              <a:effectLst/>
              <a:latin typeface="PingFang"/>
            </a:endParaRPr>
          </a:p>
          <a:p>
            <a:pPr algn="just"/>
            <a:endParaRPr lang="en-US" altLang="zh-CN" dirty="0">
              <a:solidFill>
                <a:srgbClr val="333333"/>
              </a:solidFill>
              <a:latin typeface="PingFang"/>
            </a:endParaRPr>
          </a:p>
          <a:p>
            <a:pPr algn="just"/>
            <a:r>
              <a:rPr lang="zh-CN" altLang="en-US" b="0" i="0" dirty="0">
                <a:solidFill>
                  <a:srgbClr val="333333"/>
                </a:solidFill>
                <a:effectLst/>
                <a:latin typeface="PingFang"/>
              </a:rPr>
              <a:t>对于“朋友”这件事，年轻人早已不再拘泥于传统定义。</a:t>
            </a:r>
          </a:p>
          <a:p>
            <a:pPr algn="just"/>
            <a:br>
              <a:rPr lang="zh-CN" altLang="en-US" b="0" i="0" dirty="0">
                <a:solidFill>
                  <a:srgbClr val="333333"/>
                </a:solidFill>
                <a:effectLst/>
                <a:latin typeface="PingFang"/>
              </a:rPr>
            </a:br>
            <a:endParaRPr lang="zh-CN" altLang="en-US" b="0" i="0" dirty="0">
              <a:solidFill>
                <a:srgbClr val="333333"/>
              </a:solidFill>
              <a:effectLst/>
              <a:latin typeface="PingFang"/>
            </a:endParaRPr>
          </a:p>
          <a:p>
            <a:pPr algn="just"/>
            <a:r>
              <a:rPr lang="zh-CN" altLang="en-US" b="0" i="0" dirty="0">
                <a:solidFill>
                  <a:srgbClr val="333333"/>
                </a:solidFill>
                <a:effectLst/>
                <a:latin typeface="PingFang"/>
              </a:rPr>
              <a:t>比起把所有情绪和生活塞进几个“固定好友”里，当代青年更倾向于“按需交心”、模块化组队。社交关系被拆解成不同的功能场景，边找搭子边交心，灵活组局、各取所需。</a:t>
            </a:r>
          </a:p>
          <a:p>
            <a:pPr algn="just"/>
            <a:br>
              <a:rPr lang="zh-CN" altLang="en-US" b="0" i="0" dirty="0">
                <a:solidFill>
                  <a:srgbClr val="333333"/>
                </a:solidFill>
                <a:effectLst/>
                <a:latin typeface="PingFang"/>
              </a:rPr>
            </a:br>
            <a:endParaRPr lang="zh-CN" altLang="en-US" b="0" i="0" dirty="0">
              <a:solidFill>
                <a:srgbClr val="333333"/>
              </a:solidFill>
              <a:effectLst/>
              <a:latin typeface="PingFang"/>
            </a:endParaRPr>
          </a:p>
          <a:p>
            <a:pPr algn="just"/>
            <a:r>
              <a:rPr lang="zh-CN" altLang="en-US" b="0" i="0" dirty="0">
                <a:solidFill>
                  <a:srgbClr val="333333"/>
                </a:solidFill>
                <a:effectLst/>
                <a:latin typeface="PingFang"/>
              </a:rPr>
              <a:t>场景化、兴趣驱动、去情感负担的“搭子关系”，正在成为当代青年的主流社交模式。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"/>
              </a:rPr>
              <a:t>《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"/>
              </a:rPr>
              <a:t>人民论坛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"/>
              </a:rPr>
              <a:t>》2024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"/>
              </a:rPr>
              <a:t>年发布的研究称，“搭子”是以趣缘为基础，借助网络的跨时空平台，因共同的爱好和兴趣而“搭班”并形成具有一定契合度的“社交共同体”。</a:t>
            </a:r>
          </a:p>
          <a:p>
            <a:pPr algn="just"/>
            <a:br>
              <a:rPr lang="zh-CN" altLang="en-US" b="0" i="0" dirty="0">
                <a:solidFill>
                  <a:srgbClr val="333333"/>
                </a:solidFill>
                <a:effectLst/>
                <a:latin typeface="PingFang"/>
              </a:rPr>
            </a:br>
            <a:endParaRPr lang="zh-CN" altLang="en-US" b="0" i="0" dirty="0">
              <a:solidFill>
                <a:srgbClr val="333333"/>
              </a:solidFill>
              <a:effectLst/>
              <a:latin typeface="PingFang"/>
            </a:endParaRPr>
          </a:p>
          <a:p>
            <a:pPr algn="just"/>
            <a:r>
              <a:rPr lang="zh-CN" altLang="en-US" b="0" i="0" dirty="0">
                <a:solidFill>
                  <a:srgbClr val="333333"/>
                </a:solidFill>
                <a:effectLst/>
                <a:latin typeface="PingFang"/>
              </a:rPr>
              <a:t>在现代社会，年轻人不一定有“无话不谈”的闺蜜或兄弟，却大概率拥有几个随时响应的“情绪接口”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"/>
              </a:rPr>
              <a:t>——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"/>
              </a:rPr>
              <a:t>健身搭子、奶茶搭子、追剧搭子，甚至下班后不需要寒暄就能一起沉默放空的“安静搭子”。</a:t>
            </a:r>
          </a:p>
          <a:p>
            <a:pPr algn="just"/>
            <a:br>
              <a:rPr lang="zh-CN" altLang="en-US" b="0" i="0" dirty="0">
                <a:solidFill>
                  <a:srgbClr val="333333"/>
                </a:solidFill>
                <a:effectLst/>
                <a:latin typeface="PingFang"/>
              </a:rPr>
            </a:br>
            <a:endParaRPr lang="zh-CN" altLang="en-US" b="0" i="0" dirty="0">
              <a:solidFill>
                <a:srgbClr val="333333"/>
              </a:solidFill>
              <a:effectLst/>
              <a:latin typeface="PingFang"/>
            </a:endParaRPr>
          </a:p>
          <a:p>
            <a:pPr algn="just"/>
            <a:r>
              <a:rPr lang="zh-CN" altLang="en-US" b="0" i="0" dirty="0">
                <a:solidFill>
                  <a:srgbClr val="333333"/>
                </a:solidFill>
                <a:effectLst/>
                <a:latin typeface="PingFang"/>
              </a:rPr>
              <a:t>这种社交趋势的本质，是年轻人对高效情绪支持与个性边界的双重追求：</a:t>
            </a:r>
          </a:p>
          <a:p>
            <a:pPr algn="just"/>
            <a:br>
              <a:rPr lang="zh-CN" altLang="en-US" b="0" i="0" dirty="0">
                <a:solidFill>
                  <a:srgbClr val="333333"/>
                </a:solidFill>
                <a:effectLst/>
                <a:latin typeface="PingFang"/>
              </a:rPr>
            </a:br>
            <a:endParaRPr lang="zh-CN" altLang="en-US" b="0" i="0" dirty="0">
              <a:solidFill>
                <a:srgbClr val="333333"/>
              </a:solidFill>
              <a:effectLst/>
              <a:latin typeface="PingFang"/>
            </a:endParaRPr>
          </a:p>
          <a:p>
            <a:pPr algn="just"/>
            <a:r>
              <a:rPr lang="zh-CN" altLang="en-US" b="0" i="0" dirty="0">
                <a:solidFill>
                  <a:srgbClr val="333333"/>
                </a:solidFill>
                <a:effectLst/>
                <a:latin typeface="PingFang"/>
              </a:rPr>
              <a:t>一方面，他们希望在喜欢的活动中找到共鸣者，享受沉浸其中的陪伴；另一方面，他们也不再苛求“一个朋友走遍天下”，而是愿意为每一个生活切片匹配合适的社交角色。</a:t>
            </a:r>
          </a:p>
          <a:p>
            <a:pPr algn="just"/>
            <a:br>
              <a:rPr lang="zh-CN" altLang="en-US" b="0" i="0" dirty="0">
                <a:solidFill>
                  <a:srgbClr val="333333"/>
                </a:solidFill>
                <a:effectLst/>
                <a:latin typeface="PingFang"/>
              </a:rPr>
            </a:br>
            <a:endParaRPr lang="zh-CN" altLang="en-US" b="0" i="0" dirty="0">
              <a:solidFill>
                <a:srgbClr val="333333"/>
              </a:solidFill>
              <a:effectLst/>
              <a:latin typeface="PingFang"/>
            </a:endParaRPr>
          </a:p>
          <a:p>
            <a:pPr algn="just"/>
            <a:r>
              <a:rPr lang="zh-CN" altLang="en-US" b="0" i="0" dirty="0">
                <a:solidFill>
                  <a:srgbClr val="333333"/>
                </a:solidFill>
                <a:effectLst/>
                <a:latin typeface="PingFang"/>
              </a:rPr>
              <a:t>“搭子文化”的核心，是碎片化、低成本、快进快出的社交结构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"/>
              </a:rPr>
              <a:t>——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"/>
              </a:rPr>
              <a:t>时间要对得上，地点要方便，互动形式要简单直接，情绪投入要刚刚好。这种轻盈又不失温度的连接方式，正成为年轻人偏爱的“点到为止”的新型关系。</a:t>
            </a:r>
          </a:p>
          <a:p>
            <a:pPr algn="just"/>
            <a:br>
              <a:rPr lang="zh-CN" altLang="en-US" b="0" i="0" dirty="0">
                <a:solidFill>
                  <a:srgbClr val="333333"/>
                </a:solidFill>
                <a:effectLst/>
                <a:latin typeface="PingFang"/>
              </a:rPr>
            </a:br>
            <a:endParaRPr lang="zh-CN" altLang="en-US" b="0" i="0" dirty="0">
              <a:solidFill>
                <a:srgbClr val="333333"/>
              </a:solidFill>
              <a:effectLst/>
              <a:latin typeface="PingFang"/>
            </a:endParaRPr>
          </a:p>
          <a:p>
            <a:pPr algn="just"/>
            <a:r>
              <a:rPr lang="zh-CN" altLang="en-US" b="0" i="0" dirty="0">
                <a:solidFill>
                  <a:srgbClr val="333333"/>
                </a:solidFill>
                <a:effectLst/>
                <a:latin typeface="PingFang"/>
              </a:rPr>
              <a:t>在新京报贝壳财经的调研中，当代年轻人的社交呈现出去中心化、去负担、重场景、重感受的特点。“有社交边界的团建活动”成为受访者最偏爱的社交方式，占比达到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"/>
              </a:rPr>
              <a:t>58.8%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"/>
              </a:rPr>
              <a:t>，大多数年轻人更倾向参与有时间限制、目标明确、可随时退出的社交活动。</a:t>
            </a:r>
          </a:p>
          <a:p>
            <a:pPr algn="just"/>
            <a:br>
              <a:rPr lang="zh-CN" altLang="en-US" b="0" i="0" dirty="0">
                <a:solidFill>
                  <a:srgbClr val="333333"/>
                </a:solidFill>
                <a:effectLst/>
                <a:latin typeface="PingFang"/>
              </a:rPr>
            </a:br>
            <a:endParaRPr lang="zh-CN" altLang="en-US" b="0" i="0" dirty="0">
              <a:solidFill>
                <a:srgbClr val="333333"/>
              </a:solidFill>
              <a:effectLst/>
              <a:latin typeface="PingFang"/>
            </a:endParaRPr>
          </a:p>
          <a:p>
            <a:pPr algn="just"/>
            <a:r>
              <a:rPr lang="zh-CN" altLang="en-US" b="0" i="0" dirty="0">
                <a:solidFill>
                  <a:srgbClr val="333333"/>
                </a:solidFill>
                <a:effectLst/>
                <a:latin typeface="PingFang"/>
              </a:rPr>
              <a:t>其次是“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"/>
              </a:rPr>
              <a:t>1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"/>
              </a:rPr>
              <a:t>对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"/>
              </a:rPr>
              <a:t>1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"/>
              </a:rPr>
              <a:t>深度沟通”和“私域熟人圈”，占比分别为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"/>
              </a:rPr>
              <a:t>52.36%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"/>
              </a:rPr>
              <a:t>、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"/>
              </a:rPr>
              <a:t>49.12%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"/>
              </a:rPr>
              <a:t>。这表明，尽管年轻人倾向轻量社交，但依然渴望在亲密关系中获得情绪共鸣与安全感。</a:t>
            </a:r>
          </a:p>
          <a:p>
            <a:pPr algn="just"/>
            <a:br>
              <a:rPr lang="zh-CN" altLang="en-US" b="0" i="0" dirty="0">
                <a:solidFill>
                  <a:srgbClr val="333333"/>
                </a:solidFill>
                <a:effectLst/>
                <a:latin typeface="PingFang"/>
              </a:rPr>
            </a:br>
            <a:endParaRPr lang="zh-CN" altLang="en-US" b="0" i="0" dirty="0">
              <a:solidFill>
                <a:srgbClr val="333333"/>
              </a:solidFill>
              <a:effectLst/>
              <a:latin typeface="PingFang"/>
            </a:endParaRPr>
          </a:p>
          <a:p>
            <a:pPr algn="just"/>
            <a:r>
              <a:rPr lang="zh-CN" altLang="en-US" b="0" i="0" dirty="0">
                <a:solidFill>
                  <a:srgbClr val="333333"/>
                </a:solidFill>
                <a:effectLst/>
                <a:latin typeface="PingFang"/>
              </a:rPr>
              <a:t>此外，“因兴趣结缘的搭子关系”占比达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"/>
              </a:rPr>
              <a:t>45.38%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"/>
              </a:rPr>
              <a:t>。这种松散的关系，恰好契合社会学中的“趣缘”概念。“趣缘”指的是基于共同兴趣、认知偏好或生活方式而形成的松散社群关系。</a:t>
            </a:r>
          </a:p>
          <a:p>
            <a:pPr algn="just"/>
            <a:br>
              <a:rPr lang="zh-CN" altLang="en-US" b="0" i="0" dirty="0">
                <a:solidFill>
                  <a:srgbClr val="333333"/>
                </a:solidFill>
                <a:effectLst/>
                <a:latin typeface="PingFang"/>
              </a:rPr>
            </a:br>
            <a:endParaRPr lang="zh-CN" altLang="en-US" b="0" i="0" dirty="0">
              <a:solidFill>
                <a:srgbClr val="333333"/>
              </a:solidFill>
              <a:effectLst/>
              <a:latin typeface="PingFang"/>
            </a:endParaRPr>
          </a:p>
          <a:p>
            <a:pPr algn="just"/>
            <a:r>
              <a:rPr lang="zh-CN" altLang="en-US" b="0" i="0" dirty="0">
                <a:solidFill>
                  <a:srgbClr val="333333"/>
                </a:solidFill>
                <a:effectLst/>
                <a:latin typeface="PingFang"/>
              </a:rPr>
              <a:t>通过这样的“功能型社交”，年轻人得以在运动、追剧、吃饭等具体场景中实现快速配对、共同达成某个目标，却彼此保留生活边界。“搭子”关系结构轻、情感浅、协作强，不追求长期深交，而是以低成本的社交模块满足具体需求，极大契合了现代生活的快节奏与碎片化特征：有的骑行搭子一年下来仍未交换真名，就连办公室搭子离职，也足以让人感叹“像一场小型分手”。</a:t>
            </a:r>
          </a:p>
          <a:p>
            <a:pPr algn="just"/>
            <a:br>
              <a:rPr lang="zh-CN" altLang="en-US" b="0" i="0" dirty="0">
                <a:solidFill>
                  <a:srgbClr val="333333"/>
                </a:solidFill>
                <a:effectLst/>
                <a:latin typeface="PingFang"/>
              </a:rPr>
            </a:br>
            <a:endParaRPr lang="zh-CN" altLang="en-US" b="0" i="0" dirty="0">
              <a:solidFill>
                <a:srgbClr val="333333"/>
              </a:solidFill>
              <a:effectLst/>
              <a:latin typeface="PingFang"/>
            </a:endParaRPr>
          </a:p>
          <a:p>
            <a:pPr algn="just"/>
            <a:r>
              <a:rPr lang="zh-CN" altLang="en-US" b="0" i="0" dirty="0">
                <a:solidFill>
                  <a:srgbClr val="333333"/>
                </a:solidFill>
                <a:effectLst/>
                <a:latin typeface="PingFang"/>
              </a:rPr>
              <a:t>休闲、出游、运动等活动正在成为“交朋友”的新入口，人们无需“从头认识”，而是在共同行动中自然破冰，构成了一种典型的“趣缘型连接”。</a:t>
            </a:r>
          </a:p>
        </p:txBody>
      </p:sp>
    </p:spTree>
    <p:extLst>
      <p:ext uri="{BB962C8B-B14F-4D97-AF65-F5344CB8AC3E}">
        <p14:creationId xmlns:p14="http://schemas.microsoft.com/office/powerpoint/2010/main" val="33950958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文本占位符 1">
            <a:extLst>
              <a:ext uri="{FF2B5EF4-FFF2-40B4-BE49-F238E27FC236}">
                <a16:creationId xmlns:a16="http://schemas.microsoft.com/office/drawing/2014/main" id="{756CD79A-B011-3976-024E-1BC4E4BF6D52}"/>
              </a:ext>
            </a:extLst>
          </p:cNvPr>
          <p:cNvSpPr txBox="1">
            <a:spLocks/>
          </p:cNvSpPr>
          <p:nvPr/>
        </p:nvSpPr>
        <p:spPr>
          <a:xfrm>
            <a:off x="10944224" y="-1428750"/>
            <a:ext cx="1600201" cy="418275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年龄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89D8EA06-5446-E434-0E57-60C12C1D84D1}"/>
              </a:ext>
            </a:extLst>
          </p:cNvPr>
          <p:cNvSpPr/>
          <p:nvPr/>
        </p:nvSpPr>
        <p:spPr>
          <a:xfrm>
            <a:off x="3000680" y="2269907"/>
            <a:ext cx="1845733" cy="4718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资产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交易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评价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收藏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打卡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B88C6EA6-D831-7796-7246-05256BFC328C}"/>
              </a:ext>
            </a:extLst>
          </p:cNvPr>
          <p:cNvSpPr/>
          <p:nvPr/>
        </p:nvSpPr>
        <p:spPr>
          <a:xfrm>
            <a:off x="1456372" y="2400299"/>
            <a:ext cx="1133876" cy="1128919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其他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用户</a:t>
            </a:r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39CE7DC5-CB4E-9891-B924-1A7CEF054ADE}"/>
              </a:ext>
            </a:extLst>
          </p:cNvPr>
          <p:cNvSpPr/>
          <p:nvPr/>
        </p:nvSpPr>
        <p:spPr>
          <a:xfrm>
            <a:off x="5256847" y="2400300"/>
            <a:ext cx="1133875" cy="112891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商户</a:t>
            </a: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E03F2090-E66A-8EB8-1307-EB17B6586BA4}"/>
              </a:ext>
            </a:extLst>
          </p:cNvPr>
          <p:cNvCxnSpPr>
            <a:cxnSpLocks/>
            <a:stCxn id="39" idx="6"/>
            <a:endCxn id="40" idx="2"/>
          </p:cNvCxnSpPr>
          <p:nvPr/>
        </p:nvCxnSpPr>
        <p:spPr>
          <a:xfrm>
            <a:off x="2590248" y="2964759"/>
            <a:ext cx="26665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椭圆 42">
            <a:extLst>
              <a:ext uri="{FF2B5EF4-FFF2-40B4-BE49-F238E27FC236}">
                <a16:creationId xmlns:a16="http://schemas.microsoft.com/office/drawing/2014/main" id="{EF9F0F8E-C57E-3552-5D1B-906C0E460CCD}"/>
              </a:ext>
            </a:extLst>
          </p:cNvPr>
          <p:cNvSpPr/>
          <p:nvPr/>
        </p:nvSpPr>
        <p:spPr>
          <a:xfrm>
            <a:off x="1456370" y="450106"/>
            <a:ext cx="1133875" cy="112891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决策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用户</a:t>
            </a: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716583A9-43DB-7013-E4CE-ECDA2C9DFFB2}"/>
              </a:ext>
            </a:extLst>
          </p:cNvPr>
          <p:cNvCxnSpPr>
            <a:endCxn id="37" idx="3"/>
          </p:cNvCxnSpPr>
          <p:nvPr/>
        </p:nvCxnSpPr>
        <p:spPr>
          <a:xfrm flipH="1" flipV="1">
            <a:off x="4846413" y="2505852"/>
            <a:ext cx="504520" cy="1526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02966A12-A198-6D6B-1490-81EA4B398491}"/>
              </a:ext>
            </a:extLst>
          </p:cNvPr>
          <p:cNvSpPr txBox="1"/>
          <p:nvPr/>
        </p:nvSpPr>
        <p:spPr>
          <a:xfrm>
            <a:off x="4683230" y="2282890"/>
            <a:ext cx="9778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牵引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cxnSp>
        <p:nvCxnSpPr>
          <p:cNvPr id="53" name="连接符: 肘形 52">
            <a:extLst>
              <a:ext uri="{FF2B5EF4-FFF2-40B4-BE49-F238E27FC236}">
                <a16:creationId xmlns:a16="http://schemas.microsoft.com/office/drawing/2014/main" id="{D74B808A-434E-7F3B-7652-0B5C5F45270F}"/>
              </a:ext>
            </a:extLst>
          </p:cNvPr>
          <p:cNvCxnSpPr>
            <a:stCxn id="43" idx="6"/>
            <a:endCxn id="37" idx="0"/>
          </p:cNvCxnSpPr>
          <p:nvPr/>
        </p:nvCxnSpPr>
        <p:spPr>
          <a:xfrm>
            <a:off x="2590245" y="1014565"/>
            <a:ext cx="1333302" cy="125534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987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Shape 23">
            <a:extLst>
              <a:ext uri="{FF2B5EF4-FFF2-40B4-BE49-F238E27FC236}">
                <a16:creationId xmlns:a16="http://schemas.microsoft.com/office/drawing/2014/main" id="{1A2057AF-03C6-2335-2CDA-411BABB03E6D}"/>
              </a:ext>
            </a:extLst>
          </p:cNvPr>
          <p:cNvSpPr/>
          <p:nvPr/>
        </p:nvSpPr>
        <p:spPr>
          <a:xfrm>
            <a:off x="904875" y="1915163"/>
            <a:ext cx="1325880" cy="822960"/>
          </a:xfrm>
          <a:prstGeom prst="roundRect">
            <a:avLst>
              <a:gd name="adj" fmla="val 11111"/>
            </a:avLst>
          </a:prstGeom>
          <a:solidFill>
            <a:srgbClr val="FFD128"/>
          </a:solidFill>
          <a:ln w="19050">
            <a:solidFill>
              <a:srgbClr val="E6C200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 anchor="ctr"/>
          <a:lstStyle/>
          <a:p>
            <a:pPr algn="ctr"/>
            <a:r>
              <a:rPr lang="zh-CN" altLang="en-US" sz="1600" dirty="0">
                <a:latin typeface="+mn-ea"/>
              </a:rPr>
              <a:t>核心玩法</a:t>
            </a:r>
            <a:endParaRPr lang="en-US" altLang="zh-CN" sz="1600" dirty="0">
              <a:latin typeface="+mn-ea"/>
            </a:endParaRPr>
          </a:p>
        </p:txBody>
      </p:sp>
      <p:sp>
        <p:nvSpPr>
          <p:cNvPr id="155" name="Shape 141">
            <a:extLst>
              <a:ext uri="{FF2B5EF4-FFF2-40B4-BE49-F238E27FC236}">
                <a16:creationId xmlns:a16="http://schemas.microsoft.com/office/drawing/2014/main" id="{7E5C7037-ED80-5CFA-B259-CC4F9C9191A5}"/>
              </a:ext>
            </a:extLst>
          </p:cNvPr>
          <p:cNvSpPr/>
          <p:nvPr/>
        </p:nvSpPr>
        <p:spPr>
          <a:xfrm>
            <a:off x="11269979" y="-1905000"/>
            <a:ext cx="1737360" cy="29260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6" name="Text 142">
            <a:extLst>
              <a:ext uri="{FF2B5EF4-FFF2-40B4-BE49-F238E27FC236}">
                <a16:creationId xmlns:a16="http://schemas.microsoft.com/office/drawing/2014/main" id="{4459570F-E305-6048-21D2-91B95838FFD1}"/>
              </a:ext>
            </a:extLst>
          </p:cNvPr>
          <p:cNvSpPr/>
          <p:nvPr/>
        </p:nvSpPr>
        <p:spPr>
          <a:xfrm>
            <a:off x="11269979" y="-18318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+mn-ea"/>
                <a:cs typeface="Microsoft YaHei" pitchFamily="34" charset="-120"/>
              </a:rPr>
              <a:t>图例</a:t>
            </a:r>
            <a:endParaRPr lang="en-US" sz="1100" dirty="0">
              <a:latin typeface="+mn-ea"/>
            </a:endParaRPr>
          </a:p>
        </p:txBody>
      </p:sp>
      <p:sp>
        <p:nvSpPr>
          <p:cNvPr id="157" name="Shape 143">
            <a:extLst>
              <a:ext uri="{FF2B5EF4-FFF2-40B4-BE49-F238E27FC236}">
                <a16:creationId xmlns:a16="http://schemas.microsoft.com/office/drawing/2014/main" id="{C1A6DEB9-D1D7-948E-0D85-16662A4F39B9}"/>
              </a:ext>
            </a:extLst>
          </p:cNvPr>
          <p:cNvSpPr/>
          <p:nvPr/>
        </p:nvSpPr>
        <p:spPr>
          <a:xfrm>
            <a:off x="11379707" y="-1520952"/>
            <a:ext cx="320040" cy="20116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8" name="Text 144">
            <a:extLst>
              <a:ext uri="{FF2B5EF4-FFF2-40B4-BE49-F238E27FC236}">
                <a16:creationId xmlns:a16="http://schemas.microsoft.com/office/drawing/2014/main" id="{D55D9075-D579-BF7C-A915-E415CFC838A2}"/>
              </a:ext>
            </a:extLst>
          </p:cNvPr>
          <p:cNvSpPr/>
          <p:nvPr/>
        </p:nvSpPr>
        <p:spPr>
          <a:xfrm>
            <a:off x="11772899" y="-155752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66666"/>
                </a:solidFill>
                <a:latin typeface="+mn-ea"/>
                <a:cs typeface="Microsoft YaHei" pitchFamily="34" charset="-120"/>
              </a:rPr>
              <a:t>痛点</a:t>
            </a:r>
            <a:endParaRPr lang="en-US" sz="800" dirty="0">
              <a:latin typeface="+mn-ea"/>
            </a:endParaRPr>
          </a:p>
        </p:txBody>
      </p:sp>
      <p:sp>
        <p:nvSpPr>
          <p:cNvPr id="159" name="Text 145">
            <a:extLst>
              <a:ext uri="{FF2B5EF4-FFF2-40B4-BE49-F238E27FC236}">
                <a16:creationId xmlns:a16="http://schemas.microsoft.com/office/drawing/2014/main" id="{4EF4DB7A-5850-74DF-1CD0-13F05E02A0A6}"/>
              </a:ext>
            </a:extLst>
          </p:cNvPr>
          <p:cNvSpPr/>
          <p:nvPr/>
        </p:nvSpPr>
        <p:spPr>
          <a:xfrm>
            <a:off x="11772899" y="-1447800"/>
            <a:ext cx="1097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999999"/>
                </a:solidFill>
                <a:latin typeface="+mn-ea"/>
                <a:cs typeface="Microsoft YaHei" pitchFamily="34" charset="-120"/>
              </a:rPr>
              <a:t>解决的核心问题</a:t>
            </a:r>
            <a:endParaRPr lang="en-US" sz="600" dirty="0">
              <a:latin typeface="+mn-ea"/>
            </a:endParaRPr>
          </a:p>
        </p:txBody>
      </p:sp>
      <p:sp>
        <p:nvSpPr>
          <p:cNvPr id="160" name="Shape 146">
            <a:extLst>
              <a:ext uri="{FF2B5EF4-FFF2-40B4-BE49-F238E27FC236}">
                <a16:creationId xmlns:a16="http://schemas.microsoft.com/office/drawing/2014/main" id="{1044A5A6-2639-C1F2-A8BC-15303F29CDDA}"/>
              </a:ext>
            </a:extLst>
          </p:cNvPr>
          <p:cNvSpPr/>
          <p:nvPr/>
        </p:nvSpPr>
        <p:spPr>
          <a:xfrm>
            <a:off x="11379707" y="-1136904"/>
            <a:ext cx="320040" cy="201168"/>
          </a:xfrm>
          <a:prstGeom prst="rect">
            <a:avLst/>
          </a:prstGeom>
          <a:solidFill>
            <a:srgbClr val="E8F0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1" name="Text 147">
            <a:extLst>
              <a:ext uri="{FF2B5EF4-FFF2-40B4-BE49-F238E27FC236}">
                <a16:creationId xmlns:a16="http://schemas.microsoft.com/office/drawing/2014/main" id="{36C0D6D1-29A7-6903-6A63-AE39BD1B93E6}"/>
              </a:ext>
            </a:extLst>
          </p:cNvPr>
          <p:cNvSpPr/>
          <p:nvPr/>
        </p:nvSpPr>
        <p:spPr>
          <a:xfrm>
            <a:off x="11772899" y="-1173480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5A9A"/>
                </a:solidFill>
                <a:latin typeface="+mn-ea"/>
                <a:cs typeface="Microsoft YaHei" pitchFamily="34" charset="-120"/>
              </a:rPr>
              <a:t>用户价值</a:t>
            </a:r>
            <a:endParaRPr lang="en-US" sz="800" dirty="0">
              <a:latin typeface="+mn-ea"/>
            </a:endParaRPr>
          </a:p>
        </p:txBody>
      </p:sp>
      <p:sp>
        <p:nvSpPr>
          <p:cNvPr id="162" name="Text 148">
            <a:extLst>
              <a:ext uri="{FF2B5EF4-FFF2-40B4-BE49-F238E27FC236}">
                <a16:creationId xmlns:a16="http://schemas.microsoft.com/office/drawing/2014/main" id="{05807D07-A44D-1BB9-B38E-A7660814478F}"/>
              </a:ext>
            </a:extLst>
          </p:cNvPr>
          <p:cNvSpPr/>
          <p:nvPr/>
        </p:nvSpPr>
        <p:spPr>
          <a:xfrm>
            <a:off x="11772899" y="-1063752"/>
            <a:ext cx="1097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999999"/>
                </a:solidFill>
                <a:latin typeface="+mn-ea"/>
                <a:cs typeface="Microsoft YaHei" pitchFamily="34" charset="-120"/>
              </a:rPr>
              <a:t>用户获得什么</a:t>
            </a:r>
            <a:endParaRPr lang="en-US" sz="600" dirty="0">
              <a:latin typeface="+mn-ea"/>
            </a:endParaRPr>
          </a:p>
        </p:txBody>
      </p:sp>
      <p:sp>
        <p:nvSpPr>
          <p:cNvPr id="163" name="Shape 149">
            <a:extLst>
              <a:ext uri="{FF2B5EF4-FFF2-40B4-BE49-F238E27FC236}">
                <a16:creationId xmlns:a16="http://schemas.microsoft.com/office/drawing/2014/main" id="{A5B75957-E298-A45E-3E34-5EFD34833CDB}"/>
              </a:ext>
            </a:extLst>
          </p:cNvPr>
          <p:cNvSpPr/>
          <p:nvPr/>
        </p:nvSpPr>
        <p:spPr>
          <a:xfrm>
            <a:off x="11379707" y="-752856"/>
            <a:ext cx="320040" cy="201168"/>
          </a:xfrm>
          <a:prstGeom prst="rect">
            <a:avLst/>
          </a:prstGeom>
          <a:solidFill>
            <a:srgbClr val="FFF5E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4" name="Text 150">
            <a:extLst>
              <a:ext uri="{FF2B5EF4-FFF2-40B4-BE49-F238E27FC236}">
                <a16:creationId xmlns:a16="http://schemas.microsoft.com/office/drawing/2014/main" id="{AE15D79E-DE4E-7D6C-474B-B4C50A529856}"/>
              </a:ext>
            </a:extLst>
          </p:cNvPr>
          <p:cNvSpPr/>
          <p:nvPr/>
        </p:nvSpPr>
        <p:spPr>
          <a:xfrm>
            <a:off x="11772899" y="-789432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A6A00"/>
                </a:solidFill>
                <a:latin typeface="+mn-ea"/>
                <a:cs typeface="Microsoft YaHei" pitchFamily="34" charset="-120"/>
              </a:rPr>
              <a:t>平台价值</a:t>
            </a:r>
            <a:endParaRPr lang="en-US" sz="800" dirty="0">
              <a:latin typeface="+mn-ea"/>
            </a:endParaRPr>
          </a:p>
        </p:txBody>
      </p:sp>
      <p:sp>
        <p:nvSpPr>
          <p:cNvPr id="165" name="Text 151">
            <a:extLst>
              <a:ext uri="{FF2B5EF4-FFF2-40B4-BE49-F238E27FC236}">
                <a16:creationId xmlns:a16="http://schemas.microsoft.com/office/drawing/2014/main" id="{F7CAD5A9-EC63-CFEA-0496-F4852F2142EB}"/>
              </a:ext>
            </a:extLst>
          </p:cNvPr>
          <p:cNvSpPr/>
          <p:nvPr/>
        </p:nvSpPr>
        <p:spPr>
          <a:xfrm>
            <a:off x="11772899" y="-679704"/>
            <a:ext cx="1097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999999"/>
                </a:solidFill>
                <a:latin typeface="+mn-ea"/>
                <a:cs typeface="Microsoft YaHei" pitchFamily="34" charset="-120"/>
              </a:rPr>
              <a:t>平台获得什么</a:t>
            </a:r>
            <a:endParaRPr lang="en-US" sz="600" dirty="0">
              <a:latin typeface="+mn-ea"/>
            </a:endParaRPr>
          </a:p>
        </p:txBody>
      </p:sp>
      <p:sp>
        <p:nvSpPr>
          <p:cNvPr id="166" name="Text 152">
            <a:extLst>
              <a:ext uri="{FF2B5EF4-FFF2-40B4-BE49-F238E27FC236}">
                <a16:creationId xmlns:a16="http://schemas.microsoft.com/office/drawing/2014/main" id="{DBEB3550-BE21-51F3-99D2-EAC92E38E20D}"/>
              </a:ext>
            </a:extLst>
          </p:cNvPr>
          <p:cNvSpPr/>
          <p:nvPr/>
        </p:nvSpPr>
        <p:spPr>
          <a:xfrm>
            <a:off x="11361419" y="-259080"/>
            <a:ext cx="155448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55555"/>
                </a:solidFill>
                <a:latin typeface="+mn-ea"/>
              </a:rPr>
              <a:t>个性化榜单是闭环核心枢纽
</a:t>
            </a:r>
            <a:r>
              <a:rPr lang="en-US" sz="650" dirty="0">
                <a:solidFill>
                  <a:srgbClr val="666666"/>
                </a:solidFill>
                <a:latin typeface="+mn-ea"/>
              </a:rPr>
              <a:t>对KOL：身份载体
对用户：发现入口
对社群：互动战场</a:t>
            </a:r>
            <a:endParaRPr lang="en-US" sz="700" dirty="0">
              <a:latin typeface="+mn-ea"/>
            </a:endParaRPr>
          </a:p>
        </p:txBody>
      </p:sp>
      <p:sp>
        <p:nvSpPr>
          <p:cNvPr id="168" name="矩形: 圆角 21">
            <a:extLst>
              <a:ext uri="{FF2B5EF4-FFF2-40B4-BE49-F238E27FC236}">
                <a16:creationId xmlns:a16="http://schemas.microsoft.com/office/drawing/2014/main" id="{AC3A57B5-EA68-C885-B9F7-41F9D763FEF2}"/>
              </a:ext>
            </a:extLst>
          </p:cNvPr>
          <p:cNvSpPr/>
          <p:nvPr/>
        </p:nvSpPr>
        <p:spPr>
          <a:xfrm>
            <a:off x="2545081" y="-99291"/>
            <a:ext cx="1712595" cy="53797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资产授权及应用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9" name="矩形: 圆角 21">
            <a:extLst>
              <a:ext uri="{FF2B5EF4-FFF2-40B4-BE49-F238E27FC236}">
                <a16:creationId xmlns:a16="http://schemas.microsoft.com/office/drawing/2014/main" id="{FAA1E483-7FB8-B611-22B7-03B724E5EA13}"/>
              </a:ext>
            </a:extLst>
          </p:cNvPr>
          <p:cNvSpPr/>
          <p:nvPr/>
        </p:nvSpPr>
        <p:spPr>
          <a:xfrm>
            <a:off x="4457700" y="-459626"/>
            <a:ext cx="2571751" cy="5472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集卡类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足迹地图、品类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榜单点亮等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72" name="矩形: 圆角 21">
            <a:extLst>
              <a:ext uri="{FF2B5EF4-FFF2-40B4-BE49-F238E27FC236}">
                <a16:creationId xmlns:a16="http://schemas.microsoft.com/office/drawing/2014/main" id="{5B305A2D-F422-B08C-5672-3DCDD19F4297}"/>
              </a:ext>
            </a:extLst>
          </p:cNvPr>
          <p:cNvSpPr/>
          <p:nvPr/>
        </p:nvSpPr>
        <p:spPr>
          <a:xfrm>
            <a:off x="4478533" y="753912"/>
            <a:ext cx="2589018" cy="5472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圈层画像类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美食人格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MBTI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、勋章标签等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73" name="矩形: 圆角 21">
            <a:extLst>
              <a:ext uri="{FF2B5EF4-FFF2-40B4-BE49-F238E27FC236}">
                <a16:creationId xmlns:a16="http://schemas.microsoft.com/office/drawing/2014/main" id="{6CC741E9-B0C6-74E7-52B7-FFC171F548B0}"/>
              </a:ext>
            </a:extLst>
          </p:cNvPr>
          <p:cNvSpPr/>
          <p:nvPr/>
        </p:nvSpPr>
        <p:spPr>
          <a:xfrm>
            <a:off x="4478532" y="144312"/>
            <a:ext cx="2560443" cy="5472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报告类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日历统计、美食人格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MBTI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等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74" name="矩形: 圆角 173">
            <a:extLst>
              <a:ext uri="{FF2B5EF4-FFF2-40B4-BE49-F238E27FC236}">
                <a16:creationId xmlns:a16="http://schemas.microsoft.com/office/drawing/2014/main" id="{58DCD09D-70BA-4EED-D660-96321530D160}"/>
              </a:ext>
            </a:extLst>
          </p:cNvPr>
          <p:cNvSpPr/>
          <p:nvPr/>
        </p:nvSpPr>
        <p:spPr>
          <a:xfrm>
            <a:off x="1712956" y="-1707153"/>
            <a:ext cx="1588048" cy="35823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激发用户分享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炫耀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75" name="矩形: 圆角 174">
            <a:extLst>
              <a:ext uri="{FF2B5EF4-FFF2-40B4-BE49-F238E27FC236}">
                <a16:creationId xmlns:a16="http://schemas.microsoft.com/office/drawing/2014/main" id="{678CC74A-7D13-B41C-EFBE-960DA211F4B2}"/>
              </a:ext>
            </a:extLst>
          </p:cNvPr>
          <p:cNvSpPr/>
          <p:nvPr/>
        </p:nvSpPr>
        <p:spPr>
          <a:xfrm>
            <a:off x="1694455" y="-1345203"/>
            <a:ext cx="1612897" cy="35823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平台获得授权及画像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76" name="矩形: 圆角 21">
            <a:extLst>
              <a:ext uri="{FF2B5EF4-FFF2-40B4-BE49-F238E27FC236}">
                <a16:creationId xmlns:a16="http://schemas.microsoft.com/office/drawing/2014/main" id="{60F53160-CB1D-8B8E-9577-DBBE0A81C21D}"/>
              </a:ext>
            </a:extLst>
          </p:cNvPr>
          <p:cNvSpPr/>
          <p:nvPr/>
        </p:nvSpPr>
        <p:spPr>
          <a:xfrm>
            <a:off x="2506980" y="2542543"/>
            <a:ext cx="1712595" cy="53797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食单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7" name="矩形: 圆角 21">
            <a:extLst>
              <a:ext uri="{FF2B5EF4-FFF2-40B4-BE49-F238E27FC236}">
                <a16:creationId xmlns:a16="http://schemas.microsoft.com/office/drawing/2014/main" id="{C09D577C-0BBF-2894-322F-B83FE2D5E478}"/>
              </a:ext>
            </a:extLst>
          </p:cNvPr>
          <p:cNvSpPr/>
          <p:nvPr/>
        </p:nvSpPr>
        <p:spPr>
          <a:xfrm>
            <a:off x="4448175" y="1915163"/>
            <a:ext cx="2552699" cy="53797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生产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记录导入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+AI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创建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+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共创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78" name="矩形: 圆角 21">
            <a:extLst>
              <a:ext uri="{FF2B5EF4-FFF2-40B4-BE49-F238E27FC236}">
                <a16:creationId xmlns:a16="http://schemas.microsoft.com/office/drawing/2014/main" id="{B56AC9C5-6E40-5C23-6B34-1491B8C08A16}"/>
              </a:ext>
            </a:extLst>
          </p:cNvPr>
          <p:cNvSpPr/>
          <p:nvPr/>
        </p:nvSpPr>
        <p:spPr>
          <a:xfrm>
            <a:off x="4457700" y="2539241"/>
            <a:ext cx="2543175" cy="53797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消费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互动</a:t>
            </a:r>
          </a:p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想吃、评论、重合度计算等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79" name="矩形: 圆角 21">
            <a:extLst>
              <a:ext uri="{FF2B5EF4-FFF2-40B4-BE49-F238E27FC236}">
                <a16:creationId xmlns:a16="http://schemas.microsoft.com/office/drawing/2014/main" id="{483085CE-B42B-A0DB-321E-369F2F27061C}"/>
              </a:ext>
            </a:extLst>
          </p:cNvPr>
          <p:cNvSpPr/>
          <p:nvPr/>
        </p:nvSpPr>
        <p:spPr>
          <a:xfrm>
            <a:off x="4448176" y="3149603"/>
            <a:ext cx="2543174" cy="53797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个性化分发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猜喜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大搜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/POI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等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80" name="矩形: 圆角 21">
            <a:extLst>
              <a:ext uri="{FF2B5EF4-FFF2-40B4-BE49-F238E27FC236}">
                <a16:creationId xmlns:a16="http://schemas.microsoft.com/office/drawing/2014/main" id="{F3C8503C-C719-15DB-86CC-61CE5027A13C}"/>
              </a:ext>
            </a:extLst>
          </p:cNvPr>
          <p:cNvSpPr/>
          <p:nvPr/>
        </p:nvSpPr>
        <p:spPr>
          <a:xfrm>
            <a:off x="2506980" y="4344673"/>
            <a:ext cx="1712595" cy="53797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创作者激励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1" name="矩形: 圆角 21">
            <a:extLst>
              <a:ext uri="{FF2B5EF4-FFF2-40B4-BE49-F238E27FC236}">
                <a16:creationId xmlns:a16="http://schemas.microsoft.com/office/drawing/2014/main" id="{F3DA3020-DADB-7090-E476-6D966E7C8700}"/>
              </a:ext>
            </a:extLst>
          </p:cNvPr>
          <p:cNvSpPr/>
          <p:nvPr/>
        </p:nvSpPr>
        <p:spPr>
          <a:xfrm>
            <a:off x="4450080" y="4312159"/>
            <a:ext cx="2499360" cy="53797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勋章及身份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成长勋章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+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稀缺身份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82" name="矩形: 圆角 21">
            <a:extLst>
              <a:ext uri="{FF2B5EF4-FFF2-40B4-BE49-F238E27FC236}">
                <a16:creationId xmlns:a16="http://schemas.microsoft.com/office/drawing/2014/main" id="{44EC10E6-DC8D-678D-47CC-D1398501A2A2}"/>
              </a:ext>
            </a:extLst>
          </p:cNvPr>
          <p:cNvSpPr/>
          <p:nvPr/>
        </p:nvSpPr>
        <p:spPr>
          <a:xfrm>
            <a:off x="4450079" y="4874515"/>
            <a:ext cx="2496907" cy="53797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活动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激励赛等，获得流量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加精等资源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83" name="矩形: 圆角 21">
            <a:extLst>
              <a:ext uri="{FF2B5EF4-FFF2-40B4-BE49-F238E27FC236}">
                <a16:creationId xmlns:a16="http://schemas.microsoft.com/office/drawing/2014/main" id="{5C1A9FC8-9290-BFCC-5694-6DE56AC9A666}"/>
              </a:ext>
            </a:extLst>
          </p:cNvPr>
          <p:cNvSpPr/>
          <p:nvPr/>
        </p:nvSpPr>
        <p:spPr>
          <a:xfrm>
            <a:off x="4450079" y="5499101"/>
            <a:ext cx="2496907" cy="53797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类物质奖励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神券、赠菜等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647738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429BF67-DFB3-972D-44D2-2E530558BB82}"/>
              </a:ext>
            </a:extLst>
          </p:cNvPr>
          <p:cNvSpPr txBox="1">
            <a:spLocks/>
          </p:cNvSpPr>
          <p:nvPr/>
        </p:nvSpPr>
        <p:spPr>
          <a:xfrm>
            <a:off x="391635" y="350801"/>
            <a:ext cx="6435792" cy="576536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>
                <a:latin typeface="+mn-ea"/>
              </a:rPr>
              <a:t>激励反馈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DA2C0B8-3026-9D55-8DDF-6EEAC83CED3F}"/>
              </a:ext>
            </a:extLst>
          </p:cNvPr>
          <p:cNvSpPr txBox="1"/>
          <p:nvPr/>
        </p:nvSpPr>
        <p:spPr>
          <a:xfrm>
            <a:off x="1965911" y="-1297388"/>
            <a:ext cx="14465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/>
            <a:r>
              <a:rPr lang="zh-CN" altLang="en-US" b="1" dirty="0">
                <a:effectLst/>
                <a:latin typeface="+mn-ea"/>
              </a:rPr>
              <a:t>荣誉价值</a:t>
            </a:r>
            <a:endParaRPr lang="en-US" altLang="zh-CN" b="1" dirty="0">
              <a:effectLst/>
              <a:latin typeface="+mn-ea"/>
            </a:endParaRPr>
          </a:p>
          <a:p>
            <a:pPr marL="0" marR="0"/>
            <a:r>
              <a:rPr lang="zh-CN" altLang="en-US" b="1" dirty="0">
                <a:latin typeface="+mn-ea"/>
              </a:rPr>
              <a:t>反馈价值</a:t>
            </a:r>
            <a:endParaRPr lang="en-US" altLang="zh-CN" b="1" dirty="0">
              <a:latin typeface="+mn-ea"/>
            </a:endParaRPr>
          </a:p>
          <a:p>
            <a:pPr marL="0" marR="0"/>
            <a:r>
              <a:rPr lang="zh-CN" altLang="en-US" b="1" dirty="0">
                <a:latin typeface="+mn-ea"/>
              </a:rPr>
              <a:t>金钱价值</a:t>
            </a:r>
            <a:endParaRPr lang="zh-CN" altLang="en-US" b="1" dirty="0">
              <a:effectLst/>
              <a:latin typeface="+mn-ea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E172E03C-E5DA-2D60-B471-14C84ED93579}"/>
              </a:ext>
            </a:extLst>
          </p:cNvPr>
          <p:cNvSpPr/>
          <p:nvPr/>
        </p:nvSpPr>
        <p:spPr>
          <a:xfrm>
            <a:off x="2556296" y="2948115"/>
            <a:ext cx="4504379" cy="856800"/>
          </a:xfrm>
          <a:prstGeom prst="roundRect">
            <a:avLst>
              <a:gd name="adj" fmla="val 12921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创作激励、商家神券、霸王餐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…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3FD9750-1EEC-689B-8491-7BCEFC3416E8}"/>
              </a:ext>
            </a:extLst>
          </p:cNvPr>
          <p:cNvSpPr/>
          <p:nvPr/>
        </p:nvSpPr>
        <p:spPr>
          <a:xfrm>
            <a:off x="599797" y="1016406"/>
            <a:ext cx="1807200" cy="8568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荣誉价值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4417720-9519-E2FF-F34D-6F2FB8602F74}"/>
              </a:ext>
            </a:extLst>
          </p:cNvPr>
          <p:cNvSpPr/>
          <p:nvPr/>
        </p:nvSpPr>
        <p:spPr>
          <a:xfrm>
            <a:off x="599797" y="2949343"/>
            <a:ext cx="1807200" cy="8568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类金钱价值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3A9D8C0C-8BCF-C91B-85E1-6829A5F12646}"/>
              </a:ext>
            </a:extLst>
          </p:cNvPr>
          <p:cNvSpPr/>
          <p:nvPr/>
        </p:nvSpPr>
        <p:spPr>
          <a:xfrm>
            <a:off x="599797" y="1997774"/>
            <a:ext cx="1807200" cy="8568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反馈价值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660CDF68-F2D0-598F-2589-DF6F644ADE04}"/>
              </a:ext>
            </a:extLst>
          </p:cNvPr>
          <p:cNvSpPr/>
          <p:nvPr/>
        </p:nvSpPr>
        <p:spPr>
          <a:xfrm>
            <a:off x="2556296" y="1995552"/>
            <a:ext cx="4487921" cy="870117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食单加精上广场、流量包、用户跟吃互动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…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17CCB74-504D-59CA-3C83-FA44C49B3567}"/>
              </a:ext>
            </a:extLst>
          </p:cNvPr>
          <p:cNvSpPr/>
          <p:nvPr/>
        </p:nvSpPr>
        <p:spPr>
          <a:xfrm>
            <a:off x="2551877" y="1016407"/>
            <a:ext cx="4487921" cy="83159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0D0D0D"/>
                </a:solidFill>
                <a:latin typeface="+mn-ea"/>
              </a:rPr>
              <a:t>线下盛典、线上稀缺身份</a:t>
            </a:r>
            <a:r>
              <a:rPr lang="en-US" altLang="zh-CN" sz="1600" dirty="0">
                <a:solidFill>
                  <a:srgbClr val="0D0D0D"/>
                </a:solidFill>
                <a:latin typeface="+mn-ea"/>
              </a:rPr>
              <a:t>…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F339EDD-D3BA-54E5-DBEF-CCE3836B8624}"/>
              </a:ext>
            </a:extLst>
          </p:cNvPr>
          <p:cNvSpPr txBox="1"/>
          <p:nvPr/>
        </p:nvSpPr>
        <p:spPr>
          <a:xfrm>
            <a:off x="7696200" y="-112983"/>
            <a:ext cx="4572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/>
            <a:r>
              <a:rPr lang="zh-CN" altLang="en-US" dirty="0">
                <a:effectLst/>
              </a:rPr>
              <a:t>生产者是谁，在哪，如何运营、如何激励？：生产者可能</a:t>
            </a:r>
            <a:r>
              <a:rPr lang="en-US" altLang="zh-CN" dirty="0">
                <a:effectLst/>
              </a:rPr>
              <a:t>1%</a:t>
            </a:r>
            <a:r>
              <a:rPr lang="zh-CN" altLang="en-US" dirty="0">
                <a:effectLst/>
              </a:rPr>
              <a:t>就行，对应我们的交易、收藏分布，或者点评高</a:t>
            </a:r>
            <a:r>
              <a:rPr lang="en-US" altLang="zh-CN" dirty="0">
                <a:effectLst/>
              </a:rPr>
              <a:t>v</a:t>
            </a:r>
            <a:r>
              <a:rPr lang="zh-CN" altLang="en-US" dirty="0">
                <a:effectLst/>
              </a:rPr>
              <a:t>作者用户的比例如何？</a:t>
            </a:r>
            <a:r>
              <a:rPr lang="en-US" altLang="zh-CN" dirty="0" err="1">
                <a:effectLst/>
              </a:rPr>
              <a:t>yami</a:t>
            </a:r>
            <a:r>
              <a:rPr lang="zh-CN" altLang="en-US" dirty="0">
                <a:effectLst/>
              </a:rPr>
              <a:t>的集合数如何</a:t>
            </a:r>
          </a:p>
          <a:p>
            <a:pPr marR="0"/>
            <a:r>
              <a:rPr lang="en-US" altLang="zh-CN" dirty="0">
                <a:effectLst/>
              </a:rPr>
              <a:t>a. </a:t>
            </a:r>
            <a:r>
              <a:rPr lang="zh-CN" altLang="en-US" dirty="0">
                <a:effectLst/>
              </a:rPr>
              <a:t>一部分人追求钱，美团的优势是交易激励</a:t>
            </a:r>
            <a:r>
              <a:rPr lang="en-US" altLang="zh-CN" dirty="0">
                <a:effectLst/>
              </a:rPr>
              <a:t>-</a:t>
            </a:r>
            <a:r>
              <a:rPr lang="zh-CN" altLang="en-US" dirty="0">
                <a:effectLst/>
              </a:rPr>
              <a:t>发券、霸王餐、高等级会员体验、特定餐厅尊享服务等</a:t>
            </a:r>
          </a:p>
          <a:p>
            <a:pPr marR="0"/>
            <a:r>
              <a:rPr lang="en-US" altLang="zh-CN" dirty="0">
                <a:effectLst/>
              </a:rPr>
              <a:t>b. </a:t>
            </a:r>
            <a:r>
              <a:rPr lang="zh-CN" altLang="en-US" dirty="0">
                <a:effectLst/>
              </a:rPr>
              <a:t>社交性</a:t>
            </a:r>
            <a:r>
              <a:rPr lang="en-US" altLang="zh-CN" dirty="0">
                <a:effectLst/>
              </a:rPr>
              <a:t>——</a:t>
            </a:r>
            <a:r>
              <a:rPr lang="zh-CN" altLang="en-US" dirty="0">
                <a:effectLst/>
              </a:rPr>
              <a:t>我们平台没有社交网络，只能说是朋友、或者陌生人的友好。</a:t>
            </a:r>
            <a:r>
              <a:rPr lang="en-US" altLang="zh-CN" dirty="0">
                <a:effectLst/>
              </a:rPr>
              <a:t>——</a:t>
            </a:r>
            <a:r>
              <a:rPr lang="zh-CN" altLang="en-US" dirty="0">
                <a:effectLst/>
              </a:rPr>
              <a:t>这种分法量少，大概率依附于</a:t>
            </a:r>
            <a:r>
              <a:rPr lang="en-US" altLang="zh-CN" dirty="0">
                <a:effectLst/>
              </a:rPr>
              <a:t>poi</a:t>
            </a:r>
            <a:r>
              <a:rPr lang="zh-CN" altLang="en-US" dirty="0">
                <a:effectLst/>
              </a:rPr>
              <a:t>等。所以粉丝数等可能并不重要</a:t>
            </a:r>
          </a:p>
          <a:p>
            <a:pPr marR="0"/>
            <a:r>
              <a:rPr lang="en-US" altLang="zh-CN" dirty="0">
                <a:effectLst/>
              </a:rPr>
              <a:t>c. </a:t>
            </a:r>
            <a:r>
              <a:rPr lang="zh-CN" altLang="en-US" dirty="0">
                <a:effectLst/>
              </a:rPr>
              <a:t>荣誉感，各种勋章。</a:t>
            </a:r>
          </a:p>
          <a:p>
            <a:pPr marR="0"/>
            <a:r>
              <a:rPr lang="en-US" altLang="zh-CN" dirty="0">
                <a:effectLst/>
              </a:rPr>
              <a:t>d.</a:t>
            </a:r>
            <a:r>
              <a:rPr lang="zh-CN" altLang="en-US" dirty="0">
                <a:effectLst/>
              </a:rPr>
              <a:t>专业信任感</a:t>
            </a:r>
            <a:r>
              <a:rPr lang="en-US" altLang="zh-CN" dirty="0">
                <a:effectLst/>
              </a:rPr>
              <a:t>——</a:t>
            </a:r>
            <a:r>
              <a:rPr lang="zh-CN" altLang="en-US" dirty="0">
                <a:effectLst/>
              </a:rPr>
              <a:t>这可能是我们的差异化，即“我的判断被验证是对的</a:t>
            </a:r>
            <a:r>
              <a:rPr lang="en-US" altLang="zh-CN" dirty="0">
                <a:effectLst/>
              </a:rPr>
              <a:t>"</a:t>
            </a:r>
            <a:r>
              <a:rPr lang="zh-CN" altLang="en-US" dirty="0">
                <a:effectLst/>
              </a:rPr>
              <a:t>这种胜任感”，那基于其私藏美食集的互动、决策就很重要。如强化“</a:t>
            </a:r>
            <a:r>
              <a:rPr lang="en-US" altLang="zh-CN" dirty="0">
                <a:effectLst/>
              </a:rPr>
              <a:t>xx</a:t>
            </a:r>
            <a:r>
              <a:rPr lang="zh-CN" altLang="en-US" dirty="0">
                <a:effectLst/>
              </a:rPr>
              <a:t>人给你吃”，“你评价的新店上榜了”，“</a:t>
            </a:r>
            <a:r>
              <a:rPr lang="en-US" altLang="zh-CN" dirty="0">
                <a:effectLst/>
              </a:rPr>
              <a:t>xx</a:t>
            </a:r>
            <a:r>
              <a:rPr lang="zh-CN" altLang="en-US" dirty="0">
                <a:effectLst/>
              </a:rPr>
              <a:t>人</a:t>
            </a:r>
            <a:r>
              <a:rPr lang="en-US" altLang="zh-CN" dirty="0">
                <a:effectLst/>
              </a:rPr>
              <a:t>fork</a:t>
            </a:r>
            <a:r>
              <a:rPr lang="zh-CN" altLang="en-US" dirty="0">
                <a:effectLst/>
              </a:rPr>
              <a:t>了你的美食集”</a:t>
            </a:r>
            <a:r>
              <a:rPr lang="en-US" altLang="zh-CN" dirty="0">
                <a:effectLst/>
              </a:rPr>
              <a:t>……</a:t>
            </a:r>
            <a:r>
              <a:rPr lang="zh-CN" altLang="en-US" dirty="0">
                <a:effectLst/>
              </a:rPr>
              <a:t>叠加勋章强化</a:t>
            </a:r>
          </a:p>
        </p:txBody>
      </p:sp>
    </p:spTree>
    <p:extLst>
      <p:ext uri="{BB962C8B-B14F-4D97-AF65-F5344CB8AC3E}">
        <p14:creationId xmlns:p14="http://schemas.microsoft.com/office/powerpoint/2010/main" val="30239872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: 圆角 1">
            <a:extLst>
              <a:ext uri="{FF2B5EF4-FFF2-40B4-BE49-F238E27FC236}">
                <a16:creationId xmlns:a16="http://schemas.microsoft.com/office/drawing/2014/main" id="{F83ED807-EF57-2314-3423-9B37ACCE2E09}"/>
              </a:ext>
            </a:extLst>
          </p:cNvPr>
          <p:cNvSpPr/>
          <p:nvPr/>
        </p:nvSpPr>
        <p:spPr>
          <a:xfrm>
            <a:off x="1066800" y="3086100"/>
            <a:ext cx="2051525" cy="65141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创作单篇内容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图文</a:t>
            </a:r>
            <a:r>
              <a:rPr lang="en-US" altLang="zh-CN" sz="1200" dirty="0">
                <a:solidFill>
                  <a:schemeClr val="tx1"/>
                </a:solidFill>
              </a:rPr>
              <a:t>+</a:t>
            </a:r>
            <a:r>
              <a:rPr lang="zh-CN" altLang="en-US" sz="1200" dirty="0">
                <a:solidFill>
                  <a:schemeClr val="tx1"/>
                </a:solidFill>
              </a:rPr>
              <a:t>评论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E3A43121-C7E0-DF73-9D90-D490F9444EFE}"/>
              </a:ext>
            </a:extLst>
          </p:cNvPr>
          <p:cNvSpPr/>
          <p:nvPr/>
        </p:nvSpPr>
        <p:spPr>
          <a:xfrm>
            <a:off x="6115050" y="3087957"/>
            <a:ext cx="2051525" cy="65141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创作食集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个人资产</a:t>
            </a:r>
            <a:r>
              <a:rPr lang="en-US" altLang="zh-CN" sz="1200" dirty="0">
                <a:solidFill>
                  <a:schemeClr val="tx1"/>
                </a:solidFill>
              </a:rPr>
              <a:t>+</a:t>
            </a:r>
            <a:r>
              <a:rPr lang="zh-CN" altLang="en-US" sz="1200" dirty="0">
                <a:solidFill>
                  <a:schemeClr val="tx1"/>
                </a:solidFill>
              </a:rPr>
              <a:t>动态信息</a:t>
            </a:r>
            <a:r>
              <a:rPr lang="en-US" altLang="zh-CN" sz="1200" dirty="0">
                <a:solidFill>
                  <a:schemeClr val="tx1"/>
                </a:solidFill>
              </a:rPr>
              <a:t>+</a:t>
            </a:r>
            <a:r>
              <a:rPr lang="zh-CN" altLang="en-US" sz="1200" dirty="0">
                <a:solidFill>
                  <a:schemeClr val="tx1"/>
                </a:solidFill>
              </a:rPr>
              <a:t>反馈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3DA8554-F012-03CC-960E-B5B83F2D9406}"/>
              </a:ext>
            </a:extLst>
          </p:cNvPr>
          <p:cNvSpPr/>
          <p:nvPr/>
        </p:nvSpPr>
        <p:spPr>
          <a:xfrm>
            <a:off x="1066799" y="2057400"/>
            <a:ext cx="2051525" cy="65141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创作单篇内容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图文</a:t>
            </a:r>
            <a:r>
              <a:rPr lang="en-US" altLang="zh-CN" sz="1200" dirty="0">
                <a:solidFill>
                  <a:schemeClr val="tx1"/>
                </a:solidFill>
              </a:rPr>
              <a:t>+</a:t>
            </a:r>
            <a:r>
              <a:rPr lang="zh-CN" altLang="en-US" sz="1200" dirty="0">
                <a:solidFill>
                  <a:schemeClr val="tx1"/>
                </a:solidFill>
              </a:rPr>
              <a:t>评论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46E5750-3CE8-D742-5B13-4490BEED045D}"/>
              </a:ext>
            </a:extLst>
          </p:cNvPr>
          <p:cNvSpPr/>
          <p:nvPr/>
        </p:nvSpPr>
        <p:spPr>
          <a:xfrm>
            <a:off x="6115050" y="3924300"/>
            <a:ext cx="2051525" cy="65141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基于个人行为资产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20DCA75-4777-C9E3-64AA-94CBFB6E3ACA}"/>
              </a:ext>
            </a:extLst>
          </p:cNvPr>
          <p:cNvSpPr/>
          <p:nvPr/>
        </p:nvSpPr>
        <p:spPr>
          <a:xfrm>
            <a:off x="1066799" y="3924299"/>
            <a:ext cx="2051525" cy="65141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无法考证，结合图文</a:t>
            </a:r>
            <a:r>
              <a:rPr lang="en-US" altLang="zh-CN" sz="1200" dirty="0">
                <a:solidFill>
                  <a:schemeClr val="tx1"/>
                </a:solidFill>
              </a:rPr>
              <a:t>+</a:t>
            </a:r>
            <a:r>
              <a:rPr lang="zh-CN" altLang="en-US" sz="1200" dirty="0">
                <a:solidFill>
                  <a:schemeClr val="tx1"/>
                </a:solidFill>
              </a:rPr>
              <a:t>评论，及美团点评跨平台信息，自行判断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41364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矩形: 圆角 142">
            <a:extLst>
              <a:ext uri="{FF2B5EF4-FFF2-40B4-BE49-F238E27FC236}">
                <a16:creationId xmlns:a16="http://schemas.microsoft.com/office/drawing/2014/main" id="{813D9962-2F81-9757-EB73-4CAA6CCEFF5D}"/>
              </a:ext>
            </a:extLst>
          </p:cNvPr>
          <p:cNvSpPr/>
          <p:nvPr/>
        </p:nvSpPr>
        <p:spPr>
          <a:xfrm>
            <a:off x="4145798" y="3163048"/>
            <a:ext cx="4055228" cy="1779915"/>
          </a:xfrm>
          <a:prstGeom prst="roundRect">
            <a:avLst>
              <a:gd name="adj" fmla="val 12921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CC3AD1FB-D5D5-3A4B-E691-226390432AB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787121" y="-588037"/>
            <a:ext cx="3671361" cy="5054600"/>
          </a:xfrm>
          <a:prstGeom prst="rect">
            <a:avLst/>
          </a:prstGeom>
          <a:ln>
            <a:noFill/>
          </a:ln>
        </p:spPr>
      </p:pic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6" imgW="0" imgH="0" progId="TCLayout.ActiveDocument.1">
                  <p:embed/>
                </p:oleObj>
              </mc:Choice>
              <mc:Fallback>
                <p:oleObj name="think-cell 幻灯片" r:id="rId6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43A59F87-917D-1377-7A52-B7EF5D0ABFBF}"/>
              </a:ext>
            </a:extLst>
          </p:cNvPr>
          <p:cNvCxnSpPr>
            <a:cxnSpLocks/>
          </p:cNvCxnSpPr>
          <p:nvPr/>
        </p:nvCxnSpPr>
        <p:spPr>
          <a:xfrm>
            <a:off x="12618802" y="3289344"/>
            <a:ext cx="203835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FEF0E61F-3C93-79EF-B566-1E9F1D78CBD6}"/>
              </a:ext>
            </a:extLst>
          </p:cNvPr>
          <p:cNvCxnSpPr>
            <a:cxnSpLocks/>
          </p:cNvCxnSpPr>
          <p:nvPr/>
        </p:nvCxnSpPr>
        <p:spPr>
          <a:xfrm flipV="1">
            <a:off x="12618802" y="553458"/>
            <a:ext cx="2038351" cy="2045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占位符 1">
            <a:extLst>
              <a:ext uri="{FF2B5EF4-FFF2-40B4-BE49-F238E27FC236}">
                <a16:creationId xmlns:a16="http://schemas.microsoft.com/office/drawing/2014/main" id="{35A3B7C8-002A-B240-CF8C-53141A0198C4}"/>
              </a:ext>
            </a:extLst>
          </p:cNvPr>
          <p:cNvSpPr txBox="1">
            <a:spLocks/>
          </p:cNvSpPr>
          <p:nvPr/>
        </p:nvSpPr>
        <p:spPr>
          <a:xfrm>
            <a:off x="12618802" y="-181235"/>
            <a:ext cx="203835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尖</a:t>
            </a:r>
            <a:endParaRPr lang="en-US" altLang="zh-CN" sz="1600" dirty="0"/>
          </a:p>
          <a:p>
            <a:pPr marL="0" indent="0" algn="ctr">
              <a:buNone/>
            </a:pPr>
            <a:r>
              <a:rPr lang="zh-CN" altLang="en-US" sz="1600" dirty="0"/>
              <a:t>（资产综合）</a:t>
            </a:r>
            <a:endParaRPr lang="en-US" altLang="zh-CN" sz="1600" dirty="0"/>
          </a:p>
        </p:txBody>
      </p:sp>
      <p:sp>
        <p:nvSpPr>
          <p:cNvPr id="14" name="文本占位符 1">
            <a:extLst>
              <a:ext uri="{FF2B5EF4-FFF2-40B4-BE49-F238E27FC236}">
                <a16:creationId xmlns:a16="http://schemas.microsoft.com/office/drawing/2014/main" id="{5F94431D-8248-0360-0872-632B65C6CE1D}"/>
              </a:ext>
            </a:extLst>
          </p:cNvPr>
          <p:cNvSpPr txBox="1">
            <a:spLocks/>
          </p:cNvSpPr>
          <p:nvPr/>
        </p:nvSpPr>
        <p:spPr>
          <a:xfrm>
            <a:off x="12065574" y="1849449"/>
            <a:ext cx="3166284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热</a:t>
            </a:r>
          </a:p>
          <a:p>
            <a:pPr marL="0" indent="0" algn="ctr">
              <a:buNone/>
            </a:pPr>
            <a:r>
              <a:rPr lang="zh-CN" altLang="en-US" sz="1600" dirty="0"/>
              <a:t>（资产验证）</a:t>
            </a:r>
          </a:p>
        </p:txBody>
      </p:sp>
      <p:sp>
        <p:nvSpPr>
          <p:cNvPr id="15" name="文本占位符 1">
            <a:extLst>
              <a:ext uri="{FF2B5EF4-FFF2-40B4-BE49-F238E27FC236}">
                <a16:creationId xmlns:a16="http://schemas.microsoft.com/office/drawing/2014/main" id="{DAE7CD89-592E-A1D1-6829-C12EC4B86AA0}"/>
              </a:ext>
            </a:extLst>
          </p:cNvPr>
          <p:cNvSpPr txBox="1">
            <a:spLocks/>
          </p:cNvSpPr>
          <p:nvPr/>
        </p:nvSpPr>
        <p:spPr>
          <a:xfrm>
            <a:off x="12140561" y="3408879"/>
            <a:ext cx="2994833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新</a:t>
            </a:r>
            <a:endParaRPr lang="en-US" altLang="zh-CN" sz="1600" dirty="0"/>
          </a:p>
          <a:p>
            <a:pPr marL="0" indent="0" algn="ctr">
              <a:buNone/>
            </a:pPr>
            <a:r>
              <a:rPr lang="zh-CN" altLang="en-US" sz="1600" dirty="0"/>
              <a:t>（资产冷启）</a:t>
            </a:r>
            <a:endParaRPr lang="en-US" altLang="zh-CN" sz="1600" dirty="0"/>
          </a:p>
        </p:txBody>
      </p:sp>
      <p:sp>
        <p:nvSpPr>
          <p:cNvPr id="21" name="文本占位符 1">
            <a:extLst>
              <a:ext uri="{FF2B5EF4-FFF2-40B4-BE49-F238E27FC236}">
                <a16:creationId xmlns:a16="http://schemas.microsoft.com/office/drawing/2014/main" id="{57EA3899-8321-8B9F-2FD9-FB1B55B2A4F2}"/>
              </a:ext>
            </a:extLst>
          </p:cNvPr>
          <p:cNvSpPr txBox="1">
            <a:spLocks/>
          </p:cNvSpPr>
          <p:nvPr/>
        </p:nvSpPr>
        <p:spPr>
          <a:xfrm>
            <a:off x="12183911" y="-3815084"/>
            <a:ext cx="379892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上面层有一定的个性化部分，比如好不好吃，坚守本味</a:t>
            </a:r>
            <a:r>
              <a:rPr lang="en-US" altLang="zh-CN" dirty="0"/>
              <a:t>/</a:t>
            </a:r>
            <a:r>
              <a:rPr lang="zh-CN" altLang="en-US" dirty="0"/>
              <a:t>融入改良，价格带，那些亮点吸引人等</a:t>
            </a:r>
            <a:endParaRPr lang="en-US" altLang="zh-CN" dirty="0"/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DC68D7D6-8E2E-C21D-5A2E-C1C9E8F83BAF}"/>
              </a:ext>
            </a:extLst>
          </p:cNvPr>
          <p:cNvSpPr txBox="1">
            <a:spLocks/>
          </p:cNvSpPr>
          <p:nvPr/>
        </p:nvSpPr>
        <p:spPr>
          <a:xfrm>
            <a:off x="7522140" y="-2802643"/>
            <a:ext cx="1675660" cy="45201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供</a:t>
            </a:r>
            <a:endParaRPr lang="en-US" altLang="zh-CN" sz="1600" dirty="0"/>
          </a:p>
        </p:txBody>
      </p:sp>
      <p:sp>
        <p:nvSpPr>
          <p:cNvPr id="9" name="文本占位符 1">
            <a:extLst>
              <a:ext uri="{FF2B5EF4-FFF2-40B4-BE49-F238E27FC236}">
                <a16:creationId xmlns:a16="http://schemas.microsoft.com/office/drawing/2014/main" id="{9E0AD82B-6953-1A74-770B-9BEE352BCC15}"/>
              </a:ext>
            </a:extLst>
          </p:cNvPr>
          <p:cNvSpPr txBox="1">
            <a:spLocks/>
          </p:cNvSpPr>
          <p:nvPr/>
        </p:nvSpPr>
        <p:spPr>
          <a:xfrm>
            <a:off x="15243659" y="-887682"/>
            <a:ext cx="4859513" cy="1273779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/>
              <a:t>品</a:t>
            </a:r>
            <a:r>
              <a:rPr lang="en-US" altLang="zh-CN" dirty="0"/>
              <a:t>/</a:t>
            </a:r>
            <a:r>
              <a:rPr lang="zh-CN" altLang="en-US" dirty="0"/>
              <a:t>菜</a:t>
            </a:r>
            <a:endParaRPr lang="en-US" altLang="zh-CN" dirty="0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7F84603-44A7-3C95-8C22-EDCE68E7C12C}"/>
              </a:ext>
            </a:extLst>
          </p:cNvPr>
          <p:cNvSpPr/>
          <p:nvPr/>
        </p:nvSpPr>
        <p:spPr>
          <a:xfrm>
            <a:off x="20204847" y="3448912"/>
            <a:ext cx="2453993" cy="107764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100" dirty="0">
                <a:solidFill>
                  <a:schemeClr val="tx1"/>
                </a:solidFill>
                <a:latin typeface="+mn-ea"/>
              </a:rPr>
              <a:t>新品类</a:t>
            </a:r>
            <a:r>
              <a:rPr lang="en-US" altLang="zh-CN" sz="21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2100" dirty="0">
                <a:solidFill>
                  <a:schemeClr val="tx1"/>
                </a:solidFill>
                <a:latin typeface="+mn-ea"/>
              </a:rPr>
              <a:t>新菜榜</a:t>
            </a:r>
            <a:endParaRPr lang="en-US" altLang="zh-CN" sz="21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2100" dirty="0">
                <a:solidFill>
                  <a:schemeClr val="tx1"/>
                </a:solidFill>
                <a:latin typeface="+mn-ea"/>
              </a:rPr>
              <a:t>（尝鲜）</a:t>
            </a:r>
            <a:endParaRPr lang="en-US" altLang="zh-CN" sz="2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E4F22A4B-2CD5-977F-9DC7-A06F4574377D}"/>
              </a:ext>
            </a:extLst>
          </p:cNvPr>
          <p:cNvSpPr/>
          <p:nvPr/>
        </p:nvSpPr>
        <p:spPr>
          <a:xfrm>
            <a:off x="20204846" y="1219696"/>
            <a:ext cx="2453993" cy="107764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100" dirty="0">
                <a:solidFill>
                  <a:schemeClr val="tx1"/>
                </a:solidFill>
                <a:latin typeface="+mn-ea"/>
              </a:rPr>
              <a:t>指数榜</a:t>
            </a:r>
            <a:r>
              <a:rPr lang="en-US" altLang="zh-CN" sz="2100" dirty="0">
                <a:solidFill>
                  <a:schemeClr val="tx1"/>
                </a:solidFill>
                <a:latin typeface="+mn-ea"/>
              </a:rPr>
              <a:t>-</a:t>
            </a:r>
            <a:r>
              <a:rPr lang="zh-CN" altLang="en-US" sz="2100" dirty="0">
                <a:solidFill>
                  <a:schemeClr val="tx1"/>
                </a:solidFill>
                <a:latin typeface="+mn-ea"/>
              </a:rPr>
              <a:t>菜</a:t>
            </a:r>
            <a:endParaRPr lang="en-US" altLang="zh-CN" sz="21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2100" dirty="0">
                <a:solidFill>
                  <a:schemeClr val="tx1"/>
                </a:solidFill>
                <a:latin typeface="+mn-ea"/>
              </a:rPr>
              <a:t>（从众，资产不足）</a:t>
            </a:r>
            <a:endParaRPr lang="en-US" altLang="zh-CN" sz="2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EF4F60C3-FAB4-08B4-DD85-253708C9A007}"/>
              </a:ext>
            </a:extLst>
          </p:cNvPr>
          <p:cNvSpPr/>
          <p:nvPr/>
        </p:nvSpPr>
        <p:spPr>
          <a:xfrm>
            <a:off x="20147756" y="2334671"/>
            <a:ext cx="2453993" cy="107764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100" dirty="0">
                <a:solidFill>
                  <a:schemeClr val="tx1"/>
                </a:solidFill>
                <a:latin typeface="+mn-ea"/>
              </a:rPr>
              <a:t>特色菜</a:t>
            </a:r>
            <a:endParaRPr lang="en-US" altLang="zh-CN" sz="21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2100" dirty="0">
                <a:solidFill>
                  <a:schemeClr val="tx1"/>
                </a:solidFill>
                <a:latin typeface="+mn-ea"/>
              </a:rPr>
              <a:t>（特点）</a:t>
            </a:r>
            <a:endParaRPr lang="en-US" altLang="zh-CN" sz="2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" name="文本占位符 1">
            <a:extLst>
              <a:ext uri="{FF2B5EF4-FFF2-40B4-BE49-F238E27FC236}">
                <a16:creationId xmlns:a16="http://schemas.microsoft.com/office/drawing/2014/main" id="{E2E1E4D5-30F2-83B2-BD63-37E7A6172AB7}"/>
              </a:ext>
            </a:extLst>
          </p:cNvPr>
          <p:cNvSpPr txBox="1">
            <a:spLocks/>
          </p:cNvSpPr>
          <p:nvPr/>
        </p:nvSpPr>
        <p:spPr>
          <a:xfrm>
            <a:off x="12054835" y="659905"/>
            <a:ext cx="3166284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特</a:t>
            </a:r>
            <a:endParaRPr lang="en-US" altLang="zh-CN" sz="1600" dirty="0"/>
          </a:p>
          <a:p>
            <a:pPr marL="0" indent="0" algn="ctr">
              <a:buNone/>
            </a:pPr>
            <a:r>
              <a:rPr lang="zh-CN" altLang="en-US" sz="1600" dirty="0"/>
              <a:t>（资产差异化）</a:t>
            </a: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8BAA11FA-F820-65F1-6DA0-F59589051F46}"/>
              </a:ext>
            </a:extLst>
          </p:cNvPr>
          <p:cNvCxnSpPr>
            <a:cxnSpLocks/>
          </p:cNvCxnSpPr>
          <p:nvPr/>
        </p:nvCxnSpPr>
        <p:spPr>
          <a:xfrm>
            <a:off x="12140561" y="1379909"/>
            <a:ext cx="299483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DA78792F-CF72-80D4-7BBF-289FBBA3598F}"/>
              </a:ext>
            </a:extLst>
          </p:cNvPr>
          <p:cNvSpPr/>
          <p:nvPr/>
        </p:nvSpPr>
        <p:spPr>
          <a:xfrm>
            <a:off x="5596396" y="-1683005"/>
            <a:ext cx="1807200" cy="5328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榜单是精选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精准匹配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BCCCDFAC-9FAE-14F7-8F10-AC028CA78D07}"/>
              </a:ext>
            </a:extLst>
          </p:cNvPr>
          <p:cNvSpPr/>
          <p:nvPr/>
        </p:nvSpPr>
        <p:spPr>
          <a:xfrm>
            <a:off x="5586341" y="-2317190"/>
            <a:ext cx="1807200" cy="5328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榜单是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IP</a:t>
            </a: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权威背书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D77875DA-EF66-3865-3DE3-FE229303232A}"/>
              </a:ext>
            </a:extLst>
          </p:cNvPr>
          <p:cNvSpPr/>
          <p:nvPr/>
        </p:nvSpPr>
        <p:spPr>
          <a:xfrm>
            <a:off x="5586340" y="-1053390"/>
            <a:ext cx="1817255" cy="117155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榜单是信息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避免踩雷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0" name="文本占位符 1">
            <a:extLst>
              <a:ext uri="{FF2B5EF4-FFF2-40B4-BE49-F238E27FC236}">
                <a16:creationId xmlns:a16="http://schemas.microsoft.com/office/drawing/2014/main" id="{3B3F80D1-9A60-8685-66C0-C01525071D06}"/>
              </a:ext>
            </a:extLst>
          </p:cNvPr>
          <p:cNvSpPr txBox="1">
            <a:spLocks/>
          </p:cNvSpPr>
          <p:nvPr/>
        </p:nvSpPr>
        <p:spPr>
          <a:xfrm>
            <a:off x="3640089" y="-2802644"/>
            <a:ext cx="1806001" cy="343711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需</a:t>
            </a:r>
            <a:endParaRPr lang="en-US" altLang="zh-CN" sz="1600" dirty="0"/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239DC229-E9A0-118C-FF83-8386D87A8D58}"/>
              </a:ext>
            </a:extLst>
          </p:cNvPr>
          <p:cNvSpPr/>
          <p:nvPr/>
        </p:nvSpPr>
        <p:spPr>
          <a:xfrm>
            <a:off x="3660596" y="-2328359"/>
            <a:ext cx="1807200" cy="5328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综合决策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选最好的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AD126C5A-1E29-9281-87EB-B60ABF08C1C2}"/>
              </a:ext>
            </a:extLst>
          </p:cNvPr>
          <p:cNvSpPr/>
          <p:nvPr/>
        </p:nvSpPr>
        <p:spPr>
          <a:xfrm>
            <a:off x="3677435" y="-1059989"/>
            <a:ext cx="1807200" cy="5328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效率决策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选不错的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9C790FF1-4DE7-45D0-8034-BF6C796619F2}"/>
              </a:ext>
            </a:extLst>
          </p:cNvPr>
          <p:cNvSpPr/>
          <p:nvPr/>
        </p:nvSpPr>
        <p:spPr>
          <a:xfrm>
            <a:off x="3677435" y="-1694174"/>
            <a:ext cx="1807200" cy="5328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场景决策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选最合适的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1BA0F29A-1018-37F4-4E29-6B80E3D3AA9B}"/>
              </a:ext>
            </a:extLst>
          </p:cNvPr>
          <p:cNvSpPr/>
          <p:nvPr/>
        </p:nvSpPr>
        <p:spPr>
          <a:xfrm>
            <a:off x="3675089" y="-425803"/>
            <a:ext cx="1807200" cy="5328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探索决策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选个新的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55" name="文本占位符 1">
            <a:extLst>
              <a:ext uri="{FF2B5EF4-FFF2-40B4-BE49-F238E27FC236}">
                <a16:creationId xmlns:a16="http://schemas.microsoft.com/office/drawing/2014/main" id="{5726C88C-5256-7ABF-B9DE-8796EA4BE4B7}"/>
              </a:ext>
            </a:extLst>
          </p:cNvPr>
          <p:cNvSpPr txBox="1">
            <a:spLocks/>
          </p:cNvSpPr>
          <p:nvPr/>
        </p:nvSpPr>
        <p:spPr>
          <a:xfrm>
            <a:off x="5550393" y="-2802643"/>
            <a:ext cx="1807200" cy="49264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榜</a:t>
            </a:r>
            <a:endParaRPr lang="en-US" altLang="zh-CN" sz="1600" dirty="0"/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D7A858C8-5E25-A6E4-B879-5F2FA57B6942}"/>
              </a:ext>
            </a:extLst>
          </p:cNvPr>
          <p:cNvSpPr/>
          <p:nvPr/>
        </p:nvSpPr>
        <p:spPr>
          <a:xfrm>
            <a:off x="17304477" y="3916158"/>
            <a:ext cx="2453993" cy="7668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新店榜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（点评）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xx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城，城均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xx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家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6C280B61-7D1C-B9A9-CFC0-87A6AA7CC68A}"/>
              </a:ext>
            </a:extLst>
          </p:cNvPr>
          <p:cNvSpPr/>
          <p:nvPr/>
        </p:nvSpPr>
        <p:spPr>
          <a:xfrm>
            <a:off x="17336454" y="1622357"/>
            <a:ext cx="2453993" cy="7668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指数榜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xx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城，城均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xxx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家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957F7A5E-A0DB-B2EF-09F4-2E926F64C97F}"/>
              </a:ext>
            </a:extLst>
          </p:cNvPr>
          <p:cNvSpPr/>
          <p:nvPr/>
        </p:nvSpPr>
        <p:spPr>
          <a:xfrm>
            <a:off x="17304478" y="171302"/>
            <a:ext cx="2453993" cy="7668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IP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榜</a:t>
            </a:r>
          </a:p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xx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城，城均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xxx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家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86264A49-F7CA-0E64-818D-8204D6A9DCB3}"/>
              </a:ext>
            </a:extLst>
          </p:cNvPr>
          <p:cNvSpPr/>
          <p:nvPr/>
        </p:nvSpPr>
        <p:spPr>
          <a:xfrm>
            <a:off x="17336455" y="2951008"/>
            <a:ext cx="2453993" cy="7668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当地人推荐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约会榜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xx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城，城均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xxx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家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60" name="文本占位符 1">
            <a:extLst>
              <a:ext uri="{FF2B5EF4-FFF2-40B4-BE49-F238E27FC236}">
                <a16:creationId xmlns:a16="http://schemas.microsoft.com/office/drawing/2014/main" id="{C200ED5D-BBDD-FC40-C62B-49E64233A588}"/>
              </a:ext>
            </a:extLst>
          </p:cNvPr>
          <p:cNvSpPr txBox="1">
            <a:spLocks/>
          </p:cNvSpPr>
          <p:nvPr/>
        </p:nvSpPr>
        <p:spPr>
          <a:xfrm>
            <a:off x="17304477" y="-384837"/>
            <a:ext cx="2453993" cy="49264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榜</a:t>
            </a:r>
            <a:endParaRPr lang="en-US" altLang="zh-CN" sz="1600" dirty="0"/>
          </a:p>
        </p:txBody>
      </p:sp>
      <p:sp>
        <p:nvSpPr>
          <p:cNvPr id="74" name="文本占位符 1">
            <a:extLst>
              <a:ext uri="{FF2B5EF4-FFF2-40B4-BE49-F238E27FC236}">
                <a16:creationId xmlns:a16="http://schemas.microsoft.com/office/drawing/2014/main" id="{2C09C746-4100-22C9-CB0B-0920B91E1682}"/>
              </a:ext>
            </a:extLst>
          </p:cNvPr>
          <p:cNvSpPr txBox="1">
            <a:spLocks/>
          </p:cNvSpPr>
          <p:nvPr/>
        </p:nvSpPr>
        <p:spPr>
          <a:xfrm>
            <a:off x="-3307466" y="-211991"/>
            <a:ext cx="1806001" cy="35979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需</a:t>
            </a:r>
            <a:endParaRPr lang="en-US" altLang="zh-CN" sz="1600" dirty="0"/>
          </a:p>
        </p:txBody>
      </p:sp>
      <p:sp>
        <p:nvSpPr>
          <p:cNvPr id="79" name="文本占位符 1">
            <a:extLst>
              <a:ext uri="{FF2B5EF4-FFF2-40B4-BE49-F238E27FC236}">
                <a16:creationId xmlns:a16="http://schemas.microsoft.com/office/drawing/2014/main" id="{CB3A8E4B-34F5-4C32-824D-B40865350C88}"/>
              </a:ext>
            </a:extLst>
          </p:cNvPr>
          <p:cNvSpPr txBox="1">
            <a:spLocks/>
          </p:cNvSpPr>
          <p:nvPr/>
        </p:nvSpPr>
        <p:spPr>
          <a:xfrm>
            <a:off x="-1182232" y="-211991"/>
            <a:ext cx="1806001" cy="35979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需</a:t>
            </a:r>
            <a:endParaRPr lang="en-US" altLang="zh-CN" sz="1600" dirty="0"/>
          </a:p>
        </p:txBody>
      </p:sp>
      <p:sp>
        <p:nvSpPr>
          <p:cNvPr id="91" name="等腰三角形 90">
            <a:extLst>
              <a:ext uri="{FF2B5EF4-FFF2-40B4-BE49-F238E27FC236}">
                <a16:creationId xmlns:a16="http://schemas.microsoft.com/office/drawing/2014/main" id="{7B05ACAC-E20B-B6C9-B4EB-5372F527F455}"/>
              </a:ext>
            </a:extLst>
          </p:cNvPr>
          <p:cNvSpPr/>
          <p:nvPr/>
        </p:nvSpPr>
        <p:spPr>
          <a:xfrm>
            <a:off x="-2683519" y="-5522345"/>
            <a:ext cx="5143500" cy="4434052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92" name="直接连接符 91">
            <a:extLst>
              <a:ext uri="{FF2B5EF4-FFF2-40B4-BE49-F238E27FC236}">
                <a16:creationId xmlns:a16="http://schemas.microsoft.com/office/drawing/2014/main" id="{0811B8AD-D616-F9B4-C1DD-3DC6EAEFF4FD}"/>
              </a:ext>
            </a:extLst>
          </p:cNvPr>
          <p:cNvCxnSpPr>
            <a:cxnSpLocks/>
          </p:cNvCxnSpPr>
          <p:nvPr/>
        </p:nvCxnSpPr>
        <p:spPr>
          <a:xfrm>
            <a:off x="-1864459" y="-2495300"/>
            <a:ext cx="3547374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312A8522-D811-B254-820F-0D087C9F6205}"/>
              </a:ext>
            </a:extLst>
          </p:cNvPr>
          <p:cNvCxnSpPr>
            <a:cxnSpLocks/>
          </p:cNvCxnSpPr>
          <p:nvPr/>
        </p:nvCxnSpPr>
        <p:spPr>
          <a:xfrm>
            <a:off x="-957415" y="-4008986"/>
            <a:ext cx="172113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文本占位符 1">
            <a:extLst>
              <a:ext uri="{FF2B5EF4-FFF2-40B4-BE49-F238E27FC236}">
                <a16:creationId xmlns:a16="http://schemas.microsoft.com/office/drawing/2014/main" id="{E7444085-DA03-5FA8-7475-8C47FCC5AF3D}"/>
              </a:ext>
            </a:extLst>
          </p:cNvPr>
          <p:cNvSpPr txBox="1">
            <a:spLocks/>
          </p:cNvSpPr>
          <p:nvPr/>
        </p:nvSpPr>
        <p:spPr>
          <a:xfrm>
            <a:off x="-1996311" y="-2009247"/>
            <a:ext cx="379892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全部门店</a:t>
            </a:r>
            <a:endParaRPr lang="en-US" altLang="zh-CN" sz="1600" dirty="0"/>
          </a:p>
          <a:p>
            <a:pPr marL="0" indent="0" algn="ctr">
              <a:buNone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</a:rPr>
              <a:t>800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万</a:t>
            </a:r>
          </a:p>
        </p:txBody>
      </p:sp>
      <p:sp>
        <p:nvSpPr>
          <p:cNvPr id="95" name="文本占位符 1">
            <a:extLst>
              <a:ext uri="{FF2B5EF4-FFF2-40B4-BE49-F238E27FC236}">
                <a16:creationId xmlns:a16="http://schemas.microsoft.com/office/drawing/2014/main" id="{E86200CC-5B5E-3BC2-A4F3-FB0223AEC549}"/>
              </a:ext>
            </a:extLst>
          </p:cNvPr>
          <p:cNvSpPr txBox="1">
            <a:spLocks/>
          </p:cNvSpPr>
          <p:nvPr/>
        </p:nvSpPr>
        <p:spPr>
          <a:xfrm>
            <a:off x="-1996311" y="-3482093"/>
            <a:ext cx="379892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资产门店</a:t>
            </a:r>
            <a:endParaRPr lang="en-US" altLang="zh-CN" sz="1600" dirty="0"/>
          </a:p>
          <a:p>
            <a:pPr marL="0" indent="0" algn="ctr">
              <a:buNone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</a:rPr>
              <a:t>xxx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万</a:t>
            </a:r>
          </a:p>
        </p:txBody>
      </p:sp>
      <p:sp>
        <p:nvSpPr>
          <p:cNvPr id="96" name="文本占位符 1">
            <a:extLst>
              <a:ext uri="{FF2B5EF4-FFF2-40B4-BE49-F238E27FC236}">
                <a16:creationId xmlns:a16="http://schemas.microsoft.com/office/drawing/2014/main" id="{69A7EFF3-7CCF-3738-9FBD-B126DADC3686}"/>
              </a:ext>
            </a:extLst>
          </p:cNvPr>
          <p:cNvSpPr txBox="1">
            <a:spLocks/>
          </p:cNvSpPr>
          <p:nvPr/>
        </p:nvSpPr>
        <p:spPr>
          <a:xfrm>
            <a:off x="-2011232" y="-4708517"/>
            <a:ext cx="379892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上榜门店</a:t>
            </a:r>
            <a:endParaRPr lang="en-US" altLang="zh-CN" sz="1600" dirty="0"/>
          </a:p>
        </p:txBody>
      </p:sp>
      <p:cxnSp>
        <p:nvCxnSpPr>
          <p:cNvPr id="97" name="直接连接符 96">
            <a:extLst>
              <a:ext uri="{FF2B5EF4-FFF2-40B4-BE49-F238E27FC236}">
                <a16:creationId xmlns:a16="http://schemas.microsoft.com/office/drawing/2014/main" id="{975110B1-AF24-E5B3-A45C-42A308E400F4}"/>
              </a:ext>
            </a:extLst>
          </p:cNvPr>
          <p:cNvCxnSpPr>
            <a:cxnSpLocks/>
          </p:cNvCxnSpPr>
          <p:nvPr/>
        </p:nvCxnSpPr>
        <p:spPr>
          <a:xfrm>
            <a:off x="763715" y="-4008986"/>
            <a:ext cx="658355" cy="7896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1025BC5A-2102-105D-8EE9-65991E7DAC55}"/>
              </a:ext>
            </a:extLst>
          </p:cNvPr>
          <p:cNvCxnSpPr>
            <a:cxnSpLocks/>
          </p:cNvCxnSpPr>
          <p:nvPr/>
        </p:nvCxnSpPr>
        <p:spPr>
          <a:xfrm flipV="1">
            <a:off x="763715" y="-5095135"/>
            <a:ext cx="614815" cy="10861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矩形: 圆角 98">
            <a:extLst>
              <a:ext uri="{FF2B5EF4-FFF2-40B4-BE49-F238E27FC236}">
                <a16:creationId xmlns:a16="http://schemas.microsoft.com/office/drawing/2014/main" id="{1C96577F-A23A-6D3D-4EBF-EA2E90D1CDA3}"/>
              </a:ext>
            </a:extLst>
          </p:cNvPr>
          <p:cNvSpPr/>
          <p:nvPr/>
        </p:nvSpPr>
        <p:spPr>
          <a:xfrm>
            <a:off x="2979689" y="-5132761"/>
            <a:ext cx="1512353" cy="25768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黑珍珠</a:t>
            </a:r>
          </a:p>
        </p:txBody>
      </p:sp>
      <p:sp>
        <p:nvSpPr>
          <p:cNvPr id="100" name="矩形: 圆角 99">
            <a:extLst>
              <a:ext uri="{FF2B5EF4-FFF2-40B4-BE49-F238E27FC236}">
                <a16:creationId xmlns:a16="http://schemas.microsoft.com/office/drawing/2014/main" id="{AABA1AC3-B1FA-E935-F0E4-9993D647467B}"/>
              </a:ext>
            </a:extLst>
          </p:cNvPr>
          <p:cNvSpPr/>
          <p:nvPr/>
        </p:nvSpPr>
        <p:spPr>
          <a:xfrm>
            <a:off x="4734754" y="-5124369"/>
            <a:ext cx="1510416" cy="25768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必吃榜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5F19ED1A-AEE8-6376-66C0-B8D975E10EEA}"/>
              </a:ext>
            </a:extLst>
          </p:cNvPr>
          <p:cNvSpPr txBox="1"/>
          <p:nvPr/>
        </p:nvSpPr>
        <p:spPr>
          <a:xfrm>
            <a:off x="1343726" y="-4439212"/>
            <a:ext cx="14391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精选层</a:t>
            </a:r>
            <a:r>
              <a:rPr lang="en-US" altLang="zh-CN" sz="1200" dirty="0">
                <a:solidFill>
                  <a:srgbClr val="0D0D0D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入围</a:t>
            </a:r>
            <a:r>
              <a:rPr lang="en-US" altLang="zh-CN" sz="1200" dirty="0">
                <a:solidFill>
                  <a:srgbClr val="0D0D0D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排名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数千</a:t>
            </a:r>
            <a:r>
              <a:rPr lang="en-US" altLang="zh-CN" sz="1200" dirty="0">
                <a:solidFill>
                  <a:srgbClr val="0D0D0D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数万店，</a:t>
            </a:r>
            <a:r>
              <a:rPr lang="en-US" altLang="zh-CN" sz="1200" dirty="0">
                <a:solidFill>
                  <a:srgbClr val="0D0D0D"/>
                </a:solidFill>
                <a:latin typeface="+mn-ea"/>
              </a:rPr>
              <a:t>1%</a:t>
            </a:r>
          </a:p>
          <a:p>
            <a:pPr algn="ctr"/>
            <a:r>
              <a:rPr lang="zh-CN" altLang="en-US" sz="1200" dirty="0">
                <a:solidFill>
                  <a:srgbClr val="0D0D0D"/>
                </a:solidFill>
                <a:highlight>
                  <a:srgbClr val="FFFF00"/>
                </a:highlight>
                <a:latin typeface="+mn-ea"/>
              </a:rPr>
              <a:t>提满意，建心智</a:t>
            </a:r>
            <a:endParaRPr lang="en-US" altLang="zh-CN" sz="1200" dirty="0">
              <a:solidFill>
                <a:srgbClr val="0D0D0D"/>
              </a:solidFill>
              <a:highlight>
                <a:srgbClr val="FFFF00"/>
              </a:highlight>
              <a:latin typeface="+mn-ea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A00F016E-EC89-B27D-B619-8A2EDDA3FE46}"/>
              </a:ext>
            </a:extLst>
          </p:cNvPr>
          <p:cNvSpPr txBox="1"/>
          <p:nvPr/>
        </p:nvSpPr>
        <p:spPr>
          <a:xfrm>
            <a:off x="1315151" y="-3602488"/>
            <a:ext cx="16279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信息层</a:t>
            </a:r>
            <a:r>
              <a:rPr lang="en-US" altLang="zh-CN" sz="1200" dirty="0">
                <a:solidFill>
                  <a:srgbClr val="0D0D0D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排名制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数万</a:t>
            </a:r>
            <a:r>
              <a:rPr lang="en-US" altLang="zh-CN" sz="1200" dirty="0">
                <a:solidFill>
                  <a:srgbClr val="0D0D0D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数十万店，</a:t>
            </a:r>
            <a:r>
              <a:rPr lang="en-US" altLang="zh-CN" sz="1200" dirty="0">
                <a:solidFill>
                  <a:srgbClr val="0D0D0D"/>
                </a:solidFill>
                <a:latin typeface="+mn-ea"/>
              </a:rPr>
              <a:t>10%</a:t>
            </a:r>
          </a:p>
          <a:p>
            <a:pPr algn="ctr"/>
            <a:r>
              <a:rPr lang="zh-CN" altLang="en-US" sz="1200" dirty="0">
                <a:solidFill>
                  <a:srgbClr val="0D0D0D"/>
                </a:solidFill>
                <a:highlight>
                  <a:srgbClr val="FFFF00"/>
                </a:highlight>
                <a:latin typeface="+mn-ea"/>
              </a:rPr>
              <a:t>守约束，调结构</a:t>
            </a:r>
            <a:endParaRPr lang="en-US" altLang="zh-CN" sz="1200" dirty="0">
              <a:solidFill>
                <a:srgbClr val="0D0D0D"/>
              </a:solidFill>
              <a:highlight>
                <a:srgbClr val="FFFF00"/>
              </a:highlight>
              <a:latin typeface="+mn-ea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88506125-6C41-22B8-A58D-4C9A2E460FDF}"/>
              </a:ext>
            </a:extLst>
          </p:cNvPr>
          <p:cNvSpPr txBox="1"/>
          <p:nvPr/>
        </p:nvSpPr>
        <p:spPr>
          <a:xfrm>
            <a:off x="1320502" y="-5293899"/>
            <a:ext cx="15482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solidFill>
                  <a:srgbClr val="0D0D0D"/>
                </a:solidFill>
                <a:latin typeface="+mn-ea"/>
              </a:rPr>
              <a:t>IP</a:t>
            </a:r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层</a:t>
            </a:r>
            <a:r>
              <a:rPr lang="en-US" altLang="zh-CN" sz="1200" dirty="0">
                <a:solidFill>
                  <a:srgbClr val="0D0D0D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入围制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数百</a:t>
            </a:r>
            <a:r>
              <a:rPr lang="en-US" altLang="zh-CN" sz="1200" dirty="0">
                <a:solidFill>
                  <a:srgbClr val="0D0D0D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数千店，</a:t>
            </a:r>
            <a:r>
              <a:rPr lang="en-US" altLang="zh-CN" sz="1200" dirty="0">
                <a:solidFill>
                  <a:srgbClr val="0D0D0D"/>
                </a:solidFill>
                <a:latin typeface="+mn-ea"/>
              </a:rPr>
              <a:t>0.1%</a:t>
            </a:r>
          </a:p>
          <a:p>
            <a:pPr algn="ctr"/>
            <a:r>
              <a:rPr lang="zh-CN" altLang="en-US" sz="1200" dirty="0">
                <a:solidFill>
                  <a:srgbClr val="0D0D0D"/>
                </a:solidFill>
                <a:highlight>
                  <a:srgbClr val="FFFF00"/>
                </a:highlight>
                <a:latin typeface="+mn-ea"/>
              </a:rPr>
              <a:t>扩大心智影响力</a:t>
            </a:r>
            <a:endParaRPr lang="en-US" altLang="zh-CN" sz="1200" dirty="0">
              <a:solidFill>
                <a:srgbClr val="0D0D0D"/>
              </a:solidFill>
              <a:highlight>
                <a:srgbClr val="FFFF00"/>
              </a:highlight>
              <a:latin typeface="+mn-ea"/>
            </a:endParaRPr>
          </a:p>
        </p:txBody>
      </p:sp>
      <p:sp>
        <p:nvSpPr>
          <p:cNvPr id="104" name="矩形: 圆角 103">
            <a:extLst>
              <a:ext uri="{FF2B5EF4-FFF2-40B4-BE49-F238E27FC236}">
                <a16:creationId xmlns:a16="http://schemas.microsoft.com/office/drawing/2014/main" id="{2201E518-4844-EF3C-78DC-5F01472D9A61}"/>
              </a:ext>
            </a:extLst>
          </p:cNvPr>
          <p:cNvSpPr/>
          <p:nvPr/>
        </p:nvSpPr>
        <p:spPr>
          <a:xfrm>
            <a:off x="2894544" y="-5293899"/>
            <a:ext cx="3454649" cy="579602"/>
          </a:xfrm>
          <a:prstGeom prst="round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5" name="矩形: 圆角 104">
            <a:extLst>
              <a:ext uri="{FF2B5EF4-FFF2-40B4-BE49-F238E27FC236}">
                <a16:creationId xmlns:a16="http://schemas.microsoft.com/office/drawing/2014/main" id="{C62EA758-3278-7665-CFF0-2D85ABA83802}"/>
              </a:ext>
            </a:extLst>
          </p:cNvPr>
          <p:cNvSpPr/>
          <p:nvPr/>
        </p:nvSpPr>
        <p:spPr>
          <a:xfrm>
            <a:off x="2894543" y="-4364211"/>
            <a:ext cx="3454649" cy="440134"/>
          </a:xfrm>
          <a:prstGeom prst="round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6" name="矩形: 圆角 105">
            <a:extLst>
              <a:ext uri="{FF2B5EF4-FFF2-40B4-BE49-F238E27FC236}">
                <a16:creationId xmlns:a16="http://schemas.microsoft.com/office/drawing/2014/main" id="{A7C71259-B37E-D81B-EB96-5706766F8C51}"/>
              </a:ext>
            </a:extLst>
          </p:cNvPr>
          <p:cNvSpPr/>
          <p:nvPr/>
        </p:nvSpPr>
        <p:spPr>
          <a:xfrm>
            <a:off x="2991974" y="-4287913"/>
            <a:ext cx="1510416" cy="26632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旅游场景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7" name="矩形: 圆角 106">
            <a:extLst>
              <a:ext uri="{FF2B5EF4-FFF2-40B4-BE49-F238E27FC236}">
                <a16:creationId xmlns:a16="http://schemas.microsoft.com/office/drawing/2014/main" id="{4F14B870-4325-780F-CC37-2D7876DEF66C}"/>
              </a:ext>
            </a:extLst>
          </p:cNvPr>
          <p:cNvSpPr/>
          <p:nvPr/>
        </p:nvSpPr>
        <p:spPr>
          <a:xfrm>
            <a:off x="2991974" y="-3486011"/>
            <a:ext cx="1500068" cy="26632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指数榜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08" name="矩形: 圆角 107">
            <a:extLst>
              <a:ext uri="{FF2B5EF4-FFF2-40B4-BE49-F238E27FC236}">
                <a16:creationId xmlns:a16="http://schemas.microsoft.com/office/drawing/2014/main" id="{A83C63D3-0EB4-592C-E99A-08C027085B0D}"/>
              </a:ext>
            </a:extLst>
          </p:cNvPr>
          <p:cNvSpPr/>
          <p:nvPr/>
        </p:nvSpPr>
        <p:spPr>
          <a:xfrm>
            <a:off x="2904892" y="-3573991"/>
            <a:ext cx="3454649" cy="440134"/>
          </a:xfrm>
          <a:prstGeom prst="round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9" name="矩形: 圆角 108">
            <a:extLst>
              <a:ext uri="{FF2B5EF4-FFF2-40B4-BE49-F238E27FC236}">
                <a16:creationId xmlns:a16="http://schemas.microsoft.com/office/drawing/2014/main" id="{D1F4EF2F-975C-C590-29FC-9F9BE3204E30}"/>
              </a:ext>
            </a:extLst>
          </p:cNvPr>
          <p:cNvSpPr/>
          <p:nvPr/>
        </p:nvSpPr>
        <p:spPr>
          <a:xfrm>
            <a:off x="4726810" y="-3486011"/>
            <a:ext cx="1500068" cy="26632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新店榜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10" name="文本占位符 1">
            <a:extLst>
              <a:ext uri="{FF2B5EF4-FFF2-40B4-BE49-F238E27FC236}">
                <a16:creationId xmlns:a16="http://schemas.microsoft.com/office/drawing/2014/main" id="{A09CAE7E-BD46-324B-A8EA-0A5DDB810465}"/>
              </a:ext>
            </a:extLst>
          </p:cNvPr>
          <p:cNvSpPr txBox="1">
            <a:spLocks/>
          </p:cNvSpPr>
          <p:nvPr/>
        </p:nvSpPr>
        <p:spPr>
          <a:xfrm>
            <a:off x="2677607" y="-5671474"/>
            <a:ext cx="379892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店榜</a:t>
            </a:r>
            <a:endParaRPr lang="en-US" altLang="zh-CN" sz="1600" dirty="0"/>
          </a:p>
        </p:txBody>
      </p:sp>
      <p:sp>
        <p:nvSpPr>
          <p:cNvPr id="111" name="文本占位符 1">
            <a:extLst>
              <a:ext uri="{FF2B5EF4-FFF2-40B4-BE49-F238E27FC236}">
                <a16:creationId xmlns:a16="http://schemas.microsoft.com/office/drawing/2014/main" id="{B98EF63E-E994-371A-BE2C-A9165C30516F}"/>
              </a:ext>
            </a:extLst>
          </p:cNvPr>
          <p:cNvSpPr txBox="1">
            <a:spLocks/>
          </p:cNvSpPr>
          <p:nvPr/>
        </p:nvSpPr>
        <p:spPr>
          <a:xfrm>
            <a:off x="6434220" y="-5650193"/>
            <a:ext cx="3798921" cy="76708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菜榜</a:t>
            </a:r>
            <a:endParaRPr lang="en-US" altLang="zh-CN" sz="1600" dirty="0"/>
          </a:p>
        </p:txBody>
      </p:sp>
      <p:sp>
        <p:nvSpPr>
          <p:cNvPr id="112" name="矩形: 圆角 111">
            <a:extLst>
              <a:ext uri="{FF2B5EF4-FFF2-40B4-BE49-F238E27FC236}">
                <a16:creationId xmlns:a16="http://schemas.microsoft.com/office/drawing/2014/main" id="{5CAA107F-ADDB-B801-9600-C65216733A83}"/>
              </a:ext>
            </a:extLst>
          </p:cNvPr>
          <p:cNvSpPr/>
          <p:nvPr/>
        </p:nvSpPr>
        <p:spPr>
          <a:xfrm>
            <a:off x="6522030" y="-5293899"/>
            <a:ext cx="3593835" cy="579602"/>
          </a:xfrm>
          <a:prstGeom prst="round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3" name="矩形: 圆角 112">
            <a:extLst>
              <a:ext uri="{FF2B5EF4-FFF2-40B4-BE49-F238E27FC236}">
                <a16:creationId xmlns:a16="http://schemas.microsoft.com/office/drawing/2014/main" id="{DBD07F8E-C44A-1497-F743-B074C0C39D16}"/>
              </a:ext>
            </a:extLst>
          </p:cNvPr>
          <p:cNvSpPr/>
          <p:nvPr/>
        </p:nvSpPr>
        <p:spPr>
          <a:xfrm>
            <a:off x="6783756" y="-5124369"/>
            <a:ext cx="3158684" cy="25768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strike="sngStrike" dirty="0">
                <a:solidFill>
                  <a:schemeClr val="tx1"/>
                </a:solidFill>
              </a:rPr>
              <a:t>“一店一菜”</a:t>
            </a:r>
          </a:p>
        </p:txBody>
      </p:sp>
      <p:sp>
        <p:nvSpPr>
          <p:cNvPr id="114" name="矩形: 圆角 113">
            <a:extLst>
              <a:ext uri="{FF2B5EF4-FFF2-40B4-BE49-F238E27FC236}">
                <a16:creationId xmlns:a16="http://schemas.microsoft.com/office/drawing/2014/main" id="{214003ED-9A50-2698-909C-DE335C5028A7}"/>
              </a:ext>
            </a:extLst>
          </p:cNvPr>
          <p:cNvSpPr/>
          <p:nvPr/>
        </p:nvSpPr>
        <p:spPr>
          <a:xfrm>
            <a:off x="6536764" y="-4366130"/>
            <a:ext cx="3593835" cy="438473"/>
          </a:xfrm>
          <a:prstGeom prst="round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5" name="矩形: 圆角 114">
            <a:extLst>
              <a:ext uri="{FF2B5EF4-FFF2-40B4-BE49-F238E27FC236}">
                <a16:creationId xmlns:a16="http://schemas.microsoft.com/office/drawing/2014/main" id="{A22F990C-7BA0-9CDC-5E4E-B52685ADD757}"/>
              </a:ext>
            </a:extLst>
          </p:cNvPr>
          <p:cNvSpPr/>
          <p:nvPr/>
        </p:nvSpPr>
        <p:spPr>
          <a:xfrm>
            <a:off x="6759096" y="-4263151"/>
            <a:ext cx="1510416" cy="25768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特色菜</a:t>
            </a:r>
          </a:p>
        </p:txBody>
      </p:sp>
      <p:sp>
        <p:nvSpPr>
          <p:cNvPr id="116" name="矩形: 圆角 115">
            <a:extLst>
              <a:ext uri="{FF2B5EF4-FFF2-40B4-BE49-F238E27FC236}">
                <a16:creationId xmlns:a16="http://schemas.microsoft.com/office/drawing/2014/main" id="{C6F66A7F-A3BB-068F-370B-29B12231B5D2}"/>
              </a:ext>
            </a:extLst>
          </p:cNvPr>
          <p:cNvSpPr/>
          <p:nvPr/>
        </p:nvSpPr>
        <p:spPr>
          <a:xfrm>
            <a:off x="8432024" y="-4263151"/>
            <a:ext cx="1510416" cy="25324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招牌菜（</a:t>
            </a:r>
            <a:r>
              <a:rPr lang="zh-CN" altLang="en-US" sz="1200" strike="sngStrike" dirty="0">
                <a:solidFill>
                  <a:schemeClr val="tx1"/>
                </a:solidFill>
                <a:latin typeface="+mn-ea"/>
              </a:rPr>
              <a:t>店内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店间）</a:t>
            </a:r>
          </a:p>
        </p:txBody>
      </p:sp>
      <p:sp>
        <p:nvSpPr>
          <p:cNvPr id="117" name="矩形: 圆角 116">
            <a:extLst>
              <a:ext uri="{FF2B5EF4-FFF2-40B4-BE49-F238E27FC236}">
                <a16:creationId xmlns:a16="http://schemas.microsoft.com/office/drawing/2014/main" id="{64FBDD36-5FF1-6C8C-51A0-E5BBD4ECB14D}"/>
              </a:ext>
            </a:extLst>
          </p:cNvPr>
          <p:cNvSpPr/>
          <p:nvPr/>
        </p:nvSpPr>
        <p:spPr>
          <a:xfrm>
            <a:off x="6536764" y="-3565143"/>
            <a:ext cx="3593835" cy="438473"/>
          </a:xfrm>
          <a:prstGeom prst="round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8" name="矩形: 圆角 117">
            <a:extLst>
              <a:ext uri="{FF2B5EF4-FFF2-40B4-BE49-F238E27FC236}">
                <a16:creationId xmlns:a16="http://schemas.microsoft.com/office/drawing/2014/main" id="{885F3D45-852D-8B3C-90CC-230FE85CB361}"/>
              </a:ext>
            </a:extLst>
          </p:cNvPr>
          <p:cNvSpPr/>
          <p:nvPr/>
        </p:nvSpPr>
        <p:spPr>
          <a:xfrm>
            <a:off x="6759096" y="-3462164"/>
            <a:ext cx="1510416" cy="25768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strike="sngStrike" dirty="0">
                <a:solidFill>
                  <a:schemeClr val="tx1"/>
                </a:solidFill>
              </a:rPr>
              <a:t>指数菜（如热销）</a:t>
            </a:r>
          </a:p>
        </p:txBody>
      </p:sp>
      <p:sp>
        <p:nvSpPr>
          <p:cNvPr id="119" name="矩形: 圆角 118">
            <a:extLst>
              <a:ext uri="{FF2B5EF4-FFF2-40B4-BE49-F238E27FC236}">
                <a16:creationId xmlns:a16="http://schemas.microsoft.com/office/drawing/2014/main" id="{118FEFDE-9D42-43FE-BCB7-D6F120DBD19D}"/>
              </a:ext>
            </a:extLst>
          </p:cNvPr>
          <p:cNvSpPr/>
          <p:nvPr/>
        </p:nvSpPr>
        <p:spPr>
          <a:xfrm>
            <a:off x="8432024" y="-3462164"/>
            <a:ext cx="1510416" cy="25324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strike="sngStrike" dirty="0">
                <a:solidFill>
                  <a:schemeClr val="tx1"/>
                </a:solidFill>
              </a:rPr>
              <a:t>时令尝鲜</a:t>
            </a:r>
          </a:p>
        </p:txBody>
      </p:sp>
      <p:cxnSp>
        <p:nvCxnSpPr>
          <p:cNvPr id="120" name="直接连接符 119">
            <a:extLst>
              <a:ext uri="{FF2B5EF4-FFF2-40B4-BE49-F238E27FC236}">
                <a16:creationId xmlns:a16="http://schemas.microsoft.com/office/drawing/2014/main" id="{0D2AFFD8-D951-C110-AED1-6A9F6CF971D6}"/>
              </a:ext>
            </a:extLst>
          </p:cNvPr>
          <p:cNvCxnSpPr>
            <a:cxnSpLocks/>
          </p:cNvCxnSpPr>
          <p:nvPr/>
        </p:nvCxnSpPr>
        <p:spPr>
          <a:xfrm flipV="1">
            <a:off x="5353202" y="-5525783"/>
            <a:ext cx="2129448" cy="121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文本占位符 1">
            <a:extLst>
              <a:ext uri="{FF2B5EF4-FFF2-40B4-BE49-F238E27FC236}">
                <a16:creationId xmlns:a16="http://schemas.microsoft.com/office/drawing/2014/main" id="{D023EA5F-039D-DC7E-3C8D-7D5105573F41}"/>
              </a:ext>
            </a:extLst>
          </p:cNvPr>
          <p:cNvSpPr txBox="1">
            <a:spLocks/>
          </p:cNvSpPr>
          <p:nvPr/>
        </p:nvSpPr>
        <p:spPr>
          <a:xfrm>
            <a:off x="5353203" y="-5802585"/>
            <a:ext cx="2129448" cy="30489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1600" dirty="0"/>
              <a:t>1:N</a:t>
            </a:r>
          </a:p>
        </p:txBody>
      </p:sp>
      <p:sp>
        <p:nvSpPr>
          <p:cNvPr id="122" name="矩形: 圆角 121">
            <a:extLst>
              <a:ext uri="{FF2B5EF4-FFF2-40B4-BE49-F238E27FC236}">
                <a16:creationId xmlns:a16="http://schemas.microsoft.com/office/drawing/2014/main" id="{67A4701E-7A06-A032-4AD7-0787C7804C41}"/>
              </a:ext>
            </a:extLst>
          </p:cNvPr>
          <p:cNvSpPr/>
          <p:nvPr/>
        </p:nvSpPr>
        <p:spPr>
          <a:xfrm>
            <a:off x="4721636" y="-4263151"/>
            <a:ext cx="1510416" cy="26632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约聚场景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4" name="矩形: 圆角 21">
            <a:extLst>
              <a:ext uri="{FF2B5EF4-FFF2-40B4-BE49-F238E27FC236}">
                <a16:creationId xmlns:a16="http://schemas.microsoft.com/office/drawing/2014/main" id="{F9CF6D01-C9E8-5A30-2875-4E5A1F611C43}"/>
              </a:ext>
            </a:extLst>
          </p:cNvPr>
          <p:cNvSpPr/>
          <p:nvPr/>
        </p:nvSpPr>
        <p:spPr>
          <a:xfrm>
            <a:off x="7522140" y="-2311505"/>
            <a:ext cx="1675660" cy="532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尖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marL="0" indent="0" algn="ctr">
              <a:buNone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（资产综合）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5" name="矩形: 圆角 21">
            <a:extLst>
              <a:ext uri="{FF2B5EF4-FFF2-40B4-BE49-F238E27FC236}">
                <a16:creationId xmlns:a16="http://schemas.microsoft.com/office/drawing/2014/main" id="{0ACC4889-56BF-D601-19C6-F8F739220FAE}"/>
              </a:ext>
            </a:extLst>
          </p:cNvPr>
          <p:cNvSpPr/>
          <p:nvPr/>
        </p:nvSpPr>
        <p:spPr>
          <a:xfrm>
            <a:off x="7522140" y="-1677320"/>
            <a:ext cx="1675660" cy="532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尖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marL="0" indent="0" algn="ctr">
              <a:buNone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（资产综合）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6" name="矩形: 圆角 21">
            <a:extLst>
              <a:ext uri="{FF2B5EF4-FFF2-40B4-BE49-F238E27FC236}">
                <a16:creationId xmlns:a16="http://schemas.microsoft.com/office/drawing/2014/main" id="{19B5FFC2-5E7E-5008-8F1C-04277D5BAC83}"/>
              </a:ext>
            </a:extLst>
          </p:cNvPr>
          <p:cNvSpPr/>
          <p:nvPr/>
        </p:nvSpPr>
        <p:spPr>
          <a:xfrm>
            <a:off x="7522140" y="-1043135"/>
            <a:ext cx="1675660" cy="532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尖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marL="0" indent="0" algn="ctr">
              <a:buNone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（资产综合）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7" name="矩形: 圆角 21">
            <a:extLst>
              <a:ext uri="{FF2B5EF4-FFF2-40B4-BE49-F238E27FC236}">
                <a16:creationId xmlns:a16="http://schemas.microsoft.com/office/drawing/2014/main" id="{DC42851E-CFA3-E09B-C899-12131F9C0CCF}"/>
              </a:ext>
            </a:extLst>
          </p:cNvPr>
          <p:cNvSpPr/>
          <p:nvPr/>
        </p:nvSpPr>
        <p:spPr>
          <a:xfrm>
            <a:off x="7499545" y="-408949"/>
            <a:ext cx="1675660" cy="532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尖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marL="0" indent="0" algn="ctr">
              <a:buNone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（资产综合）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8" name="文本占位符 1">
            <a:extLst>
              <a:ext uri="{FF2B5EF4-FFF2-40B4-BE49-F238E27FC236}">
                <a16:creationId xmlns:a16="http://schemas.microsoft.com/office/drawing/2014/main" id="{14E0E5C0-ADB1-705F-3053-8D48C7FE21A4}"/>
              </a:ext>
            </a:extLst>
          </p:cNvPr>
          <p:cNvSpPr txBox="1">
            <a:spLocks/>
          </p:cNvSpPr>
          <p:nvPr/>
        </p:nvSpPr>
        <p:spPr>
          <a:xfrm>
            <a:off x="8392988" y="849789"/>
            <a:ext cx="1675660" cy="45201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供</a:t>
            </a:r>
            <a:endParaRPr lang="en-US" altLang="zh-CN" sz="1600" dirty="0"/>
          </a:p>
        </p:txBody>
      </p:sp>
      <p:sp>
        <p:nvSpPr>
          <p:cNvPr id="129" name="矩形: 圆角 128">
            <a:extLst>
              <a:ext uri="{FF2B5EF4-FFF2-40B4-BE49-F238E27FC236}">
                <a16:creationId xmlns:a16="http://schemas.microsoft.com/office/drawing/2014/main" id="{B56E7A29-3562-9FCD-F5BF-AB38E21E7B8D}"/>
              </a:ext>
            </a:extLst>
          </p:cNvPr>
          <p:cNvSpPr/>
          <p:nvPr/>
        </p:nvSpPr>
        <p:spPr>
          <a:xfrm>
            <a:off x="4145797" y="2176959"/>
            <a:ext cx="1367295" cy="8663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榜单是精选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精准匹配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0" name="矩形: 圆角 129">
            <a:extLst>
              <a:ext uri="{FF2B5EF4-FFF2-40B4-BE49-F238E27FC236}">
                <a16:creationId xmlns:a16="http://schemas.microsoft.com/office/drawing/2014/main" id="{9C128352-8CD5-37B7-9000-F469E2B037EB}"/>
              </a:ext>
            </a:extLst>
          </p:cNvPr>
          <p:cNvSpPr/>
          <p:nvPr/>
        </p:nvSpPr>
        <p:spPr>
          <a:xfrm>
            <a:off x="4145797" y="1190565"/>
            <a:ext cx="1451009" cy="83243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榜单是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IP</a:t>
            </a: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权威背书</a:t>
            </a:r>
          </a:p>
        </p:txBody>
      </p:sp>
      <p:sp>
        <p:nvSpPr>
          <p:cNvPr id="131" name="矩形: 圆角 130">
            <a:extLst>
              <a:ext uri="{FF2B5EF4-FFF2-40B4-BE49-F238E27FC236}">
                <a16:creationId xmlns:a16="http://schemas.microsoft.com/office/drawing/2014/main" id="{B408FE7B-26D4-AF23-F698-4DF05839B2C5}"/>
              </a:ext>
            </a:extLst>
          </p:cNvPr>
          <p:cNvSpPr/>
          <p:nvPr/>
        </p:nvSpPr>
        <p:spPr>
          <a:xfrm>
            <a:off x="4151916" y="3182097"/>
            <a:ext cx="1331802" cy="1764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榜单是信息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避免踩雷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2" name="文本占位符 1">
            <a:extLst>
              <a:ext uri="{FF2B5EF4-FFF2-40B4-BE49-F238E27FC236}">
                <a16:creationId xmlns:a16="http://schemas.microsoft.com/office/drawing/2014/main" id="{E3C6CDC8-68A4-1CEE-8C68-30D2A9DE8056}"/>
              </a:ext>
            </a:extLst>
          </p:cNvPr>
          <p:cNvSpPr txBox="1">
            <a:spLocks/>
          </p:cNvSpPr>
          <p:nvPr/>
        </p:nvSpPr>
        <p:spPr>
          <a:xfrm>
            <a:off x="2168791" y="797629"/>
            <a:ext cx="1806001" cy="85680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需</a:t>
            </a:r>
            <a:endParaRPr lang="en-US" altLang="zh-CN" sz="1600" dirty="0"/>
          </a:p>
        </p:txBody>
      </p:sp>
      <p:sp>
        <p:nvSpPr>
          <p:cNvPr id="133" name="矩形: 圆角 132">
            <a:extLst>
              <a:ext uri="{FF2B5EF4-FFF2-40B4-BE49-F238E27FC236}">
                <a16:creationId xmlns:a16="http://schemas.microsoft.com/office/drawing/2014/main" id="{45046167-263D-FC33-4DF3-22AF61FFB52C}"/>
              </a:ext>
            </a:extLst>
          </p:cNvPr>
          <p:cNvSpPr/>
          <p:nvPr/>
        </p:nvSpPr>
        <p:spPr>
          <a:xfrm>
            <a:off x="2189298" y="1190564"/>
            <a:ext cx="1807200" cy="8568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综合决策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选最好的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134" name="矩形: 圆角 133">
            <a:extLst>
              <a:ext uri="{FF2B5EF4-FFF2-40B4-BE49-F238E27FC236}">
                <a16:creationId xmlns:a16="http://schemas.microsoft.com/office/drawing/2014/main" id="{F14C8B96-B727-7989-DCB3-9A1FD2128A60}"/>
              </a:ext>
            </a:extLst>
          </p:cNvPr>
          <p:cNvSpPr/>
          <p:nvPr/>
        </p:nvSpPr>
        <p:spPr>
          <a:xfrm>
            <a:off x="2189298" y="3123501"/>
            <a:ext cx="1807200" cy="8568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效率决策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选不错的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5" name="矩形: 圆角 134">
            <a:extLst>
              <a:ext uri="{FF2B5EF4-FFF2-40B4-BE49-F238E27FC236}">
                <a16:creationId xmlns:a16="http://schemas.microsoft.com/office/drawing/2014/main" id="{CE8DE19E-BD6F-D87C-3F2F-D16E1A83A593}"/>
              </a:ext>
            </a:extLst>
          </p:cNvPr>
          <p:cNvSpPr/>
          <p:nvPr/>
        </p:nvSpPr>
        <p:spPr>
          <a:xfrm>
            <a:off x="2189298" y="2171932"/>
            <a:ext cx="1807200" cy="8568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场景决策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选最合适的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6" name="矩形: 圆角 135">
            <a:extLst>
              <a:ext uri="{FF2B5EF4-FFF2-40B4-BE49-F238E27FC236}">
                <a16:creationId xmlns:a16="http://schemas.microsoft.com/office/drawing/2014/main" id="{308F70BA-9B13-7795-AC58-F8910F2DF2F9}"/>
              </a:ext>
            </a:extLst>
          </p:cNvPr>
          <p:cNvSpPr/>
          <p:nvPr/>
        </p:nvSpPr>
        <p:spPr>
          <a:xfrm>
            <a:off x="2189298" y="4075070"/>
            <a:ext cx="1807200" cy="8568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探索决策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选个新的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137" name="文本占位符 1">
            <a:extLst>
              <a:ext uri="{FF2B5EF4-FFF2-40B4-BE49-F238E27FC236}">
                <a16:creationId xmlns:a16="http://schemas.microsoft.com/office/drawing/2014/main" id="{FB7694CD-428E-CFE6-0944-C37C162E2999}"/>
              </a:ext>
            </a:extLst>
          </p:cNvPr>
          <p:cNvSpPr txBox="1">
            <a:spLocks/>
          </p:cNvSpPr>
          <p:nvPr/>
        </p:nvSpPr>
        <p:spPr>
          <a:xfrm>
            <a:off x="5251906" y="838550"/>
            <a:ext cx="1807200" cy="49264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榜</a:t>
            </a:r>
            <a:endParaRPr lang="en-US" altLang="zh-CN" sz="1600" dirty="0"/>
          </a:p>
        </p:txBody>
      </p:sp>
      <p:sp>
        <p:nvSpPr>
          <p:cNvPr id="138" name="矩形: 圆角 21">
            <a:extLst>
              <a:ext uri="{FF2B5EF4-FFF2-40B4-BE49-F238E27FC236}">
                <a16:creationId xmlns:a16="http://schemas.microsoft.com/office/drawing/2014/main" id="{52E1047E-BD7E-886A-9C6B-DF7A10576CAB}"/>
              </a:ext>
            </a:extLst>
          </p:cNvPr>
          <p:cNvSpPr/>
          <p:nvPr/>
        </p:nvSpPr>
        <p:spPr>
          <a:xfrm>
            <a:off x="8372909" y="1190563"/>
            <a:ext cx="1675660" cy="86533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尖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marL="0" indent="0" algn="ctr">
              <a:buNone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（资产综合）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9" name="矩形: 圆角 21">
            <a:extLst>
              <a:ext uri="{FF2B5EF4-FFF2-40B4-BE49-F238E27FC236}">
                <a16:creationId xmlns:a16="http://schemas.microsoft.com/office/drawing/2014/main" id="{3FD07910-64B7-CE76-9E83-AEE2D7EACED9}"/>
              </a:ext>
            </a:extLst>
          </p:cNvPr>
          <p:cNvSpPr/>
          <p:nvPr/>
        </p:nvSpPr>
        <p:spPr>
          <a:xfrm>
            <a:off x="8398600" y="2169710"/>
            <a:ext cx="1675660" cy="856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特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（资产差异化）</a:t>
            </a:r>
          </a:p>
        </p:txBody>
      </p:sp>
      <p:sp>
        <p:nvSpPr>
          <p:cNvPr id="140" name="矩形: 圆角 21">
            <a:extLst>
              <a:ext uri="{FF2B5EF4-FFF2-40B4-BE49-F238E27FC236}">
                <a16:creationId xmlns:a16="http://schemas.microsoft.com/office/drawing/2014/main" id="{B2B9CBB1-23EF-B07B-C615-EAB352C3F604}"/>
              </a:ext>
            </a:extLst>
          </p:cNvPr>
          <p:cNvSpPr/>
          <p:nvPr/>
        </p:nvSpPr>
        <p:spPr>
          <a:xfrm>
            <a:off x="8398600" y="3148857"/>
            <a:ext cx="1675660" cy="856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热</a:t>
            </a: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（资产验证）</a:t>
            </a:r>
          </a:p>
        </p:txBody>
      </p:sp>
      <p:sp>
        <p:nvSpPr>
          <p:cNvPr id="141" name="矩形: 圆角 21">
            <a:extLst>
              <a:ext uri="{FF2B5EF4-FFF2-40B4-BE49-F238E27FC236}">
                <a16:creationId xmlns:a16="http://schemas.microsoft.com/office/drawing/2014/main" id="{203671AB-A91A-5867-B3B6-92FF1E1C9D06}"/>
              </a:ext>
            </a:extLst>
          </p:cNvPr>
          <p:cNvSpPr/>
          <p:nvPr/>
        </p:nvSpPr>
        <p:spPr>
          <a:xfrm>
            <a:off x="8376005" y="4128005"/>
            <a:ext cx="1675660" cy="856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新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（资产冷启）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7C3A7642-1B67-AB28-7911-324AF1476AFF}"/>
              </a:ext>
            </a:extLst>
          </p:cNvPr>
          <p:cNvSpPr txBox="1"/>
          <p:nvPr/>
        </p:nvSpPr>
        <p:spPr>
          <a:xfrm>
            <a:off x="5821906" y="3564216"/>
            <a:ext cx="21781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solidFill>
                  <a:srgbClr val="0D0D0D"/>
                </a:solidFill>
                <a:latin typeface="+mn-ea"/>
              </a:rPr>
              <a:t>信息层</a:t>
            </a:r>
            <a:r>
              <a:rPr lang="en-US" altLang="zh-CN" sz="1600" dirty="0">
                <a:solidFill>
                  <a:srgbClr val="0D0D0D"/>
                </a:solidFill>
                <a:latin typeface="+mn-ea"/>
              </a:rPr>
              <a:t>-</a:t>
            </a:r>
            <a:r>
              <a:rPr lang="zh-CN" altLang="en-US" sz="1600" dirty="0">
                <a:solidFill>
                  <a:srgbClr val="0D0D0D"/>
                </a:solidFill>
                <a:latin typeface="+mn-ea"/>
              </a:rPr>
              <a:t>排名制</a:t>
            </a:r>
            <a:endParaRPr lang="en-US" altLang="zh-CN" sz="1600" dirty="0">
              <a:solidFill>
                <a:srgbClr val="0D0D0D"/>
              </a:solidFill>
              <a:latin typeface="+mn-ea"/>
            </a:endParaRPr>
          </a:p>
          <a:p>
            <a:pPr algn="ctr"/>
            <a:r>
              <a:rPr lang="zh-CN" altLang="en-US" sz="1600" dirty="0">
                <a:solidFill>
                  <a:srgbClr val="0D0D0D"/>
                </a:solidFill>
                <a:latin typeface="+mn-ea"/>
              </a:rPr>
              <a:t>数万</a:t>
            </a:r>
            <a:r>
              <a:rPr lang="en-US" altLang="zh-CN" sz="1600" dirty="0">
                <a:solidFill>
                  <a:srgbClr val="0D0D0D"/>
                </a:solidFill>
                <a:latin typeface="+mn-ea"/>
              </a:rPr>
              <a:t>-</a:t>
            </a:r>
            <a:r>
              <a:rPr lang="zh-CN" altLang="en-US" sz="1600" dirty="0">
                <a:solidFill>
                  <a:srgbClr val="0D0D0D"/>
                </a:solidFill>
                <a:latin typeface="+mn-ea"/>
              </a:rPr>
              <a:t>数十万店，</a:t>
            </a:r>
            <a:r>
              <a:rPr lang="en-US" altLang="zh-CN" sz="1600" dirty="0">
                <a:solidFill>
                  <a:srgbClr val="0D0D0D"/>
                </a:solidFill>
                <a:latin typeface="+mn-ea"/>
              </a:rPr>
              <a:t>10%</a:t>
            </a:r>
          </a:p>
          <a:p>
            <a:pPr algn="ctr"/>
            <a:r>
              <a:rPr lang="zh-CN" altLang="en-US" sz="1600" dirty="0">
                <a:solidFill>
                  <a:srgbClr val="0D0D0D"/>
                </a:solidFill>
                <a:highlight>
                  <a:srgbClr val="FFFF00"/>
                </a:highlight>
                <a:latin typeface="+mn-ea"/>
              </a:rPr>
              <a:t>守约束，调结构</a:t>
            </a:r>
            <a:endParaRPr lang="en-US" altLang="zh-CN" sz="1600" dirty="0">
              <a:solidFill>
                <a:srgbClr val="0D0D0D"/>
              </a:solidFill>
              <a:highlight>
                <a:srgbClr val="FFFF00"/>
              </a:highlight>
              <a:latin typeface="+mn-ea"/>
            </a:endParaRPr>
          </a:p>
        </p:txBody>
      </p:sp>
      <p:sp>
        <p:nvSpPr>
          <p:cNvPr id="147" name="矩形: 圆角 146">
            <a:extLst>
              <a:ext uri="{FF2B5EF4-FFF2-40B4-BE49-F238E27FC236}">
                <a16:creationId xmlns:a16="http://schemas.microsoft.com/office/drawing/2014/main" id="{EC94A663-0394-4138-0859-A818C75EDB0F}"/>
              </a:ext>
            </a:extLst>
          </p:cNvPr>
          <p:cNvSpPr/>
          <p:nvPr/>
        </p:nvSpPr>
        <p:spPr>
          <a:xfrm>
            <a:off x="4145797" y="2185325"/>
            <a:ext cx="4040411" cy="85803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7EB67768-25D0-0AD5-8ED9-71E78753FB16}"/>
              </a:ext>
            </a:extLst>
          </p:cNvPr>
          <p:cNvSpPr txBox="1"/>
          <p:nvPr/>
        </p:nvSpPr>
        <p:spPr>
          <a:xfrm>
            <a:off x="5782585" y="2201033"/>
            <a:ext cx="22729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solidFill>
                  <a:srgbClr val="0D0D0D"/>
                </a:solidFill>
                <a:latin typeface="+mn-ea"/>
              </a:rPr>
              <a:t>精选层</a:t>
            </a:r>
            <a:r>
              <a:rPr lang="en-US" altLang="zh-CN" sz="1600" dirty="0">
                <a:solidFill>
                  <a:srgbClr val="0D0D0D"/>
                </a:solidFill>
                <a:latin typeface="+mn-ea"/>
              </a:rPr>
              <a:t>-</a:t>
            </a:r>
            <a:r>
              <a:rPr lang="zh-CN" altLang="en-US" sz="1600" dirty="0">
                <a:solidFill>
                  <a:srgbClr val="0D0D0D"/>
                </a:solidFill>
                <a:latin typeface="+mn-ea"/>
              </a:rPr>
              <a:t>入围</a:t>
            </a:r>
            <a:r>
              <a:rPr lang="en-US" altLang="zh-CN" sz="1600" dirty="0">
                <a:solidFill>
                  <a:srgbClr val="0D0D0D"/>
                </a:solidFill>
                <a:latin typeface="+mn-ea"/>
              </a:rPr>
              <a:t>/</a:t>
            </a:r>
            <a:r>
              <a:rPr lang="zh-CN" altLang="en-US" sz="1600" dirty="0">
                <a:solidFill>
                  <a:srgbClr val="0D0D0D"/>
                </a:solidFill>
                <a:latin typeface="+mn-ea"/>
              </a:rPr>
              <a:t>排名</a:t>
            </a:r>
            <a:endParaRPr lang="en-US" altLang="zh-CN" sz="1600" dirty="0">
              <a:solidFill>
                <a:srgbClr val="0D0D0D"/>
              </a:solidFill>
              <a:latin typeface="+mn-ea"/>
            </a:endParaRPr>
          </a:p>
          <a:p>
            <a:pPr algn="ctr"/>
            <a:r>
              <a:rPr lang="zh-CN" altLang="en-US" sz="1600" dirty="0">
                <a:solidFill>
                  <a:srgbClr val="0D0D0D"/>
                </a:solidFill>
                <a:latin typeface="+mn-ea"/>
              </a:rPr>
              <a:t>数千</a:t>
            </a:r>
            <a:r>
              <a:rPr lang="en-US" altLang="zh-CN" sz="1600" dirty="0">
                <a:solidFill>
                  <a:srgbClr val="0D0D0D"/>
                </a:solidFill>
                <a:latin typeface="+mn-ea"/>
              </a:rPr>
              <a:t>-</a:t>
            </a:r>
            <a:r>
              <a:rPr lang="zh-CN" altLang="en-US" sz="1600" dirty="0">
                <a:solidFill>
                  <a:srgbClr val="0D0D0D"/>
                </a:solidFill>
                <a:latin typeface="+mn-ea"/>
              </a:rPr>
              <a:t>数万店，</a:t>
            </a:r>
            <a:r>
              <a:rPr lang="en-US" altLang="zh-CN" sz="1600" dirty="0">
                <a:solidFill>
                  <a:srgbClr val="0D0D0D"/>
                </a:solidFill>
                <a:latin typeface="+mn-ea"/>
              </a:rPr>
              <a:t>1%</a:t>
            </a:r>
          </a:p>
          <a:p>
            <a:pPr algn="ctr"/>
            <a:r>
              <a:rPr lang="zh-CN" altLang="en-US" sz="1600" dirty="0">
                <a:solidFill>
                  <a:srgbClr val="0D0D0D"/>
                </a:solidFill>
                <a:highlight>
                  <a:srgbClr val="FFFF00"/>
                </a:highlight>
                <a:latin typeface="+mn-ea"/>
              </a:rPr>
              <a:t>提满意，建心智</a:t>
            </a:r>
            <a:endParaRPr lang="en-US" altLang="zh-CN" sz="1600" dirty="0">
              <a:solidFill>
                <a:srgbClr val="0D0D0D"/>
              </a:solidFill>
              <a:highlight>
                <a:srgbClr val="FFFF00"/>
              </a:highlight>
              <a:latin typeface="+mn-ea"/>
            </a:endParaRPr>
          </a:p>
        </p:txBody>
      </p:sp>
      <p:sp>
        <p:nvSpPr>
          <p:cNvPr id="149" name="矩形: 圆角 148">
            <a:extLst>
              <a:ext uri="{FF2B5EF4-FFF2-40B4-BE49-F238E27FC236}">
                <a16:creationId xmlns:a16="http://schemas.microsoft.com/office/drawing/2014/main" id="{DA9F0BEA-1C56-A3E1-2B5E-FDEDB422C398}"/>
              </a:ext>
            </a:extLst>
          </p:cNvPr>
          <p:cNvSpPr/>
          <p:nvPr/>
        </p:nvSpPr>
        <p:spPr>
          <a:xfrm>
            <a:off x="4141378" y="1190565"/>
            <a:ext cx="4040411" cy="83159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134B283B-55BE-AB44-BFEA-C4E5B904AEAD}"/>
              </a:ext>
            </a:extLst>
          </p:cNvPr>
          <p:cNvSpPr txBox="1"/>
          <p:nvPr/>
        </p:nvSpPr>
        <p:spPr>
          <a:xfrm>
            <a:off x="5795362" y="1186583"/>
            <a:ext cx="22729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solidFill>
                  <a:srgbClr val="0D0D0D"/>
                </a:solidFill>
                <a:latin typeface="+mn-ea"/>
              </a:rPr>
              <a:t>IP</a:t>
            </a:r>
            <a:r>
              <a:rPr lang="zh-CN" altLang="en-US" sz="1600" dirty="0">
                <a:solidFill>
                  <a:srgbClr val="0D0D0D"/>
                </a:solidFill>
                <a:latin typeface="+mn-ea"/>
              </a:rPr>
              <a:t>层</a:t>
            </a:r>
            <a:r>
              <a:rPr lang="en-US" altLang="zh-CN" sz="1600" dirty="0">
                <a:solidFill>
                  <a:srgbClr val="0D0D0D"/>
                </a:solidFill>
                <a:latin typeface="+mn-ea"/>
              </a:rPr>
              <a:t>-</a:t>
            </a:r>
            <a:r>
              <a:rPr lang="zh-CN" altLang="en-US" sz="1600" dirty="0">
                <a:solidFill>
                  <a:srgbClr val="0D0D0D"/>
                </a:solidFill>
                <a:latin typeface="+mn-ea"/>
              </a:rPr>
              <a:t>入围制</a:t>
            </a:r>
            <a:endParaRPr lang="en-US" altLang="zh-CN" sz="1600" dirty="0">
              <a:solidFill>
                <a:srgbClr val="0D0D0D"/>
              </a:solidFill>
              <a:latin typeface="+mn-ea"/>
            </a:endParaRPr>
          </a:p>
          <a:p>
            <a:pPr algn="ctr"/>
            <a:r>
              <a:rPr lang="zh-CN" altLang="en-US" sz="1600" dirty="0">
                <a:solidFill>
                  <a:srgbClr val="0D0D0D"/>
                </a:solidFill>
                <a:latin typeface="+mn-ea"/>
              </a:rPr>
              <a:t>数百</a:t>
            </a:r>
            <a:r>
              <a:rPr lang="en-US" altLang="zh-CN" sz="1600" dirty="0">
                <a:solidFill>
                  <a:srgbClr val="0D0D0D"/>
                </a:solidFill>
                <a:latin typeface="+mn-ea"/>
              </a:rPr>
              <a:t>-</a:t>
            </a:r>
            <a:r>
              <a:rPr lang="zh-CN" altLang="en-US" sz="1600" dirty="0">
                <a:solidFill>
                  <a:srgbClr val="0D0D0D"/>
                </a:solidFill>
                <a:latin typeface="+mn-ea"/>
              </a:rPr>
              <a:t>数千店，</a:t>
            </a:r>
            <a:r>
              <a:rPr lang="en-US" altLang="zh-CN" sz="1600" dirty="0">
                <a:solidFill>
                  <a:srgbClr val="0D0D0D"/>
                </a:solidFill>
                <a:latin typeface="+mn-ea"/>
              </a:rPr>
              <a:t>0.1%</a:t>
            </a:r>
          </a:p>
          <a:p>
            <a:pPr algn="ctr"/>
            <a:r>
              <a:rPr lang="zh-CN" altLang="en-US" sz="1600" dirty="0">
                <a:solidFill>
                  <a:srgbClr val="0D0D0D"/>
                </a:solidFill>
                <a:highlight>
                  <a:srgbClr val="FFFF00"/>
                </a:highlight>
                <a:latin typeface="+mn-ea"/>
              </a:rPr>
              <a:t>扩大心智影响力</a:t>
            </a:r>
            <a:endParaRPr lang="en-US" altLang="zh-CN" sz="1600" dirty="0">
              <a:solidFill>
                <a:srgbClr val="0D0D0D"/>
              </a:solidFill>
              <a:highlight>
                <a:srgbClr val="FFFF00"/>
              </a:highlight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310549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矩形: 圆角 142">
            <a:extLst>
              <a:ext uri="{FF2B5EF4-FFF2-40B4-BE49-F238E27FC236}">
                <a16:creationId xmlns:a16="http://schemas.microsoft.com/office/drawing/2014/main" id="{813D9962-2F81-9757-EB73-4CAA6CCEFF5D}"/>
              </a:ext>
            </a:extLst>
          </p:cNvPr>
          <p:cNvSpPr/>
          <p:nvPr/>
        </p:nvSpPr>
        <p:spPr>
          <a:xfrm>
            <a:off x="2490310" y="2782284"/>
            <a:ext cx="4055228" cy="856800"/>
          </a:xfrm>
          <a:prstGeom prst="roundRect">
            <a:avLst>
              <a:gd name="adj" fmla="val 12921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广泛、普适的获得匹配用户的认同及推荐、长尾流量。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" name="文本占位符 1">
            <a:extLst>
              <a:ext uri="{FF2B5EF4-FFF2-40B4-BE49-F238E27FC236}">
                <a16:creationId xmlns:a16="http://schemas.microsoft.com/office/drawing/2014/main" id="{14E0E5C0-ADB1-705F-3053-8D48C7FE21A4}"/>
              </a:ext>
            </a:extLst>
          </p:cNvPr>
          <p:cNvSpPr txBox="1">
            <a:spLocks/>
          </p:cNvSpPr>
          <p:nvPr/>
        </p:nvSpPr>
        <p:spPr>
          <a:xfrm>
            <a:off x="6737500" y="509800"/>
            <a:ext cx="1675660" cy="45201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机会</a:t>
            </a:r>
            <a:endParaRPr lang="en-US" altLang="zh-CN" sz="1600" dirty="0"/>
          </a:p>
        </p:txBody>
      </p:sp>
      <p:sp>
        <p:nvSpPr>
          <p:cNvPr id="132" name="文本占位符 1">
            <a:extLst>
              <a:ext uri="{FF2B5EF4-FFF2-40B4-BE49-F238E27FC236}">
                <a16:creationId xmlns:a16="http://schemas.microsoft.com/office/drawing/2014/main" id="{E3C6CDC8-68A4-1CEE-8C68-30D2A9DE8056}"/>
              </a:ext>
            </a:extLst>
          </p:cNvPr>
          <p:cNvSpPr txBox="1">
            <a:spLocks/>
          </p:cNvSpPr>
          <p:nvPr/>
        </p:nvSpPr>
        <p:spPr>
          <a:xfrm>
            <a:off x="513303" y="457640"/>
            <a:ext cx="1806001" cy="85680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角色</a:t>
            </a:r>
            <a:endParaRPr lang="en-US" altLang="zh-CN" sz="1600" dirty="0"/>
          </a:p>
        </p:txBody>
      </p:sp>
      <p:sp>
        <p:nvSpPr>
          <p:cNvPr id="133" name="矩形: 圆角 132">
            <a:extLst>
              <a:ext uri="{FF2B5EF4-FFF2-40B4-BE49-F238E27FC236}">
                <a16:creationId xmlns:a16="http://schemas.microsoft.com/office/drawing/2014/main" id="{45046167-263D-FC33-4DF3-22AF61FFB52C}"/>
              </a:ext>
            </a:extLst>
          </p:cNvPr>
          <p:cNvSpPr/>
          <p:nvPr/>
        </p:nvSpPr>
        <p:spPr>
          <a:xfrm>
            <a:off x="533810" y="850575"/>
            <a:ext cx="1807200" cy="8568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用户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134" name="矩形: 圆角 133">
            <a:extLst>
              <a:ext uri="{FF2B5EF4-FFF2-40B4-BE49-F238E27FC236}">
                <a16:creationId xmlns:a16="http://schemas.microsoft.com/office/drawing/2014/main" id="{F14C8B96-B727-7989-DCB3-9A1FD2128A60}"/>
              </a:ext>
            </a:extLst>
          </p:cNvPr>
          <p:cNvSpPr/>
          <p:nvPr/>
        </p:nvSpPr>
        <p:spPr>
          <a:xfrm>
            <a:off x="533810" y="2783512"/>
            <a:ext cx="1807200" cy="8568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商家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5" name="矩形: 圆角 134">
            <a:extLst>
              <a:ext uri="{FF2B5EF4-FFF2-40B4-BE49-F238E27FC236}">
                <a16:creationId xmlns:a16="http://schemas.microsoft.com/office/drawing/2014/main" id="{CE8DE19E-BD6F-D87C-3F2F-D16E1A83A593}"/>
              </a:ext>
            </a:extLst>
          </p:cNvPr>
          <p:cNvSpPr/>
          <p:nvPr/>
        </p:nvSpPr>
        <p:spPr>
          <a:xfrm>
            <a:off x="533810" y="1831943"/>
            <a:ext cx="1807200" cy="8568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KOC</a:t>
            </a:r>
            <a:r>
              <a:rPr lang="zh-CN" altLang="en-US" sz="1600" dirty="0">
                <a:solidFill>
                  <a:schemeClr val="tx1"/>
                </a:solidFill>
              </a:rPr>
              <a:t>等创作者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6" name="矩形: 圆角 135">
            <a:extLst>
              <a:ext uri="{FF2B5EF4-FFF2-40B4-BE49-F238E27FC236}">
                <a16:creationId xmlns:a16="http://schemas.microsoft.com/office/drawing/2014/main" id="{308F70BA-9B13-7795-AC58-F8910F2DF2F9}"/>
              </a:ext>
            </a:extLst>
          </p:cNvPr>
          <p:cNvSpPr/>
          <p:nvPr/>
        </p:nvSpPr>
        <p:spPr>
          <a:xfrm>
            <a:off x="533810" y="3735081"/>
            <a:ext cx="1807200" cy="8568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平台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137" name="文本占位符 1">
            <a:extLst>
              <a:ext uri="{FF2B5EF4-FFF2-40B4-BE49-F238E27FC236}">
                <a16:creationId xmlns:a16="http://schemas.microsoft.com/office/drawing/2014/main" id="{FB7694CD-428E-CFE6-0944-C37C162E2999}"/>
              </a:ext>
            </a:extLst>
          </p:cNvPr>
          <p:cNvSpPr txBox="1">
            <a:spLocks/>
          </p:cNvSpPr>
          <p:nvPr/>
        </p:nvSpPr>
        <p:spPr>
          <a:xfrm>
            <a:off x="3596418" y="498561"/>
            <a:ext cx="1807200" cy="49264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需求</a:t>
            </a:r>
            <a:endParaRPr lang="en-US" altLang="zh-CN" sz="1600" dirty="0"/>
          </a:p>
        </p:txBody>
      </p:sp>
      <p:sp>
        <p:nvSpPr>
          <p:cNvPr id="138" name="矩形: 圆角 21">
            <a:extLst>
              <a:ext uri="{FF2B5EF4-FFF2-40B4-BE49-F238E27FC236}">
                <a16:creationId xmlns:a16="http://schemas.microsoft.com/office/drawing/2014/main" id="{52E1047E-BD7E-886A-9C6B-DF7A10576CAB}"/>
              </a:ext>
            </a:extLst>
          </p:cNvPr>
          <p:cNvSpPr/>
          <p:nvPr/>
        </p:nvSpPr>
        <p:spPr>
          <a:xfrm>
            <a:off x="6717421" y="850574"/>
            <a:ext cx="1675660" cy="86533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歌单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1" name="矩形: 圆角 21">
            <a:extLst>
              <a:ext uri="{FF2B5EF4-FFF2-40B4-BE49-F238E27FC236}">
                <a16:creationId xmlns:a16="http://schemas.microsoft.com/office/drawing/2014/main" id="{203671AB-A91A-5867-B3B6-92FF1E1C9D06}"/>
              </a:ext>
            </a:extLst>
          </p:cNvPr>
          <p:cNvSpPr/>
          <p:nvPr/>
        </p:nvSpPr>
        <p:spPr>
          <a:xfrm>
            <a:off x="6720517" y="3788016"/>
            <a:ext cx="1675660" cy="856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新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（资产冷启）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7" name="矩形: 圆角 146">
            <a:extLst>
              <a:ext uri="{FF2B5EF4-FFF2-40B4-BE49-F238E27FC236}">
                <a16:creationId xmlns:a16="http://schemas.microsoft.com/office/drawing/2014/main" id="{EC94A663-0394-4138-0859-A818C75EDB0F}"/>
              </a:ext>
            </a:extLst>
          </p:cNvPr>
          <p:cNvSpPr/>
          <p:nvPr/>
        </p:nvSpPr>
        <p:spPr>
          <a:xfrm>
            <a:off x="2490309" y="1829721"/>
            <a:ext cx="4040411" cy="870117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秀晒炫、彰显品位获得身份认同、获得激励与反馈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9" name="矩形: 圆角 148">
            <a:extLst>
              <a:ext uri="{FF2B5EF4-FFF2-40B4-BE49-F238E27FC236}">
                <a16:creationId xmlns:a16="http://schemas.microsoft.com/office/drawing/2014/main" id="{DA9F0BEA-1C56-A3E1-2B5E-FDEDB422C398}"/>
              </a:ext>
            </a:extLst>
          </p:cNvPr>
          <p:cNvSpPr/>
          <p:nvPr/>
        </p:nvSpPr>
        <p:spPr>
          <a:xfrm>
            <a:off x="2485890" y="850576"/>
            <a:ext cx="4040411" cy="83159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0D0D0D"/>
                </a:solidFill>
                <a:latin typeface="+mn-ea"/>
              </a:rPr>
              <a:t>个性化精准决策。找到圈层、同好，表达个人情绪</a:t>
            </a:r>
            <a:endParaRPr lang="en-US" altLang="zh-CN" sz="16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F4C4BD1C-609C-11F0-AEA3-EDC7DA789B57}"/>
              </a:ext>
            </a:extLst>
          </p:cNvPr>
          <p:cNvSpPr/>
          <p:nvPr/>
        </p:nvSpPr>
        <p:spPr>
          <a:xfrm>
            <a:off x="2490308" y="3735081"/>
            <a:ext cx="4047819" cy="856800"/>
          </a:xfrm>
          <a:prstGeom prst="roundRect">
            <a:avLst>
              <a:gd name="adj" fmla="val 12921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用户需求集、用户画像集、用户对商家的标注集（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GC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、亮点）、算法训练数据集。可分发供给。收入增量场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855E421-ADC2-83E8-F42F-90C65224E3D0}"/>
              </a:ext>
            </a:extLst>
          </p:cNvPr>
          <p:cNvSpPr txBox="1"/>
          <p:nvPr/>
        </p:nvSpPr>
        <p:spPr>
          <a:xfrm>
            <a:off x="2653644" y="-2966401"/>
            <a:ext cx="696169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/>
            <a:r>
              <a:rPr lang="zh-CN" altLang="en-US" b="1" dirty="0">
                <a:effectLst/>
              </a:rPr>
              <a:t>用户：</a:t>
            </a:r>
            <a:r>
              <a:rPr lang="zh-CN" altLang="en-US" dirty="0">
                <a:effectLst/>
              </a:rPr>
              <a:t>外围</a:t>
            </a:r>
            <a:r>
              <a:rPr lang="en-US" altLang="zh-CN" dirty="0">
                <a:effectLst/>
              </a:rPr>
              <a:t>-</a:t>
            </a:r>
            <a:r>
              <a:rPr lang="zh-CN" altLang="en-US" dirty="0">
                <a:effectLst/>
              </a:rPr>
              <a:t>浏览</a:t>
            </a:r>
            <a:r>
              <a:rPr lang="en-US" altLang="zh-CN" dirty="0">
                <a:effectLst/>
              </a:rPr>
              <a:t>-</a:t>
            </a:r>
            <a:r>
              <a:rPr lang="zh-CN" altLang="en-US" dirty="0">
                <a:effectLst/>
              </a:rPr>
              <a:t>交易（主动贡献）</a:t>
            </a:r>
            <a:r>
              <a:rPr lang="en-US" altLang="zh-CN" dirty="0">
                <a:effectLst/>
              </a:rPr>
              <a:t>-</a:t>
            </a:r>
            <a:r>
              <a:rPr lang="zh-CN" altLang="en-US" dirty="0">
                <a:effectLst/>
              </a:rPr>
              <a:t>深度绑定（情感需要，用户间）</a:t>
            </a:r>
            <a:r>
              <a:rPr lang="en-US" altLang="zh-CN" dirty="0">
                <a:effectLst/>
              </a:rPr>
              <a:t>-</a:t>
            </a:r>
            <a:r>
              <a:rPr lang="zh-CN" altLang="en-US" dirty="0">
                <a:effectLst/>
              </a:rPr>
              <a:t>付费、变现、高价值。希望提升用户间互动？需求是彰显身份、发现同好、产生关注、消费溢出、实时互动。普户</a:t>
            </a:r>
            <a:r>
              <a:rPr lang="en-US" altLang="zh-CN" dirty="0">
                <a:effectLst/>
              </a:rPr>
              <a:t>-</a:t>
            </a:r>
            <a:r>
              <a:rPr lang="zh-CN" altLang="en-US" dirty="0">
                <a:effectLst/>
              </a:rPr>
              <a:t>进入圈子</a:t>
            </a:r>
          </a:p>
          <a:p>
            <a:pPr marL="0" marR="0"/>
            <a:r>
              <a:rPr lang="zh-CN" altLang="en-US" dirty="0">
                <a:effectLst/>
              </a:rPr>
              <a:t>提升商家活跃，提升高价值用户活跃，带动一般用户活跃</a:t>
            </a:r>
          </a:p>
          <a:p>
            <a:pPr marL="0" marR="0"/>
            <a:r>
              <a:rPr lang="zh-CN" altLang="en-US" dirty="0">
                <a:effectLst/>
              </a:rPr>
              <a:t>商家管理、运营、分析、获客工具，炫耀、身份象征</a:t>
            </a:r>
            <a:r>
              <a:rPr lang="en-US" altLang="zh-CN" dirty="0">
                <a:effectLst/>
              </a:rPr>
              <a:t>-&gt;</a:t>
            </a:r>
            <a:r>
              <a:rPr lang="zh-CN" altLang="en-US" dirty="0">
                <a:effectLst/>
              </a:rPr>
              <a:t>一种吸粉工具、排行榜。</a:t>
            </a:r>
          </a:p>
          <a:p>
            <a:pPr marL="0" marR="0"/>
            <a:r>
              <a:rPr lang="zh-CN" altLang="en-US" dirty="0">
                <a:effectLst/>
              </a:rPr>
              <a:t>普户：炫耀特殊标识、登记；圈子（</a:t>
            </a:r>
            <a:r>
              <a:rPr lang="en-US" altLang="zh-CN" dirty="0">
                <a:effectLst/>
              </a:rPr>
              <a:t>xx</a:t>
            </a:r>
            <a:r>
              <a:rPr lang="zh-CN" altLang="en-US" dirty="0">
                <a:effectLst/>
              </a:rPr>
              <a:t>门）、特别福利（抽奖、翻牌子）</a:t>
            </a:r>
          </a:p>
          <a:p>
            <a:pPr marL="0" marR="0"/>
            <a:r>
              <a:rPr lang="zh-CN" altLang="en-US" dirty="0">
                <a:effectLst/>
              </a:rPr>
              <a:t>头部、头户的身份体现（个人主页、</a:t>
            </a:r>
            <a:r>
              <a:rPr lang="en-US" altLang="zh-CN" dirty="0">
                <a:effectLst/>
              </a:rPr>
              <a:t>POI</a:t>
            </a:r>
            <a:r>
              <a:rPr lang="zh-CN" altLang="en-US" dirty="0">
                <a:effectLst/>
              </a:rPr>
              <a:t>页）</a:t>
            </a:r>
          </a:p>
          <a:p>
            <a:pPr marL="0" marR="0"/>
            <a:r>
              <a:rPr lang="zh-CN" altLang="en-US" dirty="0">
                <a:effectLst/>
              </a:rPr>
              <a:t>“高人一等”</a:t>
            </a:r>
            <a:r>
              <a:rPr lang="en-US" altLang="zh-CN" dirty="0">
                <a:effectLst/>
              </a:rPr>
              <a:t>——</a:t>
            </a:r>
            <a:r>
              <a:rPr lang="zh-CN" altLang="en-US" dirty="0">
                <a:effectLst/>
              </a:rPr>
              <a:t>权益及身份（平台身份，商家权益，平台权益）</a:t>
            </a:r>
          </a:p>
        </p:txBody>
      </p:sp>
    </p:spTree>
    <p:extLst>
      <p:ext uri="{BB962C8B-B14F-4D97-AF65-F5344CB8AC3E}">
        <p14:creationId xmlns:p14="http://schemas.microsoft.com/office/powerpoint/2010/main" val="2675529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矩形: 圆角 142">
            <a:extLst>
              <a:ext uri="{FF2B5EF4-FFF2-40B4-BE49-F238E27FC236}">
                <a16:creationId xmlns:a16="http://schemas.microsoft.com/office/drawing/2014/main" id="{813D9962-2F81-9757-EB73-4CAA6CCEFF5D}"/>
              </a:ext>
            </a:extLst>
          </p:cNvPr>
          <p:cNvSpPr/>
          <p:nvPr/>
        </p:nvSpPr>
        <p:spPr>
          <a:xfrm>
            <a:off x="8635117" y="917890"/>
            <a:ext cx="4055228" cy="856800"/>
          </a:xfrm>
          <a:prstGeom prst="roundRect">
            <a:avLst>
              <a:gd name="adj" fmla="val 12921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广泛、普适的获得匹配用户的认同及推荐、长尾流量。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" name="文本占位符 1">
            <a:extLst>
              <a:ext uri="{FF2B5EF4-FFF2-40B4-BE49-F238E27FC236}">
                <a16:creationId xmlns:a16="http://schemas.microsoft.com/office/drawing/2014/main" id="{14E0E5C0-ADB1-705F-3053-8D48C7FE21A4}"/>
              </a:ext>
            </a:extLst>
          </p:cNvPr>
          <p:cNvSpPr txBox="1">
            <a:spLocks/>
          </p:cNvSpPr>
          <p:nvPr/>
        </p:nvSpPr>
        <p:spPr>
          <a:xfrm>
            <a:off x="12882307" y="-1354594"/>
            <a:ext cx="1675660" cy="45201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机会</a:t>
            </a:r>
            <a:endParaRPr lang="en-US" altLang="zh-CN" sz="1600" dirty="0"/>
          </a:p>
        </p:txBody>
      </p:sp>
      <p:sp>
        <p:nvSpPr>
          <p:cNvPr id="132" name="文本占位符 1">
            <a:extLst>
              <a:ext uri="{FF2B5EF4-FFF2-40B4-BE49-F238E27FC236}">
                <a16:creationId xmlns:a16="http://schemas.microsoft.com/office/drawing/2014/main" id="{E3C6CDC8-68A4-1CEE-8C68-30D2A9DE8056}"/>
              </a:ext>
            </a:extLst>
          </p:cNvPr>
          <p:cNvSpPr txBox="1">
            <a:spLocks/>
          </p:cNvSpPr>
          <p:nvPr/>
        </p:nvSpPr>
        <p:spPr>
          <a:xfrm>
            <a:off x="122778" y="489490"/>
            <a:ext cx="1806001" cy="85680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角色</a:t>
            </a:r>
            <a:endParaRPr lang="en-US" altLang="zh-CN" sz="1600" dirty="0"/>
          </a:p>
        </p:txBody>
      </p:sp>
      <p:sp>
        <p:nvSpPr>
          <p:cNvPr id="133" name="矩形: 圆角 132">
            <a:extLst>
              <a:ext uri="{FF2B5EF4-FFF2-40B4-BE49-F238E27FC236}">
                <a16:creationId xmlns:a16="http://schemas.microsoft.com/office/drawing/2014/main" id="{45046167-263D-FC33-4DF3-22AF61FFB52C}"/>
              </a:ext>
            </a:extLst>
          </p:cNvPr>
          <p:cNvSpPr/>
          <p:nvPr/>
        </p:nvSpPr>
        <p:spPr>
          <a:xfrm>
            <a:off x="1513694" y="3301378"/>
            <a:ext cx="1807200" cy="8568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用户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134" name="矩形: 圆角 133">
            <a:extLst>
              <a:ext uri="{FF2B5EF4-FFF2-40B4-BE49-F238E27FC236}">
                <a16:creationId xmlns:a16="http://schemas.microsoft.com/office/drawing/2014/main" id="{F14C8B96-B727-7989-DCB3-9A1FD2128A60}"/>
              </a:ext>
            </a:extLst>
          </p:cNvPr>
          <p:cNvSpPr/>
          <p:nvPr/>
        </p:nvSpPr>
        <p:spPr>
          <a:xfrm>
            <a:off x="5837139" y="3301378"/>
            <a:ext cx="1807200" cy="8568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商家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5" name="矩形: 圆角 134">
            <a:extLst>
              <a:ext uri="{FF2B5EF4-FFF2-40B4-BE49-F238E27FC236}">
                <a16:creationId xmlns:a16="http://schemas.microsoft.com/office/drawing/2014/main" id="{CE8DE19E-BD6F-D87C-3F2F-D16E1A83A593}"/>
              </a:ext>
            </a:extLst>
          </p:cNvPr>
          <p:cNvSpPr/>
          <p:nvPr/>
        </p:nvSpPr>
        <p:spPr>
          <a:xfrm>
            <a:off x="1513694" y="-1119513"/>
            <a:ext cx="1807200" cy="8568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KOC</a:t>
            </a:r>
            <a:r>
              <a:rPr lang="zh-CN" altLang="en-US" sz="1600" dirty="0">
                <a:solidFill>
                  <a:schemeClr val="tx1"/>
                </a:solidFill>
              </a:rPr>
              <a:t>等创作者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6" name="矩形: 圆角 135">
            <a:extLst>
              <a:ext uri="{FF2B5EF4-FFF2-40B4-BE49-F238E27FC236}">
                <a16:creationId xmlns:a16="http://schemas.microsoft.com/office/drawing/2014/main" id="{308F70BA-9B13-7795-AC58-F8910F2DF2F9}"/>
              </a:ext>
            </a:extLst>
          </p:cNvPr>
          <p:cNvSpPr/>
          <p:nvPr/>
        </p:nvSpPr>
        <p:spPr>
          <a:xfrm>
            <a:off x="3744189" y="457640"/>
            <a:ext cx="1807200" cy="8568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平台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137" name="文本占位符 1">
            <a:extLst>
              <a:ext uri="{FF2B5EF4-FFF2-40B4-BE49-F238E27FC236}">
                <a16:creationId xmlns:a16="http://schemas.microsoft.com/office/drawing/2014/main" id="{FB7694CD-428E-CFE6-0944-C37C162E2999}"/>
              </a:ext>
            </a:extLst>
          </p:cNvPr>
          <p:cNvSpPr txBox="1">
            <a:spLocks/>
          </p:cNvSpPr>
          <p:nvPr/>
        </p:nvSpPr>
        <p:spPr>
          <a:xfrm>
            <a:off x="9741225" y="-1365833"/>
            <a:ext cx="1807200" cy="49264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需求</a:t>
            </a:r>
            <a:endParaRPr lang="en-US" altLang="zh-CN" sz="1600" dirty="0"/>
          </a:p>
        </p:txBody>
      </p:sp>
      <p:sp>
        <p:nvSpPr>
          <p:cNvPr id="138" name="矩形: 圆角 21">
            <a:extLst>
              <a:ext uri="{FF2B5EF4-FFF2-40B4-BE49-F238E27FC236}">
                <a16:creationId xmlns:a16="http://schemas.microsoft.com/office/drawing/2014/main" id="{52E1047E-BD7E-886A-9C6B-DF7A10576CAB}"/>
              </a:ext>
            </a:extLst>
          </p:cNvPr>
          <p:cNvSpPr/>
          <p:nvPr/>
        </p:nvSpPr>
        <p:spPr>
          <a:xfrm>
            <a:off x="12862228" y="-1013820"/>
            <a:ext cx="1675660" cy="86533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歌单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1" name="矩形: 圆角 21">
            <a:extLst>
              <a:ext uri="{FF2B5EF4-FFF2-40B4-BE49-F238E27FC236}">
                <a16:creationId xmlns:a16="http://schemas.microsoft.com/office/drawing/2014/main" id="{203671AB-A91A-5867-B3B6-92FF1E1C9D06}"/>
              </a:ext>
            </a:extLst>
          </p:cNvPr>
          <p:cNvSpPr/>
          <p:nvPr/>
        </p:nvSpPr>
        <p:spPr>
          <a:xfrm>
            <a:off x="12865324" y="1923622"/>
            <a:ext cx="1675660" cy="856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新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（资产冷启）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7" name="矩形: 圆角 146">
            <a:extLst>
              <a:ext uri="{FF2B5EF4-FFF2-40B4-BE49-F238E27FC236}">
                <a16:creationId xmlns:a16="http://schemas.microsoft.com/office/drawing/2014/main" id="{EC94A663-0394-4138-0859-A818C75EDB0F}"/>
              </a:ext>
            </a:extLst>
          </p:cNvPr>
          <p:cNvSpPr/>
          <p:nvPr/>
        </p:nvSpPr>
        <p:spPr>
          <a:xfrm>
            <a:off x="8635116" y="-34673"/>
            <a:ext cx="4040411" cy="870117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秀晒炫、彰显品位获得身份认同、获得激励与反馈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9" name="矩形: 圆角 148">
            <a:extLst>
              <a:ext uri="{FF2B5EF4-FFF2-40B4-BE49-F238E27FC236}">
                <a16:creationId xmlns:a16="http://schemas.microsoft.com/office/drawing/2014/main" id="{DA9F0BEA-1C56-A3E1-2B5E-FDEDB422C398}"/>
              </a:ext>
            </a:extLst>
          </p:cNvPr>
          <p:cNvSpPr/>
          <p:nvPr/>
        </p:nvSpPr>
        <p:spPr>
          <a:xfrm>
            <a:off x="8630697" y="-1013818"/>
            <a:ext cx="4040411" cy="83159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0D0D0D"/>
                </a:solidFill>
                <a:latin typeface="+mn-ea"/>
              </a:rPr>
              <a:t>个性化精准决策。找到圈层、同好，表达个人情绪</a:t>
            </a:r>
            <a:endParaRPr lang="en-US" altLang="zh-CN" sz="16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F4C4BD1C-609C-11F0-AEA3-EDC7DA789B57}"/>
              </a:ext>
            </a:extLst>
          </p:cNvPr>
          <p:cNvSpPr/>
          <p:nvPr/>
        </p:nvSpPr>
        <p:spPr>
          <a:xfrm>
            <a:off x="8635115" y="1870687"/>
            <a:ext cx="4047819" cy="856800"/>
          </a:xfrm>
          <a:prstGeom prst="roundRect">
            <a:avLst>
              <a:gd name="adj" fmla="val 12921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用户需求集、用户画像集、用户对商家的标注集（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GC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、亮点）、算法训练数据集。可分发供给。收入增量场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F978EA85-5B3A-AC7E-65D3-E7A653B042A9}"/>
              </a:ext>
            </a:extLst>
          </p:cNvPr>
          <p:cNvCxnSpPr>
            <a:cxnSpLocks/>
            <a:stCxn id="133" idx="3"/>
            <a:endCxn id="134" idx="1"/>
          </p:cNvCxnSpPr>
          <p:nvPr/>
        </p:nvCxnSpPr>
        <p:spPr>
          <a:xfrm>
            <a:off x="3320894" y="3729778"/>
            <a:ext cx="25162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占位符 1">
            <a:extLst>
              <a:ext uri="{FF2B5EF4-FFF2-40B4-BE49-F238E27FC236}">
                <a16:creationId xmlns:a16="http://schemas.microsoft.com/office/drawing/2014/main" id="{3D87B445-6A98-116B-747A-E7375465C84B}"/>
              </a:ext>
            </a:extLst>
          </p:cNvPr>
          <p:cNvSpPr txBox="1">
            <a:spLocks/>
          </p:cNvSpPr>
          <p:nvPr/>
        </p:nvSpPr>
        <p:spPr>
          <a:xfrm>
            <a:off x="3676015" y="3400661"/>
            <a:ext cx="1806001" cy="329116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评分、评价</a:t>
            </a:r>
            <a:endParaRPr lang="en-US" altLang="zh-CN" sz="1600" dirty="0"/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53AFBD3A-C897-4741-0453-47C83ABE4380}"/>
              </a:ext>
            </a:extLst>
          </p:cNvPr>
          <p:cNvCxnSpPr>
            <a:cxnSpLocks/>
            <a:stCxn id="134" idx="0"/>
            <a:endCxn id="136" idx="3"/>
          </p:cNvCxnSpPr>
          <p:nvPr/>
        </p:nvCxnSpPr>
        <p:spPr>
          <a:xfrm flipH="1" flipV="1">
            <a:off x="5551389" y="886040"/>
            <a:ext cx="1189350" cy="24153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: 圆角 21">
            <a:extLst>
              <a:ext uri="{FF2B5EF4-FFF2-40B4-BE49-F238E27FC236}">
                <a16:creationId xmlns:a16="http://schemas.microsoft.com/office/drawing/2014/main" id="{B30217CB-9AB5-5F12-C2F9-A42844796211}"/>
              </a:ext>
            </a:extLst>
          </p:cNvPr>
          <p:cNvSpPr/>
          <p:nvPr/>
        </p:nvSpPr>
        <p:spPr>
          <a:xfrm>
            <a:off x="5837139" y="3943978"/>
            <a:ext cx="1316136" cy="31348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评分、评价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DF95D678-F98E-52A0-4FBA-9676992B67A1}"/>
              </a:ext>
            </a:extLst>
          </p:cNvPr>
          <p:cNvSpPr/>
          <p:nvPr/>
        </p:nvSpPr>
        <p:spPr>
          <a:xfrm>
            <a:off x="3765623" y="2299087"/>
            <a:ext cx="1807200" cy="8568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食单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B549AAB1-C7A4-2425-6F39-2932C2D80760}"/>
              </a:ext>
            </a:extLst>
          </p:cNvPr>
          <p:cNvCxnSpPr>
            <a:cxnSpLocks/>
            <a:stCxn id="133" idx="0"/>
            <a:endCxn id="27" idx="1"/>
          </p:cNvCxnSpPr>
          <p:nvPr/>
        </p:nvCxnSpPr>
        <p:spPr>
          <a:xfrm flipV="1">
            <a:off x="2417294" y="2727487"/>
            <a:ext cx="1348329" cy="5738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9231C013-31C7-ABE8-BBC4-C523F65243BA}"/>
              </a:ext>
            </a:extLst>
          </p:cNvPr>
          <p:cNvCxnSpPr>
            <a:cxnSpLocks/>
            <a:stCxn id="27" idx="3"/>
            <a:endCxn id="134" idx="0"/>
          </p:cNvCxnSpPr>
          <p:nvPr/>
        </p:nvCxnSpPr>
        <p:spPr>
          <a:xfrm>
            <a:off x="5572823" y="2727487"/>
            <a:ext cx="1167916" cy="5738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31240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7E8A35BB-4B76-77BD-2687-CA5D62F704A9}"/>
              </a:ext>
            </a:extLst>
          </p:cNvPr>
          <p:cNvSpPr/>
          <p:nvPr/>
        </p:nvSpPr>
        <p:spPr>
          <a:xfrm>
            <a:off x="-147884" y="674486"/>
            <a:ext cx="2818200" cy="4137703"/>
          </a:xfrm>
          <a:prstGeom prst="roundRect">
            <a:avLst>
              <a:gd name="adj" fmla="val 13287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个人食单</a:t>
            </a:r>
            <a:r>
              <a:rPr lang="en-US" altLang="zh-CN" sz="1200" dirty="0">
                <a:solidFill>
                  <a:schemeClr val="tx1"/>
                </a:solidFill>
              </a:rPr>
              <a:t>-</a:t>
            </a:r>
            <a:r>
              <a:rPr lang="zh-CN" altLang="en-US" sz="1200" dirty="0">
                <a:solidFill>
                  <a:schemeClr val="tx1"/>
                </a:solidFill>
              </a:rPr>
              <a:t>标题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164C37E6-B281-8D64-62AA-A48902E505E1}"/>
              </a:ext>
            </a:extLst>
          </p:cNvPr>
          <p:cNvSpPr/>
          <p:nvPr/>
        </p:nvSpPr>
        <p:spPr>
          <a:xfrm>
            <a:off x="779497" y="2077610"/>
            <a:ext cx="1260000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个人资产证据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5A91E257-490A-4E23-4C01-6955783B0B0A}"/>
              </a:ext>
            </a:extLst>
          </p:cNvPr>
          <p:cNvSpPr/>
          <p:nvPr/>
        </p:nvSpPr>
        <p:spPr>
          <a:xfrm>
            <a:off x="-24319" y="1140102"/>
            <a:ext cx="534695" cy="534695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535D2771-004C-85B0-81BD-0852AAD78769}"/>
              </a:ext>
            </a:extLst>
          </p:cNvPr>
          <p:cNvSpPr/>
          <p:nvPr/>
        </p:nvSpPr>
        <p:spPr>
          <a:xfrm>
            <a:off x="507788" y="1140101"/>
            <a:ext cx="534695" cy="534695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B98107EF-71A1-D508-1EFD-6D6DB193ACCF}"/>
              </a:ext>
            </a:extLst>
          </p:cNvPr>
          <p:cNvSpPr/>
          <p:nvPr/>
        </p:nvSpPr>
        <p:spPr>
          <a:xfrm>
            <a:off x="-116478" y="1526426"/>
            <a:ext cx="1377694" cy="15962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证据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身份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圈层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85FBC49-8CB7-A317-BB3B-AB429A242B68}"/>
              </a:ext>
            </a:extLst>
          </p:cNvPr>
          <p:cNvSpPr txBox="1"/>
          <p:nvPr/>
        </p:nvSpPr>
        <p:spPr>
          <a:xfrm>
            <a:off x="-212605" y="1268948"/>
            <a:ext cx="8739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/>
              <a:t>创建者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1CAE45D-23FA-9D81-0C69-D733FEC67C3E}"/>
              </a:ext>
            </a:extLst>
          </p:cNvPr>
          <p:cNvSpPr txBox="1"/>
          <p:nvPr/>
        </p:nvSpPr>
        <p:spPr>
          <a:xfrm>
            <a:off x="425793" y="1259298"/>
            <a:ext cx="7215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/>
              <a:t>共建者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793B05A5-3DDF-82A7-9254-11D1FAA04204}"/>
              </a:ext>
            </a:extLst>
          </p:cNvPr>
          <p:cNvSpPr/>
          <p:nvPr/>
        </p:nvSpPr>
        <p:spPr>
          <a:xfrm>
            <a:off x="4516" y="1790622"/>
            <a:ext cx="2541976" cy="2437448"/>
          </a:xfrm>
          <a:prstGeom prst="roundRect">
            <a:avLst>
              <a:gd name="adj" fmla="val 5167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5FE29916-48BF-6123-5610-1D7A2BC45EBF}"/>
              </a:ext>
            </a:extLst>
          </p:cNvPr>
          <p:cNvSpPr/>
          <p:nvPr/>
        </p:nvSpPr>
        <p:spPr>
          <a:xfrm>
            <a:off x="42954" y="1854709"/>
            <a:ext cx="693788" cy="62580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门店</a:t>
            </a:r>
            <a:endParaRPr lang="en-US" altLang="zh-CN" sz="1200" dirty="0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CB8951B0-B1E1-9C41-CC40-7770086F08D8}"/>
              </a:ext>
            </a:extLst>
          </p:cNvPr>
          <p:cNvSpPr/>
          <p:nvPr/>
        </p:nvSpPr>
        <p:spPr>
          <a:xfrm>
            <a:off x="2088811" y="2065056"/>
            <a:ext cx="390058" cy="43240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9BC2A81-F13C-9CEE-F197-C4EDC6AEAF93}"/>
              </a:ext>
            </a:extLst>
          </p:cNvPr>
          <p:cNvSpPr txBox="1"/>
          <p:nvPr/>
        </p:nvSpPr>
        <p:spPr>
          <a:xfrm>
            <a:off x="2073528" y="2096068"/>
            <a:ext cx="4576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用户状态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8BEDB1E4-E07C-4CFE-7D1B-70770F20419C}"/>
              </a:ext>
            </a:extLst>
          </p:cNvPr>
          <p:cNvSpPr/>
          <p:nvPr/>
        </p:nvSpPr>
        <p:spPr>
          <a:xfrm>
            <a:off x="985118" y="4375250"/>
            <a:ext cx="1476323" cy="34012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互动区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CEFEC85E-B22B-1DAB-882B-2753FF43B5DC}"/>
              </a:ext>
            </a:extLst>
          </p:cNvPr>
          <p:cNvSpPr/>
          <p:nvPr/>
        </p:nvSpPr>
        <p:spPr>
          <a:xfrm>
            <a:off x="775135" y="2300511"/>
            <a:ext cx="1260000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组合动态信息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5794EC17-7484-548F-EDCA-3885B1A3A437}"/>
              </a:ext>
            </a:extLst>
          </p:cNvPr>
          <p:cNvSpPr/>
          <p:nvPr/>
        </p:nvSpPr>
        <p:spPr>
          <a:xfrm>
            <a:off x="779497" y="1854709"/>
            <a:ext cx="1681944" cy="18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门店基本信息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60EBFE7C-E9E9-0F8A-F809-075062597B27}"/>
              </a:ext>
            </a:extLst>
          </p:cNvPr>
          <p:cNvSpPr/>
          <p:nvPr/>
        </p:nvSpPr>
        <p:spPr>
          <a:xfrm>
            <a:off x="1630290" y="1535515"/>
            <a:ext cx="960308" cy="14870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食单数据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357DC5A1-DC22-F542-EF55-FA68C7061AFE}"/>
              </a:ext>
            </a:extLst>
          </p:cNvPr>
          <p:cNvSpPr/>
          <p:nvPr/>
        </p:nvSpPr>
        <p:spPr>
          <a:xfrm>
            <a:off x="785077" y="2769981"/>
            <a:ext cx="1260000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消费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10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次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E53A6AAE-E372-E91A-B649-530BD6C774B4}"/>
              </a:ext>
            </a:extLst>
          </p:cNvPr>
          <p:cNvSpPr/>
          <p:nvPr/>
        </p:nvSpPr>
        <p:spPr>
          <a:xfrm>
            <a:off x="48534" y="2547080"/>
            <a:ext cx="693788" cy="62580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门店</a:t>
            </a:r>
            <a:endParaRPr lang="en-US" altLang="zh-CN" sz="1200" dirty="0"/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A1989A9F-4CA1-E168-6331-A24E5E4F11B8}"/>
              </a:ext>
            </a:extLst>
          </p:cNvPr>
          <p:cNvSpPr/>
          <p:nvPr/>
        </p:nvSpPr>
        <p:spPr>
          <a:xfrm>
            <a:off x="2094391" y="2757427"/>
            <a:ext cx="390058" cy="43240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7CF1D8E9-3C89-8557-8A7E-19D66FD411C7}"/>
              </a:ext>
            </a:extLst>
          </p:cNvPr>
          <p:cNvSpPr txBox="1"/>
          <p:nvPr/>
        </p:nvSpPr>
        <p:spPr>
          <a:xfrm>
            <a:off x="2067394" y="2777243"/>
            <a:ext cx="4576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用户状态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3017FC8C-EA76-BA19-9CCB-33982DA17770}"/>
              </a:ext>
            </a:extLst>
          </p:cNvPr>
          <p:cNvSpPr/>
          <p:nvPr/>
        </p:nvSpPr>
        <p:spPr>
          <a:xfrm>
            <a:off x="780715" y="2992882"/>
            <a:ext cx="1260000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有包间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/100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人跟吃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1231B92A-B914-2915-BDEC-D7659B7135B0}"/>
              </a:ext>
            </a:extLst>
          </p:cNvPr>
          <p:cNvSpPr/>
          <p:nvPr/>
        </p:nvSpPr>
        <p:spPr>
          <a:xfrm>
            <a:off x="785077" y="2547080"/>
            <a:ext cx="1681944" cy="18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xx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火锅店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3A452B8A-3EA3-B999-6F8E-7722007148F0}"/>
              </a:ext>
            </a:extLst>
          </p:cNvPr>
          <p:cNvSpPr/>
          <p:nvPr/>
        </p:nvSpPr>
        <p:spPr>
          <a:xfrm>
            <a:off x="1316986" y="1296946"/>
            <a:ext cx="1278055" cy="20822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个人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食单简介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80" name="文本占位符 1">
            <a:extLst>
              <a:ext uri="{FF2B5EF4-FFF2-40B4-BE49-F238E27FC236}">
                <a16:creationId xmlns:a16="http://schemas.microsoft.com/office/drawing/2014/main" id="{5939DF3F-F721-021F-42E4-3C9B9CFFCB8C}"/>
              </a:ext>
            </a:extLst>
          </p:cNvPr>
          <p:cNvSpPr txBox="1">
            <a:spLocks/>
          </p:cNvSpPr>
          <p:nvPr/>
        </p:nvSpPr>
        <p:spPr>
          <a:xfrm>
            <a:off x="247154" y="302386"/>
            <a:ext cx="2056699" cy="29965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食单页</a:t>
            </a:r>
            <a:endParaRPr lang="en-US" altLang="zh-CN" sz="1600" dirty="0"/>
          </a:p>
        </p:txBody>
      </p:sp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79468B9F-641B-CD05-E18E-2756AEAE4D21}"/>
              </a:ext>
            </a:extLst>
          </p:cNvPr>
          <p:cNvSpPr/>
          <p:nvPr/>
        </p:nvSpPr>
        <p:spPr>
          <a:xfrm>
            <a:off x="3120428" y="602036"/>
            <a:ext cx="2818200" cy="4137703"/>
          </a:xfrm>
          <a:prstGeom prst="roundRect">
            <a:avLst>
              <a:gd name="adj" fmla="val 13287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83" name="文本占位符 1">
            <a:extLst>
              <a:ext uri="{FF2B5EF4-FFF2-40B4-BE49-F238E27FC236}">
                <a16:creationId xmlns:a16="http://schemas.microsoft.com/office/drawing/2014/main" id="{DB537715-578D-CE4A-3894-4B4DFB11FB49}"/>
              </a:ext>
            </a:extLst>
          </p:cNvPr>
          <p:cNvSpPr txBox="1">
            <a:spLocks/>
          </p:cNvSpPr>
          <p:nvPr/>
        </p:nvSpPr>
        <p:spPr>
          <a:xfrm>
            <a:off x="3511340" y="229936"/>
            <a:ext cx="2056699" cy="29965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年度报告</a:t>
            </a:r>
            <a:endParaRPr lang="en-US" altLang="zh-CN" sz="1600" dirty="0"/>
          </a:p>
        </p:txBody>
      </p:sp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BBF27619-A675-C026-49DF-B07AF9AFD6EA}"/>
              </a:ext>
            </a:extLst>
          </p:cNvPr>
          <p:cNvSpPr/>
          <p:nvPr/>
        </p:nvSpPr>
        <p:spPr>
          <a:xfrm>
            <a:off x="6277266" y="577670"/>
            <a:ext cx="2818200" cy="4137703"/>
          </a:xfrm>
          <a:prstGeom prst="roundRect">
            <a:avLst>
              <a:gd name="adj" fmla="val 13287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89" name="文本占位符 1">
            <a:extLst>
              <a:ext uri="{FF2B5EF4-FFF2-40B4-BE49-F238E27FC236}">
                <a16:creationId xmlns:a16="http://schemas.microsoft.com/office/drawing/2014/main" id="{704B9C72-5EBC-B33A-CCBA-3C5041B642AC}"/>
              </a:ext>
            </a:extLst>
          </p:cNvPr>
          <p:cNvSpPr txBox="1">
            <a:spLocks/>
          </p:cNvSpPr>
          <p:nvPr/>
        </p:nvSpPr>
        <p:spPr>
          <a:xfrm>
            <a:off x="6668178" y="205570"/>
            <a:ext cx="2056699" cy="29965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集卡</a:t>
            </a:r>
            <a:endParaRPr lang="en-US" altLang="zh-CN" sz="1600" dirty="0"/>
          </a:p>
        </p:txBody>
      </p:sp>
      <p:sp>
        <p:nvSpPr>
          <p:cNvPr id="90" name="矩形: 圆角 89">
            <a:extLst>
              <a:ext uri="{FF2B5EF4-FFF2-40B4-BE49-F238E27FC236}">
                <a16:creationId xmlns:a16="http://schemas.microsoft.com/office/drawing/2014/main" id="{0F18D015-0736-0E54-ED4C-4971A398AC92}"/>
              </a:ext>
            </a:extLst>
          </p:cNvPr>
          <p:cNvSpPr/>
          <p:nvPr/>
        </p:nvSpPr>
        <p:spPr>
          <a:xfrm>
            <a:off x="9308333" y="577670"/>
            <a:ext cx="2818200" cy="4137703"/>
          </a:xfrm>
          <a:prstGeom prst="roundRect">
            <a:avLst>
              <a:gd name="adj" fmla="val 13287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91" name="文本占位符 1">
            <a:extLst>
              <a:ext uri="{FF2B5EF4-FFF2-40B4-BE49-F238E27FC236}">
                <a16:creationId xmlns:a16="http://schemas.microsoft.com/office/drawing/2014/main" id="{8EE7A361-9317-133A-72EE-EA85C1D90FBC}"/>
              </a:ext>
            </a:extLst>
          </p:cNvPr>
          <p:cNvSpPr txBox="1">
            <a:spLocks/>
          </p:cNvSpPr>
          <p:nvPr/>
        </p:nvSpPr>
        <p:spPr>
          <a:xfrm>
            <a:off x="9699245" y="205570"/>
            <a:ext cx="2056699" cy="29965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1600" dirty="0"/>
              <a:t>other</a:t>
            </a:r>
          </a:p>
        </p:txBody>
      </p:sp>
    </p:spTree>
    <p:extLst>
      <p:ext uri="{BB962C8B-B14F-4D97-AF65-F5344CB8AC3E}">
        <p14:creationId xmlns:p14="http://schemas.microsoft.com/office/powerpoint/2010/main" val="3502298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3A322F3-90B1-87BA-C7B6-1E22C521675F}"/>
              </a:ext>
            </a:extLst>
          </p:cNvPr>
          <p:cNvSpPr txBox="1">
            <a:spLocks/>
          </p:cNvSpPr>
          <p:nvPr/>
        </p:nvSpPr>
        <p:spPr>
          <a:xfrm>
            <a:off x="0" y="4358978"/>
            <a:ext cx="2056699" cy="29965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个性化分发</a:t>
            </a:r>
            <a:r>
              <a:rPr lang="en-US" altLang="zh-CN" sz="1600" dirty="0"/>
              <a:t>-</a:t>
            </a:r>
            <a:r>
              <a:rPr lang="zh-CN" altLang="en-US" sz="1600" dirty="0"/>
              <a:t>猜喜</a:t>
            </a:r>
            <a:endParaRPr lang="en-US" altLang="zh-CN" sz="1600" dirty="0"/>
          </a:p>
        </p:txBody>
      </p:sp>
      <p:sp>
        <p:nvSpPr>
          <p:cNvPr id="4" name="文本占位符 1">
            <a:extLst>
              <a:ext uri="{FF2B5EF4-FFF2-40B4-BE49-F238E27FC236}">
                <a16:creationId xmlns:a16="http://schemas.microsoft.com/office/drawing/2014/main" id="{6EB7ABA7-F120-97E6-516D-5345F31F6725}"/>
              </a:ext>
            </a:extLst>
          </p:cNvPr>
          <p:cNvSpPr txBox="1">
            <a:spLocks/>
          </p:cNvSpPr>
          <p:nvPr/>
        </p:nvSpPr>
        <p:spPr>
          <a:xfrm>
            <a:off x="2278079" y="4358978"/>
            <a:ext cx="2871436" cy="29965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大搜</a:t>
            </a:r>
            <a:r>
              <a:rPr lang="en-US" altLang="zh-CN" sz="1600" dirty="0"/>
              <a:t>-</a:t>
            </a:r>
            <a:r>
              <a:rPr lang="zh-CN" altLang="en-US" sz="1600" dirty="0"/>
              <a:t>需求词（承接已有</a:t>
            </a:r>
            <a:r>
              <a:rPr lang="en-US" altLang="zh-CN" sz="1600" dirty="0"/>
              <a:t>+</a:t>
            </a:r>
            <a:r>
              <a:rPr lang="zh-CN" altLang="en-US" sz="1600" dirty="0"/>
              <a:t>扩充）</a:t>
            </a:r>
            <a:endParaRPr lang="en-US" altLang="zh-CN" sz="1600" dirty="0"/>
          </a:p>
        </p:txBody>
      </p:sp>
      <p:sp>
        <p:nvSpPr>
          <p:cNvPr id="5" name="文本占位符 1">
            <a:extLst>
              <a:ext uri="{FF2B5EF4-FFF2-40B4-BE49-F238E27FC236}">
                <a16:creationId xmlns:a16="http://schemas.microsoft.com/office/drawing/2014/main" id="{15A00CD8-14B8-5026-AA9B-B5C338F2CE5F}"/>
              </a:ext>
            </a:extLst>
          </p:cNvPr>
          <p:cNvSpPr txBox="1">
            <a:spLocks/>
          </p:cNvSpPr>
          <p:nvPr/>
        </p:nvSpPr>
        <p:spPr>
          <a:xfrm>
            <a:off x="125348" y="2272100"/>
            <a:ext cx="1806001" cy="42840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用户</a:t>
            </a:r>
            <a:r>
              <a:rPr lang="en-US" altLang="zh-CN" sz="1600" dirty="0"/>
              <a:t>-</a:t>
            </a:r>
            <a:r>
              <a:rPr lang="zh-CN" altLang="en-US" sz="1600" dirty="0"/>
              <a:t>食单匹配</a:t>
            </a:r>
            <a:endParaRPr lang="en-US" altLang="zh-CN" sz="1600" dirty="0"/>
          </a:p>
        </p:txBody>
      </p:sp>
      <p:sp>
        <p:nvSpPr>
          <p:cNvPr id="6" name="文本占位符 1">
            <a:extLst>
              <a:ext uri="{FF2B5EF4-FFF2-40B4-BE49-F238E27FC236}">
                <a16:creationId xmlns:a16="http://schemas.microsoft.com/office/drawing/2014/main" id="{88F728C2-88F9-539B-0E2C-AD2AB5C5B299}"/>
              </a:ext>
            </a:extLst>
          </p:cNvPr>
          <p:cNvSpPr txBox="1">
            <a:spLocks/>
          </p:cNvSpPr>
          <p:nvPr/>
        </p:nvSpPr>
        <p:spPr>
          <a:xfrm>
            <a:off x="2562885" y="1723460"/>
            <a:ext cx="2301823" cy="42840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已有：品类</a:t>
            </a:r>
            <a:r>
              <a:rPr lang="en-US" altLang="zh-CN" sz="1600" dirty="0"/>
              <a:t>/</a:t>
            </a:r>
            <a:r>
              <a:rPr lang="zh-CN" altLang="en-US" sz="1600" dirty="0"/>
              <a:t>地址</a:t>
            </a:r>
            <a:r>
              <a:rPr lang="en-US" altLang="zh-CN" sz="1600" dirty="0"/>
              <a:t>/</a:t>
            </a:r>
            <a:r>
              <a:rPr lang="zh-CN" altLang="en-US" sz="1600" dirty="0"/>
              <a:t>菜品 </a:t>
            </a:r>
            <a:r>
              <a:rPr lang="en-US" altLang="zh-CN" sz="1600" dirty="0"/>
              <a:t>match </a:t>
            </a:r>
            <a:r>
              <a:rPr lang="zh-CN" altLang="en-US" sz="1600" dirty="0"/>
              <a:t>食单主题</a:t>
            </a:r>
            <a:endParaRPr lang="en-US" altLang="zh-CN" sz="1600" dirty="0"/>
          </a:p>
        </p:txBody>
      </p:sp>
      <p:sp>
        <p:nvSpPr>
          <p:cNvPr id="7" name="文本占位符 1">
            <a:extLst>
              <a:ext uri="{FF2B5EF4-FFF2-40B4-BE49-F238E27FC236}">
                <a16:creationId xmlns:a16="http://schemas.microsoft.com/office/drawing/2014/main" id="{2BB1E900-3A1E-F89A-A057-7AC077AAEDCE}"/>
              </a:ext>
            </a:extLst>
          </p:cNvPr>
          <p:cNvSpPr txBox="1">
            <a:spLocks/>
          </p:cNvSpPr>
          <p:nvPr/>
        </p:nvSpPr>
        <p:spPr>
          <a:xfrm>
            <a:off x="5370895" y="4358978"/>
            <a:ext cx="2871436" cy="29965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1600" dirty="0"/>
              <a:t>POI</a:t>
            </a:r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8F29D0D9-74A9-236E-1E6C-7C3CB747AE6A}"/>
              </a:ext>
            </a:extLst>
          </p:cNvPr>
          <p:cNvSpPr txBox="1">
            <a:spLocks/>
          </p:cNvSpPr>
          <p:nvPr/>
        </p:nvSpPr>
        <p:spPr>
          <a:xfrm>
            <a:off x="5728753" y="2272100"/>
            <a:ext cx="1806001" cy="42840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店</a:t>
            </a:r>
            <a:r>
              <a:rPr lang="en-US" altLang="zh-CN" sz="1600" dirty="0"/>
              <a:t>-</a:t>
            </a:r>
            <a:r>
              <a:rPr lang="zh-CN" altLang="en-US" sz="1600" dirty="0"/>
              <a:t>发现食单</a:t>
            </a:r>
            <a:endParaRPr lang="en-US" altLang="zh-CN" sz="1600" dirty="0"/>
          </a:p>
          <a:p>
            <a:pPr marL="0" indent="0" algn="ctr">
              <a:buNone/>
            </a:pPr>
            <a:r>
              <a:rPr lang="zh-CN" altLang="en-US" sz="1600" dirty="0"/>
              <a:t>店</a:t>
            </a:r>
            <a:r>
              <a:rPr lang="en-US" altLang="zh-CN" sz="1600" dirty="0"/>
              <a:t>-</a:t>
            </a:r>
            <a:r>
              <a:rPr lang="zh-CN" altLang="en-US" sz="1600" dirty="0"/>
              <a:t>用户评价</a:t>
            </a:r>
            <a:r>
              <a:rPr lang="en-US" altLang="zh-CN" sz="1600" dirty="0"/>
              <a:t>-</a:t>
            </a:r>
            <a:r>
              <a:rPr lang="zh-CN" altLang="en-US" sz="1600" dirty="0"/>
              <a:t>食单映射</a:t>
            </a:r>
            <a:endParaRPr lang="en-US" altLang="zh-CN" sz="1600" dirty="0"/>
          </a:p>
        </p:txBody>
      </p:sp>
      <p:sp>
        <p:nvSpPr>
          <p:cNvPr id="10" name="文本占位符 1">
            <a:extLst>
              <a:ext uri="{FF2B5EF4-FFF2-40B4-BE49-F238E27FC236}">
                <a16:creationId xmlns:a16="http://schemas.microsoft.com/office/drawing/2014/main" id="{40C9ECA3-CCF7-0B3A-1041-403E4DA39398}"/>
              </a:ext>
            </a:extLst>
          </p:cNvPr>
          <p:cNvSpPr txBox="1">
            <a:spLocks/>
          </p:cNvSpPr>
          <p:nvPr/>
        </p:nvSpPr>
        <p:spPr>
          <a:xfrm>
            <a:off x="2562884" y="2700500"/>
            <a:ext cx="2301823" cy="42840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扩充：场景</a:t>
            </a:r>
            <a:r>
              <a:rPr lang="en-US" altLang="zh-CN" sz="1600" dirty="0"/>
              <a:t>/</a:t>
            </a:r>
            <a:r>
              <a:rPr lang="zh-CN" altLang="en-US" sz="1600" dirty="0"/>
              <a:t>情绪等词</a:t>
            </a:r>
            <a:endParaRPr lang="en-US" altLang="zh-CN" sz="1600" dirty="0"/>
          </a:p>
        </p:txBody>
      </p:sp>
      <p:sp>
        <p:nvSpPr>
          <p:cNvPr id="13" name="文本占位符 1">
            <a:extLst>
              <a:ext uri="{FF2B5EF4-FFF2-40B4-BE49-F238E27FC236}">
                <a16:creationId xmlns:a16="http://schemas.microsoft.com/office/drawing/2014/main" id="{60F939C0-34C3-8AE8-CCCE-A904B60B4308}"/>
              </a:ext>
            </a:extLst>
          </p:cNvPr>
          <p:cNvSpPr txBox="1">
            <a:spLocks/>
          </p:cNvSpPr>
          <p:nvPr/>
        </p:nvSpPr>
        <p:spPr>
          <a:xfrm>
            <a:off x="7525129" y="4358978"/>
            <a:ext cx="2871436" cy="29965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美食</a:t>
            </a:r>
            <a:r>
              <a:rPr lang="en-US" altLang="zh-CN" sz="1600" dirty="0"/>
              <a:t>-</a:t>
            </a:r>
            <a:r>
              <a:rPr lang="zh-CN" altLang="en-US" sz="1600" dirty="0"/>
              <a:t>我的（创建者视角）</a:t>
            </a:r>
            <a:endParaRPr lang="en-US" altLang="zh-CN" sz="1600" dirty="0"/>
          </a:p>
        </p:txBody>
      </p:sp>
      <p:sp>
        <p:nvSpPr>
          <p:cNvPr id="14" name="文本占位符 1">
            <a:extLst>
              <a:ext uri="{FF2B5EF4-FFF2-40B4-BE49-F238E27FC236}">
                <a16:creationId xmlns:a16="http://schemas.microsoft.com/office/drawing/2014/main" id="{A5AB6331-91BC-137B-2E77-CA88B3169C7B}"/>
              </a:ext>
            </a:extLst>
          </p:cNvPr>
          <p:cNvSpPr txBox="1">
            <a:spLocks/>
          </p:cNvSpPr>
          <p:nvPr/>
        </p:nvSpPr>
        <p:spPr>
          <a:xfrm>
            <a:off x="7960210" y="2272100"/>
            <a:ext cx="1806001" cy="85680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食单</a:t>
            </a:r>
            <a:r>
              <a:rPr lang="en-US" altLang="zh-CN" sz="1600" dirty="0"/>
              <a:t>/</a:t>
            </a:r>
            <a:r>
              <a:rPr lang="zh-CN" altLang="en-US" sz="1600" dirty="0"/>
              <a:t>身份</a:t>
            </a:r>
            <a:r>
              <a:rPr lang="en-US" altLang="zh-CN" sz="1600" dirty="0"/>
              <a:t>/</a:t>
            </a:r>
            <a:r>
              <a:rPr lang="zh-CN" altLang="en-US" sz="1600" dirty="0"/>
              <a:t>勋章</a:t>
            </a:r>
            <a:endParaRPr lang="en-US" altLang="zh-CN" sz="1600" dirty="0"/>
          </a:p>
          <a:p>
            <a:pPr marL="0" indent="0" algn="ctr">
              <a:buNone/>
            </a:pPr>
            <a:r>
              <a:rPr lang="zh-CN" altLang="en-US" sz="1600" dirty="0"/>
              <a:t>“我可能喜欢”</a:t>
            </a:r>
            <a:endParaRPr lang="en-US" altLang="zh-CN" sz="1600" dirty="0"/>
          </a:p>
        </p:txBody>
      </p:sp>
      <p:sp>
        <p:nvSpPr>
          <p:cNvPr id="15" name="文本占位符 1">
            <a:extLst>
              <a:ext uri="{FF2B5EF4-FFF2-40B4-BE49-F238E27FC236}">
                <a16:creationId xmlns:a16="http://schemas.microsoft.com/office/drawing/2014/main" id="{CB901379-67EE-1DB6-FD4B-E64211F493BC}"/>
              </a:ext>
            </a:extLst>
          </p:cNvPr>
          <p:cNvSpPr txBox="1">
            <a:spLocks/>
          </p:cNvSpPr>
          <p:nvPr/>
        </p:nvSpPr>
        <p:spPr>
          <a:xfrm>
            <a:off x="12039735" y="4395878"/>
            <a:ext cx="2871436" cy="29965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榜单</a:t>
            </a:r>
            <a:endParaRPr lang="en-US" altLang="zh-CN" sz="1600" dirty="0"/>
          </a:p>
        </p:txBody>
      </p:sp>
      <p:sp>
        <p:nvSpPr>
          <p:cNvPr id="17" name="文本占位符 1">
            <a:extLst>
              <a:ext uri="{FF2B5EF4-FFF2-40B4-BE49-F238E27FC236}">
                <a16:creationId xmlns:a16="http://schemas.microsoft.com/office/drawing/2014/main" id="{6DB375C5-48BD-1FC1-DBEC-781287469A9D}"/>
              </a:ext>
            </a:extLst>
          </p:cNvPr>
          <p:cNvSpPr txBox="1">
            <a:spLocks/>
          </p:cNvSpPr>
          <p:nvPr/>
        </p:nvSpPr>
        <p:spPr>
          <a:xfrm>
            <a:off x="12490056" y="2272100"/>
            <a:ext cx="1806001" cy="42840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食单榜</a:t>
            </a:r>
            <a:r>
              <a:rPr lang="en-US" altLang="zh-CN" sz="1600" dirty="0"/>
              <a:t>/</a:t>
            </a:r>
            <a:r>
              <a:rPr lang="zh-CN" altLang="en-US" sz="1600" dirty="0"/>
              <a:t>食客榜</a:t>
            </a:r>
            <a:endParaRPr lang="en-US" altLang="zh-CN" sz="1600" dirty="0"/>
          </a:p>
        </p:txBody>
      </p:sp>
      <p:sp>
        <p:nvSpPr>
          <p:cNvPr id="9" name="文本占位符 1">
            <a:extLst>
              <a:ext uri="{FF2B5EF4-FFF2-40B4-BE49-F238E27FC236}">
                <a16:creationId xmlns:a16="http://schemas.microsoft.com/office/drawing/2014/main" id="{71B5BEE2-65E7-62D2-C0CF-0C44FE2E0292}"/>
              </a:ext>
            </a:extLst>
          </p:cNvPr>
          <p:cNvSpPr txBox="1">
            <a:spLocks/>
          </p:cNvSpPr>
          <p:nvPr/>
        </p:nvSpPr>
        <p:spPr>
          <a:xfrm>
            <a:off x="10071299" y="4358978"/>
            <a:ext cx="2871436" cy="29965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美食</a:t>
            </a:r>
            <a:r>
              <a:rPr lang="en-US" altLang="zh-CN" sz="1600" dirty="0"/>
              <a:t>-</a:t>
            </a:r>
            <a:r>
              <a:rPr lang="zh-CN" altLang="en-US" sz="1600" dirty="0"/>
              <a:t>我的（消费者视角）</a:t>
            </a:r>
            <a:endParaRPr lang="en-US" altLang="zh-CN" sz="1600" dirty="0"/>
          </a:p>
        </p:txBody>
      </p:sp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040B1F2F-F918-5FC1-1BCD-EE613736C969}"/>
              </a:ext>
            </a:extLst>
          </p:cNvPr>
          <p:cNvSpPr txBox="1">
            <a:spLocks/>
          </p:cNvSpPr>
          <p:nvPr/>
        </p:nvSpPr>
        <p:spPr>
          <a:xfrm>
            <a:off x="10506380" y="2272100"/>
            <a:ext cx="1806001" cy="85680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dirty="0"/>
              <a:t>统计</a:t>
            </a:r>
            <a:r>
              <a:rPr lang="en-US" altLang="zh-CN" sz="1600" dirty="0"/>
              <a:t>/</a:t>
            </a:r>
            <a:r>
              <a:rPr lang="zh-CN" altLang="en-US" sz="1600" dirty="0"/>
              <a:t>集卡</a:t>
            </a:r>
            <a:r>
              <a:rPr lang="en-US" altLang="zh-CN" sz="1600" dirty="0"/>
              <a:t>/</a:t>
            </a:r>
            <a:r>
              <a:rPr lang="zh-CN" altLang="en-US" sz="1600" dirty="0"/>
              <a:t>勋章</a:t>
            </a:r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40003224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图片 158">
            <a:extLst>
              <a:ext uri="{FF2B5EF4-FFF2-40B4-BE49-F238E27FC236}">
                <a16:creationId xmlns:a16="http://schemas.microsoft.com/office/drawing/2014/main" id="{715828CD-176B-7A07-67D6-727DD6B017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800" y="-9592104"/>
            <a:ext cx="9859850" cy="5658745"/>
          </a:xfrm>
          <a:prstGeom prst="rect">
            <a:avLst/>
          </a:prstGeom>
        </p:spPr>
      </p:pic>
      <p:sp>
        <p:nvSpPr>
          <p:cNvPr id="128" name="矩形: 圆角 127">
            <a:extLst>
              <a:ext uri="{FF2B5EF4-FFF2-40B4-BE49-F238E27FC236}">
                <a16:creationId xmlns:a16="http://schemas.microsoft.com/office/drawing/2014/main" id="{C58CE8F0-CCA1-2812-0BF4-64EF3CC72C0D}"/>
              </a:ext>
            </a:extLst>
          </p:cNvPr>
          <p:cNvSpPr/>
          <p:nvPr/>
        </p:nvSpPr>
        <p:spPr>
          <a:xfrm>
            <a:off x="2007133" y="1887129"/>
            <a:ext cx="4260892" cy="1768117"/>
          </a:xfrm>
          <a:prstGeom prst="roundRect">
            <a:avLst>
              <a:gd name="adj" fmla="val 697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5" imgW="0" imgH="0" progId="TCLayout.ActiveDocument.1">
                  <p:embed/>
                </p:oleObj>
              </mc:Choice>
              <mc:Fallback>
                <p:oleObj name="think-cell 幻灯片" r:id="rId5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" name="标题 12"/>
          <p:cNvSpPr>
            <a:spLocks noGrp="1"/>
          </p:cNvSpPr>
          <p:nvPr>
            <p:ph type="title"/>
          </p:nvPr>
        </p:nvSpPr>
        <p:spPr/>
        <p:txBody>
          <a:bodyPr vert="horz">
            <a:noAutofit/>
          </a:bodyPr>
          <a:lstStyle/>
          <a:p>
            <a:r>
              <a:rPr lang="zh-CN" altLang="en-US" sz="1200" b="1" dirty="0">
                <a:latin typeface="+mn-ea"/>
                <a:ea typeface="+mn-ea"/>
              </a:rPr>
              <a:t>目录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A1B3C51-C11C-8CDC-B70A-FC80155E75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3509294" y="-7217939"/>
            <a:ext cx="8290411" cy="5892356"/>
          </a:xfrm>
          <a:prstGeom prst="rect">
            <a:avLst/>
          </a:prstGeom>
        </p:spPr>
      </p:pic>
      <p:sp>
        <p:nvSpPr>
          <p:cNvPr id="11" name="箭头: 五边形 10">
            <a:extLst>
              <a:ext uri="{FF2B5EF4-FFF2-40B4-BE49-F238E27FC236}">
                <a16:creationId xmlns:a16="http://schemas.microsoft.com/office/drawing/2014/main" id="{B082F2F7-1068-A9FA-BC97-33D268400DF0}"/>
              </a:ext>
            </a:extLst>
          </p:cNvPr>
          <p:cNvSpPr/>
          <p:nvPr/>
        </p:nvSpPr>
        <p:spPr>
          <a:xfrm>
            <a:off x="12073487" y="-3042530"/>
            <a:ext cx="1512353" cy="257680"/>
          </a:xfrm>
          <a:prstGeom prst="homePlat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灵感激发</a:t>
            </a:r>
          </a:p>
        </p:txBody>
      </p:sp>
      <p:sp>
        <p:nvSpPr>
          <p:cNvPr id="32" name="箭头: V 形 31">
            <a:extLst>
              <a:ext uri="{FF2B5EF4-FFF2-40B4-BE49-F238E27FC236}">
                <a16:creationId xmlns:a16="http://schemas.microsoft.com/office/drawing/2014/main" id="{23B7E120-07A6-1E17-2C38-F1211F948EC2}"/>
              </a:ext>
            </a:extLst>
          </p:cNvPr>
          <p:cNvSpPr/>
          <p:nvPr/>
        </p:nvSpPr>
        <p:spPr>
          <a:xfrm>
            <a:off x="13828552" y="-3034138"/>
            <a:ext cx="1510416" cy="257680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信息获取</a:t>
            </a:r>
          </a:p>
        </p:txBody>
      </p:sp>
      <p:sp>
        <p:nvSpPr>
          <p:cNvPr id="33" name="箭头: V 形 32">
            <a:extLst>
              <a:ext uri="{FF2B5EF4-FFF2-40B4-BE49-F238E27FC236}">
                <a16:creationId xmlns:a16="http://schemas.microsoft.com/office/drawing/2014/main" id="{578D6870-D1E8-3DAC-323B-2CCE709222CC}"/>
              </a:ext>
            </a:extLst>
          </p:cNvPr>
          <p:cNvSpPr/>
          <p:nvPr/>
        </p:nvSpPr>
        <p:spPr>
          <a:xfrm>
            <a:off x="15579743" y="-3034138"/>
            <a:ext cx="1523730" cy="257680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对比选择</a:t>
            </a:r>
          </a:p>
        </p:txBody>
      </p:sp>
      <p:sp>
        <p:nvSpPr>
          <p:cNvPr id="34" name="箭头: V 形 33">
            <a:extLst>
              <a:ext uri="{FF2B5EF4-FFF2-40B4-BE49-F238E27FC236}">
                <a16:creationId xmlns:a16="http://schemas.microsoft.com/office/drawing/2014/main" id="{A57D9564-2307-01BC-C554-262A5E1E06B4}"/>
              </a:ext>
            </a:extLst>
          </p:cNvPr>
          <p:cNvSpPr/>
          <p:nvPr/>
        </p:nvSpPr>
        <p:spPr>
          <a:xfrm>
            <a:off x="17344247" y="-3034138"/>
            <a:ext cx="1512353" cy="257680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决策闭环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22E22ED-68B4-3641-2F15-3AF32D9C8A5F}"/>
              </a:ext>
            </a:extLst>
          </p:cNvPr>
          <p:cNvSpPr txBox="1"/>
          <p:nvPr/>
        </p:nvSpPr>
        <p:spPr>
          <a:xfrm>
            <a:off x="11414648" y="-2875170"/>
            <a:ext cx="4953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用户动线体验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6B80E4E-27ED-4A14-FF97-F290624B890F}"/>
              </a:ext>
            </a:extLst>
          </p:cNvPr>
          <p:cNvSpPr txBox="1"/>
          <p:nvPr/>
        </p:nvSpPr>
        <p:spPr>
          <a:xfrm>
            <a:off x="8892530" y="2675094"/>
            <a:ext cx="4953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榜单建设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38D451EC-16D1-A308-D849-283B61C34176}"/>
              </a:ext>
            </a:extLst>
          </p:cNvPr>
          <p:cNvSpPr/>
          <p:nvPr/>
        </p:nvSpPr>
        <p:spPr>
          <a:xfrm>
            <a:off x="12075423" y="-2669816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逛场景前置触达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9B71615D-9AE1-8154-EFCE-D4D49F1E2286}"/>
              </a:ext>
            </a:extLst>
          </p:cNvPr>
          <p:cNvSpPr/>
          <p:nvPr/>
        </p:nvSpPr>
        <p:spPr>
          <a:xfrm>
            <a:off x="17445085" y="-4801529"/>
            <a:ext cx="1512353" cy="427313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搜索比较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榜单页筛选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A0E6F357-F58D-8096-BEC3-7F07760C29B3}"/>
              </a:ext>
            </a:extLst>
          </p:cNvPr>
          <p:cNvSpPr/>
          <p:nvPr/>
        </p:nvSpPr>
        <p:spPr>
          <a:xfrm>
            <a:off x="13836159" y="-2669816"/>
            <a:ext cx="1521792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动线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x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榜单标签展示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4C87D21C-163C-E8E1-40B3-8831B4E3B853}"/>
              </a:ext>
            </a:extLst>
          </p:cNvPr>
          <p:cNvSpPr/>
          <p:nvPr/>
        </p:nvSpPr>
        <p:spPr>
          <a:xfrm>
            <a:off x="17344248" y="-2674617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履约产品组合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94298399-2182-A10B-64D4-F85F11573FAE}"/>
              </a:ext>
            </a:extLst>
          </p:cNvPr>
          <p:cNvSpPr/>
          <p:nvPr/>
        </p:nvSpPr>
        <p:spPr>
          <a:xfrm>
            <a:off x="21797876" y="-3318880"/>
            <a:ext cx="6960194" cy="2128937"/>
          </a:xfrm>
          <a:prstGeom prst="roundRect">
            <a:avLst>
              <a:gd name="adj" fmla="val 5571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8A64C5C6-87EA-13FE-E519-66D0D0018055}"/>
              </a:ext>
            </a:extLst>
          </p:cNvPr>
          <p:cNvSpPr txBox="1"/>
          <p:nvPr/>
        </p:nvSpPr>
        <p:spPr>
          <a:xfrm>
            <a:off x="9526619" y="-2925601"/>
            <a:ext cx="4953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决策环节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20DB24A-E215-28DB-3B37-DD09F60ED16D}"/>
              </a:ext>
            </a:extLst>
          </p:cNvPr>
          <p:cNvSpPr/>
          <p:nvPr/>
        </p:nvSpPr>
        <p:spPr>
          <a:xfrm>
            <a:off x="21872673" y="-2610182"/>
            <a:ext cx="1512353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区域</a:t>
            </a:r>
            <a:r>
              <a:rPr lang="en-US" altLang="zh-CN" sz="1200" dirty="0">
                <a:solidFill>
                  <a:schemeClr val="tx1"/>
                </a:solidFill>
              </a:rPr>
              <a:t>x</a:t>
            </a:r>
            <a:r>
              <a:rPr lang="zh-CN" altLang="en-US" sz="1200" dirty="0">
                <a:solidFill>
                  <a:schemeClr val="tx1"/>
                </a:solidFill>
              </a:rPr>
              <a:t>主题</a:t>
            </a:r>
            <a:r>
              <a:rPr lang="en-US" altLang="zh-CN" sz="1200" dirty="0">
                <a:solidFill>
                  <a:schemeClr val="tx1"/>
                </a:solidFill>
              </a:rPr>
              <a:t>x</a:t>
            </a:r>
            <a:r>
              <a:rPr lang="zh-CN" altLang="en-US" sz="1200" dirty="0">
                <a:solidFill>
                  <a:schemeClr val="tx1"/>
                </a:solidFill>
              </a:rPr>
              <a:t>供给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/>
          </a:p>
          <a:p>
            <a:pPr algn="ctr"/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优先节日场景，逐渐完善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894D3FD-BF09-99B7-602D-3387AB5D2EBB}"/>
              </a:ext>
            </a:extLst>
          </p:cNvPr>
          <p:cNvSpPr/>
          <p:nvPr/>
        </p:nvSpPr>
        <p:spPr>
          <a:xfrm>
            <a:off x="-2679482" y="0"/>
            <a:ext cx="1195011" cy="17681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品类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zh-CN" altLang="en-US" sz="1200" dirty="0"/>
              <a:t>地址</a:t>
            </a:r>
            <a:endParaRPr lang="en-US" altLang="zh-CN" sz="1200" dirty="0"/>
          </a:p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菜品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A3534B3-2320-6866-F3B4-A21000B4DA93}"/>
              </a:ext>
            </a:extLst>
          </p:cNvPr>
          <p:cNvSpPr/>
          <p:nvPr/>
        </p:nvSpPr>
        <p:spPr>
          <a:xfrm>
            <a:off x="25378928" y="-2603753"/>
            <a:ext cx="3276857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交易</a:t>
            </a:r>
            <a:r>
              <a:rPr lang="en-US" altLang="zh-CN" sz="1200" dirty="0"/>
              <a:t>/GC/</a:t>
            </a:r>
            <a:r>
              <a:rPr lang="zh-CN" altLang="en-US" sz="1200" dirty="0"/>
              <a:t>履约</a:t>
            </a:r>
            <a:r>
              <a:rPr lang="en-US" altLang="zh-CN" sz="1200" dirty="0"/>
              <a:t>/</a:t>
            </a:r>
            <a:r>
              <a:rPr lang="zh-CN" altLang="en-US" sz="1200" dirty="0"/>
              <a:t>用户行为</a:t>
            </a:r>
            <a:endParaRPr lang="en-US" altLang="zh-CN" sz="1200" dirty="0"/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规则算法优化、更匹配物理世界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E0E4B88C-8445-D05C-710B-2D11628A402D}"/>
              </a:ext>
            </a:extLst>
          </p:cNvPr>
          <p:cNvSpPr txBox="1"/>
          <p:nvPr/>
        </p:nvSpPr>
        <p:spPr>
          <a:xfrm>
            <a:off x="7520739" y="-1925747"/>
            <a:ext cx="28523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latin typeface="+mn-ea"/>
              </a:rPr>
              <a:t>主</a:t>
            </a:r>
            <a:r>
              <a:rPr lang="en-US" altLang="zh-CN" sz="1800" dirty="0">
                <a:latin typeface="+mn-ea"/>
              </a:rPr>
              <a:t>-</a:t>
            </a:r>
            <a:r>
              <a:rPr lang="zh-CN" altLang="en-US" sz="1800" dirty="0">
                <a:latin typeface="+mn-ea"/>
              </a:rPr>
              <a:t>入围：</a:t>
            </a:r>
            <a:r>
              <a:rPr lang="en-US" altLang="zh-CN" sz="1800" dirty="0">
                <a:latin typeface="+mn-ea"/>
              </a:rPr>
              <a:t>UGC</a:t>
            </a:r>
            <a:r>
              <a:rPr lang="zh-CN" altLang="en-US" sz="1800" dirty="0">
                <a:latin typeface="+mn-ea"/>
              </a:rPr>
              <a:t>挖掘主题相关度。辅</a:t>
            </a:r>
            <a:r>
              <a:rPr lang="en-US" altLang="zh-CN" sz="1800" dirty="0">
                <a:latin typeface="+mn-ea"/>
              </a:rPr>
              <a:t>-</a:t>
            </a:r>
            <a:r>
              <a:rPr lang="zh-CN" altLang="en-US" sz="1800" dirty="0">
                <a:latin typeface="+mn-ea"/>
              </a:rPr>
              <a:t>排序：</a:t>
            </a:r>
            <a:r>
              <a:rPr lang="en-US" altLang="zh-CN" sz="1800" dirty="0">
                <a:latin typeface="+mn-ea"/>
              </a:rPr>
              <a:t>B(D)GC</a:t>
            </a:r>
            <a:r>
              <a:rPr lang="zh-CN" altLang="en-US" sz="1800" dirty="0">
                <a:latin typeface="+mn-ea"/>
              </a:rPr>
              <a:t>信息标签</a:t>
            </a:r>
            <a:r>
              <a:rPr lang="en-US" altLang="zh-CN" sz="1800" dirty="0">
                <a:latin typeface="+mn-ea"/>
              </a:rPr>
              <a:t>+</a:t>
            </a:r>
            <a:r>
              <a:rPr lang="zh-CN" altLang="en-US" sz="1800" dirty="0">
                <a:latin typeface="+mn-ea"/>
              </a:rPr>
              <a:t>用户行为资产</a:t>
            </a:r>
            <a:r>
              <a:rPr lang="en-US" altLang="zh-CN" sz="1800" dirty="0">
                <a:latin typeface="+mn-ea"/>
              </a:rPr>
              <a:t>+</a:t>
            </a:r>
            <a:r>
              <a:rPr lang="zh-CN" altLang="en-US" sz="1800" dirty="0">
                <a:latin typeface="+mn-ea"/>
              </a:rPr>
              <a:t>（交履服务）</a:t>
            </a:r>
            <a:r>
              <a:rPr lang="en-US" altLang="zh-CN" sz="1800" dirty="0">
                <a:latin typeface="+mn-ea"/>
              </a:rPr>
              <a:t>	</a:t>
            </a:r>
            <a:endParaRPr lang="zh-CN" altLang="en-US" sz="1800" dirty="0">
              <a:latin typeface="+mn-ea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7566BC90-687D-1CCA-F15D-B4583002D94B}"/>
              </a:ext>
            </a:extLst>
          </p:cNvPr>
          <p:cNvSpPr/>
          <p:nvPr/>
        </p:nvSpPr>
        <p:spPr>
          <a:xfrm>
            <a:off x="21872672" y="-3108209"/>
            <a:ext cx="3265481" cy="3938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榜单矩阵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C83E41F-2D3A-D90D-D9AA-463CF0B6F26E}"/>
              </a:ext>
            </a:extLst>
          </p:cNvPr>
          <p:cNvSpPr/>
          <p:nvPr/>
        </p:nvSpPr>
        <p:spPr>
          <a:xfrm>
            <a:off x="25378928" y="-3108209"/>
            <a:ext cx="3276856" cy="3938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资产引用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94677B64-3188-EE25-5C1A-2BDACB69A98B}"/>
              </a:ext>
            </a:extLst>
          </p:cNvPr>
          <p:cNvSpPr txBox="1"/>
          <p:nvPr/>
        </p:nvSpPr>
        <p:spPr>
          <a:xfrm>
            <a:off x="25118206" y="-3046650"/>
            <a:ext cx="3091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/>
                </a:solidFill>
              </a:rPr>
              <a:t>x</a:t>
            </a:r>
            <a:endParaRPr lang="zh-CN" altLang="en-US" sz="1200" dirty="0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8F1B5AC7-0D6D-FAC6-6633-B45689E5DA13}"/>
              </a:ext>
            </a:extLst>
          </p:cNvPr>
          <p:cNvSpPr/>
          <p:nvPr/>
        </p:nvSpPr>
        <p:spPr>
          <a:xfrm>
            <a:off x="23625800" y="-2600524"/>
            <a:ext cx="1512354" cy="12540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区域</a:t>
            </a:r>
            <a:r>
              <a:rPr lang="en-US" altLang="zh-CN" sz="1200" dirty="0">
                <a:solidFill>
                  <a:schemeClr val="tx1"/>
                </a:solidFill>
              </a:rPr>
              <a:t>x</a:t>
            </a:r>
            <a:r>
              <a:rPr lang="zh-CN" altLang="en-US" sz="1200" dirty="0">
                <a:solidFill>
                  <a:schemeClr val="tx1"/>
                </a:solidFill>
              </a:rPr>
              <a:t>品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菜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地</a:t>
            </a:r>
            <a:r>
              <a:rPr lang="en-US" altLang="zh-CN" sz="1200" dirty="0">
                <a:solidFill>
                  <a:schemeClr val="tx1"/>
                </a:solidFill>
              </a:rPr>
              <a:t>x</a:t>
            </a:r>
            <a:r>
              <a:rPr lang="zh-CN" altLang="en-US" sz="1200" dirty="0">
                <a:solidFill>
                  <a:schemeClr val="tx1"/>
                </a:solidFill>
              </a:rPr>
              <a:t>供给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/>
          </a:p>
          <a:p>
            <a:pPr algn="ctr"/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完善可比维度、优化密度</a:t>
            </a:r>
          </a:p>
        </p:txBody>
      </p:sp>
      <p:sp>
        <p:nvSpPr>
          <p:cNvPr id="130" name="矩形: 圆角 129">
            <a:extLst>
              <a:ext uri="{FF2B5EF4-FFF2-40B4-BE49-F238E27FC236}">
                <a16:creationId xmlns:a16="http://schemas.microsoft.com/office/drawing/2014/main" id="{AA3B15C7-5997-2681-E82D-AF7D099C1E73}"/>
              </a:ext>
            </a:extLst>
          </p:cNvPr>
          <p:cNvSpPr/>
          <p:nvPr/>
        </p:nvSpPr>
        <p:spPr>
          <a:xfrm>
            <a:off x="11988341" y="-3193077"/>
            <a:ext cx="8780603" cy="1473871"/>
          </a:xfrm>
          <a:prstGeom prst="round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086BA3E-D8FA-3FB1-CC50-4C4D6EFD3EA6}"/>
              </a:ext>
            </a:extLst>
          </p:cNvPr>
          <p:cNvSpPr/>
          <p:nvPr/>
        </p:nvSpPr>
        <p:spPr>
          <a:xfrm>
            <a:off x="2007133" y="313202"/>
            <a:ext cx="1512353" cy="25768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灵感激发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71DAF3B6-4CB1-119E-5917-D1AD79C215D6}"/>
              </a:ext>
            </a:extLst>
          </p:cNvPr>
          <p:cNvSpPr/>
          <p:nvPr/>
        </p:nvSpPr>
        <p:spPr>
          <a:xfrm>
            <a:off x="3762198" y="321594"/>
            <a:ext cx="1510416" cy="25768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对比选择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A2226173-B064-10F5-671E-5CE7F2E7B6B8}"/>
              </a:ext>
            </a:extLst>
          </p:cNvPr>
          <p:cNvSpPr/>
          <p:nvPr/>
        </p:nvSpPr>
        <p:spPr>
          <a:xfrm>
            <a:off x="5513389" y="321594"/>
            <a:ext cx="1523730" cy="25768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信息获取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8DD8360D-64E3-FA4D-6F0A-5243C3CC46BF}"/>
              </a:ext>
            </a:extLst>
          </p:cNvPr>
          <p:cNvSpPr/>
          <p:nvPr/>
        </p:nvSpPr>
        <p:spPr>
          <a:xfrm>
            <a:off x="7277893" y="321594"/>
            <a:ext cx="1512353" cy="25768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决策闭环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21081550-D28B-7179-BDFF-99C850279892}"/>
              </a:ext>
            </a:extLst>
          </p:cNvPr>
          <p:cNvSpPr txBox="1"/>
          <p:nvPr/>
        </p:nvSpPr>
        <p:spPr>
          <a:xfrm>
            <a:off x="1191933" y="990405"/>
            <a:ext cx="4953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用户体验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6499909-7223-718F-3130-626FB4E9742C}"/>
              </a:ext>
            </a:extLst>
          </p:cNvPr>
          <p:cNvSpPr txBox="1"/>
          <p:nvPr/>
        </p:nvSpPr>
        <p:spPr>
          <a:xfrm>
            <a:off x="1180156" y="2546431"/>
            <a:ext cx="4953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榜单建设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ED29BFF8-F7E2-E564-6F05-DA0D4FA6ED38}"/>
              </a:ext>
            </a:extLst>
          </p:cNvPr>
          <p:cNvSpPr/>
          <p:nvPr/>
        </p:nvSpPr>
        <p:spPr>
          <a:xfrm>
            <a:off x="2009069" y="990405"/>
            <a:ext cx="1512353" cy="42731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逛场景前置触达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内容化表达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0EEB0353-0F86-B51F-3DDE-C26D11EB4381}"/>
              </a:ext>
            </a:extLst>
          </p:cNvPr>
          <p:cNvSpPr/>
          <p:nvPr/>
        </p:nvSpPr>
        <p:spPr>
          <a:xfrm>
            <a:off x="3762198" y="990405"/>
            <a:ext cx="1512353" cy="42731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搜索比较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榜单页筛选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0580CD63-8D3A-7060-E6AD-D0261C7B4108}"/>
              </a:ext>
            </a:extLst>
          </p:cNvPr>
          <p:cNvSpPr/>
          <p:nvPr/>
        </p:nvSpPr>
        <p:spPr>
          <a:xfrm>
            <a:off x="5515327" y="990405"/>
            <a:ext cx="1521792" cy="42731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榜单标签展示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资产表达强化</a:t>
            </a: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8421A19-DC56-3717-6BDE-108FD49DEB1C}"/>
              </a:ext>
            </a:extLst>
          </p:cNvPr>
          <p:cNvSpPr/>
          <p:nvPr/>
        </p:nvSpPr>
        <p:spPr>
          <a:xfrm>
            <a:off x="7277894" y="999836"/>
            <a:ext cx="1512353" cy="42731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履约产品组合</a:t>
            </a: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2DA01867-2B6E-D6BE-B109-4F71AC5AEF8A}"/>
              </a:ext>
            </a:extLst>
          </p:cNvPr>
          <p:cNvSpPr/>
          <p:nvPr/>
        </p:nvSpPr>
        <p:spPr>
          <a:xfrm>
            <a:off x="1932336" y="1676458"/>
            <a:ext cx="6960194" cy="2128937"/>
          </a:xfrm>
          <a:prstGeom prst="roundRect">
            <a:avLst>
              <a:gd name="adj" fmla="val 5571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9C02FAB8-D801-D2A6-59EF-53732B34761B}"/>
              </a:ext>
            </a:extLst>
          </p:cNvPr>
          <p:cNvSpPr txBox="1"/>
          <p:nvPr/>
        </p:nvSpPr>
        <p:spPr>
          <a:xfrm>
            <a:off x="1183975" y="210035"/>
            <a:ext cx="4953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灵感激发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20EB383-106E-64F1-F789-E6A48AFAB048}"/>
              </a:ext>
            </a:extLst>
          </p:cNvPr>
          <p:cNvSpPr/>
          <p:nvPr/>
        </p:nvSpPr>
        <p:spPr>
          <a:xfrm>
            <a:off x="12119824" y="-1510129"/>
            <a:ext cx="2657030" cy="3938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IP</a:t>
            </a:r>
            <a:r>
              <a:rPr lang="zh-CN" altLang="en-US" sz="1200" dirty="0">
                <a:solidFill>
                  <a:schemeClr val="tx1"/>
                </a:solidFill>
              </a:rPr>
              <a:t>榜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扩大心智影响力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250CE805-491A-63DF-6BE4-8E1F5BA1FE57}"/>
              </a:ext>
            </a:extLst>
          </p:cNvPr>
          <p:cNvSpPr/>
          <p:nvPr/>
        </p:nvSpPr>
        <p:spPr>
          <a:xfrm>
            <a:off x="6726800" y="2391585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交易</a:t>
            </a:r>
            <a:r>
              <a:rPr lang="en-US" altLang="zh-CN" sz="1200" dirty="0"/>
              <a:t>/GC/</a:t>
            </a:r>
            <a:r>
              <a:rPr lang="zh-CN" altLang="en-US" sz="1200" dirty="0"/>
              <a:t>履约</a:t>
            </a:r>
            <a:r>
              <a:rPr lang="en-US" altLang="zh-CN" sz="1200" dirty="0"/>
              <a:t>/</a:t>
            </a:r>
            <a:r>
              <a:rPr lang="zh-CN" altLang="en-US" sz="1200" dirty="0"/>
              <a:t>用户行为</a:t>
            </a:r>
            <a:endParaRPr lang="en-US" altLang="zh-CN" sz="1200" dirty="0"/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规则算法优化、更匹配物理世界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E62F29FD-A0C6-9A80-A0A0-7F7D146EFA95}"/>
              </a:ext>
            </a:extLst>
          </p:cNvPr>
          <p:cNvSpPr/>
          <p:nvPr/>
        </p:nvSpPr>
        <p:spPr>
          <a:xfrm>
            <a:off x="6726800" y="1887129"/>
            <a:ext cx="2063443" cy="3938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资产引用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5052955E-874A-B998-C5FD-01AC02498916}"/>
              </a:ext>
            </a:extLst>
          </p:cNvPr>
          <p:cNvSpPr txBox="1"/>
          <p:nvPr/>
        </p:nvSpPr>
        <p:spPr>
          <a:xfrm>
            <a:off x="6384277" y="1945565"/>
            <a:ext cx="3091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/>
                </a:solidFill>
              </a:rPr>
              <a:t>x</a:t>
            </a:r>
            <a:endParaRPr lang="zh-CN" altLang="en-US" sz="1200" dirty="0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2712FA0B-17C3-10E3-D2E6-97F63A744DCC}"/>
              </a:ext>
            </a:extLst>
          </p:cNvPr>
          <p:cNvSpPr/>
          <p:nvPr/>
        </p:nvSpPr>
        <p:spPr>
          <a:xfrm>
            <a:off x="15011665" y="-1513364"/>
            <a:ext cx="2700000" cy="4248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场景榜</a:t>
            </a:r>
            <a:endParaRPr lang="en-US" altLang="zh-CN" sz="1200">
              <a:solidFill>
                <a:schemeClr val="tx1"/>
              </a:solidFill>
            </a:endParaRPr>
          </a:p>
          <a:p>
            <a:pPr algn="ctr"/>
            <a:r>
              <a:rPr lang="zh-CN" altLang="en-US" sz="1200">
                <a:solidFill>
                  <a:schemeClr val="bg1">
                    <a:lumMod val="50000"/>
                  </a:schemeClr>
                </a:solidFill>
              </a:rPr>
              <a:t>提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满意、建心智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B8274FFD-4B17-97D0-9B23-93C0376E8A7D}"/>
              </a:ext>
            </a:extLst>
          </p:cNvPr>
          <p:cNvSpPr/>
          <p:nvPr/>
        </p:nvSpPr>
        <p:spPr>
          <a:xfrm>
            <a:off x="1921988" y="152064"/>
            <a:ext cx="6970542" cy="579602"/>
          </a:xfrm>
          <a:prstGeom prst="round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9BD3D361-BD97-8B1C-F53B-14FB281D1865}"/>
              </a:ext>
            </a:extLst>
          </p:cNvPr>
          <p:cNvSpPr/>
          <p:nvPr/>
        </p:nvSpPr>
        <p:spPr>
          <a:xfrm>
            <a:off x="1921987" y="902426"/>
            <a:ext cx="6970543" cy="579602"/>
          </a:xfrm>
          <a:prstGeom prst="round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2" name="矩形: 圆角 131">
            <a:extLst>
              <a:ext uri="{FF2B5EF4-FFF2-40B4-BE49-F238E27FC236}">
                <a16:creationId xmlns:a16="http://schemas.microsoft.com/office/drawing/2014/main" id="{3E63FEFD-E514-464A-C130-602534614A39}"/>
              </a:ext>
            </a:extLst>
          </p:cNvPr>
          <p:cNvSpPr/>
          <p:nvPr/>
        </p:nvSpPr>
        <p:spPr>
          <a:xfrm>
            <a:off x="2009997" y="1893912"/>
            <a:ext cx="4258028" cy="42731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榜单矩阵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6E777B9D-FF33-345F-DB3D-E189208670AF}"/>
              </a:ext>
            </a:extLst>
          </p:cNvPr>
          <p:cNvSpPr/>
          <p:nvPr/>
        </p:nvSpPr>
        <p:spPr>
          <a:xfrm>
            <a:off x="17956875" y="-1513364"/>
            <a:ext cx="2700000" cy="4248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指数</a:t>
            </a:r>
            <a:r>
              <a:rPr lang="zh-CN" altLang="en-US" sz="1200" dirty="0"/>
              <a:t>榜</a:t>
            </a:r>
            <a:endParaRPr lang="en-US" altLang="zh-CN" sz="1200"/>
          </a:p>
          <a:p>
            <a:pPr algn="ctr"/>
            <a:r>
              <a:rPr lang="zh-CN" altLang="en-U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守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约束、调结构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6" name="矩形: 圆角 135">
            <a:extLst>
              <a:ext uri="{FF2B5EF4-FFF2-40B4-BE49-F238E27FC236}">
                <a16:creationId xmlns:a16="http://schemas.microsoft.com/office/drawing/2014/main" id="{83EFB908-197D-A82F-B4BE-E839E3A156A6}"/>
              </a:ext>
            </a:extLst>
          </p:cNvPr>
          <p:cNvSpPr/>
          <p:nvPr/>
        </p:nvSpPr>
        <p:spPr>
          <a:xfrm>
            <a:off x="1892205" y="3865918"/>
            <a:ext cx="6960194" cy="989582"/>
          </a:xfrm>
          <a:prstGeom prst="roundRect">
            <a:avLst>
              <a:gd name="adj" fmla="val 5571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9E452F89-BE69-8B07-7C0B-82B46B9503D7}"/>
              </a:ext>
            </a:extLst>
          </p:cNvPr>
          <p:cNvSpPr txBox="1"/>
          <p:nvPr/>
        </p:nvSpPr>
        <p:spPr>
          <a:xfrm>
            <a:off x="1881855" y="3801608"/>
            <a:ext cx="69705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AI</a:t>
            </a:r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提效</a:t>
            </a:r>
            <a:endParaRPr lang="en-US" altLang="zh-CN" sz="1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46F90CE4-E849-C287-6844-A78C0E8FD320}"/>
              </a:ext>
            </a:extLst>
          </p:cNvPr>
          <p:cNvSpPr/>
          <p:nvPr/>
        </p:nvSpPr>
        <p:spPr>
          <a:xfrm>
            <a:off x="10019996" y="4858895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锁核心商户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956A023C-1995-1F12-963E-6FB24035B34D}"/>
              </a:ext>
            </a:extLst>
          </p:cNvPr>
          <p:cNvSpPr/>
          <p:nvPr/>
        </p:nvSpPr>
        <p:spPr>
          <a:xfrm>
            <a:off x="10019996" y="4354439"/>
            <a:ext cx="4235028" cy="3354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</a:rPr>
              <a:t>toB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77B6FCE0-222C-97FE-4664-E139DEE86C72}"/>
              </a:ext>
            </a:extLst>
          </p:cNvPr>
          <p:cNvSpPr/>
          <p:nvPr/>
        </p:nvSpPr>
        <p:spPr>
          <a:xfrm>
            <a:off x="10019994" y="6290371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牵引交履覆盖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9C0EE5CE-37ED-AEC0-DF59-1FBC895C3985}"/>
              </a:ext>
            </a:extLst>
          </p:cNvPr>
          <p:cNvSpPr/>
          <p:nvPr/>
        </p:nvSpPr>
        <p:spPr>
          <a:xfrm>
            <a:off x="12191579" y="4831975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提店推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AC84B162-C388-F8AE-A5A5-BF1C27F7BEAA}"/>
              </a:ext>
            </a:extLst>
          </p:cNvPr>
          <p:cNvSpPr/>
          <p:nvPr/>
        </p:nvSpPr>
        <p:spPr>
          <a:xfrm>
            <a:off x="12191579" y="6311662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沉淀用户资产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539A788B-BC9B-5CFE-9EBC-AD69784AA65A}"/>
              </a:ext>
            </a:extLst>
          </p:cNvPr>
          <p:cNvSpPr/>
          <p:nvPr/>
        </p:nvSpPr>
        <p:spPr>
          <a:xfrm>
            <a:off x="14361643" y="4900084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诊断指导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9DDA3A17-D1F2-1809-596D-FD98AC7CD55C}"/>
              </a:ext>
            </a:extLst>
          </p:cNvPr>
          <p:cNvSpPr/>
          <p:nvPr/>
        </p:nvSpPr>
        <p:spPr>
          <a:xfrm>
            <a:off x="14463243" y="6303222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规范行为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C948D215-E6BB-5FF2-955A-BA1C30E783AB}"/>
              </a:ext>
            </a:extLst>
          </p:cNvPr>
          <p:cNvSpPr/>
          <p:nvPr/>
        </p:nvSpPr>
        <p:spPr>
          <a:xfrm>
            <a:off x="16617254" y="4900083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明确赛道（品类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场景）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7D17E0FE-1230-318C-8F9C-95DF2C394DEC}"/>
              </a:ext>
            </a:extLst>
          </p:cNvPr>
          <p:cNvSpPr/>
          <p:nvPr/>
        </p:nvSpPr>
        <p:spPr>
          <a:xfrm>
            <a:off x="23137799" y="587410"/>
            <a:ext cx="4235028" cy="3354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To</a:t>
            </a:r>
            <a:r>
              <a:rPr lang="zh-CN" altLang="en-US" sz="1200" dirty="0">
                <a:solidFill>
                  <a:schemeClr val="tx1"/>
                </a:solidFill>
              </a:rPr>
              <a:t>到餐</a:t>
            </a:r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DF36368F-9A9C-5A89-D9EB-8838D0B36C61}"/>
              </a:ext>
            </a:extLst>
          </p:cNvPr>
          <p:cNvSpPr/>
          <p:nvPr/>
        </p:nvSpPr>
        <p:spPr>
          <a:xfrm>
            <a:off x="22725281" y="1162624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核心供给定义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4ADF6B27-A8D5-A5D2-4B81-BBE05D2BD154}"/>
              </a:ext>
            </a:extLst>
          </p:cNvPr>
          <p:cNvSpPr/>
          <p:nvPr/>
        </p:nvSpPr>
        <p:spPr>
          <a:xfrm>
            <a:off x="25024660" y="1191809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优先做功样板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F5C34C60-7D21-0067-2EED-20A6F94459FF}"/>
              </a:ext>
            </a:extLst>
          </p:cNvPr>
          <p:cNvSpPr/>
          <p:nvPr/>
        </p:nvSpPr>
        <p:spPr>
          <a:xfrm>
            <a:off x="6788954" y="4317302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防刷防作弊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45FB81DC-B2DD-E4C2-ADA1-08BE5B25E41C}"/>
              </a:ext>
            </a:extLst>
          </p:cNvPr>
          <p:cNvSpPr/>
          <p:nvPr/>
        </p:nvSpPr>
        <p:spPr>
          <a:xfrm>
            <a:off x="22769049" y="2647029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基于用户需求的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GC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协同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109E0B6F-E1C2-2DD6-EE1E-2C64D355F110}"/>
              </a:ext>
            </a:extLst>
          </p:cNvPr>
          <p:cNvSpPr/>
          <p:nvPr/>
        </p:nvSpPr>
        <p:spPr>
          <a:xfrm>
            <a:off x="25024660" y="2656830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智能掌柜分析牵引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83233728-7BBE-5F94-BDC3-294010306EE7}"/>
              </a:ext>
            </a:extLst>
          </p:cNvPr>
          <p:cNvSpPr/>
          <p:nvPr/>
        </p:nvSpPr>
        <p:spPr>
          <a:xfrm>
            <a:off x="22769048" y="4041108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交履组合牵引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D700F2F0-E051-04AA-A5B9-5F821D1ECC8C}"/>
              </a:ext>
            </a:extLst>
          </p:cNvPr>
          <p:cNvSpPr/>
          <p:nvPr/>
        </p:nvSpPr>
        <p:spPr>
          <a:xfrm>
            <a:off x="25024659" y="4050909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高流低转承接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4692BD40-B8C0-BB2A-2680-21B72EEEE720}"/>
              </a:ext>
            </a:extLst>
          </p:cNvPr>
          <p:cNvSpPr/>
          <p:nvPr/>
        </p:nvSpPr>
        <p:spPr>
          <a:xfrm>
            <a:off x="19778198" y="5956351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会员组合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8" name="AutoShape 2">
            <a:extLst>
              <a:ext uri="{FF2B5EF4-FFF2-40B4-BE49-F238E27FC236}">
                <a16:creationId xmlns:a16="http://schemas.microsoft.com/office/drawing/2014/main" id="{896039BD-9A06-0566-634B-B52FA4F623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0" name="箭头: V 形 159">
            <a:extLst>
              <a:ext uri="{FF2B5EF4-FFF2-40B4-BE49-F238E27FC236}">
                <a16:creationId xmlns:a16="http://schemas.microsoft.com/office/drawing/2014/main" id="{FD0574BF-F907-678E-B58A-ED250470952A}"/>
              </a:ext>
            </a:extLst>
          </p:cNvPr>
          <p:cNvSpPr/>
          <p:nvPr/>
        </p:nvSpPr>
        <p:spPr>
          <a:xfrm>
            <a:off x="19097374" y="-3034138"/>
            <a:ext cx="1512353" cy="257680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验证反馈</a:t>
            </a:r>
          </a:p>
        </p:txBody>
      </p:sp>
      <p:sp>
        <p:nvSpPr>
          <p:cNvPr id="161" name="矩形: 圆角 160">
            <a:extLst>
              <a:ext uri="{FF2B5EF4-FFF2-40B4-BE49-F238E27FC236}">
                <a16:creationId xmlns:a16="http://schemas.microsoft.com/office/drawing/2014/main" id="{FB589EE6-D63F-6E31-5E40-3652D1DB6F76}"/>
              </a:ext>
            </a:extLst>
          </p:cNvPr>
          <p:cNvSpPr/>
          <p:nvPr/>
        </p:nvSpPr>
        <p:spPr>
          <a:xfrm>
            <a:off x="12073487" y="-2374014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内容化表达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2" name="矩形: 圆角 161">
            <a:extLst>
              <a:ext uri="{FF2B5EF4-FFF2-40B4-BE49-F238E27FC236}">
                <a16:creationId xmlns:a16="http://schemas.microsoft.com/office/drawing/2014/main" id="{BC0E5C23-9254-89BE-5A01-1FEA0E7C0CFA}"/>
              </a:ext>
            </a:extLst>
          </p:cNvPr>
          <p:cNvSpPr/>
          <p:nvPr/>
        </p:nvSpPr>
        <p:spPr>
          <a:xfrm>
            <a:off x="12073487" y="-2082995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个性化分发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5" name="矩形: 圆角 164">
            <a:extLst>
              <a:ext uri="{FF2B5EF4-FFF2-40B4-BE49-F238E27FC236}">
                <a16:creationId xmlns:a16="http://schemas.microsoft.com/office/drawing/2014/main" id="{CB38831D-7DF1-D1CF-1545-2EB7E3B46622}"/>
              </a:ext>
            </a:extLst>
          </p:cNvPr>
          <p:cNvSpPr/>
          <p:nvPr/>
        </p:nvSpPr>
        <p:spPr>
          <a:xfrm>
            <a:off x="13821895" y="-2374014"/>
            <a:ext cx="1521792" cy="235626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资产表达强化</a:t>
            </a:r>
          </a:p>
        </p:txBody>
      </p:sp>
      <p:sp>
        <p:nvSpPr>
          <p:cNvPr id="166" name="矩形: 圆角 165">
            <a:extLst>
              <a:ext uri="{FF2B5EF4-FFF2-40B4-BE49-F238E27FC236}">
                <a16:creationId xmlns:a16="http://schemas.microsoft.com/office/drawing/2014/main" id="{F0E07FAD-D561-A7D6-2630-22AC321E17B8}"/>
              </a:ext>
            </a:extLst>
          </p:cNvPr>
          <p:cNvSpPr/>
          <p:nvPr/>
        </p:nvSpPr>
        <p:spPr>
          <a:xfrm>
            <a:off x="15572137" y="-2674617"/>
            <a:ext cx="1521792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搜索承接</a:t>
            </a:r>
          </a:p>
        </p:txBody>
      </p:sp>
      <p:sp>
        <p:nvSpPr>
          <p:cNvPr id="167" name="矩形: 圆角 166">
            <a:extLst>
              <a:ext uri="{FF2B5EF4-FFF2-40B4-BE49-F238E27FC236}">
                <a16:creationId xmlns:a16="http://schemas.microsoft.com/office/drawing/2014/main" id="{929B70EA-A5D7-5C39-B4F6-4E734DFC3E13}"/>
              </a:ext>
            </a:extLst>
          </p:cNvPr>
          <p:cNvSpPr/>
          <p:nvPr/>
        </p:nvSpPr>
        <p:spPr>
          <a:xfrm>
            <a:off x="15579742" y="-2372475"/>
            <a:ext cx="1506582" cy="234086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榜单页改造</a:t>
            </a:r>
          </a:p>
        </p:txBody>
      </p:sp>
      <p:sp>
        <p:nvSpPr>
          <p:cNvPr id="169" name="矩形: 圆角 168">
            <a:extLst>
              <a:ext uri="{FF2B5EF4-FFF2-40B4-BE49-F238E27FC236}">
                <a16:creationId xmlns:a16="http://schemas.microsoft.com/office/drawing/2014/main" id="{E90C222F-D24F-0667-5876-18E17888ABFB}"/>
              </a:ext>
            </a:extLst>
          </p:cNvPr>
          <p:cNvSpPr/>
          <p:nvPr/>
        </p:nvSpPr>
        <p:spPr>
          <a:xfrm>
            <a:off x="19097373" y="-2676559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完善分享、召回</a:t>
            </a:r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C0488769-3A5D-13F8-2829-6F19D757EB60}"/>
              </a:ext>
            </a:extLst>
          </p:cNvPr>
          <p:cNvSpPr txBox="1"/>
          <p:nvPr/>
        </p:nvSpPr>
        <p:spPr>
          <a:xfrm>
            <a:off x="11431732" y="-1544025"/>
            <a:ext cx="4953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榜单矩阵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11F54D12-7DD6-3C0D-CCF0-21A30C7543EB}"/>
              </a:ext>
            </a:extLst>
          </p:cNvPr>
          <p:cNvSpPr txBox="1"/>
          <p:nvPr/>
        </p:nvSpPr>
        <p:spPr>
          <a:xfrm>
            <a:off x="11390271" y="337389"/>
            <a:ext cx="4953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资产引用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9B246921-C13B-E241-A74D-BAC33421D909}"/>
              </a:ext>
            </a:extLst>
          </p:cNvPr>
          <p:cNvSpPr txBox="1"/>
          <p:nvPr/>
        </p:nvSpPr>
        <p:spPr>
          <a:xfrm>
            <a:off x="11390271" y="1222961"/>
            <a:ext cx="4953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商家牵引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179" name="矩形: 圆角 178">
            <a:extLst>
              <a:ext uri="{FF2B5EF4-FFF2-40B4-BE49-F238E27FC236}">
                <a16:creationId xmlns:a16="http://schemas.microsoft.com/office/drawing/2014/main" id="{CF932E37-4386-2D2A-9062-9995CA42BF7B}"/>
              </a:ext>
            </a:extLst>
          </p:cNvPr>
          <p:cNvSpPr/>
          <p:nvPr/>
        </p:nvSpPr>
        <p:spPr>
          <a:xfrm>
            <a:off x="12119824" y="-1005796"/>
            <a:ext cx="2657030" cy="214133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联动心智运营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0" name="矩形: 圆角 179">
            <a:extLst>
              <a:ext uri="{FF2B5EF4-FFF2-40B4-BE49-F238E27FC236}">
                <a16:creationId xmlns:a16="http://schemas.microsoft.com/office/drawing/2014/main" id="{EE6DBA89-EF2B-E90A-2544-712E86CD3F96}"/>
              </a:ext>
            </a:extLst>
          </p:cNvPr>
          <p:cNvSpPr/>
          <p:nvPr/>
        </p:nvSpPr>
        <p:spPr>
          <a:xfrm>
            <a:off x="15011665" y="-1027288"/>
            <a:ext cx="2700000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区域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x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场景完善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1" name="矩形: 圆角 180">
            <a:extLst>
              <a:ext uri="{FF2B5EF4-FFF2-40B4-BE49-F238E27FC236}">
                <a16:creationId xmlns:a16="http://schemas.microsoft.com/office/drawing/2014/main" id="{739F5B72-9AF8-10E4-0A2F-4A25B692DDC1}"/>
              </a:ext>
            </a:extLst>
          </p:cNvPr>
          <p:cNvSpPr/>
          <p:nvPr/>
        </p:nvSpPr>
        <p:spPr>
          <a:xfrm>
            <a:off x="12119824" y="-709994"/>
            <a:ext cx="2657030" cy="214133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虚假宣传联合治理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2" name="矩形: 圆角 181">
            <a:extLst>
              <a:ext uri="{FF2B5EF4-FFF2-40B4-BE49-F238E27FC236}">
                <a16:creationId xmlns:a16="http://schemas.microsoft.com/office/drawing/2014/main" id="{6688E339-ABBD-B8C7-C568-0CFE35F1E529}"/>
              </a:ext>
            </a:extLst>
          </p:cNvPr>
          <p:cNvSpPr/>
          <p:nvPr/>
        </p:nvSpPr>
        <p:spPr>
          <a:xfrm>
            <a:off x="15011665" y="-708454"/>
            <a:ext cx="2700000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GC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挖掘牵引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3" name="矩形: 圆角 182">
            <a:extLst>
              <a:ext uri="{FF2B5EF4-FFF2-40B4-BE49-F238E27FC236}">
                <a16:creationId xmlns:a16="http://schemas.microsoft.com/office/drawing/2014/main" id="{DDFDBF70-AC5D-3F91-9DE4-FC9B985E8768}"/>
              </a:ext>
            </a:extLst>
          </p:cNvPr>
          <p:cNvSpPr/>
          <p:nvPr/>
        </p:nvSpPr>
        <p:spPr>
          <a:xfrm>
            <a:off x="17956875" y="-1026145"/>
            <a:ext cx="2700000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上榜率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健康度评估，优化密度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4" name="矩形: 圆角 183">
            <a:extLst>
              <a:ext uri="{FF2B5EF4-FFF2-40B4-BE49-F238E27FC236}">
                <a16:creationId xmlns:a16="http://schemas.microsoft.com/office/drawing/2014/main" id="{2E92094F-CB21-2CF4-2851-D46E942822FA}"/>
              </a:ext>
            </a:extLst>
          </p:cNvPr>
          <p:cNvSpPr/>
          <p:nvPr/>
        </p:nvSpPr>
        <p:spPr>
          <a:xfrm>
            <a:off x="17946476" y="-693045"/>
            <a:ext cx="2700000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区域及资产维度补齐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5" name="矩形: 圆角 184">
            <a:extLst>
              <a:ext uri="{FF2B5EF4-FFF2-40B4-BE49-F238E27FC236}">
                <a16:creationId xmlns:a16="http://schemas.microsoft.com/office/drawing/2014/main" id="{F3DA745E-594F-0431-0A5A-B856B45CE1AA}"/>
              </a:ext>
            </a:extLst>
          </p:cNvPr>
          <p:cNvSpPr/>
          <p:nvPr/>
        </p:nvSpPr>
        <p:spPr>
          <a:xfrm>
            <a:off x="15011665" y="-404218"/>
            <a:ext cx="2700000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好店挖掘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E9571A97-7180-C738-3CBE-D733C3D15F69}"/>
              </a:ext>
            </a:extLst>
          </p:cNvPr>
          <p:cNvSpPr/>
          <p:nvPr/>
        </p:nvSpPr>
        <p:spPr>
          <a:xfrm>
            <a:off x="12041377" y="349651"/>
            <a:ext cx="2176244" cy="3938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en-US" altLang="zh-CN" sz="1200" dirty="0"/>
              <a:t>GC</a:t>
            </a:r>
            <a:r>
              <a:rPr lang="zh-CN" altLang="en-US" sz="1200" dirty="0">
                <a:solidFill>
                  <a:schemeClr val="tx1"/>
                </a:solidFill>
              </a:rPr>
              <a:t>挖掘及运营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7" name="矩形 186">
            <a:extLst>
              <a:ext uri="{FF2B5EF4-FFF2-40B4-BE49-F238E27FC236}">
                <a16:creationId xmlns:a16="http://schemas.microsoft.com/office/drawing/2014/main" id="{04C55455-7951-C107-EDB6-C57FD5A2388C}"/>
              </a:ext>
            </a:extLst>
          </p:cNvPr>
          <p:cNvSpPr/>
          <p:nvPr/>
        </p:nvSpPr>
        <p:spPr>
          <a:xfrm>
            <a:off x="16556103" y="337186"/>
            <a:ext cx="2063445" cy="3938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好店挖掘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8" name="矩形 187">
            <a:extLst>
              <a:ext uri="{FF2B5EF4-FFF2-40B4-BE49-F238E27FC236}">
                <a16:creationId xmlns:a16="http://schemas.microsoft.com/office/drawing/2014/main" id="{C358F90E-1374-539A-661E-1740CDF79DA2}"/>
              </a:ext>
            </a:extLst>
          </p:cNvPr>
          <p:cNvSpPr/>
          <p:nvPr/>
        </p:nvSpPr>
        <p:spPr>
          <a:xfrm>
            <a:off x="18741683" y="344801"/>
            <a:ext cx="2063446" cy="3938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防刷防作弊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9" name="矩形 188">
            <a:extLst>
              <a:ext uri="{FF2B5EF4-FFF2-40B4-BE49-F238E27FC236}">
                <a16:creationId xmlns:a16="http://schemas.microsoft.com/office/drawing/2014/main" id="{8C3D4D64-2905-A539-5BC1-83D8D624E078}"/>
              </a:ext>
            </a:extLst>
          </p:cNvPr>
          <p:cNvSpPr/>
          <p:nvPr/>
        </p:nvSpPr>
        <p:spPr>
          <a:xfrm>
            <a:off x="13902154" y="1272164"/>
            <a:ext cx="2552779" cy="3938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商户指导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0" name="矩形 189">
            <a:extLst>
              <a:ext uri="{FF2B5EF4-FFF2-40B4-BE49-F238E27FC236}">
                <a16:creationId xmlns:a16="http://schemas.microsoft.com/office/drawing/2014/main" id="{32D1DD92-27E0-B5EC-AD01-A2D52BC3A4A1}"/>
              </a:ext>
            </a:extLst>
          </p:cNvPr>
          <p:cNvSpPr/>
          <p:nvPr/>
        </p:nvSpPr>
        <p:spPr>
          <a:xfrm>
            <a:off x="18738759" y="1334143"/>
            <a:ext cx="2199970" cy="3938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沉淀资产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1" name="矩形 190">
            <a:extLst>
              <a:ext uri="{FF2B5EF4-FFF2-40B4-BE49-F238E27FC236}">
                <a16:creationId xmlns:a16="http://schemas.microsoft.com/office/drawing/2014/main" id="{74371F43-54EB-CABB-0F19-558614A1E98B}"/>
              </a:ext>
            </a:extLst>
          </p:cNvPr>
          <p:cNvSpPr/>
          <p:nvPr/>
        </p:nvSpPr>
        <p:spPr>
          <a:xfrm>
            <a:off x="16706494" y="1278689"/>
            <a:ext cx="1741454" cy="3938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商家牵引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2" name="文本框 191">
            <a:extLst>
              <a:ext uri="{FF2B5EF4-FFF2-40B4-BE49-F238E27FC236}">
                <a16:creationId xmlns:a16="http://schemas.microsoft.com/office/drawing/2014/main" id="{1D1347F8-C1E2-FF47-B0DB-5DDE480F0A4F}"/>
              </a:ext>
            </a:extLst>
          </p:cNvPr>
          <p:cNvSpPr txBox="1"/>
          <p:nvPr/>
        </p:nvSpPr>
        <p:spPr>
          <a:xfrm>
            <a:off x="11455196" y="2390875"/>
            <a:ext cx="4953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solidFill>
                  <a:srgbClr val="0D0D0D"/>
                </a:solidFill>
                <a:latin typeface="+mn-ea"/>
              </a:rPr>
              <a:t>AI+</a:t>
            </a:r>
          </a:p>
        </p:txBody>
      </p:sp>
      <p:sp>
        <p:nvSpPr>
          <p:cNvPr id="193" name="矩形: 圆角 192">
            <a:extLst>
              <a:ext uri="{FF2B5EF4-FFF2-40B4-BE49-F238E27FC236}">
                <a16:creationId xmlns:a16="http://schemas.microsoft.com/office/drawing/2014/main" id="{67C49EF2-93AB-2C5D-EFFF-20BE66C74C80}"/>
              </a:ext>
            </a:extLst>
          </p:cNvPr>
          <p:cNvSpPr/>
          <p:nvPr/>
        </p:nvSpPr>
        <p:spPr>
          <a:xfrm>
            <a:off x="12191579" y="2366262"/>
            <a:ext cx="1014244" cy="31958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需求探究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4" name="矩形: 圆角 193">
            <a:extLst>
              <a:ext uri="{FF2B5EF4-FFF2-40B4-BE49-F238E27FC236}">
                <a16:creationId xmlns:a16="http://schemas.microsoft.com/office/drawing/2014/main" id="{2194F3C7-5368-B899-738B-076AF388F06A}"/>
              </a:ext>
            </a:extLst>
          </p:cNvPr>
          <p:cNvSpPr/>
          <p:nvPr/>
        </p:nvSpPr>
        <p:spPr>
          <a:xfrm>
            <a:off x="13455461" y="2366262"/>
            <a:ext cx="1014244" cy="31958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好店挖掘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5" name="矩形: 圆角 194">
            <a:extLst>
              <a:ext uri="{FF2B5EF4-FFF2-40B4-BE49-F238E27FC236}">
                <a16:creationId xmlns:a16="http://schemas.microsoft.com/office/drawing/2014/main" id="{800DA678-D12C-2D48-0D02-109ED052E76F}"/>
              </a:ext>
            </a:extLst>
          </p:cNvPr>
          <p:cNvSpPr/>
          <p:nvPr/>
        </p:nvSpPr>
        <p:spPr>
          <a:xfrm>
            <a:off x="14719343" y="2366262"/>
            <a:ext cx="1014244" cy="31958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资产计算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6" name="矩形: 圆角 195">
            <a:extLst>
              <a:ext uri="{FF2B5EF4-FFF2-40B4-BE49-F238E27FC236}">
                <a16:creationId xmlns:a16="http://schemas.microsoft.com/office/drawing/2014/main" id="{CDE70576-76F8-3C38-B837-A989758EE1B9}"/>
              </a:ext>
            </a:extLst>
          </p:cNvPr>
          <p:cNvSpPr/>
          <p:nvPr/>
        </p:nvSpPr>
        <p:spPr>
          <a:xfrm>
            <a:off x="15983225" y="2366262"/>
            <a:ext cx="1014244" cy="31958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资产生成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7" name="矩形: 圆角 196">
            <a:extLst>
              <a:ext uri="{FF2B5EF4-FFF2-40B4-BE49-F238E27FC236}">
                <a16:creationId xmlns:a16="http://schemas.microsoft.com/office/drawing/2014/main" id="{4784CCBE-9925-242A-B77C-5729B2481325}"/>
              </a:ext>
            </a:extLst>
          </p:cNvPr>
          <p:cNvSpPr/>
          <p:nvPr/>
        </p:nvSpPr>
        <p:spPr>
          <a:xfrm>
            <a:off x="17247107" y="2366262"/>
            <a:ext cx="1014244" cy="31958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榜单生成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8" name="矩形: 圆角 197">
            <a:extLst>
              <a:ext uri="{FF2B5EF4-FFF2-40B4-BE49-F238E27FC236}">
                <a16:creationId xmlns:a16="http://schemas.microsoft.com/office/drawing/2014/main" id="{2A2E44FF-5EF5-FA4F-A3B5-527E171D9C90}"/>
              </a:ext>
            </a:extLst>
          </p:cNvPr>
          <p:cNvSpPr/>
          <p:nvPr/>
        </p:nvSpPr>
        <p:spPr>
          <a:xfrm>
            <a:off x="18510989" y="2366262"/>
            <a:ext cx="1014244" cy="31958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榜单投放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9" name="矩形: 圆角 198">
            <a:extLst>
              <a:ext uri="{FF2B5EF4-FFF2-40B4-BE49-F238E27FC236}">
                <a16:creationId xmlns:a16="http://schemas.microsoft.com/office/drawing/2014/main" id="{9BADCA5C-DEB3-EE4F-2C86-0964FD080A2B}"/>
              </a:ext>
            </a:extLst>
          </p:cNvPr>
          <p:cNvSpPr/>
          <p:nvPr/>
        </p:nvSpPr>
        <p:spPr>
          <a:xfrm>
            <a:off x="19774868" y="2366262"/>
            <a:ext cx="1014244" cy="31958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异常检测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0" name="矩形: 圆角 199">
            <a:extLst>
              <a:ext uri="{FF2B5EF4-FFF2-40B4-BE49-F238E27FC236}">
                <a16:creationId xmlns:a16="http://schemas.microsoft.com/office/drawing/2014/main" id="{A1F44295-B266-D160-3514-CCA85036BEBD}"/>
              </a:ext>
            </a:extLst>
          </p:cNvPr>
          <p:cNvSpPr/>
          <p:nvPr/>
        </p:nvSpPr>
        <p:spPr>
          <a:xfrm>
            <a:off x="19107175" y="-2377753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评价引导</a:t>
            </a:r>
          </a:p>
        </p:txBody>
      </p:sp>
      <p:sp>
        <p:nvSpPr>
          <p:cNvPr id="201" name="矩形: 圆角 200">
            <a:extLst>
              <a:ext uri="{FF2B5EF4-FFF2-40B4-BE49-F238E27FC236}">
                <a16:creationId xmlns:a16="http://schemas.microsoft.com/office/drawing/2014/main" id="{16A5767D-B635-F162-E5C4-8DCB735DEBD2}"/>
              </a:ext>
            </a:extLst>
          </p:cNvPr>
          <p:cNvSpPr/>
          <p:nvPr/>
        </p:nvSpPr>
        <p:spPr>
          <a:xfrm>
            <a:off x="12011684" y="-1620477"/>
            <a:ext cx="8780603" cy="1606138"/>
          </a:xfrm>
          <a:prstGeom prst="round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2" name="矩形 201">
            <a:extLst>
              <a:ext uri="{FF2B5EF4-FFF2-40B4-BE49-F238E27FC236}">
                <a16:creationId xmlns:a16="http://schemas.microsoft.com/office/drawing/2014/main" id="{BB12C0A8-6A46-F771-9047-53768FB23C88}"/>
              </a:ext>
            </a:extLst>
          </p:cNvPr>
          <p:cNvSpPr/>
          <p:nvPr/>
        </p:nvSpPr>
        <p:spPr>
          <a:xfrm>
            <a:off x="14391487" y="343114"/>
            <a:ext cx="2063445" cy="3938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计算规则优化</a:t>
            </a:r>
            <a:endParaRPr lang="en-US" altLang="zh-CN" sz="1200" dirty="0"/>
          </a:p>
        </p:txBody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8663353C-9751-B173-A6CC-3C95AF78A397}"/>
              </a:ext>
            </a:extLst>
          </p:cNvPr>
          <p:cNvSpPr/>
          <p:nvPr/>
        </p:nvSpPr>
        <p:spPr>
          <a:xfrm>
            <a:off x="12065755" y="1284036"/>
            <a:ext cx="1756140" cy="3938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品类细化及运营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4" name="矩形: 圆角 203">
            <a:extLst>
              <a:ext uri="{FF2B5EF4-FFF2-40B4-BE49-F238E27FC236}">
                <a16:creationId xmlns:a16="http://schemas.microsoft.com/office/drawing/2014/main" id="{2F44CAE9-DA10-B84F-EB24-AED956E24A92}"/>
              </a:ext>
            </a:extLst>
          </p:cNvPr>
          <p:cNvSpPr/>
          <p:nvPr/>
        </p:nvSpPr>
        <p:spPr>
          <a:xfrm>
            <a:off x="15581681" y="-2045841"/>
            <a:ext cx="1521792" cy="235626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成榜赛道细分</a:t>
            </a:r>
          </a:p>
        </p:txBody>
      </p:sp>
      <p:sp>
        <p:nvSpPr>
          <p:cNvPr id="205" name="矩形: 圆角 204">
            <a:extLst>
              <a:ext uri="{FF2B5EF4-FFF2-40B4-BE49-F238E27FC236}">
                <a16:creationId xmlns:a16="http://schemas.microsoft.com/office/drawing/2014/main" id="{69A4407B-5D0A-FE73-C606-1C85A53906AF}"/>
              </a:ext>
            </a:extLst>
          </p:cNvPr>
          <p:cNvSpPr/>
          <p:nvPr/>
        </p:nvSpPr>
        <p:spPr>
          <a:xfrm>
            <a:off x="13828552" y="-2048047"/>
            <a:ext cx="1521792" cy="235626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连锁信息复用</a:t>
            </a:r>
          </a:p>
        </p:txBody>
      </p:sp>
      <p:sp>
        <p:nvSpPr>
          <p:cNvPr id="206" name="矩形: 圆角 205">
            <a:extLst>
              <a:ext uri="{FF2B5EF4-FFF2-40B4-BE49-F238E27FC236}">
                <a16:creationId xmlns:a16="http://schemas.microsoft.com/office/drawing/2014/main" id="{FAF63D61-1D39-357E-64A4-D48DEC35841F}"/>
              </a:ext>
            </a:extLst>
          </p:cNvPr>
          <p:cNvSpPr/>
          <p:nvPr/>
        </p:nvSpPr>
        <p:spPr>
          <a:xfrm>
            <a:off x="17337589" y="-2365186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权益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营销组合</a:t>
            </a:r>
          </a:p>
        </p:txBody>
      </p:sp>
      <p:sp>
        <p:nvSpPr>
          <p:cNvPr id="207" name="矩形: 圆角 206">
            <a:extLst>
              <a:ext uri="{FF2B5EF4-FFF2-40B4-BE49-F238E27FC236}">
                <a16:creationId xmlns:a16="http://schemas.microsoft.com/office/drawing/2014/main" id="{0E16146A-94AF-431A-AC3A-D37A0D2B4AD5}"/>
              </a:ext>
            </a:extLst>
          </p:cNvPr>
          <p:cNvSpPr/>
          <p:nvPr/>
        </p:nvSpPr>
        <p:spPr>
          <a:xfrm>
            <a:off x="17956875" y="-389157"/>
            <a:ext cx="2700000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新店榜建设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8" name="文本框 207">
            <a:extLst>
              <a:ext uri="{FF2B5EF4-FFF2-40B4-BE49-F238E27FC236}">
                <a16:creationId xmlns:a16="http://schemas.microsoft.com/office/drawing/2014/main" id="{DF915892-9878-21E4-F628-06C813229A15}"/>
              </a:ext>
            </a:extLst>
          </p:cNvPr>
          <p:cNvSpPr txBox="1"/>
          <p:nvPr/>
        </p:nvSpPr>
        <p:spPr>
          <a:xfrm>
            <a:off x="11501534" y="3344483"/>
            <a:ext cx="4953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信任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209" name="矩形: 圆角 208">
            <a:extLst>
              <a:ext uri="{FF2B5EF4-FFF2-40B4-BE49-F238E27FC236}">
                <a16:creationId xmlns:a16="http://schemas.microsoft.com/office/drawing/2014/main" id="{420D0536-D5A5-37B6-1B32-AF19C15FB150}"/>
              </a:ext>
            </a:extLst>
          </p:cNvPr>
          <p:cNvSpPr/>
          <p:nvPr/>
        </p:nvSpPr>
        <p:spPr>
          <a:xfrm>
            <a:off x="16879812" y="3392343"/>
            <a:ext cx="1014244" cy="31958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线下物料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0" name="矩形: 圆角 209">
            <a:extLst>
              <a:ext uri="{FF2B5EF4-FFF2-40B4-BE49-F238E27FC236}">
                <a16:creationId xmlns:a16="http://schemas.microsoft.com/office/drawing/2014/main" id="{63E05CD6-5D76-2F03-98FC-8B8366FF9A82}"/>
              </a:ext>
            </a:extLst>
          </p:cNvPr>
          <p:cNvSpPr/>
          <p:nvPr/>
        </p:nvSpPr>
        <p:spPr>
          <a:xfrm>
            <a:off x="12191579" y="3338417"/>
            <a:ext cx="2216401" cy="301037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  <a:latin typeface="+mn-ea"/>
              </a:rPr>
              <a:t>toC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市场宣发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1" name="矩形: 圆角 210">
            <a:extLst>
              <a:ext uri="{FF2B5EF4-FFF2-40B4-BE49-F238E27FC236}">
                <a16:creationId xmlns:a16="http://schemas.microsoft.com/office/drawing/2014/main" id="{554CD493-BA20-D256-46FF-9646C4AE6FC8}"/>
              </a:ext>
            </a:extLst>
          </p:cNvPr>
          <p:cNvSpPr/>
          <p:nvPr/>
        </p:nvSpPr>
        <p:spPr>
          <a:xfrm>
            <a:off x="18708344" y="3335337"/>
            <a:ext cx="1014244" cy="31958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政府共建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038254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图片 158">
            <a:extLst>
              <a:ext uri="{FF2B5EF4-FFF2-40B4-BE49-F238E27FC236}">
                <a16:creationId xmlns:a16="http://schemas.microsoft.com/office/drawing/2014/main" id="{715828CD-176B-7A07-67D6-727DD6B017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800" y="-9592104"/>
            <a:ext cx="9859850" cy="5658745"/>
          </a:xfrm>
          <a:prstGeom prst="rect">
            <a:avLst/>
          </a:prstGeom>
        </p:spPr>
      </p:pic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5" imgW="0" imgH="0" progId="TCLayout.ActiveDocument.1">
                  <p:embed/>
                </p:oleObj>
              </mc:Choice>
              <mc:Fallback>
                <p:oleObj name="think-cell 幻灯片" r:id="rId5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7A1B3C51-C11C-8CDC-B70A-FC80155E75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3509294" y="-7217939"/>
            <a:ext cx="8290411" cy="5892356"/>
          </a:xfrm>
          <a:prstGeom prst="rect">
            <a:avLst/>
          </a:prstGeom>
        </p:spPr>
      </p:pic>
      <p:sp>
        <p:nvSpPr>
          <p:cNvPr id="11" name="箭头: 五边形 10">
            <a:extLst>
              <a:ext uri="{FF2B5EF4-FFF2-40B4-BE49-F238E27FC236}">
                <a16:creationId xmlns:a16="http://schemas.microsoft.com/office/drawing/2014/main" id="{B082F2F7-1068-A9FA-BC97-33D268400DF0}"/>
              </a:ext>
            </a:extLst>
          </p:cNvPr>
          <p:cNvSpPr/>
          <p:nvPr/>
        </p:nvSpPr>
        <p:spPr>
          <a:xfrm>
            <a:off x="649327" y="824795"/>
            <a:ext cx="1512353" cy="257680"/>
          </a:xfrm>
          <a:prstGeom prst="homePlat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灵感激发</a:t>
            </a:r>
          </a:p>
        </p:txBody>
      </p:sp>
      <p:sp>
        <p:nvSpPr>
          <p:cNvPr id="32" name="箭头: V 形 31">
            <a:extLst>
              <a:ext uri="{FF2B5EF4-FFF2-40B4-BE49-F238E27FC236}">
                <a16:creationId xmlns:a16="http://schemas.microsoft.com/office/drawing/2014/main" id="{23B7E120-07A6-1E17-2C38-F1211F948EC2}"/>
              </a:ext>
            </a:extLst>
          </p:cNvPr>
          <p:cNvSpPr/>
          <p:nvPr/>
        </p:nvSpPr>
        <p:spPr>
          <a:xfrm>
            <a:off x="2404392" y="833187"/>
            <a:ext cx="1510416" cy="257680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信息获取</a:t>
            </a:r>
          </a:p>
        </p:txBody>
      </p:sp>
      <p:sp>
        <p:nvSpPr>
          <p:cNvPr id="33" name="箭头: V 形 32">
            <a:extLst>
              <a:ext uri="{FF2B5EF4-FFF2-40B4-BE49-F238E27FC236}">
                <a16:creationId xmlns:a16="http://schemas.microsoft.com/office/drawing/2014/main" id="{578D6870-D1E8-3DAC-323B-2CCE709222CC}"/>
              </a:ext>
            </a:extLst>
          </p:cNvPr>
          <p:cNvSpPr/>
          <p:nvPr/>
        </p:nvSpPr>
        <p:spPr>
          <a:xfrm>
            <a:off x="4155583" y="833187"/>
            <a:ext cx="1523730" cy="257680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对比选择</a:t>
            </a:r>
          </a:p>
        </p:txBody>
      </p:sp>
      <p:sp>
        <p:nvSpPr>
          <p:cNvPr id="34" name="箭头: V 形 33">
            <a:extLst>
              <a:ext uri="{FF2B5EF4-FFF2-40B4-BE49-F238E27FC236}">
                <a16:creationId xmlns:a16="http://schemas.microsoft.com/office/drawing/2014/main" id="{A57D9564-2307-01BC-C554-262A5E1E06B4}"/>
              </a:ext>
            </a:extLst>
          </p:cNvPr>
          <p:cNvSpPr/>
          <p:nvPr/>
        </p:nvSpPr>
        <p:spPr>
          <a:xfrm>
            <a:off x="5920087" y="833187"/>
            <a:ext cx="1512353" cy="257680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决策闭环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22E22ED-68B4-3641-2F15-3AF32D9C8A5F}"/>
              </a:ext>
            </a:extLst>
          </p:cNvPr>
          <p:cNvSpPr txBox="1"/>
          <p:nvPr/>
        </p:nvSpPr>
        <p:spPr>
          <a:xfrm>
            <a:off x="-16568" y="1067418"/>
            <a:ext cx="4953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用户动线体验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38D451EC-16D1-A308-D849-283B61C34176}"/>
              </a:ext>
            </a:extLst>
          </p:cNvPr>
          <p:cNvSpPr/>
          <p:nvPr/>
        </p:nvSpPr>
        <p:spPr>
          <a:xfrm>
            <a:off x="651263" y="1197509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场景前置触达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9B71615D-9AE1-8154-EFCE-D4D49F1E2286}"/>
              </a:ext>
            </a:extLst>
          </p:cNvPr>
          <p:cNvSpPr/>
          <p:nvPr/>
        </p:nvSpPr>
        <p:spPr>
          <a:xfrm>
            <a:off x="17445085" y="-4801529"/>
            <a:ext cx="1512353" cy="427313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搜索比较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榜单页筛选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A0E6F357-F58D-8096-BEC3-7F07760C29B3}"/>
              </a:ext>
            </a:extLst>
          </p:cNvPr>
          <p:cNvSpPr/>
          <p:nvPr/>
        </p:nvSpPr>
        <p:spPr>
          <a:xfrm>
            <a:off x="2411999" y="1197509"/>
            <a:ext cx="1521792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动线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x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榜单标签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4C87D21C-163C-E8E1-40B3-8831B4E3B853}"/>
              </a:ext>
            </a:extLst>
          </p:cNvPr>
          <p:cNvSpPr/>
          <p:nvPr/>
        </p:nvSpPr>
        <p:spPr>
          <a:xfrm>
            <a:off x="5920088" y="1192708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履约产品组合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94298399-2182-A10B-64D4-F85F11573FAE}"/>
              </a:ext>
            </a:extLst>
          </p:cNvPr>
          <p:cNvSpPr/>
          <p:nvPr/>
        </p:nvSpPr>
        <p:spPr>
          <a:xfrm>
            <a:off x="21797876" y="-3318880"/>
            <a:ext cx="6960194" cy="2128937"/>
          </a:xfrm>
          <a:prstGeom prst="roundRect">
            <a:avLst>
              <a:gd name="adj" fmla="val 5571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8A64C5C6-87EA-13FE-E519-66D0D0018055}"/>
              </a:ext>
            </a:extLst>
          </p:cNvPr>
          <p:cNvSpPr txBox="1"/>
          <p:nvPr/>
        </p:nvSpPr>
        <p:spPr>
          <a:xfrm>
            <a:off x="9526619" y="-2925601"/>
            <a:ext cx="4953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决策环节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20DB24A-E215-28DB-3B37-DD09F60ED16D}"/>
              </a:ext>
            </a:extLst>
          </p:cNvPr>
          <p:cNvSpPr/>
          <p:nvPr/>
        </p:nvSpPr>
        <p:spPr>
          <a:xfrm>
            <a:off x="21872673" y="-2610182"/>
            <a:ext cx="1512353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区域</a:t>
            </a:r>
            <a:r>
              <a:rPr lang="en-US" altLang="zh-CN" sz="1200" dirty="0">
                <a:solidFill>
                  <a:schemeClr val="tx1"/>
                </a:solidFill>
              </a:rPr>
              <a:t>x</a:t>
            </a:r>
            <a:r>
              <a:rPr lang="zh-CN" altLang="en-US" sz="1200" dirty="0">
                <a:solidFill>
                  <a:schemeClr val="tx1"/>
                </a:solidFill>
              </a:rPr>
              <a:t>主题</a:t>
            </a:r>
            <a:r>
              <a:rPr lang="en-US" altLang="zh-CN" sz="1200" dirty="0">
                <a:solidFill>
                  <a:schemeClr val="tx1"/>
                </a:solidFill>
              </a:rPr>
              <a:t>x</a:t>
            </a:r>
            <a:r>
              <a:rPr lang="zh-CN" altLang="en-US" sz="1200" dirty="0">
                <a:solidFill>
                  <a:schemeClr val="tx1"/>
                </a:solidFill>
              </a:rPr>
              <a:t>供给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/>
          </a:p>
          <a:p>
            <a:pPr algn="ctr"/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优先节日场景，逐渐完善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894D3FD-BF09-99B7-602D-3387AB5D2EBB}"/>
              </a:ext>
            </a:extLst>
          </p:cNvPr>
          <p:cNvSpPr/>
          <p:nvPr/>
        </p:nvSpPr>
        <p:spPr>
          <a:xfrm>
            <a:off x="-2679482" y="0"/>
            <a:ext cx="1195011" cy="17681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品类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zh-CN" altLang="en-US" sz="1200" dirty="0"/>
              <a:t>地址</a:t>
            </a:r>
            <a:endParaRPr lang="en-US" altLang="zh-CN" sz="1200" dirty="0"/>
          </a:p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菜品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A3534B3-2320-6866-F3B4-A21000B4DA93}"/>
              </a:ext>
            </a:extLst>
          </p:cNvPr>
          <p:cNvSpPr/>
          <p:nvPr/>
        </p:nvSpPr>
        <p:spPr>
          <a:xfrm>
            <a:off x="25378928" y="-2603753"/>
            <a:ext cx="3276857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交易</a:t>
            </a:r>
            <a:r>
              <a:rPr lang="en-US" altLang="zh-CN" sz="1200" dirty="0"/>
              <a:t>/GC/</a:t>
            </a:r>
            <a:r>
              <a:rPr lang="zh-CN" altLang="en-US" sz="1200" dirty="0"/>
              <a:t>履约</a:t>
            </a:r>
            <a:r>
              <a:rPr lang="en-US" altLang="zh-CN" sz="1200" dirty="0"/>
              <a:t>/</a:t>
            </a:r>
            <a:r>
              <a:rPr lang="zh-CN" altLang="en-US" sz="1200" dirty="0"/>
              <a:t>用户行为</a:t>
            </a:r>
            <a:endParaRPr lang="en-US" altLang="zh-CN" sz="1200" dirty="0"/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规则算法优化、更匹配物理世界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E0E4B88C-8445-D05C-710B-2D11628A402D}"/>
              </a:ext>
            </a:extLst>
          </p:cNvPr>
          <p:cNvSpPr txBox="1"/>
          <p:nvPr/>
        </p:nvSpPr>
        <p:spPr>
          <a:xfrm>
            <a:off x="7520739" y="-1925747"/>
            <a:ext cx="28523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latin typeface="+mn-ea"/>
              </a:rPr>
              <a:t>主</a:t>
            </a:r>
            <a:r>
              <a:rPr lang="en-US" altLang="zh-CN" sz="1800" dirty="0">
                <a:latin typeface="+mn-ea"/>
              </a:rPr>
              <a:t>-</a:t>
            </a:r>
            <a:r>
              <a:rPr lang="zh-CN" altLang="en-US" sz="1800" dirty="0">
                <a:latin typeface="+mn-ea"/>
              </a:rPr>
              <a:t>入围：</a:t>
            </a:r>
            <a:r>
              <a:rPr lang="en-US" altLang="zh-CN" sz="1800" dirty="0">
                <a:latin typeface="+mn-ea"/>
              </a:rPr>
              <a:t>UGC</a:t>
            </a:r>
            <a:r>
              <a:rPr lang="zh-CN" altLang="en-US" sz="1800" dirty="0">
                <a:latin typeface="+mn-ea"/>
              </a:rPr>
              <a:t>挖掘主题相关度。辅</a:t>
            </a:r>
            <a:r>
              <a:rPr lang="en-US" altLang="zh-CN" sz="1800" dirty="0">
                <a:latin typeface="+mn-ea"/>
              </a:rPr>
              <a:t>-</a:t>
            </a:r>
            <a:r>
              <a:rPr lang="zh-CN" altLang="en-US" sz="1800" dirty="0">
                <a:latin typeface="+mn-ea"/>
              </a:rPr>
              <a:t>排序：</a:t>
            </a:r>
            <a:r>
              <a:rPr lang="en-US" altLang="zh-CN" sz="1800" dirty="0">
                <a:latin typeface="+mn-ea"/>
              </a:rPr>
              <a:t>B(D)GC</a:t>
            </a:r>
            <a:r>
              <a:rPr lang="zh-CN" altLang="en-US" sz="1800" dirty="0">
                <a:latin typeface="+mn-ea"/>
              </a:rPr>
              <a:t>信息标签</a:t>
            </a:r>
            <a:r>
              <a:rPr lang="en-US" altLang="zh-CN" sz="1800" dirty="0">
                <a:latin typeface="+mn-ea"/>
              </a:rPr>
              <a:t>+</a:t>
            </a:r>
            <a:r>
              <a:rPr lang="zh-CN" altLang="en-US" sz="1800" dirty="0">
                <a:latin typeface="+mn-ea"/>
              </a:rPr>
              <a:t>用户行为资产</a:t>
            </a:r>
            <a:r>
              <a:rPr lang="en-US" altLang="zh-CN" sz="1800" dirty="0">
                <a:latin typeface="+mn-ea"/>
              </a:rPr>
              <a:t>+</a:t>
            </a:r>
            <a:r>
              <a:rPr lang="zh-CN" altLang="en-US" sz="1800" dirty="0">
                <a:latin typeface="+mn-ea"/>
              </a:rPr>
              <a:t>（交履服务）</a:t>
            </a:r>
            <a:r>
              <a:rPr lang="en-US" altLang="zh-CN" sz="1800" dirty="0">
                <a:latin typeface="+mn-ea"/>
              </a:rPr>
              <a:t>	</a:t>
            </a:r>
            <a:endParaRPr lang="zh-CN" altLang="en-US" sz="1800" dirty="0">
              <a:latin typeface="+mn-ea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7566BC90-687D-1CCA-F15D-B4583002D94B}"/>
              </a:ext>
            </a:extLst>
          </p:cNvPr>
          <p:cNvSpPr/>
          <p:nvPr/>
        </p:nvSpPr>
        <p:spPr>
          <a:xfrm>
            <a:off x="21872672" y="-3108209"/>
            <a:ext cx="3265481" cy="3938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榜单矩阵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C83E41F-2D3A-D90D-D9AA-463CF0B6F26E}"/>
              </a:ext>
            </a:extLst>
          </p:cNvPr>
          <p:cNvSpPr/>
          <p:nvPr/>
        </p:nvSpPr>
        <p:spPr>
          <a:xfrm>
            <a:off x="25378928" y="-3108209"/>
            <a:ext cx="3276856" cy="3938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资产引用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94677B64-3188-EE25-5C1A-2BDACB69A98B}"/>
              </a:ext>
            </a:extLst>
          </p:cNvPr>
          <p:cNvSpPr txBox="1"/>
          <p:nvPr/>
        </p:nvSpPr>
        <p:spPr>
          <a:xfrm>
            <a:off x="25118206" y="-3046650"/>
            <a:ext cx="3091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/>
                </a:solidFill>
              </a:rPr>
              <a:t>x</a:t>
            </a:r>
            <a:endParaRPr lang="zh-CN" altLang="en-US" sz="1200" dirty="0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8F1B5AC7-0D6D-FAC6-6633-B45689E5DA13}"/>
              </a:ext>
            </a:extLst>
          </p:cNvPr>
          <p:cNvSpPr/>
          <p:nvPr/>
        </p:nvSpPr>
        <p:spPr>
          <a:xfrm>
            <a:off x="23625800" y="-2600524"/>
            <a:ext cx="1512354" cy="12540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区域</a:t>
            </a:r>
            <a:r>
              <a:rPr lang="en-US" altLang="zh-CN" sz="1200" dirty="0">
                <a:solidFill>
                  <a:schemeClr val="tx1"/>
                </a:solidFill>
              </a:rPr>
              <a:t>x</a:t>
            </a:r>
            <a:r>
              <a:rPr lang="zh-CN" altLang="en-US" sz="1200" dirty="0">
                <a:solidFill>
                  <a:schemeClr val="tx1"/>
                </a:solidFill>
              </a:rPr>
              <a:t>品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菜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地</a:t>
            </a:r>
            <a:r>
              <a:rPr lang="en-US" altLang="zh-CN" sz="1200" dirty="0">
                <a:solidFill>
                  <a:schemeClr val="tx1"/>
                </a:solidFill>
              </a:rPr>
              <a:t>x</a:t>
            </a:r>
            <a:r>
              <a:rPr lang="zh-CN" altLang="en-US" sz="1200" dirty="0">
                <a:solidFill>
                  <a:schemeClr val="tx1"/>
                </a:solidFill>
              </a:rPr>
              <a:t>供给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/>
          </a:p>
          <a:p>
            <a:pPr algn="ctr"/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完善可比维度、优化密度</a:t>
            </a:r>
          </a:p>
        </p:txBody>
      </p:sp>
      <p:sp>
        <p:nvSpPr>
          <p:cNvPr id="130" name="矩形: 圆角 129">
            <a:extLst>
              <a:ext uri="{FF2B5EF4-FFF2-40B4-BE49-F238E27FC236}">
                <a16:creationId xmlns:a16="http://schemas.microsoft.com/office/drawing/2014/main" id="{AA3B15C7-5997-2681-E82D-AF7D099C1E73}"/>
              </a:ext>
            </a:extLst>
          </p:cNvPr>
          <p:cNvSpPr/>
          <p:nvPr/>
        </p:nvSpPr>
        <p:spPr>
          <a:xfrm>
            <a:off x="587524" y="674248"/>
            <a:ext cx="8757260" cy="1473871"/>
          </a:xfrm>
          <a:prstGeom prst="round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20EB383-106E-64F1-F789-E6A48AFAB048}"/>
              </a:ext>
            </a:extLst>
          </p:cNvPr>
          <p:cNvSpPr/>
          <p:nvPr/>
        </p:nvSpPr>
        <p:spPr>
          <a:xfrm>
            <a:off x="695664" y="2357196"/>
            <a:ext cx="2657030" cy="3938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IP</a:t>
            </a:r>
            <a:r>
              <a:rPr lang="zh-CN" altLang="en-US" sz="1200" dirty="0">
                <a:solidFill>
                  <a:schemeClr val="tx1"/>
                </a:solidFill>
              </a:rPr>
              <a:t>榜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扩大心智影响力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2712FA0B-17C3-10E3-D2E6-97F63A744DCC}"/>
              </a:ext>
            </a:extLst>
          </p:cNvPr>
          <p:cNvSpPr/>
          <p:nvPr/>
        </p:nvSpPr>
        <p:spPr>
          <a:xfrm>
            <a:off x="3587505" y="2353961"/>
            <a:ext cx="2700000" cy="4248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场景榜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养心智、提转化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6E777B9D-FF33-345F-DB3D-E189208670AF}"/>
              </a:ext>
            </a:extLst>
          </p:cNvPr>
          <p:cNvSpPr/>
          <p:nvPr/>
        </p:nvSpPr>
        <p:spPr>
          <a:xfrm>
            <a:off x="6532715" y="2353961"/>
            <a:ext cx="2700000" cy="4248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指数</a:t>
            </a:r>
            <a:r>
              <a:rPr lang="zh-CN" altLang="en-US" sz="1200" dirty="0"/>
              <a:t>榜</a:t>
            </a:r>
            <a:endParaRPr lang="en-US" altLang="zh-CN" sz="1200" dirty="0"/>
          </a:p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守约束、调结构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46F90CE4-E849-C287-6844-A78C0E8FD320}"/>
              </a:ext>
            </a:extLst>
          </p:cNvPr>
          <p:cNvSpPr/>
          <p:nvPr/>
        </p:nvSpPr>
        <p:spPr>
          <a:xfrm>
            <a:off x="11687477" y="4424947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锁核心商户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956A023C-1995-1F12-963E-6FB24035B34D}"/>
              </a:ext>
            </a:extLst>
          </p:cNvPr>
          <p:cNvSpPr/>
          <p:nvPr/>
        </p:nvSpPr>
        <p:spPr>
          <a:xfrm>
            <a:off x="11687477" y="3920491"/>
            <a:ext cx="4235028" cy="3354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</a:rPr>
              <a:t>toB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77B6FCE0-222C-97FE-4664-E139DEE86C72}"/>
              </a:ext>
            </a:extLst>
          </p:cNvPr>
          <p:cNvSpPr/>
          <p:nvPr/>
        </p:nvSpPr>
        <p:spPr>
          <a:xfrm>
            <a:off x="11687475" y="5856423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牵引交履覆盖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9C0EE5CE-37ED-AEC0-DF59-1FBC895C3985}"/>
              </a:ext>
            </a:extLst>
          </p:cNvPr>
          <p:cNvSpPr/>
          <p:nvPr/>
        </p:nvSpPr>
        <p:spPr>
          <a:xfrm>
            <a:off x="13859060" y="4398027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提店推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AC84B162-C388-F8AE-A5A5-BF1C27F7BEAA}"/>
              </a:ext>
            </a:extLst>
          </p:cNvPr>
          <p:cNvSpPr/>
          <p:nvPr/>
        </p:nvSpPr>
        <p:spPr>
          <a:xfrm>
            <a:off x="13859060" y="5877714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沉淀用户资产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539A788B-BC9B-5CFE-9EBC-AD69784AA65A}"/>
              </a:ext>
            </a:extLst>
          </p:cNvPr>
          <p:cNvSpPr/>
          <p:nvPr/>
        </p:nvSpPr>
        <p:spPr>
          <a:xfrm>
            <a:off x="16029124" y="4466136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诊断指导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9DDA3A17-D1F2-1809-596D-FD98AC7CD55C}"/>
              </a:ext>
            </a:extLst>
          </p:cNvPr>
          <p:cNvSpPr/>
          <p:nvPr/>
        </p:nvSpPr>
        <p:spPr>
          <a:xfrm>
            <a:off x="16130724" y="5869274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规范行为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C948D215-E6BB-5FF2-955A-BA1C30E783AB}"/>
              </a:ext>
            </a:extLst>
          </p:cNvPr>
          <p:cNvSpPr/>
          <p:nvPr/>
        </p:nvSpPr>
        <p:spPr>
          <a:xfrm>
            <a:off x="15745235" y="2854840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明确赛道（品类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场景）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7D17E0FE-1230-318C-8F9C-95DF2C394DEC}"/>
              </a:ext>
            </a:extLst>
          </p:cNvPr>
          <p:cNvSpPr/>
          <p:nvPr/>
        </p:nvSpPr>
        <p:spPr>
          <a:xfrm>
            <a:off x="23137799" y="587410"/>
            <a:ext cx="4235028" cy="3354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To</a:t>
            </a:r>
            <a:r>
              <a:rPr lang="zh-CN" altLang="en-US" sz="1200" dirty="0">
                <a:solidFill>
                  <a:schemeClr val="tx1"/>
                </a:solidFill>
              </a:rPr>
              <a:t>到餐</a:t>
            </a:r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DF36368F-9A9C-5A89-D9EB-8838D0B36C61}"/>
              </a:ext>
            </a:extLst>
          </p:cNvPr>
          <p:cNvSpPr/>
          <p:nvPr/>
        </p:nvSpPr>
        <p:spPr>
          <a:xfrm>
            <a:off x="22725281" y="1162624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核心供给定义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4ADF6B27-A8D5-A5D2-4B81-BBE05D2BD154}"/>
              </a:ext>
            </a:extLst>
          </p:cNvPr>
          <p:cNvSpPr/>
          <p:nvPr/>
        </p:nvSpPr>
        <p:spPr>
          <a:xfrm>
            <a:off x="25024660" y="1191809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优先做功样板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45FB81DC-B2DD-E4C2-ADA1-08BE5B25E41C}"/>
              </a:ext>
            </a:extLst>
          </p:cNvPr>
          <p:cNvSpPr/>
          <p:nvPr/>
        </p:nvSpPr>
        <p:spPr>
          <a:xfrm>
            <a:off x="22769049" y="2647029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基于用户需求的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GC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协同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109E0B6F-E1C2-2DD6-EE1E-2C64D355F110}"/>
              </a:ext>
            </a:extLst>
          </p:cNvPr>
          <p:cNvSpPr/>
          <p:nvPr/>
        </p:nvSpPr>
        <p:spPr>
          <a:xfrm>
            <a:off x="25024660" y="2656830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智能掌柜分析牵引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83233728-7BBE-5F94-BDC3-294010306EE7}"/>
              </a:ext>
            </a:extLst>
          </p:cNvPr>
          <p:cNvSpPr/>
          <p:nvPr/>
        </p:nvSpPr>
        <p:spPr>
          <a:xfrm>
            <a:off x="22769048" y="4041108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交履组合牵引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D700F2F0-E051-04AA-A5B9-5F821D1ECC8C}"/>
              </a:ext>
            </a:extLst>
          </p:cNvPr>
          <p:cNvSpPr/>
          <p:nvPr/>
        </p:nvSpPr>
        <p:spPr>
          <a:xfrm>
            <a:off x="25024659" y="4050909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高流低转承接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4692BD40-B8C0-BB2A-2680-21B72EEEE720}"/>
              </a:ext>
            </a:extLst>
          </p:cNvPr>
          <p:cNvSpPr/>
          <p:nvPr/>
        </p:nvSpPr>
        <p:spPr>
          <a:xfrm>
            <a:off x="19778198" y="5956351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会员组合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0" name="箭头: V 形 159">
            <a:extLst>
              <a:ext uri="{FF2B5EF4-FFF2-40B4-BE49-F238E27FC236}">
                <a16:creationId xmlns:a16="http://schemas.microsoft.com/office/drawing/2014/main" id="{FD0574BF-F907-678E-B58A-ED250470952A}"/>
              </a:ext>
            </a:extLst>
          </p:cNvPr>
          <p:cNvSpPr/>
          <p:nvPr/>
        </p:nvSpPr>
        <p:spPr>
          <a:xfrm>
            <a:off x="7673214" y="833187"/>
            <a:ext cx="1512353" cy="257680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验证反馈</a:t>
            </a:r>
          </a:p>
        </p:txBody>
      </p:sp>
      <p:sp>
        <p:nvSpPr>
          <p:cNvPr id="161" name="矩形: 圆角 160">
            <a:extLst>
              <a:ext uri="{FF2B5EF4-FFF2-40B4-BE49-F238E27FC236}">
                <a16:creationId xmlns:a16="http://schemas.microsoft.com/office/drawing/2014/main" id="{FB589EE6-D63F-6E31-5E40-3652D1DB6F76}"/>
              </a:ext>
            </a:extLst>
          </p:cNvPr>
          <p:cNvSpPr/>
          <p:nvPr/>
        </p:nvSpPr>
        <p:spPr>
          <a:xfrm>
            <a:off x="649327" y="1493311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内容化表达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2" name="矩形: 圆角 161">
            <a:extLst>
              <a:ext uri="{FF2B5EF4-FFF2-40B4-BE49-F238E27FC236}">
                <a16:creationId xmlns:a16="http://schemas.microsoft.com/office/drawing/2014/main" id="{BC0E5C23-9254-89BE-5A01-1FEA0E7C0CFA}"/>
              </a:ext>
            </a:extLst>
          </p:cNvPr>
          <p:cNvSpPr/>
          <p:nvPr/>
        </p:nvSpPr>
        <p:spPr>
          <a:xfrm>
            <a:off x="649327" y="1784330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个性化分发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5" name="矩形: 圆角 164">
            <a:extLst>
              <a:ext uri="{FF2B5EF4-FFF2-40B4-BE49-F238E27FC236}">
                <a16:creationId xmlns:a16="http://schemas.microsoft.com/office/drawing/2014/main" id="{CB38831D-7DF1-D1CF-1545-2EB7E3B46622}"/>
              </a:ext>
            </a:extLst>
          </p:cNvPr>
          <p:cNvSpPr/>
          <p:nvPr/>
        </p:nvSpPr>
        <p:spPr>
          <a:xfrm>
            <a:off x="2397735" y="1493311"/>
            <a:ext cx="1521792" cy="235626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资产表达强化</a:t>
            </a:r>
          </a:p>
        </p:txBody>
      </p:sp>
      <p:sp>
        <p:nvSpPr>
          <p:cNvPr id="166" name="矩形: 圆角 165">
            <a:extLst>
              <a:ext uri="{FF2B5EF4-FFF2-40B4-BE49-F238E27FC236}">
                <a16:creationId xmlns:a16="http://schemas.microsoft.com/office/drawing/2014/main" id="{F0E07FAD-D561-A7D6-2630-22AC321E17B8}"/>
              </a:ext>
            </a:extLst>
          </p:cNvPr>
          <p:cNvSpPr/>
          <p:nvPr/>
        </p:nvSpPr>
        <p:spPr>
          <a:xfrm>
            <a:off x="4147977" y="1192708"/>
            <a:ext cx="1521792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搜索承接</a:t>
            </a:r>
          </a:p>
        </p:txBody>
      </p:sp>
      <p:sp>
        <p:nvSpPr>
          <p:cNvPr id="167" name="矩形: 圆角 166">
            <a:extLst>
              <a:ext uri="{FF2B5EF4-FFF2-40B4-BE49-F238E27FC236}">
                <a16:creationId xmlns:a16="http://schemas.microsoft.com/office/drawing/2014/main" id="{929B70EA-A5D7-5C39-B4F6-4E734DFC3E13}"/>
              </a:ext>
            </a:extLst>
          </p:cNvPr>
          <p:cNvSpPr/>
          <p:nvPr/>
        </p:nvSpPr>
        <p:spPr>
          <a:xfrm>
            <a:off x="4155582" y="1494850"/>
            <a:ext cx="1506582" cy="234086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榜单页改造</a:t>
            </a:r>
          </a:p>
        </p:txBody>
      </p:sp>
      <p:sp>
        <p:nvSpPr>
          <p:cNvPr id="169" name="矩形: 圆角 168">
            <a:extLst>
              <a:ext uri="{FF2B5EF4-FFF2-40B4-BE49-F238E27FC236}">
                <a16:creationId xmlns:a16="http://schemas.microsoft.com/office/drawing/2014/main" id="{E90C222F-D24F-0667-5876-18E17888ABFB}"/>
              </a:ext>
            </a:extLst>
          </p:cNvPr>
          <p:cNvSpPr/>
          <p:nvPr/>
        </p:nvSpPr>
        <p:spPr>
          <a:xfrm>
            <a:off x="7673213" y="1190766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完善分享、召回</a:t>
            </a:r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C0488769-3A5D-13F8-2829-6F19D757EB60}"/>
              </a:ext>
            </a:extLst>
          </p:cNvPr>
          <p:cNvSpPr txBox="1"/>
          <p:nvPr/>
        </p:nvSpPr>
        <p:spPr>
          <a:xfrm>
            <a:off x="-9513" y="2742045"/>
            <a:ext cx="4953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榜单矩阵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11F54D12-7DD6-3C0D-CCF0-21A30C7543EB}"/>
              </a:ext>
            </a:extLst>
          </p:cNvPr>
          <p:cNvSpPr txBox="1"/>
          <p:nvPr/>
        </p:nvSpPr>
        <p:spPr>
          <a:xfrm>
            <a:off x="7464" y="3695433"/>
            <a:ext cx="4953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资产运营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9B246921-C13B-E241-A74D-BAC33421D909}"/>
              </a:ext>
            </a:extLst>
          </p:cNvPr>
          <p:cNvSpPr txBox="1"/>
          <p:nvPr/>
        </p:nvSpPr>
        <p:spPr>
          <a:xfrm>
            <a:off x="7525" y="4444522"/>
            <a:ext cx="4953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商家牵引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179" name="矩形: 圆角 178">
            <a:extLst>
              <a:ext uri="{FF2B5EF4-FFF2-40B4-BE49-F238E27FC236}">
                <a16:creationId xmlns:a16="http://schemas.microsoft.com/office/drawing/2014/main" id="{CF932E37-4386-2D2A-9062-9995CA42BF7B}"/>
              </a:ext>
            </a:extLst>
          </p:cNvPr>
          <p:cNvSpPr/>
          <p:nvPr/>
        </p:nvSpPr>
        <p:spPr>
          <a:xfrm>
            <a:off x="695664" y="2861529"/>
            <a:ext cx="2657030" cy="214133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团侧动线运营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0" name="矩形: 圆角 179">
            <a:extLst>
              <a:ext uri="{FF2B5EF4-FFF2-40B4-BE49-F238E27FC236}">
                <a16:creationId xmlns:a16="http://schemas.microsoft.com/office/drawing/2014/main" id="{EE6DBA89-EF2B-E90A-2544-712E86CD3F96}"/>
              </a:ext>
            </a:extLst>
          </p:cNvPr>
          <p:cNvSpPr/>
          <p:nvPr/>
        </p:nvSpPr>
        <p:spPr>
          <a:xfrm>
            <a:off x="3587505" y="2840037"/>
            <a:ext cx="2700000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旅游、约会场景试点调优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1" name="矩形: 圆角 180">
            <a:extLst>
              <a:ext uri="{FF2B5EF4-FFF2-40B4-BE49-F238E27FC236}">
                <a16:creationId xmlns:a16="http://schemas.microsoft.com/office/drawing/2014/main" id="{739F5B72-9AF8-10E4-0A2F-4A25B692DDC1}"/>
              </a:ext>
            </a:extLst>
          </p:cNvPr>
          <p:cNvSpPr/>
          <p:nvPr/>
        </p:nvSpPr>
        <p:spPr>
          <a:xfrm>
            <a:off x="695664" y="3157331"/>
            <a:ext cx="2657030" cy="214133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节点联合营销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2" name="矩形: 圆角 181">
            <a:extLst>
              <a:ext uri="{FF2B5EF4-FFF2-40B4-BE49-F238E27FC236}">
                <a16:creationId xmlns:a16="http://schemas.microsoft.com/office/drawing/2014/main" id="{6688E339-ABBD-B8C7-C568-0CFE35F1E529}"/>
              </a:ext>
            </a:extLst>
          </p:cNvPr>
          <p:cNvSpPr/>
          <p:nvPr/>
        </p:nvSpPr>
        <p:spPr>
          <a:xfrm>
            <a:off x="3587505" y="3158871"/>
            <a:ext cx="2700000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旅游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县域下沉共建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3" name="矩形: 圆角 182">
            <a:extLst>
              <a:ext uri="{FF2B5EF4-FFF2-40B4-BE49-F238E27FC236}">
                <a16:creationId xmlns:a16="http://schemas.microsoft.com/office/drawing/2014/main" id="{DDFDBF70-AC5D-3F91-9DE4-FC9B985E8768}"/>
              </a:ext>
            </a:extLst>
          </p:cNvPr>
          <p:cNvSpPr/>
          <p:nvPr/>
        </p:nvSpPr>
        <p:spPr>
          <a:xfrm>
            <a:off x="6532715" y="2841180"/>
            <a:ext cx="2700000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上榜率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健康度评估，优化密度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4" name="矩形: 圆角 183">
            <a:extLst>
              <a:ext uri="{FF2B5EF4-FFF2-40B4-BE49-F238E27FC236}">
                <a16:creationId xmlns:a16="http://schemas.microsoft.com/office/drawing/2014/main" id="{2E92094F-CB21-2CF4-2851-D46E942822FA}"/>
              </a:ext>
            </a:extLst>
          </p:cNvPr>
          <p:cNvSpPr/>
          <p:nvPr/>
        </p:nvSpPr>
        <p:spPr>
          <a:xfrm>
            <a:off x="6522316" y="3174280"/>
            <a:ext cx="2700000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区域及指数维度补齐（新店等）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E9571A97-7180-C738-3CBE-D733C3D15F69}"/>
              </a:ext>
            </a:extLst>
          </p:cNvPr>
          <p:cNvSpPr/>
          <p:nvPr/>
        </p:nvSpPr>
        <p:spPr>
          <a:xfrm>
            <a:off x="647514" y="3731452"/>
            <a:ext cx="2016000" cy="39387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GC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挖掘及重点场景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GC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牵引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7" name="矩形 186">
            <a:extLst>
              <a:ext uri="{FF2B5EF4-FFF2-40B4-BE49-F238E27FC236}">
                <a16:creationId xmlns:a16="http://schemas.microsoft.com/office/drawing/2014/main" id="{04C55455-7951-C107-EDB6-C57FD5A2388C}"/>
              </a:ext>
            </a:extLst>
          </p:cNvPr>
          <p:cNvSpPr/>
          <p:nvPr/>
        </p:nvSpPr>
        <p:spPr>
          <a:xfrm>
            <a:off x="5038458" y="3731452"/>
            <a:ext cx="2016000" cy="386257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好店挖掘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8" name="矩形 187">
            <a:extLst>
              <a:ext uri="{FF2B5EF4-FFF2-40B4-BE49-F238E27FC236}">
                <a16:creationId xmlns:a16="http://schemas.microsoft.com/office/drawing/2014/main" id="{C358F90E-1374-539A-661E-1740CDF79DA2}"/>
              </a:ext>
            </a:extLst>
          </p:cNvPr>
          <p:cNvSpPr/>
          <p:nvPr/>
        </p:nvSpPr>
        <p:spPr>
          <a:xfrm>
            <a:off x="7233929" y="3731452"/>
            <a:ext cx="2016000" cy="39387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剔刷剔作弊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0" name="矩形 189">
            <a:extLst>
              <a:ext uri="{FF2B5EF4-FFF2-40B4-BE49-F238E27FC236}">
                <a16:creationId xmlns:a16="http://schemas.microsoft.com/office/drawing/2014/main" id="{32D1DD92-27E0-B5EC-AD01-A2D52BC3A4A1}"/>
              </a:ext>
            </a:extLst>
          </p:cNvPr>
          <p:cNvSpPr/>
          <p:nvPr/>
        </p:nvSpPr>
        <p:spPr>
          <a:xfrm>
            <a:off x="6540105" y="4486034"/>
            <a:ext cx="2727042" cy="39387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品类细化及划分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1" name="矩形 190">
            <a:extLst>
              <a:ext uri="{FF2B5EF4-FFF2-40B4-BE49-F238E27FC236}">
                <a16:creationId xmlns:a16="http://schemas.microsoft.com/office/drawing/2014/main" id="{74371F43-54EB-CABB-0F19-558614A1E98B}"/>
              </a:ext>
            </a:extLst>
          </p:cNvPr>
          <p:cNvSpPr/>
          <p:nvPr/>
        </p:nvSpPr>
        <p:spPr>
          <a:xfrm>
            <a:off x="3694124" y="4478419"/>
            <a:ext cx="2739361" cy="39387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荣誉强化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&amp;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线下物料覆盖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0" name="矩形: 圆角 199">
            <a:extLst>
              <a:ext uri="{FF2B5EF4-FFF2-40B4-BE49-F238E27FC236}">
                <a16:creationId xmlns:a16="http://schemas.microsoft.com/office/drawing/2014/main" id="{A1F44295-B266-D160-3514-CCA85036BEBD}"/>
              </a:ext>
            </a:extLst>
          </p:cNvPr>
          <p:cNvSpPr/>
          <p:nvPr/>
        </p:nvSpPr>
        <p:spPr>
          <a:xfrm>
            <a:off x="7683015" y="1489572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评价引导</a:t>
            </a:r>
          </a:p>
        </p:txBody>
      </p:sp>
      <p:sp>
        <p:nvSpPr>
          <p:cNvPr id="201" name="矩形: 圆角 200">
            <a:extLst>
              <a:ext uri="{FF2B5EF4-FFF2-40B4-BE49-F238E27FC236}">
                <a16:creationId xmlns:a16="http://schemas.microsoft.com/office/drawing/2014/main" id="{16A5767D-B635-F162-E5C4-8DCB735DEBD2}"/>
              </a:ext>
            </a:extLst>
          </p:cNvPr>
          <p:cNvSpPr/>
          <p:nvPr/>
        </p:nvSpPr>
        <p:spPr>
          <a:xfrm>
            <a:off x="587525" y="2246848"/>
            <a:ext cx="8757260" cy="1261734"/>
          </a:xfrm>
          <a:prstGeom prst="round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2" name="矩形 201">
            <a:extLst>
              <a:ext uri="{FF2B5EF4-FFF2-40B4-BE49-F238E27FC236}">
                <a16:creationId xmlns:a16="http://schemas.microsoft.com/office/drawing/2014/main" id="{BB12C0A8-6A46-F771-9047-53768FB23C88}"/>
              </a:ext>
            </a:extLst>
          </p:cNvPr>
          <p:cNvSpPr/>
          <p:nvPr/>
        </p:nvSpPr>
        <p:spPr>
          <a:xfrm>
            <a:off x="2842986" y="3731452"/>
            <a:ext cx="2016000" cy="39387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算法规则优化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8663353C-9751-B173-A6CC-3C95AF78A397}"/>
              </a:ext>
            </a:extLst>
          </p:cNvPr>
          <p:cNvSpPr/>
          <p:nvPr/>
        </p:nvSpPr>
        <p:spPr>
          <a:xfrm>
            <a:off x="640270" y="4483766"/>
            <a:ext cx="2947235" cy="39387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商户指导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&amp;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诊断工具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5" name="矩形: 圆角 204">
            <a:extLst>
              <a:ext uri="{FF2B5EF4-FFF2-40B4-BE49-F238E27FC236}">
                <a16:creationId xmlns:a16="http://schemas.microsoft.com/office/drawing/2014/main" id="{69A4407B-5D0A-FE73-C606-1C85A53906AF}"/>
              </a:ext>
            </a:extLst>
          </p:cNvPr>
          <p:cNvSpPr/>
          <p:nvPr/>
        </p:nvSpPr>
        <p:spPr>
          <a:xfrm>
            <a:off x="2404392" y="1819278"/>
            <a:ext cx="1521792" cy="235626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连锁信息复用</a:t>
            </a:r>
          </a:p>
        </p:txBody>
      </p:sp>
      <p:sp>
        <p:nvSpPr>
          <p:cNvPr id="206" name="矩形: 圆角 205">
            <a:extLst>
              <a:ext uri="{FF2B5EF4-FFF2-40B4-BE49-F238E27FC236}">
                <a16:creationId xmlns:a16="http://schemas.microsoft.com/office/drawing/2014/main" id="{FAF63D61-1D39-357E-64A4-D48DEC35841F}"/>
              </a:ext>
            </a:extLst>
          </p:cNvPr>
          <p:cNvSpPr/>
          <p:nvPr/>
        </p:nvSpPr>
        <p:spPr>
          <a:xfrm>
            <a:off x="5913429" y="1502139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权益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营销组合</a:t>
            </a:r>
          </a:p>
        </p:txBody>
      </p:sp>
      <p:sp>
        <p:nvSpPr>
          <p:cNvPr id="208" name="文本框 207">
            <a:extLst>
              <a:ext uri="{FF2B5EF4-FFF2-40B4-BE49-F238E27FC236}">
                <a16:creationId xmlns:a16="http://schemas.microsoft.com/office/drawing/2014/main" id="{DF915892-9878-21E4-F628-06C813229A15}"/>
              </a:ext>
            </a:extLst>
          </p:cNvPr>
          <p:cNvSpPr txBox="1"/>
          <p:nvPr/>
        </p:nvSpPr>
        <p:spPr>
          <a:xfrm>
            <a:off x="-5414" y="7299188"/>
            <a:ext cx="4953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信任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209" name="矩形: 圆角 208">
            <a:extLst>
              <a:ext uri="{FF2B5EF4-FFF2-40B4-BE49-F238E27FC236}">
                <a16:creationId xmlns:a16="http://schemas.microsoft.com/office/drawing/2014/main" id="{420D0536-D5A5-37B6-1B32-AF19C15FB150}"/>
              </a:ext>
            </a:extLst>
          </p:cNvPr>
          <p:cNvSpPr/>
          <p:nvPr/>
        </p:nvSpPr>
        <p:spPr>
          <a:xfrm>
            <a:off x="5372864" y="7347048"/>
            <a:ext cx="1014244" cy="31958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线下物料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0" name="矩形: 圆角 209">
            <a:extLst>
              <a:ext uri="{FF2B5EF4-FFF2-40B4-BE49-F238E27FC236}">
                <a16:creationId xmlns:a16="http://schemas.microsoft.com/office/drawing/2014/main" id="{63E05CD6-5D76-2F03-98FC-8B8366FF9A82}"/>
              </a:ext>
            </a:extLst>
          </p:cNvPr>
          <p:cNvSpPr/>
          <p:nvPr/>
        </p:nvSpPr>
        <p:spPr>
          <a:xfrm>
            <a:off x="684631" y="7293122"/>
            <a:ext cx="2216401" cy="301037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  <a:latin typeface="+mn-ea"/>
              </a:rPr>
              <a:t>toC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市场宣发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1" name="矩形: 圆角 210">
            <a:extLst>
              <a:ext uri="{FF2B5EF4-FFF2-40B4-BE49-F238E27FC236}">
                <a16:creationId xmlns:a16="http://schemas.microsoft.com/office/drawing/2014/main" id="{554CD493-BA20-D256-46FF-9646C4AE6FC8}"/>
              </a:ext>
            </a:extLst>
          </p:cNvPr>
          <p:cNvSpPr/>
          <p:nvPr/>
        </p:nvSpPr>
        <p:spPr>
          <a:xfrm>
            <a:off x="7201396" y="7290042"/>
            <a:ext cx="1014244" cy="31958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政府共建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C5D7130-2929-766C-B791-A2E2585D4434}"/>
              </a:ext>
            </a:extLst>
          </p:cNvPr>
          <p:cNvSpPr/>
          <p:nvPr/>
        </p:nvSpPr>
        <p:spPr>
          <a:xfrm>
            <a:off x="587524" y="3626845"/>
            <a:ext cx="8757260" cy="639912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97C7F1E-2631-7B22-9736-73E5B0B713C6}"/>
              </a:ext>
            </a:extLst>
          </p:cNvPr>
          <p:cNvSpPr/>
          <p:nvPr/>
        </p:nvSpPr>
        <p:spPr>
          <a:xfrm>
            <a:off x="587524" y="4359780"/>
            <a:ext cx="8757260" cy="594313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720747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图片 158">
            <a:extLst>
              <a:ext uri="{FF2B5EF4-FFF2-40B4-BE49-F238E27FC236}">
                <a16:creationId xmlns:a16="http://schemas.microsoft.com/office/drawing/2014/main" id="{715828CD-176B-7A07-67D6-727DD6B017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800" y="-9592104"/>
            <a:ext cx="9859850" cy="5658745"/>
          </a:xfrm>
          <a:prstGeom prst="rect">
            <a:avLst/>
          </a:prstGeom>
        </p:spPr>
      </p:pic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5" imgW="0" imgH="0" progId="TCLayout.ActiveDocument.1">
                  <p:embed/>
                </p:oleObj>
              </mc:Choice>
              <mc:Fallback>
                <p:oleObj name="think-cell 幻灯片" r:id="rId5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7A1B3C51-C11C-8CDC-B70A-FC80155E75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3509294" y="-7217939"/>
            <a:ext cx="8290411" cy="5892356"/>
          </a:xfrm>
          <a:prstGeom prst="rect">
            <a:avLst/>
          </a:prstGeom>
        </p:spPr>
      </p:pic>
      <p:sp>
        <p:nvSpPr>
          <p:cNvPr id="11" name="箭头: 五边形 10">
            <a:extLst>
              <a:ext uri="{FF2B5EF4-FFF2-40B4-BE49-F238E27FC236}">
                <a16:creationId xmlns:a16="http://schemas.microsoft.com/office/drawing/2014/main" id="{B082F2F7-1068-A9FA-BC97-33D268400DF0}"/>
              </a:ext>
            </a:extLst>
          </p:cNvPr>
          <p:cNvSpPr/>
          <p:nvPr/>
        </p:nvSpPr>
        <p:spPr>
          <a:xfrm>
            <a:off x="937194" y="609943"/>
            <a:ext cx="1512353" cy="257680"/>
          </a:xfrm>
          <a:prstGeom prst="homePlat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灵感激发</a:t>
            </a:r>
          </a:p>
        </p:txBody>
      </p:sp>
      <p:sp>
        <p:nvSpPr>
          <p:cNvPr id="32" name="箭头: V 形 31">
            <a:extLst>
              <a:ext uri="{FF2B5EF4-FFF2-40B4-BE49-F238E27FC236}">
                <a16:creationId xmlns:a16="http://schemas.microsoft.com/office/drawing/2014/main" id="{23B7E120-07A6-1E17-2C38-F1211F948EC2}"/>
              </a:ext>
            </a:extLst>
          </p:cNvPr>
          <p:cNvSpPr/>
          <p:nvPr/>
        </p:nvSpPr>
        <p:spPr>
          <a:xfrm>
            <a:off x="2692259" y="618335"/>
            <a:ext cx="1510416" cy="257680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信息获取</a:t>
            </a:r>
          </a:p>
        </p:txBody>
      </p:sp>
      <p:sp>
        <p:nvSpPr>
          <p:cNvPr id="33" name="箭头: V 形 32">
            <a:extLst>
              <a:ext uri="{FF2B5EF4-FFF2-40B4-BE49-F238E27FC236}">
                <a16:creationId xmlns:a16="http://schemas.microsoft.com/office/drawing/2014/main" id="{578D6870-D1E8-3DAC-323B-2CCE709222CC}"/>
              </a:ext>
            </a:extLst>
          </p:cNvPr>
          <p:cNvSpPr/>
          <p:nvPr/>
        </p:nvSpPr>
        <p:spPr>
          <a:xfrm>
            <a:off x="4443450" y="618335"/>
            <a:ext cx="1523730" cy="257680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对比选择</a:t>
            </a:r>
          </a:p>
        </p:txBody>
      </p:sp>
      <p:sp>
        <p:nvSpPr>
          <p:cNvPr id="34" name="箭头: V 形 33">
            <a:extLst>
              <a:ext uri="{FF2B5EF4-FFF2-40B4-BE49-F238E27FC236}">
                <a16:creationId xmlns:a16="http://schemas.microsoft.com/office/drawing/2014/main" id="{A57D9564-2307-01BC-C554-262A5E1E06B4}"/>
              </a:ext>
            </a:extLst>
          </p:cNvPr>
          <p:cNvSpPr/>
          <p:nvPr/>
        </p:nvSpPr>
        <p:spPr>
          <a:xfrm>
            <a:off x="6207954" y="618335"/>
            <a:ext cx="1512353" cy="257680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决策闭环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22E22ED-68B4-3641-2F15-3AF32D9C8A5F}"/>
              </a:ext>
            </a:extLst>
          </p:cNvPr>
          <p:cNvSpPr txBox="1"/>
          <p:nvPr/>
        </p:nvSpPr>
        <p:spPr>
          <a:xfrm>
            <a:off x="271299" y="852566"/>
            <a:ext cx="4953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用户动线体验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38D451EC-16D1-A308-D849-283B61C34176}"/>
              </a:ext>
            </a:extLst>
          </p:cNvPr>
          <p:cNvSpPr/>
          <p:nvPr/>
        </p:nvSpPr>
        <p:spPr>
          <a:xfrm>
            <a:off x="939130" y="982657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场景前置触达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9B71615D-9AE1-8154-EFCE-D4D49F1E2286}"/>
              </a:ext>
            </a:extLst>
          </p:cNvPr>
          <p:cNvSpPr/>
          <p:nvPr/>
        </p:nvSpPr>
        <p:spPr>
          <a:xfrm>
            <a:off x="17445085" y="-4801529"/>
            <a:ext cx="1512353" cy="427313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搜索比较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榜单页筛选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A0E6F357-F58D-8096-BEC3-7F07760C29B3}"/>
              </a:ext>
            </a:extLst>
          </p:cNvPr>
          <p:cNvSpPr/>
          <p:nvPr/>
        </p:nvSpPr>
        <p:spPr>
          <a:xfrm>
            <a:off x="2699866" y="982657"/>
            <a:ext cx="1521792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动线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x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榜单标签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4C87D21C-163C-E8E1-40B3-8831B4E3B853}"/>
              </a:ext>
            </a:extLst>
          </p:cNvPr>
          <p:cNvSpPr/>
          <p:nvPr/>
        </p:nvSpPr>
        <p:spPr>
          <a:xfrm>
            <a:off x="6207955" y="977856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履约产品组合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表达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94298399-2182-A10B-64D4-F85F11573FAE}"/>
              </a:ext>
            </a:extLst>
          </p:cNvPr>
          <p:cNvSpPr/>
          <p:nvPr/>
        </p:nvSpPr>
        <p:spPr>
          <a:xfrm>
            <a:off x="21797876" y="-3318880"/>
            <a:ext cx="6960194" cy="2128937"/>
          </a:xfrm>
          <a:prstGeom prst="roundRect">
            <a:avLst>
              <a:gd name="adj" fmla="val 5571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8A64C5C6-87EA-13FE-E519-66D0D0018055}"/>
              </a:ext>
            </a:extLst>
          </p:cNvPr>
          <p:cNvSpPr txBox="1"/>
          <p:nvPr/>
        </p:nvSpPr>
        <p:spPr>
          <a:xfrm>
            <a:off x="9526619" y="-2925601"/>
            <a:ext cx="4953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决策环节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20DB24A-E215-28DB-3B37-DD09F60ED16D}"/>
              </a:ext>
            </a:extLst>
          </p:cNvPr>
          <p:cNvSpPr/>
          <p:nvPr/>
        </p:nvSpPr>
        <p:spPr>
          <a:xfrm>
            <a:off x="21872673" y="-2610182"/>
            <a:ext cx="1512353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区域</a:t>
            </a:r>
            <a:r>
              <a:rPr lang="en-US" altLang="zh-CN" sz="1200" dirty="0">
                <a:solidFill>
                  <a:schemeClr val="tx1"/>
                </a:solidFill>
              </a:rPr>
              <a:t>x</a:t>
            </a:r>
            <a:r>
              <a:rPr lang="zh-CN" altLang="en-US" sz="1200" dirty="0">
                <a:solidFill>
                  <a:schemeClr val="tx1"/>
                </a:solidFill>
              </a:rPr>
              <a:t>主题</a:t>
            </a:r>
            <a:r>
              <a:rPr lang="en-US" altLang="zh-CN" sz="1200" dirty="0">
                <a:solidFill>
                  <a:schemeClr val="tx1"/>
                </a:solidFill>
              </a:rPr>
              <a:t>x</a:t>
            </a:r>
            <a:r>
              <a:rPr lang="zh-CN" altLang="en-US" sz="1200" dirty="0">
                <a:solidFill>
                  <a:schemeClr val="tx1"/>
                </a:solidFill>
              </a:rPr>
              <a:t>供给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/>
          </a:p>
          <a:p>
            <a:pPr algn="ctr"/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优先节日场景，逐渐完善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894D3FD-BF09-99B7-602D-3387AB5D2EBB}"/>
              </a:ext>
            </a:extLst>
          </p:cNvPr>
          <p:cNvSpPr/>
          <p:nvPr/>
        </p:nvSpPr>
        <p:spPr>
          <a:xfrm>
            <a:off x="-2679482" y="0"/>
            <a:ext cx="1195011" cy="17681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品类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zh-CN" altLang="en-US" sz="1200" dirty="0"/>
              <a:t>地址</a:t>
            </a:r>
            <a:endParaRPr lang="en-US" altLang="zh-CN" sz="1200" dirty="0"/>
          </a:p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菜品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A3534B3-2320-6866-F3B4-A21000B4DA93}"/>
              </a:ext>
            </a:extLst>
          </p:cNvPr>
          <p:cNvSpPr/>
          <p:nvPr/>
        </p:nvSpPr>
        <p:spPr>
          <a:xfrm>
            <a:off x="25378928" y="-2603753"/>
            <a:ext cx="3276857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/>
              <a:t>交易</a:t>
            </a:r>
            <a:r>
              <a:rPr lang="en-US" altLang="zh-CN" sz="1200" dirty="0"/>
              <a:t>/GC/</a:t>
            </a:r>
            <a:r>
              <a:rPr lang="zh-CN" altLang="en-US" sz="1200" dirty="0"/>
              <a:t>履约</a:t>
            </a:r>
            <a:r>
              <a:rPr lang="en-US" altLang="zh-CN" sz="1200" dirty="0"/>
              <a:t>/</a:t>
            </a:r>
            <a:r>
              <a:rPr lang="zh-CN" altLang="en-US" sz="1200" dirty="0"/>
              <a:t>用户行为</a:t>
            </a:r>
            <a:endParaRPr lang="en-US" altLang="zh-CN" sz="1200" dirty="0"/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规则算法优化、更匹配物理世界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E0E4B88C-8445-D05C-710B-2D11628A402D}"/>
              </a:ext>
            </a:extLst>
          </p:cNvPr>
          <p:cNvSpPr txBox="1"/>
          <p:nvPr/>
        </p:nvSpPr>
        <p:spPr>
          <a:xfrm>
            <a:off x="-556461" y="-46280"/>
            <a:ext cx="28523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latin typeface="+mn-ea"/>
              </a:rPr>
              <a:t>更全版本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7566BC90-687D-1CCA-F15D-B4583002D94B}"/>
              </a:ext>
            </a:extLst>
          </p:cNvPr>
          <p:cNvSpPr/>
          <p:nvPr/>
        </p:nvSpPr>
        <p:spPr>
          <a:xfrm>
            <a:off x="21872672" y="-3108209"/>
            <a:ext cx="3265481" cy="3938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榜单矩阵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C83E41F-2D3A-D90D-D9AA-463CF0B6F26E}"/>
              </a:ext>
            </a:extLst>
          </p:cNvPr>
          <p:cNvSpPr/>
          <p:nvPr/>
        </p:nvSpPr>
        <p:spPr>
          <a:xfrm>
            <a:off x="25378928" y="-3108209"/>
            <a:ext cx="3276856" cy="3938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资产引用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94677B64-3188-EE25-5C1A-2BDACB69A98B}"/>
              </a:ext>
            </a:extLst>
          </p:cNvPr>
          <p:cNvSpPr txBox="1"/>
          <p:nvPr/>
        </p:nvSpPr>
        <p:spPr>
          <a:xfrm>
            <a:off x="25118206" y="-3046650"/>
            <a:ext cx="3091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/>
                </a:solidFill>
              </a:rPr>
              <a:t>x</a:t>
            </a:r>
            <a:endParaRPr lang="zh-CN" altLang="en-US" sz="1200" dirty="0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8F1B5AC7-0D6D-FAC6-6633-B45689E5DA13}"/>
              </a:ext>
            </a:extLst>
          </p:cNvPr>
          <p:cNvSpPr/>
          <p:nvPr/>
        </p:nvSpPr>
        <p:spPr>
          <a:xfrm>
            <a:off x="23625800" y="-2600524"/>
            <a:ext cx="1512354" cy="12540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区域</a:t>
            </a:r>
            <a:r>
              <a:rPr lang="en-US" altLang="zh-CN" sz="1200" dirty="0">
                <a:solidFill>
                  <a:schemeClr val="tx1"/>
                </a:solidFill>
              </a:rPr>
              <a:t>x</a:t>
            </a:r>
            <a:r>
              <a:rPr lang="zh-CN" altLang="en-US" sz="1200" dirty="0">
                <a:solidFill>
                  <a:schemeClr val="tx1"/>
                </a:solidFill>
              </a:rPr>
              <a:t>品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菜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地</a:t>
            </a:r>
            <a:r>
              <a:rPr lang="en-US" altLang="zh-CN" sz="1200" dirty="0">
                <a:solidFill>
                  <a:schemeClr val="tx1"/>
                </a:solidFill>
              </a:rPr>
              <a:t>x</a:t>
            </a:r>
            <a:r>
              <a:rPr lang="zh-CN" altLang="en-US" sz="1200" dirty="0">
                <a:solidFill>
                  <a:schemeClr val="tx1"/>
                </a:solidFill>
              </a:rPr>
              <a:t>供给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/>
          </a:p>
          <a:p>
            <a:pPr algn="ctr"/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完善可比维度、优化密度</a:t>
            </a:r>
          </a:p>
        </p:txBody>
      </p:sp>
      <p:sp>
        <p:nvSpPr>
          <p:cNvPr id="130" name="矩形: 圆角 129">
            <a:extLst>
              <a:ext uri="{FF2B5EF4-FFF2-40B4-BE49-F238E27FC236}">
                <a16:creationId xmlns:a16="http://schemas.microsoft.com/office/drawing/2014/main" id="{AA3B15C7-5997-2681-E82D-AF7D099C1E73}"/>
              </a:ext>
            </a:extLst>
          </p:cNvPr>
          <p:cNvSpPr/>
          <p:nvPr/>
        </p:nvSpPr>
        <p:spPr>
          <a:xfrm>
            <a:off x="875391" y="459396"/>
            <a:ext cx="8757260" cy="1844550"/>
          </a:xfrm>
          <a:prstGeom prst="round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20EB383-106E-64F1-F789-E6A48AFAB048}"/>
              </a:ext>
            </a:extLst>
          </p:cNvPr>
          <p:cNvSpPr/>
          <p:nvPr/>
        </p:nvSpPr>
        <p:spPr>
          <a:xfrm>
            <a:off x="1001717" y="2612632"/>
            <a:ext cx="2657030" cy="3938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IP</a:t>
            </a:r>
            <a:r>
              <a:rPr lang="zh-CN" altLang="en-US" sz="1200" dirty="0">
                <a:solidFill>
                  <a:schemeClr val="tx1"/>
                </a:solidFill>
              </a:rPr>
              <a:t>榜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扩大心智影响力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2712FA0B-17C3-10E3-D2E6-97F63A744DCC}"/>
              </a:ext>
            </a:extLst>
          </p:cNvPr>
          <p:cNvSpPr/>
          <p:nvPr/>
        </p:nvSpPr>
        <p:spPr>
          <a:xfrm>
            <a:off x="3893558" y="2609397"/>
            <a:ext cx="2700000" cy="4248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场景榜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养心智、提转化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6E777B9D-FF33-345F-DB3D-E189208670AF}"/>
              </a:ext>
            </a:extLst>
          </p:cNvPr>
          <p:cNvSpPr/>
          <p:nvPr/>
        </p:nvSpPr>
        <p:spPr>
          <a:xfrm>
            <a:off x="6838768" y="2609397"/>
            <a:ext cx="2700000" cy="4248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指数</a:t>
            </a:r>
            <a:r>
              <a:rPr lang="zh-CN" altLang="en-US" sz="1200" dirty="0"/>
              <a:t>榜</a:t>
            </a:r>
            <a:endParaRPr lang="en-US" altLang="zh-CN" sz="1200" dirty="0"/>
          </a:p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守约束、调结构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46F90CE4-E849-C287-6844-A78C0E8FD320}"/>
              </a:ext>
            </a:extLst>
          </p:cNvPr>
          <p:cNvSpPr/>
          <p:nvPr/>
        </p:nvSpPr>
        <p:spPr>
          <a:xfrm>
            <a:off x="14366152" y="1259583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锁核心商户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956A023C-1995-1F12-963E-6FB24035B34D}"/>
              </a:ext>
            </a:extLst>
          </p:cNvPr>
          <p:cNvSpPr/>
          <p:nvPr/>
        </p:nvSpPr>
        <p:spPr>
          <a:xfrm>
            <a:off x="14366152" y="755127"/>
            <a:ext cx="4235028" cy="3354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</a:rPr>
              <a:t>toB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77B6FCE0-222C-97FE-4664-E139DEE86C72}"/>
              </a:ext>
            </a:extLst>
          </p:cNvPr>
          <p:cNvSpPr/>
          <p:nvPr/>
        </p:nvSpPr>
        <p:spPr>
          <a:xfrm>
            <a:off x="14366150" y="2691059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牵引交履覆盖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9C0EE5CE-37ED-AEC0-DF59-1FBC895C3985}"/>
              </a:ext>
            </a:extLst>
          </p:cNvPr>
          <p:cNvSpPr/>
          <p:nvPr/>
        </p:nvSpPr>
        <p:spPr>
          <a:xfrm>
            <a:off x="16537735" y="1232663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提店推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AC84B162-C388-F8AE-A5A5-BF1C27F7BEAA}"/>
              </a:ext>
            </a:extLst>
          </p:cNvPr>
          <p:cNvSpPr/>
          <p:nvPr/>
        </p:nvSpPr>
        <p:spPr>
          <a:xfrm>
            <a:off x="16537735" y="2712350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沉淀用户资产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539A788B-BC9B-5CFE-9EBC-AD69784AA65A}"/>
              </a:ext>
            </a:extLst>
          </p:cNvPr>
          <p:cNvSpPr/>
          <p:nvPr/>
        </p:nvSpPr>
        <p:spPr>
          <a:xfrm>
            <a:off x="18707799" y="1300772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诊断指导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9DDA3A17-D1F2-1809-596D-FD98AC7CD55C}"/>
              </a:ext>
            </a:extLst>
          </p:cNvPr>
          <p:cNvSpPr/>
          <p:nvPr/>
        </p:nvSpPr>
        <p:spPr>
          <a:xfrm>
            <a:off x="18809399" y="2703910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规范行为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C948D215-E6BB-5FF2-955A-BA1C30E783AB}"/>
              </a:ext>
            </a:extLst>
          </p:cNvPr>
          <p:cNvSpPr/>
          <p:nvPr/>
        </p:nvSpPr>
        <p:spPr>
          <a:xfrm>
            <a:off x="18423910" y="-310524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明确赛道（品类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场景）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7D17E0FE-1230-318C-8F9C-95DF2C394DEC}"/>
              </a:ext>
            </a:extLst>
          </p:cNvPr>
          <p:cNvSpPr/>
          <p:nvPr/>
        </p:nvSpPr>
        <p:spPr>
          <a:xfrm>
            <a:off x="23137799" y="587410"/>
            <a:ext cx="4235028" cy="3354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To</a:t>
            </a:r>
            <a:r>
              <a:rPr lang="zh-CN" altLang="en-US" sz="1200" dirty="0">
                <a:solidFill>
                  <a:schemeClr val="tx1"/>
                </a:solidFill>
              </a:rPr>
              <a:t>到餐</a:t>
            </a:r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DF36368F-9A9C-5A89-D9EB-8838D0B36C61}"/>
              </a:ext>
            </a:extLst>
          </p:cNvPr>
          <p:cNvSpPr/>
          <p:nvPr/>
        </p:nvSpPr>
        <p:spPr>
          <a:xfrm>
            <a:off x="22725281" y="1162624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核心供给定义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4ADF6B27-A8D5-A5D2-4B81-BBE05D2BD154}"/>
              </a:ext>
            </a:extLst>
          </p:cNvPr>
          <p:cNvSpPr/>
          <p:nvPr/>
        </p:nvSpPr>
        <p:spPr>
          <a:xfrm>
            <a:off x="25024660" y="1191809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优先做功样板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45FB81DC-B2DD-E4C2-ADA1-08BE5B25E41C}"/>
              </a:ext>
            </a:extLst>
          </p:cNvPr>
          <p:cNvSpPr/>
          <p:nvPr/>
        </p:nvSpPr>
        <p:spPr>
          <a:xfrm>
            <a:off x="22769049" y="2647029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基于用户需求的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GC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协同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109E0B6F-E1C2-2DD6-EE1E-2C64D355F110}"/>
              </a:ext>
            </a:extLst>
          </p:cNvPr>
          <p:cNvSpPr/>
          <p:nvPr/>
        </p:nvSpPr>
        <p:spPr>
          <a:xfrm>
            <a:off x="25024660" y="2656830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智能掌柜分析牵引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83233728-7BBE-5F94-BDC3-294010306EE7}"/>
              </a:ext>
            </a:extLst>
          </p:cNvPr>
          <p:cNvSpPr/>
          <p:nvPr/>
        </p:nvSpPr>
        <p:spPr>
          <a:xfrm>
            <a:off x="22769048" y="4041108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交履组合牵引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D700F2F0-E051-04AA-A5B9-5F821D1ECC8C}"/>
              </a:ext>
            </a:extLst>
          </p:cNvPr>
          <p:cNvSpPr/>
          <p:nvPr/>
        </p:nvSpPr>
        <p:spPr>
          <a:xfrm>
            <a:off x="25024659" y="4050909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高流低转承接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4692BD40-B8C0-BB2A-2680-21B72EEEE720}"/>
              </a:ext>
            </a:extLst>
          </p:cNvPr>
          <p:cNvSpPr/>
          <p:nvPr/>
        </p:nvSpPr>
        <p:spPr>
          <a:xfrm>
            <a:off x="19778198" y="5956351"/>
            <a:ext cx="2063445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会员组合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0" name="箭头: V 形 159">
            <a:extLst>
              <a:ext uri="{FF2B5EF4-FFF2-40B4-BE49-F238E27FC236}">
                <a16:creationId xmlns:a16="http://schemas.microsoft.com/office/drawing/2014/main" id="{FD0574BF-F907-678E-B58A-ED250470952A}"/>
              </a:ext>
            </a:extLst>
          </p:cNvPr>
          <p:cNvSpPr/>
          <p:nvPr/>
        </p:nvSpPr>
        <p:spPr>
          <a:xfrm>
            <a:off x="7961081" y="618335"/>
            <a:ext cx="1512353" cy="257680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验证反馈</a:t>
            </a:r>
          </a:p>
        </p:txBody>
      </p:sp>
      <p:sp>
        <p:nvSpPr>
          <p:cNvPr id="161" name="矩形: 圆角 160">
            <a:extLst>
              <a:ext uri="{FF2B5EF4-FFF2-40B4-BE49-F238E27FC236}">
                <a16:creationId xmlns:a16="http://schemas.microsoft.com/office/drawing/2014/main" id="{FB589EE6-D63F-6E31-5E40-3652D1DB6F76}"/>
              </a:ext>
            </a:extLst>
          </p:cNvPr>
          <p:cNvSpPr/>
          <p:nvPr/>
        </p:nvSpPr>
        <p:spPr>
          <a:xfrm>
            <a:off x="937194" y="1278459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内容化表达如地图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2" name="矩形: 圆角 161">
            <a:extLst>
              <a:ext uri="{FF2B5EF4-FFF2-40B4-BE49-F238E27FC236}">
                <a16:creationId xmlns:a16="http://schemas.microsoft.com/office/drawing/2014/main" id="{BC0E5C23-9254-89BE-5A01-1FEA0E7C0CFA}"/>
              </a:ext>
            </a:extLst>
          </p:cNvPr>
          <p:cNvSpPr/>
          <p:nvPr/>
        </p:nvSpPr>
        <p:spPr>
          <a:xfrm>
            <a:off x="937194" y="1569478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个性化分发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5" name="矩形: 圆角 164">
            <a:extLst>
              <a:ext uri="{FF2B5EF4-FFF2-40B4-BE49-F238E27FC236}">
                <a16:creationId xmlns:a16="http://schemas.microsoft.com/office/drawing/2014/main" id="{CB38831D-7DF1-D1CF-1545-2EB7E3B46622}"/>
              </a:ext>
            </a:extLst>
          </p:cNvPr>
          <p:cNvSpPr/>
          <p:nvPr/>
        </p:nvSpPr>
        <p:spPr>
          <a:xfrm>
            <a:off x="2685602" y="1278459"/>
            <a:ext cx="1521792" cy="235626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GC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资产表达强化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(AI)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6" name="矩形: 圆角 165">
            <a:extLst>
              <a:ext uri="{FF2B5EF4-FFF2-40B4-BE49-F238E27FC236}">
                <a16:creationId xmlns:a16="http://schemas.microsoft.com/office/drawing/2014/main" id="{F0E07FAD-D561-A7D6-2630-22AC321E17B8}"/>
              </a:ext>
            </a:extLst>
          </p:cNvPr>
          <p:cNvSpPr/>
          <p:nvPr/>
        </p:nvSpPr>
        <p:spPr>
          <a:xfrm>
            <a:off x="4435844" y="977856"/>
            <a:ext cx="1521792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搜索承接</a:t>
            </a:r>
          </a:p>
        </p:txBody>
      </p:sp>
      <p:sp>
        <p:nvSpPr>
          <p:cNvPr id="167" name="矩形: 圆角 166">
            <a:extLst>
              <a:ext uri="{FF2B5EF4-FFF2-40B4-BE49-F238E27FC236}">
                <a16:creationId xmlns:a16="http://schemas.microsoft.com/office/drawing/2014/main" id="{929B70EA-A5D7-5C39-B4F6-4E734DFC3E13}"/>
              </a:ext>
            </a:extLst>
          </p:cNvPr>
          <p:cNvSpPr/>
          <p:nvPr/>
        </p:nvSpPr>
        <p:spPr>
          <a:xfrm>
            <a:off x="4443449" y="1279998"/>
            <a:ext cx="1506582" cy="234086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榜单页改造</a:t>
            </a:r>
          </a:p>
        </p:txBody>
      </p:sp>
      <p:sp>
        <p:nvSpPr>
          <p:cNvPr id="169" name="矩形: 圆角 168">
            <a:extLst>
              <a:ext uri="{FF2B5EF4-FFF2-40B4-BE49-F238E27FC236}">
                <a16:creationId xmlns:a16="http://schemas.microsoft.com/office/drawing/2014/main" id="{E90C222F-D24F-0667-5876-18E17888ABFB}"/>
              </a:ext>
            </a:extLst>
          </p:cNvPr>
          <p:cNvSpPr/>
          <p:nvPr/>
        </p:nvSpPr>
        <p:spPr>
          <a:xfrm>
            <a:off x="7961080" y="975914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完善分享、召回</a:t>
            </a:r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C0488769-3A5D-13F8-2829-6F19D757EB60}"/>
              </a:ext>
            </a:extLst>
          </p:cNvPr>
          <p:cNvSpPr txBox="1"/>
          <p:nvPr/>
        </p:nvSpPr>
        <p:spPr>
          <a:xfrm>
            <a:off x="296540" y="2997481"/>
            <a:ext cx="4953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榜单矩阵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11F54D12-7DD6-3C0D-CCF0-21A30C7543EB}"/>
              </a:ext>
            </a:extLst>
          </p:cNvPr>
          <p:cNvSpPr txBox="1"/>
          <p:nvPr/>
        </p:nvSpPr>
        <p:spPr>
          <a:xfrm>
            <a:off x="293117" y="4517088"/>
            <a:ext cx="4953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资产运营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9B246921-C13B-E241-A74D-BAC33421D909}"/>
              </a:ext>
            </a:extLst>
          </p:cNvPr>
          <p:cNvSpPr txBox="1"/>
          <p:nvPr/>
        </p:nvSpPr>
        <p:spPr>
          <a:xfrm>
            <a:off x="293178" y="5266177"/>
            <a:ext cx="4953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商家牵引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179" name="矩形: 圆角 178">
            <a:extLst>
              <a:ext uri="{FF2B5EF4-FFF2-40B4-BE49-F238E27FC236}">
                <a16:creationId xmlns:a16="http://schemas.microsoft.com/office/drawing/2014/main" id="{CF932E37-4386-2D2A-9062-9995CA42BF7B}"/>
              </a:ext>
            </a:extLst>
          </p:cNvPr>
          <p:cNvSpPr/>
          <p:nvPr/>
        </p:nvSpPr>
        <p:spPr>
          <a:xfrm>
            <a:off x="1001717" y="3116965"/>
            <a:ext cx="2657030" cy="214133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团侧动线运营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0" name="矩形: 圆角 179">
            <a:extLst>
              <a:ext uri="{FF2B5EF4-FFF2-40B4-BE49-F238E27FC236}">
                <a16:creationId xmlns:a16="http://schemas.microsoft.com/office/drawing/2014/main" id="{EE6DBA89-EF2B-E90A-2544-712E86CD3F96}"/>
              </a:ext>
            </a:extLst>
          </p:cNvPr>
          <p:cNvSpPr/>
          <p:nvPr/>
        </p:nvSpPr>
        <p:spPr>
          <a:xfrm>
            <a:off x="3893558" y="3095473"/>
            <a:ext cx="2700000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旅游、约会场景试点调优、强化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1" name="矩形: 圆角 180">
            <a:extLst>
              <a:ext uri="{FF2B5EF4-FFF2-40B4-BE49-F238E27FC236}">
                <a16:creationId xmlns:a16="http://schemas.microsoft.com/office/drawing/2014/main" id="{739F5B72-9AF8-10E4-0A2F-4A25B692DDC1}"/>
              </a:ext>
            </a:extLst>
          </p:cNvPr>
          <p:cNvSpPr/>
          <p:nvPr/>
        </p:nvSpPr>
        <p:spPr>
          <a:xfrm>
            <a:off x="1001717" y="3395833"/>
            <a:ext cx="2657030" cy="214133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节点联合营销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2" name="矩形: 圆角 181">
            <a:extLst>
              <a:ext uri="{FF2B5EF4-FFF2-40B4-BE49-F238E27FC236}">
                <a16:creationId xmlns:a16="http://schemas.microsoft.com/office/drawing/2014/main" id="{6688E339-ABBD-B8C7-C568-0CFE35F1E529}"/>
              </a:ext>
            </a:extLst>
          </p:cNvPr>
          <p:cNvSpPr/>
          <p:nvPr/>
        </p:nvSpPr>
        <p:spPr>
          <a:xfrm>
            <a:off x="3893558" y="3397373"/>
            <a:ext cx="2700000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旅游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县域下沉共建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3" name="矩形: 圆角 182">
            <a:extLst>
              <a:ext uri="{FF2B5EF4-FFF2-40B4-BE49-F238E27FC236}">
                <a16:creationId xmlns:a16="http://schemas.microsoft.com/office/drawing/2014/main" id="{DDFDBF70-AC5D-3F91-9DE4-FC9B985E8768}"/>
              </a:ext>
            </a:extLst>
          </p:cNvPr>
          <p:cNvSpPr/>
          <p:nvPr/>
        </p:nvSpPr>
        <p:spPr>
          <a:xfrm>
            <a:off x="6838768" y="3096616"/>
            <a:ext cx="2700000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上榜率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健康度评估，优化密度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4" name="矩形: 圆角 183">
            <a:extLst>
              <a:ext uri="{FF2B5EF4-FFF2-40B4-BE49-F238E27FC236}">
                <a16:creationId xmlns:a16="http://schemas.microsoft.com/office/drawing/2014/main" id="{2E92094F-CB21-2CF4-2851-D46E942822FA}"/>
              </a:ext>
            </a:extLst>
          </p:cNvPr>
          <p:cNvSpPr/>
          <p:nvPr/>
        </p:nvSpPr>
        <p:spPr>
          <a:xfrm>
            <a:off x="6828369" y="3412782"/>
            <a:ext cx="2700000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区域及指数维度补齐（新店等）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E9571A97-7180-C738-3CBE-D733C3D15F69}"/>
              </a:ext>
            </a:extLst>
          </p:cNvPr>
          <p:cNvSpPr/>
          <p:nvPr/>
        </p:nvSpPr>
        <p:spPr>
          <a:xfrm>
            <a:off x="933167" y="4553107"/>
            <a:ext cx="2016000" cy="39387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GC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挖掘及重点场景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GC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牵引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（评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履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/GC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激励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工单等）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87" name="矩形 186">
            <a:extLst>
              <a:ext uri="{FF2B5EF4-FFF2-40B4-BE49-F238E27FC236}">
                <a16:creationId xmlns:a16="http://schemas.microsoft.com/office/drawing/2014/main" id="{04C55455-7951-C107-EDB6-C57FD5A2388C}"/>
              </a:ext>
            </a:extLst>
          </p:cNvPr>
          <p:cNvSpPr/>
          <p:nvPr/>
        </p:nvSpPr>
        <p:spPr>
          <a:xfrm>
            <a:off x="5324111" y="4553107"/>
            <a:ext cx="2016000" cy="386257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好店挖掘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坏店清退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（信息提报链路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交叉验证）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88" name="矩形 187">
            <a:extLst>
              <a:ext uri="{FF2B5EF4-FFF2-40B4-BE49-F238E27FC236}">
                <a16:creationId xmlns:a16="http://schemas.microsoft.com/office/drawing/2014/main" id="{C358F90E-1374-539A-661E-1740CDF79DA2}"/>
              </a:ext>
            </a:extLst>
          </p:cNvPr>
          <p:cNvSpPr/>
          <p:nvPr/>
        </p:nvSpPr>
        <p:spPr>
          <a:xfrm>
            <a:off x="7519582" y="4553107"/>
            <a:ext cx="2016000" cy="39387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剔刷剔作弊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0" name="矩形 189">
            <a:extLst>
              <a:ext uri="{FF2B5EF4-FFF2-40B4-BE49-F238E27FC236}">
                <a16:creationId xmlns:a16="http://schemas.microsoft.com/office/drawing/2014/main" id="{32D1DD92-27E0-B5EC-AD01-A2D52BC3A4A1}"/>
              </a:ext>
            </a:extLst>
          </p:cNvPr>
          <p:cNvSpPr/>
          <p:nvPr/>
        </p:nvSpPr>
        <p:spPr>
          <a:xfrm>
            <a:off x="6825758" y="5307689"/>
            <a:ext cx="2727042" cy="39387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品类细化及划分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1" name="矩形 190">
            <a:extLst>
              <a:ext uri="{FF2B5EF4-FFF2-40B4-BE49-F238E27FC236}">
                <a16:creationId xmlns:a16="http://schemas.microsoft.com/office/drawing/2014/main" id="{74371F43-54EB-CABB-0F19-558614A1E98B}"/>
              </a:ext>
            </a:extLst>
          </p:cNvPr>
          <p:cNvSpPr/>
          <p:nvPr/>
        </p:nvSpPr>
        <p:spPr>
          <a:xfrm>
            <a:off x="3979777" y="5300074"/>
            <a:ext cx="2739361" cy="39387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荣誉强化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&amp;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线下物料覆盖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0" name="矩形: 圆角 199">
            <a:extLst>
              <a:ext uri="{FF2B5EF4-FFF2-40B4-BE49-F238E27FC236}">
                <a16:creationId xmlns:a16="http://schemas.microsoft.com/office/drawing/2014/main" id="{A1F44295-B266-D160-3514-CCA85036BEBD}"/>
              </a:ext>
            </a:extLst>
          </p:cNvPr>
          <p:cNvSpPr/>
          <p:nvPr/>
        </p:nvSpPr>
        <p:spPr>
          <a:xfrm>
            <a:off x="7970882" y="1274720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评价引导</a:t>
            </a:r>
          </a:p>
        </p:txBody>
      </p:sp>
      <p:sp>
        <p:nvSpPr>
          <p:cNvPr id="201" name="矩形: 圆角 200">
            <a:extLst>
              <a:ext uri="{FF2B5EF4-FFF2-40B4-BE49-F238E27FC236}">
                <a16:creationId xmlns:a16="http://schemas.microsoft.com/office/drawing/2014/main" id="{16A5767D-B635-F162-E5C4-8DCB735DEBD2}"/>
              </a:ext>
            </a:extLst>
          </p:cNvPr>
          <p:cNvSpPr/>
          <p:nvPr/>
        </p:nvSpPr>
        <p:spPr>
          <a:xfrm>
            <a:off x="893578" y="2502283"/>
            <a:ext cx="8757260" cy="1696347"/>
          </a:xfrm>
          <a:prstGeom prst="round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2" name="矩形 201">
            <a:extLst>
              <a:ext uri="{FF2B5EF4-FFF2-40B4-BE49-F238E27FC236}">
                <a16:creationId xmlns:a16="http://schemas.microsoft.com/office/drawing/2014/main" id="{BB12C0A8-6A46-F771-9047-53768FB23C88}"/>
              </a:ext>
            </a:extLst>
          </p:cNvPr>
          <p:cNvSpPr/>
          <p:nvPr/>
        </p:nvSpPr>
        <p:spPr>
          <a:xfrm>
            <a:off x="3128639" y="4553107"/>
            <a:ext cx="2016000" cy="39387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算法规则优化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8663353C-9751-B173-A6CC-3C95AF78A397}"/>
              </a:ext>
            </a:extLst>
          </p:cNvPr>
          <p:cNvSpPr/>
          <p:nvPr/>
        </p:nvSpPr>
        <p:spPr>
          <a:xfrm>
            <a:off x="925923" y="5305421"/>
            <a:ext cx="2947235" cy="39387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商户指导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&amp;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诊断工具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5" name="矩形: 圆角 204">
            <a:extLst>
              <a:ext uri="{FF2B5EF4-FFF2-40B4-BE49-F238E27FC236}">
                <a16:creationId xmlns:a16="http://schemas.microsoft.com/office/drawing/2014/main" id="{69A4407B-5D0A-FE73-C606-1C85A53906AF}"/>
              </a:ext>
            </a:extLst>
          </p:cNvPr>
          <p:cNvSpPr/>
          <p:nvPr/>
        </p:nvSpPr>
        <p:spPr>
          <a:xfrm>
            <a:off x="2692259" y="1604426"/>
            <a:ext cx="1521792" cy="235626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连锁信息复用</a:t>
            </a:r>
          </a:p>
        </p:txBody>
      </p:sp>
      <p:sp>
        <p:nvSpPr>
          <p:cNvPr id="206" name="矩形: 圆角 205">
            <a:extLst>
              <a:ext uri="{FF2B5EF4-FFF2-40B4-BE49-F238E27FC236}">
                <a16:creationId xmlns:a16="http://schemas.microsoft.com/office/drawing/2014/main" id="{FAF63D61-1D39-357E-64A4-D48DEC35841F}"/>
              </a:ext>
            </a:extLst>
          </p:cNvPr>
          <p:cNvSpPr/>
          <p:nvPr/>
        </p:nvSpPr>
        <p:spPr>
          <a:xfrm>
            <a:off x="6201296" y="1287287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权益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营销组合</a:t>
            </a:r>
          </a:p>
        </p:txBody>
      </p:sp>
      <p:sp>
        <p:nvSpPr>
          <p:cNvPr id="208" name="文本框 207">
            <a:extLst>
              <a:ext uri="{FF2B5EF4-FFF2-40B4-BE49-F238E27FC236}">
                <a16:creationId xmlns:a16="http://schemas.microsoft.com/office/drawing/2014/main" id="{DF915892-9878-21E4-F628-06C813229A15}"/>
              </a:ext>
            </a:extLst>
          </p:cNvPr>
          <p:cNvSpPr txBox="1"/>
          <p:nvPr/>
        </p:nvSpPr>
        <p:spPr>
          <a:xfrm>
            <a:off x="-5414" y="7299188"/>
            <a:ext cx="4953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rgbClr val="0D0D0D"/>
                </a:solidFill>
                <a:latin typeface="+mn-ea"/>
              </a:rPr>
              <a:t>信任</a:t>
            </a:r>
            <a:endParaRPr lang="en-US" altLang="zh-CN" sz="1200" dirty="0">
              <a:solidFill>
                <a:srgbClr val="0D0D0D"/>
              </a:solidFill>
              <a:latin typeface="+mn-ea"/>
            </a:endParaRPr>
          </a:p>
        </p:txBody>
      </p:sp>
      <p:sp>
        <p:nvSpPr>
          <p:cNvPr id="209" name="矩形: 圆角 208">
            <a:extLst>
              <a:ext uri="{FF2B5EF4-FFF2-40B4-BE49-F238E27FC236}">
                <a16:creationId xmlns:a16="http://schemas.microsoft.com/office/drawing/2014/main" id="{420D0536-D5A5-37B6-1B32-AF19C15FB150}"/>
              </a:ext>
            </a:extLst>
          </p:cNvPr>
          <p:cNvSpPr/>
          <p:nvPr/>
        </p:nvSpPr>
        <p:spPr>
          <a:xfrm>
            <a:off x="5372864" y="7347048"/>
            <a:ext cx="1014244" cy="31958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线下物料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0" name="矩形: 圆角 209">
            <a:extLst>
              <a:ext uri="{FF2B5EF4-FFF2-40B4-BE49-F238E27FC236}">
                <a16:creationId xmlns:a16="http://schemas.microsoft.com/office/drawing/2014/main" id="{63E05CD6-5D76-2F03-98FC-8B8366FF9A82}"/>
              </a:ext>
            </a:extLst>
          </p:cNvPr>
          <p:cNvSpPr/>
          <p:nvPr/>
        </p:nvSpPr>
        <p:spPr>
          <a:xfrm>
            <a:off x="684631" y="7293122"/>
            <a:ext cx="2216401" cy="301037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  <a:latin typeface="+mn-ea"/>
              </a:rPr>
              <a:t>toC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市场宣发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1" name="矩形: 圆角 210">
            <a:extLst>
              <a:ext uri="{FF2B5EF4-FFF2-40B4-BE49-F238E27FC236}">
                <a16:creationId xmlns:a16="http://schemas.microsoft.com/office/drawing/2014/main" id="{554CD493-BA20-D256-46FF-9646C4AE6FC8}"/>
              </a:ext>
            </a:extLst>
          </p:cNvPr>
          <p:cNvSpPr/>
          <p:nvPr/>
        </p:nvSpPr>
        <p:spPr>
          <a:xfrm>
            <a:off x="7201396" y="7290042"/>
            <a:ext cx="1014244" cy="31958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政府共建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C5D7130-2929-766C-B791-A2E2585D4434}"/>
              </a:ext>
            </a:extLst>
          </p:cNvPr>
          <p:cNvSpPr/>
          <p:nvPr/>
        </p:nvSpPr>
        <p:spPr>
          <a:xfrm>
            <a:off x="873177" y="4448500"/>
            <a:ext cx="8757260" cy="639912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97C7F1E-2631-7B22-9736-73E5B0B713C6}"/>
              </a:ext>
            </a:extLst>
          </p:cNvPr>
          <p:cNvSpPr/>
          <p:nvPr/>
        </p:nvSpPr>
        <p:spPr>
          <a:xfrm>
            <a:off x="873177" y="5181435"/>
            <a:ext cx="8757260" cy="594313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0A51EA0-1F3A-FCE0-8A2D-CE861FD7D83F}"/>
              </a:ext>
            </a:extLst>
          </p:cNvPr>
          <p:cNvSpPr/>
          <p:nvPr/>
        </p:nvSpPr>
        <p:spPr>
          <a:xfrm>
            <a:off x="3893559" y="3686493"/>
            <a:ext cx="2700000" cy="188753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场景标签细化，如约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景观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旅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非遗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DE43E71-9614-7573-A2DD-6CBD6417F7E3}"/>
              </a:ext>
            </a:extLst>
          </p:cNvPr>
          <p:cNvSpPr/>
          <p:nvPr/>
        </p:nvSpPr>
        <p:spPr>
          <a:xfrm>
            <a:off x="936809" y="1875899"/>
            <a:ext cx="1512353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酒旅等业务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cross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B49E1F57-EF0F-183C-2221-CF2ADB877305}"/>
              </a:ext>
            </a:extLst>
          </p:cNvPr>
          <p:cNvSpPr/>
          <p:nvPr/>
        </p:nvSpPr>
        <p:spPr>
          <a:xfrm>
            <a:off x="3893558" y="3965124"/>
            <a:ext cx="2700000" cy="195719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讨论其它主题如仪式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互动感可行性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ACCBD38-7C06-6ECB-5D4E-410CFA12434B}"/>
              </a:ext>
            </a:extLst>
          </p:cNvPr>
          <p:cNvSpPr/>
          <p:nvPr/>
        </p:nvSpPr>
        <p:spPr>
          <a:xfrm>
            <a:off x="6838768" y="3696360"/>
            <a:ext cx="2700000" cy="23562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特色大单品指数，如烤鱼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烤鸭试点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842952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3" name="图片 32">
            <a:extLst>
              <a:ext uri="{FF2B5EF4-FFF2-40B4-BE49-F238E27FC236}">
                <a16:creationId xmlns:a16="http://schemas.microsoft.com/office/drawing/2014/main" id="{47E09B0A-A8B2-5BBF-0D03-B15460805C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590926" y="-9908577"/>
            <a:ext cx="13858875" cy="9239250"/>
          </a:xfrm>
          <a:prstGeom prst="rect">
            <a:avLst/>
          </a:prstGeom>
        </p:spPr>
      </p:pic>
      <p:sp>
        <p:nvSpPr>
          <p:cNvPr id="34" name="矩形 33">
            <a:extLst>
              <a:ext uri="{FF2B5EF4-FFF2-40B4-BE49-F238E27FC236}">
                <a16:creationId xmlns:a16="http://schemas.microsoft.com/office/drawing/2014/main" id="{195A2693-3B95-23E8-BB35-687E19D51D29}"/>
              </a:ext>
            </a:extLst>
          </p:cNvPr>
          <p:cNvSpPr/>
          <p:nvPr/>
        </p:nvSpPr>
        <p:spPr>
          <a:xfrm>
            <a:off x="4767249" y="1573173"/>
            <a:ext cx="1512353" cy="7620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预决策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586EE97-A427-DAC2-E988-7E271F5C426C}"/>
              </a:ext>
            </a:extLst>
          </p:cNvPr>
          <p:cNvSpPr/>
          <p:nvPr/>
        </p:nvSpPr>
        <p:spPr>
          <a:xfrm>
            <a:off x="-3712938" y="1689089"/>
            <a:ext cx="1512353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逛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6604DECC-3FE4-985D-918E-3AFADBA7CC4A}"/>
              </a:ext>
            </a:extLst>
          </p:cNvPr>
          <p:cNvSpPr/>
          <p:nvPr/>
        </p:nvSpPr>
        <p:spPr>
          <a:xfrm>
            <a:off x="1788099" y="1631285"/>
            <a:ext cx="1806001" cy="61408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原备选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1BF65E4B-AA53-7429-B813-794D7CBCDA86}"/>
              </a:ext>
            </a:extLst>
          </p:cNvPr>
          <p:cNvSpPr/>
          <p:nvPr/>
        </p:nvSpPr>
        <p:spPr>
          <a:xfrm>
            <a:off x="0" y="1431908"/>
            <a:ext cx="1012842" cy="101284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开始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F6568CED-B6DC-BB31-0BC6-A5EDFCE21315}"/>
              </a:ext>
            </a:extLst>
          </p:cNvPr>
          <p:cNvSpPr/>
          <p:nvPr/>
        </p:nvSpPr>
        <p:spPr>
          <a:xfrm>
            <a:off x="1788099" y="2645706"/>
            <a:ext cx="1806001" cy="61408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+mn-ea"/>
              </a:rPr>
              <a:t>新扩展</a:t>
            </a:r>
            <a:endParaRPr lang="en-US" altLang="zh-CN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0DD7FDD6-5164-6559-09DE-0F40B26FB016}"/>
              </a:ext>
            </a:extLst>
          </p:cNvPr>
          <p:cNvCxnSpPr>
            <a:stCxn id="37" idx="6"/>
            <a:endCxn id="36" idx="1"/>
          </p:cNvCxnSpPr>
          <p:nvPr/>
        </p:nvCxnSpPr>
        <p:spPr>
          <a:xfrm>
            <a:off x="1012842" y="1938329"/>
            <a:ext cx="7752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连接符: 肘形 41">
            <a:extLst>
              <a:ext uri="{FF2B5EF4-FFF2-40B4-BE49-F238E27FC236}">
                <a16:creationId xmlns:a16="http://schemas.microsoft.com/office/drawing/2014/main" id="{2B1EDE47-FEB0-3414-9C65-10DAC5BBE19D}"/>
              </a:ext>
            </a:extLst>
          </p:cNvPr>
          <p:cNvCxnSpPr>
            <a:stCxn id="37" idx="6"/>
            <a:endCxn id="38" idx="1"/>
          </p:cNvCxnSpPr>
          <p:nvPr/>
        </p:nvCxnSpPr>
        <p:spPr>
          <a:xfrm>
            <a:off x="1012842" y="1938329"/>
            <a:ext cx="775257" cy="101442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占位符 1">
            <a:extLst>
              <a:ext uri="{FF2B5EF4-FFF2-40B4-BE49-F238E27FC236}">
                <a16:creationId xmlns:a16="http://schemas.microsoft.com/office/drawing/2014/main" id="{E937F798-64BF-723A-7FFA-1B4839316EE6}"/>
              </a:ext>
            </a:extLst>
          </p:cNvPr>
          <p:cNvSpPr txBox="1">
            <a:spLocks/>
          </p:cNvSpPr>
          <p:nvPr/>
        </p:nvSpPr>
        <p:spPr>
          <a:xfrm>
            <a:off x="763346" y="2364856"/>
            <a:ext cx="1274248" cy="336897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800" dirty="0"/>
              <a:t>灵感激发</a:t>
            </a:r>
          </a:p>
        </p:txBody>
      </p:sp>
      <p:sp>
        <p:nvSpPr>
          <p:cNvPr id="44" name="文本占位符 1">
            <a:extLst>
              <a:ext uri="{FF2B5EF4-FFF2-40B4-BE49-F238E27FC236}">
                <a16:creationId xmlns:a16="http://schemas.microsoft.com/office/drawing/2014/main" id="{F3FAF2AF-057D-AA05-FB6F-1051FFF72CCF}"/>
              </a:ext>
            </a:extLst>
          </p:cNvPr>
          <p:cNvSpPr txBox="1">
            <a:spLocks/>
          </p:cNvSpPr>
          <p:nvPr/>
        </p:nvSpPr>
        <p:spPr>
          <a:xfrm>
            <a:off x="3141215" y="1336613"/>
            <a:ext cx="2131143" cy="601715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800" dirty="0"/>
              <a:t>信息获取</a:t>
            </a:r>
            <a:endParaRPr lang="en-US" altLang="zh-CN" sz="18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800" dirty="0"/>
              <a:t>对比选择</a:t>
            </a:r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8D758630-300B-09E0-682E-BABC1443A206}"/>
              </a:ext>
            </a:extLst>
          </p:cNvPr>
          <p:cNvCxnSpPr>
            <a:cxnSpLocks/>
            <a:stCxn id="36" idx="3"/>
            <a:endCxn id="34" idx="1"/>
          </p:cNvCxnSpPr>
          <p:nvPr/>
        </p:nvCxnSpPr>
        <p:spPr>
          <a:xfrm>
            <a:off x="3594100" y="1938329"/>
            <a:ext cx="1173149" cy="15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连接符: 肘形 48">
            <a:extLst>
              <a:ext uri="{FF2B5EF4-FFF2-40B4-BE49-F238E27FC236}">
                <a16:creationId xmlns:a16="http://schemas.microsoft.com/office/drawing/2014/main" id="{C093DE78-B755-BB78-329B-71997B13FEF2}"/>
              </a:ext>
            </a:extLst>
          </p:cNvPr>
          <p:cNvCxnSpPr>
            <a:cxnSpLocks/>
            <a:stCxn id="38" idx="3"/>
            <a:endCxn id="34" idx="1"/>
          </p:cNvCxnSpPr>
          <p:nvPr/>
        </p:nvCxnSpPr>
        <p:spPr>
          <a:xfrm flipV="1">
            <a:off x="3594100" y="1954179"/>
            <a:ext cx="1173149" cy="99857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>
            <a:extLst>
              <a:ext uri="{FF2B5EF4-FFF2-40B4-BE49-F238E27FC236}">
                <a16:creationId xmlns:a16="http://schemas.microsoft.com/office/drawing/2014/main" id="{CE9DD5B1-C5C5-11E0-0C40-E95400EA59CA}"/>
              </a:ext>
            </a:extLst>
          </p:cNvPr>
          <p:cNvSpPr/>
          <p:nvPr/>
        </p:nvSpPr>
        <p:spPr>
          <a:xfrm>
            <a:off x="7452751" y="1587303"/>
            <a:ext cx="1512353" cy="7620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dirty="0"/>
              <a:t>终</a:t>
            </a:r>
            <a:r>
              <a:rPr lang="zh-CN" altLang="en-US" dirty="0">
                <a:solidFill>
                  <a:schemeClr val="tx1"/>
                </a:solidFill>
              </a:rPr>
              <a:t>决策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B9079668-A19C-1F21-CBF8-02678727EA7A}"/>
              </a:ext>
            </a:extLst>
          </p:cNvPr>
          <p:cNvCxnSpPr>
            <a:cxnSpLocks/>
            <a:stCxn id="34" idx="3"/>
            <a:endCxn id="54" idx="1"/>
          </p:cNvCxnSpPr>
          <p:nvPr/>
        </p:nvCxnSpPr>
        <p:spPr>
          <a:xfrm>
            <a:off x="6279602" y="1954179"/>
            <a:ext cx="1173149" cy="14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占位符 1">
            <a:extLst>
              <a:ext uri="{FF2B5EF4-FFF2-40B4-BE49-F238E27FC236}">
                <a16:creationId xmlns:a16="http://schemas.microsoft.com/office/drawing/2014/main" id="{8662E248-3278-A661-05EA-B36AF46E1B8E}"/>
              </a:ext>
            </a:extLst>
          </p:cNvPr>
          <p:cNvSpPr txBox="1">
            <a:spLocks/>
          </p:cNvSpPr>
          <p:nvPr/>
        </p:nvSpPr>
        <p:spPr>
          <a:xfrm>
            <a:off x="5881916" y="1601431"/>
            <a:ext cx="1945989" cy="336897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800" dirty="0"/>
              <a:t>决策闭环</a:t>
            </a:r>
          </a:p>
        </p:txBody>
      </p:sp>
      <p:cxnSp>
        <p:nvCxnSpPr>
          <p:cNvPr id="67" name="连接符: 肘形 66">
            <a:extLst>
              <a:ext uri="{FF2B5EF4-FFF2-40B4-BE49-F238E27FC236}">
                <a16:creationId xmlns:a16="http://schemas.microsoft.com/office/drawing/2014/main" id="{044623EC-690A-80BD-098A-5087CB9D2A85}"/>
              </a:ext>
            </a:extLst>
          </p:cNvPr>
          <p:cNvCxnSpPr>
            <a:cxnSpLocks/>
            <a:stCxn id="54" idx="0"/>
            <a:endCxn id="36" idx="0"/>
          </p:cNvCxnSpPr>
          <p:nvPr/>
        </p:nvCxnSpPr>
        <p:spPr>
          <a:xfrm rot="16200000" flipH="1" flipV="1">
            <a:off x="5428023" y="-1149620"/>
            <a:ext cx="43982" cy="5517828"/>
          </a:xfrm>
          <a:prstGeom prst="bentConnector3">
            <a:avLst>
              <a:gd name="adj1" fmla="val -895139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本占位符 1">
            <a:extLst>
              <a:ext uri="{FF2B5EF4-FFF2-40B4-BE49-F238E27FC236}">
                <a16:creationId xmlns:a16="http://schemas.microsoft.com/office/drawing/2014/main" id="{D4A0BA6F-8FD7-9ECF-AA5B-E02EFA91B440}"/>
              </a:ext>
            </a:extLst>
          </p:cNvPr>
          <p:cNvSpPr txBox="1">
            <a:spLocks/>
          </p:cNvSpPr>
          <p:nvPr/>
        </p:nvSpPr>
        <p:spPr>
          <a:xfrm>
            <a:off x="4767249" y="787158"/>
            <a:ext cx="1114667" cy="336897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800" dirty="0"/>
              <a:t>验证反馈</a:t>
            </a:r>
          </a:p>
        </p:txBody>
      </p:sp>
    </p:spTree>
    <p:extLst>
      <p:ext uri="{BB962C8B-B14F-4D97-AF65-F5344CB8AC3E}">
        <p14:creationId xmlns:p14="http://schemas.microsoft.com/office/powerpoint/2010/main" val="21392745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E82DA2E5-128B-132C-0E63-91A0E94927DE}"/>
              </a:ext>
            </a:extLst>
          </p:cNvPr>
          <p:cNvSpPr/>
          <p:nvPr/>
        </p:nvSpPr>
        <p:spPr>
          <a:xfrm>
            <a:off x="3584430" y="2571749"/>
            <a:ext cx="2256685" cy="1423933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600" dirty="0">
              <a:solidFill>
                <a:schemeClr val="tx1"/>
              </a:solidFill>
            </a:endParaRPr>
          </a:p>
        </p:txBody>
      </p:sp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EE326A8-946C-E279-D964-A388188D15DE}"/>
              </a:ext>
            </a:extLst>
          </p:cNvPr>
          <p:cNvSpPr/>
          <p:nvPr/>
        </p:nvSpPr>
        <p:spPr>
          <a:xfrm>
            <a:off x="1670790" y="1221728"/>
            <a:ext cx="1432572" cy="50133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主榜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549C14FA-D138-A6EC-781B-98CDEEF71522}"/>
              </a:ext>
            </a:extLst>
          </p:cNvPr>
          <p:cNvSpPr/>
          <p:nvPr/>
        </p:nvSpPr>
        <p:spPr>
          <a:xfrm>
            <a:off x="3988989" y="1221728"/>
            <a:ext cx="1432572" cy="50133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个性化榜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386BB91-A83F-B800-1E7F-25FDC0BB36EB}"/>
              </a:ext>
            </a:extLst>
          </p:cNvPr>
          <p:cNvSpPr txBox="1"/>
          <p:nvPr/>
        </p:nvSpPr>
        <p:spPr>
          <a:xfrm>
            <a:off x="1670789" y="1706739"/>
            <a:ext cx="14325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ctr"/>
            <a:r>
              <a:rPr lang="zh-CN" altLang="en-US" sz="1600" dirty="0">
                <a:effectLst/>
                <a:latin typeface="+mn-ea"/>
              </a:rPr>
              <a:t>大众共识</a:t>
            </a:r>
            <a:endParaRPr lang="en-US" altLang="zh-CN" sz="1600" dirty="0">
              <a:effectLst/>
              <a:latin typeface="+mn-ea"/>
            </a:endParaRPr>
          </a:p>
        </p:txBody>
      </p:sp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E7B6F540-AB4D-50DA-4E85-A9C78E7158A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12046" y="-1904595"/>
            <a:ext cx="12700" cy="2644753"/>
          </a:xfrm>
          <a:prstGeom prst="bentConnector3">
            <a:avLst>
              <a:gd name="adj1" fmla="val 426666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连接符: 肘形 23">
            <a:extLst>
              <a:ext uri="{FF2B5EF4-FFF2-40B4-BE49-F238E27FC236}">
                <a16:creationId xmlns:a16="http://schemas.microsoft.com/office/drawing/2014/main" id="{6E252AF0-7C22-D2DE-F483-99BDA360D9CF}"/>
              </a:ext>
            </a:extLst>
          </p:cNvPr>
          <p:cNvCxnSpPr>
            <a:cxnSpLocks/>
          </p:cNvCxnSpPr>
          <p:nvPr/>
        </p:nvCxnSpPr>
        <p:spPr>
          <a:xfrm rot="5400000">
            <a:off x="3428338" y="4088291"/>
            <a:ext cx="12700" cy="2644753"/>
          </a:xfrm>
          <a:prstGeom prst="bentConnector3">
            <a:avLst>
              <a:gd name="adj1" fmla="val 473333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10F0AAD2-DDE1-B9BF-C8ED-8F03975E4B57}"/>
              </a:ext>
            </a:extLst>
          </p:cNvPr>
          <p:cNvSpPr txBox="1"/>
          <p:nvPr/>
        </p:nvSpPr>
        <p:spPr>
          <a:xfrm>
            <a:off x="1623165" y="-1526110"/>
            <a:ext cx="208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 fontAlgn="ctr"/>
            <a:r>
              <a:rPr lang="zh-CN" altLang="en-US" sz="1600" dirty="0">
                <a:effectLst/>
                <a:latin typeface="+mn-ea"/>
              </a:rPr>
              <a:t>延申导入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B6C7A2D-1A3C-4EAB-CC39-B2E7DF549F39}"/>
              </a:ext>
            </a:extLst>
          </p:cNvPr>
          <p:cNvSpPr txBox="1"/>
          <p:nvPr/>
        </p:nvSpPr>
        <p:spPr>
          <a:xfrm>
            <a:off x="2205987" y="6285335"/>
            <a:ext cx="11317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 fontAlgn="ctr"/>
            <a:r>
              <a:rPr lang="zh-CN" altLang="en-US" sz="1600" dirty="0">
                <a:effectLst/>
                <a:latin typeface="+mn-ea"/>
              </a:rPr>
              <a:t>发现成长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2CD1400-29F4-5476-09EB-B866F6686879}"/>
              </a:ext>
            </a:extLst>
          </p:cNvPr>
          <p:cNvSpPr txBox="1"/>
          <p:nvPr/>
        </p:nvSpPr>
        <p:spPr>
          <a:xfrm>
            <a:off x="3986057" y="1703198"/>
            <a:ext cx="14325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 fontAlgn="ctr"/>
            <a:r>
              <a:rPr lang="zh-CN" altLang="en-US" sz="1600" b="1" dirty="0">
                <a:effectLst/>
                <a:latin typeface="+mn-ea"/>
              </a:rPr>
              <a:t>求同存异</a:t>
            </a:r>
            <a:endParaRPr lang="en-US" altLang="zh-CN" sz="1600" b="1" dirty="0">
              <a:effectLst/>
              <a:latin typeface="+mn-ea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FC9B91D-E0CC-F1C7-3A58-515336165856}"/>
              </a:ext>
            </a:extLst>
          </p:cNvPr>
          <p:cNvSpPr txBox="1"/>
          <p:nvPr/>
        </p:nvSpPr>
        <p:spPr>
          <a:xfrm>
            <a:off x="9256625" y="-2078318"/>
            <a:ext cx="162337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 fontAlgn="ctr"/>
            <a:r>
              <a:rPr lang="zh-CN" altLang="en-US" sz="1600" dirty="0">
                <a:effectLst/>
                <a:latin typeface="+mn-ea"/>
              </a:rPr>
              <a:t>个人行为</a:t>
            </a:r>
            <a:endParaRPr lang="en-US" altLang="zh-CN" sz="1600" dirty="0">
              <a:effectLst/>
              <a:latin typeface="+mn-ea"/>
            </a:endParaRPr>
          </a:p>
          <a:p>
            <a:pPr marL="0" marR="0" algn="ctr" fontAlgn="ctr"/>
            <a:r>
              <a:rPr lang="zh-CN" altLang="en-US" sz="1600" dirty="0">
                <a:latin typeface="+mn-ea"/>
              </a:rPr>
              <a:t>主榜筛选</a:t>
            </a:r>
            <a:endParaRPr lang="en-US" altLang="zh-CN" sz="1600" dirty="0">
              <a:latin typeface="+mn-ea"/>
            </a:endParaRPr>
          </a:p>
          <a:p>
            <a:pPr marL="0" marR="0" algn="ctr" fontAlgn="ctr"/>
            <a:r>
              <a:rPr lang="zh-CN" altLang="en-US" sz="1600" dirty="0">
                <a:latin typeface="+mn-ea"/>
              </a:rPr>
              <a:t>同身份</a:t>
            </a:r>
            <a:r>
              <a:rPr lang="zh-CN" altLang="en-US" sz="1600" dirty="0">
                <a:effectLst/>
                <a:latin typeface="+mn-ea"/>
              </a:rPr>
              <a:t>、</a:t>
            </a:r>
            <a:endParaRPr lang="en-US" altLang="zh-CN" sz="1600" dirty="0">
              <a:effectLst/>
              <a:latin typeface="+mn-ea"/>
            </a:endParaRPr>
          </a:p>
          <a:p>
            <a:pPr marL="0" marR="0" algn="ctr" fontAlgn="ctr"/>
            <a:r>
              <a:rPr lang="zh-CN" altLang="en-US" sz="1600" dirty="0">
                <a:latin typeface="+mn-ea"/>
              </a:rPr>
              <a:t>同地域</a:t>
            </a:r>
            <a:endParaRPr lang="en-US" altLang="zh-CN" sz="1600" dirty="0">
              <a:latin typeface="+mn-ea"/>
            </a:endParaRPr>
          </a:p>
          <a:p>
            <a:pPr marL="0" marR="0" algn="ctr" fontAlgn="ctr"/>
            <a:r>
              <a:rPr lang="zh-CN" altLang="en-US" sz="1600" dirty="0">
                <a:effectLst/>
                <a:latin typeface="+mn-ea"/>
              </a:rPr>
              <a:t>同口味</a:t>
            </a:r>
            <a:endParaRPr lang="en-US" altLang="zh-CN" sz="1600" dirty="0">
              <a:effectLst/>
              <a:latin typeface="+mn-ea"/>
            </a:endParaRPr>
          </a:p>
          <a:p>
            <a:pPr marL="0" marR="0" algn="ctr" fontAlgn="ctr"/>
            <a:r>
              <a:rPr lang="zh-CN" altLang="en-US" sz="1600" dirty="0">
                <a:latin typeface="+mn-ea"/>
              </a:rPr>
              <a:t>同</a:t>
            </a:r>
            <a:r>
              <a:rPr lang="en-US" altLang="zh-CN" sz="1600" dirty="0">
                <a:latin typeface="+mn-ea"/>
              </a:rPr>
              <a:t>xx</a:t>
            </a:r>
            <a:endParaRPr lang="zh-CN" altLang="en-US" sz="1600" dirty="0">
              <a:effectLst/>
              <a:latin typeface="+mn-ea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F01BED42-CFC7-31D5-C355-0767421E7E18}"/>
              </a:ext>
            </a:extLst>
          </p:cNvPr>
          <p:cNvSpPr txBox="1"/>
          <p:nvPr/>
        </p:nvSpPr>
        <p:spPr>
          <a:xfrm>
            <a:off x="10526581" y="2605787"/>
            <a:ext cx="16233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 fontAlgn="ctr"/>
            <a:r>
              <a:rPr lang="zh-CN" altLang="en-US" sz="1600" dirty="0">
                <a:effectLst/>
                <a:latin typeface="+mn-ea"/>
              </a:rPr>
              <a:t>强化原因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E0300850-0DE8-5B77-0195-48367333585E}"/>
              </a:ext>
            </a:extLst>
          </p:cNvPr>
          <p:cNvSpPr txBox="1"/>
          <p:nvPr/>
        </p:nvSpPr>
        <p:spPr>
          <a:xfrm>
            <a:off x="3046447" y="6047902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 fontAlgn="ctr"/>
            <a:r>
              <a:rPr lang="zh-CN" altLang="en-US" sz="1600" dirty="0">
                <a:effectLst/>
                <a:latin typeface="+mn-ea"/>
              </a:rPr>
              <a:t>、无限</a:t>
            </a:r>
            <a:endParaRPr lang="en-US" altLang="zh-CN" sz="1600" dirty="0">
              <a:effectLst/>
              <a:latin typeface="+mn-ea"/>
            </a:endParaRPr>
          </a:p>
          <a:p>
            <a:pPr marL="0" marR="0" algn="ctr" fontAlgn="ctr"/>
            <a:r>
              <a:rPr lang="zh-CN" altLang="en-US" sz="1600" dirty="0">
                <a:effectLst/>
                <a:latin typeface="+mn-ea"/>
              </a:rPr>
              <a:t>偏好、个人复盘、社交分享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E62BE07D-7822-B30D-6D72-A33EE722BB59}"/>
              </a:ext>
            </a:extLst>
          </p:cNvPr>
          <p:cNvSpPr/>
          <p:nvPr/>
        </p:nvSpPr>
        <p:spPr>
          <a:xfrm>
            <a:off x="9424128" y="-279798"/>
            <a:ext cx="1379671" cy="5325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个人行为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41" name="左大括号 40">
            <a:extLst>
              <a:ext uri="{FF2B5EF4-FFF2-40B4-BE49-F238E27FC236}">
                <a16:creationId xmlns:a16="http://schemas.microsoft.com/office/drawing/2014/main" id="{1CD0FDDA-FFF5-F0B1-AE7C-BB2289BB6970}"/>
              </a:ext>
            </a:extLst>
          </p:cNvPr>
          <p:cNvSpPr/>
          <p:nvPr/>
        </p:nvSpPr>
        <p:spPr>
          <a:xfrm>
            <a:off x="9113601" y="-185078"/>
            <a:ext cx="81927" cy="2474796"/>
          </a:xfrm>
          <a:prstGeom prst="leftBrac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68921AEA-BD2E-64C6-975E-125D4FD9E866}"/>
              </a:ext>
            </a:extLst>
          </p:cNvPr>
          <p:cNvSpPr/>
          <p:nvPr/>
        </p:nvSpPr>
        <p:spPr>
          <a:xfrm>
            <a:off x="9424128" y="707819"/>
            <a:ext cx="1379671" cy="5325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用户协同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28ED7D5D-BE23-2201-EAFB-D4CA39227B24}"/>
              </a:ext>
            </a:extLst>
          </p:cNvPr>
          <p:cNvSpPr/>
          <p:nvPr/>
        </p:nvSpPr>
        <p:spPr>
          <a:xfrm>
            <a:off x="9424128" y="1723860"/>
            <a:ext cx="1379671" cy="5325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主榜映射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6D6B76A5-596A-B353-F0E9-460A843E4C7F}"/>
              </a:ext>
            </a:extLst>
          </p:cNvPr>
          <p:cNvSpPr/>
          <p:nvPr/>
        </p:nvSpPr>
        <p:spPr>
          <a:xfrm>
            <a:off x="6545568" y="1201864"/>
            <a:ext cx="1475486" cy="50133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推荐流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578A5AA-2754-2F26-42E9-063DA206AF82}"/>
              </a:ext>
            </a:extLst>
          </p:cNvPr>
          <p:cNvSpPr txBox="1"/>
          <p:nvPr/>
        </p:nvSpPr>
        <p:spPr>
          <a:xfrm>
            <a:off x="6542636" y="1703198"/>
            <a:ext cx="14754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 fontAlgn="ctr"/>
            <a:r>
              <a:rPr lang="zh-CN" altLang="en-US" sz="1600" dirty="0">
                <a:effectLst/>
                <a:latin typeface="+mn-ea"/>
              </a:rPr>
              <a:t>差异个性</a:t>
            </a:r>
            <a:endParaRPr lang="en-US" altLang="zh-CN" sz="1600" dirty="0">
              <a:effectLst/>
              <a:latin typeface="+mn-ea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277A182D-7394-63A6-8B2A-1526D0AF3864}"/>
              </a:ext>
            </a:extLst>
          </p:cNvPr>
          <p:cNvSpPr txBox="1"/>
          <p:nvPr/>
        </p:nvSpPr>
        <p:spPr>
          <a:xfrm>
            <a:off x="5451578" y="5448760"/>
            <a:ext cx="20683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ctr"/>
            <a:r>
              <a:rPr lang="en-US" altLang="zh-CN" sz="1600" dirty="0" err="1">
                <a:effectLst/>
                <a:latin typeface="+mn-ea"/>
              </a:rPr>
              <a:t>LBSx</a:t>
            </a:r>
            <a:r>
              <a:rPr lang="zh-CN" altLang="en-US" sz="1600" dirty="0">
                <a:effectLst/>
                <a:latin typeface="+mn-ea"/>
              </a:rPr>
              <a:t>头部</a:t>
            </a: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331257DD-B796-931E-E0FD-549862E31119}"/>
              </a:ext>
            </a:extLst>
          </p:cNvPr>
          <p:cNvSpPr/>
          <p:nvPr/>
        </p:nvSpPr>
        <p:spPr>
          <a:xfrm>
            <a:off x="1670789" y="3257100"/>
            <a:ext cx="1432572" cy="5325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>
                <a:solidFill>
                  <a:schemeClr val="tx1"/>
                </a:solidFill>
              </a:rPr>
              <a:t>LBSx</a:t>
            </a:r>
            <a:r>
              <a:rPr lang="zh-CN" altLang="en-US" sz="1600" dirty="0">
                <a:solidFill>
                  <a:schemeClr val="tx1"/>
                </a:solidFill>
              </a:rPr>
              <a:t>头部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703EF442-BDD9-1B37-A885-2BCE273456F2}"/>
              </a:ext>
            </a:extLst>
          </p:cNvPr>
          <p:cNvSpPr/>
          <p:nvPr/>
        </p:nvSpPr>
        <p:spPr>
          <a:xfrm>
            <a:off x="3986057" y="3257100"/>
            <a:ext cx="1432572" cy="5325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>
                <a:solidFill>
                  <a:schemeClr val="tx1"/>
                </a:solidFill>
              </a:rPr>
              <a:t>LBSx</a:t>
            </a:r>
            <a:r>
              <a:rPr lang="zh-CN" altLang="en-US" sz="1600" dirty="0">
                <a:solidFill>
                  <a:schemeClr val="tx1"/>
                </a:solidFill>
              </a:rPr>
              <a:t>头部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86143BC7-F3D4-B0AE-852A-13B47A8DFC05}"/>
              </a:ext>
            </a:extLst>
          </p:cNvPr>
          <p:cNvSpPr txBox="1"/>
          <p:nvPr/>
        </p:nvSpPr>
        <p:spPr>
          <a:xfrm>
            <a:off x="3584430" y="2750379"/>
            <a:ext cx="22566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ctr"/>
            <a:r>
              <a:rPr lang="zh-CN" altLang="en-US" sz="1600" dirty="0">
                <a:latin typeface="+mn-ea"/>
              </a:rPr>
              <a:t>扩充</a:t>
            </a:r>
            <a:r>
              <a:rPr lang="zh-CN" altLang="en-US" sz="1600" dirty="0">
                <a:effectLst/>
                <a:latin typeface="+mn-ea"/>
              </a:rPr>
              <a:t>与我有关的次头部</a:t>
            </a:r>
            <a:endParaRPr lang="en-US" altLang="zh-CN" sz="1600" dirty="0">
              <a:effectLst/>
              <a:latin typeface="+mn-ea"/>
            </a:endParaRPr>
          </a:p>
          <a:p>
            <a:pPr algn="ctr" font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个人行为、用户协同</a:t>
            </a:r>
          </a:p>
        </p:txBody>
      </p:sp>
      <p:sp>
        <p:nvSpPr>
          <p:cNvPr id="53" name="等腰三角形 52">
            <a:extLst>
              <a:ext uri="{FF2B5EF4-FFF2-40B4-BE49-F238E27FC236}">
                <a16:creationId xmlns:a16="http://schemas.microsoft.com/office/drawing/2014/main" id="{E49D1009-BF41-C25E-F2B3-F9FF7D1305BA}"/>
              </a:ext>
            </a:extLst>
          </p:cNvPr>
          <p:cNvSpPr/>
          <p:nvPr/>
        </p:nvSpPr>
        <p:spPr>
          <a:xfrm>
            <a:off x="4257657" y="2234398"/>
            <a:ext cx="898629" cy="298291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D48C6DD-F913-4133-BD1E-79EC54179821}"/>
              </a:ext>
            </a:extLst>
          </p:cNvPr>
          <p:cNvSpPr txBox="1"/>
          <p:nvPr/>
        </p:nvSpPr>
        <p:spPr>
          <a:xfrm>
            <a:off x="4061630" y="2246223"/>
            <a:ext cx="13137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ctr"/>
            <a:r>
              <a:rPr lang="zh-CN" altLang="en-US" sz="1200" dirty="0">
                <a:latin typeface="+mn-ea"/>
              </a:rPr>
              <a:t>规则筛选成榜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sp>
        <p:nvSpPr>
          <p:cNvPr id="56" name="等腰三角形 55">
            <a:extLst>
              <a:ext uri="{FF2B5EF4-FFF2-40B4-BE49-F238E27FC236}">
                <a16:creationId xmlns:a16="http://schemas.microsoft.com/office/drawing/2014/main" id="{F23DF457-E960-E331-E2B1-8F92CBFFED3D}"/>
              </a:ext>
            </a:extLst>
          </p:cNvPr>
          <p:cNvSpPr/>
          <p:nvPr/>
        </p:nvSpPr>
        <p:spPr>
          <a:xfrm>
            <a:off x="1851400" y="2270687"/>
            <a:ext cx="898629" cy="298291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741B581C-51EB-64E8-FE96-218EC52DC32E}"/>
              </a:ext>
            </a:extLst>
          </p:cNvPr>
          <p:cNvSpPr txBox="1"/>
          <p:nvPr/>
        </p:nvSpPr>
        <p:spPr>
          <a:xfrm>
            <a:off x="1655373" y="2282512"/>
            <a:ext cx="13137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ctr"/>
            <a:r>
              <a:rPr lang="zh-CN" altLang="en-US" sz="1200" dirty="0">
                <a:latin typeface="+mn-ea"/>
              </a:rPr>
              <a:t>规则成榜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96CDD681-09DF-C775-89AC-8265B9061066}"/>
              </a:ext>
            </a:extLst>
          </p:cNvPr>
          <p:cNvSpPr/>
          <p:nvPr/>
        </p:nvSpPr>
        <p:spPr>
          <a:xfrm>
            <a:off x="6542636" y="3257100"/>
            <a:ext cx="1475487" cy="5325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>
                <a:solidFill>
                  <a:schemeClr val="tx1"/>
                </a:solidFill>
              </a:rPr>
              <a:t>LBSx</a:t>
            </a:r>
            <a:r>
              <a:rPr lang="zh-CN" altLang="en-US" sz="1600" dirty="0">
                <a:solidFill>
                  <a:schemeClr val="tx1"/>
                </a:solidFill>
              </a:rPr>
              <a:t>个人相关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59" name="等腰三角形 58">
            <a:extLst>
              <a:ext uri="{FF2B5EF4-FFF2-40B4-BE49-F238E27FC236}">
                <a16:creationId xmlns:a16="http://schemas.microsoft.com/office/drawing/2014/main" id="{2E17E30F-CD71-8622-3111-6CE5040A51B8}"/>
              </a:ext>
            </a:extLst>
          </p:cNvPr>
          <p:cNvSpPr/>
          <p:nvPr/>
        </p:nvSpPr>
        <p:spPr>
          <a:xfrm>
            <a:off x="6835863" y="2226204"/>
            <a:ext cx="898629" cy="298291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E1EC5F6D-A8ED-EA38-6415-9C9E3EDB9131}"/>
              </a:ext>
            </a:extLst>
          </p:cNvPr>
          <p:cNvSpPr txBox="1"/>
          <p:nvPr/>
        </p:nvSpPr>
        <p:spPr>
          <a:xfrm>
            <a:off x="6639836" y="2238029"/>
            <a:ext cx="13137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ctr"/>
            <a:r>
              <a:rPr lang="zh-CN" altLang="en-US" sz="1200" dirty="0">
                <a:latin typeface="+mn-ea"/>
              </a:rPr>
              <a:t>算法打分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930535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44AAE74E-3A0D-14D0-3244-F23C2B54B944}"/>
              </a:ext>
            </a:extLst>
          </p:cNvPr>
          <p:cNvCxnSpPr>
            <a:cxnSpLocks/>
            <a:stCxn id="15" idx="2"/>
            <a:endCxn id="34" idx="0"/>
          </p:cNvCxnSpPr>
          <p:nvPr/>
        </p:nvCxnSpPr>
        <p:spPr>
          <a:xfrm>
            <a:off x="4706805" y="2772691"/>
            <a:ext cx="0" cy="14160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3" name="图片 32">
            <a:extLst>
              <a:ext uri="{FF2B5EF4-FFF2-40B4-BE49-F238E27FC236}">
                <a16:creationId xmlns:a16="http://schemas.microsoft.com/office/drawing/2014/main" id="{47E09B0A-A8B2-5BBF-0D03-B15460805C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590926" y="-9908577"/>
            <a:ext cx="13858875" cy="9239250"/>
          </a:xfrm>
          <a:prstGeom prst="rect">
            <a:avLst/>
          </a:prstGeom>
        </p:spPr>
      </p:pic>
      <p:sp>
        <p:nvSpPr>
          <p:cNvPr id="35" name="矩形 34">
            <a:extLst>
              <a:ext uri="{FF2B5EF4-FFF2-40B4-BE49-F238E27FC236}">
                <a16:creationId xmlns:a16="http://schemas.microsoft.com/office/drawing/2014/main" id="{5586EE97-A427-DAC2-E988-7E271F5C426C}"/>
              </a:ext>
            </a:extLst>
          </p:cNvPr>
          <p:cNvSpPr/>
          <p:nvPr/>
        </p:nvSpPr>
        <p:spPr>
          <a:xfrm>
            <a:off x="-3712938" y="1689089"/>
            <a:ext cx="1512353" cy="1263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逛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10E0FD4-0266-EE81-7D21-6C6FA75645A1}"/>
              </a:ext>
            </a:extLst>
          </p:cNvPr>
          <p:cNvGraphicFramePr>
            <a:graphicFrameLocks noGrp="1"/>
          </p:cNvGraphicFramePr>
          <p:nvPr/>
        </p:nvGraphicFramePr>
        <p:xfrm>
          <a:off x="5188996" y="-3713929"/>
          <a:ext cx="8750300" cy="2750820"/>
        </p:xfrm>
        <a:graphic>
          <a:graphicData uri="http://schemas.openxmlformats.org/drawingml/2006/table">
            <a:tbl>
              <a:tblPr/>
              <a:tblGrid>
                <a:gridCol w="1115959">
                  <a:extLst>
                    <a:ext uri="{9D8B030D-6E8A-4147-A177-3AD203B41FA5}">
                      <a16:colId xmlns:a16="http://schemas.microsoft.com/office/drawing/2014/main" val="1115712029"/>
                    </a:ext>
                  </a:extLst>
                </a:gridCol>
                <a:gridCol w="3643495">
                  <a:extLst>
                    <a:ext uri="{9D8B030D-6E8A-4147-A177-3AD203B41FA5}">
                      <a16:colId xmlns:a16="http://schemas.microsoft.com/office/drawing/2014/main" val="3292610611"/>
                    </a:ext>
                  </a:extLst>
                </a:gridCol>
                <a:gridCol w="1995423">
                  <a:extLst>
                    <a:ext uri="{9D8B030D-6E8A-4147-A177-3AD203B41FA5}">
                      <a16:colId xmlns:a16="http://schemas.microsoft.com/office/drawing/2014/main" val="2886858965"/>
                    </a:ext>
                  </a:extLst>
                </a:gridCol>
                <a:gridCol w="1995423">
                  <a:extLst>
                    <a:ext uri="{9D8B030D-6E8A-4147-A177-3AD203B41FA5}">
                      <a16:colId xmlns:a16="http://schemas.microsoft.com/office/drawing/2014/main" val="29353728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>
                          <a:effectLst/>
                        </a:rPr>
                        <a:t>用户环节及需求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>
                          <a:effectLst/>
                        </a:rPr>
                        <a:t>典型用户场景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zh-CN" altLang="en-US">
                          <a:effectLst/>
                        </a:rPr>
                        <a:t>典型产品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zh-CN" altLang="en-US">
                          <a:effectLst/>
                        </a:rPr>
                        <a:t>榜单组合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075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逛</a:t>
                      </a:r>
                      <a:r>
                        <a:rPr lang="en-US" altLang="zh-CN">
                          <a:effectLst/>
                        </a:rPr>
                        <a:t>-</a:t>
                      </a:r>
                      <a:r>
                        <a:rPr lang="zh-CN" altLang="en-US">
                          <a:effectLst/>
                        </a:rPr>
                        <a:t>灵感激发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“不知道吃啥，目的不明确，需要被刺激”。</a:t>
                      </a:r>
                      <a:r>
                        <a:rPr lang="en-US" altLang="zh-CN">
                          <a:effectLst/>
                        </a:rPr>
                        <a:t>——</a:t>
                      </a:r>
                      <a:r>
                        <a:rPr lang="zh-CN" altLang="en-US">
                          <a:effectLst/>
                        </a:rPr>
                        <a:t>新鲜、探索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推荐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dirty="0">
                          <a:effectLst/>
                        </a:rPr>
                        <a:t>榜单落地页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548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看</a:t>
                      </a:r>
                      <a:r>
                        <a:rPr lang="en-US" altLang="zh-CN">
                          <a:effectLst/>
                        </a:rPr>
                        <a:t>-</a:t>
                      </a:r>
                      <a:r>
                        <a:rPr lang="zh-CN" altLang="en-US">
                          <a:effectLst/>
                        </a:rPr>
                        <a:t>信息获取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“这家店</a:t>
                      </a:r>
                      <a:r>
                        <a:rPr lang="en-US" altLang="zh-CN">
                          <a:effectLst/>
                        </a:rPr>
                        <a:t>/</a:t>
                      </a:r>
                      <a:r>
                        <a:rPr lang="zh-CN" altLang="en-US">
                          <a:effectLst/>
                        </a:rPr>
                        <a:t>这道菜到底怎么样？详情是否满足我的需求？千万别是广告</a:t>
                      </a:r>
                      <a:r>
                        <a:rPr lang="en-US" altLang="zh-CN">
                          <a:effectLst/>
                        </a:rPr>
                        <a:t>/</a:t>
                      </a:r>
                      <a:r>
                        <a:rPr lang="zh-CN" altLang="en-US">
                          <a:effectLst/>
                        </a:rPr>
                        <a:t>照骗。”</a:t>
                      </a:r>
                      <a:r>
                        <a:rPr lang="en-US" altLang="zh-CN">
                          <a:effectLst/>
                        </a:rPr>
                        <a:t>——</a:t>
                      </a:r>
                      <a:r>
                        <a:rPr lang="zh-CN" altLang="en-US">
                          <a:effectLst/>
                        </a:rPr>
                        <a:t>丰富、个性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en-US" altLang="zh-CN">
                          <a:effectLst/>
                        </a:rPr>
                        <a:t>POI</a:t>
                      </a:r>
                      <a:r>
                        <a:rPr lang="zh-CN" altLang="en-US">
                          <a:effectLst/>
                        </a:rPr>
                        <a:t>、标签、评价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榜单内资产表达、榜单作为标签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5860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比</a:t>
                      </a:r>
                      <a:r>
                        <a:rPr lang="en-US" altLang="zh-CN">
                          <a:effectLst/>
                        </a:rPr>
                        <a:t>-</a:t>
                      </a:r>
                      <a:r>
                        <a:rPr lang="zh-CN" altLang="en-US">
                          <a:effectLst/>
                        </a:rPr>
                        <a:t>对比选择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“有很多条件类似的店，优先选哪个？”</a:t>
                      </a:r>
                      <a:r>
                        <a:rPr lang="en-US" altLang="zh-CN">
                          <a:effectLst/>
                        </a:rPr>
                        <a:t>——</a:t>
                      </a:r>
                      <a:r>
                        <a:rPr lang="zh-CN" altLang="en-US">
                          <a:effectLst/>
                        </a:rPr>
                        <a:t>效率、可信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搜索、筛选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榜单内筛选，榜单作为标签</a:t>
                      </a:r>
                      <a:r>
                        <a:rPr lang="en-US" altLang="zh-CN">
                          <a:effectLst/>
                        </a:rPr>
                        <a:t>/</a:t>
                      </a:r>
                      <a:r>
                        <a:rPr lang="zh-CN" altLang="en-US">
                          <a:effectLst/>
                        </a:rPr>
                        <a:t>快筛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75103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到</a:t>
                      </a:r>
                      <a:r>
                        <a:rPr lang="en-US" altLang="zh-CN">
                          <a:effectLst/>
                        </a:rPr>
                        <a:t>-</a:t>
                      </a:r>
                      <a:r>
                        <a:rPr lang="zh-CN" altLang="en-US">
                          <a:effectLst/>
                        </a:rPr>
                        <a:t>决策闭环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“想选这家，能确保吃上么？”“有没有优惠？”</a:t>
                      </a:r>
                      <a:r>
                        <a:rPr lang="en-US" altLang="zh-CN">
                          <a:effectLst/>
                        </a:rPr>
                        <a:t>——</a:t>
                      </a:r>
                      <a:r>
                        <a:rPr lang="zh-CN" altLang="en-US">
                          <a:effectLst/>
                        </a:rPr>
                        <a:t>确定、准确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预订、排队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榜单履约组合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7768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dirty="0">
                          <a:effectLst/>
                        </a:rPr>
                        <a:t>馈</a:t>
                      </a:r>
                      <a:r>
                        <a:rPr lang="en-US" altLang="zh-CN" dirty="0">
                          <a:effectLst/>
                        </a:rPr>
                        <a:t>-</a:t>
                      </a:r>
                      <a:r>
                        <a:rPr lang="zh-CN" altLang="en-US" dirty="0">
                          <a:effectLst/>
                        </a:rPr>
                        <a:t>验证反馈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dirty="0">
                          <a:effectLst/>
                        </a:rPr>
                        <a:t>“这家店值不值？下次还来吗？是否愿意推荐给别人”</a:t>
                      </a:r>
                      <a:r>
                        <a:rPr lang="en-US" altLang="zh-CN" dirty="0">
                          <a:effectLst/>
                        </a:rPr>
                        <a:t>——</a:t>
                      </a:r>
                      <a:r>
                        <a:rPr lang="zh-CN" altLang="en-US" dirty="0">
                          <a:effectLst/>
                        </a:rPr>
                        <a:t>验证、口碑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>
                          <a:effectLst/>
                        </a:rPr>
                        <a:t>收藏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dirty="0">
                          <a:effectLst/>
                        </a:rPr>
                        <a:t>榜单好店挖掘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386910"/>
                  </a:ext>
                </a:extLst>
              </a:tr>
            </a:tbl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83352B49-BFE3-A40A-D0DE-94AF252C04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3433785" y="307005"/>
            <a:ext cx="670262" cy="67026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DC85D2A-07F7-6569-0F9B-B06368C3E158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671425" y="1545607"/>
            <a:ext cx="569610" cy="56961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7786976-6D3C-6026-C16D-94A886CF7E41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594783" y="2285308"/>
            <a:ext cx="416326" cy="41632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2AEB873-A75F-656B-B965-04769E97CB60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637257" y="3515259"/>
            <a:ext cx="501275" cy="50127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748ADFD9-B93A-807F-457D-B17778AF8E6A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613748" y="4114140"/>
            <a:ext cx="454257" cy="438896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1BD349BA-1BB9-45E5-90EC-DD3148D03ABA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637257" y="2882206"/>
            <a:ext cx="501274" cy="501274"/>
          </a:xfrm>
          <a:prstGeom prst="rect">
            <a:avLst/>
          </a:prstGeom>
        </p:spPr>
      </p:pic>
      <p:sp>
        <p:nvSpPr>
          <p:cNvPr id="18" name="Rectangle 2">
            <a:extLst>
              <a:ext uri="{FF2B5EF4-FFF2-40B4-BE49-F238E27FC236}">
                <a16:creationId xmlns:a16="http://schemas.microsoft.com/office/drawing/2014/main" id="{DED3EA92-8845-4094-BE2F-E8F188B99E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9386" y="137991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79FD302-71BA-71F8-6065-87D2B85BAC16}"/>
              </a:ext>
            </a:extLst>
          </p:cNvPr>
          <p:cNvSpPr txBox="1"/>
          <p:nvPr/>
        </p:nvSpPr>
        <p:spPr>
          <a:xfrm>
            <a:off x="12554488" y="-629789"/>
            <a:ext cx="16679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 fontAlgn="ctr"/>
            <a:r>
              <a:rPr lang="zh-CN" altLang="en-US" dirty="0">
                <a:latin typeface="+mn-ea"/>
              </a:rPr>
              <a:t>典型用户场景</a:t>
            </a:r>
            <a:endParaRPr lang="zh-CN" altLang="en-US" dirty="0">
              <a:effectLst/>
              <a:latin typeface="+mn-ea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831155A-C32C-5312-77B7-C3CA44945291}"/>
              </a:ext>
            </a:extLst>
          </p:cNvPr>
          <p:cNvSpPr txBox="1"/>
          <p:nvPr/>
        </p:nvSpPr>
        <p:spPr>
          <a:xfrm>
            <a:off x="12868990" y="-29874"/>
            <a:ext cx="1353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effectLst/>
                <a:latin typeface="+mn-ea"/>
              </a:rPr>
              <a:t>“不知道吃啥，需要被刺激”</a:t>
            </a:r>
            <a:endParaRPr lang="zh-CN" altLang="en-US" sz="1200" dirty="0">
              <a:latin typeface="+mn-ea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3DA93E40-283F-F7F7-DE95-3F5ADE1335BB}"/>
              </a:ext>
            </a:extLst>
          </p:cNvPr>
          <p:cNvSpPr txBox="1"/>
          <p:nvPr/>
        </p:nvSpPr>
        <p:spPr>
          <a:xfrm>
            <a:off x="12868990" y="1178477"/>
            <a:ext cx="1353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effectLst/>
                <a:latin typeface="+mn-ea"/>
              </a:rPr>
              <a:t>“到底怎么样？是否满足我？”</a:t>
            </a:r>
            <a:endParaRPr lang="zh-CN" altLang="en-US" sz="1200" dirty="0">
              <a:latin typeface="+mn-ea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9CA144B4-E939-E925-044A-6BD312CD71C2}"/>
              </a:ext>
            </a:extLst>
          </p:cNvPr>
          <p:cNvSpPr txBox="1"/>
          <p:nvPr/>
        </p:nvSpPr>
        <p:spPr>
          <a:xfrm>
            <a:off x="12912568" y="2201419"/>
            <a:ext cx="1353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zh-CN" altLang="zh-CN" sz="1200" b="0" i="0" u="none" strike="noStrike" kern="1200" dirty="0">
                <a:solidFill>
                  <a:srgbClr val="000000"/>
                </a:solidFill>
                <a:effectLst/>
                <a:latin typeface="+mn-ea"/>
              </a:rPr>
              <a:t>“有很多，优先选哪个？”</a:t>
            </a:r>
            <a:endParaRPr lang="zh-CN" altLang="zh-CN" sz="1200" b="0" i="0" u="none" strike="noStrike" dirty="0">
              <a:effectLst/>
              <a:latin typeface="+mn-ea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EFAC1D6A-F6D6-DE1F-FBDF-E978BC41B296}"/>
              </a:ext>
            </a:extLst>
          </p:cNvPr>
          <p:cNvSpPr txBox="1"/>
          <p:nvPr/>
        </p:nvSpPr>
        <p:spPr>
          <a:xfrm>
            <a:off x="12868990" y="3345732"/>
            <a:ext cx="1353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effectLst/>
              </a:rPr>
              <a:t>“想选这家，能确保吃上么？”</a:t>
            </a:r>
            <a:endParaRPr lang="zh-CN" altLang="en-US" sz="1200" dirty="0">
              <a:latin typeface="+mn-ea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4622911F-50D8-1CDB-D92D-6723DF7554EE}"/>
              </a:ext>
            </a:extLst>
          </p:cNvPr>
          <p:cNvSpPr txBox="1"/>
          <p:nvPr/>
        </p:nvSpPr>
        <p:spPr>
          <a:xfrm>
            <a:off x="12912568" y="4443904"/>
            <a:ext cx="1353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effectLst/>
              </a:rPr>
              <a:t>“下次还来吗？是否推荐给别人”</a:t>
            </a:r>
            <a:endParaRPr lang="zh-CN" altLang="en-US" sz="1200" dirty="0">
              <a:latin typeface="+mn-ea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8673E5F7-CD8B-E7A7-223A-A85617A3F3E2}"/>
              </a:ext>
            </a:extLst>
          </p:cNvPr>
          <p:cNvSpPr txBox="1"/>
          <p:nvPr/>
        </p:nvSpPr>
        <p:spPr>
          <a:xfrm>
            <a:off x="2726348" y="-617481"/>
            <a:ext cx="16679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 fontAlgn="ctr"/>
            <a:endParaRPr lang="zh-CN" altLang="en-US" dirty="0">
              <a:effectLst/>
              <a:latin typeface="+mn-ea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B7041982-44C8-1944-74BB-353136615016}"/>
              </a:ext>
            </a:extLst>
          </p:cNvPr>
          <p:cNvSpPr txBox="1"/>
          <p:nvPr/>
        </p:nvSpPr>
        <p:spPr>
          <a:xfrm>
            <a:off x="4584811" y="-596716"/>
            <a:ext cx="16679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 fontAlgn="ctr"/>
            <a:endParaRPr lang="zh-CN" altLang="en-US" dirty="0">
              <a:effectLst/>
              <a:latin typeface="+mn-ea"/>
            </a:endParaRPr>
          </a:p>
        </p:txBody>
      </p:sp>
      <p:graphicFrame>
        <p:nvGraphicFramePr>
          <p:cNvPr id="60" name="表格 59">
            <a:extLst>
              <a:ext uri="{FF2B5EF4-FFF2-40B4-BE49-F238E27FC236}">
                <a16:creationId xmlns:a16="http://schemas.microsoft.com/office/drawing/2014/main" id="{4BDA1D71-B185-9A6D-E4A6-15899B4006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4716992"/>
              </p:ext>
            </p:extLst>
          </p:nvPr>
        </p:nvGraphicFramePr>
        <p:xfrm>
          <a:off x="-274906" y="862534"/>
          <a:ext cx="10542855" cy="3842497"/>
        </p:xfrm>
        <a:graphic>
          <a:graphicData uri="http://schemas.openxmlformats.org/drawingml/2006/table">
            <a:tbl>
              <a:tblPr/>
              <a:tblGrid>
                <a:gridCol w="1148053">
                  <a:extLst>
                    <a:ext uri="{9D8B030D-6E8A-4147-A177-3AD203B41FA5}">
                      <a16:colId xmlns:a16="http://schemas.microsoft.com/office/drawing/2014/main" val="1717911457"/>
                    </a:ext>
                  </a:extLst>
                </a:gridCol>
                <a:gridCol w="1860506">
                  <a:extLst>
                    <a:ext uri="{9D8B030D-6E8A-4147-A177-3AD203B41FA5}">
                      <a16:colId xmlns:a16="http://schemas.microsoft.com/office/drawing/2014/main" val="541421147"/>
                    </a:ext>
                  </a:extLst>
                </a:gridCol>
                <a:gridCol w="1250906">
                  <a:extLst>
                    <a:ext uri="{9D8B030D-6E8A-4147-A177-3AD203B41FA5}">
                      <a16:colId xmlns:a16="http://schemas.microsoft.com/office/drawing/2014/main" val="25875179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75410669"/>
                    </a:ext>
                  </a:extLst>
                </a:gridCol>
                <a:gridCol w="1274916">
                  <a:extLst>
                    <a:ext uri="{9D8B030D-6E8A-4147-A177-3AD203B41FA5}">
                      <a16:colId xmlns:a16="http://schemas.microsoft.com/office/drawing/2014/main" val="3811968680"/>
                    </a:ext>
                  </a:extLst>
                </a:gridCol>
                <a:gridCol w="2284368">
                  <a:extLst>
                    <a:ext uri="{9D8B030D-6E8A-4147-A177-3AD203B41FA5}">
                      <a16:colId xmlns:a16="http://schemas.microsoft.com/office/drawing/2014/main" val="1148278393"/>
                    </a:ext>
                  </a:extLst>
                </a:gridCol>
                <a:gridCol w="1352506">
                  <a:extLst>
                    <a:ext uri="{9D8B030D-6E8A-4147-A177-3AD203B41FA5}">
                      <a16:colId xmlns:a16="http://schemas.microsoft.com/office/drawing/2014/main" val="2000584080"/>
                    </a:ext>
                  </a:extLst>
                </a:gridCol>
              </a:tblGrid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决策环节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典型产品</a:t>
                      </a:r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altLang="zh-CN" sz="1600" dirty="0">
                          <a:effectLst/>
                          <a:latin typeface="+mn-ea"/>
                          <a:ea typeface="+mn-ea"/>
                        </a:rPr>
                        <a:t>D+</a:t>
                      </a: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优势组合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altLang="zh-CN" sz="1600" dirty="0">
                          <a:effectLst/>
                          <a:latin typeface="+mn-ea"/>
                          <a:ea typeface="+mn-ea"/>
                        </a:rPr>
                        <a:t>MT</a:t>
                      </a: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优势组合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altLang="zh-CN" sz="1600" dirty="0">
                          <a:effectLst/>
                          <a:latin typeface="+mn-ea"/>
                          <a:ea typeface="+mn-ea"/>
                        </a:rPr>
                        <a:t>AI</a:t>
                      </a: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对话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榜单原有价值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effectLst/>
                          <a:latin typeface="+mn-ea"/>
                          <a:ea typeface="+mn-ea"/>
                        </a:rPr>
                        <a:t>AI-</a:t>
                      </a: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价值升级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2432651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灵感激发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推荐流</a:t>
                      </a:r>
                      <a:endParaRPr lang="zh-CN" altLang="en-US" sz="1600" dirty="0"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1600" b="0" dirty="0">
                          <a:effectLst/>
                          <a:latin typeface="+mn-ea"/>
                          <a:ea typeface="+mn-ea"/>
                        </a:rPr>
                        <a:t>其它排名门店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9548"/>
                  </a:ext>
                </a:extLst>
              </a:tr>
              <a:tr h="644002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信息获取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effectLst/>
                          <a:latin typeface="+mn-ea"/>
                          <a:ea typeface="+mn-ea"/>
                        </a:rPr>
                        <a:t>POI</a:t>
                      </a: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、标签、评价</a:t>
                      </a:r>
                      <a:endParaRPr lang="zh-CN" altLang="en-US" sz="1600" dirty="0"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1600" b="0" dirty="0">
                          <a:effectLst/>
                          <a:latin typeface="+mn-ea"/>
                          <a:ea typeface="+mn-ea"/>
                        </a:rPr>
                        <a:t>上榜原因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9464200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对比选择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搜索、筛选、</a:t>
                      </a:r>
                      <a:r>
                        <a:rPr lang="zh-CN" altLang="en-US" sz="1600" b="1" dirty="0">
                          <a:latin typeface="+mn-ea"/>
                          <a:ea typeface="+mn-ea"/>
                        </a:rPr>
                        <a:t>榜单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1600" b="0" dirty="0">
                          <a:effectLst/>
                          <a:latin typeface="+mn-ea"/>
                          <a:ea typeface="+mn-ea"/>
                        </a:rPr>
                        <a:t>榜单列表</a:t>
                      </a:r>
                      <a:r>
                        <a:rPr lang="en-US" altLang="zh-CN" sz="1600" b="0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600" b="0" dirty="0">
                          <a:effectLst/>
                          <a:latin typeface="+mn-ea"/>
                          <a:ea typeface="+mn-ea"/>
                        </a:rPr>
                        <a:t>筛选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3565462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决策闭环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预排、优惠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1600" b="0" dirty="0">
                          <a:effectLst/>
                          <a:latin typeface="+mn-ea"/>
                          <a:ea typeface="+mn-ea"/>
                        </a:rPr>
                        <a:t>产品组合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45927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验证反馈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收藏、评价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1600" b="0" dirty="0">
                          <a:effectLst/>
                          <a:latin typeface="+mn-ea"/>
                          <a:ea typeface="+mn-ea"/>
                        </a:rPr>
                        <a:t>分享复访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74914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F231433-4C5A-028B-AFAF-3FF590639D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0205358"/>
              </p:ext>
            </p:extLst>
          </p:nvPr>
        </p:nvGraphicFramePr>
        <p:xfrm>
          <a:off x="-9713210" y="2873666"/>
          <a:ext cx="8272595" cy="3838194"/>
        </p:xfrm>
        <a:graphic>
          <a:graphicData uri="http://schemas.openxmlformats.org/drawingml/2006/table">
            <a:tbl>
              <a:tblPr/>
              <a:tblGrid>
                <a:gridCol w="1587804">
                  <a:extLst>
                    <a:ext uri="{9D8B030D-6E8A-4147-A177-3AD203B41FA5}">
                      <a16:colId xmlns:a16="http://schemas.microsoft.com/office/drawing/2014/main" val="1717911457"/>
                    </a:ext>
                  </a:extLst>
                </a:gridCol>
                <a:gridCol w="1758906">
                  <a:extLst>
                    <a:ext uri="{9D8B030D-6E8A-4147-A177-3AD203B41FA5}">
                      <a16:colId xmlns:a16="http://schemas.microsoft.com/office/drawing/2014/main" val="541421147"/>
                    </a:ext>
                  </a:extLst>
                </a:gridCol>
                <a:gridCol w="1657306">
                  <a:extLst>
                    <a:ext uri="{9D8B030D-6E8A-4147-A177-3AD203B41FA5}">
                      <a16:colId xmlns:a16="http://schemas.microsoft.com/office/drawing/2014/main" val="962167861"/>
                    </a:ext>
                  </a:extLst>
                </a:gridCol>
                <a:gridCol w="1657306">
                  <a:extLst>
                    <a:ext uri="{9D8B030D-6E8A-4147-A177-3AD203B41FA5}">
                      <a16:colId xmlns:a16="http://schemas.microsoft.com/office/drawing/2014/main" val="856839086"/>
                    </a:ext>
                  </a:extLst>
                </a:gridCol>
                <a:gridCol w="1611273">
                  <a:extLst>
                    <a:ext uri="{9D8B030D-6E8A-4147-A177-3AD203B41FA5}">
                      <a16:colId xmlns:a16="http://schemas.microsoft.com/office/drawing/2014/main" val="25875179"/>
                    </a:ext>
                  </a:extLst>
                </a:gridCol>
              </a:tblGrid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决策环节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典型产品</a:t>
                      </a:r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榜单体验（内）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榜单组合（外）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altLang="zh-CN" sz="1600" dirty="0">
                          <a:effectLst/>
                          <a:latin typeface="+mn-ea"/>
                          <a:ea typeface="+mn-ea"/>
                        </a:rPr>
                        <a:t>D+/MT</a:t>
                      </a: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对比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2432651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灵感激发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推荐流</a:t>
                      </a:r>
                      <a:endParaRPr lang="zh-CN" altLang="en-US" sz="1600" dirty="0"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榜单页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榜单标签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9548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信息获取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effectLst/>
                          <a:latin typeface="+mn-ea"/>
                          <a:ea typeface="+mn-ea"/>
                        </a:rPr>
                        <a:t>POI</a:t>
                      </a: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、标签、评价</a:t>
                      </a:r>
                      <a:endParaRPr lang="zh-CN" altLang="en-US" sz="1600" dirty="0"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榜单资产表达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榜单标签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9464200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对比选择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搜索、筛选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榜单内筛选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榜单筛选、标签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3565462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决策闭环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预排、优惠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</a:t>
                      </a:r>
                      <a:r>
                        <a:rPr lang="en-US" altLang="zh-CN" sz="1600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履约深度结合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6653" marR="66653" marT="8332" marB="833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45927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验证反馈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收藏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好店挖掘、异常剔除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/>
                      <a:endParaRPr lang="zh-CN" altLang="en-US" sz="1700" dirty="0">
                        <a:effectLst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749141"/>
                  </a:ext>
                </a:extLst>
              </a:tr>
            </a:tbl>
          </a:graphicData>
        </a:graphic>
      </p:graphicFrame>
      <p:sp>
        <p:nvSpPr>
          <p:cNvPr id="7" name="矩形: 圆角 6">
            <a:extLst>
              <a:ext uri="{FF2B5EF4-FFF2-40B4-BE49-F238E27FC236}">
                <a16:creationId xmlns:a16="http://schemas.microsoft.com/office/drawing/2014/main" id="{77EDEBBF-0CBF-AC9B-AE8B-D31FD2148692}"/>
              </a:ext>
            </a:extLst>
          </p:cNvPr>
          <p:cNvSpPr/>
          <p:nvPr/>
        </p:nvSpPr>
        <p:spPr>
          <a:xfrm>
            <a:off x="2779650" y="1667384"/>
            <a:ext cx="1120925" cy="1002667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+mn-ea"/>
              </a:rPr>
              <a:t>推短视频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8C055783-C06F-B776-FE9F-1885FB123A38}"/>
              </a:ext>
            </a:extLst>
          </p:cNvPr>
          <p:cNvSpPr/>
          <p:nvPr/>
        </p:nvSpPr>
        <p:spPr>
          <a:xfrm>
            <a:off x="2779650" y="3560674"/>
            <a:ext cx="1120925" cy="50127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+mn-ea"/>
              </a:rPr>
              <a:t>优惠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4784CC56-5363-7C3D-1114-FB6EE33DF3B2}"/>
              </a:ext>
            </a:extLst>
          </p:cNvPr>
          <p:cNvCxnSpPr/>
          <p:nvPr/>
        </p:nvCxnSpPr>
        <p:spPr>
          <a:xfrm>
            <a:off x="3323304" y="2811697"/>
            <a:ext cx="0" cy="6365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1C41A0C-6843-09CF-029D-361D9D8E2F3A}"/>
              </a:ext>
            </a:extLst>
          </p:cNvPr>
          <p:cNvSpPr/>
          <p:nvPr/>
        </p:nvSpPr>
        <p:spPr>
          <a:xfrm>
            <a:off x="4102104" y="2271357"/>
            <a:ext cx="1209401" cy="50133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POI</a:t>
            </a:r>
            <a:r>
              <a:rPr lang="zh-CN" altLang="en-US" sz="1600" dirty="0">
                <a:solidFill>
                  <a:schemeClr val="tx1"/>
                </a:solidFill>
              </a:rPr>
              <a:t>、看评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00DB2C26-D559-CE8B-A78A-BCDD97874D61}"/>
              </a:ext>
            </a:extLst>
          </p:cNvPr>
          <p:cNvSpPr/>
          <p:nvPr/>
        </p:nvSpPr>
        <p:spPr>
          <a:xfrm>
            <a:off x="4102105" y="2923822"/>
            <a:ext cx="1209401" cy="50133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搜</a:t>
            </a:r>
            <a:r>
              <a:rPr lang="en-US" altLang="zh-CN" sz="1600" dirty="0">
                <a:solidFill>
                  <a:schemeClr val="tx1"/>
                </a:solidFill>
              </a:rPr>
              <a:t>/</a:t>
            </a:r>
            <a:r>
              <a:rPr lang="zh-CN" altLang="en-US" sz="1600" dirty="0">
                <a:solidFill>
                  <a:schemeClr val="tx1"/>
                </a:solidFill>
              </a:rPr>
              <a:t>榜列表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E93F12C5-C929-6875-86C7-722F8B6FF537}"/>
              </a:ext>
            </a:extLst>
          </p:cNvPr>
          <p:cNvSpPr/>
          <p:nvPr/>
        </p:nvSpPr>
        <p:spPr>
          <a:xfrm>
            <a:off x="4102105" y="3557387"/>
            <a:ext cx="1209401" cy="50133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交履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B73B7179-7FCA-73B7-E5E0-A8CDFAE87A57}"/>
              </a:ext>
            </a:extLst>
          </p:cNvPr>
          <p:cNvSpPr/>
          <p:nvPr/>
        </p:nvSpPr>
        <p:spPr>
          <a:xfrm>
            <a:off x="4102104" y="4188724"/>
            <a:ext cx="1209401" cy="50133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写评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056A2E59-6521-04A0-009D-B8BFCEFAED4E}"/>
              </a:ext>
            </a:extLst>
          </p:cNvPr>
          <p:cNvSpPr/>
          <p:nvPr/>
        </p:nvSpPr>
        <p:spPr>
          <a:xfrm>
            <a:off x="5444895" y="1701789"/>
            <a:ext cx="1120925" cy="302674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+mn-ea"/>
              </a:rPr>
              <a:t>环节压缩</a:t>
            </a:r>
            <a:endParaRPr lang="en-US" altLang="zh-CN" sz="16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C56F3037-436B-8BDE-4B13-10BDF34E3018}"/>
              </a:ext>
            </a:extLst>
          </p:cNvPr>
          <p:cNvCxnSpPr>
            <a:cxnSpLocks/>
          </p:cNvCxnSpPr>
          <p:nvPr/>
        </p:nvCxnSpPr>
        <p:spPr>
          <a:xfrm>
            <a:off x="6792757" y="879495"/>
            <a:ext cx="0" cy="403877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5" name="表格 54">
            <a:extLst>
              <a:ext uri="{FF2B5EF4-FFF2-40B4-BE49-F238E27FC236}">
                <a16:creationId xmlns:a16="http://schemas.microsoft.com/office/drawing/2014/main" id="{C9BDE866-267D-D316-0B20-425A89C5DB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1306008"/>
              </p:ext>
            </p:extLst>
          </p:nvPr>
        </p:nvGraphicFramePr>
        <p:xfrm>
          <a:off x="10578585" y="5302900"/>
          <a:ext cx="8658048" cy="3838194"/>
        </p:xfrm>
        <a:graphic>
          <a:graphicData uri="http://schemas.openxmlformats.org/drawingml/2006/table">
            <a:tbl>
              <a:tblPr/>
              <a:tblGrid>
                <a:gridCol w="1250405">
                  <a:extLst>
                    <a:ext uri="{9D8B030D-6E8A-4147-A177-3AD203B41FA5}">
                      <a16:colId xmlns:a16="http://schemas.microsoft.com/office/drawing/2014/main" val="1717911457"/>
                    </a:ext>
                  </a:extLst>
                </a:gridCol>
                <a:gridCol w="2266906">
                  <a:extLst>
                    <a:ext uri="{9D8B030D-6E8A-4147-A177-3AD203B41FA5}">
                      <a16:colId xmlns:a16="http://schemas.microsoft.com/office/drawing/2014/main" val="541421147"/>
                    </a:ext>
                  </a:extLst>
                </a:gridCol>
                <a:gridCol w="2346737">
                  <a:extLst>
                    <a:ext uri="{9D8B030D-6E8A-4147-A177-3AD203B41FA5}">
                      <a16:colId xmlns:a16="http://schemas.microsoft.com/office/drawing/2014/main" val="25875179"/>
                    </a:ext>
                  </a:extLst>
                </a:gridCol>
                <a:gridCol w="1525113">
                  <a:extLst>
                    <a:ext uri="{9D8B030D-6E8A-4147-A177-3AD203B41FA5}">
                      <a16:colId xmlns:a16="http://schemas.microsoft.com/office/drawing/2014/main" val="510373423"/>
                    </a:ext>
                  </a:extLst>
                </a:gridCol>
                <a:gridCol w="1268887">
                  <a:extLst>
                    <a:ext uri="{9D8B030D-6E8A-4147-A177-3AD203B41FA5}">
                      <a16:colId xmlns:a16="http://schemas.microsoft.com/office/drawing/2014/main" val="3811968680"/>
                    </a:ext>
                  </a:extLst>
                </a:gridCol>
              </a:tblGrid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决策环节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传统</a:t>
                      </a:r>
                      <a:r>
                        <a:rPr lang="en-US" altLang="zh-CN" sz="1600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决策入口：可优化动作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altLang="zh-CN" sz="1600" dirty="0">
                          <a:effectLst/>
                          <a:latin typeface="+mn-ea"/>
                          <a:ea typeface="+mn-ea"/>
                        </a:rPr>
                        <a:t>AI-</a:t>
                      </a: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价值升级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2432651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灵感激发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endParaRPr lang="zh-CN" altLang="en-US" sz="16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榜单页改造（内）</a:t>
                      </a:r>
                      <a:endParaRPr lang="en-US" altLang="zh-CN" sz="160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动线前置触达（外）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9548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信息获取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endParaRPr lang="zh-CN" altLang="en-US" sz="16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资产表达强化（内）</a:t>
                      </a:r>
                      <a:endParaRPr lang="en-US" altLang="zh-CN" sz="160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榜单标签展示（外）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9464200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对比选择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endParaRPr lang="zh-CN" altLang="en-US" sz="16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榜单内筛选（内）</a:t>
                      </a:r>
                      <a:endParaRPr lang="en-US" altLang="zh-CN" sz="160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搜、筛榜单标签（外）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3565462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决策闭环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榜单</a:t>
                      </a:r>
                      <a:r>
                        <a:rPr lang="en-US" altLang="zh-CN" sz="1600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履约深度结合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45927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验证反馈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endParaRPr lang="zh-CN" altLang="en-US" sz="16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好店挖掘</a:t>
                      </a:r>
                      <a:r>
                        <a:rPr lang="en-US" altLang="zh-CN" sz="1600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异常剔除（内）</a:t>
                      </a:r>
                      <a:endParaRPr lang="en-US" altLang="zh-CN" sz="160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algn="ctr" fontAlgn="ctr"/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优化分享、召回（外）</a:t>
                      </a: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6653" marR="66653" marT="8332" marB="833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749141"/>
                  </a:ext>
                </a:extLst>
              </a:tr>
            </a:tbl>
          </a:graphicData>
        </a:graphic>
      </p:graphicFrame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B6026AC7-EAC0-ADA8-48CF-384FBF9BBA3B}"/>
              </a:ext>
            </a:extLst>
          </p:cNvPr>
          <p:cNvSpPr/>
          <p:nvPr/>
        </p:nvSpPr>
        <p:spPr>
          <a:xfrm>
            <a:off x="8987365" y="1701789"/>
            <a:ext cx="1209401" cy="302674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+mn-ea"/>
              </a:rPr>
              <a:t>决策入口</a:t>
            </a:r>
            <a:endParaRPr lang="en-US" altLang="zh-CN" sz="1600" b="1" dirty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zh-CN" sz="16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+mn-ea"/>
              </a:rPr>
              <a:t>⬇️</a:t>
            </a:r>
            <a:endParaRPr lang="en-US" altLang="zh-CN" sz="1600" b="1" dirty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zh-CN" sz="16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+mn-ea"/>
              </a:rPr>
              <a:t>信任引用</a:t>
            </a:r>
            <a:endParaRPr lang="en-US" altLang="zh-CN" sz="16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1" name="箭头: 右 60">
            <a:extLst>
              <a:ext uri="{FF2B5EF4-FFF2-40B4-BE49-F238E27FC236}">
                <a16:creationId xmlns:a16="http://schemas.microsoft.com/office/drawing/2014/main" id="{EFBE1D69-1C24-B128-73AC-EE9895707806}"/>
              </a:ext>
            </a:extLst>
          </p:cNvPr>
          <p:cNvSpPr/>
          <p:nvPr/>
        </p:nvSpPr>
        <p:spPr>
          <a:xfrm>
            <a:off x="15404748" y="6821134"/>
            <a:ext cx="336885" cy="27473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D5059656-75B4-355A-7E46-5315D42AD43E}"/>
              </a:ext>
            </a:extLst>
          </p:cNvPr>
          <p:cNvCxnSpPr>
            <a:cxnSpLocks/>
          </p:cNvCxnSpPr>
          <p:nvPr/>
        </p:nvCxnSpPr>
        <p:spPr>
          <a:xfrm>
            <a:off x="10709788" y="5155827"/>
            <a:ext cx="0" cy="37058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528749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8A49F575-6137-086A-9775-AA942C8762A0}"/>
              </a:ext>
            </a:extLst>
          </p:cNvPr>
          <p:cNvSpPr txBox="1"/>
          <p:nvPr/>
        </p:nvSpPr>
        <p:spPr>
          <a:xfrm>
            <a:off x="363354" y="908484"/>
            <a:ext cx="807877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/>
            <a:r>
              <a:rPr lang="zh-CN" altLang="en-US" dirty="0">
                <a:effectLst/>
              </a:rPr>
              <a:t>同时，内容平台由于领域通用性考虑，方案上照顾宽而无法深。到餐食单基于领域做深，</a:t>
            </a:r>
            <a:r>
              <a:rPr lang="zh-CN" altLang="en-US" b="1" dirty="0">
                <a:effectLst/>
              </a:rPr>
              <a:t>结合游戏化</a:t>
            </a:r>
            <a:r>
              <a:rPr lang="zh-CN" altLang="en-US" dirty="0">
                <a:effectLst/>
              </a:rPr>
              <a:t>，加强内容、互动的趣味性，贴和年轻人喜欢的表达方式，如地图集卡、年度报告、</a:t>
            </a:r>
            <a:r>
              <a:rPr lang="en-US" altLang="zh-CN" dirty="0">
                <a:effectLst/>
              </a:rPr>
              <a:t>remix</a:t>
            </a:r>
            <a:r>
              <a:rPr lang="zh-CN" altLang="en-US" dirty="0">
                <a:effectLst/>
              </a:rPr>
              <a:t>、碰一碰等。玩法上，</a:t>
            </a:r>
            <a:r>
              <a:rPr lang="zh-CN" altLang="en-US" dirty="0">
                <a:solidFill>
                  <a:srgbClr val="FF4A47"/>
                </a:solidFill>
                <a:effectLst/>
              </a:rPr>
              <a:t>考虑到中低线小红书和点评的受众较少，好玩但应足够简单。</a:t>
            </a:r>
            <a:endParaRPr lang="en-US" altLang="zh-CN" dirty="0">
              <a:solidFill>
                <a:srgbClr val="FF4A47"/>
              </a:solidFill>
              <a:effectLst/>
            </a:endParaRPr>
          </a:p>
          <a:p>
            <a:pPr marL="0" marR="0"/>
            <a:endParaRPr lang="en-US" altLang="zh-CN" dirty="0">
              <a:solidFill>
                <a:srgbClr val="FF4A47"/>
              </a:solidFill>
            </a:endParaRPr>
          </a:p>
          <a:p>
            <a:r>
              <a:rPr lang="en-US" altLang="zh-CN" dirty="0">
                <a:effectLst/>
              </a:rPr>
              <a:t>4</a:t>
            </a:r>
            <a:r>
              <a:rPr lang="zh-CN" altLang="en-US" dirty="0">
                <a:effectLst/>
              </a:rPr>
              <a:t>）建立一种新的运营通路。筛选用户中高消费</a:t>
            </a:r>
            <a:r>
              <a:rPr lang="en-US" altLang="zh-CN" dirty="0">
                <a:effectLst/>
              </a:rPr>
              <a:t>x</a:t>
            </a:r>
            <a:r>
              <a:rPr lang="zh-CN" altLang="en-US" dirty="0">
                <a:effectLst/>
              </a:rPr>
              <a:t>爱分享用户运营，面向一种新的食单对象运营</a:t>
            </a:r>
          </a:p>
          <a:p>
            <a:pPr marL="0" marR="0"/>
            <a:endParaRPr lang="zh-CN" altLang="en-US" dirty="0">
              <a:effectLst/>
            </a:endParaRPr>
          </a:p>
        </p:txBody>
      </p:sp>
      <p:sp>
        <p:nvSpPr>
          <p:cNvPr id="17" name="文本占位符 1">
            <a:extLst>
              <a:ext uri="{FF2B5EF4-FFF2-40B4-BE49-F238E27FC236}">
                <a16:creationId xmlns:a16="http://schemas.microsoft.com/office/drawing/2014/main" id="{5A05056B-D26F-586A-7433-9DD41237994C}"/>
              </a:ext>
            </a:extLst>
          </p:cNvPr>
          <p:cNvSpPr txBox="1">
            <a:spLocks/>
          </p:cNvSpPr>
          <p:nvPr/>
        </p:nvSpPr>
        <p:spPr>
          <a:xfrm>
            <a:off x="363354" y="331948"/>
            <a:ext cx="6435792" cy="576536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600" dirty="0">
                <a:latin typeface="+mn-ea"/>
              </a:rPr>
              <a:t>备份删减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192E9B9C-AFE5-67F9-8807-3EBE038176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9179" y="2865972"/>
            <a:ext cx="7202078" cy="2738087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00AE45EA-E8A9-A460-34B4-609EBFE15E74}"/>
              </a:ext>
            </a:extLst>
          </p:cNvPr>
          <p:cNvSpPr txBox="1"/>
          <p:nvPr/>
        </p:nvSpPr>
        <p:spPr>
          <a:xfrm>
            <a:off x="185244" y="5812273"/>
            <a:ext cx="679201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/>
            <a:r>
              <a:rPr lang="en-US" altLang="zh-CN" dirty="0">
                <a:effectLst/>
              </a:rPr>
              <a:t>1.</a:t>
            </a:r>
            <a:r>
              <a:rPr lang="zh-CN" altLang="en-US" dirty="0">
                <a:effectLst/>
              </a:rPr>
              <a:t>网易云音乐的成功要素：</a:t>
            </a:r>
            <a:r>
              <a:rPr lang="en-US" altLang="zh-CN" dirty="0">
                <a:effectLst/>
              </a:rPr>
              <a:t>"</a:t>
            </a:r>
            <a:r>
              <a:rPr lang="zh-CN" altLang="en-US" dirty="0">
                <a:effectLst/>
              </a:rPr>
              <a:t>创建→消费→反馈→再创建</a:t>
            </a:r>
            <a:r>
              <a:rPr lang="en-US" altLang="zh-CN" dirty="0">
                <a:effectLst/>
              </a:rPr>
              <a:t>"</a:t>
            </a:r>
            <a:r>
              <a:rPr lang="zh-CN" altLang="en-US" dirty="0">
                <a:effectLst/>
              </a:rPr>
              <a:t>的自运转闭环。据公开数据，网易云日均新增歌单超过</a:t>
            </a:r>
            <a:r>
              <a:rPr lang="en-US" altLang="zh-CN" dirty="0">
                <a:effectLst/>
              </a:rPr>
              <a:t>160</a:t>
            </a:r>
            <a:r>
              <a:rPr lang="zh-CN" altLang="en-US" dirty="0">
                <a:effectLst/>
              </a:rPr>
              <a:t>万个，歌单贡献了平台</a:t>
            </a:r>
            <a:r>
              <a:rPr lang="en-US" altLang="zh-CN" dirty="0">
                <a:effectLst/>
              </a:rPr>
              <a:t>70-80%</a:t>
            </a:r>
            <a:r>
              <a:rPr lang="zh-CN" altLang="en-US" dirty="0">
                <a:effectLst/>
              </a:rPr>
              <a:t>的总播放量，活跃的歌单创作者超过</a:t>
            </a:r>
            <a:r>
              <a:rPr lang="en-US" altLang="zh-CN" dirty="0">
                <a:effectLst/>
              </a:rPr>
              <a:t>1</a:t>
            </a:r>
            <a:r>
              <a:rPr lang="zh-CN" altLang="en-US" dirty="0">
                <a:effectLst/>
              </a:rPr>
              <a:t>万人。这意味着平台获得了一个几乎零边际成本的内容分发引擎</a:t>
            </a:r>
            <a:r>
              <a:rPr lang="en-US" altLang="zh-CN" dirty="0">
                <a:effectLst/>
              </a:rPr>
              <a:t>——</a:t>
            </a:r>
            <a:r>
              <a:rPr lang="zh-CN" altLang="en-US" dirty="0">
                <a:effectLst/>
              </a:rPr>
              <a:t>不需要编辑团队做人工推荐，用户自己就完成了内容的策展和再组织。</a:t>
            </a:r>
          </a:p>
          <a:p>
            <a:pPr marL="0" marR="0"/>
            <a:r>
              <a:rPr lang="en-US" altLang="zh-CN" dirty="0">
                <a:effectLst/>
              </a:rPr>
              <a:t>-</a:t>
            </a:r>
            <a:r>
              <a:rPr lang="zh-CN" altLang="en-US" dirty="0">
                <a:effectLst/>
              </a:rPr>
              <a:t>歌单的数据、界面、核心玩法。一个完整的网易云音乐歌单流，从生产</a:t>
            </a:r>
            <a:r>
              <a:rPr lang="en-US" altLang="zh-CN" dirty="0">
                <a:effectLst/>
              </a:rPr>
              <a:t>-</a:t>
            </a:r>
            <a:r>
              <a:rPr lang="zh-CN" altLang="en-US" dirty="0">
                <a:effectLst/>
              </a:rPr>
              <a:t>建设</a:t>
            </a:r>
            <a:r>
              <a:rPr lang="en-US" altLang="zh-CN" dirty="0">
                <a:effectLst/>
              </a:rPr>
              <a:t>-</a:t>
            </a:r>
            <a:r>
              <a:rPr lang="zh-CN" altLang="en-US" dirty="0">
                <a:effectLst/>
              </a:rPr>
              <a:t>推荐分发闭环的逻辑。</a:t>
            </a:r>
          </a:p>
          <a:p>
            <a:pPr marR="0"/>
            <a:r>
              <a:rPr lang="zh-CN" altLang="en-US" dirty="0">
                <a:effectLst/>
              </a:rPr>
              <a:t>生产：自建、</a:t>
            </a:r>
            <a:r>
              <a:rPr lang="en-US" altLang="zh-CN" dirty="0">
                <a:effectLst/>
              </a:rPr>
              <a:t>remix</a:t>
            </a:r>
            <a:r>
              <a:rPr lang="zh-CN" altLang="en-US" dirty="0">
                <a:effectLst/>
              </a:rPr>
              <a:t>、</a:t>
            </a:r>
            <a:r>
              <a:rPr lang="en-US" altLang="zh-CN" dirty="0">
                <a:effectLst/>
              </a:rPr>
              <a:t>AI</a:t>
            </a:r>
          </a:p>
          <a:p>
            <a:pPr marR="0"/>
            <a:r>
              <a:rPr lang="zh-CN" altLang="en-US" dirty="0">
                <a:effectLst/>
              </a:rPr>
              <a:t>分发：每日推荐（歌单形态，根据收藏</a:t>
            </a:r>
            <a:r>
              <a:rPr lang="en-US" altLang="zh-CN" dirty="0">
                <a:effectLst/>
              </a:rPr>
              <a:t>/</a:t>
            </a:r>
            <a:r>
              <a:rPr lang="zh-CN" altLang="en-US" dirty="0">
                <a:effectLst/>
              </a:rPr>
              <a:t>关注等听过行为，推荐最近几个月没听过的好歌）、私人雷达（根据收藏推荐）、推荐歌单（分发歌单）、热门歌单、雷达歌单、你关注的</a:t>
            </a:r>
            <a:r>
              <a:rPr lang="en-US" altLang="zh-CN" dirty="0">
                <a:effectLst/>
              </a:rPr>
              <a:t>/</a:t>
            </a:r>
            <a:r>
              <a:rPr lang="zh-CN" altLang="en-US" dirty="0">
                <a:effectLst/>
              </a:rPr>
              <a:t>创建的歌单、心情氛围歌单、场景歌单、歌手歌单等。本质是将一个不易理解的</a:t>
            </a:r>
            <a:r>
              <a:rPr lang="en-US" altLang="zh-CN" dirty="0">
                <a:effectLst/>
              </a:rPr>
              <a:t>N-list</a:t>
            </a:r>
            <a:r>
              <a:rPr lang="zh-CN" altLang="en-US" dirty="0">
                <a:effectLst/>
              </a:rPr>
              <a:t>推荐对象，变成可理解的</a:t>
            </a:r>
            <a:r>
              <a:rPr lang="en-US" altLang="zh-CN" dirty="0">
                <a:effectLst/>
              </a:rPr>
              <a:t>M</a:t>
            </a:r>
            <a:r>
              <a:rPr lang="zh-CN" altLang="en-US" dirty="0">
                <a:effectLst/>
              </a:rPr>
              <a:t>歌单</a:t>
            </a:r>
            <a:r>
              <a:rPr lang="en-US" altLang="zh-CN" dirty="0" err="1">
                <a:effectLst/>
              </a:rPr>
              <a:t>xNList</a:t>
            </a:r>
            <a:r>
              <a:rPr lang="zh-CN" altLang="en-US" dirty="0">
                <a:effectLst/>
              </a:rPr>
              <a:t>，</a:t>
            </a:r>
            <a:r>
              <a:rPr lang="en-US" altLang="zh-CN" dirty="0">
                <a:effectLst/>
              </a:rPr>
              <a:t>M=</a:t>
            </a:r>
            <a:r>
              <a:rPr lang="zh-CN" altLang="en-US" dirty="0">
                <a:effectLst/>
              </a:rPr>
              <a:t>推荐、热点、新、跟人</a:t>
            </a:r>
            <a:r>
              <a:rPr lang="en-US" altLang="zh-CN" dirty="0">
                <a:effectLst/>
              </a:rPr>
              <a:t>……</a:t>
            </a:r>
            <a:r>
              <a:rPr lang="zh-CN" altLang="en-US" dirty="0">
                <a:effectLst/>
              </a:rPr>
              <a:t>。个人的收藏也从单一的</a:t>
            </a:r>
            <a:r>
              <a:rPr lang="en-US" altLang="zh-CN" dirty="0">
                <a:effectLst/>
              </a:rPr>
              <a:t>N-list</a:t>
            </a:r>
            <a:r>
              <a:rPr lang="zh-CN" altLang="en-US" dirty="0">
                <a:effectLst/>
              </a:rPr>
              <a:t>，变成</a:t>
            </a:r>
            <a:r>
              <a:rPr lang="en-US" altLang="zh-CN" dirty="0" err="1">
                <a:effectLst/>
              </a:rPr>
              <a:t>MxNList</a:t>
            </a:r>
            <a:endParaRPr lang="en-US" altLang="zh-C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8326820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332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#m/%#d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bNumberIsYear val=&quot;0&quot;/&gt;&lt;m_strFormatTime&gt;%m/%y&lt;/m_strFormatTime&gt;&lt;m_yearfmt&gt;&lt;begin val=&quot;4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10&quot;&gt;&lt;elem m_fUsage=&quot;2.30605181889226695802E+00&quot;&gt;&lt;m_msothmcolidx val=&quot;0&quot;/&gt;&lt;m_rgb r=&quot;FF&quot; g=&quot;DD&quot; b=&quot;3C&quot;/&gt;&lt;/elem&gt;&lt;elem m_fUsage=&quot;1.66791628982774908785E+00&quot;&gt;&lt;m_msothmcolidx val=&quot;0&quot;/&gt;&lt;m_rgb r=&quot;59&quot; g=&quot;8A&quot; b=&quot;39&quot;/&gt;&lt;/elem&gt;&lt;elem m_fUsage=&quot;1.31949000000000005173E+00&quot;&gt;&lt;m_msothmcolidx val=&quot;0&quot;/&gt;&lt;m_rgb r=&quot;81&quot; g=&quot;E1&quot; b=&quot;6B&quot;/&gt;&lt;/elem&gt;&lt;elem m_fUsage=&quot;1.20589113209464904308E+00&quot;&gt;&lt;m_msothmcolidx val=&quot;0&quot;/&gt;&lt;m_rgb r=&quot;F4&quot; g=&quot;80&quot; b=&quot;32&quot;/&gt;&lt;/elem&gt;&lt;elem m_fUsage=&quot;9.58879313086665852062E-01&quot;&gt;&lt;m_msothmcolidx val=&quot;0&quot;/&gt;&lt;m_rgb r=&quot;8D&quot; g=&quot;BA&quot; b=&quot;E2&quot;/&gt;&lt;/elem&gt;&lt;elem m_fUsage=&quot;9.03573802785075042010E-01&quot;&gt;&lt;m_msothmcolidx val=&quot;0&quot;/&gt;&lt;m_rgb r=&quot;FF&quot; g=&quot;E9&quot; b=&quot;7D&quot;/&gt;&lt;/elem&gt;&lt;elem m_fUsage=&quot;8.17887699000000023553E-01&quot;&gt;&lt;m_msothmcolidx val=&quot;0&quot;/&gt;&lt;m_rgb r=&quot;5F&quot; g=&quot;D5&quot; b=&quot;DE&quot;/&gt;&lt;/elem&gt;&lt;elem m_fUsage=&quot;2.54186582832900132001E-01&quot;&gt;&lt;m_msothmcolidx val=&quot;0&quot;/&gt;&lt;m_rgb r=&quot;FF&quot; g=&quot;B6&quot; b=&quot;5B&quot;/&gt;&lt;/elem&gt;&lt;elem m_fUsage=&quot;1.85302018885184188735E-01&quot;&gt;&lt;m_msothmcolidx val=&quot;0&quot;/&gt;&lt;m_rgb r=&quot;94&quot; g=&quot;E2&quot; b=&quot;E9&quot;/&gt;&lt;/elem&gt;&lt;elem m_fUsage=&quot;7.17897987691853145531E-02&quot;&gt;&lt;m_msothmcolidx val=&quot;0&quot;/&gt;&lt;m_rgb r=&quot;FF&quot; g=&quot;EF&quot; b=&quot;A2&quot;/&gt;&lt;/elem&gt;&lt;/m_vecMRU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主题​​">
  <a:themeElements>
    <a:clrScheme name="美团点评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FD100"/>
      </a:accent1>
      <a:accent2>
        <a:srgbClr val="FE8C00"/>
      </a:accent2>
      <a:accent3>
        <a:srgbClr val="FF4949"/>
      </a:accent3>
      <a:accent4>
        <a:srgbClr val="FF6600"/>
      </a:accent4>
      <a:accent5>
        <a:srgbClr val="0079FF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Calibri"/>
        <a:ea typeface="楷体"/>
        <a:cs typeface=""/>
      </a:majorFont>
      <a:minorFont>
        <a:latin typeface="Calibri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194463</TotalTime>
  <Words>20595</Words>
  <Application>Microsoft Office PowerPoint</Application>
  <PresentationFormat>全屏显示(16:9)</PresentationFormat>
  <Paragraphs>2736</Paragraphs>
  <Slides>46</Slides>
  <Notes>46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59" baseType="lpstr">
      <vt:lpstr>-apple-system</vt:lpstr>
      <vt:lpstr>Inter</vt:lpstr>
      <vt:lpstr>PingFang</vt:lpstr>
      <vt:lpstr>PingFang SC</vt:lpstr>
      <vt:lpstr>等线</vt:lpstr>
      <vt:lpstr>楷体</vt:lpstr>
      <vt:lpstr>微软雅黑</vt:lpstr>
      <vt:lpstr>微软雅黑</vt:lpstr>
      <vt:lpstr>Arial</vt:lpstr>
      <vt:lpstr>Calibri</vt:lpstr>
      <vt:lpstr>Wingdings</vt:lpstr>
      <vt:lpstr>Office 主题​​</vt:lpstr>
      <vt:lpstr>think-cell 幻灯片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目录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目录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windows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到餐商户供给的分析框架</dc:title>
  <dc:creator>陈婧佳</dc:creator>
  <cp:lastModifiedBy>Han Su</cp:lastModifiedBy>
  <cp:revision>3708</cp:revision>
  <cp:lastPrinted>2026-03-16T07:19:48Z</cp:lastPrinted>
  <dcterms:created xsi:type="dcterms:W3CDTF">2026-01-26T07:38:34Z</dcterms:created>
  <dcterms:modified xsi:type="dcterms:W3CDTF">2026-08-18T16:08:15Z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">
    <vt:lpwstr>榜单汇报-双周会 6月-20260612.pptx</vt:lpwstr>
  </property>
  <property fmtid="{D5CDD505-2E9C-101B-9397-08002B2CF9AE}" pid="3" name="o">
    <vt:lpwstr>ORG_INFO</vt:lpwstr>
  </property>
  <property fmtid="{D5CDD505-2E9C-101B-9397-08002B2CF9AE}" pid="4" name="d">
    <vt:lpwstr>XM</vt:lpwstr>
  </property>
  <property fmtid="{D5CDD505-2E9C-101B-9397-08002B2CF9AE}" pid="5" name="i">
    <vt:lpwstr>1</vt:lpwstr>
  </property>
  <property fmtid="{D5CDD505-2E9C-101B-9397-08002B2CF9AE}" pid="6" name="s">
    <vt:lpwstr>a81e92534a5fabc87cd5c945c9f539fb01f4ef34</vt:lpwstr>
  </property>
  <property fmtid="{D5CDD505-2E9C-101B-9397-08002B2CF9AE}" pid="7" name="ICV">
    <vt:lpwstr/>
  </property>
  <property fmtid="{D5CDD505-2E9C-101B-9397-08002B2CF9AE}" pid="8" name="KSOProductBuildVer">
    <vt:lpwstr>2052-0.0.0.0</vt:lpwstr>
  </property>
</Properties>
</file>