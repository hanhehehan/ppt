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14999171" r:id="rId2"/>
    <p:sldId id="14998990" r:id="rId3"/>
    <p:sldId id="15716281" r:id="rId4"/>
  </p:sldIdLst>
  <p:sldSz cx="9144000" cy="5143500" type="screen16x9"/>
  <p:notesSz cx="7104063" cy="10234613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正文" id="{F0977A69-A7A4-2A4D-B3D3-A38B1C7EA371}">
          <p14:sldIdLst>
            <p14:sldId id="14999171"/>
            <p14:sldId id="14998990"/>
            <p14:sldId id="15716281"/>
          </p14:sldIdLst>
        </p14:section>
        <p14:section name="备注" id="{434DFA73-2E08-514A-BCEA-E728BA305965}">
          <p14:sldIdLst/>
        </p14:section>
      </p14:sectionLst>
    </p:ext>
    <p:ext uri="{EFAFB233-063F-42B5-8137-9DF3F51BA10A}">
      <p15:sldGuideLst xmlns:p15="http://schemas.microsoft.com/office/powerpoint/2012/main">
        <p15:guide id="1" pos="1701" userDrawn="1">
          <p15:clr>
            <a:srgbClr val="A4A3A4"/>
          </p15:clr>
        </p15:guide>
        <p15:guide id="2" orient="horz" pos="2346" userDrawn="1">
          <p15:clr>
            <a:srgbClr val="A4A3A4"/>
          </p15:clr>
        </p15:guide>
        <p15:guide id="3" orient="horz" pos="1688" userDrawn="1">
          <p15:clr>
            <a:srgbClr val="A4A3A4"/>
          </p15:clr>
        </p15:guide>
        <p15:guide id="4" pos="5670" userDrawn="1">
          <p15:clr>
            <a:srgbClr val="A4A3A4"/>
          </p15:clr>
        </p15:guide>
        <p15:guide id="5" orient="horz" pos="14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 yohann" initials="wy" lastIdx="1" clrIdx="0"/>
  <p:cmAuthor id="2" name="Luke Lu" initials="L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EF"/>
    <a:srgbClr val="FF6600"/>
    <a:srgbClr val="000000"/>
    <a:srgbClr val="E17B00"/>
    <a:srgbClr val="D1001B"/>
    <a:srgbClr val="FFFBEB"/>
    <a:srgbClr val="FFF9DD"/>
    <a:srgbClr val="FFFBF3"/>
    <a:srgbClr val="FFD74C"/>
    <a:srgbClr val="FFE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5" autoAdjust="0"/>
    <p:restoredTop sz="95294" autoAdjust="0"/>
  </p:normalViewPr>
  <p:slideViewPr>
    <p:cSldViewPr snapToGrid="0" showGuides="1">
      <p:cViewPr>
        <p:scale>
          <a:sx n="66" d="100"/>
          <a:sy n="66" d="100"/>
        </p:scale>
        <p:origin x="1236" y="452"/>
      </p:cViewPr>
      <p:guideLst>
        <p:guide pos="1701"/>
        <p:guide orient="horz" pos="2346"/>
        <p:guide orient="horz" pos="1688"/>
        <p:guide pos="5670"/>
        <p:guide orient="horz" pos="14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3448" y="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tags" Target="tags/tag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r">
              <a:defRPr sz="1200"/>
            </a:lvl1pPr>
          </a:lstStyle>
          <a:p>
            <a:fld id="{55BC94BE-2FCD-E14D-BE46-75045743C492}" type="datetime1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8" cy="513507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8" cy="513507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r">
              <a:defRPr sz="1200"/>
            </a:lvl1pPr>
          </a:lstStyle>
          <a:p>
            <a:fld id="{2B85C933-74A5-4A4D-B3F1-D428FDB7A8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l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r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DBD08E20-E2E4-BC43-9479-D71B4713CF91}" type="datetime1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68" tIns="47334" rIns="94668" bIns="47334" rtlCol="0" anchor="ctr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5"/>
          </p:nvPr>
        </p:nvSpPr>
        <p:spPr>
          <a:xfrm>
            <a:off x="4024201" y="9721330"/>
            <a:ext cx="3078206" cy="513284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r">
              <a:defRPr sz="1200"/>
            </a:lvl1pPr>
          </a:lstStyle>
          <a:p>
            <a:fld id="{AD210192-B253-41D5-A493-1466DCB1FD7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4"/>
          </p:nvPr>
        </p:nvSpPr>
        <p:spPr>
          <a:xfrm>
            <a:off x="1" y="9721330"/>
            <a:ext cx="3078206" cy="513284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1" name="备注占位符 10"/>
          <p:cNvSpPr>
            <a:spLocks noGrp="1"/>
          </p:cNvSpPr>
          <p:nvPr>
            <p:ph type="body" sz="quarter" idx="3"/>
          </p:nvPr>
        </p:nvSpPr>
        <p:spPr>
          <a:xfrm>
            <a:off x="710739" y="4925235"/>
            <a:ext cx="5682588" cy="4029439"/>
          </a:xfrm>
          <a:prstGeom prst="rect">
            <a:avLst/>
          </a:prstGeom>
        </p:spPr>
        <p:txBody>
          <a:bodyPr vert="horz" lIns="94668" tIns="47334" rIns="94668" bIns="47334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  <a:sym typeface="+mn-lt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03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83015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987426"/>
            <a:ext cx="8639999" cy="3595025"/>
          </a:xfrm>
          <a:prstGeom prst="rect">
            <a:avLst/>
          </a:prstGeom>
        </p:spPr>
        <p:txBody>
          <a:bodyPr tIns="90000" bIns="90000"/>
          <a:lstStyle>
            <a:lvl1pPr>
              <a:lnSpc>
                <a:spcPct val="120000"/>
              </a:lnSpc>
              <a:spcBef>
                <a:spcPts val="1200"/>
              </a:spcBef>
              <a:buClr>
                <a:srgbClr val="FFD100"/>
              </a:buClr>
              <a:defRPr sz="1800" b="0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目录一
目录二
目录三
目录四
目录五</a:t>
            </a: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384306" y="288001"/>
            <a:ext cx="7285837" cy="4273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kumimoji="1" lang="zh-CN" altLang="en-US" sz="24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252000" y="298634"/>
            <a:ext cx="45719" cy="4273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goal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1813560" y="1424941"/>
            <a:ext cx="7078234" cy="3461385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defRPr sz="10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标题 2"/>
          <p:cNvSpPr>
            <a:spLocks noGrp="1"/>
          </p:cNvSpPr>
          <p:nvPr>
            <p:ph type="title" hasCustomPrompt="1"/>
          </p:nvPr>
        </p:nvSpPr>
        <p:spPr>
          <a:xfrm>
            <a:off x="308705" y="439480"/>
            <a:ext cx="8584470" cy="855921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6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en-US" altLang="zh-CN" dirty="0"/>
              <a:t>TGX:</a:t>
            </a:r>
            <a:r>
              <a:rPr lang="zh-CN" altLang="en-US" dirty="0"/>
              <a:t> </a:t>
            </a:r>
            <a:r>
              <a:rPr lang="en-US" altLang="zh-CN" dirty="0"/>
              <a:t>XXXXXXX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6"/>
            <a:ext cx="8583088" cy="26603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5pPr>
          </a:lstStyle>
          <a:p>
            <a:r>
              <a:rPr kumimoji="1" lang="en-US" altLang="zh-CN" dirty="0">
                <a:solidFill>
                  <a:schemeClr val="bg1">
                    <a:lumMod val="50000"/>
                  </a:schemeClr>
                </a:solidFill>
              </a:rPr>
              <a:t>4 </a:t>
            </a:r>
            <a:r>
              <a:rPr kumimoji="1" lang="en-US" altLang="zh-CN" dirty="0" err="1">
                <a:solidFill>
                  <a:schemeClr val="bg1">
                    <a:lumMod val="50000"/>
                  </a:schemeClr>
                </a:solidFill>
              </a:rPr>
              <a:t>Teamgoal</a:t>
            </a:r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进展同步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250826" y="123826"/>
            <a:ext cx="57881" cy="11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250824" y="1424941"/>
            <a:ext cx="1417956" cy="34613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请使用这个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308705" y="439480"/>
            <a:ext cx="8584470" cy="547945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8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252207" y="1131888"/>
            <a:ext cx="8639588" cy="35163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20000"/>
              </a:lnSpc>
              <a:buClr>
                <a:schemeClr val="accent1"/>
              </a:buClr>
              <a:defRPr sz="14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4"/>
            <a:ext cx="8583088" cy="2660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5pPr>
          </a:lstStyle>
          <a:p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单击此处添加副标题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354104" y="2045244"/>
            <a:ext cx="6435792" cy="57653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000" b="1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单击此处添加章节标题</a:t>
            </a:r>
          </a:p>
        </p:txBody>
      </p:sp>
      <p:sp>
        <p:nvSpPr>
          <p:cNvPr id="5" name="矩形"/>
          <p:cNvSpPr/>
          <p:nvPr userDrawn="1"/>
        </p:nvSpPr>
        <p:spPr>
          <a:xfrm>
            <a:off x="-5052" y="4061865"/>
            <a:ext cx="9149052" cy="108163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1174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tags" Target="../tags/tag2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7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0" imgH="0" progId="TCLayout.ActiveDocument.1">
                  <p:embed/>
                </p:oleObj>
              </mc:Choice>
              <mc:Fallback>
                <p:oleObj name="think-cell 幻灯片" r:id="rId8" imgW="0" imgH="0" progId="TCLayout.ActiveDocument.1">
                  <p:embed/>
                  <p:pic>
                    <p:nvPicPr>
                      <p:cNvPr id="0" name="对象 4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7" name="文本占位符 11"/>
          <p:cNvSpPr txBox="1"/>
          <p:nvPr userDrawn="1"/>
        </p:nvSpPr>
        <p:spPr>
          <a:xfrm>
            <a:off x="7736320" y="4739965"/>
            <a:ext cx="1078947" cy="251811"/>
          </a:xfrm>
          <a:prstGeom prst="rect">
            <a:avLst/>
          </a:prstGeom>
        </p:spPr>
        <p:txBody>
          <a:bodyPr wrap="none" anchor="ctr"/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48968B-9B7E-4AEF-AF8F-76389AEE4EF7}" type="slidenum">
              <a:rPr kumimoji="1" lang="zh-CN" altLang="en-US" sz="1000" baseline="0" smtClean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rPr>
              <a:t>‹#›</a:t>
            </a:fld>
            <a:endParaRPr kumimoji="1" lang="zh-CN" altLang="en-US" sz="1000"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6" name="标题占位符 5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5" r:id="rId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n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2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榜单运营进展汇报</a:t>
            </a:r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23777197-6C17-1E03-E0FB-7A08400971E6}"/>
              </a:ext>
            </a:extLst>
          </p:cNvPr>
          <p:cNvSpPr/>
          <p:nvPr/>
        </p:nvSpPr>
        <p:spPr>
          <a:xfrm>
            <a:off x="6824696" y="41432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到餐事业部</a:t>
            </a: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</a:t>
            </a:r>
            <a:r>
              <a:rPr lang="zh-CN" alt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资产运营</a:t>
            </a:r>
            <a:endParaRPr lang="en-US" sz="120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A5AA0EA7-C406-0817-D821-F48040560E45}"/>
              </a:ext>
            </a:extLst>
          </p:cNvPr>
          <p:cNvSpPr/>
          <p:nvPr/>
        </p:nvSpPr>
        <p:spPr>
          <a:xfrm>
            <a:off x="7546056" y="45090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r>
              <a:rPr lang="zh-CN" alt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r>
              <a:rPr lang="en-US" altLang="zh-CN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r>
              <a:rPr lang="zh-CN" alt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3143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标题 12"/>
          <p:cNvSpPr>
            <a:spLocks noGrp="1"/>
          </p:cNvSpPr>
          <p:nvPr>
            <p:ph type="title"/>
          </p:nvPr>
        </p:nvSpPr>
        <p:spPr/>
        <p:txBody>
          <a:bodyPr vert="horz">
            <a:noAutofit/>
          </a:bodyPr>
          <a:lstStyle/>
          <a:p>
            <a:r>
              <a:rPr lang="zh-CN" altLang="en-US" sz="2100" b="1" dirty="0">
                <a:latin typeface="+mn-ea"/>
                <a:ea typeface="+mn-ea"/>
              </a:rPr>
              <a:t>目录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292D91-4E94-1299-139C-09FCB5B46DF6}"/>
              </a:ext>
            </a:extLst>
          </p:cNvPr>
          <p:cNvSpPr txBox="1"/>
          <p:nvPr/>
        </p:nvSpPr>
        <p:spPr>
          <a:xfrm>
            <a:off x="579914" y="906020"/>
            <a:ext cx="7459185" cy="1886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+mj-ea"/>
              </a:rPr>
              <a:t>榜单运营数据概览</a:t>
            </a:r>
            <a:endParaRPr lang="en-US" altLang="zh-CN" sz="2000" dirty="0">
              <a:latin typeface="+mj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2000" dirty="0">
                <a:latin typeface="+mj-ea"/>
              </a:rPr>
              <a:t>榜单用户动线建设</a:t>
            </a:r>
            <a:endParaRPr kumimoji="1" lang="en-US" altLang="zh-CN" sz="2000" dirty="0">
              <a:latin typeface="+mj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2000" dirty="0">
                <a:latin typeface="+mj-ea"/>
              </a:rPr>
              <a:t>榜单矩阵建设</a:t>
            </a:r>
            <a:endParaRPr lang="en-US" altLang="zh-CN" sz="2000" dirty="0">
              <a:latin typeface="+mj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/>
              <a:t> AI</a:t>
            </a:r>
            <a:r>
              <a:rPr lang="zh-CN" altLang="en-US" sz="2000" dirty="0"/>
              <a:t>榜单生成及智能运营规划</a:t>
            </a:r>
            <a:r>
              <a:rPr lang="en-US" altLang="zh-CN" sz="2000" dirty="0"/>
              <a:t>&amp;</a:t>
            </a:r>
            <a:r>
              <a:rPr lang="zh-CN" altLang="en-US" sz="2000" dirty="0"/>
              <a:t>进展</a:t>
            </a:r>
            <a:endParaRPr lang="zh-CN" altLang="en-US" sz="2000" dirty="0">
              <a:latin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2660E476-6ECE-0C88-6577-DCF53F9D4CF4}"/>
              </a:ext>
            </a:extLst>
          </p:cNvPr>
          <p:cNvSpPr/>
          <p:nvPr/>
        </p:nvSpPr>
        <p:spPr>
          <a:xfrm>
            <a:off x="2101025" y="772723"/>
            <a:ext cx="4588534" cy="1190904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1D0170-3362-1839-F4B4-107602EB1FA7}"/>
              </a:ext>
            </a:extLst>
          </p:cNvPr>
          <p:cNvSpPr/>
          <p:nvPr/>
        </p:nvSpPr>
        <p:spPr>
          <a:xfrm>
            <a:off x="-606149" y="1159808"/>
            <a:ext cx="1158621" cy="484507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内容发布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D065A98-A139-0A43-357D-8649C0B74347}"/>
              </a:ext>
            </a:extLst>
          </p:cNvPr>
          <p:cNvSpPr/>
          <p:nvPr/>
        </p:nvSpPr>
        <p:spPr>
          <a:xfrm>
            <a:off x="2347203" y="1160757"/>
            <a:ext cx="2004774" cy="484507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机器初审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（规则</a:t>
            </a:r>
            <a:r>
              <a:rPr lang="en-US" altLang="zh-CN" sz="1600" dirty="0">
                <a:solidFill>
                  <a:schemeClr val="tx1"/>
                </a:solidFill>
              </a:rPr>
              <a:t>+</a:t>
            </a:r>
            <a:r>
              <a:rPr lang="zh-CN" altLang="en-US" sz="1600" dirty="0">
                <a:solidFill>
                  <a:schemeClr val="tx1"/>
                </a:solidFill>
              </a:rPr>
              <a:t>传统模型）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A986FD0-5120-3DCC-1C81-0657976BD946}"/>
              </a:ext>
            </a:extLst>
          </p:cNvPr>
          <p:cNvSpPr/>
          <p:nvPr/>
        </p:nvSpPr>
        <p:spPr>
          <a:xfrm>
            <a:off x="4475747" y="1150364"/>
            <a:ext cx="2004774" cy="484507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复杂</a:t>
            </a:r>
            <a:r>
              <a:rPr lang="en-US" altLang="zh-CN" sz="1600" dirty="0">
                <a:solidFill>
                  <a:schemeClr val="tx1"/>
                </a:solidFill>
              </a:rPr>
              <a:t>case</a:t>
            </a:r>
            <a:r>
              <a:rPr lang="zh-CN" altLang="en-US" sz="1600" dirty="0">
                <a:solidFill>
                  <a:schemeClr val="tx1"/>
                </a:solidFill>
              </a:rPr>
              <a:t>机器复审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</a:rPr>
              <a:t>LLM+</a:t>
            </a:r>
            <a:r>
              <a:rPr lang="zh-CN" altLang="en-US" sz="1600" dirty="0">
                <a:solidFill>
                  <a:schemeClr val="tx1"/>
                </a:solidFill>
              </a:rPr>
              <a:t>多模态）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8463C58-8F84-B3B5-74C4-1849DA3F71EB}"/>
              </a:ext>
            </a:extLst>
          </p:cNvPr>
          <p:cNvSpPr/>
          <p:nvPr/>
        </p:nvSpPr>
        <p:spPr>
          <a:xfrm>
            <a:off x="3260002" y="2395087"/>
            <a:ext cx="1302373" cy="484507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直接拦截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明显违规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0BB1250-2941-B4F2-8E6D-37FD9A14790C}"/>
              </a:ext>
            </a:extLst>
          </p:cNvPr>
          <p:cNvSpPr/>
          <p:nvPr/>
        </p:nvSpPr>
        <p:spPr>
          <a:xfrm>
            <a:off x="4642095" y="2395087"/>
            <a:ext cx="1302373" cy="484507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机审放行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低风险内容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E13129-E284-59D0-9BBB-401FF0FAC163}"/>
              </a:ext>
            </a:extLst>
          </p:cNvPr>
          <p:cNvSpPr txBox="1"/>
          <p:nvPr/>
        </p:nvSpPr>
        <p:spPr>
          <a:xfrm>
            <a:off x="892050" y="-513045"/>
            <a:ext cx="13023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如可信媒体等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B541CBA5-60C7-83F9-55F2-DA5B17BF8F09}"/>
              </a:ext>
            </a:extLst>
          </p:cNvPr>
          <p:cNvSpPr/>
          <p:nvPr/>
        </p:nvSpPr>
        <p:spPr>
          <a:xfrm>
            <a:off x="838431" y="-1012060"/>
            <a:ext cx="1409612" cy="484507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白名单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3F66240-9D3D-4A9E-21FE-5FDCD8118EEA}"/>
              </a:ext>
            </a:extLst>
          </p:cNvPr>
          <p:cNvSpPr/>
          <p:nvPr/>
        </p:nvSpPr>
        <p:spPr>
          <a:xfrm>
            <a:off x="9144435" y="-391095"/>
            <a:ext cx="1158621" cy="484507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发布成功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9B63E2D-10A1-2252-92EB-8824161FF6DB}"/>
              </a:ext>
            </a:extLst>
          </p:cNvPr>
          <p:cNvSpPr/>
          <p:nvPr/>
        </p:nvSpPr>
        <p:spPr>
          <a:xfrm>
            <a:off x="6024188" y="2395087"/>
            <a:ext cx="1302373" cy="4845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转人工复审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疑似违规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1FEFB32E-E561-C7F2-B6FB-FE0EDEC543BF}"/>
              </a:ext>
            </a:extLst>
          </p:cNvPr>
          <p:cNvSpPr/>
          <p:nvPr/>
        </p:nvSpPr>
        <p:spPr>
          <a:xfrm>
            <a:off x="-660812" y="3725902"/>
            <a:ext cx="1498808" cy="4845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人工审核队列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6C014FFE-98C5-AC98-903B-12A7CB9FAA77}"/>
              </a:ext>
            </a:extLst>
          </p:cNvPr>
          <p:cNvCxnSpPr>
            <a:cxnSpLocks/>
            <a:stCxn id="2" idx="0"/>
            <a:endCxn id="30" idx="1"/>
          </p:cNvCxnSpPr>
          <p:nvPr/>
        </p:nvCxnSpPr>
        <p:spPr>
          <a:xfrm rot="5400000" flipH="1" flipV="1">
            <a:off x="-559011" y="-237633"/>
            <a:ext cx="1929614" cy="86526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C60E6400-8E6E-2A8A-BA97-CB0916E53167}"/>
              </a:ext>
            </a:extLst>
          </p:cNvPr>
          <p:cNvCxnSpPr>
            <a:cxnSpLocks/>
            <a:stCxn id="30" idx="3"/>
            <a:endCxn id="31" idx="0"/>
          </p:cNvCxnSpPr>
          <p:nvPr/>
        </p:nvCxnSpPr>
        <p:spPr>
          <a:xfrm>
            <a:off x="2248043" y="-769806"/>
            <a:ext cx="7475703" cy="378711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DECC0BA3-44A6-766C-D452-8A9D8B947C73}"/>
              </a:ext>
            </a:extLst>
          </p:cNvPr>
          <p:cNvSpPr txBox="1"/>
          <p:nvPr/>
        </p:nvSpPr>
        <p:spPr>
          <a:xfrm>
            <a:off x="-1311563" y="-580199"/>
            <a:ext cx="13023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先发后审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46D1425-44E6-ADD7-BEED-5AD41BE142F1}"/>
              </a:ext>
            </a:extLst>
          </p:cNvPr>
          <p:cNvSpPr txBox="1"/>
          <p:nvPr/>
        </p:nvSpPr>
        <p:spPr>
          <a:xfrm>
            <a:off x="6453872" y="970049"/>
            <a:ext cx="13023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更新迭代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20BB239F-242B-03D3-2C23-461D5042180E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552472" y="1402062"/>
            <a:ext cx="1794731" cy="94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0CF4AB33-2492-4CFB-E184-97D22543AAAA}"/>
              </a:ext>
            </a:extLst>
          </p:cNvPr>
          <p:cNvSpPr/>
          <p:nvPr/>
        </p:nvSpPr>
        <p:spPr>
          <a:xfrm>
            <a:off x="9723746" y="1547762"/>
            <a:ext cx="1158621" cy="484507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数据异常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cxnSp>
        <p:nvCxnSpPr>
          <p:cNvPr id="49" name="连接符: 肘形 48">
            <a:extLst>
              <a:ext uri="{FF2B5EF4-FFF2-40B4-BE49-F238E27FC236}">
                <a16:creationId xmlns:a16="http://schemas.microsoft.com/office/drawing/2014/main" id="{40516B51-05B8-F1DD-61AE-73471BE75A49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 flipH="1">
            <a:off x="-660812" y="2637341"/>
            <a:ext cx="7987373" cy="1330815"/>
          </a:xfrm>
          <a:prstGeom prst="bentConnector5">
            <a:avLst>
              <a:gd name="adj1" fmla="val -2862"/>
              <a:gd name="adj2" fmla="val 50000"/>
              <a:gd name="adj3" fmla="val 102862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73322BFF-A8D2-EC29-96EB-826A4114B01B}"/>
              </a:ext>
            </a:extLst>
          </p:cNvPr>
          <p:cNvSpPr/>
          <p:nvPr/>
        </p:nvSpPr>
        <p:spPr>
          <a:xfrm>
            <a:off x="1542800" y="3725901"/>
            <a:ext cx="2095549" cy="4845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按领域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zh-CN" altLang="en-US" sz="1600" dirty="0">
                <a:solidFill>
                  <a:schemeClr val="tx1"/>
                </a:solidFill>
              </a:rPr>
              <a:t>模态分工单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（内包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zh-CN" altLang="en-US" sz="1600" dirty="0">
                <a:solidFill>
                  <a:schemeClr val="tx1"/>
                </a:solidFill>
              </a:rPr>
              <a:t>外包）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E9923CEC-BC9A-B0CC-7EB3-CCE69D80AD9B}"/>
              </a:ext>
            </a:extLst>
          </p:cNvPr>
          <p:cNvCxnSpPr>
            <a:cxnSpLocks/>
            <a:stCxn id="33" idx="3"/>
            <a:endCxn id="53" idx="1"/>
          </p:cNvCxnSpPr>
          <p:nvPr/>
        </p:nvCxnSpPr>
        <p:spPr>
          <a:xfrm flipV="1">
            <a:off x="837996" y="3968155"/>
            <a:ext cx="704804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25143916-030D-400E-ED9D-92CA989AFD0E}"/>
              </a:ext>
            </a:extLst>
          </p:cNvPr>
          <p:cNvSpPr/>
          <p:nvPr/>
        </p:nvSpPr>
        <p:spPr>
          <a:xfrm>
            <a:off x="4230412" y="3725900"/>
            <a:ext cx="2095549" cy="4845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标注库回流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49DE2733-FA47-1791-2C08-17F49024856B}"/>
              </a:ext>
            </a:extLst>
          </p:cNvPr>
          <p:cNvCxnSpPr>
            <a:cxnSpLocks/>
            <a:stCxn id="53" idx="3"/>
            <a:endCxn id="59" idx="1"/>
          </p:cNvCxnSpPr>
          <p:nvPr/>
        </p:nvCxnSpPr>
        <p:spPr>
          <a:xfrm flipV="1">
            <a:off x="3638349" y="3968154"/>
            <a:ext cx="592063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A555FCA0-4F60-1F94-A888-D37F9E0B7A04}"/>
              </a:ext>
            </a:extLst>
          </p:cNvPr>
          <p:cNvSpPr/>
          <p:nvPr/>
        </p:nvSpPr>
        <p:spPr>
          <a:xfrm>
            <a:off x="2465444" y="4640917"/>
            <a:ext cx="2010303" cy="4845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质检组长抽查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zh-CN" altLang="en-US" sz="1600" dirty="0">
                <a:solidFill>
                  <a:schemeClr val="tx1"/>
                </a:solidFill>
              </a:rPr>
              <a:t>仲裁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2308BB88-C3EA-2FBF-4618-D4396949FEC2}"/>
              </a:ext>
            </a:extLst>
          </p:cNvPr>
          <p:cNvCxnSpPr>
            <a:cxnSpLocks/>
            <a:stCxn id="63" idx="0"/>
            <a:endCxn id="53" idx="2"/>
          </p:cNvCxnSpPr>
          <p:nvPr/>
        </p:nvCxnSpPr>
        <p:spPr>
          <a:xfrm rot="16200000" flipV="1">
            <a:off x="2815332" y="3985652"/>
            <a:ext cx="430509" cy="88002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29672EF5-ECBC-FE3C-6FE0-547603C365D8}"/>
              </a:ext>
            </a:extLst>
          </p:cNvPr>
          <p:cNvSpPr/>
          <p:nvPr/>
        </p:nvSpPr>
        <p:spPr>
          <a:xfrm>
            <a:off x="1059768" y="4640918"/>
            <a:ext cx="1309036" cy="4845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培训及规范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cxnSp>
        <p:nvCxnSpPr>
          <p:cNvPr id="71" name="连接符: 肘形 70">
            <a:extLst>
              <a:ext uri="{FF2B5EF4-FFF2-40B4-BE49-F238E27FC236}">
                <a16:creationId xmlns:a16="http://schemas.microsoft.com/office/drawing/2014/main" id="{27D162E2-C852-7ABA-B8C3-4FA107FA5D2D}"/>
              </a:ext>
            </a:extLst>
          </p:cNvPr>
          <p:cNvCxnSpPr>
            <a:cxnSpLocks/>
            <a:stCxn id="69" idx="0"/>
            <a:endCxn id="53" idx="2"/>
          </p:cNvCxnSpPr>
          <p:nvPr/>
        </p:nvCxnSpPr>
        <p:spPr>
          <a:xfrm rot="5400000" flipH="1" flipV="1">
            <a:off x="1937175" y="3987519"/>
            <a:ext cx="430510" cy="87628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A42333EA-CE63-9AE5-6351-4683499099AB}"/>
              </a:ext>
            </a:extLst>
          </p:cNvPr>
          <p:cNvSpPr/>
          <p:nvPr/>
        </p:nvSpPr>
        <p:spPr>
          <a:xfrm>
            <a:off x="-2658847" y="4641560"/>
            <a:ext cx="1773322" cy="4845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产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zh-CN" altLang="en-US" sz="1600" dirty="0">
                <a:solidFill>
                  <a:schemeClr val="tx1"/>
                </a:solidFill>
              </a:rPr>
              <a:t>运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zh-CN" altLang="en-US" sz="1600" dirty="0">
                <a:solidFill>
                  <a:schemeClr val="tx1"/>
                </a:solidFill>
              </a:rPr>
              <a:t>标注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zh-CN" altLang="en-US" sz="1600" dirty="0">
                <a:solidFill>
                  <a:schemeClr val="tx1"/>
                </a:solidFill>
              </a:rPr>
              <a:t>算法人员对齐标准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70371011-B26E-B455-5BE2-C12AB0DC57AA}"/>
              </a:ext>
            </a:extLst>
          </p:cNvPr>
          <p:cNvSpPr/>
          <p:nvPr/>
        </p:nvSpPr>
        <p:spPr>
          <a:xfrm>
            <a:off x="-528564" y="4641559"/>
            <a:ext cx="1309036" cy="4845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多方试标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cxnSp>
        <p:nvCxnSpPr>
          <p:cNvPr id="80" name="连接符: 肘形 79">
            <a:extLst>
              <a:ext uri="{FF2B5EF4-FFF2-40B4-BE49-F238E27FC236}">
                <a16:creationId xmlns:a16="http://schemas.microsoft.com/office/drawing/2014/main" id="{903D6A1B-CA8C-F892-B436-D228BA76E8C9}"/>
              </a:ext>
            </a:extLst>
          </p:cNvPr>
          <p:cNvCxnSpPr>
            <a:cxnSpLocks/>
            <a:stCxn id="78" idx="2"/>
            <a:endCxn id="77" idx="2"/>
          </p:cNvCxnSpPr>
          <p:nvPr/>
        </p:nvCxnSpPr>
        <p:spPr>
          <a:xfrm rot="5400000">
            <a:off x="-823116" y="4176996"/>
            <a:ext cx="1" cy="1898140"/>
          </a:xfrm>
          <a:prstGeom prst="bentConnector3">
            <a:avLst>
              <a:gd name="adj1" fmla="val 2286010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2B18501D-C645-4C81-1605-F5DBDC47A1C9}"/>
              </a:ext>
            </a:extLst>
          </p:cNvPr>
          <p:cNvCxnSpPr>
            <a:cxnSpLocks/>
            <a:stCxn id="78" idx="3"/>
            <a:endCxn id="69" idx="1"/>
          </p:cNvCxnSpPr>
          <p:nvPr/>
        </p:nvCxnSpPr>
        <p:spPr>
          <a:xfrm flipV="1">
            <a:off x="780472" y="4883172"/>
            <a:ext cx="279296" cy="64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DD8B5CB1-9277-D789-4CA2-33E7137856F1}"/>
              </a:ext>
            </a:extLst>
          </p:cNvPr>
          <p:cNvSpPr/>
          <p:nvPr/>
        </p:nvSpPr>
        <p:spPr>
          <a:xfrm>
            <a:off x="7490437" y="1138621"/>
            <a:ext cx="1302373" cy="4845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模型评测（人工）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cxnSp>
        <p:nvCxnSpPr>
          <p:cNvPr id="91" name="连接符: 肘形 90">
            <a:extLst>
              <a:ext uri="{FF2B5EF4-FFF2-40B4-BE49-F238E27FC236}">
                <a16:creationId xmlns:a16="http://schemas.microsoft.com/office/drawing/2014/main" id="{60EBD879-050C-CA7D-2B48-C02D35A03851}"/>
              </a:ext>
            </a:extLst>
          </p:cNvPr>
          <p:cNvCxnSpPr>
            <a:cxnSpLocks/>
            <a:stCxn id="89" idx="0"/>
            <a:endCxn id="88" idx="0"/>
          </p:cNvCxnSpPr>
          <p:nvPr/>
        </p:nvCxnSpPr>
        <p:spPr>
          <a:xfrm rot="16200000" flipV="1">
            <a:off x="6085509" y="-917494"/>
            <a:ext cx="365898" cy="3746332"/>
          </a:xfrm>
          <a:prstGeom prst="bentConnector3">
            <a:avLst>
              <a:gd name="adj1" fmla="val 162476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连接符: 肘形 95">
            <a:extLst>
              <a:ext uri="{FF2B5EF4-FFF2-40B4-BE49-F238E27FC236}">
                <a16:creationId xmlns:a16="http://schemas.microsoft.com/office/drawing/2014/main" id="{224089BD-9A9A-1A1E-D9C0-D1E6EB32054E}"/>
              </a:ext>
            </a:extLst>
          </p:cNvPr>
          <p:cNvCxnSpPr>
            <a:cxnSpLocks/>
            <a:stCxn id="59" idx="3"/>
            <a:endCxn id="89" idx="3"/>
          </p:cNvCxnSpPr>
          <p:nvPr/>
        </p:nvCxnSpPr>
        <p:spPr>
          <a:xfrm flipV="1">
            <a:off x="6325961" y="1380875"/>
            <a:ext cx="2466849" cy="2587279"/>
          </a:xfrm>
          <a:prstGeom prst="bentConnector3">
            <a:avLst>
              <a:gd name="adj1" fmla="val 109267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连接符: 肘形 98">
            <a:extLst>
              <a:ext uri="{FF2B5EF4-FFF2-40B4-BE49-F238E27FC236}">
                <a16:creationId xmlns:a16="http://schemas.microsoft.com/office/drawing/2014/main" id="{5E717942-9398-1873-0E23-5218E6C4328F}"/>
              </a:ext>
            </a:extLst>
          </p:cNvPr>
          <p:cNvCxnSpPr>
            <a:cxnSpLocks/>
            <a:stCxn id="88" idx="3"/>
            <a:endCxn id="89" idx="1"/>
          </p:cNvCxnSpPr>
          <p:nvPr/>
        </p:nvCxnSpPr>
        <p:spPr>
          <a:xfrm>
            <a:off x="6689559" y="1368175"/>
            <a:ext cx="800878" cy="127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EFE8F7E-A561-9364-296C-8BFB96961AF3}"/>
              </a:ext>
            </a:extLst>
          </p:cNvPr>
          <p:cNvSpPr txBox="1"/>
          <p:nvPr/>
        </p:nvSpPr>
        <p:spPr>
          <a:xfrm>
            <a:off x="951051" y="1085489"/>
            <a:ext cx="13023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先审后发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80781631-90A9-3AF3-9353-806A391009A4}"/>
              </a:ext>
            </a:extLst>
          </p:cNvPr>
          <p:cNvSpPr/>
          <p:nvPr/>
        </p:nvSpPr>
        <p:spPr>
          <a:xfrm>
            <a:off x="2465444" y="1781146"/>
            <a:ext cx="2095549" cy="4845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标注库学习样本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5946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3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m/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0&quot;&gt;&lt;elem m_fUsage=&quot;2.30605181889226695802E+00&quot;&gt;&lt;m_msothmcolidx val=&quot;0&quot;/&gt;&lt;m_rgb r=&quot;FF&quot; g=&quot;DD&quot; b=&quot;3C&quot;/&gt;&lt;/elem&gt;&lt;elem m_fUsage=&quot;1.66791628982774908785E+00&quot;&gt;&lt;m_msothmcolidx val=&quot;0&quot;/&gt;&lt;m_rgb r=&quot;59&quot; g=&quot;8A&quot; b=&quot;39&quot;/&gt;&lt;/elem&gt;&lt;elem m_fUsage=&quot;1.31949000000000005173E+00&quot;&gt;&lt;m_msothmcolidx val=&quot;0&quot;/&gt;&lt;m_rgb r=&quot;81&quot; g=&quot;E1&quot; b=&quot;6B&quot;/&gt;&lt;/elem&gt;&lt;elem m_fUsage=&quot;1.20589113209464904308E+00&quot;&gt;&lt;m_msothmcolidx val=&quot;0&quot;/&gt;&lt;m_rgb r=&quot;F4&quot; g=&quot;80&quot; b=&quot;32&quot;/&gt;&lt;/elem&gt;&lt;elem m_fUsage=&quot;9.58879313086665852062E-01&quot;&gt;&lt;m_msothmcolidx val=&quot;0&quot;/&gt;&lt;m_rgb r=&quot;8D&quot; g=&quot;BA&quot; b=&quot;E2&quot;/&gt;&lt;/elem&gt;&lt;elem m_fUsage=&quot;9.03573802785075042010E-01&quot;&gt;&lt;m_msothmcolidx val=&quot;0&quot;/&gt;&lt;m_rgb r=&quot;FF&quot; g=&quot;E9&quot; b=&quot;7D&quot;/&gt;&lt;/elem&gt;&lt;elem m_fUsage=&quot;8.17887699000000023553E-01&quot;&gt;&lt;m_msothmcolidx val=&quot;0&quot;/&gt;&lt;m_rgb r=&quot;5F&quot; g=&quot;D5&quot; b=&quot;DE&quot;/&gt;&lt;/elem&gt;&lt;elem m_fUsage=&quot;2.54186582832900132001E-01&quot;&gt;&lt;m_msothmcolidx val=&quot;0&quot;/&gt;&lt;m_rgb r=&quot;FF&quot; g=&quot;B6&quot; b=&quot;5B&quot;/&gt;&lt;/elem&gt;&lt;elem m_fUsage=&quot;1.85302018885184188735E-01&quot;&gt;&lt;m_msothmcolidx val=&quot;0&quot;/&gt;&lt;m_rgb r=&quot;94&quot; g=&quot;E2&quot; b=&quot;E9&quot;/&gt;&lt;/elem&gt;&lt;elem m_fUsage=&quot;7.17897987691853145531E-02&quot;&gt;&lt;m_msothmcolidx val=&quot;0&quot;/&gt;&lt;m_rgb r=&quot;FF&quot; g=&quot;EF&quot; b=&quot;A2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美团点评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D100"/>
      </a:accent1>
      <a:accent2>
        <a:srgbClr val="FE8C00"/>
      </a:accent2>
      <a:accent3>
        <a:srgbClr val="FF4949"/>
      </a:accent3>
      <a:accent4>
        <a:srgbClr val="FF6600"/>
      </a:accent4>
      <a:accent5>
        <a:srgbClr val="0079FF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168323</TotalTime>
  <Words>623</Words>
  <Application>Microsoft Office PowerPoint</Application>
  <PresentationFormat>全屏显示(16:9)</PresentationFormat>
  <Paragraphs>70</Paragraphs>
  <Slides>3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等线</vt:lpstr>
      <vt:lpstr>Microsoft YaHei</vt:lpstr>
      <vt:lpstr>Microsoft YaHei</vt:lpstr>
      <vt:lpstr>Arial</vt:lpstr>
      <vt:lpstr>Calibri</vt:lpstr>
      <vt:lpstr>Wingdings</vt:lpstr>
      <vt:lpstr>Office 主题​​</vt:lpstr>
      <vt:lpstr>think-cell 幻灯片</vt:lpstr>
      <vt:lpstr>PowerPoint 演示文稿</vt:lpstr>
      <vt:lpstr>目录</vt:lpstr>
      <vt:lpstr>PowerPoint 演示文稿</vt:lpstr>
    </vt:vector>
  </TitlesOfParts>
  <Company>windows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到餐商户供给的分析框架</dc:title>
  <dc:creator>陈婧佳</dc:creator>
  <cp:lastModifiedBy>Han Su</cp:lastModifiedBy>
  <cp:revision>2923</cp:revision>
  <cp:lastPrinted>2026-03-16T07:19:48Z</cp:lastPrinted>
  <dcterms:created xsi:type="dcterms:W3CDTF">2026-01-26T07:38:34Z</dcterms:created>
  <dcterms:modified xsi:type="dcterms:W3CDTF">2026-09-10T11:50:59Z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">
    <vt:lpwstr>榜单汇报-双周会 6月-20260612.pptx</vt:lpwstr>
  </property>
  <property fmtid="{D5CDD505-2E9C-101B-9397-08002B2CF9AE}" pid="3" name="o">
    <vt:lpwstr>ORG_INFO</vt:lpwstr>
  </property>
  <property fmtid="{D5CDD505-2E9C-101B-9397-08002B2CF9AE}" pid="4" name="d">
    <vt:lpwstr>XM</vt:lpwstr>
  </property>
  <property fmtid="{D5CDD505-2E9C-101B-9397-08002B2CF9AE}" pid="5" name="i">
    <vt:lpwstr>1</vt:lpwstr>
  </property>
  <property fmtid="{D5CDD505-2E9C-101B-9397-08002B2CF9AE}" pid="6" name="s">
    <vt:lpwstr>a81e92534a5fabc87cd5c945c9f539fb01f4ef34</vt:lpwstr>
  </property>
  <property fmtid="{D5CDD505-2E9C-101B-9397-08002B2CF9AE}" pid="7" name="ICV">
    <vt:lpwstr/>
  </property>
  <property fmtid="{D5CDD505-2E9C-101B-9397-08002B2CF9AE}" pid="8" name="KSOProductBuildVer">
    <vt:lpwstr>2052-0.0.0.0</vt:lpwstr>
  </property>
</Properties>
</file>