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handoutMasterIdLst>
    <p:handoutMasterId r:id="rId23"/>
  </p:handoutMasterIdLst>
  <p:sldIdLst>
    <p:sldId id="14999077" r:id="rId3"/>
    <p:sldId id="14998990" r:id="rId4"/>
    <p:sldId id="14999119" r:id="rId6"/>
    <p:sldId id="14999120" r:id="rId7"/>
    <p:sldId id="14999095" r:id="rId8"/>
    <p:sldId id="14999102" r:id="rId9"/>
    <p:sldId id="14999117" r:id="rId10"/>
    <p:sldId id="14999106" r:id="rId11"/>
    <p:sldId id="14999113" r:id="rId12"/>
    <p:sldId id="14999118" r:id="rId13"/>
    <p:sldId id="14999110" r:id="rId14"/>
    <p:sldId id="14999114" r:id="rId15"/>
    <p:sldId id="14999091" r:id="rId16"/>
    <p:sldId id="14999094" r:id="rId17"/>
    <p:sldId id="14999100" r:id="rId18"/>
    <p:sldId id="14999093" r:id="rId19"/>
    <p:sldId id="14998915" r:id="rId20"/>
    <p:sldId id="14999105" r:id="rId21"/>
    <p:sldId id="14999103" r:id="rId22"/>
  </p:sldIdLst>
  <p:sldSz cx="9144000" cy="5143500" type="screen16x9"/>
  <p:notesSz cx="6807200" cy="993902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8FF19DF-85BF-E341-98A6-C424481E6A71}">
          <p14:sldIdLst>
            <p14:sldId id="14999077"/>
            <p14:sldId id="14998990"/>
            <p14:sldId id="14999115"/>
            <p14:sldId id="14999116"/>
            <p14:sldId id="14999095"/>
            <p14:sldId id="14999102"/>
            <p14:sldId id="14999117"/>
            <p14:sldId id="14999106"/>
            <p14:sldId id="14999113"/>
            <p14:sldId id="14999118"/>
            <p14:sldId id="14999110"/>
            <p14:sldId id="14999114"/>
          </p14:sldIdLst>
        </p14:section>
        <p14:section name="过往版本" id="{AE64D399-0E94-064E-98A3-83245EE7D794}">
          <p14:sldIdLst>
            <p14:sldId id="14999091"/>
            <p14:sldId id="14999094"/>
            <p14:sldId id="14999100"/>
            <p14:sldId id="14999093"/>
            <p14:sldId id="14998915"/>
            <p14:sldId id="14999105"/>
            <p14:sldId id="14999103"/>
          </p14:sldIdLst>
        </p14:section>
      </p14:sectionLst>
    </p:ex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2346" userDrawn="1">
          <p15:clr>
            <a:srgbClr val="A4A3A4"/>
          </p15:clr>
        </p15:guide>
        <p15:guide id="4" orient="horz" pos="1688" userDrawn="1">
          <p15:clr>
            <a:srgbClr val="A4A3A4"/>
          </p15:clr>
        </p15:guide>
        <p15:guide id="5" pos="5670" userDrawn="1">
          <p15:clr>
            <a:srgbClr val="A4A3A4"/>
          </p15:clr>
        </p15:guide>
        <p15:guide id="6" orient="horz" pos="14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FFDBDB"/>
    <a:srgbClr val="F56649"/>
    <a:srgbClr val="FDB48F"/>
    <a:srgbClr val="607698"/>
    <a:srgbClr val="F0F3F6"/>
    <a:srgbClr val="FFFDFA"/>
    <a:srgbClr val="E9E8E6"/>
    <a:srgbClr val="FFCCCC"/>
    <a:srgbClr val="CC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3" autoAdjust="0"/>
    <p:restoredTop sz="91989" autoAdjust="0"/>
  </p:normalViewPr>
  <p:slideViewPr>
    <p:cSldViewPr snapToGrid="0" showGuides="1">
      <p:cViewPr>
        <p:scale>
          <a:sx n="96" d="100"/>
          <a:sy n="96" d="100"/>
        </p:scale>
        <p:origin x="1424" y="120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8" d="100"/>
        <a:sy n="148" d="100"/>
      </p:scale>
      <p:origin x="0" y="0"/>
    </p:cViewPr>
  </p:notesTextViewPr>
  <p:sorterViewPr>
    <p:cViewPr>
      <p:scale>
        <a:sx n="200" d="100"/>
        <a:sy n="200" d="100"/>
      </p:scale>
      <p:origin x="0" y="-7052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Relationship Id="rId28" Type="http://schemas.openxmlformats.org/officeDocument/2006/relationships/tags" Target="tags/tag1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m.tb.cn/h.SJH8Bmc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900" dirty="0">
                <a:latin typeface="+mn-ea"/>
                <a:ea typeface="+mn-ea"/>
              </a:rPr>
              <a:t>天猫必买榜（商品与趋势人群的相关程度，结合销售、搜索、浏览、收藏加购、好评、复购等综合表现筛选商品形成候选池，根据销售热度及人气热度排序。必买榜赠品）：</a:t>
            </a:r>
            <a:r>
              <a:rPr lang="en-US" altLang="zh-CN" sz="1100" dirty="0"/>
              <a:t>47</a:t>
            </a:r>
            <a:r>
              <a:rPr lang="zh-CN" altLang="en-US" sz="1100" dirty="0"/>
              <a:t>💲</a:t>
            </a:r>
            <a:r>
              <a:rPr lang="en-US" altLang="zh-CN" sz="1100" dirty="0" err="1"/>
              <a:t>jpEVfibvios</a:t>
            </a:r>
            <a:r>
              <a:rPr lang="zh-CN" altLang="en-US" sz="1100" dirty="0"/>
              <a:t>🔐 </a:t>
            </a:r>
            <a:r>
              <a:rPr lang="en-US" altLang="zh-CN" sz="1100" dirty="0">
                <a:hlinkClick r:id="rId3" tooltip="https://m.tb.cn/h.SJH8Bmc"/>
              </a:rPr>
              <a:t>https://m.tb.cn/h.SJH8Bmc</a:t>
            </a:r>
            <a:r>
              <a:rPr lang="zh-CN" altLang="en-US" sz="1100" dirty="0"/>
              <a:t> </a:t>
            </a:r>
            <a:r>
              <a:rPr lang="en-US" altLang="zh-CN" sz="1100" dirty="0"/>
              <a:t>CZ225 </a:t>
            </a:r>
            <a:r>
              <a:rPr lang="zh-CN" altLang="en-US" sz="1100" dirty="0"/>
              <a:t>天喵榜单，全网权威推荐</a:t>
            </a:r>
            <a:endParaRPr lang="zh-CN" alt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9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  <a:ea typeface="+mn-ea"/>
              </a:rPr>
              <a:t>淘宝榜单：双</a:t>
            </a:r>
            <a:r>
              <a:rPr lang="en-US" altLang="zh-CN" sz="900" dirty="0">
                <a:latin typeface="+mn-ea"/>
                <a:ea typeface="+mn-ea"/>
              </a:rPr>
              <a:t>11</a:t>
            </a:r>
            <a:r>
              <a:rPr lang="zh-CN" altLang="en-US" sz="900" dirty="0">
                <a:latin typeface="+mn-ea"/>
                <a:ea typeface="+mn-ea"/>
              </a:rPr>
              <a:t>（双</a:t>
            </a:r>
            <a:r>
              <a:rPr lang="en-US" altLang="zh-CN" sz="900" dirty="0">
                <a:latin typeface="+mn-ea"/>
                <a:ea typeface="+mn-ea"/>
              </a:rPr>
              <a:t>11</a:t>
            </a:r>
            <a:r>
              <a:rPr lang="zh-CN" altLang="en-US" sz="900" dirty="0">
                <a:latin typeface="+mn-ea"/>
                <a:ea typeface="+mn-ea"/>
              </a:rPr>
              <a:t>销量及销售额）、热销（近</a:t>
            </a:r>
            <a:r>
              <a:rPr lang="en-US" altLang="zh-CN" sz="900" dirty="0">
                <a:latin typeface="+mn-ea"/>
                <a:ea typeface="+mn-ea"/>
              </a:rPr>
              <a:t>7</a:t>
            </a:r>
            <a:r>
              <a:rPr lang="zh-CN" altLang="en-US" sz="900" dirty="0">
                <a:latin typeface="+mn-ea"/>
                <a:ea typeface="+mn-ea"/>
              </a:rPr>
              <a:t>天销量与销售额）、好评（</a:t>
            </a:r>
            <a:r>
              <a:rPr lang="en-US" altLang="zh-CN" sz="900" dirty="0">
                <a:latin typeface="+mn-ea"/>
                <a:ea typeface="+mn-ea"/>
              </a:rPr>
              <a:t>30</a:t>
            </a:r>
            <a:r>
              <a:rPr lang="zh-CN" altLang="en-US" sz="900" dirty="0">
                <a:latin typeface="+mn-ea"/>
                <a:ea typeface="+mn-ea"/>
              </a:rPr>
              <a:t>日四五星好评率）、年度累计回购榜（年度累计回购人数）</a:t>
            </a:r>
            <a:endParaRPr lang="en-US" altLang="zh-CN" sz="9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  <a:ea typeface="+mn-ea"/>
              </a:rPr>
              <a:t>淘宝榜单：预售（活动期间付定件数</a:t>
            </a:r>
            <a:r>
              <a:rPr lang="en-US" altLang="zh-CN" sz="900" dirty="0">
                <a:latin typeface="+mn-ea"/>
                <a:ea typeface="+mn-ea"/>
              </a:rPr>
              <a:t>+</a:t>
            </a:r>
            <a:r>
              <a:rPr lang="zh-CN" altLang="en-US" sz="900" dirty="0">
                <a:latin typeface="+mn-ea"/>
                <a:ea typeface="+mn-ea"/>
              </a:rPr>
              <a:t>成交金额，小时级），热销（近</a:t>
            </a:r>
            <a:r>
              <a:rPr lang="en-US" altLang="zh-CN" sz="900" dirty="0">
                <a:latin typeface="+mn-ea"/>
                <a:ea typeface="+mn-ea"/>
              </a:rPr>
              <a:t>7</a:t>
            </a:r>
            <a:r>
              <a:rPr lang="zh-CN" altLang="en-US" sz="900" dirty="0">
                <a:latin typeface="+mn-ea"/>
                <a:ea typeface="+mn-ea"/>
              </a:rPr>
              <a:t>日或活动期销量</a:t>
            </a:r>
            <a:r>
              <a:rPr lang="en-US" altLang="zh-CN" sz="900" dirty="0">
                <a:latin typeface="+mn-ea"/>
                <a:ea typeface="+mn-ea"/>
              </a:rPr>
              <a:t>+</a:t>
            </a:r>
            <a:r>
              <a:rPr lang="zh-CN" altLang="en-US" sz="900" dirty="0">
                <a:latin typeface="+mn-ea"/>
                <a:ea typeface="+mn-ea"/>
              </a:rPr>
              <a:t>成交金额，小时级），好评（近</a:t>
            </a:r>
            <a:r>
              <a:rPr lang="en-US" altLang="zh-CN" sz="900" dirty="0">
                <a:latin typeface="+mn-ea"/>
                <a:ea typeface="+mn-ea"/>
              </a:rPr>
              <a:t>30</a:t>
            </a:r>
            <a:r>
              <a:rPr lang="zh-CN" altLang="en-US" sz="900" dirty="0">
                <a:latin typeface="+mn-ea"/>
                <a:ea typeface="+mn-ea"/>
              </a:rPr>
              <a:t>日</a:t>
            </a:r>
            <a:r>
              <a:rPr lang="en-US" altLang="zh-CN" sz="900" dirty="0">
                <a:latin typeface="+mn-ea"/>
                <a:ea typeface="+mn-ea"/>
              </a:rPr>
              <a:t>45</a:t>
            </a:r>
            <a:r>
              <a:rPr lang="zh-CN" altLang="en-US" sz="900" dirty="0">
                <a:latin typeface="+mn-ea"/>
                <a:ea typeface="+mn-ea"/>
              </a:rPr>
              <a:t>星好评率，小时级），回购（年度累计回购人数，小时级），新品（综合上新时间、近</a:t>
            </a:r>
            <a:r>
              <a:rPr lang="en-US" altLang="zh-CN" sz="900" dirty="0">
                <a:latin typeface="+mn-ea"/>
                <a:ea typeface="+mn-ea"/>
              </a:rPr>
              <a:t>7</a:t>
            </a:r>
            <a:r>
              <a:rPr lang="zh-CN" altLang="en-US" sz="900" dirty="0">
                <a:latin typeface="+mn-ea"/>
                <a:ea typeface="+mn-ea"/>
              </a:rPr>
              <a:t>日浏览人数、成交人数、小时级），好价（近</a:t>
            </a:r>
            <a:r>
              <a:rPr lang="en-US" altLang="zh-CN" sz="900" dirty="0">
                <a:latin typeface="+mn-ea"/>
                <a:ea typeface="+mn-ea"/>
              </a:rPr>
              <a:t>7</a:t>
            </a:r>
            <a:r>
              <a:rPr lang="zh-CN" altLang="en-US" sz="900" dirty="0">
                <a:latin typeface="+mn-ea"/>
                <a:ea typeface="+mn-ea"/>
              </a:rPr>
              <a:t>日省钱力度，即金额或幅度，成交人数及品牌热度，小时级）。包括</a:t>
            </a:r>
            <a:r>
              <a:rPr lang="en-US" altLang="zh-CN" sz="900" dirty="0">
                <a:latin typeface="+mn-ea"/>
                <a:ea typeface="+mn-ea"/>
              </a:rPr>
              <a:t>88VIP</a:t>
            </a:r>
            <a:r>
              <a:rPr lang="zh-CN" altLang="en-US" sz="900" dirty="0">
                <a:latin typeface="+mn-ea"/>
                <a:ea typeface="+mn-ea"/>
              </a:rPr>
              <a:t>甄选</a:t>
            </a:r>
            <a:endParaRPr lang="en-US" altLang="zh-CN" sz="9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  <a:ea typeface="+mn-ea"/>
              </a:rPr>
              <a:t>京东排行榜：</a:t>
            </a:r>
            <a:r>
              <a:rPr lang="zh-CN" altLang="en-US" sz="900" dirty="0">
                <a:solidFill>
                  <a:schemeClr val="accent3"/>
                </a:solidFill>
                <a:latin typeface="+mn-ea"/>
                <a:ea typeface="+mn-ea"/>
              </a:rPr>
              <a:t>预售榜</a:t>
            </a:r>
            <a:r>
              <a:rPr lang="zh-CN" altLang="en-US" sz="900" dirty="0">
                <a:latin typeface="+mn-ea"/>
                <a:ea typeface="+mn-ea"/>
              </a:rPr>
              <a:t>，分大促</a:t>
            </a:r>
            <a:r>
              <a:rPr lang="en-US" altLang="zh-CN" sz="900" dirty="0">
                <a:latin typeface="+mn-ea"/>
                <a:ea typeface="+mn-ea"/>
              </a:rPr>
              <a:t>/</a:t>
            </a:r>
            <a:r>
              <a:rPr lang="zh-CN" altLang="en-US" sz="900" dirty="0">
                <a:latin typeface="+mn-ea"/>
                <a:ea typeface="+mn-ea"/>
              </a:rPr>
              <a:t>日常（如</a:t>
            </a:r>
            <a:r>
              <a:rPr lang="en-US" altLang="zh-CN" sz="900" dirty="0">
                <a:latin typeface="+mn-ea"/>
                <a:ea typeface="+mn-ea"/>
              </a:rPr>
              <a:t>15</a:t>
            </a:r>
            <a:r>
              <a:rPr lang="zh-CN" altLang="en-US" sz="900" dirty="0">
                <a:latin typeface="+mn-ea"/>
                <a:ea typeface="+mn-ea"/>
              </a:rPr>
              <a:t>天内）预售商品的预售</a:t>
            </a:r>
            <a:r>
              <a:rPr lang="en-US" altLang="zh-CN" sz="900" dirty="0">
                <a:latin typeface="+mn-ea"/>
                <a:ea typeface="+mn-ea"/>
              </a:rPr>
              <a:t>+</a:t>
            </a:r>
            <a:r>
              <a:rPr lang="zh-CN" altLang="en-US" sz="900" dirty="0">
                <a:latin typeface="+mn-ea"/>
                <a:ea typeface="+mn-ea"/>
              </a:rPr>
              <a:t>现货订单量排序，日更。热卖榜：销量和销售额综合。分大促期间和日常周期（如</a:t>
            </a:r>
            <a:r>
              <a:rPr lang="en-US" altLang="zh-CN" sz="900" dirty="0">
                <a:latin typeface="+mn-ea"/>
                <a:ea typeface="+mn-ea"/>
              </a:rPr>
              <a:t>1</a:t>
            </a:r>
            <a:r>
              <a:rPr lang="zh-CN" altLang="en-US" sz="900" dirty="0">
                <a:latin typeface="+mn-ea"/>
                <a:ea typeface="+mn-ea"/>
              </a:rPr>
              <a:t>、</a:t>
            </a:r>
            <a:r>
              <a:rPr lang="en-US" altLang="zh-CN" sz="900" dirty="0">
                <a:latin typeface="+mn-ea"/>
                <a:ea typeface="+mn-ea"/>
              </a:rPr>
              <a:t>7</a:t>
            </a:r>
            <a:r>
              <a:rPr lang="zh-CN" altLang="en-US" sz="900" dirty="0">
                <a:latin typeface="+mn-ea"/>
                <a:ea typeface="+mn-ea"/>
              </a:rPr>
              <a:t>、</a:t>
            </a:r>
            <a:r>
              <a:rPr lang="en-US" altLang="zh-CN" sz="900" dirty="0">
                <a:latin typeface="+mn-ea"/>
                <a:ea typeface="+mn-ea"/>
              </a:rPr>
              <a:t>15</a:t>
            </a:r>
            <a:r>
              <a:rPr lang="zh-CN" altLang="en-US" sz="900" dirty="0">
                <a:latin typeface="+mn-ea"/>
                <a:ea typeface="+mn-ea"/>
              </a:rPr>
              <a:t>、</a:t>
            </a:r>
            <a:r>
              <a:rPr lang="en-US" altLang="zh-CN" sz="900" dirty="0">
                <a:latin typeface="+mn-ea"/>
                <a:ea typeface="+mn-ea"/>
              </a:rPr>
              <a:t>30</a:t>
            </a:r>
            <a:r>
              <a:rPr lang="zh-CN" altLang="en-US" sz="900" dirty="0">
                <a:latin typeface="+mn-ea"/>
                <a:ea typeface="+mn-ea"/>
              </a:rPr>
              <a:t>天内），日更。好评榜（某段时间周期内，如近</a:t>
            </a:r>
            <a:r>
              <a:rPr lang="en-US" altLang="zh-CN" sz="900" dirty="0">
                <a:latin typeface="+mn-ea"/>
                <a:ea typeface="+mn-ea"/>
              </a:rPr>
              <a:t>30</a:t>
            </a:r>
            <a:r>
              <a:rPr lang="zh-CN" altLang="en-US" sz="900" dirty="0">
                <a:latin typeface="+mn-ea"/>
                <a:ea typeface="+mn-ea"/>
              </a:rPr>
              <a:t>天）的好评率与好评数综合计算，每日更新。回购榜：根据商品回购人数、回购订单数和回购率等综合排序，日更。折扣榜，根据商品降价数据以及销量综合排序。京东金榜：基于大数据确定入榜行业</a:t>
            </a:r>
            <a:r>
              <a:rPr lang="en-US" altLang="zh-CN" sz="900" dirty="0">
                <a:latin typeface="+mn-ea"/>
                <a:ea typeface="+mn-ea"/>
              </a:rPr>
              <a:t>/</a:t>
            </a:r>
            <a:r>
              <a:rPr lang="zh-CN" altLang="en-US" sz="900" dirty="0">
                <a:latin typeface="+mn-ea"/>
                <a:ea typeface="+mn-ea"/>
              </a:rPr>
              <a:t>品类，</a:t>
            </a:r>
            <a:r>
              <a:rPr lang="en-US" altLang="zh-CN" sz="900" dirty="0">
                <a:latin typeface="+mn-ea"/>
                <a:ea typeface="+mn-ea"/>
              </a:rPr>
              <a:t>【5</a:t>
            </a:r>
            <a:r>
              <a:rPr lang="zh-CN" altLang="en-US" sz="900" dirty="0">
                <a:latin typeface="+mn-ea"/>
                <a:ea typeface="+mn-ea"/>
              </a:rPr>
              <a:t>大模型、</a:t>
            </a:r>
            <a:r>
              <a:rPr lang="en-US" altLang="zh-CN" sz="900" dirty="0">
                <a:latin typeface="+mn-ea"/>
                <a:ea typeface="+mn-ea"/>
              </a:rPr>
              <a:t>10</a:t>
            </a:r>
            <a:r>
              <a:rPr lang="zh-CN" altLang="en-US" sz="900" dirty="0">
                <a:latin typeface="+mn-ea"/>
                <a:ea typeface="+mn-ea"/>
              </a:rPr>
              <a:t>大因子</a:t>
            </a:r>
            <a:r>
              <a:rPr lang="en-US" altLang="zh-CN" sz="900" dirty="0">
                <a:latin typeface="+mn-ea"/>
                <a:ea typeface="+mn-ea"/>
              </a:rPr>
              <a:t>】</a:t>
            </a:r>
            <a:r>
              <a:rPr lang="zh-CN" altLang="en-US" sz="900" dirty="0">
                <a:latin typeface="+mn-ea"/>
                <a:ea typeface="+mn-ea"/>
              </a:rPr>
              <a:t>。品牌力（核心依据京东风向标、渗透率、复购率等）、销售（销售额</a:t>
            </a:r>
            <a:r>
              <a:rPr lang="en-US" altLang="zh-CN" sz="900" dirty="0">
                <a:latin typeface="+mn-ea"/>
                <a:ea typeface="+mn-ea"/>
              </a:rPr>
              <a:t>+</a:t>
            </a:r>
            <a:r>
              <a:rPr lang="zh-CN" altLang="en-US" sz="900" dirty="0">
                <a:latin typeface="+mn-ea"/>
                <a:ea typeface="+mn-ea"/>
              </a:rPr>
              <a:t>销售量）、口碑（核心为好评率）、增速（各指标环比提升）、人气</a:t>
            </a:r>
            <a:r>
              <a:rPr lang="en-US" altLang="zh-CN" sz="900" dirty="0">
                <a:latin typeface="+mn-ea"/>
                <a:ea typeface="+mn-ea"/>
              </a:rPr>
              <a:t>/</a:t>
            </a:r>
            <a:r>
              <a:rPr lang="zh-CN" altLang="en-US" sz="900" dirty="0">
                <a:latin typeface="+mn-ea"/>
                <a:ea typeface="+mn-ea"/>
              </a:rPr>
              <a:t>热度（黄金动线相关行为，核心为浏览数据）。每月发布、年度颁奖。国内外权威媒体、垂类</a:t>
            </a:r>
            <a:r>
              <a:rPr lang="en-US" altLang="zh-CN" sz="900" dirty="0">
                <a:latin typeface="+mn-ea"/>
                <a:ea typeface="+mn-ea"/>
              </a:rPr>
              <a:t>KOL</a:t>
            </a:r>
            <a:r>
              <a:rPr lang="zh-CN" altLang="en-US" sz="900" dirty="0">
                <a:latin typeface="+mn-ea"/>
                <a:ea typeface="+mn-ea"/>
              </a:rPr>
              <a:t>、国家非遗大师背书。百大榜单</a:t>
            </a:r>
            <a:r>
              <a:rPr lang="en-US" altLang="zh-CN" sz="900" dirty="0">
                <a:latin typeface="+mn-ea"/>
                <a:ea typeface="+mn-ea"/>
              </a:rPr>
              <a:t>*Top20=</a:t>
            </a:r>
            <a:r>
              <a:rPr lang="zh-CN" altLang="en-US" sz="900" dirty="0">
                <a:latin typeface="+mn-ea"/>
                <a:ea typeface="+mn-ea"/>
              </a:rPr>
              <a:t>上千商品。年度为百篇</a:t>
            </a:r>
            <a:r>
              <a:rPr lang="en-US" altLang="zh-CN" sz="900" dirty="0">
                <a:latin typeface="+mn-ea"/>
                <a:ea typeface="+mn-ea"/>
              </a:rPr>
              <a:t>*Top1=</a:t>
            </a:r>
            <a:r>
              <a:rPr lang="zh-CN" altLang="en-US" sz="900" dirty="0">
                <a:latin typeface="+mn-ea"/>
                <a:ea typeface="+mn-ea"/>
              </a:rPr>
              <a:t>百个商品（成榜为三级品类销售），分年度金奖（单品销量）、新品金奖（上市后销售及新品力）、国货金奖（国货销售）、</a:t>
            </a:r>
            <a:r>
              <a:rPr lang="en-US" altLang="zh-CN" sz="900" dirty="0">
                <a:latin typeface="+mn-ea"/>
                <a:ea typeface="+mn-ea"/>
              </a:rPr>
              <a:t>5</a:t>
            </a:r>
            <a:r>
              <a:rPr lang="zh-CN" altLang="en-US" sz="900" dirty="0">
                <a:latin typeface="+mn-ea"/>
                <a:ea typeface="+mn-ea"/>
              </a:rPr>
              <a:t>年璀璨金奖（蝉联</a:t>
            </a:r>
            <a:r>
              <a:rPr lang="en-US" altLang="zh-CN" sz="900" dirty="0">
                <a:latin typeface="+mn-ea"/>
                <a:ea typeface="+mn-ea"/>
              </a:rPr>
              <a:t>5</a:t>
            </a:r>
            <a:r>
              <a:rPr lang="zh-CN" altLang="en-US" sz="900" dirty="0">
                <a:latin typeface="+mn-ea"/>
                <a:ea typeface="+mn-ea"/>
              </a:rPr>
              <a:t>界年度金奖品牌）。京东店铺排行榜（店铺可逛性、用户喜爱都、店铺运营力、店铺发展潜力四大维度，</a:t>
            </a:r>
            <a:r>
              <a:rPr lang="en-US" altLang="zh-CN" sz="900" dirty="0">
                <a:latin typeface="+mn-ea"/>
                <a:ea typeface="+mn-ea"/>
              </a:rPr>
              <a:t>7</a:t>
            </a:r>
            <a:r>
              <a:rPr lang="zh-CN" altLang="en-US" sz="900" dirty="0">
                <a:latin typeface="+mn-ea"/>
                <a:ea typeface="+mn-ea"/>
              </a:rPr>
              <a:t>打因子模型综合衡量，排序依据店铺一段时间内销售数据综合排序）</a:t>
            </a:r>
            <a:endParaRPr lang="en-US" altLang="zh-CN" sz="900" dirty="0"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900" dirty="0"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900" dirty="0"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900" dirty="0">
                <a:latin typeface="+mn-ea"/>
                <a:ea typeface="+mn-ea"/>
              </a:rPr>
              <a:t>汽车：最主要是销量榜，特色的</a:t>
            </a:r>
            <a:endParaRPr lang="en-US" altLang="zh-CN" sz="9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懂车帝：车</a:t>
            </a:r>
            <a:r>
              <a:rPr lang="en-US" altLang="zh-CN" sz="1100" dirty="0"/>
              <a:t>/</a:t>
            </a:r>
            <a:r>
              <a:rPr lang="zh-CN" altLang="en-US" sz="1100" dirty="0"/>
              <a:t>品牌周</a:t>
            </a:r>
            <a:r>
              <a:rPr lang="en-US" altLang="zh-CN" sz="1100" dirty="0"/>
              <a:t>/</a:t>
            </a:r>
            <a:r>
              <a:rPr lang="zh-CN" altLang="en-US" sz="1100" dirty="0"/>
              <a:t>月销量，可根据总销量</a:t>
            </a:r>
            <a:r>
              <a:rPr lang="en-US" altLang="zh-CN" sz="1100" dirty="0"/>
              <a:t>/</a:t>
            </a:r>
            <a:r>
              <a:rPr lang="zh-CN" altLang="en-US" sz="1100" dirty="0"/>
              <a:t>变化幅度</a:t>
            </a:r>
            <a:r>
              <a:rPr lang="en-US" altLang="zh-CN" sz="1100" dirty="0"/>
              <a:t>/</a:t>
            </a:r>
            <a:r>
              <a:rPr lang="zh-CN" altLang="en-US" sz="1100" dirty="0"/>
              <a:t>排名幅度筛选，降价榜（降价幅度）。 </a:t>
            </a:r>
            <a:br>
              <a:rPr lang="zh-CN" altLang="en-US" sz="1100" dirty="0"/>
            </a:br>
            <a:r>
              <a:rPr lang="zh-CN" altLang="en-US" sz="1100" dirty="0"/>
              <a:t>有基于车特性的油耗、续航、充电、加速等榜单。热门（关注）、评分、热度（热点）榜。销量数据来源于汽车流通协会、乘联会等行业销量，各品牌车型的产、销、批发数据更新汇总后发布。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热门榜：根据懂车帝用户行为的次数和深度，综合计算车系热度；包括：车型相关内容的点击</a:t>
            </a:r>
            <a:r>
              <a:rPr lang="en-US" altLang="zh-CN" sz="1100" dirty="0"/>
              <a:t>/</a:t>
            </a:r>
            <a:r>
              <a:rPr lang="zh-CN" altLang="en-US" sz="1100" dirty="0"/>
              <a:t>阅读</a:t>
            </a:r>
            <a:r>
              <a:rPr lang="en-US" altLang="zh-CN" sz="1100" dirty="0"/>
              <a:t>/</a:t>
            </a:r>
            <a:r>
              <a:rPr lang="zh-CN" altLang="en-US" sz="1100" dirty="0"/>
              <a:t>转发</a:t>
            </a:r>
            <a:r>
              <a:rPr lang="en-US" altLang="zh-CN" sz="1100" dirty="0"/>
              <a:t>/</a:t>
            </a:r>
            <a:r>
              <a:rPr lang="zh-CN" altLang="en-US" sz="1100" dirty="0"/>
              <a:t>评论，以及关注</a:t>
            </a:r>
            <a:r>
              <a:rPr lang="en-US" altLang="zh-CN" sz="1100" dirty="0"/>
              <a:t>/</a:t>
            </a:r>
            <a:r>
              <a:rPr lang="zh-CN" altLang="en-US" sz="1100" dirty="0"/>
              <a:t>收藏</a:t>
            </a:r>
            <a:r>
              <a:rPr lang="en-US" altLang="zh-CN" sz="1100" dirty="0"/>
              <a:t>/</a:t>
            </a:r>
            <a:r>
              <a:rPr lang="zh-CN" altLang="en-US" sz="1100" dirty="0"/>
              <a:t>对比等行为。</a:t>
            </a:r>
            <a:br>
              <a:rPr lang="zh-CN" altLang="en-US" sz="1100" dirty="0"/>
            </a:br>
            <a:r>
              <a:rPr lang="zh-CN" altLang="en-US" sz="1100" dirty="0"/>
              <a:t>根据懂车帝用户行为的次数和深度，综合计算车系热度；包括：车型相关内容的点击</a:t>
            </a:r>
            <a:r>
              <a:rPr lang="en-US" altLang="zh-CN" sz="1100" dirty="0"/>
              <a:t>/</a:t>
            </a:r>
            <a:r>
              <a:rPr lang="zh-CN" altLang="en-US" sz="1100" dirty="0"/>
              <a:t>阅读</a:t>
            </a:r>
            <a:r>
              <a:rPr lang="en-US" altLang="zh-CN" sz="1100" dirty="0"/>
              <a:t>/</a:t>
            </a:r>
            <a:r>
              <a:rPr lang="zh-CN" altLang="en-US" sz="1100" dirty="0"/>
              <a:t>转发</a:t>
            </a:r>
            <a:r>
              <a:rPr lang="en-US" altLang="zh-CN" sz="1100" dirty="0"/>
              <a:t>/</a:t>
            </a:r>
            <a:r>
              <a:rPr lang="zh-CN" altLang="en-US" sz="1100" dirty="0"/>
              <a:t>评论，以及关注</a:t>
            </a:r>
            <a:r>
              <a:rPr lang="en-US" altLang="zh-CN" sz="1100" dirty="0"/>
              <a:t>/</a:t>
            </a:r>
            <a:r>
              <a:rPr lang="zh-CN" altLang="en-US" sz="1100" dirty="0"/>
              <a:t>收藏</a:t>
            </a:r>
            <a:r>
              <a:rPr lang="en-US" altLang="zh-CN" sz="1100" dirty="0"/>
              <a:t>/</a:t>
            </a:r>
            <a:r>
              <a:rPr lang="zh-CN" altLang="en-US" sz="1100" dirty="0"/>
              <a:t>对比等行为。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新车关注榜，上市前</a:t>
            </a:r>
            <a:r>
              <a:rPr lang="en-US" altLang="zh-CN" sz="1100" dirty="0">
                <a:latin typeface="+mn-ea"/>
                <a:ea typeface="+mn-ea"/>
              </a:rPr>
              <a:t>28-</a:t>
            </a:r>
            <a:r>
              <a:rPr lang="zh-CN" altLang="en-US" sz="1100" dirty="0">
                <a:latin typeface="+mn-ea"/>
                <a:ea typeface="+mn-ea"/>
              </a:rPr>
              <a:t>后</a:t>
            </a:r>
            <a:r>
              <a:rPr lang="en-US" altLang="zh-CN" sz="1100" dirty="0">
                <a:latin typeface="+mn-ea"/>
                <a:ea typeface="+mn-ea"/>
              </a:rPr>
              <a:t>28</a:t>
            </a:r>
            <a:r>
              <a:rPr lang="zh-CN" altLang="en-US" sz="1100" dirty="0">
                <a:latin typeface="+mn-ea"/>
                <a:ea typeface="+mn-ea"/>
              </a:rPr>
              <a:t>。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dirty="0">
                <a:latin typeface="+mn-ea"/>
                <a:ea typeface="+mn-ea"/>
              </a:rPr>
              <a:t>腾讯：主要为热搜榜（</a:t>
            </a:r>
            <a:r>
              <a:rPr lang="en-US" altLang="zh-CN" sz="1100" dirty="0">
                <a:latin typeface="+mn-ea"/>
                <a:ea typeface="+mn-ea"/>
              </a:rPr>
              <a:t>24</a:t>
            </a:r>
            <a:r>
              <a:rPr lang="zh-CN" altLang="en-US" sz="1100" dirty="0">
                <a:latin typeface="+mn-ea"/>
                <a:ea typeface="+mn-ea"/>
              </a:rPr>
              <a:t>小时搜索热度），飙升榜（试试飙升幅度）、流行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经典畅销（</a:t>
            </a:r>
            <a:r>
              <a:rPr lang="en-US" altLang="zh-CN" sz="1100" dirty="0">
                <a:latin typeface="+mn-ea"/>
                <a:ea typeface="+mn-ea"/>
              </a:rPr>
              <a:t>7</a:t>
            </a:r>
            <a:r>
              <a:rPr lang="zh-CN" altLang="en-US" sz="1100" dirty="0">
                <a:latin typeface="+mn-ea"/>
                <a:ea typeface="+mn-ea"/>
              </a:rPr>
              <a:t>天</a:t>
            </a:r>
            <a:r>
              <a:rPr lang="en-US" altLang="zh-CN" sz="1100" dirty="0">
                <a:latin typeface="+mn-ea"/>
                <a:ea typeface="+mn-ea"/>
              </a:rPr>
              <a:t>/365</a:t>
            </a:r>
            <a:r>
              <a:rPr lang="zh-CN" altLang="en-US" sz="1100" dirty="0">
                <a:latin typeface="+mn-ea"/>
                <a:ea typeface="+mn-ea"/>
              </a:rPr>
              <a:t>天会员开通热度）、付费畅销（过去</a:t>
            </a:r>
            <a:r>
              <a:rPr lang="en-US" altLang="zh-CN" sz="1100" dirty="0">
                <a:latin typeface="+mn-ea"/>
                <a:ea typeface="+mn-ea"/>
              </a:rPr>
              <a:t>7</a:t>
            </a:r>
            <a:r>
              <a:rPr lang="zh-CN" altLang="en-US" sz="1100" dirty="0">
                <a:latin typeface="+mn-ea"/>
                <a:ea typeface="+mn-ea"/>
              </a:rPr>
              <a:t>天影视购买热度）</a:t>
            </a:r>
            <a:endParaRPr lang="en-US" altLang="zh-CN" sz="1100" dirty="0"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dirty="0">
                <a:latin typeface="+mn-ea"/>
                <a:ea typeface="+mn-ea"/>
              </a:rPr>
              <a:t>爱奇艺风云榜：最主要为热播榜。热度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飙升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最高，根据内容当前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相对增幅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历史观看与视频互动计算。期待值：当前观看与预约数，观众推荐分：综合莞蓉评价以及观影情况等。热播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飙升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必看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期待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角色实时更新。高分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上新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标签每天更新。分类目（实时热度）为主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抖音热榜：根据用户产品内真实的搜索、浏览和点击清空进行实时热度排名。热度值</a:t>
            </a:r>
            <a:r>
              <a:rPr lang="en-US" altLang="zh-CN" sz="1100" dirty="0">
                <a:latin typeface="+mn-ea"/>
                <a:ea typeface="+mn-ea"/>
              </a:rPr>
              <a:t>=</a:t>
            </a:r>
            <a:r>
              <a:rPr lang="zh-CN" altLang="en-US" sz="1100" dirty="0">
                <a:latin typeface="+mn-ea"/>
                <a:ea typeface="+mn-ea"/>
              </a:rPr>
              <a:t>内容消费得分（推荐内容的评分情况，热点关注度）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榜单消费得分（榜单互动行为，热点消费深度和参与度）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搜索得分（搜索场景评分，探索和关注度）</a:t>
            </a:r>
            <a:r>
              <a:rPr lang="en-US" altLang="zh-CN" sz="1100" dirty="0">
                <a:latin typeface="+mn-ea"/>
                <a:ea typeface="+mn-ea"/>
              </a:rPr>
              <a:t>-</a:t>
            </a:r>
            <a:r>
              <a:rPr lang="zh-CN" altLang="en-US" sz="1100" dirty="0">
                <a:latin typeface="+mn-ea"/>
                <a:ea typeface="+mn-ea"/>
              </a:rPr>
              <a:t>在线时间衰减。聚合同类信息（如同一事件、同一话题）。非个性化，</a:t>
            </a:r>
            <a:r>
              <a:rPr lang="en-US" altLang="zh-CN" sz="1100" dirty="0">
                <a:latin typeface="+mn-ea"/>
                <a:ea typeface="+mn-ea"/>
              </a:rPr>
              <a:t>top50</a:t>
            </a:r>
            <a:r>
              <a:rPr lang="zh-CN" altLang="en-US" sz="1100" dirty="0">
                <a:latin typeface="+mn-ea"/>
                <a:ea typeface="+mn-ea"/>
              </a:rPr>
              <a:t>，分钟更新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抖音直播榜：带货榜（带货力：交易额、交易量，互动力：单位时间内直播观看时长、分享率、坪林率，吸引力：单位时间内购买商品的新用户、新粉丝），每小时排名。人气榜（人气票），或点赞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送礼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+mn-ea"/>
                <a:ea typeface="+mn-ea"/>
              </a:rPr>
              <a:t>QQ</a:t>
            </a:r>
            <a:r>
              <a:rPr lang="zh-CN" altLang="en-US" sz="1100" dirty="0">
                <a:latin typeface="+mn-ea"/>
                <a:ea typeface="+mn-ea"/>
              </a:rPr>
              <a:t>音乐：引用了行业的榜单如</a:t>
            </a:r>
            <a:r>
              <a:rPr lang="en-US" altLang="zh-CN" sz="1100" dirty="0">
                <a:latin typeface="+mn-ea"/>
                <a:ea typeface="+mn-ea"/>
              </a:rPr>
              <a:t>Billboard Hot 100</a:t>
            </a:r>
            <a:r>
              <a:rPr lang="zh-CN" altLang="en-US" sz="1100" dirty="0">
                <a:latin typeface="+mn-ea"/>
                <a:ea typeface="+mn-ea"/>
              </a:rPr>
              <a:t>（流媒体播放量，电台播放影响力及线上单曲订购）、英国</a:t>
            </a:r>
            <a:r>
              <a:rPr lang="en-US" altLang="zh-CN" sz="1100" dirty="0">
                <a:latin typeface="+mn-ea"/>
                <a:ea typeface="+mn-ea"/>
              </a:rPr>
              <a:t>UK/</a:t>
            </a:r>
            <a:r>
              <a:rPr lang="zh-CN" altLang="en-US" sz="1100" dirty="0">
                <a:latin typeface="+mn-ea"/>
                <a:ea typeface="+mn-ea"/>
              </a:rPr>
              <a:t>日本公信力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韩国</a:t>
            </a:r>
            <a:r>
              <a:rPr lang="en-US" altLang="zh-CN" sz="1100" dirty="0">
                <a:latin typeface="+mn-ea"/>
                <a:ea typeface="+mn-ea"/>
              </a:rPr>
              <a:t>Melon/</a:t>
            </a:r>
            <a:r>
              <a:rPr lang="zh-CN" altLang="en-US" sz="1100" dirty="0">
                <a:latin typeface="+mn-ea"/>
                <a:ea typeface="+mn-ea"/>
              </a:rPr>
              <a:t>台湾</a:t>
            </a:r>
            <a:r>
              <a:rPr lang="en-US" altLang="zh-CN" sz="1100" dirty="0" err="1">
                <a:latin typeface="+mn-ea"/>
                <a:ea typeface="+mn-ea"/>
              </a:rPr>
              <a:t>KKBox</a:t>
            </a:r>
            <a:r>
              <a:rPr lang="zh-CN" altLang="en-US" sz="1100" dirty="0">
                <a:latin typeface="+mn-ea"/>
                <a:ea typeface="+mn-ea"/>
              </a:rPr>
              <a:t>榜单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香港</a:t>
            </a:r>
            <a:r>
              <a:rPr lang="en-US" altLang="zh-CN" sz="1100" dirty="0">
                <a:latin typeface="+mn-ea"/>
                <a:ea typeface="+mn-ea"/>
              </a:rPr>
              <a:t>TVB</a:t>
            </a:r>
            <a:r>
              <a:rPr lang="zh-CN" altLang="en-US" sz="1100" dirty="0">
                <a:latin typeface="+mn-ea"/>
                <a:ea typeface="+mn-ea"/>
              </a:rPr>
              <a:t>劲歌。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巅峰潮流榜：播放指数（完整播放的听歌次数，单账号每日上限</a:t>
            </a:r>
            <a:r>
              <a:rPr lang="en-US" altLang="zh-CN" sz="1100" dirty="0">
                <a:latin typeface="+mn-ea"/>
                <a:ea typeface="+mn-ea"/>
              </a:rPr>
              <a:t>10</a:t>
            </a:r>
            <a:r>
              <a:rPr lang="zh-CN" altLang="en-US" sz="1100" dirty="0">
                <a:latin typeface="+mn-ea"/>
                <a:ea typeface="+mn-ea"/>
              </a:rPr>
              <a:t>次，</a:t>
            </a:r>
            <a:r>
              <a:rPr lang="en-US" altLang="zh-CN" sz="1100" dirty="0">
                <a:latin typeface="+mn-ea"/>
                <a:ea typeface="+mn-ea"/>
              </a:rPr>
              <a:t>20%</a:t>
            </a:r>
            <a:r>
              <a:rPr lang="zh-CN" altLang="en-US" sz="1100" dirty="0">
                <a:latin typeface="+mn-ea"/>
                <a:ea typeface="+mn-ea"/>
              </a:rPr>
              <a:t>）及新增的微博热度构成的歌曲社交指数</a:t>
            </a:r>
            <a:r>
              <a:rPr lang="en-US" altLang="zh-CN" sz="1100" dirty="0">
                <a:latin typeface="+mn-ea"/>
                <a:ea typeface="+mn-ea"/>
              </a:rPr>
              <a:t>40%</a:t>
            </a:r>
            <a:r>
              <a:rPr lang="zh-CN" altLang="en-US" sz="1100" dirty="0">
                <a:latin typeface="+mn-ea"/>
                <a:ea typeface="+mn-ea"/>
              </a:rPr>
              <a:t>（有效分享号数、收藏账号、有效评论账号数及弹一弹猜歌玩法下的播放量、微博因子），歌曲商业价值三大卫杜综合考量。发布</a:t>
            </a:r>
            <a:r>
              <a:rPr lang="en-US" altLang="zh-CN" sz="1100" dirty="0">
                <a:latin typeface="+mn-ea"/>
                <a:ea typeface="+mn-ea"/>
              </a:rPr>
              <a:t>6</a:t>
            </a:r>
            <a:r>
              <a:rPr lang="zh-CN" altLang="en-US" sz="1100" dirty="0">
                <a:latin typeface="+mn-ea"/>
                <a:ea typeface="+mn-ea"/>
              </a:rPr>
              <a:t>个月内，版权清晰，正式完整版可取，日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周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热歌榜：</a:t>
            </a:r>
            <a:r>
              <a:rPr lang="en-US" altLang="zh-CN" sz="1100" dirty="0">
                <a:latin typeface="+mn-ea"/>
                <a:ea typeface="+mn-ea"/>
              </a:rPr>
              <a:t>QQ</a:t>
            </a:r>
            <a:r>
              <a:rPr lang="zh-CN" altLang="en-US" sz="1100" dirty="0">
                <a:latin typeface="+mn-ea"/>
                <a:ea typeface="+mn-ea"/>
              </a:rPr>
              <a:t>移动端完整播放、下载、收藏数综合。主要为曲风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地区语言</a:t>
            </a:r>
            <a:r>
              <a:rPr lang="en-US" altLang="zh-CN" sz="1100" dirty="0">
                <a:latin typeface="+mn-ea"/>
                <a:ea typeface="+mn-ea"/>
              </a:rPr>
              <a:t>/</a:t>
            </a:r>
            <a:r>
              <a:rPr lang="zh-CN" altLang="en-US" sz="1100" dirty="0">
                <a:latin typeface="+mn-ea"/>
                <a:ea typeface="+mn-ea"/>
              </a:rPr>
              <a:t>特色等。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网易云音乐：全民热推榜：</a:t>
            </a:r>
            <a:r>
              <a:rPr lang="en-US" altLang="zh-CN" sz="1100" dirty="0" err="1">
                <a:latin typeface="+mn-ea"/>
                <a:ea typeface="+mn-ea"/>
              </a:rPr>
              <a:t>vip</a:t>
            </a:r>
            <a:r>
              <a:rPr lang="zh-CN" altLang="en-US" sz="1100" dirty="0">
                <a:latin typeface="+mn-ea"/>
                <a:ea typeface="+mn-ea"/>
              </a:rPr>
              <a:t>用户</a:t>
            </a:r>
            <a:r>
              <a:rPr lang="en-US" altLang="zh-CN" sz="1100" dirty="0">
                <a:latin typeface="+mn-ea"/>
                <a:ea typeface="+mn-ea"/>
              </a:rPr>
              <a:t>1.5</a:t>
            </a:r>
            <a:r>
              <a:rPr lang="zh-CN" altLang="en-US" sz="1100" dirty="0">
                <a:latin typeface="+mn-ea"/>
                <a:ea typeface="+mn-ea"/>
              </a:rPr>
              <a:t>倍，</a:t>
            </a:r>
            <a:r>
              <a:rPr lang="en-US" altLang="zh-CN" sz="1100" dirty="0">
                <a:latin typeface="+mn-ea"/>
                <a:ea typeface="+mn-ea"/>
              </a:rPr>
              <a:t>SVIP2</a:t>
            </a:r>
            <a:r>
              <a:rPr lang="zh-CN" altLang="en-US" sz="1100" dirty="0">
                <a:latin typeface="+mn-ea"/>
                <a:ea typeface="+mn-ea"/>
              </a:rPr>
              <a:t>倍。通过粉丝经济打榜带动收入。根据歌曲播放（完整播放次数，单用户最高</a:t>
            </a:r>
            <a:r>
              <a:rPr lang="en-US" altLang="zh-CN" sz="1100" dirty="0">
                <a:latin typeface="+mn-ea"/>
                <a:ea typeface="+mn-ea"/>
              </a:rPr>
              <a:t>10</a:t>
            </a:r>
            <a:r>
              <a:rPr lang="zh-CN" altLang="en-US" sz="1100" dirty="0">
                <a:latin typeface="+mn-ea"/>
                <a:ea typeface="+mn-ea"/>
              </a:rPr>
              <a:t>，</a:t>
            </a:r>
            <a:r>
              <a:rPr lang="en-US" altLang="zh-CN" sz="1100" dirty="0">
                <a:latin typeface="+mn-ea"/>
                <a:ea typeface="+mn-ea"/>
              </a:rPr>
              <a:t>30%</a:t>
            </a:r>
            <a:r>
              <a:rPr lang="zh-CN" altLang="en-US" sz="1100" dirty="0">
                <a:latin typeface="+mn-ea"/>
                <a:ea typeface="+mn-ea"/>
              </a:rPr>
              <a:t>）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销量（全渠道收入金额，</a:t>
            </a:r>
            <a:r>
              <a:rPr lang="en-US" altLang="zh-CN" sz="1100" dirty="0">
                <a:latin typeface="+mn-ea"/>
                <a:ea typeface="+mn-ea"/>
              </a:rPr>
              <a:t>30%</a:t>
            </a:r>
            <a:r>
              <a:rPr lang="zh-CN" altLang="en-US" sz="1100" dirty="0">
                <a:latin typeface="+mn-ea"/>
                <a:ea typeface="+mn-ea"/>
              </a:rPr>
              <a:t>）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热推（互动如评论、红心、点赞艺人、发布歌曲关联笔记数据；推荐如推荐此书；传播如有效分享、成功邀请好友参与数据；微博热度如微博发布次数，</a:t>
            </a:r>
            <a:r>
              <a:rPr lang="en-US" altLang="zh-CN" sz="1100" dirty="0">
                <a:latin typeface="+mn-ea"/>
                <a:ea typeface="+mn-ea"/>
              </a:rPr>
              <a:t>40%</a:t>
            </a:r>
            <a:r>
              <a:rPr lang="zh-CN" altLang="en-US" sz="1100" dirty="0">
                <a:latin typeface="+mn-ea"/>
                <a:ea typeface="+mn-ea"/>
              </a:rPr>
              <a:t>）第一位该项为满分，其他次数按照第一名计算相对分。</a:t>
            </a:r>
            <a:endParaRPr lang="en-US" altLang="zh-CN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1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日本</a:t>
            </a:r>
            <a:r>
              <a:rPr lang="en-US" altLang="zh-CN" sz="11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Cosme</a:t>
            </a:r>
            <a:r>
              <a:rPr lang="zh-CN" altLang="en-US" sz="11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大赏</a:t>
            </a:r>
            <a:endParaRPr lang="zh-CN" altLang="en-US" sz="8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美团</a:t>
            </a:r>
            <a:r>
              <a:rPr lang="en-US" altLang="zh-CN" dirty="0"/>
              <a:t>/</a:t>
            </a:r>
            <a:r>
              <a:rPr lang="zh-CN" altLang="en-US" dirty="0"/>
              <a:t>大众点评： 满足的是用户在“找”中的“目的性需求”。用户已经有了明确的消费意向（比如想吃火锅、想做按摩），打开</a:t>
            </a:r>
            <a:r>
              <a:rPr lang="en-US" altLang="zh-CN" dirty="0"/>
              <a:t>APP</a:t>
            </a:r>
            <a:r>
              <a:rPr lang="zh-CN" altLang="en-US" dirty="0"/>
              <a:t>是为了搜索、比较、决策，最终找到最合适的那家店。在这两种清晰的</a:t>
            </a:r>
            <a:r>
              <a:rPr lang="en-US" altLang="zh-CN" dirty="0"/>
              <a:t>PMF</a:t>
            </a:r>
            <a:r>
              <a:rPr lang="zh-CN" altLang="en-US" dirty="0"/>
              <a:t>之上，抖音和美团都为用户提供了“交易优惠”这一附着的下单价值。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灵活性：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可覆盖更多城市，细分区域，小店和新店，商家可以自行参考运营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。</a:t>
            </a:r>
            <a:endParaRPr lang="zh-CN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Medium" panose="00000600000000000000" pitchFamily="2" charset="-122"/>
            </a:endParaRPr>
          </a:p>
          <a:p>
            <a:r>
              <a:rPr kumimoji="1" lang="zh-CN" altLang="en-US" dirty="0"/>
              <a:t>时效性：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按时段、天更新，更好地反映当下商户和用户的经营、</a:t>
            </a:r>
            <a:r>
              <a:rPr lang="zh-CN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需求变化</a:t>
            </a:r>
            <a:endParaRPr lang="en-US" altLang="zh-CN" sz="1200" b="1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商户运营更简单：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单一透明的规则，</a:t>
            </a:r>
            <a:r>
              <a:rPr lang="en-US" altLang="zh-CN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TO</a:t>
            </a:r>
            <a:r>
              <a:rPr lang="zh-CN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</a:t>
            </a:r>
            <a:r>
              <a:rPr lang="en-GB" altLang="zh-CN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B</a:t>
            </a:r>
            <a:r>
              <a:rPr lang="zh-CN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定位效应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，更好的牵引和卷动、教育商家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。</a:t>
            </a:r>
            <a:endParaRPr lang="zh-CN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TOC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用户需求及价值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值得用户信任的</a:t>
            </a: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榜单规则：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这个榜单不瞎编，有依据。我相信它。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榜单矩阵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满足用户精准需求：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无论什么情况下都能找到需要的榜单。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商户促进用户</a:t>
            </a: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不用再比了，选上榜餐厅不会错。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商户促进用户</a:t>
            </a: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分享：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体验好！我愿意分享给朋友。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TOC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策略解读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多维榜单矩阵：人群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*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时间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*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空间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*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主题挖掘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强化推荐理由：为每个上榜餐厅提炼“一句话购买理由”，如“黑珍珠平替之王”。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订单量化证明：在榜单中突出“已订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XXXX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份”、“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XX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万人收藏”等。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体验闭环：确保从榜单点击到预订、核销、评价的流程极致顺畅。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激励分享：引导用户发布“打卡上榜餐厅”的笔记，形成社交传播。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TOB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策略解读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规则前置：向商家清晰解读上榜秘诀，如“提升服务分可冲击服务榜”。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数据赋能：帮商家对标上榜同行，明确优化方向。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成长路径设计：为潜力商家提供“冲榜成长计划”，包括运营辅导、物料支持等。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智能预警：系统自动提醒商家“距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XX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榜仅差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0.1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分”，并给出建议。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流量加权：为上榜商家配置“平日曝光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大促流量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品牌专题”的整合流量包。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营销工具：提供“专属标识”、“榜单专题页”等营销资源包。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口碑沉淀：引导上榜商家收获的高质量评价，在平台公域场进行二次分发。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品牌沉淀：建立“年度上榜餐厅”品牌集合，形成长期品牌资产。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Font typeface="+mj-lt"/>
              <a:buAutoNum type="arabicPeriod"/>
            </a:pPr>
            <a:r>
              <a:rPr lang="zh-CN" altLang="en-US" b="1" dirty="0">
                <a:effectLst/>
              </a:rPr>
              <a:t>优先重点做：榜单运营策略、资产管理策略、资产评审和业务联动。</a:t>
            </a:r>
            <a:endParaRPr lang="zh-CN" altLang="en-US" dirty="0">
              <a:effectLst/>
            </a:endParaRPr>
          </a:p>
          <a:p>
            <a:pPr marL="0" marR="0">
              <a:buFont typeface="+mj-lt"/>
              <a:buAutoNum type="arabicPeriod"/>
            </a:pPr>
            <a:r>
              <a:rPr lang="zh-CN" altLang="en-US" dirty="0">
                <a:effectLst/>
              </a:rPr>
              <a:t>一横一纵：</a:t>
            </a:r>
            <a:r>
              <a:rPr lang="zh-CN" altLang="en-US" b="1" dirty="0">
                <a:effectLst/>
              </a:rPr>
              <a:t>榜单规则管理</a:t>
            </a:r>
            <a:r>
              <a:rPr lang="en-US" altLang="zh-CN" dirty="0">
                <a:effectLst/>
              </a:rPr>
              <a:t>(</a:t>
            </a:r>
            <a:r>
              <a:rPr lang="zh-CN" altLang="en-US" dirty="0">
                <a:effectLst/>
              </a:rPr>
              <a:t>榜单矩阵，日常的运营规则），资产沉淀的有效性，商家经营的牵引，</a:t>
            </a:r>
            <a:r>
              <a:rPr lang="zh-CN" altLang="en-US" b="1" dirty="0">
                <a:effectLst/>
              </a:rPr>
              <a:t>资产结构</a:t>
            </a:r>
            <a:r>
              <a:rPr lang="zh-CN" altLang="en-US" dirty="0">
                <a:effectLst/>
              </a:rPr>
              <a:t>，</a:t>
            </a:r>
            <a:r>
              <a:rPr lang="zh-CN" altLang="en-US" b="1" dirty="0">
                <a:effectLst/>
              </a:rPr>
              <a:t>资产评测</a:t>
            </a:r>
            <a:r>
              <a:rPr lang="zh-CN" altLang="en-US" dirty="0">
                <a:effectLst/>
              </a:rPr>
              <a:t>，</a:t>
            </a:r>
            <a:r>
              <a:rPr lang="zh-CN" altLang="en-US" b="1" dirty="0">
                <a:effectLst/>
              </a:rPr>
              <a:t>横向协同（</a:t>
            </a:r>
            <a:r>
              <a:rPr lang="zh-CN" altLang="en-US" dirty="0">
                <a:effectLst/>
              </a:rPr>
              <a:t>项目制</a:t>
            </a:r>
            <a:r>
              <a:rPr lang="en-US" altLang="zh-CN" dirty="0">
                <a:effectLst/>
              </a:rPr>
              <a:t>)</a:t>
            </a:r>
            <a:r>
              <a:rPr lang="zh-CN" altLang="en-US" dirty="0">
                <a:effectLst/>
              </a:rPr>
              <a:t>。</a:t>
            </a:r>
            <a:endParaRPr lang="zh-CN" altLang="en-US" dirty="0">
              <a:effectLst/>
            </a:endParaRPr>
          </a:p>
          <a:p>
            <a:endParaRPr lang="en-US" altLang="zh-CN" dirty="0"/>
          </a:p>
          <a:p>
            <a:r>
              <a:rPr lang="zh-CN" altLang="en-US" dirty="0"/>
              <a:t>资产结构化</a:t>
            </a:r>
            <a:r>
              <a:rPr lang="en-US" altLang="zh-CN" dirty="0"/>
              <a:t>-</a:t>
            </a:r>
            <a:r>
              <a:rPr lang="zh-CN" altLang="en-US" dirty="0"/>
              <a:t>信息结构化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TOC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用户需求及价值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值得用户信任的</a:t>
            </a: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榜单规则：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这个榜单不瞎编，有依据。我相信它。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榜单矩阵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满足用户精准需求：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无论什么情况下都能找到需要的榜单。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商户促进用户</a:t>
            </a: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不用再比了，选上榜餐厅不会错。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商户促进用户</a:t>
            </a:r>
            <a:r>
              <a:rPr lang="zh-CN" altLang="en-US" sz="9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分享：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用户认知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体验好！我愿意分享给朋友。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TOC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策略解读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多维榜单矩阵：人群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*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时间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*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空间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*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主题挖掘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强化推荐理由：为每个上榜餐厅提炼“一句话购买理由”，如“黑珍珠平替之王”。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订单量化证明：在榜单中突出“已订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XXXX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份”、“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XX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万人收藏”等。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体验闭环：确保从榜单点击到预订、核销、评价的流程极致顺畅。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激励分享：引导用户发布“打卡上榜餐厅”的笔记，形成社交传播。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TOB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策略解读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规则前置：向商家清晰解读上榜秘诀，如“提升服务分可冲击服务榜”。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数据赋能：帮商家对标上榜同行，明确优化方向。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成长路径设计：为潜力商家提供“冲榜成长计划”，包括运营辅导、物料支持等。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智能预警：系统自动提醒商家“距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XX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榜仅差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0.1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分”，并给出建议。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流量加权：为上榜商家配置“平日曝光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大促流量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品牌专题”的整合流量包。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营销工具：提供“专属标识”、“榜单专题页”等营销资源包。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口碑沉淀：引导上榜商家收获的高质量评价，在平台公域场进行二次分发。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品牌沉淀：建立“年度上榜餐厅”品牌集合，形成长期品牌资产。</a:t>
            </a:r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vmlDrawing" Target="../drawings/vmlDrawing1.v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vmlDrawing" Target="../drawings/vmlDrawing2.v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vmlDrawing" Target="../drawings/vmlDrawing3.v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vmlDrawing" Target="../drawings/vmlDrawing4.v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  <a:endParaRPr kumimoji="1" lang="zh-CN" altLang="en-US" dirty="0"/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  <a:endParaRPr kumimoji="1" lang="zh-CN" altLang="en-US" dirty="0"/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250825" y="123825"/>
            <a:ext cx="57881" cy="863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ags" Target="../tags/tag5.xml"/><Relationship Id="rId6" Type="http://schemas.openxmlformats.org/officeDocument/2006/relationships/oleObject" Target="../embeddings/oleObject5.bin"/><Relationship Id="rId7" Type="http://schemas.openxmlformats.org/officeDocument/2006/relationships/image" Target="../media/image1.emf"/><Relationship Id="rId8" Type="http://schemas.openxmlformats.org/officeDocument/2006/relationships/vmlDrawing" Target="../drawings/vmlDrawing5.v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6" imgW="0" imgH="0" progId="TCLayout.ActiveDocument.1">
                  <p:embed/>
                </p:oleObj>
              </mc:Choice>
              <mc:Fallback>
                <p:oleObj name="think-cell 幻灯片" r:id="rId6" imgW="0" imgH="0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2.emf"/><Relationship Id="rId4" Type="http://schemas.openxmlformats.org/officeDocument/2006/relationships/slideLayout" Target="../slideLayouts/slideLayout1.xml"/><Relationship Id="rId5" Type="http://schemas.openxmlformats.org/officeDocument/2006/relationships/vmlDrawing" Target="../drawings/vmlDrawing6.vml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oleObject" Target="../embeddings/oleObject7.bin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4.xml"/><Relationship Id="rId5" Type="http://schemas.openxmlformats.org/officeDocument/2006/relationships/vmlDrawing" Target="../drawings/vmlDrawing7.vml"/><Relationship Id="rId6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Relationship Id="rId7" Type="http://schemas.openxmlformats.org/officeDocument/2006/relationships/image" Target="../media/image19.png"/><Relationship Id="rId8" Type="http://schemas.openxmlformats.org/officeDocument/2006/relationships/image" Target="../media/image20.jpeg"/><Relationship Id="rId9" Type="http://schemas.openxmlformats.org/officeDocument/2006/relationships/image" Target="../media/image21.png"/><Relationship Id="rId10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4.xml"/><Relationship Id="rId5" Type="http://schemas.openxmlformats.org/officeDocument/2006/relationships/vmlDrawing" Target="../drawings/vmlDrawing8.vml"/><Relationship Id="rId6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oleObject" Target="../embeddings/oleObject9.bin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4.xml"/><Relationship Id="rId5" Type="http://schemas.openxmlformats.org/officeDocument/2006/relationships/vmlDrawing" Target="../drawings/vmlDrawing9.vml"/><Relationship Id="rId6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oleObject" Target="../embeddings/oleObject10.bin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4.xml"/><Relationship Id="rId5" Type="http://schemas.openxmlformats.org/officeDocument/2006/relationships/vmlDrawing" Target="../drawings/vmlDrawing10.vml"/><Relationship Id="rId6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oleObject" Target="../embeddings/oleObject11.bin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4.xml"/><Relationship Id="rId5" Type="http://schemas.openxmlformats.org/officeDocument/2006/relationships/vmlDrawing" Target="../drawings/vmlDrawing11.v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榜单定位及矩阵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0" imgH="0" progId="TCLayout.ActiveDocument.1">
                  <p:embed/>
                </p:oleObj>
              </mc:Choice>
              <mc:Fallback>
                <p:oleObj name="think-cell 幻灯片" r:id="rId2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600" b="1" dirty="0"/>
              <a:t>目录</a:t>
            </a:r>
            <a:endParaRPr lang="zh-CN" altLang="en-US" sz="16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02166" y="813636"/>
            <a:ext cx="6496724" cy="374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行业竞品分析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个性化榜单分析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到餐雷达图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美团点评定位差异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榜单</a:t>
            </a:r>
            <a:r>
              <a:rPr kumimoji="1" lang="en-US" altLang="zh-CN" sz="1600" dirty="0"/>
              <a:t>PMF</a:t>
            </a:r>
            <a:r>
              <a:rPr kumimoji="1" lang="zh-CN" altLang="en-US" sz="1600" dirty="0"/>
              <a:t>及需求分析举措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r>
              <a:rPr kumimoji="1" lang="zh-CN" altLang="en-US" sz="1600" dirty="0"/>
              <a:t>举措一：榜单矩阵（已上榜提单产、未上榜提覆盖）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r>
              <a:rPr kumimoji="1" lang="zh-CN" altLang="en-US" sz="1600" dirty="0"/>
              <a:t>举措二：</a:t>
            </a:r>
            <a:r>
              <a:rPr lang="zh-CN" altLang="en-US" sz="1600" dirty="0"/>
              <a:t>用户心智建设</a:t>
            </a:r>
            <a:r>
              <a:rPr lang="en-US" altLang="zh-CN" sz="1600" dirty="0"/>
              <a:t>-</a:t>
            </a:r>
            <a:r>
              <a:rPr lang="zh-CN" altLang="en-US" sz="1600" dirty="0"/>
              <a:t>流量营销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举措三：商户辅导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举措四：资产建设</a:t>
            </a:r>
            <a:endParaRPr lang="en-US" altLang="zh-CN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/>
              <a:t>资源依赖及协同方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ounded Rectangle"/>
          <p:cNvSpPr/>
          <p:nvPr/>
        </p:nvSpPr>
        <p:spPr>
          <a:xfrm>
            <a:off x="6497588" y="1627025"/>
            <a:ext cx="1127407" cy="3330309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600" dirty="0"/>
              <a:t>榜单对比</a:t>
            </a:r>
            <a:endParaRPr lang="zh-CN" altLang="en-US" sz="1600" dirty="0"/>
          </a:p>
        </p:txBody>
      </p:sp>
      <p:sp>
        <p:nvSpPr>
          <p:cNvPr id="192" name="Rounded Rectangle"/>
          <p:cNvSpPr/>
          <p:nvPr/>
        </p:nvSpPr>
        <p:spPr>
          <a:xfrm>
            <a:off x="406201" y="1627087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lang="zh-CN" altLang="en-US" sz="675"/>
          </a:p>
        </p:txBody>
      </p:sp>
      <p:sp>
        <p:nvSpPr>
          <p:cNvPr id="202" name="Shape"/>
          <p:cNvSpPr/>
          <p:nvPr/>
        </p:nvSpPr>
        <p:spPr>
          <a:xfrm>
            <a:off x="406130" y="1627025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dirty="0"/>
          </a:p>
        </p:txBody>
      </p:sp>
      <p:sp>
        <p:nvSpPr>
          <p:cNvPr id="203" name="Rounded Rectangle"/>
          <p:cNvSpPr/>
          <p:nvPr/>
        </p:nvSpPr>
        <p:spPr>
          <a:xfrm>
            <a:off x="406200" y="2472152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2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/>
          </a:p>
        </p:txBody>
      </p:sp>
      <p:sp>
        <p:nvSpPr>
          <p:cNvPr id="204" name="Shape"/>
          <p:cNvSpPr/>
          <p:nvPr/>
        </p:nvSpPr>
        <p:spPr>
          <a:xfrm>
            <a:off x="406130" y="2472090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/>
          </a:p>
        </p:txBody>
      </p:sp>
      <p:sp>
        <p:nvSpPr>
          <p:cNvPr id="205" name="Rounded Rectangle"/>
          <p:cNvSpPr/>
          <p:nvPr/>
        </p:nvSpPr>
        <p:spPr>
          <a:xfrm>
            <a:off x="406200" y="3331072"/>
            <a:ext cx="2003461" cy="790826"/>
          </a:xfrm>
          <a:prstGeom prst="roundRect">
            <a:avLst>
              <a:gd name="adj" fmla="val 7302"/>
            </a:avLst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</a:endParaRPr>
          </a:p>
        </p:txBody>
      </p:sp>
      <p:sp>
        <p:nvSpPr>
          <p:cNvPr id="206" name="Shape"/>
          <p:cNvSpPr/>
          <p:nvPr/>
        </p:nvSpPr>
        <p:spPr>
          <a:xfrm>
            <a:off x="406130" y="3331010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 dirty="0"/>
          </a:p>
        </p:txBody>
      </p:sp>
      <p:sp>
        <p:nvSpPr>
          <p:cNvPr id="207" name="Shape"/>
          <p:cNvSpPr/>
          <p:nvPr/>
        </p:nvSpPr>
        <p:spPr>
          <a:xfrm>
            <a:off x="1142808" y="1319472"/>
            <a:ext cx="1214696" cy="232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noFill/>
          <a:ln w="12700">
            <a:solidFill>
              <a:srgbClr val="0079FF"/>
            </a:solidFill>
            <a:miter lim="400000"/>
          </a:ln>
        </p:spPr>
        <p:txBody>
          <a:bodyPr lIns="0" tIns="0" rIns="0" bIns="0" anchor="ctr"/>
          <a:lstStyle/>
          <a:p>
            <a:endParaRPr sz="675"/>
          </a:p>
        </p:txBody>
      </p:sp>
      <p:sp>
        <p:nvSpPr>
          <p:cNvPr id="233" name="Data Science"/>
          <p:cNvSpPr txBox="1"/>
          <p:nvPr/>
        </p:nvSpPr>
        <p:spPr>
          <a:xfrm>
            <a:off x="509022" y="1860778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电商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r>
              <a:rPr lang="zh-CN" altLang="en-US" sz="1200" b="1" dirty="0">
                <a:solidFill>
                  <a:schemeClr val="bg1"/>
                </a:solidFill>
              </a:rPr>
              <a:t>平台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396883" y="350831"/>
            <a:ext cx="8700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各行业榜单基于</a:t>
            </a:r>
            <a:r>
              <a:rPr lang="en-US" altLang="zh-CN" sz="1050" dirty="0"/>
              <a:t>【</a:t>
            </a:r>
            <a:r>
              <a:rPr lang="zh-CN" altLang="en-US" sz="1050" b="1" dirty="0"/>
              <a:t>用户消费</a:t>
            </a:r>
            <a:r>
              <a:rPr lang="en-US" altLang="zh-CN" sz="1050" b="1" dirty="0"/>
              <a:t>/</a:t>
            </a:r>
            <a:r>
              <a:rPr lang="zh-CN" altLang="en-US" sz="1050" b="1" dirty="0"/>
              <a:t>内容决策指南</a:t>
            </a:r>
            <a:r>
              <a:rPr lang="en-US" altLang="zh-CN" sz="1050" dirty="0"/>
              <a:t>】</a:t>
            </a:r>
            <a:r>
              <a:rPr lang="zh-CN" altLang="en-US" sz="1050" dirty="0"/>
              <a:t>的定位，既满足</a:t>
            </a:r>
            <a:r>
              <a:rPr lang="en-US" altLang="zh-CN" sz="1050" dirty="0"/>
              <a:t>C</a:t>
            </a:r>
            <a:r>
              <a:rPr lang="zh-CN" altLang="en-US" sz="1050" dirty="0"/>
              <a:t>端“</a:t>
            </a:r>
            <a:r>
              <a:rPr lang="zh-CN" altLang="en-US" sz="1050" b="1" dirty="0"/>
              <a:t>高效决策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激发兴趣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趋势发现</a:t>
            </a:r>
            <a:r>
              <a:rPr lang="zh-CN" altLang="en-US" sz="1050" dirty="0"/>
              <a:t>”的需求，也承接</a:t>
            </a:r>
            <a:r>
              <a:rPr lang="en-US" altLang="zh-CN" sz="1050" dirty="0"/>
              <a:t>B</a:t>
            </a:r>
            <a:r>
              <a:rPr lang="zh-CN" altLang="en-US" sz="1050" dirty="0"/>
              <a:t>端“</a:t>
            </a:r>
            <a:r>
              <a:rPr lang="zh-CN" altLang="en-US" sz="1050" b="1" dirty="0"/>
              <a:t>流量曝光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权威背书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经营指导</a:t>
            </a:r>
            <a:r>
              <a:rPr lang="zh-CN" altLang="en-US" sz="1050" dirty="0"/>
              <a:t>”的需求。不同领域的榜单</a:t>
            </a:r>
            <a:r>
              <a:rPr lang="zh-CN" altLang="en-US" sz="1050" b="1" dirty="0"/>
              <a:t>核心策略均以公信力打造为基石</a:t>
            </a:r>
            <a:r>
              <a:rPr lang="zh-CN" altLang="en-US" sz="1050" dirty="0"/>
              <a:t>，但</a:t>
            </a:r>
            <a:r>
              <a:rPr lang="zh-CN" altLang="en-US" sz="1050" b="1" dirty="0"/>
              <a:t>商业模式各有侧重</a:t>
            </a:r>
            <a:r>
              <a:rPr lang="zh-CN" altLang="en-US" sz="1050" dirty="0"/>
              <a:t>，电商、生活服务重交易转化</a:t>
            </a:r>
            <a:r>
              <a:rPr lang="en-US" altLang="zh-CN" sz="1050" dirty="0"/>
              <a:t>+</a:t>
            </a:r>
            <a:r>
              <a:rPr lang="zh-CN" altLang="en-US" sz="1050" dirty="0"/>
              <a:t>品牌营销，内容与泛娱乐绑定内容营销和粉丝经济，</a:t>
            </a:r>
            <a:r>
              <a:rPr lang="en-US" altLang="zh-CN" sz="1050" dirty="0"/>
              <a:t>To B</a:t>
            </a:r>
            <a:r>
              <a:rPr lang="zh-CN" altLang="en-US" sz="1050" dirty="0"/>
              <a:t>榜单则延伸为数据服务与竞争赋能。榜单正从</a:t>
            </a:r>
            <a:r>
              <a:rPr lang="zh-CN" altLang="en-US" sz="1050" b="1" dirty="0"/>
              <a:t>单一的内容流量分发</a:t>
            </a:r>
            <a:r>
              <a:rPr lang="zh-CN" altLang="en-US" sz="1050" dirty="0"/>
              <a:t>，向</a:t>
            </a:r>
            <a:r>
              <a:rPr lang="zh-CN" altLang="en-US" sz="1050" b="1" dirty="0"/>
              <a:t>营销阵地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数据服务的综合价值载体</a:t>
            </a:r>
            <a:r>
              <a:rPr lang="zh-CN" altLang="en-US" sz="1050" dirty="0"/>
              <a:t>演化。</a:t>
            </a:r>
            <a:endParaRPr lang="en-US" altLang="zh-CN" sz="1050" dirty="0"/>
          </a:p>
        </p:txBody>
      </p:sp>
      <p:sp>
        <p:nvSpPr>
          <p:cNvPr id="312" name="Rounded Rectangle"/>
          <p:cNvSpPr/>
          <p:nvPr/>
        </p:nvSpPr>
        <p:spPr>
          <a:xfrm>
            <a:off x="406201" y="4196814"/>
            <a:ext cx="2008697" cy="790826"/>
          </a:xfrm>
          <a:prstGeom prst="roundRect">
            <a:avLst>
              <a:gd name="adj" fmla="val 7302"/>
            </a:avLst>
          </a:prstGeom>
          <a:solidFill>
            <a:schemeClr val="accent4">
              <a:lumMod val="40000"/>
              <a:lumOff val="60000"/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</a:endParaRPr>
          </a:p>
        </p:txBody>
      </p:sp>
      <p:sp>
        <p:nvSpPr>
          <p:cNvPr id="313" name="Shape"/>
          <p:cNvSpPr/>
          <p:nvPr/>
        </p:nvSpPr>
        <p:spPr>
          <a:xfrm>
            <a:off x="406130" y="4196752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FF6600"/>
            </a:solidFill>
            <a:miter lim="400000"/>
          </a:ln>
        </p:spPr>
        <p:txBody>
          <a:bodyPr lIns="0" tIns="0" rIns="0" bIns="0" anchor="ctr"/>
          <a:lstStyle/>
          <a:p>
            <a:endParaRPr sz="675" b="1"/>
          </a:p>
        </p:txBody>
      </p:sp>
      <p:sp>
        <p:nvSpPr>
          <p:cNvPr id="323" name="Data Science"/>
          <p:cNvSpPr txBox="1"/>
          <p:nvPr/>
        </p:nvSpPr>
        <p:spPr>
          <a:xfrm>
            <a:off x="509022" y="2651272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内容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r>
              <a:rPr lang="zh-CN" altLang="en-US" sz="1200" b="1" dirty="0">
                <a:solidFill>
                  <a:schemeClr val="bg1"/>
                </a:solidFill>
              </a:rPr>
              <a:t>平台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324" name="Data Science"/>
          <p:cNvSpPr txBox="1"/>
          <p:nvPr/>
        </p:nvSpPr>
        <p:spPr>
          <a:xfrm>
            <a:off x="462720" y="3529177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泛娱乐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平台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325" name="Data Science"/>
          <p:cNvSpPr txBox="1"/>
          <p:nvPr/>
        </p:nvSpPr>
        <p:spPr>
          <a:xfrm>
            <a:off x="496801" y="4375934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生活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r>
              <a:rPr lang="zh-CN" altLang="en-US" sz="1200" b="1" dirty="0">
                <a:solidFill>
                  <a:schemeClr val="bg1"/>
                </a:solidFill>
              </a:rPr>
              <a:t>服务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327" name="Data Science"/>
          <p:cNvSpPr txBox="1"/>
          <p:nvPr/>
        </p:nvSpPr>
        <p:spPr>
          <a:xfrm>
            <a:off x="1396915" y="1331947"/>
            <a:ext cx="995102" cy="207749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代表性榜单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1375" y="1670098"/>
            <a:ext cx="14685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天猫必买榜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京东金榜（年度金奖）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实时热卖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新品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折扣榜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淘宝神店榜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天猫竞速榜（</a:t>
            </a:r>
            <a:r>
              <a:rPr lang="en-US" altLang="zh-CN" sz="900" dirty="0">
                <a:latin typeface="+mn-ea"/>
              </a:rPr>
              <a:t>To B</a:t>
            </a:r>
            <a:r>
              <a:rPr lang="zh-CN" altLang="en-US" sz="900" dirty="0">
                <a:latin typeface="+mn-ea"/>
              </a:rPr>
              <a:t>）</a:t>
            </a:r>
            <a:endParaRPr lang="en-US" altLang="zh-CN" sz="900" dirty="0">
              <a:latin typeface="+mn-ea"/>
            </a:endParaRPr>
          </a:p>
        </p:txBody>
      </p:sp>
      <p:sp>
        <p:nvSpPr>
          <p:cNvPr id="330" name="Shape"/>
          <p:cNvSpPr/>
          <p:nvPr/>
        </p:nvSpPr>
        <p:spPr>
          <a:xfrm>
            <a:off x="2590594" y="1325217"/>
            <a:ext cx="942094" cy="231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noFill/>
          <a:ln w="12700">
            <a:solidFill>
              <a:srgbClr val="0079FF"/>
            </a:solidFill>
            <a:miter lim="400000"/>
          </a:ln>
        </p:spPr>
        <p:txBody>
          <a:bodyPr lIns="0" tIns="0" rIns="0" bIns="0" anchor="ctr"/>
          <a:lstStyle/>
          <a:p>
            <a:endParaRPr sz="675"/>
          </a:p>
        </p:txBody>
      </p:sp>
      <p:sp>
        <p:nvSpPr>
          <p:cNvPr id="331" name="Data Science"/>
          <p:cNvSpPr txBox="1"/>
          <p:nvPr/>
        </p:nvSpPr>
        <p:spPr>
          <a:xfrm>
            <a:off x="2742789" y="1338127"/>
            <a:ext cx="942094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运营策略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2" name="Shape"/>
          <p:cNvSpPr/>
          <p:nvPr/>
        </p:nvSpPr>
        <p:spPr>
          <a:xfrm>
            <a:off x="3822996" y="1319471"/>
            <a:ext cx="1091218" cy="232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noFill/>
          <a:ln w="12700">
            <a:solidFill>
              <a:srgbClr val="0079FF"/>
            </a:solidFill>
            <a:miter lim="400000"/>
          </a:ln>
        </p:spPr>
        <p:txBody>
          <a:bodyPr lIns="0" tIns="0" rIns="0" bIns="0" anchor="ctr"/>
          <a:lstStyle/>
          <a:p>
            <a:endParaRPr sz="675"/>
          </a:p>
        </p:txBody>
      </p:sp>
      <p:sp>
        <p:nvSpPr>
          <p:cNvPr id="333" name="Data Science"/>
          <p:cNvSpPr txBox="1"/>
          <p:nvPr/>
        </p:nvSpPr>
        <p:spPr>
          <a:xfrm>
            <a:off x="4057225" y="1319471"/>
            <a:ext cx="995102" cy="207749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商业模式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984597" y="2560146"/>
            <a:ext cx="1468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/>
              <a:t>抖音直播人气榜</a:t>
            </a:r>
            <a:endParaRPr lang="en-US" altLang="zh-CN" sz="900" dirty="0"/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</a:rPr>
              <a:t>微博热搜</a:t>
            </a:r>
            <a:endParaRPr lang="en-US" altLang="zh-CN" sz="900" dirty="0"/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en-US" altLang="zh-CN" sz="900" dirty="0">
                <a:effectLst/>
              </a:rPr>
              <a:t>B</a:t>
            </a:r>
            <a:r>
              <a:rPr lang="zh-CN" altLang="en-US" sz="900" dirty="0">
                <a:effectLst/>
              </a:rPr>
              <a:t>站百大</a:t>
            </a:r>
            <a:r>
              <a:rPr lang="en-US" altLang="zh-CN" sz="900" dirty="0">
                <a:effectLst/>
              </a:rPr>
              <a:t>UP</a:t>
            </a:r>
            <a:r>
              <a:rPr lang="zh-CN" altLang="en-US" sz="900" dirty="0">
                <a:effectLst/>
              </a:rPr>
              <a:t>主</a:t>
            </a:r>
            <a:endParaRPr lang="en-US" altLang="zh-CN" sz="900" dirty="0">
              <a:effectLst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抖音星图指数榜</a:t>
            </a:r>
            <a:endParaRPr lang="en-US" altLang="zh-CN" sz="900" dirty="0"/>
          </a:p>
        </p:txBody>
      </p:sp>
      <p:sp>
        <p:nvSpPr>
          <p:cNvPr id="335" name="文本框 334"/>
          <p:cNvSpPr txBox="1"/>
          <p:nvPr/>
        </p:nvSpPr>
        <p:spPr>
          <a:xfrm>
            <a:off x="953493" y="3406266"/>
            <a:ext cx="14685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</a:rPr>
              <a:t>豆瓣电影</a:t>
            </a:r>
            <a:r>
              <a:rPr lang="en-US" altLang="zh-CN" sz="900" dirty="0">
                <a:effectLst/>
              </a:rPr>
              <a:t>TOP250</a:t>
            </a:r>
            <a:endParaRPr lang="en-US" altLang="zh-CN" sz="900" dirty="0">
              <a:effectLst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/>
              <a:t>腾讯视频热搜</a:t>
            </a:r>
            <a:r>
              <a:rPr lang="en-US" altLang="zh-CN" sz="900" dirty="0"/>
              <a:t>/</a:t>
            </a:r>
            <a:r>
              <a:rPr lang="zh-CN" altLang="en-US" sz="900" dirty="0"/>
              <a:t>飙升榜</a:t>
            </a:r>
            <a:endParaRPr lang="en-US" altLang="zh-CN" sz="900" dirty="0"/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红果短剧热播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新剧榜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腾讯由你音乐榜</a:t>
            </a:r>
            <a:endParaRPr lang="en-US" altLang="zh-CN" sz="900" dirty="0"/>
          </a:p>
          <a:p>
            <a:pPr marL="0" marR="0"/>
            <a:endParaRPr lang="en-US" altLang="zh-CN" sz="900" dirty="0"/>
          </a:p>
        </p:txBody>
      </p:sp>
      <p:sp>
        <p:nvSpPr>
          <p:cNvPr id="336" name="文本框 335"/>
          <p:cNvSpPr txBox="1"/>
          <p:nvPr/>
        </p:nvSpPr>
        <p:spPr>
          <a:xfrm>
            <a:off x="942623" y="4227746"/>
            <a:ext cx="1615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/>
              <a:t>携程酒店口碑榜</a:t>
            </a:r>
            <a:endParaRPr lang="en-US" altLang="zh-CN" sz="900" dirty="0"/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</a:rPr>
              <a:t>贝壳新房热搜</a:t>
            </a:r>
            <a:r>
              <a:rPr lang="en-US" altLang="zh-CN" sz="900" dirty="0">
                <a:effectLst/>
              </a:rPr>
              <a:t>/</a:t>
            </a:r>
            <a:r>
              <a:rPr lang="zh-CN" altLang="en-US" sz="900" dirty="0">
                <a:effectLst/>
              </a:rPr>
              <a:t>品质榜</a:t>
            </a:r>
            <a:endParaRPr lang="en-US" altLang="zh-CN" sz="900" dirty="0">
              <a:effectLst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土巴兔装修设计师榜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苹果商店</a:t>
            </a:r>
            <a:r>
              <a:rPr lang="en-US" altLang="zh-CN" sz="900" dirty="0">
                <a:latin typeface="+mn-ea"/>
              </a:rPr>
              <a:t>APP</a:t>
            </a:r>
            <a:r>
              <a:rPr lang="zh-CN" altLang="en-US" sz="900" dirty="0">
                <a:latin typeface="+mn-ea"/>
              </a:rPr>
              <a:t>排行榜</a:t>
            </a:r>
            <a:endParaRPr lang="en-US" altLang="zh-CN" sz="900" dirty="0">
              <a:effectLst/>
            </a:endParaRPr>
          </a:p>
        </p:txBody>
      </p:sp>
      <p:sp>
        <p:nvSpPr>
          <p:cNvPr id="410" name="Data Science"/>
          <p:cNvSpPr txBox="1"/>
          <p:nvPr/>
        </p:nvSpPr>
        <p:spPr>
          <a:xfrm>
            <a:off x="6911585" y="1680910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品</a:t>
            </a:r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2" name="Rounded Rectangle"/>
          <p:cNvSpPr/>
          <p:nvPr/>
        </p:nvSpPr>
        <p:spPr>
          <a:xfrm>
            <a:off x="5069723" y="1627054"/>
            <a:ext cx="1304900" cy="3330280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lang="en-US" sz="900" dirty="0"/>
          </a:p>
          <a:p>
            <a:endParaRPr lang="en-US" sz="900" dirty="0"/>
          </a:p>
        </p:txBody>
      </p:sp>
      <p:sp>
        <p:nvSpPr>
          <p:cNvPr id="414" name="Data Science"/>
          <p:cNvSpPr txBox="1"/>
          <p:nvPr/>
        </p:nvSpPr>
        <p:spPr>
          <a:xfrm>
            <a:off x="6911585" y="2174128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</a:t>
            </a:r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间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5" name="Data Science"/>
          <p:cNvSpPr txBox="1"/>
          <p:nvPr/>
        </p:nvSpPr>
        <p:spPr>
          <a:xfrm>
            <a:off x="6911585" y="2925947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空</a:t>
            </a:r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间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6" name="Data Science"/>
          <p:cNvSpPr txBox="1"/>
          <p:nvPr/>
        </p:nvSpPr>
        <p:spPr>
          <a:xfrm>
            <a:off x="6906990" y="3771899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人</a:t>
            </a:r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群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7" name="Data Science"/>
          <p:cNvSpPr txBox="1"/>
          <p:nvPr/>
        </p:nvSpPr>
        <p:spPr>
          <a:xfrm>
            <a:off x="6895965" y="4485248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主</a:t>
            </a:r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题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8" name="Data Science"/>
          <p:cNvSpPr txBox="1"/>
          <p:nvPr/>
        </p:nvSpPr>
        <p:spPr>
          <a:xfrm>
            <a:off x="6595445" y="1860924"/>
            <a:ext cx="1127406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大品类 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细分品类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9" name="Data Science"/>
          <p:cNvSpPr txBox="1"/>
          <p:nvPr/>
        </p:nvSpPr>
        <p:spPr>
          <a:xfrm>
            <a:off x="6546274" y="2343432"/>
            <a:ext cx="1128088" cy="4539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短周期：实时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日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大促临时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长周期：季度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0" name="Data Science"/>
          <p:cNvSpPr txBox="1"/>
          <p:nvPr/>
        </p:nvSpPr>
        <p:spPr>
          <a:xfrm>
            <a:off x="6533599" y="3096403"/>
            <a:ext cx="1104860" cy="5924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区域：全国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城市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行政区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商圈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社区</a:t>
            </a:r>
            <a:b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场景：景区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社区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机站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本异地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1" name="Data Science"/>
          <p:cNvSpPr txBox="1"/>
          <p:nvPr/>
        </p:nvSpPr>
        <p:spPr>
          <a:xfrm>
            <a:off x="6527062" y="3934341"/>
            <a:ext cx="1104860" cy="5924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属性：学生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打工人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老人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兴趣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关系：朋友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亲子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情侣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2" name="Data Science"/>
          <p:cNvSpPr txBox="1"/>
          <p:nvPr/>
        </p:nvSpPr>
        <p:spPr>
          <a:xfrm>
            <a:off x="6581591" y="4669964"/>
            <a:ext cx="1127406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活动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热点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|IP|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新品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4" name="Rounded Rectangle"/>
          <p:cNvSpPr/>
          <p:nvPr/>
        </p:nvSpPr>
        <p:spPr>
          <a:xfrm>
            <a:off x="7759966" y="1627025"/>
            <a:ext cx="1127407" cy="3330309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/>
          </a:p>
        </p:txBody>
      </p:sp>
      <p:sp>
        <p:nvSpPr>
          <p:cNvPr id="425" name="Data Science"/>
          <p:cNvSpPr txBox="1"/>
          <p:nvPr/>
        </p:nvSpPr>
        <p:spPr>
          <a:xfrm>
            <a:off x="8173963" y="1680910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流 量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6" name="Data Science"/>
          <p:cNvSpPr txBox="1"/>
          <p:nvPr/>
        </p:nvSpPr>
        <p:spPr>
          <a:xfrm>
            <a:off x="8173963" y="2174128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交易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7" name="Data Science"/>
          <p:cNvSpPr txBox="1"/>
          <p:nvPr/>
        </p:nvSpPr>
        <p:spPr>
          <a:xfrm>
            <a:off x="8173963" y="2925947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评价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8" name="Data Science"/>
          <p:cNvSpPr txBox="1"/>
          <p:nvPr/>
        </p:nvSpPr>
        <p:spPr>
          <a:xfrm>
            <a:off x="8169368" y="3771899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互 动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9" name="Data Science"/>
          <p:cNvSpPr txBox="1"/>
          <p:nvPr/>
        </p:nvSpPr>
        <p:spPr>
          <a:xfrm>
            <a:off x="8158343" y="4485248"/>
            <a:ext cx="495126" cy="20005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 户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0" name="Data Science"/>
          <p:cNvSpPr txBox="1"/>
          <p:nvPr/>
        </p:nvSpPr>
        <p:spPr>
          <a:xfrm>
            <a:off x="7913241" y="1860924"/>
            <a:ext cx="1127406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浏览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搜索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1" name="Data Science"/>
          <p:cNvSpPr txBox="1"/>
          <p:nvPr/>
        </p:nvSpPr>
        <p:spPr>
          <a:xfrm>
            <a:off x="7808652" y="2343433"/>
            <a:ext cx="1128088" cy="4539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销量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销售额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成交用户数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人均价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回购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折扣力度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2" name="Data Science"/>
          <p:cNvSpPr txBox="1"/>
          <p:nvPr/>
        </p:nvSpPr>
        <p:spPr>
          <a:xfrm>
            <a:off x="7801564" y="3181395"/>
            <a:ext cx="1104860" cy="315471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星级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好评率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差评率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评价量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评价质量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3" name="Data Science"/>
          <p:cNvSpPr txBox="1"/>
          <p:nvPr/>
        </p:nvSpPr>
        <p:spPr>
          <a:xfrm>
            <a:off x="7789440" y="4005487"/>
            <a:ext cx="1104860" cy="315471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点赞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评论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分享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弹幕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打赏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关注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播放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4" name="Data Science"/>
          <p:cNvSpPr txBox="1"/>
          <p:nvPr/>
        </p:nvSpPr>
        <p:spPr>
          <a:xfrm>
            <a:off x="7913241" y="4669964"/>
            <a:ext cx="1127406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会员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用户等级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5553" y="891419"/>
            <a:ext cx="8365818" cy="377026"/>
            <a:chOff x="415553" y="821982"/>
            <a:chExt cx="8365818" cy="449032"/>
          </a:xfrm>
        </p:grpSpPr>
        <p:sp>
          <p:nvSpPr>
            <p:cNvPr id="208" name="Shape"/>
            <p:cNvSpPr/>
            <p:nvPr/>
          </p:nvSpPr>
          <p:spPr>
            <a:xfrm>
              <a:off x="1224396" y="842597"/>
              <a:ext cx="3491037" cy="389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3" y="0"/>
                  </a:moveTo>
                  <a:cubicBezTo>
                    <a:pt x="1302" y="0"/>
                    <a:pt x="978" y="0"/>
                    <a:pt x="762" y="297"/>
                  </a:cubicBezTo>
                  <a:cubicBezTo>
                    <a:pt x="450" y="670"/>
                    <a:pt x="204" y="1476"/>
                    <a:pt x="91" y="2501"/>
                  </a:cubicBezTo>
                  <a:cubicBezTo>
                    <a:pt x="0" y="3212"/>
                    <a:pt x="0" y="4273"/>
                    <a:pt x="0" y="6050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6050"/>
                  </a:lnTo>
                  <a:cubicBezTo>
                    <a:pt x="21600" y="4273"/>
                    <a:pt x="21600" y="3212"/>
                    <a:pt x="21509" y="2501"/>
                  </a:cubicBezTo>
                  <a:cubicBezTo>
                    <a:pt x="21396" y="1476"/>
                    <a:pt x="21150" y="670"/>
                    <a:pt x="20838" y="297"/>
                  </a:cubicBezTo>
                  <a:cubicBezTo>
                    <a:pt x="20622" y="0"/>
                    <a:pt x="20296" y="0"/>
                    <a:pt x="19754" y="0"/>
                  </a:cubicBezTo>
                  <a:lnTo>
                    <a:pt x="184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675"/>
            </a:p>
          </p:txBody>
        </p:sp>
        <p:sp>
          <p:nvSpPr>
            <p:cNvPr id="209" name="Shape"/>
            <p:cNvSpPr/>
            <p:nvPr/>
          </p:nvSpPr>
          <p:spPr>
            <a:xfrm>
              <a:off x="5006622" y="865505"/>
              <a:ext cx="1278434" cy="389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3" y="0"/>
                  </a:moveTo>
                  <a:cubicBezTo>
                    <a:pt x="1302" y="0"/>
                    <a:pt x="978" y="0"/>
                    <a:pt x="762" y="297"/>
                  </a:cubicBezTo>
                  <a:cubicBezTo>
                    <a:pt x="450" y="670"/>
                    <a:pt x="204" y="1476"/>
                    <a:pt x="91" y="2501"/>
                  </a:cubicBezTo>
                  <a:cubicBezTo>
                    <a:pt x="0" y="3212"/>
                    <a:pt x="0" y="4273"/>
                    <a:pt x="0" y="6050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6050"/>
                  </a:lnTo>
                  <a:cubicBezTo>
                    <a:pt x="21600" y="4273"/>
                    <a:pt x="21600" y="3212"/>
                    <a:pt x="21509" y="2501"/>
                  </a:cubicBezTo>
                  <a:cubicBezTo>
                    <a:pt x="21396" y="1476"/>
                    <a:pt x="21150" y="670"/>
                    <a:pt x="20838" y="297"/>
                  </a:cubicBezTo>
                  <a:cubicBezTo>
                    <a:pt x="20622" y="0"/>
                    <a:pt x="20296" y="0"/>
                    <a:pt x="19754" y="0"/>
                  </a:cubicBezTo>
                  <a:lnTo>
                    <a:pt x="184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675"/>
            </a:p>
          </p:txBody>
        </p:sp>
        <p:sp>
          <p:nvSpPr>
            <p:cNvPr id="349" name="Data Science"/>
            <p:cNvSpPr txBox="1"/>
            <p:nvPr/>
          </p:nvSpPr>
          <p:spPr>
            <a:xfrm>
              <a:off x="2549102" y="902320"/>
              <a:ext cx="613460" cy="25391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</a:rPr>
                <a:t>行 业</a:t>
              </a:r>
              <a:endParaRPr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50" name="Data Science"/>
            <p:cNvSpPr txBox="1"/>
            <p:nvPr/>
          </p:nvSpPr>
          <p:spPr>
            <a:xfrm>
              <a:off x="5247863" y="933289"/>
              <a:ext cx="797047" cy="25391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</a:rPr>
                <a:t>成榜对象</a:t>
              </a:r>
              <a:endParaRPr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62" name="Data Science"/>
            <p:cNvSpPr txBox="1"/>
            <p:nvPr/>
          </p:nvSpPr>
          <p:spPr>
            <a:xfrm>
              <a:off x="6793314" y="933289"/>
              <a:ext cx="797047" cy="25391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</a:rPr>
                <a:t>场景</a:t>
              </a:r>
              <a:endParaRPr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71" name="Shape"/>
            <p:cNvSpPr/>
            <p:nvPr/>
          </p:nvSpPr>
          <p:spPr>
            <a:xfrm>
              <a:off x="7833417" y="842597"/>
              <a:ext cx="947954" cy="389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3" y="0"/>
                  </a:moveTo>
                  <a:cubicBezTo>
                    <a:pt x="1302" y="0"/>
                    <a:pt x="978" y="0"/>
                    <a:pt x="762" y="297"/>
                  </a:cubicBezTo>
                  <a:cubicBezTo>
                    <a:pt x="450" y="670"/>
                    <a:pt x="204" y="1476"/>
                    <a:pt x="91" y="2501"/>
                  </a:cubicBezTo>
                  <a:cubicBezTo>
                    <a:pt x="0" y="3212"/>
                    <a:pt x="0" y="4273"/>
                    <a:pt x="0" y="6050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6050"/>
                  </a:lnTo>
                  <a:cubicBezTo>
                    <a:pt x="21600" y="4273"/>
                    <a:pt x="21600" y="3212"/>
                    <a:pt x="21509" y="2501"/>
                  </a:cubicBezTo>
                  <a:cubicBezTo>
                    <a:pt x="21396" y="1476"/>
                    <a:pt x="21150" y="670"/>
                    <a:pt x="20838" y="297"/>
                  </a:cubicBezTo>
                  <a:cubicBezTo>
                    <a:pt x="20622" y="0"/>
                    <a:pt x="20296" y="0"/>
                    <a:pt x="19754" y="0"/>
                  </a:cubicBezTo>
                  <a:lnTo>
                    <a:pt x="184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675"/>
            </a:p>
          </p:txBody>
        </p:sp>
        <p:sp>
          <p:nvSpPr>
            <p:cNvPr id="372" name="Data Science"/>
            <p:cNvSpPr txBox="1"/>
            <p:nvPr/>
          </p:nvSpPr>
          <p:spPr>
            <a:xfrm>
              <a:off x="7931400" y="911278"/>
              <a:ext cx="797047" cy="25391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</a:rPr>
                <a:t>召排规则</a:t>
              </a:r>
              <a:endParaRPr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04" name="乘号 403"/>
            <p:cNvSpPr/>
            <p:nvPr/>
          </p:nvSpPr>
          <p:spPr>
            <a:xfrm>
              <a:off x="4725516" y="948412"/>
              <a:ext cx="262065" cy="266037"/>
            </a:xfrm>
            <a:prstGeom prst="mathMultiply">
              <a:avLst/>
            </a:prstGeom>
            <a:noFill/>
            <a:ln w="3175">
              <a:solidFill>
                <a:srgbClr val="0079FF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5" name="乘号 404"/>
            <p:cNvSpPr/>
            <p:nvPr/>
          </p:nvSpPr>
          <p:spPr>
            <a:xfrm>
              <a:off x="6282796" y="921168"/>
              <a:ext cx="262065" cy="266037"/>
            </a:xfrm>
            <a:prstGeom prst="mathMultiply">
              <a:avLst/>
            </a:prstGeom>
            <a:noFill/>
            <a:ln w="3175">
              <a:solidFill>
                <a:srgbClr val="0079FF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6" name="乘号 405"/>
            <p:cNvSpPr/>
            <p:nvPr/>
          </p:nvSpPr>
          <p:spPr>
            <a:xfrm>
              <a:off x="7529790" y="929415"/>
              <a:ext cx="262065" cy="266037"/>
            </a:xfrm>
            <a:prstGeom prst="mathMultiply">
              <a:avLst/>
            </a:prstGeom>
            <a:noFill/>
            <a:ln w="3175">
              <a:solidFill>
                <a:srgbClr val="0079FF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7" name="Shape"/>
            <p:cNvSpPr/>
            <p:nvPr/>
          </p:nvSpPr>
          <p:spPr>
            <a:xfrm>
              <a:off x="6552590" y="865505"/>
              <a:ext cx="947954" cy="389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3" y="0"/>
                  </a:moveTo>
                  <a:cubicBezTo>
                    <a:pt x="1302" y="0"/>
                    <a:pt x="978" y="0"/>
                    <a:pt x="762" y="297"/>
                  </a:cubicBezTo>
                  <a:cubicBezTo>
                    <a:pt x="450" y="670"/>
                    <a:pt x="204" y="1476"/>
                    <a:pt x="91" y="2501"/>
                  </a:cubicBezTo>
                  <a:cubicBezTo>
                    <a:pt x="0" y="3212"/>
                    <a:pt x="0" y="4273"/>
                    <a:pt x="0" y="6050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6050"/>
                  </a:lnTo>
                  <a:cubicBezTo>
                    <a:pt x="21600" y="4273"/>
                    <a:pt x="21600" y="3212"/>
                    <a:pt x="21509" y="2501"/>
                  </a:cubicBezTo>
                  <a:cubicBezTo>
                    <a:pt x="21396" y="1476"/>
                    <a:pt x="21150" y="670"/>
                    <a:pt x="20838" y="297"/>
                  </a:cubicBezTo>
                  <a:cubicBezTo>
                    <a:pt x="20622" y="0"/>
                    <a:pt x="20296" y="0"/>
                    <a:pt x="19754" y="0"/>
                  </a:cubicBezTo>
                  <a:lnTo>
                    <a:pt x="184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675"/>
            </a:p>
          </p:txBody>
        </p:sp>
        <p:sp>
          <p:nvSpPr>
            <p:cNvPr id="408" name="Data Science"/>
            <p:cNvSpPr txBox="1"/>
            <p:nvPr/>
          </p:nvSpPr>
          <p:spPr>
            <a:xfrm>
              <a:off x="6813073" y="934186"/>
              <a:ext cx="525479" cy="25301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</a:rPr>
                <a:t>场 景</a:t>
              </a:r>
              <a:endParaRPr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Shape"/>
            <p:cNvSpPr/>
            <p:nvPr/>
          </p:nvSpPr>
          <p:spPr>
            <a:xfrm>
              <a:off x="415553" y="842596"/>
              <a:ext cx="570958" cy="389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3" y="0"/>
                  </a:moveTo>
                  <a:cubicBezTo>
                    <a:pt x="1302" y="0"/>
                    <a:pt x="978" y="0"/>
                    <a:pt x="762" y="297"/>
                  </a:cubicBezTo>
                  <a:cubicBezTo>
                    <a:pt x="450" y="670"/>
                    <a:pt x="204" y="1476"/>
                    <a:pt x="91" y="2501"/>
                  </a:cubicBezTo>
                  <a:cubicBezTo>
                    <a:pt x="0" y="3212"/>
                    <a:pt x="0" y="4273"/>
                    <a:pt x="0" y="6050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6050"/>
                  </a:lnTo>
                  <a:cubicBezTo>
                    <a:pt x="21600" y="4273"/>
                    <a:pt x="21600" y="3212"/>
                    <a:pt x="21509" y="2501"/>
                  </a:cubicBezTo>
                  <a:cubicBezTo>
                    <a:pt x="21396" y="1476"/>
                    <a:pt x="21150" y="670"/>
                    <a:pt x="20838" y="297"/>
                  </a:cubicBezTo>
                  <a:cubicBezTo>
                    <a:pt x="20622" y="0"/>
                    <a:pt x="20296" y="0"/>
                    <a:pt x="19754" y="0"/>
                  </a:cubicBezTo>
                  <a:lnTo>
                    <a:pt x="184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675"/>
            </a:p>
          </p:txBody>
        </p:sp>
        <p:sp>
          <p:nvSpPr>
            <p:cNvPr id="77" name="Data Science"/>
            <p:cNvSpPr txBox="1"/>
            <p:nvPr/>
          </p:nvSpPr>
          <p:spPr>
            <a:xfrm>
              <a:off x="521275" y="821982"/>
              <a:ext cx="500578" cy="4490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1100" b="1" dirty="0">
                  <a:solidFill>
                    <a:schemeClr val="bg1"/>
                  </a:solidFill>
                </a:rPr>
                <a:t>榜单</a:t>
              </a:r>
              <a:endParaRPr lang="en-US" altLang="zh-CN" sz="1100" b="1" dirty="0">
                <a:solidFill>
                  <a:schemeClr val="bg1"/>
                </a:solidFill>
              </a:endParaRPr>
            </a:p>
            <a:p>
              <a:r>
                <a:rPr lang="zh-CN" altLang="en-US" sz="1100" b="1" dirty="0">
                  <a:solidFill>
                    <a:schemeClr val="bg1"/>
                  </a:solidFill>
                </a:rPr>
                <a:t>定位</a:t>
              </a:r>
              <a:endParaRPr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等号 77"/>
            <p:cNvSpPr/>
            <p:nvPr/>
          </p:nvSpPr>
          <p:spPr>
            <a:xfrm>
              <a:off x="984597" y="934734"/>
              <a:ext cx="234267" cy="209135"/>
            </a:xfrm>
            <a:prstGeom prst="mathEqual">
              <a:avLst/>
            </a:prstGeom>
            <a:solidFill>
              <a:srgbClr val="0079FF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Rounded Rectangle"/>
          <p:cNvSpPr/>
          <p:nvPr/>
        </p:nvSpPr>
        <p:spPr>
          <a:xfrm>
            <a:off x="2471418" y="1639256"/>
            <a:ext cx="1211883" cy="3330309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 dirty="0"/>
          </a:p>
        </p:txBody>
      </p:sp>
      <p:sp>
        <p:nvSpPr>
          <p:cNvPr id="80" name="Rounded Rectangle"/>
          <p:cNvSpPr/>
          <p:nvPr/>
        </p:nvSpPr>
        <p:spPr>
          <a:xfrm>
            <a:off x="3767305" y="1633047"/>
            <a:ext cx="1200844" cy="3330309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/>
          </a:p>
        </p:txBody>
      </p:sp>
      <p:sp>
        <p:nvSpPr>
          <p:cNvPr id="87" name="Data Science"/>
          <p:cNvSpPr txBox="1"/>
          <p:nvPr/>
        </p:nvSpPr>
        <p:spPr>
          <a:xfrm>
            <a:off x="2575795" y="1725303"/>
            <a:ext cx="1116598" cy="2962349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50" b="1" dirty="0">
                <a:solidFill>
                  <a:schemeClr val="tx1"/>
                </a:solidFill>
              </a:rPr>
              <a:t>核心策略：</a:t>
            </a:r>
            <a:endParaRPr lang="zh-CN" altLang="en-US" sz="95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50" b="1" dirty="0">
                <a:solidFill>
                  <a:schemeClr val="tx1"/>
                </a:solidFill>
              </a:rPr>
              <a:t>规则标准</a:t>
            </a:r>
            <a:r>
              <a:rPr lang="en-US" altLang="zh-CN" sz="950" b="1" dirty="0">
                <a:solidFill>
                  <a:schemeClr val="tx1"/>
                </a:solidFill>
              </a:rPr>
              <a:t>+</a:t>
            </a:r>
            <a:r>
              <a:rPr lang="zh-CN" altLang="en-US" sz="950" b="1" dirty="0">
                <a:solidFill>
                  <a:schemeClr val="tx1"/>
                </a:solidFill>
              </a:rPr>
              <a:t>权威背书</a:t>
            </a:r>
            <a:endParaRPr lang="zh-CN" altLang="en-US" sz="95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50" b="1" dirty="0">
                <a:solidFill>
                  <a:schemeClr val="tx1"/>
                </a:solidFill>
              </a:rPr>
              <a:t>平台全域流量渗透</a:t>
            </a:r>
            <a:endParaRPr lang="zh-CN" altLang="en-US" sz="95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50" b="1" dirty="0">
                <a:solidFill>
                  <a:schemeClr val="tx1"/>
                </a:solidFill>
              </a:rPr>
              <a:t>榜单</a:t>
            </a:r>
            <a:r>
              <a:rPr lang="en-US" altLang="zh-CN" sz="950" b="1" dirty="0">
                <a:solidFill>
                  <a:schemeClr val="tx1"/>
                </a:solidFill>
              </a:rPr>
              <a:t>IP</a:t>
            </a:r>
            <a:r>
              <a:rPr lang="zh-CN" altLang="en-US" sz="950" b="1" dirty="0">
                <a:solidFill>
                  <a:schemeClr val="tx1"/>
                </a:solidFill>
              </a:rPr>
              <a:t>化运营，打造发榜盛典</a:t>
            </a:r>
            <a:endParaRPr lang="zh-CN" altLang="en-US" sz="95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50" b="1" dirty="0">
                <a:solidFill>
                  <a:schemeClr val="tx1"/>
                </a:solidFill>
              </a:rPr>
              <a:t>算法驱动数据优化</a:t>
            </a:r>
            <a:endParaRPr lang="zh-CN" altLang="en-US" sz="95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50" b="1" dirty="0">
                <a:solidFill>
                  <a:schemeClr val="tx1"/>
                </a:solidFill>
              </a:rPr>
              <a:t>细分场景化运营</a:t>
            </a:r>
            <a:endParaRPr lang="en-US" altLang="zh-CN" sz="950" b="1" dirty="0">
              <a:solidFill>
                <a:schemeClr val="tx1"/>
              </a:solidFill>
            </a:endParaRPr>
          </a:p>
          <a:p>
            <a:endParaRPr lang="en-US" altLang="zh-CN" sz="950" dirty="0">
              <a:solidFill>
                <a:schemeClr val="tx1"/>
              </a:solidFill>
            </a:endParaRPr>
          </a:p>
          <a:p>
            <a:endParaRPr lang="zh-CN" altLang="en-US" sz="950" b="1" dirty="0">
              <a:solidFill>
                <a:schemeClr val="tx1"/>
              </a:solidFill>
            </a:endParaRPr>
          </a:p>
          <a:p>
            <a:r>
              <a:rPr lang="zh-CN" altLang="en-US" sz="950" b="1" dirty="0">
                <a:solidFill>
                  <a:schemeClr val="tx1"/>
                </a:solidFill>
              </a:rPr>
              <a:t>特色策略：</a:t>
            </a:r>
            <a:endParaRPr lang="en-US" altLang="zh-CN" sz="950" b="1" dirty="0">
              <a:solidFill>
                <a:schemeClr val="tx1"/>
              </a:solidFill>
            </a:endParaRPr>
          </a:p>
          <a:p>
            <a:r>
              <a:rPr lang="en-US" altLang="zh-CN" sz="950" dirty="0">
                <a:solidFill>
                  <a:schemeClr val="tx1"/>
                </a:solidFill>
              </a:rPr>
              <a:t>1.</a:t>
            </a:r>
            <a:r>
              <a:rPr lang="zh-CN" altLang="en-US" sz="950" dirty="0">
                <a:solidFill>
                  <a:schemeClr val="tx1"/>
                </a:solidFill>
              </a:rPr>
              <a:t>粉丝打榜互动提高榜单活跃度</a:t>
            </a:r>
            <a:endParaRPr lang="en-US" altLang="zh-CN" sz="950" dirty="0">
              <a:solidFill>
                <a:schemeClr val="tx1"/>
              </a:solidFill>
            </a:endParaRPr>
          </a:p>
          <a:p>
            <a:r>
              <a:rPr lang="en-US" altLang="zh-CN" sz="950" dirty="0">
                <a:solidFill>
                  <a:schemeClr val="tx1"/>
                </a:solidFill>
              </a:rPr>
              <a:t>2.</a:t>
            </a:r>
            <a:r>
              <a:rPr lang="zh-CN" altLang="en-US" sz="950" dirty="0">
                <a:solidFill>
                  <a:schemeClr val="tx1"/>
                </a:solidFill>
              </a:rPr>
              <a:t>深度联动品牌营销，加强榜单心智</a:t>
            </a:r>
            <a:endParaRPr lang="en-US" altLang="zh-CN" sz="950" dirty="0">
              <a:solidFill>
                <a:schemeClr val="tx1"/>
              </a:solidFill>
            </a:endParaRPr>
          </a:p>
          <a:p>
            <a:r>
              <a:rPr lang="en-US" altLang="zh-CN" sz="950" dirty="0">
                <a:solidFill>
                  <a:schemeClr val="tx1"/>
                </a:solidFill>
              </a:rPr>
              <a:t>3.</a:t>
            </a:r>
            <a:r>
              <a:rPr lang="zh-CN" altLang="en-US" sz="950" dirty="0">
                <a:solidFill>
                  <a:schemeClr val="tx1"/>
                </a:solidFill>
              </a:rPr>
              <a:t>联动外部渠道，如腾讯音乐榜纳入统计</a:t>
            </a:r>
            <a:r>
              <a:rPr lang="en-US" altLang="zh-CN" sz="950" dirty="0">
                <a:solidFill>
                  <a:schemeClr val="tx1"/>
                </a:solidFill>
              </a:rPr>
              <a:t>billboard</a:t>
            </a:r>
            <a:r>
              <a:rPr lang="zh-CN" altLang="en-US" sz="950" dirty="0">
                <a:solidFill>
                  <a:schemeClr val="tx1"/>
                </a:solidFill>
              </a:rPr>
              <a:t>、微博数据来源</a:t>
            </a:r>
            <a:endParaRPr lang="en-US" altLang="zh-CN" sz="950" dirty="0">
              <a:solidFill>
                <a:schemeClr val="tx1"/>
              </a:solidFill>
            </a:endParaRPr>
          </a:p>
          <a:p>
            <a:endParaRPr lang="zh-CN" altLang="en-US" sz="950" dirty="0">
              <a:solidFill>
                <a:schemeClr val="tx1"/>
              </a:solidFill>
            </a:endParaRPr>
          </a:p>
        </p:txBody>
      </p:sp>
      <p:sp>
        <p:nvSpPr>
          <p:cNvPr id="88" name="Data Science"/>
          <p:cNvSpPr txBox="1"/>
          <p:nvPr/>
        </p:nvSpPr>
        <p:spPr>
          <a:xfrm>
            <a:off x="3801320" y="1776403"/>
            <a:ext cx="1133432" cy="267765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50" b="1" dirty="0">
                <a:solidFill>
                  <a:schemeClr val="tx1"/>
                </a:solidFill>
              </a:rPr>
              <a:t>通用模式：</a:t>
            </a:r>
            <a:endParaRPr lang="zh-CN" altLang="en-US" sz="95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00" b="1" dirty="0">
                <a:solidFill>
                  <a:schemeClr val="tx1"/>
                </a:solidFill>
              </a:rPr>
              <a:t>提转化促进平台交易</a:t>
            </a:r>
            <a:r>
              <a:rPr lang="zh-CN" altLang="en-US" sz="900" dirty="0">
                <a:solidFill>
                  <a:schemeClr val="tx1"/>
                </a:solidFill>
              </a:rPr>
              <a:t>，直接变现。</a:t>
            </a:r>
            <a:endParaRPr lang="zh-CN" altLang="en-US" sz="9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00" b="1" dirty="0">
                <a:solidFill>
                  <a:schemeClr val="tx1"/>
                </a:solidFill>
              </a:rPr>
              <a:t>赋能平台生态</a:t>
            </a:r>
            <a:r>
              <a:rPr lang="zh-CN" altLang="en-US" sz="900" dirty="0">
                <a:solidFill>
                  <a:schemeClr val="tx1"/>
                </a:solidFill>
              </a:rPr>
              <a:t>变现，如网易云全民热推榜会员加权、豆瓣书影音榜提高社区黏性</a:t>
            </a:r>
            <a:endParaRPr lang="zh-CN" altLang="en-US" sz="9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00" b="1" dirty="0">
                <a:solidFill>
                  <a:schemeClr val="tx1"/>
                </a:solidFill>
              </a:rPr>
              <a:t>品牌营销广告</a:t>
            </a:r>
            <a:r>
              <a:rPr lang="zh-CN" altLang="en-US" sz="900" dirty="0">
                <a:solidFill>
                  <a:schemeClr val="tx1"/>
                </a:solidFill>
              </a:rPr>
              <a:t>变现，如京东榜单频道页定制广告位、榜单冠名、大促</a:t>
            </a:r>
            <a:r>
              <a:rPr lang="en-US" altLang="zh-CN" sz="900" dirty="0">
                <a:solidFill>
                  <a:schemeClr val="tx1"/>
                </a:solidFill>
              </a:rPr>
              <a:t>|</a:t>
            </a:r>
            <a:r>
              <a:rPr lang="zh-CN" altLang="en-US" sz="900" dirty="0">
                <a:solidFill>
                  <a:schemeClr val="tx1"/>
                </a:solidFill>
              </a:rPr>
              <a:t>新品</a:t>
            </a:r>
            <a:r>
              <a:rPr lang="en-US" altLang="zh-CN" sz="900" dirty="0">
                <a:solidFill>
                  <a:schemeClr val="tx1"/>
                </a:solidFill>
              </a:rPr>
              <a:t>|</a:t>
            </a:r>
            <a:r>
              <a:rPr lang="zh-CN" altLang="en-US" sz="900" dirty="0">
                <a:solidFill>
                  <a:schemeClr val="tx1"/>
                </a:solidFill>
              </a:rPr>
              <a:t>投放预算</a:t>
            </a:r>
            <a:endParaRPr lang="en-US" altLang="zh-CN" sz="900" dirty="0">
              <a:solidFill>
                <a:schemeClr val="tx1"/>
              </a:solidFill>
            </a:endParaRPr>
          </a:p>
          <a:p>
            <a:endParaRPr lang="zh-CN" altLang="en-US" sz="900" dirty="0">
              <a:solidFill>
                <a:schemeClr val="tx1"/>
              </a:solidFill>
            </a:endParaRPr>
          </a:p>
          <a:p>
            <a:r>
              <a:rPr lang="zh-CN" altLang="en-US" sz="900" b="1" dirty="0">
                <a:solidFill>
                  <a:schemeClr val="tx1"/>
                </a:solidFill>
              </a:rPr>
              <a:t>特殊模式：</a:t>
            </a:r>
            <a:endParaRPr lang="zh-CN" altLang="en-US" sz="90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00" b="1" dirty="0">
                <a:solidFill>
                  <a:schemeClr val="tx1"/>
                </a:solidFill>
              </a:rPr>
              <a:t>促成博主商单抽佣如</a:t>
            </a:r>
            <a:r>
              <a:rPr lang="en-US" altLang="zh-CN" sz="900" dirty="0">
                <a:solidFill>
                  <a:schemeClr val="tx1"/>
                </a:solidFill>
              </a:rPr>
              <a:t>V</a:t>
            </a:r>
            <a:r>
              <a:rPr lang="zh-CN" altLang="en-US" sz="900" dirty="0">
                <a:solidFill>
                  <a:schemeClr val="tx1"/>
                </a:solidFill>
              </a:rPr>
              <a:t>影响力、抖音星图</a:t>
            </a:r>
            <a:endParaRPr lang="zh-CN" altLang="en-US" sz="9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sz="900" b="1" dirty="0">
                <a:solidFill>
                  <a:schemeClr val="tx1"/>
                </a:solidFill>
              </a:rPr>
              <a:t>付费数据服务，行业白皮书</a:t>
            </a:r>
            <a:r>
              <a:rPr lang="zh-CN" altLang="en-US" sz="900" dirty="0">
                <a:solidFill>
                  <a:schemeClr val="tx1"/>
                </a:solidFill>
              </a:rPr>
              <a:t>，</a:t>
            </a:r>
            <a:r>
              <a:rPr lang="zh-CN" altLang="en-US" sz="900" b="1" dirty="0">
                <a:solidFill>
                  <a:schemeClr val="tx1"/>
                </a:solidFill>
              </a:rPr>
              <a:t>竞品监测</a:t>
            </a:r>
            <a:r>
              <a:rPr lang="zh-CN" altLang="en-US" sz="900" dirty="0">
                <a:solidFill>
                  <a:schemeClr val="tx1"/>
                </a:solidFill>
              </a:rPr>
              <a:t>等，如蝉妈妈、百指、天猫竞速榜。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2" name="Data Science"/>
          <p:cNvSpPr txBox="1"/>
          <p:nvPr/>
        </p:nvSpPr>
        <p:spPr>
          <a:xfrm>
            <a:off x="5145156" y="3000222"/>
            <a:ext cx="1131875" cy="19236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1000" dirty="0">
              <a:solidFill>
                <a:schemeClr val="tx1"/>
              </a:solidFill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5069722" y="1601219"/>
            <a:ext cx="1258268" cy="1470984"/>
            <a:chOff x="3806409" y="1969788"/>
            <a:chExt cx="3510402" cy="1750980"/>
          </a:xfrm>
        </p:grpSpPr>
        <p:sp>
          <p:nvSpPr>
            <p:cNvPr id="96" name="Line"/>
            <p:cNvSpPr/>
            <p:nvPr/>
          </p:nvSpPr>
          <p:spPr>
            <a:xfrm>
              <a:off x="5826613" y="2333717"/>
              <a:ext cx="0" cy="23146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txBody>
            <a:bodyPr lIns="17144" tIns="17144" rIns="17144" bIns="17144"/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97" name="Line"/>
            <p:cNvSpPr/>
            <p:nvPr/>
          </p:nvSpPr>
          <p:spPr>
            <a:xfrm>
              <a:off x="5158582" y="2560404"/>
              <a:ext cx="1417772" cy="1629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9894"/>
                  </a:lnTo>
                  <a:cubicBezTo>
                    <a:pt x="0" y="8443"/>
                    <a:pt x="0" y="7281"/>
                    <a:pt x="2" y="6338"/>
                  </a:cubicBezTo>
                  <a:cubicBezTo>
                    <a:pt x="4" y="5394"/>
                    <a:pt x="8" y="4668"/>
                    <a:pt x="16" y="4087"/>
                  </a:cubicBezTo>
                  <a:cubicBezTo>
                    <a:pt x="27" y="3250"/>
                    <a:pt x="43" y="2502"/>
                    <a:pt x="64" y="1887"/>
                  </a:cubicBezTo>
                  <a:cubicBezTo>
                    <a:pt x="85" y="1272"/>
                    <a:pt x="110" y="790"/>
                    <a:pt x="139" y="485"/>
                  </a:cubicBezTo>
                  <a:cubicBezTo>
                    <a:pt x="158" y="242"/>
                    <a:pt x="183" y="121"/>
                    <a:pt x="215" y="61"/>
                  </a:cubicBezTo>
                  <a:cubicBezTo>
                    <a:pt x="247" y="0"/>
                    <a:pt x="286" y="0"/>
                    <a:pt x="335" y="0"/>
                  </a:cubicBezTo>
                  <a:lnTo>
                    <a:pt x="21265" y="0"/>
                  </a:lnTo>
                  <a:cubicBezTo>
                    <a:pt x="21314" y="0"/>
                    <a:pt x="21353" y="0"/>
                    <a:pt x="21385" y="61"/>
                  </a:cubicBezTo>
                  <a:cubicBezTo>
                    <a:pt x="21417" y="121"/>
                    <a:pt x="21442" y="242"/>
                    <a:pt x="21461" y="485"/>
                  </a:cubicBezTo>
                  <a:cubicBezTo>
                    <a:pt x="21490" y="790"/>
                    <a:pt x="21515" y="1272"/>
                    <a:pt x="21536" y="1887"/>
                  </a:cubicBezTo>
                  <a:cubicBezTo>
                    <a:pt x="21557" y="2502"/>
                    <a:pt x="21573" y="3250"/>
                    <a:pt x="21584" y="4087"/>
                  </a:cubicBezTo>
                  <a:cubicBezTo>
                    <a:pt x="21592" y="4668"/>
                    <a:pt x="21596" y="5394"/>
                    <a:pt x="21598" y="6338"/>
                  </a:cubicBezTo>
                  <a:cubicBezTo>
                    <a:pt x="21600" y="7281"/>
                    <a:pt x="21600" y="8443"/>
                    <a:pt x="21600" y="9894"/>
                  </a:cubicBezTo>
                  <a:lnTo>
                    <a:pt x="21600" y="21600"/>
                  </a:lnTo>
                </a:path>
              </a:pathLst>
            </a:custGeom>
            <a:ln w="25400">
              <a:solidFill>
                <a:schemeClr val="accent5"/>
              </a:solidFill>
            </a:ln>
          </p:spPr>
          <p:txBody>
            <a:bodyPr lIns="0" tIns="0" rIns="0" bIns="0" anchor="ctr"/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98" name="Rounded Rectangle"/>
            <p:cNvSpPr/>
            <p:nvPr/>
          </p:nvSpPr>
          <p:spPr>
            <a:xfrm>
              <a:off x="5494365" y="2122758"/>
              <a:ext cx="700594" cy="213724"/>
            </a:xfrm>
            <a:prstGeom prst="roundRect">
              <a:avLst>
                <a:gd name="adj" fmla="val 12720"/>
              </a:avLst>
            </a:prstGeom>
            <a:solidFill>
              <a:schemeClr val="accent1"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6138998" y="2723327"/>
              <a:ext cx="934468" cy="857961"/>
              <a:chOff x="4165242" y="3729896"/>
              <a:chExt cx="934468" cy="857961"/>
            </a:xfrm>
          </p:grpSpPr>
          <p:sp>
            <p:nvSpPr>
              <p:cNvPr id="115" name="Rounded Rectangle"/>
              <p:cNvSpPr/>
              <p:nvPr/>
            </p:nvSpPr>
            <p:spPr>
              <a:xfrm>
                <a:off x="4372878" y="3729896"/>
                <a:ext cx="512427" cy="228363"/>
              </a:xfrm>
              <a:prstGeom prst="roundRect">
                <a:avLst>
                  <a:gd name="adj" fmla="val 12720"/>
                </a:avLst>
              </a:prstGeom>
              <a:noFill/>
              <a:ln w="12700" cap="flat">
                <a:solidFill>
                  <a:srgbClr val="FFD619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675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Line"/>
              <p:cNvSpPr/>
              <p:nvPr/>
            </p:nvSpPr>
            <p:spPr>
              <a:xfrm>
                <a:off x="4640183" y="3952923"/>
                <a:ext cx="0" cy="231460"/>
              </a:xfrm>
              <a:prstGeom prst="line">
                <a:avLst/>
              </a:prstGeom>
              <a:ln w="25400">
                <a:solidFill>
                  <a:schemeClr val="accent5"/>
                </a:solidFill>
              </a:ln>
            </p:spPr>
            <p:txBody>
              <a:bodyPr lIns="17144" tIns="17144" rIns="17144" bIns="17144"/>
              <a:lstStyle/>
              <a:p>
                <a:endParaRPr sz="675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Line"/>
              <p:cNvSpPr/>
              <p:nvPr/>
            </p:nvSpPr>
            <p:spPr>
              <a:xfrm>
                <a:off x="4371489" y="4195304"/>
                <a:ext cx="512429" cy="1564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0" y="9894"/>
                    </a:lnTo>
                    <a:cubicBezTo>
                      <a:pt x="0" y="8443"/>
                      <a:pt x="0" y="7281"/>
                      <a:pt x="2" y="6338"/>
                    </a:cubicBezTo>
                    <a:cubicBezTo>
                      <a:pt x="4" y="5394"/>
                      <a:pt x="8" y="4668"/>
                      <a:pt x="16" y="4087"/>
                    </a:cubicBezTo>
                    <a:cubicBezTo>
                      <a:pt x="27" y="3250"/>
                      <a:pt x="43" y="2502"/>
                      <a:pt x="64" y="1887"/>
                    </a:cubicBezTo>
                    <a:cubicBezTo>
                      <a:pt x="85" y="1272"/>
                      <a:pt x="110" y="790"/>
                      <a:pt x="139" y="485"/>
                    </a:cubicBezTo>
                    <a:cubicBezTo>
                      <a:pt x="158" y="242"/>
                      <a:pt x="183" y="121"/>
                      <a:pt x="215" y="61"/>
                    </a:cubicBezTo>
                    <a:cubicBezTo>
                      <a:pt x="247" y="0"/>
                      <a:pt x="286" y="0"/>
                      <a:pt x="335" y="0"/>
                    </a:cubicBezTo>
                    <a:lnTo>
                      <a:pt x="21265" y="0"/>
                    </a:lnTo>
                    <a:cubicBezTo>
                      <a:pt x="21314" y="0"/>
                      <a:pt x="21353" y="0"/>
                      <a:pt x="21385" y="61"/>
                    </a:cubicBezTo>
                    <a:cubicBezTo>
                      <a:pt x="21417" y="121"/>
                      <a:pt x="21442" y="242"/>
                      <a:pt x="21461" y="485"/>
                    </a:cubicBezTo>
                    <a:cubicBezTo>
                      <a:pt x="21490" y="790"/>
                      <a:pt x="21515" y="1272"/>
                      <a:pt x="21536" y="1887"/>
                    </a:cubicBezTo>
                    <a:cubicBezTo>
                      <a:pt x="21557" y="2502"/>
                      <a:pt x="21573" y="3250"/>
                      <a:pt x="21584" y="4087"/>
                    </a:cubicBezTo>
                    <a:cubicBezTo>
                      <a:pt x="21592" y="4668"/>
                      <a:pt x="21596" y="5394"/>
                      <a:pt x="21598" y="6338"/>
                    </a:cubicBezTo>
                    <a:cubicBezTo>
                      <a:pt x="21600" y="7281"/>
                      <a:pt x="21600" y="8443"/>
                      <a:pt x="21600" y="9894"/>
                    </a:cubicBezTo>
                    <a:lnTo>
                      <a:pt x="21600" y="21600"/>
                    </a:lnTo>
                  </a:path>
                </a:pathLst>
              </a:custGeom>
              <a:ln w="25400">
                <a:solidFill>
                  <a:schemeClr val="accent5"/>
                </a:solidFill>
              </a:ln>
            </p:spPr>
            <p:txBody>
              <a:bodyPr lIns="0" tIns="0" rIns="0" bIns="0" anchor="ctr"/>
              <a:lstStyle/>
              <a:p>
                <a:endParaRPr sz="675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ounded Rectangle"/>
              <p:cNvSpPr/>
              <p:nvPr/>
            </p:nvSpPr>
            <p:spPr>
              <a:xfrm>
                <a:off x="4165242" y="4359494"/>
                <a:ext cx="402811" cy="228363"/>
              </a:xfrm>
              <a:prstGeom prst="roundRect">
                <a:avLst>
                  <a:gd name="adj" fmla="val 12720"/>
                </a:avLst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12700" cap="flat">
                <a:solidFill>
                  <a:srgbClr val="FFD619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675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ounded Rectangle"/>
              <p:cNvSpPr/>
              <p:nvPr/>
            </p:nvSpPr>
            <p:spPr>
              <a:xfrm>
                <a:off x="4696899" y="4358098"/>
                <a:ext cx="402811" cy="228363"/>
              </a:xfrm>
              <a:prstGeom prst="roundRect">
                <a:avLst>
                  <a:gd name="adj" fmla="val 12720"/>
                </a:avLst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12700" cap="flat">
                <a:solidFill>
                  <a:srgbClr val="FFD619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675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0" name="Rounded Rectangle"/>
            <p:cNvSpPr/>
            <p:nvPr/>
          </p:nvSpPr>
          <p:spPr>
            <a:xfrm>
              <a:off x="6391957" y="2131512"/>
              <a:ext cx="700594" cy="204970"/>
            </a:xfrm>
            <a:prstGeom prst="roundRect">
              <a:avLst>
                <a:gd name="adj" fmla="val 12720"/>
              </a:avLst>
            </a:prstGeom>
            <a:solidFill>
              <a:schemeClr val="accent1"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5294955" y="2077884"/>
              <a:ext cx="2021856" cy="307664"/>
            </a:xfrm>
            <a:prstGeom prst="rect">
              <a:avLst/>
            </a:prstGeom>
            <a:noFill/>
            <a:ln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4349690" y="3298454"/>
              <a:ext cx="2878107" cy="353648"/>
            </a:xfrm>
            <a:prstGeom prst="rect">
              <a:avLst/>
            </a:prstGeom>
            <a:noFill/>
            <a:ln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Lorem Ipsum is simply dummy text of the printing and typesetting industry. Lorem Ipsum has been the industry's standard dummy text ever since the 1500s, when an unknown printer took a galley of type and scrambled it to make a type specimen book. It has s"/>
            <p:cNvSpPr txBox="1"/>
            <p:nvPr/>
          </p:nvSpPr>
          <p:spPr>
            <a:xfrm>
              <a:off x="4276258" y="2537337"/>
              <a:ext cx="193510" cy="192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t">
              <a:spAutoFit/>
            </a:bodyPr>
            <a:lstStyle>
              <a:lvl1pPr>
                <a:defRPr sz="2500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zh-CN" altLang="en-US" sz="1000" b="1" dirty="0">
                  <a:solidFill>
                    <a:schemeClr val="tx1"/>
                  </a:solidFill>
                  <a:latin typeface="+mn-ea"/>
                  <a:ea typeface="+mn-ea"/>
                </a:rPr>
                <a:t>②</a:t>
              </a:r>
              <a:endParaRPr sz="10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4" name="Lorem Ipsum is simply dummy text of the printing and typesetting industry. Lorem Ipsum has been the industry's standard dummy text ever since the 1500s, when an unknown printer took a galley of type and scrambled it to make a type specimen book. It has s"/>
            <p:cNvSpPr txBox="1"/>
            <p:nvPr/>
          </p:nvSpPr>
          <p:spPr>
            <a:xfrm>
              <a:off x="4763339" y="1969788"/>
              <a:ext cx="193510" cy="192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t">
              <a:spAutoFit/>
            </a:bodyPr>
            <a:lstStyle>
              <a:lvl1pPr>
                <a:defRPr sz="2500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zh-CN" altLang="en-US" sz="1000" b="1" dirty="0">
                  <a:solidFill>
                    <a:schemeClr val="tx1"/>
                  </a:solidFill>
                  <a:latin typeface="+mn-ea"/>
                  <a:ea typeface="+mn-ea"/>
                </a:rPr>
                <a:t>①</a:t>
              </a:r>
              <a:endParaRPr sz="10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4746108" y="2700555"/>
              <a:ext cx="2306708" cy="312367"/>
            </a:xfrm>
            <a:prstGeom prst="rect">
              <a:avLst/>
            </a:prstGeom>
            <a:noFill/>
            <a:ln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Lorem Ipsum is simply dummy text of the printing and typesetting industry. Lorem Ipsum has been the industry's standard dummy text ever since the 1500s, when an unknown printer took a galley of type and scrambled it to make a type specimen book. It has s"/>
            <p:cNvSpPr txBox="1"/>
            <p:nvPr/>
          </p:nvSpPr>
          <p:spPr>
            <a:xfrm>
              <a:off x="7121132" y="3081633"/>
              <a:ext cx="193510" cy="192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t">
              <a:spAutoFit/>
            </a:bodyPr>
            <a:lstStyle>
              <a:lvl1pPr>
                <a:defRPr sz="2500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zh-CN" altLang="en-US" sz="1000" b="1" dirty="0">
                  <a:solidFill>
                    <a:schemeClr val="tx1"/>
                  </a:solidFill>
                  <a:latin typeface="+mn-ea"/>
                  <a:ea typeface="+mn-ea"/>
                </a:rPr>
                <a:t>③</a:t>
              </a:r>
              <a:endParaRPr sz="10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7" name="Rounded Rectangle"/>
            <p:cNvSpPr/>
            <p:nvPr/>
          </p:nvSpPr>
          <p:spPr>
            <a:xfrm>
              <a:off x="4891996" y="2734203"/>
              <a:ext cx="521473" cy="228363"/>
            </a:xfrm>
            <a:prstGeom prst="roundRect">
              <a:avLst>
                <a:gd name="adj" fmla="val 12720"/>
              </a:avLst>
            </a:prstGeom>
            <a:noFill/>
            <a:ln w="12700" cap="flat">
              <a:solidFill>
                <a:srgbClr val="FFD619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08" name="Line"/>
            <p:cNvSpPr/>
            <p:nvPr/>
          </p:nvSpPr>
          <p:spPr>
            <a:xfrm>
              <a:off x="5164018" y="2957229"/>
              <a:ext cx="6907" cy="380165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txBody>
            <a:bodyPr lIns="17144" tIns="17144" rIns="17144" bIns="17144"/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09" name="Line"/>
            <p:cNvSpPr/>
            <p:nvPr/>
          </p:nvSpPr>
          <p:spPr>
            <a:xfrm>
              <a:off x="4643937" y="3185592"/>
              <a:ext cx="1040164" cy="151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9894"/>
                  </a:lnTo>
                  <a:cubicBezTo>
                    <a:pt x="0" y="8443"/>
                    <a:pt x="0" y="7281"/>
                    <a:pt x="2" y="6338"/>
                  </a:cubicBezTo>
                  <a:cubicBezTo>
                    <a:pt x="4" y="5394"/>
                    <a:pt x="8" y="4668"/>
                    <a:pt x="16" y="4087"/>
                  </a:cubicBezTo>
                  <a:cubicBezTo>
                    <a:pt x="27" y="3250"/>
                    <a:pt x="43" y="2502"/>
                    <a:pt x="64" y="1887"/>
                  </a:cubicBezTo>
                  <a:cubicBezTo>
                    <a:pt x="85" y="1272"/>
                    <a:pt x="110" y="790"/>
                    <a:pt x="139" y="485"/>
                  </a:cubicBezTo>
                  <a:cubicBezTo>
                    <a:pt x="158" y="242"/>
                    <a:pt x="183" y="121"/>
                    <a:pt x="215" y="61"/>
                  </a:cubicBezTo>
                  <a:cubicBezTo>
                    <a:pt x="247" y="0"/>
                    <a:pt x="286" y="0"/>
                    <a:pt x="335" y="0"/>
                  </a:cubicBezTo>
                  <a:lnTo>
                    <a:pt x="21265" y="0"/>
                  </a:lnTo>
                  <a:cubicBezTo>
                    <a:pt x="21314" y="0"/>
                    <a:pt x="21353" y="0"/>
                    <a:pt x="21385" y="61"/>
                  </a:cubicBezTo>
                  <a:cubicBezTo>
                    <a:pt x="21417" y="121"/>
                    <a:pt x="21442" y="242"/>
                    <a:pt x="21461" y="485"/>
                  </a:cubicBezTo>
                  <a:cubicBezTo>
                    <a:pt x="21490" y="790"/>
                    <a:pt x="21515" y="1272"/>
                    <a:pt x="21536" y="1887"/>
                  </a:cubicBezTo>
                  <a:cubicBezTo>
                    <a:pt x="21557" y="2502"/>
                    <a:pt x="21573" y="3250"/>
                    <a:pt x="21584" y="4087"/>
                  </a:cubicBezTo>
                  <a:cubicBezTo>
                    <a:pt x="21592" y="4668"/>
                    <a:pt x="21596" y="5394"/>
                    <a:pt x="21598" y="6338"/>
                  </a:cubicBezTo>
                  <a:cubicBezTo>
                    <a:pt x="21600" y="7281"/>
                    <a:pt x="21600" y="8443"/>
                    <a:pt x="21600" y="9894"/>
                  </a:cubicBezTo>
                  <a:lnTo>
                    <a:pt x="21600" y="21600"/>
                  </a:lnTo>
                </a:path>
              </a:pathLst>
            </a:custGeom>
            <a:ln w="25400">
              <a:solidFill>
                <a:schemeClr val="accent5"/>
              </a:solidFill>
            </a:ln>
          </p:spPr>
          <p:txBody>
            <a:bodyPr lIns="0" tIns="0" rIns="0" bIns="0" anchor="ctr"/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10" name="Rounded Rectangle"/>
            <p:cNvSpPr/>
            <p:nvPr/>
          </p:nvSpPr>
          <p:spPr>
            <a:xfrm>
              <a:off x="4451232" y="3346632"/>
              <a:ext cx="409922" cy="228363"/>
            </a:xfrm>
            <a:prstGeom prst="roundRect">
              <a:avLst>
                <a:gd name="adj" fmla="val 12720"/>
              </a:avLst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12700" cap="flat">
              <a:solidFill>
                <a:srgbClr val="FFD619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11" name="Rounded Rectangle"/>
            <p:cNvSpPr/>
            <p:nvPr/>
          </p:nvSpPr>
          <p:spPr>
            <a:xfrm>
              <a:off x="5490910" y="3346632"/>
              <a:ext cx="409922" cy="228363"/>
            </a:xfrm>
            <a:prstGeom prst="roundRect">
              <a:avLst>
                <a:gd name="adj" fmla="val 12720"/>
              </a:avLst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12700" cap="flat">
              <a:solidFill>
                <a:srgbClr val="FFD619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12" name="Rounded Rectangle"/>
            <p:cNvSpPr/>
            <p:nvPr/>
          </p:nvSpPr>
          <p:spPr>
            <a:xfrm>
              <a:off x="4971071" y="3346632"/>
              <a:ext cx="409922" cy="228363"/>
            </a:xfrm>
            <a:prstGeom prst="roundRect">
              <a:avLst>
                <a:gd name="adj" fmla="val 12720"/>
              </a:avLst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12700" cap="flat">
              <a:solidFill>
                <a:srgbClr val="FFD619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956669" y="3217147"/>
              <a:ext cx="2000362" cy="503621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Lorem Ipsum is simply dummy text of the printing and typesetting industry. Lorem Ipsum has been the industry's standard dummy text ever since the 1500s, when an unknown printer took a galley of type and scrambled it to make a type specimen book. It has s"/>
            <p:cNvSpPr txBox="1"/>
            <p:nvPr/>
          </p:nvSpPr>
          <p:spPr>
            <a:xfrm>
              <a:off x="3806409" y="2985453"/>
              <a:ext cx="193507" cy="192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t">
              <a:spAutoFit/>
            </a:bodyPr>
            <a:lstStyle>
              <a:lvl1pPr>
                <a:defRPr sz="2500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zh-CN" altLang="en-US" sz="1000" b="1" dirty="0">
                  <a:solidFill>
                    <a:schemeClr val="tx1"/>
                  </a:solidFill>
                  <a:latin typeface="+mn-ea"/>
                  <a:ea typeface="+mn-ea"/>
                </a:rPr>
                <a:t>④</a:t>
              </a:r>
              <a:endParaRPr sz="10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0" name="Data Science"/>
          <p:cNvSpPr txBox="1"/>
          <p:nvPr/>
        </p:nvSpPr>
        <p:spPr>
          <a:xfrm>
            <a:off x="5125757" y="3100063"/>
            <a:ext cx="1200844" cy="1885131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800" dirty="0">
                <a:solidFill>
                  <a:schemeClr val="tx1"/>
                </a:solidFill>
              </a:rPr>
              <a:t>不同层级成榜举例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b="1" dirty="0">
                <a:solidFill>
                  <a:schemeClr val="tx1"/>
                </a:solidFill>
              </a:rPr>
              <a:t>电商</a:t>
            </a:r>
            <a:endParaRPr lang="en-US" altLang="zh-CN" sz="800" b="1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①天猫手机</a:t>
            </a:r>
            <a:r>
              <a:rPr lang="zh-CN" altLang="en-US" sz="800" b="1" dirty="0">
                <a:solidFill>
                  <a:schemeClr val="tx1"/>
                </a:solidFill>
              </a:rPr>
              <a:t>品牌</a:t>
            </a:r>
            <a:r>
              <a:rPr lang="zh-CN" altLang="en-US" sz="800" dirty="0">
                <a:solidFill>
                  <a:schemeClr val="tx1"/>
                </a:solidFill>
              </a:rPr>
              <a:t>竞速榜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②淘宝新潮街头</a:t>
            </a:r>
            <a:r>
              <a:rPr lang="zh-CN" altLang="en-US" sz="800" b="1" dirty="0">
                <a:solidFill>
                  <a:schemeClr val="tx1"/>
                </a:solidFill>
              </a:rPr>
              <a:t>神店榜</a:t>
            </a:r>
            <a:endParaRPr lang="en-US" altLang="zh-CN" sz="800" b="1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③天猫</a:t>
            </a:r>
            <a:r>
              <a:rPr lang="zh-CN" altLang="en-US" sz="800" b="1" dirty="0">
                <a:solidFill>
                  <a:schemeClr val="tx1"/>
                </a:solidFill>
              </a:rPr>
              <a:t>跑步鞋</a:t>
            </a:r>
            <a:r>
              <a:rPr lang="zh-CN" altLang="en-US" sz="800" dirty="0">
                <a:solidFill>
                  <a:schemeClr val="tx1"/>
                </a:solidFill>
              </a:rPr>
              <a:t>热销榜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④李宁店铺必买榜</a:t>
            </a:r>
            <a:br>
              <a:rPr lang="en-US" altLang="zh-CN" sz="800" dirty="0">
                <a:solidFill>
                  <a:schemeClr val="tx1"/>
                </a:solidFill>
              </a:rPr>
            </a:br>
            <a:r>
              <a:rPr lang="zh-CN" altLang="en-US" sz="800" dirty="0">
                <a:solidFill>
                  <a:schemeClr val="tx1"/>
                </a:solidFill>
              </a:rPr>
              <a:t>（店铺内商品成榜）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b="1" dirty="0">
                <a:solidFill>
                  <a:schemeClr val="tx1"/>
                </a:solidFill>
              </a:rPr>
              <a:t>音乐</a:t>
            </a:r>
            <a:br>
              <a:rPr lang="en-US" altLang="zh-CN" sz="800" dirty="0">
                <a:solidFill>
                  <a:schemeClr val="tx1"/>
                </a:solidFill>
              </a:rPr>
            </a:br>
            <a:r>
              <a:rPr lang="zh-CN" altLang="en-US" sz="800" dirty="0">
                <a:solidFill>
                  <a:schemeClr val="tx1"/>
                </a:solidFill>
              </a:rPr>
              <a:t>②</a:t>
            </a:r>
            <a:r>
              <a:rPr lang="en-US" altLang="zh-CN" sz="800" dirty="0">
                <a:solidFill>
                  <a:schemeClr val="tx1"/>
                </a:solidFill>
              </a:rPr>
              <a:t>QQ</a:t>
            </a:r>
            <a:r>
              <a:rPr lang="zh-CN" altLang="en-US" sz="800" dirty="0">
                <a:solidFill>
                  <a:schemeClr val="tx1"/>
                </a:solidFill>
              </a:rPr>
              <a:t>音乐实体</a:t>
            </a:r>
            <a:r>
              <a:rPr lang="zh-CN" altLang="en-US" sz="800" b="1" dirty="0">
                <a:solidFill>
                  <a:schemeClr val="tx1"/>
                </a:solidFill>
              </a:rPr>
              <a:t>专辑</a:t>
            </a:r>
            <a:r>
              <a:rPr lang="zh-CN" altLang="en-US" sz="800" dirty="0">
                <a:solidFill>
                  <a:schemeClr val="tx1"/>
                </a:solidFill>
              </a:rPr>
              <a:t>榜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③由你音乐</a:t>
            </a:r>
            <a:r>
              <a:rPr lang="zh-CN" altLang="en-US" sz="800" b="1" dirty="0">
                <a:solidFill>
                  <a:schemeClr val="tx1"/>
                </a:solidFill>
              </a:rPr>
              <a:t>歌曲</a:t>
            </a:r>
            <a:r>
              <a:rPr lang="zh-CN" altLang="en-US" sz="800" dirty="0">
                <a:solidFill>
                  <a:schemeClr val="tx1"/>
                </a:solidFill>
              </a:rPr>
              <a:t>榜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b="1" dirty="0">
                <a:solidFill>
                  <a:schemeClr val="tx1"/>
                </a:solidFill>
              </a:rPr>
              <a:t>内容</a:t>
            </a:r>
            <a:endParaRPr lang="en-US" altLang="zh-CN" sz="800" b="1" dirty="0">
              <a:solidFill>
                <a:schemeClr val="tx1"/>
              </a:solidFill>
            </a:endParaRPr>
          </a:p>
          <a:p>
            <a:r>
              <a:rPr lang="zh-CN" altLang="en-US" sz="800" b="1" dirty="0">
                <a:solidFill>
                  <a:schemeClr val="tx1"/>
                </a:solidFill>
              </a:rPr>
              <a:t>②微博热搜</a:t>
            </a:r>
            <a:r>
              <a:rPr lang="en-US" altLang="zh-CN" sz="800" b="1" dirty="0">
                <a:solidFill>
                  <a:schemeClr val="tx1"/>
                </a:solidFill>
              </a:rPr>
              <a:t>/</a:t>
            </a:r>
            <a:r>
              <a:rPr lang="zh-CN" altLang="en-US" sz="800" b="1" dirty="0">
                <a:solidFill>
                  <a:schemeClr val="tx1"/>
                </a:solidFill>
              </a:rPr>
              <a:t>抖音话题热榜</a:t>
            </a:r>
            <a:r>
              <a:rPr lang="zh-CN" altLang="en-US" sz="800" dirty="0">
                <a:solidFill>
                  <a:schemeClr val="tx1"/>
                </a:solidFill>
              </a:rPr>
              <a:t>③</a:t>
            </a:r>
            <a:r>
              <a:rPr lang="en-US" altLang="zh-CN" sz="800" dirty="0">
                <a:solidFill>
                  <a:schemeClr val="tx1"/>
                </a:solidFill>
              </a:rPr>
              <a:t>B</a:t>
            </a:r>
            <a:r>
              <a:rPr lang="zh-CN" altLang="en-US" sz="800" dirty="0">
                <a:solidFill>
                  <a:schemeClr val="tx1"/>
                </a:solidFill>
              </a:rPr>
              <a:t>站热门</a:t>
            </a:r>
            <a:r>
              <a:rPr lang="zh-CN" altLang="en-US" sz="800" b="1" dirty="0">
                <a:solidFill>
                  <a:schemeClr val="tx1"/>
                </a:solidFill>
              </a:rPr>
              <a:t>投稿</a:t>
            </a:r>
            <a:r>
              <a:rPr lang="zh-CN" altLang="en-US" sz="800" dirty="0">
                <a:solidFill>
                  <a:schemeClr val="tx1"/>
                </a:solidFill>
              </a:rPr>
              <a:t>排行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③抖音直播</a:t>
            </a:r>
            <a:r>
              <a:rPr lang="zh-CN" altLang="en-US" sz="800" b="1" dirty="0">
                <a:solidFill>
                  <a:schemeClr val="tx1"/>
                </a:solidFill>
              </a:rPr>
              <a:t>达人</a:t>
            </a:r>
            <a:r>
              <a:rPr lang="zh-CN" altLang="en-US" sz="800" dirty="0">
                <a:solidFill>
                  <a:schemeClr val="tx1"/>
                </a:solidFill>
              </a:rPr>
              <a:t>人气榜</a:t>
            </a:r>
            <a:endParaRPr lang="en-US" altLang="zh-CN" sz="800" dirty="0">
              <a:solidFill>
                <a:schemeClr val="tx1"/>
              </a:solidFill>
            </a:endParaRPr>
          </a:p>
          <a:p>
            <a:r>
              <a:rPr lang="zh-CN" altLang="en-US" sz="800" dirty="0">
                <a:solidFill>
                  <a:schemeClr val="tx1"/>
                </a:solidFill>
              </a:rPr>
              <a:t>④达人直播间</a:t>
            </a:r>
            <a:r>
              <a:rPr lang="zh-CN" altLang="en-US" sz="800" b="1" dirty="0">
                <a:solidFill>
                  <a:schemeClr val="tx1"/>
                </a:solidFill>
              </a:rPr>
              <a:t>粉丝</a:t>
            </a:r>
            <a:r>
              <a:rPr lang="zh-CN" altLang="en-US" sz="800" dirty="0">
                <a:solidFill>
                  <a:schemeClr val="tx1"/>
                </a:solidFill>
              </a:rPr>
              <a:t>贡献榜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600" dirty="0"/>
              <a:t>个性化榜单</a:t>
            </a:r>
            <a:endParaRPr lang="zh-CN" altLang="en-US" sz="160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384762" y="1244108"/>
            <a:ext cx="2526043" cy="3812890"/>
            <a:chOff x="442780" y="654441"/>
            <a:chExt cx="2114153" cy="4458366"/>
          </a:xfrm>
        </p:grpSpPr>
        <p:grpSp>
          <p:nvGrpSpPr>
            <p:cNvPr id="23" name="组合 22"/>
            <p:cNvGrpSpPr/>
            <p:nvPr/>
          </p:nvGrpSpPr>
          <p:grpSpPr>
            <a:xfrm>
              <a:off x="442780" y="654441"/>
              <a:ext cx="2114153" cy="4458366"/>
              <a:chOff x="438359" y="561311"/>
              <a:chExt cx="2592709" cy="4458366"/>
            </a:xfrm>
          </p:grpSpPr>
          <p:grpSp>
            <p:nvGrpSpPr>
              <p:cNvPr id="5" name="米菲PPT10"/>
              <p:cNvGrpSpPr/>
              <p:nvPr/>
            </p:nvGrpSpPr>
            <p:grpSpPr>
              <a:xfrm>
                <a:off x="438359" y="561311"/>
                <a:ext cx="2592709" cy="4458366"/>
                <a:chOff x="3214793" y="1035444"/>
                <a:chExt cx="2798003" cy="5403456"/>
              </a:xfrm>
            </p:grpSpPr>
            <p:sp>
              <p:nvSpPr>
                <p:cNvPr id="6" name="米菲PPT10-1"/>
                <p:cNvSpPr/>
                <p:nvPr/>
              </p:nvSpPr>
              <p:spPr>
                <a:xfrm rot="10800000" flipV="1">
                  <a:off x="3285058" y="1124930"/>
                  <a:ext cx="2657471" cy="5084047"/>
                </a:xfrm>
                <a:prstGeom prst="roundRect">
                  <a:avLst>
                    <a:gd name="adj" fmla="val 2257"/>
                  </a:avLst>
                </a:prstGeom>
                <a:solidFill>
                  <a:schemeClr val="accent1">
                    <a:alpha val="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5" dirty="0">
                    <a:latin typeface="MiSans Medium" panose="00000600000000000000" pitchFamily="2" charset="-122"/>
                    <a:ea typeface="MiSans Medium" panose="00000600000000000000" pitchFamily="2" charset="-122"/>
                    <a:cs typeface="MiSans Medium" panose="00000600000000000000" pitchFamily="2" charset="-122"/>
                  </a:endParaRPr>
                </a:p>
              </p:txBody>
            </p:sp>
            <p:sp>
              <p:nvSpPr>
                <p:cNvPr id="8" name="米菲PPT10-2"/>
                <p:cNvSpPr/>
                <p:nvPr/>
              </p:nvSpPr>
              <p:spPr>
                <a:xfrm rot="10800000">
                  <a:off x="3214793" y="1035444"/>
                  <a:ext cx="2798003" cy="5403456"/>
                </a:xfrm>
                <a:prstGeom prst="roundRect">
                  <a:avLst>
                    <a:gd name="adj" fmla="val 2257"/>
                  </a:avLst>
                </a:prstGeom>
                <a:noFill/>
                <a:ln w="15875">
                  <a:gradFill>
                    <a:gsLst>
                      <a:gs pos="100000">
                        <a:schemeClr val="accent1"/>
                      </a:gs>
                      <a:gs pos="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    <a:noAutofit/>
                </a:bodyPr>
                <a:lstStyle/>
                <a:p>
                  <a:pPr algn="ctr" defTabSz="457200"/>
                  <a:endParaRPr lang="zh-CN" altLang="en-US" sz="1795" dirty="0">
                    <a:latin typeface="MiSans Medium" panose="00000600000000000000" pitchFamily="2" charset="-122"/>
                    <a:ea typeface="MiSans Medium" panose="00000600000000000000" pitchFamily="2" charset="-122"/>
                    <a:cs typeface="MiSans Medium" panose="00000600000000000000" pitchFamily="2" charset="-122"/>
                  </a:endParaRPr>
                </a:p>
              </p:txBody>
            </p:sp>
          </p:grpSp>
          <p:sp>
            <p:nvSpPr>
              <p:cNvPr id="18" name="米菲PPT36"/>
              <p:cNvSpPr/>
              <p:nvPr/>
            </p:nvSpPr>
            <p:spPr>
              <a:xfrm rot="5400000" flipV="1">
                <a:off x="1566480" y="-187972"/>
                <a:ext cx="338561" cy="1990143"/>
              </a:xfrm>
              <a:prstGeom prst="roundRect">
                <a:avLst>
                  <a:gd name="adj" fmla="val 29084"/>
                </a:avLst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1945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endParaRPr>
              </a:p>
            </p:txBody>
          </p:sp>
          <p:sp>
            <p:nvSpPr>
              <p:cNvPr id="19" name="米菲PPT38"/>
              <p:cNvSpPr txBox="1"/>
              <p:nvPr/>
            </p:nvSpPr>
            <p:spPr>
              <a:xfrm>
                <a:off x="1001820" y="578873"/>
                <a:ext cx="1467870" cy="3373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590" b="1" dirty="0">
                    <a:solidFill>
                      <a:schemeClr val="tx1"/>
                    </a:solidFill>
                    <a:latin typeface="+mn-ea"/>
                    <a:cs typeface="MiSans Medium" panose="00000600000000000000" pitchFamily="2" charset="-122"/>
                    <a:sym typeface="MiSans Bold" panose="00000800000000000000" pitchFamily="2" charset="-122"/>
                  </a:rPr>
                  <a:t>千人一面</a:t>
                </a:r>
                <a:endParaRPr lang="zh-CN" altLang="en-US" sz="1590" b="1" dirty="0">
                  <a:solidFill>
                    <a:schemeClr val="tx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endParaRPr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507889" y="1096122"/>
              <a:ext cx="2007968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b="1" dirty="0">
                  <a:latin typeface="+mn-ea"/>
                </a:rPr>
                <a:t>核心定义：标准化榜单</a:t>
              </a:r>
              <a:r>
                <a:rPr lang="zh-CN" altLang="en-US" sz="1100" dirty="0">
                  <a:latin typeface="+mn-ea"/>
                </a:rPr>
                <a:t>，所有用户可见榜单内容、排序一致。</a:t>
              </a:r>
              <a:endParaRPr lang="en-US" altLang="zh-CN" sz="1100" dirty="0">
                <a:latin typeface="+mn-ea"/>
              </a:endParaRPr>
            </a:p>
            <a:p>
              <a:r>
                <a:rPr lang="zh-CN" altLang="en-US" sz="1100" b="1" dirty="0">
                  <a:latin typeface="+mn-ea"/>
                </a:rPr>
                <a:t>核心价值：</a:t>
              </a:r>
              <a:r>
                <a:rPr lang="zh-CN" altLang="en-US" sz="1100" dirty="0">
                  <a:latin typeface="+mn-ea"/>
                </a:rPr>
                <a:t>权威、公信力</a:t>
              </a:r>
              <a:endParaRPr lang="en-US" altLang="zh-CN" sz="1100" dirty="0">
                <a:latin typeface="+mn-ea"/>
              </a:endParaRPr>
            </a:p>
          </p:txBody>
        </p:sp>
        <p:pic>
          <p:nvPicPr>
            <p:cNvPr id="44" name="图片 43"/>
            <p:cNvPicPr>
              <a:picLocks noChangeAspect="1"/>
            </p:cNvPicPr>
            <p:nvPr/>
          </p:nvPicPr>
          <p:blipFill rotWithShape="1">
            <a:blip r:embed="rId1"/>
            <a:srcRect t="6075" b="2243"/>
            <a:stretch>
              <a:fillRect/>
            </a:stretch>
          </p:blipFill>
          <p:spPr>
            <a:xfrm>
              <a:off x="602229" y="2160354"/>
              <a:ext cx="897626" cy="2411538"/>
            </a:xfrm>
            <a:prstGeom prst="rect">
              <a:avLst/>
            </a:prstGeom>
          </p:spPr>
        </p:pic>
      </p:grpSp>
      <p:grpSp>
        <p:nvGrpSpPr>
          <p:cNvPr id="70" name="组合 69"/>
          <p:cNvGrpSpPr/>
          <p:nvPr/>
        </p:nvGrpSpPr>
        <p:grpSpPr>
          <a:xfrm>
            <a:off x="3127670" y="1232034"/>
            <a:ext cx="2526043" cy="3812890"/>
            <a:chOff x="2738437" y="640323"/>
            <a:chExt cx="2114153" cy="4458366"/>
          </a:xfrm>
        </p:grpSpPr>
        <p:grpSp>
          <p:nvGrpSpPr>
            <p:cNvPr id="59" name="组合 58"/>
            <p:cNvGrpSpPr/>
            <p:nvPr/>
          </p:nvGrpSpPr>
          <p:grpSpPr>
            <a:xfrm>
              <a:off x="2738437" y="640323"/>
              <a:ext cx="2114153" cy="4458366"/>
              <a:chOff x="442780" y="654441"/>
              <a:chExt cx="2114153" cy="4458366"/>
            </a:xfrm>
          </p:grpSpPr>
          <p:grpSp>
            <p:nvGrpSpPr>
              <p:cNvPr id="60" name="组合 59"/>
              <p:cNvGrpSpPr/>
              <p:nvPr/>
            </p:nvGrpSpPr>
            <p:grpSpPr>
              <a:xfrm>
                <a:off x="442780" y="654441"/>
                <a:ext cx="2114153" cy="4458366"/>
                <a:chOff x="438359" y="561311"/>
                <a:chExt cx="2592709" cy="4458366"/>
              </a:xfrm>
            </p:grpSpPr>
            <p:grpSp>
              <p:nvGrpSpPr>
                <p:cNvPr id="63" name="米菲PPT10"/>
                <p:cNvGrpSpPr/>
                <p:nvPr/>
              </p:nvGrpSpPr>
              <p:grpSpPr>
                <a:xfrm>
                  <a:off x="438359" y="561311"/>
                  <a:ext cx="2592709" cy="4458366"/>
                  <a:chOff x="3214793" y="1035444"/>
                  <a:chExt cx="2798003" cy="5403456"/>
                </a:xfrm>
              </p:grpSpPr>
              <p:sp>
                <p:nvSpPr>
                  <p:cNvPr id="66" name="米菲PPT10-1"/>
                  <p:cNvSpPr/>
                  <p:nvPr/>
                </p:nvSpPr>
                <p:spPr>
                  <a:xfrm rot="10800000" flipV="1">
                    <a:off x="3304693" y="1151931"/>
                    <a:ext cx="2657471" cy="5084047"/>
                  </a:xfrm>
                  <a:prstGeom prst="roundRect">
                    <a:avLst>
                      <a:gd name="adj" fmla="val 2257"/>
                    </a:avLst>
                  </a:prstGeom>
                  <a:solidFill>
                    <a:schemeClr val="accent1">
                      <a:alpha val="4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805" dirty="0">
                      <a:latin typeface="MiSans Medium" panose="00000600000000000000" pitchFamily="2" charset="-122"/>
                      <a:ea typeface="MiSans Medium" panose="00000600000000000000" pitchFamily="2" charset="-122"/>
                      <a:cs typeface="MiSans Medium" panose="00000600000000000000" pitchFamily="2" charset="-122"/>
                    </a:endParaRPr>
                  </a:p>
                </p:txBody>
              </p:sp>
              <p:sp>
                <p:nvSpPr>
                  <p:cNvPr id="67" name="米菲PPT10-2"/>
                  <p:cNvSpPr/>
                  <p:nvPr/>
                </p:nvSpPr>
                <p:spPr>
                  <a:xfrm rot="10800000">
                    <a:off x="3214793" y="1035444"/>
                    <a:ext cx="2798003" cy="5403456"/>
                  </a:xfrm>
                  <a:prstGeom prst="roundRect">
                    <a:avLst>
                      <a:gd name="adj" fmla="val 2257"/>
                    </a:avLst>
                  </a:prstGeom>
                  <a:noFill/>
                  <a:ln w="15875">
                    <a:gradFill>
                      <a:gsLst>
                        <a:gs pos="100000">
                          <a:schemeClr val="accent1"/>
                        </a:gs>
                        <a:gs pos="0">
                          <a:schemeClr val="accent1"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      <a:noAutofit/>
                  </a:bodyPr>
                  <a:lstStyle/>
                  <a:p>
                    <a:pPr algn="ctr" defTabSz="457200"/>
                    <a:endParaRPr lang="zh-CN" altLang="en-US" sz="1795" dirty="0">
                      <a:latin typeface="MiSans Medium" panose="00000600000000000000" pitchFamily="2" charset="-122"/>
                      <a:ea typeface="MiSans Medium" panose="00000600000000000000" pitchFamily="2" charset="-122"/>
                      <a:cs typeface="MiSans Medium" panose="00000600000000000000" pitchFamily="2" charset="-122"/>
                    </a:endParaRPr>
                  </a:p>
                </p:txBody>
              </p:sp>
            </p:grpSp>
            <p:sp>
              <p:nvSpPr>
                <p:cNvPr id="64" name="米菲PPT36"/>
                <p:cNvSpPr/>
                <p:nvPr/>
              </p:nvSpPr>
              <p:spPr>
                <a:xfrm rot="5400000" flipV="1">
                  <a:off x="1566480" y="-187972"/>
                  <a:ext cx="338561" cy="1990143"/>
                </a:xfrm>
                <a:prstGeom prst="roundRect">
                  <a:avLst>
                    <a:gd name="adj" fmla="val 2908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8756" tIns="49375" rIns="98756" bIns="49375" rtlCol="0" anchor="ctr">
                  <a:noAutofit/>
                </a:bodyPr>
                <a:lstStyle/>
                <a:p>
                  <a:pPr algn="ctr" defTabSz="914400"/>
                  <a:endParaRPr lang="zh-CN" altLang="en-US" sz="1945" dirty="0">
                    <a:solidFill>
                      <a:srgbClr val="FFFFFF"/>
                    </a:solidFill>
                    <a:effectLst>
                      <a:outerShdw blurRad="137160" dist="41148" dir="2699997" algn="tl">
                        <a:srgbClr val="000000">
                          <a:alpha val="40000"/>
                        </a:srgbClr>
                      </a:outerShdw>
                    </a:effectLst>
                    <a:latin typeface="MiSans Medium" panose="00000600000000000000" pitchFamily="2" charset="-122"/>
                    <a:ea typeface="MiSans Medium" panose="00000600000000000000" pitchFamily="2" charset="-122"/>
                    <a:cs typeface="MiSans Medium" panose="00000600000000000000" pitchFamily="2" charset="-122"/>
                  </a:endParaRPr>
                </a:p>
              </p:txBody>
            </p:sp>
            <p:sp>
              <p:nvSpPr>
                <p:cNvPr id="65" name="米菲PPT38"/>
                <p:cNvSpPr txBox="1"/>
                <p:nvPr/>
              </p:nvSpPr>
              <p:spPr>
                <a:xfrm>
                  <a:off x="1001820" y="590127"/>
                  <a:ext cx="1467870" cy="33733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590" b="1" dirty="0">
                      <a:solidFill>
                        <a:schemeClr val="tx1"/>
                      </a:solidFill>
                      <a:latin typeface="+mn-ea"/>
                      <a:cs typeface="MiSans Medium" panose="00000600000000000000" pitchFamily="2" charset="-122"/>
                      <a:sym typeface="MiSans Bold" panose="00000800000000000000" pitchFamily="2" charset="-122"/>
                    </a:rPr>
                    <a:t>千人千面</a:t>
                  </a:r>
                  <a:endParaRPr lang="zh-CN" altLang="en-US" sz="1590" b="1" dirty="0">
                    <a:solidFill>
                      <a:schemeClr val="tx1"/>
                    </a:solidFill>
                    <a:latin typeface="+mn-ea"/>
                    <a:cs typeface="MiSans Medium" panose="00000600000000000000" pitchFamily="2" charset="-122"/>
                    <a:sym typeface="MiSans Bold" panose="00000800000000000000" pitchFamily="2" charset="-122"/>
                  </a:endParaRPr>
                </a:p>
              </p:txBody>
            </p:sp>
          </p:grpSp>
          <p:sp>
            <p:nvSpPr>
              <p:cNvPr id="61" name="文本框 60"/>
              <p:cNvSpPr txBox="1"/>
              <p:nvPr/>
            </p:nvSpPr>
            <p:spPr>
              <a:xfrm>
                <a:off x="507889" y="1096122"/>
                <a:ext cx="2007968" cy="7017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100" b="1" dirty="0">
                    <a:latin typeface="+mn-ea"/>
                  </a:rPr>
                  <a:t>核心定义：</a:t>
                </a:r>
                <a:r>
                  <a:rPr lang="zh-CN" altLang="en-US" sz="1100" dirty="0">
                    <a:latin typeface="+mn-ea"/>
                  </a:rPr>
                  <a:t>榜单</a:t>
                </a:r>
                <a:r>
                  <a:rPr lang="zh-CN" altLang="en-US" sz="1100" b="1" dirty="0">
                    <a:latin typeface="+mn-ea"/>
                  </a:rPr>
                  <a:t>排序标准化</a:t>
                </a:r>
                <a:r>
                  <a:rPr lang="zh-CN" altLang="en-US" sz="1100" dirty="0">
                    <a:latin typeface="+mn-ea"/>
                  </a:rPr>
                  <a:t>，入口展示</a:t>
                </a:r>
                <a:r>
                  <a:rPr lang="zh-CN" altLang="en-US" sz="1100" b="1" dirty="0">
                    <a:latin typeface="+mn-ea"/>
                  </a:rPr>
                  <a:t>匹配用户场景</a:t>
                </a:r>
                <a:endParaRPr lang="en-US" altLang="zh-CN" sz="1100" b="1" dirty="0">
                  <a:latin typeface="+mn-ea"/>
                </a:endParaRPr>
              </a:p>
              <a:p>
                <a:r>
                  <a:rPr lang="zh-CN" altLang="en-US" sz="1100" b="1" dirty="0">
                    <a:latin typeface="+mn-ea"/>
                  </a:rPr>
                  <a:t>核心价值：</a:t>
                </a:r>
                <a:r>
                  <a:rPr lang="zh-CN" altLang="en-US" sz="1100" dirty="0">
                    <a:latin typeface="+mn-ea"/>
                  </a:rPr>
                  <a:t>精准触达</a:t>
                </a:r>
                <a:endParaRPr lang="en-US" altLang="zh-CN" sz="1100" dirty="0">
                  <a:latin typeface="+mn-ea"/>
                </a:endParaRPr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2"/>
            <a:srcRect t="6544" b="16838"/>
            <a:stretch>
              <a:fillRect/>
            </a:stretch>
          </p:blipFill>
          <p:spPr>
            <a:xfrm>
              <a:off x="2955757" y="1980886"/>
              <a:ext cx="1046621" cy="2613973"/>
            </a:xfrm>
            <a:prstGeom prst="rect">
              <a:avLst/>
            </a:prstGeom>
          </p:spPr>
        </p:pic>
      </p:grpSp>
      <p:grpSp>
        <p:nvGrpSpPr>
          <p:cNvPr id="81" name="组合 80"/>
          <p:cNvGrpSpPr/>
          <p:nvPr/>
        </p:nvGrpSpPr>
        <p:grpSpPr>
          <a:xfrm>
            <a:off x="5849938" y="1236062"/>
            <a:ext cx="2526043" cy="3812890"/>
            <a:chOff x="442780" y="654441"/>
            <a:chExt cx="2114153" cy="4458366"/>
          </a:xfrm>
        </p:grpSpPr>
        <p:grpSp>
          <p:nvGrpSpPr>
            <p:cNvPr id="82" name="组合 81"/>
            <p:cNvGrpSpPr/>
            <p:nvPr/>
          </p:nvGrpSpPr>
          <p:grpSpPr>
            <a:xfrm>
              <a:off x="442780" y="654441"/>
              <a:ext cx="2114153" cy="4458366"/>
              <a:chOff x="438359" y="561311"/>
              <a:chExt cx="2592709" cy="4458366"/>
            </a:xfrm>
          </p:grpSpPr>
          <p:grpSp>
            <p:nvGrpSpPr>
              <p:cNvPr id="85" name="米菲PPT10"/>
              <p:cNvGrpSpPr/>
              <p:nvPr/>
            </p:nvGrpSpPr>
            <p:grpSpPr>
              <a:xfrm>
                <a:off x="438359" y="561311"/>
                <a:ext cx="2592709" cy="4458366"/>
                <a:chOff x="3214793" y="1035444"/>
                <a:chExt cx="2798003" cy="5403456"/>
              </a:xfrm>
            </p:grpSpPr>
            <p:sp>
              <p:nvSpPr>
                <p:cNvPr id="88" name="米菲PPT10-1"/>
                <p:cNvSpPr/>
                <p:nvPr/>
              </p:nvSpPr>
              <p:spPr>
                <a:xfrm rot="10800000" flipV="1">
                  <a:off x="3285058" y="1124930"/>
                  <a:ext cx="2657471" cy="5084047"/>
                </a:xfrm>
                <a:prstGeom prst="roundRect">
                  <a:avLst>
                    <a:gd name="adj" fmla="val 2257"/>
                  </a:avLst>
                </a:prstGeom>
                <a:solidFill>
                  <a:schemeClr val="accent1">
                    <a:alpha val="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5" dirty="0">
                    <a:latin typeface="MiSans Medium" panose="00000600000000000000" pitchFamily="2" charset="-122"/>
                    <a:ea typeface="MiSans Medium" panose="00000600000000000000" pitchFamily="2" charset="-122"/>
                    <a:cs typeface="MiSans Medium" panose="00000600000000000000" pitchFamily="2" charset="-122"/>
                  </a:endParaRPr>
                </a:p>
              </p:txBody>
            </p:sp>
            <p:sp>
              <p:nvSpPr>
                <p:cNvPr id="89" name="米菲PPT10-2"/>
                <p:cNvSpPr/>
                <p:nvPr/>
              </p:nvSpPr>
              <p:spPr>
                <a:xfrm rot="10800000">
                  <a:off x="3214793" y="1035444"/>
                  <a:ext cx="2798003" cy="5403456"/>
                </a:xfrm>
                <a:prstGeom prst="roundRect">
                  <a:avLst>
                    <a:gd name="adj" fmla="val 2257"/>
                  </a:avLst>
                </a:prstGeom>
                <a:noFill/>
                <a:ln w="15875">
                  <a:gradFill>
                    <a:gsLst>
                      <a:gs pos="100000">
                        <a:schemeClr val="accent1"/>
                      </a:gs>
                      <a:gs pos="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    <a:noAutofit/>
                </a:bodyPr>
                <a:lstStyle/>
                <a:p>
                  <a:pPr algn="ctr" defTabSz="457200"/>
                  <a:endParaRPr lang="zh-CN" altLang="en-US" sz="1795" dirty="0">
                    <a:latin typeface="MiSans Medium" panose="00000600000000000000" pitchFamily="2" charset="-122"/>
                    <a:ea typeface="MiSans Medium" panose="00000600000000000000" pitchFamily="2" charset="-122"/>
                    <a:cs typeface="MiSans Medium" panose="00000600000000000000" pitchFamily="2" charset="-122"/>
                  </a:endParaRPr>
                </a:p>
              </p:txBody>
            </p:sp>
          </p:grpSp>
          <p:sp>
            <p:nvSpPr>
              <p:cNvPr id="86" name="米菲PPT36"/>
              <p:cNvSpPr/>
              <p:nvPr/>
            </p:nvSpPr>
            <p:spPr>
              <a:xfrm rot="5400000" flipV="1">
                <a:off x="1566480" y="-187972"/>
                <a:ext cx="338561" cy="1990143"/>
              </a:xfrm>
              <a:prstGeom prst="roundRect">
                <a:avLst>
                  <a:gd name="adj" fmla="val 2908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1945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endParaRPr>
              </a:p>
            </p:txBody>
          </p:sp>
          <p:sp>
            <p:nvSpPr>
              <p:cNvPr id="87" name="米菲PPT38"/>
              <p:cNvSpPr txBox="1"/>
              <p:nvPr/>
            </p:nvSpPr>
            <p:spPr>
              <a:xfrm>
                <a:off x="1001820" y="590127"/>
                <a:ext cx="1467870" cy="3373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590" b="1" dirty="0">
                    <a:solidFill>
                      <a:schemeClr val="tx1"/>
                    </a:solidFill>
                    <a:latin typeface="+mn-ea"/>
                    <a:cs typeface="MiSans Medium" panose="00000600000000000000" pitchFamily="2" charset="-122"/>
                    <a:sym typeface="MiSans Bold" panose="00000800000000000000" pitchFamily="2" charset="-122"/>
                  </a:rPr>
                  <a:t>千人</a:t>
                </a:r>
                <a:r>
                  <a:rPr lang="en-US" altLang="zh-CN" sz="1590" b="1" dirty="0">
                    <a:solidFill>
                      <a:schemeClr val="tx1"/>
                    </a:solidFill>
                    <a:latin typeface="+mn-ea"/>
                    <a:cs typeface="MiSans Medium" panose="00000600000000000000" pitchFamily="2" charset="-122"/>
                    <a:sym typeface="MiSans Bold" panose="00000800000000000000" pitchFamily="2" charset="-122"/>
                  </a:rPr>
                  <a:t>N</a:t>
                </a:r>
                <a:r>
                  <a:rPr lang="zh-CN" altLang="en-US" sz="1590" b="1" dirty="0">
                    <a:solidFill>
                      <a:schemeClr val="tx1"/>
                    </a:solidFill>
                    <a:latin typeface="+mn-ea"/>
                    <a:cs typeface="MiSans Medium" panose="00000600000000000000" pitchFamily="2" charset="-122"/>
                    <a:sym typeface="MiSans Bold" panose="00000800000000000000" pitchFamily="2" charset="-122"/>
                  </a:rPr>
                  <a:t>面</a:t>
                </a:r>
                <a:endParaRPr lang="zh-CN" altLang="en-US" sz="1590" b="1" dirty="0">
                  <a:solidFill>
                    <a:schemeClr val="tx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endParaRPr>
              </a:p>
            </p:txBody>
          </p:sp>
        </p:grpSp>
        <p:sp>
          <p:nvSpPr>
            <p:cNvPr id="83" name="文本框 82"/>
            <p:cNvSpPr txBox="1"/>
            <p:nvPr/>
          </p:nvSpPr>
          <p:spPr>
            <a:xfrm>
              <a:off x="507889" y="1096122"/>
              <a:ext cx="2007968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b="1" dirty="0">
                  <a:latin typeface="+mn-ea"/>
                </a:rPr>
                <a:t>核心定义：全个性化榜</a:t>
              </a:r>
              <a:r>
                <a:rPr lang="zh-CN" altLang="en-US" sz="1100" dirty="0">
                  <a:latin typeface="+mn-ea"/>
                </a:rPr>
                <a:t>单，内容和排序因人而异，动态生成。</a:t>
              </a:r>
              <a:endParaRPr lang="en-US" altLang="zh-CN" sz="1100" dirty="0">
                <a:latin typeface="+mn-ea"/>
              </a:endParaRPr>
            </a:p>
            <a:p>
              <a:r>
                <a:rPr lang="zh-CN" altLang="en-US" sz="1100" b="1" dirty="0">
                  <a:latin typeface="+mn-ea"/>
                </a:rPr>
                <a:t>核心价值：</a:t>
              </a:r>
              <a:r>
                <a:rPr lang="zh-CN" altLang="en-US" sz="1100" dirty="0">
                  <a:latin typeface="+mn-ea"/>
                </a:rPr>
                <a:t>兴趣匹配</a:t>
              </a:r>
              <a:endParaRPr lang="en-US" altLang="zh-CN" sz="1100" dirty="0">
                <a:latin typeface="+mn-ea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3"/>
          <a:srcRect t="6439" b="26625"/>
          <a:stretch>
            <a:fillRect/>
          </a:stretch>
        </p:blipFill>
        <p:spPr>
          <a:xfrm>
            <a:off x="6144494" y="2220525"/>
            <a:ext cx="1679436" cy="2333845"/>
          </a:xfrm>
          <a:prstGeom prst="rect">
            <a:avLst/>
          </a:prstGeom>
        </p:spPr>
      </p:pic>
      <p:sp>
        <p:nvSpPr>
          <p:cNvPr id="91" name="对话气泡: 矩形 90"/>
          <p:cNvSpPr/>
          <p:nvPr/>
        </p:nvSpPr>
        <p:spPr>
          <a:xfrm>
            <a:off x="7275137" y="3240666"/>
            <a:ext cx="1616656" cy="1180264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050" b="1" dirty="0"/>
              <a:t>产品背景：</a:t>
            </a:r>
            <a:endParaRPr lang="en-US" altLang="zh-CN" sz="1050" b="1" dirty="0"/>
          </a:p>
          <a:p>
            <a:r>
              <a:rPr lang="zh-CN" altLang="en-US" sz="1050" dirty="0"/>
              <a:t>①粉丝经济驱动</a:t>
            </a:r>
            <a:endParaRPr lang="en-US" altLang="zh-CN" sz="1050" dirty="0"/>
          </a:p>
          <a:p>
            <a:r>
              <a:rPr lang="zh-CN" altLang="en-US" sz="1050" dirty="0"/>
              <a:t>②稳固核心用户</a:t>
            </a:r>
            <a:endParaRPr lang="en-US" altLang="zh-CN" sz="1050" dirty="0"/>
          </a:p>
          <a:p>
            <a:r>
              <a:rPr lang="zh-CN" altLang="en-US" sz="1050" b="1" dirty="0"/>
              <a:t>计算权重：</a:t>
            </a:r>
            <a:endParaRPr lang="en-US" altLang="zh-CN" sz="1050" b="1" dirty="0"/>
          </a:p>
          <a:p>
            <a:r>
              <a:rPr lang="zh-CN" altLang="en-US" sz="1050" dirty="0"/>
              <a:t>用户兴趣（关注、订阅、常搜、常看）</a:t>
            </a:r>
            <a:r>
              <a:rPr lang="en-US" altLang="zh-CN" sz="1050" dirty="0"/>
              <a:t>+</a:t>
            </a:r>
            <a:r>
              <a:rPr lang="zh-CN" altLang="en-US" sz="1050" dirty="0"/>
              <a:t>话题热度</a:t>
            </a:r>
            <a:r>
              <a:rPr lang="en-US" altLang="zh-CN" sz="1050" dirty="0"/>
              <a:t>+</a:t>
            </a:r>
            <a:r>
              <a:rPr lang="zh-CN" altLang="en-US" sz="1050" dirty="0"/>
              <a:t>同城定位</a:t>
            </a:r>
            <a:endParaRPr lang="en-US" altLang="zh-CN" sz="1050" dirty="0"/>
          </a:p>
        </p:txBody>
      </p:sp>
      <p:sp>
        <p:nvSpPr>
          <p:cNvPr id="92" name="文本框 91"/>
          <p:cNvSpPr txBox="1"/>
          <p:nvPr/>
        </p:nvSpPr>
        <p:spPr>
          <a:xfrm>
            <a:off x="377102" y="4632051"/>
            <a:ext cx="239917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+mn-ea"/>
              </a:rPr>
              <a:t>适用场景：</a:t>
            </a:r>
            <a:r>
              <a:rPr lang="zh-CN" altLang="en-US" sz="1100" dirty="0">
                <a:latin typeface="+mn-ea"/>
              </a:rPr>
              <a:t>豆瓣电影</a:t>
            </a:r>
            <a:r>
              <a:rPr lang="en-US" altLang="zh-CN" sz="1100" dirty="0">
                <a:latin typeface="+mn-ea"/>
              </a:rPr>
              <a:t>TOP250</a:t>
            </a:r>
            <a:r>
              <a:rPr lang="zh-CN" altLang="en-US" sz="1100" dirty="0">
                <a:latin typeface="+mn-ea"/>
              </a:rPr>
              <a:t>、携程口碑全球</a:t>
            </a:r>
            <a:r>
              <a:rPr lang="en-US" altLang="zh-CN" sz="1100" dirty="0">
                <a:latin typeface="+mn-ea"/>
              </a:rPr>
              <a:t>100</a:t>
            </a:r>
            <a:r>
              <a:rPr lang="zh-CN" altLang="en-US" sz="1100" dirty="0">
                <a:latin typeface="+mn-ea"/>
              </a:rPr>
              <a:t>等</a:t>
            </a:r>
            <a:endParaRPr lang="en-US" altLang="zh-CN" sz="1100" dirty="0">
              <a:latin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163121" y="4632051"/>
            <a:ext cx="23991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+mn-ea"/>
              </a:rPr>
              <a:t>适用场景：</a:t>
            </a:r>
            <a:r>
              <a:rPr lang="en-US" altLang="zh-CN" sz="1100" dirty="0">
                <a:solidFill>
                  <a:srgbClr val="FF0000"/>
                </a:solidFill>
                <a:latin typeface="+mn-ea"/>
              </a:rPr>
              <a:t>LBS</a:t>
            </a:r>
            <a:r>
              <a:rPr lang="zh-CN" altLang="en-US" sz="1100" dirty="0">
                <a:solidFill>
                  <a:srgbClr val="FF0000"/>
                </a:solidFill>
                <a:latin typeface="+mn-ea"/>
              </a:rPr>
              <a:t>榜单</a:t>
            </a:r>
            <a:r>
              <a:rPr lang="zh-CN" altLang="en-US" sz="1100" dirty="0">
                <a:latin typeface="+mn-ea"/>
              </a:rPr>
              <a:t>、城市特色品类榜单、品类个推榜（看后、搜后）</a:t>
            </a:r>
            <a:endParaRPr lang="en-US" altLang="zh-CN" sz="11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t="6042" b="21825"/>
          <a:stretch>
            <a:fillRect/>
          </a:stretch>
        </p:blipFill>
        <p:spPr>
          <a:xfrm>
            <a:off x="4270499" y="2235323"/>
            <a:ext cx="1250530" cy="2015753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5850987" y="4632051"/>
            <a:ext cx="26308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+mn-ea"/>
              </a:rPr>
              <a:t>适用场景：</a:t>
            </a:r>
            <a:r>
              <a:rPr lang="zh-CN" altLang="en-US" sz="1100" dirty="0">
                <a:latin typeface="+mn-ea"/>
              </a:rPr>
              <a:t>个性化需求强烈的内容平台</a:t>
            </a:r>
            <a:endParaRPr lang="en-US" altLang="zh-CN" sz="1100" dirty="0">
              <a:latin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84762" y="412618"/>
            <a:ext cx="79912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+mn-ea"/>
              </a:rPr>
              <a:t>现阶段榜单建设</a:t>
            </a:r>
            <a:r>
              <a:rPr lang="zh-CN" altLang="en-US" sz="1400" dirty="0">
                <a:latin typeface="+mn-ea"/>
              </a:rPr>
              <a:t>聚焦于</a:t>
            </a:r>
            <a:r>
              <a:rPr lang="zh-CN" altLang="en-US" sz="1400" b="1" dirty="0">
                <a:latin typeface="+mn-ea"/>
              </a:rPr>
              <a:t>规则优化和公信力强化</a:t>
            </a:r>
            <a:r>
              <a:rPr lang="zh-CN" altLang="en-US" sz="1400" dirty="0">
                <a:latin typeface="+mn-ea"/>
              </a:rPr>
              <a:t>（千人一面），同步优化</a:t>
            </a:r>
            <a:r>
              <a:rPr lang="zh-CN" altLang="en-US" sz="1400" b="1" dirty="0">
                <a:latin typeface="+mn-ea"/>
              </a:rPr>
              <a:t>榜单展示逻辑</a:t>
            </a:r>
            <a:r>
              <a:rPr lang="zh-CN" altLang="en-US" sz="1400" dirty="0">
                <a:latin typeface="+mn-ea"/>
              </a:rPr>
              <a:t>（千人千面） 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提高触达效率和场景匹配度，</a:t>
            </a:r>
            <a:r>
              <a:rPr lang="zh-CN" altLang="en-US" sz="1400" dirty="0">
                <a:latin typeface="+mn-ea"/>
              </a:rPr>
              <a:t>如</a:t>
            </a:r>
            <a:r>
              <a:rPr lang="en-US" altLang="zh-CN" sz="1400" dirty="0">
                <a:latin typeface="+mn-ea"/>
              </a:rPr>
              <a:t>LBS</a:t>
            </a:r>
            <a:r>
              <a:rPr lang="zh-CN" altLang="en-US" sz="1400" dirty="0">
                <a:latin typeface="+mn-ea"/>
              </a:rPr>
              <a:t>榜单</a:t>
            </a:r>
            <a:endParaRPr lang="en-US" altLang="zh-CN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纯个性化榜单（千人</a:t>
            </a:r>
            <a:r>
              <a:rPr lang="en-US" altLang="zh-CN" sz="1400" dirty="0">
                <a:latin typeface="+mn-ea"/>
              </a:rPr>
              <a:t>N</a:t>
            </a:r>
            <a:r>
              <a:rPr lang="zh-CN" altLang="en-US" sz="1400" dirty="0">
                <a:latin typeface="+mn-ea"/>
              </a:rPr>
              <a:t>面）会造成资源分散和公信力降低等问题，暂缓推进。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65210" y="3890004"/>
            <a:ext cx="747383" cy="238248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613303" y="2791882"/>
            <a:ext cx="422248" cy="186268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</a:endParaRPr>
          </a:p>
        </p:txBody>
      </p:sp>
      <p:sp>
        <p:nvSpPr>
          <p:cNvPr id="41" name="对话气泡: 矩形 40"/>
          <p:cNvSpPr/>
          <p:nvPr/>
        </p:nvSpPr>
        <p:spPr>
          <a:xfrm>
            <a:off x="4471081" y="3840210"/>
            <a:ext cx="960359" cy="524216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/>
              <a:t>根据用户搜索、浏览记录动态显示榜单排序</a:t>
            </a:r>
            <a:endParaRPr lang="en-US" altLang="zh-CN" sz="9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/>
          <a:srcRect t="6172" b="19739"/>
          <a:stretch>
            <a:fillRect/>
          </a:stretch>
        </p:blipFill>
        <p:spPr>
          <a:xfrm>
            <a:off x="1214160" y="2369755"/>
            <a:ext cx="1320433" cy="212087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表格 211"/>
          <p:cNvGraphicFramePr>
            <a:graphicFrameLocks noGrp="1"/>
          </p:cNvGraphicFramePr>
          <p:nvPr/>
        </p:nvGraphicFramePr>
        <p:xfrm>
          <a:off x="63332" y="615845"/>
          <a:ext cx="9073836" cy="4487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86"/>
                <a:gridCol w="2195528"/>
                <a:gridCol w="2046573"/>
                <a:gridCol w="2257711"/>
                <a:gridCol w="2068038"/>
              </a:tblGrid>
              <a:tr h="2673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平台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美团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点评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D+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B+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核心用户心智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较明确消费意图，进行搜索、比价、决策的本地生活交履平台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看星级评价发现与决策的本地生活消费指南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兴趣内容消遣，激发潜在需求及消费冲动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出行导航工具，找地儿、查路线、看附近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5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消费路径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主动搜索→对比筛选→交易履约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内容浏览→口碑评估→决策选店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内容种草→冲动购买→线下核销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出行规划→行为数据→消费决策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438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榜单价值：通过榜单提升消费者选店决策效率，不同之处是榜单引用的核心要素体现了各个平台的优势资产。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659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/>
                        <a:t>维度</a:t>
                      </a:r>
                      <a:endParaRPr lang="en-US" altLang="zh-CN" sz="1200" b="1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/>
                        <a:t>分布</a:t>
                      </a:r>
                      <a:endParaRPr lang="zh-CN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381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/>
                        <a:t>优势资产</a:t>
                      </a:r>
                      <a:endParaRPr lang="zh-CN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供给、交易、履约服务（预定、秒提、智能点餐、排队）</a:t>
                      </a:r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星评打卡</a:t>
                      </a:r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流量、内容互动、供给、交易</a:t>
                      </a:r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流量、导航数据</a:t>
                      </a:r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72664" y="2322953"/>
            <a:ext cx="2194797" cy="2090313"/>
            <a:chOff x="24316" y="608871"/>
            <a:chExt cx="3282496" cy="3126233"/>
          </a:xfrm>
        </p:grpSpPr>
        <p:sp>
          <p:nvSpPr>
            <p:cNvPr id="9" name="任意形状 8"/>
            <p:cNvSpPr/>
            <p:nvPr/>
          </p:nvSpPr>
          <p:spPr>
            <a:xfrm>
              <a:off x="765563" y="1481984"/>
              <a:ext cx="1862662" cy="1673526"/>
            </a:xfrm>
            <a:custGeom>
              <a:avLst/>
              <a:gdLst>
                <a:gd name="connsiteX0" fmla="*/ 672353 w 1532965"/>
                <a:gd name="connsiteY0" fmla="*/ 0 h 1600200"/>
                <a:gd name="connsiteX1" fmla="*/ 161365 w 1532965"/>
                <a:gd name="connsiteY1" fmla="*/ 437030 h 1600200"/>
                <a:gd name="connsiteX2" fmla="*/ 0 w 1532965"/>
                <a:gd name="connsiteY2" fmla="*/ 1095936 h 1600200"/>
                <a:gd name="connsiteX3" fmla="*/ 665629 w 1532965"/>
                <a:gd name="connsiteY3" fmla="*/ 1600200 h 1600200"/>
                <a:gd name="connsiteX4" fmla="*/ 1532965 w 1532965"/>
                <a:gd name="connsiteY4" fmla="*/ 1196788 h 1600200"/>
                <a:gd name="connsiteX5" fmla="*/ 1089212 w 1532965"/>
                <a:gd name="connsiteY5" fmla="*/ 490818 h 1600200"/>
                <a:gd name="connsiteX6" fmla="*/ 672353 w 1532965"/>
                <a:gd name="connsiteY6" fmla="*/ 0 h 1600200"/>
                <a:gd name="connsiteX0-1" fmla="*/ 893734 w 1754346"/>
                <a:gd name="connsiteY0-2" fmla="*/ 0 h 1600200"/>
                <a:gd name="connsiteX1-3" fmla="*/ 382746 w 1754346"/>
                <a:gd name="connsiteY1-4" fmla="*/ 437030 h 1600200"/>
                <a:gd name="connsiteX2-5" fmla="*/ 0 w 1754346"/>
                <a:gd name="connsiteY2-6" fmla="*/ 1230690 h 1600200"/>
                <a:gd name="connsiteX3-7" fmla="*/ 887010 w 1754346"/>
                <a:gd name="connsiteY3-8" fmla="*/ 1600200 h 1600200"/>
                <a:gd name="connsiteX4-9" fmla="*/ 1754346 w 1754346"/>
                <a:gd name="connsiteY4-10" fmla="*/ 1196788 h 1600200"/>
                <a:gd name="connsiteX5-11" fmla="*/ 1310593 w 1754346"/>
                <a:gd name="connsiteY5-12" fmla="*/ 490818 h 1600200"/>
                <a:gd name="connsiteX6-13" fmla="*/ 893734 w 1754346"/>
                <a:gd name="connsiteY6-14" fmla="*/ 0 h 1600200"/>
                <a:gd name="connsiteX0-15" fmla="*/ 893734 w 1754346"/>
                <a:gd name="connsiteY0-16" fmla="*/ 0 h 1817400"/>
                <a:gd name="connsiteX1-17" fmla="*/ 382746 w 1754346"/>
                <a:gd name="connsiteY1-18" fmla="*/ 437030 h 1817400"/>
                <a:gd name="connsiteX2-19" fmla="*/ 0 w 1754346"/>
                <a:gd name="connsiteY2-20" fmla="*/ 1230690 h 1817400"/>
                <a:gd name="connsiteX3-21" fmla="*/ 887009 w 1754346"/>
                <a:gd name="connsiteY3-22" fmla="*/ 1817400 h 1817400"/>
                <a:gd name="connsiteX4-23" fmla="*/ 1754346 w 1754346"/>
                <a:gd name="connsiteY4-24" fmla="*/ 1196788 h 1817400"/>
                <a:gd name="connsiteX5-25" fmla="*/ 1310593 w 1754346"/>
                <a:gd name="connsiteY5-26" fmla="*/ 490818 h 1817400"/>
                <a:gd name="connsiteX6-27" fmla="*/ 893734 w 1754346"/>
                <a:gd name="connsiteY6-28" fmla="*/ 0 h 1817400"/>
                <a:gd name="connsiteX0-29" fmla="*/ 893734 w 1754346"/>
                <a:gd name="connsiteY0-30" fmla="*/ 0 h 1817400"/>
                <a:gd name="connsiteX1-31" fmla="*/ 654447 w 1754346"/>
                <a:gd name="connsiteY1-32" fmla="*/ 590992 h 1817400"/>
                <a:gd name="connsiteX2-33" fmla="*/ 0 w 1754346"/>
                <a:gd name="connsiteY2-34" fmla="*/ 1230690 h 1817400"/>
                <a:gd name="connsiteX3-35" fmla="*/ 887009 w 1754346"/>
                <a:gd name="connsiteY3-36" fmla="*/ 1817400 h 1817400"/>
                <a:gd name="connsiteX4-37" fmla="*/ 1754346 w 1754346"/>
                <a:gd name="connsiteY4-38" fmla="*/ 1196788 h 1817400"/>
                <a:gd name="connsiteX5-39" fmla="*/ 1310593 w 1754346"/>
                <a:gd name="connsiteY5-40" fmla="*/ 490818 h 1817400"/>
                <a:gd name="connsiteX6-41" fmla="*/ 893734 w 1754346"/>
                <a:gd name="connsiteY6-42" fmla="*/ 0 h 1817400"/>
                <a:gd name="connsiteX0-43" fmla="*/ 902791 w 1763403"/>
                <a:gd name="connsiteY0-44" fmla="*/ 0 h 1817400"/>
                <a:gd name="connsiteX1-45" fmla="*/ 663504 w 1763403"/>
                <a:gd name="connsiteY1-46" fmla="*/ 590992 h 1817400"/>
                <a:gd name="connsiteX2-47" fmla="*/ 0 w 1763403"/>
                <a:gd name="connsiteY2-48" fmla="*/ 1230690 h 1817400"/>
                <a:gd name="connsiteX3-49" fmla="*/ 896066 w 1763403"/>
                <a:gd name="connsiteY3-50" fmla="*/ 1817400 h 1817400"/>
                <a:gd name="connsiteX4-51" fmla="*/ 1763403 w 1763403"/>
                <a:gd name="connsiteY4-52" fmla="*/ 1196788 h 1817400"/>
                <a:gd name="connsiteX5-53" fmla="*/ 1319650 w 1763403"/>
                <a:gd name="connsiteY5-54" fmla="*/ 490818 h 1817400"/>
                <a:gd name="connsiteX6-55" fmla="*/ 902791 w 1763403"/>
                <a:gd name="connsiteY6-56" fmla="*/ 0 h 1817400"/>
                <a:gd name="connsiteX0-57" fmla="*/ 902791 w 1763403"/>
                <a:gd name="connsiteY0-58" fmla="*/ 0 h 1549676"/>
                <a:gd name="connsiteX1-59" fmla="*/ 663504 w 1763403"/>
                <a:gd name="connsiteY1-60" fmla="*/ 590992 h 1549676"/>
                <a:gd name="connsiteX2-61" fmla="*/ 0 w 1763403"/>
                <a:gd name="connsiteY2-62" fmla="*/ 1230690 h 1549676"/>
                <a:gd name="connsiteX3-63" fmla="*/ 903302 w 1763403"/>
                <a:gd name="connsiteY3-64" fmla="*/ 1549676 h 1549676"/>
                <a:gd name="connsiteX4-65" fmla="*/ 1763403 w 1763403"/>
                <a:gd name="connsiteY4-66" fmla="*/ 1196788 h 1549676"/>
                <a:gd name="connsiteX5-67" fmla="*/ 1319650 w 1763403"/>
                <a:gd name="connsiteY5-68" fmla="*/ 490818 h 1549676"/>
                <a:gd name="connsiteX6-69" fmla="*/ 902791 w 1763403"/>
                <a:gd name="connsiteY6-70" fmla="*/ 0 h 1549676"/>
                <a:gd name="connsiteX0-71" fmla="*/ 902791 w 1862662"/>
                <a:gd name="connsiteY0-72" fmla="*/ 0 h 1549676"/>
                <a:gd name="connsiteX1-73" fmla="*/ 663504 w 1862662"/>
                <a:gd name="connsiteY1-74" fmla="*/ 590992 h 1549676"/>
                <a:gd name="connsiteX2-75" fmla="*/ 0 w 1862662"/>
                <a:gd name="connsiteY2-76" fmla="*/ 1230690 h 1549676"/>
                <a:gd name="connsiteX3-77" fmla="*/ 903302 w 1862662"/>
                <a:gd name="connsiteY3-78" fmla="*/ 1549676 h 1549676"/>
                <a:gd name="connsiteX4-79" fmla="*/ 1862662 w 1862662"/>
                <a:gd name="connsiteY4-80" fmla="*/ 1240903 h 1549676"/>
                <a:gd name="connsiteX5-81" fmla="*/ 1319650 w 1862662"/>
                <a:gd name="connsiteY5-82" fmla="*/ 490818 h 1549676"/>
                <a:gd name="connsiteX6-83" fmla="*/ 902791 w 1862662"/>
                <a:gd name="connsiteY6-84" fmla="*/ 0 h 1549676"/>
                <a:gd name="connsiteX0-85" fmla="*/ 895021 w 1862662"/>
                <a:gd name="connsiteY0-86" fmla="*/ 0 h 1464204"/>
                <a:gd name="connsiteX1-87" fmla="*/ 663504 w 1862662"/>
                <a:gd name="connsiteY1-88" fmla="*/ 505520 h 1464204"/>
                <a:gd name="connsiteX2-89" fmla="*/ 0 w 1862662"/>
                <a:gd name="connsiteY2-90" fmla="*/ 1145218 h 1464204"/>
                <a:gd name="connsiteX3-91" fmla="*/ 903302 w 1862662"/>
                <a:gd name="connsiteY3-92" fmla="*/ 1464204 h 1464204"/>
                <a:gd name="connsiteX4-93" fmla="*/ 1862662 w 1862662"/>
                <a:gd name="connsiteY4-94" fmla="*/ 1155431 h 1464204"/>
                <a:gd name="connsiteX5-95" fmla="*/ 1319650 w 1862662"/>
                <a:gd name="connsiteY5-96" fmla="*/ 405346 h 1464204"/>
                <a:gd name="connsiteX6-97" fmla="*/ 895021 w 1862662"/>
                <a:gd name="connsiteY6-98" fmla="*/ 0 h 1464204"/>
                <a:gd name="connsiteX0-99" fmla="*/ 908100 w 1875741"/>
                <a:gd name="connsiteY0-100" fmla="*/ 0 h 1464204"/>
                <a:gd name="connsiteX1-101" fmla="*/ 0 w 1875741"/>
                <a:gd name="connsiteY1-102" fmla="*/ 116845 h 1464204"/>
                <a:gd name="connsiteX2-103" fmla="*/ 13079 w 1875741"/>
                <a:gd name="connsiteY2-104" fmla="*/ 1145218 h 1464204"/>
                <a:gd name="connsiteX3-105" fmla="*/ 916381 w 1875741"/>
                <a:gd name="connsiteY3-106" fmla="*/ 1464204 h 1464204"/>
                <a:gd name="connsiteX4-107" fmla="*/ 1875741 w 1875741"/>
                <a:gd name="connsiteY4-108" fmla="*/ 1155431 h 1464204"/>
                <a:gd name="connsiteX5-109" fmla="*/ 1332729 w 1875741"/>
                <a:gd name="connsiteY5-110" fmla="*/ 405346 h 1464204"/>
                <a:gd name="connsiteX6-111" fmla="*/ 908100 w 1875741"/>
                <a:gd name="connsiteY6-112" fmla="*/ 0 h 1464204"/>
                <a:gd name="connsiteX0-113" fmla="*/ 908100 w 1875741"/>
                <a:gd name="connsiteY0-114" fmla="*/ 0 h 1464204"/>
                <a:gd name="connsiteX1-115" fmla="*/ 0 w 1875741"/>
                <a:gd name="connsiteY1-116" fmla="*/ 116845 h 1464204"/>
                <a:gd name="connsiteX2-117" fmla="*/ 13079 w 1875741"/>
                <a:gd name="connsiteY2-118" fmla="*/ 1145218 h 1464204"/>
                <a:gd name="connsiteX3-119" fmla="*/ 916381 w 1875741"/>
                <a:gd name="connsiteY3-120" fmla="*/ 1464204 h 1464204"/>
                <a:gd name="connsiteX4-121" fmla="*/ 1875741 w 1875741"/>
                <a:gd name="connsiteY4-122" fmla="*/ 1155431 h 1464204"/>
                <a:gd name="connsiteX5-123" fmla="*/ 1611822 w 1875741"/>
                <a:gd name="connsiteY5-124" fmla="*/ 223935 h 1464204"/>
                <a:gd name="connsiteX6-125" fmla="*/ 908100 w 1875741"/>
                <a:gd name="connsiteY6-126" fmla="*/ 0 h 1464204"/>
                <a:gd name="connsiteX0-127" fmla="*/ 895021 w 1862662"/>
                <a:gd name="connsiteY0-128" fmla="*/ 0 h 1464204"/>
                <a:gd name="connsiteX1-129" fmla="*/ 628836 w 1862662"/>
                <a:gd name="connsiteY1-130" fmla="*/ 493621 h 1464204"/>
                <a:gd name="connsiteX2-131" fmla="*/ 0 w 1862662"/>
                <a:gd name="connsiteY2-132" fmla="*/ 1145218 h 1464204"/>
                <a:gd name="connsiteX3-133" fmla="*/ 903302 w 1862662"/>
                <a:gd name="connsiteY3-134" fmla="*/ 1464204 h 1464204"/>
                <a:gd name="connsiteX4-135" fmla="*/ 1862662 w 1862662"/>
                <a:gd name="connsiteY4-136" fmla="*/ 1155431 h 1464204"/>
                <a:gd name="connsiteX5-137" fmla="*/ 1598743 w 1862662"/>
                <a:gd name="connsiteY5-138" fmla="*/ 223935 h 1464204"/>
                <a:gd name="connsiteX6-139" fmla="*/ 895021 w 1862662"/>
                <a:gd name="connsiteY6-140" fmla="*/ 0 h 1464204"/>
                <a:gd name="connsiteX0-141" fmla="*/ 895021 w 1862662"/>
                <a:gd name="connsiteY0-142" fmla="*/ 0 h 1673526"/>
                <a:gd name="connsiteX1-143" fmla="*/ 628836 w 1862662"/>
                <a:gd name="connsiteY1-144" fmla="*/ 493621 h 1673526"/>
                <a:gd name="connsiteX2-145" fmla="*/ 0 w 1862662"/>
                <a:gd name="connsiteY2-146" fmla="*/ 1145218 h 1673526"/>
                <a:gd name="connsiteX3-147" fmla="*/ 889347 w 1862662"/>
                <a:gd name="connsiteY3-148" fmla="*/ 1673526 h 1673526"/>
                <a:gd name="connsiteX4-149" fmla="*/ 1862662 w 1862662"/>
                <a:gd name="connsiteY4-150" fmla="*/ 1155431 h 1673526"/>
                <a:gd name="connsiteX5-151" fmla="*/ 1598743 w 1862662"/>
                <a:gd name="connsiteY5-152" fmla="*/ 223935 h 1673526"/>
                <a:gd name="connsiteX6-153" fmla="*/ 895021 w 1862662"/>
                <a:gd name="connsiteY6-154" fmla="*/ 0 h 1673526"/>
                <a:gd name="connsiteX0-155" fmla="*/ 895021 w 1862662"/>
                <a:gd name="connsiteY0-156" fmla="*/ 0 h 1673526"/>
                <a:gd name="connsiteX1-157" fmla="*/ 628836 w 1862662"/>
                <a:gd name="connsiteY1-158" fmla="*/ 493621 h 1673526"/>
                <a:gd name="connsiteX2-159" fmla="*/ 0 w 1862662"/>
                <a:gd name="connsiteY2-160" fmla="*/ 1145218 h 1673526"/>
                <a:gd name="connsiteX3-161" fmla="*/ 889347 w 1862662"/>
                <a:gd name="connsiteY3-162" fmla="*/ 1673526 h 1673526"/>
                <a:gd name="connsiteX4-163" fmla="*/ 1862662 w 1862662"/>
                <a:gd name="connsiteY4-164" fmla="*/ 1155431 h 1673526"/>
                <a:gd name="connsiteX5-165" fmla="*/ 1459196 w 1862662"/>
                <a:gd name="connsiteY5-166" fmla="*/ 293708 h 1673526"/>
                <a:gd name="connsiteX6-167" fmla="*/ 895021 w 1862662"/>
                <a:gd name="connsiteY6-168" fmla="*/ 0 h 167352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862662" h="1673526">
                  <a:moveTo>
                    <a:pt x="895021" y="0"/>
                  </a:moveTo>
                  <a:lnTo>
                    <a:pt x="628836" y="493621"/>
                  </a:lnTo>
                  <a:lnTo>
                    <a:pt x="0" y="1145218"/>
                  </a:lnTo>
                  <a:lnTo>
                    <a:pt x="889347" y="1673526"/>
                  </a:lnTo>
                  <a:lnTo>
                    <a:pt x="1862662" y="1155431"/>
                  </a:lnTo>
                  <a:lnTo>
                    <a:pt x="1459196" y="293708"/>
                  </a:lnTo>
                  <a:lnTo>
                    <a:pt x="895021" y="0"/>
                  </a:lnTo>
                  <a:close/>
                </a:path>
              </a:pathLst>
            </a:custGeom>
            <a:solidFill>
              <a:srgbClr val="FFD100">
                <a:alpha val="2313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cxnSp>
          <p:nvCxnSpPr>
            <p:cNvPr id="10" name="米菲PPT13"/>
            <p:cNvCxnSpPr>
              <a:stCxn id="31" idx="4"/>
            </p:cNvCxnSpPr>
            <p:nvPr/>
          </p:nvCxnSpPr>
          <p:spPr>
            <a:xfrm>
              <a:off x="1652537" y="2174376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米菲PPT14"/>
            <p:cNvCxnSpPr/>
            <p:nvPr/>
          </p:nvCxnSpPr>
          <p:spPr>
            <a:xfrm flipV="1">
              <a:off x="2734276" y="153111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米菲PPT20"/>
            <p:cNvCxnSpPr/>
            <p:nvPr/>
          </p:nvCxnSpPr>
          <p:spPr>
            <a:xfrm flipH="1" flipV="1">
              <a:off x="588738" y="1507891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米菲PPT21"/>
            <p:cNvCxnSpPr/>
            <p:nvPr/>
          </p:nvCxnSpPr>
          <p:spPr>
            <a:xfrm>
              <a:off x="1662816" y="891561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米菲PPT22"/>
            <p:cNvCxnSpPr/>
            <p:nvPr/>
          </p:nvCxnSpPr>
          <p:spPr>
            <a:xfrm flipV="1">
              <a:off x="582985" y="887304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米菲PPT23"/>
            <p:cNvCxnSpPr/>
            <p:nvPr/>
          </p:nvCxnSpPr>
          <p:spPr>
            <a:xfrm flipV="1">
              <a:off x="1651395" y="151323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米菲PPT24"/>
            <p:cNvSpPr/>
            <p:nvPr/>
          </p:nvSpPr>
          <p:spPr>
            <a:xfrm>
              <a:off x="1625558" y="852694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" name="米菲PPT25"/>
            <p:cNvSpPr/>
            <p:nvPr/>
          </p:nvSpPr>
          <p:spPr>
            <a:xfrm>
              <a:off x="2697833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" name="米菲PPT26"/>
            <p:cNvSpPr/>
            <p:nvPr/>
          </p:nvSpPr>
          <p:spPr>
            <a:xfrm>
              <a:off x="553127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19" name="米菲PPT27"/>
            <p:cNvCxnSpPr/>
            <p:nvPr/>
          </p:nvCxnSpPr>
          <p:spPr>
            <a:xfrm flipH="1" flipV="1">
              <a:off x="588738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米菲PPT28"/>
            <p:cNvCxnSpPr>
              <a:stCxn id="18" idx="4"/>
              <a:endCxn id="23" idx="4"/>
            </p:cNvCxnSpPr>
            <p:nvPr/>
          </p:nvCxnSpPr>
          <p:spPr>
            <a:xfrm>
              <a:off x="597941" y="1561393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米菲PPT29"/>
            <p:cNvCxnSpPr/>
            <p:nvPr/>
          </p:nvCxnSpPr>
          <p:spPr>
            <a:xfrm flipV="1">
              <a:off x="1637832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米菲PPT30"/>
            <p:cNvSpPr/>
            <p:nvPr/>
          </p:nvSpPr>
          <p:spPr>
            <a:xfrm>
              <a:off x="2697833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3" name="米菲PPT31"/>
            <p:cNvSpPr/>
            <p:nvPr/>
          </p:nvSpPr>
          <p:spPr>
            <a:xfrm>
              <a:off x="553127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4" name="米菲PPT44"/>
            <p:cNvSpPr txBox="1"/>
            <p:nvPr/>
          </p:nvSpPr>
          <p:spPr>
            <a:xfrm>
              <a:off x="1348261" y="608871"/>
              <a:ext cx="613368" cy="32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5" name="米菲PPT45"/>
            <p:cNvSpPr txBox="1"/>
            <p:nvPr/>
          </p:nvSpPr>
          <p:spPr>
            <a:xfrm>
              <a:off x="24316" y="1237739"/>
              <a:ext cx="613368" cy="506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6" name="米菲PPT46"/>
            <p:cNvSpPr txBox="1"/>
            <p:nvPr/>
          </p:nvSpPr>
          <p:spPr>
            <a:xfrm>
              <a:off x="24316" y="2569894"/>
              <a:ext cx="613368" cy="32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7" name="米菲PPT47"/>
            <p:cNvSpPr txBox="1"/>
            <p:nvPr/>
          </p:nvSpPr>
          <p:spPr>
            <a:xfrm>
              <a:off x="2686282" y="1237739"/>
              <a:ext cx="613368" cy="874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（星评）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8" name="米菲PPT48"/>
            <p:cNvSpPr txBox="1"/>
            <p:nvPr/>
          </p:nvSpPr>
          <p:spPr>
            <a:xfrm>
              <a:off x="2693444" y="2484985"/>
              <a:ext cx="613368" cy="506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履约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9" name="米菲PPT93"/>
            <p:cNvSpPr/>
            <p:nvPr/>
          </p:nvSpPr>
          <p:spPr>
            <a:xfrm>
              <a:off x="1625558" y="329949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30" name="米菲PPT94"/>
            <p:cNvSpPr txBox="1"/>
            <p:nvPr/>
          </p:nvSpPr>
          <p:spPr>
            <a:xfrm>
              <a:off x="927378" y="3412890"/>
              <a:ext cx="1448035" cy="32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31" name="米菲PPT25"/>
            <p:cNvSpPr/>
            <p:nvPr/>
          </p:nvSpPr>
          <p:spPr>
            <a:xfrm>
              <a:off x="1607724" y="2084750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32" name="米菲PPT20"/>
            <p:cNvCxnSpPr>
              <a:stCxn id="31" idx="0"/>
              <a:endCxn id="16" idx="4"/>
            </p:cNvCxnSpPr>
            <p:nvPr/>
          </p:nvCxnSpPr>
          <p:spPr>
            <a:xfrm flipV="1">
              <a:off x="1652537" y="942320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米菲PPT27"/>
            <p:cNvCxnSpPr>
              <a:stCxn id="31" idx="3"/>
              <a:endCxn id="23" idx="7"/>
            </p:cNvCxnSpPr>
            <p:nvPr/>
          </p:nvCxnSpPr>
          <p:spPr>
            <a:xfrm flipH="1">
              <a:off x="629628" y="2161251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米菲PPT29"/>
            <p:cNvCxnSpPr>
              <a:stCxn id="31" idx="6"/>
              <a:endCxn id="22" idx="1"/>
            </p:cNvCxnSpPr>
            <p:nvPr/>
          </p:nvCxnSpPr>
          <p:spPr>
            <a:xfrm>
              <a:off x="1697350" y="2129563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米菲PPT48"/>
            <p:cNvSpPr txBox="1"/>
            <p:nvPr/>
          </p:nvSpPr>
          <p:spPr>
            <a:xfrm>
              <a:off x="1263599" y="2169651"/>
              <a:ext cx="781187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美团</a:t>
              </a:r>
              <a:endParaRPr lang="zh-CN" altLang="en-US" sz="9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36" name="组合 35"/>
          <p:cNvGrpSpPr>
            <a:grpSpLocks noChangeAspect="1"/>
          </p:cNvGrpSpPr>
          <p:nvPr/>
        </p:nvGrpSpPr>
        <p:grpSpPr>
          <a:xfrm>
            <a:off x="2657741" y="2286609"/>
            <a:ext cx="2199525" cy="2116129"/>
            <a:chOff x="3266683" y="587964"/>
            <a:chExt cx="3273262" cy="3149156"/>
          </a:xfrm>
        </p:grpSpPr>
        <p:sp>
          <p:nvSpPr>
            <p:cNvPr id="37" name="任意形状 36"/>
            <p:cNvSpPr/>
            <p:nvPr/>
          </p:nvSpPr>
          <p:spPr>
            <a:xfrm>
              <a:off x="4052428" y="1612941"/>
              <a:ext cx="1774800" cy="1378623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4 w 1461337"/>
                <a:gd name="connsiteY0-16" fmla="*/ 0 h 1759211"/>
                <a:gd name="connsiteX1-17" fmla="*/ 346509 w 1461337"/>
                <a:gd name="connsiteY1-18" fmla="*/ 433136 h 1759211"/>
                <a:gd name="connsiteX2-19" fmla="*/ 0 w 1461337"/>
                <a:gd name="connsiteY2-20" fmla="*/ 1058778 h 1759211"/>
                <a:gd name="connsiteX3-21" fmla="*/ 694639 w 1461337"/>
                <a:gd name="connsiteY3-22" fmla="*/ 1759211 h 1759211"/>
                <a:gd name="connsiteX4-23" fmla="*/ 1461337 w 1461337"/>
                <a:gd name="connsiteY4-24" fmla="*/ 1056017 h 1759211"/>
                <a:gd name="connsiteX5-25" fmla="*/ 1366787 w 1461337"/>
                <a:gd name="connsiteY5-26" fmla="*/ 269507 h 1759211"/>
                <a:gd name="connsiteX6-27" fmla="*/ 721894 w 1461337"/>
                <a:gd name="connsiteY6-28" fmla="*/ 0 h 1759211"/>
                <a:gd name="connsiteX0-29" fmla="*/ 866083 w 1605526"/>
                <a:gd name="connsiteY0-30" fmla="*/ 0 h 1759211"/>
                <a:gd name="connsiteX1-31" fmla="*/ 490698 w 1605526"/>
                <a:gd name="connsiteY1-32" fmla="*/ 433136 h 1759211"/>
                <a:gd name="connsiteX2-33" fmla="*/ 0 w 1605526"/>
                <a:gd name="connsiteY2-34" fmla="*/ 1139885 h 1759211"/>
                <a:gd name="connsiteX3-35" fmla="*/ 838828 w 1605526"/>
                <a:gd name="connsiteY3-36" fmla="*/ 1759211 h 1759211"/>
                <a:gd name="connsiteX4-37" fmla="*/ 1605526 w 1605526"/>
                <a:gd name="connsiteY4-38" fmla="*/ 1056017 h 1759211"/>
                <a:gd name="connsiteX5-39" fmla="*/ 1510976 w 1605526"/>
                <a:gd name="connsiteY5-40" fmla="*/ 269507 h 1759211"/>
                <a:gd name="connsiteX6-41" fmla="*/ 866083 w 1605526"/>
                <a:gd name="connsiteY6-42" fmla="*/ 0 h 1759211"/>
                <a:gd name="connsiteX0-43" fmla="*/ 848296 w 1605526"/>
                <a:gd name="connsiteY0-44" fmla="*/ 0 h 1572437"/>
                <a:gd name="connsiteX1-45" fmla="*/ 490698 w 1605526"/>
                <a:gd name="connsiteY1-46" fmla="*/ 246362 h 1572437"/>
                <a:gd name="connsiteX2-47" fmla="*/ 0 w 1605526"/>
                <a:gd name="connsiteY2-48" fmla="*/ 953111 h 1572437"/>
                <a:gd name="connsiteX3-49" fmla="*/ 838828 w 1605526"/>
                <a:gd name="connsiteY3-50" fmla="*/ 1572437 h 1572437"/>
                <a:gd name="connsiteX4-51" fmla="*/ 1605526 w 1605526"/>
                <a:gd name="connsiteY4-52" fmla="*/ 869243 h 1572437"/>
                <a:gd name="connsiteX5-53" fmla="*/ 1510976 w 1605526"/>
                <a:gd name="connsiteY5-54" fmla="*/ 82733 h 1572437"/>
                <a:gd name="connsiteX6-55" fmla="*/ 848296 w 1605526"/>
                <a:gd name="connsiteY6-56" fmla="*/ 0 h 1572437"/>
                <a:gd name="connsiteX0-57" fmla="*/ 848296 w 1605526"/>
                <a:gd name="connsiteY0-58" fmla="*/ 73964 h 1489704"/>
                <a:gd name="connsiteX1-59" fmla="*/ 490698 w 1605526"/>
                <a:gd name="connsiteY1-60" fmla="*/ 163629 h 1489704"/>
                <a:gd name="connsiteX2-61" fmla="*/ 0 w 1605526"/>
                <a:gd name="connsiteY2-62" fmla="*/ 870378 h 1489704"/>
                <a:gd name="connsiteX3-63" fmla="*/ 838828 w 1605526"/>
                <a:gd name="connsiteY3-64" fmla="*/ 1489704 h 1489704"/>
                <a:gd name="connsiteX4-65" fmla="*/ 1605526 w 1605526"/>
                <a:gd name="connsiteY4-66" fmla="*/ 786510 h 1489704"/>
                <a:gd name="connsiteX5-67" fmla="*/ 1510976 w 1605526"/>
                <a:gd name="connsiteY5-68" fmla="*/ 0 h 1489704"/>
                <a:gd name="connsiteX6-69" fmla="*/ 848296 w 1605526"/>
                <a:gd name="connsiteY6-70" fmla="*/ 73964 h 1489704"/>
                <a:gd name="connsiteX0-71" fmla="*/ 848296 w 1605526"/>
                <a:gd name="connsiteY0-72" fmla="*/ 125196 h 1540936"/>
                <a:gd name="connsiteX1-73" fmla="*/ 89626 w 1605526"/>
                <a:gd name="connsiteY1-74" fmla="*/ 0 h 1540936"/>
                <a:gd name="connsiteX2-75" fmla="*/ 0 w 1605526"/>
                <a:gd name="connsiteY2-76" fmla="*/ 921610 h 1540936"/>
                <a:gd name="connsiteX3-77" fmla="*/ 838828 w 1605526"/>
                <a:gd name="connsiteY3-78" fmla="*/ 1540936 h 1540936"/>
                <a:gd name="connsiteX4-79" fmla="*/ 1605526 w 1605526"/>
                <a:gd name="connsiteY4-80" fmla="*/ 837742 h 1540936"/>
                <a:gd name="connsiteX5-81" fmla="*/ 1510976 w 1605526"/>
                <a:gd name="connsiteY5-82" fmla="*/ 51232 h 1540936"/>
                <a:gd name="connsiteX6-83" fmla="*/ 848296 w 1605526"/>
                <a:gd name="connsiteY6-84" fmla="*/ 125196 h 1540936"/>
                <a:gd name="connsiteX0-85" fmla="*/ 848296 w 1605526"/>
                <a:gd name="connsiteY0-86" fmla="*/ 83539 h 1499279"/>
                <a:gd name="connsiteX1-87" fmla="*/ 172940 w 1605526"/>
                <a:gd name="connsiteY1-88" fmla="*/ 0 h 1499279"/>
                <a:gd name="connsiteX2-89" fmla="*/ 0 w 1605526"/>
                <a:gd name="connsiteY2-90" fmla="*/ 879953 h 1499279"/>
                <a:gd name="connsiteX3-91" fmla="*/ 838828 w 1605526"/>
                <a:gd name="connsiteY3-92" fmla="*/ 1499279 h 1499279"/>
                <a:gd name="connsiteX4-93" fmla="*/ 1605526 w 1605526"/>
                <a:gd name="connsiteY4-94" fmla="*/ 796085 h 1499279"/>
                <a:gd name="connsiteX5-95" fmla="*/ 1510976 w 1605526"/>
                <a:gd name="connsiteY5-96" fmla="*/ 9575 h 1499279"/>
                <a:gd name="connsiteX6-97" fmla="*/ 848296 w 1605526"/>
                <a:gd name="connsiteY6-98" fmla="*/ 83539 h 1499279"/>
                <a:gd name="connsiteX0-99" fmla="*/ 848296 w 1605526"/>
                <a:gd name="connsiteY0-100" fmla="*/ 83539 h 1388196"/>
                <a:gd name="connsiteX1-101" fmla="*/ 172940 w 1605526"/>
                <a:gd name="connsiteY1-102" fmla="*/ 0 h 1388196"/>
                <a:gd name="connsiteX2-103" fmla="*/ 0 w 1605526"/>
                <a:gd name="connsiteY2-104" fmla="*/ 879953 h 1388196"/>
                <a:gd name="connsiteX3-105" fmla="*/ 866599 w 1605526"/>
                <a:gd name="connsiteY3-106" fmla="*/ 1388196 h 1388196"/>
                <a:gd name="connsiteX4-107" fmla="*/ 1605526 w 1605526"/>
                <a:gd name="connsiteY4-108" fmla="*/ 796085 h 1388196"/>
                <a:gd name="connsiteX5-109" fmla="*/ 1510976 w 1605526"/>
                <a:gd name="connsiteY5-110" fmla="*/ 9575 h 1388196"/>
                <a:gd name="connsiteX6-111" fmla="*/ 848296 w 1605526"/>
                <a:gd name="connsiteY6-112" fmla="*/ 83539 h 1388196"/>
                <a:gd name="connsiteX0-113" fmla="*/ 848296 w 1605526"/>
                <a:gd name="connsiteY0-114" fmla="*/ 83539 h 1249341"/>
                <a:gd name="connsiteX1-115" fmla="*/ 172940 w 1605526"/>
                <a:gd name="connsiteY1-116" fmla="*/ 0 h 1249341"/>
                <a:gd name="connsiteX2-117" fmla="*/ 0 w 1605526"/>
                <a:gd name="connsiteY2-118" fmla="*/ 879953 h 1249341"/>
                <a:gd name="connsiteX3-119" fmla="*/ 838828 w 1605526"/>
                <a:gd name="connsiteY3-120" fmla="*/ 1249341 h 1249341"/>
                <a:gd name="connsiteX4-121" fmla="*/ 1605526 w 1605526"/>
                <a:gd name="connsiteY4-122" fmla="*/ 796085 h 1249341"/>
                <a:gd name="connsiteX5-123" fmla="*/ 1510976 w 1605526"/>
                <a:gd name="connsiteY5-124" fmla="*/ 9575 h 1249341"/>
                <a:gd name="connsiteX6-125" fmla="*/ 848296 w 1605526"/>
                <a:gd name="connsiteY6-126" fmla="*/ 83539 h 1249341"/>
                <a:gd name="connsiteX0-127" fmla="*/ 848296 w 1760916"/>
                <a:gd name="connsiteY0-128" fmla="*/ 198935 h 1364737"/>
                <a:gd name="connsiteX1-129" fmla="*/ 172940 w 1760916"/>
                <a:gd name="connsiteY1-130" fmla="*/ 115396 h 1364737"/>
                <a:gd name="connsiteX2-131" fmla="*/ 0 w 1760916"/>
                <a:gd name="connsiteY2-132" fmla="*/ 995349 h 1364737"/>
                <a:gd name="connsiteX3-133" fmla="*/ 838828 w 1760916"/>
                <a:gd name="connsiteY3-134" fmla="*/ 1364737 h 1364737"/>
                <a:gd name="connsiteX4-135" fmla="*/ 1605526 w 1760916"/>
                <a:gd name="connsiteY4-136" fmla="*/ 911481 h 1364737"/>
                <a:gd name="connsiteX5-137" fmla="*/ 1760916 w 1760916"/>
                <a:gd name="connsiteY5-138" fmla="*/ 0 h 1364737"/>
                <a:gd name="connsiteX6-139" fmla="*/ 848296 w 1760916"/>
                <a:gd name="connsiteY6-140" fmla="*/ 198935 h 1364737"/>
                <a:gd name="connsiteX0-141" fmla="*/ 848296 w 1774801"/>
                <a:gd name="connsiteY0-142" fmla="*/ 212821 h 1378623"/>
                <a:gd name="connsiteX1-143" fmla="*/ 172940 w 1774801"/>
                <a:gd name="connsiteY1-144" fmla="*/ 129282 h 1378623"/>
                <a:gd name="connsiteX2-145" fmla="*/ 0 w 1774801"/>
                <a:gd name="connsiteY2-146" fmla="*/ 1009235 h 1378623"/>
                <a:gd name="connsiteX3-147" fmla="*/ 838828 w 1774801"/>
                <a:gd name="connsiteY3-148" fmla="*/ 1378623 h 1378623"/>
                <a:gd name="connsiteX4-149" fmla="*/ 1605526 w 1774801"/>
                <a:gd name="connsiteY4-150" fmla="*/ 925367 h 1378623"/>
                <a:gd name="connsiteX5-151" fmla="*/ 1774801 w 1774801"/>
                <a:gd name="connsiteY5-152" fmla="*/ 0 h 1378623"/>
                <a:gd name="connsiteX6-153" fmla="*/ 848296 w 1774801"/>
                <a:gd name="connsiteY6-154" fmla="*/ 212821 h 137862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774801" h="1378623">
                  <a:moveTo>
                    <a:pt x="848296" y="212821"/>
                  </a:moveTo>
                  <a:lnTo>
                    <a:pt x="172940" y="129282"/>
                  </a:lnTo>
                  <a:lnTo>
                    <a:pt x="0" y="1009235"/>
                  </a:lnTo>
                  <a:lnTo>
                    <a:pt x="838828" y="1378623"/>
                  </a:lnTo>
                  <a:lnTo>
                    <a:pt x="1605526" y="925367"/>
                  </a:lnTo>
                  <a:lnTo>
                    <a:pt x="1774801" y="0"/>
                  </a:lnTo>
                  <a:lnTo>
                    <a:pt x="848296" y="212821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/>
            </a:p>
          </p:txBody>
        </p:sp>
        <p:cxnSp>
          <p:nvCxnSpPr>
            <p:cNvPr id="38" name="米菲PPT13"/>
            <p:cNvCxnSpPr>
              <a:stCxn id="59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45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46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47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米菲PPT28"/>
            <p:cNvCxnSpPr>
              <a:stCxn id="46" idx="4"/>
              <a:endCxn id="51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1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2" name="米菲PPT44"/>
            <p:cNvSpPr txBox="1"/>
            <p:nvPr/>
          </p:nvSpPr>
          <p:spPr>
            <a:xfrm>
              <a:off x="4611749" y="587964"/>
              <a:ext cx="639141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3" name="米菲PPT45"/>
            <p:cNvSpPr txBox="1"/>
            <p:nvPr/>
          </p:nvSpPr>
          <p:spPr>
            <a:xfrm>
              <a:off x="3266683" y="1267630"/>
              <a:ext cx="597248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4" name="米菲PPT46"/>
            <p:cNvSpPr txBox="1"/>
            <p:nvPr/>
          </p:nvSpPr>
          <p:spPr>
            <a:xfrm>
              <a:off x="3306623" y="2606307"/>
              <a:ext cx="597248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5" name="米菲PPT47"/>
            <p:cNvSpPr txBox="1"/>
            <p:nvPr/>
          </p:nvSpPr>
          <p:spPr>
            <a:xfrm>
              <a:off x="5886136" y="1256674"/>
              <a:ext cx="639141" cy="1053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行为资产（星评打卡）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6" name="米菲PPT48"/>
            <p:cNvSpPr txBox="1"/>
            <p:nvPr/>
          </p:nvSpPr>
          <p:spPr>
            <a:xfrm>
              <a:off x="5900804" y="2501748"/>
              <a:ext cx="639141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7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8" name="米菲PPT94"/>
            <p:cNvSpPr txBox="1"/>
            <p:nvPr/>
          </p:nvSpPr>
          <p:spPr>
            <a:xfrm>
              <a:off x="3871823" y="3416503"/>
              <a:ext cx="2183118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9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60" name="米菲PPT20"/>
            <p:cNvCxnSpPr>
              <a:stCxn id="59" idx="0"/>
              <a:endCxn id="44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米菲PPT27"/>
            <p:cNvCxnSpPr>
              <a:stCxn id="59" idx="3"/>
              <a:endCxn id="51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米菲PPT29"/>
            <p:cNvCxnSpPr>
              <a:stCxn id="59" idx="6"/>
              <a:endCxn id="50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米菲PPT48"/>
            <p:cNvSpPr txBox="1"/>
            <p:nvPr/>
          </p:nvSpPr>
          <p:spPr>
            <a:xfrm>
              <a:off x="4518798" y="2173338"/>
              <a:ext cx="800310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点评</a:t>
              </a:r>
              <a:endParaRPr lang="zh-CN" altLang="en-US" sz="9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/>
        </p:nvGrpSpPr>
        <p:grpSpPr>
          <a:xfrm>
            <a:off x="4790015" y="2295194"/>
            <a:ext cx="2228259" cy="2124366"/>
            <a:chOff x="3254934" y="575706"/>
            <a:chExt cx="3316024" cy="3161414"/>
          </a:xfrm>
        </p:grpSpPr>
        <p:sp>
          <p:nvSpPr>
            <p:cNvPr id="65" name="任意形状 64"/>
            <p:cNvSpPr/>
            <p:nvPr/>
          </p:nvSpPr>
          <p:spPr>
            <a:xfrm>
              <a:off x="3988719" y="1016446"/>
              <a:ext cx="1407868" cy="2027885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867843"/>
                <a:gd name="connsiteY0-114" fmla="*/ 0 h 1408835"/>
                <a:gd name="connsiteX1-115" fmla="*/ 0 w 1867843"/>
                <a:gd name="connsiteY1-116" fmla="*/ 491440 h 1408835"/>
                <a:gd name="connsiteX2-117" fmla="*/ 349443 w 1867843"/>
                <a:gd name="connsiteY2-118" fmla="*/ 1376832 h 1408835"/>
                <a:gd name="connsiteX3-119" fmla="*/ 926179 w 1867843"/>
                <a:gd name="connsiteY3-120" fmla="*/ 1408835 h 1408835"/>
                <a:gd name="connsiteX4-121" fmla="*/ 1437353 w 1867843"/>
                <a:gd name="connsiteY4-122" fmla="*/ 1309336 h 1408835"/>
                <a:gd name="connsiteX5-123" fmla="*/ 1867843 w 1867843"/>
                <a:gd name="connsiteY5-124" fmla="*/ 500325 h 1408835"/>
                <a:gd name="connsiteX6-125" fmla="*/ 930427 w 1867843"/>
                <a:gd name="connsiteY6-126" fmla="*/ 0 h 1408835"/>
                <a:gd name="connsiteX0-127" fmla="*/ 930427 w 1867843"/>
                <a:gd name="connsiteY0-128" fmla="*/ 0 h 1486349"/>
                <a:gd name="connsiteX1-129" fmla="*/ 0 w 1867843"/>
                <a:gd name="connsiteY1-130" fmla="*/ 568954 h 1486349"/>
                <a:gd name="connsiteX2-131" fmla="*/ 349443 w 1867843"/>
                <a:gd name="connsiteY2-132" fmla="*/ 1454346 h 1486349"/>
                <a:gd name="connsiteX3-133" fmla="*/ 926179 w 1867843"/>
                <a:gd name="connsiteY3-134" fmla="*/ 1486349 h 1486349"/>
                <a:gd name="connsiteX4-135" fmla="*/ 1437353 w 1867843"/>
                <a:gd name="connsiteY4-136" fmla="*/ 1386850 h 1486349"/>
                <a:gd name="connsiteX5-137" fmla="*/ 1867843 w 1867843"/>
                <a:gd name="connsiteY5-138" fmla="*/ 577839 h 1486349"/>
                <a:gd name="connsiteX6-139" fmla="*/ 930427 w 1867843"/>
                <a:gd name="connsiteY6-140" fmla="*/ 0 h 1486349"/>
                <a:gd name="connsiteX0-141" fmla="*/ 830159 w 1767575"/>
                <a:gd name="connsiteY0-142" fmla="*/ 0 h 1486349"/>
                <a:gd name="connsiteX1-143" fmla="*/ 0 w 1767575"/>
                <a:gd name="connsiteY1-144" fmla="*/ 626251 h 1486349"/>
                <a:gd name="connsiteX2-145" fmla="*/ 249175 w 1767575"/>
                <a:gd name="connsiteY2-146" fmla="*/ 1454346 h 1486349"/>
                <a:gd name="connsiteX3-147" fmla="*/ 825911 w 1767575"/>
                <a:gd name="connsiteY3-148" fmla="*/ 1486349 h 1486349"/>
                <a:gd name="connsiteX4-149" fmla="*/ 1337085 w 1767575"/>
                <a:gd name="connsiteY4-150" fmla="*/ 1386850 h 1486349"/>
                <a:gd name="connsiteX5-151" fmla="*/ 1767575 w 1767575"/>
                <a:gd name="connsiteY5-152" fmla="*/ 577839 h 1486349"/>
                <a:gd name="connsiteX6-153" fmla="*/ 830159 w 1767575"/>
                <a:gd name="connsiteY6-154" fmla="*/ 0 h 1486349"/>
                <a:gd name="connsiteX0-155" fmla="*/ 873131 w 1810547"/>
                <a:gd name="connsiteY0-156" fmla="*/ 0 h 1486349"/>
                <a:gd name="connsiteX1-157" fmla="*/ 0 w 1810547"/>
                <a:gd name="connsiteY1-158" fmla="*/ 597603 h 1486349"/>
                <a:gd name="connsiteX2-159" fmla="*/ 292147 w 1810547"/>
                <a:gd name="connsiteY2-160" fmla="*/ 1454346 h 1486349"/>
                <a:gd name="connsiteX3-161" fmla="*/ 868883 w 1810547"/>
                <a:gd name="connsiteY3-162" fmla="*/ 1486349 h 1486349"/>
                <a:gd name="connsiteX4-163" fmla="*/ 1380057 w 1810547"/>
                <a:gd name="connsiteY4-164" fmla="*/ 1386850 h 1486349"/>
                <a:gd name="connsiteX5-165" fmla="*/ 1810547 w 1810547"/>
                <a:gd name="connsiteY5-166" fmla="*/ 577839 h 1486349"/>
                <a:gd name="connsiteX6-167" fmla="*/ 873131 w 1810547"/>
                <a:gd name="connsiteY6-168" fmla="*/ 0 h 1486349"/>
                <a:gd name="connsiteX0-169" fmla="*/ 873131 w 1810547"/>
                <a:gd name="connsiteY0-170" fmla="*/ 0 h 1486349"/>
                <a:gd name="connsiteX1-171" fmla="*/ 0 w 1810547"/>
                <a:gd name="connsiteY1-172" fmla="*/ 597603 h 1486349"/>
                <a:gd name="connsiteX2-173" fmla="*/ 292147 w 1810547"/>
                <a:gd name="connsiteY2-174" fmla="*/ 1454346 h 1486349"/>
                <a:gd name="connsiteX3-175" fmla="*/ 868883 w 1810547"/>
                <a:gd name="connsiteY3-176" fmla="*/ 1486349 h 1486349"/>
                <a:gd name="connsiteX4-177" fmla="*/ 1334187 w 1810547"/>
                <a:gd name="connsiteY4-178" fmla="*/ 1356271 h 1486349"/>
                <a:gd name="connsiteX5-179" fmla="*/ 1810547 w 1810547"/>
                <a:gd name="connsiteY5-180" fmla="*/ 577839 h 1486349"/>
                <a:gd name="connsiteX6-181" fmla="*/ 873131 w 1810547"/>
                <a:gd name="connsiteY6-182" fmla="*/ 0 h 1486349"/>
                <a:gd name="connsiteX0-183" fmla="*/ 873131 w 1810547"/>
                <a:gd name="connsiteY0-184" fmla="*/ 0 h 1517345"/>
                <a:gd name="connsiteX1-185" fmla="*/ 0 w 1810547"/>
                <a:gd name="connsiteY1-186" fmla="*/ 597603 h 1517345"/>
                <a:gd name="connsiteX2-187" fmla="*/ 128350 w 1810547"/>
                <a:gd name="connsiteY2-188" fmla="*/ 1517345 h 1517345"/>
                <a:gd name="connsiteX3-189" fmla="*/ 868883 w 1810547"/>
                <a:gd name="connsiteY3-190" fmla="*/ 1486349 h 1517345"/>
                <a:gd name="connsiteX4-191" fmla="*/ 1334187 w 1810547"/>
                <a:gd name="connsiteY4-192" fmla="*/ 1356271 h 1517345"/>
                <a:gd name="connsiteX5-193" fmla="*/ 1810547 w 1810547"/>
                <a:gd name="connsiteY5-194" fmla="*/ 577839 h 1517345"/>
                <a:gd name="connsiteX6-195" fmla="*/ 873131 w 1810547"/>
                <a:gd name="connsiteY6-196" fmla="*/ 0 h 1517345"/>
                <a:gd name="connsiteX0-197" fmla="*/ 914788 w 1852204"/>
                <a:gd name="connsiteY0-198" fmla="*/ 0 h 1517345"/>
                <a:gd name="connsiteX1-199" fmla="*/ 0 w 1852204"/>
                <a:gd name="connsiteY1-200" fmla="*/ 583718 h 1517345"/>
                <a:gd name="connsiteX2-201" fmla="*/ 170007 w 1852204"/>
                <a:gd name="connsiteY2-202" fmla="*/ 1517345 h 1517345"/>
                <a:gd name="connsiteX3-203" fmla="*/ 910540 w 1852204"/>
                <a:gd name="connsiteY3-204" fmla="*/ 1486349 h 1517345"/>
                <a:gd name="connsiteX4-205" fmla="*/ 1375844 w 1852204"/>
                <a:gd name="connsiteY4-206" fmla="*/ 1356271 h 1517345"/>
                <a:gd name="connsiteX5-207" fmla="*/ 1852204 w 1852204"/>
                <a:gd name="connsiteY5-208" fmla="*/ 577839 h 1517345"/>
                <a:gd name="connsiteX6-209" fmla="*/ 914788 w 1852204"/>
                <a:gd name="connsiteY6-210" fmla="*/ 0 h 1517345"/>
                <a:gd name="connsiteX0-211" fmla="*/ 914788 w 1852204"/>
                <a:gd name="connsiteY0-212" fmla="*/ 0 h 2069542"/>
                <a:gd name="connsiteX1-213" fmla="*/ 0 w 1852204"/>
                <a:gd name="connsiteY1-214" fmla="*/ 583718 h 2069542"/>
                <a:gd name="connsiteX2-215" fmla="*/ 170007 w 1852204"/>
                <a:gd name="connsiteY2-216" fmla="*/ 1517345 h 2069542"/>
                <a:gd name="connsiteX3-217" fmla="*/ 924426 w 1852204"/>
                <a:gd name="connsiteY3-218" fmla="*/ 2069542 h 2069542"/>
                <a:gd name="connsiteX4-219" fmla="*/ 1375844 w 1852204"/>
                <a:gd name="connsiteY4-220" fmla="*/ 1356271 h 2069542"/>
                <a:gd name="connsiteX5-221" fmla="*/ 1852204 w 1852204"/>
                <a:gd name="connsiteY5-222" fmla="*/ 577839 h 2069542"/>
                <a:gd name="connsiteX6-223" fmla="*/ 914788 w 1852204"/>
                <a:gd name="connsiteY6-224" fmla="*/ 0 h 2069542"/>
                <a:gd name="connsiteX0-225" fmla="*/ 914788 w 1852204"/>
                <a:gd name="connsiteY0-226" fmla="*/ 0 h 2027885"/>
                <a:gd name="connsiteX1-227" fmla="*/ 0 w 1852204"/>
                <a:gd name="connsiteY1-228" fmla="*/ 583718 h 2027885"/>
                <a:gd name="connsiteX2-229" fmla="*/ 170007 w 1852204"/>
                <a:gd name="connsiteY2-230" fmla="*/ 1517345 h 2027885"/>
                <a:gd name="connsiteX3-231" fmla="*/ 924426 w 1852204"/>
                <a:gd name="connsiteY3-232" fmla="*/ 2027885 h 2027885"/>
                <a:gd name="connsiteX4-233" fmla="*/ 1375844 w 1852204"/>
                <a:gd name="connsiteY4-234" fmla="*/ 1356271 h 2027885"/>
                <a:gd name="connsiteX5-235" fmla="*/ 1852204 w 1852204"/>
                <a:gd name="connsiteY5-236" fmla="*/ 577839 h 2027885"/>
                <a:gd name="connsiteX6-237" fmla="*/ 914788 w 1852204"/>
                <a:gd name="connsiteY6-238" fmla="*/ 0 h 2027885"/>
                <a:gd name="connsiteX0-239" fmla="*/ 914788 w 1574494"/>
                <a:gd name="connsiteY0-240" fmla="*/ 0 h 2027885"/>
                <a:gd name="connsiteX1-241" fmla="*/ 0 w 1574494"/>
                <a:gd name="connsiteY1-242" fmla="*/ 583718 h 2027885"/>
                <a:gd name="connsiteX2-243" fmla="*/ 170007 w 1574494"/>
                <a:gd name="connsiteY2-244" fmla="*/ 1517345 h 2027885"/>
                <a:gd name="connsiteX3-245" fmla="*/ 924426 w 1574494"/>
                <a:gd name="connsiteY3-246" fmla="*/ 2027885 h 2027885"/>
                <a:gd name="connsiteX4-247" fmla="*/ 1375844 w 1574494"/>
                <a:gd name="connsiteY4-248" fmla="*/ 1356271 h 2027885"/>
                <a:gd name="connsiteX5-249" fmla="*/ 1574494 w 1574494"/>
                <a:gd name="connsiteY5-250" fmla="*/ 716694 h 2027885"/>
                <a:gd name="connsiteX6-251" fmla="*/ 914788 w 1574494"/>
                <a:gd name="connsiteY6-252" fmla="*/ 0 h 2027885"/>
                <a:gd name="connsiteX0-253" fmla="*/ 914788 w 1407868"/>
                <a:gd name="connsiteY0-254" fmla="*/ 0 h 2027885"/>
                <a:gd name="connsiteX1-255" fmla="*/ 0 w 1407868"/>
                <a:gd name="connsiteY1-256" fmla="*/ 583718 h 2027885"/>
                <a:gd name="connsiteX2-257" fmla="*/ 170007 w 1407868"/>
                <a:gd name="connsiteY2-258" fmla="*/ 1517345 h 2027885"/>
                <a:gd name="connsiteX3-259" fmla="*/ 924426 w 1407868"/>
                <a:gd name="connsiteY3-260" fmla="*/ 2027885 h 2027885"/>
                <a:gd name="connsiteX4-261" fmla="*/ 1375844 w 1407868"/>
                <a:gd name="connsiteY4-262" fmla="*/ 1356271 h 2027885"/>
                <a:gd name="connsiteX5-263" fmla="*/ 1407868 w 1407868"/>
                <a:gd name="connsiteY5-264" fmla="*/ 813894 h 2027885"/>
                <a:gd name="connsiteX6-265" fmla="*/ 914788 w 1407868"/>
                <a:gd name="connsiteY6-266" fmla="*/ 0 h 202788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407868" h="2027885">
                  <a:moveTo>
                    <a:pt x="914788" y="0"/>
                  </a:moveTo>
                  <a:lnTo>
                    <a:pt x="0" y="583718"/>
                  </a:lnTo>
                  <a:lnTo>
                    <a:pt x="170007" y="1517345"/>
                  </a:lnTo>
                  <a:lnTo>
                    <a:pt x="924426" y="2027885"/>
                  </a:lnTo>
                  <a:lnTo>
                    <a:pt x="1375844" y="1356271"/>
                  </a:lnTo>
                  <a:lnTo>
                    <a:pt x="1407868" y="813894"/>
                  </a:lnTo>
                  <a:lnTo>
                    <a:pt x="914788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/>
            </a:p>
          </p:txBody>
        </p:sp>
        <p:cxnSp>
          <p:nvCxnSpPr>
            <p:cNvPr id="66" name="米菲PPT13"/>
            <p:cNvCxnSpPr>
              <a:stCxn id="87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3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4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75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米菲PPT28"/>
            <p:cNvCxnSpPr>
              <a:stCxn id="74" idx="4"/>
              <a:endCxn id="79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9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0" name="米菲PPT44"/>
            <p:cNvSpPr txBox="1"/>
            <p:nvPr/>
          </p:nvSpPr>
          <p:spPr>
            <a:xfrm>
              <a:off x="4552550" y="575706"/>
              <a:ext cx="673822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1" name="米菲PPT45"/>
            <p:cNvSpPr txBox="1"/>
            <p:nvPr/>
          </p:nvSpPr>
          <p:spPr>
            <a:xfrm>
              <a:off x="3266683" y="1267630"/>
              <a:ext cx="681225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2" name="米菲PPT46"/>
            <p:cNvSpPr txBox="1"/>
            <p:nvPr/>
          </p:nvSpPr>
          <p:spPr>
            <a:xfrm>
              <a:off x="3254934" y="2580718"/>
              <a:ext cx="681225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3" name="米菲PPT47"/>
            <p:cNvSpPr txBox="1"/>
            <p:nvPr/>
          </p:nvSpPr>
          <p:spPr>
            <a:xfrm>
              <a:off x="5897136" y="1305035"/>
              <a:ext cx="673822" cy="870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</a:t>
              </a:r>
              <a:endParaRPr lang="en-US" altLang="zh-CN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（星评）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4" name="米菲PPT48"/>
            <p:cNvSpPr txBox="1"/>
            <p:nvPr/>
          </p:nvSpPr>
          <p:spPr>
            <a:xfrm>
              <a:off x="5875807" y="2476714"/>
              <a:ext cx="673822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5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6" name="米菲PPT94"/>
            <p:cNvSpPr txBox="1"/>
            <p:nvPr/>
          </p:nvSpPr>
          <p:spPr>
            <a:xfrm>
              <a:off x="4243374" y="3416503"/>
              <a:ext cx="1338783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7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88" name="米菲PPT20"/>
            <p:cNvCxnSpPr>
              <a:stCxn id="87" idx="0"/>
              <a:endCxn id="72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米菲PPT27"/>
            <p:cNvCxnSpPr>
              <a:stCxn id="87" idx="3"/>
              <a:endCxn id="79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米菲PPT29"/>
            <p:cNvCxnSpPr>
              <a:stCxn id="87" idx="6"/>
              <a:endCxn id="78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米菲PPT48"/>
            <p:cNvSpPr txBox="1"/>
            <p:nvPr/>
          </p:nvSpPr>
          <p:spPr>
            <a:xfrm>
              <a:off x="4624637" y="2143098"/>
              <a:ext cx="584262" cy="38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D+</a:t>
              </a:r>
              <a:endParaRPr lang="zh-CN" altLang="en-US" sz="11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6973305" y="2307748"/>
            <a:ext cx="2223018" cy="2116128"/>
            <a:chOff x="3266683" y="587965"/>
            <a:chExt cx="3308224" cy="3149155"/>
          </a:xfrm>
        </p:grpSpPr>
        <p:sp>
          <p:nvSpPr>
            <p:cNvPr id="93" name="任意形状 92"/>
            <p:cNvSpPr/>
            <p:nvPr/>
          </p:nvSpPr>
          <p:spPr>
            <a:xfrm>
              <a:off x="4611182" y="1093960"/>
              <a:ext cx="1245620" cy="1661420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437353"/>
                <a:gd name="connsiteY0-114" fmla="*/ 0 h 1408835"/>
                <a:gd name="connsiteX1-115" fmla="*/ 0 w 1437353"/>
                <a:gd name="connsiteY1-116" fmla="*/ 491440 h 1408835"/>
                <a:gd name="connsiteX2-117" fmla="*/ 553560 w 1437353"/>
                <a:gd name="connsiteY2-118" fmla="*/ 1252093 h 1408835"/>
                <a:gd name="connsiteX3-119" fmla="*/ 926179 w 1437353"/>
                <a:gd name="connsiteY3-120" fmla="*/ 1408835 h 1408835"/>
                <a:gd name="connsiteX4-121" fmla="*/ 1437353 w 1437353"/>
                <a:gd name="connsiteY4-122" fmla="*/ 1309336 h 1408835"/>
                <a:gd name="connsiteX5-123" fmla="*/ 1147789 w 1437353"/>
                <a:gd name="connsiteY5-124" fmla="*/ 905356 h 1408835"/>
                <a:gd name="connsiteX6-125" fmla="*/ 930427 w 1437353"/>
                <a:gd name="connsiteY6-126" fmla="*/ 0 h 1408835"/>
                <a:gd name="connsiteX0-127" fmla="*/ 840421 w 1347347"/>
                <a:gd name="connsiteY0-128" fmla="*/ 0 h 1408835"/>
                <a:gd name="connsiteX1-129" fmla="*/ 0 w 1347347"/>
                <a:gd name="connsiteY1-130" fmla="*/ 558945 h 1408835"/>
                <a:gd name="connsiteX2-131" fmla="*/ 463554 w 1347347"/>
                <a:gd name="connsiteY2-132" fmla="*/ 1252093 h 1408835"/>
                <a:gd name="connsiteX3-133" fmla="*/ 836173 w 1347347"/>
                <a:gd name="connsiteY3-134" fmla="*/ 1408835 h 1408835"/>
                <a:gd name="connsiteX4-135" fmla="*/ 1347347 w 1347347"/>
                <a:gd name="connsiteY4-136" fmla="*/ 1309336 h 1408835"/>
                <a:gd name="connsiteX5-137" fmla="*/ 1057783 w 1347347"/>
                <a:gd name="connsiteY5-138" fmla="*/ 905356 h 1408835"/>
                <a:gd name="connsiteX6-139" fmla="*/ 840421 w 1347347"/>
                <a:gd name="connsiteY6-140" fmla="*/ 0 h 1408835"/>
                <a:gd name="connsiteX0-141" fmla="*/ 855423 w 1347347"/>
                <a:gd name="connsiteY0-142" fmla="*/ 0 h 1408835"/>
                <a:gd name="connsiteX1-143" fmla="*/ 0 w 1347347"/>
                <a:gd name="connsiteY1-144" fmla="*/ 558945 h 1408835"/>
                <a:gd name="connsiteX2-145" fmla="*/ 463554 w 1347347"/>
                <a:gd name="connsiteY2-146" fmla="*/ 1252093 h 1408835"/>
                <a:gd name="connsiteX3-147" fmla="*/ 836173 w 1347347"/>
                <a:gd name="connsiteY3-148" fmla="*/ 1408835 h 1408835"/>
                <a:gd name="connsiteX4-149" fmla="*/ 1347347 w 1347347"/>
                <a:gd name="connsiteY4-150" fmla="*/ 1309336 h 1408835"/>
                <a:gd name="connsiteX5-151" fmla="*/ 1057783 w 1347347"/>
                <a:gd name="connsiteY5-152" fmla="*/ 905356 h 1408835"/>
                <a:gd name="connsiteX6-153" fmla="*/ 855423 w 1347347"/>
                <a:gd name="connsiteY6-154" fmla="*/ 0 h 1408835"/>
                <a:gd name="connsiteX0-155" fmla="*/ 855423 w 1347347"/>
                <a:gd name="connsiteY0-156" fmla="*/ 0 h 1408835"/>
                <a:gd name="connsiteX1-157" fmla="*/ 0 w 1347347"/>
                <a:gd name="connsiteY1-158" fmla="*/ 558945 h 1408835"/>
                <a:gd name="connsiteX2-159" fmla="*/ 628567 w 1347347"/>
                <a:gd name="connsiteY2-160" fmla="*/ 1139585 h 1408835"/>
                <a:gd name="connsiteX3-161" fmla="*/ 836173 w 1347347"/>
                <a:gd name="connsiteY3-162" fmla="*/ 1408835 h 1408835"/>
                <a:gd name="connsiteX4-163" fmla="*/ 1347347 w 1347347"/>
                <a:gd name="connsiteY4-164" fmla="*/ 1309336 h 1408835"/>
                <a:gd name="connsiteX5-165" fmla="*/ 1057783 w 1347347"/>
                <a:gd name="connsiteY5-166" fmla="*/ 905356 h 1408835"/>
                <a:gd name="connsiteX6-167" fmla="*/ 855423 w 1347347"/>
                <a:gd name="connsiteY6-168" fmla="*/ 0 h 1408835"/>
                <a:gd name="connsiteX0-169" fmla="*/ 855423 w 1347347"/>
                <a:gd name="connsiteY0-170" fmla="*/ 0 h 1333829"/>
                <a:gd name="connsiteX1-171" fmla="*/ 0 w 1347347"/>
                <a:gd name="connsiteY1-172" fmla="*/ 558945 h 1333829"/>
                <a:gd name="connsiteX2-173" fmla="*/ 628567 w 1347347"/>
                <a:gd name="connsiteY2-174" fmla="*/ 1139585 h 1333829"/>
                <a:gd name="connsiteX3-175" fmla="*/ 821172 w 1347347"/>
                <a:gd name="connsiteY3-176" fmla="*/ 1333829 h 1333829"/>
                <a:gd name="connsiteX4-177" fmla="*/ 1347347 w 1347347"/>
                <a:gd name="connsiteY4-178" fmla="*/ 1309336 h 1333829"/>
                <a:gd name="connsiteX5-179" fmla="*/ 1057783 w 1347347"/>
                <a:gd name="connsiteY5-180" fmla="*/ 905356 h 1333829"/>
                <a:gd name="connsiteX6-181" fmla="*/ 855423 w 1347347"/>
                <a:gd name="connsiteY6-182" fmla="*/ 0 h 1333829"/>
                <a:gd name="connsiteX0-183" fmla="*/ 855423 w 1347347"/>
                <a:gd name="connsiteY0-184" fmla="*/ 0 h 1357195"/>
                <a:gd name="connsiteX1-185" fmla="*/ 0 w 1347347"/>
                <a:gd name="connsiteY1-186" fmla="*/ 558945 h 1357195"/>
                <a:gd name="connsiteX2-187" fmla="*/ 628567 w 1347347"/>
                <a:gd name="connsiteY2-188" fmla="*/ 1139585 h 1357195"/>
                <a:gd name="connsiteX3-189" fmla="*/ 821172 w 1347347"/>
                <a:gd name="connsiteY3-190" fmla="*/ 1357195 h 1357195"/>
                <a:gd name="connsiteX4-191" fmla="*/ 1347347 w 1347347"/>
                <a:gd name="connsiteY4-192" fmla="*/ 1309336 h 1357195"/>
                <a:gd name="connsiteX5-193" fmla="*/ 1057783 w 1347347"/>
                <a:gd name="connsiteY5-194" fmla="*/ 905356 h 1357195"/>
                <a:gd name="connsiteX6-195" fmla="*/ 855423 w 1347347"/>
                <a:gd name="connsiteY6-196" fmla="*/ 0 h 1357195"/>
                <a:gd name="connsiteX0-197" fmla="*/ 855423 w 1057783"/>
                <a:gd name="connsiteY0-198" fmla="*/ 0 h 1357195"/>
                <a:gd name="connsiteX1-199" fmla="*/ 0 w 1057783"/>
                <a:gd name="connsiteY1-200" fmla="*/ 558945 h 1357195"/>
                <a:gd name="connsiteX2-201" fmla="*/ 628567 w 1057783"/>
                <a:gd name="connsiteY2-202" fmla="*/ 1139585 h 1357195"/>
                <a:gd name="connsiteX3-203" fmla="*/ 821172 w 1057783"/>
                <a:gd name="connsiteY3-204" fmla="*/ 1357195 h 1357195"/>
                <a:gd name="connsiteX4-205" fmla="*/ 1020207 w 1057783"/>
                <a:gd name="connsiteY4-206" fmla="*/ 1128240 h 1357195"/>
                <a:gd name="connsiteX5-207" fmla="*/ 1057783 w 1057783"/>
                <a:gd name="connsiteY5-208" fmla="*/ 905356 h 1357195"/>
                <a:gd name="connsiteX6-209" fmla="*/ 855423 w 1057783"/>
                <a:gd name="connsiteY6-210" fmla="*/ 0 h 1357195"/>
                <a:gd name="connsiteX0-211" fmla="*/ 855423 w 1057783"/>
                <a:gd name="connsiteY0-212" fmla="*/ 0 h 1847906"/>
                <a:gd name="connsiteX1-213" fmla="*/ 0 w 1057783"/>
                <a:gd name="connsiteY1-214" fmla="*/ 558945 h 1847906"/>
                <a:gd name="connsiteX2-215" fmla="*/ 628567 w 1057783"/>
                <a:gd name="connsiteY2-216" fmla="*/ 1139585 h 1847906"/>
                <a:gd name="connsiteX3-217" fmla="*/ 832855 w 1057783"/>
                <a:gd name="connsiteY3-218" fmla="*/ 1847906 h 1847906"/>
                <a:gd name="connsiteX4-219" fmla="*/ 1020207 w 1057783"/>
                <a:gd name="connsiteY4-220" fmla="*/ 1128240 h 1847906"/>
                <a:gd name="connsiteX5-221" fmla="*/ 1057783 w 1057783"/>
                <a:gd name="connsiteY5-222" fmla="*/ 905356 h 1847906"/>
                <a:gd name="connsiteX6-223" fmla="*/ 855423 w 1057783"/>
                <a:gd name="connsiteY6-224" fmla="*/ 0 h 1847906"/>
                <a:gd name="connsiteX0-225" fmla="*/ 855423 w 1057783"/>
                <a:gd name="connsiteY0-226" fmla="*/ 0 h 1847906"/>
                <a:gd name="connsiteX1-227" fmla="*/ 0 w 1057783"/>
                <a:gd name="connsiteY1-228" fmla="*/ 558945 h 1847906"/>
                <a:gd name="connsiteX2-229" fmla="*/ 645443 w 1057783"/>
                <a:gd name="connsiteY2-230" fmla="*/ 1164900 h 1847906"/>
                <a:gd name="connsiteX3-231" fmla="*/ 832855 w 1057783"/>
                <a:gd name="connsiteY3-232" fmla="*/ 1847906 h 1847906"/>
                <a:gd name="connsiteX4-233" fmla="*/ 1020207 w 1057783"/>
                <a:gd name="connsiteY4-234" fmla="*/ 1128240 h 1847906"/>
                <a:gd name="connsiteX5-235" fmla="*/ 1057783 w 1057783"/>
                <a:gd name="connsiteY5-236" fmla="*/ 905356 h 1847906"/>
                <a:gd name="connsiteX6-237" fmla="*/ 855423 w 1057783"/>
                <a:gd name="connsiteY6-238" fmla="*/ 0 h 1847906"/>
                <a:gd name="connsiteX0-239" fmla="*/ 729426 w 931786"/>
                <a:gd name="connsiteY0-240" fmla="*/ 0 h 1847906"/>
                <a:gd name="connsiteX1-241" fmla="*/ 0 w 931786"/>
                <a:gd name="connsiteY1-242" fmla="*/ 571544 h 1847906"/>
                <a:gd name="connsiteX2-243" fmla="*/ 519446 w 931786"/>
                <a:gd name="connsiteY2-244" fmla="*/ 1164900 h 1847906"/>
                <a:gd name="connsiteX3-245" fmla="*/ 706858 w 931786"/>
                <a:gd name="connsiteY3-246" fmla="*/ 1847906 h 1847906"/>
                <a:gd name="connsiteX4-247" fmla="*/ 894210 w 931786"/>
                <a:gd name="connsiteY4-248" fmla="*/ 1128240 h 1847906"/>
                <a:gd name="connsiteX5-249" fmla="*/ 931786 w 931786"/>
                <a:gd name="connsiteY5-250" fmla="*/ 905356 h 1847906"/>
                <a:gd name="connsiteX6-251" fmla="*/ 729426 w 931786"/>
                <a:gd name="connsiteY6-252" fmla="*/ 0 h 1847906"/>
                <a:gd name="connsiteX0-253" fmla="*/ 742026 w 944386"/>
                <a:gd name="connsiteY0-254" fmla="*/ 0 h 1847906"/>
                <a:gd name="connsiteX1-255" fmla="*/ 0 w 944386"/>
                <a:gd name="connsiteY1-256" fmla="*/ 621944 h 1847906"/>
                <a:gd name="connsiteX2-257" fmla="*/ 532046 w 944386"/>
                <a:gd name="connsiteY2-258" fmla="*/ 1164900 h 1847906"/>
                <a:gd name="connsiteX3-259" fmla="*/ 719458 w 944386"/>
                <a:gd name="connsiteY3-260" fmla="*/ 1847906 h 1847906"/>
                <a:gd name="connsiteX4-261" fmla="*/ 906810 w 944386"/>
                <a:gd name="connsiteY4-262" fmla="*/ 1128240 h 1847906"/>
                <a:gd name="connsiteX5-263" fmla="*/ 944386 w 944386"/>
                <a:gd name="connsiteY5-264" fmla="*/ 905356 h 1847906"/>
                <a:gd name="connsiteX6-265" fmla="*/ 742026 w 944386"/>
                <a:gd name="connsiteY6-266" fmla="*/ 0 h 1847906"/>
                <a:gd name="connsiteX0-267" fmla="*/ 214376 w 416736"/>
                <a:gd name="connsiteY0-268" fmla="*/ 0 h 1847906"/>
                <a:gd name="connsiteX1-269" fmla="*/ 0 w 416736"/>
                <a:gd name="connsiteY1-270" fmla="*/ 844113 h 1847906"/>
                <a:gd name="connsiteX2-271" fmla="*/ 4396 w 416736"/>
                <a:gd name="connsiteY2-272" fmla="*/ 1164900 h 1847906"/>
                <a:gd name="connsiteX3-273" fmla="*/ 191808 w 416736"/>
                <a:gd name="connsiteY3-274" fmla="*/ 1847906 h 1847906"/>
                <a:gd name="connsiteX4-275" fmla="*/ 379160 w 416736"/>
                <a:gd name="connsiteY4-276" fmla="*/ 1128240 h 1847906"/>
                <a:gd name="connsiteX5-277" fmla="*/ 416736 w 416736"/>
                <a:gd name="connsiteY5-278" fmla="*/ 905356 h 1847906"/>
                <a:gd name="connsiteX6-279" fmla="*/ 214376 w 416736"/>
                <a:gd name="connsiteY6-280" fmla="*/ 0 h 1847906"/>
                <a:gd name="connsiteX0-281" fmla="*/ 214376 w 416736"/>
                <a:gd name="connsiteY0-282" fmla="*/ 0 h 1917334"/>
                <a:gd name="connsiteX1-283" fmla="*/ 0 w 416736"/>
                <a:gd name="connsiteY1-284" fmla="*/ 844113 h 1917334"/>
                <a:gd name="connsiteX2-285" fmla="*/ 4396 w 416736"/>
                <a:gd name="connsiteY2-286" fmla="*/ 1164900 h 1917334"/>
                <a:gd name="connsiteX3-287" fmla="*/ 219579 w 416736"/>
                <a:gd name="connsiteY3-288" fmla="*/ 1917334 h 1917334"/>
                <a:gd name="connsiteX4-289" fmla="*/ 379160 w 416736"/>
                <a:gd name="connsiteY4-290" fmla="*/ 1128240 h 1917334"/>
                <a:gd name="connsiteX5-291" fmla="*/ 416736 w 416736"/>
                <a:gd name="connsiteY5-292" fmla="*/ 905356 h 1917334"/>
                <a:gd name="connsiteX6-293" fmla="*/ 214376 w 416736"/>
                <a:gd name="connsiteY6-294" fmla="*/ 0 h 1917334"/>
                <a:gd name="connsiteX0-295" fmla="*/ 214376 w 1152669"/>
                <a:gd name="connsiteY0-296" fmla="*/ 0 h 1917334"/>
                <a:gd name="connsiteX1-297" fmla="*/ 0 w 1152669"/>
                <a:gd name="connsiteY1-298" fmla="*/ 844113 h 1917334"/>
                <a:gd name="connsiteX2-299" fmla="*/ 4396 w 1152669"/>
                <a:gd name="connsiteY2-300" fmla="*/ 1164900 h 1917334"/>
                <a:gd name="connsiteX3-301" fmla="*/ 219579 w 1152669"/>
                <a:gd name="connsiteY3-302" fmla="*/ 1917334 h 1917334"/>
                <a:gd name="connsiteX4-303" fmla="*/ 379160 w 1152669"/>
                <a:gd name="connsiteY4-304" fmla="*/ 1128240 h 1917334"/>
                <a:gd name="connsiteX5-305" fmla="*/ 1152669 w 1152669"/>
                <a:gd name="connsiteY5-306" fmla="*/ 516560 h 1917334"/>
                <a:gd name="connsiteX6-307" fmla="*/ 214376 w 1152669"/>
                <a:gd name="connsiteY6-308" fmla="*/ 0 h 1917334"/>
                <a:gd name="connsiteX0-309" fmla="*/ 214376 w 1152669"/>
                <a:gd name="connsiteY0-310" fmla="*/ 0 h 1750708"/>
                <a:gd name="connsiteX1-311" fmla="*/ 0 w 1152669"/>
                <a:gd name="connsiteY1-312" fmla="*/ 844113 h 1750708"/>
                <a:gd name="connsiteX2-313" fmla="*/ 4396 w 1152669"/>
                <a:gd name="connsiteY2-314" fmla="*/ 1164900 h 1750708"/>
                <a:gd name="connsiteX3-315" fmla="*/ 191808 w 1152669"/>
                <a:gd name="connsiteY3-316" fmla="*/ 1750708 h 1750708"/>
                <a:gd name="connsiteX4-317" fmla="*/ 379160 w 1152669"/>
                <a:gd name="connsiteY4-318" fmla="*/ 1128240 h 1750708"/>
                <a:gd name="connsiteX5-319" fmla="*/ 1152669 w 1152669"/>
                <a:gd name="connsiteY5-320" fmla="*/ 516560 h 1750708"/>
                <a:gd name="connsiteX6-321" fmla="*/ 214376 w 1152669"/>
                <a:gd name="connsiteY6-322" fmla="*/ 0 h 1750708"/>
                <a:gd name="connsiteX0-323" fmla="*/ 334961 w 1273254"/>
                <a:gd name="connsiteY0-324" fmla="*/ 0 h 1750708"/>
                <a:gd name="connsiteX1-325" fmla="*/ 120585 w 1273254"/>
                <a:gd name="connsiteY1-326" fmla="*/ 844113 h 1750708"/>
                <a:gd name="connsiteX2-327" fmla="*/ 12 w 1273254"/>
                <a:gd name="connsiteY2-328" fmla="*/ 1220442 h 1750708"/>
                <a:gd name="connsiteX3-329" fmla="*/ 312393 w 1273254"/>
                <a:gd name="connsiteY3-330" fmla="*/ 1750708 h 1750708"/>
                <a:gd name="connsiteX4-331" fmla="*/ 499745 w 1273254"/>
                <a:gd name="connsiteY4-332" fmla="*/ 1128240 h 1750708"/>
                <a:gd name="connsiteX5-333" fmla="*/ 1273254 w 1273254"/>
                <a:gd name="connsiteY5-334" fmla="*/ 516560 h 1750708"/>
                <a:gd name="connsiteX6-335" fmla="*/ 334961 w 1273254"/>
                <a:gd name="connsiteY6-336" fmla="*/ 0 h 1750708"/>
                <a:gd name="connsiteX0-337" fmla="*/ 334961 w 1273254"/>
                <a:gd name="connsiteY0-338" fmla="*/ 0 h 1653508"/>
                <a:gd name="connsiteX1-339" fmla="*/ 120585 w 1273254"/>
                <a:gd name="connsiteY1-340" fmla="*/ 844113 h 1653508"/>
                <a:gd name="connsiteX2-341" fmla="*/ 12 w 1273254"/>
                <a:gd name="connsiteY2-342" fmla="*/ 1220442 h 1653508"/>
                <a:gd name="connsiteX3-343" fmla="*/ 298509 w 1273254"/>
                <a:gd name="connsiteY3-344" fmla="*/ 1653508 h 1653508"/>
                <a:gd name="connsiteX4-345" fmla="*/ 499745 w 1273254"/>
                <a:gd name="connsiteY4-346" fmla="*/ 1128240 h 1653508"/>
                <a:gd name="connsiteX5-347" fmla="*/ 1273254 w 1273254"/>
                <a:gd name="connsiteY5-348" fmla="*/ 516560 h 1653508"/>
                <a:gd name="connsiteX6-349" fmla="*/ 334961 w 1273254"/>
                <a:gd name="connsiteY6-350" fmla="*/ 0 h 1653508"/>
                <a:gd name="connsiteX0-351" fmla="*/ 334961 w 1273254"/>
                <a:gd name="connsiteY0-352" fmla="*/ 0 h 1661419"/>
                <a:gd name="connsiteX1-353" fmla="*/ 120585 w 1273254"/>
                <a:gd name="connsiteY1-354" fmla="*/ 844113 h 1661419"/>
                <a:gd name="connsiteX2-355" fmla="*/ 12 w 1273254"/>
                <a:gd name="connsiteY2-356" fmla="*/ 1220442 h 1661419"/>
                <a:gd name="connsiteX3-357" fmla="*/ 314332 w 1273254"/>
                <a:gd name="connsiteY3-358" fmla="*/ 1661419 h 1661419"/>
                <a:gd name="connsiteX4-359" fmla="*/ 499745 w 1273254"/>
                <a:gd name="connsiteY4-360" fmla="*/ 1128240 h 1661419"/>
                <a:gd name="connsiteX5-361" fmla="*/ 1273254 w 1273254"/>
                <a:gd name="connsiteY5-362" fmla="*/ 516560 h 1661419"/>
                <a:gd name="connsiteX6-363" fmla="*/ 334961 w 1273254"/>
                <a:gd name="connsiteY6-364" fmla="*/ 0 h 1661419"/>
                <a:gd name="connsiteX0-365" fmla="*/ 334970 w 1273263"/>
                <a:gd name="connsiteY0-366" fmla="*/ 0 h 1661419"/>
                <a:gd name="connsiteX1-367" fmla="*/ 70810 w 1273263"/>
                <a:gd name="connsiteY1-368" fmla="*/ 888366 h 1661419"/>
                <a:gd name="connsiteX2-369" fmla="*/ 21 w 1273263"/>
                <a:gd name="connsiteY2-370" fmla="*/ 1220442 h 1661419"/>
                <a:gd name="connsiteX3-371" fmla="*/ 314341 w 1273263"/>
                <a:gd name="connsiteY3-372" fmla="*/ 1661419 h 1661419"/>
                <a:gd name="connsiteX4-373" fmla="*/ 499754 w 1273263"/>
                <a:gd name="connsiteY4-374" fmla="*/ 1128240 h 1661419"/>
                <a:gd name="connsiteX5-375" fmla="*/ 1273263 w 1273263"/>
                <a:gd name="connsiteY5-376" fmla="*/ 516560 h 1661419"/>
                <a:gd name="connsiteX6-377" fmla="*/ 334970 w 1273263"/>
                <a:gd name="connsiteY6-378" fmla="*/ 0 h 1661419"/>
                <a:gd name="connsiteX0-379" fmla="*/ 307327 w 1245620"/>
                <a:gd name="connsiteY0-380" fmla="*/ 0 h 1661419"/>
                <a:gd name="connsiteX1-381" fmla="*/ 43167 w 1245620"/>
                <a:gd name="connsiteY1-382" fmla="*/ 888366 h 1661419"/>
                <a:gd name="connsiteX2-383" fmla="*/ 35 w 1245620"/>
                <a:gd name="connsiteY2-384" fmla="*/ 1214911 h 1661419"/>
                <a:gd name="connsiteX3-385" fmla="*/ 286698 w 1245620"/>
                <a:gd name="connsiteY3-386" fmla="*/ 1661419 h 1661419"/>
                <a:gd name="connsiteX4-387" fmla="*/ 472111 w 1245620"/>
                <a:gd name="connsiteY4-388" fmla="*/ 1128240 h 1661419"/>
                <a:gd name="connsiteX5-389" fmla="*/ 1245620 w 1245620"/>
                <a:gd name="connsiteY5-390" fmla="*/ 516560 h 1661419"/>
                <a:gd name="connsiteX6-391" fmla="*/ 307327 w 1245620"/>
                <a:gd name="connsiteY6-392" fmla="*/ 0 h 1661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245620" h="1661419">
                  <a:moveTo>
                    <a:pt x="307327" y="0"/>
                  </a:moveTo>
                  <a:lnTo>
                    <a:pt x="43167" y="888366"/>
                  </a:lnTo>
                  <a:cubicBezTo>
                    <a:pt x="44632" y="995295"/>
                    <a:pt x="-1430" y="1107982"/>
                    <a:pt x="35" y="1214911"/>
                  </a:cubicBezTo>
                  <a:lnTo>
                    <a:pt x="286698" y="1661419"/>
                  </a:lnTo>
                  <a:lnTo>
                    <a:pt x="472111" y="1128240"/>
                  </a:lnTo>
                  <a:lnTo>
                    <a:pt x="1245620" y="516560"/>
                  </a:lnTo>
                  <a:lnTo>
                    <a:pt x="307327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/>
            </a:p>
          </p:txBody>
        </p:sp>
        <p:cxnSp>
          <p:nvCxnSpPr>
            <p:cNvPr id="94" name="米菲PPT13"/>
            <p:cNvCxnSpPr>
              <a:stCxn id="115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1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2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103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米菲PPT28"/>
            <p:cNvCxnSpPr>
              <a:stCxn id="102" idx="4"/>
              <a:endCxn id="107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7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8" name="米菲PPT44"/>
            <p:cNvSpPr txBox="1"/>
            <p:nvPr/>
          </p:nvSpPr>
          <p:spPr>
            <a:xfrm>
              <a:off x="4611308" y="587965"/>
              <a:ext cx="627321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09" name="米菲PPT45"/>
            <p:cNvSpPr txBox="1"/>
            <p:nvPr/>
          </p:nvSpPr>
          <p:spPr>
            <a:xfrm>
              <a:off x="3266683" y="1267629"/>
              <a:ext cx="654170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0" name="米菲PPT46"/>
            <p:cNvSpPr txBox="1"/>
            <p:nvPr/>
          </p:nvSpPr>
          <p:spPr>
            <a:xfrm>
              <a:off x="3278733" y="2587498"/>
              <a:ext cx="654170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1" name="米菲PPT47"/>
            <p:cNvSpPr txBox="1"/>
            <p:nvPr/>
          </p:nvSpPr>
          <p:spPr>
            <a:xfrm>
              <a:off x="5943635" y="1305035"/>
              <a:ext cx="627321" cy="870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行为资产（导航）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2" name="米菲PPT48"/>
            <p:cNvSpPr txBox="1"/>
            <p:nvPr/>
          </p:nvSpPr>
          <p:spPr>
            <a:xfrm>
              <a:off x="5947586" y="2470291"/>
              <a:ext cx="627321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3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14" name="米菲PPT94"/>
            <p:cNvSpPr txBox="1"/>
            <p:nvPr/>
          </p:nvSpPr>
          <p:spPr>
            <a:xfrm>
              <a:off x="4243374" y="3416503"/>
              <a:ext cx="1338782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5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116" name="米菲PPT20"/>
            <p:cNvCxnSpPr>
              <a:stCxn id="115" idx="0"/>
              <a:endCxn id="100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米菲PPT27"/>
            <p:cNvCxnSpPr>
              <a:stCxn id="115" idx="3"/>
              <a:endCxn id="107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米菲PPT29"/>
            <p:cNvCxnSpPr>
              <a:stCxn id="115" idx="6"/>
              <a:endCxn id="106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米菲PPT48"/>
            <p:cNvSpPr txBox="1"/>
            <p:nvPr/>
          </p:nvSpPr>
          <p:spPr>
            <a:xfrm>
              <a:off x="4624637" y="2127978"/>
              <a:ext cx="584262" cy="38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B+</a:t>
              </a:r>
              <a:endParaRPr lang="zh-CN" altLang="en-US" sz="11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sp>
        <p:nvSpPr>
          <p:cNvPr id="124" name="文本占位符 5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美团榜单定位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51114" y="-63920"/>
            <a:ext cx="8741105" cy="64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</a:rPr>
              <a:t>相对于</a:t>
            </a:r>
            <a:r>
              <a:rPr lang="en-US" altLang="zh-CN" sz="1200" dirty="0">
                <a:latin typeface="+mn-ea"/>
              </a:rPr>
              <a:t>D+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B+</a:t>
            </a:r>
            <a:r>
              <a:rPr lang="zh-CN" altLang="en-US" sz="1200" dirty="0">
                <a:latin typeface="+mn-ea"/>
              </a:rPr>
              <a:t>定位差异在于</a:t>
            </a:r>
            <a:r>
              <a:rPr lang="zh-CN" altLang="en-US" sz="1200" b="1" dirty="0">
                <a:latin typeface="+mn-ea"/>
              </a:rPr>
              <a:t>核心资产（评价、星级）的规模及丰富度</a:t>
            </a:r>
            <a:r>
              <a:rPr lang="zh-CN" altLang="en-US" sz="1200" dirty="0">
                <a:latin typeface="+mn-ea"/>
              </a:rPr>
              <a:t>，以及对</a:t>
            </a:r>
            <a:r>
              <a:rPr lang="zh-CN" altLang="en-US" sz="1200" b="1" dirty="0">
                <a:latin typeface="+mn-ea"/>
              </a:rPr>
              <a:t>核心供给</a:t>
            </a:r>
            <a:r>
              <a:rPr lang="zh-CN" altLang="en-US" sz="1200" dirty="0">
                <a:latin typeface="+mn-ea"/>
              </a:rPr>
              <a:t>选择、牵引、交履服务；</a:t>
            </a:r>
            <a:endParaRPr lang="en-US" altLang="zh-CN" sz="1200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  <a:ea typeface="+mn-ea"/>
              </a:rPr>
              <a:t>相对于点评，定位差异在于</a:t>
            </a:r>
            <a:r>
              <a:rPr lang="zh-CN" altLang="en-US" sz="1200" b="1" dirty="0">
                <a:latin typeface="+mn-ea"/>
                <a:ea typeface="+mn-ea"/>
              </a:rPr>
              <a:t>交履服务的强化</a:t>
            </a:r>
            <a:r>
              <a:rPr lang="zh-CN" altLang="en-US" sz="1200" dirty="0">
                <a:latin typeface="+mn-ea"/>
                <a:ea typeface="+mn-ea"/>
              </a:rPr>
              <a:t>，对商家的</a:t>
            </a:r>
            <a:r>
              <a:rPr lang="zh-CN" altLang="en-US" sz="1200" b="1" dirty="0">
                <a:latin typeface="+mn-ea"/>
                <a:ea typeface="+mn-ea"/>
              </a:rPr>
              <a:t>牵引及助力，</a:t>
            </a:r>
            <a:r>
              <a:rPr lang="zh-CN" altLang="en-US" sz="1200" dirty="0">
                <a:latin typeface="+mn-ea"/>
                <a:ea typeface="+mn-ea"/>
              </a:rPr>
              <a:t>以及满足</a:t>
            </a:r>
            <a:r>
              <a:rPr lang="zh-CN" altLang="en-US" sz="1200" b="1" dirty="0">
                <a:latin typeface="+mn-ea"/>
                <a:ea typeface="+mn-ea"/>
              </a:rPr>
              <a:t>不同核心用户</a:t>
            </a:r>
            <a:r>
              <a:rPr lang="zh-CN" altLang="en-US" sz="1200" dirty="0">
                <a:latin typeface="+mn-ea"/>
                <a:ea typeface="+mn-ea"/>
              </a:rPr>
              <a:t>的需求闭环；</a:t>
            </a:r>
            <a:endParaRPr lang="en-US" altLang="zh-CN" sz="1200" dirty="0">
              <a:latin typeface="+mn-ea"/>
              <a:ea typeface="+mn-ea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5082" y="5345543"/>
            <a:ext cx="4703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/>
              <a:t>*流量：根据平台</a:t>
            </a:r>
            <a:r>
              <a:rPr lang="en-US" altLang="zh-CN" sz="800" dirty="0"/>
              <a:t>DAU</a:t>
            </a:r>
            <a:r>
              <a:rPr lang="zh-CN" altLang="en-US" sz="800" dirty="0"/>
              <a:t>排序（美团</a:t>
            </a:r>
            <a:r>
              <a:rPr lang="en-US" altLang="zh-CN" sz="800" dirty="0"/>
              <a:t>1.8</a:t>
            </a:r>
            <a:r>
              <a:rPr lang="zh-CN" altLang="en-US" sz="800" dirty="0"/>
              <a:t>亿、点评</a:t>
            </a:r>
            <a:r>
              <a:rPr lang="en-US" altLang="zh-CN" sz="800" dirty="0"/>
              <a:t>2400</a:t>
            </a:r>
            <a:r>
              <a:rPr lang="zh-CN" altLang="en-US" sz="800" dirty="0"/>
              <a:t>万、</a:t>
            </a:r>
            <a:r>
              <a:rPr lang="en-US" altLang="zh-CN" sz="800" dirty="0"/>
              <a:t>D+10</a:t>
            </a:r>
            <a:r>
              <a:rPr lang="zh-CN" altLang="en-US" sz="800" dirty="0"/>
              <a:t>亿、</a:t>
            </a:r>
            <a:r>
              <a:rPr lang="en-US" altLang="zh-CN" sz="800" dirty="0"/>
              <a:t>B+8.9</a:t>
            </a:r>
            <a:r>
              <a:rPr lang="zh-CN" altLang="en-US" sz="800" dirty="0"/>
              <a:t>亿）</a:t>
            </a:r>
            <a:endParaRPr lang="en-US" altLang="zh-CN" sz="800" dirty="0"/>
          </a:p>
          <a:p>
            <a:r>
              <a:rPr lang="zh-CN" altLang="en-US" sz="800" dirty="0"/>
              <a:t>营销市场：根据线上</a:t>
            </a:r>
            <a:r>
              <a:rPr lang="en-US" altLang="zh-CN" sz="800" dirty="0"/>
              <a:t>+</a:t>
            </a:r>
            <a:r>
              <a:rPr lang="zh-CN" altLang="en-US" sz="800" dirty="0"/>
              <a:t>线下宣传场景及力度人为评估</a:t>
            </a:r>
            <a:endParaRPr lang="en-US" altLang="zh-CN" sz="800" dirty="0"/>
          </a:p>
          <a:p>
            <a:r>
              <a:rPr lang="zh-CN" altLang="en-US" sz="800" dirty="0"/>
              <a:t>内容：根据平台提供的内容维度（笔记、视频、直播）及占比情况人为评估</a:t>
            </a:r>
            <a:endParaRPr lang="en-US" altLang="zh-CN" sz="800" dirty="0"/>
          </a:p>
          <a:p>
            <a:r>
              <a:rPr lang="zh-CN" altLang="en-US" sz="800" dirty="0"/>
              <a:t>供给：根据平台在线交易的门店数量排序（美团</a:t>
            </a:r>
            <a:r>
              <a:rPr lang="en-US" altLang="zh-CN" sz="800" dirty="0"/>
              <a:t>=</a:t>
            </a:r>
            <a:r>
              <a:rPr lang="zh-CN" altLang="en-US" sz="800" dirty="0"/>
              <a:t>点评＞</a:t>
            </a:r>
            <a:r>
              <a:rPr lang="en-US" altLang="zh-CN" sz="800" dirty="0"/>
              <a:t>D+</a:t>
            </a:r>
            <a:r>
              <a:rPr lang="zh-CN" altLang="en-US" sz="800" dirty="0"/>
              <a:t>＞</a:t>
            </a:r>
            <a:r>
              <a:rPr lang="en-US" altLang="zh-CN" sz="800" dirty="0"/>
              <a:t>B+</a:t>
            </a:r>
            <a:r>
              <a:rPr lang="zh-CN" altLang="en-US" sz="800" dirty="0"/>
              <a:t>）</a:t>
            </a:r>
            <a:endParaRPr lang="en-US" altLang="zh-CN" sz="800" dirty="0"/>
          </a:p>
          <a:p>
            <a:r>
              <a:rPr lang="zh-CN" altLang="en-US" sz="800" dirty="0"/>
              <a:t>资产：根据核心资产的规模及质量粗排序（评价、星级维度）</a:t>
            </a:r>
            <a:endParaRPr lang="en-US" altLang="zh-CN" sz="800" dirty="0"/>
          </a:p>
          <a:p>
            <a:r>
              <a:rPr lang="zh-CN" altLang="en-US" sz="800" dirty="0"/>
              <a:t>交履服务：根据平台提供的交履产品类型人为评估（预订、排队、在线点、秒提）</a:t>
            </a:r>
            <a:endParaRPr lang="en-US" altLang="zh-CN" sz="800" dirty="0"/>
          </a:p>
        </p:txBody>
      </p:sp>
      <p:sp>
        <p:nvSpPr>
          <p:cNvPr id="3" name="文本框 2"/>
          <p:cNvSpPr txBox="1"/>
          <p:nvPr/>
        </p:nvSpPr>
        <p:spPr>
          <a:xfrm>
            <a:off x="-1643285" y="2374681"/>
            <a:ext cx="15410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  <a:latin typeface="+mn-ea"/>
              </a:rPr>
              <a:t>营销活动换为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ea typeface="+mn-ea"/>
              </a:rPr>
              <a:t>生态资产？（把交易和服务拆开）</a:t>
            </a:r>
            <a:endParaRPr lang="en-US" altLang="zh-CN" sz="1400" dirty="0">
              <a:solidFill>
                <a:schemeClr val="accent3"/>
              </a:solidFill>
              <a:latin typeface="+mn-ea"/>
              <a:ea typeface="+mn-ea"/>
            </a:endParaRPr>
          </a:p>
          <a:p>
            <a:endParaRPr lang="en-US" altLang="zh-CN" sz="1400" dirty="0">
              <a:solidFill>
                <a:schemeClr val="accent3"/>
              </a:solidFill>
              <a:latin typeface="+mn-ea"/>
            </a:endParaRPr>
          </a:p>
          <a:p>
            <a:r>
              <a:rPr lang="zh-CN" altLang="en-US" sz="1400" dirty="0">
                <a:solidFill>
                  <a:schemeClr val="accent3"/>
                </a:solidFill>
              </a:rPr>
              <a:t>叫资产不好（叫</a:t>
            </a:r>
            <a:r>
              <a:rPr lang="en-US" altLang="zh-CN" sz="1400" dirty="0">
                <a:solidFill>
                  <a:schemeClr val="accent3"/>
                </a:solidFill>
              </a:rPr>
              <a:t>x</a:t>
            </a:r>
            <a:r>
              <a:rPr lang="zh-CN" altLang="en-US" sz="1400" dirty="0">
                <a:solidFill>
                  <a:schemeClr val="accent3"/>
                </a:solidFill>
              </a:rPr>
              <a:t>星评打卡</a:t>
            </a:r>
            <a:r>
              <a:rPr lang="en-US" altLang="zh-CN" sz="1400" dirty="0">
                <a:solidFill>
                  <a:schemeClr val="accent3"/>
                </a:solidFill>
              </a:rPr>
              <a:t>?</a:t>
            </a:r>
            <a:r>
              <a:rPr lang="zh-CN" altLang="en-US" sz="1400" dirty="0">
                <a:solidFill>
                  <a:schemeClr val="accent3"/>
                </a:solidFill>
              </a:rPr>
              <a:t>）</a:t>
            </a:r>
            <a:endParaRPr lang="en-US" altLang="zh-CN" sz="1400" dirty="0">
              <a:solidFill>
                <a:schemeClr val="accent3"/>
              </a:solidFill>
            </a:endParaRPr>
          </a:p>
          <a:p>
            <a:endParaRPr lang="en-US" altLang="zh-CN" sz="1400" dirty="0">
              <a:solidFill>
                <a:schemeClr val="accent3"/>
              </a:solidFill>
            </a:endParaRPr>
          </a:p>
          <a:p>
            <a:r>
              <a:rPr lang="zh-CN" altLang="en-US" sz="1400" dirty="0">
                <a:solidFill>
                  <a:schemeClr val="accent3"/>
                </a:solidFill>
              </a:rPr>
              <a:t>内容叫内容</a:t>
            </a:r>
            <a:r>
              <a:rPr lang="en-US" altLang="zh-CN" sz="1400" dirty="0">
                <a:solidFill>
                  <a:schemeClr val="accent3"/>
                </a:solidFill>
              </a:rPr>
              <a:t>/</a:t>
            </a:r>
            <a:r>
              <a:rPr lang="zh-CN" altLang="en-US" sz="1400" dirty="0">
                <a:solidFill>
                  <a:schemeClr val="accent3"/>
                </a:solidFill>
              </a:rPr>
              <a:t>互动？</a:t>
            </a:r>
            <a:endParaRPr lang="en-US" altLang="zh-CN" sz="1400" dirty="0">
              <a:solidFill>
                <a:schemeClr val="accent3"/>
              </a:solidFill>
            </a:endParaRPr>
          </a:p>
          <a:p>
            <a:endParaRPr lang="en-US" altLang="zh-CN" sz="1400" dirty="0">
              <a:solidFill>
                <a:schemeClr val="accent3"/>
              </a:solidFill>
            </a:endParaRPr>
          </a:p>
          <a:p>
            <a:r>
              <a:rPr lang="zh-CN" altLang="en-US" sz="1400" dirty="0">
                <a:solidFill>
                  <a:schemeClr val="accent3"/>
                </a:solidFill>
              </a:rPr>
              <a:t>榜单：流量进，强项沉，流量出口放大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14" name="米菲PPT78-22"/>
          <p:cNvSpPr/>
          <p:nvPr/>
        </p:nvSpPr>
        <p:spPr>
          <a:xfrm rot="5400000">
            <a:off x="1466408" y="2420022"/>
            <a:ext cx="411571" cy="411571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 dirty="0">
              <a:solidFill>
                <a:schemeClr val="tx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5" name="米菲PPT78-22"/>
          <p:cNvSpPr/>
          <p:nvPr/>
        </p:nvSpPr>
        <p:spPr>
          <a:xfrm rot="5400000">
            <a:off x="3638964" y="2849995"/>
            <a:ext cx="250397" cy="21359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 dirty="0">
              <a:solidFill>
                <a:schemeClr val="tx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6" name="米菲PPT78-22"/>
          <p:cNvSpPr/>
          <p:nvPr/>
        </p:nvSpPr>
        <p:spPr>
          <a:xfrm rot="5400000">
            <a:off x="5619866" y="2420022"/>
            <a:ext cx="567574" cy="56757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 dirty="0">
              <a:solidFill>
                <a:schemeClr val="tx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7" name="米菲PPT78-22"/>
          <p:cNvSpPr/>
          <p:nvPr/>
        </p:nvSpPr>
        <p:spPr>
          <a:xfrm rot="5400000">
            <a:off x="7831468" y="2342021"/>
            <a:ext cx="489572" cy="489572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 dirty="0">
              <a:solidFill>
                <a:schemeClr val="tx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8" name="米菲PPT78-7"/>
          <p:cNvSpPr/>
          <p:nvPr/>
        </p:nvSpPr>
        <p:spPr>
          <a:xfrm rot="19480817" flipH="1" flipV="1">
            <a:off x="3345248" y="2825066"/>
            <a:ext cx="896112" cy="896107"/>
          </a:xfrm>
          <a:prstGeom prst="arc">
            <a:avLst>
              <a:gd name="adj1" fmla="val 12054961"/>
              <a:gd name="adj2" fmla="val 0"/>
            </a:avLst>
          </a:prstGeom>
          <a:noFill/>
          <a:ln w="9525">
            <a:gradFill flip="none" rotWithShape="1">
              <a:gsLst>
                <a:gs pos="7300">
                  <a:schemeClr val="accent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700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219" name="米菲PPT78-7"/>
          <p:cNvSpPr/>
          <p:nvPr/>
        </p:nvSpPr>
        <p:spPr>
          <a:xfrm rot="4710820" flipH="1" flipV="1">
            <a:off x="5455596" y="2765527"/>
            <a:ext cx="896112" cy="896107"/>
          </a:xfrm>
          <a:prstGeom prst="arc">
            <a:avLst>
              <a:gd name="adj1" fmla="val 12054961"/>
              <a:gd name="adj2" fmla="val 0"/>
            </a:avLst>
          </a:prstGeom>
          <a:noFill/>
          <a:ln w="9525">
            <a:gradFill flip="none" rotWithShape="1">
              <a:gsLst>
                <a:gs pos="7300">
                  <a:schemeClr val="accent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700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220" name="米菲PPT78-7"/>
          <p:cNvSpPr/>
          <p:nvPr/>
        </p:nvSpPr>
        <p:spPr>
          <a:xfrm rot="16706020" flipH="1" flipV="1">
            <a:off x="7528986" y="2892463"/>
            <a:ext cx="896112" cy="896107"/>
          </a:xfrm>
          <a:prstGeom prst="arc">
            <a:avLst>
              <a:gd name="adj1" fmla="val 12054961"/>
              <a:gd name="adj2" fmla="val 0"/>
            </a:avLst>
          </a:prstGeom>
          <a:noFill/>
          <a:ln w="9525">
            <a:gradFill flip="none" rotWithShape="1">
              <a:gsLst>
                <a:gs pos="7300">
                  <a:schemeClr val="accent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700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222" name="米菲PPT78-7"/>
          <p:cNvSpPr/>
          <p:nvPr/>
        </p:nvSpPr>
        <p:spPr>
          <a:xfrm flipH="1" flipV="1">
            <a:off x="1187579" y="2961833"/>
            <a:ext cx="896112" cy="896107"/>
          </a:xfrm>
          <a:prstGeom prst="arc">
            <a:avLst>
              <a:gd name="adj1" fmla="val 12054961"/>
              <a:gd name="adj2" fmla="val 0"/>
            </a:avLst>
          </a:prstGeom>
          <a:noFill/>
          <a:ln w="9525">
            <a:gradFill flip="none" rotWithShape="1">
              <a:gsLst>
                <a:gs pos="7300">
                  <a:schemeClr val="accent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700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cxnSp>
        <p:nvCxnSpPr>
          <p:cNvPr id="234" name="米菲PPT16"/>
          <p:cNvCxnSpPr/>
          <p:nvPr/>
        </p:nvCxnSpPr>
        <p:spPr>
          <a:xfrm flipV="1">
            <a:off x="6071205" y="2987596"/>
            <a:ext cx="0" cy="770643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与点评定位差</a:t>
            </a:r>
            <a:endParaRPr kumimoji="1"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246898" y="389860"/>
            <a:ext cx="8644896" cy="2735305"/>
            <a:chOff x="0" y="893444"/>
            <a:chExt cx="12979006" cy="5025886"/>
          </a:xfrm>
        </p:grpSpPr>
        <p:sp>
          <p:nvSpPr>
            <p:cNvPr id="2" name="米菲PPT3"/>
            <p:cNvSpPr/>
            <p:nvPr/>
          </p:nvSpPr>
          <p:spPr>
            <a:xfrm>
              <a:off x="5919760" y="1009900"/>
              <a:ext cx="6272240" cy="4468762"/>
            </a:xfrm>
            <a:custGeom>
              <a:avLst/>
              <a:gdLst>
                <a:gd name="connsiteX0" fmla="*/ 1010074 w 6272240"/>
                <a:gd name="connsiteY0" fmla="*/ 0 h 4468762"/>
                <a:gd name="connsiteX1" fmla="*/ 6272240 w 6272240"/>
                <a:gd name="connsiteY1" fmla="*/ 0 h 4468762"/>
                <a:gd name="connsiteX2" fmla="*/ 6272240 w 6272240"/>
                <a:gd name="connsiteY2" fmla="*/ 4468762 h 4468762"/>
                <a:gd name="connsiteX3" fmla="*/ 0 w 6272240"/>
                <a:gd name="connsiteY3" fmla="*/ 4468762 h 446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2240" h="4468762">
                  <a:moveTo>
                    <a:pt x="1010074" y="0"/>
                  </a:moveTo>
                  <a:lnTo>
                    <a:pt x="6272240" y="0"/>
                  </a:lnTo>
                  <a:lnTo>
                    <a:pt x="6272240" y="4468762"/>
                  </a:lnTo>
                  <a:lnTo>
                    <a:pt x="0" y="4468762"/>
                  </a:lnTo>
                  <a:close/>
                </a:path>
              </a:pathLst>
            </a:custGeom>
            <a:gradFill>
              <a:gsLst>
                <a:gs pos="100000">
                  <a:schemeClr val="accent2">
                    <a:lumMod val="5000"/>
                    <a:lumOff val="95000"/>
                  </a:schemeClr>
                </a:gs>
                <a:gs pos="1000">
                  <a:schemeClr val="bg1"/>
                </a:gs>
              </a:gsLst>
              <a:lin ang="19800000" scaled="0"/>
            </a:gradFill>
            <a:ln w="6350"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3" name="米菲PPT4"/>
            <p:cNvSpPr/>
            <p:nvPr/>
          </p:nvSpPr>
          <p:spPr>
            <a:xfrm>
              <a:off x="0" y="1231132"/>
              <a:ext cx="6666952" cy="4468762"/>
            </a:xfrm>
            <a:custGeom>
              <a:avLst/>
              <a:gdLst>
                <a:gd name="connsiteX0" fmla="*/ 0 w 6666952"/>
                <a:gd name="connsiteY0" fmla="*/ 0 h 4468762"/>
                <a:gd name="connsiteX1" fmla="*/ 6666952 w 6666952"/>
                <a:gd name="connsiteY1" fmla="*/ 0 h 4468762"/>
                <a:gd name="connsiteX2" fmla="*/ 5656878 w 6666952"/>
                <a:gd name="connsiteY2" fmla="*/ 4468762 h 4468762"/>
                <a:gd name="connsiteX3" fmla="*/ 0 w 6666952"/>
                <a:gd name="connsiteY3" fmla="*/ 4468762 h 446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6952" h="4468762">
                  <a:moveTo>
                    <a:pt x="0" y="0"/>
                  </a:moveTo>
                  <a:lnTo>
                    <a:pt x="6666952" y="0"/>
                  </a:lnTo>
                  <a:lnTo>
                    <a:pt x="5656878" y="4468762"/>
                  </a:lnTo>
                  <a:lnTo>
                    <a:pt x="0" y="446876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bg1"/>
                </a:gs>
              </a:gsLst>
              <a:lin ang="19800000" scaled="0"/>
            </a:gradFill>
            <a:ln w="635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400" dirty="0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" name="米菲PPT5"/>
            <p:cNvSpPr txBox="1"/>
            <p:nvPr/>
          </p:nvSpPr>
          <p:spPr>
            <a:xfrm flipH="1">
              <a:off x="6095999" y="3342372"/>
              <a:ext cx="6883007" cy="41587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问题不足</a:t>
              </a:r>
              <a:endParaRPr lang="en-US" altLang="zh-CN" sz="1200" dirty="0">
                <a:solidFill>
                  <a:schemeClr val="bg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6" name="米菲PPT6"/>
            <p:cNvSpPr/>
            <p:nvPr/>
          </p:nvSpPr>
          <p:spPr>
            <a:xfrm>
              <a:off x="4355636" y="2412329"/>
              <a:ext cx="2123889" cy="2514022"/>
            </a:xfrm>
            <a:prstGeom prst="parallelogram">
              <a:avLst/>
            </a:prstGeom>
            <a:solidFill>
              <a:schemeClr val="bg1"/>
            </a:soli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400" dirty="0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" name="米菲PPT7"/>
            <p:cNvSpPr/>
            <p:nvPr/>
          </p:nvSpPr>
          <p:spPr>
            <a:xfrm>
              <a:off x="5808252" y="2212323"/>
              <a:ext cx="2349989" cy="2857685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" name="米菲PPT8"/>
            <p:cNvSpPr/>
            <p:nvPr/>
          </p:nvSpPr>
          <p:spPr>
            <a:xfrm>
              <a:off x="3925494" y="1902701"/>
              <a:ext cx="2862712" cy="3244767"/>
            </a:xfrm>
            <a:prstGeom prst="arc">
              <a:avLst>
                <a:gd name="adj1" fmla="val 13945172"/>
                <a:gd name="adj2" fmla="val 18313415"/>
              </a:avLst>
            </a:prstGeom>
            <a:noFill/>
            <a:ln w="50800" cap="sq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round/>
              <a:headEnd type="none" w="med" len="lg"/>
              <a:tailEnd type="stealth" w="lg" len="lg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9" name="米菲PPT9"/>
            <p:cNvSpPr/>
            <p:nvPr/>
          </p:nvSpPr>
          <p:spPr>
            <a:xfrm>
              <a:off x="4992120" y="1393849"/>
              <a:ext cx="2862712" cy="3244767"/>
            </a:xfrm>
            <a:prstGeom prst="arc">
              <a:avLst>
                <a:gd name="adj1" fmla="val 13684842"/>
                <a:gd name="adj2" fmla="val 19331299"/>
              </a:avLst>
            </a:prstGeom>
            <a:noFill/>
            <a:ln w="69850" cap="sq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round/>
              <a:headEnd type="none" w="med" len="lg"/>
              <a:tailEnd type="stealth" w="lg" len="lg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" name="米菲PPT10"/>
            <p:cNvSpPr/>
            <p:nvPr/>
          </p:nvSpPr>
          <p:spPr>
            <a:xfrm>
              <a:off x="4108648" y="2523904"/>
              <a:ext cx="2123889" cy="2407339"/>
            </a:xfrm>
            <a:prstGeom prst="parallelogram">
              <a:avLst/>
            </a:prstGeom>
            <a:gradFill flip="none" rotWithShape="1">
              <a:gsLst>
                <a:gs pos="100000">
                  <a:schemeClr val="accent1">
                    <a:lumMod val="94000"/>
                    <a:lumOff val="6000"/>
                  </a:schemeClr>
                </a:gs>
                <a:gs pos="0">
                  <a:schemeClr val="accent1">
                    <a:lumMod val="84000"/>
                  </a:schemeClr>
                </a:gs>
              </a:gsLst>
              <a:lin ang="19800000" scaled="0"/>
              <a:tileRect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400" dirty="0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1" name="米菲PPT11"/>
            <p:cNvSpPr/>
            <p:nvPr/>
          </p:nvSpPr>
          <p:spPr>
            <a:xfrm>
              <a:off x="5636684" y="2325238"/>
              <a:ext cx="2349989" cy="2663614"/>
            </a:xfrm>
            <a:prstGeom prst="parallelogram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100000">
                  <a:schemeClr val="accent2">
                    <a:lumMod val="94000"/>
                    <a:lumOff val="6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2" name="米菲PPT12"/>
            <p:cNvSpPr txBox="1"/>
            <p:nvPr/>
          </p:nvSpPr>
          <p:spPr>
            <a:xfrm>
              <a:off x="4709678" y="3636017"/>
              <a:ext cx="1003611" cy="107447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点评现状</a:t>
              </a:r>
              <a:endParaRPr lang="en-US" altLang="zh-CN" sz="1600" dirty="0">
                <a:solidFill>
                  <a:schemeClr val="bg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3" name="米菲PPT13"/>
            <p:cNvSpPr txBox="1"/>
            <p:nvPr/>
          </p:nvSpPr>
          <p:spPr>
            <a:xfrm>
              <a:off x="6305212" y="3636017"/>
              <a:ext cx="1565871" cy="107447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美团</a:t>
              </a:r>
              <a:endParaRPr lang="en-US" altLang="zh-CN" sz="1600" dirty="0">
                <a:solidFill>
                  <a:schemeClr val="bg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r>
                <a:rPr lang="zh-CN" altLang="en-US" sz="1600" dirty="0">
                  <a:solidFill>
                    <a:schemeClr val="bg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差异</a:t>
              </a:r>
              <a:endParaRPr lang="en-US" altLang="zh-CN" sz="1600" dirty="0">
                <a:solidFill>
                  <a:schemeClr val="bg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4" name="米菲PPT14"/>
            <p:cNvSpPr/>
            <p:nvPr/>
          </p:nvSpPr>
          <p:spPr>
            <a:xfrm rot="319068">
              <a:off x="421139" y="1114676"/>
              <a:ext cx="1614555" cy="4804654"/>
            </a:xfrm>
            <a:prstGeom prst="arc">
              <a:avLst>
                <a:gd name="adj1" fmla="val 4907075"/>
                <a:gd name="adj2" fmla="val 16452530"/>
              </a:avLst>
            </a:prstGeom>
            <a:noFill/>
            <a:ln w="50800" cap="rnd">
              <a:gradFill flip="none" rotWithShape="1">
                <a:gsLst>
                  <a:gs pos="100000">
                    <a:schemeClr val="accent1">
                      <a:alpha val="9000"/>
                    </a:schemeClr>
                  </a:gs>
                  <a:gs pos="0">
                    <a:schemeClr val="accent1"/>
                  </a:gs>
                </a:gsLst>
                <a:lin ang="16200000" scaled="1"/>
                <a:tileRect/>
              </a:gradFill>
              <a:round/>
              <a:headEnd type="stealth" w="med" len="lg"/>
              <a:tailEnd type="none" w="lg" len="lg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lt1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5" name="米菲PPT15"/>
            <p:cNvSpPr/>
            <p:nvPr/>
          </p:nvSpPr>
          <p:spPr>
            <a:xfrm>
              <a:off x="695942" y="1678922"/>
              <a:ext cx="199878" cy="199878"/>
            </a:xfrm>
            <a:prstGeom prst="ellipse">
              <a:avLst/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400" dirty="0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6" name="米菲PPT16"/>
            <p:cNvSpPr/>
            <p:nvPr/>
          </p:nvSpPr>
          <p:spPr>
            <a:xfrm>
              <a:off x="305293" y="3308250"/>
              <a:ext cx="199878" cy="199878"/>
            </a:xfrm>
            <a:prstGeom prst="ellipse">
              <a:avLst/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400" dirty="0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" name="米菲PPT17"/>
            <p:cNvSpPr/>
            <p:nvPr/>
          </p:nvSpPr>
          <p:spPr>
            <a:xfrm>
              <a:off x="381852" y="4870131"/>
              <a:ext cx="199878" cy="199878"/>
            </a:xfrm>
            <a:prstGeom prst="ellipse">
              <a:avLst/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400" dirty="0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" name="米菲PPT18"/>
            <p:cNvSpPr/>
            <p:nvPr/>
          </p:nvSpPr>
          <p:spPr>
            <a:xfrm rot="319068" flipH="1" flipV="1">
              <a:off x="10109568" y="893444"/>
              <a:ext cx="1614555" cy="4804654"/>
            </a:xfrm>
            <a:prstGeom prst="arc">
              <a:avLst>
                <a:gd name="adj1" fmla="val 4907075"/>
                <a:gd name="adj2" fmla="val 16452530"/>
              </a:avLst>
            </a:prstGeom>
            <a:noFill/>
            <a:ln w="50800" cap="rnd">
              <a:gradFill flip="none" rotWithShape="1">
                <a:gsLst>
                  <a:gs pos="85000">
                    <a:schemeClr val="accent1">
                      <a:alpha val="9000"/>
                    </a:schemeClr>
                  </a:gs>
                  <a:gs pos="0">
                    <a:schemeClr val="accent1"/>
                  </a:gs>
                </a:gsLst>
                <a:lin ang="13800000" scaled="0"/>
                <a:tileRect/>
              </a:gradFill>
              <a:round/>
              <a:headEnd type="stealth" w="med" len="lg"/>
              <a:tailEnd type="none" w="lg" len="lg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lt1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9" name="米菲PPT19"/>
            <p:cNvSpPr/>
            <p:nvPr/>
          </p:nvSpPr>
          <p:spPr>
            <a:xfrm flipH="1" flipV="1">
              <a:off x="11249442" y="4933974"/>
              <a:ext cx="199878" cy="199878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9800000" scaled="0"/>
              <a:tileRect/>
            </a:gra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0" name="米菲PPT20"/>
            <p:cNvSpPr/>
            <p:nvPr/>
          </p:nvSpPr>
          <p:spPr>
            <a:xfrm flipH="1" flipV="1">
              <a:off x="11640091" y="3304646"/>
              <a:ext cx="199878" cy="199878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9800000" scaled="0"/>
              <a:tileRect/>
            </a:gra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1" name="米菲PPT21"/>
            <p:cNvSpPr/>
            <p:nvPr/>
          </p:nvSpPr>
          <p:spPr>
            <a:xfrm flipH="1" flipV="1">
              <a:off x="11563532" y="1742765"/>
              <a:ext cx="199878" cy="199878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9800000" scaled="0"/>
              <a:tileRect/>
            </a:gra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3" name="米菲PPT23"/>
            <p:cNvSpPr txBox="1"/>
            <p:nvPr/>
          </p:nvSpPr>
          <p:spPr>
            <a:xfrm>
              <a:off x="1334979" y="1622983"/>
              <a:ext cx="2467382" cy="69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（一）用户覆盖集中在中高线</a:t>
              </a:r>
              <a:endParaRPr lang="zh-CN" altLang="en-US" sz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9800000" scaled="0"/>
                </a:gra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5" name="米菲PPT25"/>
            <p:cNvSpPr txBox="1"/>
            <p:nvPr/>
          </p:nvSpPr>
          <p:spPr>
            <a:xfrm>
              <a:off x="991378" y="3008093"/>
              <a:ext cx="3321185" cy="69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（二）只满足用户的发现与决策环节，未形成交易履约闭环</a:t>
              </a:r>
              <a:endParaRPr lang="zh-CN" altLang="en-US" sz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9800000" scaled="0"/>
                </a:gra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7" name="米菲PPT27"/>
            <p:cNvSpPr txBox="1"/>
            <p:nvPr/>
          </p:nvSpPr>
          <p:spPr>
            <a:xfrm>
              <a:off x="791873" y="4420231"/>
              <a:ext cx="2912056" cy="69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（三）入围榜公信力强，但商户很难经营维持</a:t>
              </a:r>
              <a:endParaRPr lang="zh-CN" altLang="en-US" sz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9800000" scaled="0"/>
                </a:gra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9" name="米菲PPT29"/>
            <p:cNvSpPr txBox="1"/>
            <p:nvPr/>
          </p:nvSpPr>
          <p:spPr>
            <a:xfrm>
              <a:off x="8555521" y="1401750"/>
              <a:ext cx="3084570" cy="8482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gradFill>
                    <a:gsLst>
                      <a:gs pos="100000">
                        <a:schemeClr val="accent2">
                          <a:lumMod val="85000"/>
                        </a:schemeClr>
                      </a:gs>
                      <a:gs pos="0">
                        <a:schemeClr val="accent2"/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（一）</a:t>
              </a:r>
              <a:r>
                <a:rPr lang="zh-CN" altLang="en-US" sz="1200" dirty="0">
                  <a:gradFill>
                    <a:gsLst>
                      <a:gs pos="100000">
                        <a:schemeClr val="accent2">
                          <a:lumMod val="85000"/>
                        </a:schemeClr>
                      </a:gs>
                      <a:gs pos="0">
                        <a:schemeClr val="accent2"/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覆盖城市范围更广泛，尤其在</a:t>
              </a:r>
              <a:r>
                <a:rPr lang="zh-CN" altLang="en-US" sz="1200" b="1" dirty="0">
                  <a:gradFill>
                    <a:gsLst>
                      <a:gs pos="100000">
                        <a:schemeClr val="accent2">
                          <a:lumMod val="85000"/>
                        </a:schemeClr>
                      </a:gs>
                      <a:gs pos="0">
                        <a:schemeClr val="accent2"/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低线城市更有优势</a:t>
              </a:r>
              <a:endParaRPr lang="zh-CN" altLang="en-US" sz="1200" b="1" dirty="0">
                <a:gradFill>
                  <a:gsLst>
                    <a:gs pos="100000">
                      <a:schemeClr val="accent2">
                        <a:lumMod val="85000"/>
                      </a:schemeClr>
                    </a:gs>
                    <a:gs pos="0">
                      <a:schemeClr val="accent2"/>
                    </a:gs>
                  </a:gsLst>
                  <a:lin ang="19800000" scaled="0"/>
                </a:gra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31" name="米菲PPT31"/>
            <p:cNvSpPr txBox="1"/>
            <p:nvPr/>
          </p:nvSpPr>
          <p:spPr>
            <a:xfrm>
              <a:off x="8250019" y="2786860"/>
              <a:ext cx="3443415" cy="69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gradFill>
                    <a:gsLst>
                      <a:gs pos="100000">
                        <a:schemeClr val="accent2">
                          <a:lumMod val="85000"/>
                        </a:schemeClr>
                      </a:gs>
                      <a:gs pos="0">
                        <a:schemeClr val="accent2"/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（二）注重交易，并且提供丰富的履约产品</a:t>
              </a:r>
              <a:r>
                <a:rPr lang="zh-CN" altLang="en-US" sz="1200" b="1" dirty="0">
                  <a:gradFill>
                    <a:gsLst>
                      <a:gs pos="100000">
                        <a:schemeClr val="accent2">
                          <a:lumMod val="85000"/>
                        </a:schemeClr>
                      </a:gs>
                      <a:gs pos="0">
                        <a:schemeClr val="accent2"/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促使交易闭环</a:t>
              </a:r>
              <a:endParaRPr lang="zh-CN" altLang="en-US" sz="1200" b="1" dirty="0">
                <a:gradFill>
                  <a:gsLst>
                    <a:gs pos="100000">
                      <a:schemeClr val="accent2">
                        <a:lumMod val="85000"/>
                      </a:schemeClr>
                    </a:gs>
                    <a:gs pos="0">
                      <a:schemeClr val="accent2"/>
                    </a:gs>
                  </a:gsLst>
                  <a:lin ang="19800000" scaled="0"/>
                </a:gra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33" name="米菲PPT33"/>
            <p:cNvSpPr txBox="1"/>
            <p:nvPr/>
          </p:nvSpPr>
          <p:spPr>
            <a:xfrm>
              <a:off x="8096341" y="4220810"/>
              <a:ext cx="2467382" cy="69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gradFill>
                    <a:gsLst>
                      <a:gs pos="100000">
                        <a:schemeClr val="accent2">
                          <a:lumMod val="85000"/>
                        </a:schemeClr>
                      </a:gs>
                      <a:gs pos="0">
                        <a:schemeClr val="accent2"/>
                      </a:gs>
                    </a:gsLst>
                    <a:lin ang="19800000" scaled="0"/>
                  </a:gra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（三）指数榜单对于商户的牵引力更强</a:t>
              </a:r>
              <a:endParaRPr lang="zh-CN" altLang="en-US" sz="1200" dirty="0">
                <a:gradFill>
                  <a:gsLst>
                    <a:gs pos="100000">
                      <a:schemeClr val="accent2">
                        <a:lumMod val="85000"/>
                      </a:schemeClr>
                    </a:gs>
                    <a:gs pos="0">
                      <a:schemeClr val="accent2"/>
                    </a:gs>
                  </a:gsLst>
                  <a:lin ang="19800000" scaled="0"/>
                </a:gra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pic>
          <p:nvPicPr>
            <p:cNvPr id="36" name="米菲PPT3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79943" y="2481133"/>
              <a:ext cx="742858" cy="742858"/>
            </a:xfrm>
            <a:prstGeom prst="rect">
              <a:avLst/>
            </a:prstGeom>
          </p:spPr>
        </p:pic>
        <p:pic>
          <p:nvPicPr>
            <p:cNvPr id="37" name="米菲PPT39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48272" y="2823998"/>
              <a:ext cx="571488" cy="571488"/>
            </a:xfrm>
            <a:prstGeom prst="rect">
              <a:avLst/>
            </a:prstGeom>
          </p:spPr>
        </p:pic>
      </p:grpSp>
      <p:sp>
        <p:nvSpPr>
          <p:cNvPr id="39" name="米菲PPT32-1"/>
          <p:cNvSpPr/>
          <p:nvPr/>
        </p:nvSpPr>
        <p:spPr>
          <a:xfrm>
            <a:off x="1925231" y="3287106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用户差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0" name="米菲PPT32-2"/>
          <p:cNvSpPr/>
          <p:nvPr/>
        </p:nvSpPr>
        <p:spPr>
          <a:xfrm>
            <a:off x="4933405" y="3284846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  <a:sym typeface="MiSans Bold" panose="00000800000000000000" pitchFamily="2" charset="-122"/>
              </a:rPr>
              <a:t>指数榜</a:t>
            </a:r>
            <a:endParaRPr lang="zh-CN" altLang="en-US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MiSans Medium"/>
              <a:ea typeface="MiSans Medium"/>
              <a:sym typeface="MiSans Bold" panose="00000800000000000000" pitchFamily="2" charset="-122"/>
            </a:endParaRPr>
          </a:p>
        </p:txBody>
      </p:sp>
      <p:sp>
        <p:nvSpPr>
          <p:cNvPr id="41" name="米菲PPT32-3"/>
          <p:cNvSpPr/>
          <p:nvPr/>
        </p:nvSpPr>
        <p:spPr>
          <a:xfrm>
            <a:off x="3002935" y="3586069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60000"/>
                  <a:lumOff val="40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/>
              <a:cs typeface="MiSans Medium" panose="00000600000000000000" pitchFamily="2" charset="-122"/>
            </a:endParaRPr>
          </a:p>
        </p:txBody>
      </p:sp>
      <p:sp>
        <p:nvSpPr>
          <p:cNvPr id="42" name="米菲PPT32-3"/>
          <p:cNvSpPr/>
          <p:nvPr/>
        </p:nvSpPr>
        <p:spPr>
          <a:xfrm>
            <a:off x="4519591" y="3611699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60000"/>
                  <a:lumOff val="40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/>
              <a:cs typeface="MiSans Medium" panose="00000600000000000000" pitchFamily="2" charset="-122"/>
            </a:endParaRPr>
          </a:p>
        </p:txBody>
      </p:sp>
      <p:sp>
        <p:nvSpPr>
          <p:cNvPr id="43" name="米菲PPT32-1"/>
          <p:cNvSpPr/>
          <p:nvPr/>
        </p:nvSpPr>
        <p:spPr>
          <a:xfrm>
            <a:off x="3441887" y="3274324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交履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产品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4" name="米菲PPT26-1"/>
          <p:cNvSpPr/>
          <p:nvPr/>
        </p:nvSpPr>
        <p:spPr>
          <a:xfrm rot="5400000" flipV="1">
            <a:off x="369937" y="3276097"/>
            <a:ext cx="493518" cy="1037443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vert="eaVert" rtlCol="0" anchor="ctr"/>
          <a:lstStyle/>
          <a:p>
            <a:pPr algn="ctr" defTabSz="457200"/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</a:rPr>
              <a:t>美团榜单</a:t>
            </a:r>
            <a:endParaRPr lang="zh-CN" altLang="en-US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MiSans Medium"/>
              <a:ea typeface="MiSans Medium"/>
            </a:endParaRPr>
          </a:p>
        </p:txBody>
      </p:sp>
      <p:sp>
        <p:nvSpPr>
          <p:cNvPr id="45" name="等于 44"/>
          <p:cNvSpPr/>
          <p:nvPr/>
        </p:nvSpPr>
        <p:spPr>
          <a:xfrm>
            <a:off x="1283812" y="3548059"/>
            <a:ext cx="493024" cy="429879"/>
          </a:xfrm>
          <a:prstGeom prst="mathEqual">
            <a:avLst/>
          </a:prstGeom>
          <a:solidFill>
            <a:srgbClr val="FDB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7" name="米菲PPT24"/>
          <p:cNvSpPr txBox="1"/>
          <p:nvPr/>
        </p:nvSpPr>
        <p:spPr>
          <a:xfrm>
            <a:off x="4861307" y="4273609"/>
            <a:ext cx="11004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时效性、更灵活</a:t>
            </a:r>
            <a:endParaRPr lang="zh-CN" altLang="en-US" sz="1000" dirty="0">
              <a:solidFill>
                <a:srgbClr val="F57359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1" name="米菲PPT28"/>
          <p:cNvSpPr txBox="1"/>
          <p:nvPr/>
        </p:nvSpPr>
        <p:spPr>
          <a:xfrm>
            <a:off x="7725001" y="4280241"/>
            <a:ext cx="1226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帮助商户定位经营</a:t>
            </a:r>
            <a:endParaRPr lang="zh-CN" altLang="en-US" sz="1000" dirty="0">
              <a:solidFill>
                <a:srgbClr val="F57359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6" name="米菲PPT120"/>
          <p:cNvSpPr/>
          <p:nvPr/>
        </p:nvSpPr>
        <p:spPr>
          <a:xfrm rot="2348687" flipV="1">
            <a:off x="7861649" y="1592236"/>
            <a:ext cx="1378443" cy="1496495"/>
          </a:xfrm>
          <a:custGeom>
            <a:avLst/>
            <a:gdLst>
              <a:gd name="connsiteX0" fmla="*/ 94169 w 637602"/>
              <a:gd name="connsiteY0" fmla="*/ 647545 h 692208"/>
              <a:gd name="connsiteX1" fmla="*/ 372376 w 637602"/>
              <a:gd name="connsiteY1" fmla="*/ 286871 h 692208"/>
              <a:gd name="connsiteX2" fmla="*/ 356830 w 637602"/>
              <a:gd name="connsiteY2" fmla="*/ 277213 h 692208"/>
              <a:gd name="connsiteX3" fmla="*/ 244645 w 637602"/>
              <a:gd name="connsiteY3" fmla="*/ 323847 h 692208"/>
              <a:gd name="connsiteX4" fmla="*/ 231044 w 637602"/>
              <a:gd name="connsiteY4" fmla="*/ 307103 h 692208"/>
              <a:gd name="connsiteX5" fmla="*/ 438041 w 637602"/>
              <a:gd name="connsiteY5" fmla="*/ 4893 h 692208"/>
              <a:gd name="connsiteX6" fmla="*/ 457015 w 637602"/>
              <a:gd name="connsiteY6" fmla="*/ 5579 h 692208"/>
              <a:gd name="connsiteX7" fmla="*/ 636009 w 637602"/>
              <a:gd name="connsiteY7" fmla="*/ 312075 h 692208"/>
              <a:gd name="connsiteX8" fmla="*/ 621206 w 637602"/>
              <a:gd name="connsiteY8" fmla="*/ 327734 h 692208"/>
              <a:gd name="connsiteX9" fmla="*/ 529481 w 637602"/>
              <a:gd name="connsiteY9" fmla="*/ 280870 h 692208"/>
              <a:gd name="connsiteX10" fmla="*/ 513307 w 637602"/>
              <a:gd name="connsiteY10" fmla="*/ 289158 h 692208"/>
              <a:gd name="connsiteX11" fmla="*/ 248818 w 637602"/>
              <a:gd name="connsiteY11" fmla="*/ 658518 h 692208"/>
              <a:gd name="connsiteX12" fmla="*/ 9987 w 637602"/>
              <a:gd name="connsiteY12" fmla="*/ 689093 h 692208"/>
              <a:gd name="connsiteX13" fmla="*/ 9816 w 637602"/>
              <a:gd name="connsiteY13" fmla="*/ 666747 h 692208"/>
              <a:gd name="connsiteX14" fmla="*/ 94169 w 637602"/>
              <a:gd name="connsiteY14" fmla="*/ 647545 h 69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7602" h="692208">
                <a:moveTo>
                  <a:pt x="94169" y="647545"/>
                </a:moveTo>
                <a:cubicBezTo>
                  <a:pt x="262190" y="584909"/>
                  <a:pt x="380777" y="432604"/>
                  <a:pt x="372376" y="286871"/>
                </a:cubicBezTo>
                <a:cubicBezTo>
                  <a:pt x="371918" y="279156"/>
                  <a:pt x="363918" y="274241"/>
                  <a:pt x="356830" y="277213"/>
                </a:cubicBezTo>
                <a:lnTo>
                  <a:pt x="244645" y="323847"/>
                </a:lnTo>
                <a:cubicBezTo>
                  <a:pt x="234301" y="328134"/>
                  <a:pt x="224757" y="316361"/>
                  <a:pt x="231044" y="307103"/>
                </a:cubicBezTo>
                <a:lnTo>
                  <a:pt x="438041" y="4893"/>
                </a:lnTo>
                <a:cubicBezTo>
                  <a:pt x="442727" y="-1907"/>
                  <a:pt x="452843" y="-1565"/>
                  <a:pt x="457015" y="5579"/>
                </a:cubicBezTo>
                <a:lnTo>
                  <a:pt x="636009" y="312075"/>
                </a:lnTo>
                <a:cubicBezTo>
                  <a:pt x="641667" y="321790"/>
                  <a:pt x="631208" y="332877"/>
                  <a:pt x="621206" y="327734"/>
                </a:cubicBezTo>
                <a:lnTo>
                  <a:pt x="529481" y="280870"/>
                </a:lnTo>
                <a:cubicBezTo>
                  <a:pt x="522680" y="277384"/>
                  <a:pt x="514393" y="281556"/>
                  <a:pt x="513307" y="289158"/>
                </a:cubicBezTo>
                <a:cubicBezTo>
                  <a:pt x="491705" y="435633"/>
                  <a:pt x="417067" y="595825"/>
                  <a:pt x="248818" y="658518"/>
                </a:cubicBezTo>
                <a:cubicBezTo>
                  <a:pt x="168407" y="688522"/>
                  <a:pt x="86283" y="697780"/>
                  <a:pt x="9987" y="689093"/>
                </a:cubicBezTo>
                <a:cubicBezTo>
                  <a:pt x="-3214" y="687607"/>
                  <a:pt x="-3386" y="668462"/>
                  <a:pt x="9816" y="666747"/>
                </a:cubicBezTo>
                <a:cubicBezTo>
                  <a:pt x="39477" y="662861"/>
                  <a:pt x="69366" y="656803"/>
                  <a:pt x="94169" y="64754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75000"/>
                  <a:lumOff val="25000"/>
                </a:schemeClr>
              </a:gs>
            </a:gsLst>
            <a:lin ang="0" scaled="0"/>
          </a:gradFill>
          <a:ln w="571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2" name="米菲PPT32-2"/>
          <p:cNvSpPr/>
          <p:nvPr/>
        </p:nvSpPr>
        <p:spPr>
          <a:xfrm>
            <a:off x="7860188" y="3293158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algn="ctr">
              <a:defRPr/>
            </a:pP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  <a:sym typeface="MiSans Bold" panose="00000800000000000000" pitchFamily="2" charset="-122"/>
              </a:rPr>
              <a:t>TO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  <a:sym typeface="MiSans Bold" panose="00000800000000000000" pitchFamily="2" charset="-122"/>
              </a:rPr>
              <a:t> 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  <a:sym typeface="MiSans Bold" panose="00000800000000000000" pitchFamily="2" charset="-122"/>
              </a:rPr>
              <a:t>B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MiSans Medium"/>
              <a:ea typeface="MiSans Medium"/>
              <a:sym typeface="MiSans Bold" panose="00000800000000000000" pitchFamily="2" charset="-122"/>
            </a:endParaRPr>
          </a:p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/>
                <a:ea typeface="MiSans Medium"/>
                <a:sym typeface="MiSans Bold" panose="00000800000000000000" pitchFamily="2" charset="-122"/>
              </a:rPr>
              <a:t>经营</a:t>
            </a:r>
            <a:endParaRPr lang="zh-CN" altLang="en-US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MiSans Medium"/>
              <a:ea typeface="MiSans Medium"/>
              <a:sym typeface="MiSans Bold" panose="00000800000000000000" pitchFamily="2" charset="-122"/>
            </a:endParaRPr>
          </a:p>
        </p:txBody>
      </p:sp>
      <p:sp>
        <p:nvSpPr>
          <p:cNvPr id="26" name="米菲PPT24"/>
          <p:cNvSpPr txBox="1"/>
          <p:nvPr/>
        </p:nvSpPr>
        <p:spPr>
          <a:xfrm>
            <a:off x="3267515" y="4275314"/>
            <a:ext cx="1226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促使交易完成闭环</a:t>
            </a:r>
            <a:endParaRPr lang="zh-CN" altLang="en-US" sz="1000" dirty="0">
              <a:solidFill>
                <a:srgbClr val="F57359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8" name="米菲PPT24"/>
          <p:cNvSpPr txBox="1"/>
          <p:nvPr/>
        </p:nvSpPr>
        <p:spPr>
          <a:xfrm>
            <a:off x="1790045" y="4280241"/>
            <a:ext cx="1226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低线城市更有优势</a:t>
            </a:r>
            <a:endParaRPr lang="zh-CN" altLang="en-US" sz="1000" dirty="0">
              <a:solidFill>
                <a:srgbClr val="F57359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33" name="米菲PPT1"/>
          <p:cNvSpPr/>
          <p:nvPr/>
        </p:nvSpPr>
        <p:spPr>
          <a:xfrm rot="20962401">
            <a:off x="6971317" y="4127323"/>
            <a:ext cx="824261" cy="535838"/>
          </a:xfrm>
          <a:custGeom>
            <a:avLst/>
            <a:gdLst>
              <a:gd name="connsiteX0" fmla="*/ 41197 w 1635111"/>
              <a:gd name="connsiteY0" fmla="*/ 0 h 1062958"/>
              <a:gd name="connsiteX1" fmla="*/ 1635111 w 1635111"/>
              <a:gd name="connsiteY1" fmla="*/ 299060 h 1062958"/>
              <a:gd name="connsiteX2" fmla="*/ 1491783 w 1635111"/>
              <a:gd name="connsiteY2" fmla="*/ 1062958 h 1062958"/>
              <a:gd name="connsiteX3" fmla="*/ 0 w 1635111"/>
              <a:gd name="connsiteY3" fmla="*/ 783060 h 1062958"/>
              <a:gd name="connsiteX4" fmla="*/ 15482 w 1635111"/>
              <a:gd name="connsiteY4" fmla="*/ 621956 h 1062958"/>
              <a:gd name="connsiteX5" fmla="*/ 36371 w 1635111"/>
              <a:gd name="connsiteY5" fmla="*/ 255751 h 1062958"/>
              <a:gd name="connsiteX6" fmla="*/ 41197 w 1635111"/>
              <a:gd name="connsiteY6" fmla="*/ 0 h 1062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5111" h="1062958">
                <a:moveTo>
                  <a:pt x="41197" y="0"/>
                </a:moveTo>
                <a:lnTo>
                  <a:pt x="1635111" y="299060"/>
                </a:lnTo>
                <a:lnTo>
                  <a:pt x="1491783" y="1062958"/>
                </a:lnTo>
                <a:lnTo>
                  <a:pt x="0" y="783060"/>
                </a:lnTo>
                <a:lnTo>
                  <a:pt x="15482" y="621956"/>
                </a:lnTo>
                <a:cubicBezTo>
                  <a:pt x="24663" y="501909"/>
                  <a:pt x="31664" y="379738"/>
                  <a:pt x="36371" y="255751"/>
                </a:cubicBezTo>
                <a:lnTo>
                  <a:pt x="41197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0">
                <a:schemeClr val="accent2">
                  <a:lumMod val="93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05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4" name="米菲PPT2"/>
          <p:cNvSpPr/>
          <p:nvPr/>
        </p:nvSpPr>
        <p:spPr>
          <a:xfrm rot="20962401">
            <a:off x="6456906" y="2819407"/>
            <a:ext cx="1333866" cy="635350"/>
          </a:xfrm>
          <a:custGeom>
            <a:avLst/>
            <a:gdLst>
              <a:gd name="connsiteX0" fmla="*/ 0 w 2646028"/>
              <a:gd name="connsiteY0" fmla="*/ 0 h 1260363"/>
              <a:gd name="connsiteX1" fmla="*/ 2646028 w 2646028"/>
              <a:gd name="connsiteY1" fmla="*/ 496464 h 1260363"/>
              <a:gd name="connsiteX2" fmla="*/ 2502701 w 2646028"/>
              <a:gd name="connsiteY2" fmla="*/ 1260363 h 1260363"/>
              <a:gd name="connsiteX3" fmla="*/ 293394 w 2646028"/>
              <a:gd name="connsiteY3" fmla="*/ 845838 h 1260363"/>
              <a:gd name="connsiteX4" fmla="*/ 290246 w 2646028"/>
              <a:gd name="connsiteY4" fmla="*/ 831974 h 1260363"/>
              <a:gd name="connsiteX5" fmla="*/ 24032 w 2646028"/>
              <a:gd name="connsiteY5" fmla="*/ 48083 h 1260363"/>
              <a:gd name="connsiteX6" fmla="*/ 0 w 2646028"/>
              <a:gd name="connsiteY6" fmla="*/ 0 h 1260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6028" h="1260363">
                <a:moveTo>
                  <a:pt x="0" y="0"/>
                </a:moveTo>
                <a:lnTo>
                  <a:pt x="2646028" y="496464"/>
                </a:lnTo>
                <a:lnTo>
                  <a:pt x="2502701" y="1260363"/>
                </a:lnTo>
                <a:lnTo>
                  <a:pt x="293394" y="845838"/>
                </a:lnTo>
                <a:lnTo>
                  <a:pt x="290246" y="831974"/>
                </a:lnTo>
                <a:cubicBezTo>
                  <a:pt x="215929" y="537652"/>
                  <a:pt x="126152" y="273575"/>
                  <a:pt x="24032" y="48083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2000"/>
                </a:schemeClr>
              </a:gs>
              <a:gs pos="0">
                <a:schemeClr val="accent1">
                  <a:lumMod val="70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05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6" name="米菲PPT44"/>
          <p:cNvSpPr txBox="1"/>
          <p:nvPr/>
        </p:nvSpPr>
        <p:spPr>
          <a:xfrm>
            <a:off x="6969395" y="3035973"/>
            <a:ext cx="77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b="1" dirty="0">
                <a:cs typeface="MiSans Medium" panose="00000600000000000000" pitchFamily="2" charset="-122"/>
              </a:rPr>
              <a:t>曝光</a:t>
            </a:r>
            <a:endParaRPr lang="zh-CN" altLang="en-US" sz="1050" b="1" dirty="0">
              <a:cs typeface="MiSans Medium" panose="00000600000000000000" pitchFamily="2" charset="-122"/>
            </a:endParaRPr>
          </a:p>
        </p:txBody>
      </p:sp>
      <p:sp>
        <p:nvSpPr>
          <p:cNvPr id="138" name="米菲PPT47"/>
          <p:cNvSpPr/>
          <p:nvPr/>
        </p:nvSpPr>
        <p:spPr>
          <a:xfrm>
            <a:off x="6672732" y="3365387"/>
            <a:ext cx="1094171" cy="391802"/>
          </a:xfrm>
          <a:custGeom>
            <a:avLst/>
            <a:gdLst>
              <a:gd name="connsiteX0" fmla="*/ 0 w 2170539"/>
              <a:gd name="connsiteY0" fmla="*/ 0 h 777228"/>
              <a:gd name="connsiteX1" fmla="*/ 2170539 w 2170539"/>
              <a:gd name="connsiteY1" fmla="*/ 0 h 777228"/>
              <a:gd name="connsiteX2" fmla="*/ 2170539 w 2170539"/>
              <a:gd name="connsiteY2" fmla="*/ 777228 h 777228"/>
              <a:gd name="connsiteX3" fmla="*/ 279193 w 2170539"/>
              <a:gd name="connsiteY3" fmla="*/ 777228 h 777228"/>
              <a:gd name="connsiteX4" fmla="*/ 185320 w 2170539"/>
              <a:gd name="connsiteY4" fmla="*/ 480232 h 777228"/>
              <a:gd name="connsiteX5" fmla="*/ 40970 w 2170539"/>
              <a:gd name="connsiteY5" fmla="*/ 94590 h 777228"/>
              <a:gd name="connsiteX6" fmla="*/ 0 w 2170539"/>
              <a:gd name="connsiteY6" fmla="*/ 0 h 77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0539" h="777228">
                <a:moveTo>
                  <a:pt x="0" y="0"/>
                </a:moveTo>
                <a:lnTo>
                  <a:pt x="2170539" y="0"/>
                </a:lnTo>
                <a:lnTo>
                  <a:pt x="2170539" y="777228"/>
                </a:lnTo>
                <a:lnTo>
                  <a:pt x="279193" y="777228"/>
                </a:lnTo>
                <a:lnTo>
                  <a:pt x="185320" y="480232"/>
                </a:lnTo>
                <a:cubicBezTo>
                  <a:pt x="139361" y="346838"/>
                  <a:pt x="91134" y="218107"/>
                  <a:pt x="40970" y="9459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5000">
                <a:schemeClr val="accent1">
                  <a:lumMod val="90000"/>
                  <a:lumOff val="10000"/>
                </a:schemeClr>
              </a:gs>
              <a:gs pos="0">
                <a:schemeClr val="accent1">
                  <a:lumMod val="7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05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0" name="米菲PPT53"/>
          <p:cNvSpPr txBox="1"/>
          <p:nvPr/>
        </p:nvSpPr>
        <p:spPr>
          <a:xfrm>
            <a:off x="6970348" y="3454035"/>
            <a:ext cx="77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b="1" dirty="0">
                <a:cs typeface="MiSans Medium" panose="00000600000000000000" pitchFamily="2" charset="-122"/>
              </a:rPr>
              <a:t>互动</a:t>
            </a:r>
            <a:endParaRPr lang="zh-CN" altLang="en-US" sz="1050" b="1" dirty="0">
              <a:cs typeface="MiSans Medium" panose="00000600000000000000" pitchFamily="2" charset="-122"/>
            </a:endParaRPr>
          </a:p>
        </p:txBody>
      </p:sp>
      <p:sp>
        <p:nvSpPr>
          <p:cNvPr id="141" name="米菲PPT54"/>
          <p:cNvSpPr/>
          <p:nvPr/>
        </p:nvSpPr>
        <p:spPr>
          <a:xfrm>
            <a:off x="6840152" y="3782880"/>
            <a:ext cx="926751" cy="391802"/>
          </a:xfrm>
          <a:custGeom>
            <a:avLst/>
            <a:gdLst>
              <a:gd name="connsiteX0" fmla="*/ 0 w 1838423"/>
              <a:gd name="connsiteY0" fmla="*/ 0 h 777228"/>
              <a:gd name="connsiteX1" fmla="*/ 1838423 w 1838423"/>
              <a:gd name="connsiteY1" fmla="*/ 0 h 777228"/>
              <a:gd name="connsiteX2" fmla="*/ 1838423 w 1838423"/>
              <a:gd name="connsiteY2" fmla="*/ 777228 h 777228"/>
              <a:gd name="connsiteX3" fmla="*/ 184380 w 1838423"/>
              <a:gd name="connsiteY3" fmla="*/ 777228 h 777228"/>
              <a:gd name="connsiteX4" fmla="*/ 120034 w 1838423"/>
              <a:gd name="connsiteY4" fmla="*/ 466729 h 777228"/>
              <a:gd name="connsiteX5" fmla="*/ 31972 w 1838423"/>
              <a:gd name="connsiteY5" fmla="*/ 110655 h 777228"/>
              <a:gd name="connsiteX6" fmla="*/ 0 w 1838423"/>
              <a:gd name="connsiteY6" fmla="*/ 0 h 77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8423" h="777228">
                <a:moveTo>
                  <a:pt x="0" y="0"/>
                </a:moveTo>
                <a:lnTo>
                  <a:pt x="1838423" y="0"/>
                </a:lnTo>
                <a:lnTo>
                  <a:pt x="1838423" y="777228"/>
                </a:lnTo>
                <a:lnTo>
                  <a:pt x="184380" y="777228"/>
                </a:lnTo>
                <a:lnTo>
                  <a:pt x="120034" y="466729"/>
                </a:lnTo>
                <a:cubicBezTo>
                  <a:pt x="92544" y="345736"/>
                  <a:pt x="63133" y="226951"/>
                  <a:pt x="31972" y="110655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90000"/>
                  <a:lumOff val="10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05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3" name="米菲PPT60"/>
          <p:cNvSpPr txBox="1"/>
          <p:nvPr/>
        </p:nvSpPr>
        <p:spPr>
          <a:xfrm>
            <a:off x="6995679" y="3851325"/>
            <a:ext cx="77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b="1" dirty="0">
                <a:cs typeface="MiSans Medium" panose="00000600000000000000" pitchFamily="2" charset="-122"/>
              </a:rPr>
              <a:t>交易</a:t>
            </a:r>
            <a:endParaRPr lang="zh-CN" altLang="en-US" sz="1050" b="1" dirty="0">
              <a:cs typeface="MiSans Medium" panose="00000600000000000000" pitchFamily="2" charset="-122"/>
            </a:endParaRPr>
          </a:p>
        </p:txBody>
      </p:sp>
      <p:sp>
        <p:nvSpPr>
          <p:cNvPr id="145" name="米菲PPT66"/>
          <p:cNvSpPr txBox="1"/>
          <p:nvPr/>
        </p:nvSpPr>
        <p:spPr>
          <a:xfrm>
            <a:off x="6991367" y="4261261"/>
            <a:ext cx="77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b="1" dirty="0">
                <a:cs typeface="MiSans Medium" panose="00000600000000000000" pitchFamily="2" charset="-122"/>
              </a:rPr>
              <a:t>履约</a:t>
            </a:r>
            <a:endParaRPr lang="zh-CN" altLang="en-US" sz="1050" b="1" dirty="0">
              <a:cs typeface="MiSans Medium" panose="00000600000000000000" pitchFamily="2" charset="-122"/>
            </a:endParaRPr>
          </a:p>
        </p:txBody>
      </p:sp>
      <p:sp>
        <p:nvSpPr>
          <p:cNvPr id="146" name="米菲PPT67"/>
          <p:cNvSpPr/>
          <p:nvPr/>
        </p:nvSpPr>
        <p:spPr>
          <a:xfrm>
            <a:off x="7009861" y="4620321"/>
            <a:ext cx="757042" cy="391802"/>
          </a:xfrm>
          <a:custGeom>
            <a:avLst/>
            <a:gdLst>
              <a:gd name="connsiteX0" fmla="*/ 0 w 1501767"/>
              <a:gd name="connsiteY0" fmla="*/ 0 h 777228"/>
              <a:gd name="connsiteX1" fmla="*/ 1501767 w 1501767"/>
              <a:gd name="connsiteY1" fmla="*/ 0 h 777228"/>
              <a:gd name="connsiteX2" fmla="*/ 1501767 w 1501767"/>
              <a:gd name="connsiteY2" fmla="*/ 777228 h 777228"/>
              <a:gd name="connsiteX3" fmla="*/ 17877 w 1501767"/>
              <a:gd name="connsiteY3" fmla="*/ 777228 h 777228"/>
              <a:gd name="connsiteX4" fmla="*/ 21368 w 1501767"/>
              <a:gd name="connsiteY4" fmla="*/ 562053 h 777228"/>
              <a:gd name="connsiteX5" fmla="*/ 1255 w 1501767"/>
              <a:gd name="connsiteY5" fmla="*/ 13956 h 777228"/>
              <a:gd name="connsiteX6" fmla="*/ 0 w 1501767"/>
              <a:gd name="connsiteY6" fmla="*/ 0 h 77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1767" h="777228">
                <a:moveTo>
                  <a:pt x="0" y="0"/>
                </a:moveTo>
                <a:lnTo>
                  <a:pt x="1501767" y="0"/>
                </a:lnTo>
                <a:lnTo>
                  <a:pt x="1501767" y="777228"/>
                </a:lnTo>
                <a:lnTo>
                  <a:pt x="17877" y="777228"/>
                </a:lnTo>
                <a:lnTo>
                  <a:pt x="21368" y="562053"/>
                </a:lnTo>
                <a:cubicBezTo>
                  <a:pt x="21044" y="385594"/>
                  <a:pt x="14421" y="202431"/>
                  <a:pt x="1255" y="13956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0">
                <a:schemeClr val="accent2">
                  <a:lumMod val="71000"/>
                  <a:lumOff val="29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05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8" name="米菲PPT73"/>
          <p:cNvSpPr txBox="1"/>
          <p:nvPr/>
        </p:nvSpPr>
        <p:spPr>
          <a:xfrm>
            <a:off x="6970348" y="4710906"/>
            <a:ext cx="77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b="1" dirty="0">
                <a:cs typeface="MiSans Medium" panose="00000600000000000000" pitchFamily="2" charset="-122"/>
              </a:rPr>
              <a:t>复购</a:t>
            </a:r>
            <a:endParaRPr lang="zh-CN" altLang="en-US" sz="1050" b="1" dirty="0">
              <a:cs typeface="MiSans Medium" panose="00000600000000000000" pitchFamily="2" charset="-122"/>
            </a:endParaRPr>
          </a:p>
        </p:txBody>
      </p:sp>
      <p:cxnSp>
        <p:nvCxnSpPr>
          <p:cNvPr id="151" name="直线连接符 150"/>
          <p:cNvCxnSpPr>
            <a:stCxn id="134" idx="3"/>
          </p:cNvCxnSpPr>
          <p:nvPr/>
        </p:nvCxnSpPr>
        <p:spPr>
          <a:xfrm flipH="1" flipV="1">
            <a:off x="5887620" y="3337284"/>
            <a:ext cx="746135" cy="2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/>
          <p:cNvCxnSpPr>
            <a:stCxn id="138" idx="3"/>
          </p:cNvCxnSpPr>
          <p:nvPr/>
        </p:nvCxnSpPr>
        <p:spPr>
          <a:xfrm flipH="1">
            <a:off x="5931469" y="3757189"/>
            <a:ext cx="8820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连接符 157"/>
          <p:cNvCxnSpPr>
            <a:stCxn id="141" idx="3"/>
          </p:cNvCxnSpPr>
          <p:nvPr/>
        </p:nvCxnSpPr>
        <p:spPr>
          <a:xfrm flipH="1">
            <a:off x="5931469" y="4174682"/>
            <a:ext cx="10016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连接符 160"/>
          <p:cNvCxnSpPr>
            <a:stCxn id="133" idx="3"/>
          </p:cNvCxnSpPr>
          <p:nvPr/>
        </p:nvCxnSpPr>
        <p:spPr>
          <a:xfrm flipH="1">
            <a:off x="5961805" y="4595889"/>
            <a:ext cx="1039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/>
          <p:cNvCxnSpPr>
            <a:stCxn id="146" idx="3"/>
          </p:cNvCxnSpPr>
          <p:nvPr/>
        </p:nvCxnSpPr>
        <p:spPr>
          <a:xfrm flipH="1" flipV="1">
            <a:off x="5945454" y="5007604"/>
            <a:ext cx="1073419" cy="4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米菲PPT24"/>
          <p:cNvSpPr txBox="1"/>
          <p:nvPr/>
        </p:nvSpPr>
        <p:spPr>
          <a:xfrm>
            <a:off x="5824149" y="3146214"/>
            <a:ext cx="8660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流量热门榜</a:t>
            </a:r>
            <a:endParaRPr lang="zh-CN" altLang="en-US" sz="9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9" name="米菲PPT24"/>
          <p:cNvSpPr txBox="1"/>
          <p:nvPr/>
        </p:nvSpPr>
        <p:spPr>
          <a:xfrm>
            <a:off x="5842148" y="3558861"/>
            <a:ext cx="15340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分享榜、收藏榜、点赞榜</a:t>
            </a:r>
            <a:endParaRPr lang="zh-CN" altLang="en-US" sz="9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80" name="米菲PPT24"/>
          <p:cNvSpPr txBox="1"/>
          <p:nvPr/>
        </p:nvSpPr>
        <p:spPr>
          <a:xfrm>
            <a:off x="5856410" y="3989815"/>
            <a:ext cx="1276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销量榜</a:t>
            </a:r>
            <a:endParaRPr lang="zh-CN" altLang="en-US" sz="9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81" name="米菲PPT24"/>
          <p:cNvSpPr txBox="1"/>
          <p:nvPr/>
        </p:nvSpPr>
        <p:spPr>
          <a:xfrm>
            <a:off x="5887246" y="4395242"/>
            <a:ext cx="1276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预订榜、排队榜</a:t>
            </a:r>
            <a:endParaRPr lang="zh-CN" altLang="en-US" sz="9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82" name="米菲PPT24"/>
          <p:cNvSpPr txBox="1"/>
          <p:nvPr/>
        </p:nvSpPr>
        <p:spPr>
          <a:xfrm>
            <a:off x="5887246" y="4793746"/>
            <a:ext cx="1276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复购榜</a:t>
            </a:r>
            <a:endParaRPr lang="zh-CN" altLang="en-US" sz="9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0" imgH="0" progId="TCLayout.ActiveDocument.1">
                  <p:embed/>
                </p:oleObj>
              </mc:Choice>
              <mc:Fallback>
                <p:oleObj name="think-cell 幻灯片" r:id="rId2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资产运营价值及策略</a:t>
            </a:r>
            <a:r>
              <a:rPr lang="en-US" altLang="zh-CN" dirty="0">
                <a:latin typeface="+mn-ea"/>
                <a:ea typeface="+mn-ea"/>
              </a:rPr>
              <a:t>Review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308706" y="430064"/>
            <a:ext cx="863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榜单资产现阶段</a:t>
            </a:r>
            <a:r>
              <a:rPr lang="en-US" altLang="zh-CN" sz="1200" b="1" dirty="0"/>
              <a:t>PMF</a:t>
            </a:r>
            <a:r>
              <a:rPr lang="zh-CN" altLang="en-US" sz="1200" b="1" dirty="0"/>
              <a:t>“为在特定用餐场景下，面临信息过载而决策困难”的用户，提供“场景化、高置信度的精选榜单与快捷交易服务”。</a:t>
            </a:r>
            <a:r>
              <a:rPr lang="zh-CN" altLang="en-US" sz="1200" dirty="0"/>
              <a:t> 以满足</a:t>
            </a:r>
            <a:r>
              <a:rPr lang="en-US" altLang="zh-CN" sz="1200" dirty="0"/>
              <a:t>C</a:t>
            </a:r>
            <a:r>
              <a:rPr lang="zh-CN" altLang="en-US" sz="1200" dirty="0"/>
              <a:t>端用户决策需求，驱动商家经营能力提升为目标，从资产建设、榜单规则、榜单矩阵着手，进一步实现扩覆盖、建心智、帮经营的策略落地。</a:t>
            </a:r>
            <a:endParaRPr lang="en-US" altLang="zh-CN" sz="1200" dirty="0"/>
          </a:p>
        </p:txBody>
      </p:sp>
      <p:sp>
        <p:nvSpPr>
          <p:cNvPr id="61" name="米菲PPT7"/>
          <p:cNvSpPr/>
          <p:nvPr/>
        </p:nvSpPr>
        <p:spPr>
          <a:xfrm flipV="1">
            <a:off x="3138353" y="1403350"/>
            <a:ext cx="3440387" cy="2671154"/>
          </a:xfrm>
          <a:custGeom>
            <a:avLst/>
            <a:gdLst>
              <a:gd name="connsiteX0" fmla="*/ 0 w 2015092"/>
              <a:gd name="connsiteY0" fmla="*/ 4357800 h 4357800"/>
              <a:gd name="connsiteX1" fmla="*/ 2015092 w 2015092"/>
              <a:gd name="connsiteY1" fmla="*/ 4357800 h 4357800"/>
              <a:gd name="connsiteX2" fmla="*/ 2015092 w 2015092"/>
              <a:gd name="connsiteY2" fmla="*/ 0 h 4357800"/>
              <a:gd name="connsiteX3" fmla="*/ 0 w 2015092"/>
              <a:gd name="connsiteY3" fmla="*/ 0 h 43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5092" h="4357800">
                <a:moveTo>
                  <a:pt x="0" y="4357800"/>
                </a:moveTo>
                <a:lnTo>
                  <a:pt x="2015092" y="4357800"/>
                </a:lnTo>
                <a:lnTo>
                  <a:pt x="201509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20000"/>
                  <a:lumOff val="80000"/>
                </a:schemeClr>
              </a:gs>
              <a:gs pos="1000">
                <a:schemeClr val="bg1"/>
              </a:gs>
            </a:gsLst>
            <a:lin ang="5400000" scaled="1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bg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Bold" panose="00000800000000000000" pitchFamily="2" charset="-122"/>
              <a:cs typeface="MiSans Bold" panose="00000800000000000000" pitchFamily="2" charset="-122"/>
            </a:endParaRPr>
          </a:p>
        </p:txBody>
      </p:sp>
      <p:sp>
        <p:nvSpPr>
          <p:cNvPr id="66" name="米菲PPT3"/>
          <p:cNvSpPr/>
          <p:nvPr/>
        </p:nvSpPr>
        <p:spPr>
          <a:xfrm rot="5400000" flipV="1">
            <a:off x="4843685" y="814300"/>
            <a:ext cx="525680" cy="7376450"/>
          </a:xfrm>
          <a:prstGeom prst="roundRect">
            <a:avLst>
              <a:gd name="adj" fmla="val 2925"/>
            </a:avLst>
          </a:prstGeom>
          <a:gradFill flip="none" rotWithShape="1">
            <a:gsLst>
              <a:gs pos="0">
                <a:schemeClr val="accent2">
                  <a:alpha val="65000"/>
                </a:schemeClr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7" name="米菲PPT5"/>
          <p:cNvSpPr/>
          <p:nvPr/>
        </p:nvSpPr>
        <p:spPr>
          <a:xfrm rot="5400000" flipV="1">
            <a:off x="879157" y="4237163"/>
            <a:ext cx="502523" cy="553877"/>
          </a:xfrm>
          <a:prstGeom prst="roundRect">
            <a:avLst>
              <a:gd name="adj" fmla="val 15416"/>
            </a:avLst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+mn-ea"/>
              <a:cs typeface="MiSans Bold" panose="00000800000000000000" pitchFamily="2" charset="-122"/>
            </a:endParaRPr>
          </a:p>
        </p:txBody>
      </p:sp>
      <p:sp>
        <p:nvSpPr>
          <p:cNvPr id="68" name="米菲PPT13"/>
          <p:cNvSpPr/>
          <p:nvPr/>
        </p:nvSpPr>
        <p:spPr>
          <a:xfrm>
            <a:off x="894373" y="1130696"/>
            <a:ext cx="7899843" cy="261158"/>
          </a:xfrm>
          <a:prstGeom prst="trapezoid">
            <a:avLst>
              <a:gd name="adj" fmla="val 153377"/>
            </a:avLst>
          </a:prstGeom>
          <a:gradFill>
            <a:gsLst>
              <a:gs pos="15000">
                <a:schemeClr val="accent1">
                  <a:alpha val="1000"/>
                </a:schemeClr>
              </a:gs>
              <a:gs pos="95000">
                <a:schemeClr val="accent1">
                  <a:alpha val="8000"/>
                </a:schemeClr>
              </a:gs>
            </a:gsLst>
            <a:lin ang="5400000" scaled="1"/>
          </a:gradFill>
          <a:ln w="1778">
            <a:gradFill flip="none" rotWithShape="1"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5400000" scaled="1"/>
              <a:tileRect/>
            </a:gra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5" rIns="38405" bIns="19205" rtlCol="0" anchor="ctr"/>
          <a:lstStyle/>
          <a:p>
            <a:pPr algn="ctr" defTabSz="685800">
              <a:defRPr/>
            </a:pPr>
            <a:endParaRPr lang="zh-CN" altLang="en-US" sz="900" b="1" dirty="0">
              <a:solidFill>
                <a:prstClr val="white"/>
              </a:solidFill>
              <a:latin typeface="+mn-ea"/>
              <a:cs typeface="+mn-ea"/>
            </a:endParaRPr>
          </a:p>
        </p:txBody>
      </p:sp>
      <p:sp>
        <p:nvSpPr>
          <p:cNvPr id="69" name="米菲PPT48"/>
          <p:cNvSpPr/>
          <p:nvPr/>
        </p:nvSpPr>
        <p:spPr>
          <a:xfrm>
            <a:off x="4024489" y="1096578"/>
            <a:ext cx="1827595" cy="28429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8" rIns="0" bIns="0"/>
          <a:lstStyle/>
          <a:p>
            <a:pPr marL="233045" indent="-223520" eaLnBrk="0">
              <a:lnSpc>
                <a:spcPct val="130000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资产运营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C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端运营价值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70" name="米菲PPT49"/>
          <p:cNvSpPr/>
          <p:nvPr/>
        </p:nvSpPr>
        <p:spPr>
          <a:xfrm>
            <a:off x="124607" y="2717268"/>
            <a:ext cx="772814" cy="6801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72" name="米菲PPT51"/>
          <p:cNvSpPr/>
          <p:nvPr/>
        </p:nvSpPr>
        <p:spPr>
          <a:xfrm>
            <a:off x="883236" y="4375873"/>
            <a:ext cx="514275" cy="16495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9000"/>
              </a:lnSpc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资产建设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rtl="0" eaLnBrk="0">
              <a:lnSpc>
                <a:spcPct val="79000"/>
              </a:lnSpc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&amp;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rtl="0" eaLnBrk="0">
              <a:lnSpc>
                <a:spcPct val="79000"/>
              </a:lnSpc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多维应用</a:t>
            </a:r>
            <a:endParaRPr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cxnSp>
        <p:nvCxnSpPr>
          <p:cNvPr id="74" name="米菲PPT149"/>
          <p:cNvCxnSpPr/>
          <p:nvPr/>
        </p:nvCxnSpPr>
        <p:spPr>
          <a:xfrm>
            <a:off x="511010" y="1481346"/>
            <a:ext cx="0" cy="916409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米菲PPT152"/>
          <p:cNvSpPr txBox="1"/>
          <p:nvPr/>
        </p:nvSpPr>
        <p:spPr>
          <a:xfrm>
            <a:off x="95559" y="2597507"/>
            <a:ext cx="787677" cy="226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algn="ctr" eaLnBrk="0">
              <a:lnSpc>
                <a:spcPct val="83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榜单</a:t>
            </a:r>
            <a:endParaRPr lang="en-US" altLang="zh-CN" sz="1000" dirty="0">
              <a:latin typeface="+mn-ea"/>
              <a:ea typeface="+mn-ea"/>
              <a:cs typeface="MiSans Medium" panose="00000600000000000000" pitchFamily="2" charset="-122"/>
            </a:endParaRPr>
          </a:p>
          <a:p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产品价值</a:t>
            </a:r>
            <a:endParaRPr lang="zh-CN" altLang="en-US" sz="1000" dirty="0">
              <a:latin typeface="+mn-ea"/>
              <a:ea typeface="+mn-ea"/>
              <a:cs typeface="MiSans Medium" panose="00000600000000000000" pitchFamily="2" charset="-122"/>
            </a:endParaRPr>
          </a:p>
        </p:txBody>
      </p:sp>
      <p:cxnSp>
        <p:nvCxnSpPr>
          <p:cNvPr id="76" name="米菲PPT154"/>
          <p:cNvCxnSpPr/>
          <p:nvPr/>
        </p:nvCxnSpPr>
        <p:spPr>
          <a:xfrm flipH="1">
            <a:off x="226653" y="1405529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米菲PPT12"/>
          <p:cNvSpPr/>
          <p:nvPr/>
        </p:nvSpPr>
        <p:spPr>
          <a:xfrm rot="5400000" flipV="1">
            <a:off x="1887366" y="471265"/>
            <a:ext cx="230333" cy="2148016"/>
          </a:xfrm>
          <a:prstGeom prst="roundRect">
            <a:avLst>
              <a:gd name="adj" fmla="val 12546"/>
            </a:avLst>
          </a:prstGeom>
          <a:noFill/>
          <a:ln w="9525">
            <a:solidFill>
              <a:schemeClr val="accent2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9" name="米菲PPT42"/>
          <p:cNvSpPr txBox="1"/>
          <p:nvPr/>
        </p:nvSpPr>
        <p:spPr>
          <a:xfrm>
            <a:off x="1410836" y="1399922"/>
            <a:ext cx="1585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用户需求及价值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80" name="米菲PPT41"/>
          <p:cNvSpPr/>
          <p:nvPr/>
        </p:nvSpPr>
        <p:spPr>
          <a:xfrm rot="5400000" flipV="1">
            <a:off x="1481148" y="1187132"/>
            <a:ext cx="1059972" cy="213081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1" name="米菲PPT44"/>
          <p:cNvSpPr txBox="1"/>
          <p:nvPr/>
        </p:nvSpPr>
        <p:spPr>
          <a:xfrm>
            <a:off x="1040669" y="1738031"/>
            <a:ext cx="2107686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值得用户信任的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榜单规则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价格、价值、品质敏感型用户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2" name="米菲PPT56"/>
          <p:cNvSpPr/>
          <p:nvPr/>
        </p:nvSpPr>
        <p:spPr>
          <a:xfrm>
            <a:off x="999492" y="1818699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83" name="米菲PPT155"/>
          <p:cNvCxnSpPr/>
          <p:nvPr/>
        </p:nvCxnSpPr>
        <p:spPr>
          <a:xfrm>
            <a:off x="498398" y="2973249"/>
            <a:ext cx="0" cy="1067389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米菲PPT44"/>
          <p:cNvSpPr txBox="1"/>
          <p:nvPr/>
        </p:nvSpPr>
        <p:spPr>
          <a:xfrm>
            <a:off x="1026062" y="2206367"/>
            <a:ext cx="2148919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榜单矩阵</a:t>
            </a: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满足用户精准需求</a:t>
            </a:r>
            <a:endParaRPr lang="en-US" altLang="zh-CN" sz="10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聚会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品类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商圈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异地等场景。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7" name="米菲PPT56"/>
          <p:cNvSpPr/>
          <p:nvPr/>
        </p:nvSpPr>
        <p:spPr>
          <a:xfrm>
            <a:off x="983889" y="2864399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3" name="米菲PPT41"/>
          <p:cNvSpPr/>
          <p:nvPr/>
        </p:nvSpPr>
        <p:spPr>
          <a:xfrm rot="5400000" flipV="1">
            <a:off x="7152461" y="1223019"/>
            <a:ext cx="1065669" cy="205334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rgbClr val="FFE88B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4" name="米菲PPT128"/>
          <p:cNvSpPr/>
          <p:nvPr/>
        </p:nvSpPr>
        <p:spPr>
          <a:xfrm>
            <a:off x="1546109" y="4324350"/>
            <a:ext cx="1171654" cy="348139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标签建设覆盖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(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品类、场景、人群、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AI)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95" name="米菲PPT129"/>
          <p:cNvSpPr/>
          <p:nvPr/>
        </p:nvSpPr>
        <p:spPr>
          <a:xfrm>
            <a:off x="2772981" y="4317766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双平台资产拉通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08" name="米菲PPT12"/>
          <p:cNvSpPr/>
          <p:nvPr/>
        </p:nvSpPr>
        <p:spPr>
          <a:xfrm rot="5400000" flipV="1">
            <a:off x="7560504" y="497335"/>
            <a:ext cx="230333" cy="2072588"/>
          </a:xfrm>
          <a:prstGeom prst="roundRect">
            <a:avLst>
              <a:gd name="adj" fmla="val 12546"/>
            </a:avLst>
          </a:prstGeom>
          <a:noFill/>
          <a:ln w="1270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14" name="米菲PPT42"/>
          <p:cNvSpPr txBox="1"/>
          <p:nvPr/>
        </p:nvSpPr>
        <p:spPr>
          <a:xfrm>
            <a:off x="6967130" y="1406587"/>
            <a:ext cx="15833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商家经营需求及价值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24" name="米菲PPT60"/>
          <p:cNvSpPr/>
          <p:nvPr/>
        </p:nvSpPr>
        <p:spPr>
          <a:xfrm>
            <a:off x="6719952" y="1793167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6" name="米菲PPT60"/>
          <p:cNvSpPr/>
          <p:nvPr/>
        </p:nvSpPr>
        <p:spPr>
          <a:xfrm>
            <a:off x="6717677" y="2876145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7" name="米菲PPT60"/>
          <p:cNvSpPr/>
          <p:nvPr/>
        </p:nvSpPr>
        <p:spPr>
          <a:xfrm>
            <a:off x="6730799" y="3466258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8" name="米菲PPT44"/>
          <p:cNvSpPr txBox="1"/>
          <p:nvPr/>
        </p:nvSpPr>
        <p:spPr>
          <a:xfrm>
            <a:off x="6775559" y="1698915"/>
            <a:ext cx="2014886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规则指导经营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通过诊断帮助商家从“盲目经营”到“精准优化”。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29" name="米菲PPT44"/>
          <p:cNvSpPr txBox="1"/>
          <p:nvPr/>
        </p:nvSpPr>
        <p:spPr>
          <a:xfrm>
            <a:off x="6782177" y="2228820"/>
            <a:ext cx="1976929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Medium" panose="00000600000000000000" pitchFamily="2" charset="-122"/>
              </a:rPr>
              <a:t>商家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sym typeface="MiSans Medium" panose="00000600000000000000" pitchFamily="2" charset="-122"/>
              </a:rPr>
              <a:t>冲榜产品化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Medium" panose="00000600000000000000" pitchFamily="2" charset="-122"/>
              </a:rPr>
              <a:t>服务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提供平台级的成长陪跑，加速成长与交流。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32" name="米菲PPT147"/>
          <p:cNvSpPr/>
          <p:nvPr/>
        </p:nvSpPr>
        <p:spPr>
          <a:xfrm>
            <a:off x="225091" y="4384562"/>
            <a:ext cx="572252" cy="6801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eaLnBrk="0">
              <a:lnSpc>
                <a:spcPct val="83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资产建设</a:t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cxnSp>
        <p:nvCxnSpPr>
          <p:cNvPr id="133" name="米菲PPT151"/>
          <p:cNvCxnSpPr/>
          <p:nvPr/>
        </p:nvCxnSpPr>
        <p:spPr>
          <a:xfrm flipH="1">
            <a:off x="226653" y="4879004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米菲PPT156"/>
          <p:cNvCxnSpPr/>
          <p:nvPr/>
        </p:nvCxnSpPr>
        <p:spPr>
          <a:xfrm>
            <a:off x="511010" y="4655289"/>
            <a:ext cx="0" cy="17992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米菲PPT150"/>
          <p:cNvCxnSpPr/>
          <p:nvPr/>
        </p:nvCxnSpPr>
        <p:spPr>
          <a:xfrm>
            <a:off x="511010" y="4138446"/>
            <a:ext cx="0" cy="17227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米菲PPT153"/>
          <p:cNvCxnSpPr/>
          <p:nvPr/>
        </p:nvCxnSpPr>
        <p:spPr>
          <a:xfrm flipH="1">
            <a:off x="214041" y="4110291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米菲PPT41"/>
          <p:cNvSpPr/>
          <p:nvPr/>
        </p:nvSpPr>
        <p:spPr>
          <a:xfrm rot="5400000" flipV="1">
            <a:off x="1743745" y="2072262"/>
            <a:ext cx="559362" cy="213081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9" name="米菲PPT41"/>
          <p:cNvSpPr/>
          <p:nvPr/>
        </p:nvSpPr>
        <p:spPr>
          <a:xfrm rot="5400000" flipV="1">
            <a:off x="7422753" y="2106803"/>
            <a:ext cx="562367" cy="205334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rgbClr val="FFE88B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6" name="米菲PPT129"/>
          <p:cNvSpPr/>
          <p:nvPr/>
        </p:nvSpPr>
        <p:spPr>
          <a:xfrm>
            <a:off x="6295984" y="4324349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交履资产绑定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7" name="米菲PPT130"/>
          <p:cNvSpPr/>
          <p:nvPr/>
        </p:nvSpPr>
        <p:spPr>
          <a:xfrm>
            <a:off x="7471690" y="4327144"/>
            <a:ext cx="1198516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资产与规则强联动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6" name="米菲PPT44"/>
          <p:cNvSpPr txBox="1"/>
          <p:nvPr/>
        </p:nvSpPr>
        <p:spPr>
          <a:xfrm>
            <a:off x="1017134" y="2852065"/>
            <a:ext cx="207169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促进用户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受时间地点驱动需求，追求马上能吃。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30" name="米菲PPT44"/>
          <p:cNvSpPr txBox="1"/>
          <p:nvPr/>
        </p:nvSpPr>
        <p:spPr>
          <a:xfrm>
            <a:off x="6756145" y="2846929"/>
            <a:ext cx="2031843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为商家启动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全域营销</a:t>
            </a:r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策略</a:t>
            </a:r>
            <a:endParaRPr lang="en-US" altLang="zh-CN" sz="1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线上流量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线下盛典，实现品效合一。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23" name="米菲PPT41"/>
          <p:cNvSpPr/>
          <p:nvPr/>
        </p:nvSpPr>
        <p:spPr>
          <a:xfrm rot="5400000" flipV="1">
            <a:off x="1717752" y="2714001"/>
            <a:ext cx="590193" cy="213081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03" name="米菲PPT41"/>
          <p:cNvSpPr/>
          <p:nvPr/>
        </p:nvSpPr>
        <p:spPr>
          <a:xfrm rot="5400000" flipV="1">
            <a:off x="7418600" y="2749716"/>
            <a:ext cx="596233" cy="205334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rgbClr val="FFE88B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8" name="米菲PPT44"/>
          <p:cNvSpPr txBox="1"/>
          <p:nvPr/>
        </p:nvSpPr>
        <p:spPr>
          <a:xfrm>
            <a:off x="1017134" y="3523134"/>
            <a:ext cx="2114869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促进用户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分享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打卡族，热爱尝鲜，社交分享。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31" name="米菲PPT44"/>
          <p:cNvSpPr txBox="1"/>
          <p:nvPr/>
        </p:nvSpPr>
        <p:spPr>
          <a:xfrm>
            <a:off x="6781743" y="3545189"/>
            <a:ext cx="2019445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促进商家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数据资产沉淀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商家价值：长期信用资产积累及复用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42" name="米菲PPT12"/>
          <p:cNvSpPr/>
          <p:nvPr/>
        </p:nvSpPr>
        <p:spPr>
          <a:xfrm rot="5400000" flipV="1">
            <a:off x="4764465" y="-155783"/>
            <a:ext cx="206453" cy="3385423"/>
          </a:xfrm>
          <a:prstGeom prst="roundRect">
            <a:avLst>
              <a:gd name="adj" fmla="val 12546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3" name="米菲PPT42"/>
          <p:cNvSpPr txBox="1"/>
          <p:nvPr/>
        </p:nvSpPr>
        <p:spPr>
          <a:xfrm>
            <a:off x="4275608" y="1403516"/>
            <a:ext cx="1576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BC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端双侧略提效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pSp>
        <p:nvGrpSpPr>
          <p:cNvPr id="154" name="Group"/>
          <p:cNvGrpSpPr/>
          <p:nvPr/>
        </p:nvGrpSpPr>
        <p:grpSpPr>
          <a:xfrm rot="10800000">
            <a:off x="3145453" y="2023228"/>
            <a:ext cx="162261" cy="351796"/>
            <a:chOff x="0" y="0"/>
            <a:chExt cx="5418196" cy="1844685"/>
          </a:xfrm>
        </p:grpSpPr>
        <p:sp>
          <p:nvSpPr>
            <p:cNvPr id="155" name="Arrow"/>
            <p:cNvSpPr/>
            <p:nvPr/>
          </p:nvSpPr>
          <p:spPr>
            <a:xfrm>
              <a:off x="0" y="205"/>
              <a:ext cx="4317254" cy="1844276"/>
            </a:xfrm>
            <a:prstGeom prst="rightArrow">
              <a:avLst>
                <a:gd name="adj1" fmla="val 100000"/>
                <a:gd name="adj2" fmla="val 73631"/>
              </a:avLst>
            </a:pr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 b="1">
                <a:solidFill>
                  <a:schemeClr val="bg1"/>
                </a:solidFill>
              </a:endParaRPr>
            </a:p>
          </p:txBody>
        </p:sp>
        <p:sp>
          <p:nvSpPr>
            <p:cNvPr id="156" name="Shape"/>
            <p:cNvSpPr/>
            <p:nvPr/>
          </p:nvSpPr>
          <p:spPr>
            <a:xfrm>
              <a:off x="3347858" y="0"/>
              <a:ext cx="2070339" cy="1844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168" y="10800"/>
                  </a:lnTo>
                  <a:lnTo>
                    <a:pt x="0" y="21600"/>
                  </a:lnTo>
                  <a:lnTo>
                    <a:pt x="7432" y="21600"/>
                  </a:lnTo>
                  <a:lnTo>
                    <a:pt x="21600" y="10800"/>
                  </a:lnTo>
                  <a:lnTo>
                    <a:pt x="7432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 b="1">
                <a:solidFill>
                  <a:schemeClr val="bg1"/>
                </a:solidFill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945727" y="2815179"/>
            <a:ext cx="778488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960141" y="3455000"/>
            <a:ext cx="778488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>
            <a:off x="4867691" y="1765709"/>
            <a:ext cx="0" cy="227492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Group"/>
          <p:cNvGrpSpPr/>
          <p:nvPr/>
        </p:nvGrpSpPr>
        <p:grpSpPr>
          <a:xfrm>
            <a:off x="6403532" y="2033449"/>
            <a:ext cx="162261" cy="351796"/>
            <a:chOff x="0" y="0"/>
            <a:chExt cx="5418196" cy="1844685"/>
          </a:xfrm>
        </p:grpSpPr>
        <p:sp>
          <p:nvSpPr>
            <p:cNvPr id="169" name="Arrow"/>
            <p:cNvSpPr/>
            <p:nvPr/>
          </p:nvSpPr>
          <p:spPr>
            <a:xfrm>
              <a:off x="0" y="205"/>
              <a:ext cx="4317254" cy="1844276"/>
            </a:xfrm>
            <a:prstGeom prst="rightArrow">
              <a:avLst>
                <a:gd name="adj1" fmla="val 100000"/>
                <a:gd name="adj2" fmla="val 73631"/>
              </a:avLst>
            </a:pr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70" name="Shape"/>
            <p:cNvSpPr/>
            <p:nvPr/>
          </p:nvSpPr>
          <p:spPr>
            <a:xfrm>
              <a:off x="3347858" y="0"/>
              <a:ext cx="2070339" cy="1844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168" y="10800"/>
                  </a:lnTo>
                  <a:lnTo>
                    <a:pt x="0" y="21600"/>
                  </a:lnTo>
                  <a:lnTo>
                    <a:pt x="7432" y="21600"/>
                  </a:lnTo>
                  <a:lnTo>
                    <a:pt x="21600" y="10800"/>
                  </a:lnTo>
                  <a:lnTo>
                    <a:pt x="7432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</p:grpSp>
      <p:sp>
        <p:nvSpPr>
          <p:cNvPr id="180" name="米菲PPT44"/>
          <p:cNvSpPr txBox="1"/>
          <p:nvPr/>
        </p:nvSpPr>
        <p:spPr>
          <a:xfrm>
            <a:off x="3260720" y="1740778"/>
            <a:ext cx="161441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新增榜单</a:t>
            </a:r>
            <a:r>
              <a:rPr lang="zh-CN" altLang="en-US" sz="850" b="1" dirty="0">
                <a:solidFill>
                  <a:srgbClr val="0F1115"/>
                </a:solidFill>
                <a:latin typeface="+mn-ea"/>
              </a:rPr>
              <a:t>公开性、权威性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对用户的透传能力</a:t>
            </a:r>
            <a:endParaRPr lang="zh-CN" altLang="en-US" sz="850" dirty="0">
              <a:effectLst/>
              <a:latin typeface="+mn-ea"/>
            </a:endParaRPr>
          </a:p>
        </p:txBody>
      </p:sp>
      <p:sp>
        <p:nvSpPr>
          <p:cNvPr id="181" name="米菲PPT44"/>
          <p:cNvSpPr txBox="1"/>
          <p:nvPr/>
        </p:nvSpPr>
        <p:spPr>
          <a:xfrm>
            <a:off x="3254387" y="2110116"/>
            <a:ext cx="16635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构建人群</a:t>
            </a:r>
            <a:r>
              <a:rPr lang="en-US" altLang="zh-CN" sz="850" b="0" i="0" dirty="0">
                <a:solidFill>
                  <a:srgbClr val="333333"/>
                </a:solidFill>
                <a:effectLst/>
                <a:latin typeface="PingFang SC"/>
              </a:rPr>
              <a:t>×</a:t>
            </a:r>
            <a:r>
              <a:rPr lang="zh-CN" altLang="en-US" sz="850" b="0" i="0" dirty="0">
                <a:solidFill>
                  <a:srgbClr val="333333"/>
                </a:solidFill>
                <a:effectLst/>
                <a:latin typeface="PingFang SC"/>
              </a:rPr>
              <a:t>时间</a:t>
            </a:r>
            <a:r>
              <a:rPr lang="en-US" altLang="zh-CN" sz="850" b="0" i="0" dirty="0">
                <a:solidFill>
                  <a:srgbClr val="333333"/>
                </a:solidFill>
                <a:effectLst/>
                <a:latin typeface="PingFang SC"/>
              </a:rPr>
              <a:t>×</a:t>
            </a:r>
            <a:r>
              <a:rPr lang="zh-CN" altLang="en-US" sz="850" b="0" i="0" dirty="0">
                <a:solidFill>
                  <a:srgbClr val="333333"/>
                </a:solidFill>
                <a:effectLst/>
                <a:latin typeface="PingFang SC"/>
              </a:rPr>
              <a:t>空间、基于</a:t>
            </a:r>
            <a:r>
              <a:rPr lang="en-US" altLang="zh-CN" sz="850" b="0" i="0" dirty="0">
                <a:solidFill>
                  <a:srgbClr val="333333"/>
                </a:solidFill>
                <a:effectLst/>
                <a:latin typeface="PingFang SC"/>
              </a:rPr>
              <a:t>LBS</a:t>
            </a:r>
            <a:r>
              <a:rPr lang="zh-CN" altLang="en-US" sz="850" b="0" i="0" dirty="0">
                <a:solidFill>
                  <a:srgbClr val="333333"/>
                </a:solidFill>
                <a:effectLst/>
                <a:latin typeface="PingFang SC"/>
              </a:rPr>
              <a:t>等</a:t>
            </a:r>
            <a:r>
              <a:rPr lang="zh-CN" altLang="en-US" sz="850" b="1" i="0" dirty="0">
                <a:solidFill>
                  <a:srgbClr val="333333"/>
                </a:solidFill>
                <a:effectLst/>
                <a:latin typeface="PingFang SC"/>
              </a:rPr>
              <a:t>动态推送场景榜</a:t>
            </a:r>
            <a:endParaRPr lang="zh-CN" altLang="en-US" sz="850" b="1" dirty="0">
              <a:effectLst/>
              <a:latin typeface="+mn-ea"/>
            </a:endParaRPr>
          </a:p>
        </p:txBody>
      </p:sp>
      <p:sp>
        <p:nvSpPr>
          <p:cNvPr id="182" name="米菲PPT130"/>
          <p:cNvSpPr/>
          <p:nvPr/>
        </p:nvSpPr>
        <p:spPr>
          <a:xfrm>
            <a:off x="3378418" y="2570822"/>
            <a:ext cx="2999714" cy="183720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3175">
            <a:solidFill>
              <a:schemeClr val="accent1"/>
            </a:solidFill>
            <a:prstDash val="dashDot"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扩覆盖</a:t>
            </a:r>
            <a:r>
              <a:rPr lang="en-US" altLang="zh-CN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 + </a:t>
            </a:r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建心智</a:t>
            </a:r>
            <a:r>
              <a:rPr lang="en-US" altLang="zh-CN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 + </a:t>
            </a:r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帮经营</a:t>
            </a:r>
            <a:endParaRPr lang="zh-CN" altLang="en-US" sz="10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3" name="米菲PPT44"/>
          <p:cNvSpPr txBox="1"/>
          <p:nvPr/>
        </p:nvSpPr>
        <p:spPr>
          <a:xfrm>
            <a:off x="4853410" y="1740778"/>
            <a:ext cx="1614411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商家冲榜规则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透传，诊断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、上榜同行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对标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zh-CN" altLang="en-US" sz="850" dirty="0">
              <a:effectLst/>
              <a:latin typeface="+mn-ea"/>
            </a:endParaRPr>
          </a:p>
        </p:txBody>
      </p:sp>
      <p:sp>
        <p:nvSpPr>
          <p:cNvPr id="184" name="米菲PPT44"/>
          <p:cNvSpPr txBox="1"/>
          <p:nvPr/>
        </p:nvSpPr>
        <p:spPr>
          <a:xfrm>
            <a:off x="4847077" y="2110116"/>
            <a:ext cx="16635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新老商家定制化</a:t>
            </a:r>
            <a:r>
              <a:rPr lang="zh-CN" altLang="en-US" sz="850" b="1" dirty="0">
                <a:solidFill>
                  <a:srgbClr val="0F1115"/>
                </a:solidFill>
                <a:latin typeface="+mn-ea"/>
              </a:rPr>
              <a:t>上榜陪跑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、成长</a:t>
            </a:r>
            <a:r>
              <a:rPr lang="zh-CN" altLang="en-US" sz="850" b="1" dirty="0">
                <a:solidFill>
                  <a:srgbClr val="0F1115"/>
                </a:solidFill>
                <a:latin typeface="+mn-ea"/>
              </a:rPr>
              <a:t>社群搭建</a:t>
            </a:r>
            <a:endParaRPr lang="zh-CN" altLang="en-US" sz="850" b="1" dirty="0">
              <a:effectLst/>
              <a:latin typeface="+mn-ea"/>
            </a:endParaRPr>
          </a:p>
        </p:txBody>
      </p:sp>
      <p:sp>
        <p:nvSpPr>
          <p:cNvPr id="186" name="米菲PPT44"/>
          <p:cNvSpPr txBox="1"/>
          <p:nvPr/>
        </p:nvSpPr>
        <p:spPr>
          <a:xfrm>
            <a:off x="3308350" y="2882957"/>
            <a:ext cx="164960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强化推荐理由及订单量化，增信任及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差异化运营</a:t>
            </a:r>
            <a:endParaRPr lang="zh-CN" altLang="en-US" sz="850" dirty="0">
              <a:effectLst/>
              <a:latin typeface="+mn-ea"/>
            </a:endParaRPr>
          </a:p>
        </p:txBody>
      </p:sp>
      <p:sp>
        <p:nvSpPr>
          <p:cNvPr id="187" name="米菲PPT130"/>
          <p:cNvSpPr/>
          <p:nvPr/>
        </p:nvSpPr>
        <p:spPr>
          <a:xfrm>
            <a:off x="3405741" y="3263861"/>
            <a:ext cx="2999714" cy="180971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3175">
            <a:solidFill>
              <a:schemeClr val="accent1"/>
            </a:solidFill>
            <a:prstDash val="dashDot"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强心智 </a:t>
            </a:r>
            <a:r>
              <a:rPr lang="en-US" altLang="zh-CN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+ </a:t>
            </a:r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帮经营</a:t>
            </a:r>
            <a:endParaRPr lang="zh-CN" altLang="en-US" sz="10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9" name="米菲PPT44"/>
          <p:cNvSpPr txBox="1"/>
          <p:nvPr/>
        </p:nvSpPr>
        <p:spPr>
          <a:xfrm>
            <a:off x="4887100" y="2876607"/>
            <a:ext cx="16635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平日</a:t>
            </a:r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/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大促</a:t>
            </a:r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/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品牌</a:t>
            </a:r>
            <a:r>
              <a:rPr lang="zh-CN" altLang="en-US" sz="850" b="1" dirty="0">
                <a:solidFill>
                  <a:srgbClr val="0F1115"/>
                </a:solidFill>
                <a:latin typeface="+mn-ea"/>
              </a:rPr>
              <a:t>整合流量包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，</a:t>
            </a:r>
            <a:r>
              <a:rPr lang="zh-CN" altLang="en-US" sz="850" b="1" dirty="0">
                <a:solidFill>
                  <a:srgbClr val="0F1115"/>
                </a:solidFill>
                <a:latin typeface="+mn-ea"/>
              </a:rPr>
              <a:t>线上线下营销活动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策划</a:t>
            </a:r>
            <a:endParaRPr lang="en-US" altLang="zh-CN" sz="850" dirty="0">
              <a:solidFill>
                <a:srgbClr val="0F1115"/>
              </a:solidFill>
              <a:latin typeface="+mn-ea"/>
            </a:endParaRPr>
          </a:p>
        </p:txBody>
      </p:sp>
      <p:grpSp>
        <p:nvGrpSpPr>
          <p:cNvPr id="190" name="Group"/>
          <p:cNvGrpSpPr/>
          <p:nvPr/>
        </p:nvGrpSpPr>
        <p:grpSpPr>
          <a:xfrm rot="10800000">
            <a:off x="3158153" y="2963028"/>
            <a:ext cx="162261" cy="351796"/>
            <a:chOff x="0" y="0"/>
            <a:chExt cx="5418196" cy="1844685"/>
          </a:xfrm>
        </p:grpSpPr>
        <p:sp>
          <p:nvSpPr>
            <p:cNvPr id="191" name="Arrow"/>
            <p:cNvSpPr/>
            <p:nvPr/>
          </p:nvSpPr>
          <p:spPr>
            <a:xfrm>
              <a:off x="0" y="205"/>
              <a:ext cx="4317254" cy="1844276"/>
            </a:xfrm>
            <a:prstGeom prst="rightArrow">
              <a:avLst>
                <a:gd name="adj1" fmla="val 100000"/>
                <a:gd name="adj2" fmla="val 73631"/>
              </a:avLst>
            </a:pr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 b="1">
                <a:solidFill>
                  <a:schemeClr val="bg1"/>
                </a:solidFill>
              </a:endParaRPr>
            </a:p>
          </p:txBody>
        </p:sp>
        <p:sp>
          <p:nvSpPr>
            <p:cNvPr id="192" name="Shape"/>
            <p:cNvSpPr/>
            <p:nvPr/>
          </p:nvSpPr>
          <p:spPr>
            <a:xfrm>
              <a:off x="3347858" y="0"/>
              <a:ext cx="2070339" cy="1844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168" y="10800"/>
                  </a:lnTo>
                  <a:lnTo>
                    <a:pt x="0" y="21600"/>
                  </a:lnTo>
                  <a:lnTo>
                    <a:pt x="7432" y="21600"/>
                  </a:lnTo>
                  <a:lnTo>
                    <a:pt x="21600" y="10800"/>
                  </a:lnTo>
                  <a:lnTo>
                    <a:pt x="7432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3" name="Group"/>
          <p:cNvGrpSpPr/>
          <p:nvPr/>
        </p:nvGrpSpPr>
        <p:grpSpPr>
          <a:xfrm>
            <a:off x="6416232" y="2973249"/>
            <a:ext cx="162261" cy="351796"/>
            <a:chOff x="0" y="0"/>
            <a:chExt cx="5418196" cy="1844685"/>
          </a:xfrm>
        </p:grpSpPr>
        <p:sp>
          <p:nvSpPr>
            <p:cNvPr id="194" name="Arrow"/>
            <p:cNvSpPr/>
            <p:nvPr/>
          </p:nvSpPr>
          <p:spPr>
            <a:xfrm>
              <a:off x="0" y="205"/>
              <a:ext cx="4317254" cy="1844276"/>
            </a:xfrm>
            <a:prstGeom prst="rightArrow">
              <a:avLst>
                <a:gd name="adj1" fmla="val 100000"/>
                <a:gd name="adj2" fmla="val 73631"/>
              </a:avLst>
            </a:pr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195" name="Shape"/>
            <p:cNvSpPr/>
            <p:nvPr/>
          </p:nvSpPr>
          <p:spPr>
            <a:xfrm>
              <a:off x="3347858" y="0"/>
              <a:ext cx="2070339" cy="1844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168" y="10800"/>
                  </a:lnTo>
                  <a:lnTo>
                    <a:pt x="0" y="21600"/>
                  </a:lnTo>
                  <a:lnTo>
                    <a:pt x="7432" y="21600"/>
                  </a:lnTo>
                  <a:lnTo>
                    <a:pt x="21600" y="10800"/>
                  </a:lnTo>
                  <a:lnTo>
                    <a:pt x="7432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</p:grpSp>
      <p:sp>
        <p:nvSpPr>
          <p:cNvPr id="198" name="米菲PPT44"/>
          <p:cNvSpPr txBox="1"/>
          <p:nvPr/>
        </p:nvSpPr>
        <p:spPr>
          <a:xfrm>
            <a:off x="3295014" y="3549886"/>
            <a:ext cx="164960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实现从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选购</a:t>
            </a:r>
            <a:r>
              <a:rPr lang="en-US" altLang="zh-CN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核销</a:t>
            </a:r>
            <a:r>
              <a:rPr lang="en-US" altLang="zh-CN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评价</a:t>
            </a:r>
            <a:r>
              <a:rPr lang="en-US" altLang="zh-CN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分享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的交易服务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体验闭环</a:t>
            </a:r>
            <a:endParaRPr lang="zh-CN" altLang="en-US" sz="850" dirty="0">
              <a:effectLst/>
              <a:latin typeface="+mn-ea"/>
            </a:endParaRPr>
          </a:p>
        </p:txBody>
      </p:sp>
      <p:sp>
        <p:nvSpPr>
          <p:cNvPr id="199" name="米菲PPT130"/>
          <p:cNvSpPr/>
          <p:nvPr/>
        </p:nvSpPr>
        <p:spPr>
          <a:xfrm>
            <a:off x="3405105" y="3956190"/>
            <a:ext cx="2999714" cy="180971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3175">
            <a:solidFill>
              <a:schemeClr val="accent1"/>
            </a:solidFill>
            <a:prstDash val="dashDot"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强心智 </a:t>
            </a:r>
            <a:r>
              <a:rPr lang="en-US" altLang="zh-CN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+ </a:t>
            </a:r>
            <a:r>
              <a:rPr lang="zh-CN" altLang="en-US" sz="10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帮经营</a:t>
            </a:r>
            <a:endParaRPr lang="zh-CN" altLang="en-US" sz="10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00" name="米菲PPT44"/>
          <p:cNvSpPr txBox="1"/>
          <p:nvPr/>
        </p:nvSpPr>
        <p:spPr>
          <a:xfrm>
            <a:off x="4886464" y="3549886"/>
            <a:ext cx="16635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·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建“年度上榜”品牌集合，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形成长期评价资产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  <a:endParaRPr lang="en-US" altLang="zh-CN" sz="850" dirty="0">
              <a:solidFill>
                <a:srgbClr val="0F1115"/>
              </a:solidFill>
              <a:latin typeface="+mn-ea"/>
            </a:endParaRPr>
          </a:p>
        </p:txBody>
      </p:sp>
      <p:grpSp>
        <p:nvGrpSpPr>
          <p:cNvPr id="201" name="Group"/>
          <p:cNvGrpSpPr/>
          <p:nvPr/>
        </p:nvGrpSpPr>
        <p:grpSpPr>
          <a:xfrm rot="10800000">
            <a:off x="3157517" y="3610907"/>
            <a:ext cx="162261" cy="351796"/>
            <a:chOff x="0" y="0"/>
            <a:chExt cx="5418196" cy="1844685"/>
          </a:xfrm>
        </p:grpSpPr>
        <p:sp>
          <p:nvSpPr>
            <p:cNvPr id="202" name="Arrow"/>
            <p:cNvSpPr/>
            <p:nvPr/>
          </p:nvSpPr>
          <p:spPr>
            <a:xfrm>
              <a:off x="0" y="205"/>
              <a:ext cx="4317254" cy="1844276"/>
            </a:xfrm>
            <a:prstGeom prst="rightArrow">
              <a:avLst>
                <a:gd name="adj1" fmla="val 100000"/>
                <a:gd name="adj2" fmla="val 73631"/>
              </a:avLst>
            </a:pr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 b="1">
                <a:solidFill>
                  <a:schemeClr val="bg1"/>
                </a:solidFill>
              </a:endParaRPr>
            </a:p>
          </p:txBody>
        </p:sp>
        <p:sp>
          <p:nvSpPr>
            <p:cNvPr id="203" name="Shape"/>
            <p:cNvSpPr/>
            <p:nvPr/>
          </p:nvSpPr>
          <p:spPr>
            <a:xfrm>
              <a:off x="3347858" y="0"/>
              <a:ext cx="2070339" cy="1844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168" y="10800"/>
                  </a:lnTo>
                  <a:lnTo>
                    <a:pt x="0" y="21600"/>
                  </a:lnTo>
                  <a:lnTo>
                    <a:pt x="7432" y="21600"/>
                  </a:lnTo>
                  <a:lnTo>
                    <a:pt x="21600" y="10800"/>
                  </a:lnTo>
                  <a:lnTo>
                    <a:pt x="7432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4" name="Group"/>
          <p:cNvGrpSpPr/>
          <p:nvPr/>
        </p:nvGrpSpPr>
        <p:grpSpPr>
          <a:xfrm>
            <a:off x="6415596" y="3621128"/>
            <a:ext cx="162261" cy="351796"/>
            <a:chOff x="0" y="0"/>
            <a:chExt cx="5418196" cy="1844685"/>
          </a:xfrm>
        </p:grpSpPr>
        <p:sp>
          <p:nvSpPr>
            <p:cNvPr id="205" name="Arrow"/>
            <p:cNvSpPr/>
            <p:nvPr/>
          </p:nvSpPr>
          <p:spPr>
            <a:xfrm>
              <a:off x="0" y="205"/>
              <a:ext cx="4317254" cy="1844276"/>
            </a:xfrm>
            <a:prstGeom prst="rightArrow">
              <a:avLst>
                <a:gd name="adj1" fmla="val 100000"/>
                <a:gd name="adj2" fmla="val 73631"/>
              </a:avLst>
            </a:pr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  <p:sp>
          <p:nvSpPr>
            <p:cNvPr id="206" name="Shape"/>
            <p:cNvSpPr/>
            <p:nvPr/>
          </p:nvSpPr>
          <p:spPr>
            <a:xfrm>
              <a:off x="3347858" y="0"/>
              <a:ext cx="2070339" cy="1844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168" y="10800"/>
                  </a:lnTo>
                  <a:lnTo>
                    <a:pt x="0" y="21600"/>
                  </a:lnTo>
                  <a:lnTo>
                    <a:pt x="7432" y="21600"/>
                  </a:lnTo>
                  <a:lnTo>
                    <a:pt x="21600" y="10800"/>
                  </a:lnTo>
                  <a:lnTo>
                    <a:pt x="7432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7F5F6"/>
                </a:gs>
                <a:gs pos="100000">
                  <a:schemeClr val="accent4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>
                <a:solidFill>
                  <a:schemeClr val="bg1"/>
                </a:solidFill>
              </a:endParaRPr>
            </a:p>
          </p:txBody>
        </p:sp>
      </p:grpSp>
      <p:sp>
        <p:nvSpPr>
          <p:cNvPr id="207" name="米菲PPT60"/>
          <p:cNvSpPr/>
          <p:nvPr/>
        </p:nvSpPr>
        <p:spPr>
          <a:xfrm>
            <a:off x="6726302" y="2320217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0" name="米菲PPT60"/>
          <p:cNvSpPr/>
          <p:nvPr/>
        </p:nvSpPr>
        <p:spPr>
          <a:xfrm>
            <a:off x="6739002" y="2955217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1" name="米菲PPT60"/>
          <p:cNvSpPr/>
          <p:nvPr/>
        </p:nvSpPr>
        <p:spPr>
          <a:xfrm>
            <a:off x="6745352" y="3641017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" name="米菲PPT130"/>
          <p:cNvSpPr/>
          <p:nvPr/>
        </p:nvSpPr>
        <p:spPr>
          <a:xfrm>
            <a:off x="3955037" y="4326035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评价资产治理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37" name="米菲PPT128"/>
          <p:cNvSpPr/>
          <p:nvPr/>
        </p:nvSpPr>
        <p:spPr>
          <a:xfrm>
            <a:off x="5120278" y="4323680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星级资产优化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grpSp>
        <p:nvGrpSpPr>
          <p:cNvPr id="138" name="米菲PPT163"/>
          <p:cNvGrpSpPr/>
          <p:nvPr/>
        </p:nvGrpSpPr>
        <p:grpSpPr>
          <a:xfrm>
            <a:off x="3955036" y="3820955"/>
            <a:ext cx="1987091" cy="435600"/>
            <a:chOff x="8519003" y="4049126"/>
            <a:chExt cx="2913040" cy="754762"/>
          </a:xfrm>
        </p:grpSpPr>
        <p:sp>
          <p:nvSpPr>
            <p:cNvPr id="139" name="米菲PPT163-1"/>
            <p:cNvSpPr/>
            <p:nvPr/>
          </p:nvSpPr>
          <p:spPr>
            <a:xfrm rot="21267918" flipV="1">
              <a:off x="8519003" y="4049126"/>
              <a:ext cx="791364" cy="733990"/>
            </a:xfrm>
            <a:custGeom>
              <a:avLst/>
              <a:gdLst>
                <a:gd name="connsiteX0" fmla="*/ 18256 w 791364"/>
                <a:gd name="connsiteY0" fmla="*/ 733990 h 733990"/>
                <a:gd name="connsiteX1" fmla="*/ 0 w 791364"/>
                <a:gd name="connsiteY1" fmla="*/ 716789 h 733990"/>
                <a:gd name="connsiteX2" fmla="*/ 641957 w 791364"/>
                <a:gd name="connsiteY2" fmla="*/ 149932 h 733990"/>
                <a:gd name="connsiteX3" fmla="*/ 729138 w 791364"/>
                <a:gd name="connsiteY3" fmla="*/ 51036 h 733990"/>
                <a:gd name="connsiteX4" fmla="*/ 704555 w 791364"/>
                <a:gd name="connsiteY4" fmla="*/ 29641 h 733990"/>
                <a:gd name="connsiteX5" fmla="*/ 791364 w 791364"/>
                <a:gd name="connsiteY5" fmla="*/ 0 h 733990"/>
                <a:gd name="connsiteX6" fmla="*/ 773987 w 791364"/>
                <a:gd name="connsiteY6" fmla="*/ 90069 h 733990"/>
                <a:gd name="connsiteX7" fmla="*/ 747891 w 791364"/>
                <a:gd name="connsiteY7" fmla="*/ 67358 h 733990"/>
                <a:gd name="connsiteX8" fmla="*/ 743310 w 791364"/>
                <a:gd name="connsiteY8" fmla="*/ 71120 h 733990"/>
                <a:gd name="connsiteX9" fmla="*/ 18256 w 791364"/>
                <a:gd name="connsiteY9" fmla="*/ 733990 h 73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1364" h="733990">
                  <a:moveTo>
                    <a:pt x="18256" y="733990"/>
                  </a:moveTo>
                  <a:lnTo>
                    <a:pt x="0" y="716789"/>
                  </a:lnTo>
                  <a:cubicBezTo>
                    <a:pt x="333703" y="478073"/>
                    <a:pt x="447375" y="368810"/>
                    <a:pt x="641957" y="149932"/>
                  </a:cubicBezTo>
                  <a:lnTo>
                    <a:pt x="729138" y="51036"/>
                  </a:lnTo>
                  <a:lnTo>
                    <a:pt x="704555" y="29641"/>
                  </a:lnTo>
                  <a:lnTo>
                    <a:pt x="791364" y="0"/>
                  </a:lnTo>
                  <a:lnTo>
                    <a:pt x="773987" y="90069"/>
                  </a:lnTo>
                  <a:lnTo>
                    <a:pt x="747891" y="67358"/>
                  </a:lnTo>
                  <a:lnTo>
                    <a:pt x="743310" y="71120"/>
                  </a:lnTo>
                  <a:cubicBezTo>
                    <a:pt x="493324" y="367676"/>
                    <a:pt x="372743" y="461988"/>
                    <a:pt x="18256" y="73399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5000">
                  <a:schemeClr val="accent3">
                    <a:lumMod val="40000"/>
                    <a:lumOff val="60000"/>
                    <a:alpha val="12000"/>
                  </a:schemeClr>
                </a:gs>
              </a:gsLst>
              <a:lin ang="5400000" scaled="0"/>
            </a:gradFill>
            <a:ln w="635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40" name="米菲PPT163-2"/>
            <p:cNvSpPr/>
            <p:nvPr/>
          </p:nvSpPr>
          <p:spPr>
            <a:xfrm rot="350134" flipH="1" flipV="1">
              <a:off x="10640679" y="4069898"/>
              <a:ext cx="791364" cy="733990"/>
            </a:xfrm>
            <a:custGeom>
              <a:avLst/>
              <a:gdLst>
                <a:gd name="connsiteX0" fmla="*/ 18256 w 791364"/>
                <a:gd name="connsiteY0" fmla="*/ 733990 h 733990"/>
                <a:gd name="connsiteX1" fmla="*/ 0 w 791364"/>
                <a:gd name="connsiteY1" fmla="*/ 716789 h 733990"/>
                <a:gd name="connsiteX2" fmla="*/ 641957 w 791364"/>
                <a:gd name="connsiteY2" fmla="*/ 149932 h 733990"/>
                <a:gd name="connsiteX3" fmla="*/ 729138 w 791364"/>
                <a:gd name="connsiteY3" fmla="*/ 51036 h 733990"/>
                <a:gd name="connsiteX4" fmla="*/ 704555 w 791364"/>
                <a:gd name="connsiteY4" fmla="*/ 29641 h 733990"/>
                <a:gd name="connsiteX5" fmla="*/ 791364 w 791364"/>
                <a:gd name="connsiteY5" fmla="*/ 0 h 733990"/>
                <a:gd name="connsiteX6" fmla="*/ 773987 w 791364"/>
                <a:gd name="connsiteY6" fmla="*/ 90069 h 733990"/>
                <a:gd name="connsiteX7" fmla="*/ 747891 w 791364"/>
                <a:gd name="connsiteY7" fmla="*/ 67358 h 733990"/>
                <a:gd name="connsiteX8" fmla="*/ 743310 w 791364"/>
                <a:gd name="connsiteY8" fmla="*/ 71120 h 733990"/>
                <a:gd name="connsiteX9" fmla="*/ 18256 w 791364"/>
                <a:gd name="connsiteY9" fmla="*/ 733990 h 73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1364" h="733990">
                  <a:moveTo>
                    <a:pt x="18256" y="733990"/>
                  </a:moveTo>
                  <a:lnTo>
                    <a:pt x="0" y="716789"/>
                  </a:lnTo>
                  <a:cubicBezTo>
                    <a:pt x="333703" y="478073"/>
                    <a:pt x="447375" y="368810"/>
                    <a:pt x="641957" y="149932"/>
                  </a:cubicBezTo>
                  <a:lnTo>
                    <a:pt x="729138" y="51036"/>
                  </a:lnTo>
                  <a:lnTo>
                    <a:pt x="704555" y="29641"/>
                  </a:lnTo>
                  <a:lnTo>
                    <a:pt x="791364" y="0"/>
                  </a:lnTo>
                  <a:lnTo>
                    <a:pt x="773987" y="90069"/>
                  </a:lnTo>
                  <a:lnTo>
                    <a:pt x="747891" y="67358"/>
                  </a:lnTo>
                  <a:lnTo>
                    <a:pt x="743310" y="71120"/>
                  </a:lnTo>
                  <a:cubicBezTo>
                    <a:pt x="493324" y="367676"/>
                    <a:pt x="372743" y="461988"/>
                    <a:pt x="18256" y="73399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5000">
                  <a:schemeClr val="accent3">
                    <a:lumMod val="40000"/>
                    <a:lumOff val="60000"/>
                    <a:alpha val="12000"/>
                  </a:schemeClr>
                </a:gs>
              </a:gsLst>
              <a:lin ang="5400000" scaled="0"/>
            </a:gradFill>
            <a:ln w="635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213" name="米菲PPT56"/>
          <p:cNvSpPr/>
          <p:nvPr/>
        </p:nvSpPr>
        <p:spPr>
          <a:xfrm>
            <a:off x="999492" y="2288599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4" name="米菲PPT56"/>
          <p:cNvSpPr/>
          <p:nvPr/>
        </p:nvSpPr>
        <p:spPr>
          <a:xfrm>
            <a:off x="1005842" y="2942649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5" name="米菲PPT56"/>
          <p:cNvSpPr/>
          <p:nvPr/>
        </p:nvSpPr>
        <p:spPr>
          <a:xfrm>
            <a:off x="1005842" y="3609399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280456" y="269296"/>
            <a:ext cx="8583088" cy="266037"/>
          </a:xfrm>
        </p:spPr>
        <p:txBody>
          <a:bodyPr/>
          <a:lstStyle/>
          <a:p>
            <a:r>
              <a:rPr kumimoji="1" lang="zh-CN" altLang="en-US" dirty="0"/>
              <a:t>举措一：榜单矩阵（已上榜提单产、未上榜提覆盖）</a:t>
            </a:r>
            <a:endParaRPr kumimoji="1" lang="zh-CN" altLang="en-US" dirty="0"/>
          </a:p>
        </p:txBody>
      </p:sp>
      <p:sp>
        <p:nvSpPr>
          <p:cNvPr id="23" name="米菲PPT23"/>
          <p:cNvSpPr txBox="1"/>
          <p:nvPr/>
        </p:nvSpPr>
        <p:spPr>
          <a:xfrm>
            <a:off x="5901517" y="743330"/>
            <a:ext cx="1571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上榜门店（提单产）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5" name="米菲PPT23"/>
          <p:cNvSpPr txBox="1"/>
          <p:nvPr/>
        </p:nvSpPr>
        <p:spPr>
          <a:xfrm>
            <a:off x="1851214" y="743330"/>
            <a:ext cx="1571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未上榜门店（提覆盖）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204345" y="1074303"/>
            <a:ext cx="4558954" cy="3720975"/>
            <a:chOff x="444679" y="999149"/>
            <a:chExt cx="4148617" cy="3386062"/>
          </a:xfrm>
        </p:grpSpPr>
        <p:sp>
          <p:nvSpPr>
            <p:cNvPr id="76" name="矩形 75"/>
            <p:cNvSpPr/>
            <p:nvPr/>
          </p:nvSpPr>
          <p:spPr>
            <a:xfrm>
              <a:off x="1096632" y="2656545"/>
              <a:ext cx="1439560" cy="1476834"/>
            </a:xfrm>
            <a:prstGeom prst="rect">
              <a:avLst/>
            </a:prstGeom>
            <a:solidFill>
              <a:srgbClr val="E7E6E6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1090264" y="1179067"/>
              <a:ext cx="1439560" cy="1471153"/>
            </a:xfrm>
            <a:prstGeom prst="rect">
              <a:avLst/>
            </a:prstGeom>
            <a:solidFill>
              <a:srgbClr val="FFDBDB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2540368" y="2650220"/>
              <a:ext cx="1439560" cy="1476834"/>
            </a:xfrm>
            <a:prstGeom prst="rect">
              <a:avLst/>
            </a:prstGeom>
            <a:solidFill>
              <a:srgbClr val="FFDBDB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540368" y="1173386"/>
              <a:ext cx="1439560" cy="1476834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6" name="米菲PPT18"/>
            <p:cNvCxnSpPr/>
            <p:nvPr/>
          </p:nvCxnSpPr>
          <p:spPr>
            <a:xfrm>
              <a:off x="1082074" y="2653382"/>
              <a:ext cx="2898977" cy="0"/>
            </a:xfrm>
            <a:prstGeom prst="line">
              <a:avLst/>
            </a:pr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米菲PPT19"/>
            <p:cNvCxnSpPr>
              <a:stCxn id="32" idx="0"/>
            </p:cNvCxnSpPr>
            <p:nvPr/>
          </p:nvCxnSpPr>
          <p:spPr>
            <a:xfrm flipH="1" flipV="1">
              <a:off x="2540368" y="1173386"/>
              <a:ext cx="4024" cy="2980993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米菲PPT21"/>
            <p:cNvSpPr txBox="1"/>
            <p:nvPr/>
          </p:nvSpPr>
          <p:spPr>
            <a:xfrm>
              <a:off x="2214955" y="999149"/>
              <a:ext cx="6588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合作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32" name="米菲PPT22"/>
            <p:cNvSpPr txBox="1"/>
            <p:nvPr/>
          </p:nvSpPr>
          <p:spPr>
            <a:xfrm>
              <a:off x="2208468" y="4154379"/>
              <a:ext cx="67184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未合作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33" name="米菲PPT23"/>
            <p:cNvSpPr txBox="1"/>
            <p:nvPr/>
          </p:nvSpPr>
          <p:spPr>
            <a:xfrm>
              <a:off x="3867417" y="2557700"/>
              <a:ext cx="725879" cy="171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核心门店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34" name="米菲PPT23"/>
            <p:cNvSpPr txBox="1"/>
            <p:nvPr/>
          </p:nvSpPr>
          <p:spPr>
            <a:xfrm>
              <a:off x="444679" y="2553309"/>
              <a:ext cx="9098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非核心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37" name="米菲PPT23"/>
            <p:cNvSpPr txBox="1"/>
            <p:nvPr/>
          </p:nvSpPr>
          <p:spPr>
            <a:xfrm>
              <a:off x="2471966" y="2387974"/>
              <a:ext cx="1135682" cy="308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2.4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endParaRPr>
            </a:p>
            <a:p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GTV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660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51" name="米菲PPT31-2"/>
            <p:cNvSpPr txBox="1"/>
            <p:nvPr/>
          </p:nvSpPr>
          <p:spPr>
            <a:xfrm>
              <a:off x="2658267" y="3103161"/>
              <a:ext cx="1260000" cy="707886"/>
            </a:xfrm>
            <a:prstGeom prst="rect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核心举措：</a:t>
              </a:r>
              <a:endParaRPr lang="en-US" altLang="zh-CN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牵引商户合作后可上榜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规则融入履约服务资产，牵引合作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5" name="米菲PPT31-2"/>
            <p:cNvSpPr txBox="1"/>
            <p:nvPr/>
          </p:nvSpPr>
          <p:spPr>
            <a:xfrm>
              <a:off x="2658267" y="1199785"/>
              <a:ext cx="1260000" cy="756202"/>
            </a:xfrm>
            <a:prstGeom prst="rect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核心举措：</a:t>
              </a:r>
              <a:endParaRPr lang="en-US" altLang="zh-CN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调整榜单规则（高低线、本异地、门槛）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商户辅导，帮助商户冲榜（上榜诊断工具、建群、一页纸、答疑）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60" name="米菲PPT36"/>
            <p:cNvSpPr txBox="1"/>
            <p:nvPr/>
          </p:nvSpPr>
          <p:spPr>
            <a:xfrm>
              <a:off x="1309864" y="3260383"/>
              <a:ext cx="1056086" cy="369332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非核心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+</a:t>
              </a: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未合作</a:t>
              </a:r>
              <a:endPara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algn="ctr" defTabSz="457200"/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商户优先级降低</a:t>
              </a:r>
              <a:endPara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61" name="米菲PPT23"/>
            <p:cNvSpPr txBox="1"/>
            <p:nvPr/>
          </p:nvSpPr>
          <p:spPr>
            <a:xfrm>
              <a:off x="1022040" y="2382219"/>
              <a:ext cx="1330212" cy="308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门店数：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215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endParaRPr>
            </a:p>
            <a:p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GTV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5291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62" name="米菲PPT23"/>
            <p:cNvSpPr txBox="1"/>
            <p:nvPr/>
          </p:nvSpPr>
          <p:spPr>
            <a:xfrm>
              <a:off x="1020176" y="2657685"/>
              <a:ext cx="1133008" cy="196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554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万家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63" name="米菲PPT23"/>
            <p:cNvSpPr txBox="1"/>
            <p:nvPr/>
          </p:nvSpPr>
          <p:spPr>
            <a:xfrm>
              <a:off x="2468120" y="2653003"/>
              <a:ext cx="1149992" cy="196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:</a:t>
              </a:r>
              <a:r>
                <a:rPr lang="zh-CN" altLang="en-US" sz="800" dirty="0"/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6,687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71" name="米菲PPT31-2"/>
            <p:cNvSpPr txBox="1"/>
            <p:nvPr/>
          </p:nvSpPr>
          <p:spPr>
            <a:xfrm>
              <a:off x="1180044" y="1200417"/>
              <a:ext cx="1260000" cy="532141"/>
            </a:xfrm>
            <a:prstGeom prst="rect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核心举措：</a:t>
              </a:r>
              <a:endParaRPr lang="en-US" altLang="zh-CN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抢占下沉城市（扩城、扩商圈、扩品类、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LBS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个性化）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商户辅导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1" name="米菲PPT31-2"/>
            <p:cNvSpPr txBox="1"/>
            <p:nvPr/>
          </p:nvSpPr>
          <p:spPr>
            <a:xfrm>
              <a:off x="1392298" y="1982467"/>
              <a:ext cx="2287788" cy="420112"/>
            </a:xfrm>
            <a:prstGeom prst="rect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新建榜单覆盖：赛道细分（新店、小店）、经营漏斗细分（流量榜、收藏榜、销量榜、复购榜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…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）、场景榜（热门、时令、时段、附近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…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）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3" name="米菲PPT110"/>
            <p:cNvSpPr/>
            <p:nvPr/>
          </p:nvSpPr>
          <p:spPr>
            <a:xfrm flipV="1">
              <a:off x="3080073" y="2515905"/>
              <a:ext cx="411895" cy="394035"/>
            </a:xfrm>
            <a:prstGeom prst="downArrow">
              <a:avLst/>
            </a:prstGeom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5400000" scaled="1"/>
            </a:gradFill>
            <a:ln w="15875">
              <a:gradFill>
                <a:gsLst>
                  <a:gs pos="13000">
                    <a:schemeClr val="accent2">
                      <a:alpha val="0"/>
                    </a:schemeClr>
                  </a:gs>
                  <a:gs pos="100000">
                    <a:schemeClr val="accent2">
                      <a:alpha val="14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4" name="米菲PPT110"/>
            <p:cNvSpPr/>
            <p:nvPr/>
          </p:nvSpPr>
          <p:spPr>
            <a:xfrm flipV="1">
              <a:off x="1538564" y="2493342"/>
              <a:ext cx="411895" cy="394035"/>
            </a:xfrm>
            <a:prstGeom prst="downArrow">
              <a:avLst/>
            </a:prstGeom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5400000" scaled="1"/>
            </a:gradFill>
            <a:ln w="15875">
              <a:gradFill>
                <a:gsLst>
                  <a:gs pos="13000">
                    <a:schemeClr val="accent2">
                      <a:alpha val="0"/>
                    </a:schemeClr>
                  </a:gs>
                  <a:gs pos="100000">
                    <a:schemeClr val="accent2">
                      <a:alpha val="14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5" name="米菲PPT110"/>
            <p:cNvSpPr/>
            <p:nvPr/>
          </p:nvSpPr>
          <p:spPr>
            <a:xfrm rot="5400000" flipV="1">
              <a:off x="2338443" y="1442769"/>
              <a:ext cx="411895" cy="394035"/>
            </a:xfrm>
            <a:prstGeom prst="downArrow">
              <a:avLst/>
            </a:prstGeom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5400000" scaled="1"/>
            </a:gradFill>
            <a:ln w="15875">
              <a:gradFill>
                <a:gsLst>
                  <a:gs pos="13000">
                    <a:schemeClr val="accent2">
                      <a:alpha val="0"/>
                    </a:schemeClr>
                  </a:gs>
                  <a:gs pos="100000">
                    <a:schemeClr val="accent2">
                      <a:alpha val="14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grpSp>
        <p:nvGrpSpPr>
          <p:cNvPr id="91" name="组合 90"/>
          <p:cNvGrpSpPr>
            <a:grpSpLocks noChangeAspect="1"/>
          </p:cNvGrpSpPr>
          <p:nvPr/>
        </p:nvGrpSpPr>
        <p:grpSpPr>
          <a:xfrm>
            <a:off x="4604792" y="1150743"/>
            <a:ext cx="4409242" cy="3641182"/>
            <a:chOff x="4794305" y="998172"/>
            <a:chExt cx="4059572" cy="3351215"/>
          </a:xfrm>
        </p:grpSpPr>
        <p:cxnSp>
          <p:nvCxnSpPr>
            <p:cNvPr id="5" name="米菲PPT18"/>
            <p:cNvCxnSpPr/>
            <p:nvPr/>
          </p:nvCxnSpPr>
          <p:spPr>
            <a:xfrm>
              <a:off x="5373588" y="2589257"/>
              <a:ext cx="2898000" cy="0"/>
            </a:xfrm>
            <a:prstGeom prst="line">
              <a:avLst/>
            </a:pr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米菲PPT19"/>
            <p:cNvCxnSpPr>
              <a:endCxn id="49" idx="2"/>
            </p:cNvCxnSpPr>
            <p:nvPr/>
          </p:nvCxnSpPr>
          <p:spPr>
            <a:xfrm flipH="1" flipV="1">
              <a:off x="6733022" y="1229004"/>
              <a:ext cx="1" cy="2889551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米菲PPT22"/>
            <p:cNvSpPr txBox="1"/>
            <p:nvPr/>
          </p:nvSpPr>
          <p:spPr>
            <a:xfrm>
              <a:off x="6394687" y="4118555"/>
              <a:ext cx="6766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未合作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12" name="米菲PPT23"/>
            <p:cNvSpPr txBox="1"/>
            <p:nvPr/>
          </p:nvSpPr>
          <p:spPr>
            <a:xfrm>
              <a:off x="8177206" y="2489964"/>
              <a:ext cx="676671" cy="159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核心门店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24" name="米菲PPT23"/>
            <p:cNvSpPr txBox="1"/>
            <p:nvPr/>
          </p:nvSpPr>
          <p:spPr>
            <a:xfrm>
              <a:off x="4794305" y="2502323"/>
              <a:ext cx="7981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非核心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49" name="米菲PPT21"/>
            <p:cNvSpPr txBox="1"/>
            <p:nvPr/>
          </p:nvSpPr>
          <p:spPr>
            <a:xfrm>
              <a:off x="6442212" y="998172"/>
              <a:ext cx="5816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合作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66" name="米菲PPT23"/>
            <p:cNvSpPr txBox="1"/>
            <p:nvPr/>
          </p:nvSpPr>
          <p:spPr>
            <a:xfrm>
              <a:off x="6667480" y="2322589"/>
              <a:ext cx="1157379" cy="311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16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endParaRPr>
            </a:p>
            <a:p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GTV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7.2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亿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67" name="米菲PPT23"/>
            <p:cNvSpPr txBox="1"/>
            <p:nvPr/>
          </p:nvSpPr>
          <p:spPr>
            <a:xfrm>
              <a:off x="5276530" y="2326652"/>
              <a:ext cx="1456492" cy="311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98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endParaRPr>
            </a:p>
            <a:p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GTV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5.7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亿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68" name="米菲PPT23"/>
            <p:cNvSpPr txBox="1"/>
            <p:nvPr/>
          </p:nvSpPr>
          <p:spPr>
            <a:xfrm>
              <a:off x="5278577" y="2596940"/>
              <a:ext cx="1213891" cy="198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13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万家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69" name="米菲PPT23"/>
            <p:cNvSpPr txBox="1"/>
            <p:nvPr/>
          </p:nvSpPr>
          <p:spPr>
            <a:xfrm>
              <a:off x="6662281" y="2595167"/>
              <a:ext cx="1108403" cy="198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门店数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5,716</a:t>
              </a:r>
              <a:r>
                <a:rPr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</a:rPr>
                <a:t>家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endParaRPr>
            </a:p>
          </p:txBody>
        </p:sp>
        <p:sp>
          <p:nvSpPr>
            <p:cNvPr id="79" name="米菲PPT31-2"/>
            <p:cNvSpPr txBox="1"/>
            <p:nvPr/>
          </p:nvSpPr>
          <p:spPr>
            <a:xfrm>
              <a:off x="6832458" y="3056102"/>
              <a:ext cx="1260000" cy="709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核心举措：</a:t>
              </a:r>
              <a:endParaRPr lang="en-US" altLang="zh-CN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用更多权益（流量、降佣、返佣）撬商户合作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用履约产品撬商户合作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3.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用线下扫码翻线下流水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0" name="米菲PPT31-2"/>
            <p:cNvSpPr txBox="1"/>
            <p:nvPr/>
          </p:nvSpPr>
          <p:spPr>
            <a:xfrm>
              <a:off x="5377875" y="3056102"/>
              <a:ext cx="1260000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核心举措：</a:t>
              </a:r>
              <a:endParaRPr lang="en-US" altLang="zh-CN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优先用右边的正向举措做牵引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如果效果不佳会有适当的负向举措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6" name="米菲PPT110"/>
            <p:cNvSpPr/>
            <p:nvPr/>
          </p:nvSpPr>
          <p:spPr>
            <a:xfrm flipV="1">
              <a:off x="7358162" y="2494335"/>
              <a:ext cx="411895" cy="394035"/>
            </a:xfrm>
            <a:prstGeom prst="downArrow">
              <a:avLst/>
            </a:prstGeom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5400000" scaled="1"/>
            </a:gradFill>
            <a:ln w="15875">
              <a:gradFill>
                <a:gsLst>
                  <a:gs pos="13000">
                    <a:schemeClr val="accent2">
                      <a:alpha val="0"/>
                    </a:schemeClr>
                  </a:gs>
                  <a:gs pos="100000">
                    <a:schemeClr val="accent2">
                      <a:alpha val="14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7" name="米菲PPT110"/>
            <p:cNvSpPr/>
            <p:nvPr/>
          </p:nvSpPr>
          <p:spPr>
            <a:xfrm flipV="1">
              <a:off x="5816653" y="2471772"/>
              <a:ext cx="411895" cy="394035"/>
            </a:xfrm>
            <a:prstGeom prst="downArrow">
              <a:avLst/>
            </a:prstGeom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5400000" scaled="1"/>
            </a:gradFill>
            <a:ln w="15875">
              <a:gradFill>
                <a:gsLst>
                  <a:gs pos="13000">
                    <a:schemeClr val="accent2">
                      <a:alpha val="0"/>
                    </a:schemeClr>
                  </a:gs>
                  <a:gs pos="100000">
                    <a:schemeClr val="accent2">
                      <a:alpha val="14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8" name="米菲PPT110"/>
            <p:cNvSpPr/>
            <p:nvPr/>
          </p:nvSpPr>
          <p:spPr>
            <a:xfrm rot="5400000" flipV="1">
              <a:off x="6516276" y="1944096"/>
              <a:ext cx="411895" cy="394035"/>
            </a:xfrm>
            <a:prstGeom prst="downArrow">
              <a:avLst/>
            </a:prstGeom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5400000" scaled="1"/>
            </a:gradFill>
            <a:ln w="15875">
              <a:gradFill>
                <a:gsLst>
                  <a:gs pos="13000">
                    <a:schemeClr val="accent2">
                      <a:alpha val="0"/>
                    </a:schemeClr>
                  </a:gs>
                  <a:gs pos="100000">
                    <a:schemeClr val="accent2">
                      <a:alpha val="14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9" name="米菲PPT31-2"/>
            <p:cNvSpPr txBox="1"/>
            <p:nvPr/>
          </p:nvSpPr>
          <p:spPr>
            <a:xfrm>
              <a:off x="5497069" y="1203917"/>
              <a:ext cx="2506873" cy="7078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核心举措：</a:t>
              </a:r>
              <a:endParaRPr lang="en-US" altLang="zh-CN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排序规则：引入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的排序因子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门槛规则：必须是履约交易合作（包含排队、预订、在线点、秒提）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  <a:p>
              <a:pPr defTabSz="45720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3.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荣誉感知：增加荣誉体系、颁奖典礼、明星合作</a:t>
              </a:r>
              <a:endPara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94" name="米菲PPT23"/>
          <p:cNvSpPr txBox="1"/>
          <p:nvPr/>
        </p:nvSpPr>
        <p:spPr>
          <a:xfrm>
            <a:off x="-8879" y="4863396"/>
            <a:ext cx="2042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*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GTV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10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月日均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GTV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总计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举措二：用户心智建设</a:t>
            </a:r>
            <a:r>
              <a:rPr lang="en-US" altLang="zh-CN" dirty="0"/>
              <a:t>-</a:t>
            </a:r>
            <a:r>
              <a:rPr lang="zh-CN" altLang="en-US" dirty="0"/>
              <a:t>流量营销</a:t>
            </a:r>
            <a:endParaRPr lang="zh-CN" altLang="en-US" dirty="0"/>
          </a:p>
        </p:txBody>
      </p:sp>
      <p:sp>
        <p:nvSpPr>
          <p:cNvPr id="5" name="米菲PPT1"/>
          <p:cNvSpPr/>
          <p:nvPr/>
        </p:nvSpPr>
        <p:spPr>
          <a:xfrm rot="5400000" flipV="1">
            <a:off x="1629065" y="-1000155"/>
            <a:ext cx="1334471" cy="44754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0"/>
                  <a:lumMod val="5000"/>
                  <a:lumOff val="95000"/>
                </a:schemeClr>
              </a:gs>
              <a:gs pos="0">
                <a:schemeClr val="bg1"/>
              </a:gs>
            </a:gsLst>
            <a:lin ang="54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6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" name="米菲PPT2"/>
          <p:cNvSpPr/>
          <p:nvPr/>
        </p:nvSpPr>
        <p:spPr>
          <a:xfrm rot="16200000" flipH="1" flipV="1">
            <a:off x="6180463" y="-1000155"/>
            <a:ext cx="1334471" cy="44754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0"/>
                  <a:lumMod val="5000"/>
                  <a:lumOff val="95000"/>
                </a:schemeClr>
              </a:gs>
              <a:gs pos="0">
                <a:schemeClr val="bg1"/>
              </a:gs>
            </a:gsLst>
            <a:lin ang="54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6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" name="米菲PPT3"/>
          <p:cNvSpPr/>
          <p:nvPr/>
        </p:nvSpPr>
        <p:spPr>
          <a:xfrm rot="16200000" flipH="1" flipV="1">
            <a:off x="5379649" y="1180901"/>
            <a:ext cx="2981866" cy="442965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0"/>
                  <a:lumMod val="5000"/>
                  <a:lumOff val="95000"/>
                </a:schemeClr>
              </a:gs>
              <a:gs pos="0">
                <a:schemeClr val="bg1"/>
              </a:gs>
            </a:gsLst>
            <a:lin ang="54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6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8" name="米菲PPT4"/>
          <p:cNvCxnSpPr/>
          <p:nvPr/>
        </p:nvCxnSpPr>
        <p:spPr>
          <a:xfrm>
            <a:off x="5361764" y="1912104"/>
            <a:ext cx="3470415" cy="0"/>
          </a:xfrm>
          <a:prstGeom prst="line">
            <a:avLst/>
          </a:prstGeom>
          <a:noFill/>
          <a:ln w="15875"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米菲PPT5"/>
          <p:cNvCxnSpPr/>
          <p:nvPr/>
        </p:nvCxnSpPr>
        <p:spPr>
          <a:xfrm flipH="1">
            <a:off x="4575981" y="559857"/>
            <a:ext cx="4519344" cy="0"/>
          </a:xfrm>
          <a:prstGeom prst="line">
            <a:avLst/>
          </a:prstGeom>
          <a:noFill/>
          <a:ln w="15875">
            <a:gradFill flip="none" rotWithShape="1">
              <a:gsLst>
                <a:gs pos="100000">
                  <a:schemeClr val="accent2">
                    <a:alpha val="0"/>
                  </a:schemeClr>
                </a:gs>
                <a:gs pos="1000">
                  <a:schemeClr val="accent2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米菲PPT10"/>
          <p:cNvSpPr/>
          <p:nvPr/>
        </p:nvSpPr>
        <p:spPr>
          <a:xfrm rot="5400000" flipV="1">
            <a:off x="782484" y="1180899"/>
            <a:ext cx="2981868" cy="4429656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0"/>
                  <a:lumMod val="5000"/>
                  <a:lumOff val="95000"/>
                </a:schemeClr>
              </a:gs>
              <a:gs pos="0">
                <a:schemeClr val="bg1"/>
              </a:gs>
            </a:gsLst>
            <a:lin ang="54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6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3" name="米菲PPT11"/>
          <p:cNvCxnSpPr/>
          <p:nvPr/>
        </p:nvCxnSpPr>
        <p:spPr>
          <a:xfrm flipH="1">
            <a:off x="311820" y="1912104"/>
            <a:ext cx="3470415" cy="0"/>
          </a:xfrm>
          <a:prstGeom prst="line">
            <a:avLst/>
          </a:prstGeom>
          <a:noFill/>
          <a:ln w="15875"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米菲PPT12"/>
          <p:cNvCxnSpPr/>
          <p:nvPr/>
        </p:nvCxnSpPr>
        <p:spPr>
          <a:xfrm flipV="1">
            <a:off x="48674" y="559857"/>
            <a:ext cx="4535036" cy="19834"/>
          </a:xfrm>
          <a:prstGeom prst="line">
            <a:avLst/>
          </a:prstGeom>
          <a:noFill/>
          <a:ln w="15875">
            <a:gradFill flip="none" rotWithShape="1">
              <a:gsLst>
                <a:gs pos="100000">
                  <a:schemeClr val="accent2">
                    <a:alpha val="0"/>
                  </a:schemeClr>
                </a:gs>
                <a:gs pos="1000">
                  <a:schemeClr val="accent2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米菲PPT15"/>
          <p:cNvSpPr/>
          <p:nvPr/>
        </p:nvSpPr>
        <p:spPr>
          <a:xfrm flipV="1">
            <a:off x="322070" y="718311"/>
            <a:ext cx="1305716" cy="1089344"/>
          </a:xfrm>
          <a:prstGeom prst="rect">
            <a:avLst/>
          </a:prstGeom>
          <a:gradFill>
            <a:gsLst>
              <a:gs pos="100000">
                <a:schemeClr val="accent2">
                  <a:lumMod val="26000"/>
                  <a:lumOff val="74000"/>
                </a:schemeClr>
              </a:gs>
              <a:gs pos="37000">
                <a:schemeClr val="bg1"/>
              </a:gs>
            </a:gsLst>
            <a:lin ang="5400000" scaled="0"/>
          </a:gradFill>
          <a:ln>
            <a:gradFill>
              <a:gsLst>
                <a:gs pos="0">
                  <a:schemeClr val="bg1"/>
                </a:gs>
                <a:gs pos="74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</a:ln>
          <a:effectLst>
            <a:outerShdw blurRad="254000" dist="381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16"/>
          <p:cNvSpPr/>
          <p:nvPr/>
        </p:nvSpPr>
        <p:spPr>
          <a:xfrm flipH="1" flipV="1">
            <a:off x="320995" y="718310"/>
            <a:ext cx="1307865" cy="197028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304800" dist="165100" dir="2700000" algn="tl" rotWithShape="0">
              <a:schemeClr val="accent2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zh-CN" altLang="en-US" sz="16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17"/>
          <p:cNvSpPr txBox="1"/>
          <p:nvPr/>
        </p:nvSpPr>
        <p:spPr>
          <a:xfrm>
            <a:off x="525607" y="706116"/>
            <a:ext cx="905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1.</a:t>
            </a:r>
            <a:r>
              <a:rPr lang="zh-CN" altLang="en-US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年度大促</a:t>
            </a:r>
            <a:endParaRPr lang="zh-CN" altLang="en-US" sz="10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0" name="米菲PPT18"/>
          <p:cNvSpPr txBox="1"/>
          <p:nvPr/>
        </p:nvSpPr>
        <p:spPr>
          <a:xfrm>
            <a:off x="383536" y="1011363"/>
            <a:ext cx="1262673" cy="7460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l"/>
            <a:r>
              <a:rPr lang="en-US" altLang="zh-CN" sz="900" dirty="0">
                <a:cs typeface="MiSans Bold" panose="00000800000000000000" pitchFamily="2" charset="-122"/>
              </a:rPr>
              <a:t>All</a:t>
            </a:r>
            <a:r>
              <a:rPr lang="zh-CN" altLang="en-US" sz="900" dirty="0">
                <a:cs typeface="MiSans Bold" panose="00000800000000000000" pitchFamily="2" charset="-122"/>
              </a:rPr>
              <a:t>品类年度榜单大促，“逛吃节”冲峰值，联动</a:t>
            </a:r>
            <a:r>
              <a:rPr lang="en-US" altLang="zh-CN" sz="900" dirty="0">
                <a:cs typeface="MiSans Bold" panose="00000800000000000000" pitchFamily="2" charset="-122"/>
              </a:rPr>
              <a:t>B</a:t>
            </a:r>
            <a:r>
              <a:rPr lang="zh-CN" altLang="en-US" sz="900" dirty="0">
                <a:cs typeface="MiSans Bold" panose="00000800000000000000" pitchFamily="2" charset="-122"/>
              </a:rPr>
              <a:t>、</a:t>
            </a:r>
            <a:r>
              <a:rPr lang="en-US" altLang="zh-CN" sz="900" dirty="0">
                <a:cs typeface="MiSans Bold" panose="00000800000000000000" pitchFamily="2" charset="-122"/>
              </a:rPr>
              <a:t>G</a:t>
            </a:r>
            <a:r>
              <a:rPr lang="zh-CN" altLang="en-US" sz="900" dirty="0">
                <a:cs typeface="MiSans Bold" panose="00000800000000000000" pitchFamily="2" charset="-122"/>
              </a:rPr>
              <a:t>、</a:t>
            </a:r>
            <a:r>
              <a:rPr lang="en-US" altLang="zh-CN" sz="900" dirty="0">
                <a:cs typeface="MiSans Bold" panose="00000800000000000000" pitchFamily="2" charset="-122"/>
              </a:rPr>
              <a:t>C</a:t>
            </a:r>
            <a:r>
              <a:rPr lang="zh-CN" altLang="en-US" sz="900" dirty="0">
                <a:cs typeface="MiSans Bold" panose="00000800000000000000" pitchFamily="2" charset="-122"/>
              </a:rPr>
              <a:t>资源，结合神券活动</a:t>
            </a:r>
            <a:endParaRPr lang="zh-CN" altLang="en-US" sz="900" dirty="0">
              <a:cs typeface="MiSans Bold" panose="00000800000000000000" pitchFamily="2" charset="-122"/>
            </a:endParaRPr>
          </a:p>
        </p:txBody>
      </p:sp>
      <p:sp>
        <p:nvSpPr>
          <p:cNvPr id="21" name="米菲PPT19"/>
          <p:cNvSpPr/>
          <p:nvPr/>
        </p:nvSpPr>
        <p:spPr>
          <a:xfrm>
            <a:off x="1681586" y="1090012"/>
            <a:ext cx="345943" cy="345943"/>
          </a:xfrm>
          <a:prstGeom prst="mathPlus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19800000" scaled="0"/>
            <a:tileRect/>
          </a:gradFill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7000"/>
                    <a:lumOff val="53000"/>
                  </a:schemeClr>
                </a:gs>
              </a:gsLst>
              <a:lin ang="5400000" scaled="1"/>
            </a:gra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2" name="米菲PPT20"/>
          <p:cNvSpPr/>
          <p:nvPr/>
        </p:nvSpPr>
        <p:spPr>
          <a:xfrm flipV="1">
            <a:off x="2081331" y="718311"/>
            <a:ext cx="1305716" cy="1089344"/>
          </a:xfrm>
          <a:prstGeom prst="rect">
            <a:avLst/>
          </a:prstGeom>
          <a:gradFill>
            <a:gsLst>
              <a:gs pos="100000">
                <a:schemeClr val="accent2">
                  <a:lumMod val="26000"/>
                  <a:lumOff val="74000"/>
                </a:schemeClr>
              </a:gs>
              <a:gs pos="37000">
                <a:schemeClr val="bg1"/>
              </a:gs>
            </a:gsLst>
            <a:lin ang="5400000" scaled="0"/>
          </a:gradFill>
          <a:ln>
            <a:gradFill>
              <a:gsLst>
                <a:gs pos="0">
                  <a:schemeClr val="bg1"/>
                </a:gs>
                <a:gs pos="74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</a:ln>
          <a:effectLst>
            <a:outerShdw blurRad="254000" dist="381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3" name="米菲PPT21"/>
          <p:cNvSpPr/>
          <p:nvPr/>
        </p:nvSpPr>
        <p:spPr>
          <a:xfrm flipH="1" flipV="1">
            <a:off x="2080257" y="718310"/>
            <a:ext cx="1307865" cy="197028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304800" dist="165100" dir="2700000" algn="tl" rotWithShape="0">
              <a:schemeClr val="accent2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zh-CN" altLang="en-US" sz="16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4" name="米菲PPT22"/>
          <p:cNvSpPr txBox="1"/>
          <p:nvPr/>
        </p:nvSpPr>
        <p:spPr>
          <a:xfrm>
            <a:off x="2284869" y="706116"/>
            <a:ext cx="905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2.</a:t>
            </a:r>
            <a:r>
              <a:rPr lang="zh-CN" altLang="en-US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周期小促</a:t>
            </a:r>
            <a:endParaRPr lang="zh-CN" altLang="en-US" sz="10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5" name="米菲PPT23"/>
          <p:cNvSpPr txBox="1"/>
          <p:nvPr/>
        </p:nvSpPr>
        <p:spPr>
          <a:xfrm>
            <a:off x="2062906" y="1011363"/>
            <a:ext cx="1342565" cy="7453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l"/>
            <a:r>
              <a:rPr lang="zh-CN" altLang="en-US" sz="900" dirty="0">
                <a:cs typeface="MiSans Bold" panose="00000800000000000000" pitchFamily="2" charset="-122"/>
              </a:rPr>
              <a:t>按照季度、月、周做小促，主推单品类榜单，做</a:t>
            </a:r>
            <a:r>
              <a:rPr lang="zh-CN" altLang="en-US" sz="900" dirty="0"/>
              <a:t>累计锁客抽年度晚会门票等预热，</a:t>
            </a:r>
            <a:r>
              <a:rPr lang="en-US" altLang="zh-CN" sz="900" dirty="0">
                <a:cs typeface="MiSans Bold" panose="00000800000000000000" pitchFamily="2" charset="-122"/>
              </a:rPr>
              <a:t> BC</a:t>
            </a:r>
            <a:r>
              <a:rPr lang="zh-CN" altLang="en-US" sz="900" dirty="0">
                <a:cs typeface="MiSans Bold" panose="00000800000000000000" pitchFamily="2" charset="-122"/>
              </a:rPr>
              <a:t>联动</a:t>
            </a:r>
            <a:endParaRPr lang="zh-CN" altLang="en-US" sz="900" dirty="0">
              <a:cs typeface="MiSans Bold" panose="00000800000000000000" pitchFamily="2" charset="-122"/>
            </a:endParaRPr>
          </a:p>
        </p:txBody>
      </p:sp>
      <p:sp>
        <p:nvSpPr>
          <p:cNvPr id="26" name="米菲PPT24"/>
          <p:cNvSpPr/>
          <p:nvPr/>
        </p:nvSpPr>
        <p:spPr>
          <a:xfrm flipV="1">
            <a:off x="5774179" y="718311"/>
            <a:ext cx="1305716" cy="1089344"/>
          </a:xfrm>
          <a:prstGeom prst="rect">
            <a:avLst/>
          </a:prstGeom>
          <a:gradFill>
            <a:gsLst>
              <a:gs pos="100000">
                <a:schemeClr val="accent2">
                  <a:lumMod val="26000"/>
                  <a:lumOff val="74000"/>
                </a:schemeClr>
              </a:gs>
              <a:gs pos="37000">
                <a:schemeClr val="bg1"/>
              </a:gs>
            </a:gsLst>
            <a:lin ang="5400000" scaled="0"/>
          </a:gradFill>
          <a:ln>
            <a:gradFill>
              <a:gsLst>
                <a:gs pos="0">
                  <a:schemeClr val="bg1"/>
                </a:gs>
                <a:gs pos="74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</a:ln>
          <a:effectLst>
            <a:outerShdw blurRad="254000" dist="381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7" name="米菲PPT25"/>
          <p:cNvSpPr/>
          <p:nvPr/>
        </p:nvSpPr>
        <p:spPr>
          <a:xfrm flipH="1" flipV="1">
            <a:off x="5773104" y="718310"/>
            <a:ext cx="1307865" cy="197028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304800" dist="165100" dir="2700000" algn="tl" rotWithShape="0">
              <a:schemeClr val="accent2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zh-CN" altLang="en-US" sz="16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8" name="米菲PPT26"/>
          <p:cNvSpPr txBox="1"/>
          <p:nvPr/>
        </p:nvSpPr>
        <p:spPr>
          <a:xfrm>
            <a:off x="5977717" y="706116"/>
            <a:ext cx="905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3.</a:t>
            </a:r>
            <a:r>
              <a:rPr lang="zh-CN" altLang="en-US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日常主题</a:t>
            </a:r>
            <a:endParaRPr lang="zh-CN" altLang="en-US" sz="10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9" name="米菲PPT27"/>
          <p:cNvSpPr txBox="1"/>
          <p:nvPr/>
        </p:nvSpPr>
        <p:spPr>
          <a:xfrm>
            <a:off x="5835646" y="1011363"/>
            <a:ext cx="1262673" cy="5798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l"/>
            <a:r>
              <a:rPr lang="zh-CN" altLang="en-US" sz="900" dirty="0">
                <a:cs typeface="MiSans Bold" panose="00000800000000000000" pitchFamily="2" charset="-122"/>
              </a:rPr>
              <a:t>围绕时令、热点组织话题榜，平台小补，蹭热点</a:t>
            </a:r>
            <a:endParaRPr lang="zh-CN" altLang="en-US" sz="900" dirty="0">
              <a:cs typeface="MiSans Bold" panose="00000800000000000000" pitchFamily="2" charset="-122"/>
            </a:endParaRPr>
          </a:p>
        </p:txBody>
      </p:sp>
      <p:sp>
        <p:nvSpPr>
          <p:cNvPr id="30" name="米菲PPT28"/>
          <p:cNvSpPr/>
          <p:nvPr/>
        </p:nvSpPr>
        <p:spPr>
          <a:xfrm>
            <a:off x="7133696" y="1090012"/>
            <a:ext cx="345943" cy="345943"/>
          </a:xfrm>
          <a:prstGeom prst="mathPlus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19800000" scaled="0"/>
            <a:tileRect/>
          </a:gradFill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7000"/>
                    <a:lumOff val="53000"/>
                  </a:schemeClr>
                </a:gs>
              </a:gsLst>
              <a:lin ang="5400000" scaled="1"/>
            </a:gra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1" name="米菲PPT29"/>
          <p:cNvSpPr/>
          <p:nvPr/>
        </p:nvSpPr>
        <p:spPr>
          <a:xfrm flipV="1">
            <a:off x="7533441" y="718311"/>
            <a:ext cx="1305716" cy="1089344"/>
          </a:xfrm>
          <a:prstGeom prst="rect">
            <a:avLst/>
          </a:prstGeom>
          <a:gradFill>
            <a:gsLst>
              <a:gs pos="100000">
                <a:schemeClr val="accent2">
                  <a:lumMod val="26000"/>
                  <a:lumOff val="74000"/>
                </a:schemeClr>
              </a:gs>
              <a:gs pos="37000">
                <a:schemeClr val="bg1"/>
              </a:gs>
            </a:gsLst>
            <a:lin ang="5400000" scaled="0"/>
          </a:gradFill>
          <a:ln>
            <a:gradFill>
              <a:gsLst>
                <a:gs pos="0">
                  <a:schemeClr val="bg1"/>
                </a:gs>
                <a:gs pos="74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</a:ln>
          <a:effectLst>
            <a:outerShdw blurRad="254000" dist="381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2" name="米菲PPT30"/>
          <p:cNvSpPr/>
          <p:nvPr/>
        </p:nvSpPr>
        <p:spPr>
          <a:xfrm flipH="1" flipV="1">
            <a:off x="7532366" y="718310"/>
            <a:ext cx="1307865" cy="197028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304800" dist="165100" dir="2700000" algn="tl" rotWithShape="0">
              <a:schemeClr val="accent2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zh-CN" altLang="en-US" sz="16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3" name="米菲PPT31"/>
          <p:cNvSpPr txBox="1"/>
          <p:nvPr/>
        </p:nvSpPr>
        <p:spPr>
          <a:xfrm>
            <a:off x="7736978" y="706116"/>
            <a:ext cx="905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4.</a:t>
            </a:r>
            <a:r>
              <a:rPr lang="zh-CN" altLang="en-US" sz="10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线下活动</a:t>
            </a:r>
            <a:endParaRPr lang="zh-CN" altLang="en-US" sz="10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4" name="米菲PPT32"/>
          <p:cNvSpPr txBox="1"/>
          <p:nvPr/>
        </p:nvSpPr>
        <p:spPr>
          <a:xfrm>
            <a:off x="7594907" y="1011363"/>
            <a:ext cx="1262673" cy="7453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l"/>
            <a:r>
              <a:rPr kumimoji="1" lang="zh-CN" altLang="en-US" sz="900" dirty="0"/>
              <a:t>邀请核心用户</a:t>
            </a:r>
            <a:r>
              <a:rPr kumimoji="1" lang="en-US" altLang="zh-CN" sz="900" dirty="0"/>
              <a:t>/</a:t>
            </a:r>
            <a:r>
              <a:rPr kumimoji="1" lang="zh-CN" altLang="en-US" sz="900" dirty="0"/>
              <a:t>商户举办线下“</a:t>
            </a:r>
            <a:r>
              <a:rPr kumimoji="1" lang="en-US" altLang="zh-CN" sz="900" dirty="0"/>
              <a:t>party</a:t>
            </a:r>
            <a:r>
              <a:rPr kumimoji="1" lang="zh-CN" altLang="en-US" sz="900" dirty="0"/>
              <a:t>”分享经营故事，联动渠道、本地文旅做宣发</a:t>
            </a:r>
            <a:endParaRPr lang="zh-CN" altLang="en-US" sz="900" dirty="0">
              <a:cs typeface="MiSans Bold" panose="00000800000000000000" pitchFamily="2" charset="-122"/>
            </a:endParaRPr>
          </a:p>
        </p:txBody>
      </p:sp>
      <p:sp>
        <p:nvSpPr>
          <p:cNvPr id="36" name="米菲PPT34"/>
          <p:cNvSpPr txBox="1"/>
          <p:nvPr/>
        </p:nvSpPr>
        <p:spPr>
          <a:xfrm>
            <a:off x="1121781" y="1928239"/>
            <a:ext cx="1727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accent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站内流量</a:t>
            </a:r>
            <a:endParaRPr lang="zh-CN" altLang="en-US" sz="10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7" name="米菲PPT35"/>
          <p:cNvSpPr txBox="1"/>
          <p:nvPr/>
        </p:nvSpPr>
        <p:spPr>
          <a:xfrm>
            <a:off x="48674" y="2154267"/>
            <a:ext cx="3677013" cy="633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l"/>
            <a:r>
              <a:rPr lang="zh-CN" altLang="en-US" sz="1000" dirty="0">
                <a:cs typeface="MiSans Bold" panose="00000800000000000000" pitchFamily="2" charset="-122"/>
              </a:rPr>
              <a:t>在用户核心路径下建设，先让用户“看到”，覆盖猜喜</a:t>
            </a:r>
            <a:r>
              <a:rPr lang="en-US" altLang="zh-CN" sz="1000" dirty="0">
                <a:cs typeface="MiSans Bold" panose="00000800000000000000" pitchFamily="2" charset="-122"/>
              </a:rPr>
              <a:t>→</a:t>
            </a:r>
            <a:r>
              <a:rPr lang="zh-CN" altLang="en-US" sz="1000" dirty="0">
                <a:cs typeface="MiSans Bold" panose="00000800000000000000" pitchFamily="2" charset="-122"/>
              </a:rPr>
              <a:t>大搜</a:t>
            </a:r>
            <a:r>
              <a:rPr lang="en-US" altLang="zh-CN" sz="1000" dirty="0">
                <a:cs typeface="MiSans Bold" panose="00000800000000000000" pitchFamily="2" charset="-122"/>
              </a:rPr>
              <a:t>→poi</a:t>
            </a:r>
            <a:r>
              <a:rPr lang="zh-CN" altLang="en-US" sz="1000" dirty="0">
                <a:cs typeface="MiSans Bold" panose="00000800000000000000" pitchFamily="2" charset="-122"/>
              </a:rPr>
              <a:t>页</a:t>
            </a:r>
            <a:r>
              <a:rPr lang="en-US" altLang="zh-CN" sz="1000" dirty="0">
                <a:cs typeface="MiSans Bold" panose="00000800000000000000" pitchFamily="2" charset="-122"/>
              </a:rPr>
              <a:t>→</a:t>
            </a:r>
            <a:r>
              <a:rPr lang="zh-CN" altLang="en-US" sz="1000" dirty="0">
                <a:cs typeface="MiSans Bold" panose="00000800000000000000" pitchFamily="2" charset="-122"/>
              </a:rPr>
              <a:t>套餐页</a:t>
            </a:r>
            <a:r>
              <a:rPr lang="en-US" altLang="zh-CN" sz="1000" dirty="0">
                <a:cs typeface="MiSans Bold" panose="00000800000000000000" pitchFamily="2" charset="-122"/>
              </a:rPr>
              <a:t>→</a:t>
            </a:r>
            <a:r>
              <a:rPr lang="zh-CN" altLang="en-US" sz="1000" dirty="0">
                <a:cs typeface="MiSans Bold" panose="00000800000000000000" pitchFamily="2" charset="-122"/>
              </a:rPr>
              <a:t>订单</a:t>
            </a:r>
            <a:r>
              <a:rPr lang="en-US" altLang="zh-CN" sz="1000" dirty="0">
                <a:cs typeface="MiSans Bold" panose="00000800000000000000" pitchFamily="2" charset="-122"/>
              </a:rPr>
              <a:t>→</a:t>
            </a:r>
            <a:r>
              <a:rPr lang="zh-CN" altLang="en-US" sz="1000" dirty="0">
                <a:cs typeface="MiSans Bold" panose="00000800000000000000" pitchFamily="2" charset="-122"/>
              </a:rPr>
              <a:t>其他业务；通过流量倾斜、标签外化、强化入口及个性化的方式提升”榜单“曝光</a:t>
            </a:r>
            <a:endParaRPr lang="zh-CN" altLang="en-US" sz="1000" dirty="0">
              <a:cs typeface="MiSans Bold" panose="00000800000000000000" pitchFamily="2" charset="-122"/>
            </a:endParaRPr>
          </a:p>
        </p:txBody>
      </p:sp>
      <p:sp>
        <p:nvSpPr>
          <p:cNvPr id="49" name="米菲PPT47"/>
          <p:cNvSpPr txBox="1"/>
          <p:nvPr/>
        </p:nvSpPr>
        <p:spPr>
          <a:xfrm>
            <a:off x="6385323" y="1928239"/>
            <a:ext cx="1727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accent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站外</a:t>
            </a:r>
            <a:r>
              <a:rPr lang="en-US" altLang="zh-CN" sz="1000" dirty="0">
                <a:solidFill>
                  <a:schemeClr val="accent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1000" dirty="0">
                <a:solidFill>
                  <a:schemeClr val="accent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线下流量</a:t>
            </a:r>
            <a:endParaRPr lang="zh-CN" altLang="en-US" sz="10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50" name="米菲PPT48"/>
          <p:cNvSpPr txBox="1"/>
          <p:nvPr/>
        </p:nvSpPr>
        <p:spPr>
          <a:xfrm>
            <a:off x="5742807" y="2143260"/>
            <a:ext cx="301286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l"/>
            <a:r>
              <a:rPr lang="zh-CN" altLang="en-US" sz="1000" dirty="0">
                <a:cs typeface="MiSans Bold" panose="00000800000000000000" pitchFamily="2" charset="-122"/>
              </a:rPr>
              <a:t>基于营销活动大促结合线下物料铺设，及站外媒体流量矩阵、及年度晚会做用户心智的建设</a:t>
            </a:r>
            <a:endParaRPr lang="zh-CN" altLang="en-US" sz="1000" dirty="0">
              <a:cs typeface="MiSans Bold" panose="00000800000000000000" pitchFamily="2" charset="-122"/>
            </a:endParaRPr>
          </a:p>
        </p:txBody>
      </p:sp>
      <p:sp>
        <p:nvSpPr>
          <p:cNvPr id="64" name="米菲PPT62"/>
          <p:cNvSpPr/>
          <p:nvPr/>
        </p:nvSpPr>
        <p:spPr>
          <a:xfrm>
            <a:off x="3566465" y="426377"/>
            <a:ext cx="2030335" cy="679081"/>
          </a:xfrm>
          <a:prstGeom prst="diamond">
            <a:avLst/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2000">
                <a:schemeClr val="accent2">
                  <a:lumMod val="60000"/>
                  <a:lumOff val="40000"/>
                  <a:alpha val="33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5" name="米菲PPT63"/>
          <p:cNvSpPr/>
          <p:nvPr/>
        </p:nvSpPr>
        <p:spPr>
          <a:xfrm>
            <a:off x="3566465" y="256841"/>
            <a:ext cx="2030335" cy="679081"/>
          </a:xfrm>
          <a:prstGeom prst="diamond">
            <a:avLst/>
          </a:prstGeom>
          <a:gradFill flip="none" rotWithShape="1">
            <a:gsLst>
              <a:gs pos="7000">
                <a:schemeClr val="accent2">
                  <a:lumMod val="86000"/>
                </a:schemeClr>
              </a:gs>
              <a:gs pos="100000">
                <a:schemeClr val="accent2">
                  <a:lumMod val="94000"/>
                  <a:lumOff val="6000"/>
                </a:schemeClr>
              </a:gs>
            </a:gsLst>
            <a:lin ang="19800000" scaled="0"/>
            <a:tileRect/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6" name="米菲PPT64"/>
          <p:cNvSpPr/>
          <p:nvPr/>
        </p:nvSpPr>
        <p:spPr>
          <a:xfrm>
            <a:off x="4589774" y="758885"/>
            <a:ext cx="1027400" cy="4317476"/>
          </a:xfrm>
          <a:custGeom>
            <a:avLst/>
            <a:gdLst>
              <a:gd name="connsiteX0" fmla="*/ 1293586 w 1293586"/>
              <a:gd name="connsiteY0" fmla="*/ 0 h 5401834"/>
              <a:gd name="connsiteX1" fmla="*/ 812934 w 1293586"/>
              <a:gd name="connsiteY1" fmla="*/ 5401834 h 5401834"/>
              <a:gd name="connsiteX2" fmla="*/ 0 w 1293586"/>
              <a:gd name="connsiteY2" fmla="*/ 5401834 h 5401834"/>
              <a:gd name="connsiteX3" fmla="*/ 0 w 1293586"/>
              <a:gd name="connsiteY3" fmla="*/ 422360 h 5401834"/>
              <a:gd name="connsiteX4" fmla="*/ 15402 w 1293586"/>
              <a:gd name="connsiteY4" fmla="*/ 427511 h 54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3586" h="5401834">
                <a:moveTo>
                  <a:pt x="1293586" y="0"/>
                </a:moveTo>
                <a:lnTo>
                  <a:pt x="812934" y="5401834"/>
                </a:lnTo>
                <a:lnTo>
                  <a:pt x="0" y="5401834"/>
                </a:lnTo>
                <a:lnTo>
                  <a:pt x="0" y="422360"/>
                </a:lnTo>
                <a:lnTo>
                  <a:pt x="15402" y="427511"/>
                </a:ln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0">
                <a:schemeClr val="accent1">
                  <a:alpha val="28000"/>
                </a:schemeClr>
              </a:gs>
            </a:gsLst>
            <a:lin ang="19800000" scaled="0"/>
            <a:tileRect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6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7" name="米菲PPT65"/>
          <p:cNvSpPr/>
          <p:nvPr/>
        </p:nvSpPr>
        <p:spPr>
          <a:xfrm>
            <a:off x="3586639" y="758883"/>
            <a:ext cx="1002936" cy="4317477"/>
          </a:xfrm>
          <a:custGeom>
            <a:avLst/>
            <a:gdLst>
              <a:gd name="connsiteX0" fmla="*/ 0 w 1262783"/>
              <a:gd name="connsiteY0" fmla="*/ 0 h 5401835"/>
              <a:gd name="connsiteX1" fmla="*/ 1262783 w 1262783"/>
              <a:gd name="connsiteY1" fmla="*/ 422360 h 5401835"/>
              <a:gd name="connsiteX2" fmla="*/ 1262783 w 1262783"/>
              <a:gd name="connsiteY2" fmla="*/ 5401835 h 5401835"/>
              <a:gd name="connsiteX3" fmla="*/ 480653 w 1262783"/>
              <a:gd name="connsiteY3" fmla="*/ 5401835 h 5401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2783" h="5401835">
                <a:moveTo>
                  <a:pt x="0" y="0"/>
                </a:moveTo>
                <a:lnTo>
                  <a:pt x="1262783" y="422360"/>
                </a:lnTo>
                <a:lnTo>
                  <a:pt x="1262783" y="5401835"/>
                </a:lnTo>
                <a:lnTo>
                  <a:pt x="480653" y="5401835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28000"/>
                </a:schemeClr>
              </a:gs>
            </a:gsLst>
            <a:lin ang="20400000" scaled="0"/>
            <a:tileRect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6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8" name="米菲PPT66"/>
          <p:cNvSpPr/>
          <p:nvPr/>
        </p:nvSpPr>
        <p:spPr>
          <a:xfrm>
            <a:off x="3848523" y="3587816"/>
            <a:ext cx="1496480" cy="452220"/>
          </a:xfrm>
          <a:prstGeom prst="diamond">
            <a:avLst/>
          </a:prstGeom>
          <a:gradFill flip="none" rotWithShape="1">
            <a:gsLst>
              <a:gs pos="100000">
                <a:schemeClr val="accent1">
                  <a:lumMod val="78000"/>
                  <a:lumOff val="22000"/>
                </a:schemeClr>
              </a:gs>
              <a:gs pos="0">
                <a:schemeClr val="accent1">
                  <a:lumMod val="7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9" name="米菲PPT67"/>
          <p:cNvSpPr txBox="1"/>
          <p:nvPr/>
        </p:nvSpPr>
        <p:spPr>
          <a:xfrm>
            <a:off x="4098228" y="3629997"/>
            <a:ext cx="1015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用户心智</a:t>
            </a:r>
            <a:endParaRPr lang="zh-CN" altLang="en-US" sz="1400" b="1" dirty="0">
              <a:solidFill>
                <a:schemeClr val="bg1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70" name="米菲PPT68"/>
          <p:cNvSpPr txBox="1"/>
          <p:nvPr/>
        </p:nvSpPr>
        <p:spPr>
          <a:xfrm>
            <a:off x="3932840" y="414438"/>
            <a:ext cx="1281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ea typeface="+mj-ea"/>
              </a:defRPr>
            </a:lvl1pPr>
          </a:lstStyle>
          <a:p>
            <a:r>
              <a:rPr lang="zh-CN" altLang="en-US" sz="1600" b="1" dirty="0">
                <a:latin typeface="MiSans Medium" panose="00000600000000000000" pitchFamily="2" charset="-122"/>
                <a:ea typeface="MiSans Medium" panose="00000600000000000000" pitchFamily="2" charset="-122"/>
              </a:rPr>
              <a:t>营销活动</a:t>
            </a:r>
            <a:endParaRPr lang="zh-CN" altLang="en-US" sz="1600" b="1" dirty="0"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71" name="米菲PPT69"/>
          <p:cNvSpPr/>
          <p:nvPr/>
        </p:nvSpPr>
        <p:spPr>
          <a:xfrm>
            <a:off x="3750967" y="2053746"/>
            <a:ext cx="1717902" cy="592552"/>
          </a:xfrm>
          <a:prstGeom prst="diamond">
            <a:avLst/>
          </a:prstGeom>
          <a:gradFill flip="none" rotWithShape="1">
            <a:gsLst>
              <a:gs pos="100000">
                <a:schemeClr val="accent1">
                  <a:lumMod val="89000"/>
                  <a:lumOff val="11000"/>
                </a:schemeClr>
              </a:gs>
              <a:gs pos="0">
                <a:schemeClr val="accent1">
                  <a:lumMod val="7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b="1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2" name="米菲PPT70"/>
          <p:cNvSpPr txBox="1"/>
          <p:nvPr/>
        </p:nvSpPr>
        <p:spPr>
          <a:xfrm>
            <a:off x="3970985" y="2160649"/>
            <a:ext cx="1270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ea typeface="+mj-ea"/>
              </a:defRPr>
            </a:lvl1pPr>
          </a:lstStyle>
          <a:p>
            <a:r>
              <a:rPr lang="zh-CN" altLang="en-US" sz="1600" b="1" dirty="0">
                <a:latin typeface="MiSans Medium" panose="00000600000000000000" pitchFamily="2" charset="-122"/>
                <a:ea typeface="MiSans Medium" panose="00000600000000000000" pitchFamily="2" charset="-122"/>
              </a:rPr>
              <a:t>流量场</a:t>
            </a:r>
            <a:endParaRPr lang="zh-CN" altLang="en-US" sz="1600" b="1" dirty="0"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73" name="米菲PPT71"/>
          <p:cNvSpPr/>
          <p:nvPr/>
        </p:nvSpPr>
        <p:spPr>
          <a:xfrm rot="16200000">
            <a:off x="3786877" y="385137"/>
            <a:ext cx="592552" cy="1002938"/>
          </a:xfrm>
          <a:prstGeom prst="parallelogram">
            <a:avLst>
              <a:gd name="adj" fmla="val 59066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66000"/>
                  <a:lumOff val="34000"/>
                </a:schemeClr>
              </a:gs>
            </a:gsLst>
            <a:lin ang="162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4" name="米菲PPT72"/>
          <p:cNvSpPr/>
          <p:nvPr/>
        </p:nvSpPr>
        <p:spPr>
          <a:xfrm rot="5400000" flipH="1">
            <a:off x="4796756" y="391370"/>
            <a:ext cx="592552" cy="1002938"/>
          </a:xfrm>
          <a:prstGeom prst="parallelogram">
            <a:avLst>
              <a:gd name="adj" fmla="val 59066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2">
                  <a:lumMod val="66000"/>
                  <a:lumOff val="34000"/>
                </a:schemeClr>
              </a:gs>
            </a:gsLst>
            <a:lin ang="162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5" name="米菲PPT73"/>
          <p:cNvSpPr/>
          <p:nvPr/>
        </p:nvSpPr>
        <p:spPr>
          <a:xfrm rot="16200000">
            <a:off x="3941201" y="2138951"/>
            <a:ext cx="456083" cy="872401"/>
          </a:xfrm>
          <a:prstGeom prst="parallelogram">
            <a:avLst>
              <a:gd name="adj" fmla="val 66726"/>
            </a:avLst>
          </a:prstGeom>
          <a:gradFill flip="none" rotWithShape="1">
            <a:gsLst>
              <a:gs pos="0">
                <a:schemeClr val="accent1">
                  <a:lumMod val="74000"/>
                  <a:lumOff val="26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6" name="米菲PPT74"/>
          <p:cNvSpPr/>
          <p:nvPr/>
        </p:nvSpPr>
        <p:spPr>
          <a:xfrm rot="5400000" flipH="1">
            <a:off x="4803526" y="2147225"/>
            <a:ext cx="456083" cy="872401"/>
          </a:xfrm>
          <a:prstGeom prst="parallelogram">
            <a:avLst>
              <a:gd name="adj" fmla="val 66726"/>
            </a:avLst>
          </a:prstGeom>
          <a:gradFill flip="none" rotWithShape="1">
            <a:gsLst>
              <a:gs pos="100000">
                <a:schemeClr val="accent1">
                  <a:lumMod val="92000"/>
                </a:schemeClr>
              </a:gs>
              <a:gs pos="0">
                <a:schemeClr val="accent1">
                  <a:lumMod val="72000"/>
                  <a:lumOff val="28000"/>
                </a:schemeClr>
              </a:gs>
            </a:gsLst>
            <a:lin ang="162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grpSp>
        <p:nvGrpSpPr>
          <p:cNvPr id="77" name="米菲PPT75"/>
          <p:cNvGrpSpPr/>
          <p:nvPr/>
        </p:nvGrpSpPr>
        <p:grpSpPr>
          <a:xfrm>
            <a:off x="3848540" y="3814950"/>
            <a:ext cx="1496480" cy="348978"/>
            <a:chOff x="5018025" y="4727660"/>
            <a:chExt cx="2203221" cy="564175"/>
          </a:xfrm>
        </p:grpSpPr>
        <p:sp>
          <p:nvSpPr>
            <p:cNvPr id="78" name="米菲PPT75-1"/>
            <p:cNvSpPr/>
            <p:nvPr/>
          </p:nvSpPr>
          <p:spPr>
            <a:xfrm rot="16200000">
              <a:off x="5288466" y="4457219"/>
              <a:ext cx="557547" cy="1098429"/>
            </a:xfrm>
            <a:prstGeom prst="parallelogram">
              <a:avLst>
                <a:gd name="adj" fmla="val 66726"/>
              </a:avLst>
            </a:prstGeom>
            <a:gradFill flip="none" rotWithShape="1">
              <a:gsLst>
                <a:gs pos="100000">
                  <a:schemeClr val="accent1">
                    <a:lumMod val="92000"/>
                  </a:schemeClr>
                </a:gs>
                <a:gs pos="0">
                  <a:schemeClr val="accent1">
                    <a:lumMod val="72000"/>
                    <a:lumOff val="28000"/>
                  </a:schemeClr>
                </a:gs>
              </a:gsLst>
              <a:lin ang="16200000" scaled="1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9" name="米菲PPT75-2"/>
            <p:cNvSpPr/>
            <p:nvPr/>
          </p:nvSpPr>
          <p:spPr>
            <a:xfrm rot="5400000" flipH="1">
              <a:off x="6393258" y="4463847"/>
              <a:ext cx="557547" cy="1098429"/>
            </a:xfrm>
            <a:prstGeom prst="parallelogram">
              <a:avLst>
                <a:gd name="adj" fmla="val 66726"/>
              </a:avLst>
            </a:prstGeom>
            <a:gradFill flip="none" rotWithShape="1">
              <a:gsLst>
                <a:gs pos="100000">
                  <a:schemeClr val="accent1">
                    <a:lumMod val="92000"/>
                  </a:schemeClr>
                </a:gs>
                <a:gs pos="0">
                  <a:schemeClr val="accent1">
                    <a:lumMod val="72000"/>
                    <a:lumOff val="28000"/>
                  </a:schemeClr>
                </a:gs>
              </a:gsLst>
              <a:lin ang="16200000" scaled="1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91" name="米菲PPT68"/>
          <p:cNvSpPr txBox="1"/>
          <p:nvPr/>
        </p:nvSpPr>
        <p:spPr>
          <a:xfrm>
            <a:off x="3948712" y="1186060"/>
            <a:ext cx="1281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ea typeface="+mj-ea"/>
              </a:defRPr>
            </a:lvl1pPr>
          </a:lstStyle>
          <a:p>
            <a:r>
              <a:rPr lang="zh-CN" altLang="en-US" sz="14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打造峰值</a:t>
            </a:r>
            <a:endParaRPr lang="zh-CN" altLang="en-US" sz="14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92" name="米菲PPT68"/>
          <p:cNvSpPr txBox="1"/>
          <p:nvPr/>
        </p:nvSpPr>
        <p:spPr>
          <a:xfrm>
            <a:off x="3968306" y="2787155"/>
            <a:ext cx="1281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ea typeface="+mj-ea"/>
              </a:defRPr>
            </a:lvl1pPr>
          </a:lstStyle>
          <a:p>
            <a:r>
              <a:rPr lang="zh-CN" altLang="en-US" sz="14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流量承接</a:t>
            </a:r>
            <a:endParaRPr lang="zh-CN" altLang="en-US" sz="14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93" name="米菲PPT68"/>
          <p:cNvSpPr txBox="1"/>
          <p:nvPr/>
        </p:nvSpPr>
        <p:spPr>
          <a:xfrm>
            <a:off x="3970985" y="4159829"/>
            <a:ext cx="1281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ea typeface="+mj-ea"/>
              </a:defRPr>
            </a:lvl1pPr>
          </a:lstStyle>
          <a:p>
            <a:r>
              <a:rPr lang="zh-CN" altLang="en-US" sz="1400" dirty="0">
                <a:solidFill>
                  <a:schemeClr val="accent2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心智建设</a:t>
            </a:r>
            <a:endParaRPr lang="zh-CN" altLang="en-US" sz="1400" dirty="0">
              <a:solidFill>
                <a:schemeClr val="accent2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 rotWithShape="1">
          <a:blip r:embed="rId1"/>
          <a:srcRect l="19857" r="-12936"/>
          <a:stretch>
            <a:fillRect/>
          </a:stretch>
        </p:blipFill>
        <p:spPr>
          <a:xfrm>
            <a:off x="6662984" y="2777525"/>
            <a:ext cx="1280397" cy="9477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90" y="3813926"/>
            <a:ext cx="1102443" cy="7863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9" name="文本框 98"/>
          <p:cNvSpPr txBox="1"/>
          <p:nvPr/>
        </p:nvSpPr>
        <p:spPr>
          <a:xfrm>
            <a:off x="6719979" y="4695162"/>
            <a:ext cx="1102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000" b="1" dirty="0"/>
              <a:t>线下宣发物料</a:t>
            </a:r>
            <a:endParaRPr lang="zh-CN" altLang="en-US" sz="1000" b="1" dirty="0"/>
          </a:p>
        </p:txBody>
      </p:sp>
      <p:pic>
        <p:nvPicPr>
          <p:cNvPr id="106" name="图片 105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473" y="2764693"/>
            <a:ext cx="835200" cy="1808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7" name="文本框 106"/>
          <p:cNvSpPr txBox="1"/>
          <p:nvPr/>
        </p:nvSpPr>
        <p:spPr>
          <a:xfrm>
            <a:off x="7789802" y="4688775"/>
            <a:ext cx="1102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000" b="1" dirty="0"/>
              <a:t>开屏广告</a:t>
            </a:r>
            <a:endParaRPr lang="zh-CN" altLang="en-US" sz="1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949" y="2764693"/>
            <a:ext cx="918813" cy="181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8" name="文本框 107"/>
          <p:cNvSpPr txBox="1"/>
          <p:nvPr/>
        </p:nvSpPr>
        <p:spPr>
          <a:xfrm>
            <a:off x="5527196" y="4676253"/>
            <a:ext cx="1102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000" b="1" dirty="0"/>
              <a:t>微博之夜</a:t>
            </a:r>
            <a:endParaRPr lang="en-US" altLang="zh-CN" sz="1000" b="1" dirty="0"/>
          </a:p>
          <a:p>
            <a:pPr marL="0" marR="0" algn="ctr"/>
            <a:r>
              <a:rPr lang="zh-CN" altLang="en-US" sz="1000" b="1" dirty="0"/>
              <a:t>明星资源</a:t>
            </a:r>
            <a:endParaRPr lang="zh-CN" altLang="en-US" sz="1000" b="1" dirty="0"/>
          </a:p>
        </p:txBody>
      </p:sp>
      <p:pic>
        <p:nvPicPr>
          <p:cNvPr id="110" name="图片 109" descr="图形用户界面&#10;&#10;AI 生成的内容可能不正确。"/>
          <p:cNvPicPr>
            <a:picLocks noChangeAspect="1"/>
          </p:cNvPicPr>
          <p:nvPr/>
        </p:nvPicPr>
        <p:blipFill>
          <a:blip r:embed="rId5"/>
          <a:srcRect b="64562"/>
          <a:stretch>
            <a:fillRect/>
          </a:stretch>
        </p:blipFill>
        <p:spPr>
          <a:xfrm>
            <a:off x="104979" y="2771735"/>
            <a:ext cx="918000" cy="7044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2" name="图片 111" descr="徽标&#10;&#10;AI 生成的内容可能不正确。"/>
          <p:cNvPicPr>
            <a:picLocks noChangeAspect="1"/>
          </p:cNvPicPr>
          <p:nvPr/>
        </p:nvPicPr>
        <p:blipFill>
          <a:blip r:embed="rId6"/>
          <a:srcRect b="64695"/>
          <a:stretch>
            <a:fillRect/>
          </a:stretch>
        </p:blipFill>
        <p:spPr>
          <a:xfrm>
            <a:off x="110492" y="3651065"/>
            <a:ext cx="918000" cy="701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4" name="椭圆 113"/>
          <p:cNvSpPr/>
          <p:nvPr/>
        </p:nvSpPr>
        <p:spPr>
          <a:xfrm>
            <a:off x="251756" y="4004616"/>
            <a:ext cx="226110" cy="22611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文本框 84"/>
          <p:cNvSpPr txBox="1"/>
          <p:nvPr/>
        </p:nvSpPr>
        <p:spPr>
          <a:xfrm flipH="1">
            <a:off x="-30941" y="4610008"/>
            <a:ext cx="1099615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京东首页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个性化榜单入口</a:t>
            </a:r>
            <a:endParaRPr lang="zh-CN" altLang="en-US" sz="1000" b="1" dirty="0"/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245" y="2771526"/>
            <a:ext cx="836836" cy="181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6" name="文本框 85"/>
          <p:cNvSpPr txBox="1"/>
          <p:nvPr/>
        </p:nvSpPr>
        <p:spPr>
          <a:xfrm flipH="1">
            <a:off x="963666" y="4630087"/>
            <a:ext cx="1022364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淘宝首页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双</a:t>
            </a:r>
            <a:r>
              <a:rPr lang="en-US" altLang="zh-CN" sz="1000" b="1" dirty="0"/>
              <a:t>11</a:t>
            </a:r>
            <a:r>
              <a:rPr lang="zh-CN" altLang="en-US" sz="1000" b="1" dirty="0"/>
              <a:t>标签</a:t>
            </a:r>
            <a:endParaRPr lang="zh-CN" altLang="en-US" sz="1000" b="1" dirty="0"/>
          </a:p>
        </p:txBody>
      </p:sp>
      <p:pic>
        <p:nvPicPr>
          <p:cNvPr id="119" name="图片 118" descr="图形用户界面, 应用程序&#10;&#10;AI 生成的内容可能不正确。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491" y="2765662"/>
            <a:ext cx="835263" cy="181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7" name="文本框 86"/>
          <p:cNvSpPr txBox="1"/>
          <p:nvPr/>
        </p:nvSpPr>
        <p:spPr>
          <a:xfrm flipH="1">
            <a:off x="1876940" y="4619567"/>
            <a:ext cx="1022364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淘宝商详页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同品类热卖榜</a:t>
            </a:r>
            <a:endParaRPr lang="zh-CN" altLang="en-US" sz="1000" b="1" dirty="0"/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3684" y="2771526"/>
            <a:ext cx="831418" cy="181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8" name="文本框 87"/>
          <p:cNvSpPr txBox="1"/>
          <p:nvPr/>
        </p:nvSpPr>
        <p:spPr>
          <a:xfrm flipH="1">
            <a:off x="2805754" y="4617035"/>
            <a:ext cx="1022364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搜索起始页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榜单入口</a:t>
            </a:r>
            <a:endParaRPr lang="zh-CN" altLang="en-US" sz="10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4123392" y="1466951"/>
            <a:ext cx="94687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100" dirty="0"/>
              <a:t>核心城市</a:t>
            </a:r>
            <a:endParaRPr kumimoji="1" lang="en-US" altLang="zh-CN" sz="1100" dirty="0"/>
          </a:p>
          <a:p>
            <a:pPr algn="ctr"/>
            <a:r>
              <a:rPr kumimoji="1" lang="zh-CN" altLang="en-US" sz="1100" dirty="0"/>
              <a:t>核心供给</a:t>
            </a:r>
            <a:endParaRPr kumimoji="1" lang="en-US" altLang="zh-CN" sz="1100" dirty="0"/>
          </a:p>
          <a:p>
            <a:pPr algn="ctr"/>
            <a:r>
              <a:rPr kumimoji="1" lang="zh-CN" altLang="en-US" sz="1100" dirty="0"/>
              <a:t>核心用户</a:t>
            </a:r>
            <a:endParaRPr kumimoji="1" lang="en-US" altLang="zh-CN" sz="1100" dirty="0"/>
          </a:p>
        </p:txBody>
      </p:sp>
      <p:sp>
        <p:nvSpPr>
          <p:cNvPr id="125" name="文本框 124"/>
          <p:cNvSpPr txBox="1"/>
          <p:nvPr/>
        </p:nvSpPr>
        <p:spPr>
          <a:xfrm>
            <a:off x="4138561" y="3052785"/>
            <a:ext cx="94687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100" dirty="0"/>
              <a:t>分时段</a:t>
            </a:r>
            <a:endParaRPr kumimoji="1" lang="en-US" altLang="zh-CN" sz="1100" dirty="0"/>
          </a:p>
          <a:p>
            <a:pPr algn="ctr"/>
            <a:r>
              <a:rPr kumimoji="1" lang="zh-CN" altLang="en-US" sz="1100" dirty="0"/>
              <a:t>分用户</a:t>
            </a:r>
            <a:endParaRPr kumimoji="1" lang="en-US" altLang="zh-CN" sz="1100" dirty="0"/>
          </a:p>
          <a:p>
            <a:pPr algn="ctr"/>
            <a:r>
              <a:rPr kumimoji="1" lang="zh-CN" altLang="en-US" sz="1100" dirty="0"/>
              <a:t>分  </a:t>
            </a:r>
            <a:r>
              <a:rPr kumimoji="1" lang="en-US" altLang="zh-CN" sz="1100" dirty="0"/>
              <a:t>LBS</a:t>
            </a:r>
            <a:endParaRPr kumimoji="1" lang="en-US" altLang="zh-CN" sz="1100" dirty="0"/>
          </a:p>
        </p:txBody>
      </p:sp>
      <p:sp>
        <p:nvSpPr>
          <p:cNvPr id="2" name="文本框 1"/>
          <p:cNvSpPr txBox="1"/>
          <p:nvPr/>
        </p:nvSpPr>
        <p:spPr>
          <a:xfrm>
            <a:off x="4182807" y="4440042"/>
            <a:ext cx="94687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100" dirty="0"/>
              <a:t>线上多曝光</a:t>
            </a:r>
            <a:endParaRPr kumimoji="1" lang="en-US" altLang="zh-CN" sz="1100" dirty="0"/>
          </a:p>
          <a:p>
            <a:pPr algn="ctr"/>
            <a:r>
              <a:rPr kumimoji="1" lang="zh-CN" altLang="en-US" sz="1100" dirty="0"/>
              <a:t>线下铺物料</a:t>
            </a:r>
            <a:endParaRPr kumimoji="1" lang="en-US" altLang="zh-CN" sz="1100" dirty="0"/>
          </a:p>
          <a:p>
            <a:pPr algn="ctr"/>
            <a:r>
              <a:rPr kumimoji="1" lang="zh-CN" altLang="en-US" sz="1100" dirty="0"/>
              <a:t>年度搞盛典</a:t>
            </a:r>
            <a:endParaRPr kumimoji="1" lang="en-US" altLang="zh-CN" sz="110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米菲PPT41"/>
          <p:cNvSpPr/>
          <p:nvPr/>
        </p:nvSpPr>
        <p:spPr>
          <a:xfrm rot="5400000" flipV="1">
            <a:off x="6020049" y="1799511"/>
            <a:ext cx="2692288" cy="2576476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1" name="米菲PPT41"/>
          <p:cNvSpPr/>
          <p:nvPr/>
        </p:nvSpPr>
        <p:spPr>
          <a:xfrm rot="5400000" flipV="1">
            <a:off x="3264844" y="1799511"/>
            <a:ext cx="2692288" cy="2576476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0" name="米菲PPT41"/>
          <p:cNvSpPr/>
          <p:nvPr/>
        </p:nvSpPr>
        <p:spPr>
          <a:xfrm rot="5400000" flipV="1">
            <a:off x="504080" y="1799511"/>
            <a:ext cx="2692288" cy="2576476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为提升商户对榜单规则的认知与参与动力，我们构建了一套“产品赋能、线下触达、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线上交流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”的全方位助力体系。通过将复杂规则转化为清晰指引，变被动管理为主动服务，旨在降低上榜门槛，激发商户内生动力，最终实现平台与商户的共赢增长。</a:t>
            </a:r>
            <a:endParaRPr kumimoji="1" lang="zh-CN" altLang="en-US" sz="12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举措三：构建助力商家经营的榜单辅导服务</a:t>
            </a:r>
            <a:endParaRPr kumimoji="1" lang="zh-CN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3220303" y="1361706"/>
            <a:ext cx="28576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商家辅导能力建设模块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7" name="Rectangle 9"/>
          <p:cNvSpPr/>
          <p:nvPr/>
        </p:nvSpPr>
        <p:spPr>
          <a:xfrm>
            <a:off x="959483" y="1824832"/>
            <a:ext cx="18804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丰富榜单诊断能力</a:t>
            </a:r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9" name="Rectangle 9"/>
          <p:cNvSpPr/>
          <p:nvPr/>
        </p:nvSpPr>
        <p:spPr>
          <a:xfrm>
            <a:off x="729065" y="3944909"/>
            <a:ext cx="23125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800" dirty="0">
                <a:solidFill>
                  <a:srgbClr val="0F1115"/>
                </a:solidFill>
                <a:latin typeface="quote-cjk-patch"/>
              </a:rPr>
              <a:t>上榜</a:t>
            </a:r>
            <a:r>
              <a:rPr lang="zh-CN" altLang="en-US" sz="800" i="0" dirty="0">
                <a:solidFill>
                  <a:srgbClr val="0F1115"/>
                </a:solidFill>
                <a:effectLst/>
                <a:latin typeface="quote-cjk-patch"/>
              </a:rPr>
              <a:t>竞争力诊断：提供个性化数据报告，精准定位与上榜差距、对标竞品上榜。</a:t>
            </a:r>
            <a:endParaRPr lang="zh-CN" altLang="en-US" sz="80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0" name="Rectangle 9"/>
          <p:cNvSpPr/>
          <p:nvPr/>
        </p:nvSpPr>
        <p:spPr>
          <a:xfrm>
            <a:off x="3737685" y="1830389"/>
            <a:ext cx="18804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线下地推标准化上榜物料</a:t>
            </a:r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1" name="Rectangle 9"/>
          <p:cNvSpPr/>
          <p:nvPr/>
        </p:nvSpPr>
        <p:spPr>
          <a:xfrm>
            <a:off x="3443995" y="3941734"/>
            <a:ext cx="23125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800" i="0" dirty="0">
                <a:solidFill>
                  <a:srgbClr val="0F1115"/>
                </a:solidFill>
                <a:effectLst/>
                <a:latin typeface="quote-cjk-patch"/>
              </a:rPr>
              <a:t>“一页纸”攻略</a:t>
            </a:r>
            <a:r>
              <a:rPr lang="zh-CN" altLang="en-US" sz="8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zh-CN" altLang="en-US" sz="800" i="0" dirty="0">
                <a:solidFill>
                  <a:srgbClr val="0F1115"/>
                </a:solidFill>
                <a:effectLst/>
                <a:latin typeface="quote-cjk-patch"/>
              </a:rPr>
              <a:t>门店荣誉标识</a:t>
            </a:r>
            <a:r>
              <a:rPr lang="zh-CN" altLang="en-US" sz="8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zh-CN" altLang="en-US" sz="800" i="0" dirty="0">
                <a:solidFill>
                  <a:srgbClr val="0F1115"/>
                </a:solidFill>
                <a:effectLst/>
                <a:latin typeface="quote-cjk-patch"/>
              </a:rPr>
              <a:t>标准化地推工具包。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2" name="Rectangle 9"/>
          <p:cNvSpPr/>
          <p:nvPr/>
        </p:nvSpPr>
        <p:spPr>
          <a:xfrm>
            <a:off x="6389769" y="1824832"/>
            <a:ext cx="18804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构建有温度的线上交流社区</a:t>
            </a:r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3" name="Rectangle 9"/>
          <p:cNvSpPr/>
          <p:nvPr/>
        </p:nvSpPr>
        <p:spPr>
          <a:xfrm>
            <a:off x="6299282" y="3854447"/>
            <a:ext cx="248285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8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社群运营：建立潜力商户群与上榜商户群</a:t>
            </a:r>
            <a:r>
              <a:rPr kumimoji="0" lang="zh-CN" altLang="en-US" sz="8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；</a:t>
            </a:r>
            <a:endParaRPr kumimoji="0" lang="zh-CN" altLang="zh-CN" sz="80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8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线下交流：组织闭门会</a:t>
            </a:r>
            <a:r>
              <a:rPr lang="zh-CN" altLang="en-US" sz="800" dirty="0">
                <a:solidFill>
                  <a:srgbClr val="0F1115"/>
                </a:solidFill>
                <a:latin typeface="+mn-ea"/>
              </a:rPr>
              <a:t>，解读和交流反馈；</a:t>
            </a:r>
            <a:endParaRPr kumimoji="0" lang="zh-CN" altLang="zh-CN" sz="80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8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知识库：动态更新FAQ与成功案例库。</a:t>
            </a:r>
            <a:endParaRPr kumimoji="0" lang="zh-CN" altLang="zh-CN" sz="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algn="ctr"/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78" y="2664844"/>
            <a:ext cx="1237603" cy="90007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44" y="2205704"/>
            <a:ext cx="857117" cy="1587492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604" y="2424113"/>
            <a:ext cx="2398722" cy="1243782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75" y="2349742"/>
            <a:ext cx="2350488" cy="13948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@</a:t>
            </a:r>
            <a:r>
              <a:rPr kumimoji="1" lang="zh-CN" altLang="en-US" dirty="0"/>
              <a:t>斯涵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kumimoji="1" lang="zh-CN" altLang="en-US" dirty="0"/>
              <a:t>资产存量和增量不够、定性的几个问题</a:t>
            </a:r>
            <a:endParaRPr kumimoji="1" lang="en-US" altLang="zh-CN" dirty="0"/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上面三个方向建立资产</a:t>
            </a:r>
            <a:endParaRPr kumimoji="1"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举措四：资产建设</a:t>
            </a:r>
            <a:endParaRPr kumimoji="1" lang="zh-CN" altLang="en-US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308705" y="176126"/>
            <a:ext cx="8584470" cy="547945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+mn-ea"/>
                <a:ea typeface="+mn-ea"/>
              </a:rPr>
              <a:t>组织职能分工</a:t>
            </a:r>
            <a:r>
              <a:rPr kumimoji="1" lang="en-US" altLang="zh-CN" dirty="0">
                <a:latin typeface="+mn-ea"/>
                <a:ea typeface="+mn-ea"/>
              </a:rPr>
              <a:t>-D+</a:t>
            </a:r>
            <a:r>
              <a:rPr kumimoji="1" lang="zh-CN" altLang="en-US" dirty="0">
                <a:latin typeface="+mn-ea"/>
                <a:ea typeface="+mn-ea"/>
              </a:rPr>
              <a:t>心动榜</a:t>
            </a:r>
            <a:r>
              <a:rPr kumimoji="1"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（甄选榜之前调研在平行团队生活服务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内容与营销</a:t>
            </a:r>
            <a:r>
              <a:rPr kumimoji="1"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</a:t>
            </a:r>
            <a:r>
              <a:rPr kumimoji="1"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内容与创作者负责）</a:t>
            </a:r>
            <a:endParaRPr kumimoji="1"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62228" y="917572"/>
          <a:ext cx="8106367" cy="4049802"/>
        </p:xfrm>
        <a:graphic>
          <a:graphicData uri="http://schemas.openxmlformats.org/drawingml/2006/table">
            <a:tbl>
              <a:tblPr/>
              <a:tblGrid>
                <a:gridCol w="483350"/>
                <a:gridCol w="279030"/>
                <a:gridCol w="1297382"/>
                <a:gridCol w="1277756"/>
                <a:gridCol w="1242154"/>
                <a:gridCol w="876300"/>
                <a:gridCol w="1270000"/>
                <a:gridCol w="1380395"/>
              </a:tblGrid>
              <a:tr h="122704">
                <a:tc rowSpan="2"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环节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部门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cPr/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内容与营销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用户与商家产品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各大区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服务体验与治理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中国交易与广告</a:t>
                      </a:r>
                      <a:r>
                        <a:rPr lang="en-US" altLang="zh-CN" sz="800" b="1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22704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频道运营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榜单运营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品牌传播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市场传播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独立</a:t>
                      </a:r>
                      <a:r>
                        <a:rPr lang="en-US" altLang="zh-CN" sz="800" b="1">
                          <a:effectLst/>
                          <a:latin typeface="+mn-ea"/>
                          <a:ea typeface="+mn-ea"/>
                        </a:rPr>
                        <a:t>Tab-</a:t>
                      </a:r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团购</a:t>
                      </a:r>
                      <a:r>
                        <a:rPr lang="en-US" altLang="zh-CN" sz="800" b="1">
                          <a:effectLst/>
                          <a:latin typeface="+mn-ea"/>
                          <a:ea typeface="+mn-ea"/>
                        </a:rPr>
                        <a:t>Tab</a:t>
                      </a:r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营销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运营（区域运营）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内容治理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业务算法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42522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榜单规则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制定并迭代榜单规则，保证榜单公信力。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>
                          <a:effectLst/>
                          <a:latin typeface="+mn-ea"/>
                          <a:ea typeface="+mn-ea"/>
                        </a:rPr>
                        <a:t>搭建榜单评分模型，通过数据和算法确定上榜商家。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156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榜单功能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负责榜单的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端产品能力设计，并对榜单召排策略迭代优化，持续提升榜单公信力与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BC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端的榜单感知度。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>
                          <a:effectLst/>
                          <a:latin typeface="+mn-ea"/>
                          <a:ea typeface="+mn-ea"/>
                        </a:rPr>
                        <a:t>负责榜单的搜推排机制，通过用户行为、地理位置等数据动态调整榜单排序，实现千人千面的推荐。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156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榜单供给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①制定榜单招商规则，并匹配招商资源；②制定榜单品类策略，保证榜单菜品丰富度、市场匹配度。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负责招商策略在商家层面的落地。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1607">
                <a:tc row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榜单运营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用户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流量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统筹榜单流量策略，在日常和营销节点匹配不同的流量玩法，提高用户复访；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活动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负责榜单日常活动运营和节点大促玩法，提升榜单带来的交易转化。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负责榜单相关的产品体验与影响力运营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156">
                <a:tc vMerge="1"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商家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①负责榜单商家的全生命周期运营与分层激励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②推动商家内容生产，提升榜单相关的内容供给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>
                          <a:effectLst/>
                          <a:latin typeface="+mn-ea"/>
                          <a:ea typeface="+mn-ea"/>
                        </a:rPr>
                        <a:t>配合营销团队完成各类商家运营动作在大区的落地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973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榜单宣传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①负责“心动榜”日常的账号运营、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IP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心智打造；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②在发榜周期负责榜单发布会、榜单传播、榜单造势等职责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>
                          <a:effectLst/>
                          <a:latin typeface="+mn-ea"/>
                          <a:ea typeface="+mn-ea"/>
                        </a:rPr>
                        <a:t>配合榜单传播工作在商家侧的落地，包括宣贯、答疑、物料进店等。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973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榜单治理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负责榜单的负向规则制定，通过内容审核、风险防控、违规判罚等方式治理上榜商家的负向行为。有权根据违规情况剔除上榜商家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配合治理团队提供算法模型，通过算法数据识别违规行为和内容。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7195445" y="1370013"/>
            <a:ext cx="1980178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5082" y="642151"/>
          <a:ext cx="9073836" cy="452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86"/>
                <a:gridCol w="2195528"/>
                <a:gridCol w="2046573"/>
                <a:gridCol w="2257711"/>
                <a:gridCol w="206803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平台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美团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点评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D+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B+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平台定位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本地生活交易服务平台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发现与决策的生活消费指南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内容驱动兴趣的消费平台该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出行地图导航工具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交易心智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0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效率</a:t>
                      </a:r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满足即时需求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0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</a:t>
                      </a:r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帮助深度决策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0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内容</a:t>
                      </a:r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激发消费灵感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行为数据</a:t>
                      </a:r>
                      <a:r>
                        <a:rPr lang="zh-CN" altLang="en-US" sz="105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主张真实可信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2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消费路径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主动搜索→对比筛选→线下履约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内容浏览→口碑评估→决策选店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内容种草→冲动购买→线下核销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出行规划→行为数据→消费决策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882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</a:rPr>
                        <a:t>榜单价值：通过榜单提升消费者选店决策效率，不同之处是榜单引用的核心要素体现了各个平台的优势资产。</a:t>
                      </a:r>
                      <a:endParaRPr lang="zh-CN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41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/>
                        <a:t>维度</a:t>
                      </a:r>
                      <a:endParaRPr lang="en-US" altLang="zh-CN" sz="1100" b="1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/>
                        <a:t>分布</a:t>
                      </a:r>
                      <a:endParaRPr lang="zh-CN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/>
                        <a:t>优势资产</a:t>
                      </a:r>
                      <a:endParaRPr lang="zh-CN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供给、资产（评价）、交易服务（预定、秒提、智能点餐、排队）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资产（评价、星级、打卡）、内容（笔记）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营销活动、流量、内容（视频、直播）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营销活动、流量、资产（导航）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24488" y="2510695"/>
            <a:ext cx="2288459" cy="2212758"/>
            <a:chOff x="-47735" y="608871"/>
            <a:chExt cx="3422575" cy="3309360"/>
          </a:xfrm>
        </p:grpSpPr>
        <p:sp>
          <p:nvSpPr>
            <p:cNvPr id="9" name="任意形状 8"/>
            <p:cNvSpPr/>
            <p:nvPr/>
          </p:nvSpPr>
          <p:spPr>
            <a:xfrm>
              <a:off x="765563" y="1481984"/>
              <a:ext cx="1862662" cy="1464204"/>
            </a:xfrm>
            <a:custGeom>
              <a:avLst/>
              <a:gdLst>
                <a:gd name="connsiteX0" fmla="*/ 672353 w 1532965"/>
                <a:gd name="connsiteY0" fmla="*/ 0 h 1600200"/>
                <a:gd name="connsiteX1" fmla="*/ 161365 w 1532965"/>
                <a:gd name="connsiteY1" fmla="*/ 437030 h 1600200"/>
                <a:gd name="connsiteX2" fmla="*/ 0 w 1532965"/>
                <a:gd name="connsiteY2" fmla="*/ 1095936 h 1600200"/>
                <a:gd name="connsiteX3" fmla="*/ 665629 w 1532965"/>
                <a:gd name="connsiteY3" fmla="*/ 1600200 h 1600200"/>
                <a:gd name="connsiteX4" fmla="*/ 1532965 w 1532965"/>
                <a:gd name="connsiteY4" fmla="*/ 1196788 h 1600200"/>
                <a:gd name="connsiteX5" fmla="*/ 1089212 w 1532965"/>
                <a:gd name="connsiteY5" fmla="*/ 490818 h 1600200"/>
                <a:gd name="connsiteX6" fmla="*/ 672353 w 1532965"/>
                <a:gd name="connsiteY6" fmla="*/ 0 h 1600200"/>
                <a:gd name="connsiteX0-1" fmla="*/ 893734 w 1754346"/>
                <a:gd name="connsiteY0-2" fmla="*/ 0 h 1600200"/>
                <a:gd name="connsiteX1-3" fmla="*/ 382746 w 1754346"/>
                <a:gd name="connsiteY1-4" fmla="*/ 437030 h 1600200"/>
                <a:gd name="connsiteX2-5" fmla="*/ 0 w 1754346"/>
                <a:gd name="connsiteY2-6" fmla="*/ 1230690 h 1600200"/>
                <a:gd name="connsiteX3-7" fmla="*/ 887010 w 1754346"/>
                <a:gd name="connsiteY3-8" fmla="*/ 1600200 h 1600200"/>
                <a:gd name="connsiteX4-9" fmla="*/ 1754346 w 1754346"/>
                <a:gd name="connsiteY4-10" fmla="*/ 1196788 h 1600200"/>
                <a:gd name="connsiteX5-11" fmla="*/ 1310593 w 1754346"/>
                <a:gd name="connsiteY5-12" fmla="*/ 490818 h 1600200"/>
                <a:gd name="connsiteX6-13" fmla="*/ 893734 w 1754346"/>
                <a:gd name="connsiteY6-14" fmla="*/ 0 h 1600200"/>
                <a:gd name="connsiteX0-15" fmla="*/ 893734 w 1754346"/>
                <a:gd name="connsiteY0-16" fmla="*/ 0 h 1817400"/>
                <a:gd name="connsiteX1-17" fmla="*/ 382746 w 1754346"/>
                <a:gd name="connsiteY1-18" fmla="*/ 437030 h 1817400"/>
                <a:gd name="connsiteX2-19" fmla="*/ 0 w 1754346"/>
                <a:gd name="connsiteY2-20" fmla="*/ 1230690 h 1817400"/>
                <a:gd name="connsiteX3-21" fmla="*/ 887009 w 1754346"/>
                <a:gd name="connsiteY3-22" fmla="*/ 1817400 h 1817400"/>
                <a:gd name="connsiteX4-23" fmla="*/ 1754346 w 1754346"/>
                <a:gd name="connsiteY4-24" fmla="*/ 1196788 h 1817400"/>
                <a:gd name="connsiteX5-25" fmla="*/ 1310593 w 1754346"/>
                <a:gd name="connsiteY5-26" fmla="*/ 490818 h 1817400"/>
                <a:gd name="connsiteX6-27" fmla="*/ 893734 w 1754346"/>
                <a:gd name="connsiteY6-28" fmla="*/ 0 h 1817400"/>
                <a:gd name="connsiteX0-29" fmla="*/ 893734 w 1754346"/>
                <a:gd name="connsiteY0-30" fmla="*/ 0 h 1817400"/>
                <a:gd name="connsiteX1-31" fmla="*/ 654447 w 1754346"/>
                <a:gd name="connsiteY1-32" fmla="*/ 590992 h 1817400"/>
                <a:gd name="connsiteX2-33" fmla="*/ 0 w 1754346"/>
                <a:gd name="connsiteY2-34" fmla="*/ 1230690 h 1817400"/>
                <a:gd name="connsiteX3-35" fmla="*/ 887009 w 1754346"/>
                <a:gd name="connsiteY3-36" fmla="*/ 1817400 h 1817400"/>
                <a:gd name="connsiteX4-37" fmla="*/ 1754346 w 1754346"/>
                <a:gd name="connsiteY4-38" fmla="*/ 1196788 h 1817400"/>
                <a:gd name="connsiteX5-39" fmla="*/ 1310593 w 1754346"/>
                <a:gd name="connsiteY5-40" fmla="*/ 490818 h 1817400"/>
                <a:gd name="connsiteX6-41" fmla="*/ 893734 w 1754346"/>
                <a:gd name="connsiteY6-42" fmla="*/ 0 h 1817400"/>
                <a:gd name="connsiteX0-43" fmla="*/ 902791 w 1763403"/>
                <a:gd name="connsiteY0-44" fmla="*/ 0 h 1817400"/>
                <a:gd name="connsiteX1-45" fmla="*/ 663504 w 1763403"/>
                <a:gd name="connsiteY1-46" fmla="*/ 590992 h 1817400"/>
                <a:gd name="connsiteX2-47" fmla="*/ 0 w 1763403"/>
                <a:gd name="connsiteY2-48" fmla="*/ 1230690 h 1817400"/>
                <a:gd name="connsiteX3-49" fmla="*/ 896066 w 1763403"/>
                <a:gd name="connsiteY3-50" fmla="*/ 1817400 h 1817400"/>
                <a:gd name="connsiteX4-51" fmla="*/ 1763403 w 1763403"/>
                <a:gd name="connsiteY4-52" fmla="*/ 1196788 h 1817400"/>
                <a:gd name="connsiteX5-53" fmla="*/ 1319650 w 1763403"/>
                <a:gd name="connsiteY5-54" fmla="*/ 490818 h 1817400"/>
                <a:gd name="connsiteX6-55" fmla="*/ 902791 w 1763403"/>
                <a:gd name="connsiteY6-56" fmla="*/ 0 h 1817400"/>
                <a:gd name="connsiteX0-57" fmla="*/ 902791 w 1763403"/>
                <a:gd name="connsiteY0-58" fmla="*/ 0 h 1549676"/>
                <a:gd name="connsiteX1-59" fmla="*/ 663504 w 1763403"/>
                <a:gd name="connsiteY1-60" fmla="*/ 590992 h 1549676"/>
                <a:gd name="connsiteX2-61" fmla="*/ 0 w 1763403"/>
                <a:gd name="connsiteY2-62" fmla="*/ 1230690 h 1549676"/>
                <a:gd name="connsiteX3-63" fmla="*/ 903302 w 1763403"/>
                <a:gd name="connsiteY3-64" fmla="*/ 1549676 h 1549676"/>
                <a:gd name="connsiteX4-65" fmla="*/ 1763403 w 1763403"/>
                <a:gd name="connsiteY4-66" fmla="*/ 1196788 h 1549676"/>
                <a:gd name="connsiteX5-67" fmla="*/ 1319650 w 1763403"/>
                <a:gd name="connsiteY5-68" fmla="*/ 490818 h 1549676"/>
                <a:gd name="connsiteX6-69" fmla="*/ 902791 w 1763403"/>
                <a:gd name="connsiteY6-70" fmla="*/ 0 h 1549676"/>
                <a:gd name="connsiteX0-71" fmla="*/ 902791 w 1862662"/>
                <a:gd name="connsiteY0-72" fmla="*/ 0 h 1549676"/>
                <a:gd name="connsiteX1-73" fmla="*/ 663504 w 1862662"/>
                <a:gd name="connsiteY1-74" fmla="*/ 590992 h 1549676"/>
                <a:gd name="connsiteX2-75" fmla="*/ 0 w 1862662"/>
                <a:gd name="connsiteY2-76" fmla="*/ 1230690 h 1549676"/>
                <a:gd name="connsiteX3-77" fmla="*/ 903302 w 1862662"/>
                <a:gd name="connsiteY3-78" fmla="*/ 1549676 h 1549676"/>
                <a:gd name="connsiteX4-79" fmla="*/ 1862662 w 1862662"/>
                <a:gd name="connsiteY4-80" fmla="*/ 1240903 h 1549676"/>
                <a:gd name="connsiteX5-81" fmla="*/ 1319650 w 1862662"/>
                <a:gd name="connsiteY5-82" fmla="*/ 490818 h 1549676"/>
                <a:gd name="connsiteX6-83" fmla="*/ 902791 w 1862662"/>
                <a:gd name="connsiteY6-84" fmla="*/ 0 h 1549676"/>
                <a:gd name="connsiteX0-85" fmla="*/ 895021 w 1862662"/>
                <a:gd name="connsiteY0-86" fmla="*/ 0 h 1464204"/>
                <a:gd name="connsiteX1-87" fmla="*/ 663504 w 1862662"/>
                <a:gd name="connsiteY1-88" fmla="*/ 505520 h 1464204"/>
                <a:gd name="connsiteX2-89" fmla="*/ 0 w 1862662"/>
                <a:gd name="connsiteY2-90" fmla="*/ 1145218 h 1464204"/>
                <a:gd name="connsiteX3-91" fmla="*/ 903302 w 1862662"/>
                <a:gd name="connsiteY3-92" fmla="*/ 1464204 h 1464204"/>
                <a:gd name="connsiteX4-93" fmla="*/ 1862662 w 1862662"/>
                <a:gd name="connsiteY4-94" fmla="*/ 1155431 h 1464204"/>
                <a:gd name="connsiteX5-95" fmla="*/ 1319650 w 1862662"/>
                <a:gd name="connsiteY5-96" fmla="*/ 405346 h 1464204"/>
                <a:gd name="connsiteX6-97" fmla="*/ 895021 w 1862662"/>
                <a:gd name="connsiteY6-98" fmla="*/ 0 h 146420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862662" h="1464204">
                  <a:moveTo>
                    <a:pt x="895021" y="0"/>
                  </a:moveTo>
                  <a:lnTo>
                    <a:pt x="663504" y="505520"/>
                  </a:lnTo>
                  <a:lnTo>
                    <a:pt x="0" y="1145218"/>
                  </a:lnTo>
                  <a:lnTo>
                    <a:pt x="903302" y="1464204"/>
                  </a:lnTo>
                  <a:lnTo>
                    <a:pt x="1862662" y="1155431"/>
                  </a:lnTo>
                  <a:lnTo>
                    <a:pt x="1319650" y="405346"/>
                  </a:lnTo>
                  <a:lnTo>
                    <a:pt x="895021" y="0"/>
                  </a:lnTo>
                  <a:close/>
                </a:path>
              </a:pathLst>
            </a:custGeom>
            <a:solidFill>
              <a:srgbClr val="FFD100">
                <a:alpha val="2313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cxnSp>
          <p:nvCxnSpPr>
            <p:cNvPr id="10" name="米菲PPT13"/>
            <p:cNvCxnSpPr>
              <a:stCxn id="31" idx="4"/>
            </p:cNvCxnSpPr>
            <p:nvPr/>
          </p:nvCxnSpPr>
          <p:spPr>
            <a:xfrm>
              <a:off x="1652537" y="2174376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米菲PPT14"/>
            <p:cNvCxnSpPr/>
            <p:nvPr/>
          </p:nvCxnSpPr>
          <p:spPr>
            <a:xfrm flipV="1">
              <a:off x="2734276" y="153111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米菲PPT20"/>
            <p:cNvCxnSpPr/>
            <p:nvPr/>
          </p:nvCxnSpPr>
          <p:spPr>
            <a:xfrm flipH="1" flipV="1">
              <a:off x="588738" y="1507891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米菲PPT21"/>
            <p:cNvCxnSpPr/>
            <p:nvPr/>
          </p:nvCxnSpPr>
          <p:spPr>
            <a:xfrm>
              <a:off x="1662816" y="891561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米菲PPT22"/>
            <p:cNvCxnSpPr/>
            <p:nvPr/>
          </p:nvCxnSpPr>
          <p:spPr>
            <a:xfrm flipV="1">
              <a:off x="582985" y="887304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米菲PPT23"/>
            <p:cNvCxnSpPr/>
            <p:nvPr/>
          </p:nvCxnSpPr>
          <p:spPr>
            <a:xfrm flipV="1">
              <a:off x="1651395" y="151323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米菲PPT24"/>
            <p:cNvSpPr/>
            <p:nvPr/>
          </p:nvSpPr>
          <p:spPr>
            <a:xfrm>
              <a:off x="1625558" y="852694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" name="米菲PPT25"/>
            <p:cNvSpPr/>
            <p:nvPr/>
          </p:nvSpPr>
          <p:spPr>
            <a:xfrm>
              <a:off x="2697833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" name="米菲PPT26"/>
            <p:cNvSpPr/>
            <p:nvPr/>
          </p:nvSpPr>
          <p:spPr>
            <a:xfrm>
              <a:off x="553127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19" name="米菲PPT27"/>
            <p:cNvCxnSpPr/>
            <p:nvPr/>
          </p:nvCxnSpPr>
          <p:spPr>
            <a:xfrm flipH="1" flipV="1">
              <a:off x="588738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米菲PPT28"/>
            <p:cNvCxnSpPr>
              <a:stCxn id="18" idx="4"/>
              <a:endCxn id="23" idx="4"/>
            </p:cNvCxnSpPr>
            <p:nvPr/>
          </p:nvCxnSpPr>
          <p:spPr>
            <a:xfrm>
              <a:off x="597941" y="1561393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米菲PPT29"/>
            <p:cNvCxnSpPr/>
            <p:nvPr/>
          </p:nvCxnSpPr>
          <p:spPr>
            <a:xfrm flipV="1">
              <a:off x="1637832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米菲PPT30"/>
            <p:cNvSpPr/>
            <p:nvPr/>
          </p:nvSpPr>
          <p:spPr>
            <a:xfrm>
              <a:off x="2697833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3" name="米菲PPT31"/>
            <p:cNvSpPr/>
            <p:nvPr/>
          </p:nvSpPr>
          <p:spPr>
            <a:xfrm>
              <a:off x="553127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4" name="米菲PPT44"/>
            <p:cNvSpPr txBox="1"/>
            <p:nvPr/>
          </p:nvSpPr>
          <p:spPr>
            <a:xfrm>
              <a:off x="1348261" y="608871"/>
              <a:ext cx="613368" cy="32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5" name="米菲PPT45"/>
            <p:cNvSpPr txBox="1"/>
            <p:nvPr/>
          </p:nvSpPr>
          <p:spPr>
            <a:xfrm>
              <a:off x="-47735" y="1264018"/>
              <a:ext cx="613368" cy="506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营销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活动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6" name="米菲PPT46"/>
            <p:cNvSpPr txBox="1"/>
            <p:nvPr/>
          </p:nvSpPr>
          <p:spPr>
            <a:xfrm>
              <a:off x="-47735" y="2746959"/>
              <a:ext cx="613368" cy="32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7" name="米菲PPT47"/>
            <p:cNvSpPr txBox="1"/>
            <p:nvPr/>
          </p:nvSpPr>
          <p:spPr>
            <a:xfrm>
              <a:off x="2761472" y="1301422"/>
              <a:ext cx="613368" cy="32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8" name="米菲PPT48"/>
            <p:cNvSpPr txBox="1"/>
            <p:nvPr/>
          </p:nvSpPr>
          <p:spPr>
            <a:xfrm>
              <a:off x="2761473" y="2666169"/>
              <a:ext cx="613367" cy="505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交履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9" name="米菲PPT93"/>
            <p:cNvSpPr/>
            <p:nvPr/>
          </p:nvSpPr>
          <p:spPr>
            <a:xfrm>
              <a:off x="1625558" y="329949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30" name="米菲PPT94"/>
            <p:cNvSpPr txBox="1"/>
            <p:nvPr/>
          </p:nvSpPr>
          <p:spPr>
            <a:xfrm>
              <a:off x="927378" y="3412890"/>
              <a:ext cx="1448034" cy="505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资产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（评价）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31" name="米菲PPT25"/>
            <p:cNvSpPr/>
            <p:nvPr/>
          </p:nvSpPr>
          <p:spPr>
            <a:xfrm>
              <a:off x="1607724" y="2084750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10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32" name="米菲PPT20"/>
            <p:cNvCxnSpPr>
              <a:stCxn id="31" idx="0"/>
              <a:endCxn id="16" idx="4"/>
            </p:cNvCxnSpPr>
            <p:nvPr/>
          </p:nvCxnSpPr>
          <p:spPr>
            <a:xfrm flipV="1">
              <a:off x="1652537" y="942320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米菲PPT27"/>
            <p:cNvCxnSpPr>
              <a:stCxn id="31" idx="3"/>
              <a:endCxn id="23" idx="7"/>
            </p:cNvCxnSpPr>
            <p:nvPr/>
          </p:nvCxnSpPr>
          <p:spPr>
            <a:xfrm flipH="1">
              <a:off x="629628" y="2161251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米菲PPT29"/>
            <p:cNvCxnSpPr>
              <a:stCxn id="31" idx="6"/>
              <a:endCxn id="22" idx="1"/>
            </p:cNvCxnSpPr>
            <p:nvPr/>
          </p:nvCxnSpPr>
          <p:spPr>
            <a:xfrm>
              <a:off x="1697350" y="2129563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米菲PPT48"/>
            <p:cNvSpPr txBox="1"/>
            <p:nvPr/>
          </p:nvSpPr>
          <p:spPr>
            <a:xfrm>
              <a:off x="1263599" y="2169651"/>
              <a:ext cx="781187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美团</a:t>
              </a:r>
              <a:endParaRPr lang="zh-CN" altLang="en-US" sz="9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36" name="组合 35"/>
          <p:cNvGrpSpPr>
            <a:grpSpLocks noChangeAspect="1"/>
          </p:cNvGrpSpPr>
          <p:nvPr/>
        </p:nvGrpSpPr>
        <p:grpSpPr>
          <a:xfrm>
            <a:off x="2657741" y="2474351"/>
            <a:ext cx="2220365" cy="2239239"/>
            <a:chOff x="3266682" y="587964"/>
            <a:chExt cx="3304275" cy="3332364"/>
          </a:xfrm>
        </p:grpSpPr>
        <p:sp>
          <p:nvSpPr>
            <p:cNvPr id="37" name="任意形状 36"/>
            <p:cNvSpPr/>
            <p:nvPr/>
          </p:nvSpPr>
          <p:spPr>
            <a:xfrm>
              <a:off x="4052427" y="1751799"/>
              <a:ext cx="1605526" cy="1489704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4 w 1461337"/>
                <a:gd name="connsiteY0-16" fmla="*/ 0 h 1759211"/>
                <a:gd name="connsiteX1-17" fmla="*/ 346509 w 1461337"/>
                <a:gd name="connsiteY1-18" fmla="*/ 433136 h 1759211"/>
                <a:gd name="connsiteX2-19" fmla="*/ 0 w 1461337"/>
                <a:gd name="connsiteY2-20" fmla="*/ 1058778 h 1759211"/>
                <a:gd name="connsiteX3-21" fmla="*/ 694639 w 1461337"/>
                <a:gd name="connsiteY3-22" fmla="*/ 1759211 h 1759211"/>
                <a:gd name="connsiteX4-23" fmla="*/ 1461337 w 1461337"/>
                <a:gd name="connsiteY4-24" fmla="*/ 1056017 h 1759211"/>
                <a:gd name="connsiteX5-25" fmla="*/ 1366787 w 1461337"/>
                <a:gd name="connsiteY5-26" fmla="*/ 269507 h 1759211"/>
                <a:gd name="connsiteX6-27" fmla="*/ 721894 w 1461337"/>
                <a:gd name="connsiteY6-28" fmla="*/ 0 h 1759211"/>
                <a:gd name="connsiteX0-29" fmla="*/ 866083 w 1605526"/>
                <a:gd name="connsiteY0-30" fmla="*/ 0 h 1759211"/>
                <a:gd name="connsiteX1-31" fmla="*/ 490698 w 1605526"/>
                <a:gd name="connsiteY1-32" fmla="*/ 433136 h 1759211"/>
                <a:gd name="connsiteX2-33" fmla="*/ 0 w 1605526"/>
                <a:gd name="connsiteY2-34" fmla="*/ 1139885 h 1759211"/>
                <a:gd name="connsiteX3-35" fmla="*/ 838828 w 1605526"/>
                <a:gd name="connsiteY3-36" fmla="*/ 1759211 h 1759211"/>
                <a:gd name="connsiteX4-37" fmla="*/ 1605526 w 1605526"/>
                <a:gd name="connsiteY4-38" fmla="*/ 1056017 h 1759211"/>
                <a:gd name="connsiteX5-39" fmla="*/ 1510976 w 1605526"/>
                <a:gd name="connsiteY5-40" fmla="*/ 269507 h 1759211"/>
                <a:gd name="connsiteX6-41" fmla="*/ 866083 w 1605526"/>
                <a:gd name="connsiteY6-42" fmla="*/ 0 h 1759211"/>
                <a:gd name="connsiteX0-43" fmla="*/ 848296 w 1605526"/>
                <a:gd name="connsiteY0-44" fmla="*/ 0 h 1572437"/>
                <a:gd name="connsiteX1-45" fmla="*/ 490698 w 1605526"/>
                <a:gd name="connsiteY1-46" fmla="*/ 246362 h 1572437"/>
                <a:gd name="connsiteX2-47" fmla="*/ 0 w 1605526"/>
                <a:gd name="connsiteY2-48" fmla="*/ 953111 h 1572437"/>
                <a:gd name="connsiteX3-49" fmla="*/ 838828 w 1605526"/>
                <a:gd name="connsiteY3-50" fmla="*/ 1572437 h 1572437"/>
                <a:gd name="connsiteX4-51" fmla="*/ 1605526 w 1605526"/>
                <a:gd name="connsiteY4-52" fmla="*/ 869243 h 1572437"/>
                <a:gd name="connsiteX5-53" fmla="*/ 1510976 w 1605526"/>
                <a:gd name="connsiteY5-54" fmla="*/ 82733 h 1572437"/>
                <a:gd name="connsiteX6-55" fmla="*/ 848296 w 1605526"/>
                <a:gd name="connsiteY6-56" fmla="*/ 0 h 1572437"/>
                <a:gd name="connsiteX0-57" fmla="*/ 848296 w 1605526"/>
                <a:gd name="connsiteY0-58" fmla="*/ 73964 h 1489704"/>
                <a:gd name="connsiteX1-59" fmla="*/ 490698 w 1605526"/>
                <a:gd name="connsiteY1-60" fmla="*/ 163629 h 1489704"/>
                <a:gd name="connsiteX2-61" fmla="*/ 0 w 1605526"/>
                <a:gd name="connsiteY2-62" fmla="*/ 870378 h 1489704"/>
                <a:gd name="connsiteX3-63" fmla="*/ 838828 w 1605526"/>
                <a:gd name="connsiteY3-64" fmla="*/ 1489704 h 1489704"/>
                <a:gd name="connsiteX4-65" fmla="*/ 1605526 w 1605526"/>
                <a:gd name="connsiteY4-66" fmla="*/ 786510 h 1489704"/>
                <a:gd name="connsiteX5-67" fmla="*/ 1510976 w 1605526"/>
                <a:gd name="connsiteY5-68" fmla="*/ 0 h 1489704"/>
                <a:gd name="connsiteX6-69" fmla="*/ 848296 w 1605526"/>
                <a:gd name="connsiteY6-70" fmla="*/ 73964 h 148970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605526" h="1489704">
                  <a:moveTo>
                    <a:pt x="848296" y="73964"/>
                  </a:moveTo>
                  <a:lnTo>
                    <a:pt x="490698" y="163629"/>
                  </a:lnTo>
                  <a:lnTo>
                    <a:pt x="0" y="870378"/>
                  </a:lnTo>
                  <a:lnTo>
                    <a:pt x="838828" y="1489704"/>
                  </a:lnTo>
                  <a:lnTo>
                    <a:pt x="1605526" y="786510"/>
                  </a:lnTo>
                  <a:lnTo>
                    <a:pt x="1510976" y="0"/>
                  </a:lnTo>
                  <a:lnTo>
                    <a:pt x="848296" y="73964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/>
            </a:p>
          </p:txBody>
        </p:sp>
        <p:cxnSp>
          <p:nvCxnSpPr>
            <p:cNvPr id="38" name="米菲PPT13"/>
            <p:cNvCxnSpPr>
              <a:stCxn id="59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45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46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47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米菲PPT28"/>
            <p:cNvCxnSpPr>
              <a:stCxn id="46" idx="4"/>
              <a:endCxn id="51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1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2" name="米菲PPT44"/>
            <p:cNvSpPr txBox="1"/>
            <p:nvPr/>
          </p:nvSpPr>
          <p:spPr>
            <a:xfrm>
              <a:off x="4611749" y="587964"/>
              <a:ext cx="639141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3" name="米菲PPT45"/>
            <p:cNvSpPr txBox="1"/>
            <p:nvPr/>
          </p:nvSpPr>
          <p:spPr>
            <a:xfrm>
              <a:off x="3266683" y="1267630"/>
              <a:ext cx="597248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营销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活动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4" name="米菲PPT46"/>
            <p:cNvSpPr txBox="1"/>
            <p:nvPr/>
          </p:nvSpPr>
          <p:spPr>
            <a:xfrm>
              <a:off x="3266682" y="2750574"/>
              <a:ext cx="597248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5" name="米菲PPT47"/>
            <p:cNvSpPr txBox="1"/>
            <p:nvPr/>
          </p:nvSpPr>
          <p:spPr>
            <a:xfrm>
              <a:off x="5931816" y="1305035"/>
              <a:ext cx="639141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6" name="米菲PPT48"/>
            <p:cNvSpPr txBox="1"/>
            <p:nvPr/>
          </p:nvSpPr>
          <p:spPr>
            <a:xfrm>
              <a:off x="5931816" y="2669783"/>
              <a:ext cx="639141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交履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7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58" name="米菲PPT94"/>
            <p:cNvSpPr txBox="1"/>
            <p:nvPr/>
          </p:nvSpPr>
          <p:spPr>
            <a:xfrm>
              <a:off x="3871823" y="3416503"/>
              <a:ext cx="2183118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资产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（评价、星级、打卡、收藏）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9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60" name="米菲PPT20"/>
            <p:cNvCxnSpPr>
              <a:stCxn id="59" idx="0"/>
              <a:endCxn id="44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米菲PPT27"/>
            <p:cNvCxnSpPr>
              <a:stCxn id="59" idx="3"/>
              <a:endCxn id="51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米菲PPT29"/>
            <p:cNvCxnSpPr>
              <a:stCxn id="59" idx="6"/>
              <a:endCxn id="50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米菲PPT48"/>
            <p:cNvSpPr txBox="1"/>
            <p:nvPr/>
          </p:nvSpPr>
          <p:spPr>
            <a:xfrm>
              <a:off x="4518798" y="2173338"/>
              <a:ext cx="800310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点评</a:t>
              </a:r>
              <a:endParaRPr lang="zh-CN" altLang="en-US" sz="9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/>
        </p:nvGrpSpPr>
        <p:grpSpPr>
          <a:xfrm>
            <a:off x="4797910" y="2482936"/>
            <a:ext cx="2220365" cy="2247476"/>
            <a:chOff x="3266682" y="575706"/>
            <a:chExt cx="3304276" cy="3344622"/>
          </a:xfrm>
        </p:grpSpPr>
        <p:sp>
          <p:nvSpPr>
            <p:cNvPr id="65" name="任意形状 64"/>
            <p:cNvSpPr/>
            <p:nvPr/>
          </p:nvSpPr>
          <p:spPr>
            <a:xfrm>
              <a:off x="3973080" y="1016446"/>
              <a:ext cx="1867843" cy="1486350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867843"/>
                <a:gd name="connsiteY0-114" fmla="*/ 0 h 1408835"/>
                <a:gd name="connsiteX1-115" fmla="*/ 0 w 1867843"/>
                <a:gd name="connsiteY1-116" fmla="*/ 491440 h 1408835"/>
                <a:gd name="connsiteX2-117" fmla="*/ 349443 w 1867843"/>
                <a:gd name="connsiteY2-118" fmla="*/ 1376832 h 1408835"/>
                <a:gd name="connsiteX3-119" fmla="*/ 926179 w 1867843"/>
                <a:gd name="connsiteY3-120" fmla="*/ 1408835 h 1408835"/>
                <a:gd name="connsiteX4-121" fmla="*/ 1437353 w 1867843"/>
                <a:gd name="connsiteY4-122" fmla="*/ 1309336 h 1408835"/>
                <a:gd name="connsiteX5-123" fmla="*/ 1867843 w 1867843"/>
                <a:gd name="connsiteY5-124" fmla="*/ 500325 h 1408835"/>
                <a:gd name="connsiteX6-125" fmla="*/ 930427 w 1867843"/>
                <a:gd name="connsiteY6-126" fmla="*/ 0 h 1408835"/>
                <a:gd name="connsiteX0-127" fmla="*/ 930427 w 1867843"/>
                <a:gd name="connsiteY0-128" fmla="*/ 0 h 1486349"/>
                <a:gd name="connsiteX1-129" fmla="*/ 0 w 1867843"/>
                <a:gd name="connsiteY1-130" fmla="*/ 568954 h 1486349"/>
                <a:gd name="connsiteX2-131" fmla="*/ 349443 w 1867843"/>
                <a:gd name="connsiteY2-132" fmla="*/ 1454346 h 1486349"/>
                <a:gd name="connsiteX3-133" fmla="*/ 926179 w 1867843"/>
                <a:gd name="connsiteY3-134" fmla="*/ 1486349 h 1486349"/>
                <a:gd name="connsiteX4-135" fmla="*/ 1437353 w 1867843"/>
                <a:gd name="connsiteY4-136" fmla="*/ 1386850 h 1486349"/>
                <a:gd name="connsiteX5-137" fmla="*/ 1867843 w 1867843"/>
                <a:gd name="connsiteY5-138" fmla="*/ 577839 h 1486349"/>
                <a:gd name="connsiteX6-139" fmla="*/ 930427 w 1867843"/>
                <a:gd name="connsiteY6-140" fmla="*/ 0 h 148634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867843" h="1486349">
                  <a:moveTo>
                    <a:pt x="930427" y="0"/>
                  </a:moveTo>
                  <a:lnTo>
                    <a:pt x="0" y="568954"/>
                  </a:lnTo>
                  <a:lnTo>
                    <a:pt x="349443" y="1454346"/>
                  </a:lnTo>
                  <a:lnTo>
                    <a:pt x="926179" y="1486349"/>
                  </a:lnTo>
                  <a:lnTo>
                    <a:pt x="1437353" y="1386850"/>
                  </a:lnTo>
                  <a:lnTo>
                    <a:pt x="1867843" y="577839"/>
                  </a:lnTo>
                  <a:lnTo>
                    <a:pt x="930427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/>
            </a:p>
          </p:txBody>
        </p:sp>
        <p:cxnSp>
          <p:nvCxnSpPr>
            <p:cNvPr id="66" name="米菲PPT13"/>
            <p:cNvCxnSpPr>
              <a:stCxn id="87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3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4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75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米菲PPT28"/>
            <p:cNvCxnSpPr>
              <a:stCxn id="74" idx="4"/>
              <a:endCxn id="79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79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0" name="米菲PPT44"/>
            <p:cNvSpPr txBox="1"/>
            <p:nvPr/>
          </p:nvSpPr>
          <p:spPr>
            <a:xfrm>
              <a:off x="4552550" y="575706"/>
              <a:ext cx="673822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1" name="米菲PPT45"/>
            <p:cNvSpPr txBox="1"/>
            <p:nvPr/>
          </p:nvSpPr>
          <p:spPr>
            <a:xfrm>
              <a:off x="3266683" y="1267630"/>
              <a:ext cx="681225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营销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活动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2" name="米菲PPT46"/>
            <p:cNvSpPr txBox="1"/>
            <p:nvPr/>
          </p:nvSpPr>
          <p:spPr>
            <a:xfrm>
              <a:off x="3266682" y="2750574"/>
              <a:ext cx="681225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3" name="米菲PPT47"/>
            <p:cNvSpPr txBox="1"/>
            <p:nvPr/>
          </p:nvSpPr>
          <p:spPr>
            <a:xfrm>
              <a:off x="5897136" y="1305035"/>
              <a:ext cx="673822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4" name="米菲PPT48"/>
            <p:cNvSpPr txBox="1"/>
            <p:nvPr/>
          </p:nvSpPr>
          <p:spPr>
            <a:xfrm>
              <a:off x="5897136" y="2669783"/>
              <a:ext cx="673822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交履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5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86" name="米菲PPT94"/>
            <p:cNvSpPr txBox="1"/>
            <p:nvPr/>
          </p:nvSpPr>
          <p:spPr>
            <a:xfrm>
              <a:off x="4243374" y="3416503"/>
              <a:ext cx="1338782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资产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（评价、星级）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7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88" name="米菲PPT20"/>
            <p:cNvCxnSpPr>
              <a:stCxn id="87" idx="0"/>
              <a:endCxn id="72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米菲PPT27"/>
            <p:cNvCxnSpPr>
              <a:stCxn id="87" idx="3"/>
              <a:endCxn id="79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米菲PPT29"/>
            <p:cNvCxnSpPr>
              <a:stCxn id="87" idx="6"/>
              <a:endCxn id="78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米菲PPT48"/>
            <p:cNvSpPr txBox="1"/>
            <p:nvPr/>
          </p:nvSpPr>
          <p:spPr>
            <a:xfrm>
              <a:off x="4624637" y="2143098"/>
              <a:ext cx="584262" cy="38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D+</a:t>
              </a:r>
              <a:endParaRPr lang="zh-CN" altLang="en-US" sz="11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6973305" y="2495490"/>
            <a:ext cx="2220364" cy="2239238"/>
            <a:chOff x="3266682" y="587965"/>
            <a:chExt cx="3304274" cy="3332363"/>
          </a:xfrm>
        </p:grpSpPr>
        <p:sp>
          <p:nvSpPr>
            <p:cNvPr id="93" name="任意形状 92"/>
            <p:cNvSpPr/>
            <p:nvPr/>
          </p:nvSpPr>
          <p:spPr>
            <a:xfrm>
              <a:off x="4176482" y="1093962"/>
              <a:ext cx="944385" cy="1847906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437353"/>
                <a:gd name="connsiteY0-114" fmla="*/ 0 h 1408835"/>
                <a:gd name="connsiteX1-115" fmla="*/ 0 w 1437353"/>
                <a:gd name="connsiteY1-116" fmla="*/ 491440 h 1408835"/>
                <a:gd name="connsiteX2-117" fmla="*/ 553560 w 1437353"/>
                <a:gd name="connsiteY2-118" fmla="*/ 1252093 h 1408835"/>
                <a:gd name="connsiteX3-119" fmla="*/ 926179 w 1437353"/>
                <a:gd name="connsiteY3-120" fmla="*/ 1408835 h 1408835"/>
                <a:gd name="connsiteX4-121" fmla="*/ 1437353 w 1437353"/>
                <a:gd name="connsiteY4-122" fmla="*/ 1309336 h 1408835"/>
                <a:gd name="connsiteX5-123" fmla="*/ 1147789 w 1437353"/>
                <a:gd name="connsiteY5-124" fmla="*/ 905356 h 1408835"/>
                <a:gd name="connsiteX6-125" fmla="*/ 930427 w 1437353"/>
                <a:gd name="connsiteY6-126" fmla="*/ 0 h 1408835"/>
                <a:gd name="connsiteX0-127" fmla="*/ 840421 w 1347347"/>
                <a:gd name="connsiteY0-128" fmla="*/ 0 h 1408835"/>
                <a:gd name="connsiteX1-129" fmla="*/ 0 w 1347347"/>
                <a:gd name="connsiteY1-130" fmla="*/ 558945 h 1408835"/>
                <a:gd name="connsiteX2-131" fmla="*/ 463554 w 1347347"/>
                <a:gd name="connsiteY2-132" fmla="*/ 1252093 h 1408835"/>
                <a:gd name="connsiteX3-133" fmla="*/ 836173 w 1347347"/>
                <a:gd name="connsiteY3-134" fmla="*/ 1408835 h 1408835"/>
                <a:gd name="connsiteX4-135" fmla="*/ 1347347 w 1347347"/>
                <a:gd name="connsiteY4-136" fmla="*/ 1309336 h 1408835"/>
                <a:gd name="connsiteX5-137" fmla="*/ 1057783 w 1347347"/>
                <a:gd name="connsiteY5-138" fmla="*/ 905356 h 1408835"/>
                <a:gd name="connsiteX6-139" fmla="*/ 840421 w 1347347"/>
                <a:gd name="connsiteY6-140" fmla="*/ 0 h 1408835"/>
                <a:gd name="connsiteX0-141" fmla="*/ 855423 w 1347347"/>
                <a:gd name="connsiteY0-142" fmla="*/ 0 h 1408835"/>
                <a:gd name="connsiteX1-143" fmla="*/ 0 w 1347347"/>
                <a:gd name="connsiteY1-144" fmla="*/ 558945 h 1408835"/>
                <a:gd name="connsiteX2-145" fmla="*/ 463554 w 1347347"/>
                <a:gd name="connsiteY2-146" fmla="*/ 1252093 h 1408835"/>
                <a:gd name="connsiteX3-147" fmla="*/ 836173 w 1347347"/>
                <a:gd name="connsiteY3-148" fmla="*/ 1408835 h 1408835"/>
                <a:gd name="connsiteX4-149" fmla="*/ 1347347 w 1347347"/>
                <a:gd name="connsiteY4-150" fmla="*/ 1309336 h 1408835"/>
                <a:gd name="connsiteX5-151" fmla="*/ 1057783 w 1347347"/>
                <a:gd name="connsiteY5-152" fmla="*/ 905356 h 1408835"/>
                <a:gd name="connsiteX6-153" fmla="*/ 855423 w 1347347"/>
                <a:gd name="connsiteY6-154" fmla="*/ 0 h 1408835"/>
                <a:gd name="connsiteX0-155" fmla="*/ 855423 w 1347347"/>
                <a:gd name="connsiteY0-156" fmla="*/ 0 h 1408835"/>
                <a:gd name="connsiteX1-157" fmla="*/ 0 w 1347347"/>
                <a:gd name="connsiteY1-158" fmla="*/ 558945 h 1408835"/>
                <a:gd name="connsiteX2-159" fmla="*/ 628567 w 1347347"/>
                <a:gd name="connsiteY2-160" fmla="*/ 1139585 h 1408835"/>
                <a:gd name="connsiteX3-161" fmla="*/ 836173 w 1347347"/>
                <a:gd name="connsiteY3-162" fmla="*/ 1408835 h 1408835"/>
                <a:gd name="connsiteX4-163" fmla="*/ 1347347 w 1347347"/>
                <a:gd name="connsiteY4-164" fmla="*/ 1309336 h 1408835"/>
                <a:gd name="connsiteX5-165" fmla="*/ 1057783 w 1347347"/>
                <a:gd name="connsiteY5-166" fmla="*/ 905356 h 1408835"/>
                <a:gd name="connsiteX6-167" fmla="*/ 855423 w 1347347"/>
                <a:gd name="connsiteY6-168" fmla="*/ 0 h 1408835"/>
                <a:gd name="connsiteX0-169" fmla="*/ 855423 w 1347347"/>
                <a:gd name="connsiteY0-170" fmla="*/ 0 h 1333829"/>
                <a:gd name="connsiteX1-171" fmla="*/ 0 w 1347347"/>
                <a:gd name="connsiteY1-172" fmla="*/ 558945 h 1333829"/>
                <a:gd name="connsiteX2-173" fmla="*/ 628567 w 1347347"/>
                <a:gd name="connsiteY2-174" fmla="*/ 1139585 h 1333829"/>
                <a:gd name="connsiteX3-175" fmla="*/ 821172 w 1347347"/>
                <a:gd name="connsiteY3-176" fmla="*/ 1333829 h 1333829"/>
                <a:gd name="connsiteX4-177" fmla="*/ 1347347 w 1347347"/>
                <a:gd name="connsiteY4-178" fmla="*/ 1309336 h 1333829"/>
                <a:gd name="connsiteX5-179" fmla="*/ 1057783 w 1347347"/>
                <a:gd name="connsiteY5-180" fmla="*/ 905356 h 1333829"/>
                <a:gd name="connsiteX6-181" fmla="*/ 855423 w 1347347"/>
                <a:gd name="connsiteY6-182" fmla="*/ 0 h 1333829"/>
                <a:gd name="connsiteX0-183" fmla="*/ 855423 w 1347347"/>
                <a:gd name="connsiteY0-184" fmla="*/ 0 h 1357195"/>
                <a:gd name="connsiteX1-185" fmla="*/ 0 w 1347347"/>
                <a:gd name="connsiteY1-186" fmla="*/ 558945 h 1357195"/>
                <a:gd name="connsiteX2-187" fmla="*/ 628567 w 1347347"/>
                <a:gd name="connsiteY2-188" fmla="*/ 1139585 h 1357195"/>
                <a:gd name="connsiteX3-189" fmla="*/ 821172 w 1347347"/>
                <a:gd name="connsiteY3-190" fmla="*/ 1357195 h 1357195"/>
                <a:gd name="connsiteX4-191" fmla="*/ 1347347 w 1347347"/>
                <a:gd name="connsiteY4-192" fmla="*/ 1309336 h 1357195"/>
                <a:gd name="connsiteX5-193" fmla="*/ 1057783 w 1347347"/>
                <a:gd name="connsiteY5-194" fmla="*/ 905356 h 1357195"/>
                <a:gd name="connsiteX6-195" fmla="*/ 855423 w 1347347"/>
                <a:gd name="connsiteY6-196" fmla="*/ 0 h 1357195"/>
                <a:gd name="connsiteX0-197" fmla="*/ 855423 w 1057783"/>
                <a:gd name="connsiteY0-198" fmla="*/ 0 h 1357195"/>
                <a:gd name="connsiteX1-199" fmla="*/ 0 w 1057783"/>
                <a:gd name="connsiteY1-200" fmla="*/ 558945 h 1357195"/>
                <a:gd name="connsiteX2-201" fmla="*/ 628567 w 1057783"/>
                <a:gd name="connsiteY2-202" fmla="*/ 1139585 h 1357195"/>
                <a:gd name="connsiteX3-203" fmla="*/ 821172 w 1057783"/>
                <a:gd name="connsiteY3-204" fmla="*/ 1357195 h 1357195"/>
                <a:gd name="connsiteX4-205" fmla="*/ 1020207 w 1057783"/>
                <a:gd name="connsiteY4-206" fmla="*/ 1128240 h 1357195"/>
                <a:gd name="connsiteX5-207" fmla="*/ 1057783 w 1057783"/>
                <a:gd name="connsiteY5-208" fmla="*/ 905356 h 1357195"/>
                <a:gd name="connsiteX6-209" fmla="*/ 855423 w 1057783"/>
                <a:gd name="connsiteY6-210" fmla="*/ 0 h 1357195"/>
                <a:gd name="connsiteX0-211" fmla="*/ 855423 w 1057783"/>
                <a:gd name="connsiteY0-212" fmla="*/ 0 h 1847906"/>
                <a:gd name="connsiteX1-213" fmla="*/ 0 w 1057783"/>
                <a:gd name="connsiteY1-214" fmla="*/ 558945 h 1847906"/>
                <a:gd name="connsiteX2-215" fmla="*/ 628567 w 1057783"/>
                <a:gd name="connsiteY2-216" fmla="*/ 1139585 h 1847906"/>
                <a:gd name="connsiteX3-217" fmla="*/ 832855 w 1057783"/>
                <a:gd name="connsiteY3-218" fmla="*/ 1847906 h 1847906"/>
                <a:gd name="connsiteX4-219" fmla="*/ 1020207 w 1057783"/>
                <a:gd name="connsiteY4-220" fmla="*/ 1128240 h 1847906"/>
                <a:gd name="connsiteX5-221" fmla="*/ 1057783 w 1057783"/>
                <a:gd name="connsiteY5-222" fmla="*/ 905356 h 1847906"/>
                <a:gd name="connsiteX6-223" fmla="*/ 855423 w 1057783"/>
                <a:gd name="connsiteY6-224" fmla="*/ 0 h 1847906"/>
                <a:gd name="connsiteX0-225" fmla="*/ 855423 w 1057783"/>
                <a:gd name="connsiteY0-226" fmla="*/ 0 h 1847906"/>
                <a:gd name="connsiteX1-227" fmla="*/ 0 w 1057783"/>
                <a:gd name="connsiteY1-228" fmla="*/ 558945 h 1847906"/>
                <a:gd name="connsiteX2-229" fmla="*/ 645443 w 1057783"/>
                <a:gd name="connsiteY2-230" fmla="*/ 1164900 h 1847906"/>
                <a:gd name="connsiteX3-231" fmla="*/ 832855 w 1057783"/>
                <a:gd name="connsiteY3-232" fmla="*/ 1847906 h 1847906"/>
                <a:gd name="connsiteX4-233" fmla="*/ 1020207 w 1057783"/>
                <a:gd name="connsiteY4-234" fmla="*/ 1128240 h 1847906"/>
                <a:gd name="connsiteX5-235" fmla="*/ 1057783 w 1057783"/>
                <a:gd name="connsiteY5-236" fmla="*/ 905356 h 1847906"/>
                <a:gd name="connsiteX6-237" fmla="*/ 855423 w 1057783"/>
                <a:gd name="connsiteY6-238" fmla="*/ 0 h 1847906"/>
                <a:gd name="connsiteX0-239" fmla="*/ 729426 w 931786"/>
                <a:gd name="connsiteY0-240" fmla="*/ 0 h 1847906"/>
                <a:gd name="connsiteX1-241" fmla="*/ 0 w 931786"/>
                <a:gd name="connsiteY1-242" fmla="*/ 571544 h 1847906"/>
                <a:gd name="connsiteX2-243" fmla="*/ 519446 w 931786"/>
                <a:gd name="connsiteY2-244" fmla="*/ 1164900 h 1847906"/>
                <a:gd name="connsiteX3-245" fmla="*/ 706858 w 931786"/>
                <a:gd name="connsiteY3-246" fmla="*/ 1847906 h 1847906"/>
                <a:gd name="connsiteX4-247" fmla="*/ 894210 w 931786"/>
                <a:gd name="connsiteY4-248" fmla="*/ 1128240 h 1847906"/>
                <a:gd name="connsiteX5-249" fmla="*/ 931786 w 931786"/>
                <a:gd name="connsiteY5-250" fmla="*/ 905356 h 1847906"/>
                <a:gd name="connsiteX6-251" fmla="*/ 729426 w 931786"/>
                <a:gd name="connsiteY6-252" fmla="*/ 0 h 1847906"/>
                <a:gd name="connsiteX0-253" fmla="*/ 742026 w 944386"/>
                <a:gd name="connsiteY0-254" fmla="*/ 0 h 1847906"/>
                <a:gd name="connsiteX1-255" fmla="*/ 0 w 944386"/>
                <a:gd name="connsiteY1-256" fmla="*/ 621944 h 1847906"/>
                <a:gd name="connsiteX2-257" fmla="*/ 532046 w 944386"/>
                <a:gd name="connsiteY2-258" fmla="*/ 1164900 h 1847906"/>
                <a:gd name="connsiteX3-259" fmla="*/ 719458 w 944386"/>
                <a:gd name="connsiteY3-260" fmla="*/ 1847906 h 1847906"/>
                <a:gd name="connsiteX4-261" fmla="*/ 906810 w 944386"/>
                <a:gd name="connsiteY4-262" fmla="*/ 1128240 h 1847906"/>
                <a:gd name="connsiteX5-263" fmla="*/ 944386 w 944386"/>
                <a:gd name="connsiteY5-264" fmla="*/ 905356 h 1847906"/>
                <a:gd name="connsiteX6-265" fmla="*/ 742026 w 944386"/>
                <a:gd name="connsiteY6-266" fmla="*/ 0 h 1847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944386" h="1847906">
                  <a:moveTo>
                    <a:pt x="742026" y="0"/>
                  </a:moveTo>
                  <a:lnTo>
                    <a:pt x="0" y="621944"/>
                  </a:lnTo>
                  <a:lnTo>
                    <a:pt x="532046" y="1164900"/>
                  </a:lnTo>
                  <a:lnTo>
                    <a:pt x="719458" y="1847906"/>
                  </a:lnTo>
                  <a:lnTo>
                    <a:pt x="906810" y="1128240"/>
                  </a:lnTo>
                  <a:lnTo>
                    <a:pt x="944386" y="905356"/>
                  </a:lnTo>
                  <a:lnTo>
                    <a:pt x="742026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/>
            </a:p>
          </p:txBody>
        </p:sp>
        <p:cxnSp>
          <p:nvCxnSpPr>
            <p:cNvPr id="94" name="米菲PPT13"/>
            <p:cNvCxnSpPr>
              <a:stCxn id="115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1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2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103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米菲PPT28"/>
            <p:cNvCxnSpPr>
              <a:stCxn id="102" idx="4"/>
              <a:endCxn id="107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7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08" name="米菲PPT44"/>
            <p:cNvSpPr txBox="1"/>
            <p:nvPr/>
          </p:nvSpPr>
          <p:spPr>
            <a:xfrm>
              <a:off x="4611308" y="587965"/>
              <a:ext cx="627321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09" name="米菲PPT45"/>
            <p:cNvSpPr txBox="1"/>
            <p:nvPr/>
          </p:nvSpPr>
          <p:spPr>
            <a:xfrm>
              <a:off x="3266683" y="1267629"/>
              <a:ext cx="654170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营销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活动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0" name="米菲PPT46"/>
            <p:cNvSpPr txBox="1"/>
            <p:nvPr/>
          </p:nvSpPr>
          <p:spPr>
            <a:xfrm>
              <a:off x="3266682" y="2750574"/>
              <a:ext cx="654170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1" name="米菲PPT47"/>
            <p:cNvSpPr txBox="1"/>
            <p:nvPr/>
          </p:nvSpPr>
          <p:spPr>
            <a:xfrm>
              <a:off x="5943635" y="1305035"/>
              <a:ext cx="627321" cy="32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内容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2" name="米菲PPT48"/>
            <p:cNvSpPr txBox="1"/>
            <p:nvPr/>
          </p:nvSpPr>
          <p:spPr>
            <a:xfrm>
              <a:off x="5943635" y="2669783"/>
              <a:ext cx="627321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交履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3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14" name="米菲PPT94"/>
            <p:cNvSpPr txBox="1"/>
            <p:nvPr/>
          </p:nvSpPr>
          <p:spPr>
            <a:xfrm>
              <a:off x="4243374" y="3416503"/>
              <a:ext cx="1338782" cy="503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资产</a:t>
              </a:r>
              <a:endPara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accent1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（导航）</a:t>
              </a:r>
              <a:endParaRPr lang="zh-CN" altLang="en-US" sz="8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5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  <p:cxnSp>
          <p:nvCxnSpPr>
            <p:cNvPr id="116" name="米菲PPT20"/>
            <p:cNvCxnSpPr>
              <a:stCxn id="115" idx="0"/>
              <a:endCxn id="100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米菲PPT27"/>
            <p:cNvCxnSpPr>
              <a:stCxn id="115" idx="3"/>
              <a:endCxn id="107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米菲PPT29"/>
            <p:cNvCxnSpPr>
              <a:stCxn id="115" idx="6"/>
              <a:endCxn id="106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米菲PPT48"/>
            <p:cNvSpPr txBox="1"/>
            <p:nvPr/>
          </p:nvSpPr>
          <p:spPr>
            <a:xfrm>
              <a:off x="4624637" y="2127978"/>
              <a:ext cx="584262" cy="38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effectLst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B+</a:t>
              </a:r>
              <a:endParaRPr lang="zh-CN" altLang="en-US" sz="1100" dirty="0">
                <a:solidFill>
                  <a:schemeClr val="accent1"/>
                </a:solidFill>
                <a:effectLst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sp>
        <p:nvSpPr>
          <p:cNvPr id="124" name="文本占位符 5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美团榜单定位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51114" y="-63920"/>
            <a:ext cx="8741105" cy="64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</a:rPr>
              <a:t>相对于</a:t>
            </a:r>
            <a:r>
              <a:rPr lang="en-US" altLang="zh-CN" sz="1200" dirty="0">
                <a:latin typeface="+mn-ea"/>
              </a:rPr>
              <a:t>D+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B+</a:t>
            </a:r>
            <a:r>
              <a:rPr lang="zh-CN" altLang="en-US" sz="1200" dirty="0">
                <a:latin typeface="+mn-ea"/>
              </a:rPr>
              <a:t>定位差异在于</a:t>
            </a:r>
            <a:r>
              <a:rPr lang="zh-CN" altLang="en-US" sz="1200" b="1" dirty="0">
                <a:latin typeface="+mn-ea"/>
              </a:rPr>
              <a:t>核心资产（评价、星级）的规模及丰富度</a:t>
            </a:r>
            <a:r>
              <a:rPr lang="zh-CN" altLang="en-US" sz="1200" dirty="0">
                <a:latin typeface="+mn-ea"/>
              </a:rPr>
              <a:t>，以及对</a:t>
            </a:r>
            <a:r>
              <a:rPr lang="zh-CN" altLang="en-US" sz="1200" b="1" dirty="0">
                <a:latin typeface="+mn-ea"/>
              </a:rPr>
              <a:t>核心供给</a:t>
            </a:r>
            <a:r>
              <a:rPr lang="zh-CN" altLang="en-US" sz="1200" dirty="0">
                <a:latin typeface="+mn-ea"/>
              </a:rPr>
              <a:t>选择、牵引、交履服务；</a:t>
            </a:r>
            <a:endParaRPr lang="zh-CN" altLang="en-US" sz="1200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  <a:ea typeface="+mn-ea"/>
              </a:rPr>
              <a:t>相对于点评，定位差异在于</a:t>
            </a:r>
            <a:r>
              <a:rPr lang="zh-CN" altLang="en-US" sz="1200" b="1" dirty="0">
                <a:latin typeface="+mn-ea"/>
                <a:ea typeface="+mn-ea"/>
              </a:rPr>
              <a:t>交履服务的强化</a:t>
            </a:r>
            <a:r>
              <a:rPr lang="zh-CN" altLang="en-US" sz="1200" dirty="0">
                <a:latin typeface="+mn-ea"/>
                <a:ea typeface="+mn-ea"/>
              </a:rPr>
              <a:t>，对商家的</a:t>
            </a:r>
            <a:r>
              <a:rPr lang="zh-CN" altLang="en-US" sz="1200" b="1" dirty="0">
                <a:latin typeface="+mn-ea"/>
                <a:ea typeface="+mn-ea"/>
              </a:rPr>
              <a:t>牵引及助力，</a:t>
            </a:r>
            <a:r>
              <a:rPr lang="zh-CN" altLang="en-US" sz="1200" dirty="0">
                <a:latin typeface="+mn-ea"/>
                <a:ea typeface="+mn-ea"/>
              </a:rPr>
              <a:t>以及满足</a:t>
            </a:r>
            <a:r>
              <a:rPr lang="zh-CN" altLang="en-US" sz="1200" b="1" dirty="0">
                <a:latin typeface="+mn-ea"/>
                <a:ea typeface="+mn-ea"/>
              </a:rPr>
              <a:t>不同核心用户</a:t>
            </a:r>
            <a:r>
              <a:rPr lang="zh-CN" altLang="en-US" sz="1200" dirty="0">
                <a:latin typeface="+mn-ea"/>
                <a:ea typeface="+mn-ea"/>
              </a:rPr>
              <a:t>的需求闭环；</a:t>
            </a:r>
            <a:endParaRPr lang="en-US" altLang="zh-CN" sz="1200" dirty="0">
              <a:latin typeface="+mn-ea"/>
              <a:ea typeface="+mn-ea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5082" y="5345543"/>
            <a:ext cx="4703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/>
              <a:t>*流量：根据平台</a:t>
            </a:r>
            <a:r>
              <a:rPr lang="en-US" altLang="zh-CN" sz="800" dirty="0"/>
              <a:t>DAU</a:t>
            </a:r>
            <a:r>
              <a:rPr lang="zh-CN" altLang="en-US" sz="800" dirty="0"/>
              <a:t>排序（美团</a:t>
            </a:r>
            <a:r>
              <a:rPr lang="en-US" altLang="zh-CN" sz="800" dirty="0"/>
              <a:t>1.8</a:t>
            </a:r>
            <a:r>
              <a:rPr lang="zh-CN" altLang="en-US" sz="800" dirty="0"/>
              <a:t>亿、点评</a:t>
            </a:r>
            <a:r>
              <a:rPr lang="en-US" altLang="zh-CN" sz="800" dirty="0"/>
              <a:t>2400</a:t>
            </a:r>
            <a:r>
              <a:rPr lang="zh-CN" altLang="en-US" sz="800" dirty="0"/>
              <a:t>万、</a:t>
            </a:r>
            <a:r>
              <a:rPr lang="en-US" altLang="zh-CN" sz="800" dirty="0"/>
              <a:t>D+10</a:t>
            </a:r>
            <a:r>
              <a:rPr lang="zh-CN" altLang="en-US" sz="800" dirty="0"/>
              <a:t>亿、</a:t>
            </a:r>
            <a:r>
              <a:rPr lang="en-US" altLang="zh-CN" sz="800" dirty="0"/>
              <a:t>B+8.9</a:t>
            </a:r>
            <a:r>
              <a:rPr lang="zh-CN" altLang="en-US" sz="800" dirty="0"/>
              <a:t>亿）</a:t>
            </a:r>
            <a:endParaRPr lang="en-US" altLang="zh-CN" sz="800" dirty="0"/>
          </a:p>
          <a:p>
            <a:r>
              <a:rPr lang="zh-CN" altLang="en-US" sz="800" dirty="0"/>
              <a:t>营销市场：根据线上</a:t>
            </a:r>
            <a:r>
              <a:rPr lang="en-US" altLang="zh-CN" sz="800" dirty="0"/>
              <a:t>+</a:t>
            </a:r>
            <a:r>
              <a:rPr lang="zh-CN" altLang="en-US" sz="800" dirty="0"/>
              <a:t>线下宣传场景及力度人为评估</a:t>
            </a:r>
            <a:endParaRPr lang="en-US" altLang="zh-CN" sz="800" dirty="0"/>
          </a:p>
          <a:p>
            <a:r>
              <a:rPr lang="zh-CN" altLang="en-US" sz="800" dirty="0"/>
              <a:t>内容：根据平台提供的内容维度（笔记、视频、直播）及占比情况人为评估</a:t>
            </a:r>
            <a:endParaRPr lang="en-US" altLang="zh-CN" sz="800" dirty="0"/>
          </a:p>
          <a:p>
            <a:r>
              <a:rPr lang="zh-CN" altLang="en-US" sz="800" dirty="0"/>
              <a:t>供给：根据平台在线交易的门店数量排序（美团</a:t>
            </a:r>
            <a:r>
              <a:rPr lang="en-US" altLang="zh-CN" sz="800" dirty="0"/>
              <a:t>=</a:t>
            </a:r>
            <a:r>
              <a:rPr lang="zh-CN" altLang="en-US" sz="800" dirty="0"/>
              <a:t>点评＞</a:t>
            </a:r>
            <a:r>
              <a:rPr lang="en-US" altLang="zh-CN" sz="800" dirty="0"/>
              <a:t>D+</a:t>
            </a:r>
            <a:r>
              <a:rPr lang="zh-CN" altLang="en-US" sz="800" dirty="0"/>
              <a:t>＞</a:t>
            </a:r>
            <a:r>
              <a:rPr lang="en-US" altLang="zh-CN" sz="800" dirty="0"/>
              <a:t>B+</a:t>
            </a:r>
            <a:r>
              <a:rPr lang="zh-CN" altLang="en-US" sz="800" dirty="0"/>
              <a:t>）</a:t>
            </a:r>
            <a:endParaRPr lang="en-US" altLang="zh-CN" sz="800" dirty="0"/>
          </a:p>
          <a:p>
            <a:r>
              <a:rPr lang="zh-CN" altLang="en-US" sz="800" dirty="0"/>
              <a:t>资产：根据核心资产的规模及质量粗排序（评价、星级维度）</a:t>
            </a:r>
            <a:endParaRPr lang="en-US" altLang="zh-CN" sz="800" dirty="0"/>
          </a:p>
          <a:p>
            <a:r>
              <a:rPr lang="zh-CN" altLang="en-US" sz="800" dirty="0"/>
              <a:t>交履服务：根据平台提供的交履产品类型人为评估（预订、排队、在线点、秒提）</a:t>
            </a:r>
            <a:endParaRPr lang="en-US" altLang="zh-CN" sz="800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米菲PPT3"/>
          <p:cNvSpPr/>
          <p:nvPr/>
        </p:nvSpPr>
        <p:spPr>
          <a:xfrm rot="5400000" flipV="1">
            <a:off x="3036293" y="-1054331"/>
            <a:ext cx="3127044" cy="9020972"/>
          </a:xfrm>
          <a:prstGeom prst="roundRect">
            <a:avLst>
              <a:gd name="adj" fmla="val 3404"/>
            </a:avLst>
          </a:prstGeom>
          <a:gradFill>
            <a:gsLst>
              <a:gs pos="46000">
                <a:srgbClr val="62799C">
                  <a:lumMod val="20000"/>
                  <a:lumOff val="80000"/>
                  <a:alpha val="0"/>
                </a:srgbClr>
              </a:gs>
              <a:gs pos="100000">
                <a:srgbClr val="62799C">
                  <a:lumMod val="20000"/>
                  <a:lumOff val="80000"/>
                  <a:alpha val="64000"/>
                </a:srgb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3000">
                  <a:srgbClr val="62799C">
                    <a:alpha val="0"/>
                  </a:srgbClr>
                </a:gs>
                <a:gs pos="100000">
                  <a:srgbClr val="62799C">
                    <a:alpha val="35127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algn="ctr"/>
            <a:endParaRPr lang="zh-CN" altLang="en-US" sz="1200" kern="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123" name="米菲PPT5"/>
          <p:cNvSpPr/>
          <p:nvPr/>
        </p:nvSpPr>
        <p:spPr>
          <a:xfrm>
            <a:off x="6736235" y="2236548"/>
            <a:ext cx="2486144" cy="988601"/>
          </a:xfrm>
          <a:custGeom>
            <a:avLst/>
            <a:gdLst>
              <a:gd name="connsiteX0" fmla="*/ 0 w 3180344"/>
              <a:gd name="connsiteY0" fmla="*/ 0 h 1264646"/>
              <a:gd name="connsiteX1" fmla="*/ 3180344 w 3180344"/>
              <a:gd name="connsiteY1" fmla="*/ 0 h 1264646"/>
              <a:gd name="connsiteX2" fmla="*/ 3180344 w 3180344"/>
              <a:gd name="connsiteY2" fmla="*/ 1264646 h 1264646"/>
              <a:gd name="connsiteX3" fmla="*/ 720832 w 3180344"/>
              <a:gd name="connsiteY3" fmla="*/ 1264646 h 1264646"/>
              <a:gd name="connsiteX4" fmla="*/ 698808 w 3180344"/>
              <a:gd name="connsiteY4" fmla="*/ 1125988 h 1264646"/>
              <a:gd name="connsiteX5" fmla="*/ 131365 w 3180344"/>
              <a:gd name="connsiteY5" fmla="*/ 114717 h 1264646"/>
              <a:gd name="connsiteX6" fmla="*/ 0 w 3180344"/>
              <a:gd name="connsiteY6" fmla="*/ 0 h 126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80344" h="1264646">
                <a:moveTo>
                  <a:pt x="0" y="0"/>
                </a:moveTo>
                <a:lnTo>
                  <a:pt x="3180344" y="0"/>
                </a:lnTo>
                <a:lnTo>
                  <a:pt x="3180344" y="1264646"/>
                </a:lnTo>
                <a:lnTo>
                  <a:pt x="720832" y="1264646"/>
                </a:lnTo>
                <a:lnTo>
                  <a:pt x="698808" y="1125988"/>
                </a:lnTo>
                <a:cubicBezTo>
                  <a:pt x="615615" y="735353"/>
                  <a:pt x="413910" y="386198"/>
                  <a:pt x="131365" y="11471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tx2">
                  <a:lumMod val="40000"/>
                  <a:lumOff val="60000"/>
                </a:schemeClr>
              </a:gs>
              <a:gs pos="0">
                <a:schemeClr val="tx2">
                  <a:alpha val="0"/>
                  <a:lumMod val="0"/>
                  <a:lumOff val="100000"/>
                </a:scheme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100000">
                  <a:schemeClr val="tx2">
                    <a:lumMod val="20000"/>
                    <a:lumOff val="80000"/>
                    <a:alpha val="35000"/>
                  </a:schemeClr>
                </a:gs>
                <a:gs pos="0">
                  <a:schemeClr val="tx2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1" name="米菲PPT6"/>
          <p:cNvSpPr/>
          <p:nvPr/>
        </p:nvSpPr>
        <p:spPr>
          <a:xfrm>
            <a:off x="6926423" y="3465554"/>
            <a:ext cx="2295956" cy="988601"/>
          </a:xfrm>
          <a:custGeom>
            <a:avLst/>
            <a:gdLst>
              <a:gd name="connsiteX0" fmla="*/ 496159 w 2937052"/>
              <a:gd name="connsiteY0" fmla="*/ 0 h 1264646"/>
              <a:gd name="connsiteX1" fmla="*/ 2937052 w 2937052"/>
              <a:gd name="connsiteY1" fmla="*/ 0 h 1264646"/>
              <a:gd name="connsiteX2" fmla="*/ 2937052 w 2937052"/>
              <a:gd name="connsiteY2" fmla="*/ 1264646 h 1264646"/>
              <a:gd name="connsiteX3" fmla="*/ 0 w 2937052"/>
              <a:gd name="connsiteY3" fmla="*/ 1264646 h 1264646"/>
              <a:gd name="connsiteX4" fmla="*/ 22435 w 2937052"/>
              <a:gd name="connsiteY4" fmla="*/ 1240928 h 1264646"/>
              <a:gd name="connsiteX5" fmla="*/ 487062 w 2937052"/>
              <a:gd name="connsiteY5" fmla="*/ 173097 h 1264646"/>
              <a:gd name="connsiteX6" fmla="*/ 496159 w 2937052"/>
              <a:gd name="connsiteY6" fmla="*/ 0 h 126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7052" h="1264646">
                <a:moveTo>
                  <a:pt x="496159" y="0"/>
                </a:moveTo>
                <a:lnTo>
                  <a:pt x="2937052" y="0"/>
                </a:lnTo>
                <a:lnTo>
                  <a:pt x="2937052" y="1264646"/>
                </a:lnTo>
                <a:lnTo>
                  <a:pt x="0" y="1264646"/>
                </a:lnTo>
                <a:lnTo>
                  <a:pt x="22435" y="1240928"/>
                </a:lnTo>
                <a:cubicBezTo>
                  <a:pt x="276987" y="944561"/>
                  <a:pt x="444419" y="576552"/>
                  <a:pt x="487062" y="173097"/>
                </a:cubicBezTo>
                <a:lnTo>
                  <a:pt x="496159" y="0"/>
                </a:lnTo>
                <a:close/>
              </a:path>
            </a:pathLst>
          </a:custGeom>
          <a:gradFill>
            <a:gsLst>
              <a:gs pos="100000">
                <a:schemeClr val="tx2">
                  <a:lumMod val="40000"/>
                  <a:lumOff val="60000"/>
                </a:schemeClr>
              </a:gs>
              <a:gs pos="0">
                <a:schemeClr val="tx2">
                  <a:alpha val="0"/>
                  <a:lumMod val="0"/>
                  <a:lumOff val="100000"/>
                </a:scheme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100000">
                  <a:schemeClr val="tx2">
                    <a:lumMod val="20000"/>
                    <a:lumOff val="80000"/>
                    <a:alpha val="35000"/>
                  </a:schemeClr>
                </a:gs>
                <a:gs pos="0">
                  <a:schemeClr val="tx2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与点评定位差</a:t>
            </a:r>
            <a:endParaRPr kumimoji="1" lang="zh-CN" altLang="en-US" dirty="0"/>
          </a:p>
        </p:txBody>
      </p:sp>
      <p:sp>
        <p:nvSpPr>
          <p:cNvPr id="54" name="米菲PPT4"/>
          <p:cNvSpPr/>
          <p:nvPr/>
        </p:nvSpPr>
        <p:spPr>
          <a:xfrm rot="5400000" flipV="1">
            <a:off x="1052198" y="929757"/>
            <a:ext cx="317271" cy="2243012"/>
          </a:xfrm>
          <a:custGeom>
            <a:avLst/>
            <a:gdLst>
              <a:gd name="connsiteX0" fmla="*/ 0 w 405863"/>
              <a:gd name="connsiteY0" fmla="*/ 136167 h 2869321"/>
              <a:gd name="connsiteX1" fmla="*/ 0 w 405863"/>
              <a:gd name="connsiteY1" fmla="*/ 2869321 h 2869321"/>
              <a:gd name="connsiteX2" fmla="*/ 169019 w 405863"/>
              <a:gd name="connsiteY2" fmla="*/ 2869321 h 2869321"/>
              <a:gd name="connsiteX3" fmla="*/ 405863 w 405863"/>
              <a:gd name="connsiteY3" fmla="*/ 2632477 h 2869321"/>
              <a:gd name="connsiteX4" fmla="*/ 405863 w 405863"/>
              <a:gd name="connsiteY4" fmla="*/ 0 h 2869321"/>
              <a:gd name="connsiteX5" fmla="*/ 136167 w 405863"/>
              <a:gd name="connsiteY5" fmla="*/ 0 h 2869321"/>
              <a:gd name="connsiteX6" fmla="*/ 0 w 405863"/>
              <a:gd name="connsiteY6" fmla="*/ 136167 h 286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863" h="2869321">
                <a:moveTo>
                  <a:pt x="0" y="136167"/>
                </a:moveTo>
                <a:lnTo>
                  <a:pt x="0" y="2869321"/>
                </a:lnTo>
                <a:lnTo>
                  <a:pt x="169019" y="2869321"/>
                </a:lnTo>
                <a:cubicBezTo>
                  <a:pt x="299824" y="2869321"/>
                  <a:pt x="405863" y="2763282"/>
                  <a:pt x="405863" y="2632477"/>
                </a:cubicBezTo>
                <a:lnTo>
                  <a:pt x="405863" y="0"/>
                </a:lnTo>
                <a:lnTo>
                  <a:pt x="136167" y="0"/>
                </a:lnTo>
                <a:cubicBezTo>
                  <a:pt x="60964" y="0"/>
                  <a:pt x="0" y="60964"/>
                  <a:pt x="0" y="136167"/>
                </a:cubicBezTo>
                <a:close/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5" name="米菲PPT5"/>
          <p:cNvSpPr/>
          <p:nvPr/>
        </p:nvSpPr>
        <p:spPr>
          <a:xfrm>
            <a:off x="3699032" y="2239772"/>
            <a:ext cx="2486144" cy="988601"/>
          </a:xfrm>
          <a:custGeom>
            <a:avLst/>
            <a:gdLst>
              <a:gd name="connsiteX0" fmla="*/ 0 w 3180344"/>
              <a:gd name="connsiteY0" fmla="*/ 0 h 1264646"/>
              <a:gd name="connsiteX1" fmla="*/ 3180344 w 3180344"/>
              <a:gd name="connsiteY1" fmla="*/ 0 h 1264646"/>
              <a:gd name="connsiteX2" fmla="*/ 3180344 w 3180344"/>
              <a:gd name="connsiteY2" fmla="*/ 1264646 h 1264646"/>
              <a:gd name="connsiteX3" fmla="*/ 720832 w 3180344"/>
              <a:gd name="connsiteY3" fmla="*/ 1264646 h 1264646"/>
              <a:gd name="connsiteX4" fmla="*/ 698808 w 3180344"/>
              <a:gd name="connsiteY4" fmla="*/ 1125988 h 1264646"/>
              <a:gd name="connsiteX5" fmla="*/ 131365 w 3180344"/>
              <a:gd name="connsiteY5" fmla="*/ 114717 h 1264646"/>
              <a:gd name="connsiteX6" fmla="*/ 0 w 3180344"/>
              <a:gd name="connsiteY6" fmla="*/ 0 h 126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80344" h="1264646">
                <a:moveTo>
                  <a:pt x="0" y="0"/>
                </a:moveTo>
                <a:lnTo>
                  <a:pt x="3180344" y="0"/>
                </a:lnTo>
                <a:lnTo>
                  <a:pt x="3180344" y="1264646"/>
                </a:lnTo>
                <a:lnTo>
                  <a:pt x="720832" y="1264646"/>
                </a:lnTo>
                <a:lnTo>
                  <a:pt x="698808" y="1125988"/>
                </a:lnTo>
                <a:cubicBezTo>
                  <a:pt x="615615" y="735353"/>
                  <a:pt x="413910" y="386198"/>
                  <a:pt x="131365" y="11471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F57359">
                  <a:lumMod val="40000"/>
                  <a:lumOff val="60000"/>
                  <a:alpha val="32000"/>
                </a:srgbClr>
              </a:gs>
              <a:gs pos="0">
                <a:srgbClr val="F57359">
                  <a:lumMod val="20000"/>
                  <a:lumOff val="80000"/>
                  <a:alpha val="0"/>
                </a:srgb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100000">
                  <a:srgbClr val="F57359">
                    <a:lumMod val="40000"/>
                    <a:lumOff val="60000"/>
                  </a:srgbClr>
                </a:gs>
                <a:gs pos="0">
                  <a:srgbClr val="F57359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6" name="米菲PPT6"/>
          <p:cNvSpPr/>
          <p:nvPr/>
        </p:nvSpPr>
        <p:spPr>
          <a:xfrm>
            <a:off x="3889216" y="3459666"/>
            <a:ext cx="2295956" cy="988601"/>
          </a:xfrm>
          <a:custGeom>
            <a:avLst/>
            <a:gdLst>
              <a:gd name="connsiteX0" fmla="*/ 496159 w 2937052"/>
              <a:gd name="connsiteY0" fmla="*/ 0 h 1264646"/>
              <a:gd name="connsiteX1" fmla="*/ 2937052 w 2937052"/>
              <a:gd name="connsiteY1" fmla="*/ 0 h 1264646"/>
              <a:gd name="connsiteX2" fmla="*/ 2937052 w 2937052"/>
              <a:gd name="connsiteY2" fmla="*/ 1264646 h 1264646"/>
              <a:gd name="connsiteX3" fmla="*/ 0 w 2937052"/>
              <a:gd name="connsiteY3" fmla="*/ 1264646 h 1264646"/>
              <a:gd name="connsiteX4" fmla="*/ 22435 w 2937052"/>
              <a:gd name="connsiteY4" fmla="*/ 1240928 h 1264646"/>
              <a:gd name="connsiteX5" fmla="*/ 487062 w 2937052"/>
              <a:gd name="connsiteY5" fmla="*/ 173097 h 1264646"/>
              <a:gd name="connsiteX6" fmla="*/ 496159 w 2937052"/>
              <a:gd name="connsiteY6" fmla="*/ 0 h 126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7052" h="1264646">
                <a:moveTo>
                  <a:pt x="496159" y="0"/>
                </a:moveTo>
                <a:lnTo>
                  <a:pt x="2937052" y="0"/>
                </a:lnTo>
                <a:lnTo>
                  <a:pt x="2937052" y="1264646"/>
                </a:lnTo>
                <a:lnTo>
                  <a:pt x="0" y="1264646"/>
                </a:lnTo>
                <a:lnTo>
                  <a:pt x="22435" y="1240928"/>
                </a:lnTo>
                <a:cubicBezTo>
                  <a:pt x="276987" y="944561"/>
                  <a:pt x="444419" y="576552"/>
                  <a:pt x="487062" y="173097"/>
                </a:cubicBezTo>
                <a:lnTo>
                  <a:pt x="496159" y="0"/>
                </a:lnTo>
                <a:close/>
              </a:path>
            </a:pathLst>
          </a:custGeom>
          <a:gradFill>
            <a:gsLst>
              <a:gs pos="100000">
                <a:srgbClr val="F57359">
                  <a:lumMod val="40000"/>
                  <a:lumOff val="60000"/>
                  <a:alpha val="32000"/>
                </a:srgbClr>
              </a:gs>
              <a:gs pos="0">
                <a:srgbClr val="F57359">
                  <a:lumMod val="20000"/>
                  <a:lumOff val="80000"/>
                  <a:alpha val="0"/>
                </a:srgb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100000">
                  <a:srgbClr val="F57359">
                    <a:lumMod val="40000"/>
                    <a:lumOff val="60000"/>
                  </a:srgbClr>
                </a:gs>
                <a:gs pos="0">
                  <a:srgbClr val="F57359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7" name="米菲PPT7"/>
          <p:cNvSpPr/>
          <p:nvPr/>
        </p:nvSpPr>
        <p:spPr>
          <a:xfrm rot="5400000" flipV="1">
            <a:off x="4653381" y="3280232"/>
            <a:ext cx="188192" cy="80287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8" name="米菲PPT8"/>
          <p:cNvSpPr/>
          <p:nvPr/>
        </p:nvSpPr>
        <p:spPr>
          <a:xfrm rot="5400000" flipV="1">
            <a:off x="4364325" y="2032464"/>
            <a:ext cx="188192" cy="80287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9" name="米菲PPT9"/>
          <p:cNvSpPr/>
          <p:nvPr/>
        </p:nvSpPr>
        <p:spPr>
          <a:xfrm>
            <a:off x="1304652" y="3497562"/>
            <a:ext cx="1776510" cy="889928"/>
          </a:xfrm>
          <a:custGeom>
            <a:avLst/>
            <a:gdLst>
              <a:gd name="connsiteX0" fmla="*/ 392463 w 2272562"/>
              <a:gd name="connsiteY0" fmla="*/ 0 h 1138418"/>
              <a:gd name="connsiteX1" fmla="*/ 2272562 w 2272562"/>
              <a:gd name="connsiteY1" fmla="*/ 0 h 1138418"/>
              <a:gd name="connsiteX2" fmla="*/ 2272562 w 2272562"/>
              <a:gd name="connsiteY2" fmla="*/ 1138418 h 1138418"/>
              <a:gd name="connsiteX3" fmla="*/ 1482 w 2272562"/>
              <a:gd name="connsiteY3" fmla="*/ 1138418 h 1138418"/>
              <a:gd name="connsiteX4" fmla="*/ 0 w 2272562"/>
              <a:gd name="connsiteY4" fmla="*/ 1136514 h 1138418"/>
              <a:gd name="connsiteX5" fmla="*/ 38580 w 2272562"/>
              <a:gd name="connsiteY5" fmla="*/ 1086942 h 1138418"/>
              <a:gd name="connsiteX6" fmla="*/ 383366 w 2272562"/>
              <a:gd name="connsiteY6" fmla="*/ 173097 h 1138418"/>
              <a:gd name="connsiteX7" fmla="*/ 392463 w 2272562"/>
              <a:gd name="connsiteY7" fmla="*/ 0 h 1138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2562" h="1138418">
                <a:moveTo>
                  <a:pt x="392463" y="0"/>
                </a:moveTo>
                <a:lnTo>
                  <a:pt x="2272562" y="0"/>
                </a:lnTo>
                <a:lnTo>
                  <a:pt x="2272562" y="1138418"/>
                </a:lnTo>
                <a:lnTo>
                  <a:pt x="1482" y="1138418"/>
                </a:lnTo>
                <a:lnTo>
                  <a:pt x="0" y="1136514"/>
                </a:lnTo>
                <a:lnTo>
                  <a:pt x="38580" y="1086942"/>
                </a:lnTo>
                <a:cubicBezTo>
                  <a:pt x="225635" y="820907"/>
                  <a:pt x="347830" y="509310"/>
                  <a:pt x="383366" y="173097"/>
                </a:cubicBezTo>
                <a:lnTo>
                  <a:pt x="392463" y="0"/>
                </a:lnTo>
                <a:close/>
              </a:path>
            </a:pathLst>
          </a:custGeom>
          <a:gradFill>
            <a:gsLst>
              <a:gs pos="46000">
                <a:srgbClr val="FCA072">
                  <a:alpha val="0"/>
                </a:srgbClr>
              </a:gs>
              <a:gs pos="100000">
                <a:srgbClr val="FCA072">
                  <a:alpha val="18000"/>
                </a:srgb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2000">
                  <a:srgbClr val="FCA072">
                    <a:alpha val="0"/>
                  </a:srgbClr>
                </a:gs>
                <a:gs pos="100000">
                  <a:srgbClr val="FCA072"/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0" name="米菲PPT10"/>
          <p:cNvSpPr/>
          <p:nvPr/>
        </p:nvSpPr>
        <p:spPr>
          <a:xfrm rot="5400000" flipV="1">
            <a:off x="1981483" y="3280232"/>
            <a:ext cx="188192" cy="80287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1" name="米菲PPT11"/>
          <p:cNvSpPr/>
          <p:nvPr/>
        </p:nvSpPr>
        <p:spPr>
          <a:xfrm>
            <a:off x="1144607" y="2376345"/>
            <a:ext cx="1936555" cy="889928"/>
          </a:xfrm>
          <a:custGeom>
            <a:avLst/>
            <a:gdLst>
              <a:gd name="connsiteX0" fmla="*/ 409470 w 2477296"/>
              <a:gd name="connsiteY0" fmla="*/ 0 h 1138418"/>
              <a:gd name="connsiteX1" fmla="*/ 2477296 w 2477296"/>
              <a:gd name="connsiteY1" fmla="*/ 0 h 1138418"/>
              <a:gd name="connsiteX2" fmla="*/ 2477296 w 2477296"/>
              <a:gd name="connsiteY2" fmla="*/ 1138418 h 1138418"/>
              <a:gd name="connsiteX3" fmla="*/ 578578 w 2477296"/>
              <a:gd name="connsiteY3" fmla="*/ 1138418 h 1138418"/>
              <a:gd name="connsiteX4" fmla="*/ 556554 w 2477296"/>
              <a:gd name="connsiteY4" fmla="*/ 999760 h 1138418"/>
              <a:gd name="connsiteX5" fmla="*/ 243314 w 2477296"/>
              <a:gd name="connsiteY5" fmla="*/ 284521 h 1138418"/>
              <a:gd name="connsiteX6" fmla="*/ 204734 w 2477296"/>
              <a:gd name="connsiteY6" fmla="*/ 234949 h 1138418"/>
              <a:gd name="connsiteX7" fmla="*/ 204734 w 2477296"/>
              <a:gd name="connsiteY7" fmla="*/ 234949 h 1138418"/>
              <a:gd name="connsiteX8" fmla="*/ 123474 w 2477296"/>
              <a:gd name="connsiteY8" fmla="*/ 130536 h 1138418"/>
              <a:gd name="connsiteX9" fmla="*/ 0 w 2477296"/>
              <a:gd name="connsiteY9" fmla="*/ 1 h 1138418"/>
              <a:gd name="connsiteX10" fmla="*/ 409469 w 2477296"/>
              <a:gd name="connsiteY10" fmla="*/ 1 h 1138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77296" h="1138418">
                <a:moveTo>
                  <a:pt x="409470" y="0"/>
                </a:moveTo>
                <a:lnTo>
                  <a:pt x="2477296" y="0"/>
                </a:lnTo>
                <a:lnTo>
                  <a:pt x="2477296" y="1138418"/>
                </a:lnTo>
                <a:lnTo>
                  <a:pt x="578578" y="1138418"/>
                </a:lnTo>
                <a:lnTo>
                  <a:pt x="556554" y="999760"/>
                </a:lnTo>
                <a:cubicBezTo>
                  <a:pt x="501092" y="739337"/>
                  <a:pt x="392958" y="497349"/>
                  <a:pt x="243314" y="284521"/>
                </a:cubicBezTo>
                <a:lnTo>
                  <a:pt x="204734" y="234949"/>
                </a:lnTo>
                <a:lnTo>
                  <a:pt x="204734" y="234949"/>
                </a:lnTo>
                <a:lnTo>
                  <a:pt x="123474" y="130536"/>
                </a:lnTo>
                <a:lnTo>
                  <a:pt x="0" y="1"/>
                </a:lnTo>
                <a:lnTo>
                  <a:pt x="409469" y="1"/>
                </a:lnTo>
                <a:close/>
              </a:path>
            </a:pathLst>
          </a:custGeom>
          <a:gradFill>
            <a:gsLst>
              <a:gs pos="46000">
                <a:srgbClr val="FCA072">
                  <a:alpha val="0"/>
                </a:srgbClr>
              </a:gs>
              <a:gs pos="100000">
                <a:srgbClr val="FCA072">
                  <a:alpha val="18000"/>
                </a:srgbClr>
              </a:gs>
            </a:gsLst>
            <a:lin ang="10800000" scaled="1"/>
          </a:gradFill>
          <a:ln w="6350" cap="flat" cmpd="sng" algn="ctr">
            <a:gradFill flip="none" rotWithShape="1">
              <a:gsLst>
                <a:gs pos="2000">
                  <a:srgbClr val="FCA072">
                    <a:alpha val="0"/>
                  </a:srgbClr>
                </a:gs>
                <a:gs pos="100000">
                  <a:srgbClr val="FCA072"/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2" name="米菲PPT12"/>
          <p:cNvSpPr/>
          <p:nvPr/>
        </p:nvSpPr>
        <p:spPr>
          <a:xfrm rot="5400000" flipV="1">
            <a:off x="1727767" y="2175617"/>
            <a:ext cx="188192" cy="80287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3" name="米菲PPT50"/>
          <p:cNvSpPr/>
          <p:nvPr/>
        </p:nvSpPr>
        <p:spPr>
          <a:xfrm>
            <a:off x="294010" y="1999210"/>
            <a:ext cx="2144538" cy="44758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defTabSz="457200"/>
            <a:r>
              <a:rPr lang="zh-CN" altLang="en-US" sz="105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「美团 </a:t>
            </a:r>
            <a:r>
              <a:rPr lang="en-US" altLang="zh-CN" sz="105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VS</a:t>
            </a:r>
            <a:r>
              <a:rPr lang="zh-CN" altLang="en-US" sz="105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点评榜单 差异化维度」</a:t>
            </a:r>
            <a:endParaRPr lang="zh-CN" altLang="en-US" sz="1050" dirty="0">
              <a:solidFill>
                <a:prstClr val="white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67" name="米菲PPT54"/>
          <p:cNvSpPr/>
          <p:nvPr/>
        </p:nvSpPr>
        <p:spPr>
          <a:xfrm>
            <a:off x="276120" y="3013760"/>
            <a:ext cx="804377" cy="804377"/>
          </a:xfrm>
          <a:prstGeom prst="ellipse">
            <a:avLst/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8" name="米菲PPT55"/>
          <p:cNvSpPr txBox="1"/>
          <p:nvPr/>
        </p:nvSpPr>
        <p:spPr>
          <a:xfrm>
            <a:off x="278582" y="3190555"/>
            <a:ext cx="799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用户</a:t>
            </a:r>
            <a:endParaRPr lang="en-US" altLang="zh-CN" sz="1100" dirty="0">
              <a:solidFill>
                <a:prstClr val="white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defTabSz="457200"/>
            <a:r>
              <a:rPr lang="zh-CN" altLang="en-US" sz="11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满足</a:t>
            </a:r>
            <a:endParaRPr lang="en-US" altLang="zh-CN" sz="1100" dirty="0">
              <a:solidFill>
                <a:prstClr val="white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cxnSp>
        <p:nvCxnSpPr>
          <p:cNvPr id="69" name="米菲PPT56"/>
          <p:cNvCxnSpPr/>
          <p:nvPr/>
        </p:nvCxnSpPr>
        <p:spPr>
          <a:xfrm>
            <a:off x="1185254" y="3405999"/>
            <a:ext cx="179521" cy="0"/>
          </a:xfrm>
          <a:prstGeom prst="straightConnector1">
            <a:avLst/>
          </a:prstGeom>
          <a:noFill/>
          <a:ln w="15875" cap="flat" cmpd="sng" algn="ctr">
            <a:solidFill>
              <a:srgbClr val="FCA07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米菲PPT57"/>
          <p:cNvSpPr txBox="1"/>
          <p:nvPr/>
        </p:nvSpPr>
        <p:spPr>
          <a:xfrm>
            <a:off x="1522313" y="2471562"/>
            <a:ext cx="7058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b="1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城市差异</a:t>
            </a:r>
            <a:endParaRPr lang="zh-CN" altLang="en-US" sz="900" b="1" dirty="0">
              <a:solidFill>
                <a:prstClr val="white"/>
              </a:solidFill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71" name="米菲PPT58"/>
          <p:cNvSpPr txBox="1"/>
          <p:nvPr/>
        </p:nvSpPr>
        <p:spPr>
          <a:xfrm>
            <a:off x="1588281" y="2725891"/>
            <a:ext cx="1663349" cy="48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美团：</a:t>
            </a:r>
            <a:r>
              <a:rPr lang="zh-CN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低线城市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的覆盖更高</a:t>
            </a:r>
            <a:endParaRPr lang="en-US" altLang="zh-CN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点评：主要覆盖一二线</a:t>
            </a:r>
            <a:endParaRPr lang="zh-CN" altLang="en-US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2" name="米菲PPT59"/>
          <p:cNvSpPr/>
          <p:nvPr/>
        </p:nvSpPr>
        <p:spPr>
          <a:xfrm>
            <a:off x="2919797" y="3013760"/>
            <a:ext cx="804377" cy="804377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3" name="米菲PPT60"/>
          <p:cNvSpPr/>
          <p:nvPr/>
        </p:nvSpPr>
        <p:spPr>
          <a:xfrm>
            <a:off x="1798829" y="2208160"/>
            <a:ext cx="2316845" cy="2514990"/>
          </a:xfrm>
          <a:prstGeom prst="arc">
            <a:avLst>
              <a:gd name="adj1" fmla="val 18134975"/>
              <a:gd name="adj2" fmla="val 3197918"/>
            </a:avLst>
          </a:prstGeom>
          <a:noFill/>
          <a:ln w="12700" cap="flat" cmpd="sng" algn="ctr">
            <a:solidFill>
              <a:sysClr val="window" lastClr="FFFFFF">
                <a:lumMod val="85000"/>
                <a:alpha val="44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4" name="米菲PPT61"/>
          <p:cNvSpPr txBox="1"/>
          <p:nvPr/>
        </p:nvSpPr>
        <p:spPr>
          <a:xfrm>
            <a:off x="2922259" y="3190534"/>
            <a:ext cx="799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商户</a:t>
            </a:r>
            <a:endParaRPr lang="en-US" altLang="zh-CN" sz="1100" dirty="0">
              <a:solidFill>
                <a:prstClr val="white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defTabSz="457200"/>
            <a:r>
              <a:rPr lang="zh-CN" altLang="en-US" sz="11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需求</a:t>
            </a:r>
            <a:endParaRPr lang="zh-CN" altLang="en-US" sz="1100" dirty="0">
              <a:solidFill>
                <a:prstClr val="white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cxnSp>
        <p:nvCxnSpPr>
          <p:cNvPr id="75" name="米菲PPT62"/>
          <p:cNvCxnSpPr/>
          <p:nvPr/>
        </p:nvCxnSpPr>
        <p:spPr>
          <a:xfrm>
            <a:off x="3828927" y="3405999"/>
            <a:ext cx="179521" cy="0"/>
          </a:xfrm>
          <a:prstGeom prst="straightConnector1">
            <a:avLst/>
          </a:prstGeom>
          <a:noFill/>
          <a:ln w="15875" cap="flat" cmpd="sng" algn="ctr">
            <a:solidFill>
              <a:srgbClr val="F5735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6" name="米菲PPT63"/>
          <p:cNvSpPr txBox="1"/>
          <p:nvPr/>
        </p:nvSpPr>
        <p:spPr>
          <a:xfrm>
            <a:off x="4147380" y="2327891"/>
            <a:ext cx="858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b="1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流量爆发</a:t>
            </a:r>
            <a:endParaRPr lang="zh-CN" altLang="en-US" sz="900" b="1" dirty="0">
              <a:solidFill>
                <a:prstClr val="white"/>
              </a:solidFill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77" name="米菲PPT64"/>
          <p:cNvSpPr txBox="1"/>
          <p:nvPr/>
        </p:nvSpPr>
        <p:spPr>
          <a:xfrm>
            <a:off x="4426732" y="3569880"/>
            <a:ext cx="6421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900" b="1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可运营</a:t>
            </a:r>
            <a:endParaRPr lang="zh-CN" altLang="en-US" sz="900" b="1" dirty="0">
              <a:solidFill>
                <a:prstClr val="white"/>
              </a:solidFill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78" name="米菲PPT65"/>
          <p:cNvSpPr txBox="1"/>
          <p:nvPr/>
        </p:nvSpPr>
        <p:spPr>
          <a:xfrm>
            <a:off x="4301923" y="3819376"/>
            <a:ext cx="2486144" cy="48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美团：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通过</a:t>
            </a:r>
            <a:r>
              <a:rPr lang="zh-CN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指数榜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扩覆盖（实时性、灵活性）</a:t>
            </a:r>
            <a:endParaRPr lang="en-US" altLang="zh-CN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通过心智榜建影响力</a:t>
            </a:r>
            <a:endParaRPr lang="zh-CN" altLang="en-US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79" name="米菲PPT66"/>
          <p:cNvSpPr/>
          <p:nvPr/>
        </p:nvSpPr>
        <p:spPr>
          <a:xfrm>
            <a:off x="5918803" y="3013760"/>
            <a:ext cx="804377" cy="804377"/>
          </a:xfrm>
          <a:prstGeom prst="ellipse">
            <a:avLst/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0" name="米菲PPT67"/>
          <p:cNvSpPr/>
          <p:nvPr/>
        </p:nvSpPr>
        <p:spPr>
          <a:xfrm>
            <a:off x="4612974" y="2161898"/>
            <a:ext cx="2549032" cy="2650208"/>
          </a:xfrm>
          <a:prstGeom prst="arc">
            <a:avLst>
              <a:gd name="adj1" fmla="val 17772964"/>
              <a:gd name="adj2" fmla="val 3401863"/>
            </a:avLst>
          </a:prstGeom>
          <a:noFill/>
          <a:ln w="12700" cap="flat" cmpd="sng" algn="ctr">
            <a:solidFill>
              <a:sysClr val="window" lastClr="FFFFFF">
                <a:lumMod val="85000"/>
                <a:alpha val="44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1" name="米菲PPT68"/>
          <p:cNvSpPr txBox="1"/>
          <p:nvPr/>
        </p:nvSpPr>
        <p:spPr>
          <a:xfrm>
            <a:off x="5921260" y="3189874"/>
            <a:ext cx="799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平台</a:t>
            </a:r>
            <a:endParaRPr lang="en-US" altLang="zh-CN" sz="1100" dirty="0">
              <a:solidFill>
                <a:prstClr val="white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defTabSz="457200"/>
            <a:r>
              <a:rPr lang="zh-CN" altLang="en-US" sz="11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价值</a:t>
            </a:r>
            <a:endParaRPr lang="zh-CN" altLang="en-US" sz="1100" dirty="0">
              <a:solidFill>
                <a:prstClr val="white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cxnSp>
        <p:nvCxnSpPr>
          <p:cNvPr id="82" name="米菲PPT69"/>
          <p:cNvCxnSpPr/>
          <p:nvPr/>
        </p:nvCxnSpPr>
        <p:spPr>
          <a:xfrm>
            <a:off x="6827937" y="3405999"/>
            <a:ext cx="179521" cy="0"/>
          </a:xfrm>
          <a:prstGeom prst="straightConnector1">
            <a:avLst/>
          </a:prstGeom>
          <a:noFill/>
          <a:ln w="15875" cap="flat" cmpd="sng" algn="ctr">
            <a:solidFill>
              <a:srgbClr val="62799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3" name="米菲PPT70"/>
          <p:cNvSpPr txBox="1"/>
          <p:nvPr/>
        </p:nvSpPr>
        <p:spPr>
          <a:xfrm>
            <a:off x="7316543" y="2531165"/>
            <a:ext cx="1650326" cy="48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美团：沉淀</a:t>
            </a:r>
            <a:r>
              <a:rPr lang="zh-CN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交履服务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资产</a:t>
            </a:r>
            <a:endParaRPr lang="en-US" altLang="zh-CN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点评：沉淀星评打卡资产</a:t>
            </a:r>
            <a:endParaRPr lang="zh-CN" altLang="en-US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84" name="米菲PPT71"/>
          <p:cNvSpPr txBox="1"/>
          <p:nvPr/>
        </p:nvSpPr>
        <p:spPr>
          <a:xfrm>
            <a:off x="7273182" y="3748629"/>
            <a:ext cx="1649297" cy="69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美团：让用户“找到好”，</a:t>
            </a:r>
            <a:endParaRPr lang="en-US" altLang="zh-CN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              更能</a:t>
            </a:r>
            <a:r>
              <a:rPr lang="zh-CN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 “吃的着”</a:t>
            </a:r>
            <a:endParaRPr lang="en-US" altLang="zh-CN" sz="900" b="1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点评：更注重“找好店”</a:t>
            </a:r>
            <a:endParaRPr lang="zh-CN" altLang="en-US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85" name="米菲PPT72"/>
          <p:cNvSpPr txBox="1"/>
          <p:nvPr/>
        </p:nvSpPr>
        <p:spPr>
          <a:xfrm>
            <a:off x="1754034" y="3569875"/>
            <a:ext cx="642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b="1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场景差异</a:t>
            </a:r>
            <a:endParaRPr lang="zh-CN" altLang="en-US" sz="900" b="1" dirty="0">
              <a:solidFill>
                <a:prstClr val="white"/>
              </a:solidFill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86" name="米菲PPT73"/>
          <p:cNvSpPr txBox="1"/>
          <p:nvPr/>
        </p:nvSpPr>
        <p:spPr>
          <a:xfrm>
            <a:off x="1620569" y="3822758"/>
            <a:ext cx="2379437" cy="48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美团：快速决策效率场（时令、异地、周期）</a:t>
            </a:r>
            <a:endParaRPr lang="en-US" altLang="zh-CN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点评：发现种草品质场</a:t>
            </a:r>
            <a:endParaRPr lang="zh-CN" altLang="en-US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8" name="米菲PPT76"/>
          <p:cNvSpPr txBox="1"/>
          <p:nvPr/>
        </p:nvSpPr>
        <p:spPr>
          <a:xfrm>
            <a:off x="4301915" y="2554286"/>
            <a:ext cx="1914529" cy="48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美团：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需要短期流量爆发</a:t>
            </a:r>
            <a:endParaRPr lang="en-US" altLang="zh-CN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</a:t>
            </a:r>
            <a:r>
              <a:rPr lang="zh-CN" alt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追求长期口碑沉淀</a:t>
            </a:r>
            <a:endParaRPr lang="zh-CN" altLang="en-US" sz="9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90" name="米菲PPT78"/>
          <p:cNvSpPr/>
          <p:nvPr/>
        </p:nvSpPr>
        <p:spPr>
          <a:xfrm>
            <a:off x="1303489" y="4386003"/>
            <a:ext cx="2317" cy="1487"/>
          </a:xfrm>
          <a:custGeom>
            <a:avLst/>
            <a:gdLst>
              <a:gd name="connsiteX0" fmla="*/ 1482 w 2964"/>
              <a:gd name="connsiteY0" fmla="*/ 0 h 1904"/>
              <a:gd name="connsiteX1" fmla="*/ 2964 w 2964"/>
              <a:gd name="connsiteY1" fmla="*/ 1904 h 1904"/>
              <a:gd name="connsiteX2" fmla="*/ 0 w 2964"/>
              <a:gd name="connsiteY2" fmla="*/ 1904 h 1904"/>
              <a:gd name="connsiteX3" fmla="*/ 1482 w 2964"/>
              <a:gd name="connsiteY3" fmla="*/ 0 h 1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4" h="1904">
                <a:moveTo>
                  <a:pt x="1482" y="0"/>
                </a:moveTo>
                <a:lnTo>
                  <a:pt x="2964" y="1904"/>
                </a:lnTo>
                <a:lnTo>
                  <a:pt x="0" y="1904"/>
                </a:lnTo>
                <a:lnTo>
                  <a:pt x="1482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solidFill>
              <a:srgbClr val="62799C">
                <a:shade val="15000"/>
              </a:srgbClr>
            </a:solidFill>
            <a:prstDash val="dash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1" name="米菲PPT79"/>
          <p:cNvSpPr/>
          <p:nvPr/>
        </p:nvSpPr>
        <p:spPr>
          <a:xfrm rot="5400000" flipV="1">
            <a:off x="7355411" y="2002907"/>
            <a:ext cx="188192" cy="802873"/>
          </a:xfrm>
          <a:prstGeom prst="roundRect">
            <a:avLst>
              <a:gd name="adj" fmla="val 49607"/>
            </a:avLst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3" name="米菲PPT81"/>
          <p:cNvSpPr/>
          <p:nvPr/>
        </p:nvSpPr>
        <p:spPr>
          <a:xfrm rot="5400000" flipV="1">
            <a:off x="7766627" y="3241031"/>
            <a:ext cx="188192" cy="802873"/>
          </a:xfrm>
          <a:prstGeom prst="roundRect">
            <a:avLst>
              <a:gd name="adj" fmla="val 49607"/>
            </a:avLst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4" name="米菲PPT82"/>
          <p:cNvSpPr txBox="1"/>
          <p:nvPr/>
        </p:nvSpPr>
        <p:spPr>
          <a:xfrm>
            <a:off x="7154271" y="2297227"/>
            <a:ext cx="901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b="1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资产沉淀</a:t>
            </a:r>
            <a:endParaRPr lang="zh-CN" altLang="en-US" sz="900" b="1" dirty="0">
              <a:solidFill>
                <a:prstClr val="white"/>
              </a:solidFill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5" name="米菲PPT83"/>
          <p:cNvSpPr txBox="1"/>
          <p:nvPr/>
        </p:nvSpPr>
        <p:spPr>
          <a:xfrm>
            <a:off x="7501564" y="3528417"/>
            <a:ext cx="901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900" b="1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用户心智</a:t>
            </a:r>
            <a:endParaRPr lang="zh-CN" altLang="en-US" sz="900" b="1" dirty="0">
              <a:solidFill>
                <a:prstClr val="white"/>
              </a:solidFill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7" name="米菲PPT85"/>
          <p:cNvSpPr/>
          <p:nvPr/>
        </p:nvSpPr>
        <p:spPr>
          <a:xfrm>
            <a:off x="2075400" y="1946023"/>
            <a:ext cx="184297" cy="188991"/>
          </a:xfrm>
          <a:prstGeom prst="roundRect">
            <a:avLst>
              <a:gd name="adj" fmla="val 50000"/>
            </a:avLst>
          </a:prstGeom>
          <a:solidFill>
            <a:srgbClr val="FCA072">
              <a:lumMod val="20000"/>
              <a:lumOff val="80000"/>
              <a:alpha val="27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8" name="米菲PPT86"/>
          <p:cNvSpPr/>
          <p:nvPr/>
        </p:nvSpPr>
        <p:spPr>
          <a:xfrm>
            <a:off x="1865783" y="1944920"/>
            <a:ext cx="78081" cy="80070"/>
          </a:xfrm>
          <a:prstGeom prst="roundRect">
            <a:avLst>
              <a:gd name="adj" fmla="val 50000"/>
            </a:avLst>
          </a:prstGeom>
          <a:solidFill>
            <a:srgbClr val="FCA072">
              <a:lumMod val="20000"/>
              <a:lumOff val="80000"/>
              <a:alpha val="27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9" name="米菲PPT87"/>
          <p:cNvSpPr/>
          <p:nvPr/>
        </p:nvSpPr>
        <p:spPr>
          <a:xfrm rot="16200000">
            <a:off x="67659" y="2041951"/>
            <a:ext cx="194459" cy="149399"/>
          </a:xfrm>
          <a:custGeom>
            <a:avLst/>
            <a:gdLst>
              <a:gd name="connsiteX0" fmla="*/ 248755 w 248755"/>
              <a:gd name="connsiteY0" fmla="*/ 11861 h 191112"/>
              <a:gd name="connsiteX1" fmla="*/ 248754 w 248755"/>
              <a:gd name="connsiteY1" fmla="*/ 20546 h 191112"/>
              <a:gd name="connsiteX2" fmla="*/ 78188 w 248755"/>
              <a:gd name="connsiteY2" fmla="*/ 191112 h 191112"/>
              <a:gd name="connsiteX3" fmla="*/ 78189 w 248755"/>
              <a:gd name="connsiteY3" fmla="*/ 191111 h 191112"/>
              <a:gd name="connsiteX4" fmla="*/ 11797 w 248755"/>
              <a:gd name="connsiteY4" fmla="*/ 177707 h 191112"/>
              <a:gd name="connsiteX5" fmla="*/ 0 w 248755"/>
              <a:gd name="connsiteY5" fmla="*/ 169754 h 191112"/>
              <a:gd name="connsiteX6" fmla="*/ 0 w 248755"/>
              <a:gd name="connsiteY6" fmla="*/ 0 h 191112"/>
              <a:gd name="connsiteX7" fmla="*/ 246360 w 248755"/>
              <a:gd name="connsiteY7" fmla="*/ 0 h 19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8755" h="191112">
                <a:moveTo>
                  <a:pt x="248755" y="11861"/>
                </a:moveTo>
                <a:cubicBezTo>
                  <a:pt x="248755" y="14756"/>
                  <a:pt x="248754" y="17651"/>
                  <a:pt x="248754" y="20546"/>
                </a:cubicBezTo>
                <a:cubicBezTo>
                  <a:pt x="248754" y="114747"/>
                  <a:pt x="172389" y="191112"/>
                  <a:pt x="78188" y="191112"/>
                </a:cubicBezTo>
                <a:lnTo>
                  <a:pt x="78189" y="191111"/>
                </a:lnTo>
                <a:cubicBezTo>
                  <a:pt x="54639" y="191111"/>
                  <a:pt x="32203" y="186338"/>
                  <a:pt x="11797" y="177707"/>
                </a:cubicBezTo>
                <a:lnTo>
                  <a:pt x="0" y="169754"/>
                </a:lnTo>
                <a:lnTo>
                  <a:pt x="0" y="0"/>
                </a:lnTo>
                <a:lnTo>
                  <a:pt x="246360" y="0"/>
                </a:lnTo>
                <a:close/>
              </a:path>
            </a:pathLst>
          </a:custGeom>
          <a:solidFill>
            <a:srgbClr val="FCA072">
              <a:lumMod val="20000"/>
              <a:lumOff val="80000"/>
              <a:alpha val="11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04" name="米菲PPT32-1"/>
          <p:cNvSpPr/>
          <p:nvPr/>
        </p:nvSpPr>
        <p:spPr>
          <a:xfrm>
            <a:off x="3667245" y="561003"/>
            <a:ext cx="956303" cy="956304"/>
          </a:xfrm>
          <a:prstGeom prst="ellipse">
            <a:avLst/>
          </a:prstGeom>
          <a:gradFill>
            <a:gsLst>
              <a:gs pos="0">
                <a:srgbClr val="F57359">
                  <a:lumMod val="89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prstClr val="white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用户差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05" name="米菲PPT32-2"/>
          <p:cNvSpPr/>
          <p:nvPr/>
        </p:nvSpPr>
        <p:spPr>
          <a:xfrm>
            <a:off x="5183901" y="561003"/>
            <a:ext cx="956303" cy="956304"/>
          </a:xfrm>
          <a:prstGeom prst="ellipse">
            <a:avLst/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指数榜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06" name="米菲PPT32-3"/>
          <p:cNvSpPr/>
          <p:nvPr/>
        </p:nvSpPr>
        <p:spPr>
          <a:xfrm>
            <a:off x="4744949" y="859966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60000"/>
                  <a:lumOff val="40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/>
              <a:cs typeface="MiSans Medium" panose="00000600000000000000" pitchFamily="2" charset="-122"/>
            </a:endParaRPr>
          </a:p>
        </p:txBody>
      </p:sp>
      <p:sp>
        <p:nvSpPr>
          <p:cNvPr id="108" name="米菲PPT32-3"/>
          <p:cNvSpPr/>
          <p:nvPr/>
        </p:nvSpPr>
        <p:spPr>
          <a:xfrm>
            <a:off x="6261605" y="885596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60000"/>
                  <a:lumOff val="40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/>
              <a:cs typeface="MiSans Medium" panose="00000600000000000000" pitchFamily="2" charset="-122"/>
            </a:endParaRPr>
          </a:p>
        </p:txBody>
      </p:sp>
      <p:sp>
        <p:nvSpPr>
          <p:cNvPr id="109" name="米菲PPT32-1"/>
          <p:cNvSpPr/>
          <p:nvPr/>
        </p:nvSpPr>
        <p:spPr>
          <a:xfrm>
            <a:off x="6700557" y="548221"/>
            <a:ext cx="956303" cy="956304"/>
          </a:xfrm>
          <a:prstGeom prst="ellipse">
            <a:avLst/>
          </a:prstGeom>
          <a:gradFill>
            <a:gsLst>
              <a:gs pos="0">
                <a:srgbClr val="F57359">
                  <a:lumMod val="89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交履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产品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12" name="米菲PPT26-1"/>
          <p:cNvSpPr/>
          <p:nvPr/>
        </p:nvSpPr>
        <p:spPr>
          <a:xfrm rot="5400000" flipV="1">
            <a:off x="1771010" y="209054"/>
            <a:ext cx="493518" cy="1719323"/>
          </a:xfrm>
          <a:prstGeom prst="roundRect">
            <a:avLst>
              <a:gd name="adj" fmla="val 11974"/>
            </a:avLst>
          </a:prstGeom>
          <a:gradFill flip="none" rotWithShape="1">
            <a:gsLst>
              <a:gs pos="0">
                <a:srgbClr val="F57359">
                  <a:lumMod val="88000"/>
                </a:srgbClr>
              </a:gs>
              <a:gs pos="100000">
                <a:srgbClr val="F57359"/>
              </a:gs>
            </a:gsLst>
            <a:lin ang="198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vert="eaVert" rtlCol="0" anchor="ctr"/>
          <a:lstStyle/>
          <a:p>
            <a:pPr algn="ctr" defTabSz="457200"/>
            <a:r>
              <a:rPr lang="zh-CN" altLang="en-US" sz="1600" b="1" kern="0" dirty="0">
                <a:solidFill>
                  <a:prstClr val="white"/>
                </a:solidFill>
                <a:latin typeface="MiSans Medium"/>
                <a:ea typeface="MiSans Medium"/>
              </a:rPr>
              <a:t>美团榜单</a:t>
            </a:r>
            <a:endParaRPr lang="zh-CN" altLang="en-US" sz="1600" b="1" kern="0" dirty="0">
              <a:solidFill>
                <a:prstClr val="white"/>
              </a:solidFill>
              <a:latin typeface="MiSans Medium"/>
              <a:ea typeface="MiSans Medium"/>
            </a:endParaRPr>
          </a:p>
        </p:txBody>
      </p:sp>
      <p:sp>
        <p:nvSpPr>
          <p:cNvPr id="124" name="等于 123"/>
          <p:cNvSpPr/>
          <p:nvPr/>
        </p:nvSpPr>
        <p:spPr>
          <a:xfrm>
            <a:off x="3025826" y="821956"/>
            <a:ext cx="493024" cy="429879"/>
          </a:xfrm>
          <a:prstGeom prst="mathEqual">
            <a:avLst/>
          </a:prstGeom>
          <a:solidFill>
            <a:srgbClr val="FDB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0" imgH="0" progId="TCLayout.ActiveDocument.1">
                  <p:embed/>
                </p:oleObj>
              </mc:Choice>
              <mc:Fallback>
                <p:oleObj name="think-cell 幻灯片" r:id="rId2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资产运营价值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308706" y="430064"/>
            <a:ext cx="8637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榜单资产现阶段</a:t>
            </a:r>
            <a:r>
              <a:rPr lang="en-US" altLang="zh-CN" sz="1200" b="1" dirty="0"/>
              <a:t>PMF</a:t>
            </a:r>
            <a:r>
              <a:rPr lang="zh-CN" altLang="en-US" sz="1200" b="1" dirty="0"/>
              <a:t>为“在特定用餐场景下，面临信息过载而决策困难”的活跃用户，提供“场景化、高置信度的精选榜单与快捷交易服务”。</a:t>
            </a:r>
            <a:r>
              <a:rPr lang="zh-CN" altLang="en-US" sz="1200" dirty="0"/>
              <a:t> 建设具备公信力、满足更多用户需求，更丰富的场景覆盖矩阵，带动商家精准客流，驱动商家品效合一。</a:t>
            </a:r>
            <a:endParaRPr lang="zh-CN" altLang="en-US" sz="1200" dirty="0"/>
          </a:p>
        </p:txBody>
      </p:sp>
      <p:sp>
        <p:nvSpPr>
          <p:cNvPr id="61" name="米菲PPT7"/>
          <p:cNvSpPr/>
          <p:nvPr/>
        </p:nvSpPr>
        <p:spPr>
          <a:xfrm flipV="1">
            <a:off x="4866513" y="1507697"/>
            <a:ext cx="3927703" cy="2370576"/>
          </a:xfrm>
          <a:custGeom>
            <a:avLst/>
            <a:gdLst>
              <a:gd name="connsiteX0" fmla="*/ 0 w 2015092"/>
              <a:gd name="connsiteY0" fmla="*/ 4357800 h 4357800"/>
              <a:gd name="connsiteX1" fmla="*/ 2015092 w 2015092"/>
              <a:gd name="connsiteY1" fmla="*/ 4357800 h 4357800"/>
              <a:gd name="connsiteX2" fmla="*/ 2015092 w 2015092"/>
              <a:gd name="connsiteY2" fmla="*/ 0 h 4357800"/>
              <a:gd name="connsiteX3" fmla="*/ 0 w 2015092"/>
              <a:gd name="connsiteY3" fmla="*/ 0 h 43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5092" h="4357800">
                <a:moveTo>
                  <a:pt x="0" y="4357800"/>
                </a:moveTo>
                <a:lnTo>
                  <a:pt x="2015092" y="4357800"/>
                </a:lnTo>
                <a:lnTo>
                  <a:pt x="201509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20000"/>
                  <a:lumOff val="80000"/>
                </a:schemeClr>
              </a:gs>
              <a:gs pos="1000">
                <a:schemeClr val="bg1"/>
              </a:gs>
            </a:gsLst>
            <a:lin ang="5400000" scaled="1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bg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Bold" panose="00000800000000000000" pitchFamily="2" charset="-122"/>
              <a:cs typeface="MiSans Bold" panose="00000800000000000000" pitchFamily="2" charset="-122"/>
            </a:endParaRPr>
          </a:p>
        </p:txBody>
      </p:sp>
      <p:sp>
        <p:nvSpPr>
          <p:cNvPr id="62" name="米菲PPT8"/>
          <p:cNvSpPr/>
          <p:nvPr/>
        </p:nvSpPr>
        <p:spPr>
          <a:xfrm flipV="1">
            <a:off x="873890" y="1527245"/>
            <a:ext cx="3927704" cy="2510211"/>
          </a:xfrm>
          <a:custGeom>
            <a:avLst/>
            <a:gdLst>
              <a:gd name="connsiteX0" fmla="*/ 0 w 2015092"/>
              <a:gd name="connsiteY0" fmla="*/ 4357800 h 4357800"/>
              <a:gd name="connsiteX1" fmla="*/ 2015092 w 2015092"/>
              <a:gd name="connsiteY1" fmla="*/ 4357800 h 4357800"/>
              <a:gd name="connsiteX2" fmla="*/ 2015092 w 2015092"/>
              <a:gd name="connsiteY2" fmla="*/ 0 h 4357800"/>
              <a:gd name="connsiteX3" fmla="*/ 0 w 2015092"/>
              <a:gd name="connsiteY3" fmla="*/ 0 h 43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5092" h="4357800">
                <a:moveTo>
                  <a:pt x="0" y="4357800"/>
                </a:moveTo>
                <a:lnTo>
                  <a:pt x="2015092" y="4357800"/>
                </a:lnTo>
                <a:lnTo>
                  <a:pt x="201509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lumMod val="17000"/>
                  <a:lumOff val="83000"/>
                </a:schemeClr>
              </a:gs>
              <a:gs pos="1000">
                <a:schemeClr val="bg1"/>
              </a:gs>
            </a:gsLst>
            <a:lin ang="54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3" name="米菲PPT2"/>
          <p:cNvSpPr/>
          <p:nvPr/>
        </p:nvSpPr>
        <p:spPr>
          <a:xfrm>
            <a:off x="3658683" y="3751392"/>
            <a:ext cx="2327100" cy="1175389"/>
          </a:xfrm>
          <a:custGeom>
            <a:avLst/>
            <a:gdLst>
              <a:gd name="connsiteX0" fmla="*/ 10875968 w 12952487"/>
              <a:gd name="connsiteY0" fmla="*/ 1704346 h 5698448"/>
              <a:gd name="connsiteX1" fmla="*/ 12922757 w 12952487"/>
              <a:gd name="connsiteY1" fmla="*/ 5477875 h 5698448"/>
              <a:gd name="connsiteX2" fmla="*/ 12952487 w 12952487"/>
              <a:gd name="connsiteY2" fmla="*/ 5698448 h 5698448"/>
              <a:gd name="connsiteX3" fmla="*/ 11053266 w 12952487"/>
              <a:gd name="connsiteY3" fmla="*/ 5698448 h 5698448"/>
              <a:gd name="connsiteX4" fmla="*/ 11000070 w 12952487"/>
              <a:gd name="connsiteY4" fmla="*/ 5443083 h 5698448"/>
              <a:gd name="connsiteX5" fmla="*/ 9323013 w 12952487"/>
              <a:gd name="connsiteY5" fmla="*/ 2846014 h 5698448"/>
              <a:gd name="connsiteX6" fmla="*/ 10875968 w 12952487"/>
              <a:gd name="connsiteY6" fmla="*/ 1704346 h 5698448"/>
              <a:gd name="connsiteX7" fmla="*/ 2079961 w 12952487"/>
              <a:gd name="connsiteY7" fmla="*/ 1701178 h 5698448"/>
              <a:gd name="connsiteX8" fmla="*/ 3621900 w 12952487"/>
              <a:gd name="connsiteY8" fmla="*/ 2832214 h 5698448"/>
              <a:gd name="connsiteX9" fmla="*/ 1928376 w 12952487"/>
              <a:gd name="connsiteY9" fmla="*/ 5437439 h 5698448"/>
              <a:gd name="connsiteX10" fmla="*/ 1873703 w 12952487"/>
              <a:gd name="connsiteY10" fmla="*/ 5698448 h 5698448"/>
              <a:gd name="connsiteX11" fmla="*/ 0 w 12952487"/>
              <a:gd name="connsiteY11" fmla="*/ 5698448 h 5698448"/>
              <a:gd name="connsiteX12" fmla="*/ 29879 w 12952487"/>
              <a:gd name="connsiteY12" fmla="*/ 5476967 h 5698448"/>
              <a:gd name="connsiteX13" fmla="*/ 2079961 w 12952487"/>
              <a:gd name="connsiteY13" fmla="*/ 1701178 h 5698448"/>
              <a:gd name="connsiteX14" fmla="*/ 6476245 w 12952487"/>
              <a:gd name="connsiteY14" fmla="*/ 0 h 5698448"/>
              <a:gd name="connsiteX15" fmla="*/ 10738491 w 12952487"/>
              <a:gd name="connsiteY15" fmla="*/ 1582426 h 5698448"/>
              <a:gd name="connsiteX16" fmla="*/ 9178487 w 12952487"/>
              <a:gd name="connsiteY16" fmla="*/ 2738088 h 5698448"/>
              <a:gd name="connsiteX17" fmla="*/ 6463545 w 12952487"/>
              <a:gd name="connsiteY17" fmla="*/ 1866900 h 5698448"/>
              <a:gd name="connsiteX18" fmla="*/ 3767175 w 12952487"/>
              <a:gd name="connsiteY18" fmla="*/ 2724836 h 5698448"/>
              <a:gd name="connsiteX19" fmla="*/ 2217591 w 12952487"/>
              <a:gd name="connsiteY19" fmla="*/ 1579315 h 5698448"/>
              <a:gd name="connsiteX20" fmla="*/ 6476245 w 12952487"/>
              <a:gd name="connsiteY20" fmla="*/ 0 h 569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952487" h="5698448">
                <a:moveTo>
                  <a:pt x="10875968" y="1704346"/>
                </a:moveTo>
                <a:cubicBezTo>
                  <a:pt x="11939986" y="2674789"/>
                  <a:pt x="12681934" y="3992324"/>
                  <a:pt x="12922757" y="5477875"/>
                </a:cubicBezTo>
                <a:lnTo>
                  <a:pt x="12952487" y="5698448"/>
                </a:lnTo>
                <a:lnTo>
                  <a:pt x="11053266" y="5698448"/>
                </a:lnTo>
                <a:lnTo>
                  <a:pt x="11000070" y="5443083"/>
                </a:lnTo>
                <a:cubicBezTo>
                  <a:pt x="10749893" y="4395980"/>
                  <a:pt x="10146592" y="3486003"/>
                  <a:pt x="9323013" y="2846014"/>
                </a:cubicBezTo>
                <a:cubicBezTo>
                  <a:pt x="9824789" y="2417591"/>
                  <a:pt x="10362253" y="2019998"/>
                  <a:pt x="10875968" y="1704346"/>
                </a:cubicBezTo>
                <a:close/>
                <a:moveTo>
                  <a:pt x="2079961" y="1701178"/>
                </a:moveTo>
                <a:cubicBezTo>
                  <a:pt x="2589765" y="2013953"/>
                  <a:pt x="3123108" y="2407628"/>
                  <a:pt x="3621900" y="2832214"/>
                </a:cubicBezTo>
                <a:cubicBezTo>
                  <a:pt x="2790711" y="3471743"/>
                  <a:pt x="2181188" y="4385176"/>
                  <a:pt x="1928376" y="5437439"/>
                </a:cubicBezTo>
                <a:lnTo>
                  <a:pt x="1873703" y="5698448"/>
                </a:lnTo>
                <a:lnTo>
                  <a:pt x="0" y="5698448"/>
                </a:lnTo>
                <a:lnTo>
                  <a:pt x="29879" y="5476967"/>
                </a:lnTo>
                <a:cubicBezTo>
                  <a:pt x="271118" y="3990173"/>
                  <a:pt x="1014327" y="2671729"/>
                  <a:pt x="2079961" y="1701178"/>
                </a:cubicBezTo>
                <a:close/>
                <a:moveTo>
                  <a:pt x="6476245" y="0"/>
                </a:moveTo>
                <a:cubicBezTo>
                  <a:pt x="8105083" y="0"/>
                  <a:pt x="9594602" y="596265"/>
                  <a:pt x="10738491" y="1582426"/>
                </a:cubicBezTo>
                <a:cubicBezTo>
                  <a:pt x="10218553" y="1905788"/>
                  <a:pt x="9679311" y="2308015"/>
                  <a:pt x="9178487" y="2738088"/>
                </a:cubicBezTo>
                <a:cubicBezTo>
                  <a:pt x="8413756" y="2189722"/>
                  <a:pt x="7476369" y="1866900"/>
                  <a:pt x="6463545" y="1866900"/>
                </a:cubicBezTo>
                <a:cubicBezTo>
                  <a:pt x="5458923" y="1866900"/>
                  <a:pt x="4528483" y="2184527"/>
                  <a:pt x="3767175" y="2724836"/>
                </a:cubicBezTo>
                <a:cubicBezTo>
                  <a:pt x="3269113" y="2298376"/>
                  <a:pt x="2733726" y="1899882"/>
                  <a:pt x="2217591" y="1579315"/>
                </a:cubicBezTo>
                <a:cubicBezTo>
                  <a:pt x="3361023" y="595008"/>
                  <a:pt x="4849147" y="0"/>
                  <a:pt x="6476245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  <a:alpha val="0"/>
                </a:schemeClr>
              </a:gs>
            </a:gsLst>
            <a:lin ang="5400000" scaled="0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4" name="米菲PPT54"/>
          <p:cNvSpPr/>
          <p:nvPr/>
        </p:nvSpPr>
        <p:spPr>
          <a:xfrm>
            <a:off x="6056723" y="2658138"/>
            <a:ext cx="629410" cy="242828"/>
          </a:xfrm>
          <a:prstGeom prst="rightArrow">
            <a:avLst>
              <a:gd name="adj1" fmla="val 50000"/>
              <a:gd name="adj2" fmla="val 74783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5" name="米菲PPT54"/>
          <p:cNvSpPr/>
          <p:nvPr/>
        </p:nvSpPr>
        <p:spPr>
          <a:xfrm>
            <a:off x="2768346" y="2720465"/>
            <a:ext cx="550028" cy="206641"/>
          </a:xfrm>
          <a:prstGeom prst="rightArrow">
            <a:avLst>
              <a:gd name="adj1" fmla="val 50000"/>
              <a:gd name="adj2" fmla="val 74783"/>
            </a:avLst>
          </a:prstGeom>
          <a:gradFill flip="none" rotWithShape="1">
            <a:gsLst>
              <a:gs pos="79000">
                <a:schemeClr val="accent2">
                  <a:alpha val="0"/>
                </a:schemeClr>
              </a:gs>
              <a:gs pos="1000">
                <a:schemeClr val="accent2">
                  <a:lumMod val="40000"/>
                  <a:lumOff val="60000"/>
                </a:schemeClr>
              </a:gs>
            </a:gsLst>
            <a:lin ang="10800000" scaled="1"/>
            <a:tileRect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66" name="米菲PPT3"/>
          <p:cNvSpPr/>
          <p:nvPr/>
        </p:nvSpPr>
        <p:spPr>
          <a:xfrm rot="5400000" flipV="1">
            <a:off x="4843685" y="814300"/>
            <a:ext cx="525680" cy="7376450"/>
          </a:xfrm>
          <a:prstGeom prst="roundRect">
            <a:avLst>
              <a:gd name="adj" fmla="val 2925"/>
            </a:avLst>
          </a:prstGeom>
          <a:gradFill flip="none" rotWithShape="1">
            <a:gsLst>
              <a:gs pos="0">
                <a:schemeClr val="accent2">
                  <a:alpha val="65000"/>
                </a:schemeClr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7" name="米菲PPT5"/>
          <p:cNvSpPr/>
          <p:nvPr/>
        </p:nvSpPr>
        <p:spPr>
          <a:xfrm rot="5400000" flipV="1">
            <a:off x="879157" y="4237163"/>
            <a:ext cx="502523" cy="553877"/>
          </a:xfrm>
          <a:prstGeom prst="roundRect">
            <a:avLst>
              <a:gd name="adj" fmla="val 15416"/>
            </a:avLst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+mn-ea"/>
              <a:cs typeface="MiSans Bold" panose="00000800000000000000" pitchFamily="2" charset="-122"/>
            </a:endParaRPr>
          </a:p>
        </p:txBody>
      </p:sp>
      <p:sp>
        <p:nvSpPr>
          <p:cNvPr id="68" name="米菲PPT13"/>
          <p:cNvSpPr/>
          <p:nvPr/>
        </p:nvSpPr>
        <p:spPr>
          <a:xfrm>
            <a:off x="894373" y="1124654"/>
            <a:ext cx="7899843" cy="261158"/>
          </a:xfrm>
          <a:prstGeom prst="trapezoid">
            <a:avLst>
              <a:gd name="adj" fmla="val 153377"/>
            </a:avLst>
          </a:prstGeom>
          <a:gradFill>
            <a:gsLst>
              <a:gs pos="15000">
                <a:schemeClr val="accent1">
                  <a:alpha val="1000"/>
                </a:schemeClr>
              </a:gs>
              <a:gs pos="95000">
                <a:schemeClr val="accent1">
                  <a:alpha val="8000"/>
                </a:schemeClr>
              </a:gs>
            </a:gsLst>
            <a:lin ang="5400000" scaled="1"/>
          </a:gradFill>
          <a:ln w="1778">
            <a:gradFill flip="none" rotWithShape="1"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5400000" scaled="1"/>
              <a:tileRect/>
            </a:gra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5" rIns="38405" bIns="19205" rtlCol="0" anchor="ctr"/>
          <a:lstStyle/>
          <a:p>
            <a:pPr algn="ctr" defTabSz="685800">
              <a:defRPr/>
            </a:pPr>
            <a:endParaRPr lang="zh-CN" altLang="en-US" sz="900" b="1" dirty="0">
              <a:solidFill>
                <a:prstClr val="white"/>
              </a:solidFill>
              <a:latin typeface="+mn-ea"/>
              <a:cs typeface="+mn-ea"/>
            </a:endParaRPr>
          </a:p>
        </p:txBody>
      </p:sp>
      <p:sp>
        <p:nvSpPr>
          <p:cNvPr id="69" name="米菲PPT48"/>
          <p:cNvSpPr/>
          <p:nvPr/>
        </p:nvSpPr>
        <p:spPr>
          <a:xfrm>
            <a:off x="3741355" y="1129845"/>
            <a:ext cx="3244828" cy="28429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8" rIns="0" bIns="0"/>
          <a:lstStyle/>
          <a:p>
            <a:pPr marL="233045" indent="-223520" eaLnBrk="0">
              <a:lnSpc>
                <a:spcPct val="130000"/>
              </a:lnSpc>
            </a:pPr>
            <a:r>
              <a:rPr lang="zh-CN" altLang="en-US" sz="14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资产运营</a:t>
            </a:r>
            <a:r>
              <a:rPr lang="en-US" altLang="zh-CN" sz="14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 C</a:t>
            </a:r>
            <a:r>
              <a:rPr lang="zh-CN" altLang="en-US" sz="14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端运营价值</a:t>
            </a:r>
            <a:endParaRPr lang="zh-CN" altLang="en-US" sz="14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70" name="米菲PPT49"/>
          <p:cNvSpPr/>
          <p:nvPr/>
        </p:nvSpPr>
        <p:spPr>
          <a:xfrm>
            <a:off x="124607" y="2792940"/>
            <a:ext cx="772814" cy="6801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71" name="米菲PPT50"/>
          <p:cNvSpPr/>
          <p:nvPr/>
        </p:nvSpPr>
        <p:spPr>
          <a:xfrm>
            <a:off x="116303" y="1082823"/>
            <a:ext cx="760689" cy="467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eaLnBrk="0">
              <a:lnSpc>
                <a:spcPct val="83000"/>
              </a:lnSpc>
            </a:pPr>
            <a:r>
              <a: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目标</a:t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72" name="米菲PPT51"/>
          <p:cNvSpPr/>
          <p:nvPr/>
        </p:nvSpPr>
        <p:spPr>
          <a:xfrm>
            <a:off x="883236" y="4375873"/>
            <a:ext cx="514275" cy="16495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9000"/>
              </a:lnSpc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资产建设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rtl="0" eaLnBrk="0">
              <a:lnSpc>
                <a:spcPct val="79000"/>
              </a:lnSpc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&amp;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algn="ctr" rtl="0" eaLnBrk="0">
              <a:lnSpc>
                <a:spcPct val="79000"/>
              </a:lnSpc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多维应用</a:t>
            </a:r>
            <a:endParaRPr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cxnSp>
        <p:nvCxnSpPr>
          <p:cNvPr id="73" name="米菲PPT148"/>
          <p:cNvCxnSpPr/>
          <p:nvPr/>
        </p:nvCxnSpPr>
        <p:spPr>
          <a:xfrm flipH="1">
            <a:off x="226653" y="1392159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米菲PPT149"/>
          <p:cNvCxnSpPr/>
          <p:nvPr/>
        </p:nvCxnSpPr>
        <p:spPr>
          <a:xfrm>
            <a:off x="511010" y="1639568"/>
            <a:ext cx="0" cy="916409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米菲PPT152"/>
          <p:cNvSpPr txBox="1"/>
          <p:nvPr/>
        </p:nvSpPr>
        <p:spPr>
          <a:xfrm>
            <a:off x="95559" y="2673179"/>
            <a:ext cx="787677" cy="226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algn="ctr" eaLnBrk="0">
              <a:lnSpc>
                <a:spcPct val="83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榜单</a:t>
            </a:r>
            <a:endParaRPr lang="en-US" altLang="zh-CN" sz="1000" dirty="0">
              <a:latin typeface="+mn-ea"/>
              <a:ea typeface="+mn-ea"/>
              <a:cs typeface="MiSans Medium" panose="00000600000000000000" pitchFamily="2" charset="-122"/>
            </a:endParaRPr>
          </a:p>
          <a:p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产品价值</a:t>
            </a:r>
            <a:endParaRPr lang="zh-CN" altLang="en-US" sz="1000" dirty="0">
              <a:latin typeface="+mn-ea"/>
              <a:ea typeface="+mn-ea"/>
              <a:cs typeface="MiSans Medium" panose="00000600000000000000" pitchFamily="2" charset="-122"/>
            </a:endParaRPr>
          </a:p>
        </p:txBody>
      </p:sp>
      <p:cxnSp>
        <p:nvCxnSpPr>
          <p:cNvPr id="76" name="米菲PPT154"/>
          <p:cNvCxnSpPr/>
          <p:nvPr/>
        </p:nvCxnSpPr>
        <p:spPr>
          <a:xfrm flipH="1">
            <a:off x="226653" y="1475159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米菲PPT157"/>
          <p:cNvCxnSpPr/>
          <p:nvPr/>
        </p:nvCxnSpPr>
        <p:spPr>
          <a:xfrm flipH="1">
            <a:off x="226653" y="1125955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米菲PPT12"/>
          <p:cNvSpPr/>
          <p:nvPr/>
        </p:nvSpPr>
        <p:spPr>
          <a:xfrm rot="5400000" flipV="1">
            <a:off x="1887365" y="616874"/>
            <a:ext cx="230333" cy="2148016"/>
          </a:xfrm>
          <a:prstGeom prst="roundRect">
            <a:avLst>
              <a:gd name="adj" fmla="val 12546"/>
            </a:avLst>
          </a:prstGeom>
          <a:solidFill>
            <a:srgbClr val="E980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9" name="米菲PPT42"/>
          <p:cNvSpPr txBox="1"/>
          <p:nvPr/>
        </p:nvSpPr>
        <p:spPr>
          <a:xfrm>
            <a:off x="1410836" y="1545532"/>
            <a:ext cx="1585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用户需求及价值</a:t>
            </a:r>
            <a:endParaRPr lang="zh-CN" altLang="en-US" sz="1100" b="1" dirty="0">
              <a:solidFill>
                <a:schemeClr val="bg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80" name="米菲PPT41"/>
          <p:cNvSpPr/>
          <p:nvPr/>
        </p:nvSpPr>
        <p:spPr>
          <a:xfrm rot="5400000" flipV="1">
            <a:off x="932792" y="1893709"/>
            <a:ext cx="2156682" cy="213081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1" name="米菲PPT44"/>
          <p:cNvSpPr txBox="1"/>
          <p:nvPr/>
        </p:nvSpPr>
        <p:spPr>
          <a:xfrm>
            <a:off x="1040669" y="1896253"/>
            <a:ext cx="2107686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值得用户信任的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榜单规则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价格、价值、品质敏感型用户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2" name="米菲PPT56"/>
          <p:cNvSpPr/>
          <p:nvPr/>
        </p:nvSpPr>
        <p:spPr>
          <a:xfrm>
            <a:off x="999492" y="1976921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83" name="米菲PPT155"/>
          <p:cNvCxnSpPr/>
          <p:nvPr/>
        </p:nvCxnSpPr>
        <p:spPr>
          <a:xfrm>
            <a:off x="511010" y="3000412"/>
            <a:ext cx="0" cy="72752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米菲PPT44"/>
          <p:cNvSpPr txBox="1"/>
          <p:nvPr/>
        </p:nvSpPr>
        <p:spPr>
          <a:xfrm>
            <a:off x="1026062" y="2396119"/>
            <a:ext cx="2148919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榜单矩阵</a:t>
            </a: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满足用户精准需求</a:t>
            </a:r>
            <a:endParaRPr lang="en-US" altLang="zh-CN" sz="10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一人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聚会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品类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商圈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异地等场景。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5" name="米菲PPT56"/>
          <p:cNvSpPr/>
          <p:nvPr/>
        </p:nvSpPr>
        <p:spPr>
          <a:xfrm>
            <a:off x="1001030" y="2472961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6" name="米菲PPT44"/>
          <p:cNvSpPr txBox="1"/>
          <p:nvPr/>
        </p:nvSpPr>
        <p:spPr>
          <a:xfrm>
            <a:off x="1036096" y="2940745"/>
            <a:ext cx="207169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商户促进用户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受时间地点驱动需求，追求马上能吃。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7" name="米菲PPT56"/>
          <p:cNvSpPr/>
          <p:nvPr/>
        </p:nvSpPr>
        <p:spPr>
          <a:xfrm>
            <a:off x="1002851" y="3022621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88" name="米菲PPT44"/>
          <p:cNvSpPr txBox="1"/>
          <p:nvPr/>
        </p:nvSpPr>
        <p:spPr>
          <a:xfrm>
            <a:off x="1036096" y="3492174"/>
            <a:ext cx="2114869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商户促进用户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分享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用户需求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打卡族，热爱尝鲜，社交分享。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9" name="米菲PPT56"/>
          <p:cNvSpPr/>
          <p:nvPr/>
        </p:nvSpPr>
        <p:spPr>
          <a:xfrm>
            <a:off x="987808" y="357686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40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0" name="米菲PPT14"/>
          <p:cNvSpPr/>
          <p:nvPr/>
        </p:nvSpPr>
        <p:spPr>
          <a:xfrm rot="5400000" flipV="1">
            <a:off x="2939512" y="2276023"/>
            <a:ext cx="2156683" cy="136618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rgbClr val="E98000"/>
            </a:solidFill>
            <a:prstDash val="dash"/>
          </a:ln>
          <a:effectLst>
            <a:outerShdw blurRad="469900" dist="123444" dir="5400000" sx="99000" sy="990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1" name="米菲PPT44"/>
          <p:cNvSpPr txBox="1"/>
          <p:nvPr/>
        </p:nvSpPr>
        <p:spPr>
          <a:xfrm>
            <a:off x="3298445" y="1921634"/>
            <a:ext cx="1473617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50" dirty="0">
                <a:solidFill>
                  <a:srgbClr val="0F1115"/>
                </a:solidFill>
                <a:effectLst/>
                <a:latin typeface="+mn-ea"/>
              </a:rPr>
              <a:t>在口味分、性价比指数等维度</a:t>
            </a:r>
            <a:r>
              <a:rPr lang="zh-CN" altLang="en-US" sz="850" b="1" dirty="0">
                <a:solidFill>
                  <a:srgbClr val="0F1115"/>
                </a:solidFill>
                <a:effectLst/>
                <a:latin typeface="+mn-ea"/>
              </a:rPr>
              <a:t>公开化</a:t>
            </a:r>
            <a:r>
              <a:rPr lang="zh-CN" altLang="en-US" sz="850" dirty="0">
                <a:solidFill>
                  <a:srgbClr val="0F1115"/>
                </a:solidFill>
                <a:effectLst/>
                <a:latin typeface="+mn-ea"/>
              </a:rPr>
              <a:t>榜单规则</a:t>
            </a:r>
            <a:r>
              <a:rPr lang="en-US" altLang="zh-CN" sz="850" dirty="0">
                <a:solidFill>
                  <a:srgbClr val="0F1115"/>
                </a:solidFill>
                <a:latin typeface="+mn-ea"/>
              </a:rPr>
              <a:t>,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提升</a:t>
            </a:r>
            <a:r>
              <a:rPr lang="zh-CN" altLang="en-US" sz="850" b="1" dirty="0">
                <a:solidFill>
                  <a:srgbClr val="0F1115"/>
                </a:solidFill>
                <a:latin typeface="+mn-ea"/>
              </a:rPr>
              <a:t>权威性</a:t>
            </a:r>
            <a:r>
              <a:rPr lang="zh-CN" altLang="en-US" sz="850" dirty="0">
                <a:solidFill>
                  <a:srgbClr val="0F1115"/>
                </a:solidFill>
                <a:latin typeface="+mn-ea"/>
              </a:rPr>
              <a:t>透传。</a:t>
            </a:r>
            <a:endParaRPr lang="zh-CN" altLang="en-US" sz="850" dirty="0">
              <a:effectLst/>
              <a:latin typeface="+mn-ea"/>
            </a:endParaRPr>
          </a:p>
        </p:txBody>
      </p:sp>
      <p:sp>
        <p:nvSpPr>
          <p:cNvPr id="92" name="米菲PPT44"/>
          <p:cNvSpPr txBox="1"/>
          <p:nvPr/>
        </p:nvSpPr>
        <p:spPr>
          <a:xfrm>
            <a:off x="3316875" y="2424958"/>
            <a:ext cx="1443477" cy="54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构建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多维榜单矩阵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，基于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LBS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等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动态推送场景榜，建立场景心智。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93" name="米菲PPT41"/>
          <p:cNvSpPr/>
          <p:nvPr/>
        </p:nvSpPr>
        <p:spPr>
          <a:xfrm rot="5400000" flipV="1">
            <a:off x="6604105" y="1929596"/>
            <a:ext cx="2162380" cy="205334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rgbClr val="FFE88B"/>
            </a:solidFill>
          </a:ln>
          <a:effectLst>
            <a:outerShdw blurRad="469900" dist="139700" dir="5400000" algn="t" rotWithShape="0">
              <a:schemeClr val="accent2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4" name="米菲PPT128"/>
          <p:cNvSpPr/>
          <p:nvPr/>
        </p:nvSpPr>
        <p:spPr>
          <a:xfrm>
            <a:off x="1546109" y="4324350"/>
            <a:ext cx="1171654" cy="348139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标签建设覆盖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(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品类、场景、人群、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AI)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95" name="米菲PPT129"/>
          <p:cNvSpPr/>
          <p:nvPr/>
        </p:nvSpPr>
        <p:spPr>
          <a:xfrm>
            <a:off x="2772981" y="4317766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双平台资产拉通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96" name="米菲PPT130"/>
          <p:cNvSpPr/>
          <p:nvPr/>
        </p:nvSpPr>
        <p:spPr>
          <a:xfrm>
            <a:off x="3955037" y="4326035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评价资产治理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04" name="米菲PPT44"/>
          <p:cNvSpPr txBox="1"/>
          <p:nvPr/>
        </p:nvSpPr>
        <p:spPr>
          <a:xfrm>
            <a:off x="3329057" y="3003953"/>
            <a:ext cx="1425368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强化推荐理由及订单量化强化上榜餐厅实力，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差异化运营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05" name="米菲PPT44"/>
          <p:cNvSpPr txBox="1"/>
          <p:nvPr/>
        </p:nvSpPr>
        <p:spPr>
          <a:xfrm>
            <a:off x="3331593" y="3511646"/>
            <a:ext cx="142029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实现从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选购</a:t>
            </a:r>
            <a:r>
              <a:rPr lang="en-US" altLang="zh-CN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核销</a:t>
            </a:r>
            <a:r>
              <a:rPr lang="en-US" altLang="zh-CN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评价</a:t>
            </a:r>
            <a:r>
              <a:rPr lang="en-US" altLang="zh-CN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分享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的交易服务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体验闭环。</a:t>
            </a:r>
            <a:endParaRPr lang="zh-CN" altLang="en-US" sz="8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06" name="米菲PPT12"/>
          <p:cNvSpPr/>
          <p:nvPr/>
        </p:nvSpPr>
        <p:spPr>
          <a:xfrm rot="5400000" flipV="1">
            <a:off x="3894493" y="993510"/>
            <a:ext cx="230331" cy="1382568"/>
          </a:xfrm>
          <a:prstGeom prst="roundRect">
            <a:avLst>
              <a:gd name="adj" fmla="val 12546"/>
            </a:avLst>
          </a:prstGeom>
          <a:solidFill>
            <a:srgbClr val="E980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07" name="米菲PPT42"/>
          <p:cNvSpPr txBox="1"/>
          <p:nvPr/>
        </p:nvSpPr>
        <p:spPr>
          <a:xfrm>
            <a:off x="3655815" y="1538337"/>
            <a:ext cx="8653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TOC</a:t>
            </a:r>
            <a:r>
              <a:rPr lang="zh-CN" altLang="en-US" sz="1100" b="1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策略</a:t>
            </a:r>
            <a:endParaRPr lang="zh-CN" altLang="en-US" sz="1100" b="1" dirty="0">
              <a:solidFill>
                <a:schemeClr val="bg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08" name="米菲PPT12"/>
          <p:cNvSpPr/>
          <p:nvPr/>
        </p:nvSpPr>
        <p:spPr>
          <a:xfrm rot="5400000" flipV="1">
            <a:off x="7560503" y="648499"/>
            <a:ext cx="230333" cy="2072588"/>
          </a:xfrm>
          <a:prstGeom prst="roundRect">
            <a:avLst>
              <a:gd name="adj" fmla="val 12546"/>
            </a:avLst>
          </a:prstGeom>
          <a:gradFill flip="none" rotWithShape="1">
            <a:gsLst>
              <a:gs pos="100000">
                <a:schemeClr val="accent1">
                  <a:lumMod val="89000"/>
                  <a:lumOff val="11000"/>
                </a:schemeClr>
              </a:gs>
              <a:gs pos="0">
                <a:schemeClr val="accent1">
                  <a:lumMod val="9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11" name="米菲PPT12"/>
          <p:cNvSpPr/>
          <p:nvPr/>
        </p:nvSpPr>
        <p:spPr>
          <a:xfrm rot="5400000" flipV="1">
            <a:off x="5584621" y="934253"/>
            <a:ext cx="230333" cy="1501084"/>
          </a:xfrm>
          <a:prstGeom prst="roundRect">
            <a:avLst>
              <a:gd name="adj" fmla="val 12546"/>
            </a:avLst>
          </a:prstGeom>
          <a:gradFill flip="none" rotWithShape="1">
            <a:gsLst>
              <a:gs pos="100000">
                <a:schemeClr val="accent1">
                  <a:lumMod val="89000"/>
                  <a:lumOff val="11000"/>
                </a:schemeClr>
              </a:gs>
              <a:gs pos="0">
                <a:schemeClr val="accent1">
                  <a:lumMod val="9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13" name="米菲PPT42"/>
          <p:cNvSpPr txBox="1"/>
          <p:nvPr/>
        </p:nvSpPr>
        <p:spPr>
          <a:xfrm>
            <a:off x="5333000" y="1538337"/>
            <a:ext cx="8653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TOB</a:t>
            </a:r>
            <a:r>
              <a:rPr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策略</a:t>
            </a:r>
            <a:endParaRPr lang="zh-CN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14" name="米菲PPT42"/>
          <p:cNvSpPr txBox="1"/>
          <p:nvPr/>
        </p:nvSpPr>
        <p:spPr>
          <a:xfrm>
            <a:off x="7049679" y="1557751"/>
            <a:ext cx="15833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商家经营需求及价值</a:t>
            </a:r>
            <a:endParaRPr lang="zh-CN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15" name="米菲PPT44"/>
          <p:cNvSpPr txBox="1"/>
          <p:nvPr/>
        </p:nvSpPr>
        <p:spPr>
          <a:xfrm>
            <a:off x="5069959" y="1922295"/>
            <a:ext cx="12756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dirty="0">
                <a:solidFill>
                  <a:srgbClr val="0F1115"/>
                </a:solidFill>
                <a:effectLst/>
                <a:latin typeface="+mn-ea"/>
              </a:rPr>
              <a:t>规则前置透明：向商家清晰解读上榜核心维度（如“提升服务分可冲击服务榜”）。</a:t>
            </a:r>
            <a:endParaRPr lang="zh-CN" altLang="en-US" sz="500" dirty="0">
              <a:solidFill>
                <a:srgbClr val="0F1115"/>
              </a:solidFill>
              <a:effectLst/>
              <a:latin typeface="+mn-ea"/>
            </a:endParaRPr>
          </a:p>
          <a:p>
            <a:r>
              <a:rPr lang="en-US" altLang="zh-CN" sz="500" dirty="0">
                <a:solidFill>
                  <a:srgbClr val="0F1115"/>
                </a:solidFill>
                <a:effectLst/>
                <a:latin typeface="+mn-ea"/>
              </a:rPr>
              <a:t>• </a:t>
            </a:r>
            <a:r>
              <a:rPr lang="zh-CN" altLang="en-US" sz="500" dirty="0">
                <a:solidFill>
                  <a:srgbClr val="0F1115"/>
                </a:solidFill>
                <a:effectLst/>
                <a:latin typeface="+mn-ea"/>
              </a:rPr>
              <a:t>数据赋能：提供经营数据看板，帮商家对标上榜同行，明确优化方向。</a:t>
            </a:r>
            <a:endParaRPr lang="zh-CN" altLang="en-US" sz="500" dirty="0">
              <a:effectLst/>
              <a:latin typeface="+mn-ea"/>
            </a:endParaRPr>
          </a:p>
        </p:txBody>
      </p:sp>
      <p:sp>
        <p:nvSpPr>
          <p:cNvPr id="116" name="米菲PPT14"/>
          <p:cNvSpPr/>
          <p:nvPr/>
        </p:nvSpPr>
        <p:spPr>
          <a:xfrm rot="5400000" flipV="1">
            <a:off x="4625532" y="2208904"/>
            <a:ext cx="2156020" cy="1501083"/>
          </a:xfrm>
          <a:prstGeom prst="roundRect">
            <a:avLst>
              <a:gd name="adj" fmla="val 1831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rgbClr val="FFE88B"/>
            </a:solidFill>
            <a:prstDash val="dash"/>
          </a:ln>
          <a:effectLst>
            <a:outerShdw blurRad="469900" dist="123444" dir="5400000" sx="99000" sy="990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7" name="米菲PPT44"/>
          <p:cNvSpPr txBox="1"/>
          <p:nvPr/>
        </p:nvSpPr>
        <p:spPr>
          <a:xfrm>
            <a:off x="4964891" y="2403968"/>
            <a:ext cx="1519101" cy="385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建立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上榜长期计划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，帮助潜力商家逐步上榜物料、辅导。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18" name="米菲PPT44"/>
          <p:cNvSpPr txBox="1"/>
          <p:nvPr/>
        </p:nvSpPr>
        <p:spPr>
          <a:xfrm>
            <a:off x="4976754" y="2845283"/>
            <a:ext cx="1515798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为上榜商家配置“平日曝光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大促流量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品牌专题”的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整合流量包及线上下营销活动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19" name="米菲PPT44"/>
          <p:cNvSpPr txBox="1"/>
          <p:nvPr/>
        </p:nvSpPr>
        <p:spPr>
          <a:xfrm>
            <a:off x="4990081" y="3404727"/>
            <a:ext cx="1452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高质量评价资产沉淀及分享；建立“年度上榜餐厅”品牌集合，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形成长期品牌资产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24" name="米菲PPT60"/>
          <p:cNvSpPr/>
          <p:nvPr/>
        </p:nvSpPr>
        <p:spPr>
          <a:xfrm>
            <a:off x="6719952" y="1970571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5" name="米菲PPT60"/>
          <p:cNvSpPr/>
          <p:nvPr/>
        </p:nvSpPr>
        <p:spPr>
          <a:xfrm>
            <a:off x="6727994" y="2500994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6" name="米菲PPT60"/>
          <p:cNvSpPr/>
          <p:nvPr/>
        </p:nvSpPr>
        <p:spPr>
          <a:xfrm>
            <a:off x="6730289" y="3034367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7" name="米菲PPT60"/>
          <p:cNvSpPr/>
          <p:nvPr/>
        </p:nvSpPr>
        <p:spPr>
          <a:xfrm>
            <a:off x="6743411" y="3624480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8" name="米菲PPT44"/>
          <p:cNvSpPr txBox="1"/>
          <p:nvPr/>
        </p:nvSpPr>
        <p:spPr>
          <a:xfrm>
            <a:off x="6775559" y="1895237"/>
            <a:ext cx="2014886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规则指导经营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经营宝提供榜单诊断，从“盲目经营”到“精准优化”。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29" name="米菲PPT44"/>
          <p:cNvSpPr txBox="1"/>
          <p:nvPr/>
        </p:nvSpPr>
        <p:spPr>
          <a:xfrm>
            <a:off x="6782177" y="2425142"/>
            <a:ext cx="1976929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Medium" panose="00000600000000000000" pitchFamily="2" charset="-122"/>
              </a:rPr>
              <a:t>商家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sym typeface="MiSans Medium" panose="00000600000000000000" pitchFamily="2" charset="-122"/>
              </a:rPr>
              <a:t>冲榜产品化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Medium" panose="00000600000000000000" pitchFamily="2" charset="-122"/>
              </a:rPr>
              <a:t>服务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提供平台级的成长陪跑，加速成长。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30" name="米菲PPT44"/>
          <p:cNvSpPr txBox="1"/>
          <p:nvPr/>
        </p:nvSpPr>
        <p:spPr>
          <a:xfrm>
            <a:off x="6768757" y="2954483"/>
            <a:ext cx="2031843" cy="57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为商家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启动全域营销</a:t>
            </a:r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策略</a:t>
            </a:r>
            <a:endParaRPr lang="en-US" altLang="zh-CN" sz="1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站内外流量</a:t>
            </a:r>
            <a:r>
              <a:rPr lang="en-US" altLang="zh-CN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线下餐饮盛典活动，实现品效合一。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31" name="米菲PPT44"/>
          <p:cNvSpPr txBox="1"/>
          <p:nvPr/>
        </p:nvSpPr>
        <p:spPr>
          <a:xfrm>
            <a:off x="6775305" y="3514229"/>
            <a:ext cx="2019445" cy="41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促进商家</a:t>
            </a:r>
            <a:r>
              <a:rPr lang="zh-CN" altLang="en-US" sz="10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数据资产沉淀</a:t>
            </a:r>
            <a:endParaRPr lang="en-US" altLang="zh-CN" sz="10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商家价值：长期信用资产积累及复用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32" name="米菲PPT147"/>
          <p:cNvSpPr/>
          <p:nvPr/>
        </p:nvSpPr>
        <p:spPr>
          <a:xfrm>
            <a:off x="225091" y="4384562"/>
            <a:ext cx="572252" cy="6801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eaLnBrk="0">
              <a:lnSpc>
                <a:spcPct val="83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资产建设</a:t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cxnSp>
        <p:nvCxnSpPr>
          <p:cNvPr id="133" name="米菲PPT151"/>
          <p:cNvCxnSpPr/>
          <p:nvPr/>
        </p:nvCxnSpPr>
        <p:spPr>
          <a:xfrm flipH="1">
            <a:off x="226653" y="4879004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米菲PPT156"/>
          <p:cNvCxnSpPr/>
          <p:nvPr/>
        </p:nvCxnSpPr>
        <p:spPr>
          <a:xfrm>
            <a:off x="511010" y="4655289"/>
            <a:ext cx="0" cy="17992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米菲PPT150"/>
          <p:cNvCxnSpPr/>
          <p:nvPr/>
        </p:nvCxnSpPr>
        <p:spPr>
          <a:xfrm>
            <a:off x="511010" y="4138446"/>
            <a:ext cx="0" cy="17227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米菲PPT153"/>
          <p:cNvCxnSpPr/>
          <p:nvPr/>
        </p:nvCxnSpPr>
        <p:spPr>
          <a:xfrm flipH="1">
            <a:off x="226653" y="4110291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米菲PPT128"/>
          <p:cNvSpPr/>
          <p:nvPr/>
        </p:nvSpPr>
        <p:spPr>
          <a:xfrm>
            <a:off x="5120278" y="4323680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星级资产优化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grpSp>
        <p:nvGrpSpPr>
          <p:cNvPr id="138" name="米菲PPT163"/>
          <p:cNvGrpSpPr/>
          <p:nvPr/>
        </p:nvGrpSpPr>
        <p:grpSpPr>
          <a:xfrm>
            <a:off x="3722431" y="3853448"/>
            <a:ext cx="2164204" cy="503231"/>
            <a:chOff x="8519003" y="4049126"/>
            <a:chExt cx="2913040" cy="754762"/>
          </a:xfrm>
        </p:grpSpPr>
        <p:sp>
          <p:nvSpPr>
            <p:cNvPr id="139" name="米菲PPT163-1"/>
            <p:cNvSpPr/>
            <p:nvPr/>
          </p:nvSpPr>
          <p:spPr>
            <a:xfrm rot="21267918" flipV="1">
              <a:off x="8519003" y="4049126"/>
              <a:ext cx="791364" cy="733990"/>
            </a:xfrm>
            <a:custGeom>
              <a:avLst/>
              <a:gdLst>
                <a:gd name="connsiteX0" fmla="*/ 18256 w 791364"/>
                <a:gd name="connsiteY0" fmla="*/ 733990 h 733990"/>
                <a:gd name="connsiteX1" fmla="*/ 0 w 791364"/>
                <a:gd name="connsiteY1" fmla="*/ 716789 h 733990"/>
                <a:gd name="connsiteX2" fmla="*/ 641957 w 791364"/>
                <a:gd name="connsiteY2" fmla="*/ 149932 h 733990"/>
                <a:gd name="connsiteX3" fmla="*/ 729138 w 791364"/>
                <a:gd name="connsiteY3" fmla="*/ 51036 h 733990"/>
                <a:gd name="connsiteX4" fmla="*/ 704555 w 791364"/>
                <a:gd name="connsiteY4" fmla="*/ 29641 h 733990"/>
                <a:gd name="connsiteX5" fmla="*/ 791364 w 791364"/>
                <a:gd name="connsiteY5" fmla="*/ 0 h 733990"/>
                <a:gd name="connsiteX6" fmla="*/ 773987 w 791364"/>
                <a:gd name="connsiteY6" fmla="*/ 90069 h 733990"/>
                <a:gd name="connsiteX7" fmla="*/ 747891 w 791364"/>
                <a:gd name="connsiteY7" fmla="*/ 67358 h 733990"/>
                <a:gd name="connsiteX8" fmla="*/ 743310 w 791364"/>
                <a:gd name="connsiteY8" fmla="*/ 71120 h 733990"/>
                <a:gd name="connsiteX9" fmla="*/ 18256 w 791364"/>
                <a:gd name="connsiteY9" fmla="*/ 733990 h 73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1364" h="733990">
                  <a:moveTo>
                    <a:pt x="18256" y="733990"/>
                  </a:moveTo>
                  <a:lnTo>
                    <a:pt x="0" y="716789"/>
                  </a:lnTo>
                  <a:cubicBezTo>
                    <a:pt x="333703" y="478073"/>
                    <a:pt x="447375" y="368810"/>
                    <a:pt x="641957" y="149932"/>
                  </a:cubicBezTo>
                  <a:lnTo>
                    <a:pt x="729138" y="51036"/>
                  </a:lnTo>
                  <a:lnTo>
                    <a:pt x="704555" y="29641"/>
                  </a:lnTo>
                  <a:lnTo>
                    <a:pt x="791364" y="0"/>
                  </a:lnTo>
                  <a:lnTo>
                    <a:pt x="773987" y="90069"/>
                  </a:lnTo>
                  <a:lnTo>
                    <a:pt x="747891" y="67358"/>
                  </a:lnTo>
                  <a:lnTo>
                    <a:pt x="743310" y="71120"/>
                  </a:lnTo>
                  <a:cubicBezTo>
                    <a:pt x="493324" y="367676"/>
                    <a:pt x="372743" y="461988"/>
                    <a:pt x="18256" y="73399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5000">
                  <a:schemeClr val="accent3">
                    <a:lumMod val="40000"/>
                    <a:lumOff val="60000"/>
                    <a:alpha val="12000"/>
                  </a:schemeClr>
                </a:gs>
              </a:gsLst>
              <a:lin ang="5400000" scaled="0"/>
            </a:gradFill>
            <a:ln w="635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40" name="米菲PPT163-2"/>
            <p:cNvSpPr/>
            <p:nvPr/>
          </p:nvSpPr>
          <p:spPr>
            <a:xfrm rot="350134" flipH="1" flipV="1">
              <a:off x="10640679" y="4069898"/>
              <a:ext cx="791364" cy="733990"/>
            </a:xfrm>
            <a:custGeom>
              <a:avLst/>
              <a:gdLst>
                <a:gd name="connsiteX0" fmla="*/ 18256 w 791364"/>
                <a:gd name="connsiteY0" fmla="*/ 733990 h 733990"/>
                <a:gd name="connsiteX1" fmla="*/ 0 w 791364"/>
                <a:gd name="connsiteY1" fmla="*/ 716789 h 733990"/>
                <a:gd name="connsiteX2" fmla="*/ 641957 w 791364"/>
                <a:gd name="connsiteY2" fmla="*/ 149932 h 733990"/>
                <a:gd name="connsiteX3" fmla="*/ 729138 w 791364"/>
                <a:gd name="connsiteY3" fmla="*/ 51036 h 733990"/>
                <a:gd name="connsiteX4" fmla="*/ 704555 w 791364"/>
                <a:gd name="connsiteY4" fmla="*/ 29641 h 733990"/>
                <a:gd name="connsiteX5" fmla="*/ 791364 w 791364"/>
                <a:gd name="connsiteY5" fmla="*/ 0 h 733990"/>
                <a:gd name="connsiteX6" fmla="*/ 773987 w 791364"/>
                <a:gd name="connsiteY6" fmla="*/ 90069 h 733990"/>
                <a:gd name="connsiteX7" fmla="*/ 747891 w 791364"/>
                <a:gd name="connsiteY7" fmla="*/ 67358 h 733990"/>
                <a:gd name="connsiteX8" fmla="*/ 743310 w 791364"/>
                <a:gd name="connsiteY8" fmla="*/ 71120 h 733990"/>
                <a:gd name="connsiteX9" fmla="*/ 18256 w 791364"/>
                <a:gd name="connsiteY9" fmla="*/ 733990 h 73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1364" h="733990">
                  <a:moveTo>
                    <a:pt x="18256" y="733990"/>
                  </a:moveTo>
                  <a:lnTo>
                    <a:pt x="0" y="716789"/>
                  </a:lnTo>
                  <a:cubicBezTo>
                    <a:pt x="333703" y="478073"/>
                    <a:pt x="447375" y="368810"/>
                    <a:pt x="641957" y="149932"/>
                  </a:cubicBezTo>
                  <a:lnTo>
                    <a:pt x="729138" y="51036"/>
                  </a:lnTo>
                  <a:lnTo>
                    <a:pt x="704555" y="29641"/>
                  </a:lnTo>
                  <a:lnTo>
                    <a:pt x="791364" y="0"/>
                  </a:lnTo>
                  <a:lnTo>
                    <a:pt x="773987" y="90069"/>
                  </a:lnTo>
                  <a:lnTo>
                    <a:pt x="747891" y="67358"/>
                  </a:lnTo>
                  <a:lnTo>
                    <a:pt x="743310" y="71120"/>
                  </a:lnTo>
                  <a:cubicBezTo>
                    <a:pt x="493324" y="367676"/>
                    <a:pt x="372743" y="461988"/>
                    <a:pt x="18256" y="73399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5000">
                  <a:schemeClr val="accent3">
                    <a:lumMod val="40000"/>
                    <a:lumOff val="60000"/>
                    <a:alpha val="12000"/>
                  </a:schemeClr>
                </a:gs>
              </a:gsLst>
              <a:lin ang="5400000" scaled="0"/>
            </a:gradFill>
            <a:ln w="635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5" dirty="0"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146" name="米菲PPT129"/>
          <p:cNvSpPr/>
          <p:nvPr/>
        </p:nvSpPr>
        <p:spPr>
          <a:xfrm>
            <a:off x="6295984" y="4324349"/>
            <a:ext cx="1113509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交履资产绑定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7" name="米菲PPT130"/>
          <p:cNvSpPr/>
          <p:nvPr/>
        </p:nvSpPr>
        <p:spPr>
          <a:xfrm>
            <a:off x="7471690" y="4327144"/>
            <a:ext cx="1198516" cy="343568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1"/>
            </a:solidFill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资产与规则强联动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8" name="米菲PPT44"/>
          <p:cNvSpPr txBox="1"/>
          <p:nvPr/>
        </p:nvSpPr>
        <p:spPr>
          <a:xfrm>
            <a:off x="4964891" y="1977423"/>
            <a:ext cx="1445114" cy="385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商家冲榜规则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透传，诊断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、上榜同行</a:t>
            </a:r>
            <a:r>
              <a:rPr lang="zh-CN" altLang="en-US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对标</a:t>
            </a:r>
            <a:r>
              <a:rPr lang="zh-CN" altLang="en-US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  <a:endParaRPr lang="zh-CN" altLang="en-US" sz="8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0" imgH="0" progId="TCLayout.ActiveDocument.1">
                  <p:embed/>
                </p:oleObj>
              </mc:Choice>
              <mc:Fallback>
                <p:oleObj name="think-cell 幻灯片" r:id="rId2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资产运营</a:t>
            </a:r>
            <a:r>
              <a:rPr lang="en-US" altLang="zh-CN" dirty="0">
                <a:latin typeface="+mn-ea"/>
                <a:ea typeface="+mn-ea"/>
              </a:rPr>
              <a:t>PMF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79" name="米菲PPT7"/>
          <p:cNvSpPr/>
          <p:nvPr/>
        </p:nvSpPr>
        <p:spPr>
          <a:xfrm>
            <a:off x="187034" y="1809881"/>
            <a:ext cx="6640492" cy="2853107"/>
          </a:xfrm>
          <a:prstGeom prst="rect">
            <a:avLst/>
          </a:prstGeom>
          <a:solidFill>
            <a:schemeClr val="accent2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80" name="箭头: 右 379"/>
          <p:cNvSpPr/>
          <p:nvPr/>
        </p:nvSpPr>
        <p:spPr>
          <a:xfrm>
            <a:off x="2822506" y="3044380"/>
            <a:ext cx="1916248" cy="783488"/>
          </a:xfrm>
          <a:prstGeom prst="rightArrow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n-ea"/>
            </a:endParaRPr>
          </a:p>
        </p:txBody>
      </p:sp>
      <p:sp>
        <p:nvSpPr>
          <p:cNvPr id="381" name="米菲PPT4"/>
          <p:cNvSpPr/>
          <p:nvPr/>
        </p:nvSpPr>
        <p:spPr>
          <a:xfrm rot="5400000" flipV="1">
            <a:off x="2587937" y="2842918"/>
            <a:ext cx="2195897" cy="1113830"/>
          </a:xfrm>
          <a:prstGeom prst="roundRect">
            <a:avLst>
              <a:gd name="adj" fmla="val 431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>
            <a:outerShdw blurRad="558800" dist="139700" dir="5400000" algn="t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82" name="米菲PPT17"/>
          <p:cNvSpPr/>
          <p:nvPr/>
        </p:nvSpPr>
        <p:spPr>
          <a:xfrm>
            <a:off x="4847549" y="1920153"/>
            <a:ext cx="1909066" cy="254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P</a:t>
            </a:r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场景化、高置信度的“精选榜单” 与 “快捷交易服务”</a:t>
            </a:r>
            <a:endParaRPr lang="zh-CN" altLang="en-US" sz="800" b="1" dirty="0">
              <a:solidFill>
                <a:schemeClr val="bg2">
                  <a:lumMod val="50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83" name="米菲PPT18"/>
          <p:cNvSpPr/>
          <p:nvPr/>
        </p:nvSpPr>
        <p:spPr>
          <a:xfrm>
            <a:off x="2711363" y="1911074"/>
            <a:ext cx="2136186" cy="254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F</a:t>
            </a:r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：通过“场景细分”、“规则排序”、“评价对比”、“快捷交易”四项核心动作</a:t>
            </a:r>
            <a:endParaRPr lang="en-US" altLang="zh-CN" sz="800" b="1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84" name="米菲PPT20"/>
          <p:cNvSpPr/>
          <p:nvPr/>
        </p:nvSpPr>
        <p:spPr>
          <a:xfrm>
            <a:off x="308706" y="1912407"/>
            <a:ext cx="2435191" cy="270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M</a:t>
            </a:r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：活跃用户在特定场景下产生用餐需求，但面临过载信息而决策困难</a:t>
            </a:r>
            <a:endParaRPr lang="en-US" altLang="zh-CN" sz="800" b="1" dirty="0">
              <a:solidFill>
                <a:schemeClr val="bg2">
                  <a:lumMod val="50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85" name="矩形 384"/>
          <p:cNvSpPr/>
          <p:nvPr/>
        </p:nvSpPr>
        <p:spPr>
          <a:xfrm>
            <a:off x="3217989" y="2557531"/>
            <a:ext cx="936574" cy="2519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标签资产</a:t>
            </a:r>
            <a:endParaRPr lang="en-US" altLang="zh-CN" sz="9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（场景、品类等）</a:t>
            </a:r>
            <a:endParaRPr lang="zh-CN" altLang="en-US" sz="7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86" name="矩形 385"/>
          <p:cNvSpPr/>
          <p:nvPr/>
        </p:nvSpPr>
        <p:spPr>
          <a:xfrm>
            <a:off x="3217989" y="2847464"/>
            <a:ext cx="936574" cy="22909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评价治理</a:t>
            </a:r>
            <a:endParaRPr lang="zh-CN" altLang="en-US" sz="9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3209913" y="3114765"/>
            <a:ext cx="936574" cy="2519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规则排序</a:t>
            </a:r>
            <a:endParaRPr lang="zh-CN" altLang="en-US" sz="9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88" name="米菲PPT16"/>
          <p:cNvSpPr/>
          <p:nvPr/>
        </p:nvSpPr>
        <p:spPr>
          <a:xfrm>
            <a:off x="316723" y="2301883"/>
            <a:ext cx="2375502" cy="2195898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24" name="矩形 423"/>
          <p:cNvSpPr/>
          <p:nvPr/>
        </p:nvSpPr>
        <p:spPr>
          <a:xfrm>
            <a:off x="3217989" y="3413084"/>
            <a:ext cx="936574" cy="2519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流量分发</a:t>
            </a:r>
            <a:endParaRPr lang="zh-CN" altLang="en-US" sz="9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5" name="矩形 424"/>
          <p:cNvSpPr/>
          <p:nvPr/>
        </p:nvSpPr>
        <p:spPr>
          <a:xfrm>
            <a:off x="3217989" y="3709325"/>
            <a:ext cx="936574" cy="22909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营销策略</a:t>
            </a:r>
            <a:endParaRPr lang="zh-CN" altLang="en-US" sz="9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3209913" y="3982932"/>
            <a:ext cx="936574" cy="2519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交易服务</a:t>
            </a:r>
            <a:endParaRPr lang="zh-CN" altLang="en-US" sz="9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7" name="米菲PPT25"/>
          <p:cNvSpPr/>
          <p:nvPr/>
        </p:nvSpPr>
        <p:spPr>
          <a:xfrm>
            <a:off x="4855004" y="3062075"/>
            <a:ext cx="1909060" cy="41967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28" name="米菲PPT26"/>
          <p:cNvSpPr/>
          <p:nvPr/>
        </p:nvSpPr>
        <p:spPr>
          <a:xfrm>
            <a:off x="4855114" y="3489808"/>
            <a:ext cx="1916246" cy="254964"/>
          </a:xfrm>
          <a:prstGeom prst="rect">
            <a:avLst/>
          </a:prstGeom>
          <a:gradFill>
            <a:gsLst>
              <a:gs pos="0">
                <a:schemeClr val="accent2">
                  <a:lumMod val="87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科学应用资产带动榜单公信力提升</a:t>
            </a:r>
            <a:endParaRPr lang="zh-CN" altLang="en-US" sz="9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29" name="米菲PPT27"/>
          <p:cNvSpPr txBox="1"/>
          <p:nvPr/>
        </p:nvSpPr>
        <p:spPr>
          <a:xfrm>
            <a:off x="4942320" y="3113704"/>
            <a:ext cx="1823524" cy="37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通过资产多维引用，上线差异化覆盖、权威性更强的榜单推荐。</a:t>
            </a:r>
            <a:endParaRPr lang="zh-CN" altLang="en-US" sz="8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30" name="米菲PPT25"/>
          <p:cNvSpPr/>
          <p:nvPr/>
        </p:nvSpPr>
        <p:spPr>
          <a:xfrm>
            <a:off x="4855004" y="3807339"/>
            <a:ext cx="1909060" cy="41967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31" name="米菲PPT26"/>
          <p:cNvSpPr/>
          <p:nvPr/>
        </p:nvSpPr>
        <p:spPr>
          <a:xfrm>
            <a:off x="4855114" y="4228766"/>
            <a:ext cx="1916246" cy="254964"/>
          </a:xfrm>
          <a:prstGeom prst="rect">
            <a:avLst/>
          </a:prstGeom>
          <a:gradFill>
            <a:gsLst>
              <a:gs pos="0">
                <a:schemeClr val="accent2">
                  <a:lumMod val="87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配合榜单策略推进用户心智养成</a:t>
            </a:r>
            <a:endParaRPr lang="zh-CN" altLang="en-US" sz="9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32" name="米菲PPT27"/>
          <p:cNvSpPr txBox="1"/>
          <p:nvPr/>
        </p:nvSpPr>
        <p:spPr>
          <a:xfrm>
            <a:off x="4859479" y="3851118"/>
            <a:ext cx="1885206" cy="37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对于榜单优质供给提供流量倾斜，交易履约服务能力建设，提升用户体验。</a:t>
            </a:r>
            <a:endParaRPr lang="zh-CN" altLang="en-US" sz="8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33" name="米菲PPT25"/>
          <p:cNvSpPr/>
          <p:nvPr/>
        </p:nvSpPr>
        <p:spPr>
          <a:xfrm>
            <a:off x="4847556" y="2301885"/>
            <a:ext cx="1909060" cy="41967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34" name="米菲PPT26"/>
          <p:cNvSpPr/>
          <p:nvPr/>
        </p:nvSpPr>
        <p:spPr>
          <a:xfrm>
            <a:off x="4847667" y="2729618"/>
            <a:ext cx="1916246" cy="254964"/>
          </a:xfrm>
          <a:prstGeom prst="rect">
            <a:avLst/>
          </a:prstGeom>
          <a:gradFill>
            <a:gsLst>
              <a:gs pos="0">
                <a:schemeClr val="accent2">
                  <a:lumMod val="87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丰富场景榜、品类榜、新兴餐饮榜</a:t>
            </a:r>
            <a:endParaRPr lang="zh-CN" altLang="en-US" sz="9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35" name="米菲PPT27"/>
          <p:cNvSpPr txBox="1"/>
          <p:nvPr/>
        </p:nvSpPr>
        <p:spPr>
          <a:xfrm>
            <a:off x="4912869" y="2355998"/>
            <a:ext cx="1916246" cy="37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有场景、时令品类、新兴餐饮趋势等泛搜需求时，可准确展示榜单推荐。</a:t>
            </a:r>
            <a:endParaRPr lang="zh-CN" altLang="en-US" sz="8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308706" y="430064"/>
            <a:ext cx="863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榜单资产现阶段</a:t>
            </a:r>
            <a:r>
              <a:rPr lang="en-US" altLang="zh-CN" sz="1200" b="1" dirty="0"/>
              <a:t>PMF</a:t>
            </a:r>
            <a:r>
              <a:rPr lang="zh-CN" altLang="en-US" sz="1200" b="1" dirty="0"/>
              <a:t>为“在特定用餐场景下，面临信息过载而决策困难”的活跃用户，提供“场景化、高置信度的精选榜单与快捷交易服务”</a:t>
            </a:r>
            <a:r>
              <a:rPr lang="zh-CN" altLang="en-US" sz="1200" dirty="0"/>
              <a:t> 建设具备公信力、满足更多用户需求，更丰富的场景覆盖的榜单矩阵，</a:t>
            </a:r>
            <a:r>
              <a:rPr lang="zh-CN" altLang="en-US" sz="1200"/>
              <a:t>带动商家更精</a:t>
            </a:r>
            <a:r>
              <a:rPr lang="zh-CN" altLang="en-US" sz="1200" dirty="0"/>
              <a:t>准客流、更具目标性的经营驱动策略，实现平台良性竞争。</a:t>
            </a:r>
            <a:endParaRPr lang="zh-CN" altLang="en-US" sz="1200" dirty="0"/>
          </a:p>
        </p:txBody>
      </p:sp>
      <p:sp>
        <p:nvSpPr>
          <p:cNvPr id="100" name="圆角矩形 12"/>
          <p:cNvSpPr/>
          <p:nvPr/>
        </p:nvSpPr>
        <p:spPr>
          <a:xfrm>
            <a:off x="387530" y="3778495"/>
            <a:ext cx="2175572" cy="36157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900" dirty="0">
                <a:solidFill>
                  <a:schemeClr val="tx1"/>
                </a:solidFill>
              </a:rPr>
              <a:t>③</a:t>
            </a:r>
            <a:r>
              <a:rPr kumimoji="1" lang="zh-CN" altLang="en-US" sz="900" dirty="0">
                <a:solidFill>
                  <a:schemeClr val="tx1"/>
                </a:solidFill>
              </a:rPr>
              <a:t>对找店用户的心智养成</a:t>
            </a:r>
            <a:endParaRPr kumimoji="1" lang="en-US" altLang="zh-CN" sz="900" dirty="0">
              <a:solidFill>
                <a:schemeClr val="tx1"/>
              </a:solidFill>
            </a:endParaRPr>
          </a:p>
          <a:p>
            <a:r>
              <a:rPr kumimoji="1" lang="en-US" altLang="zh-CN" sz="700" dirty="0">
                <a:solidFill>
                  <a:schemeClr val="bg1">
                    <a:lumMod val="50000"/>
                  </a:schemeClr>
                </a:solidFill>
              </a:rPr>
              <a:t>|</a:t>
            </a:r>
            <a:r>
              <a:rPr kumimoji="1" lang="zh-CN" altLang="en-US" sz="700" dirty="0">
                <a:solidFill>
                  <a:schemeClr val="bg1">
                    <a:lumMod val="50000"/>
                  </a:schemeClr>
                </a:solidFill>
              </a:rPr>
              <a:t>如榜单入口过深，用户找不到</a:t>
            </a:r>
            <a:endParaRPr kumimoji="1" lang="zh-CN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圆角矩形 13"/>
          <p:cNvSpPr/>
          <p:nvPr/>
        </p:nvSpPr>
        <p:spPr>
          <a:xfrm>
            <a:off x="387530" y="3179825"/>
            <a:ext cx="2175572" cy="36157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900" dirty="0">
                <a:solidFill>
                  <a:schemeClr val="tx1"/>
                </a:solidFill>
              </a:rPr>
              <a:t>②</a:t>
            </a:r>
            <a:r>
              <a:rPr kumimoji="1" lang="zh-CN" altLang="en-US" sz="900" dirty="0">
                <a:solidFill>
                  <a:schemeClr val="tx1"/>
                </a:solidFill>
              </a:rPr>
              <a:t>公信力需求的满足</a:t>
            </a:r>
            <a:endParaRPr kumimoji="1" lang="en-US" altLang="zh-CN" sz="900" dirty="0">
              <a:solidFill>
                <a:schemeClr val="tx1"/>
              </a:solidFill>
            </a:endParaRPr>
          </a:p>
          <a:p>
            <a:r>
              <a:rPr kumimoji="1" lang="en-US" altLang="zh-CN" sz="700" dirty="0">
                <a:solidFill>
                  <a:schemeClr val="bg1">
                    <a:lumMod val="50000"/>
                  </a:schemeClr>
                </a:solidFill>
              </a:rPr>
              <a:t>|</a:t>
            </a:r>
            <a:r>
              <a:rPr kumimoji="1" lang="zh-CN" altLang="en-US" sz="700" dirty="0">
                <a:solidFill>
                  <a:schemeClr val="bg1">
                    <a:lumMod val="50000"/>
                  </a:schemeClr>
                </a:solidFill>
              </a:rPr>
              <a:t>如真实好评、榜单商户重复度高</a:t>
            </a:r>
            <a:endParaRPr kumimoji="1" lang="zh-CN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圆角矩形 15"/>
          <p:cNvSpPr/>
          <p:nvPr/>
        </p:nvSpPr>
        <p:spPr>
          <a:xfrm>
            <a:off x="402774" y="2586604"/>
            <a:ext cx="2175572" cy="36157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900" dirty="0">
                <a:solidFill>
                  <a:schemeClr val="tx1"/>
                </a:solidFill>
              </a:rPr>
              <a:t>①</a:t>
            </a:r>
            <a:r>
              <a:rPr kumimoji="1" lang="zh-CN" altLang="en-US" sz="900" dirty="0">
                <a:solidFill>
                  <a:schemeClr val="tx1"/>
                </a:solidFill>
              </a:rPr>
              <a:t>用户需求场景的满足</a:t>
            </a:r>
            <a:endParaRPr kumimoji="1" lang="en-US" altLang="zh-CN" sz="900" dirty="0">
              <a:solidFill>
                <a:schemeClr val="tx1"/>
              </a:solidFill>
            </a:endParaRPr>
          </a:p>
          <a:p>
            <a:r>
              <a:rPr kumimoji="1" lang="en-US" altLang="zh-CN" sz="700" dirty="0">
                <a:solidFill>
                  <a:schemeClr val="bg1">
                    <a:lumMod val="50000"/>
                  </a:schemeClr>
                </a:solidFill>
              </a:rPr>
              <a:t>|</a:t>
            </a:r>
            <a:r>
              <a:rPr kumimoji="1" lang="zh-CN" altLang="en-US" sz="700" dirty="0">
                <a:solidFill>
                  <a:schemeClr val="bg1">
                    <a:lumMod val="50000"/>
                  </a:schemeClr>
                </a:solidFill>
              </a:rPr>
              <a:t>如约聚会找好店、旅游找好店、品质好店</a:t>
            </a:r>
            <a:endParaRPr kumimoji="1" lang="zh-CN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米菲PPT50"/>
          <p:cNvSpPr/>
          <p:nvPr/>
        </p:nvSpPr>
        <p:spPr>
          <a:xfrm>
            <a:off x="3262280" y="1209891"/>
            <a:ext cx="643064" cy="467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eaLnBrk="0">
              <a:lnSpc>
                <a:spcPct val="83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C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端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cxnSp>
        <p:nvCxnSpPr>
          <p:cNvPr id="110" name="米菲PPT148"/>
          <p:cNvCxnSpPr/>
          <p:nvPr/>
        </p:nvCxnSpPr>
        <p:spPr>
          <a:xfrm flipH="1">
            <a:off x="3299455" y="1449641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米菲PPT157"/>
          <p:cNvCxnSpPr/>
          <p:nvPr/>
        </p:nvCxnSpPr>
        <p:spPr>
          <a:xfrm flipH="1">
            <a:off x="3299455" y="1297033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米菲PPT6"/>
          <p:cNvGrpSpPr/>
          <p:nvPr/>
        </p:nvGrpSpPr>
        <p:grpSpPr>
          <a:xfrm>
            <a:off x="3223372" y="1476499"/>
            <a:ext cx="766026" cy="257857"/>
            <a:chOff x="261497" y="3642323"/>
            <a:chExt cx="1224575" cy="349035"/>
          </a:xfrm>
        </p:grpSpPr>
        <p:sp>
          <p:nvSpPr>
            <p:cNvPr id="142" name="米菲PPT6-1"/>
            <p:cNvSpPr/>
            <p:nvPr/>
          </p:nvSpPr>
          <p:spPr>
            <a:xfrm rot="5400000" flipV="1">
              <a:off x="689360" y="3224939"/>
              <a:ext cx="338556" cy="1194281"/>
            </a:xfrm>
            <a:prstGeom prst="roundRect">
              <a:avLst>
                <a:gd name="adj" fmla="val 29084"/>
              </a:avLst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228600" dist="139700" dir="5400000" algn="t" rotWithShape="0">
                <a:schemeClr val="accent2">
                  <a:alpha val="2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45" b="1" dirty="0"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43" name="米菲PPT6-2"/>
            <p:cNvSpPr txBox="1"/>
            <p:nvPr/>
          </p:nvSpPr>
          <p:spPr>
            <a:xfrm>
              <a:off x="288939" y="3642323"/>
              <a:ext cx="1197133" cy="3437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solidFill>
                    <a:schemeClr val="bg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好逛好找</a:t>
              </a:r>
              <a:endParaRPr lang="zh-CN" altLang="en-US" sz="1050" b="1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cxnSp>
        <p:nvCxnSpPr>
          <p:cNvPr id="144" name="米菲PPT149"/>
          <p:cNvCxnSpPr/>
          <p:nvPr/>
        </p:nvCxnSpPr>
        <p:spPr>
          <a:xfrm flipH="1" flipV="1">
            <a:off x="4052460" y="1590846"/>
            <a:ext cx="3505678" cy="12612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米菲PPT149"/>
          <p:cNvCxnSpPr>
            <a:stCxn id="142" idx="0"/>
          </p:cNvCxnSpPr>
          <p:nvPr/>
        </p:nvCxnSpPr>
        <p:spPr>
          <a:xfrm flipH="1">
            <a:off x="324082" y="1609299"/>
            <a:ext cx="2899290" cy="7655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米菲PPT148"/>
          <p:cNvCxnSpPr/>
          <p:nvPr/>
        </p:nvCxnSpPr>
        <p:spPr>
          <a:xfrm flipH="1">
            <a:off x="7639628" y="1449641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米菲PPT157"/>
          <p:cNvCxnSpPr/>
          <p:nvPr/>
        </p:nvCxnSpPr>
        <p:spPr>
          <a:xfrm flipH="1">
            <a:off x="7639628" y="1297033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米菲PPT50"/>
          <p:cNvSpPr/>
          <p:nvPr/>
        </p:nvSpPr>
        <p:spPr>
          <a:xfrm>
            <a:off x="7602453" y="1209261"/>
            <a:ext cx="643064" cy="467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eaLnBrk="0">
              <a:lnSpc>
                <a:spcPct val="83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B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端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cxnSp>
        <p:nvCxnSpPr>
          <p:cNvPr id="158" name="米菲PPT157"/>
          <p:cNvCxnSpPr/>
          <p:nvPr/>
        </p:nvCxnSpPr>
        <p:spPr>
          <a:xfrm flipH="1">
            <a:off x="8297524" y="1613126"/>
            <a:ext cx="594270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米菲PPT148"/>
          <p:cNvCxnSpPr/>
          <p:nvPr/>
        </p:nvCxnSpPr>
        <p:spPr>
          <a:xfrm flipH="1">
            <a:off x="7645136" y="1448183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米菲PPT35-1"/>
          <p:cNvSpPr/>
          <p:nvPr/>
        </p:nvSpPr>
        <p:spPr>
          <a:xfrm rot="5400000" flipV="1">
            <a:off x="7788410" y="1245348"/>
            <a:ext cx="259028" cy="755383"/>
          </a:xfrm>
          <a:prstGeom prst="roundRect">
            <a:avLst>
              <a:gd name="adj" fmla="val 29084"/>
            </a:avLst>
          </a:prstGeom>
          <a:gradFill flip="none" rotWithShape="1">
            <a:gsLst>
              <a:gs pos="3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  <a:tileRect/>
          </a:gradFill>
          <a:ln w="12700">
            <a:miter lim="400000"/>
          </a:ln>
        </p:spPr>
        <p:txBody>
          <a:bodyPr wrap="square" lIns="34291" tIns="34291" rIns="34291" bIns="34291">
            <a:noAutofit/>
          </a:bodyPr>
          <a:lstStyle/>
          <a:p>
            <a:pPr algn="ctr" defTabSz="619125"/>
            <a:endParaRPr lang="zh-CN" altLang="en-US" sz="1355" b="1" dirty="0">
              <a:latin typeface="+mn-ea"/>
              <a:cs typeface="+mn-ea"/>
            </a:endParaRPr>
          </a:p>
        </p:txBody>
      </p:sp>
      <p:sp>
        <p:nvSpPr>
          <p:cNvPr id="164" name="米菲PPT6-2"/>
          <p:cNvSpPr txBox="1"/>
          <p:nvPr/>
        </p:nvSpPr>
        <p:spPr>
          <a:xfrm>
            <a:off x="7548663" y="1496847"/>
            <a:ext cx="7488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诉求满足</a:t>
            </a:r>
            <a:endParaRPr lang="zh-CN" altLang="en-US" sz="1050" b="1" dirty="0">
              <a:solidFill>
                <a:schemeClr val="bg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68" name="米菲PPT51"/>
          <p:cNvSpPr/>
          <p:nvPr/>
        </p:nvSpPr>
        <p:spPr>
          <a:xfrm>
            <a:off x="7058500" y="1812936"/>
            <a:ext cx="1833294" cy="285005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alpha val="35000"/>
                </a:schemeClr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3" name="米菲PPT54"/>
          <p:cNvSpPr/>
          <p:nvPr/>
        </p:nvSpPr>
        <p:spPr>
          <a:xfrm>
            <a:off x="7096772" y="2315079"/>
            <a:ext cx="1730505" cy="6238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4" name="米菲PPT59"/>
          <p:cNvSpPr/>
          <p:nvPr/>
        </p:nvSpPr>
        <p:spPr>
          <a:xfrm flipH="1" flipV="1">
            <a:off x="7297717" y="2316106"/>
            <a:ext cx="1339516" cy="196365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04800" dist="165100" dir="2700000" algn="tl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5" dirty="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5" name="米菲PPT60"/>
          <p:cNvSpPr txBox="1"/>
          <p:nvPr/>
        </p:nvSpPr>
        <p:spPr>
          <a:xfrm>
            <a:off x="7499183" y="2292111"/>
            <a:ext cx="8818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3">
                    <a:lumMod val="75000"/>
                  </a:schemeClr>
                </a:solidFill>
                <a:latin typeface="+mn-ea"/>
                <a:cs typeface="MiSans Medium" panose="00000600000000000000" pitchFamily="2" charset="-122"/>
              </a:rPr>
              <a:t>精准流量曝光</a:t>
            </a:r>
            <a:endParaRPr lang="zh-CN" altLang="en-US" sz="900" dirty="0">
              <a:solidFill>
                <a:schemeClr val="accent3">
                  <a:lumMod val="7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6" name="米菲PPT77"/>
          <p:cNvSpPr txBox="1"/>
          <p:nvPr/>
        </p:nvSpPr>
        <p:spPr>
          <a:xfrm>
            <a:off x="7095535" y="2536289"/>
            <a:ext cx="1730504" cy="3767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</a:lstStyle>
          <a:p>
            <a:pPr algn="ctr"/>
            <a:r>
              <a:rPr lang="zh-CN" altLang="en-US" sz="825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 不仅增加流量来源，同时可获得高转化率的精准客流。</a:t>
            </a:r>
            <a:endParaRPr lang="zh-CN" altLang="en-US" sz="825" dirty="0">
              <a:solidFill>
                <a:schemeClr val="bg2">
                  <a:lumMod val="50000"/>
                </a:schemeClr>
              </a:solidFill>
              <a:latin typeface="+mn-ea"/>
              <a:ea typeface="+mn-ea"/>
              <a:cs typeface="MiSans Medium" panose="00000600000000000000" pitchFamily="2" charset="-122"/>
            </a:endParaRPr>
          </a:p>
        </p:txBody>
      </p:sp>
      <p:sp>
        <p:nvSpPr>
          <p:cNvPr id="177" name="米菲PPT54"/>
          <p:cNvSpPr/>
          <p:nvPr/>
        </p:nvSpPr>
        <p:spPr>
          <a:xfrm>
            <a:off x="7096772" y="3027952"/>
            <a:ext cx="1730505" cy="6238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8" name="米菲PPT59"/>
          <p:cNvSpPr/>
          <p:nvPr/>
        </p:nvSpPr>
        <p:spPr>
          <a:xfrm flipH="1" flipV="1">
            <a:off x="7297717" y="3028979"/>
            <a:ext cx="1339516" cy="196365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04800" dist="165100" dir="2700000" algn="tl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5" dirty="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9" name="米菲PPT60"/>
          <p:cNvSpPr txBox="1"/>
          <p:nvPr/>
        </p:nvSpPr>
        <p:spPr>
          <a:xfrm>
            <a:off x="7524407" y="3004984"/>
            <a:ext cx="8818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3">
                    <a:lumMod val="75000"/>
                  </a:schemeClr>
                </a:solidFill>
                <a:latin typeface="+mn-ea"/>
                <a:cs typeface="MiSans Medium" panose="00000600000000000000" pitchFamily="2" charset="-122"/>
              </a:rPr>
              <a:t>驱动经营能力</a:t>
            </a:r>
            <a:endParaRPr lang="zh-CN" altLang="en-US" sz="900" dirty="0">
              <a:solidFill>
                <a:schemeClr val="accent3">
                  <a:lumMod val="7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0" name="米菲PPT77"/>
          <p:cNvSpPr txBox="1"/>
          <p:nvPr/>
        </p:nvSpPr>
        <p:spPr>
          <a:xfrm>
            <a:off x="7140395" y="3249162"/>
            <a:ext cx="168564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</a:lstStyle>
          <a:p>
            <a:pPr algn="ctr"/>
            <a:r>
              <a:rPr lang="zh-CN" altLang="en-US" sz="825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 矩阵榜单建设，清晰的指引商家在该赛道的经营能力提升。</a:t>
            </a:r>
            <a:endParaRPr lang="zh-CN" altLang="en-US" sz="825" dirty="0">
              <a:solidFill>
                <a:schemeClr val="bg2">
                  <a:lumMod val="50000"/>
                </a:schemeClr>
              </a:solidFill>
              <a:latin typeface="+mn-ea"/>
              <a:ea typeface="+mn-ea"/>
              <a:cs typeface="MiSans Medium" panose="00000600000000000000" pitchFamily="2" charset="-122"/>
            </a:endParaRPr>
          </a:p>
        </p:txBody>
      </p:sp>
      <p:sp>
        <p:nvSpPr>
          <p:cNvPr id="181" name="米菲PPT54"/>
          <p:cNvSpPr/>
          <p:nvPr/>
        </p:nvSpPr>
        <p:spPr>
          <a:xfrm>
            <a:off x="7095534" y="3766590"/>
            <a:ext cx="1730505" cy="6238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2" name="米菲PPT59"/>
          <p:cNvSpPr/>
          <p:nvPr/>
        </p:nvSpPr>
        <p:spPr>
          <a:xfrm flipH="1" flipV="1">
            <a:off x="7296479" y="3767617"/>
            <a:ext cx="1339516" cy="196365"/>
          </a:xfrm>
          <a:custGeom>
            <a:avLst/>
            <a:gdLst>
              <a:gd name="connsiteX0" fmla="*/ 3274172 w 3274172"/>
              <a:gd name="connsiteY0" fmla="*/ 416200 h 416200"/>
              <a:gd name="connsiteX1" fmla="*/ 2671379 w 3274172"/>
              <a:gd name="connsiteY1" fmla="*/ 416200 h 416200"/>
              <a:gd name="connsiteX2" fmla="*/ 1771402 w 3274172"/>
              <a:gd name="connsiteY2" fmla="*/ 416200 h 416200"/>
              <a:gd name="connsiteX3" fmla="*/ 1502770 w 3274172"/>
              <a:gd name="connsiteY3" fmla="*/ 416200 h 416200"/>
              <a:gd name="connsiteX4" fmla="*/ 602793 w 3274172"/>
              <a:gd name="connsiteY4" fmla="*/ 416200 h 416200"/>
              <a:gd name="connsiteX5" fmla="*/ 0 w 3274172"/>
              <a:gd name="connsiteY5" fmla="*/ 416200 h 416200"/>
              <a:gd name="connsiteX6" fmla="*/ 211198 w 3274172"/>
              <a:gd name="connsiteY6" fmla="*/ 246200 h 416200"/>
              <a:gd name="connsiteX7" fmla="*/ 479603 w 3274172"/>
              <a:gd name="connsiteY7" fmla="*/ 0 h 416200"/>
              <a:gd name="connsiteX8" fmla="*/ 602793 w 3274172"/>
              <a:gd name="connsiteY8" fmla="*/ 0 h 416200"/>
              <a:gd name="connsiteX9" fmla="*/ 1502770 w 3274172"/>
              <a:gd name="connsiteY9" fmla="*/ 0 h 416200"/>
              <a:gd name="connsiteX10" fmla="*/ 1771402 w 3274172"/>
              <a:gd name="connsiteY10" fmla="*/ 0 h 416200"/>
              <a:gd name="connsiteX11" fmla="*/ 2671379 w 3274172"/>
              <a:gd name="connsiteY11" fmla="*/ 0 h 416200"/>
              <a:gd name="connsiteX12" fmla="*/ 2794569 w 3274172"/>
              <a:gd name="connsiteY12" fmla="*/ 0 h 416200"/>
              <a:gd name="connsiteX13" fmla="*/ 3062974 w 3274172"/>
              <a:gd name="connsiteY13" fmla="*/ 246200 h 416200"/>
              <a:gd name="connsiteX14" fmla="*/ 3274172 w 3274172"/>
              <a:gd name="connsiteY14" fmla="*/ 416200 h 4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74172" h="416200">
                <a:moveTo>
                  <a:pt x="3274172" y="416200"/>
                </a:moveTo>
                <a:lnTo>
                  <a:pt x="2671379" y="416200"/>
                </a:lnTo>
                <a:lnTo>
                  <a:pt x="1771402" y="416200"/>
                </a:lnTo>
                <a:lnTo>
                  <a:pt x="1502770" y="416200"/>
                </a:lnTo>
                <a:lnTo>
                  <a:pt x="602793" y="416200"/>
                </a:lnTo>
                <a:lnTo>
                  <a:pt x="0" y="416200"/>
                </a:lnTo>
                <a:cubicBezTo>
                  <a:pt x="137278" y="386520"/>
                  <a:pt x="126719" y="377479"/>
                  <a:pt x="211198" y="246200"/>
                </a:cubicBezTo>
                <a:cubicBezTo>
                  <a:pt x="295678" y="114921"/>
                  <a:pt x="326702" y="0"/>
                  <a:pt x="479603" y="0"/>
                </a:cubicBezTo>
                <a:lnTo>
                  <a:pt x="602793" y="0"/>
                </a:lnTo>
                <a:lnTo>
                  <a:pt x="1502770" y="0"/>
                </a:lnTo>
                <a:lnTo>
                  <a:pt x="1771402" y="0"/>
                </a:lnTo>
                <a:lnTo>
                  <a:pt x="2671379" y="0"/>
                </a:lnTo>
                <a:lnTo>
                  <a:pt x="2794569" y="0"/>
                </a:lnTo>
                <a:cubicBezTo>
                  <a:pt x="2947470" y="0"/>
                  <a:pt x="2978494" y="114921"/>
                  <a:pt x="3062974" y="246200"/>
                </a:cubicBezTo>
                <a:cubicBezTo>
                  <a:pt x="3147453" y="377479"/>
                  <a:pt x="3136894" y="386520"/>
                  <a:pt x="3274172" y="41620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04800" dist="165100" dir="2700000" algn="tl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5" dirty="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3" name="米菲PPT60"/>
          <p:cNvSpPr txBox="1"/>
          <p:nvPr/>
        </p:nvSpPr>
        <p:spPr>
          <a:xfrm>
            <a:off x="7357747" y="3743622"/>
            <a:ext cx="12599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3">
                    <a:lumMod val="75000"/>
                  </a:schemeClr>
                </a:solidFill>
                <a:latin typeface="+mn-ea"/>
                <a:cs typeface="MiSans Medium" panose="00000600000000000000" pitchFamily="2" charset="-122"/>
              </a:rPr>
              <a:t>品牌力促进收益提升</a:t>
            </a:r>
            <a:endParaRPr lang="zh-CN" altLang="en-US" sz="900" dirty="0">
              <a:solidFill>
                <a:schemeClr val="accent3">
                  <a:lumMod val="7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4" name="米菲PPT77"/>
          <p:cNvSpPr txBox="1"/>
          <p:nvPr/>
        </p:nvSpPr>
        <p:spPr>
          <a:xfrm>
            <a:off x="7063805" y="3987800"/>
            <a:ext cx="182529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</a:lstStyle>
          <a:p>
            <a:pPr algn="ctr"/>
            <a:r>
              <a:rPr lang="zh-CN" altLang="en-US" sz="825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 上榜本身成为一种权威认证，极大提升商家的品牌力与收益。</a:t>
            </a:r>
            <a:endParaRPr lang="zh-CN" altLang="en-US" sz="825" dirty="0">
              <a:solidFill>
                <a:schemeClr val="bg2">
                  <a:lumMod val="50000"/>
                </a:schemeClr>
              </a:solidFill>
              <a:latin typeface="+mn-ea"/>
              <a:ea typeface="+mn-ea"/>
              <a:cs typeface="MiSans Medium" panose="00000600000000000000" pitchFamily="2" charset="-122"/>
            </a:endParaRPr>
          </a:p>
          <a:p>
            <a:pPr algn="ctr"/>
            <a:endParaRPr lang="zh-CN" altLang="en-US" sz="825" dirty="0">
              <a:solidFill>
                <a:schemeClr val="bg2">
                  <a:lumMod val="50000"/>
                </a:schemeClr>
              </a:solidFill>
              <a:latin typeface="+mn-ea"/>
              <a:ea typeface="+mn-ea"/>
              <a:cs typeface="MiSans Medium" panose="00000600000000000000" pitchFamily="2" charset="-122"/>
            </a:endParaRPr>
          </a:p>
        </p:txBody>
      </p:sp>
      <p:sp>
        <p:nvSpPr>
          <p:cNvPr id="185" name="椭圆 184"/>
          <p:cNvSpPr/>
          <p:nvPr/>
        </p:nvSpPr>
        <p:spPr>
          <a:xfrm>
            <a:off x="6684578" y="1517118"/>
            <a:ext cx="435731" cy="181717"/>
          </a:xfrm>
          <a:prstGeom prst="ellipse">
            <a:avLst/>
          </a:prstGeom>
          <a:solidFill>
            <a:srgbClr val="FFFDFA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文本框 185"/>
          <p:cNvSpPr txBox="1"/>
          <p:nvPr/>
        </p:nvSpPr>
        <p:spPr>
          <a:xfrm>
            <a:off x="6425450" y="1508221"/>
            <a:ext cx="953986" cy="18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>
              <a:lnSpc>
                <a:spcPct val="83000"/>
              </a:lnSpc>
            </a:pPr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促成</a:t>
            </a:r>
            <a:endParaRPr lang="zh-CN" altLang="en-US" sz="700" dirty="0">
              <a:solidFill>
                <a:schemeClr val="bg2">
                  <a:lumMod val="50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87" name="米菲PPT17"/>
          <p:cNvSpPr/>
          <p:nvPr/>
        </p:nvSpPr>
        <p:spPr>
          <a:xfrm>
            <a:off x="7019074" y="1936502"/>
            <a:ext cx="1874267" cy="254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PMF</a:t>
            </a:r>
            <a:r>
              <a:rPr lang="zh-CN" altLang="en-US" sz="8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的达成将有效促进</a:t>
            </a:r>
            <a:r>
              <a:rPr lang="en-US" altLang="zh-CN" sz="8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</a:t>
            </a:r>
            <a:r>
              <a:rPr lang="zh-CN" altLang="en-US" sz="800" b="1" dirty="0">
                <a:solidFill>
                  <a:schemeClr val="accent5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端在流量、品牌力的影响，同时带动优质供给提升</a:t>
            </a:r>
            <a:endParaRPr lang="zh-CN" altLang="en-US" sz="800" b="1" dirty="0">
              <a:solidFill>
                <a:schemeClr val="accent5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think-cell 幻灯片" r:id="rId2" imgW="0" imgH="0" progId="TCLayout.ActiveDocument.1">
                  <p:embed/>
                </p:oleObj>
              </mc:Choice>
              <mc:Fallback>
                <p:oleObj name="think-cell 幻灯片" r:id="rId2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资产运营举措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308706" y="430064"/>
            <a:ext cx="8637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基于资产运营定位，</a:t>
            </a:r>
            <a:r>
              <a:rPr lang="en-US" altLang="zh-CN" sz="1200" dirty="0">
                <a:latin typeface="+mn-ea"/>
              </a:rPr>
              <a:t>PMF</a:t>
            </a:r>
            <a:r>
              <a:rPr lang="zh-CN" altLang="en-US" sz="1200" dirty="0">
                <a:latin typeface="+mn-ea"/>
              </a:rPr>
              <a:t>的阶段性达成，当前榜单需要解决的核心问题包括以下三点。后续资产建设与榜单建设，需要到餐多部门协作，同时涉及大量跨</a:t>
            </a:r>
            <a:r>
              <a:rPr lang="en-US" altLang="zh-CN" sz="1200" dirty="0">
                <a:latin typeface="+mn-ea"/>
              </a:rPr>
              <a:t>BU</a:t>
            </a:r>
            <a:r>
              <a:rPr lang="zh-CN" altLang="en-US" sz="1200" dirty="0">
                <a:latin typeface="+mn-ea"/>
              </a:rPr>
              <a:t>协作挑战。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5" name="米菲PPT1-1"/>
          <p:cNvSpPr/>
          <p:nvPr/>
        </p:nvSpPr>
        <p:spPr>
          <a:xfrm>
            <a:off x="127830" y="3341713"/>
            <a:ext cx="5156751" cy="1156640"/>
          </a:xfrm>
          <a:prstGeom prst="rect">
            <a:avLst/>
          </a:prstGeom>
          <a:solidFill>
            <a:schemeClr val="accent2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" name="米菲PPT1-2"/>
          <p:cNvSpPr/>
          <p:nvPr/>
        </p:nvSpPr>
        <p:spPr>
          <a:xfrm>
            <a:off x="111739" y="1269725"/>
            <a:ext cx="5156751" cy="1021379"/>
          </a:xfrm>
          <a:prstGeom prst="rect">
            <a:avLst/>
          </a:prstGeom>
          <a:solidFill>
            <a:schemeClr val="accent2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7" name="米菲PPT1-3"/>
          <p:cNvSpPr/>
          <p:nvPr/>
        </p:nvSpPr>
        <p:spPr>
          <a:xfrm>
            <a:off x="120380" y="2287173"/>
            <a:ext cx="5156751" cy="1059738"/>
          </a:xfrm>
          <a:prstGeom prst="rect">
            <a:avLst/>
          </a:prstGeom>
          <a:solidFill>
            <a:schemeClr val="accent2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01" name="米菲PPT5"/>
          <p:cNvSpPr/>
          <p:nvPr/>
        </p:nvSpPr>
        <p:spPr>
          <a:xfrm>
            <a:off x="7283122" y="1082603"/>
            <a:ext cx="1860878" cy="221389"/>
          </a:xfrm>
          <a:prstGeom prst="rect">
            <a:avLst/>
          </a:prstGeom>
          <a:gradFill flip="none" rotWithShape="1">
            <a:gsLst>
              <a:gs pos="100000">
                <a:schemeClr val="accent3"/>
              </a:gs>
              <a:gs pos="1000">
                <a:schemeClr val="accent3">
                  <a:lumMod val="7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02" name="米菲PPT6"/>
          <p:cNvSpPr txBox="1"/>
          <p:nvPr/>
        </p:nvSpPr>
        <p:spPr>
          <a:xfrm>
            <a:off x="7521286" y="1098567"/>
            <a:ext cx="1424027" cy="2769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algn="ctr" eaLnBrk="0">
              <a:lnSpc>
                <a:spcPct val="114000"/>
              </a:lnSpc>
              <a:defRPr sz="1600">
                <a:solidFill>
                  <a:schemeClr val="bg1"/>
                </a:solidFill>
                <a:latin typeface="+mj-ea"/>
                <a:ea typeface="+mj-ea"/>
                <a:cs typeface="MiSans Normal" panose="00000500000000000000" pitchFamily="2" charset="-122"/>
              </a:defRPr>
            </a:lvl1pPr>
          </a:lstStyle>
          <a:p>
            <a:r>
              <a:rPr lang="zh-CN" altLang="en-US" sz="1195" dirty="0">
                <a:cs typeface="MiSans Medium" panose="00000600000000000000" pitchFamily="2" charset="-122"/>
              </a:rPr>
              <a:t>协同部门</a:t>
            </a:r>
            <a:endParaRPr lang="zh-CN" altLang="en-US" sz="1195" dirty="0">
              <a:cs typeface="MiSans Medium" panose="00000600000000000000" pitchFamily="2" charset="-122"/>
            </a:endParaRPr>
          </a:p>
        </p:txBody>
      </p:sp>
      <p:sp>
        <p:nvSpPr>
          <p:cNvPr id="109" name="米菲PPT13"/>
          <p:cNvSpPr/>
          <p:nvPr/>
        </p:nvSpPr>
        <p:spPr>
          <a:xfrm>
            <a:off x="112254" y="1086353"/>
            <a:ext cx="5156751" cy="221389"/>
          </a:xfrm>
          <a:prstGeom prst="rect">
            <a:avLst/>
          </a:prstGeom>
          <a:gradFill>
            <a:gsLst>
              <a:gs pos="0">
                <a:schemeClr val="accent2">
                  <a:lumMod val="88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0" name="米菲PPT16"/>
          <p:cNvSpPr txBox="1"/>
          <p:nvPr/>
        </p:nvSpPr>
        <p:spPr>
          <a:xfrm>
            <a:off x="1603792" y="1090071"/>
            <a:ext cx="2158163" cy="2769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algn="ctr" eaLnBrk="0">
              <a:lnSpc>
                <a:spcPct val="114000"/>
              </a:lnSpc>
              <a:defRPr sz="1600">
                <a:solidFill>
                  <a:schemeClr val="bg1"/>
                </a:solidFill>
                <a:latin typeface="+mj-ea"/>
                <a:ea typeface="+mj-ea"/>
                <a:cs typeface="MiSans Normal" panose="00000500000000000000" pitchFamily="2" charset="-122"/>
              </a:defRPr>
            </a:lvl1pPr>
          </a:lstStyle>
          <a:p>
            <a:r>
              <a:rPr lang="en-US" altLang="zh-CN" sz="1195" dirty="0">
                <a:cs typeface="MiSans Medium" panose="00000600000000000000" pitchFamily="2" charset="-122"/>
              </a:rPr>
              <a:t>26</a:t>
            </a:r>
            <a:r>
              <a:rPr lang="zh-CN" altLang="en-US" sz="1195" dirty="0">
                <a:cs typeface="MiSans Medium" panose="00000600000000000000" pitchFamily="2" charset="-122"/>
              </a:rPr>
              <a:t>年关键举措</a:t>
            </a:r>
            <a:endParaRPr lang="zh-CN" altLang="en-US" sz="1195" dirty="0">
              <a:cs typeface="MiSans Medium" panose="00000600000000000000" pitchFamily="2" charset="-122"/>
            </a:endParaRPr>
          </a:p>
        </p:txBody>
      </p:sp>
      <p:cxnSp>
        <p:nvCxnSpPr>
          <p:cNvPr id="123" name="米菲PPT32"/>
          <p:cNvCxnSpPr/>
          <p:nvPr/>
        </p:nvCxnSpPr>
        <p:spPr>
          <a:xfrm>
            <a:off x="148530" y="2298157"/>
            <a:ext cx="51199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米菲PPT41"/>
          <p:cNvCxnSpPr/>
          <p:nvPr/>
        </p:nvCxnSpPr>
        <p:spPr>
          <a:xfrm>
            <a:off x="148530" y="3319354"/>
            <a:ext cx="51199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米菲PPT48"/>
          <p:cNvSpPr txBox="1"/>
          <p:nvPr/>
        </p:nvSpPr>
        <p:spPr>
          <a:xfrm>
            <a:off x="295191" y="1345968"/>
            <a:ext cx="4790703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kern="0" baseline="-80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r>
              <a:rPr lang="zh-CN" altLang="en-US" sz="1355" dirty="0">
                <a:solidFill>
                  <a:schemeClr val="accent2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问题一：满足消费者需求，让消费者“使用你”；对应提供更多优质门店上榜机会</a:t>
            </a:r>
            <a:endParaRPr lang="zh-CN" altLang="en-US" sz="1355" dirty="0">
              <a:solidFill>
                <a:schemeClr val="accent2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1" name="米菲PPT49"/>
          <p:cNvSpPr txBox="1"/>
          <p:nvPr/>
        </p:nvSpPr>
        <p:spPr>
          <a:xfrm>
            <a:off x="-163165" y="1525047"/>
            <a:ext cx="5416979" cy="6918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kern="0" baseline="-80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lvl="1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</a:pPr>
            <a:r>
              <a:rPr lang="zh-CN" altLang="en-US" sz="900" b="1" dirty="0">
                <a:effectLst/>
              </a:rPr>
              <a:t>核心举措：扩大榜单供给覆盖。</a:t>
            </a:r>
            <a:r>
              <a:rPr lang="zh-CN" altLang="en-US" sz="900" dirty="0">
                <a:latin typeface="+mn-ea"/>
              </a:rPr>
              <a:t>提升核心城市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区县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商圈多级区域覆盖，</a:t>
            </a:r>
            <a:r>
              <a:rPr lang="zh-CN" altLang="en-US" sz="900" dirty="0">
                <a:effectLst/>
              </a:rPr>
              <a:t>系统化搭建品类、主题场景、节日时令等榜单矩阵</a:t>
            </a:r>
            <a:r>
              <a:rPr lang="zh-CN" altLang="en-US" sz="900" dirty="0">
                <a:effectLst/>
                <a:latin typeface="+mn-ea"/>
              </a:rPr>
              <a:t>。</a:t>
            </a:r>
            <a:r>
              <a:rPr lang="zh-CN" altLang="en-US" sz="900" dirty="0">
                <a:effectLst/>
              </a:rPr>
              <a:t>牵引更广泛的核心商家，赋能不同品类、各具特色、具有差异化供给能力的商户。通过扩大榜单供给覆盖，满足人群</a:t>
            </a:r>
            <a:r>
              <a:rPr lang="en-US" altLang="zh-CN" sz="900" dirty="0">
                <a:effectLst/>
              </a:rPr>
              <a:t>x</a:t>
            </a:r>
            <a:r>
              <a:rPr lang="zh-CN" altLang="en-US" sz="900" dirty="0">
                <a:effectLst/>
              </a:rPr>
              <a:t>品类</a:t>
            </a:r>
            <a:r>
              <a:rPr lang="en-US" altLang="zh-CN" sz="900" dirty="0">
                <a:effectLst/>
              </a:rPr>
              <a:t>x</a:t>
            </a:r>
            <a:r>
              <a:rPr lang="zh-CN" altLang="en-US" sz="900" dirty="0">
                <a:effectLst/>
              </a:rPr>
              <a:t>场景用餐决策需求。</a:t>
            </a:r>
            <a:endParaRPr lang="en-US" altLang="zh-CN" sz="900" dirty="0">
              <a:effectLst/>
            </a:endParaRPr>
          </a:p>
        </p:txBody>
      </p:sp>
      <p:sp>
        <p:nvSpPr>
          <p:cNvPr id="196" name="米菲PPT54"/>
          <p:cNvSpPr txBox="1"/>
          <p:nvPr/>
        </p:nvSpPr>
        <p:spPr>
          <a:xfrm>
            <a:off x="286182" y="2322081"/>
            <a:ext cx="5014266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kern="0" baseline="-80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r>
              <a:rPr lang="zh-CN" altLang="en-US" sz="1355" dirty="0">
                <a:solidFill>
                  <a:schemeClr val="accent2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问题二：提升榜单公信力，让消费者“相信你”；对应商户的优质资产可以在平台发挥更多价值</a:t>
            </a:r>
            <a:endParaRPr lang="zh-CN" altLang="en-US" sz="1355" dirty="0">
              <a:solidFill>
                <a:schemeClr val="accent2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01" name="米菲PPT59"/>
          <p:cNvSpPr txBox="1"/>
          <p:nvPr/>
        </p:nvSpPr>
        <p:spPr>
          <a:xfrm>
            <a:off x="295191" y="3366831"/>
            <a:ext cx="4693369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kern="0" baseline="-80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r>
              <a:rPr lang="zh-CN" altLang="en-US" sz="1355" dirty="0">
                <a:solidFill>
                  <a:schemeClr val="accent2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问题三：建设榜单心智，让消费者“记得你”；面向商户强化榜单价值，增加牵引力</a:t>
            </a:r>
            <a:endParaRPr lang="zh-CN" altLang="en-US" sz="1355" dirty="0">
              <a:solidFill>
                <a:schemeClr val="accent2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0" name="米菲PPT49"/>
          <p:cNvSpPr txBox="1"/>
          <p:nvPr/>
        </p:nvSpPr>
        <p:spPr>
          <a:xfrm>
            <a:off x="-188511" y="2511380"/>
            <a:ext cx="5416979" cy="48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kern="0" baseline="-80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lvl="1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</a:pPr>
            <a:r>
              <a:rPr lang="zh-CN" altLang="en-US" sz="900" dirty="0">
                <a:effectLst/>
              </a:rPr>
              <a:t>加强双平台资产一致互通</a:t>
            </a:r>
            <a:r>
              <a:rPr lang="zh-CN" altLang="en-US" sz="900" dirty="0">
                <a:latin typeface="+mn-ea"/>
              </a:rPr>
              <a:t>，迭代</a:t>
            </a:r>
            <a:r>
              <a:rPr lang="zh-CN" altLang="en-US" sz="900" dirty="0">
                <a:latin typeface="+mn-ea"/>
                <a:ea typeface="+mn-ea"/>
              </a:rPr>
              <a:t>榜单规则，</a:t>
            </a:r>
            <a:r>
              <a:rPr lang="zh-CN" altLang="en-US" sz="900" dirty="0">
                <a:solidFill>
                  <a:srgbClr val="1F2328"/>
                </a:solidFill>
                <a:effectLst/>
              </a:rPr>
              <a:t>通过优化</a:t>
            </a:r>
            <a:r>
              <a:rPr lang="zh-CN" altLang="en-US" sz="900" dirty="0">
                <a:solidFill>
                  <a:srgbClr val="000000"/>
                </a:solidFill>
                <a:effectLst/>
              </a:rPr>
              <a:t>核心资产建设，并加强、丰富榜单对核心资产的多维引用，形成榜单差异化定位，</a:t>
            </a:r>
            <a:r>
              <a:rPr lang="zh-CN" altLang="en-US" sz="900" dirty="0">
                <a:effectLst/>
              </a:rPr>
              <a:t>提升公信力及牵引力，助力商家资产沉淀。</a:t>
            </a:r>
            <a:endParaRPr lang="en-US" altLang="zh-CN" sz="900" dirty="0">
              <a:effectLst/>
            </a:endParaRPr>
          </a:p>
        </p:txBody>
      </p:sp>
      <p:sp>
        <p:nvSpPr>
          <p:cNvPr id="261" name="米菲PPT49"/>
          <p:cNvSpPr txBox="1"/>
          <p:nvPr/>
        </p:nvSpPr>
        <p:spPr>
          <a:xfrm>
            <a:off x="-163165" y="3573325"/>
            <a:ext cx="5416979" cy="8996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600" kern="0" baseline="-80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lvl="1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</a:pPr>
            <a:r>
              <a:rPr lang="zh-CN" altLang="en-US" sz="900" b="1" dirty="0">
                <a:effectLst/>
              </a:rPr>
              <a:t>核心举措：提升榜单服务能力及心智。</a:t>
            </a:r>
            <a:r>
              <a:rPr lang="zh-CN" altLang="en-US" sz="900" dirty="0">
                <a:effectLst/>
              </a:rPr>
              <a:t>联动产品、用增运及双平台，将流量和销量等权益导向上榜核心</a:t>
            </a:r>
            <a:r>
              <a:rPr lang="zh-CN" altLang="en-US" sz="900" dirty="0"/>
              <a:t>供</a:t>
            </a:r>
            <a:r>
              <a:rPr lang="zh-CN" altLang="en-US" sz="900" dirty="0">
                <a:effectLst/>
              </a:rPr>
              <a:t>给，强化上榜商家身份标识荣誉。加强商户辅导，</a:t>
            </a:r>
            <a:r>
              <a:rPr lang="zh-CN" altLang="en-US" sz="900" dirty="0">
                <a:solidFill>
                  <a:srgbClr val="000000"/>
                </a:solidFill>
                <a:effectLst/>
              </a:rPr>
              <a:t>打通商户反馈沟通渠道</a:t>
            </a:r>
            <a:r>
              <a:rPr lang="zh-CN" altLang="en-US" sz="900" dirty="0">
                <a:effectLst/>
              </a:rPr>
              <a:t>，提升商家冲榜意愿、能力及满意度。</a:t>
            </a:r>
            <a:r>
              <a:rPr lang="zh-CN" altLang="en-US" sz="900" dirty="0">
                <a:solidFill>
                  <a:srgbClr val="000000"/>
                </a:solidFill>
                <a:effectLst/>
              </a:rPr>
              <a:t>用户侧，完善用户到餐主要决策动线，提升榜单承接用户消费决策需求的能力。联动市场，加强线上线下营销，</a:t>
            </a:r>
            <a:r>
              <a:rPr lang="zh-CN" altLang="en-US" sz="900" dirty="0">
                <a:effectLst/>
              </a:rPr>
              <a:t>提升榜单整体品牌力及认知度。</a:t>
            </a:r>
            <a:endParaRPr lang="en-US" altLang="zh-CN" sz="900" dirty="0">
              <a:effectLst/>
            </a:endParaRPr>
          </a:p>
        </p:txBody>
      </p:sp>
      <p:sp>
        <p:nvSpPr>
          <p:cNvPr id="2" name="米菲PPT13"/>
          <p:cNvSpPr/>
          <p:nvPr/>
        </p:nvSpPr>
        <p:spPr>
          <a:xfrm>
            <a:off x="5284581" y="1086353"/>
            <a:ext cx="1979846" cy="22138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95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专项解决</a:t>
            </a:r>
            <a:endParaRPr lang="zh-CN" altLang="en-US" sz="1195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84581" y="1410224"/>
            <a:ext cx="1974112" cy="3488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新榜单建设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（场景、新热、时令节日）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84581" y="1777167"/>
            <a:ext cx="1974112" cy="3488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存量榜单覆盖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（品类、城市、商圈）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306426" y="2189461"/>
            <a:ext cx="1974112" cy="348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规则优化</a:t>
            </a:r>
            <a:br>
              <a:rPr lang="en-US" altLang="zh-CN" sz="900" dirty="0">
                <a:solidFill>
                  <a:schemeClr val="tx1"/>
                </a:solidFill>
                <a:latin typeface="+mn-ea"/>
              </a:rPr>
            </a:b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（提升上榜门店质量）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300448" y="4141506"/>
            <a:ext cx="1974112" cy="3488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营销活动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212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、周榜单日、美妙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节）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304173" y="3741586"/>
            <a:ext cx="1974112" cy="3488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用户核心路径透传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（大搜、猜喜、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POI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页）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304173" y="3327238"/>
            <a:ext cx="1974112" cy="3488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商家教育及服务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（榜单规则、诊断）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300448" y="2564042"/>
            <a:ext cx="1974112" cy="348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点评协同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（双端资产、规则互通）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306426" y="2943268"/>
            <a:ext cx="1974112" cy="348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资产完善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（基于需求做资产的新建和覆盖）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米菲PPT36"/>
          <p:cNvSpPr txBox="1"/>
          <p:nvPr/>
        </p:nvSpPr>
        <p:spPr>
          <a:xfrm>
            <a:off x="7496857" y="1627894"/>
            <a:ext cx="1758118" cy="4863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到餐：产研团队、用增团队、销售</a:t>
            </a:r>
            <a:endParaRPr lang="en-US" altLang="zh-CN" sz="9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3" name="米菲PPT36"/>
          <p:cNvSpPr txBox="1"/>
          <p:nvPr/>
        </p:nvSpPr>
        <p:spPr>
          <a:xfrm>
            <a:off x="7521286" y="2391415"/>
            <a:ext cx="1758118" cy="6941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到餐：产研团队、销售</a:t>
            </a:r>
            <a:endParaRPr lang="en-US" altLang="zh-CN" sz="9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平台：</a:t>
            </a:r>
            <a:r>
              <a:rPr lang="en-US" altLang="zh-CN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PDC</a:t>
            </a:r>
            <a:endParaRPr lang="en-US" altLang="zh-CN" sz="9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点评：产研、运营、市场</a:t>
            </a:r>
            <a:endParaRPr lang="en-US" altLang="zh-CN" sz="9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" name="米菲PPT36"/>
          <p:cNvSpPr txBox="1"/>
          <p:nvPr/>
        </p:nvSpPr>
        <p:spPr>
          <a:xfrm>
            <a:off x="7521286" y="3561039"/>
            <a:ext cx="1683226" cy="6934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到餐：产研团队、用增、销运</a:t>
            </a:r>
            <a:r>
              <a:rPr lang="en-US" altLang="zh-CN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销售</a:t>
            </a:r>
            <a:r>
              <a:rPr lang="en-US" altLang="zh-CN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销支、用研</a:t>
            </a:r>
            <a:endParaRPr lang="en-US" altLang="zh-CN" sz="9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9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平台：大搜、猜喜产研、市场</a:t>
            </a:r>
            <a:endParaRPr lang="en-US" altLang="zh-CN" sz="9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" name="右大括号 34"/>
          <p:cNvSpPr/>
          <p:nvPr/>
        </p:nvSpPr>
        <p:spPr>
          <a:xfrm>
            <a:off x="7274560" y="1553891"/>
            <a:ext cx="222297" cy="4479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右大括号 37"/>
          <p:cNvSpPr/>
          <p:nvPr/>
        </p:nvSpPr>
        <p:spPr>
          <a:xfrm>
            <a:off x="7283122" y="2317292"/>
            <a:ext cx="213735" cy="8859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右大括号 38"/>
          <p:cNvSpPr/>
          <p:nvPr/>
        </p:nvSpPr>
        <p:spPr>
          <a:xfrm>
            <a:off x="7303826" y="3455660"/>
            <a:ext cx="213735" cy="8859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673577" y="876943"/>
          <a:ext cx="6050944" cy="3389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736"/>
                <a:gridCol w="1512736"/>
                <a:gridCol w="1512736"/>
                <a:gridCol w="1512736"/>
              </a:tblGrid>
              <a:tr h="42370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2370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8474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23702"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23702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74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米菲PPT11-7"/>
          <p:cNvSpPr txBox="1"/>
          <p:nvPr/>
        </p:nvSpPr>
        <p:spPr>
          <a:xfrm>
            <a:off x="2085217" y="898124"/>
            <a:ext cx="7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核心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门店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7" name="米菲PPT11-7"/>
          <p:cNvSpPr txBox="1"/>
          <p:nvPr/>
        </p:nvSpPr>
        <p:spPr>
          <a:xfrm>
            <a:off x="2085217" y="3327304"/>
            <a:ext cx="7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非核心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门店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8" name="米菲PPT11-7"/>
          <p:cNvSpPr txBox="1"/>
          <p:nvPr/>
        </p:nvSpPr>
        <p:spPr>
          <a:xfrm>
            <a:off x="2878987" y="4347676"/>
            <a:ext cx="9508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未合作</a:t>
            </a:r>
            <a:r>
              <a:rPr lang="en-US" altLang="zh-CN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低价值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" name="米菲PPT11-7"/>
          <p:cNvSpPr txBox="1"/>
          <p:nvPr/>
        </p:nvSpPr>
        <p:spPr>
          <a:xfrm>
            <a:off x="4599816" y="4347676"/>
            <a:ext cx="7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未合作高潜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（高流）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" name="米菲PPT11-7"/>
          <p:cNvSpPr txBox="1"/>
          <p:nvPr/>
        </p:nvSpPr>
        <p:spPr>
          <a:xfrm>
            <a:off x="6093998" y="4342470"/>
            <a:ext cx="7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合作高潜（高流地转）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8" name="米菲PPT11-7"/>
          <p:cNvSpPr txBox="1"/>
          <p:nvPr/>
        </p:nvSpPr>
        <p:spPr>
          <a:xfrm>
            <a:off x="7657755" y="4342470"/>
            <a:ext cx="793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合作高价值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3" name="米菲PPT1"/>
          <p:cNvSpPr/>
          <p:nvPr/>
        </p:nvSpPr>
        <p:spPr>
          <a:xfrm rot="11466425">
            <a:off x="2805092" y="1132066"/>
            <a:ext cx="6132892" cy="2525834"/>
          </a:xfrm>
          <a:prstGeom prst="ellipse">
            <a:avLst/>
          </a:prstGeom>
          <a:solidFill>
            <a:schemeClr val="accent1">
              <a:lumMod val="20000"/>
              <a:lumOff val="80000"/>
              <a:alpha val="43000"/>
            </a:schemeClr>
          </a:solidFill>
          <a:ln w="952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4" name="米菲PPT8-21"/>
          <p:cNvSpPr/>
          <p:nvPr/>
        </p:nvSpPr>
        <p:spPr>
          <a:xfrm>
            <a:off x="3834734" y="631965"/>
            <a:ext cx="941815" cy="276885"/>
          </a:xfrm>
          <a:prstGeom prst="round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美团榜单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0" name="米菲PPT1"/>
          <p:cNvSpPr/>
          <p:nvPr/>
        </p:nvSpPr>
        <p:spPr>
          <a:xfrm rot="9967464">
            <a:off x="3214728" y="2141604"/>
            <a:ext cx="4274091" cy="1846178"/>
          </a:xfrm>
          <a:prstGeom prst="ellipse">
            <a:avLst/>
          </a:prstGeom>
          <a:solidFill>
            <a:schemeClr val="accent5">
              <a:lumMod val="20000"/>
              <a:lumOff val="80000"/>
              <a:alpha val="43000"/>
            </a:schemeClr>
          </a:solidFill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1" name="米菲PPT8-21"/>
          <p:cNvSpPr/>
          <p:nvPr/>
        </p:nvSpPr>
        <p:spPr>
          <a:xfrm>
            <a:off x="5328916" y="3854949"/>
            <a:ext cx="941815" cy="276885"/>
          </a:xfrm>
          <a:prstGeom prst="roundRect">
            <a:avLst/>
          </a:prstGeom>
          <a:solidFill>
            <a:schemeClr val="tx2"/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50" b="1" kern="0" dirty="0">
                <a:solidFill>
                  <a:schemeClr val="bg1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高德榜单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7" name="米菲PPT1"/>
          <p:cNvSpPr/>
          <p:nvPr/>
        </p:nvSpPr>
        <p:spPr>
          <a:xfrm rot="10800000">
            <a:off x="4572000" y="998021"/>
            <a:ext cx="4244362" cy="2016110"/>
          </a:xfrm>
          <a:prstGeom prst="ellipse">
            <a:avLst/>
          </a:prstGeom>
          <a:solidFill>
            <a:schemeClr val="accent4">
              <a:lumMod val="20000"/>
              <a:lumOff val="80000"/>
              <a:alpha val="43000"/>
            </a:schemeClr>
          </a:solidFill>
          <a:ln w="9525">
            <a:solidFill>
              <a:schemeClr val="accent4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9" name="米菲PPT8-21"/>
          <p:cNvSpPr/>
          <p:nvPr/>
        </p:nvSpPr>
        <p:spPr>
          <a:xfrm>
            <a:off x="6892673" y="631964"/>
            <a:ext cx="941815" cy="276885"/>
          </a:xfrm>
          <a:prstGeom prst="roundRect">
            <a:avLst/>
          </a:prstGeom>
          <a:solidFill>
            <a:schemeClr val="accent4"/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50" b="1" kern="0" dirty="0">
                <a:solidFill>
                  <a:schemeClr val="bg1"/>
                </a:solidFill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点评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Medium"/>
                <a:ea typeface="MiSans Medium"/>
                <a:cs typeface="MiSans Medium" panose="00000600000000000000" pitchFamily="2" charset="-122"/>
                <a:sym typeface="MiSans Bold" panose="00000800000000000000" pitchFamily="2" charset="-122"/>
              </a:rPr>
              <a:t>榜单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Medium"/>
              <a:ea typeface="MiSans Medium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2" name="米菲PPT11-10"/>
          <p:cNvSpPr txBox="1"/>
          <p:nvPr/>
        </p:nvSpPr>
        <p:spPr>
          <a:xfrm>
            <a:off x="139770" y="1368580"/>
            <a:ext cx="203852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美团和点评总上榜门店占比高德上榜门店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60%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点评和美团榜单核心门店的覆盖占比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85%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（占比核心）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3" name="米菲PPT11-7"/>
          <p:cNvSpPr txBox="1"/>
          <p:nvPr/>
        </p:nvSpPr>
        <p:spPr>
          <a:xfrm>
            <a:off x="8501082" y="876943"/>
            <a:ext cx="7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核心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城市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4" name="米菲PPT11-7"/>
          <p:cNvSpPr txBox="1"/>
          <p:nvPr/>
        </p:nvSpPr>
        <p:spPr>
          <a:xfrm>
            <a:off x="8501082" y="3306123"/>
            <a:ext cx="7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非核心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城市</a:t>
            </a:r>
            <a:endParaRPr lang="en-US" altLang="zh-CN" sz="9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5" name="文本占位符 10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榜单矩阵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think-cell 幻灯片" r:id="rId2" imgW="0" imgH="0" progId="TCLayout.ActiveDocument.1">
                  <p:embed/>
                </p:oleObj>
              </mc:Choice>
              <mc:Fallback>
                <p:oleObj name="think-cell 幻灯片" r:id="rId2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资产运营举措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308706" y="430064"/>
            <a:ext cx="8637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基于</a:t>
            </a:r>
            <a:r>
              <a:rPr lang="en-US" altLang="zh-CN" sz="1200" dirty="0">
                <a:latin typeface="+mn-ea"/>
              </a:rPr>
              <a:t>PMF</a:t>
            </a:r>
            <a:r>
              <a:rPr lang="zh-CN" altLang="en-US" sz="1200" dirty="0">
                <a:latin typeface="+mn-ea"/>
              </a:rPr>
              <a:t>、榜单双端价值及举措，当前榜单建建设，需形成专项解决方案，后续资产与榜单建设需到餐多部门协作，同时涉及大量跨</a:t>
            </a:r>
            <a:r>
              <a:rPr lang="en-US" altLang="zh-CN" sz="1200" dirty="0">
                <a:latin typeface="+mn-ea"/>
              </a:rPr>
              <a:t>BU</a:t>
            </a:r>
            <a:r>
              <a:rPr lang="zh-CN" altLang="en-US" sz="1200" dirty="0">
                <a:latin typeface="+mn-ea"/>
              </a:rPr>
              <a:t>协作，难度较大。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01" name="米菲PPT5"/>
          <p:cNvSpPr/>
          <p:nvPr/>
        </p:nvSpPr>
        <p:spPr>
          <a:xfrm>
            <a:off x="4642333" y="1110044"/>
            <a:ext cx="3272713" cy="218863"/>
          </a:xfrm>
          <a:prstGeom prst="rect">
            <a:avLst/>
          </a:prstGeom>
          <a:gradFill flip="none" rotWithShape="1">
            <a:gsLst>
              <a:gs pos="100000">
                <a:schemeClr val="accent3"/>
              </a:gs>
              <a:gs pos="1000">
                <a:schemeClr val="accent3">
                  <a:lumMod val="75000"/>
                </a:schemeClr>
              </a:gs>
            </a:gsLst>
            <a:lin ang="19800000" scaled="0"/>
            <a:tileRect/>
          </a:gradFill>
          <a:ln w="3810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200" b="1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02" name="米菲PPT6"/>
          <p:cNvSpPr txBox="1"/>
          <p:nvPr/>
        </p:nvSpPr>
        <p:spPr>
          <a:xfrm>
            <a:off x="5597387" y="1117564"/>
            <a:ext cx="1424027" cy="2769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algn="ctr" eaLnBrk="0">
              <a:lnSpc>
                <a:spcPct val="114000"/>
              </a:lnSpc>
              <a:defRPr sz="1600">
                <a:solidFill>
                  <a:schemeClr val="bg1"/>
                </a:solidFill>
                <a:latin typeface="+mj-ea"/>
                <a:ea typeface="+mj-ea"/>
                <a:cs typeface="MiSans Normal" panose="00000500000000000000" pitchFamily="2" charset="-122"/>
              </a:defRPr>
            </a:lvl1pPr>
          </a:lstStyle>
          <a:p>
            <a:r>
              <a:rPr lang="zh-CN" altLang="en-US" sz="1200" b="1" dirty="0">
                <a:cs typeface="MiSans Medium" panose="00000600000000000000" pitchFamily="2" charset="-122"/>
              </a:rPr>
              <a:t>协同部门</a:t>
            </a:r>
            <a:endParaRPr lang="zh-CN" altLang="en-US" sz="1200" b="1" dirty="0">
              <a:cs typeface="MiSans Medium" panose="00000600000000000000" pitchFamily="2" charset="-122"/>
            </a:endParaRPr>
          </a:p>
        </p:txBody>
      </p:sp>
      <p:sp>
        <p:nvSpPr>
          <p:cNvPr id="2" name="米菲PPT13"/>
          <p:cNvSpPr/>
          <p:nvPr/>
        </p:nvSpPr>
        <p:spPr>
          <a:xfrm>
            <a:off x="780091" y="1108299"/>
            <a:ext cx="3616778" cy="22138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专项解决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4831" y="1432170"/>
            <a:ext cx="3606303" cy="3488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新榜单建设（场景、新热、时令节日）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4831" y="1799113"/>
            <a:ext cx="3606303" cy="3488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存量榜单覆盖（品类、城市、商圈）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6676" y="2211407"/>
            <a:ext cx="3606303" cy="348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规则优化（提升上榜门店质量）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00698" y="4163452"/>
            <a:ext cx="3606303" cy="3488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营销活动（榜单日、两榜一会双节、跨平台联动）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04423" y="3763532"/>
            <a:ext cx="3606303" cy="3488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用户核心路径透传（大搜、猜喜、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页）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04423" y="3349184"/>
            <a:ext cx="3606303" cy="3488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商家教育及服务（榜单规则、诊断、成长体系）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00698" y="2585988"/>
            <a:ext cx="3606303" cy="348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点评协同（双端资产、规则互通）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06676" y="2965214"/>
            <a:ext cx="3606303" cy="348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资产完善（基于需求做资产的新建和覆盖）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米菲PPT36"/>
          <p:cNvSpPr txBox="1"/>
          <p:nvPr/>
        </p:nvSpPr>
        <p:spPr>
          <a:xfrm>
            <a:off x="4962790" y="1661319"/>
            <a:ext cx="3861355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到餐：产研团队、用增团队、销售</a:t>
            </a:r>
            <a:endParaRPr lang="en-US" altLang="zh-CN" sz="105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3" name="米菲PPT36"/>
          <p:cNvSpPr txBox="1"/>
          <p:nvPr/>
        </p:nvSpPr>
        <p:spPr>
          <a:xfrm>
            <a:off x="5145047" y="2414023"/>
            <a:ext cx="3198255" cy="7909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到餐：产研团队、销售</a:t>
            </a:r>
            <a:endParaRPr lang="en-US" altLang="zh-CN" sz="105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平台：</a:t>
            </a:r>
            <a:r>
              <a:rPr lang="en-US" altLang="zh-CN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PDC</a:t>
            </a:r>
            <a:endParaRPr lang="en-US" altLang="zh-CN" sz="105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点评：产研、运营、市场</a:t>
            </a:r>
            <a:endParaRPr lang="en-US" altLang="zh-CN" sz="105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" name="米菲PPT36"/>
          <p:cNvSpPr txBox="1"/>
          <p:nvPr/>
        </p:nvSpPr>
        <p:spPr>
          <a:xfrm>
            <a:off x="4962790" y="3663682"/>
            <a:ext cx="3062016" cy="5485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到餐：产研团队、用增、销运</a:t>
            </a:r>
            <a:r>
              <a:rPr lang="en-US" altLang="zh-CN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/</a:t>
            </a: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销售</a:t>
            </a:r>
            <a:r>
              <a:rPr lang="en-US" altLang="zh-CN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/</a:t>
            </a: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销支、用研</a:t>
            </a:r>
            <a:endParaRPr lang="en-US" altLang="zh-CN" sz="105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平台：大搜、猜喜产研、市场</a:t>
            </a:r>
            <a:endParaRPr lang="en-US" altLang="zh-CN" sz="105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" name="右大括号 34"/>
          <p:cNvSpPr/>
          <p:nvPr/>
        </p:nvSpPr>
        <p:spPr>
          <a:xfrm>
            <a:off x="4475276" y="1581331"/>
            <a:ext cx="380793" cy="4479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右大括号 37"/>
          <p:cNvSpPr/>
          <p:nvPr/>
        </p:nvSpPr>
        <p:spPr>
          <a:xfrm>
            <a:off x="4489944" y="2344732"/>
            <a:ext cx="366126" cy="8859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右大括号 38"/>
          <p:cNvSpPr/>
          <p:nvPr/>
        </p:nvSpPr>
        <p:spPr>
          <a:xfrm>
            <a:off x="4510648" y="3483100"/>
            <a:ext cx="366126" cy="8859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THINKCELLSHAPEDONOTDELETE" val="thinkcellActiveDocDoNotDelete"/>
</p:tagLst>
</file>

<file path=ppt/tags/tag10.xml><?xml version="1.0" encoding="utf-8"?>
<p:tagLst xmlns:p="http://schemas.openxmlformats.org/presentationml/2006/main">
  <p:tag name="THINKCELLSHAPEDONOTDELETE" val="thinkcellActiveDocDoNotDelete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PRESENTATIONDONOTDELETE" val="&lt;?xml version=&quot;1.0&quot; encoding=&quot;UTF-16&quot; standalone=&quot;yes&quot;?&gt;&lt;root reqver=&quot;28224&quot;&gt;&lt;version val=&quot;352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28795101485287943888E+00&quot;&gt;&lt;m_msothmcolidx val=&quot;0&quot;/&gt;&lt;m_rgb r=&quot;59&quot; g=&quot;8A&quot; b=&quot;39&quot;/&gt;&lt;/elem&gt;&lt;elem m_fUsage=&quot;1.81000000000000005329E+00&quot;&gt;&lt;m_msothmcolidx val=&quot;0&quot;/&gt;&lt;m_rgb r=&quot;81&quot; g=&quot;E1&quot; b=&quot;6B&quot;/&gt;&lt;/elem&gt;&lt;elem m_fUsage=&quot;1.31533513454961004108E+00&quot;&gt;&lt;m_msothmcolidx val=&quot;0&quot;/&gt;&lt;m_rgb r=&quot;8D&quot; g=&quot;BA&quot; b=&quot;E2&quot;/&gt;&lt;/elem&gt;&lt;elem m_fUsage=&quot;1.23947023701656355854E+00&quot;&gt;&lt;m_msothmcolidx val=&quot;0&quot;/&gt;&lt;m_rgb r=&quot;FF&quot; g=&quot;E9&quot; b=&quot;7D&quot;/&gt;&lt;/elem&gt;&lt;elem m_fUsage=&quot;1.12193100000000001160E+00&quot;&gt;&lt;m_msothmcolidx val=&quot;0&quot;/&gt;&lt;m_rgb r=&quot;5F&quot; g=&quot;D5&quot; b=&quot;DE&quot;/&gt;&lt;/elem&gt;&lt;elem m_fUsage=&quot;8.17629381196525284459E-01&quot;&gt;&lt;m_msothmcolidx val=&quot;0&quot;/&gt;&lt;m_rgb r=&quot;FF&quot; g=&quot;DD&quot; b=&quot;3C&quot;/&gt;&lt;/elem&gt;&lt;elem m_fUsage=&quot;3.48678440100000153201E-01&quot;&gt;&lt;m_msothmcolidx val=&quot;0&quot;/&gt;&lt;m_rgb r=&quot;FF&quot; g=&quot;B6&quot; b=&quot;5B&quot;/&gt;&lt;/elem&gt;&lt;elem m_fUsage=&quot;2.82429536481000165171E-01&quot;&gt;&lt;m_msothmcolidx val=&quot;0&quot;/&gt;&lt;m_rgb r=&quot;F4&quot; g=&quot;80&quot; b=&quot;32&quot;/&gt;&lt;/elem&gt;&lt;elem m_fUsage=&quot;2.54186582832900132001E-01&quot;&gt;&lt;m_msothmcolidx val=&quot;0&quot;/&gt;&lt;m_rgb r=&quot;94&quot; g=&quot;E2&quot; b=&quot;E9&quot;/&gt;&lt;/elem&gt;&lt;elem m_fUsage=&quot;9.84770902183611934744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9126</Words>
  <Application>WPS Office WWO_wpscloud_20250327183535-71b80af4c0</Application>
  <PresentationFormat>全屏显示(16:9)</PresentationFormat>
  <Paragraphs>1201</Paragraphs>
  <Slides>19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19</vt:i4>
      </vt:variant>
    </vt:vector>
  </HeadingPairs>
  <TitlesOfParts>
    <vt:vector size="46" baseType="lpstr">
      <vt:lpstr>Arial</vt:lpstr>
      <vt:lpstr>宋体</vt:lpstr>
      <vt:lpstr>Wingdings</vt:lpstr>
      <vt:lpstr>Helvetica Neue Medium</vt:lpstr>
      <vt:lpstr>Calibri</vt:lpstr>
      <vt:lpstr>楷体</vt:lpstr>
      <vt:lpstr>Microsoft YaHei</vt:lpstr>
      <vt:lpstr>MiSans Medium</vt:lpstr>
      <vt:lpstr>汉仪书宋二KW</vt:lpstr>
      <vt:lpstr>MiSans Bold</vt:lpstr>
      <vt:lpstr>MiSans Medium</vt:lpstr>
      <vt:lpstr>PingFang SC</vt:lpstr>
      <vt:lpstr>quote-cjk-patch</vt:lpstr>
      <vt:lpstr>MiSans Normal</vt:lpstr>
      <vt:lpstr>Barlow Medium</vt:lpstr>
      <vt:lpstr>Office 主题​​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为提升商户对榜单规则的认知与参与动力，我们构建了一套“产品赋能、线下触达、线上交流”的全方位助力体系。通过将复杂规则转化为清晰指引，变被动管理为主动服务，旨在降低上榜门槛，激发商户内生动力，最终实现平台与商户的共赢增长。</vt:lpstr>
      <vt:lpstr>@斯涵</vt:lpstr>
      <vt:lpstr>组织职能分工-D+心动榜（甄选榜之前调研在平行团队生活服务-内容与营销-内容与创作者负责）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陈婧佳</dc:creator>
  <cp:lastModifiedBy>wcc</cp:lastModifiedBy>
  <cp:lastPrinted>2025-11-14T02:05:37Z</cp:lastPrinted>
  <dcterms:created xsi:type="dcterms:W3CDTF">2025-11-14T02:05:37Z</dcterms:created>
  <dcterms:modified xsi:type="dcterms:W3CDTF">2025-11-14T02:05:37Z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PMF-20251113 1.pptx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2c2a64517becf6be3b02af382c6c66c2bc630b5d</vt:lpwstr>
  </property>
  <property fmtid="{D5CDD505-2E9C-101B-9397-08002B2CF9AE}" pid="7" name="ICV">
    <vt:lpwstr>C181CBB1924B97FA718E1669E4783B39_42</vt:lpwstr>
  </property>
  <property fmtid="{D5CDD505-2E9C-101B-9397-08002B2CF9AE}" pid="8" name="KSOProductBuildVer">
    <vt:lpwstr>2052-0.0.0.0</vt:lpwstr>
  </property>
</Properties>
</file>