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14999171" r:id="rId2"/>
    <p:sldId id="14998990" r:id="rId3"/>
    <p:sldId id="15716281" r:id="rId4"/>
    <p:sldId id="15716288" r:id="rId5"/>
    <p:sldId id="15716294" r:id="rId6"/>
    <p:sldId id="15716293" r:id="rId7"/>
    <p:sldId id="15716297" r:id="rId8"/>
    <p:sldId id="15716298" r:id="rId9"/>
    <p:sldId id="15716299" r:id="rId10"/>
    <p:sldId id="15716283" r:id="rId11"/>
    <p:sldId id="15716295" r:id="rId12"/>
    <p:sldId id="15716296" r:id="rId13"/>
    <p:sldId id="15716285" r:id="rId14"/>
    <p:sldId id="15716286" r:id="rId15"/>
    <p:sldId id="15716287" r:id="rId16"/>
    <p:sldId id="14999201" r:id="rId17"/>
    <p:sldId id="15716291" r:id="rId18"/>
    <p:sldId id="15716289" r:id="rId19"/>
    <p:sldId id="15716292" r:id="rId20"/>
    <p:sldId id="15716279" r:id="rId21"/>
    <p:sldId id="15716282" r:id="rId22"/>
    <p:sldId id="15716290" r:id="rId23"/>
    <p:sldId id="15716284" r:id="rId24"/>
    <p:sldId id="15716280" r:id="rId25"/>
    <p:sldId id="15716263" r:id="rId26"/>
    <p:sldId id="15716238" r:id="rId27"/>
    <p:sldId id="15716273" r:id="rId28"/>
    <p:sldId id="15716274" r:id="rId29"/>
    <p:sldId id="15716272" r:id="rId30"/>
    <p:sldId id="15716259" r:id="rId31"/>
    <p:sldId id="15716277" r:id="rId32"/>
    <p:sldId id="15716275" r:id="rId33"/>
    <p:sldId id="15716258" r:id="rId34"/>
    <p:sldId id="15716246" r:id="rId35"/>
    <p:sldId id="15716276" r:id="rId36"/>
    <p:sldId id="15716245" r:id="rId37"/>
    <p:sldId id="15716278" r:id="rId38"/>
    <p:sldId id="15716221" r:id="rId39"/>
  </p:sldIdLst>
  <p:sldSz cx="9144000" cy="5143500" type="screen16x9"/>
  <p:notesSz cx="7104063" cy="10234613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正文" id="{F0977A69-A7A4-2A4D-B3D3-A38B1C7EA371}">
          <p14:sldIdLst>
            <p14:sldId id="14999171"/>
            <p14:sldId id="14998990"/>
            <p14:sldId id="15716281"/>
            <p14:sldId id="15716288"/>
            <p14:sldId id="15716294"/>
            <p14:sldId id="15716293"/>
            <p14:sldId id="15716297"/>
            <p14:sldId id="15716298"/>
            <p14:sldId id="15716299"/>
            <p14:sldId id="15716283"/>
            <p14:sldId id="15716295"/>
            <p14:sldId id="15716296"/>
            <p14:sldId id="15716285"/>
            <p14:sldId id="15716286"/>
            <p14:sldId id="15716287"/>
            <p14:sldId id="14999201"/>
            <p14:sldId id="15716291"/>
            <p14:sldId id="15716289"/>
            <p14:sldId id="15716292"/>
            <p14:sldId id="15716279"/>
            <p14:sldId id="15716282"/>
            <p14:sldId id="15716290"/>
            <p14:sldId id="15716284"/>
            <p14:sldId id="15716280"/>
            <p14:sldId id="15716263"/>
            <p14:sldId id="15716238"/>
            <p14:sldId id="15716273"/>
            <p14:sldId id="15716274"/>
            <p14:sldId id="15716272"/>
            <p14:sldId id="15716259"/>
            <p14:sldId id="15716277"/>
            <p14:sldId id="15716275"/>
            <p14:sldId id="15716258"/>
            <p14:sldId id="15716246"/>
            <p14:sldId id="15716276"/>
            <p14:sldId id="15716245"/>
            <p14:sldId id="15716278"/>
          </p14:sldIdLst>
        </p14:section>
        <p14:section name="备注" id="{434DFA73-2E08-514A-BCEA-E728BA305965}">
          <p14:sldIdLst>
            <p14:sldId id="15716221"/>
          </p14:sldIdLst>
        </p14:section>
      </p14:sectionLst>
    </p:ex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EF"/>
    <a:srgbClr val="FF6600"/>
    <a:srgbClr val="000000"/>
    <a:srgbClr val="E17B00"/>
    <a:srgbClr val="D1001B"/>
    <a:srgbClr val="FFFBEB"/>
    <a:srgbClr val="FFF9DD"/>
    <a:srgbClr val="FFFBF3"/>
    <a:srgbClr val="FFD74C"/>
    <a:srgbClr val="FFE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5" autoAdjust="0"/>
    <p:restoredTop sz="95294" autoAdjust="0"/>
  </p:normalViewPr>
  <p:slideViewPr>
    <p:cSldViewPr snapToGrid="0" showGuides="1">
      <p:cViewPr>
        <p:scale>
          <a:sx n="66" d="100"/>
          <a:sy n="66" d="100"/>
        </p:scale>
        <p:origin x="1152" y="912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tags" Target="tags/tag1.xml"/><Relationship Id="rId43" Type="http://schemas.openxmlformats.org/officeDocument/2006/relationships/commentAuthors" Target="commentAuthors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402420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710739" y="4925235"/>
            <a:ext cx="5682588" cy="4029439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0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830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23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33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616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730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939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476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39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263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226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444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89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692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品类，</a:t>
            </a: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共</a:t>
            </a:r>
            <a:r>
              <a:rPr lang="en-US" altLang="zh-CN" sz="1050" dirty="0">
                <a:effectLst/>
              </a:rPr>
              <a:t>1187</a:t>
            </a:r>
            <a:r>
              <a:rPr lang="zh-CN" altLang="en-US" sz="1050" dirty="0">
                <a:effectLst/>
              </a:rPr>
              <a:t>个城市（高线</a:t>
            </a:r>
            <a:r>
              <a:rPr lang="en-US" altLang="zh-CN" sz="1050" dirty="0">
                <a:effectLst/>
              </a:rPr>
              <a:t>210</a:t>
            </a:r>
            <a:r>
              <a:rPr lang="zh-CN" altLang="en-US" sz="1050" dirty="0">
                <a:effectLst/>
              </a:rPr>
              <a:t>个，中低线</a:t>
            </a:r>
            <a:r>
              <a:rPr lang="en-US" altLang="zh-CN" sz="1050" dirty="0">
                <a:effectLst/>
              </a:rPr>
              <a:t>977</a:t>
            </a:r>
            <a:r>
              <a:rPr lang="zh-CN" altLang="en-US" sz="1050" dirty="0">
                <a:effectLst/>
              </a:rPr>
              <a:t>个），美团：点评到餐</a:t>
            </a:r>
            <a:r>
              <a:rPr lang="en-US" altLang="zh-CN" sz="1050" dirty="0">
                <a:effectLst/>
              </a:rPr>
              <a:t>DAU</a:t>
            </a:r>
            <a:r>
              <a:rPr lang="zh-CN" altLang="en-US" sz="1050" dirty="0">
                <a:effectLst/>
              </a:rPr>
              <a:t>占比</a:t>
            </a:r>
            <a:r>
              <a:rPr lang="en-US" altLang="zh-CN" sz="1050" dirty="0">
                <a:effectLst/>
              </a:rPr>
              <a:t>89%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11%</a:t>
            </a:r>
            <a:r>
              <a:rPr lang="zh-CN" altLang="en-US" sz="1050" dirty="0">
                <a:effectLst/>
              </a:rPr>
              <a:t>。高线</a:t>
            </a:r>
            <a:r>
              <a:rPr lang="en-US" altLang="zh-CN" sz="1050" dirty="0">
                <a:effectLst/>
              </a:rPr>
              <a:t>2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</a:t>
            </a:r>
            <a:r>
              <a:rPr lang="zh-CN" altLang="en-US" sz="1050" dirty="0">
                <a:effectLst/>
              </a:rPr>
              <a:t>。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dirty="0">
                <a:latin typeface="+mn-ea"/>
              </a:rPr>
              <a:t>1. </a:t>
            </a:r>
            <a:r>
              <a:rPr lang="zh-CN" altLang="en-US" sz="800" b="1" dirty="0">
                <a:latin typeface="+mn-ea"/>
              </a:rPr>
              <a:t>荣誉评审：</a:t>
            </a:r>
            <a:r>
              <a:rPr lang="zh-CN" altLang="en-US" sz="800" b="0" dirty="0">
                <a:latin typeface="+mn-ea"/>
              </a:rPr>
              <a:t>黑珍珠</a:t>
            </a:r>
            <a:r>
              <a:rPr lang="en-US" altLang="zh-CN" sz="800" b="0" dirty="0">
                <a:latin typeface="+mn-ea"/>
              </a:rPr>
              <a:t>32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263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500-700+</a:t>
            </a:r>
            <a:r>
              <a:rPr lang="zh-CN" altLang="en-US" sz="800" b="0" dirty="0">
                <a:latin typeface="+mn-ea"/>
              </a:rPr>
              <a:t>），必吃榜</a:t>
            </a:r>
            <a:r>
              <a:rPr lang="en-US" altLang="zh-CN" sz="800" b="0" dirty="0">
                <a:latin typeface="+mn-ea"/>
              </a:rPr>
              <a:t>144</a:t>
            </a:r>
            <a:r>
              <a:rPr lang="zh-CN" altLang="en-US" sz="800" b="0" dirty="0">
                <a:latin typeface="+mn-ea"/>
              </a:rPr>
              <a:t>城（境内</a:t>
            </a:r>
            <a:r>
              <a:rPr lang="en-US" altLang="zh-CN" sz="800" b="0" dirty="0">
                <a:latin typeface="+mn-ea"/>
              </a:rPr>
              <a:t>116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2743</a:t>
            </a:r>
            <a:r>
              <a:rPr lang="zh-CN" altLang="en-US" sz="800" b="0" dirty="0">
                <a:latin typeface="+mn-ea"/>
              </a:rPr>
              <a:t>家），</a:t>
            </a:r>
            <a:r>
              <a:rPr lang="en-US" altLang="zh-CN" sz="800" b="0" dirty="0">
                <a:latin typeface="+mn-ea"/>
              </a:rPr>
              <a:t>D+</a:t>
            </a:r>
            <a:r>
              <a:rPr lang="zh-CN" altLang="en-US" sz="800" b="0" dirty="0">
                <a:latin typeface="+mn-ea"/>
              </a:rPr>
              <a:t>甄选榜</a:t>
            </a:r>
            <a:r>
              <a:rPr lang="en-US" altLang="zh-CN" sz="800" b="0" dirty="0">
                <a:latin typeface="+mn-ea"/>
              </a:rPr>
              <a:t>14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147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300-700</a:t>
            </a:r>
            <a:r>
              <a:rPr lang="zh-CN" altLang="en-US" sz="800" b="0" dirty="0">
                <a:latin typeface="+mn-ea"/>
              </a:rPr>
              <a:t>元），心动榜三期</a:t>
            </a:r>
            <a:r>
              <a:rPr lang="en-US" altLang="zh-CN" sz="800" b="0" dirty="0">
                <a:latin typeface="+mn-ea"/>
              </a:rPr>
              <a:t>101</a:t>
            </a:r>
            <a:r>
              <a:rPr lang="zh-CN" altLang="en-US" sz="800" b="0" dirty="0">
                <a:latin typeface="+mn-ea"/>
              </a:rPr>
              <a:t>城市</a:t>
            </a:r>
            <a:r>
              <a:rPr lang="en-US" altLang="zh-CN" sz="800" b="0" dirty="0">
                <a:latin typeface="+mn-ea"/>
              </a:rPr>
              <a:t>3201</a:t>
            </a:r>
            <a:r>
              <a:rPr lang="zh-CN" altLang="en-US" sz="800" b="0" dirty="0">
                <a:latin typeface="+mn-ea"/>
              </a:rPr>
              <a:t>家。状元榜</a:t>
            </a:r>
            <a:r>
              <a:rPr lang="en-US" altLang="zh-CN" sz="800" b="0" dirty="0">
                <a:latin typeface="+mn-ea"/>
              </a:rPr>
              <a:t>370</a:t>
            </a:r>
            <a:r>
              <a:rPr lang="zh-CN" altLang="en-US" sz="800" b="0" dirty="0">
                <a:latin typeface="+mn-ea"/>
              </a:rPr>
              <a:t>城市（共</a:t>
            </a:r>
            <a:r>
              <a:rPr lang="en-US" altLang="zh-CN" sz="800" b="0" dirty="0">
                <a:latin typeface="+mn-ea"/>
              </a:rPr>
              <a:t>11,911</a:t>
            </a:r>
            <a:r>
              <a:rPr lang="zh-CN" altLang="en-US" sz="800" b="0" dirty="0">
                <a:latin typeface="+mn-ea"/>
              </a:rPr>
              <a:t>个）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2. </a:t>
            </a:r>
            <a:r>
              <a:rPr lang="zh-CN" altLang="en-US" sz="1800" b="1" dirty="0">
                <a:latin typeface="+mn-ea"/>
              </a:rPr>
              <a:t>旅游、漂亮饭等氛围餐厅、时令等：</a:t>
            </a:r>
            <a:endParaRPr lang="en-US" altLang="zh-CN" sz="1800" b="1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美团当地人推荐扩至</a:t>
            </a:r>
            <a:r>
              <a:rPr lang="en-US" altLang="zh-CN" sz="1800" b="0" dirty="0">
                <a:latin typeface="+mn-ea"/>
              </a:rPr>
              <a:t>647</a:t>
            </a:r>
            <a:r>
              <a:rPr lang="zh-CN" altLang="en-US" sz="1800" b="0" dirty="0">
                <a:latin typeface="+mn-ea"/>
              </a:rPr>
              <a:t>城，特色菜扩至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城（主要为中低线旅游），点评同（原</a:t>
            </a:r>
            <a:r>
              <a:rPr lang="en-US" altLang="zh-CN" sz="1800" b="0" dirty="0">
                <a:latin typeface="+mn-ea"/>
              </a:rPr>
              <a:t>216</a:t>
            </a:r>
            <a:r>
              <a:rPr lang="zh-CN" altLang="en-US" sz="1800" b="0" dirty="0">
                <a:latin typeface="+mn-ea"/>
              </a:rPr>
              <a:t>个）。发现主题</a:t>
            </a:r>
            <a:r>
              <a:rPr lang="en-US" altLang="zh-CN" sz="1800" b="0" dirty="0">
                <a:latin typeface="+mn-ea"/>
              </a:rPr>
              <a:t>118</a:t>
            </a:r>
            <a:r>
              <a:rPr lang="zh-CN" altLang="en-US" sz="1800" b="0" dirty="0">
                <a:latin typeface="+mn-ea"/>
              </a:rPr>
              <a:t>城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点评市井烟火榜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247</a:t>
            </a:r>
            <a:r>
              <a:rPr lang="zh-CN" altLang="en-US" sz="1800" b="0" dirty="0">
                <a:latin typeface="+mn-ea"/>
              </a:rPr>
              <a:t>城），老店榜</a:t>
            </a:r>
            <a:r>
              <a:rPr lang="en-US" altLang="zh-CN" sz="1800" b="0" dirty="0">
                <a:latin typeface="+mn-ea"/>
              </a:rPr>
              <a:t>240</a:t>
            </a:r>
            <a:r>
              <a:rPr lang="zh-CN" altLang="en-US" sz="1800" b="0" dirty="0">
                <a:latin typeface="+mn-ea"/>
              </a:rPr>
              <a:t>城市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155</a:t>
            </a:r>
            <a:r>
              <a:rPr lang="zh-CN" altLang="en-US" sz="1800" b="0" dirty="0">
                <a:latin typeface="+mn-ea"/>
              </a:rPr>
              <a:t>城市）、新店榜较多。特色美食榜：</a:t>
            </a:r>
            <a:r>
              <a:rPr lang="zh-CN" altLang="en-US" sz="2800" b="0" dirty="0"/>
              <a:t>首批覆盖西安等</a:t>
            </a:r>
            <a:r>
              <a:rPr lang="en-US" altLang="zh-CN" sz="2800" b="0" dirty="0"/>
              <a:t>11</a:t>
            </a:r>
            <a:r>
              <a:rPr lang="zh-CN" altLang="en-US" sz="2800" b="0" dirty="0"/>
              <a:t>城，扩城长沙、宁波、佛山（大概</a:t>
            </a:r>
            <a:r>
              <a:rPr lang="en-US" altLang="zh-CN" sz="2800" b="0" dirty="0"/>
              <a:t>14</a:t>
            </a:r>
            <a:r>
              <a:rPr lang="zh-CN" altLang="en-US" sz="2800" b="0" dirty="0"/>
              <a:t>）。</a:t>
            </a:r>
            <a:endParaRPr lang="en-US" altLang="zh-CN" sz="2800" b="0" dirty="0"/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烟火榜</a:t>
            </a:r>
            <a:r>
              <a:rPr lang="en-US" altLang="zh-CN" sz="1800" b="0" dirty="0">
                <a:latin typeface="+mn-ea"/>
              </a:rPr>
              <a:t>10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360</a:t>
            </a:r>
            <a:r>
              <a:rPr lang="zh-CN" altLang="en-US" sz="1800" b="0" dirty="0">
                <a:latin typeface="+mn-ea"/>
              </a:rPr>
              <a:t>家，</a:t>
            </a: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本地人推荐</a:t>
            </a:r>
            <a:r>
              <a:rPr lang="en-US" altLang="zh-CN" sz="1800" b="0" dirty="0">
                <a:latin typeface="+mn-ea"/>
              </a:rPr>
              <a:t>17</a:t>
            </a:r>
            <a:r>
              <a:rPr lang="zh-CN" altLang="en-US" sz="1800" b="0" dirty="0">
                <a:latin typeface="+mn-ea"/>
              </a:rPr>
              <a:t>城。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0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3. </a:t>
            </a:r>
            <a:r>
              <a:rPr lang="zh-CN" altLang="en-US" sz="1800" b="1" dirty="0">
                <a:latin typeface="+mn-ea"/>
              </a:rPr>
              <a:t>亲朋聚会、情侣约会、工作宴请、亲子 </a:t>
            </a:r>
            <a:r>
              <a:rPr lang="en-US" altLang="zh-CN" sz="1800" b="1" dirty="0">
                <a:latin typeface="+mn-ea"/>
              </a:rPr>
              <a:t>https://km.sankuai.com/collabpage/2734833943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美团：目前主要是夜宵榜（数百城），其余空缺。</a:t>
            </a:r>
            <a:endParaRPr lang="en-US" altLang="zh-CN" sz="1800" b="0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点评：聚餐去哪儿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。心动约会榜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。闺蜜约会餐厅</a:t>
            </a:r>
            <a:r>
              <a:rPr lang="en-US" altLang="zh-CN" sz="1800" b="0" dirty="0">
                <a:latin typeface="+mn-ea"/>
              </a:rPr>
              <a:t>189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99</a:t>
            </a:r>
            <a:r>
              <a:rPr lang="zh-CN" altLang="en-US" sz="1800" b="0" dirty="0">
                <a:latin typeface="+mn-ea"/>
              </a:rPr>
              <a:t>城），商务宴请</a:t>
            </a:r>
            <a:r>
              <a:rPr lang="en-US" altLang="zh-CN" sz="1800" b="0" dirty="0">
                <a:latin typeface="+mn-ea"/>
              </a:rPr>
              <a:t>33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S-B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4. </a:t>
            </a:r>
            <a:r>
              <a:rPr lang="zh-CN" altLang="en-US" sz="1800" b="1" dirty="0">
                <a:latin typeface="+mn-ea"/>
              </a:rPr>
              <a:t>人气榜、好评榜、点评榜、高德榜的覆盖，基本比较全面</a:t>
            </a:r>
            <a:endParaRPr lang="en-US" altLang="zh-CN" sz="1800" b="1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人气榜美团覆盖</a:t>
            </a:r>
            <a:r>
              <a:rPr lang="en-US" altLang="zh-CN" sz="1800" b="0" dirty="0">
                <a:latin typeface="+mn-ea"/>
              </a:rPr>
              <a:t>1183</a:t>
            </a:r>
            <a:r>
              <a:rPr lang="zh-CN" altLang="en-US" sz="1800" b="0" dirty="0">
                <a:latin typeface="+mn-ea"/>
              </a:rPr>
              <a:t>城市，点评销量榜</a:t>
            </a:r>
            <a:r>
              <a:rPr lang="en-US" altLang="zh-CN" sz="1800" b="0" dirty="0">
                <a:latin typeface="+mn-ea"/>
              </a:rPr>
              <a:t>841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点评整体共</a:t>
            </a:r>
            <a:r>
              <a:rPr lang="en-US" altLang="zh-CN" sz="1800" b="0" dirty="0">
                <a:latin typeface="+mn-ea"/>
              </a:rPr>
              <a:t>2743</a:t>
            </a:r>
            <a:r>
              <a:rPr lang="zh-CN" altLang="en-US" sz="1800" b="0" dirty="0">
                <a:latin typeface="+mn-ea"/>
              </a:rPr>
              <a:t>海内外城市</a:t>
            </a:r>
            <a:endParaRPr lang="en-US" altLang="zh-CN" sz="1800" b="0" dirty="0">
              <a:latin typeface="+mn-ea"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异地出行、约会、亲子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欢聚。使用榜单的核心场景是“吃逛约聚游”，当前榜单能够满足基础找店需求，但仍可考虑一些细分场景需求，比如按“价格段”、“氛围环境”、“多人聚餐”等角度找店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r>
              <a:rPr lang="zh-CN" altLang="en-US" sz="2800" dirty="0"/>
              <a:t>美团</a:t>
            </a:r>
            <a:r>
              <a:rPr lang="en-US" altLang="zh-CN" sz="2800" dirty="0"/>
              <a:t>+</a:t>
            </a:r>
            <a:r>
              <a:rPr lang="zh-CN" altLang="en-US" sz="2800" dirty="0"/>
              <a:t>点评榜单主要的一共</a:t>
            </a:r>
            <a:r>
              <a:rPr lang="en-US" altLang="zh-CN" sz="2800" dirty="0"/>
              <a:t>17</a:t>
            </a:r>
            <a:r>
              <a:rPr lang="zh-CN" altLang="en-US" sz="2800" dirty="0"/>
              <a:t>个：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其中</a:t>
            </a:r>
            <a:r>
              <a:rPr lang="en-US" altLang="zh-CN" sz="2800" dirty="0"/>
              <a:t>2</a:t>
            </a:r>
            <a:r>
              <a:rPr lang="zh-CN" altLang="en-US" sz="2800" dirty="0"/>
              <a:t>个荣誉评选榜单（黑珍珠、必吃榜）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12</a:t>
            </a:r>
            <a:r>
              <a:rPr lang="zh-CN" altLang="en-US" sz="2800" dirty="0"/>
              <a:t>个指数榜单（美团：人气、好评、热订。点评：热门、好评、口味、环境、服务、销量、打卡人气、新店、奶茶新品</a:t>
            </a:r>
            <a:r>
              <a:rPr lang="en-US" altLang="zh-CN" sz="2800" dirty="0"/>
              <a:t>/</a:t>
            </a:r>
            <a:r>
              <a:rPr lang="zh-CN" altLang="en-US" sz="2800" dirty="0"/>
              <a:t>热门</a:t>
            </a:r>
            <a:r>
              <a:rPr lang="en-US" altLang="zh-CN" sz="2800" dirty="0"/>
              <a:t>/</a:t>
            </a:r>
            <a:r>
              <a:rPr lang="zh-CN" altLang="en-US" sz="2800" dirty="0"/>
              <a:t>好评榜）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主题类榜单，比较有特色的</a:t>
            </a:r>
            <a:r>
              <a:rPr lang="en-US" altLang="zh-CN" sz="2800" dirty="0"/>
              <a:t>3</a:t>
            </a:r>
            <a:r>
              <a:rPr lang="zh-CN" altLang="en-US" sz="2800" dirty="0"/>
              <a:t>个是满足异地旅游场景的本地人推荐、特色菜、市井烟火榜。其它小场景数量比较多，如点评侧城市生活指南有</a:t>
            </a:r>
            <a:r>
              <a:rPr lang="en-US" altLang="zh-CN" sz="2800" dirty="0"/>
              <a:t>102</a:t>
            </a:r>
            <a:r>
              <a:rPr lang="zh-CN" altLang="en-US" sz="2800" dirty="0"/>
              <a:t>个餐相关主题，美团的夜宵、发现主题等</a:t>
            </a: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美团：供给、交易、履约服务、交易星评、明确意向流量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点评：星评、打卡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D+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：流量、内容互动、内容生态（明星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达人等）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B+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：流量、导航数据、淘系资产（芝麻信用等）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zh-CN" altLang="en-US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当地特色菜即特色美食榜</a:t>
            </a:r>
            <a:endParaRPr lang="en-US" altLang="zh-CN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美团：黑珍珠、必吃榜、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当地人推荐、特色菜、热订榜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点评：必吃榜、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好评榜、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口味榜、环境榜、服务榜、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销量榜、打卡人气榜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市井烟火榜、老店榜、本地人早餐榜、当地人推荐、当地特色菜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特色美食榜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、新店榜单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热销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回头客（核销人数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复购）、收藏、点亮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、心动榜、甄选榜、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烟火榜、本地人推荐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：状元榜（甄选、必吃）、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烟火小店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、轮胎磨损、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本地人爱去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、饮品甜点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下午茶、主题餐厅（约聚漂亮饭、音乐、观景、商务等）、热门、飙升。食仙（地方特色、城市热门、热门菜系、烹饪方式、自然馈赠、食在四级）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9186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品类，</a:t>
            </a: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共</a:t>
            </a:r>
            <a:r>
              <a:rPr lang="en-US" altLang="zh-CN" sz="1050" dirty="0">
                <a:effectLst/>
              </a:rPr>
              <a:t>1187</a:t>
            </a:r>
            <a:r>
              <a:rPr lang="zh-CN" altLang="en-US" sz="1050" dirty="0">
                <a:effectLst/>
              </a:rPr>
              <a:t>个城市（高线</a:t>
            </a:r>
            <a:r>
              <a:rPr lang="en-US" altLang="zh-CN" sz="1050" dirty="0">
                <a:effectLst/>
              </a:rPr>
              <a:t>210</a:t>
            </a:r>
            <a:r>
              <a:rPr lang="zh-CN" altLang="en-US" sz="1050" dirty="0">
                <a:effectLst/>
              </a:rPr>
              <a:t>个，中低线</a:t>
            </a:r>
            <a:r>
              <a:rPr lang="en-US" altLang="zh-CN" sz="1050" dirty="0">
                <a:effectLst/>
              </a:rPr>
              <a:t>977</a:t>
            </a:r>
            <a:r>
              <a:rPr lang="zh-CN" altLang="en-US" sz="1050" dirty="0">
                <a:effectLst/>
              </a:rPr>
              <a:t>个），美团：点评到餐</a:t>
            </a:r>
            <a:r>
              <a:rPr lang="en-US" altLang="zh-CN" sz="1050" dirty="0">
                <a:effectLst/>
              </a:rPr>
              <a:t>DAU</a:t>
            </a:r>
            <a:r>
              <a:rPr lang="zh-CN" altLang="en-US" sz="1050" dirty="0">
                <a:effectLst/>
              </a:rPr>
              <a:t>占比</a:t>
            </a:r>
            <a:r>
              <a:rPr lang="en-US" altLang="zh-CN" sz="1050" dirty="0">
                <a:effectLst/>
              </a:rPr>
              <a:t>89%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11%</a:t>
            </a:r>
            <a:r>
              <a:rPr lang="zh-CN" altLang="en-US" sz="1050" dirty="0">
                <a:effectLst/>
              </a:rPr>
              <a:t>。高线</a:t>
            </a:r>
            <a:r>
              <a:rPr lang="en-US" altLang="zh-CN" sz="1050" dirty="0">
                <a:effectLst/>
              </a:rPr>
              <a:t>2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</a:t>
            </a:r>
            <a:r>
              <a:rPr lang="zh-CN" altLang="en-US" sz="1050" dirty="0">
                <a:effectLst/>
              </a:rPr>
              <a:t>。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dirty="0">
                <a:latin typeface="+mn-ea"/>
              </a:rPr>
              <a:t>1. </a:t>
            </a:r>
            <a:r>
              <a:rPr lang="zh-CN" altLang="en-US" sz="800" b="1" dirty="0">
                <a:latin typeface="+mn-ea"/>
              </a:rPr>
              <a:t>荣誉评审：</a:t>
            </a:r>
            <a:r>
              <a:rPr lang="zh-CN" altLang="en-US" sz="800" b="0" dirty="0">
                <a:latin typeface="+mn-ea"/>
              </a:rPr>
              <a:t>黑珍珠</a:t>
            </a:r>
            <a:r>
              <a:rPr lang="en-US" altLang="zh-CN" sz="800" b="0" dirty="0">
                <a:latin typeface="+mn-ea"/>
              </a:rPr>
              <a:t>32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263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500-700+</a:t>
            </a:r>
            <a:r>
              <a:rPr lang="zh-CN" altLang="en-US" sz="800" b="0" dirty="0">
                <a:latin typeface="+mn-ea"/>
              </a:rPr>
              <a:t>），必吃榜</a:t>
            </a:r>
            <a:r>
              <a:rPr lang="en-US" altLang="zh-CN" sz="800" b="0" dirty="0">
                <a:latin typeface="+mn-ea"/>
              </a:rPr>
              <a:t>144</a:t>
            </a:r>
            <a:r>
              <a:rPr lang="zh-CN" altLang="en-US" sz="800" b="0" dirty="0">
                <a:latin typeface="+mn-ea"/>
              </a:rPr>
              <a:t>城（境内</a:t>
            </a:r>
            <a:r>
              <a:rPr lang="en-US" altLang="zh-CN" sz="800" b="0" dirty="0">
                <a:latin typeface="+mn-ea"/>
              </a:rPr>
              <a:t>116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2743</a:t>
            </a:r>
            <a:r>
              <a:rPr lang="zh-CN" altLang="en-US" sz="800" b="0" dirty="0">
                <a:latin typeface="+mn-ea"/>
              </a:rPr>
              <a:t>家），</a:t>
            </a:r>
            <a:r>
              <a:rPr lang="en-US" altLang="zh-CN" sz="800" b="0" dirty="0">
                <a:latin typeface="+mn-ea"/>
              </a:rPr>
              <a:t>D+</a:t>
            </a:r>
            <a:r>
              <a:rPr lang="zh-CN" altLang="en-US" sz="800" b="0" dirty="0">
                <a:latin typeface="+mn-ea"/>
              </a:rPr>
              <a:t>甄选榜</a:t>
            </a:r>
            <a:r>
              <a:rPr lang="en-US" altLang="zh-CN" sz="800" b="0" dirty="0">
                <a:latin typeface="+mn-ea"/>
              </a:rPr>
              <a:t>14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147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300-700</a:t>
            </a:r>
            <a:r>
              <a:rPr lang="zh-CN" altLang="en-US" sz="800" b="0" dirty="0">
                <a:latin typeface="+mn-ea"/>
              </a:rPr>
              <a:t>元），心动榜三期</a:t>
            </a:r>
            <a:r>
              <a:rPr lang="en-US" altLang="zh-CN" sz="800" b="0" dirty="0">
                <a:latin typeface="+mn-ea"/>
              </a:rPr>
              <a:t>101</a:t>
            </a:r>
            <a:r>
              <a:rPr lang="zh-CN" altLang="en-US" sz="800" b="0" dirty="0">
                <a:latin typeface="+mn-ea"/>
              </a:rPr>
              <a:t>城市</a:t>
            </a:r>
            <a:r>
              <a:rPr lang="en-US" altLang="zh-CN" sz="800" b="0" dirty="0">
                <a:latin typeface="+mn-ea"/>
              </a:rPr>
              <a:t>3201</a:t>
            </a:r>
            <a:r>
              <a:rPr lang="zh-CN" altLang="en-US" sz="800" b="0" dirty="0">
                <a:latin typeface="+mn-ea"/>
              </a:rPr>
              <a:t>家。状元榜</a:t>
            </a:r>
            <a:r>
              <a:rPr lang="en-US" altLang="zh-CN" sz="800" b="0" dirty="0">
                <a:latin typeface="+mn-ea"/>
              </a:rPr>
              <a:t>370</a:t>
            </a:r>
            <a:r>
              <a:rPr lang="zh-CN" altLang="en-US" sz="800" b="0" dirty="0">
                <a:latin typeface="+mn-ea"/>
              </a:rPr>
              <a:t>城市（共</a:t>
            </a:r>
            <a:r>
              <a:rPr lang="en-US" altLang="zh-CN" sz="800" b="0" dirty="0">
                <a:latin typeface="+mn-ea"/>
              </a:rPr>
              <a:t>11,911</a:t>
            </a:r>
            <a:r>
              <a:rPr lang="zh-CN" altLang="en-US" sz="800" b="0" dirty="0">
                <a:latin typeface="+mn-ea"/>
              </a:rPr>
              <a:t>个）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2. </a:t>
            </a:r>
            <a:r>
              <a:rPr lang="zh-CN" altLang="en-US" sz="1800" b="1" dirty="0">
                <a:latin typeface="+mn-ea"/>
              </a:rPr>
              <a:t>旅游、漂亮饭等氛围餐厅、时令等：</a:t>
            </a:r>
            <a:endParaRPr lang="en-US" altLang="zh-CN" sz="1800" b="1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美团当地人推荐扩至</a:t>
            </a:r>
            <a:r>
              <a:rPr lang="en-US" altLang="zh-CN" sz="1800" b="0" dirty="0">
                <a:latin typeface="+mn-ea"/>
              </a:rPr>
              <a:t>647</a:t>
            </a:r>
            <a:r>
              <a:rPr lang="zh-CN" altLang="en-US" sz="1800" b="0" dirty="0">
                <a:latin typeface="+mn-ea"/>
              </a:rPr>
              <a:t>城，特色菜扩至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城（主要为中低线旅游），点评同（原</a:t>
            </a:r>
            <a:r>
              <a:rPr lang="en-US" altLang="zh-CN" sz="1800" b="0" dirty="0">
                <a:latin typeface="+mn-ea"/>
              </a:rPr>
              <a:t>216</a:t>
            </a:r>
            <a:r>
              <a:rPr lang="zh-CN" altLang="en-US" sz="1800" b="0" dirty="0">
                <a:latin typeface="+mn-ea"/>
              </a:rPr>
              <a:t>个）。发现主题</a:t>
            </a:r>
            <a:r>
              <a:rPr lang="en-US" altLang="zh-CN" sz="1800" b="0" dirty="0">
                <a:latin typeface="+mn-ea"/>
              </a:rPr>
              <a:t>118</a:t>
            </a:r>
            <a:r>
              <a:rPr lang="zh-CN" altLang="en-US" sz="1800" b="0" dirty="0">
                <a:latin typeface="+mn-ea"/>
              </a:rPr>
              <a:t>城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点评市井烟火榜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247</a:t>
            </a:r>
            <a:r>
              <a:rPr lang="zh-CN" altLang="en-US" sz="1800" b="0" dirty="0">
                <a:latin typeface="+mn-ea"/>
              </a:rPr>
              <a:t>城），老店榜</a:t>
            </a:r>
            <a:r>
              <a:rPr lang="en-US" altLang="zh-CN" sz="1800" b="0" dirty="0">
                <a:latin typeface="+mn-ea"/>
              </a:rPr>
              <a:t>240</a:t>
            </a:r>
            <a:r>
              <a:rPr lang="zh-CN" altLang="en-US" sz="1800" b="0" dirty="0">
                <a:latin typeface="+mn-ea"/>
              </a:rPr>
              <a:t>城市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155</a:t>
            </a:r>
            <a:r>
              <a:rPr lang="zh-CN" altLang="en-US" sz="1800" b="0" dirty="0">
                <a:latin typeface="+mn-ea"/>
              </a:rPr>
              <a:t>城市）、新店榜较多。特色美食榜：</a:t>
            </a:r>
            <a:r>
              <a:rPr lang="zh-CN" altLang="en-US" sz="2800" b="0" dirty="0"/>
              <a:t>首批覆盖西安等</a:t>
            </a:r>
            <a:r>
              <a:rPr lang="en-US" altLang="zh-CN" sz="2800" b="0" dirty="0"/>
              <a:t>11</a:t>
            </a:r>
            <a:r>
              <a:rPr lang="zh-CN" altLang="en-US" sz="2800" b="0" dirty="0"/>
              <a:t>城，扩城长沙、宁波、佛山（大概</a:t>
            </a:r>
            <a:r>
              <a:rPr lang="en-US" altLang="zh-CN" sz="2800" b="0" dirty="0"/>
              <a:t>14</a:t>
            </a:r>
            <a:r>
              <a:rPr lang="zh-CN" altLang="en-US" sz="2800" b="0" dirty="0"/>
              <a:t>）。</a:t>
            </a:r>
            <a:endParaRPr lang="en-US" altLang="zh-CN" sz="2800" b="0" dirty="0"/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烟火榜</a:t>
            </a:r>
            <a:r>
              <a:rPr lang="en-US" altLang="zh-CN" sz="1800" b="0" dirty="0">
                <a:latin typeface="+mn-ea"/>
              </a:rPr>
              <a:t>10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360</a:t>
            </a:r>
            <a:r>
              <a:rPr lang="zh-CN" altLang="en-US" sz="1800" b="0" dirty="0">
                <a:latin typeface="+mn-ea"/>
              </a:rPr>
              <a:t>家，</a:t>
            </a: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本地人推荐</a:t>
            </a:r>
            <a:r>
              <a:rPr lang="en-US" altLang="zh-CN" sz="1800" b="0" dirty="0">
                <a:latin typeface="+mn-ea"/>
              </a:rPr>
              <a:t>17</a:t>
            </a:r>
            <a:r>
              <a:rPr lang="zh-CN" altLang="en-US" sz="1800" b="0" dirty="0">
                <a:latin typeface="+mn-ea"/>
              </a:rPr>
              <a:t>城。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0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3. </a:t>
            </a:r>
            <a:r>
              <a:rPr lang="zh-CN" altLang="en-US" sz="1800" b="1" dirty="0">
                <a:latin typeface="+mn-ea"/>
              </a:rPr>
              <a:t>亲朋聚会、情侣约会、工作宴请、亲子 </a:t>
            </a:r>
            <a:r>
              <a:rPr lang="en-US" altLang="zh-CN" sz="1800" b="1" dirty="0">
                <a:latin typeface="+mn-ea"/>
              </a:rPr>
              <a:t>https://km.sankuai.com/collabpage/2734833943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美团：目前主要是夜宵榜（数百城），其余空缺。</a:t>
            </a:r>
            <a:endParaRPr lang="en-US" altLang="zh-CN" sz="1800" b="0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点评：聚餐去哪儿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。心动约会榜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。闺蜜约会餐厅</a:t>
            </a:r>
            <a:r>
              <a:rPr lang="en-US" altLang="zh-CN" sz="1800" b="0" dirty="0">
                <a:latin typeface="+mn-ea"/>
              </a:rPr>
              <a:t>189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99</a:t>
            </a:r>
            <a:r>
              <a:rPr lang="zh-CN" altLang="en-US" sz="1800" b="0" dirty="0">
                <a:latin typeface="+mn-ea"/>
              </a:rPr>
              <a:t>城），商务宴请</a:t>
            </a:r>
            <a:r>
              <a:rPr lang="en-US" altLang="zh-CN" sz="1800" b="0" dirty="0">
                <a:latin typeface="+mn-ea"/>
              </a:rPr>
              <a:t>33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S-B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4. </a:t>
            </a:r>
            <a:r>
              <a:rPr lang="zh-CN" altLang="en-US" sz="1800" b="1" dirty="0">
                <a:latin typeface="+mn-ea"/>
              </a:rPr>
              <a:t>人气榜、好评榜、点评榜、高德榜的覆盖，基本比较全面</a:t>
            </a:r>
            <a:endParaRPr lang="en-US" altLang="zh-CN" sz="1800" b="1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人气榜美团覆盖</a:t>
            </a:r>
            <a:r>
              <a:rPr lang="en-US" altLang="zh-CN" sz="1800" b="0" dirty="0">
                <a:latin typeface="+mn-ea"/>
              </a:rPr>
              <a:t>1183</a:t>
            </a:r>
            <a:r>
              <a:rPr lang="zh-CN" altLang="en-US" sz="1800" b="0" dirty="0">
                <a:latin typeface="+mn-ea"/>
              </a:rPr>
              <a:t>城市，点评销量榜</a:t>
            </a:r>
            <a:r>
              <a:rPr lang="en-US" altLang="zh-CN" sz="1800" b="0" dirty="0">
                <a:latin typeface="+mn-ea"/>
              </a:rPr>
              <a:t>841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点评整体共</a:t>
            </a:r>
            <a:r>
              <a:rPr lang="en-US" altLang="zh-CN" sz="1800" b="0" dirty="0">
                <a:latin typeface="+mn-ea"/>
              </a:rPr>
              <a:t>2743</a:t>
            </a:r>
            <a:r>
              <a:rPr lang="zh-CN" altLang="en-US" sz="1800" b="0" dirty="0">
                <a:latin typeface="+mn-ea"/>
              </a:rPr>
              <a:t>海内外城市</a:t>
            </a:r>
            <a:endParaRPr lang="en-US" altLang="zh-CN" sz="1800" b="0" dirty="0">
              <a:latin typeface="+mn-ea"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异地出行、约会、亲子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欢聚。使用榜单的核心场景是“吃逛约聚游”，当前榜单能够满足基础找店需求，但仍可考虑一些细分场景需求，比如按“价格段”、“氛围环境”、“多人聚餐”等角度找店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r>
              <a:rPr lang="zh-CN" altLang="en-US" sz="2800" dirty="0"/>
              <a:t>美团</a:t>
            </a:r>
            <a:r>
              <a:rPr lang="en-US" altLang="zh-CN" sz="2800" dirty="0"/>
              <a:t>+</a:t>
            </a:r>
            <a:r>
              <a:rPr lang="zh-CN" altLang="en-US" sz="2800" dirty="0"/>
              <a:t>点评榜单主要的一共</a:t>
            </a:r>
            <a:r>
              <a:rPr lang="en-US" altLang="zh-CN" sz="2800" dirty="0"/>
              <a:t>17</a:t>
            </a:r>
            <a:r>
              <a:rPr lang="zh-CN" altLang="en-US" sz="2800" dirty="0"/>
              <a:t>个：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其中</a:t>
            </a:r>
            <a:r>
              <a:rPr lang="en-US" altLang="zh-CN" sz="2800" dirty="0"/>
              <a:t>2</a:t>
            </a:r>
            <a:r>
              <a:rPr lang="zh-CN" altLang="en-US" sz="2800" dirty="0"/>
              <a:t>个荣誉评选榜单（黑珍珠、必吃榜）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12</a:t>
            </a:r>
            <a:r>
              <a:rPr lang="zh-CN" altLang="en-US" sz="2800" dirty="0"/>
              <a:t>个指数榜单（美团：人气、好评、热订。点评：热门、好评、口味、环境、服务、销量、打卡人气、新店、奶茶新品</a:t>
            </a:r>
            <a:r>
              <a:rPr lang="en-US" altLang="zh-CN" sz="2800" dirty="0"/>
              <a:t>/</a:t>
            </a:r>
            <a:r>
              <a:rPr lang="zh-CN" altLang="en-US" sz="2800" dirty="0"/>
              <a:t>热门</a:t>
            </a:r>
            <a:r>
              <a:rPr lang="en-US" altLang="zh-CN" sz="2800" dirty="0"/>
              <a:t>/</a:t>
            </a:r>
            <a:r>
              <a:rPr lang="zh-CN" altLang="en-US" sz="2800" dirty="0"/>
              <a:t>好评榜）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主题类榜单，比较有特色的</a:t>
            </a:r>
            <a:r>
              <a:rPr lang="en-US" altLang="zh-CN" sz="2800" dirty="0"/>
              <a:t>3</a:t>
            </a:r>
            <a:r>
              <a:rPr lang="zh-CN" altLang="en-US" sz="2800" dirty="0"/>
              <a:t>个是满足异地旅游场景的本地人推荐、特色菜、市井烟火榜。其它小场景数量比较多，如点评侧城市生活指南有</a:t>
            </a:r>
            <a:r>
              <a:rPr lang="en-US" altLang="zh-CN" sz="2800" dirty="0"/>
              <a:t>102</a:t>
            </a:r>
            <a:r>
              <a:rPr lang="zh-CN" altLang="en-US" sz="2800" dirty="0"/>
              <a:t>个餐相关主题，美团的夜宵、发现主题等</a:t>
            </a: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美团：供给、交易、履约服务、交易星评、明确意向流量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点评：星评、打卡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D+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：流量、内容互动、内容生态（明星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达人等）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B+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：流量、导航数据、淘系资产（芝麻信用等）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zh-CN" altLang="en-US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当地特色菜即特色美食榜</a:t>
            </a:r>
            <a:endParaRPr lang="en-US" altLang="zh-CN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美团：黑珍珠、必吃榜、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当地人推荐、特色菜、热订榜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点评：必吃榜、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好评榜、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口味榜、环境榜、服务榜、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销量榜、打卡人气榜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市井烟火榜、老店榜、本地人早餐榜、当地人推荐、当地特色菜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特色美食榜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、新店榜单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热销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回头客（核销人数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复购）、收藏、点亮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、心动榜、甄选榜、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烟火榜、本地人推荐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：状元榜（甄选、必吃）、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烟火小店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、轮胎磨损、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本地人爱去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、饮品甜点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下午茶、主题餐厅（约聚漂亮饭、音乐、观景、商务等）、热门、飙升。食仙（地方特色、城市热门、热门菜系、烹饪方式、自然馈赠、食在四级）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7084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188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8142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en-US" altLang="zh-CN" dirty="0"/>
              <a:t>https://www.woshipm.com/pd/5411678.html</a:t>
            </a: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947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05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758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160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283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D734-4DD2-ED47-73A1-82D8345D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4CF2B6-FE36-58B2-4026-905282284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CDDAA1-5569-78CA-2738-3B9C24AC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抓住“反向旅游”需求趋势及平台结构化差异空白机会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榜单决策触达</a:t>
            </a:r>
            <a:r>
              <a:rPr kumimoji="1" lang="en-US" altLang="zh-CN" dirty="0"/>
              <a:t>UV</a:t>
            </a:r>
            <a:r>
              <a:rPr kumimoji="1" lang="zh-CN" altLang="en-US" dirty="0"/>
              <a:t>：</a:t>
            </a:r>
            <a:r>
              <a:rPr kumimoji="1" lang="en-US" altLang="zh-CN" dirty="0"/>
              <a:t>mt/</a:t>
            </a:r>
            <a:r>
              <a:rPr kumimoji="1" lang="en-US" altLang="zh-CN" dirty="0" err="1"/>
              <a:t>dp</a:t>
            </a:r>
            <a:r>
              <a:rPr kumimoji="1" lang="zh-CN" altLang="en-US" dirty="0"/>
              <a:t>目前各一半。榜单决策</a:t>
            </a:r>
            <a:r>
              <a:rPr kumimoji="1" lang="en-US" altLang="zh-CN" dirty="0" err="1"/>
              <a:t>uv</a:t>
            </a:r>
            <a:r>
              <a:rPr kumimoji="1" lang="zh-CN" altLang="en-US" dirty="0"/>
              <a:t>渗透率，目前美团</a:t>
            </a:r>
            <a:r>
              <a:rPr kumimoji="1" lang="en-US" altLang="zh-CN" dirty="0"/>
              <a:t>3.4%</a:t>
            </a:r>
            <a:r>
              <a:rPr kumimoji="1" lang="zh-CN" altLang="en-US" dirty="0"/>
              <a:t>仍有较大空间，点评</a:t>
            </a:r>
            <a:r>
              <a:rPr kumimoji="1" lang="en-US" altLang="zh-CN" dirty="0"/>
              <a:t>9.4%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清明榜单决策</a:t>
            </a:r>
            <a:r>
              <a:rPr kumimoji="1" lang="en-US" altLang="zh-CN" b="0" dirty="0"/>
              <a:t>uv</a:t>
            </a:r>
            <a:r>
              <a:rPr lang="en-US" altLang="zh-CN" sz="1200" b="0" dirty="0">
                <a:latin typeface="+mn-ea"/>
                <a:cs typeface="Microsoft YaHei" pitchFamily="34" charset="-120"/>
              </a:rPr>
              <a:t>355w</a:t>
            </a:r>
            <a:r>
              <a:rPr lang="zh-CN" altLang="en-US" sz="1200" b="0" dirty="0">
                <a:latin typeface="+mn-ea"/>
                <a:cs typeface="Microsoft YaHei" pitchFamily="34" charset="-120"/>
              </a:rPr>
              <a:t>，异地</a:t>
            </a:r>
            <a:r>
              <a:rPr lang="en-US" altLang="zh-CN" sz="1200" b="0" dirty="0">
                <a:latin typeface="+mn-ea"/>
                <a:cs typeface="Microsoft YaHei" pitchFamily="34" charset="-120"/>
              </a:rPr>
              <a:t>118.2w</a:t>
            </a:r>
            <a:r>
              <a:rPr lang="zh-CN" altLang="en-US" sz="1200" b="0" dirty="0">
                <a:latin typeface="+mn-ea"/>
                <a:cs typeface="Microsoft YaHei" pitchFamily="34" charset="-120"/>
              </a:rPr>
              <a:t>。五一榜单决策</a:t>
            </a:r>
            <a:r>
              <a:rPr lang="en-US" altLang="zh-CN" sz="1200" b="0" dirty="0">
                <a:latin typeface="+mn-ea"/>
                <a:cs typeface="Microsoft YaHei" pitchFamily="34" charset="-120"/>
              </a:rPr>
              <a:t>uv402w</a:t>
            </a:r>
            <a:r>
              <a:rPr lang="zh-CN" altLang="en-US" sz="1200" b="0" dirty="0">
                <a:latin typeface="+mn-ea"/>
                <a:cs typeface="Microsoft YaHei" pitchFamily="34" charset="-120"/>
              </a:rPr>
              <a:t>，异地</a:t>
            </a:r>
            <a:r>
              <a:rPr lang="en-US" altLang="zh-CN" sz="1200" b="0" dirty="0">
                <a:latin typeface="+mn-ea"/>
                <a:cs typeface="Microsoft YaHei" pitchFamily="34" charset="-120"/>
              </a:rPr>
              <a:t>160.9w</a:t>
            </a:r>
            <a:endParaRPr kumimoji="1"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旅游场景的其他证明，例如五一期间：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>
                <a:effectLst/>
              </a:rPr>
              <a:t>下沉：合作商认为榜单在对抗</a:t>
            </a:r>
            <a:r>
              <a:rPr lang="en-US" altLang="zh-CN" dirty="0">
                <a:effectLst/>
              </a:rPr>
              <a:t>D+</a:t>
            </a:r>
            <a:r>
              <a:rPr lang="zh-CN" altLang="en-US" dirty="0">
                <a:effectLst/>
              </a:rPr>
              <a:t>、商家洽谈方面是强有力的运营抓手，商家主动了解规则希望借此获取更多流量，榜单运营逻辑得到初步验证；</a:t>
            </a:r>
            <a:endParaRPr lang="en-US" altLang="zh-CN" dirty="0">
              <a:effectLst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>
                <a:effectLst/>
              </a:rPr>
              <a:t>日均拉新</a:t>
            </a:r>
            <a:r>
              <a:rPr lang="en-US" altLang="zh-CN" dirty="0">
                <a:effectLst/>
              </a:rPr>
              <a:t>1.4w</a:t>
            </a:r>
            <a:r>
              <a:rPr lang="zh-CN" altLang="en-US" dirty="0">
                <a:effectLst/>
              </a:rPr>
              <a:t>，榜单占比</a:t>
            </a:r>
            <a:r>
              <a:rPr lang="en-US" altLang="zh-CN" dirty="0">
                <a:effectLst/>
              </a:rPr>
              <a:t>0.85w</a:t>
            </a:r>
            <a:r>
              <a:rPr lang="zh-CN" altLang="en-US" dirty="0">
                <a:effectLst/>
              </a:rPr>
              <a:t>，且超</a:t>
            </a:r>
            <a:r>
              <a:rPr lang="en-US" altLang="zh-CN" dirty="0">
                <a:effectLst/>
              </a:rPr>
              <a:t>1/4</a:t>
            </a:r>
            <a:r>
              <a:rPr lang="zh-CN" altLang="en-US" dirty="0">
                <a:effectLst/>
              </a:rPr>
              <a:t>的用户期待更热门靠谱的榜单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指数榜</a:t>
            </a:r>
            <a:r>
              <a:rPr kumimoji="1" lang="en-US" altLang="zh-CN" dirty="0"/>
              <a:t>3</a:t>
            </a:r>
            <a:r>
              <a:rPr kumimoji="1" lang="zh-CN" altLang="en-US" dirty="0"/>
              <a:t>月份跃迁，主要是品类细化。</a:t>
            </a:r>
            <a:endParaRPr kumimoji="1"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2B7E7-421E-977E-786F-F81CB95050B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465932-90FE-C30C-1027-3A178AA2C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50CC81-A84C-72F7-AA92-921A83F5DF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020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如果问到明星打卡要不要做：答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1.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有一个谢霆锋榜单在精致餐饮先试点；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2.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有一些明星打卡的标签，后续会批量放进榜单一起考虑，新做会优先考虑平民型如吴克群（如广西百色、山东临沂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考棚街与解放路拐角小摊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等）、潘玮柏（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网友戏称为“潘胃伯”，如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成都王辣面馆）、贾冰（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现在就出发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如二良子（金沙水木年华店）））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了不起的中国菜：抖音在</a:t>
            </a:r>
            <a:r>
              <a:rPr lang="en-US" altLang="zh-CN" dirty="0"/>
              <a:t>5</a:t>
            </a:r>
            <a:r>
              <a:rPr lang="zh-CN" altLang="en-US" dirty="0"/>
              <a:t>月中下旬集中发力地方菜推广，聚合了大量明星与头部</a:t>
            </a:r>
            <a:r>
              <a:rPr lang="en-US" altLang="zh-CN" dirty="0"/>
              <a:t>KOL</a:t>
            </a:r>
            <a:r>
              <a:rPr lang="zh-CN" altLang="en-US" dirty="0"/>
              <a:t>：邓亚萍、李维嘉、</a:t>
            </a:r>
            <a:r>
              <a:rPr lang="en-US" altLang="zh-CN" dirty="0"/>
              <a:t>@</a:t>
            </a:r>
            <a:r>
              <a:rPr lang="zh-CN" altLang="en-US" dirty="0"/>
              <a:t>安秋金、</a:t>
            </a:r>
            <a:r>
              <a:rPr lang="en-US" altLang="zh-CN" dirty="0"/>
              <a:t>@</a:t>
            </a:r>
            <a:r>
              <a:rPr lang="zh-CN" altLang="en-US" dirty="0"/>
              <a:t>真探唐仁杰、</a:t>
            </a:r>
            <a:r>
              <a:rPr lang="en-US" altLang="zh-CN" dirty="0"/>
              <a:t>@</a:t>
            </a:r>
            <a:r>
              <a:rPr lang="zh-CN" altLang="en-US" dirty="0"/>
              <a:t>密子君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公瑾爆蛋：抖音意大利留学生博主 </a:t>
            </a:r>
            <a:r>
              <a:rPr lang="en-US" altLang="zh-CN" dirty="0"/>
              <a:t>@</a:t>
            </a:r>
            <a:r>
              <a:rPr lang="zh-CN" altLang="en-US" dirty="0"/>
              <a:t>变成护肝片（自称“公瑾”）制作的菜品。 来源：月底钱花光了，穷到只能靠鸡蛋拌米饭度日，于是做一盘糖醋荷包蛋，配文“遥想公瑾当年”，这个糖醋荷包蛋被叫做公瑾爆蛋。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公瑾爆蛋是以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</a:rPr>
              <a:t>鸡蛋、番茄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为原料制作的食物。该食物为酸甜口，有点像港澳茶餐厅里的餐蛋饭，午餐肉加鸡蛋，再下一点番茄，超级美味。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指数榜单需求满足度</a:t>
            </a:r>
            <a:r>
              <a:rPr lang="en-US" altLang="zh-CN" dirty="0">
                <a:effectLst/>
              </a:rPr>
              <a:t>%=</a:t>
            </a:r>
            <a:r>
              <a:rPr lang="zh-CN" altLang="en-US" dirty="0">
                <a:effectLst/>
              </a:rPr>
              <a:t>指数榜维度</a:t>
            </a:r>
            <a:r>
              <a:rPr lang="en-US" altLang="zh-CN" dirty="0">
                <a:effectLst/>
              </a:rPr>
              <a:t>×</a:t>
            </a:r>
            <a:r>
              <a:rPr lang="zh-CN" altLang="en-US" dirty="0">
                <a:effectLst/>
              </a:rPr>
              <a:t>品类数</a:t>
            </a:r>
            <a:r>
              <a:rPr lang="en-US" altLang="zh-CN" dirty="0">
                <a:effectLst/>
              </a:rPr>
              <a:t>×LBS</a:t>
            </a:r>
            <a:r>
              <a:rPr lang="zh-CN" altLang="en-US" dirty="0">
                <a:effectLst/>
              </a:rPr>
              <a:t>数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目标指数维度</a:t>
            </a:r>
            <a:r>
              <a:rPr lang="en-US" altLang="zh-CN" dirty="0">
                <a:effectLst/>
              </a:rPr>
              <a:t>×</a:t>
            </a:r>
            <a:r>
              <a:rPr lang="zh-CN" altLang="en-US" dirty="0">
                <a:effectLst/>
              </a:rPr>
              <a:t>目标品类数</a:t>
            </a:r>
            <a:r>
              <a:rPr lang="en-US" altLang="zh-CN" dirty="0">
                <a:effectLst/>
              </a:rPr>
              <a:t>×</a:t>
            </a:r>
            <a:r>
              <a:rPr lang="zh-CN" altLang="en-US" dirty="0">
                <a:effectLst/>
              </a:rPr>
              <a:t>目标</a:t>
            </a:r>
            <a:r>
              <a:rPr lang="en-US" altLang="zh-CN" dirty="0">
                <a:effectLst/>
              </a:rPr>
              <a:t>LBS</a:t>
            </a:r>
            <a:r>
              <a:rPr lang="zh-CN" altLang="en-US" dirty="0">
                <a:effectLst/>
              </a:rPr>
              <a:t>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榜单场景满足度</a:t>
            </a:r>
            <a:r>
              <a:rPr lang="en-US" altLang="zh-CN" dirty="0">
                <a:effectLst/>
              </a:rPr>
              <a:t>%=</a:t>
            </a:r>
            <a:r>
              <a:rPr lang="zh-CN" altLang="en-US" dirty="0">
                <a:effectLst/>
              </a:rPr>
              <a:t>场景数</a:t>
            </a:r>
            <a:r>
              <a:rPr lang="en-US" altLang="zh-CN" dirty="0">
                <a:effectLst/>
              </a:rPr>
              <a:t>×LBS</a:t>
            </a:r>
            <a:r>
              <a:rPr lang="zh-CN" altLang="en-US" dirty="0">
                <a:effectLst/>
              </a:rPr>
              <a:t>数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目标场景数</a:t>
            </a:r>
            <a:r>
              <a:rPr lang="en-US" altLang="zh-CN" dirty="0">
                <a:effectLst/>
              </a:rPr>
              <a:t>×</a:t>
            </a:r>
            <a:r>
              <a:rPr lang="zh-CN" altLang="en-US" dirty="0">
                <a:effectLst/>
              </a:rPr>
              <a:t>目标</a:t>
            </a:r>
            <a:r>
              <a:rPr lang="en-US" altLang="zh-CN" dirty="0">
                <a:effectLst/>
              </a:rPr>
              <a:t>LBS</a:t>
            </a:r>
            <a:r>
              <a:rPr lang="zh-CN" altLang="en-US" dirty="0">
                <a:effectLst/>
              </a:rPr>
              <a:t>数。   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__SYMBOL"/>
              </a:rPr>
              <a:t>目标场景：旅游、约会、聚会、亲子、宴请、氛围餐厅、时令、开放榜。目标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__SYMBOL"/>
              </a:rPr>
              <a:t>LBS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__SYMBOL"/>
              </a:rPr>
              <a:t>数：双侧前台开站城市总数</a:t>
            </a:r>
            <a:endParaRPr lang="zh-CN" alt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+mn-ea"/>
                <a:ea typeface="+mn-ea"/>
              </a:rPr>
              <a:t>端外、餐外、餐内</a:t>
            </a:r>
            <a:endParaRPr lang="en-US" altLang="zh-CN" sz="1200" dirty="0">
              <a:latin typeface="+mn-ea"/>
              <a:ea typeface="+mn-ea"/>
            </a:endParaRPr>
          </a:p>
          <a:p>
            <a:r>
              <a:rPr lang="zh-CN" altLang="en-US" sz="1200" dirty="0">
                <a:latin typeface="+mn-ea"/>
                <a:ea typeface="+mn-ea"/>
              </a:rPr>
              <a:t>（</a:t>
            </a:r>
            <a:r>
              <a:rPr lang="en-US" altLang="zh-CN" sz="1200" dirty="0">
                <a:latin typeface="+mn-ea"/>
                <a:ea typeface="+mn-ea"/>
              </a:rPr>
              <a:t>26</a:t>
            </a:r>
            <a:r>
              <a:rPr lang="zh-CN" altLang="en-US" sz="1200" dirty="0">
                <a:latin typeface="+mn-ea"/>
                <a:ea typeface="+mn-ea"/>
              </a:rPr>
              <a:t>年五一</a:t>
            </a:r>
            <a:r>
              <a:rPr lang="en-US" altLang="zh-CN" sz="1200" dirty="0">
                <a:latin typeface="+mn-ea"/>
                <a:ea typeface="+mn-ea"/>
              </a:rPr>
              <a:t>318,150 vs </a:t>
            </a:r>
            <a:r>
              <a:rPr lang="zh-CN" altLang="en-US" sz="1200" dirty="0">
                <a:latin typeface="+mn-ea"/>
                <a:ea typeface="+mn-ea"/>
              </a:rPr>
              <a:t>基期</a:t>
            </a:r>
            <a:r>
              <a:rPr lang="en-US" altLang="zh-CN" sz="1200" dirty="0">
                <a:latin typeface="+mn-ea"/>
                <a:ea typeface="+mn-ea"/>
              </a:rPr>
              <a:t>86,470</a:t>
            </a:r>
            <a:r>
              <a:rPr lang="zh-CN" altLang="en-US" sz="1200" dirty="0">
                <a:latin typeface="+mn-ea"/>
                <a:ea typeface="+mn-ea"/>
              </a:rPr>
              <a:t>），（</a:t>
            </a:r>
            <a:r>
              <a:rPr lang="en-US" altLang="zh-CN" sz="1200" dirty="0">
                <a:latin typeface="+mn-ea"/>
                <a:ea typeface="+mn-ea"/>
              </a:rPr>
              <a:t>25</a:t>
            </a:r>
            <a:r>
              <a:rPr lang="zh-CN" altLang="en-US" sz="1200" dirty="0">
                <a:latin typeface="+mn-ea"/>
                <a:ea typeface="+mn-ea"/>
              </a:rPr>
              <a:t>年五一</a:t>
            </a:r>
            <a:r>
              <a:rPr lang="en-US" altLang="zh-CN" sz="1200" dirty="0">
                <a:latin typeface="+mn-ea"/>
                <a:ea typeface="+mn-ea"/>
              </a:rPr>
              <a:t>296,677</a:t>
            </a:r>
            <a:r>
              <a:rPr lang="zh-CN" altLang="en-US" sz="1200" dirty="0">
                <a:latin typeface="+mn-ea"/>
                <a:ea typeface="+mn-ea"/>
              </a:rPr>
              <a:t>）。相比之下，美团榜单本地意向</a:t>
            </a:r>
            <a:r>
              <a:rPr lang="en-US" altLang="zh-CN" sz="1200" dirty="0">
                <a:latin typeface="+mn-ea"/>
                <a:ea typeface="+mn-ea"/>
              </a:rPr>
              <a:t>UV</a:t>
            </a:r>
            <a:r>
              <a:rPr lang="zh-CN" altLang="en-US" sz="1200" dirty="0">
                <a:latin typeface="+mn-ea"/>
                <a:ea typeface="+mn-ea"/>
              </a:rPr>
              <a:t>较基期</a:t>
            </a:r>
            <a:r>
              <a:rPr lang="en-US" altLang="zh-CN" sz="1200" dirty="0">
                <a:latin typeface="+mn-ea"/>
                <a:ea typeface="+mn-ea"/>
              </a:rPr>
              <a:t>+45.4%</a:t>
            </a:r>
            <a:r>
              <a:rPr lang="zh-CN" altLang="en-US" sz="1200" dirty="0">
                <a:latin typeface="+mn-ea"/>
                <a:ea typeface="+mn-ea"/>
              </a:rPr>
              <a:t>。</a:t>
            </a:r>
            <a:r>
              <a:rPr lang="zh-CN" altLang="en-US" sz="1200" b="0" dirty="0">
                <a:latin typeface="+mn-ea"/>
                <a:ea typeface="+mn-ea"/>
              </a:rPr>
              <a:t>异地增幅远超本地，榜单在旅游用户需求承接上更具优势。</a:t>
            </a:r>
            <a:endParaRPr kumimoji="1" lang="zh-CN" altLang="en-US" b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71591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16201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j-ea"/>
                <a:ea typeface="+mj-ea"/>
              </a:rPr>
              <a:t>当地人推荐：</a:t>
            </a:r>
            <a:r>
              <a:rPr lang="zh-CN" altLang="en-US" sz="1200" dirty="0">
                <a:latin typeface="+mj-ea"/>
                <a:ea typeface="+mj-ea"/>
              </a:rPr>
              <a:t>本地用户的评论数量、评价均分、推荐菜数量、城市特色品类等</a:t>
            </a:r>
            <a:endParaRPr lang="en-US" altLang="zh-CN" sz="1200" dirty="0">
              <a:latin typeface="+mj-ea"/>
              <a:ea typeface="+mj-ea"/>
            </a:endParaRPr>
          </a:p>
          <a:p>
            <a:r>
              <a:rPr lang="zh-CN" altLang="en-US" sz="1200" b="1" dirty="0">
                <a:latin typeface="+mj-ea"/>
                <a:ea typeface="+mj-ea"/>
              </a:rPr>
              <a:t>特色菜：</a:t>
            </a:r>
            <a:r>
              <a:rPr lang="zh-CN" altLang="en-US" sz="1200" dirty="0">
                <a:latin typeface="+mj-ea"/>
                <a:ea typeface="+mj-ea"/>
              </a:rPr>
              <a:t>推荐菜点赞数、评价数、流量等</a:t>
            </a:r>
            <a:endParaRPr lang="en-US" altLang="zh-CN" sz="1200" dirty="0"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j-ea"/>
                <a:ea typeface="+mj-ea"/>
                <a:sym typeface="Wingdings" panose="05000000000000000000" pitchFamily="2" charset="2"/>
              </a:rPr>
              <a:t>烟火榜：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烟火气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老店小店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口味地道等评论数量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占比、门店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GTV&amp;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核销量、好评率、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POI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流量</a:t>
            </a:r>
            <a:endParaRPr lang="en-US" altLang="zh-CN" sz="1200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春鲜套餐榜页面停留时长（</a:t>
            </a:r>
            <a:r>
              <a:rPr lang="en-US" altLang="zh-CN" dirty="0">
                <a:effectLst/>
              </a:rPr>
              <a:t>15.38s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vs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10.60s</a:t>
            </a:r>
            <a:r>
              <a:rPr lang="zh-CN" altLang="en-US" dirty="0">
                <a:effectLst/>
              </a:rPr>
              <a:t>）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访购率（</a:t>
            </a:r>
            <a:r>
              <a:rPr lang="en-US" altLang="zh-CN" dirty="0">
                <a:effectLst/>
              </a:rPr>
              <a:t>24.3% vs 7.8%</a:t>
            </a:r>
            <a:r>
              <a:rPr lang="zh-CN" altLang="en-US" dirty="0">
                <a:effectLst/>
              </a:rPr>
              <a:t>整体）</a:t>
            </a:r>
            <a:endParaRPr lang="en-US" altLang="zh-CN" dirty="0">
              <a:effectLst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961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zh-CN" sz="1200" dirty="0">
                <a:effectLst/>
              </a:rPr>
              <a:t>整体采用Orchestrator-SubAgent模式，1个主 Agent 层（薄路由+状态感知），子 Agent 层（4 个专业 Agent）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zh-CN" sz="1200" b="1" dirty="0">
                <a:effectLst/>
              </a:rPr>
              <a:t>【多Agent协作机制】</a:t>
            </a:r>
            <a:endParaRPr lang="zh-CN" altLang="zh-CN" sz="1200" dirty="0">
              <a:effectLst/>
            </a:endParaRPr>
          </a:p>
          <a:p>
            <a:pPr marL="0" marR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zh-CN" sz="1200" dirty="0">
                <a:effectLst/>
              </a:rPr>
              <a:t>统一 Handoff 协议：所有子 Agent 通过同一套协议与主 Agent 交互；上下文通过 C+A 混合机制传递（链式全量传递 + 主 Agent 注入全局上下文）。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zh-CN" sz="1200" dirty="0">
                <a:effectLst/>
              </a:rPr>
              <a:t>线性流水线 + 异常回流双模式：正向通过completion_signal协议流转，异常回流根据映射表进行流程回退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zh-CN" sz="1200" dirty="0">
                <a:effectLst/>
              </a:rPr>
              <a:t>跨 Agent 知识共享：通过知识库共享榜单的规则等信息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5371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0">
              <a:lnSpc>
                <a:spcPct val="83000"/>
              </a:lnSpc>
            </a:pPr>
            <a:r>
              <a:rPr lang="zh-CN" altLang="en-US" sz="1200" dirty="0">
                <a:latin typeface="+mj-ea"/>
                <a:ea typeface="+mj-ea"/>
                <a:cs typeface="MiSans Bold" panose="00000800000000000000" pitchFamily="2" charset="-122"/>
              </a:rPr>
              <a:t>用户原声：</a:t>
            </a:r>
            <a:r>
              <a:rPr lang="en-US" altLang="zh-CN" sz="1200" i="1" dirty="0">
                <a:latin typeface="+mj-ea"/>
                <a:ea typeface="+mj-ea"/>
                <a:cs typeface="MiSans Medium" panose="00000600000000000000" pitchFamily="2" charset="-122"/>
              </a:rPr>
              <a:t> </a:t>
            </a:r>
            <a:r>
              <a:rPr lang="zh-CN" altLang="en-US" sz="1200" i="1" dirty="0">
                <a:latin typeface="+mj-ea"/>
                <a:ea typeface="+mj-ea"/>
                <a:cs typeface="MiSans Medium" panose="00000600000000000000" pitchFamily="2" charset="-122"/>
              </a:rPr>
              <a:t>“人气榜、好评榜评价维度太单一，感觉很不可信，人气榜销量高，可能是“做”出来的”；好评榜好评多，可能因为“送东西要好评”。“人气榜上面遗漏很多那种不会经营数据的“本地老字号”，基本都是偏网红，排队多的门店”</a:t>
            </a:r>
            <a:endParaRPr lang="en-US" altLang="zh-CN" sz="1200" i="1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 rtl="0" eaLnBrk="0">
              <a:lnSpc>
                <a:spcPct val="83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+mj-ea"/>
                <a:ea typeface="+mj-ea"/>
                <a:cs typeface="MiSans Medium" panose="00000600000000000000" pitchFamily="2" charset="-122"/>
              </a:rPr>
              <a:t>商户原声：</a:t>
            </a:r>
            <a:r>
              <a:rPr lang="en-US" altLang="zh-CN" sz="1200" i="1" dirty="0">
                <a:latin typeface="+mj-ea"/>
                <a:ea typeface="+mj-ea"/>
                <a:cs typeface="MiSans Medium" panose="00000600000000000000" pitchFamily="2" charset="-122"/>
              </a:rPr>
              <a:t> </a:t>
            </a:r>
            <a:r>
              <a:rPr lang="zh-CN" altLang="en-US" sz="1200" i="1" dirty="0">
                <a:latin typeface="+mj-ea"/>
                <a:ea typeface="+mj-ea"/>
                <a:cs typeface="MiSans Medium" panose="00000600000000000000" pitchFamily="2" charset="-122"/>
              </a:rPr>
              <a:t>“我们这个店主打“现炒”，新客不多，但老客占比差不多有</a:t>
            </a:r>
            <a:r>
              <a:rPr lang="en-US" altLang="zh-CN" sz="1200" i="1" dirty="0">
                <a:latin typeface="+mj-ea"/>
                <a:ea typeface="+mj-ea"/>
                <a:cs typeface="MiSans Medium" panose="00000600000000000000" pitchFamily="2" charset="-122"/>
              </a:rPr>
              <a:t>60%</a:t>
            </a:r>
            <a:r>
              <a:rPr lang="zh-CN" altLang="en-US" sz="1200" i="1" dirty="0">
                <a:latin typeface="+mj-ea"/>
                <a:ea typeface="+mj-ea"/>
                <a:cs typeface="MiSans Medium" panose="00000600000000000000" pitchFamily="2" charset="-122"/>
              </a:rPr>
              <a:t>，有些客人一周甚至能来</a:t>
            </a:r>
            <a:r>
              <a:rPr lang="en-US" altLang="zh-CN" sz="1200" i="1" dirty="0">
                <a:latin typeface="+mj-ea"/>
                <a:ea typeface="+mj-ea"/>
                <a:cs typeface="MiSans Medium" panose="00000600000000000000" pitchFamily="2" charset="-122"/>
              </a:rPr>
              <a:t>3-5</a:t>
            </a:r>
            <a:r>
              <a:rPr lang="zh-CN" altLang="en-US" sz="1200" i="1" dirty="0">
                <a:latin typeface="+mj-ea"/>
                <a:ea typeface="+mj-ea"/>
                <a:cs typeface="MiSans Medium" panose="00000600000000000000" pitchFamily="2" charset="-122"/>
              </a:rPr>
              <a:t>天，我们不是那种做流量营销的店，就想做好自己的小店”</a:t>
            </a:r>
          </a:p>
          <a:p>
            <a:pPr marL="0" marR="0" lvl="0" indent="0" algn="l" defTabSz="914400" rtl="0" eaLnBrk="0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rgbClr val="FFFFFF"/>
              </a:solidFill>
              <a:latin typeface="+mj-ea"/>
              <a:ea typeface="+mj-ea"/>
              <a:cs typeface="MiSans Medium" panose="00000600000000000000" pitchFamily="2" charset="-122"/>
            </a:endParaRPr>
          </a:p>
          <a:p>
            <a:pPr rtl="0" eaLnBrk="0">
              <a:lnSpc>
                <a:spcPct val="83000"/>
              </a:lnSpc>
            </a:pPr>
            <a:endParaRPr lang="zh-CN" altLang="en-US" sz="1200" i="1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+mj-ea"/>
              <a:ea typeface="+mj-ea"/>
              <a:cs typeface="MiSans Bold" panose="00000800000000000000" pitchFamily="2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817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A940-0F17-EA99-BE9B-A5C0D82C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2108F-3B22-32DF-CA1A-692493EE9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5C5DEF-FB91-154D-2108-ED1F65443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CF409-86E1-37D9-99E2-D47BB5652D3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2026/8/23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A2BCBC-C230-D0C9-231B-329954285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C54A68-AB88-944A-5A13-342E0E6068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834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单标题_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252000" y="288001"/>
            <a:ext cx="7664380" cy="42731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7" y="871728"/>
            <a:ext cx="8639588" cy="37764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161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0" imgH="0" progId="TCLayout.ActiveDocument.1">
                  <p:embed/>
                </p:oleObj>
              </mc:Choice>
              <mc:Fallback>
                <p:oleObj name="think-cell 幻灯片" r:id="rId10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oleObject" Target="../embeddings/oleObject8.bin"/><Relationship Id="rId7" Type="http://schemas.openxmlformats.org/officeDocument/2006/relationships/image" Target="../media/image2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oleObject" Target="../embeddings/oleObject9.bin"/><Relationship Id="rId7" Type="http://schemas.openxmlformats.org/officeDocument/2006/relationships/image" Target="../media/image2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2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2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2.emf"/><Relationship Id="rId7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2.emf"/><Relationship Id="rId7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2.emf"/><Relationship Id="rId7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2.emf"/><Relationship Id="rId6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2.emf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png"/><Relationship Id="rId10" Type="http://schemas.openxmlformats.org/officeDocument/2006/relationships/image" Target="../media/image11.jpeg"/><Relationship Id="rId11" Type="http://schemas.openxmlformats.org/officeDocument/2006/relationships/image" Target="../media/image12.jpeg"/><Relationship Id="rId12" Type="http://schemas.openxmlformats.org/officeDocument/2006/relationships/image" Target="../media/image13.jpeg"/><Relationship Id="rId13" Type="http://schemas.openxmlformats.org/officeDocument/2006/relationships/image" Target="../media/image14.jpeg"/><Relationship Id="rId14" Type="http://schemas.openxmlformats.org/officeDocument/2006/relationships/image" Target="../media/image15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2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2.emf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19.bin"/><Relationship Id="rId5" Type="http://schemas.openxmlformats.org/officeDocument/2006/relationships/image" Target="../media/image2.emf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2.emf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.emf"/><Relationship Id="rId6" Type="http://schemas.openxmlformats.org/officeDocument/2006/relationships/hyperlink" Target="https://www.xinhuanet.com/tech/20250515/eb0fae13a7d446d486adf3b8b2709cd9/c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oleObject" Target="../embeddings/oleObject22.bin"/><Relationship Id="rId5" Type="http://schemas.openxmlformats.org/officeDocument/2006/relationships/image" Target="../media/image2.emf"/><Relationship Id="rId6" Type="http://schemas.openxmlformats.org/officeDocument/2006/relationships/hyperlink" Target="https://www.xinhuanet.com/tech/20250515/eb0fae13a7d446d486adf3b8b2709cd9/c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2.emf"/><Relationship Id="rId6" Type="http://schemas.openxmlformats.org/officeDocument/2006/relationships/hyperlink" Target="https://rules-center.meituan.com/rule-detail/403005/2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oleObject" Target="../embeddings/oleObject9.bin"/><Relationship Id="rId7" Type="http://schemas.openxmlformats.org/officeDocument/2006/relationships/image" Target="../media/image2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2.emf"/><Relationship Id="rId6" Type="http://schemas.openxmlformats.org/officeDocument/2006/relationships/hyperlink" Target="https://www.xinhuanet.com/tech/20250515/eb0fae13a7d446d486adf3b8b2709cd9/c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Relationship Id="rId6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eg"/><Relationship Id="rId9" Type="http://schemas.openxmlformats.org/officeDocument/2006/relationships/image" Target="../media/image28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30.jpeg"/><Relationship Id="rId5" Type="http://schemas.openxmlformats.org/officeDocument/2006/relationships/image" Target="../media/image31.jpeg"/><Relationship Id="rId6" Type="http://schemas.openxmlformats.org/officeDocument/2006/relationships/image" Target="../media/image32.jpeg"/><Relationship Id="rId7" Type="http://schemas.openxmlformats.org/officeDocument/2006/relationships/image" Target="../media/image33.emf"/><Relationship Id="rId8" Type="http://schemas.openxmlformats.org/officeDocument/2006/relationships/image" Target="../media/image34.jpeg"/><Relationship Id="rId9" Type="http://schemas.openxmlformats.org/officeDocument/2006/relationships/image" Target="../media/image35.png"/><Relationship Id="rId10" Type="http://schemas.openxmlformats.org/officeDocument/2006/relationships/image" Target="../media/image36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video" Target="NULL" TargetMode="External"/><Relationship Id="rId2" Type="http://schemas.microsoft.com/office/2007/relationships/media" Target="../media/media1.mp4"/><Relationship Id="rId3" Type="http://schemas.openxmlformats.org/officeDocument/2006/relationships/slideLayout" Target="../slideLayouts/slideLayout5.xml"/><Relationship Id="rId4" Type="http://schemas.openxmlformats.org/officeDocument/2006/relationships/image" Target="../media/image37.jpeg"/><Relationship Id="rId5" Type="http://schemas.openxmlformats.org/officeDocument/2006/relationships/image" Target="../media/image38.jpe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jpeg"/><Relationship Id="rId4" Type="http://schemas.openxmlformats.org/officeDocument/2006/relationships/image" Target="../media/image47.jpeg"/><Relationship Id="rId5" Type="http://schemas.openxmlformats.org/officeDocument/2006/relationships/image" Target="../media/image48.jpeg"/><Relationship Id="rId6" Type="http://schemas.openxmlformats.org/officeDocument/2006/relationships/image" Target="../media/image49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</file>

<file path=ppt/slides/_rels/slide3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榜单运营进展汇报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23777197-6C17-1E03-E0FB-7A08400971E6}"/>
              </a:ext>
            </a:extLst>
          </p:cNvPr>
          <p:cNvSpPr/>
          <p:nvPr/>
        </p:nvSpPr>
        <p:spPr>
          <a:xfrm>
            <a:off x="6824696" y="4143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到餐事业部</a:t>
            </a: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资产运营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A5AA0EA7-C406-0817-D821-F48040560E45}"/>
              </a:ext>
            </a:extLst>
          </p:cNvPr>
          <p:cNvSpPr/>
          <p:nvPr/>
        </p:nvSpPr>
        <p:spPr>
          <a:xfrm>
            <a:off x="7546056" y="4509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21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292D91-4E94-1299-139C-09FCB5B46DF6}"/>
              </a:ext>
            </a:extLst>
          </p:cNvPr>
          <p:cNvSpPr txBox="1"/>
          <p:nvPr/>
        </p:nvSpPr>
        <p:spPr>
          <a:xfrm>
            <a:off x="579914" y="906020"/>
            <a:ext cx="7459185" cy="188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+mj-ea"/>
              </a:rPr>
              <a:t>榜单运营数据概览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榜单用户动线建设</a:t>
            </a:r>
            <a:endParaRPr kumimoji="1"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榜单矩阵建设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 AI</a:t>
            </a:r>
            <a:r>
              <a:rPr lang="zh-CN" altLang="en-US" sz="2000" dirty="0"/>
              <a:t>榜单生成及智能运营规划</a:t>
            </a:r>
            <a:r>
              <a:rPr lang="en-US" altLang="zh-CN" sz="2000" dirty="0"/>
              <a:t>&amp;</a:t>
            </a:r>
            <a:r>
              <a:rPr lang="zh-CN" altLang="en-US" sz="2000" dirty="0"/>
              <a:t>进展</a:t>
            </a:r>
            <a:endParaRPr lang="zh-CN" altLang="en-US" sz="2000" dirty="0">
              <a:latin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C3AD1FB-D5D5-3A4B-E691-22639043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1761" y="0"/>
            <a:ext cx="4105275" cy="50546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0" imgH="0" progId="TCLayout.ActiveDocument.1">
                  <p:embed/>
                </p:oleObj>
              </mc:Choice>
              <mc:Fallback>
                <p:oleObj name="think-cell 幻灯片" r:id="rId6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3A59F87-917D-1377-7A52-B7EF5D0ABFBF}"/>
              </a:ext>
            </a:extLst>
          </p:cNvPr>
          <p:cNvCxnSpPr>
            <a:cxnSpLocks/>
          </p:cNvCxnSpPr>
          <p:nvPr/>
        </p:nvCxnSpPr>
        <p:spPr>
          <a:xfrm>
            <a:off x="1214029" y="3446504"/>
            <a:ext cx="448073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EF0E61F-3C93-79EF-B566-1E9F1D78CBD6}"/>
              </a:ext>
            </a:extLst>
          </p:cNvPr>
          <p:cNvCxnSpPr>
            <a:cxnSpLocks/>
          </p:cNvCxnSpPr>
          <p:nvPr/>
        </p:nvCxnSpPr>
        <p:spPr>
          <a:xfrm flipV="1">
            <a:off x="1269186" y="1423612"/>
            <a:ext cx="4480737" cy="288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35A3B7C8-002A-B240-CF8C-53141A0198C4}"/>
              </a:ext>
            </a:extLst>
          </p:cNvPr>
          <p:cNvSpPr txBox="1">
            <a:spLocks/>
          </p:cNvSpPr>
          <p:nvPr/>
        </p:nvSpPr>
        <p:spPr>
          <a:xfrm>
            <a:off x="2466428" y="498520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典</a:t>
            </a:r>
            <a:endParaRPr lang="en-US" altLang="zh-CN" sz="16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（稀缺）</a:t>
            </a:r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5F94431D-8248-0360-0872-632B65C6CE1D}"/>
              </a:ext>
            </a:extLst>
          </p:cNvPr>
          <p:cNvSpPr txBox="1">
            <a:spLocks/>
          </p:cNvSpPr>
          <p:nvPr/>
        </p:nvSpPr>
        <p:spPr>
          <a:xfrm>
            <a:off x="1911551" y="1523669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热</a:t>
            </a:r>
            <a:endParaRPr lang="en-US" altLang="zh-CN" sz="16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（资产客观）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DAE7CD89-592E-A1D1-6829-C12EC4B86AA0}"/>
              </a:ext>
            </a:extLst>
          </p:cNvPr>
          <p:cNvSpPr txBox="1">
            <a:spLocks/>
          </p:cNvSpPr>
          <p:nvPr/>
        </p:nvSpPr>
        <p:spPr>
          <a:xfrm>
            <a:off x="1988186" y="3505478"/>
            <a:ext cx="2994833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新</a:t>
            </a:r>
            <a:endParaRPr lang="en-US" altLang="zh-CN" sz="16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（时效准确）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57EA3899-8321-8B9F-2FD9-FB1B55B2A4F2}"/>
              </a:ext>
            </a:extLst>
          </p:cNvPr>
          <p:cNvSpPr txBox="1">
            <a:spLocks/>
          </p:cNvSpPr>
          <p:nvPr/>
        </p:nvSpPr>
        <p:spPr>
          <a:xfrm>
            <a:off x="13368670" y="-76708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上面层有一定的个性化部分，比如好不好吃，坚守本味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融入改良，价格带，那些亮点吸引人等</a:t>
            </a:r>
            <a:endParaRPr lang="en-US" altLang="zh-CN" dirty="0">
              <a:latin typeface="+mn-ea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C68D7D6-8E2E-C21D-5A2E-C1C9E8F83BAF}"/>
              </a:ext>
            </a:extLst>
          </p:cNvPr>
          <p:cNvSpPr txBox="1">
            <a:spLocks/>
          </p:cNvSpPr>
          <p:nvPr/>
        </p:nvSpPr>
        <p:spPr>
          <a:xfrm>
            <a:off x="5246281" y="-383542"/>
            <a:ext cx="4859513" cy="127377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店</a:t>
            </a:r>
            <a:endParaRPr lang="en-US" altLang="zh-CN" sz="1600" dirty="0">
              <a:latin typeface="+mn-ea"/>
            </a:endParaRPr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9E0AD82B-6953-1A74-770B-9BEE352BCC15}"/>
              </a:ext>
            </a:extLst>
          </p:cNvPr>
          <p:cNvSpPr txBox="1">
            <a:spLocks/>
          </p:cNvSpPr>
          <p:nvPr/>
        </p:nvSpPr>
        <p:spPr>
          <a:xfrm>
            <a:off x="9223859" y="-383542"/>
            <a:ext cx="4859513" cy="127377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品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菜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F84603-44A7-3C95-8C22-EDCE68E7C12C}"/>
              </a:ext>
            </a:extLst>
          </p:cNvPr>
          <p:cNvSpPr/>
          <p:nvPr/>
        </p:nvSpPr>
        <p:spPr>
          <a:xfrm>
            <a:off x="10092019" y="3845249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F22A4B-2CD5-977F-9DC7-A06F4574377D}"/>
              </a:ext>
            </a:extLst>
          </p:cNvPr>
          <p:cNvSpPr/>
          <p:nvPr/>
        </p:nvSpPr>
        <p:spPr>
          <a:xfrm>
            <a:off x="10092018" y="1616033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4F60C3-FAB4-08B4-DD85-253708C9A007}"/>
              </a:ext>
            </a:extLst>
          </p:cNvPr>
          <p:cNvSpPr/>
          <p:nvPr/>
        </p:nvSpPr>
        <p:spPr>
          <a:xfrm>
            <a:off x="10034928" y="2731008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占位符 1">
            <a:extLst>
              <a:ext uri="{FF2B5EF4-FFF2-40B4-BE49-F238E27FC236}">
                <a16:creationId xmlns:a16="http://schemas.microsoft.com/office/drawing/2014/main" id="{E2E1E4D5-30F2-83B2-BD63-37E7A6172AB7}"/>
              </a:ext>
            </a:extLst>
          </p:cNvPr>
          <p:cNvSpPr txBox="1">
            <a:spLocks/>
          </p:cNvSpPr>
          <p:nvPr/>
        </p:nvSpPr>
        <p:spPr>
          <a:xfrm>
            <a:off x="1911551" y="2529014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特</a:t>
            </a:r>
            <a:endParaRPr lang="en-US" altLang="zh-CN" sz="16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（资产客观）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BAA11FA-F820-65F1-6DA0-F59589051F46}"/>
              </a:ext>
            </a:extLst>
          </p:cNvPr>
          <p:cNvCxnSpPr>
            <a:cxnSpLocks/>
          </p:cNvCxnSpPr>
          <p:nvPr/>
        </p:nvCxnSpPr>
        <p:spPr>
          <a:xfrm flipV="1">
            <a:off x="1327572" y="2313642"/>
            <a:ext cx="4480737" cy="288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20AC24A-7F5A-4E6F-6580-2FD51FFB5F14}"/>
              </a:ext>
            </a:extLst>
          </p:cNvPr>
          <p:cNvSpPr/>
          <p:nvPr/>
        </p:nvSpPr>
        <p:spPr>
          <a:xfrm>
            <a:off x="6390948" y="3867963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新店榜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A78792F-CF72-80D4-7BBF-289FBBA3598F}"/>
              </a:ext>
            </a:extLst>
          </p:cNvPr>
          <p:cNvSpPr/>
          <p:nvPr/>
        </p:nvSpPr>
        <p:spPr>
          <a:xfrm>
            <a:off x="6338308" y="1608643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店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（从众）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CCCDFAC-9FAE-14F7-8F10-AC028CA78D07}"/>
              </a:ext>
            </a:extLst>
          </p:cNvPr>
          <p:cNvSpPr/>
          <p:nvPr/>
        </p:nvSpPr>
        <p:spPr>
          <a:xfrm>
            <a:off x="6338308" y="187955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黑珍珠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必吃榜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家，城均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家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（不踩雷）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77875DA-EF66-3865-3DE3-FE229303232A}"/>
              </a:ext>
            </a:extLst>
          </p:cNvPr>
          <p:cNvSpPr/>
          <p:nvPr/>
        </p:nvSpPr>
        <p:spPr>
          <a:xfrm>
            <a:off x="6390948" y="2785471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当地人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场景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259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813D9962-2F81-9757-EB73-4CAA6CCEFF5D}"/>
              </a:ext>
            </a:extLst>
          </p:cNvPr>
          <p:cNvSpPr/>
          <p:nvPr/>
        </p:nvSpPr>
        <p:spPr>
          <a:xfrm>
            <a:off x="4145798" y="3163048"/>
            <a:ext cx="4055228" cy="1779915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C3AD1FB-D5D5-3A4B-E691-22639043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87121" y="-588037"/>
            <a:ext cx="3671361" cy="5054600"/>
          </a:xfrm>
          <a:prstGeom prst="rect">
            <a:avLst/>
          </a:prstGeom>
          <a:ln>
            <a:noFill/>
          </a:ln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0" imgH="0" progId="TCLayout.ActiveDocument.1">
                  <p:embed/>
                </p:oleObj>
              </mc:Choice>
              <mc:Fallback>
                <p:oleObj name="think-cell 幻灯片" r:id="rId6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3A59F87-917D-1377-7A52-B7EF5D0ABFBF}"/>
              </a:ext>
            </a:extLst>
          </p:cNvPr>
          <p:cNvCxnSpPr>
            <a:cxnSpLocks/>
          </p:cNvCxnSpPr>
          <p:nvPr/>
        </p:nvCxnSpPr>
        <p:spPr>
          <a:xfrm>
            <a:off x="12618802" y="3289344"/>
            <a:ext cx="203835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EF0E61F-3C93-79EF-B566-1E9F1D78CBD6}"/>
              </a:ext>
            </a:extLst>
          </p:cNvPr>
          <p:cNvCxnSpPr>
            <a:cxnSpLocks/>
          </p:cNvCxnSpPr>
          <p:nvPr/>
        </p:nvCxnSpPr>
        <p:spPr>
          <a:xfrm flipV="1">
            <a:off x="12618802" y="553458"/>
            <a:ext cx="2038351" cy="20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35A3B7C8-002A-B240-CF8C-53141A0198C4}"/>
              </a:ext>
            </a:extLst>
          </p:cNvPr>
          <p:cNvSpPr txBox="1">
            <a:spLocks/>
          </p:cNvSpPr>
          <p:nvPr/>
        </p:nvSpPr>
        <p:spPr>
          <a:xfrm>
            <a:off x="12618802" y="-18123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尖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（资产综合）</a:t>
            </a:r>
            <a:endParaRPr lang="en-US" altLang="zh-CN" sz="1600" dirty="0"/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5F94431D-8248-0360-0872-632B65C6CE1D}"/>
              </a:ext>
            </a:extLst>
          </p:cNvPr>
          <p:cNvSpPr txBox="1">
            <a:spLocks/>
          </p:cNvSpPr>
          <p:nvPr/>
        </p:nvSpPr>
        <p:spPr>
          <a:xfrm>
            <a:off x="12065574" y="1849449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热</a:t>
            </a:r>
          </a:p>
          <a:p>
            <a:pPr marL="0" indent="0" algn="ctr">
              <a:buNone/>
            </a:pPr>
            <a:r>
              <a:rPr lang="zh-CN" altLang="en-US" sz="1600" dirty="0"/>
              <a:t>（资产验证）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DAE7CD89-592E-A1D1-6829-C12EC4B86AA0}"/>
              </a:ext>
            </a:extLst>
          </p:cNvPr>
          <p:cNvSpPr txBox="1">
            <a:spLocks/>
          </p:cNvSpPr>
          <p:nvPr/>
        </p:nvSpPr>
        <p:spPr>
          <a:xfrm>
            <a:off x="12140561" y="3408879"/>
            <a:ext cx="2994833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新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（资产冷启）</a:t>
            </a:r>
            <a:endParaRPr lang="en-US" altLang="zh-CN" sz="1600" dirty="0"/>
          </a:p>
        </p:txBody>
      </p:sp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57EA3899-8321-8B9F-2FD9-FB1B55B2A4F2}"/>
              </a:ext>
            </a:extLst>
          </p:cNvPr>
          <p:cNvSpPr txBox="1">
            <a:spLocks/>
          </p:cNvSpPr>
          <p:nvPr/>
        </p:nvSpPr>
        <p:spPr>
          <a:xfrm>
            <a:off x="12183911" y="-381508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上面层有一定的个性化部分，比如好不好吃，坚守本味</a:t>
            </a:r>
            <a:r>
              <a:rPr lang="en-US" altLang="zh-CN" dirty="0"/>
              <a:t>/</a:t>
            </a:r>
            <a:r>
              <a:rPr lang="zh-CN" altLang="en-US" dirty="0"/>
              <a:t>融入改良，价格带，那些亮点吸引人等</a:t>
            </a:r>
            <a:endParaRPr lang="en-US" altLang="zh-CN" dirty="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C68D7D6-8E2E-C21D-5A2E-C1C9E8F83BAF}"/>
              </a:ext>
            </a:extLst>
          </p:cNvPr>
          <p:cNvSpPr txBox="1">
            <a:spLocks/>
          </p:cNvSpPr>
          <p:nvPr/>
        </p:nvSpPr>
        <p:spPr>
          <a:xfrm>
            <a:off x="7522140" y="-2802643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供</a:t>
            </a:r>
            <a:endParaRPr lang="en-US" altLang="zh-CN" sz="1600" dirty="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9E0AD82B-6953-1A74-770B-9BEE352BCC15}"/>
              </a:ext>
            </a:extLst>
          </p:cNvPr>
          <p:cNvSpPr txBox="1">
            <a:spLocks/>
          </p:cNvSpPr>
          <p:nvPr/>
        </p:nvSpPr>
        <p:spPr>
          <a:xfrm>
            <a:off x="15243659" y="-887682"/>
            <a:ext cx="4859513" cy="127377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品</a:t>
            </a:r>
            <a:r>
              <a:rPr lang="en-US" altLang="zh-CN" dirty="0"/>
              <a:t>/</a:t>
            </a:r>
            <a:r>
              <a:rPr lang="zh-CN" altLang="en-US" dirty="0"/>
              <a:t>菜</a:t>
            </a:r>
            <a:endParaRPr lang="en-US" altLang="zh-CN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F84603-44A7-3C95-8C22-EDCE68E7C12C}"/>
              </a:ext>
            </a:extLst>
          </p:cNvPr>
          <p:cNvSpPr/>
          <p:nvPr/>
        </p:nvSpPr>
        <p:spPr>
          <a:xfrm>
            <a:off x="20204847" y="3448912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F22A4B-2CD5-977F-9DC7-A06F4574377D}"/>
              </a:ext>
            </a:extLst>
          </p:cNvPr>
          <p:cNvSpPr/>
          <p:nvPr/>
        </p:nvSpPr>
        <p:spPr>
          <a:xfrm>
            <a:off x="20204846" y="1219696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4F60C3-FAB4-08B4-DD85-253708C9A007}"/>
              </a:ext>
            </a:extLst>
          </p:cNvPr>
          <p:cNvSpPr/>
          <p:nvPr/>
        </p:nvSpPr>
        <p:spPr>
          <a:xfrm>
            <a:off x="20147756" y="2334671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占位符 1">
            <a:extLst>
              <a:ext uri="{FF2B5EF4-FFF2-40B4-BE49-F238E27FC236}">
                <a16:creationId xmlns:a16="http://schemas.microsoft.com/office/drawing/2014/main" id="{E2E1E4D5-30F2-83B2-BD63-37E7A6172AB7}"/>
              </a:ext>
            </a:extLst>
          </p:cNvPr>
          <p:cNvSpPr txBox="1">
            <a:spLocks/>
          </p:cNvSpPr>
          <p:nvPr/>
        </p:nvSpPr>
        <p:spPr>
          <a:xfrm>
            <a:off x="12054835" y="659905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特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（资产差异化）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BAA11FA-F820-65F1-6DA0-F59589051F46}"/>
              </a:ext>
            </a:extLst>
          </p:cNvPr>
          <p:cNvCxnSpPr>
            <a:cxnSpLocks/>
          </p:cNvCxnSpPr>
          <p:nvPr/>
        </p:nvCxnSpPr>
        <p:spPr>
          <a:xfrm>
            <a:off x="12140561" y="1379909"/>
            <a:ext cx="29948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A78792F-CF72-80D4-7BBF-289FBBA3598F}"/>
              </a:ext>
            </a:extLst>
          </p:cNvPr>
          <p:cNvSpPr/>
          <p:nvPr/>
        </p:nvSpPr>
        <p:spPr>
          <a:xfrm>
            <a:off x="5596396" y="-1683005"/>
            <a:ext cx="1807200" cy="532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榜单是精选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精准匹配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CCCDFAC-9FAE-14F7-8F10-AC028CA78D07}"/>
              </a:ext>
            </a:extLst>
          </p:cNvPr>
          <p:cNvSpPr/>
          <p:nvPr/>
        </p:nvSpPr>
        <p:spPr>
          <a:xfrm>
            <a:off x="5586341" y="-2317190"/>
            <a:ext cx="1807200" cy="532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权威背书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77875DA-EF66-3865-3DE3-FE229303232A}"/>
              </a:ext>
            </a:extLst>
          </p:cNvPr>
          <p:cNvSpPr/>
          <p:nvPr/>
        </p:nvSpPr>
        <p:spPr>
          <a:xfrm>
            <a:off x="5586340" y="-1053390"/>
            <a:ext cx="1817255" cy="11715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榜单是信息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避免踩雷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文本占位符 1">
            <a:extLst>
              <a:ext uri="{FF2B5EF4-FFF2-40B4-BE49-F238E27FC236}">
                <a16:creationId xmlns:a16="http://schemas.microsoft.com/office/drawing/2014/main" id="{3B3F80D1-9A60-8685-66C0-C01525071D06}"/>
              </a:ext>
            </a:extLst>
          </p:cNvPr>
          <p:cNvSpPr txBox="1">
            <a:spLocks/>
          </p:cNvSpPr>
          <p:nvPr/>
        </p:nvSpPr>
        <p:spPr>
          <a:xfrm>
            <a:off x="3640089" y="-2818722"/>
            <a:ext cx="1806001" cy="3597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39DC229-E9A0-118C-FF83-8386D87A8D58}"/>
              </a:ext>
            </a:extLst>
          </p:cNvPr>
          <p:cNvSpPr/>
          <p:nvPr/>
        </p:nvSpPr>
        <p:spPr>
          <a:xfrm>
            <a:off x="3660596" y="-2328359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选最好的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D126C5A-1E29-9281-87EB-B60ABF08C1C2}"/>
              </a:ext>
            </a:extLst>
          </p:cNvPr>
          <p:cNvSpPr/>
          <p:nvPr/>
        </p:nvSpPr>
        <p:spPr>
          <a:xfrm>
            <a:off x="3677435" y="-1059989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效率决策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选不错的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C790FF1-4DE7-45D0-8034-BF6C796619F2}"/>
              </a:ext>
            </a:extLst>
          </p:cNvPr>
          <p:cNvSpPr/>
          <p:nvPr/>
        </p:nvSpPr>
        <p:spPr>
          <a:xfrm>
            <a:off x="3677435" y="-1694174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选最合适的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BA0F29A-1018-37F4-4E29-6B80E3D3AA9B}"/>
              </a:ext>
            </a:extLst>
          </p:cNvPr>
          <p:cNvSpPr/>
          <p:nvPr/>
        </p:nvSpPr>
        <p:spPr>
          <a:xfrm>
            <a:off x="3675089" y="-425803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选个新的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5" name="文本占位符 1">
            <a:extLst>
              <a:ext uri="{FF2B5EF4-FFF2-40B4-BE49-F238E27FC236}">
                <a16:creationId xmlns:a16="http://schemas.microsoft.com/office/drawing/2014/main" id="{5726C88C-5256-7ABF-B9DE-8796EA4BE4B7}"/>
              </a:ext>
            </a:extLst>
          </p:cNvPr>
          <p:cNvSpPr txBox="1">
            <a:spLocks/>
          </p:cNvSpPr>
          <p:nvPr/>
        </p:nvSpPr>
        <p:spPr>
          <a:xfrm>
            <a:off x="5550393" y="-2802643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7A858C8-5E25-A6E4-B879-5F2FA57B6942}"/>
              </a:ext>
            </a:extLst>
          </p:cNvPr>
          <p:cNvSpPr/>
          <p:nvPr/>
        </p:nvSpPr>
        <p:spPr>
          <a:xfrm>
            <a:off x="17304477" y="3916158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新店榜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（点评）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C280B61-7D1C-B9A9-CFC0-87A6AA7CC68A}"/>
              </a:ext>
            </a:extLst>
          </p:cNvPr>
          <p:cNvSpPr/>
          <p:nvPr/>
        </p:nvSpPr>
        <p:spPr>
          <a:xfrm>
            <a:off x="17336454" y="1622357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57F7A5E-A0DB-B2EF-09F4-2E926F64C97F}"/>
              </a:ext>
            </a:extLst>
          </p:cNvPr>
          <p:cNvSpPr/>
          <p:nvPr/>
        </p:nvSpPr>
        <p:spPr>
          <a:xfrm>
            <a:off x="17304478" y="171302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6264A49-F7CA-0E64-818D-8204D6A9DCB3}"/>
              </a:ext>
            </a:extLst>
          </p:cNvPr>
          <p:cNvSpPr/>
          <p:nvPr/>
        </p:nvSpPr>
        <p:spPr>
          <a:xfrm>
            <a:off x="17336455" y="2951008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当地人推荐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约会榜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占位符 1">
            <a:extLst>
              <a:ext uri="{FF2B5EF4-FFF2-40B4-BE49-F238E27FC236}">
                <a16:creationId xmlns:a16="http://schemas.microsoft.com/office/drawing/2014/main" id="{C200ED5D-BBDD-FC40-C62B-49E64233A588}"/>
              </a:ext>
            </a:extLst>
          </p:cNvPr>
          <p:cNvSpPr txBox="1">
            <a:spLocks/>
          </p:cNvSpPr>
          <p:nvPr/>
        </p:nvSpPr>
        <p:spPr>
          <a:xfrm>
            <a:off x="17304477" y="-384837"/>
            <a:ext cx="2453993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74" name="文本占位符 1">
            <a:extLst>
              <a:ext uri="{FF2B5EF4-FFF2-40B4-BE49-F238E27FC236}">
                <a16:creationId xmlns:a16="http://schemas.microsoft.com/office/drawing/2014/main" id="{2C09C746-4100-22C9-CB0B-0920B91E1682}"/>
              </a:ext>
            </a:extLst>
          </p:cNvPr>
          <p:cNvSpPr txBox="1">
            <a:spLocks/>
          </p:cNvSpPr>
          <p:nvPr/>
        </p:nvSpPr>
        <p:spPr>
          <a:xfrm>
            <a:off x="-3307466" y="-211991"/>
            <a:ext cx="1806001" cy="3597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0D9B3E2D-846E-1218-D6FC-71FA003BF672}"/>
              </a:ext>
            </a:extLst>
          </p:cNvPr>
          <p:cNvSpPr/>
          <p:nvPr/>
        </p:nvSpPr>
        <p:spPr>
          <a:xfrm>
            <a:off x="-3459126" y="347093"/>
            <a:ext cx="195766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F998253-C90D-0E74-1FA4-3EBC11514912}"/>
              </a:ext>
            </a:extLst>
          </p:cNvPr>
          <p:cNvSpPr/>
          <p:nvPr/>
        </p:nvSpPr>
        <p:spPr>
          <a:xfrm>
            <a:off x="-3430197" y="2710979"/>
            <a:ext cx="195766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品类功能需求</a:t>
            </a: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相对日常、多样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1C2F3262-9CDE-46BC-1780-24617D0FFFB3}"/>
              </a:ext>
            </a:extLst>
          </p:cNvPr>
          <p:cNvSpPr/>
          <p:nvPr/>
        </p:nvSpPr>
        <p:spPr>
          <a:xfrm>
            <a:off x="-3459126" y="1456181"/>
            <a:ext cx="195766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关键场景、节点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CCE644D-FED5-7312-6F65-DA9722A4845B}"/>
              </a:ext>
            </a:extLst>
          </p:cNvPr>
          <p:cNvSpPr/>
          <p:nvPr/>
        </p:nvSpPr>
        <p:spPr>
          <a:xfrm>
            <a:off x="-3429378" y="4073295"/>
            <a:ext cx="1947094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79" name="文本占位符 1">
            <a:extLst>
              <a:ext uri="{FF2B5EF4-FFF2-40B4-BE49-F238E27FC236}">
                <a16:creationId xmlns:a16="http://schemas.microsoft.com/office/drawing/2014/main" id="{CB3A8E4B-34F5-4C32-824D-B40865350C88}"/>
              </a:ext>
            </a:extLst>
          </p:cNvPr>
          <p:cNvSpPr txBox="1">
            <a:spLocks/>
          </p:cNvSpPr>
          <p:nvPr/>
        </p:nvSpPr>
        <p:spPr>
          <a:xfrm>
            <a:off x="-1182232" y="-211991"/>
            <a:ext cx="1806001" cy="3597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DF209358-9DCB-99B9-3B13-4ACC3F98CF2F}"/>
              </a:ext>
            </a:extLst>
          </p:cNvPr>
          <p:cNvSpPr/>
          <p:nvPr/>
        </p:nvSpPr>
        <p:spPr>
          <a:xfrm>
            <a:off x="-1333892" y="347093"/>
            <a:ext cx="195766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9D7A6C35-7AAB-61B5-6CFD-7E6B46E795F5}"/>
              </a:ext>
            </a:extLst>
          </p:cNvPr>
          <p:cNvSpPr/>
          <p:nvPr/>
        </p:nvSpPr>
        <p:spPr>
          <a:xfrm>
            <a:off x="-1304963" y="2710979"/>
            <a:ext cx="195766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效率决策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相对日常、多样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E5B5E43D-96ED-0DB2-E73A-6494DC27C4B2}"/>
              </a:ext>
            </a:extLst>
          </p:cNvPr>
          <p:cNvSpPr/>
          <p:nvPr/>
        </p:nvSpPr>
        <p:spPr>
          <a:xfrm>
            <a:off x="-1333892" y="1456181"/>
            <a:ext cx="195766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关键场景、节点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带着谁、什么时间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2FCECFB7-F2F1-7AC5-63A4-7AC7B4F24B39}"/>
              </a:ext>
            </a:extLst>
          </p:cNvPr>
          <p:cNvSpPr/>
          <p:nvPr/>
        </p:nvSpPr>
        <p:spPr>
          <a:xfrm>
            <a:off x="-1304144" y="4073295"/>
            <a:ext cx="1947094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91" name="等腰三角形 90">
            <a:extLst>
              <a:ext uri="{FF2B5EF4-FFF2-40B4-BE49-F238E27FC236}">
                <a16:creationId xmlns:a16="http://schemas.microsoft.com/office/drawing/2014/main" id="{7B05ACAC-E20B-B6C9-B4EB-5372F527F455}"/>
              </a:ext>
            </a:extLst>
          </p:cNvPr>
          <p:cNvSpPr/>
          <p:nvPr/>
        </p:nvSpPr>
        <p:spPr>
          <a:xfrm>
            <a:off x="-2683519" y="-5522345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0811B8AD-D616-F9B4-C1DD-3DC6EAEFF4FD}"/>
              </a:ext>
            </a:extLst>
          </p:cNvPr>
          <p:cNvCxnSpPr>
            <a:cxnSpLocks/>
          </p:cNvCxnSpPr>
          <p:nvPr/>
        </p:nvCxnSpPr>
        <p:spPr>
          <a:xfrm>
            <a:off x="-1864459" y="-2495300"/>
            <a:ext cx="354737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312A8522-D811-B254-820F-0D087C9F6205}"/>
              </a:ext>
            </a:extLst>
          </p:cNvPr>
          <p:cNvCxnSpPr>
            <a:cxnSpLocks/>
          </p:cNvCxnSpPr>
          <p:nvPr/>
        </p:nvCxnSpPr>
        <p:spPr>
          <a:xfrm>
            <a:off x="-957415" y="-4008986"/>
            <a:ext cx="17211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占位符 1">
            <a:extLst>
              <a:ext uri="{FF2B5EF4-FFF2-40B4-BE49-F238E27FC236}">
                <a16:creationId xmlns:a16="http://schemas.microsoft.com/office/drawing/2014/main" id="{E7444085-DA03-5FA8-7475-8C47FCC5AF3D}"/>
              </a:ext>
            </a:extLst>
          </p:cNvPr>
          <p:cNvSpPr txBox="1">
            <a:spLocks/>
          </p:cNvSpPr>
          <p:nvPr/>
        </p:nvSpPr>
        <p:spPr>
          <a:xfrm>
            <a:off x="-1996311" y="-2009247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全部门店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800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95" name="文本占位符 1">
            <a:extLst>
              <a:ext uri="{FF2B5EF4-FFF2-40B4-BE49-F238E27FC236}">
                <a16:creationId xmlns:a16="http://schemas.microsoft.com/office/drawing/2014/main" id="{E86200CC-5B5E-3BC2-A4F3-FB0223AEC549}"/>
              </a:ext>
            </a:extLst>
          </p:cNvPr>
          <p:cNvSpPr txBox="1">
            <a:spLocks/>
          </p:cNvSpPr>
          <p:nvPr/>
        </p:nvSpPr>
        <p:spPr>
          <a:xfrm>
            <a:off x="-1996311" y="-348209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资产门店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96" name="文本占位符 1">
            <a:extLst>
              <a:ext uri="{FF2B5EF4-FFF2-40B4-BE49-F238E27FC236}">
                <a16:creationId xmlns:a16="http://schemas.microsoft.com/office/drawing/2014/main" id="{69A7EFF3-7CCF-3738-9FBD-B126DADC3686}"/>
              </a:ext>
            </a:extLst>
          </p:cNvPr>
          <p:cNvSpPr txBox="1">
            <a:spLocks/>
          </p:cNvSpPr>
          <p:nvPr/>
        </p:nvSpPr>
        <p:spPr>
          <a:xfrm>
            <a:off x="-2011232" y="-4708517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上榜门店</a:t>
            </a:r>
            <a:endParaRPr lang="en-US" altLang="zh-CN" sz="1600" dirty="0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975110B1-AF24-E5B3-A45C-42A308E400F4}"/>
              </a:ext>
            </a:extLst>
          </p:cNvPr>
          <p:cNvCxnSpPr>
            <a:cxnSpLocks/>
          </p:cNvCxnSpPr>
          <p:nvPr/>
        </p:nvCxnSpPr>
        <p:spPr>
          <a:xfrm>
            <a:off x="763715" y="-4008986"/>
            <a:ext cx="658355" cy="78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025BC5A-2102-105D-8EE9-65991E7DAC55}"/>
              </a:ext>
            </a:extLst>
          </p:cNvPr>
          <p:cNvCxnSpPr>
            <a:cxnSpLocks/>
          </p:cNvCxnSpPr>
          <p:nvPr/>
        </p:nvCxnSpPr>
        <p:spPr>
          <a:xfrm flipV="1">
            <a:off x="763715" y="-5095135"/>
            <a:ext cx="614815" cy="1086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C96577F-A23A-6D3D-4EBF-EA2E90D1CDA3}"/>
              </a:ext>
            </a:extLst>
          </p:cNvPr>
          <p:cNvSpPr/>
          <p:nvPr/>
        </p:nvSpPr>
        <p:spPr>
          <a:xfrm>
            <a:off x="2979689" y="-5132761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黑珍珠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AABA1AC3-B1FA-E935-F0E4-9993D647467B}"/>
              </a:ext>
            </a:extLst>
          </p:cNvPr>
          <p:cNvSpPr/>
          <p:nvPr/>
        </p:nvSpPr>
        <p:spPr>
          <a:xfrm>
            <a:off x="4734754" y="-5124369"/>
            <a:ext cx="1510416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必吃榜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F19ED1A-AEE8-6376-66C0-B8D975E10EEA}"/>
              </a:ext>
            </a:extLst>
          </p:cNvPr>
          <p:cNvSpPr txBox="1"/>
          <p:nvPr/>
        </p:nvSpPr>
        <p:spPr>
          <a:xfrm>
            <a:off x="1343726" y="-4439212"/>
            <a:ext cx="1439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精选层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提满意，建心智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00F016E-EC89-B27D-B619-8A2EDDA3FE46}"/>
              </a:ext>
            </a:extLst>
          </p:cNvPr>
          <p:cNvSpPr txBox="1"/>
          <p:nvPr/>
        </p:nvSpPr>
        <p:spPr>
          <a:xfrm>
            <a:off x="1315151" y="-3602488"/>
            <a:ext cx="1627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信息层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10%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守约束，调结构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8506125-6C41-22B8-A58D-4C9A2E460FDF}"/>
              </a:ext>
            </a:extLst>
          </p:cNvPr>
          <p:cNvSpPr txBox="1"/>
          <p:nvPr/>
        </p:nvSpPr>
        <p:spPr>
          <a:xfrm>
            <a:off x="1320502" y="-5293899"/>
            <a:ext cx="1548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IP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0.1%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扩大心智影响力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2201E518-4844-EF3C-78DC-5F01472D9A61}"/>
              </a:ext>
            </a:extLst>
          </p:cNvPr>
          <p:cNvSpPr/>
          <p:nvPr/>
        </p:nvSpPr>
        <p:spPr>
          <a:xfrm>
            <a:off x="2894544" y="-5293899"/>
            <a:ext cx="3454649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C62EA758-3278-7665-CFF0-2D85ABA83802}"/>
              </a:ext>
            </a:extLst>
          </p:cNvPr>
          <p:cNvSpPr/>
          <p:nvPr/>
        </p:nvSpPr>
        <p:spPr>
          <a:xfrm>
            <a:off x="2894543" y="-4364211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7C71259-B37E-D81B-EB96-5706766F8C51}"/>
              </a:ext>
            </a:extLst>
          </p:cNvPr>
          <p:cNvSpPr/>
          <p:nvPr/>
        </p:nvSpPr>
        <p:spPr>
          <a:xfrm>
            <a:off x="2991974" y="-4287913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4F14B870-4325-780F-CC37-2D7876DEF66C}"/>
              </a:ext>
            </a:extLst>
          </p:cNvPr>
          <p:cNvSpPr/>
          <p:nvPr/>
        </p:nvSpPr>
        <p:spPr>
          <a:xfrm>
            <a:off x="2991974" y="-3486011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83C63D3-0EB4-592C-E99A-08C027085B0D}"/>
              </a:ext>
            </a:extLst>
          </p:cNvPr>
          <p:cNvSpPr/>
          <p:nvPr/>
        </p:nvSpPr>
        <p:spPr>
          <a:xfrm>
            <a:off x="2904892" y="-3573991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D1F4EF2F-975C-C590-29FC-9F9BE3204E30}"/>
              </a:ext>
            </a:extLst>
          </p:cNvPr>
          <p:cNvSpPr/>
          <p:nvPr/>
        </p:nvSpPr>
        <p:spPr>
          <a:xfrm>
            <a:off x="4726810" y="-3486011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新店榜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09CAE7E-BD46-324B-A8EA-0A5DDB810465}"/>
              </a:ext>
            </a:extLst>
          </p:cNvPr>
          <p:cNvSpPr txBox="1">
            <a:spLocks/>
          </p:cNvSpPr>
          <p:nvPr/>
        </p:nvSpPr>
        <p:spPr>
          <a:xfrm>
            <a:off x="2677607" y="-567147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店榜</a:t>
            </a:r>
            <a:endParaRPr lang="en-US" altLang="zh-CN" sz="1600" dirty="0"/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B98EF63E-E994-371A-BE2C-A9165C30516F}"/>
              </a:ext>
            </a:extLst>
          </p:cNvPr>
          <p:cNvSpPr txBox="1">
            <a:spLocks/>
          </p:cNvSpPr>
          <p:nvPr/>
        </p:nvSpPr>
        <p:spPr>
          <a:xfrm>
            <a:off x="6434220" y="-565019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菜榜</a:t>
            </a:r>
            <a:endParaRPr lang="en-US" altLang="zh-CN" sz="1600" dirty="0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5CAA107F-ADDB-B801-9600-C65216733A83}"/>
              </a:ext>
            </a:extLst>
          </p:cNvPr>
          <p:cNvSpPr/>
          <p:nvPr/>
        </p:nvSpPr>
        <p:spPr>
          <a:xfrm>
            <a:off x="6522030" y="-5293899"/>
            <a:ext cx="3593835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DBD07F8E-C44A-1497-F743-B074C0C39D16}"/>
              </a:ext>
            </a:extLst>
          </p:cNvPr>
          <p:cNvSpPr/>
          <p:nvPr/>
        </p:nvSpPr>
        <p:spPr>
          <a:xfrm>
            <a:off x="6783756" y="-5124369"/>
            <a:ext cx="3158684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“一店一菜”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214003ED-9A50-2698-909C-DE335C5028A7}"/>
              </a:ext>
            </a:extLst>
          </p:cNvPr>
          <p:cNvSpPr/>
          <p:nvPr/>
        </p:nvSpPr>
        <p:spPr>
          <a:xfrm>
            <a:off x="6536764" y="-4366130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A22F990C-7BA0-9CDC-5E4E-B52685ADD757}"/>
              </a:ext>
            </a:extLst>
          </p:cNvPr>
          <p:cNvSpPr/>
          <p:nvPr/>
        </p:nvSpPr>
        <p:spPr>
          <a:xfrm>
            <a:off x="6759096" y="-4263151"/>
            <a:ext cx="1510416" cy="2576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C6F66A7F-A3BB-068F-370B-29B12231B5D2}"/>
              </a:ext>
            </a:extLst>
          </p:cNvPr>
          <p:cNvSpPr/>
          <p:nvPr/>
        </p:nvSpPr>
        <p:spPr>
          <a:xfrm>
            <a:off x="8432024" y="-4263151"/>
            <a:ext cx="1510416" cy="253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招牌菜（</a:t>
            </a:r>
            <a:r>
              <a:rPr lang="zh-CN" altLang="en-US" sz="1200" strike="sngStrike" dirty="0">
                <a:solidFill>
                  <a:schemeClr val="tx1"/>
                </a:solidFill>
                <a:latin typeface="+mn-ea"/>
              </a:rPr>
              <a:t>店内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店间）</a:t>
            </a: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64FBDD36-5FF1-6C8C-51A0-E5BBD4ECB14D}"/>
              </a:ext>
            </a:extLst>
          </p:cNvPr>
          <p:cNvSpPr/>
          <p:nvPr/>
        </p:nvSpPr>
        <p:spPr>
          <a:xfrm>
            <a:off x="6536764" y="-3565143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85F3D45-852D-8B3C-90CC-230FE85CB361}"/>
              </a:ext>
            </a:extLst>
          </p:cNvPr>
          <p:cNvSpPr/>
          <p:nvPr/>
        </p:nvSpPr>
        <p:spPr>
          <a:xfrm>
            <a:off x="6759096" y="-3462164"/>
            <a:ext cx="1510416" cy="257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指数菜（如热销）</a:t>
            </a: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118FEFDE-9D42-43FE-BCB7-D6F120DBD19D}"/>
              </a:ext>
            </a:extLst>
          </p:cNvPr>
          <p:cNvSpPr/>
          <p:nvPr/>
        </p:nvSpPr>
        <p:spPr>
          <a:xfrm>
            <a:off x="8432024" y="-3462164"/>
            <a:ext cx="1510416" cy="2532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时令尝鲜</a:t>
            </a: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0D2AFFD8-D951-C110-AED1-6A9F6CF971D6}"/>
              </a:ext>
            </a:extLst>
          </p:cNvPr>
          <p:cNvCxnSpPr>
            <a:cxnSpLocks/>
          </p:cNvCxnSpPr>
          <p:nvPr/>
        </p:nvCxnSpPr>
        <p:spPr>
          <a:xfrm flipV="1">
            <a:off x="5353202" y="-5525783"/>
            <a:ext cx="2129448" cy="12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占位符 1">
            <a:extLst>
              <a:ext uri="{FF2B5EF4-FFF2-40B4-BE49-F238E27FC236}">
                <a16:creationId xmlns:a16="http://schemas.microsoft.com/office/drawing/2014/main" id="{D023EA5F-039D-DC7E-3C8D-7D5105573F41}"/>
              </a:ext>
            </a:extLst>
          </p:cNvPr>
          <p:cNvSpPr txBox="1">
            <a:spLocks/>
          </p:cNvSpPr>
          <p:nvPr/>
        </p:nvSpPr>
        <p:spPr>
          <a:xfrm>
            <a:off x="5353203" y="-5802585"/>
            <a:ext cx="2129448" cy="30489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/>
              <a:t>1:N</a:t>
            </a: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67A4701E-7A06-A032-4AD7-0787C7804C41}"/>
              </a:ext>
            </a:extLst>
          </p:cNvPr>
          <p:cNvSpPr/>
          <p:nvPr/>
        </p:nvSpPr>
        <p:spPr>
          <a:xfrm>
            <a:off x="4721636" y="-4263151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约聚场景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4" name="矩形: 圆角 21">
            <a:extLst>
              <a:ext uri="{FF2B5EF4-FFF2-40B4-BE49-F238E27FC236}">
                <a16:creationId xmlns:a16="http://schemas.microsoft.com/office/drawing/2014/main" id="{F9CF6D01-C9E8-5A30-2875-4E5A1F611C43}"/>
              </a:ext>
            </a:extLst>
          </p:cNvPr>
          <p:cNvSpPr/>
          <p:nvPr/>
        </p:nvSpPr>
        <p:spPr>
          <a:xfrm>
            <a:off x="7522140" y="-2311505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5" name="矩形: 圆角 21">
            <a:extLst>
              <a:ext uri="{FF2B5EF4-FFF2-40B4-BE49-F238E27FC236}">
                <a16:creationId xmlns:a16="http://schemas.microsoft.com/office/drawing/2014/main" id="{0ACC4889-56BF-D601-19C6-F8F739220FAE}"/>
              </a:ext>
            </a:extLst>
          </p:cNvPr>
          <p:cNvSpPr/>
          <p:nvPr/>
        </p:nvSpPr>
        <p:spPr>
          <a:xfrm>
            <a:off x="7522140" y="-1677320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6" name="矩形: 圆角 21">
            <a:extLst>
              <a:ext uri="{FF2B5EF4-FFF2-40B4-BE49-F238E27FC236}">
                <a16:creationId xmlns:a16="http://schemas.microsoft.com/office/drawing/2014/main" id="{19B5FFC2-5E7E-5008-8F1C-04277D5BAC83}"/>
              </a:ext>
            </a:extLst>
          </p:cNvPr>
          <p:cNvSpPr/>
          <p:nvPr/>
        </p:nvSpPr>
        <p:spPr>
          <a:xfrm>
            <a:off x="7522140" y="-1043135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7" name="矩形: 圆角 21">
            <a:extLst>
              <a:ext uri="{FF2B5EF4-FFF2-40B4-BE49-F238E27FC236}">
                <a16:creationId xmlns:a16="http://schemas.microsoft.com/office/drawing/2014/main" id="{DC42851E-CFA3-E09B-C899-12131F9C0CCF}"/>
              </a:ext>
            </a:extLst>
          </p:cNvPr>
          <p:cNvSpPr/>
          <p:nvPr/>
        </p:nvSpPr>
        <p:spPr>
          <a:xfrm>
            <a:off x="7499545" y="-408949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14E0E5C0-ADB1-705F-3053-8D48C7FE21A4}"/>
              </a:ext>
            </a:extLst>
          </p:cNvPr>
          <p:cNvSpPr txBox="1">
            <a:spLocks/>
          </p:cNvSpPr>
          <p:nvPr/>
        </p:nvSpPr>
        <p:spPr>
          <a:xfrm>
            <a:off x="8392988" y="849789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供</a:t>
            </a:r>
            <a:endParaRPr lang="en-US" altLang="zh-CN" sz="1600" dirty="0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B56E7A29-3562-9FCD-F5BF-AB38E21E7B8D}"/>
              </a:ext>
            </a:extLst>
          </p:cNvPr>
          <p:cNvSpPr/>
          <p:nvPr/>
        </p:nvSpPr>
        <p:spPr>
          <a:xfrm>
            <a:off x="4145797" y="2176959"/>
            <a:ext cx="1367295" cy="8663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榜单是精选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精准匹配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9C128352-8CD5-37B7-9000-F469E2B037EB}"/>
              </a:ext>
            </a:extLst>
          </p:cNvPr>
          <p:cNvSpPr/>
          <p:nvPr/>
        </p:nvSpPr>
        <p:spPr>
          <a:xfrm>
            <a:off x="4145797" y="1190565"/>
            <a:ext cx="1451009" cy="832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权威背书</a:t>
            </a: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B408FE7B-26D4-AF23-F698-4DF05839B2C5}"/>
              </a:ext>
            </a:extLst>
          </p:cNvPr>
          <p:cNvSpPr/>
          <p:nvPr/>
        </p:nvSpPr>
        <p:spPr>
          <a:xfrm>
            <a:off x="4151916" y="3182097"/>
            <a:ext cx="1331802" cy="176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榜单是信息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避免踩雷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文本占位符 1">
            <a:extLst>
              <a:ext uri="{FF2B5EF4-FFF2-40B4-BE49-F238E27FC236}">
                <a16:creationId xmlns:a16="http://schemas.microsoft.com/office/drawing/2014/main" id="{E3C6CDC8-68A4-1CEE-8C68-30D2A9DE8056}"/>
              </a:ext>
            </a:extLst>
          </p:cNvPr>
          <p:cNvSpPr txBox="1">
            <a:spLocks/>
          </p:cNvSpPr>
          <p:nvPr/>
        </p:nvSpPr>
        <p:spPr>
          <a:xfrm>
            <a:off x="2168791" y="797629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5046167-263D-FC33-4DF3-22AF61FFB52C}"/>
              </a:ext>
            </a:extLst>
          </p:cNvPr>
          <p:cNvSpPr/>
          <p:nvPr/>
        </p:nvSpPr>
        <p:spPr>
          <a:xfrm>
            <a:off x="2189298" y="1190564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选最好的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F14C8B96-B727-7989-DCB3-9A1FD2128A60}"/>
              </a:ext>
            </a:extLst>
          </p:cNvPr>
          <p:cNvSpPr/>
          <p:nvPr/>
        </p:nvSpPr>
        <p:spPr>
          <a:xfrm>
            <a:off x="2189298" y="3123501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效率决策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选不错的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E8DE19E-BD6F-D87C-3F2F-D16E1A83A593}"/>
              </a:ext>
            </a:extLst>
          </p:cNvPr>
          <p:cNvSpPr/>
          <p:nvPr/>
        </p:nvSpPr>
        <p:spPr>
          <a:xfrm>
            <a:off x="2189298" y="2171932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选最合适的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308F70BA-9B13-7795-AC58-F8910F2DF2F9}"/>
              </a:ext>
            </a:extLst>
          </p:cNvPr>
          <p:cNvSpPr/>
          <p:nvPr/>
        </p:nvSpPr>
        <p:spPr>
          <a:xfrm>
            <a:off x="2189298" y="4075070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选个新的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7" name="文本占位符 1">
            <a:extLst>
              <a:ext uri="{FF2B5EF4-FFF2-40B4-BE49-F238E27FC236}">
                <a16:creationId xmlns:a16="http://schemas.microsoft.com/office/drawing/2014/main" id="{FB7694CD-428E-CFE6-0944-C37C162E2999}"/>
              </a:ext>
            </a:extLst>
          </p:cNvPr>
          <p:cNvSpPr txBox="1">
            <a:spLocks/>
          </p:cNvSpPr>
          <p:nvPr/>
        </p:nvSpPr>
        <p:spPr>
          <a:xfrm>
            <a:off x="5251906" y="838550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138" name="矩形: 圆角 21">
            <a:extLst>
              <a:ext uri="{FF2B5EF4-FFF2-40B4-BE49-F238E27FC236}">
                <a16:creationId xmlns:a16="http://schemas.microsoft.com/office/drawing/2014/main" id="{52E1047E-BD7E-886A-9C6B-DF7A10576CAB}"/>
              </a:ext>
            </a:extLst>
          </p:cNvPr>
          <p:cNvSpPr/>
          <p:nvPr/>
        </p:nvSpPr>
        <p:spPr>
          <a:xfrm>
            <a:off x="8372909" y="1190563"/>
            <a:ext cx="1675660" cy="8653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9" name="矩形: 圆角 21">
            <a:extLst>
              <a:ext uri="{FF2B5EF4-FFF2-40B4-BE49-F238E27FC236}">
                <a16:creationId xmlns:a16="http://schemas.microsoft.com/office/drawing/2014/main" id="{3FD07910-64B7-CE76-9E83-AEE2D7EACED9}"/>
              </a:ext>
            </a:extLst>
          </p:cNvPr>
          <p:cNvSpPr/>
          <p:nvPr/>
        </p:nvSpPr>
        <p:spPr>
          <a:xfrm>
            <a:off x="8398600" y="2169710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特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（资产差异化）</a:t>
            </a:r>
          </a:p>
        </p:txBody>
      </p:sp>
      <p:sp>
        <p:nvSpPr>
          <p:cNvPr id="140" name="矩形: 圆角 21">
            <a:extLst>
              <a:ext uri="{FF2B5EF4-FFF2-40B4-BE49-F238E27FC236}">
                <a16:creationId xmlns:a16="http://schemas.microsoft.com/office/drawing/2014/main" id="{B2B9CBB1-23EF-B07B-C615-EAB352C3F604}"/>
              </a:ext>
            </a:extLst>
          </p:cNvPr>
          <p:cNvSpPr/>
          <p:nvPr/>
        </p:nvSpPr>
        <p:spPr>
          <a:xfrm>
            <a:off x="8398600" y="3148857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热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（资产验证）</a:t>
            </a:r>
          </a:p>
        </p:txBody>
      </p:sp>
      <p:sp>
        <p:nvSpPr>
          <p:cNvPr id="141" name="矩形: 圆角 21">
            <a:extLst>
              <a:ext uri="{FF2B5EF4-FFF2-40B4-BE49-F238E27FC236}">
                <a16:creationId xmlns:a16="http://schemas.microsoft.com/office/drawing/2014/main" id="{203671AB-A91A-5867-B3B6-92FF1E1C9D06}"/>
              </a:ext>
            </a:extLst>
          </p:cNvPr>
          <p:cNvSpPr/>
          <p:nvPr/>
        </p:nvSpPr>
        <p:spPr>
          <a:xfrm>
            <a:off x="8376005" y="4128005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（资产冷启）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7C3A7642-1B67-AB28-7911-324AF1476AFF}"/>
              </a:ext>
            </a:extLst>
          </p:cNvPr>
          <p:cNvSpPr txBox="1"/>
          <p:nvPr/>
        </p:nvSpPr>
        <p:spPr>
          <a:xfrm>
            <a:off x="5821906" y="3564216"/>
            <a:ext cx="2178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信息层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10%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守约束，调结构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EC94A663-0394-4138-0859-A818C75EDB0F}"/>
              </a:ext>
            </a:extLst>
          </p:cNvPr>
          <p:cNvSpPr/>
          <p:nvPr/>
        </p:nvSpPr>
        <p:spPr>
          <a:xfrm>
            <a:off x="4145797" y="2185325"/>
            <a:ext cx="4040411" cy="85803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7EB67768-25D0-0AD5-8ED9-71E78753FB16}"/>
              </a:ext>
            </a:extLst>
          </p:cNvPr>
          <p:cNvSpPr txBox="1"/>
          <p:nvPr/>
        </p:nvSpPr>
        <p:spPr>
          <a:xfrm>
            <a:off x="5782585" y="2201033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精选层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提满意，建心智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A9F0BEA-1C56-A3E1-2B5E-FDEDB422C398}"/>
              </a:ext>
            </a:extLst>
          </p:cNvPr>
          <p:cNvSpPr/>
          <p:nvPr/>
        </p:nvSpPr>
        <p:spPr>
          <a:xfrm>
            <a:off x="4141378" y="1190565"/>
            <a:ext cx="4040411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134B283B-55BE-AB44-BFEA-C4E5B904AEAD}"/>
              </a:ext>
            </a:extLst>
          </p:cNvPr>
          <p:cNvSpPr txBox="1"/>
          <p:nvPr/>
        </p:nvSpPr>
        <p:spPr>
          <a:xfrm>
            <a:off x="5795362" y="1186583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0.1%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扩大心智影响力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105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813D9962-2F81-9757-EB73-4CAA6CCEFF5D}"/>
              </a:ext>
            </a:extLst>
          </p:cNvPr>
          <p:cNvSpPr/>
          <p:nvPr/>
        </p:nvSpPr>
        <p:spPr>
          <a:xfrm>
            <a:off x="2596188" y="2495800"/>
            <a:ext cx="4055228" cy="1779915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占位符 1">
            <a:extLst>
              <a:ext uri="{FF2B5EF4-FFF2-40B4-BE49-F238E27FC236}">
                <a16:creationId xmlns:a16="http://schemas.microsoft.com/office/drawing/2014/main" id="{9E0AD82B-6953-1A74-770B-9BEE352BCC15}"/>
              </a:ext>
            </a:extLst>
          </p:cNvPr>
          <p:cNvSpPr txBox="1">
            <a:spLocks/>
          </p:cNvSpPr>
          <p:nvPr/>
        </p:nvSpPr>
        <p:spPr>
          <a:xfrm>
            <a:off x="15243659" y="-887682"/>
            <a:ext cx="4859513" cy="127377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品</a:t>
            </a:r>
            <a:r>
              <a:rPr lang="en-US" altLang="zh-CN" dirty="0"/>
              <a:t>/</a:t>
            </a:r>
            <a:r>
              <a:rPr lang="zh-CN" altLang="en-US" dirty="0"/>
              <a:t>菜</a:t>
            </a:r>
            <a:endParaRPr lang="en-US" altLang="zh-CN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F84603-44A7-3C95-8C22-EDCE68E7C12C}"/>
              </a:ext>
            </a:extLst>
          </p:cNvPr>
          <p:cNvSpPr/>
          <p:nvPr/>
        </p:nvSpPr>
        <p:spPr>
          <a:xfrm>
            <a:off x="20204847" y="3448912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F22A4B-2CD5-977F-9DC7-A06F4574377D}"/>
              </a:ext>
            </a:extLst>
          </p:cNvPr>
          <p:cNvSpPr/>
          <p:nvPr/>
        </p:nvSpPr>
        <p:spPr>
          <a:xfrm>
            <a:off x="20204846" y="1219696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4F60C3-FAB4-08B4-DD85-253708C9A007}"/>
              </a:ext>
            </a:extLst>
          </p:cNvPr>
          <p:cNvSpPr/>
          <p:nvPr/>
        </p:nvSpPr>
        <p:spPr>
          <a:xfrm>
            <a:off x="20147756" y="2334671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7A858C8-5E25-A6E4-B879-5F2FA57B6942}"/>
              </a:ext>
            </a:extLst>
          </p:cNvPr>
          <p:cNvSpPr/>
          <p:nvPr/>
        </p:nvSpPr>
        <p:spPr>
          <a:xfrm>
            <a:off x="17304477" y="3916158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新店榜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（点评）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C280B61-7D1C-B9A9-CFC0-87A6AA7CC68A}"/>
              </a:ext>
            </a:extLst>
          </p:cNvPr>
          <p:cNvSpPr/>
          <p:nvPr/>
        </p:nvSpPr>
        <p:spPr>
          <a:xfrm>
            <a:off x="17336454" y="1622357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57F7A5E-A0DB-B2EF-09F4-2E926F64C97F}"/>
              </a:ext>
            </a:extLst>
          </p:cNvPr>
          <p:cNvSpPr/>
          <p:nvPr/>
        </p:nvSpPr>
        <p:spPr>
          <a:xfrm>
            <a:off x="17304478" y="171302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6264A49-F7CA-0E64-818D-8204D6A9DCB3}"/>
              </a:ext>
            </a:extLst>
          </p:cNvPr>
          <p:cNvSpPr/>
          <p:nvPr/>
        </p:nvSpPr>
        <p:spPr>
          <a:xfrm>
            <a:off x="17336455" y="2951008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当地人推荐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约会榜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占位符 1">
            <a:extLst>
              <a:ext uri="{FF2B5EF4-FFF2-40B4-BE49-F238E27FC236}">
                <a16:creationId xmlns:a16="http://schemas.microsoft.com/office/drawing/2014/main" id="{C200ED5D-BBDD-FC40-C62B-49E64233A588}"/>
              </a:ext>
            </a:extLst>
          </p:cNvPr>
          <p:cNvSpPr txBox="1">
            <a:spLocks/>
          </p:cNvSpPr>
          <p:nvPr/>
        </p:nvSpPr>
        <p:spPr>
          <a:xfrm>
            <a:off x="17304477" y="-384837"/>
            <a:ext cx="2453993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91" name="等腰三角形 90">
            <a:extLst>
              <a:ext uri="{FF2B5EF4-FFF2-40B4-BE49-F238E27FC236}">
                <a16:creationId xmlns:a16="http://schemas.microsoft.com/office/drawing/2014/main" id="{7B05ACAC-E20B-B6C9-B4EB-5372F527F455}"/>
              </a:ext>
            </a:extLst>
          </p:cNvPr>
          <p:cNvSpPr/>
          <p:nvPr/>
        </p:nvSpPr>
        <p:spPr>
          <a:xfrm>
            <a:off x="-2683519" y="-5522345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0811B8AD-D616-F9B4-C1DD-3DC6EAEFF4FD}"/>
              </a:ext>
            </a:extLst>
          </p:cNvPr>
          <p:cNvCxnSpPr>
            <a:cxnSpLocks/>
          </p:cNvCxnSpPr>
          <p:nvPr/>
        </p:nvCxnSpPr>
        <p:spPr>
          <a:xfrm>
            <a:off x="-1864459" y="-2495300"/>
            <a:ext cx="354737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312A8522-D811-B254-820F-0D087C9F6205}"/>
              </a:ext>
            </a:extLst>
          </p:cNvPr>
          <p:cNvCxnSpPr>
            <a:cxnSpLocks/>
          </p:cNvCxnSpPr>
          <p:nvPr/>
        </p:nvCxnSpPr>
        <p:spPr>
          <a:xfrm>
            <a:off x="-957415" y="-4008986"/>
            <a:ext cx="17211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占位符 1">
            <a:extLst>
              <a:ext uri="{FF2B5EF4-FFF2-40B4-BE49-F238E27FC236}">
                <a16:creationId xmlns:a16="http://schemas.microsoft.com/office/drawing/2014/main" id="{E7444085-DA03-5FA8-7475-8C47FCC5AF3D}"/>
              </a:ext>
            </a:extLst>
          </p:cNvPr>
          <p:cNvSpPr txBox="1">
            <a:spLocks/>
          </p:cNvSpPr>
          <p:nvPr/>
        </p:nvSpPr>
        <p:spPr>
          <a:xfrm>
            <a:off x="-1996311" y="-2009247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全部门店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800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95" name="文本占位符 1">
            <a:extLst>
              <a:ext uri="{FF2B5EF4-FFF2-40B4-BE49-F238E27FC236}">
                <a16:creationId xmlns:a16="http://schemas.microsoft.com/office/drawing/2014/main" id="{E86200CC-5B5E-3BC2-A4F3-FB0223AEC549}"/>
              </a:ext>
            </a:extLst>
          </p:cNvPr>
          <p:cNvSpPr txBox="1">
            <a:spLocks/>
          </p:cNvSpPr>
          <p:nvPr/>
        </p:nvSpPr>
        <p:spPr>
          <a:xfrm>
            <a:off x="-1996311" y="-348209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资产门店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96" name="文本占位符 1">
            <a:extLst>
              <a:ext uri="{FF2B5EF4-FFF2-40B4-BE49-F238E27FC236}">
                <a16:creationId xmlns:a16="http://schemas.microsoft.com/office/drawing/2014/main" id="{69A7EFF3-7CCF-3738-9FBD-B126DADC3686}"/>
              </a:ext>
            </a:extLst>
          </p:cNvPr>
          <p:cNvSpPr txBox="1">
            <a:spLocks/>
          </p:cNvSpPr>
          <p:nvPr/>
        </p:nvSpPr>
        <p:spPr>
          <a:xfrm>
            <a:off x="-2011232" y="-4708517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上榜门店</a:t>
            </a:r>
            <a:endParaRPr lang="en-US" altLang="zh-CN" sz="1600" dirty="0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975110B1-AF24-E5B3-A45C-42A308E400F4}"/>
              </a:ext>
            </a:extLst>
          </p:cNvPr>
          <p:cNvCxnSpPr>
            <a:cxnSpLocks/>
          </p:cNvCxnSpPr>
          <p:nvPr/>
        </p:nvCxnSpPr>
        <p:spPr>
          <a:xfrm>
            <a:off x="763715" y="-4008986"/>
            <a:ext cx="658355" cy="78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025BC5A-2102-105D-8EE9-65991E7DAC55}"/>
              </a:ext>
            </a:extLst>
          </p:cNvPr>
          <p:cNvCxnSpPr>
            <a:cxnSpLocks/>
          </p:cNvCxnSpPr>
          <p:nvPr/>
        </p:nvCxnSpPr>
        <p:spPr>
          <a:xfrm flipV="1">
            <a:off x="763715" y="-5095135"/>
            <a:ext cx="614815" cy="1086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C96577F-A23A-6D3D-4EBF-EA2E90D1CDA3}"/>
              </a:ext>
            </a:extLst>
          </p:cNvPr>
          <p:cNvSpPr/>
          <p:nvPr/>
        </p:nvSpPr>
        <p:spPr>
          <a:xfrm>
            <a:off x="2979689" y="-5132761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黑珍珠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AABA1AC3-B1FA-E935-F0E4-9993D647467B}"/>
              </a:ext>
            </a:extLst>
          </p:cNvPr>
          <p:cNvSpPr/>
          <p:nvPr/>
        </p:nvSpPr>
        <p:spPr>
          <a:xfrm>
            <a:off x="4734754" y="-5124369"/>
            <a:ext cx="1510416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必吃榜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F19ED1A-AEE8-6376-66C0-B8D975E10EEA}"/>
              </a:ext>
            </a:extLst>
          </p:cNvPr>
          <p:cNvSpPr txBox="1"/>
          <p:nvPr/>
        </p:nvSpPr>
        <p:spPr>
          <a:xfrm>
            <a:off x="1343726" y="-4439212"/>
            <a:ext cx="1439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精选层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提满意，建心智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00F016E-EC89-B27D-B619-8A2EDDA3FE46}"/>
              </a:ext>
            </a:extLst>
          </p:cNvPr>
          <p:cNvSpPr txBox="1"/>
          <p:nvPr/>
        </p:nvSpPr>
        <p:spPr>
          <a:xfrm>
            <a:off x="1315151" y="-3602488"/>
            <a:ext cx="1627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信息层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10%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守约束，调结构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8506125-6C41-22B8-A58D-4C9A2E460FDF}"/>
              </a:ext>
            </a:extLst>
          </p:cNvPr>
          <p:cNvSpPr txBox="1"/>
          <p:nvPr/>
        </p:nvSpPr>
        <p:spPr>
          <a:xfrm>
            <a:off x="1320502" y="-5293899"/>
            <a:ext cx="1548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IP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0.1%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扩大心智影响力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2201E518-4844-EF3C-78DC-5F01472D9A61}"/>
              </a:ext>
            </a:extLst>
          </p:cNvPr>
          <p:cNvSpPr/>
          <p:nvPr/>
        </p:nvSpPr>
        <p:spPr>
          <a:xfrm>
            <a:off x="2894544" y="-5293899"/>
            <a:ext cx="3454649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C62EA758-3278-7665-CFF0-2D85ABA83802}"/>
              </a:ext>
            </a:extLst>
          </p:cNvPr>
          <p:cNvSpPr/>
          <p:nvPr/>
        </p:nvSpPr>
        <p:spPr>
          <a:xfrm>
            <a:off x="2894543" y="-4364211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7C71259-B37E-D81B-EB96-5706766F8C51}"/>
              </a:ext>
            </a:extLst>
          </p:cNvPr>
          <p:cNvSpPr/>
          <p:nvPr/>
        </p:nvSpPr>
        <p:spPr>
          <a:xfrm>
            <a:off x="2991974" y="-4287913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4F14B870-4325-780F-CC37-2D7876DEF66C}"/>
              </a:ext>
            </a:extLst>
          </p:cNvPr>
          <p:cNvSpPr/>
          <p:nvPr/>
        </p:nvSpPr>
        <p:spPr>
          <a:xfrm>
            <a:off x="2991974" y="-3486011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人气榜等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83C63D3-0EB4-592C-E99A-08C027085B0D}"/>
              </a:ext>
            </a:extLst>
          </p:cNvPr>
          <p:cNvSpPr/>
          <p:nvPr/>
        </p:nvSpPr>
        <p:spPr>
          <a:xfrm>
            <a:off x="2904892" y="-3573991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D1F4EF2F-975C-C590-29FC-9F9BE3204E30}"/>
              </a:ext>
            </a:extLst>
          </p:cNvPr>
          <p:cNvSpPr/>
          <p:nvPr/>
        </p:nvSpPr>
        <p:spPr>
          <a:xfrm>
            <a:off x="4726810" y="-3486011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新店榜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09CAE7E-BD46-324B-A8EA-0A5DDB810465}"/>
              </a:ext>
            </a:extLst>
          </p:cNvPr>
          <p:cNvSpPr txBox="1">
            <a:spLocks/>
          </p:cNvSpPr>
          <p:nvPr/>
        </p:nvSpPr>
        <p:spPr>
          <a:xfrm>
            <a:off x="2677607" y="-567147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店榜</a:t>
            </a:r>
            <a:endParaRPr lang="en-US" altLang="zh-CN" sz="1600" dirty="0"/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B98EF63E-E994-371A-BE2C-A9165C30516F}"/>
              </a:ext>
            </a:extLst>
          </p:cNvPr>
          <p:cNvSpPr txBox="1">
            <a:spLocks/>
          </p:cNvSpPr>
          <p:nvPr/>
        </p:nvSpPr>
        <p:spPr>
          <a:xfrm>
            <a:off x="6434220" y="-565019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菜榜</a:t>
            </a:r>
            <a:endParaRPr lang="en-US" altLang="zh-CN" sz="1600" dirty="0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5CAA107F-ADDB-B801-9600-C65216733A83}"/>
              </a:ext>
            </a:extLst>
          </p:cNvPr>
          <p:cNvSpPr/>
          <p:nvPr/>
        </p:nvSpPr>
        <p:spPr>
          <a:xfrm>
            <a:off x="6522030" y="-5293899"/>
            <a:ext cx="3593835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DBD07F8E-C44A-1497-F743-B074C0C39D16}"/>
              </a:ext>
            </a:extLst>
          </p:cNvPr>
          <p:cNvSpPr/>
          <p:nvPr/>
        </p:nvSpPr>
        <p:spPr>
          <a:xfrm>
            <a:off x="6783756" y="-5124369"/>
            <a:ext cx="3158684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“一店一菜”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214003ED-9A50-2698-909C-DE335C5028A7}"/>
              </a:ext>
            </a:extLst>
          </p:cNvPr>
          <p:cNvSpPr/>
          <p:nvPr/>
        </p:nvSpPr>
        <p:spPr>
          <a:xfrm>
            <a:off x="6536764" y="-4366130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A22F990C-7BA0-9CDC-5E4E-B52685ADD757}"/>
              </a:ext>
            </a:extLst>
          </p:cNvPr>
          <p:cNvSpPr/>
          <p:nvPr/>
        </p:nvSpPr>
        <p:spPr>
          <a:xfrm>
            <a:off x="6759096" y="-4263151"/>
            <a:ext cx="1510416" cy="2576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C6F66A7F-A3BB-068F-370B-29B12231B5D2}"/>
              </a:ext>
            </a:extLst>
          </p:cNvPr>
          <p:cNvSpPr/>
          <p:nvPr/>
        </p:nvSpPr>
        <p:spPr>
          <a:xfrm>
            <a:off x="8432024" y="-4263151"/>
            <a:ext cx="1510416" cy="253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招牌菜（</a:t>
            </a:r>
            <a:r>
              <a:rPr lang="zh-CN" altLang="en-US" sz="1200" strike="sngStrike" dirty="0">
                <a:solidFill>
                  <a:schemeClr val="tx1"/>
                </a:solidFill>
                <a:latin typeface="+mn-ea"/>
              </a:rPr>
              <a:t>店内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店间）</a:t>
            </a: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64FBDD36-5FF1-6C8C-51A0-E5BBD4ECB14D}"/>
              </a:ext>
            </a:extLst>
          </p:cNvPr>
          <p:cNvSpPr/>
          <p:nvPr/>
        </p:nvSpPr>
        <p:spPr>
          <a:xfrm>
            <a:off x="6536764" y="-3565143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85F3D45-852D-8B3C-90CC-230FE85CB361}"/>
              </a:ext>
            </a:extLst>
          </p:cNvPr>
          <p:cNvSpPr/>
          <p:nvPr/>
        </p:nvSpPr>
        <p:spPr>
          <a:xfrm>
            <a:off x="6759096" y="-3462164"/>
            <a:ext cx="1510416" cy="257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指数菜（如热销）</a:t>
            </a: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118FEFDE-9D42-43FE-BCB7-D6F120DBD19D}"/>
              </a:ext>
            </a:extLst>
          </p:cNvPr>
          <p:cNvSpPr/>
          <p:nvPr/>
        </p:nvSpPr>
        <p:spPr>
          <a:xfrm>
            <a:off x="8432024" y="-3462164"/>
            <a:ext cx="1510416" cy="2532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时令尝鲜</a:t>
            </a: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0D2AFFD8-D951-C110-AED1-6A9F6CF971D6}"/>
              </a:ext>
            </a:extLst>
          </p:cNvPr>
          <p:cNvCxnSpPr>
            <a:cxnSpLocks/>
          </p:cNvCxnSpPr>
          <p:nvPr/>
        </p:nvCxnSpPr>
        <p:spPr>
          <a:xfrm flipV="1">
            <a:off x="5353202" y="-5525783"/>
            <a:ext cx="2129448" cy="12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占位符 1">
            <a:extLst>
              <a:ext uri="{FF2B5EF4-FFF2-40B4-BE49-F238E27FC236}">
                <a16:creationId xmlns:a16="http://schemas.microsoft.com/office/drawing/2014/main" id="{D023EA5F-039D-DC7E-3C8D-7D5105573F41}"/>
              </a:ext>
            </a:extLst>
          </p:cNvPr>
          <p:cNvSpPr txBox="1">
            <a:spLocks/>
          </p:cNvSpPr>
          <p:nvPr/>
        </p:nvSpPr>
        <p:spPr>
          <a:xfrm>
            <a:off x="5353203" y="-5802585"/>
            <a:ext cx="2129448" cy="30489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/>
              <a:t>1:N</a:t>
            </a: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67A4701E-7A06-A032-4AD7-0787C7804C41}"/>
              </a:ext>
            </a:extLst>
          </p:cNvPr>
          <p:cNvSpPr/>
          <p:nvPr/>
        </p:nvSpPr>
        <p:spPr>
          <a:xfrm>
            <a:off x="4721636" y="-4263151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约聚场景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14E0E5C0-ADB1-705F-3053-8D48C7FE21A4}"/>
              </a:ext>
            </a:extLst>
          </p:cNvPr>
          <p:cNvSpPr txBox="1">
            <a:spLocks/>
          </p:cNvSpPr>
          <p:nvPr/>
        </p:nvSpPr>
        <p:spPr>
          <a:xfrm>
            <a:off x="6843378" y="182541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供</a:t>
            </a:r>
            <a:endParaRPr lang="en-US" altLang="zh-CN" sz="1600" dirty="0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B56E7A29-3562-9FCD-F5BF-AB38E21E7B8D}"/>
              </a:ext>
            </a:extLst>
          </p:cNvPr>
          <p:cNvSpPr/>
          <p:nvPr/>
        </p:nvSpPr>
        <p:spPr>
          <a:xfrm>
            <a:off x="2596187" y="1509711"/>
            <a:ext cx="1451009" cy="8663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场景榜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精准匹配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9C128352-8CD5-37B7-9000-F469E2B037EB}"/>
              </a:ext>
            </a:extLst>
          </p:cNvPr>
          <p:cNvSpPr/>
          <p:nvPr/>
        </p:nvSpPr>
        <p:spPr>
          <a:xfrm>
            <a:off x="2596187" y="523317"/>
            <a:ext cx="1451009" cy="832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权威背书</a:t>
            </a: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B408FE7B-26D4-AF23-F698-4DF05839B2C5}"/>
              </a:ext>
            </a:extLst>
          </p:cNvPr>
          <p:cNvSpPr/>
          <p:nvPr/>
        </p:nvSpPr>
        <p:spPr>
          <a:xfrm>
            <a:off x="2607352" y="2514849"/>
            <a:ext cx="1425329" cy="17497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转化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牵引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文本占位符 1">
            <a:extLst>
              <a:ext uri="{FF2B5EF4-FFF2-40B4-BE49-F238E27FC236}">
                <a16:creationId xmlns:a16="http://schemas.microsoft.com/office/drawing/2014/main" id="{E3C6CDC8-68A4-1CEE-8C68-30D2A9DE8056}"/>
              </a:ext>
            </a:extLst>
          </p:cNvPr>
          <p:cNvSpPr txBox="1">
            <a:spLocks/>
          </p:cNvSpPr>
          <p:nvPr/>
        </p:nvSpPr>
        <p:spPr>
          <a:xfrm>
            <a:off x="619181" y="130381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5046167-263D-FC33-4DF3-22AF61FFB52C}"/>
              </a:ext>
            </a:extLst>
          </p:cNvPr>
          <p:cNvSpPr/>
          <p:nvPr/>
        </p:nvSpPr>
        <p:spPr>
          <a:xfrm>
            <a:off x="639688" y="523316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选最好的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F14C8B96-B727-7989-DCB3-9A1FD2128A60}"/>
              </a:ext>
            </a:extLst>
          </p:cNvPr>
          <p:cNvSpPr/>
          <p:nvPr/>
        </p:nvSpPr>
        <p:spPr>
          <a:xfrm>
            <a:off x="639688" y="2456253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效率决策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选不错的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E8DE19E-BD6F-D87C-3F2F-D16E1A83A593}"/>
              </a:ext>
            </a:extLst>
          </p:cNvPr>
          <p:cNvSpPr/>
          <p:nvPr/>
        </p:nvSpPr>
        <p:spPr>
          <a:xfrm>
            <a:off x="639688" y="1504684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选最合适的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308F70BA-9B13-7795-AC58-F8910F2DF2F9}"/>
              </a:ext>
            </a:extLst>
          </p:cNvPr>
          <p:cNvSpPr/>
          <p:nvPr/>
        </p:nvSpPr>
        <p:spPr>
          <a:xfrm>
            <a:off x="639688" y="3407822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选个新的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7" name="文本占位符 1">
            <a:extLst>
              <a:ext uri="{FF2B5EF4-FFF2-40B4-BE49-F238E27FC236}">
                <a16:creationId xmlns:a16="http://schemas.microsoft.com/office/drawing/2014/main" id="{FB7694CD-428E-CFE6-0944-C37C162E2999}"/>
              </a:ext>
            </a:extLst>
          </p:cNvPr>
          <p:cNvSpPr txBox="1">
            <a:spLocks/>
          </p:cNvSpPr>
          <p:nvPr/>
        </p:nvSpPr>
        <p:spPr>
          <a:xfrm>
            <a:off x="3702296" y="171302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138" name="矩形: 圆角 21">
            <a:extLst>
              <a:ext uri="{FF2B5EF4-FFF2-40B4-BE49-F238E27FC236}">
                <a16:creationId xmlns:a16="http://schemas.microsoft.com/office/drawing/2014/main" id="{52E1047E-BD7E-886A-9C6B-DF7A10576CAB}"/>
              </a:ext>
            </a:extLst>
          </p:cNvPr>
          <p:cNvSpPr/>
          <p:nvPr/>
        </p:nvSpPr>
        <p:spPr>
          <a:xfrm>
            <a:off x="6823299" y="523315"/>
            <a:ext cx="1675660" cy="8653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9" name="矩形: 圆角 21">
            <a:extLst>
              <a:ext uri="{FF2B5EF4-FFF2-40B4-BE49-F238E27FC236}">
                <a16:creationId xmlns:a16="http://schemas.microsoft.com/office/drawing/2014/main" id="{3FD07910-64B7-CE76-9E83-AEE2D7EACED9}"/>
              </a:ext>
            </a:extLst>
          </p:cNvPr>
          <p:cNvSpPr/>
          <p:nvPr/>
        </p:nvSpPr>
        <p:spPr>
          <a:xfrm>
            <a:off x="6848990" y="1502462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特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（资产差异化）</a:t>
            </a:r>
          </a:p>
        </p:txBody>
      </p:sp>
      <p:sp>
        <p:nvSpPr>
          <p:cNvPr id="140" name="矩形: 圆角 21">
            <a:extLst>
              <a:ext uri="{FF2B5EF4-FFF2-40B4-BE49-F238E27FC236}">
                <a16:creationId xmlns:a16="http://schemas.microsoft.com/office/drawing/2014/main" id="{B2B9CBB1-23EF-B07B-C615-EAB352C3F604}"/>
              </a:ext>
            </a:extLst>
          </p:cNvPr>
          <p:cNvSpPr/>
          <p:nvPr/>
        </p:nvSpPr>
        <p:spPr>
          <a:xfrm>
            <a:off x="6848990" y="2481609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热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（资产验证）</a:t>
            </a:r>
          </a:p>
        </p:txBody>
      </p:sp>
      <p:sp>
        <p:nvSpPr>
          <p:cNvPr id="141" name="矩形: 圆角 21">
            <a:extLst>
              <a:ext uri="{FF2B5EF4-FFF2-40B4-BE49-F238E27FC236}">
                <a16:creationId xmlns:a16="http://schemas.microsoft.com/office/drawing/2014/main" id="{203671AB-A91A-5867-B3B6-92FF1E1C9D06}"/>
              </a:ext>
            </a:extLst>
          </p:cNvPr>
          <p:cNvSpPr/>
          <p:nvPr/>
        </p:nvSpPr>
        <p:spPr>
          <a:xfrm>
            <a:off x="6826395" y="3460757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（资产冷启）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7C3A7642-1B67-AB28-7911-324AF1476AFF}"/>
              </a:ext>
            </a:extLst>
          </p:cNvPr>
          <p:cNvSpPr txBox="1"/>
          <p:nvPr/>
        </p:nvSpPr>
        <p:spPr>
          <a:xfrm>
            <a:off x="4233868" y="3033413"/>
            <a:ext cx="2178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10%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数据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统计信任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EC94A663-0394-4138-0859-A818C75EDB0F}"/>
              </a:ext>
            </a:extLst>
          </p:cNvPr>
          <p:cNvSpPr/>
          <p:nvPr/>
        </p:nvSpPr>
        <p:spPr>
          <a:xfrm>
            <a:off x="2596187" y="1518077"/>
            <a:ext cx="4040411" cy="85803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7EB67768-25D0-0AD5-8ED9-71E78753FB16}"/>
              </a:ext>
            </a:extLst>
          </p:cNvPr>
          <p:cNvSpPr txBox="1"/>
          <p:nvPr/>
        </p:nvSpPr>
        <p:spPr>
          <a:xfrm>
            <a:off x="4186479" y="1545109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1%</a:t>
            </a:r>
          </a:p>
          <a:p>
            <a:pPr algn="ctr"/>
            <a:r>
              <a:rPr lang="en-US" altLang="zh-CN" sz="1600" dirty="0">
                <a:latin typeface="+mn-ea"/>
              </a:rPr>
              <a:t>GC/</a:t>
            </a:r>
            <a:r>
              <a:rPr lang="zh-CN" altLang="en-US" sz="1600" dirty="0">
                <a:latin typeface="+mn-ea"/>
              </a:rPr>
              <a:t>场景信任</a:t>
            </a:r>
            <a:endParaRPr lang="en-US" altLang="zh-CN" sz="1600" dirty="0"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A9F0BEA-1C56-A3E1-2B5E-FDEDB422C398}"/>
              </a:ext>
            </a:extLst>
          </p:cNvPr>
          <p:cNvSpPr/>
          <p:nvPr/>
        </p:nvSpPr>
        <p:spPr>
          <a:xfrm>
            <a:off x="2591768" y="523317"/>
            <a:ext cx="4040411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134B283B-55BE-AB44-BFEA-C4E5B904AEAD}"/>
              </a:ext>
            </a:extLst>
          </p:cNvPr>
          <p:cNvSpPr txBox="1"/>
          <p:nvPr/>
        </p:nvSpPr>
        <p:spPr>
          <a:xfrm>
            <a:off x="4212590" y="517946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0.1%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品牌信任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F889D26-0514-5631-02D8-79BA46F825A3}"/>
              </a:ext>
            </a:extLst>
          </p:cNvPr>
          <p:cNvSpPr/>
          <p:nvPr/>
        </p:nvSpPr>
        <p:spPr>
          <a:xfrm>
            <a:off x="12403496" y="-854413"/>
            <a:ext cx="4055228" cy="1779915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B1C8B465-7FAB-C438-65D7-24127E2CA841}"/>
              </a:ext>
            </a:extLst>
          </p:cNvPr>
          <p:cNvSpPr txBox="1">
            <a:spLocks/>
          </p:cNvSpPr>
          <p:nvPr/>
        </p:nvSpPr>
        <p:spPr>
          <a:xfrm>
            <a:off x="16650686" y="-3167672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供</a:t>
            </a:r>
            <a:endParaRPr lang="en-US" altLang="zh-CN" sz="1600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C7E76B3-DD52-FEDF-4265-42EF013DF536}"/>
              </a:ext>
            </a:extLst>
          </p:cNvPr>
          <p:cNvSpPr/>
          <p:nvPr/>
        </p:nvSpPr>
        <p:spPr>
          <a:xfrm>
            <a:off x="12403495" y="-1840502"/>
            <a:ext cx="1367295" cy="8663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榜单是精选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精准匹配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F67F389-6A0E-0F88-D555-8D6472E014E3}"/>
              </a:ext>
            </a:extLst>
          </p:cNvPr>
          <p:cNvSpPr/>
          <p:nvPr/>
        </p:nvSpPr>
        <p:spPr>
          <a:xfrm>
            <a:off x="12403495" y="-2826896"/>
            <a:ext cx="1451009" cy="832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权威背书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094BAA-7423-BF56-1BBA-3FCA84CB404A}"/>
              </a:ext>
            </a:extLst>
          </p:cNvPr>
          <p:cNvSpPr/>
          <p:nvPr/>
        </p:nvSpPr>
        <p:spPr>
          <a:xfrm>
            <a:off x="12409614" y="-835364"/>
            <a:ext cx="1331802" cy="176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榜单是信息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避免踩雷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F5DC19DB-FDD3-372A-44CA-FCE236F84510}"/>
              </a:ext>
            </a:extLst>
          </p:cNvPr>
          <p:cNvSpPr txBox="1">
            <a:spLocks/>
          </p:cNvSpPr>
          <p:nvPr/>
        </p:nvSpPr>
        <p:spPr>
          <a:xfrm>
            <a:off x="10426489" y="-3219832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F858673-F7DD-20E9-1307-5BDF43774A1D}"/>
              </a:ext>
            </a:extLst>
          </p:cNvPr>
          <p:cNvSpPr/>
          <p:nvPr/>
        </p:nvSpPr>
        <p:spPr>
          <a:xfrm>
            <a:off x="10446996" y="-2826897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选最好的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94E7E34-4ED1-293F-C588-A0370462F7CF}"/>
              </a:ext>
            </a:extLst>
          </p:cNvPr>
          <p:cNvSpPr/>
          <p:nvPr/>
        </p:nvSpPr>
        <p:spPr>
          <a:xfrm>
            <a:off x="10446996" y="-893960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效率决策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选不错的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FC31B2E-AEB7-33E7-E9E4-C9F347FC96C4}"/>
              </a:ext>
            </a:extLst>
          </p:cNvPr>
          <p:cNvSpPr/>
          <p:nvPr/>
        </p:nvSpPr>
        <p:spPr>
          <a:xfrm>
            <a:off x="10446996" y="-1845529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选最合适的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D4FAB91-57C8-0EA5-EC2A-D0DE05F3147C}"/>
              </a:ext>
            </a:extLst>
          </p:cNvPr>
          <p:cNvSpPr/>
          <p:nvPr/>
        </p:nvSpPr>
        <p:spPr>
          <a:xfrm>
            <a:off x="10446996" y="57609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选个新的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EB519F46-F0BF-6111-38DE-8C033D8068B5}"/>
              </a:ext>
            </a:extLst>
          </p:cNvPr>
          <p:cNvSpPr txBox="1">
            <a:spLocks/>
          </p:cNvSpPr>
          <p:nvPr/>
        </p:nvSpPr>
        <p:spPr>
          <a:xfrm>
            <a:off x="13509604" y="-3178911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28" name="矩形: 圆角 21">
            <a:extLst>
              <a:ext uri="{FF2B5EF4-FFF2-40B4-BE49-F238E27FC236}">
                <a16:creationId xmlns:a16="http://schemas.microsoft.com/office/drawing/2014/main" id="{25D6C65A-0A4D-C2A0-93BA-55AF5C39D16D}"/>
              </a:ext>
            </a:extLst>
          </p:cNvPr>
          <p:cNvSpPr/>
          <p:nvPr/>
        </p:nvSpPr>
        <p:spPr>
          <a:xfrm>
            <a:off x="16630607" y="-2826898"/>
            <a:ext cx="1675660" cy="8653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: 圆角 21">
            <a:extLst>
              <a:ext uri="{FF2B5EF4-FFF2-40B4-BE49-F238E27FC236}">
                <a16:creationId xmlns:a16="http://schemas.microsoft.com/office/drawing/2014/main" id="{819FB145-8719-5E05-E20F-3DAE516B9A45}"/>
              </a:ext>
            </a:extLst>
          </p:cNvPr>
          <p:cNvSpPr/>
          <p:nvPr/>
        </p:nvSpPr>
        <p:spPr>
          <a:xfrm>
            <a:off x="16656298" y="-1847751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特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（资产差异化）</a:t>
            </a:r>
          </a:p>
        </p:txBody>
      </p:sp>
      <p:sp>
        <p:nvSpPr>
          <p:cNvPr id="30" name="矩形: 圆角 21">
            <a:extLst>
              <a:ext uri="{FF2B5EF4-FFF2-40B4-BE49-F238E27FC236}">
                <a16:creationId xmlns:a16="http://schemas.microsoft.com/office/drawing/2014/main" id="{F899B393-7739-0D5D-C289-0A07B136B9CD}"/>
              </a:ext>
            </a:extLst>
          </p:cNvPr>
          <p:cNvSpPr/>
          <p:nvPr/>
        </p:nvSpPr>
        <p:spPr>
          <a:xfrm>
            <a:off x="16656298" y="-868604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热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（资产验证）</a:t>
            </a:r>
          </a:p>
        </p:txBody>
      </p:sp>
      <p:sp>
        <p:nvSpPr>
          <p:cNvPr id="31" name="矩形: 圆角 21">
            <a:extLst>
              <a:ext uri="{FF2B5EF4-FFF2-40B4-BE49-F238E27FC236}">
                <a16:creationId xmlns:a16="http://schemas.microsoft.com/office/drawing/2014/main" id="{5FAFC82A-1F55-C22E-5BB4-9D71EB10B6D8}"/>
              </a:ext>
            </a:extLst>
          </p:cNvPr>
          <p:cNvSpPr/>
          <p:nvPr/>
        </p:nvSpPr>
        <p:spPr>
          <a:xfrm>
            <a:off x="16633703" y="110544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（资产冷启）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CFF0C1-FF48-FA0B-B93B-04BD113FCD5F}"/>
              </a:ext>
            </a:extLst>
          </p:cNvPr>
          <p:cNvSpPr txBox="1"/>
          <p:nvPr/>
        </p:nvSpPr>
        <p:spPr>
          <a:xfrm>
            <a:off x="14079604" y="-453245"/>
            <a:ext cx="2178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信息层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10%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守约束，调结构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95B8223-F1DE-05B2-3C0F-7EFE6E700526}"/>
              </a:ext>
            </a:extLst>
          </p:cNvPr>
          <p:cNvSpPr/>
          <p:nvPr/>
        </p:nvSpPr>
        <p:spPr>
          <a:xfrm>
            <a:off x="12403495" y="-1832136"/>
            <a:ext cx="4040411" cy="85803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911499D-DD1E-5A4A-25E7-46D0878E11E8}"/>
              </a:ext>
            </a:extLst>
          </p:cNvPr>
          <p:cNvSpPr txBox="1"/>
          <p:nvPr/>
        </p:nvSpPr>
        <p:spPr>
          <a:xfrm>
            <a:off x="14040283" y="-1816428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精选层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提满意，建心智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EA89170-4169-6F3E-FECA-AA7EB3CE0329}"/>
              </a:ext>
            </a:extLst>
          </p:cNvPr>
          <p:cNvSpPr/>
          <p:nvPr/>
        </p:nvSpPr>
        <p:spPr>
          <a:xfrm>
            <a:off x="12399076" y="-2826896"/>
            <a:ext cx="4040411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8FFD68-5B38-ECC0-E4E8-C40F93CC8435}"/>
              </a:ext>
            </a:extLst>
          </p:cNvPr>
          <p:cNvSpPr txBox="1"/>
          <p:nvPr/>
        </p:nvSpPr>
        <p:spPr>
          <a:xfrm>
            <a:off x="14053060" y="-2830878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0.1%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扩大心智影响力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55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57EA3899-8321-8B9F-2FD9-FB1B55B2A4F2}"/>
              </a:ext>
            </a:extLst>
          </p:cNvPr>
          <p:cNvSpPr txBox="1">
            <a:spLocks/>
          </p:cNvSpPr>
          <p:nvPr/>
        </p:nvSpPr>
        <p:spPr>
          <a:xfrm>
            <a:off x="12183911" y="-381508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上面层有一定的个性化部分，比如好不好吃，坚守本味</a:t>
            </a:r>
            <a:r>
              <a:rPr lang="en-US" altLang="zh-CN" dirty="0"/>
              <a:t>/</a:t>
            </a:r>
            <a:r>
              <a:rPr lang="zh-CN" altLang="en-US" dirty="0"/>
              <a:t>融入改良，价格带，那些亮点吸引人等</a:t>
            </a:r>
            <a:endParaRPr lang="en-US" altLang="zh-CN" dirty="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9E0AD82B-6953-1A74-770B-9BEE352BCC15}"/>
              </a:ext>
            </a:extLst>
          </p:cNvPr>
          <p:cNvSpPr txBox="1">
            <a:spLocks/>
          </p:cNvSpPr>
          <p:nvPr/>
        </p:nvSpPr>
        <p:spPr>
          <a:xfrm>
            <a:off x="15243659" y="-887682"/>
            <a:ext cx="4859513" cy="127377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品</a:t>
            </a:r>
            <a:r>
              <a:rPr lang="en-US" altLang="zh-CN" dirty="0"/>
              <a:t>/</a:t>
            </a:r>
            <a:r>
              <a:rPr lang="zh-CN" altLang="en-US" dirty="0"/>
              <a:t>菜</a:t>
            </a:r>
            <a:endParaRPr lang="en-US" altLang="zh-CN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F84603-44A7-3C95-8C22-EDCE68E7C12C}"/>
              </a:ext>
            </a:extLst>
          </p:cNvPr>
          <p:cNvSpPr/>
          <p:nvPr/>
        </p:nvSpPr>
        <p:spPr>
          <a:xfrm>
            <a:off x="16111819" y="3341109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F22A4B-2CD5-977F-9DC7-A06F4574377D}"/>
              </a:ext>
            </a:extLst>
          </p:cNvPr>
          <p:cNvSpPr/>
          <p:nvPr/>
        </p:nvSpPr>
        <p:spPr>
          <a:xfrm>
            <a:off x="16111818" y="1111893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4F60C3-FAB4-08B4-DD85-253708C9A007}"/>
              </a:ext>
            </a:extLst>
          </p:cNvPr>
          <p:cNvSpPr/>
          <p:nvPr/>
        </p:nvSpPr>
        <p:spPr>
          <a:xfrm>
            <a:off x="16054728" y="2226868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20AC24A-7F5A-4E6F-6580-2FD51FFB5F14}"/>
              </a:ext>
            </a:extLst>
          </p:cNvPr>
          <p:cNvSpPr/>
          <p:nvPr/>
        </p:nvSpPr>
        <p:spPr>
          <a:xfrm>
            <a:off x="7229559" y="4090446"/>
            <a:ext cx="1807200" cy="532519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尝新榜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A78792F-CF72-80D4-7BBF-289FBBA3598F}"/>
              </a:ext>
            </a:extLst>
          </p:cNvPr>
          <p:cNvSpPr/>
          <p:nvPr/>
        </p:nvSpPr>
        <p:spPr>
          <a:xfrm>
            <a:off x="7261536" y="1590015"/>
            <a:ext cx="1807200" cy="5325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CCCDFAC-9FAE-14F7-8F10-AC028CA78D07}"/>
              </a:ext>
            </a:extLst>
          </p:cNvPr>
          <p:cNvSpPr/>
          <p:nvPr/>
        </p:nvSpPr>
        <p:spPr>
          <a:xfrm>
            <a:off x="7229560" y="199294"/>
            <a:ext cx="1807200" cy="5325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77875DA-EF66-3865-3DE3-FE229303232A}"/>
              </a:ext>
            </a:extLst>
          </p:cNvPr>
          <p:cNvSpPr/>
          <p:nvPr/>
        </p:nvSpPr>
        <p:spPr>
          <a:xfrm>
            <a:off x="7261537" y="3027540"/>
            <a:ext cx="1807200" cy="5325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主题场景榜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文本占位符 1">
            <a:extLst>
              <a:ext uri="{FF2B5EF4-FFF2-40B4-BE49-F238E27FC236}">
                <a16:creationId xmlns:a16="http://schemas.microsoft.com/office/drawing/2014/main" id="{3B3F80D1-9A60-8685-66C0-C01525071D06}"/>
              </a:ext>
            </a:extLst>
          </p:cNvPr>
          <p:cNvSpPr txBox="1">
            <a:spLocks/>
          </p:cNvSpPr>
          <p:nvPr/>
        </p:nvSpPr>
        <p:spPr>
          <a:xfrm>
            <a:off x="1229689" y="-359790"/>
            <a:ext cx="1806001" cy="3597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39DC229-E9A0-118C-FF83-8386D87A8D58}"/>
              </a:ext>
            </a:extLst>
          </p:cNvPr>
          <p:cNvSpPr/>
          <p:nvPr/>
        </p:nvSpPr>
        <p:spPr>
          <a:xfrm>
            <a:off x="1229689" y="199294"/>
            <a:ext cx="180600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综合需求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D126C5A-1E29-9281-87EB-B60ABF08C1C2}"/>
              </a:ext>
            </a:extLst>
          </p:cNvPr>
          <p:cNvSpPr/>
          <p:nvPr/>
        </p:nvSpPr>
        <p:spPr>
          <a:xfrm>
            <a:off x="1229689" y="1590016"/>
            <a:ext cx="180600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品类等从众需求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C790FF1-4DE7-45D0-8034-BF6C796619F2}"/>
              </a:ext>
            </a:extLst>
          </p:cNvPr>
          <p:cNvSpPr/>
          <p:nvPr/>
        </p:nvSpPr>
        <p:spPr>
          <a:xfrm>
            <a:off x="1229689" y="3027541"/>
            <a:ext cx="180600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社交、审美需求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BA0F29A-1018-37F4-4E29-6B80E3D3AA9B}"/>
              </a:ext>
            </a:extLst>
          </p:cNvPr>
          <p:cNvSpPr/>
          <p:nvPr/>
        </p:nvSpPr>
        <p:spPr>
          <a:xfrm>
            <a:off x="1229689" y="4090447"/>
            <a:ext cx="180600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尝鲜需求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5" name="文本占位符 1">
            <a:extLst>
              <a:ext uri="{FF2B5EF4-FFF2-40B4-BE49-F238E27FC236}">
                <a16:creationId xmlns:a16="http://schemas.microsoft.com/office/drawing/2014/main" id="{5726C88C-5256-7ABF-B9DE-8796EA4BE4B7}"/>
              </a:ext>
            </a:extLst>
          </p:cNvPr>
          <p:cNvSpPr txBox="1">
            <a:spLocks/>
          </p:cNvSpPr>
          <p:nvPr/>
        </p:nvSpPr>
        <p:spPr>
          <a:xfrm>
            <a:off x="7229560" y="-425445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7A858C8-5E25-A6E4-B879-5F2FA57B6942}"/>
              </a:ext>
            </a:extLst>
          </p:cNvPr>
          <p:cNvSpPr/>
          <p:nvPr/>
        </p:nvSpPr>
        <p:spPr>
          <a:xfrm>
            <a:off x="13211449" y="3808355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新店榜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（点评）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C280B61-7D1C-B9A9-CFC0-87A6AA7CC68A}"/>
              </a:ext>
            </a:extLst>
          </p:cNvPr>
          <p:cNvSpPr/>
          <p:nvPr/>
        </p:nvSpPr>
        <p:spPr>
          <a:xfrm>
            <a:off x="13243426" y="1514554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57F7A5E-A0DB-B2EF-09F4-2E926F64C97F}"/>
              </a:ext>
            </a:extLst>
          </p:cNvPr>
          <p:cNvSpPr/>
          <p:nvPr/>
        </p:nvSpPr>
        <p:spPr>
          <a:xfrm>
            <a:off x="13211450" y="63499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6264A49-F7CA-0E64-818D-8204D6A9DCB3}"/>
              </a:ext>
            </a:extLst>
          </p:cNvPr>
          <p:cNvSpPr/>
          <p:nvPr/>
        </p:nvSpPr>
        <p:spPr>
          <a:xfrm>
            <a:off x="13243427" y="2843205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当地人推荐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约会榜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占位符 1">
            <a:extLst>
              <a:ext uri="{FF2B5EF4-FFF2-40B4-BE49-F238E27FC236}">
                <a16:creationId xmlns:a16="http://schemas.microsoft.com/office/drawing/2014/main" id="{C200ED5D-BBDD-FC40-C62B-49E64233A588}"/>
              </a:ext>
            </a:extLst>
          </p:cNvPr>
          <p:cNvSpPr txBox="1">
            <a:spLocks/>
          </p:cNvSpPr>
          <p:nvPr/>
        </p:nvSpPr>
        <p:spPr>
          <a:xfrm>
            <a:off x="13211449" y="-492640"/>
            <a:ext cx="2453993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5022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C58CE8F0-CCA1-2812-0BF4-64EF3CC72C0D}"/>
              </a:ext>
            </a:extLst>
          </p:cNvPr>
          <p:cNvSpPr/>
          <p:nvPr/>
        </p:nvSpPr>
        <p:spPr>
          <a:xfrm>
            <a:off x="2007133" y="1887129"/>
            <a:ext cx="4260892" cy="1768117"/>
          </a:xfrm>
          <a:prstGeom prst="roundRect">
            <a:avLst>
              <a:gd name="adj" fmla="val 697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200" b="1" dirty="0">
                <a:latin typeface="+mn-ea"/>
                <a:ea typeface="+mn-ea"/>
              </a:rPr>
              <a:t>目录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12073487" y="-3042530"/>
            <a:ext cx="1512353" cy="25768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13828552" y="-3034138"/>
            <a:ext cx="1510416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15579743" y="-3034138"/>
            <a:ext cx="1523730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17344247" y="-3034138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11414648" y="-2875170"/>
            <a:ext cx="49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B80E4E-27ED-4A14-FF97-F290624B890F}"/>
              </a:ext>
            </a:extLst>
          </p:cNvPr>
          <p:cNvSpPr txBox="1"/>
          <p:nvPr/>
        </p:nvSpPr>
        <p:spPr>
          <a:xfrm>
            <a:off x="8892530" y="2675094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榜单建设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12075423" y="-266981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逛场景前置触达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13836159" y="-2669816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榜单标签展示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17344248" y="-267461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7520739" y="-1925747"/>
            <a:ext cx="28523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主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入围：</a:t>
            </a:r>
            <a:r>
              <a:rPr lang="en-US" altLang="zh-CN" sz="1800" dirty="0">
                <a:latin typeface="+mn-ea"/>
              </a:rPr>
              <a:t>UGC</a:t>
            </a:r>
            <a:r>
              <a:rPr lang="zh-CN" altLang="en-US" sz="1800" dirty="0">
                <a:latin typeface="+mn-ea"/>
              </a:rPr>
              <a:t>挖掘主题相关度。辅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排序：</a:t>
            </a:r>
            <a:r>
              <a:rPr lang="en-US" altLang="zh-CN" sz="1800" dirty="0">
                <a:latin typeface="+mn-ea"/>
              </a:rPr>
              <a:t>B(D)GC</a:t>
            </a:r>
            <a:r>
              <a:rPr lang="zh-CN" altLang="en-US" sz="1800" dirty="0">
                <a:latin typeface="+mn-ea"/>
              </a:rPr>
              <a:t>信息标签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用户行为资产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（交履服务）</a:t>
            </a:r>
            <a:r>
              <a:rPr lang="en-US" altLang="zh-CN" sz="1800" dirty="0">
                <a:latin typeface="+mn-ea"/>
              </a:rPr>
              <a:t>	</a:t>
            </a:r>
            <a:endParaRPr lang="zh-CN" altLang="en-US" sz="1800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11988341" y="-3193077"/>
            <a:ext cx="8780603" cy="1473871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086BA3E-D8FA-3FB1-CC50-4C4D6EFD3EA6}"/>
              </a:ext>
            </a:extLst>
          </p:cNvPr>
          <p:cNvSpPr/>
          <p:nvPr/>
        </p:nvSpPr>
        <p:spPr>
          <a:xfrm>
            <a:off x="2007133" y="313202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1DAF3B6-4CB1-119E-5917-D1AD79C215D6}"/>
              </a:ext>
            </a:extLst>
          </p:cNvPr>
          <p:cNvSpPr/>
          <p:nvPr/>
        </p:nvSpPr>
        <p:spPr>
          <a:xfrm>
            <a:off x="3762198" y="321594"/>
            <a:ext cx="1510416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2226173-B064-10F5-671E-5CE7F2E7B6B8}"/>
              </a:ext>
            </a:extLst>
          </p:cNvPr>
          <p:cNvSpPr/>
          <p:nvPr/>
        </p:nvSpPr>
        <p:spPr>
          <a:xfrm>
            <a:off x="5513389" y="321594"/>
            <a:ext cx="1523730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DD8360D-64E3-FA4D-6F0A-5243C3CC46BF}"/>
              </a:ext>
            </a:extLst>
          </p:cNvPr>
          <p:cNvSpPr/>
          <p:nvPr/>
        </p:nvSpPr>
        <p:spPr>
          <a:xfrm>
            <a:off x="7277893" y="321594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1081550-D28B-7179-BDFF-99C850279892}"/>
              </a:ext>
            </a:extLst>
          </p:cNvPr>
          <p:cNvSpPr txBox="1"/>
          <p:nvPr/>
        </p:nvSpPr>
        <p:spPr>
          <a:xfrm>
            <a:off x="1191933" y="99040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6499909-7223-718F-3130-626FB4E9742C}"/>
              </a:ext>
            </a:extLst>
          </p:cNvPr>
          <p:cNvSpPr txBox="1"/>
          <p:nvPr/>
        </p:nvSpPr>
        <p:spPr>
          <a:xfrm>
            <a:off x="1180156" y="254643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榜单建设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D29BFF8-F7E2-E564-6F05-DA0D4FA6ED38}"/>
              </a:ext>
            </a:extLst>
          </p:cNvPr>
          <p:cNvSpPr/>
          <p:nvPr/>
        </p:nvSpPr>
        <p:spPr>
          <a:xfrm>
            <a:off x="2009069" y="99040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逛场景前置触达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EEB0353-0F86-B51F-3DDE-C26D11EB4381}"/>
              </a:ext>
            </a:extLst>
          </p:cNvPr>
          <p:cNvSpPr/>
          <p:nvPr/>
        </p:nvSpPr>
        <p:spPr>
          <a:xfrm>
            <a:off x="3762198" y="99040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580CD63-8D3A-7060-E6AD-D0261C7B4108}"/>
              </a:ext>
            </a:extLst>
          </p:cNvPr>
          <p:cNvSpPr/>
          <p:nvPr/>
        </p:nvSpPr>
        <p:spPr>
          <a:xfrm>
            <a:off x="5515327" y="990405"/>
            <a:ext cx="1521792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榜单标签展示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8421A19-DC56-3717-6BDE-108FD49DEB1C}"/>
              </a:ext>
            </a:extLst>
          </p:cNvPr>
          <p:cNvSpPr/>
          <p:nvPr/>
        </p:nvSpPr>
        <p:spPr>
          <a:xfrm>
            <a:off x="7277894" y="999836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DA01867-2B6E-D6BE-B109-4F71AC5AEF8A}"/>
              </a:ext>
            </a:extLst>
          </p:cNvPr>
          <p:cNvSpPr/>
          <p:nvPr/>
        </p:nvSpPr>
        <p:spPr>
          <a:xfrm>
            <a:off x="1932336" y="1676458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C02FAB8-D801-D2A6-59EF-53732B34761B}"/>
              </a:ext>
            </a:extLst>
          </p:cNvPr>
          <p:cNvSpPr txBox="1"/>
          <p:nvPr/>
        </p:nvSpPr>
        <p:spPr>
          <a:xfrm>
            <a:off x="1183975" y="21003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灵感激发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12119824" y="-1510129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50CE805-491A-63DF-6BE4-8E1F5BA1FE57}"/>
              </a:ext>
            </a:extLst>
          </p:cNvPr>
          <p:cNvSpPr/>
          <p:nvPr/>
        </p:nvSpPr>
        <p:spPr>
          <a:xfrm>
            <a:off x="6726800" y="2391585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62F29FD-A0C6-9A80-A0A0-7F7D146EFA95}"/>
              </a:ext>
            </a:extLst>
          </p:cNvPr>
          <p:cNvSpPr/>
          <p:nvPr/>
        </p:nvSpPr>
        <p:spPr>
          <a:xfrm>
            <a:off x="6726800" y="1887129"/>
            <a:ext cx="2063443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052955E-874A-B998-C5FD-01AC02498916}"/>
              </a:ext>
            </a:extLst>
          </p:cNvPr>
          <p:cNvSpPr txBox="1"/>
          <p:nvPr/>
        </p:nvSpPr>
        <p:spPr>
          <a:xfrm>
            <a:off x="6384277" y="1945565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15011665" y="-1513364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>
              <a:solidFill>
                <a:schemeClr val="tx1"/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提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满意、建心智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8274FFD-4B17-97D0-9B23-93C0376E8A7D}"/>
              </a:ext>
            </a:extLst>
          </p:cNvPr>
          <p:cNvSpPr/>
          <p:nvPr/>
        </p:nvSpPr>
        <p:spPr>
          <a:xfrm>
            <a:off x="1921988" y="152064"/>
            <a:ext cx="6970542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BD3D361-BD97-8B1C-F53B-14FB281D1865}"/>
              </a:ext>
            </a:extLst>
          </p:cNvPr>
          <p:cNvSpPr/>
          <p:nvPr/>
        </p:nvSpPr>
        <p:spPr>
          <a:xfrm>
            <a:off x="1921987" y="902426"/>
            <a:ext cx="6970543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3E63FEFD-E514-464A-C130-602534614A39}"/>
              </a:ext>
            </a:extLst>
          </p:cNvPr>
          <p:cNvSpPr/>
          <p:nvPr/>
        </p:nvSpPr>
        <p:spPr>
          <a:xfrm>
            <a:off x="2009997" y="1893912"/>
            <a:ext cx="4258028" cy="42731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17956875" y="-1513364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/>
          </a:p>
          <a:p>
            <a:pPr algn="ctr"/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守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83EFB908-197D-A82F-B4BE-E839E3A156A6}"/>
              </a:ext>
            </a:extLst>
          </p:cNvPr>
          <p:cNvSpPr/>
          <p:nvPr/>
        </p:nvSpPr>
        <p:spPr>
          <a:xfrm>
            <a:off x="1892205" y="3865918"/>
            <a:ext cx="6960194" cy="989582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E452F89-BE69-8B07-7C0B-82B46B9503D7}"/>
              </a:ext>
            </a:extLst>
          </p:cNvPr>
          <p:cNvSpPr txBox="1"/>
          <p:nvPr/>
        </p:nvSpPr>
        <p:spPr>
          <a:xfrm>
            <a:off x="1881855" y="3801608"/>
            <a:ext cx="6970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提效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6F90CE4-E849-C287-6844-A78C0E8FD320}"/>
              </a:ext>
            </a:extLst>
          </p:cNvPr>
          <p:cNvSpPr/>
          <p:nvPr/>
        </p:nvSpPr>
        <p:spPr>
          <a:xfrm>
            <a:off x="10019996" y="4858895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锁核心商户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56A023C-1995-1F12-963E-6FB24035B34D}"/>
              </a:ext>
            </a:extLst>
          </p:cNvPr>
          <p:cNvSpPr/>
          <p:nvPr/>
        </p:nvSpPr>
        <p:spPr>
          <a:xfrm>
            <a:off x="10019996" y="4354439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toB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7B6FCE0-222C-97FE-4664-E139DEE86C72}"/>
              </a:ext>
            </a:extLst>
          </p:cNvPr>
          <p:cNvSpPr/>
          <p:nvPr/>
        </p:nvSpPr>
        <p:spPr>
          <a:xfrm>
            <a:off x="10019994" y="629037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牵引交履覆盖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C0EE5CE-37ED-AEC0-DF59-1FBC895C3985}"/>
              </a:ext>
            </a:extLst>
          </p:cNvPr>
          <p:cNvSpPr/>
          <p:nvPr/>
        </p:nvSpPr>
        <p:spPr>
          <a:xfrm>
            <a:off x="12191579" y="4831975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提店推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C84B162-C388-F8AE-A5A5-BF1C27F7BEAA}"/>
              </a:ext>
            </a:extLst>
          </p:cNvPr>
          <p:cNvSpPr/>
          <p:nvPr/>
        </p:nvSpPr>
        <p:spPr>
          <a:xfrm>
            <a:off x="12191579" y="631166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沉淀用户资产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39A788B-BC9B-5CFE-9EBC-AD69784AA65A}"/>
              </a:ext>
            </a:extLst>
          </p:cNvPr>
          <p:cNvSpPr/>
          <p:nvPr/>
        </p:nvSpPr>
        <p:spPr>
          <a:xfrm>
            <a:off x="14361643" y="490008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诊断指导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DDA3A17-D1F2-1809-596D-FD98AC7CD55C}"/>
              </a:ext>
            </a:extLst>
          </p:cNvPr>
          <p:cNvSpPr/>
          <p:nvPr/>
        </p:nvSpPr>
        <p:spPr>
          <a:xfrm>
            <a:off x="14463243" y="630322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规范行为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948D215-E6BB-5FF2-955A-BA1C30E783AB}"/>
              </a:ext>
            </a:extLst>
          </p:cNvPr>
          <p:cNvSpPr/>
          <p:nvPr/>
        </p:nvSpPr>
        <p:spPr>
          <a:xfrm>
            <a:off x="16617254" y="490008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明确赛道（品类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5C34C60-7D21-0067-2EED-20A6F94459FF}"/>
              </a:ext>
            </a:extLst>
          </p:cNvPr>
          <p:cNvSpPr/>
          <p:nvPr/>
        </p:nvSpPr>
        <p:spPr>
          <a:xfrm>
            <a:off x="6788954" y="431730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防刷防作弊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8" name="AutoShape 2">
            <a:extLst>
              <a:ext uri="{FF2B5EF4-FFF2-40B4-BE49-F238E27FC236}">
                <a16:creationId xmlns:a16="http://schemas.microsoft.com/office/drawing/2014/main" id="{896039BD-9A06-0566-634B-B52FA4F623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19097374" y="-3034138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12073487" y="-2374014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12073487" y="-2082995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13821895" y="-2374014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15572137" y="-2674617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15579742" y="-2372475"/>
            <a:ext cx="1506582" cy="23408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19097373" y="-267655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11431732" y="-154402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榜单矩阵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11390271" y="337389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资产引用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11390271" y="122296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12119824" y="-1005796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联动心智运营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15011665" y="-1027288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场景完善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12119824" y="-709994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虚假宣传联合治理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15011665" y="-708454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17956875" y="-1026145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17946476" y="-693045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区域及资产维度补齐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5" name="矩形: 圆角 184">
            <a:extLst>
              <a:ext uri="{FF2B5EF4-FFF2-40B4-BE49-F238E27FC236}">
                <a16:creationId xmlns:a16="http://schemas.microsoft.com/office/drawing/2014/main" id="{F3DA745E-594F-0431-0A5A-B856B45CE1AA}"/>
              </a:ext>
            </a:extLst>
          </p:cNvPr>
          <p:cNvSpPr/>
          <p:nvPr/>
        </p:nvSpPr>
        <p:spPr>
          <a:xfrm>
            <a:off x="15011665" y="-404218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12041377" y="349651"/>
            <a:ext cx="2176244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挖掘及运营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16556103" y="337186"/>
            <a:ext cx="2063445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好店挖掘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18741683" y="344801"/>
            <a:ext cx="2063446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防刷防作弊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8C3D4D64-2905-A539-5BC1-83D8D624E078}"/>
              </a:ext>
            </a:extLst>
          </p:cNvPr>
          <p:cNvSpPr/>
          <p:nvPr/>
        </p:nvSpPr>
        <p:spPr>
          <a:xfrm>
            <a:off x="13902154" y="1272164"/>
            <a:ext cx="2552779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商户指导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18738759" y="1334143"/>
            <a:ext cx="219997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沉淀资产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16706494" y="1278689"/>
            <a:ext cx="1741454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商家牵引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1D1347F8-C1E2-FF47-B0DB-5DDE480F0A4F}"/>
              </a:ext>
            </a:extLst>
          </p:cNvPr>
          <p:cNvSpPr txBox="1"/>
          <p:nvPr/>
        </p:nvSpPr>
        <p:spPr>
          <a:xfrm>
            <a:off x="11455196" y="2390875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AI+</a:t>
            </a: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67C49EF2-93AB-2C5D-EFFF-20BE66C74C80}"/>
              </a:ext>
            </a:extLst>
          </p:cNvPr>
          <p:cNvSpPr/>
          <p:nvPr/>
        </p:nvSpPr>
        <p:spPr>
          <a:xfrm>
            <a:off x="12191579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需求探究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2194F3C7-5368-B899-738B-076AF388F06A}"/>
              </a:ext>
            </a:extLst>
          </p:cNvPr>
          <p:cNvSpPr/>
          <p:nvPr/>
        </p:nvSpPr>
        <p:spPr>
          <a:xfrm>
            <a:off x="13455461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800DA678-D12C-2D48-0D02-109ED052E76F}"/>
              </a:ext>
            </a:extLst>
          </p:cNvPr>
          <p:cNvSpPr/>
          <p:nvPr/>
        </p:nvSpPr>
        <p:spPr>
          <a:xfrm>
            <a:off x="14719343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资产计算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CDE70576-76F8-3C38-B837-A989758EE1B9}"/>
              </a:ext>
            </a:extLst>
          </p:cNvPr>
          <p:cNvSpPr/>
          <p:nvPr/>
        </p:nvSpPr>
        <p:spPr>
          <a:xfrm>
            <a:off x="15983225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资产生成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4784CCBE-9925-242A-B77C-5729B2481325}"/>
              </a:ext>
            </a:extLst>
          </p:cNvPr>
          <p:cNvSpPr/>
          <p:nvPr/>
        </p:nvSpPr>
        <p:spPr>
          <a:xfrm>
            <a:off x="17247107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2A2E44FF-5EF5-FA4F-A3B5-527E171D9C90}"/>
              </a:ext>
            </a:extLst>
          </p:cNvPr>
          <p:cNvSpPr/>
          <p:nvPr/>
        </p:nvSpPr>
        <p:spPr>
          <a:xfrm>
            <a:off x="18510989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榜单投放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9BADCA5C-DEB3-EE4F-2C86-0964FD080A2B}"/>
              </a:ext>
            </a:extLst>
          </p:cNvPr>
          <p:cNvSpPr/>
          <p:nvPr/>
        </p:nvSpPr>
        <p:spPr>
          <a:xfrm>
            <a:off x="19774868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异常检测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19107175" y="-2377753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12011684" y="-1620477"/>
            <a:ext cx="8780603" cy="1606138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14391487" y="343114"/>
            <a:ext cx="2063445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计算规则优化</a:t>
            </a:r>
            <a:endParaRPr lang="en-US" altLang="zh-CN" sz="1200" dirty="0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12065755" y="1284036"/>
            <a:ext cx="175614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品类细化及运营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2F44CAE9-DA10-B84F-EB24-AED956E24A92}"/>
              </a:ext>
            </a:extLst>
          </p:cNvPr>
          <p:cNvSpPr/>
          <p:nvPr/>
        </p:nvSpPr>
        <p:spPr>
          <a:xfrm>
            <a:off x="15581681" y="-2045841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成榜赛道细分</a:t>
            </a: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13828552" y="-2048047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17337589" y="-236518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7" name="矩形: 圆角 206">
            <a:extLst>
              <a:ext uri="{FF2B5EF4-FFF2-40B4-BE49-F238E27FC236}">
                <a16:creationId xmlns:a16="http://schemas.microsoft.com/office/drawing/2014/main" id="{0E16146A-94AF-431A-AC3A-D37A0D2B4AD5}"/>
              </a:ext>
            </a:extLst>
          </p:cNvPr>
          <p:cNvSpPr/>
          <p:nvPr/>
        </p:nvSpPr>
        <p:spPr>
          <a:xfrm>
            <a:off x="17956875" y="-389157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新店榜建设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11501534" y="3344483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16879812" y="3392343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12191579" y="3338417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18708344" y="3335337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382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649327" y="824795"/>
            <a:ext cx="1512353" cy="25768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2404392" y="833187"/>
            <a:ext cx="1510416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4155583" y="833187"/>
            <a:ext cx="1523730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5920087" y="833187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-16568" y="1067418"/>
            <a:ext cx="49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651263" y="119750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2411999" y="1197509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5920088" y="1192708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7520739" y="-1925747"/>
            <a:ext cx="28523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主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入围：</a:t>
            </a:r>
            <a:r>
              <a:rPr lang="en-US" altLang="zh-CN" sz="1800" dirty="0">
                <a:latin typeface="+mn-ea"/>
              </a:rPr>
              <a:t>UGC</a:t>
            </a:r>
            <a:r>
              <a:rPr lang="zh-CN" altLang="en-US" sz="1800" dirty="0">
                <a:latin typeface="+mn-ea"/>
              </a:rPr>
              <a:t>挖掘主题相关度。辅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排序：</a:t>
            </a:r>
            <a:r>
              <a:rPr lang="en-US" altLang="zh-CN" sz="1800" dirty="0">
                <a:latin typeface="+mn-ea"/>
              </a:rPr>
              <a:t>B(D)GC</a:t>
            </a:r>
            <a:r>
              <a:rPr lang="zh-CN" altLang="en-US" sz="1800" dirty="0">
                <a:latin typeface="+mn-ea"/>
              </a:rPr>
              <a:t>信息标签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用户行为资产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（交履服务）</a:t>
            </a:r>
            <a:r>
              <a:rPr lang="en-US" altLang="zh-CN" sz="1800" dirty="0">
                <a:latin typeface="+mn-ea"/>
              </a:rPr>
              <a:t>	</a:t>
            </a:r>
            <a:endParaRPr lang="zh-CN" altLang="en-US" sz="1800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587524" y="674248"/>
            <a:ext cx="8757260" cy="1473871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695664" y="2357196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3587505" y="2353961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养心智、提转化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6532715" y="2353961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守约束、调结构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6F90CE4-E849-C287-6844-A78C0E8FD320}"/>
              </a:ext>
            </a:extLst>
          </p:cNvPr>
          <p:cNvSpPr/>
          <p:nvPr/>
        </p:nvSpPr>
        <p:spPr>
          <a:xfrm>
            <a:off x="11687477" y="4424947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锁核心商户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56A023C-1995-1F12-963E-6FB24035B34D}"/>
              </a:ext>
            </a:extLst>
          </p:cNvPr>
          <p:cNvSpPr/>
          <p:nvPr/>
        </p:nvSpPr>
        <p:spPr>
          <a:xfrm>
            <a:off x="11687477" y="3920491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toB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7B6FCE0-222C-97FE-4664-E139DEE86C72}"/>
              </a:ext>
            </a:extLst>
          </p:cNvPr>
          <p:cNvSpPr/>
          <p:nvPr/>
        </p:nvSpPr>
        <p:spPr>
          <a:xfrm>
            <a:off x="11687475" y="585642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牵引交履覆盖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C0EE5CE-37ED-AEC0-DF59-1FBC895C3985}"/>
              </a:ext>
            </a:extLst>
          </p:cNvPr>
          <p:cNvSpPr/>
          <p:nvPr/>
        </p:nvSpPr>
        <p:spPr>
          <a:xfrm>
            <a:off x="13859060" y="4398027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提店推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C84B162-C388-F8AE-A5A5-BF1C27F7BEAA}"/>
              </a:ext>
            </a:extLst>
          </p:cNvPr>
          <p:cNvSpPr/>
          <p:nvPr/>
        </p:nvSpPr>
        <p:spPr>
          <a:xfrm>
            <a:off x="13859060" y="587771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沉淀用户资产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39A788B-BC9B-5CFE-9EBC-AD69784AA65A}"/>
              </a:ext>
            </a:extLst>
          </p:cNvPr>
          <p:cNvSpPr/>
          <p:nvPr/>
        </p:nvSpPr>
        <p:spPr>
          <a:xfrm>
            <a:off x="16029124" y="4466136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诊断指导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DDA3A17-D1F2-1809-596D-FD98AC7CD55C}"/>
              </a:ext>
            </a:extLst>
          </p:cNvPr>
          <p:cNvSpPr/>
          <p:nvPr/>
        </p:nvSpPr>
        <p:spPr>
          <a:xfrm>
            <a:off x="16130724" y="586927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规范行为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948D215-E6BB-5FF2-955A-BA1C30E783AB}"/>
              </a:ext>
            </a:extLst>
          </p:cNvPr>
          <p:cNvSpPr/>
          <p:nvPr/>
        </p:nvSpPr>
        <p:spPr>
          <a:xfrm>
            <a:off x="15745235" y="285484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明确赛道（品类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7673214" y="833187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649327" y="1493311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649327" y="1784330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2397735" y="1493311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4147977" y="1192708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4155582" y="1494850"/>
            <a:ext cx="1506582" cy="23408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7673213" y="119076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-9513" y="274204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榜单矩阵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7464" y="3695433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资产运营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7525" y="4444522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695664" y="2861529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3587505" y="2840037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695664" y="3157331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3587505" y="3158871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6532715" y="284118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6522316" y="317428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区域及指数维度补齐（新店等）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647514" y="3731452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挖掘及重点场景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5038458" y="3731452"/>
            <a:ext cx="2016000" cy="3862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7233929" y="3731452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剔刷剔作弊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6540105" y="4486034"/>
            <a:ext cx="2727042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品类细化及划分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3694124" y="4478419"/>
            <a:ext cx="2739361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线下物料覆盖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7683015" y="1489572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587525" y="2246848"/>
            <a:ext cx="8757260" cy="12617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2842986" y="3731452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算法规则优化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640270" y="4483766"/>
            <a:ext cx="2947235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商户指导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诊断工具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2404392" y="1819278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5913429" y="150213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-5414" y="7299188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5372864" y="7347048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684631" y="7293122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7201396" y="729004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5D7130-2929-766C-B791-A2E2585D4434}"/>
              </a:ext>
            </a:extLst>
          </p:cNvPr>
          <p:cNvSpPr/>
          <p:nvPr/>
        </p:nvSpPr>
        <p:spPr>
          <a:xfrm>
            <a:off x="587524" y="3626845"/>
            <a:ext cx="8757260" cy="63991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7C7F1E-2631-7B22-9736-73E5B0B713C6}"/>
              </a:ext>
            </a:extLst>
          </p:cNvPr>
          <p:cNvSpPr/>
          <p:nvPr/>
        </p:nvSpPr>
        <p:spPr>
          <a:xfrm>
            <a:off x="587524" y="4359780"/>
            <a:ext cx="8757260" cy="594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207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937194" y="609943"/>
            <a:ext cx="1512353" cy="25768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2692259" y="618335"/>
            <a:ext cx="1510416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4443450" y="618335"/>
            <a:ext cx="1523730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6207954" y="618335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271299" y="852566"/>
            <a:ext cx="49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939130" y="98265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2699866" y="982657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6207955" y="97785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表达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-556461" y="-46280"/>
            <a:ext cx="2852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更全版本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875391" y="459396"/>
            <a:ext cx="8757260" cy="1844550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1001717" y="2612632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389355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养心智、提转化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683876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守约束、调结构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6F90CE4-E849-C287-6844-A78C0E8FD320}"/>
              </a:ext>
            </a:extLst>
          </p:cNvPr>
          <p:cNvSpPr/>
          <p:nvPr/>
        </p:nvSpPr>
        <p:spPr>
          <a:xfrm>
            <a:off x="14366152" y="125958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锁核心商户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56A023C-1995-1F12-963E-6FB24035B34D}"/>
              </a:ext>
            </a:extLst>
          </p:cNvPr>
          <p:cNvSpPr/>
          <p:nvPr/>
        </p:nvSpPr>
        <p:spPr>
          <a:xfrm>
            <a:off x="14366152" y="755127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toB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7B6FCE0-222C-97FE-4664-E139DEE86C72}"/>
              </a:ext>
            </a:extLst>
          </p:cNvPr>
          <p:cNvSpPr/>
          <p:nvPr/>
        </p:nvSpPr>
        <p:spPr>
          <a:xfrm>
            <a:off x="14366150" y="269105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牵引交履覆盖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C0EE5CE-37ED-AEC0-DF59-1FBC895C3985}"/>
              </a:ext>
            </a:extLst>
          </p:cNvPr>
          <p:cNvSpPr/>
          <p:nvPr/>
        </p:nvSpPr>
        <p:spPr>
          <a:xfrm>
            <a:off x="16537735" y="123266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提店推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C84B162-C388-F8AE-A5A5-BF1C27F7BEAA}"/>
              </a:ext>
            </a:extLst>
          </p:cNvPr>
          <p:cNvSpPr/>
          <p:nvPr/>
        </p:nvSpPr>
        <p:spPr>
          <a:xfrm>
            <a:off x="16537735" y="271235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沉淀用户资产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39A788B-BC9B-5CFE-9EBC-AD69784AA65A}"/>
              </a:ext>
            </a:extLst>
          </p:cNvPr>
          <p:cNvSpPr/>
          <p:nvPr/>
        </p:nvSpPr>
        <p:spPr>
          <a:xfrm>
            <a:off x="18707799" y="130077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诊断指导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DDA3A17-D1F2-1809-596D-FD98AC7CD55C}"/>
              </a:ext>
            </a:extLst>
          </p:cNvPr>
          <p:cNvSpPr/>
          <p:nvPr/>
        </p:nvSpPr>
        <p:spPr>
          <a:xfrm>
            <a:off x="18809399" y="270391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规范行为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948D215-E6BB-5FF2-955A-BA1C30E783AB}"/>
              </a:ext>
            </a:extLst>
          </p:cNvPr>
          <p:cNvSpPr/>
          <p:nvPr/>
        </p:nvSpPr>
        <p:spPr>
          <a:xfrm>
            <a:off x="18423910" y="-3105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明确赛道（品类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7961081" y="618335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937194" y="127845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内容化表达如地图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937194" y="1569478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2685602" y="1278459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(AI)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4435844" y="977856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4443449" y="1279998"/>
            <a:ext cx="1506582" cy="23408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7961080" y="975914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296540" y="299748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榜单矩阵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293117" y="4517088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资产运营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293178" y="5266177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1001717" y="3116965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3893558" y="30954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旅游、约会场景试点调优、强化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1001717" y="3395833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3893558" y="33973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6838768" y="3096616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6828369" y="3412782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区域及指数维度补齐（新店等）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933167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挖掘及重点场景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履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/GC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激励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工单等）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5324111" y="4553107"/>
            <a:ext cx="2016000" cy="3862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坏店清退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（信息提报链路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交叉验证）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7519582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剔刷剔作弊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6825758" y="5307689"/>
            <a:ext cx="2727042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品类细化及划分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3979777" y="5300074"/>
            <a:ext cx="2739361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线下物料覆盖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7970882" y="1274720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893578" y="2502283"/>
            <a:ext cx="8757260" cy="1696347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3128639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算法规则优化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925923" y="5305421"/>
            <a:ext cx="2947235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商户指导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诊断工具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2692259" y="1604426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6201296" y="128728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-5414" y="7299188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5372864" y="7347048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684631" y="7293122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7201396" y="729004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5D7130-2929-766C-B791-A2E2585D4434}"/>
              </a:ext>
            </a:extLst>
          </p:cNvPr>
          <p:cNvSpPr/>
          <p:nvPr/>
        </p:nvSpPr>
        <p:spPr>
          <a:xfrm>
            <a:off x="873177" y="4448500"/>
            <a:ext cx="8757260" cy="63991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7C7F1E-2631-7B22-9736-73E5B0B713C6}"/>
              </a:ext>
            </a:extLst>
          </p:cNvPr>
          <p:cNvSpPr/>
          <p:nvPr/>
        </p:nvSpPr>
        <p:spPr>
          <a:xfrm>
            <a:off x="873177" y="5181435"/>
            <a:ext cx="8757260" cy="594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A51EA0-1F3A-FCE0-8A2D-CE861FD7D83F}"/>
              </a:ext>
            </a:extLst>
          </p:cNvPr>
          <p:cNvSpPr/>
          <p:nvPr/>
        </p:nvSpPr>
        <p:spPr>
          <a:xfrm>
            <a:off x="3893559" y="3686493"/>
            <a:ext cx="2700000" cy="18875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场景标签细化，如约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景观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非遗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E43E71-9614-7573-A2DD-6CBD6417F7E3}"/>
              </a:ext>
            </a:extLst>
          </p:cNvPr>
          <p:cNvSpPr/>
          <p:nvPr/>
        </p:nvSpPr>
        <p:spPr>
          <a:xfrm>
            <a:off x="936809" y="187589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酒旅等业务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cross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9E1F57-EF0F-183C-2221-CF2ADB877305}"/>
              </a:ext>
            </a:extLst>
          </p:cNvPr>
          <p:cNvSpPr/>
          <p:nvPr/>
        </p:nvSpPr>
        <p:spPr>
          <a:xfrm>
            <a:off x="3893558" y="3965124"/>
            <a:ext cx="2700000" cy="19571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讨论其它主题如仪式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互动感可行性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ACCBD38-7C06-6ECB-5D4E-410CFA12434B}"/>
              </a:ext>
            </a:extLst>
          </p:cNvPr>
          <p:cNvSpPr/>
          <p:nvPr/>
        </p:nvSpPr>
        <p:spPr>
          <a:xfrm>
            <a:off x="6838768" y="369636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特色大单品指数，如烤鱼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烤鸭试点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4295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95A2693-3B95-23E8-BB35-687E19D51D29}"/>
              </a:ext>
            </a:extLst>
          </p:cNvPr>
          <p:cNvSpPr/>
          <p:nvPr/>
        </p:nvSpPr>
        <p:spPr>
          <a:xfrm>
            <a:off x="4767249" y="1573173"/>
            <a:ext cx="1512353" cy="76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预决策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604DECC-3FE4-985D-918E-3AFADBA7CC4A}"/>
              </a:ext>
            </a:extLst>
          </p:cNvPr>
          <p:cNvSpPr/>
          <p:nvPr/>
        </p:nvSpPr>
        <p:spPr>
          <a:xfrm>
            <a:off x="1788099" y="1631285"/>
            <a:ext cx="1806001" cy="61408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原备选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BF65E4B-AA53-7429-B813-794D7CBCDA86}"/>
              </a:ext>
            </a:extLst>
          </p:cNvPr>
          <p:cNvSpPr/>
          <p:nvPr/>
        </p:nvSpPr>
        <p:spPr>
          <a:xfrm>
            <a:off x="0" y="1431908"/>
            <a:ext cx="1012842" cy="10128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开始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6568CED-B6DC-BB31-0BC6-A5EDFCE21315}"/>
              </a:ext>
            </a:extLst>
          </p:cNvPr>
          <p:cNvSpPr/>
          <p:nvPr/>
        </p:nvSpPr>
        <p:spPr>
          <a:xfrm>
            <a:off x="1788099" y="2645706"/>
            <a:ext cx="1806001" cy="6140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新扩展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DD7FDD6-5164-6559-09DE-0F40B26FB016}"/>
              </a:ext>
            </a:extLst>
          </p:cNvPr>
          <p:cNvCxnSpPr>
            <a:stCxn id="37" idx="6"/>
            <a:endCxn id="36" idx="1"/>
          </p:cNvCxnSpPr>
          <p:nvPr/>
        </p:nvCxnSpPr>
        <p:spPr>
          <a:xfrm>
            <a:off x="1012842" y="1938329"/>
            <a:ext cx="775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2B1EDE47-FEB0-3414-9C65-10DAC5BBE19D}"/>
              </a:ext>
            </a:extLst>
          </p:cNvPr>
          <p:cNvCxnSpPr>
            <a:stCxn id="37" idx="6"/>
            <a:endCxn id="38" idx="1"/>
          </p:cNvCxnSpPr>
          <p:nvPr/>
        </p:nvCxnSpPr>
        <p:spPr>
          <a:xfrm>
            <a:off x="1012842" y="1938329"/>
            <a:ext cx="775257" cy="10144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占位符 1">
            <a:extLst>
              <a:ext uri="{FF2B5EF4-FFF2-40B4-BE49-F238E27FC236}">
                <a16:creationId xmlns:a16="http://schemas.microsoft.com/office/drawing/2014/main" id="{E937F798-64BF-723A-7FFA-1B4839316EE6}"/>
              </a:ext>
            </a:extLst>
          </p:cNvPr>
          <p:cNvSpPr txBox="1">
            <a:spLocks/>
          </p:cNvSpPr>
          <p:nvPr/>
        </p:nvSpPr>
        <p:spPr>
          <a:xfrm>
            <a:off x="763346" y="2364856"/>
            <a:ext cx="1274248" cy="33689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/>
              <a:t>灵感激发</a:t>
            </a:r>
          </a:p>
        </p:txBody>
      </p:sp>
      <p:sp>
        <p:nvSpPr>
          <p:cNvPr id="44" name="文本占位符 1">
            <a:extLst>
              <a:ext uri="{FF2B5EF4-FFF2-40B4-BE49-F238E27FC236}">
                <a16:creationId xmlns:a16="http://schemas.microsoft.com/office/drawing/2014/main" id="{F3FAF2AF-057D-AA05-FB6F-1051FFF72CCF}"/>
              </a:ext>
            </a:extLst>
          </p:cNvPr>
          <p:cNvSpPr txBox="1">
            <a:spLocks/>
          </p:cNvSpPr>
          <p:nvPr/>
        </p:nvSpPr>
        <p:spPr>
          <a:xfrm>
            <a:off x="3141215" y="1336613"/>
            <a:ext cx="2131143" cy="60171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/>
              <a:t>信息获取</a:t>
            </a:r>
            <a:endParaRPr lang="en-US" altLang="zh-CN" sz="18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/>
              <a:t>对比选择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D758630-300B-09E0-682E-BABC1443A206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>
            <a:off x="3594100" y="1938329"/>
            <a:ext cx="1173149" cy="15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C093DE78-B755-BB78-329B-71997B13FEF2}"/>
              </a:ext>
            </a:extLst>
          </p:cNvPr>
          <p:cNvCxnSpPr>
            <a:cxnSpLocks/>
            <a:stCxn id="38" idx="3"/>
            <a:endCxn id="34" idx="1"/>
          </p:cNvCxnSpPr>
          <p:nvPr/>
        </p:nvCxnSpPr>
        <p:spPr>
          <a:xfrm flipV="1">
            <a:off x="3594100" y="1954179"/>
            <a:ext cx="1173149" cy="9985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CE9DD5B1-C5C5-11E0-0C40-E95400EA59CA}"/>
              </a:ext>
            </a:extLst>
          </p:cNvPr>
          <p:cNvSpPr/>
          <p:nvPr/>
        </p:nvSpPr>
        <p:spPr>
          <a:xfrm>
            <a:off x="7452751" y="1587303"/>
            <a:ext cx="1512353" cy="76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/>
              <a:t>终</a:t>
            </a:r>
            <a:r>
              <a:rPr lang="zh-CN" altLang="en-US" dirty="0">
                <a:solidFill>
                  <a:schemeClr val="tx1"/>
                </a:solidFill>
              </a:rPr>
              <a:t>决策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9079668-A19C-1F21-CBF8-02678727EA7A}"/>
              </a:ext>
            </a:extLst>
          </p:cNvPr>
          <p:cNvCxnSpPr>
            <a:cxnSpLocks/>
            <a:stCxn id="34" idx="3"/>
            <a:endCxn id="54" idx="1"/>
          </p:cNvCxnSpPr>
          <p:nvPr/>
        </p:nvCxnSpPr>
        <p:spPr>
          <a:xfrm>
            <a:off x="6279602" y="1954179"/>
            <a:ext cx="1173149" cy="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占位符 1">
            <a:extLst>
              <a:ext uri="{FF2B5EF4-FFF2-40B4-BE49-F238E27FC236}">
                <a16:creationId xmlns:a16="http://schemas.microsoft.com/office/drawing/2014/main" id="{8662E248-3278-A661-05EA-B36AF46E1B8E}"/>
              </a:ext>
            </a:extLst>
          </p:cNvPr>
          <p:cNvSpPr txBox="1">
            <a:spLocks/>
          </p:cNvSpPr>
          <p:nvPr/>
        </p:nvSpPr>
        <p:spPr>
          <a:xfrm>
            <a:off x="5881916" y="1601431"/>
            <a:ext cx="1945989" cy="33689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/>
              <a:t>决策闭环</a:t>
            </a: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044623EC-690A-80BD-098A-5087CB9D2A85}"/>
              </a:ext>
            </a:extLst>
          </p:cNvPr>
          <p:cNvCxnSpPr>
            <a:cxnSpLocks/>
            <a:stCxn id="54" idx="0"/>
            <a:endCxn id="36" idx="0"/>
          </p:cNvCxnSpPr>
          <p:nvPr/>
        </p:nvCxnSpPr>
        <p:spPr>
          <a:xfrm rot="16200000" flipH="1" flipV="1">
            <a:off x="5428023" y="-1149620"/>
            <a:ext cx="43982" cy="5517828"/>
          </a:xfrm>
          <a:prstGeom prst="bentConnector3">
            <a:avLst>
              <a:gd name="adj1" fmla="val -895139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占位符 1">
            <a:extLst>
              <a:ext uri="{FF2B5EF4-FFF2-40B4-BE49-F238E27FC236}">
                <a16:creationId xmlns:a16="http://schemas.microsoft.com/office/drawing/2014/main" id="{D4A0BA6F-8FD7-9ECF-AA5B-E02EFA91B440}"/>
              </a:ext>
            </a:extLst>
          </p:cNvPr>
          <p:cNvSpPr txBox="1">
            <a:spLocks/>
          </p:cNvSpPr>
          <p:nvPr/>
        </p:nvSpPr>
        <p:spPr>
          <a:xfrm>
            <a:off x="4767249" y="787158"/>
            <a:ext cx="1114667" cy="33689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/>
              <a:t>验证反馈</a:t>
            </a:r>
          </a:p>
        </p:txBody>
      </p:sp>
    </p:spTree>
    <p:extLst>
      <p:ext uri="{BB962C8B-B14F-4D97-AF65-F5344CB8AC3E}">
        <p14:creationId xmlns:p14="http://schemas.microsoft.com/office/powerpoint/2010/main" val="2139274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C345139D-A9A7-143B-3852-4441FCDEF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70" y="4690573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D668531-7368-1CF5-778D-F5A0344B53B2}"/>
              </a:ext>
            </a:extLst>
          </p:cNvPr>
          <p:cNvSpPr/>
          <p:nvPr/>
        </p:nvSpPr>
        <p:spPr>
          <a:xfrm>
            <a:off x="300308" y="6578108"/>
            <a:ext cx="2518435" cy="1368430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66AF1E86-2EFF-C2A1-F2F5-76D3C3240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4079" y="4955492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EAB14D7-8FAE-D2F4-8BB2-E75BE5B4C8F0}"/>
              </a:ext>
            </a:extLst>
          </p:cNvPr>
          <p:cNvSpPr/>
          <p:nvPr/>
        </p:nvSpPr>
        <p:spPr>
          <a:xfrm>
            <a:off x="-2287715" y="5989534"/>
            <a:ext cx="2518435" cy="3929998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AB35C6-E46E-FB21-F843-87B04CDD9537}"/>
              </a:ext>
            </a:extLst>
          </p:cNvPr>
          <p:cNvSpPr/>
          <p:nvPr/>
        </p:nvSpPr>
        <p:spPr>
          <a:xfrm>
            <a:off x="-2287715" y="5372811"/>
            <a:ext cx="669415" cy="599631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36AD36-9F9F-E0E0-644C-9735B25C47A8}"/>
              </a:ext>
            </a:extLst>
          </p:cNvPr>
          <p:cNvSpPr/>
          <p:nvPr/>
        </p:nvSpPr>
        <p:spPr>
          <a:xfrm>
            <a:off x="1019227" y="4978990"/>
            <a:ext cx="376015" cy="308363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7176" name="Picture 8">
            <a:extLst>
              <a:ext uri="{FF2B5EF4-FFF2-40B4-BE49-F238E27FC236}">
                <a16:creationId xmlns:a16="http://schemas.microsoft.com/office/drawing/2014/main" id="{D7BDB43C-8D0F-9AA9-3B67-9F2B7CC0E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34" y="-452927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BBB768A-7181-73F3-BB3F-24BE42E56A30}"/>
              </a:ext>
            </a:extLst>
          </p:cNvPr>
          <p:cNvSpPr/>
          <p:nvPr/>
        </p:nvSpPr>
        <p:spPr>
          <a:xfrm>
            <a:off x="3141072" y="322230"/>
            <a:ext cx="2518435" cy="267429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891FE3-8209-E162-9953-E02ED756DB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3404" y="-976101"/>
            <a:ext cx="2518434" cy="5205885"/>
          </a:xfrm>
          <a:prstGeom prst="rect">
            <a:avLst/>
          </a:prstGeom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A5074561-43FB-777B-A944-9367C2680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633" y="-753099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D4779AF-4C36-93DE-B4F7-2986A0B8F02C}"/>
              </a:ext>
            </a:extLst>
          </p:cNvPr>
          <p:cNvSpPr/>
          <p:nvPr/>
        </p:nvSpPr>
        <p:spPr>
          <a:xfrm>
            <a:off x="6231609" y="1307507"/>
            <a:ext cx="2322364" cy="311744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7180" name="Picture 12">
            <a:extLst>
              <a:ext uri="{FF2B5EF4-FFF2-40B4-BE49-F238E27FC236}">
                <a16:creationId xmlns:a16="http://schemas.microsoft.com/office/drawing/2014/main" id="{827B846C-2818-A73E-4838-2B5F4E423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950" y="-188008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AA4E716-F451-606F-EB72-317BC7FDB973}"/>
              </a:ext>
            </a:extLst>
          </p:cNvPr>
          <p:cNvSpPr/>
          <p:nvPr/>
        </p:nvSpPr>
        <p:spPr>
          <a:xfrm>
            <a:off x="9640294" y="390524"/>
            <a:ext cx="1103906" cy="295275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8AE29B-03C1-B07D-B754-374B2D22ED32}"/>
              </a:ext>
            </a:extLst>
          </p:cNvPr>
          <p:cNvSpPr/>
          <p:nvPr/>
        </p:nvSpPr>
        <p:spPr>
          <a:xfrm>
            <a:off x="6231075" y="-476254"/>
            <a:ext cx="2322364" cy="311744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927712-1AEB-F6B1-BB8C-3BB9CFC55D66}"/>
              </a:ext>
            </a:extLst>
          </p:cNvPr>
          <p:cNvSpPr/>
          <p:nvPr/>
        </p:nvSpPr>
        <p:spPr>
          <a:xfrm>
            <a:off x="9640293" y="81673"/>
            <a:ext cx="2365969" cy="295275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7182" name="Picture 14">
            <a:extLst>
              <a:ext uri="{FF2B5EF4-FFF2-40B4-BE49-F238E27FC236}">
                <a16:creationId xmlns:a16="http://schemas.microsoft.com/office/drawing/2014/main" id="{F7B82AAE-1CAE-853A-67CA-2AE6ED2C5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9209" y="-320382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0D7E9E5-DE1F-BC66-1C6C-0B77B9D62B6E}"/>
              </a:ext>
            </a:extLst>
          </p:cNvPr>
          <p:cNvSpPr/>
          <p:nvPr/>
        </p:nvSpPr>
        <p:spPr>
          <a:xfrm>
            <a:off x="12602949" y="320383"/>
            <a:ext cx="960651" cy="174917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F7B723-B721-9DB0-8A94-BA81A776990C}"/>
              </a:ext>
            </a:extLst>
          </p:cNvPr>
          <p:cNvSpPr/>
          <p:nvPr/>
        </p:nvSpPr>
        <p:spPr>
          <a:xfrm>
            <a:off x="12602949" y="0"/>
            <a:ext cx="2329573" cy="320382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7184" name="Picture 16">
            <a:extLst>
              <a:ext uri="{FF2B5EF4-FFF2-40B4-BE49-F238E27FC236}">
                <a16:creationId xmlns:a16="http://schemas.microsoft.com/office/drawing/2014/main" id="{ACB00BC4-B3F4-A0F4-050F-488B1ECEF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28" y="-597135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>
            <a:extLst>
              <a:ext uri="{FF2B5EF4-FFF2-40B4-BE49-F238E27FC236}">
                <a16:creationId xmlns:a16="http://schemas.microsoft.com/office/drawing/2014/main" id="{9993F936-049F-0F31-1FAE-3FDEA420D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0217" y="-511772"/>
            <a:ext cx="23733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C0D2822-B90B-2066-24D8-693A20F08132}"/>
              </a:ext>
            </a:extLst>
          </p:cNvPr>
          <p:cNvSpPr/>
          <p:nvPr/>
        </p:nvSpPr>
        <p:spPr>
          <a:xfrm>
            <a:off x="-2271829" y="495300"/>
            <a:ext cx="669415" cy="357187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0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82DA2E5-128B-132C-0E63-91A0E94927DE}"/>
              </a:ext>
            </a:extLst>
          </p:cNvPr>
          <p:cNvSpPr/>
          <p:nvPr/>
        </p:nvSpPr>
        <p:spPr>
          <a:xfrm>
            <a:off x="3584430" y="2571749"/>
            <a:ext cx="2256685" cy="142393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EE326A8-946C-E279-D964-A388188D15DE}"/>
              </a:ext>
            </a:extLst>
          </p:cNvPr>
          <p:cNvSpPr/>
          <p:nvPr/>
        </p:nvSpPr>
        <p:spPr>
          <a:xfrm>
            <a:off x="1670790" y="1221728"/>
            <a:ext cx="1432572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主榜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9C14FA-D138-A6EC-781B-98CDEEF71522}"/>
              </a:ext>
            </a:extLst>
          </p:cNvPr>
          <p:cNvSpPr/>
          <p:nvPr/>
        </p:nvSpPr>
        <p:spPr>
          <a:xfrm>
            <a:off x="3988989" y="1221728"/>
            <a:ext cx="1432572" cy="5013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个性化榜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86BB91-A83F-B800-1E7F-25FDC0BB36EB}"/>
              </a:ext>
            </a:extLst>
          </p:cNvPr>
          <p:cNvSpPr txBox="1"/>
          <p:nvPr/>
        </p:nvSpPr>
        <p:spPr>
          <a:xfrm>
            <a:off x="1670789" y="1706739"/>
            <a:ext cx="1432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600" dirty="0">
                <a:effectLst/>
                <a:latin typeface="+mn-ea"/>
              </a:rPr>
              <a:t>大众共识</a:t>
            </a:r>
            <a:endParaRPr lang="en-US" altLang="zh-CN" sz="1600" dirty="0">
              <a:effectLst/>
              <a:latin typeface="+mn-ea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E7B6F540-AB4D-50DA-4E85-A9C78E7158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12046" y="-1904595"/>
            <a:ext cx="12700" cy="2644753"/>
          </a:xfrm>
          <a:prstGeom prst="bentConnector3">
            <a:avLst>
              <a:gd name="adj1" fmla="val 42666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6E252AF0-7C22-D2DE-F483-99BDA360D9CF}"/>
              </a:ext>
            </a:extLst>
          </p:cNvPr>
          <p:cNvCxnSpPr>
            <a:cxnSpLocks/>
          </p:cNvCxnSpPr>
          <p:nvPr/>
        </p:nvCxnSpPr>
        <p:spPr>
          <a:xfrm rot="5400000">
            <a:off x="3428338" y="4088291"/>
            <a:ext cx="12700" cy="2644753"/>
          </a:xfrm>
          <a:prstGeom prst="bentConnector3">
            <a:avLst>
              <a:gd name="adj1" fmla="val 47333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10F0AAD2-DDE1-B9BF-C8ED-8F03975E4B57}"/>
              </a:ext>
            </a:extLst>
          </p:cNvPr>
          <p:cNvSpPr txBox="1"/>
          <p:nvPr/>
        </p:nvSpPr>
        <p:spPr>
          <a:xfrm>
            <a:off x="1623165" y="-1526110"/>
            <a:ext cx="208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延申导入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B6C7A2D-1A3C-4EAB-CC39-B2E7DF549F39}"/>
              </a:ext>
            </a:extLst>
          </p:cNvPr>
          <p:cNvSpPr txBox="1"/>
          <p:nvPr/>
        </p:nvSpPr>
        <p:spPr>
          <a:xfrm>
            <a:off x="2205987" y="6285335"/>
            <a:ext cx="11317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发现成长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2CD1400-29F4-5476-09EB-B866F6686879}"/>
              </a:ext>
            </a:extLst>
          </p:cNvPr>
          <p:cNvSpPr txBox="1"/>
          <p:nvPr/>
        </p:nvSpPr>
        <p:spPr>
          <a:xfrm>
            <a:off x="3986057" y="1703198"/>
            <a:ext cx="1432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b="1" dirty="0">
                <a:effectLst/>
                <a:latin typeface="+mn-ea"/>
              </a:rPr>
              <a:t>求同存异</a:t>
            </a:r>
            <a:endParaRPr lang="en-US" altLang="zh-CN" sz="1600" b="1" dirty="0">
              <a:effectLst/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C9B91D-E0CC-F1C7-3A58-515336165856}"/>
              </a:ext>
            </a:extLst>
          </p:cNvPr>
          <p:cNvSpPr txBox="1"/>
          <p:nvPr/>
        </p:nvSpPr>
        <p:spPr>
          <a:xfrm>
            <a:off x="9256625" y="-2078318"/>
            <a:ext cx="16233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个人行为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主榜筛选</a:t>
            </a:r>
            <a:endParaRPr lang="en-US" altLang="zh-CN" sz="1600" dirty="0"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同身份</a:t>
            </a:r>
            <a:r>
              <a:rPr lang="zh-CN" altLang="en-US" sz="1600" dirty="0">
                <a:effectLst/>
                <a:latin typeface="+mn-ea"/>
              </a:rPr>
              <a:t>、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同地域</a:t>
            </a:r>
            <a:endParaRPr lang="en-US" altLang="zh-CN" sz="1600" dirty="0">
              <a:latin typeface="+mn-ea"/>
            </a:endParaRPr>
          </a:p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同口味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同</a:t>
            </a:r>
            <a:r>
              <a:rPr lang="en-US" altLang="zh-CN" sz="1600" dirty="0">
                <a:latin typeface="+mn-ea"/>
              </a:rPr>
              <a:t>xx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01BED42-CFC7-31D5-C355-0767421E7E18}"/>
              </a:ext>
            </a:extLst>
          </p:cNvPr>
          <p:cNvSpPr txBox="1"/>
          <p:nvPr/>
        </p:nvSpPr>
        <p:spPr>
          <a:xfrm>
            <a:off x="10526581" y="2605787"/>
            <a:ext cx="1623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强化原因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0300850-0DE8-5B77-0195-48367333585E}"/>
              </a:ext>
            </a:extLst>
          </p:cNvPr>
          <p:cNvSpPr txBox="1"/>
          <p:nvPr/>
        </p:nvSpPr>
        <p:spPr>
          <a:xfrm>
            <a:off x="3046447" y="604790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、无限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偏好、个人复盘、社交分享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62BE07D-7822-B30D-6D72-A33EE722BB59}"/>
              </a:ext>
            </a:extLst>
          </p:cNvPr>
          <p:cNvSpPr/>
          <p:nvPr/>
        </p:nvSpPr>
        <p:spPr>
          <a:xfrm>
            <a:off x="9424128" y="-279798"/>
            <a:ext cx="137967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个人行为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1" name="左大括号 40">
            <a:extLst>
              <a:ext uri="{FF2B5EF4-FFF2-40B4-BE49-F238E27FC236}">
                <a16:creationId xmlns:a16="http://schemas.microsoft.com/office/drawing/2014/main" id="{1CD0FDDA-FFF5-F0B1-AE7C-BB2289BB6970}"/>
              </a:ext>
            </a:extLst>
          </p:cNvPr>
          <p:cNvSpPr/>
          <p:nvPr/>
        </p:nvSpPr>
        <p:spPr>
          <a:xfrm>
            <a:off x="9113601" y="-185078"/>
            <a:ext cx="81927" cy="2474796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8921AEA-BD2E-64C6-975E-125D4FD9E866}"/>
              </a:ext>
            </a:extLst>
          </p:cNvPr>
          <p:cNvSpPr/>
          <p:nvPr/>
        </p:nvSpPr>
        <p:spPr>
          <a:xfrm>
            <a:off x="9424128" y="707819"/>
            <a:ext cx="137967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用户协同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8ED7D5D-BE23-2201-EAFB-D4CA39227B24}"/>
              </a:ext>
            </a:extLst>
          </p:cNvPr>
          <p:cNvSpPr/>
          <p:nvPr/>
        </p:nvSpPr>
        <p:spPr>
          <a:xfrm>
            <a:off x="9424128" y="1723860"/>
            <a:ext cx="137967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主榜映射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D6B76A5-596A-B353-F0E9-460A843E4C7F}"/>
              </a:ext>
            </a:extLst>
          </p:cNvPr>
          <p:cNvSpPr/>
          <p:nvPr/>
        </p:nvSpPr>
        <p:spPr>
          <a:xfrm>
            <a:off x="6545568" y="1201864"/>
            <a:ext cx="1475486" cy="5013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推荐流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578A5AA-2754-2F26-42E9-063DA206AF82}"/>
              </a:ext>
            </a:extLst>
          </p:cNvPr>
          <p:cNvSpPr txBox="1"/>
          <p:nvPr/>
        </p:nvSpPr>
        <p:spPr>
          <a:xfrm>
            <a:off x="6542636" y="1703198"/>
            <a:ext cx="1475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差异个性</a:t>
            </a:r>
            <a:endParaRPr lang="en-US" altLang="zh-CN" sz="1600" dirty="0">
              <a:effectLst/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77A182D-7394-63A6-8B2A-1526D0AF3864}"/>
              </a:ext>
            </a:extLst>
          </p:cNvPr>
          <p:cNvSpPr txBox="1"/>
          <p:nvPr/>
        </p:nvSpPr>
        <p:spPr>
          <a:xfrm>
            <a:off x="5451578" y="5448760"/>
            <a:ext cx="2068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altLang="zh-CN" sz="1600" dirty="0" err="1">
                <a:effectLst/>
                <a:latin typeface="+mn-ea"/>
              </a:rPr>
              <a:t>LBSx</a:t>
            </a:r>
            <a:r>
              <a:rPr lang="zh-CN" altLang="en-US" sz="1600" dirty="0">
                <a:effectLst/>
                <a:latin typeface="+mn-ea"/>
              </a:rPr>
              <a:t>头部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31257DD-B796-931E-E0FD-549862E31119}"/>
              </a:ext>
            </a:extLst>
          </p:cNvPr>
          <p:cNvSpPr/>
          <p:nvPr/>
        </p:nvSpPr>
        <p:spPr>
          <a:xfrm>
            <a:off x="1670789" y="3257100"/>
            <a:ext cx="1432572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LBSx</a:t>
            </a:r>
            <a:r>
              <a:rPr lang="zh-CN" altLang="en-US" sz="1600" dirty="0">
                <a:solidFill>
                  <a:schemeClr val="tx1"/>
                </a:solidFill>
              </a:rPr>
              <a:t>头部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03EF442-BDD9-1B37-A885-2BCE273456F2}"/>
              </a:ext>
            </a:extLst>
          </p:cNvPr>
          <p:cNvSpPr/>
          <p:nvPr/>
        </p:nvSpPr>
        <p:spPr>
          <a:xfrm>
            <a:off x="3986057" y="3257100"/>
            <a:ext cx="1432572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LBSx</a:t>
            </a:r>
            <a:r>
              <a:rPr lang="zh-CN" altLang="en-US" sz="1600" dirty="0">
                <a:solidFill>
                  <a:schemeClr val="tx1"/>
                </a:solidFill>
              </a:rPr>
              <a:t>头部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6143BC7-F3D4-B0AE-852A-13B47A8DFC05}"/>
              </a:ext>
            </a:extLst>
          </p:cNvPr>
          <p:cNvSpPr txBox="1"/>
          <p:nvPr/>
        </p:nvSpPr>
        <p:spPr>
          <a:xfrm>
            <a:off x="3584430" y="2750379"/>
            <a:ext cx="2256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600" dirty="0">
                <a:latin typeface="+mn-ea"/>
              </a:rPr>
              <a:t>扩充</a:t>
            </a:r>
            <a:r>
              <a:rPr lang="zh-CN" altLang="en-US" sz="1600" dirty="0">
                <a:effectLst/>
                <a:latin typeface="+mn-ea"/>
              </a:rPr>
              <a:t>与我有关的次头部</a:t>
            </a:r>
            <a:endParaRPr lang="en-US" altLang="zh-CN" sz="1600" dirty="0">
              <a:effectLst/>
              <a:latin typeface="+mn-ea"/>
            </a:endParaRPr>
          </a:p>
          <a:p>
            <a:pPr algn="ctr" font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个人行为、用户协同</a:t>
            </a:r>
          </a:p>
        </p:txBody>
      </p:sp>
      <p:sp>
        <p:nvSpPr>
          <p:cNvPr id="53" name="等腰三角形 52">
            <a:extLst>
              <a:ext uri="{FF2B5EF4-FFF2-40B4-BE49-F238E27FC236}">
                <a16:creationId xmlns:a16="http://schemas.microsoft.com/office/drawing/2014/main" id="{E49D1009-BF41-C25E-F2B3-F9FF7D1305BA}"/>
              </a:ext>
            </a:extLst>
          </p:cNvPr>
          <p:cNvSpPr/>
          <p:nvPr/>
        </p:nvSpPr>
        <p:spPr>
          <a:xfrm>
            <a:off x="4257657" y="2234398"/>
            <a:ext cx="898629" cy="29829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D48C6DD-F913-4133-BD1E-79EC54179821}"/>
              </a:ext>
            </a:extLst>
          </p:cNvPr>
          <p:cNvSpPr txBox="1"/>
          <p:nvPr/>
        </p:nvSpPr>
        <p:spPr>
          <a:xfrm>
            <a:off x="4061630" y="2246223"/>
            <a:ext cx="1313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200" dirty="0">
                <a:latin typeface="+mn-ea"/>
              </a:rPr>
              <a:t>规则筛选成榜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56" name="等腰三角形 55">
            <a:extLst>
              <a:ext uri="{FF2B5EF4-FFF2-40B4-BE49-F238E27FC236}">
                <a16:creationId xmlns:a16="http://schemas.microsoft.com/office/drawing/2014/main" id="{F23DF457-E960-E331-E2B1-8F92CBFFED3D}"/>
              </a:ext>
            </a:extLst>
          </p:cNvPr>
          <p:cNvSpPr/>
          <p:nvPr/>
        </p:nvSpPr>
        <p:spPr>
          <a:xfrm>
            <a:off x="1851400" y="2270687"/>
            <a:ext cx="898629" cy="29829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41B581C-51EB-64E8-FE96-218EC52DC32E}"/>
              </a:ext>
            </a:extLst>
          </p:cNvPr>
          <p:cNvSpPr txBox="1"/>
          <p:nvPr/>
        </p:nvSpPr>
        <p:spPr>
          <a:xfrm>
            <a:off x="1655373" y="2282512"/>
            <a:ext cx="1313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200" dirty="0">
                <a:latin typeface="+mn-ea"/>
              </a:rPr>
              <a:t>规则成榜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6CDD681-09DF-C775-89AC-8265B9061066}"/>
              </a:ext>
            </a:extLst>
          </p:cNvPr>
          <p:cNvSpPr/>
          <p:nvPr/>
        </p:nvSpPr>
        <p:spPr>
          <a:xfrm>
            <a:off x="6542636" y="3257100"/>
            <a:ext cx="1475487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LBSx</a:t>
            </a:r>
            <a:r>
              <a:rPr lang="zh-CN" altLang="en-US" sz="1600" dirty="0">
                <a:solidFill>
                  <a:schemeClr val="tx1"/>
                </a:solidFill>
              </a:rPr>
              <a:t>个人相关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9" name="等腰三角形 58">
            <a:extLst>
              <a:ext uri="{FF2B5EF4-FFF2-40B4-BE49-F238E27FC236}">
                <a16:creationId xmlns:a16="http://schemas.microsoft.com/office/drawing/2014/main" id="{2E17E30F-CD71-8622-3111-6CE5040A51B8}"/>
              </a:ext>
            </a:extLst>
          </p:cNvPr>
          <p:cNvSpPr/>
          <p:nvPr/>
        </p:nvSpPr>
        <p:spPr>
          <a:xfrm>
            <a:off x="6835863" y="2226204"/>
            <a:ext cx="898629" cy="29829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1EC5F6D-A8ED-EA38-6415-9C9E3EDB9131}"/>
              </a:ext>
            </a:extLst>
          </p:cNvPr>
          <p:cNvSpPr txBox="1"/>
          <p:nvPr/>
        </p:nvSpPr>
        <p:spPr>
          <a:xfrm>
            <a:off x="6639836" y="2238029"/>
            <a:ext cx="1313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200" dirty="0">
                <a:latin typeface="+mn-ea"/>
              </a:rPr>
              <a:t>算法打分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053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0E0FD4-0266-EE81-7D21-6C6FA7564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712278"/>
              </p:ext>
            </p:extLst>
          </p:nvPr>
        </p:nvGraphicFramePr>
        <p:xfrm>
          <a:off x="5188996" y="-3713929"/>
          <a:ext cx="8750300" cy="2750820"/>
        </p:xfrm>
        <a:graphic>
          <a:graphicData uri="http://schemas.openxmlformats.org/drawingml/2006/table">
            <a:tbl>
              <a:tblPr/>
              <a:tblGrid>
                <a:gridCol w="1115959">
                  <a:extLst>
                    <a:ext uri="{9D8B030D-6E8A-4147-A177-3AD203B41FA5}">
                      <a16:colId xmlns:a16="http://schemas.microsoft.com/office/drawing/2014/main" val="1115712029"/>
                    </a:ext>
                  </a:extLst>
                </a:gridCol>
                <a:gridCol w="3643495">
                  <a:extLst>
                    <a:ext uri="{9D8B030D-6E8A-4147-A177-3AD203B41FA5}">
                      <a16:colId xmlns:a16="http://schemas.microsoft.com/office/drawing/2014/main" val="3292610611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886858965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935372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dirty="0">
                          <a:effectLst/>
                        </a:rPr>
                        <a:t>用户环节及需求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典型用户场景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典型产品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榜单组合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逛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灵感激发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“不知道吃啥，目的不明确，需要被刺激”。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新鲜、探索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推荐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榜单落地页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54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看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信息获取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“这家店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这道菜到底怎么样？详情是否满足我的需求？千万别是广告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照骗。”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丰富、个性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en-US" altLang="zh-CN">
                          <a:effectLst/>
                        </a:rPr>
                        <a:t>POI</a:t>
                      </a:r>
                      <a:r>
                        <a:rPr lang="zh-CN" altLang="en-US">
                          <a:effectLst/>
                        </a:rPr>
                        <a:t>、标签、评价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榜单内资产表达、榜单作为标签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86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比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对比选择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“有很多条件类似的店，优先选哪个？”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效率、可信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搜索、筛选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榜单内筛选，榜单作为标签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快筛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51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到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决策闭环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“想选这家，能确保吃上么？”“有没有优惠？”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确定、准确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预订、排队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榜单履约组合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6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馈</a:t>
                      </a:r>
                      <a:r>
                        <a:rPr lang="en-US" altLang="zh-CN" dirty="0">
                          <a:effectLst/>
                        </a:rPr>
                        <a:t>-</a:t>
                      </a:r>
                      <a:r>
                        <a:rPr lang="zh-CN" altLang="en-US" dirty="0">
                          <a:effectLst/>
                        </a:rPr>
                        <a:t>验证反馈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“这家店值不值？下次还来吗？是否愿意推荐给别人”</a:t>
                      </a:r>
                      <a:r>
                        <a:rPr lang="en-US" altLang="zh-CN" dirty="0">
                          <a:effectLst/>
                        </a:rPr>
                        <a:t>——</a:t>
                      </a:r>
                      <a:r>
                        <a:rPr lang="zh-CN" altLang="en-US" dirty="0">
                          <a:effectLst/>
                        </a:rPr>
                        <a:t>验证、口碑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收藏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榜单好店挖掘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691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D3A097C-18E0-C0F2-849B-BD7521917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609" y="-159"/>
            <a:ext cx="1064225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352B49-BFE3-A40A-D0DE-94AF252C04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88985" y="2701863"/>
            <a:ext cx="670262" cy="6702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C85D2A-07F7-6569-0F9B-B06368C3E15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9406" y="-383778"/>
            <a:ext cx="784203" cy="7842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786976-6D3C-6026-C16D-94A886CF7E4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06703" y="904253"/>
            <a:ext cx="569610" cy="5696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AEB873-A75F-656B-B965-04769E97CB6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56377" y="3196266"/>
            <a:ext cx="670262" cy="6702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8ADFD9-B93A-807F-457D-B17778AF8E6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67606" y="4226573"/>
            <a:ext cx="647804" cy="62589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BD349BA-1BB9-45E5-90EC-DD3148D03AB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56377" y="2026805"/>
            <a:ext cx="670262" cy="670262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718F3B7-4356-4FC3-DD60-4EA78EC20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76078"/>
              </p:ext>
            </p:extLst>
          </p:nvPr>
        </p:nvGraphicFramePr>
        <p:xfrm>
          <a:off x="8606945" y="-1583116"/>
          <a:ext cx="6137908" cy="3204058"/>
        </p:xfrm>
        <a:graphic>
          <a:graphicData uri="http://schemas.openxmlformats.org/drawingml/2006/table">
            <a:tbl>
              <a:tblPr/>
              <a:tblGrid>
                <a:gridCol w="686028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2239814">
                  <a:extLst>
                    <a:ext uri="{9D8B030D-6E8A-4147-A177-3AD203B41FA5}">
                      <a16:colId xmlns:a16="http://schemas.microsoft.com/office/drawing/2014/main" val="4152650195"/>
                    </a:ext>
                  </a:extLst>
                </a:gridCol>
                <a:gridCol w="758720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226673">
                  <a:extLst>
                    <a:ext uri="{9D8B030D-6E8A-4147-A177-3AD203B41FA5}">
                      <a16:colId xmlns:a16="http://schemas.microsoft.com/office/drawing/2014/main" val="962167861"/>
                    </a:ext>
                  </a:extLst>
                </a:gridCol>
                <a:gridCol w="1226673">
                  <a:extLst>
                    <a:ext uri="{9D8B030D-6E8A-4147-A177-3AD203B41FA5}">
                      <a16:colId xmlns:a16="http://schemas.microsoft.com/office/drawing/2014/main" val="856839086"/>
                    </a:ext>
                  </a:extLst>
                </a:gridCol>
              </a:tblGrid>
              <a:tr h="389957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200">
                          <a:effectLst/>
                        </a:rPr>
                        <a:t>用户环节及需求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200">
                          <a:effectLst/>
                        </a:rPr>
                        <a:t>典型用户场景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1200">
                          <a:effectLst/>
                        </a:rPr>
                        <a:t>典型产品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1200">
                          <a:effectLst/>
                        </a:rPr>
                        <a:t>榜单组合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1200">
                          <a:effectLst/>
                        </a:rPr>
                        <a:t>痛点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3899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逛</a:t>
                      </a:r>
                      <a:r>
                        <a:rPr lang="en-US" altLang="zh-CN" sz="1200" dirty="0">
                          <a:effectLst/>
                        </a:rPr>
                        <a:t>-</a:t>
                      </a:r>
                      <a:r>
                        <a:rPr lang="zh-CN" altLang="en-US" sz="1200" dirty="0">
                          <a:effectLst/>
                        </a:rPr>
                        <a:t>灵感激发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“不知道吃啥，目的不明确，需要被刺激”。</a:t>
                      </a:r>
                      <a:r>
                        <a:rPr lang="en-US" altLang="zh-CN" sz="1200" dirty="0">
                          <a:effectLst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</a:rPr>
                        <a:t>新鲜、探索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推荐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榜单落地页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1200">
                          <a:effectLst/>
                        </a:rPr>
                        <a:t>信息过载与选择疲劳，消耗时间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57909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看</a:t>
                      </a:r>
                      <a:r>
                        <a:rPr lang="en-US" altLang="zh-CN" sz="1200" dirty="0">
                          <a:effectLst/>
                        </a:rPr>
                        <a:t>-</a:t>
                      </a:r>
                      <a:r>
                        <a:rPr lang="zh-CN" altLang="en-US" sz="1200" dirty="0">
                          <a:effectLst/>
                        </a:rPr>
                        <a:t>信息获取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“这家店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这道菜到底怎么样？详情是否满足我的需求？千万别是广告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照骗。”</a:t>
                      </a:r>
                      <a:r>
                        <a:rPr lang="en-US" altLang="zh-CN" sz="1200" dirty="0">
                          <a:effectLst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</a:rPr>
                        <a:t>丰富、个性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en-US" altLang="zh-CN" sz="1200">
                          <a:effectLst/>
                        </a:rPr>
                        <a:t>POI</a:t>
                      </a:r>
                      <a:r>
                        <a:rPr lang="zh-CN" altLang="en-US" sz="1200">
                          <a:effectLst/>
                        </a:rPr>
                        <a:t>、标签、评价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榜单内资产表达、榜单作为标签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200" dirty="0">
                        <a:effectLst/>
                      </a:endParaRP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3899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比</a:t>
                      </a:r>
                      <a:r>
                        <a:rPr lang="en-US" altLang="zh-CN" sz="1200" dirty="0">
                          <a:effectLst/>
                        </a:rPr>
                        <a:t>-</a:t>
                      </a:r>
                      <a:r>
                        <a:rPr lang="zh-CN" altLang="en-US" sz="1200" dirty="0">
                          <a:effectLst/>
                        </a:rPr>
                        <a:t>对比选择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“有很多条件类似的店，优先选哪个？”</a:t>
                      </a:r>
                      <a:r>
                        <a:rPr lang="en-US" altLang="zh-CN" sz="1200" dirty="0">
                          <a:effectLst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</a:rPr>
                        <a:t>效率、可信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搜索、筛选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榜单内筛选，榜单作为标签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快筛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1200">
                          <a:effectLst/>
                        </a:rPr>
                        <a:t>公信力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3899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到</a:t>
                      </a:r>
                      <a:r>
                        <a:rPr lang="en-US" altLang="zh-CN" sz="1200" dirty="0">
                          <a:effectLst/>
                        </a:rPr>
                        <a:t>-</a:t>
                      </a:r>
                      <a:r>
                        <a:rPr lang="zh-CN" altLang="en-US" sz="1200" dirty="0">
                          <a:effectLst/>
                        </a:rPr>
                        <a:t>决策闭环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“想选这家，能确保吃上么？”“有没有优惠？”</a:t>
                      </a:r>
                      <a:r>
                        <a:rPr lang="en-US" altLang="zh-CN" sz="1200" dirty="0">
                          <a:effectLst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</a:rPr>
                        <a:t>确定、准确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预订、排队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榜单履约组合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1200">
                          <a:effectLst/>
                        </a:rPr>
                        <a:t>信息不同步、价格不透明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复杂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3899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馈</a:t>
                      </a:r>
                      <a:r>
                        <a:rPr lang="en-US" altLang="zh-CN" sz="1200" dirty="0">
                          <a:effectLst/>
                        </a:rPr>
                        <a:t>-</a:t>
                      </a:r>
                      <a:r>
                        <a:rPr lang="zh-CN" altLang="en-US" sz="1200" dirty="0">
                          <a:effectLst/>
                        </a:rPr>
                        <a:t>验证反馈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 dirty="0">
                          <a:effectLst/>
                        </a:rPr>
                        <a:t>“这家店值不值？下次还来吗？是否愿意推荐给别人”</a:t>
                      </a:r>
                      <a:r>
                        <a:rPr lang="en-US" altLang="zh-CN" sz="1200" dirty="0">
                          <a:effectLst/>
                        </a:rPr>
                        <a:t>——</a:t>
                      </a:r>
                      <a:r>
                        <a:rPr lang="zh-CN" altLang="en-US" sz="1200" dirty="0">
                          <a:effectLst/>
                        </a:rPr>
                        <a:t>验证、口碑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收藏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1200">
                          <a:effectLst/>
                        </a:rPr>
                        <a:t>榜单好店挖掘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1200" dirty="0">
                          <a:effectLst/>
                        </a:rPr>
                        <a:t>决策和验证不一致</a:t>
                      </a:r>
                    </a:p>
                  </a:txBody>
                  <a:tcPr marL="46701" marR="46701" marT="5838" marB="583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DED3EA92-8845-4094-BE2F-E8F188B9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386" y="13799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9A214B-CE38-1648-6ED5-3FEA552245A1}"/>
              </a:ext>
            </a:extLst>
          </p:cNvPr>
          <p:cNvSpPr txBox="1"/>
          <p:nvPr/>
        </p:nvSpPr>
        <p:spPr>
          <a:xfrm>
            <a:off x="857541" y="294290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effectLst/>
                <a:latin typeface="+mn-ea"/>
              </a:rPr>
              <a:t>灵感激发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E8F096-D8BD-3D8F-81AB-02F40760F1DD}"/>
              </a:ext>
            </a:extLst>
          </p:cNvPr>
          <p:cNvSpPr txBox="1"/>
          <p:nvPr/>
        </p:nvSpPr>
        <p:spPr>
          <a:xfrm>
            <a:off x="857541" y="1493928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800" dirty="0">
                <a:effectLst/>
              </a:rPr>
              <a:t>信息获取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CC0A5F-D235-8BEC-D83F-B97B5DDF2D8A}"/>
              </a:ext>
            </a:extLst>
          </p:cNvPr>
          <p:cNvSpPr txBox="1"/>
          <p:nvPr/>
        </p:nvSpPr>
        <p:spPr>
          <a:xfrm>
            <a:off x="857541" y="2643295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800" dirty="0">
                <a:effectLst/>
              </a:rPr>
              <a:t>对比选择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C2E56E-34B4-AFFC-6FC5-2C75787F367C}"/>
              </a:ext>
            </a:extLst>
          </p:cNvPr>
          <p:cNvSpPr txBox="1"/>
          <p:nvPr/>
        </p:nvSpPr>
        <p:spPr>
          <a:xfrm>
            <a:off x="857541" y="3818233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800" dirty="0">
                <a:effectLst/>
              </a:rPr>
              <a:t>决策闭环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525C8B-6CEB-D7B2-46C4-B6C65B574918}"/>
              </a:ext>
            </a:extLst>
          </p:cNvPr>
          <p:cNvSpPr txBox="1"/>
          <p:nvPr/>
        </p:nvSpPr>
        <p:spPr>
          <a:xfrm>
            <a:off x="857541" y="4843184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800" dirty="0">
                <a:effectLst/>
              </a:rPr>
              <a:t>验证反馈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9FD302-71BA-71F8-6065-87D2B85BAC16}"/>
              </a:ext>
            </a:extLst>
          </p:cNvPr>
          <p:cNvSpPr txBox="1"/>
          <p:nvPr/>
        </p:nvSpPr>
        <p:spPr>
          <a:xfrm>
            <a:off x="10870831" y="2750153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latin typeface="+mn-ea"/>
              </a:rPr>
              <a:t>典型用户场景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69D114A-AED3-4135-FB71-D98BCAE07B78}"/>
              </a:ext>
            </a:extLst>
          </p:cNvPr>
          <p:cNvSpPr txBox="1"/>
          <p:nvPr/>
        </p:nvSpPr>
        <p:spPr>
          <a:xfrm>
            <a:off x="2834036" y="-17483"/>
            <a:ext cx="135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</a:rPr>
              <a:t>新鲜、探索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38780B1-CFAC-3A38-EB46-C86F330D4881}"/>
              </a:ext>
            </a:extLst>
          </p:cNvPr>
          <p:cNvSpPr txBox="1"/>
          <p:nvPr/>
        </p:nvSpPr>
        <p:spPr>
          <a:xfrm>
            <a:off x="2834036" y="1190868"/>
            <a:ext cx="135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</a:rPr>
              <a:t>丰富、个性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2366FF1-C641-570C-7536-08BD1D522F47}"/>
              </a:ext>
            </a:extLst>
          </p:cNvPr>
          <p:cNvSpPr txBox="1"/>
          <p:nvPr/>
        </p:nvSpPr>
        <p:spPr>
          <a:xfrm>
            <a:off x="2834036" y="2259977"/>
            <a:ext cx="135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</a:rPr>
              <a:t>效率、可信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8AC3D36-078E-0E19-FFD2-A60E283BB540}"/>
              </a:ext>
            </a:extLst>
          </p:cNvPr>
          <p:cNvSpPr txBox="1"/>
          <p:nvPr/>
        </p:nvSpPr>
        <p:spPr>
          <a:xfrm>
            <a:off x="2834036" y="3386643"/>
            <a:ext cx="135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</a:rPr>
              <a:t>确定、准确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765731-E4E0-83D9-C23C-73B340B4E0CE}"/>
              </a:ext>
            </a:extLst>
          </p:cNvPr>
          <p:cNvSpPr txBox="1"/>
          <p:nvPr/>
        </p:nvSpPr>
        <p:spPr>
          <a:xfrm>
            <a:off x="2834036" y="4412986"/>
            <a:ext cx="135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更新、传播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831155A-C32C-5312-77B7-C3CA44945291}"/>
              </a:ext>
            </a:extLst>
          </p:cNvPr>
          <p:cNvSpPr txBox="1"/>
          <p:nvPr/>
        </p:nvSpPr>
        <p:spPr>
          <a:xfrm>
            <a:off x="11185333" y="3350068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“不知道吃啥，需要被刺激”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A93E40-283F-F7F7-DE95-3F5ADE1335BB}"/>
              </a:ext>
            </a:extLst>
          </p:cNvPr>
          <p:cNvSpPr txBox="1"/>
          <p:nvPr/>
        </p:nvSpPr>
        <p:spPr>
          <a:xfrm>
            <a:off x="11185333" y="4558419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“到底怎么样？是否满足我？”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CA144B4-E939-E925-044A-6BD312CD71C2}"/>
              </a:ext>
            </a:extLst>
          </p:cNvPr>
          <p:cNvSpPr txBox="1"/>
          <p:nvPr/>
        </p:nvSpPr>
        <p:spPr>
          <a:xfrm>
            <a:off x="11228911" y="5581361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200" b="0" i="0" u="none" strike="noStrike" kern="1200" dirty="0">
                <a:solidFill>
                  <a:srgbClr val="000000"/>
                </a:solidFill>
                <a:effectLst/>
                <a:latin typeface="+mn-ea"/>
              </a:rPr>
              <a:t>“有很多，优先选哪个？”</a:t>
            </a:r>
            <a:endParaRPr lang="zh-CN" altLang="zh-CN" sz="1200" b="0" i="0" u="none" strike="noStrike" dirty="0">
              <a:effectLst/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FAC1D6A-F6D6-DE1F-FBDF-E978BC41B296}"/>
              </a:ext>
            </a:extLst>
          </p:cNvPr>
          <p:cNvSpPr txBox="1"/>
          <p:nvPr/>
        </p:nvSpPr>
        <p:spPr>
          <a:xfrm>
            <a:off x="11185333" y="672567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“想选这家，能确保吃上么？”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622911F-50D8-1CDB-D92D-6723DF7554EE}"/>
              </a:ext>
            </a:extLst>
          </p:cNvPr>
          <p:cNvSpPr txBox="1"/>
          <p:nvPr/>
        </p:nvSpPr>
        <p:spPr>
          <a:xfrm>
            <a:off x="11228911" y="7823846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“下次还来吗？是否推荐给别人”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73E5F7-CD8B-E7A7-223A-A85617A3F3E2}"/>
              </a:ext>
            </a:extLst>
          </p:cNvPr>
          <p:cNvSpPr txBox="1"/>
          <p:nvPr/>
        </p:nvSpPr>
        <p:spPr>
          <a:xfrm>
            <a:off x="2726348" y="-617481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latin typeface="+mn-ea"/>
              </a:rPr>
              <a:t>核心诉求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7041982-44C8-1944-74BB-353136615016}"/>
              </a:ext>
            </a:extLst>
          </p:cNvPr>
          <p:cNvSpPr txBox="1"/>
          <p:nvPr/>
        </p:nvSpPr>
        <p:spPr>
          <a:xfrm>
            <a:off x="4584811" y="-596716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latin typeface="+mn-ea"/>
              </a:rPr>
              <a:t>典型产品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419159C-23C1-71E3-7BC8-CC9DE365301E}"/>
              </a:ext>
            </a:extLst>
          </p:cNvPr>
          <p:cNvSpPr txBox="1"/>
          <p:nvPr/>
        </p:nvSpPr>
        <p:spPr>
          <a:xfrm>
            <a:off x="4735343" y="-27556"/>
            <a:ext cx="135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</a:rPr>
              <a:t>推荐流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1DA7B26-16E8-E906-1DA9-6E0A7E80ECF4}"/>
              </a:ext>
            </a:extLst>
          </p:cNvPr>
          <p:cNvSpPr txBox="1"/>
          <p:nvPr/>
        </p:nvSpPr>
        <p:spPr>
          <a:xfrm>
            <a:off x="4420455" y="1182155"/>
            <a:ext cx="196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effectLst/>
              </a:rPr>
              <a:t>POI</a:t>
            </a:r>
            <a:r>
              <a:rPr lang="zh-CN" altLang="en-US" sz="1800" dirty="0">
                <a:effectLst/>
              </a:rPr>
              <a:t>、标签、评价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33F2BA9-0AB9-A23C-A7E1-7B705EF05139}"/>
              </a:ext>
            </a:extLst>
          </p:cNvPr>
          <p:cNvSpPr txBox="1"/>
          <p:nvPr/>
        </p:nvSpPr>
        <p:spPr>
          <a:xfrm>
            <a:off x="4427477" y="2227393"/>
            <a:ext cx="196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搜索、筛选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556EDE7-DB80-29FA-9072-3E09D613302A}"/>
              </a:ext>
            </a:extLst>
          </p:cNvPr>
          <p:cNvSpPr txBox="1"/>
          <p:nvPr/>
        </p:nvSpPr>
        <p:spPr>
          <a:xfrm>
            <a:off x="4438544" y="3404289"/>
            <a:ext cx="196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预订、排队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02BE40E-1A2A-30B8-7B9E-C4A2F5F126A8}"/>
              </a:ext>
            </a:extLst>
          </p:cNvPr>
          <p:cNvSpPr txBox="1"/>
          <p:nvPr/>
        </p:nvSpPr>
        <p:spPr>
          <a:xfrm>
            <a:off x="4420455" y="4412986"/>
            <a:ext cx="196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收藏</a:t>
            </a: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4BDA1D71-B185-9A6D-E4A6-15899B400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82110"/>
              </p:ext>
            </p:extLst>
          </p:nvPr>
        </p:nvGraphicFramePr>
        <p:xfrm>
          <a:off x="1702342" y="225834"/>
          <a:ext cx="8760190" cy="4572918"/>
        </p:xfrm>
        <a:graphic>
          <a:graphicData uri="http://schemas.openxmlformats.org/drawingml/2006/table">
            <a:tbl>
              <a:tblPr/>
              <a:tblGrid>
                <a:gridCol w="979118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3196724">
                  <a:extLst>
                    <a:ext uri="{9D8B030D-6E8A-4147-A177-3AD203B41FA5}">
                      <a16:colId xmlns:a16="http://schemas.microsoft.com/office/drawing/2014/main" val="4152650195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750741">
                  <a:extLst>
                    <a:ext uri="{9D8B030D-6E8A-4147-A177-3AD203B41FA5}">
                      <a16:colId xmlns:a16="http://schemas.microsoft.com/office/drawing/2014/main" val="962167861"/>
                    </a:ext>
                  </a:extLst>
                </a:gridCol>
                <a:gridCol w="1750741">
                  <a:extLst>
                    <a:ext uri="{9D8B030D-6E8A-4147-A177-3AD203B41FA5}">
                      <a16:colId xmlns:a16="http://schemas.microsoft.com/office/drawing/2014/main" val="856839086"/>
                    </a:ext>
                  </a:extLst>
                </a:gridCol>
              </a:tblGrid>
              <a:tr h="799698"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556557"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1060710"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556557"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799698"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799698"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endParaRPr lang="zh-CN" altLang="en-US" sz="170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44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4AAE74E-3A0D-14D0-3244-F23C2B54B944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>
            <a:off x="4706805" y="2772691"/>
            <a:ext cx="0" cy="1416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0E0FD4-0266-EE81-7D21-6C6FA75645A1}"/>
              </a:ext>
            </a:extLst>
          </p:cNvPr>
          <p:cNvGraphicFramePr>
            <a:graphicFrameLocks noGrp="1"/>
          </p:cNvGraphicFramePr>
          <p:nvPr/>
        </p:nvGraphicFramePr>
        <p:xfrm>
          <a:off x="5188996" y="-3713929"/>
          <a:ext cx="8750300" cy="2750820"/>
        </p:xfrm>
        <a:graphic>
          <a:graphicData uri="http://schemas.openxmlformats.org/drawingml/2006/table">
            <a:tbl>
              <a:tblPr/>
              <a:tblGrid>
                <a:gridCol w="1115959">
                  <a:extLst>
                    <a:ext uri="{9D8B030D-6E8A-4147-A177-3AD203B41FA5}">
                      <a16:colId xmlns:a16="http://schemas.microsoft.com/office/drawing/2014/main" val="1115712029"/>
                    </a:ext>
                  </a:extLst>
                </a:gridCol>
                <a:gridCol w="3643495">
                  <a:extLst>
                    <a:ext uri="{9D8B030D-6E8A-4147-A177-3AD203B41FA5}">
                      <a16:colId xmlns:a16="http://schemas.microsoft.com/office/drawing/2014/main" val="3292610611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886858965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935372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用户环节及需求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典型用户场景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典型产品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榜单组合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逛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灵感激发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“不知道吃啥，目的不明确，需要被刺激”。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新鲜、探索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推荐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榜单落地页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54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看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信息获取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“这家店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这道菜到底怎么样？详情是否满足我的需求？千万别是广告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照骗。”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丰富、个性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en-US" altLang="zh-CN">
                          <a:effectLst/>
                        </a:rPr>
                        <a:t>POI</a:t>
                      </a:r>
                      <a:r>
                        <a:rPr lang="zh-CN" altLang="en-US">
                          <a:effectLst/>
                        </a:rPr>
                        <a:t>、标签、评价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榜单内资产表达、榜单作为标签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86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比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对比选择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“有很多条件类似的店，优先选哪个？”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效率、可信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搜索、筛选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榜单内筛选，榜单作为标签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快筛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51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到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决策闭环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“想选这家，能确保吃上么？”“有没有优惠？”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确定、准确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预订、排队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榜单履约组合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6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馈</a:t>
                      </a:r>
                      <a:r>
                        <a:rPr lang="en-US" altLang="zh-CN" dirty="0">
                          <a:effectLst/>
                        </a:rPr>
                        <a:t>-</a:t>
                      </a:r>
                      <a:r>
                        <a:rPr lang="zh-CN" altLang="en-US" dirty="0">
                          <a:effectLst/>
                        </a:rPr>
                        <a:t>验证反馈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“这家店值不值？下次还来吗？是否愿意推荐给别人”</a:t>
                      </a:r>
                      <a:r>
                        <a:rPr lang="en-US" altLang="zh-CN" dirty="0">
                          <a:effectLst/>
                        </a:rPr>
                        <a:t>——</a:t>
                      </a:r>
                      <a:r>
                        <a:rPr lang="zh-CN" altLang="en-US" dirty="0">
                          <a:effectLst/>
                        </a:rPr>
                        <a:t>验证、口碑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收藏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榜单好店挖掘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691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83352B49-BFE3-A40A-D0DE-94AF252C04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433785" y="307005"/>
            <a:ext cx="670262" cy="6702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C85D2A-07F7-6569-0F9B-B06368C3E15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71425" y="1545607"/>
            <a:ext cx="569610" cy="5696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786976-6D3C-6026-C16D-94A886CF7E4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94783" y="2285308"/>
            <a:ext cx="416326" cy="4163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AEB873-A75F-656B-B965-04769E97CB6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3515259"/>
            <a:ext cx="501275" cy="5012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8ADFD9-B93A-807F-457D-B17778AF8E6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13748" y="4114140"/>
            <a:ext cx="454257" cy="4388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BD349BA-1BB9-45E5-90EC-DD3148D03AB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2882206"/>
            <a:ext cx="501274" cy="501274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DED3EA92-8845-4094-BE2F-E8F188B9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386" y="13799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9FD302-71BA-71F8-6065-87D2B85BAC16}"/>
              </a:ext>
            </a:extLst>
          </p:cNvPr>
          <p:cNvSpPr txBox="1"/>
          <p:nvPr/>
        </p:nvSpPr>
        <p:spPr>
          <a:xfrm>
            <a:off x="12554488" y="-629789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latin typeface="+mn-ea"/>
              </a:rPr>
              <a:t>典型用户场景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831155A-C32C-5312-77B7-C3CA44945291}"/>
              </a:ext>
            </a:extLst>
          </p:cNvPr>
          <p:cNvSpPr txBox="1"/>
          <p:nvPr/>
        </p:nvSpPr>
        <p:spPr>
          <a:xfrm>
            <a:off x="12868990" y="-2987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“不知道吃啥，需要被刺激”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A93E40-283F-F7F7-DE95-3F5ADE1335BB}"/>
              </a:ext>
            </a:extLst>
          </p:cNvPr>
          <p:cNvSpPr txBox="1"/>
          <p:nvPr/>
        </p:nvSpPr>
        <p:spPr>
          <a:xfrm>
            <a:off x="12868990" y="1178477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“到底怎么样？是否满足我？”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CA144B4-E939-E925-044A-6BD312CD71C2}"/>
              </a:ext>
            </a:extLst>
          </p:cNvPr>
          <p:cNvSpPr txBox="1"/>
          <p:nvPr/>
        </p:nvSpPr>
        <p:spPr>
          <a:xfrm>
            <a:off x="12912568" y="2201419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200" b="0" i="0" u="none" strike="noStrike" kern="1200" dirty="0">
                <a:solidFill>
                  <a:srgbClr val="000000"/>
                </a:solidFill>
                <a:effectLst/>
                <a:latin typeface="+mn-ea"/>
              </a:rPr>
              <a:t>“有很多，优先选哪个？”</a:t>
            </a:r>
            <a:endParaRPr lang="zh-CN" altLang="zh-CN" sz="1200" b="0" i="0" u="none" strike="noStrike" dirty="0">
              <a:effectLst/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FAC1D6A-F6D6-DE1F-FBDF-E978BC41B296}"/>
              </a:ext>
            </a:extLst>
          </p:cNvPr>
          <p:cNvSpPr txBox="1"/>
          <p:nvPr/>
        </p:nvSpPr>
        <p:spPr>
          <a:xfrm>
            <a:off x="12868990" y="3345732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“想选这家，能确保吃上么？”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622911F-50D8-1CDB-D92D-6723DF7554EE}"/>
              </a:ext>
            </a:extLst>
          </p:cNvPr>
          <p:cNvSpPr txBox="1"/>
          <p:nvPr/>
        </p:nvSpPr>
        <p:spPr>
          <a:xfrm>
            <a:off x="12912568" y="444390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“下次还来吗？是否推荐给别人”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73E5F7-CD8B-E7A7-223A-A85617A3F3E2}"/>
              </a:ext>
            </a:extLst>
          </p:cNvPr>
          <p:cNvSpPr txBox="1"/>
          <p:nvPr/>
        </p:nvSpPr>
        <p:spPr>
          <a:xfrm>
            <a:off x="2726348" y="-617481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7041982-44C8-1944-74BB-353136615016}"/>
              </a:ext>
            </a:extLst>
          </p:cNvPr>
          <p:cNvSpPr txBox="1"/>
          <p:nvPr/>
        </p:nvSpPr>
        <p:spPr>
          <a:xfrm>
            <a:off x="4584811" y="-596716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4BDA1D71-B185-9A6D-E4A6-15899B400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716992"/>
              </p:ext>
            </p:extLst>
          </p:nvPr>
        </p:nvGraphicFramePr>
        <p:xfrm>
          <a:off x="-274906" y="862534"/>
          <a:ext cx="10542855" cy="3842497"/>
        </p:xfrm>
        <a:graphic>
          <a:graphicData uri="http://schemas.openxmlformats.org/drawingml/2006/table">
            <a:tbl>
              <a:tblPr/>
              <a:tblGrid>
                <a:gridCol w="1148053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8605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250906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5410669"/>
                    </a:ext>
                  </a:extLst>
                </a:gridCol>
                <a:gridCol w="1274916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  <a:gridCol w="2284368">
                  <a:extLst>
                    <a:ext uri="{9D8B030D-6E8A-4147-A177-3AD203B41FA5}">
                      <a16:colId xmlns:a16="http://schemas.microsoft.com/office/drawing/2014/main" val="1148278393"/>
                    </a:ext>
                  </a:extLst>
                </a:gridCol>
                <a:gridCol w="1352506">
                  <a:extLst>
                    <a:ext uri="{9D8B030D-6E8A-4147-A177-3AD203B41FA5}">
                      <a16:colId xmlns:a16="http://schemas.microsoft.com/office/drawing/2014/main" val="20005840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对话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榜单原有价值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其它排名门店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44002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上榜原因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搜索、筛选、</a:t>
                      </a:r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榜单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榜单列表</a:t>
                      </a:r>
                      <a:r>
                        <a:rPr lang="en-US" altLang="zh-CN" sz="16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产品组合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收藏、评价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分享复访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F231433-4C5A-028B-AFAF-3FF590639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205358"/>
              </p:ext>
            </p:extLst>
          </p:nvPr>
        </p:nvGraphicFramePr>
        <p:xfrm>
          <a:off x="-9713210" y="2873666"/>
          <a:ext cx="8272595" cy="3838194"/>
        </p:xfrm>
        <a:graphic>
          <a:graphicData uri="http://schemas.openxmlformats.org/drawingml/2006/table">
            <a:tbl>
              <a:tblPr/>
              <a:tblGrid>
                <a:gridCol w="1587804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758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962167861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856839086"/>
                    </a:ext>
                  </a:extLst>
                </a:gridCol>
                <a:gridCol w="1611273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榜单体验（内）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榜单组合（外）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D+/MT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榜单资产表达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榜单筛选、标签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好店挖掘、异常剔除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77EDEBBF-0CBF-AC9B-AE8B-D31FD2148692}"/>
              </a:ext>
            </a:extLst>
          </p:cNvPr>
          <p:cNvSpPr/>
          <p:nvPr/>
        </p:nvSpPr>
        <p:spPr>
          <a:xfrm>
            <a:off x="2779650" y="1667384"/>
            <a:ext cx="1120925" cy="1002667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推短视频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055783-C06F-B776-FE9F-1885FB123A38}"/>
              </a:ext>
            </a:extLst>
          </p:cNvPr>
          <p:cNvSpPr/>
          <p:nvPr/>
        </p:nvSpPr>
        <p:spPr>
          <a:xfrm>
            <a:off x="2779650" y="3560674"/>
            <a:ext cx="1120925" cy="50127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优惠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784CC56-5363-7C3D-1114-FB6EE33DF3B2}"/>
              </a:ext>
            </a:extLst>
          </p:cNvPr>
          <p:cNvCxnSpPr/>
          <p:nvPr/>
        </p:nvCxnSpPr>
        <p:spPr>
          <a:xfrm>
            <a:off x="3323304" y="2811697"/>
            <a:ext cx="0" cy="636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1C41A0C-6843-09CF-029D-361D9D8E2F3A}"/>
              </a:ext>
            </a:extLst>
          </p:cNvPr>
          <p:cNvSpPr/>
          <p:nvPr/>
        </p:nvSpPr>
        <p:spPr>
          <a:xfrm>
            <a:off x="4102104" y="227135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POI</a:t>
            </a:r>
            <a:r>
              <a:rPr lang="zh-CN" altLang="en-US" sz="1600" dirty="0">
                <a:solidFill>
                  <a:schemeClr val="tx1"/>
                </a:solidFill>
              </a:rPr>
              <a:t>、看评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0DB2C26-D559-CE8B-A78A-BCDD97874D61}"/>
              </a:ext>
            </a:extLst>
          </p:cNvPr>
          <p:cNvSpPr/>
          <p:nvPr/>
        </p:nvSpPr>
        <p:spPr>
          <a:xfrm>
            <a:off x="4102105" y="2923822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搜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榜列表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93F12C5-C929-6875-86C7-722F8B6FF537}"/>
              </a:ext>
            </a:extLst>
          </p:cNvPr>
          <p:cNvSpPr/>
          <p:nvPr/>
        </p:nvSpPr>
        <p:spPr>
          <a:xfrm>
            <a:off x="4102105" y="355738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交履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73B7179-7FCA-73B7-E5E0-A8CDFAE87A57}"/>
              </a:ext>
            </a:extLst>
          </p:cNvPr>
          <p:cNvSpPr/>
          <p:nvPr/>
        </p:nvSpPr>
        <p:spPr>
          <a:xfrm>
            <a:off x="4102104" y="4188724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写评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56A2E59-6521-04A0-009D-B8BFCEFAED4E}"/>
              </a:ext>
            </a:extLst>
          </p:cNvPr>
          <p:cNvSpPr/>
          <p:nvPr/>
        </p:nvSpPr>
        <p:spPr>
          <a:xfrm>
            <a:off x="5444895" y="1701789"/>
            <a:ext cx="1120925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环节压缩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56F3037-436B-8BDE-4B13-10BDF34E3018}"/>
              </a:ext>
            </a:extLst>
          </p:cNvPr>
          <p:cNvCxnSpPr>
            <a:cxnSpLocks/>
          </p:cNvCxnSpPr>
          <p:nvPr/>
        </p:nvCxnSpPr>
        <p:spPr>
          <a:xfrm>
            <a:off x="6792757" y="879495"/>
            <a:ext cx="0" cy="40387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C9BDE866-267D-D316-0B20-425A89C5D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306008"/>
              </p:ext>
            </p:extLst>
          </p:nvPr>
        </p:nvGraphicFramePr>
        <p:xfrm>
          <a:off x="10578585" y="5302900"/>
          <a:ext cx="8658048" cy="3838194"/>
        </p:xfrm>
        <a:graphic>
          <a:graphicData uri="http://schemas.openxmlformats.org/drawingml/2006/table">
            <a:tbl>
              <a:tblPr/>
              <a:tblGrid>
                <a:gridCol w="1250405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2266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2346737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525113">
                  <a:extLst>
                    <a:ext uri="{9D8B030D-6E8A-4147-A177-3AD203B41FA5}">
                      <a16:colId xmlns:a16="http://schemas.microsoft.com/office/drawing/2014/main" val="510373423"/>
                    </a:ext>
                  </a:extLst>
                </a:gridCol>
                <a:gridCol w="1268887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传统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决策入口：可优化动作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榜单页改造（内）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动线前置触达（外）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资产表达强化（内）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榜单标签展示（外）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搜、筛榜单标签（外）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异常剔除（内）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优化分享、召回（外）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6026AC7-EAC0-ADA8-48CF-384FBF9BBA3B}"/>
              </a:ext>
            </a:extLst>
          </p:cNvPr>
          <p:cNvSpPr/>
          <p:nvPr/>
        </p:nvSpPr>
        <p:spPr>
          <a:xfrm>
            <a:off x="8987365" y="1701789"/>
            <a:ext cx="1209401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决策入口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⬇️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信任引用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EFBE1D69-1C24-B128-73AC-EE9895707806}"/>
              </a:ext>
            </a:extLst>
          </p:cNvPr>
          <p:cNvSpPr/>
          <p:nvPr/>
        </p:nvSpPr>
        <p:spPr>
          <a:xfrm>
            <a:off x="15404748" y="6821134"/>
            <a:ext cx="336885" cy="2747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5059656-75B4-355A-7E46-5315D42AD43E}"/>
              </a:ext>
            </a:extLst>
          </p:cNvPr>
          <p:cNvCxnSpPr>
            <a:cxnSpLocks/>
          </p:cNvCxnSpPr>
          <p:nvPr/>
        </p:nvCxnSpPr>
        <p:spPr>
          <a:xfrm>
            <a:off x="10709788" y="5155827"/>
            <a:ext cx="0" cy="370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287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0E0FD4-0266-EE81-7D21-6C6FA75645A1}"/>
              </a:ext>
            </a:extLst>
          </p:cNvPr>
          <p:cNvGraphicFramePr>
            <a:graphicFrameLocks noGrp="1"/>
          </p:cNvGraphicFramePr>
          <p:nvPr/>
        </p:nvGraphicFramePr>
        <p:xfrm>
          <a:off x="5188996" y="-3713929"/>
          <a:ext cx="8750300" cy="2750820"/>
        </p:xfrm>
        <a:graphic>
          <a:graphicData uri="http://schemas.openxmlformats.org/drawingml/2006/table">
            <a:tbl>
              <a:tblPr/>
              <a:tblGrid>
                <a:gridCol w="1115959">
                  <a:extLst>
                    <a:ext uri="{9D8B030D-6E8A-4147-A177-3AD203B41FA5}">
                      <a16:colId xmlns:a16="http://schemas.microsoft.com/office/drawing/2014/main" val="1115712029"/>
                    </a:ext>
                  </a:extLst>
                </a:gridCol>
                <a:gridCol w="3643495">
                  <a:extLst>
                    <a:ext uri="{9D8B030D-6E8A-4147-A177-3AD203B41FA5}">
                      <a16:colId xmlns:a16="http://schemas.microsoft.com/office/drawing/2014/main" val="3292610611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886858965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935372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dirty="0">
                          <a:effectLst/>
                        </a:rPr>
                        <a:t>用户环节及需求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典型用户场景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典型产品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榜单组合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逛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灵感激发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“不知道吃啥，目的不明确，需要被刺激”。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新鲜、探索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推荐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榜单落地页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54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看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信息获取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“这家店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这道菜到底怎么样？详情是否满足我的需求？千万别是广告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照骗。”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丰富、个性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en-US" altLang="zh-CN">
                          <a:effectLst/>
                        </a:rPr>
                        <a:t>POI</a:t>
                      </a:r>
                      <a:r>
                        <a:rPr lang="zh-CN" altLang="en-US">
                          <a:effectLst/>
                        </a:rPr>
                        <a:t>、标签、评价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榜单内资产表达、榜单作为标签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86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比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对比选择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“有很多条件类似的店，优先选哪个？”</a:t>
                      </a:r>
                      <a:r>
                        <a:rPr lang="en-US" altLang="zh-CN" dirty="0">
                          <a:effectLst/>
                        </a:rPr>
                        <a:t>——</a:t>
                      </a:r>
                      <a:r>
                        <a:rPr lang="zh-CN" altLang="en-US" dirty="0">
                          <a:effectLst/>
                        </a:rPr>
                        <a:t>效率、可信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搜索、筛选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榜单内筛选，榜单作为标签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快筛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51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到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决策闭环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“想选这家，能确保吃上么？”“有没有优惠？”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确定、准确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预订、排队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榜单履约组合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6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馈</a:t>
                      </a:r>
                      <a:r>
                        <a:rPr lang="en-US" altLang="zh-CN" dirty="0">
                          <a:effectLst/>
                        </a:rPr>
                        <a:t>-</a:t>
                      </a:r>
                      <a:r>
                        <a:rPr lang="zh-CN" altLang="en-US" dirty="0">
                          <a:effectLst/>
                        </a:rPr>
                        <a:t>验证反馈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“这家店值不值？下次还来吗？是否愿意推荐给别人”</a:t>
                      </a:r>
                      <a:r>
                        <a:rPr lang="en-US" altLang="zh-CN" dirty="0">
                          <a:effectLst/>
                        </a:rPr>
                        <a:t>——</a:t>
                      </a:r>
                      <a:r>
                        <a:rPr lang="zh-CN" altLang="en-US" dirty="0">
                          <a:effectLst/>
                        </a:rPr>
                        <a:t>验证、口碑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收藏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榜单好店挖掘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691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D3A097C-18E0-C0F2-849B-BD7521917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609" y="-159"/>
            <a:ext cx="1064225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C85D2A-07F7-6569-0F9B-B06368C3E15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0219" y="1419249"/>
            <a:ext cx="569610" cy="5696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786976-6D3C-6026-C16D-94A886CF7E4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6861" y="2158950"/>
            <a:ext cx="416326" cy="4163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AEB873-A75F-656B-B965-04769E97CB6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4387" y="3388901"/>
            <a:ext cx="501275" cy="5012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8ADFD9-B93A-807F-457D-B17778AF8E6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7896" y="3987782"/>
            <a:ext cx="454257" cy="4388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BD349BA-1BB9-45E5-90EC-DD3148D03AB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4387" y="2755848"/>
            <a:ext cx="501274" cy="501274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8673E5F7-CD8B-E7A7-223A-A85617A3F3E2}"/>
              </a:ext>
            </a:extLst>
          </p:cNvPr>
          <p:cNvSpPr txBox="1"/>
          <p:nvPr/>
        </p:nvSpPr>
        <p:spPr>
          <a:xfrm>
            <a:off x="2726348" y="-617481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7041982-44C8-1944-74BB-353136615016}"/>
              </a:ext>
            </a:extLst>
          </p:cNvPr>
          <p:cNvSpPr txBox="1"/>
          <p:nvPr/>
        </p:nvSpPr>
        <p:spPr>
          <a:xfrm>
            <a:off x="4584811" y="-596716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4BDA1D71-B185-9A6D-E4A6-15899B400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414567"/>
              </p:ext>
            </p:extLst>
          </p:nvPr>
        </p:nvGraphicFramePr>
        <p:xfrm>
          <a:off x="689152" y="735566"/>
          <a:ext cx="8658048" cy="3838194"/>
        </p:xfrm>
        <a:graphic>
          <a:graphicData uri="http://schemas.openxmlformats.org/drawingml/2006/table">
            <a:tbl>
              <a:tblPr/>
              <a:tblGrid>
                <a:gridCol w="1250405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2266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2346737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525113">
                  <a:extLst>
                    <a:ext uri="{9D8B030D-6E8A-4147-A177-3AD203B41FA5}">
                      <a16:colId xmlns:a16="http://schemas.microsoft.com/office/drawing/2014/main" val="510373423"/>
                    </a:ext>
                  </a:extLst>
                </a:gridCol>
                <a:gridCol w="1268887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传统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决策入口：可优化动作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看高排名、其他榜门店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榜单页改造（内）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动线前置触达（外）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看上榜原因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资产表达强化（内）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榜单标签展示（外）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通过排名、筛选对比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搜、筛榜单标签（外）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产品组合</a:t>
                      </a:r>
                      <a:r>
                        <a:rPr lang="en-US" altLang="zh-CN" sz="16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看榜转化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分享、复访榜单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异常剔除（内）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优化分享、召回（外）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F231433-4C5A-028B-AFAF-3FF590639DE4}"/>
              </a:ext>
            </a:extLst>
          </p:cNvPr>
          <p:cNvGraphicFramePr>
            <a:graphicFrameLocks noGrp="1"/>
          </p:cNvGraphicFramePr>
          <p:nvPr/>
        </p:nvGraphicFramePr>
        <p:xfrm>
          <a:off x="-8787541" y="4348759"/>
          <a:ext cx="8272595" cy="3838194"/>
        </p:xfrm>
        <a:graphic>
          <a:graphicData uri="http://schemas.openxmlformats.org/drawingml/2006/table">
            <a:tbl>
              <a:tblPr/>
              <a:tblGrid>
                <a:gridCol w="1587804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758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962167861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856839086"/>
                    </a:ext>
                  </a:extLst>
                </a:gridCol>
                <a:gridCol w="1611273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榜单体验（内）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榜单组合（外）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D+/MT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榜单资产表达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榜单筛选、标签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好店挖掘、异常剔除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56A2E59-6521-04A0-009D-B8BFCEFAED4E}"/>
              </a:ext>
            </a:extLst>
          </p:cNvPr>
          <p:cNvSpPr/>
          <p:nvPr/>
        </p:nvSpPr>
        <p:spPr>
          <a:xfrm>
            <a:off x="7808995" y="1450213"/>
            <a:ext cx="1209401" cy="31121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决策入口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⬇️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品牌引用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D0679C35-069C-01AF-E12A-B6FCF9443E97}"/>
              </a:ext>
            </a:extLst>
          </p:cNvPr>
          <p:cNvSpPr/>
          <p:nvPr/>
        </p:nvSpPr>
        <p:spPr>
          <a:xfrm>
            <a:off x="6659190" y="2521870"/>
            <a:ext cx="336885" cy="2747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C281F6-4DB1-BCC3-DD63-FC03F452B18E}"/>
              </a:ext>
            </a:extLst>
          </p:cNvPr>
          <p:cNvCxnSpPr>
            <a:cxnSpLocks/>
          </p:cNvCxnSpPr>
          <p:nvPr/>
        </p:nvCxnSpPr>
        <p:spPr>
          <a:xfrm>
            <a:off x="1964230" y="856563"/>
            <a:ext cx="0" cy="370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070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A187DF81-E258-67DE-70C7-630C64BD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32009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行业榜单需求覆盖分析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39A05-2F39-3D9D-9AF0-5D3BCD2EE168}"/>
              </a:ext>
            </a:extLst>
          </p:cNvPr>
          <p:cNvSpPr/>
          <p:nvPr/>
        </p:nvSpPr>
        <p:spPr>
          <a:xfrm>
            <a:off x="928236" y="910821"/>
            <a:ext cx="7042423" cy="37855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F4010-0465-CAD3-6609-EBEB903758CD}"/>
              </a:ext>
            </a:extLst>
          </p:cNvPr>
          <p:cNvSpPr txBox="1"/>
          <p:nvPr/>
        </p:nvSpPr>
        <p:spPr>
          <a:xfrm>
            <a:off x="568335" y="464083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尊重、审美、认知（如尝鲜）需求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98184E-CA29-BA40-E3C8-EABC8F21DFFA}"/>
              </a:ext>
            </a:extLst>
          </p:cNvPr>
          <p:cNvSpPr txBox="1"/>
          <p:nvPr/>
        </p:nvSpPr>
        <p:spPr>
          <a:xfrm>
            <a:off x="3390566" y="459322"/>
            <a:ext cx="18259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社交、情感与归属需求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DB24E3-9990-75BA-B544-830E9F15585B}"/>
              </a:ext>
            </a:extLst>
          </p:cNvPr>
          <p:cNvSpPr txBox="1"/>
          <p:nvPr/>
        </p:nvSpPr>
        <p:spPr>
          <a:xfrm>
            <a:off x="5502515" y="453767"/>
            <a:ext cx="13630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功能需求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09DE7B-9554-ED9F-5DCA-0654073F3D58}"/>
              </a:ext>
            </a:extLst>
          </p:cNvPr>
          <p:cNvSpPr txBox="1"/>
          <p:nvPr/>
        </p:nvSpPr>
        <p:spPr>
          <a:xfrm>
            <a:off x="2936442" y="668168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情侣约会、亲朋聚会、工作宴请、亲子等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7B6808-46AF-EC3D-B1E1-3A985F1C26B0}"/>
              </a:ext>
            </a:extLst>
          </p:cNvPr>
          <p:cNvSpPr txBox="1"/>
          <p:nvPr/>
        </p:nvSpPr>
        <p:spPr>
          <a:xfrm>
            <a:off x="708618" y="654218"/>
            <a:ext cx="266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旅游、漂亮饭等氛围餐厅、时令等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7005BE-C6EB-BCFB-CBF4-B647BCE45349}"/>
              </a:ext>
            </a:extLst>
          </p:cNvPr>
          <p:cNvSpPr txBox="1"/>
          <p:nvPr/>
        </p:nvSpPr>
        <p:spPr>
          <a:xfrm>
            <a:off x="5209877" y="648785"/>
            <a:ext cx="19482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品类、口味等</a:t>
            </a:r>
          </a:p>
        </p:txBody>
      </p:sp>
      <p:sp>
        <p:nvSpPr>
          <p:cNvPr id="28" name="矩形: 圆角 21">
            <a:extLst>
              <a:ext uri="{FF2B5EF4-FFF2-40B4-BE49-F238E27FC236}">
                <a16:creationId xmlns:a16="http://schemas.microsoft.com/office/drawing/2014/main" id="{776A4F49-D489-7B54-253C-40D90A8E9284}"/>
              </a:ext>
            </a:extLst>
          </p:cNvPr>
          <p:cNvSpPr/>
          <p:nvPr/>
        </p:nvSpPr>
        <p:spPr>
          <a:xfrm>
            <a:off x="4883895" y="957989"/>
            <a:ext cx="2274258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3" name="矩形: 圆角 21">
            <a:extLst>
              <a:ext uri="{FF2B5EF4-FFF2-40B4-BE49-F238E27FC236}">
                <a16:creationId xmlns:a16="http://schemas.microsoft.com/office/drawing/2014/main" id="{F6466A6D-3F62-C95F-4089-7B93F26E4E4F}"/>
              </a:ext>
            </a:extLst>
          </p:cNvPr>
          <p:cNvSpPr/>
          <p:nvPr/>
        </p:nvSpPr>
        <p:spPr>
          <a:xfrm>
            <a:off x="1059365" y="957989"/>
            <a:ext cx="3824529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0" name="矩形: 圆角 21">
            <a:extLst>
              <a:ext uri="{FF2B5EF4-FFF2-40B4-BE49-F238E27FC236}">
                <a16:creationId xmlns:a16="http://schemas.microsoft.com/office/drawing/2014/main" id="{537EA026-27E4-5E50-5F7D-6A040F841640}"/>
              </a:ext>
            </a:extLst>
          </p:cNvPr>
          <p:cNvSpPr/>
          <p:nvPr/>
        </p:nvSpPr>
        <p:spPr>
          <a:xfrm>
            <a:off x="4943596" y="1017854"/>
            <a:ext cx="1127093" cy="872653"/>
          </a:xfrm>
          <a:prstGeom prst="roundRect">
            <a:avLst>
              <a:gd name="adj" fmla="val 2424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人气榜、好评榜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3" name="矩形: 圆角 21">
            <a:extLst>
              <a:ext uri="{FF2B5EF4-FFF2-40B4-BE49-F238E27FC236}">
                <a16:creationId xmlns:a16="http://schemas.microsoft.com/office/drawing/2014/main" id="{33B98819-095F-D685-5F85-D8C71D373B94}"/>
              </a:ext>
            </a:extLst>
          </p:cNvPr>
          <p:cNvSpPr/>
          <p:nvPr/>
        </p:nvSpPr>
        <p:spPr>
          <a:xfrm>
            <a:off x="4969096" y="1915680"/>
            <a:ext cx="1999450" cy="890115"/>
          </a:xfrm>
          <a:prstGeom prst="roundRect">
            <a:avLst>
              <a:gd name="adj" fmla="val 1850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销量榜、好评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口味等榜、热门榜、打卡人气榜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4" name="矩形: 圆角 21">
            <a:extLst>
              <a:ext uri="{FF2B5EF4-FFF2-40B4-BE49-F238E27FC236}">
                <a16:creationId xmlns:a16="http://schemas.microsoft.com/office/drawing/2014/main" id="{FE7B4779-4340-5BAD-B64C-295EE7B6A17B}"/>
              </a:ext>
            </a:extLst>
          </p:cNvPr>
          <p:cNvSpPr/>
          <p:nvPr/>
        </p:nvSpPr>
        <p:spPr>
          <a:xfrm>
            <a:off x="4933839" y="2848199"/>
            <a:ext cx="2034707" cy="893506"/>
          </a:xfrm>
          <a:prstGeom prst="roundRect">
            <a:avLst>
              <a:gd name="adj" fmla="val 2526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热销、回头客榜、好评榜、人气榜、收藏榜、点亮榜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5" name="矩形: 圆角 21">
            <a:extLst>
              <a:ext uri="{FF2B5EF4-FFF2-40B4-BE49-F238E27FC236}">
                <a16:creationId xmlns:a16="http://schemas.microsoft.com/office/drawing/2014/main" id="{B2040DC1-119E-13C2-3571-BF2DEA7C7CB7}"/>
              </a:ext>
            </a:extLst>
          </p:cNvPr>
          <p:cNvSpPr/>
          <p:nvPr/>
        </p:nvSpPr>
        <p:spPr>
          <a:xfrm>
            <a:off x="1194143" y="4195033"/>
            <a:ext cx="1663098" cy="4256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烟火小店、本地人爱去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6" name="矩形: 圆角 21">
            <a:extLst>
              <a:ext uri="{FF2B5EF4-FFF2-40B4-BE49-F238E27FC236}">
                <a16:creationId xmlns:a16="http://schemas.microsoft.com/office/drawing/2014/main" id="{8F07F32E-A959-0EE5-B7AE-4546BEA7F881}"/>
              </a:ext>
            </a:extLst>
          </p:cNvPr>
          <p:cNvSpPr/>
          <p:nvPr/>
        </p:nvSpPr>
        <p:spPr>
          <a:xfrm>
            <a:off x="1168956" y="2374835"/>
            <a:ext cx="1703804" cy="4309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当地人推荐、烟火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老店榜等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8" name="矩形: 圆角 21">
            <a:extLst>
              <a:ext uri="{FF2B5EF4-FFF2-40B4-BE49-F238E27FC236}">
                <a16:creationId xmlns:a16="http://schemas.microsoft.com/office/drawing/2014/main" id="{3FB46306-640F-DAB5-471D-34592AE5021D}"/>
              </a:ext>
            </a:extLst>
          </p:cNvPr>
          <p:cNvSpPr/>
          <p:nvPr/>
        </p:nvSpPr>
        <p:spPr>
          <a:xfrm>
            <a:off x="1194144" y="1416484"/>
            <a:ext cx="872329" cy="4274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</a:t>
            </a:r>
            <a:endParaRPr lang="en-US" altLang="zh-CN" sz="900" dirty="0">
              <a:solidFill>
                <a:schemeClr val="accent5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61" name="矩形: 圆角 21">
            <a:extLst>
              <a:ext uri="{FF2B5EF4-FFF2-40B4-BE49-F238E27FC236}">
                <a16:creationId xmlns:a16="http://schemas.microsoft.com/office/drawing/2014/main" id="{10C10CC4-17AB-08D4-F1F5-B8F21579599F}"/>
              </a:ext>
            </a:extLst>
          </p:cNvPr>
          <p:cNvSpPr/>
          <p:nvPr/>
        </p:nvSpPr>
        <p:spPr>
          <a:xfrm>
            <a:off x="1194143" y="3275539"/>
            <a:ext cx="1680561" cy="4661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烟火榜、本地人推荐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25Q4-26Q1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新增，仅高线）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3" name="矩形: 圆角 21">
            <a:extLst>
              <a:ext uri="{FF2B5EF4-FFF2-40B4-BE49-F238E27FC236}">
                <a16:creationId xmlns:a16="http://schemas.microsoft.com/office/drawing/2014/main" id="{9326DC1B-14C7-7A53-69E8-8E700B49103C}"/>
              </a:ext>
            </a:extLst>
          </p:cNvPr>
          <p:cNvSpPr/>
          <p:nvPr/>
        </p:nvSpPr>
        <p:spPr>
          <a:xfrm>
            <a:off x="4943596" y="3790267"/>
            <a:ext cx="2024950" cy="83046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轮胎磨损、回头客榜（多次前往）、热门榜</a:t>
            </a:r>
            <a:endParaRPr lang="en-US" altLang="zh-CN" sz="900" dirty="0">
              <a:solidFill>
                <a:srgbClr val="FF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A34AA70-28EB-2CD9-A768-ED377EE3D674}"/>
              </a:ext>
            </a:extLst>
          </p:cNvPr>
          <p:cNvSpPr txBox="1"/>
          <p:nvPr/>
        </p:nvSpPr>
        <p:spPr>
          <a:xfrm>
            <a:off x="4852377" y="4724119"/>
            <a:ext cx="20131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用户行为指数入围排序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DB072CD-99F7-DA82-BADA-ACE105F4FABA}"/>
              </a:ext>
            </a:extLst>
          </p:cNvPr>
          <p:cNvSpPr txBox="1"/>
          <p:nvPr/>
        </p:nvSpPr>
        <p:spPr>
          <a:xfrm>
            <a:off x="1266670" y="4732629"/>
            <a:ext cx="31439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主题场景相关性</a:t>
            </a:r>
            <a:r>
              <a:rPr lang="en-US" altLang="zh-CN" sz="900" dirty="0">
                <a:solidFill>
                  <a:schemeClr val="accent5"/>
                </a:solidFill>
                <a:latin typeface="+mn-ea"/>
              </a:rPr>
              <a:t>+</a:t>
            </a:r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用户行为综合入围排序</a:t>
            </a:r>
          </a:p>
        </p:txBody>
      </p:sp>
      <p:sp>
        <p:nvSpPr>
          <p:cNvPr id="224" name="矩形: 圆角 21">
            <a:extLst>
              <a:ext uri="{FF2B5EF4-FFF2-40B4-BE49-F238E27FC236}">
                <a16:creationId xmlns:a16="http://schemas.microsoft.com/office/drawing/2014/main" id="{E73C804F-B1A2-6F4A-6C90-02887C0549C7}"/>
              </a:ext>
            </a:extLst>
          </p:cNvPr>
          <p:cNvSpPr/>
          <p:nvPr/>
        </p:nvSpPr>
        <p:spPr>
          <a:xfrm>
            <a:off x="2927606" y="1017854"/>
            <a:ext cx="1696954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约会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聚会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亲子榜等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4" name="矩形: 圆角 21">
            <a:extLst>
              <a:ext uri="{FF2B5EF4-FFF2-40B4-BE49-F238E27FC236}">
                <a16:creationId xmlns:a16="http://schemas.microsoft.com/office/drawing/2014/main" id="{78AE23BE-11B0-B356-16CD-A1BFE64FEB3E}"/>
              </a:ext>
            </a:extLst>
          </p:cNvPr>
          <p:cNvSpPr/>
          <p:nvPr/>
        </p:nvSpPr>
        <p:spPr>
          <a:xfrm>
            <a:off x="2936442" y="3796320"/>
            <a:ext cx="1695057" cy="8350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主题餐厅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9" name="矩形: 圆角 21">
            <a:extLst>
              <a:ext uri="{FF2B5EF4-FFF2-40B4-BE49-F238E27FC236}">
                <a16:creationId xmlns:a16="http://schemas.microsoft.com/office/drawing/2014/main" id="{CE605E40-3CFC-BAA3-4C39-0430795ECB17}"/>
              </a:ext>
            </a:extLst>
          </p:cNvPr>
          <p:cNvSpPr/>
          <p:nvPr/>
        </p:nvSpPr>
        <p:spPr>
          <a:xfrm>
            <a:off x="1194143" y="3823646"/>
            <a:ext cx="1663098" cy="3647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食仙榜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1" name="矩形: 圆角 21">
            <a:extLst>
              <a:ext uri="{FF2B5EF4-FFF2-40B4-BE49-F238E27FC236}">
                <a16:creationId xmlns:a16="http://schemas.microsoft.com/office/drawing/2014/main" id="{CC4ACFEC-7F55-BBFC-AD87-3E20AE93E342}"/>
              </a:ext>
            </a:extLst>
          </p:cNvPr>
          <p:cNvSpPr/>
          <p:nvPr/>
        </p:nvSpPr>
        <p:spPr>
          <a:xfrm>
            <a:off x="2936443" y="1898504"/>
            <a:ext cx="1696954" cy="9072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城市生活指南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6" name="矩形: 圆角 21">
            <a:extLst>
              <a:ext uri="{FF2B5EF4-FFF2-40B4-BE49-F238E27FC236}">
                <a16:creationId xmlns:a16="http://schemas.microsoft.com/office/drawing/2014/main" id="{0A4D2ADB-7CF8-C7A8-6A22-55603AA9B1B4}"/>
              </a:ext>
            </a:extLst>
          </p:cNvPr>
          <p:cNvSpPr/>
          <p:nvPr/>
        </p:nvSpPr>
        <p:spPr>
          <a:xfrm>
            <a:off x="1173341" y="1906441"/>
            <a:ext cx="1703804" cy="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特色菜、特色美食榜等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8" name="矩形: 圆角 10">
            <a:extLst>
              <a:ext uri="{FF2B5EF4-FFF2-40B4-BE49-F238E27FC236}">
                <a16:creationId xmlns:a16="http://schemas.microsoft.com/office/drawing/2014/main" id="{8D5337B8-8086-B058-FA1A-D0D5BD2BBF0D}"/>
              </a:ext>
            </a:extLst>
          </p:cNvPr>
          <p:cNvSpPr/>
          <p:nvPr/>
        </p:nvSpPr>
        <p:spPr>
          <a:xfrm>
            <a:off x="448709" y="960531"/>
            <a:ext cx="429581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美团</a:t>
            </a:r>
          </a:p>
        </p:txBody>
      </p:sp>
      <p:sp>
        <p:nvSpPr>
          <p:cNvPr id="19" name="矩形: 圆角 13">
            <a:extLst>
              <a:ext uri="{FF2B5EF4-FFF2-40B4-BE49-F238E27FC236}">
                <a16:creationId xmlns:a16="http://schemas.microsoft.com/office/drawing/2014/main" id="{2E266E46-74C2-5925-0215-30E2D262F423}"/>
              </a:ext>
            </a:extLst>
          </p:cNvPr>
          <p:cNvSpPr/>
          <p:nvPr/>
        </p:nvSpPr>
        <p:spPr>
          <a:xfrm>
            <a:off x="448218" y="1905794"/>
            <a:ext cx="429581" cy="90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点评</a:t>
            </a:r>
          </a:p>
        </p:txBody>
      </p:sp>
      <p:sp>
        <p:nvSpPr>
          <p:cNvPr id="25" name="矩形: 圆角 14">
            <a:extLst>
              <a:ext uri="{FF2B5EF4-FFF2-40B4-BE49-F238E27FC236}">
                <a16:creationId xmlns:a16="http://schemas.microsoft.com/office/drawing/2014/main" id="{1E96AE16-69D0-AB30-C22E-C829342B5CCF}"/>
              </a:ext>
            </a:extLst>
          </p:cNvPr>
          <p:cNvSpPr/>
          <p:nvPr/>
        </p:nvSpPr>
        <p:spPr>
          <a:xfrm>
            <a:off x="451523" y="2851057"/>
            <a:ext cx="413872" cy="90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D+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: 圆角 14">
            <a:extLst>
              <a:ext uri="{FF2B5EF4-FFF2-40B4-BE49-F238E27FC236}">
                <a16:creationId xmlns:a16="http://schemas.microsoft.com/office/drawing/2014/main" id="{DA8AD9CC-AA9E-D4BA-6690-C38EAED648CE}"/>
              </a:ext>
            </a:extLst>
          </p:cNvPr>
          <p:cNvSpPr/>
          <p:nvPr/>
        </p:nvSpPr>
        <p:spPr>
          <a:xfrm>
            <a:off x="461605" y="3796320"/>
            <a:ext cx="403790" cy="90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B+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: 圆角 21">
            <a:extLst>
              <a:ext uri="{FF2B5EF4-FFF2-40B4-BE49-F238E27FC236}">
                <a16:creationId xmlns:a16="http://schemas.microsoft.com/office/drawing/2014/main" id="{EFD36EFC-AE48-E024-AF83-28FD9D1177D6}"/>
              </a:ext>
            </a:extLst>
          </p:cNvPr>
          <p:cNvSpPr/>
          <p:nvPr/>
        </p:nvSpPr>
        <p:spPr>
          <a:xfrm>
            <a:off x="1194145" y="1017854"/>
            <a:ext cx="1675660" cy="3728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1" name="矩形: 圆角 21">
            <a:extLst>
              <a:ext uri="{FF2B5EF4-FFF2-40B4-BE49-F238E27FC236}">
                <a16:creationId xmlns:a16="http://schemas.microsoft.com/office/drawing/2014/main" id="{24C13260-1858-7E13-2B48-CC82E9E7F109}"/>
              </a:ext>
            </a:extLst>
          </p:cNvPr>
          <p:cNvSpPr/>
          <p:nvPr/>
        </p:nvSpPr>
        <p:spPr>
          <a:xfrm>
            <a:off x="2116418" y="1422714"/>
            <a:ext cx="740823" cy="43597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烟火榜等</a:t>
            </a:r>
            <a:endParaRPr lang="en-US" altLang="zh-CN" sz="900" dirty="0">
              <a:solidFill>
                <a:srgbClr val="C0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5" name="矩形: 圆角 21">
            <a:extLst>
              <a:ext uri="{FF2B5EF4-FFF2-40B4-BE49-F238E27FC236}">
                <a16:creationId xmlns:a16="http://schemas.microsoft.com/office/drawing/2014/main" id="{BA5DF595-EA94-0F7A-BE1B-523A38BFB0AA}"/>
              </a:ext>
            </a:extLst>
          </p:cNvPr>
          <p:cNvSpPr/>
          <p:nvPr/>
        </p:nvSpPr>
        <p:spPr>
          <a:xfrm>
            <a:off x="6130389" y="1049668"/>
            <a:ext cx="838157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回头客榜等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38" name="矩形: 圆角 21">
            <a:extLst>
              <a:ext uri="{FF2B5EF4-FFF2-40B4-BE49-F238E27FC236}">
                <a16:creationId xmlns:a16="http://schemas.microsoft.com/office/drawing/2014/main" id="{A7A7B102-3A76-786F-ACE2-06C4EBECCCC0}"/>
              </a:ext>
            </a:extLst>
          </p:cNvPr>
          <p:cNvSpPr/>
          <p:nvPr/>
        </p:nvSpPr>
        <p:spPr>
          <a:xfrm>
            <a:off x="7155553" y="957377"/>
            <a:ext cx="760825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A2A012-A1A9-E772-E6A1-B76DEEFA23A8}"/>
              </a:ext>
            </a:extLst>
          </p:cNvPr>
          <p:cNvSpPr txBox="1"/>
          <p:nvPr/>
        </p:nvSpPr>
        <p:spPr>
          <a:xfrm>
            <a:off x="6983431" y="4732629"/>
            <a:ext cx="10391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荣誉评审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FA55B88-297A-7E2E-A6B2-23A0766D3EB0}"/>
              </a:ext>
            </a:extLst>
          </p:cNvPr>
          <p:cNvSpPr txBox="1"/>
          <p:nvPr/>
        </p:nvSpPr>
        <p:spPr>
          <a:xfrm>
            <a:off x="7189380" y="442658"/>
            <a:ext cx="72699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综合需求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9" name="矩形: 圆角 21">
            <a:extLst>
              <a:ext uri="{FF2B5EF4-FFF2-40B4-BE49-F238E27FC236}">
                <a16:creationId xmlns:a16="http://schemas.microsoft.com/office/drawing/2014/main" id="{72C4B27C-25E2-8703-0273-69D5843DF3C9}"/>
              </a:ext>
            </a:extLst>
          </p:cNvPr>
          <p:cNvSpPr/>
          <p:nvPr/>
        </p:nvSpPr>
        <p:spPr>
          <a:xfrm>
            <a:off x="7201183" y="1054743"/>
            <a:ext cx="630649" cy="83576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黑珍珠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0" name="矩形: 圆角 21">
            <a:extLst>
              <a:ext uri="{FF2B5EF4-FFF2-40B4-BE49-F238E27FC236}">
                <a16:creationId xmlns:a16="http://schemas.microsoft.com/office/drawing/2014/main" id="{7F60CD27-BA34-4BA3-0789-07AB3CD7818E}"/>
              </a:ext>
            </a:extLst>
          </p:cNvPr>
          <p:cNvSpPr/>
          <p:nvPr/>
        </p:nvSpPr>
        <p:spPr>
          <a:xfrm>
            <a:off x="7209118" y="1924734"/>
            <a:ext cx="625846" cy="88105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必吃榜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1" name="矩形: 圆角 21">
            <a:extLst>
              <a:ext uri="{FF2B5EF4-FFF2-40B4-BE49-F238E27FC236}">
                <a16:creationId xmlns:a16="http://schemas.microsoft.com/office/drawing/2014/main" id="{C9703710-8C8C-1171-0D28-DD474C64D59E}"/>
              </a:ext>
            </a:extLst>
          </p:cNvPr>
          <p:cNvSpPr/>
          <p:nvPr/>
        </p:nvSpPr>
        <p:spPr>
          <a:xfrm>
            <a:off x="7222063" y="2845702"/>
            <a:ext cx="618010" cy="89600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甄选榜、心动榜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2" name="矩形: 圆角 21">
            <a:extLst>
              <a:ext uri="{FF2B5EF4-FFF2-40B4-BE49-F238E27FC236}">
                <a16:creationId xmlns:a16="http://schemas.microsoft.com/office/drawing/2014/main" id="{5C7B06AF-4AC5-711F-D295-D84FA06DA232}"/>
              </a:ext>
            </a:extLst>
          </p:cNvPr>
          <p:cNvSpPr/>
          <p:nvPr/>
        </p:nvSpPr>
        <p:spPr>
          <a:xfrm>
            <a:off x="7219694" y="3796320"/>
            <a:ext cx="618010" cy="8350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状元榜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3425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A187DF81-E258-67DE-70C7-630C64BD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32009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行业榜单需求覆盖分析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39A05-2F39-3D9D-9AF0-5D3BCD2EE168}"/>
              </a:ext>
            </a:extLst>
          </p:cNvPr>
          <p:cNvSpPr/>
          <p:nvPr/>
        </p:nvSpPr>
        <p:spPr>
          <a:xfrm>
            <a:off x="928237" y="910821"/>
            <a:ext cx="4055244" cy="37855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F4010-0465-CAD3-6609-EBEB903758CD}"/>
              </a:ext>
            </a:extLst>
          </p:cNvPr>
          <p:cNvSpPr txBox="1"/>
          <p:nvPr/>
        </p:nvSpPr>
        <p:spPr>
          <a:xfrm>
            <a:off x="568335" y="464083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尊重、审美、认知（如尝鲜）需求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98184E-CA29-BA40-E3C8-EABC8F21DFFA}"/>
              </a:ext>
            </a:extLst>
          </p:cNvPr>
          <p:cNvSpPr txBox="1"/>
          <p:nvPr/>
        </p:nvSpPr>
        <p:spPr>
          <a:xfrm>
            <a:off x="3390566" y="459322"/>
            <a:ext cx="18259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社交、情感与归属需求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09DE7B-9554-ED9F-5DCA-0654073F3D58}"/>
              </a:ext>
            </a:extLst>
          </p:cNvPr>
          <p:cNvSpPr txBox="1"/>
          <p:nvPr/>
        </p:nvSpPr>
        <p:spPr>
          <a:xfrm>
            <a:off x="2936442" y="668168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情侣约会、亲朋聚会、工作宴请、亲子等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7B6808-46AF-EC3D-B1E1-3A985F1C26B0}"/>
              </a:ext>
            </a:extLst>
          </p:cNvPr>
          <p:cNvSpPr txBox="1"/>
          <p:nvPr/>
        </p:nvSpPr>
        <p:spPr>
          <a:xfrm>
            <a:off x="708618" y="654218"/>
            <a:ext cx="266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旅游、漂亮饭等氛围餐厅、时令等</a:t>
            </a:r>
          </a:p>
        </p:txBody>
      </p:sp>
      <p:sp>
        <p:nvSpPr>
          <p:cNvPr id="33" name="矩形: 圆角 21">
            <a:extLst>
              <a:ext uri="{FF2B5EF4-FFF2-40B4-BE49-F238E27FC236}">
                <a16:creationId xmlns:a16="http://schemas.microsoft.com/office/drawing/2014/main" id="{F6466A6D-3F62-C95F-4089-7B93F26E4E4F}"/>
              </a:ext>
            </a:extLst>
          </p:cNvPr>
          <p:cNvSpPr/>
          <p:nvPr/>
        </p:nvSpPr>
        <p:spPr>
          <a:xfrm>
            <a:off x="1059365" y="957989"/>
            <a:ext cx="3824529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6" name="矩形: 圆角 21">
            <a:extLst>
              <a:ext uri="{FF2B5EF4-FFF2-40B4-BE49-F238E27FC236}">
                <a16:creationId xmlns:a16="http://schemas.microsoft.com/office/drawing/2014/main" id="{8F07F32E-A959-0EE5-B7AE-4546BEA7F881}"/>
              </a:ext>
            </a:extLst>
          </p:cNvPr>
          <p:cNvSpPr/>
          <p:nvPr/>
        </p:nvSpPr>
        <p:spPr>
          <a:xfrm>
            <a:off x="1168956" y="2374835"/>
            <a:ext cx="1703804" cy="4309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当地人推荐、烟火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老店榜等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8" name="矩形: 圆角 21">
            <a:extLst>
              <a:ext uri="{FF2B5EF4-FFF2-40B4-BE49-F238E27FC236}">
                <a16:creationId xmlns:a16="http://schemas.microsoft.com/office/drawing/2014/main" id="{3FB46306-640F-DAB5-471D-34592AE5021D}"/>
              </a:ext>
            </a:extLst>
          </p:cNvPr>
          <p:cNvSpPr/>
          <p:nvPr/>
        </p:nvSpPr>
        <p:spPr>
          <a:xfrm>
            <a:off x="1194144" y="1416484"/>
            <a:ext cx="872329" cy="4274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</a:t>
            </a:r>
            <a:endParaRPr lang="en-US" altLang="zh-CN" sz="900" dirty="0">
              <a:solidFill>
                <a:schemeClr val="accent5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A34AA70-28EB-2CD9-A768-ED377EE3D674}"/>
              </a:ext>
            </a:extLst>
          </p:cNvPr>
          <p:cNvSpPr txBox="1"/>
          <p:nvPr/>
        </p:nvSpPr>
        <p:spPr>
          <a:xfrm>
            <a:off x="4852377" y="4724119"/>
            <a:ext cx="20131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用户行为指数入围排序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DB072CD-99F7-DA82-BADA-ACE105F4FABA}"/>
              </a:ext>
            </a:extLst>
          </p:cNvPr>
          <p:cNvSpPr txBox="1"/>
          <p:nvPr/>
        </p:nvSpPr>
        <p:spPr>
          <a:xfrm>
            <a:off x="1266670" y="4732629"/>
            <a:ext cx="31439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主题场景相关性</a:t>
            </a:r>
            <a:r>
              <a:rPr lang="en-US" altLang="zh-CN" sz="900" dirty="0">
                <a:solidFill>
                  <a:schemeClr val="accent5"/>
                </a:solidFill>
                <a:latin typeface="+mn-ea"/>
              </a:rPr>
              <a:t>+</a:t>
            </a:r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用户行为综合入围排序</a:t>
            </a:r>
          </a:p>
        </p:txBody>
      </p:sp>
      <p:sp>
        <p:nvSpPr>
          <p:cNvPr id="224" name="矩形: 圆角 21">
            <a:extLst>
              <a:ext uri="{FF2B5EF4-FFF2-40B4-BE49-F238E27FC236}">
                <a16:creationId xmlns:a16="http://schemas.microsoft.com/office/drawing/2014/main" id="{E73C804F-B1A2-6F4A-6C90-02887C0549C7}"/>
              </a:ext>
            </a:extLst>
          </p:cNvPr>
          <p:cNvSpPr/>
          <p:nvPr/>
        </p:nvSpPr>
        <p:spPr>
          <a:xfrm>
            <a:off x="2927606" y="1017854"/>
            <a:ext cx="1696954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约会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聚会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亲子榜等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11" name="矩形: 圆角 21">
            <a:extLst>
              <a:ext uri="{FF2B5EF4-FFF2-40B4-BE49-F238E27FC236}">
                <a16:creationId xmlns:a16="http://schemas.microsoft.com/office/drawing/2014/main" id="{CC4ACFEC-7F55-BBFC-AD87-3E20AE93E342}"/>
              </a:ext>
            </a:extLst>
          </p:cNvPr>
          <p:cNvSpPr/>
          <p:nvPr/>
        </p:nvSpPr>
        <p:spPr>
          <a:xfrm>
            <a:off x="2936443" y="1898504"/>
            <a:ext cx="1696954" cy="9072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城市生活指南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6" name="矩形: 圆角 21">
            <a:extLst>
              <a:ext uri="{FF2B5EF4-FFF2-40B4-BE49-F238E27FC236}">
                <a16:creationId xmlns:a16="http://schemas.microsoft.com/office/drawing/2014/main" id="{0A4D2ADB-7CF8-C7A8-6A22-55603AA9B1B4}"/>
              </a:ext>
            </a:extLst>
          </p:cNvPr>
          <p:cNvSpPr/>
          <p:nvPr/>
        </p:nvSpPr>
        <p:spPr>
          <a:xfrm>
            <a:off x="1173341" y="1906441"/>
            <a:ext cx="1703804" cy="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特色菜、特色美食榜等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8" name="矩形: 圆角 10">
            <a:extLst>
              <a:ext uri="{FF2B5EF4-FFF2-40B4-BE49-F238E27FC236}">
                <a16:creationId xmlns:a16="http://schemas.microsoft.com/office/drawing/2014/main" id="{8D5337B8-8086-B058-FA1A-D0D5BD2BBF0D}"/>
              </a:ext>
            </a:extLst>
          </p:cNvPr>
          <p:cNvSpPr/>
          <p:nvPr/>
        </p:nvSpPr>
        <p:spPr>
          <a:xfrm>
            <a:off x="448709" y="960531"/>
            <a:ext cx="429581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美团</a:t>
            </a:r>
          </a:p>
        </p:txBody>
      </p:sp>
      <p:sp>
        <p:nvSpPr>
          <p:cNvPr id="19" name="矩形: 圆角 13">
            <a:extLst>
              <a:ext uri="{FF2B5EF4-FFF2-40B4-BE49-F238E27FC236}">
                <a16:creationId xmlns:a16="http://schemas.microsoft.com/office/drawing/2014/main" id="{2E266E46-74C2-5925-0215-30E2D262F423}"/>
              </a:ext>
            </a:extLst>
          </p:cNvPr>
          <p:cNvSpPr/>
          <p:nvPr/>
        </p:nvSpPr>
        <p:spPr>
          <a:xfrm>
            <a:off x="448218" y="1905794"/>
            <a:ext cx="429581" cy="90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点评</a:t>
            </a:r>
          </a:p>
        </p:txBody>
      </p:sp>
      <p:sp>
        <p:nvSpPr>
          <p:cNvPr id="30" name="矩形: 圆角 21">
            <a:extLst>
              <a:ext uri="{FF2B5EF4-FFF2-40B4-BE49-F238E27FC236}">
                <a16:creationId xmlns:a16="http://schemas.microsoft.com/office/drawing/2014/main" id="{EFD36EFC-AE48-E024-AF83-28FD9D1177D6}"/>
              </a:ext>
            </a:extLst>
          </p:cNvPr>
          <p:cNvSpPr/>
          <p:nvPr/>
        </p:nvSpPr>
        <p:spPr>
          <a:xfrm>
            <a:off x="1194145" y="1017854"/>
            <a:ext cx="1675660" cy="3728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1" name="矩形: 圆角 21">
            <a:extLst>
              <a:ext uri="{FF2B5EF4-FFF2-40B4-BE49-F238E27FC236}">
                <a16:creationId xmlns:a16="http://schemas.microsoft.com/office/drawing/2014/main" id="{24C13260-1858-7E13-2B48-CC82E9E7F109}"/>
              </a:ext>
            </a:extLst>
          </p:cNvPr>
          <p:cNvSpPr/>
          <p:nvPr/>
        </p:nvSpPr>
        <p:spPr>
          <a:xfrm>
            <a:off x="2116418" y="1422714"/>
            <a:ext cx="740823" cy="43597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烟火榜等</a:t>
            </a:r>
            <a:endParaRPr lang="en-US" altLang="zh-CN" sz="900" dirty="0">
              <a:solidFill>
                <a:srgbClr val="C00000"/>
              </a:solidFill>
              <a:latin typeface="+mn-ea"/>
              <a:sym typeface="MiSans Bold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19984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AC65BDD-0C88-3B48-01D7-79A2E5FC6FC2}"/>
              </a:ext>
            </a:extLst>
          </p:cNvPr>
          <p:cNvSpPr txBox="1">
            <a:spLocks/>
          </p:cNvSpPr>
          <p:nvPr/>
        </p:nvSpPr>
        <p:spPr>
          <a:xfrm>
            <a:off x="9255539" y="9966668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上面层有一定的个性化部分，比如好不好吃，坚守本味</a:t>
            </a:r>
            <a:r>
              <a:rPr lang="en-US" altLang="zh-CN" dirty="0"/>
              <a:t>/</a:t>
            </a:r>
            <a:r>
              <a:rPr lang="zh-CN" altLang="en-US" dirty="0"/>
              <a:t>融入改良，价格带，那些亮点吸引人等</a:t>
            </a:r>
            <a:endParaRPr lang="en-US" altLang="zh-CN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F3DC46-7B9E-9EC3-902B-CBDA8C832AA1}"/>
              </a:ext>
            </a:extLst>
          </p:cNvPr>
          <p:cNvSpPr txBox="1"/>
          <p:nvPr/>
        </p:nvSpPr>
        <p:spPr>
          <a:xfrm>
            <a:off x="-6478362" y="165872"/>
            <a:ext cx="4876800" cy="1837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条件一：该场景的评价维度与通用品质榜有实质性差异。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如果一个场景下的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跟通用意义上的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是同一件事，那么用通用品质榜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标签筛选就够了，不需要独立评选。但如果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的定义不一样，通用榜的排序就是错的，必须单独评。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氛围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私密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仪式感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口味，权重分配跟通用品质榜（口味为王）完全不同。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旅游打卡：好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地道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值得专程去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口味。跟通用品质榜差异不大（必吃榜本身就偏好地道小店），但有一个独特维度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，即一个外地人在这个城市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不可替代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的体验。**部分满足。**但必吃榜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2025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年异地用户占比已超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50%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（来源：</a:t>
            </a:r>
            <a:r>
              <a:rPr lang="zh-CN" altLang="en-US" b="0" i="0" u="sng" dirty="0">
                <a:solidFill>
                  <a:srgbClr val="0285FF"/>
                </a:solidFill>
                <a:effectLst/>
                <a:latin typeface="-apple-system"/>
                <a:hlinkClick r:id="rId6"/>
              </a:rPr>
              <a:t>新华网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），说明必吃榜已经在事实上承担这个功能。所以旅游打卡可能不需要独立榜单，但需要必吃榜在评选中更显式地纳入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维度。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夜宵：好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深夜还能吃到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出品稳定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烟火气。跟通用品质榜的差异主要是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深夜营业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这个功能性条件，品质判断本身差异不大。**不满足。**夜宵的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跟白天的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没有本质区别，只是多了个营业时间过滤。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出片：好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视觉颜值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上镜效果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摆盘精致，跟口味弱相关。评价维度完全不同。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下午茶：好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环境舒适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甜品精致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适合坐着聊天。跟正餐的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有差异（正餐重口味，下午茶重环境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甜品），但差异程度不如约会那么大。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边界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case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条件二：该场景的决策频率和需求规模支撑独立榜单的运营成本。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做一个独立品牌榜单是有成本的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需要独立的评选逻辑、品牌建设、用户认知教育。如果一个场景一年只发生一两次，覆盖的用户群太窄，独立建榜的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ROI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不成立。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约会相关的高仪式性决策（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520/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七夕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纪念日）：全国范围看，这类节日消费需求巨大。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2024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年七夕当天，大众点评上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约会餐厅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搜索量较平日增长显著（具体倍数缺乏数据，推测）。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规模可能满足。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出片：小红书上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相关笔记超过百万篇（推测，未验证具体数据），说明需求真实存在且规模不小。但这个需求的主场不在美团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点评，用户更习惯在内容平台上找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规模可能满足，但供给端不在自己平台。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下午茶：这个品类在大众点评上已有独立分类，搜索量应该不低，但下午茶决策的仪式性通常不高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很多时候就是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找个地方坐坐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，不需要榜单级别的品质承诺。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规模可能满足，但仪式性不满足。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条件三：现有产品无法通过简单叠加来满足该场景需求。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第二层品质甄选榜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场景标签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就能很好地解决，就不需要独立榜单。只有当叠加方案在用户感知上显著不如独立榜单时，才值得投入。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这个条件的判断标准其实就是你说的那个直觉：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用户在这个场景下是否强烈需要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告诉我第一名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的代理决策？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约会（高仪式性）：是的。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那天用户不想在品质甄选榜里筛约会标签然后自己比较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他想要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"520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TOP 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，直接订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夜宵：通常不是。大多数夜宵决策是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附近什么还开着、评分还行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，排行榜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营业时间筛选就够了。**不满足。**但你提到的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夜宵人气榜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其实可以作为第三层排行榜的一个固定筛选视图存在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不需要独立品牌，但可以作为排行榜的常驻入口之一。</a:t>
            </a: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09640592-C3D9-5ACF-14CA-261E2129C2B9}"/>
              </a:ext>
            </a:extLst>
          </p:cNvPr>
          <p:cNvSpPr/>
          <p:nvPr/>
        </p:nvSpPr>
        <p:spPr>
          <a:xfrm>
            <a:off x="-431619" y="354724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899E61-230F-3751-709B-2B27FD396B92}"/>
              </a:ext>
            </a:extLst>
          </p:cNvPr>
          <p:cNvCxnSpPr>
            <a:cxnSpLocks/>
          </p:cNvCxnSpPr>
          <p:nvPr/>
        </p:nvCxnSpPr>
        <p:spPr>
          <a:xfrm>
            <a:off x="387441" y="3381769"/>
            <a:ext cx="354737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77C143B-7307-5447-CC02-14B27567F299}"/>
              </a:ext>
            </a:extLst>
          </p:cNvPr>
          <p:cNvCxnSpPr>
            <a:cxnSpLocks/>
          </p:cNvCxnSpPr>
          <p:nvPr/>
        </p:nvCxnSpPr>
        <p:spPr>
          <a:xfrm>
            <a:off x="1294485" y="1868083"/>
            <a:ext cx="17211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4E9630B6-D1D2-F10D-37BC-A2B24A1D101E}"/>
              </a:ext>
            </a:extLst>
          </p:cNvPr>
          <p:cNvSpPr txBox="1">
            <a:spLocks/>
          </p:cNvSpPr>
          <p:nvPr/>
        </p:nvSpPr>
        <p:spPr>
          <a:xfrm>
            <a:off x="255589" y="3867822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全部门店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800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DE0D5A6E-A59F-3F95-5D67-72B8F4D9A115}"/>
              </a:ext>
            </a:extLst>
          </p:cNvPr>
          <p:cNvSpPr txBox="1">
            <a:spLocks/>
          </p:cNvSpPr>
          <p:nvPr/>
        </p:nvSpPr>
        <p:spPr>
          <a:xfrm>
            <a:off x="255589" y="2394976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资产门店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6D01E319-E431-59F0-8DCE-12FF8CE485E7}"/>
              </a:ext>
            </a:extLst>
          </p:cNvPr>
          <p:cNvSpPr txBox="1">
            <a:spLocks/>
          </p:cNvSpPr>
          <p:nvPr/>
        </p:nvSpPr>
        <p:spPr>
          <a:xfrm>
            <a:off x="240668" y="1168552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上榜门店</a:t>
            </a:r>
            <a:endParaRPr lang="en-US" altLang="zh-CN" sz="1600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B0AB286-0D7C-3EC9-F309-EEDAB6C392E7}"/>
              </a:ext>
            </a:extLst>
          </p:cNvPr>
          <p:cNvCxnSpPr>
            <a:cxnSpLocks/>
          </p:cNvCxnSpPr>
          <p:nvPr/>
        </p:nvCxnSpPr>
        <p:spPr>
          <a:xfrm>
            <a:off x="3015615" y="1868083"/>
            <a:ext cx="658355" cy="78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CC4CE1F-DE9F-31B3-F548-B965233B73BB}"/>
              </a:ext>
            </a:extLst>
          </p:cNvPr>
          <p:cNvCxnSpPr>
            <a:cxnSpLocks/>
          </p:cNvCxnSpPr>
          <p:nvPr/>
        </p:nvCxnSpPr>
        <p:spPr>
          <a:xfrm flipV="1">
            <a:off x="3015615" y="781934"/>
            <a:ext cx="614815" cy="1086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EAFF0C5-1337-44BA-2C39-8FB71E967660}"/>
              </a:ext>
            </a:extLst>
          </p:cNvPr>
          <p:cNvSpPr/>
          <p:nvPr/>
        </p:nvSpPr>
        <p:spPr>
          <a:xfrm>
            <a:off x="5231589" y="744308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黑珍珠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5E3F89D-A354-486E-9B9C-3BF83E4506A6}"/>
              </a:ext>
            </a:extLst>
          </p:cNvPr>
          <p:cNvSpPr/>
          <p:nvPr/>
        </p:nvSpPr>
        <p:spPr>
          <a:xfrm>
            <a:off x="6986654" y="752700"/>
            <a:ext cx="1510416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必吃榜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A9E828E-6537-50A3-F1B1-34C201A3F74C}"/>
              </a:ext>
            </a:extLst>
          </p:cNvPr>
          <p:cNvSpPr txBox="1"/>
          <p:nvPr/>
        </p:nvSpPr>
        <p:spPr>
          <a:xfrm>
            <a:off x="3487717" y="1526991"/>
            <a:ext cx="1585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场景榜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1%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A3A817E-1763-BAA1-E867-4998782FFA65}"/>
              </a:ext>
            </a:extLst>
          </p:cNvPr>
          <p:cNvSpPr txBox="1"/>
          <p:nvPr/>
        </p:nvSpPr>
        <p:spPr>
          <a:xfrm>
            <a:off x="3567051" y="2338405"/>
            <a:ext cx="1627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指数榜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10%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D697B7F-B721-0D80-62E8-9C249E3A6646}"/>
              </a:ext>
            </a:extLst>
          </p:cNvPr>
          <p:cNvSpPr txBox="1"/>
          <p:nvPr/>
        </p:nvSpPr>
        <p:spPr>
          <a:xfrm>
            <a:off x="3552135" y="662556"/>
            <a:ext cx="15482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IP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0.1%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3F82332-F1C2-C29A-1089-89727C269C7B}"/>
              </a:ext>
            </a:extLst>
          </p:cNvPr>
          <p:cNvSpPr/>
          <p:nvPr/>
        </p:nvSpPr>
        <p:spPr>
          <a:xfrm>
            <a:off x="5146444" y="583170"/>
            <a:ext cx="3454649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A02F337-6FBB-4B42-2069-35BF1D3FC359}"/>
              </a:ext>
            </a:extLst>
          </p:cNvPr>
          <p:cNvSpPr/>
          <p:nvPr/>
        </p:nvSpPr>
        <p:spPr>
          <a:xfrm>
            <a:off x="5146443" y="1512858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7B97B0F0-3F73-73A7-0F5E-1470460589BC}"/>
              </a:ext>
            </a:extLst>
          </p:cNvPr>
          <p:cNvSpPr/>
          <p:nvPr/>
        </p:nvSpPr>
        <p:spPr>
          <a:xfrm>
            <a:off x="5243874" y="1589156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9F2237B8-42CB-5CF9-5C2E-5D329DC2F385}"/>
              </a:ext>
            </a:extLst>
          </p:cNvPr>
          <p:cNvSpPr/>
          <p:nvPr/>
        </p:nvSpPr>
        <p:spPr>
          <a:xfrm>
            <a:off x="5243874" y="2391058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人气榜等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B4B59D3F-694C-46DA-DA57-5A1F0A79B612}"/>
              </a:ext>
            </a:extLst>
          </p:cNvPr>
          <p:cNvSpPr/>
          <p:nvPr/>
        </p:nvSpPr>
        <p:spPr>
          <a:xfrm>
            <a:off x="5156792" y="2303078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497A3E4-4062-32C1-D209-3737EEF82199}"/>
              </a:ext>
            </a:extLst>
          </p:cNvPr>
          <p:cNvSpPr/>
          <p:nvPr/>
        </p:nvSpPr>
        <p:spPr>
          <a:xfrm>
            <a:off x="6978710" y="2391058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新店榜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99327BA2-5295-6F35-C160-FCE53276514A}"/>
              </a:ext>
            </a:extLst>
          </p:cNvPr>
          <p:cNvSpPr txBox="1">
            <a:spLocks/>
          </p:cNvSpPr>
          <p:nvPr/>
        </p:nvSpPr>
        <p:spPr>
          <a:xfrm>
            <a:off x="4929507" y="205595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店榜</a:t>
            </a:r>
            <a:endParaRPr lang="en-US" altLang="zh-CN" sz="1600" dirty="0"/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04B0DB96-D50A-FCCD-5774-AE311E8E894D}"/>
              </a:ext>
            </a:extLst>
          </p:cNvPr>
          <p:cNvSpPr txBox="1">
            <a:spLocks/>
          </p:cNvSpPr>
          <p:nvPr/>
        </p:nvSpPr>
        <p:spPr>
          <a:xfrm>
            <a:off x="8686120" y="226876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菜榜</a:t>
            </a:r>
            <a:endParaRPr lang="en-US" altLang="zh-CN" sz="1600" dirty="0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39260EAC-D5E0-FA01-FE66-8239A458895A}"/>
              </a:ext>
            </a:extLst>
          </p:cNvPr>
          <p:cNvSpPr/>
          <p:nvPr/>
        </p:nvSpPr>
        <p:spPr>
          <a:xfrm>
            <a:off x="13863919" y="3426149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66679ED-FE06-D08D-52F3-FE07FF05FEAF}"/>
              </a:ext>
            </a:extLst>
          </p:cNvPr>
          <p:cNvSpPr/>
          <p:nvPr/>
        </p:nvSpPr>
        <p:spPr>
          <a:xfrm>
            <a:off x="13863918" y="1196933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A89AC40F-F39A-CFF2-6FB0-C767CC7B0EE7}"/>
              </a:ext>
            </a:extLst>
          </p:cNvPr>
          <p:cNvSpPr/>
          <p:nvPr/>
        </p:nvSpPr>
        <p:spPr>
          <a:xfrm>
            <a:off x="13806828" y="2311908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C63A656-1FDC-4799-1235-77DC5CAF3D36}"/>
              </a:ext>
            </a:extLst>
          </p:cNvPr>
          <p:cNvSpPr/>
          <p:nvPr/>
        </p:nvSpPr>
        <p:spPr>
          <a:xfrm>
            <a:off x="10265874" y="5728575"/>
            <a:ext cx="1580444" cy="13216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5AFFF73-3A0D-E1F1-20A3-913AAC94962E}"/>
              </a:ext>
            </a:extLst>
          </p:cNvPr>
          <p:cNvSpPr/>
          <p:nvPr/>
        </p:nvSpPr>
        <p:spPr>
          <a:xfrm>
            <a:off x="10265874" y="7130231"/>
            <a:ext cx="1580444" cy="13216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7339D36-9FDC-C501-2303-85A05B4D1629}"/>
              </a:ext>
            </a:extLst>
          </p:cNvPr>
          <p:cNvSpPr/>
          <p:nvPr/>
        </p:nvSpPr>
        <p:spPr>
          <a:xfrm>
            <a:off x="11950351" y="5724979"/>
            <a:ext cx="1580444" cy="13252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DB14A9F-0C49-1ECD-BD2F-C5BB0993364A}"/>
              </a:ext>
            </a:extLst>
          </p:cNvPr>
          <p:cNvSpPr/>
          <p:nvPr/>
        </p:nvSpPr>
        <p:spPr>
          <a:xfrm>
            <a:off x="11950351" y="7130231"/>
            <a:ext cx="1580444" cy="1321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93483D3-1B47-20AB-5777-441221B5BD63}"/>
              </a:ext>
            </a:extLst>
          </p:cNvPr>
          <p:cNvSpPr/>
          <p:nvPr/>
        </p:nvSpPr>
        <p:spPr>
          <a:xfrm>
            <a:off x="9370712" y="4797852"/>
            <a:ext cx="8933687" cy="486961"/>
          </a:xfrm>
          <a:prstGeom prst="rect">
            <a:avLst/>
          </a:prstGeom>
          <a:ln w="9525">
            <a:noFill/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56577AC-CC18-1C88-71BE-336ACAEA1539}"/>
              </a:ext>
            </a:extLst>
          </p:cNvPr>
          <p:cNvSpPr txBox="1"/>
          <p:nvPr/>
        </p:nvSpPr>
        <p:spPr>
          <a:xfrm>
            <a:off x="9370712" y="4826007"/>
            <a:ext cx="8872231" cy="45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  <a:tabLst>
                <a:tab pos="4664075" algn="l"/>
              </a:tabLst>
            </a:pPr>
            <a:r>
              <a:rPr lang="zh-CN" altLang="en-US" sz="1200" dirty="0">
                <a:latin typeface="+mn-ea"/>
              </a:rPr>
              <a:t>过去榜单主要以店为对象，满足用户找店决策。从搜索</a:t>
            </a:r>
            <a:r>
              <a:rPr lang="en-US" altLang="zh-CN" sz="1200" dirty="0">
                <a:latin typeface="+mn-ea"/>
              </a:rPr>
              <a:t>QV</a:t>
            </a:r>
            <a:r>
              <a:rPr lang="zh-CN" altLang="en-US" sz="1200" dirty="0">
                <a:latin typeface="+mn-ea"/>
              </a:rPr>
              <a:t>看，用户基于菜品决策的需求同样旺盛。一方面应持续扩展特色菜的城市、菜品覆盖。另一方面，基于</a:t>
            </a:r>
            <a:r>
              <a:rPr lang="zh-CN" altLang="en-US" sz="1200" dirty="0">
                <a:effectLst/>
              </a:rPr>
              <a:t>菜品信息的日益完善及智能点餐的覆盖提升，逐步</a:t>
            </a:r>
            <a:r>
              <a:rPr lang="zh-CN" altLang="en-US" sz="1200" dirty="0">
                <a:latin typeface="+mn-ea"/>
              </a:rPr>
              <a:t>试点时令尝新等菜品榜单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ACE1DC2F-1A2A-20C1-45E3-ABCB5B1A72A9}"/>
              </a:ext>
            </a:extLst>
          </p:cNvPr>
          <p:cNvCxnSpPr>
            <a:cxnSpLocks/>
            <a:endCxn id="126" idx="2"/>
          </p:cNvCxnSpPr>
          <p:nvPr/>
        </p:nvCxnSpPr>
        <p:spPr>
          <a:xfrm flipV="1">
            <a:off x="11892207" y="5600928"/>
            <a:ext cx="0" cy="300382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59D1D3BA-D1AF-C9EB-5962-265BCD90BEDD}"/>
              </a:ext>
            </a:extLst>
          </p:cNvPr>
          <p:cNvCxnSpPr>
            <a:cxnSpLocks/>
            <a:stCxn id="123" idx="3"/>
            <a:endCxn id="124" idx="1"/>
          </p:cNvCxnSpPr>
          <p:nvPr/>
        </p:nvCxnSpPr>
        <p:spPr>
          <a:xfrm>
            <a:off x="10123468" y="7081631"/>
            <a:ext cx="349632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6A0659A-3293-86E4-B7AF-09BDD34B5838}"/>
              </a:ext>
            </a:extLst>
          </p:cNvPr>
          <p:cNvSpPr txBox="1"/>
          <p:nvPr/>
        </p:nvSpPr>
        <p:spPr>
          <a:xfrm>
            <a:off x="9307206" y="6943131"/>
            <a:ext cx="81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E544DA2-16C1-E961-E793-B63434196B84}"/>
              </a:ext>
            </a:extLst>
          </p:cNvPr>
          <p:cNvSpPr txBox="1"/>
          <p:nvPr/>
        </p:nvSpPr>
        <p:spPr>
          <a:xfrm>
            <a:off x="13619788" y="6943131"/>
            <a:ext cx="852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1BDAD626-707C-F9E3-704E-9784677BEE4C}"/>
              </a:ext>
            </a:extLst>
          </p:cNvPr>
          <p:cNvSpPr txBox="1"/>
          <p:nvPr/>
        </p:nvSpPr>
        <p:spPr>
          <a:xfrm>
            <a:off x="11096997" y="8804069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E30ED1E-9F92-4E35-5849-F05AFFBC0D22}"/>
              </a:ext>
            </a:extLst>
          </p:cNvPr>
          <p:cNvSpPr txBox="1"/>
          <p:nvPr/>
        </p:nvSpPr>
        <p:spPr>
          <a:xfrm>
            <a:off x="11096997" y="5323929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1229BBF-870C-B00B-8F2D-AE8B328E856E}"/>
              </a:ext>
            </a:extLst>
          </p:cNvPr>
          <p:cNvSpPr txBox="1"/>
          <p:nvPr/>
        </p:nvSpPr>
        <p:spPr>
          <a:xfrm>
            <a:off x="10272716" y="7641470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无需决策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636EC9C-A11A-2D50-3E22-C590AA140407}"/>
              </a:ext>
            </a:extLst>
          </p:cNvPr>
          <p:cNvSpPr txBox="1"/>
          <p:nvPr/>
        </p:nvSpPr>
        <p:spPr>
          <a:xfrm>
            <a:off x="11891739" y="7632171"/>
            <a:ext cx="15904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门店招牌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（推荐菜、热销菜）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3B07465-9815-AE1C-CB7E-76A676BF3FF4}"/>
              </a:ext>
            </a:extLst>
          </p:cNvPr>
          <p:cNvSpPr txBox="1"/>
          <p:nvPr/>
        </p:nvSpPr>
        <p:spPr>
          <a:xfrm>
            <a:off x="11528848" y="6260013"/>
            <a:ext cx="15794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时令菜品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FF26E4CF-90DB-598C-9AFE-D78610F8BE89}"/>
              </a:ext>
            </a:extLst>
          </p:cNvPr>
          <p:cNvSpPr txBox="1"/>
          <p:nvPr/>
        </p:nvSpPr>
        <p:spPr>
          <a:xfrm>
            <a:off x="11043434" y="6259843"/>
            <a:ext cx="846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当地特色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457AD17F-9842-1390-95B9-01871E6F3E37}"/>
              </a:ext>
            </a:extLst>
          </p:cNvPr>
          <p:cNvSpPr txBox="1"/>
          <p:nvPr/>
        </p:nvSpPr>
        <p:spPr>
          <a:xfrm>
            <a:off x="10254037" y="6269780"/>
            <a:ext cx="9009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特定菜品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（如战斧牛排）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781D296C-586F-02C6-861C-56D8B61D9169}"/>
              </a:ext>
            </a:extLst>
          </p:cNvPr>
          <p:cNvCxnSpPr>
            <a:cxnSpLocks/>
          </p:cNvCxnSpPr>
          <p:nvPr/>
        </p:nvCxnSpPr>
        <p:spPr>
          <a:xfrm>
            <a:off x="11102125" y="5878109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30092F03-49C9-1487-E5CB-0592A32804DD}"/>
              </a:ext>
            </a:extLst>
          </p:cNvPr>
          <p:cNvSpPr txBox="1"/>
          <p:nvPr/>
        </p:nvSpPr>
        <p:spPr>
          <a:xfrm>
            <a:off x="11894332" y="6091270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③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F149A0AA-0F58-7104-4DD4-F1C752754027}"/>
              </a:ext>
            </a:extLst>
          </p:cNvPr>
          <p:cNvSpPr txBox="1"/>
          <p:nvPr/>
        </p:nvSpPr>
        <p:spPr>
          <a:xfrm>
            <a:off x="10556482" y="6066274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①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1D4AB72-8549-E1B7-D017-B31307FCBFAF}"/>
              </a:ext>
            </a:extLst>
          </p:cNvPr>
          <p:cNvSpPr txBox="1"/>
          <p:nvPr/>
        </p:nvSpPr>
        <p:spPr>
          <a:xfrm>
            <a:off x="11281745" y="6091270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②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F9402935-EFD3-85D9-BB97-521CF68AC736}"/>
              </a:ext>
            </a:extLst>
          </p:cNvPr>
          <p:cNvSpPr txBox="1"/>
          <p:nvPr/>
        </p:nvSpPr>
        <p:spPr>
          <a:xfrm>
            <a:off x="12285042" y="7447167"/>
            <a:ext cx="846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⑤</a:t>
            </a:r>
          </a:p>
        </p:txBody>
      </p:sp>
      <p:graphicFrame>
        <p:nvGraphicFramePr>
          <p:cNvPr id="137" name="表格 136">
            <a:extLst>
              <a:ext uri="{FF2B5EF4-FFF2-40B4-BE49-F238E27FC236}">
                <a16:creationId xmlns:a16="http://schemas.microsoft.com/office/drawing/2014/main" id="{E0E2AA4A-C255-3367-0BF8-474ACBC13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668386"/>
              </p:ext>
            </p:extLst>
          </p:nvPr>
        </p:nvGraphicFramePr>
        <p:xfrm>
          <a:off x="14636901" y="5516526"/>
          <a:ext cx="3557419" cy="3428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90">
                  <a:extLst>
                    <a:ext uri="{9D8B030D-6E8A-4147-A177-3AD203B41FA5}">
                      <a16:colId xmlns:a16="http://schemas.microsoft.com/office/drawing/2014/main" val="1332178433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016871320"/>
                    </a:ext>
                  </a:extLst>
                </a:gridCol>
                <a:gridCol w="641839">
                  <a:extLst>
                    <a:ext uri="{9D8B030D-6E8A-4147-A177-3AD203B41FA5}">
                      <a16:colId xmlns:a16="http://schemas.microsoft.com/office/drawing/2014/main" val="2121448744"/>
                    </a:ext>
                  </a:extLst>
                </a:gridCol>
                <a:gridCol w="958361">
                  <a:extLst>
                    <a:ext uri="{9D8B030D-6E8A-4147-A177-3AD203B41FA5}">
                      <a16:colId xmlns:a16="http://schemas.microsoft.com/office/drawing/2014/main" val="345367386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0246068"/>
                    </a:ext>
                  </a:extLst>
                </a:gridCol>
              </a:tblGrid>
              <a:tr h="2486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  <a:endParaRPr lang="zh-CN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决策逻辑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选菜标准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资产引用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依赖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现状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34842"/>
                  </a:ext>
                </a:extLst>
              </a:tr>
              <a:tr h="460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①特定菜品</a:t>
                      </a:r>
                      <a:endParaRPr lang="en-US" altLang="zh-CN" sz="9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以菜找店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一定需求规模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菜品信息</a:t>
                      </a:r>
                      <a:r>
                        <a:rPr lang="zh-CN" altLang="en-US" sz="8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（更新时间、原子菜关系、图谱关系等）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（搜索量、热度、评价量、交易量等）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店关系资产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（店内点赞</a:t>
                      </a:r>
                      <a:r>
                        <a:rPr lang="en-US" altLang="zh-CN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收藏、评价、交易等）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门店资产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1381"/>
                  </a:ext>
                </a:extLst>
              </a:tr>
              <a:tr h="9634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②当地特色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特色菜字典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+mn-ea"/>
                        </a:rPr>
                        <a:t>特色菜，陆续扩城扩菜</a:t>
                      </a:r>
                      <a:endParaRPr lang="en-US" altLang="zh-CN" sz="900" dirty="0">
                        <a:latin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115573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③时令菜品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时令菜知识图谱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试点春鲜榜，验证迭代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061612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④尝新尝热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找菜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新品标准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一定热度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点评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奶茶新品榜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53701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</a:t>
                      </a:r>
                      <a:r>
                        <a:rPr lang="zh-CN" altLang="en-US" sz="900" b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门店招牌</a:t>
                      </a:r>
                      <a:endParaRPr lang="en" sz="900" b="1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进店选菜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满足定义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门槛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推荐菜为主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92682"/>
                  </a:ext>
                </a:extLst>
              </a:tr>
            </a:tbl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38D83D43-BD56-1703-9ECB-383E72E2DB83}"/>
              </a:ext>
            </a:extLst>
          </p:cNvPr>
          <p:cNvSpPr txBox="1"/>
          <p:nvPr/>
        </p:nvSpPr>
        <p:spPr>
          <a:xfrm>
            <a:off x="12685358" y="6257079"/>
            <a:ext cx="855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尝新尝热</a:t>
            </a:r>
            <a:endParaRPr lang="zh-CN" altLang="en-US" sz="1200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6B6CD134-6F93-C489-4BE8-856F77DD22DE}"/>
              </a:ext>
            </a:extLst>
          </p:cNvPr>
          <p:cNvSpPr txBox="1"/>
          <p:nvPr/>
        </p:nvSpPr>
        <p:spPr>
          <a:xfrm>
            <a:off x="12679848" y="6091270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④</a:t>
            </a:r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8404799D-95BB-2427-B91C-3E5F10C4079B}"/>
              </a:ext>
            </a:extLst>
          </p:cNvPr>
          <p:cNvCxnSpPr>
            <a:cxnSpLocks/>
          </p:cNvCxnSpPr>
          <p:nvPr/>
        </p:nvCxnSpPr>
        <p:spPr>
          <a:xfrm>
            <a:off x="12702365" y="5878109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DB5B369B-B152-97D8-25BD-DC3B0F0DA661}"/>
              </a:ext>
            </a:extLst>
          </p:cNvPr>
          <p:cNvSpPr/>
          <p:nvPr/>
        </p:nvSpPr>
        <p:spPr>
          <a:xfrm>
            <a:off x="10684806" y="5593368"/>
            <a:ext cx="834599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菜品精搜</a:t>
            </a: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9AD5ADBE-C6B9-8543-3570-E26B8E06514C}"/>
              </a:ext>
            </a:extLst>
          </p:cNvPr>
          <p:cNvSpPr/>
          <p:nvPr/>
        </p:nvSpPr>
        <p:spPr>
          <a:xfrm>
            <a:off x="12267512" y="8294083"/>
            <a:ext cx="893370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</a:rPr>
              <a:t>、点餐</a:t>
            </a: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98707BC4-684C-7C9F-37C8-1FAC3E831A20}"/>
              </a:ext>
            </a:extLst>
          </p:cNvPr>
          <p:cNvSpPr/>
          <p:nvPr/>
        </p:nvSpPr>
        <p:spPr>
          <a:xfrm>
            <a:off x="12122966" y="5569378"/>
            <a:ext cx="1328305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菜品泛搜、推荐</a:t>
            </a: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2C4E84BE-9DB0-CE45-152E-9F068E5C74C8}"/>
              </a:ext>
            </a:extLst>
          </p:cNvPr>
          <p:cNvSpPr/>
          <p:nvPr/>
        </p:nvSpPr>
        <p:spPr>
          <a:xfrm>
            <a:off x="8773930" y="583170"/>
            <a:ext cx="3593835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FB591125-0E99-811D-507C-559481F3C136}"/>
              </a:ext>
            </a:extLst>
          </p:cNvPr>
          <p:cNvSpPr/>
          <p:nvPr/>
        </p:nvSpPr>
        <p:spPr>
          <a:xfrm>
            <a:off x="9035656" y="752700"/>
            <a:ext cx="3158684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“店菜合一”</a:t>
            </a:r>
          </a:p>
        </p:txBody>
      </p: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7701DE1F-4D1B-94BC-4742-10D88847C24C}"/>
              </a:ext>
            </a:extLst>
          </p:cNvPr>
          <p:cNvSpPr/>
          <p:nvPr/>
        </p:nvSpPr>
        <p:spPr>
          <a:xfrm>
            <a:off x="8788664" y="1510939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C7173415-F8EE-E8AC-7587-FE5D7D4071D6}"/>
              </a:ext>
            </a:extLst>
          </p:cNvPr>
          <p:cNvSpPr/>
          <p:nvPr/>
        </p:nvSpPr>
        <p:spPr>
          <a:xfrm>
            <a:off x="9010996" y="1613918"/>
            <a:ext cx="3111970" cy="24114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特色小吃</a:t>
            </a: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D7B3458C-1D7E-EEC6-AF77-101AA884D9CC}"/>
              </a:ext>
            </a:extLst>
          </p:cNvPr>
          <p:cNvSpPr/>
          <p:nvPr/>
        </p:nvSpPr>
        <p:spPr>
          <a:xfrm>
            <a:off x="12696063" y="580593"/>
            <a:ext cx="1510416" cy="253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招牌菜（</a:t>
            </a:r>
            <a:r>
              <a:rPr lang="zh-CN" altLang="en-US" sz="1200" strike="sngStrike" dirty="0">
                <a:solidFill>
                  <a:schemeClr val="tx1"/>
                </a:solidFill>
                <a:latin typeface="+mn-ea"/>
              </a:rPr>
              <a:t>店内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店间）</a:t>
            </a: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285E4489-BE74-4D6A-A066-2524BBE2F0BA}"/>
              </a:ext>
            </a:extLst>
          </p:cNvPr>
          <p:cNvSpPr/>
          <p:nvPr/>
        </p:nvSpPr>
        <p:spPr>
          <a:xfrm>
            <a:off x="8788664" y="2311926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5F50E6C9-4FA3-4E25-6980-B9B1D2E6C206}"/>
              </a:ext>
            </a:extLst>
          </p:cNvPr>
          <p:cNvSpPr/>
          <p:nvPr/>
        </p:nvSpPr>
        <p:spPr>
          <a:xfrm>
            <a:off x="9010996" y="2414905"/>
            <a:ext cx="1510416" cy="257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招牌菜（店内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店间）</a:t>
            </a: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F5A00207-8566-8ED3-13FF-A39ECACF9888}"/>
              </a:ext>
            </a:extLst>
          </p:cNvPr>
          <p:cNvSpPr/>
          <p:nvPr/>
        </p:nvSpPr>
        <p:spPr>
          <a:xfrm>
            <a:off x="10683924" y="2414905"/>
            <a:ext cx="1510416" cy="2532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时令尝鲜</a:t>
            </a:r>
          </a:p>
        </p:txBody>
      </p: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570F26DD-FE9A-06A1-325A-C1A5ED7862EE}"/>
              </a:ext>
            </a:extLst>
          </p:cNvPr>
          <p:cNvCxnSpPr>
            <a:cxnSpLocks/>
          </p:cNvCxnSpPr>
          <p:nvPr/>
        </p:nvCxnSpPr>
        <p:spPr>
          <a:xfrm flipV="1">
            <a:off x="7605102" y="351286"/>
            <a:ext cx="2129448" cy="12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7F1F766A-5EBB-808E-2B70-F24AE1B71DBD}"/>
              </a:ext>
            </a:extLst>
          </p:cNvPr>
          <p:cNvSpPr/>
          <p:nvPr/>
        </p:nvSpPr>
        <p:spPr>
          <a:xfrm>
            <a:off x="6973536" y="1613918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约聚场景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CC72EDF6-279B-0639-8ACE-E85BDB9EE3AC}"/>
              </a:ext>
            </a:extLst>
          </p:cNvPr>
          <p:cNvSpPr/>
          <p:nvPr/>
        </p:nvSpPr>
        <p:spPr>
          <a:xfrm>
            <a:off x="12906776" y="1534152"/>
            <a:ext cx="1510416" cy="257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指数菜（如热销）</a:t>
            </a:r>
          </a:p>
        </p:txBody>
      </p:sp>
    </p:spTree>
    <p:extLst>
      <p:ext uri="{BB962C8B-B14F-4D97-AF65-F5344CB8AC3E}">
        <p14:creationId xmlns:p14="http://schemas.microsoft.com/office/powerpoint/2010/main" val="3075835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箭头: 下弧形 33">
            <a:extLst>
              <a:ext uri="{FF2B5EF4-FFF2-40B4-BE49-F238E27FC236}">
                <a16:creationId xmlns:a16="http://schemas.microsoft.com/office/drawing/2014/main" id="{EDD78469-37DC-3D15-D723-FB1EA6F3CC04}"/>
              </a:ext>
            </a:extLst>
          </p:cNvPr>
          <p:cNvSpPr/>
          <p:nvPr/>
        </p:nvSpPr>
        <p:spPr>
          <a:xfrm rot="14400000">
            <a:off x="3458600" y="2445216"/>
            <a:ext cx="2222614" cy="1348506"/>
          </a:xfrm>
          <a:prstGeom prst="curvedUp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AC65BDD-0C88-3B48-01D7-79A2E5FC6FC2}"/>
              </a:ext>
            </a:extLst>
          </p:cNvPr>
          <p:cNvSpPr txBox="1">
            <a:spLocks/>
          </p:cNvSpPr>
          <p:nvPr/>
        </p:nvSpPr>
        <p:spPr>
          <a:xfrm>
            <a:off x="2351052" y="697293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上面层有一定的个性化部分，比如好不好吃，坚守本味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融入改良，价格带，那些亮点吸引人等</a:t>
            </a:r>
            <a:endParaRPr lang="en-US" altLang="zh-CN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F3DC46-7B9E-9EC3-902B-CBDA8C832AA1}"/>
              </a:ext>
            </a:extLst>
          </p:cNvPr>
          <p:cNvSpPr txBox="1"/>
          <p:nvPr/>
        </p:nvSpPr>
        <p:spPr>
          <a:xfrm>
            <a:off x="-5668107" y="475801"/>
            <a:ext cx="4876800" cy="1865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条件一：该场景的评价维度与通用品质榜有实质性差异。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如果一个场景下的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跟通用意义上的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是同一件事，那么用通用品质榜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标签筛选就够了，不需要独立评选。但如果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的定义不一样，通用榜的排序就是错的，必须单独评。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约会：好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氛围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私密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仪式感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口味，权重分配跟通用品质榜（口味为王）完全不同。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旅游打卡：好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地道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值得专程去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口味。跟通用品质榜差异不大（必吃榜本身就偏好地道小店），但有一个独特维度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——"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，即一个外地人在这个城市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不可替代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的体验。**部分满足。**但必吃榜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2025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年异地用户占比已超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50%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（来源：</a:t>
            </a:r>
            <a:r>
              <a:rPr lang="zh-CN" altLang="en-US" b="0" i="0" u="sng" dirty="0">
                <a:solidFill>
                  <a:srgbClr val="0285FF"/>
                </a:solidFill>
                <a:effectLst/>
                <a:latin typeface="+mn-ea"/>
                <a:hlinkClick r:id="rId6"/>
              </a:rPr>
              <a:t>新华网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），说明必吃榜已经在事实上承担这个功能。所以旅游打卡可能不需要独立榜单，但需要必吃榜在评选中更显式地纳入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维度。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夜宵：好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深夜还能吃到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出品稳定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烟火气。跟通用品质榜的差异主要是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深夜营业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这个功能性条件，品质判断本身差异不大。**不满足。**夜宵的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跟白天的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没有本质区别，只是多了个营业时间过滤。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出片：好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视觉颜值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上镜效果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摆盘精致，跟口味弱相关。评价维度完全不同。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下午茶：好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环境舒适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甜品精致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适合坐着聊天。跟正餐的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有差异（正餐重口味，下午茶重环境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甜品），但差异程度不如约会那么大。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边界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+mn-ea"/>
              </a:rPr>
              <a:t>case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条件二：该场景的决策频率和需求规模支撑独立榜单的运营成本。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做一个独立品牌榜单是有成本的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需要独立的评选逻辑、品牌建设、用户认知教育。如果一个场景一年只发生一两次，覆盖的用户群太窄，独立建榜的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ROI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不成立。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约会相关的高仪式性决策（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520/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七夕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纪念日）：全国范围看，这类节日消费需求巨大。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2024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年七夕当天，大众点评上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约会餐厅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搜索量较平日增长显著（具体倍数缺乏数据，推测）。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规模可能满足。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出片：小红书上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相关笔记超过百万篇（推测，未验证具体数据），说明需求真实存在且规模不小。但这个需求的主场不在美团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点评，用户更习惯在内容平台上找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规模可能满足，但供给端不在自己平台。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下午茶：这个品类在大众点评上已有独立分类，搜索量应该不低，但下午茶决策的仪式性通常不高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很多时候就是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找个地方坐坐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，不需要榜单级别的品质承诺。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规模可能满足，但仪式性不满足。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条件三：现有产品无法通过简单叠加来满足该场景需求。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如果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第二层品质甄选榜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场景标签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就能很好地解决，就不需要独立榜单。只有当叠加方案在用户感知上显著不如独立榜单时，才值得投入。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这个条件的判断标准其实就是你说的那个直觉：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用户在这个场景下是否强烈需要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告诉我第一名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的代理决策？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约会（高仪式性）：是的。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520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那天用户不想在品质甄选榜里筛约会标签然后自己比较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他想要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"520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约会榜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TOP 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，直接订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+mn-ea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+mn-ea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夜宵：通常不是。大多数夜宵决策是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附近什么还开着、评分还行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，排行榜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营业时间筛选就够了。**不满足。**但你提到的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夜宵人气榜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其实可以作为第三层排行榜的一个固定筛选视图存在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+mn-ea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+mn-ea"/>
              </a:rPr>
              <a:t>不需要独立品牌，但可以作为排行榜的常驻入口之一。</a:t>
            </a: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09640592-C3D9-5ACF-14CA-261E2129C2B9}"/>
              </a:ext>
            </a:extLst>
          </p:cNvPr>
          <p:cNvSpPr/>
          <p:nvPr/>
        </p:nvSpPr>
        <p:spPr>
          <a:xfrm>
            <a:off x="-431619" y="354724"/>
            <a:ext cx="5143500" cy="443405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n-ea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899E61-230F-3751-709B-2B27FD396B92}"/>
              </a:ext>
            </a:extLst>
          </p:cNvPr>
          <p:cNvCxnSpPr>
            <a:cxnSpLocks/>
          </p:cNvCxnSpPr>
          <p:nvPr/>
        </p:nvCxnSpPr>
        <p:spPr>
          <a:xfrm>
            <a:off x="387441" y="3381769"/>
            <a:ext cx="3473359" cy="77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77C143B-7307-5447-CC02-14B27567F299}"/>
              </a:ext>
            </a:extLst>
          </p:cNvPr>
          <p:cNvCxnSpPr>
            <a:cxnSpLocks/>
          </p:cNvCxnSpPr>
          <p:nvPr/>
        </p:nvCxnSpPr>
        <p:spPr>
          <a:xfrm>
            <a:off x="1294485" y="1868083"/>
            <a:ext cx="17211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4E9630B6-D1D2-F10D-37BC-A2B24A1D101E}"/>
              </a:ext>
            </a:extLst>
          </p:cNvPr>
          <p:cNvSpPr txBox="1">
            <a:spLocks/>
          </p:cNvSpPr>
          <p:nvPr/>
        </p:nvSpPr>
        <p:spPr>
          <a:xfrm>
            <a:off x="255589" y="3867822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全部门店</a:t>
            </a:r>
            <a:endParaRPr lang="en-US" altLang="zh-CN" sz="1600" dirty="0">
              <a:latin typeface="+mn-ea"/>
            </a:endParaRPr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800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万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DE0D5A6E-A59F-3F95-5D67-72B8F4D9A115}"/>
              </a:ext>
            </a:extLst>
          </p:cNvPr>
          <p:cNvSpPr txBox="1">
            <a:spLocks/>
          </p:cNvSpPr>
          <p:nvPr/>
        </p:nvSpPr>
        <p:spPr>
          <a:xfrm>
            <a:off x="255589" y="2394976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资产门店</a:t>
            </a:r>
            <a:endParaRPr lang="en-US" altLang="zh-CN" sz="1600" dirty="0">
              <a:latin typeface="+mn-ea"/>
            </a:endParaRPr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万</a:t>
            </a: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6D01E319-E431-59F0-8DCE-12FF8CE485E7}"/>
              </a:ext>
            </a:extLst>
          </p:cNvPr>
          <p:cNvSpPr txBox="1">
            <a:spLocks/>
          </p:cNvSpPr>
          <p:nvPr/>
        </p:nvSpPr>
        <p:spPr>
          <a:xfrm>
            <a:off x="240668" y="1168552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上榜门店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39260EAC-D5E0-FA01-FE66-8239A458895A}"/>
              </a:ext>
            </a:extLst>
          </p:cNvPr>
          <p:cNvSpPr/>
          <p:nvPr/>
        </p:nvSpPr>
        <p:spPr>
          <a:xfrm>
            <a:off x="13863919" y="3426149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66679ED-FE06-D08D-52F3-FE07FF05FEAF}"/>
              </a:ext>
            </a:extLst>
          </p:cNvPr>
          <p:cNvSpPr/>
          <p:nvPr/>
        </p:nvSpPr>
        <p:spPr>
          <a:xfrm>
            <a:off x="13863918" y="1196933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A89AC40F-F39A-CFF2-6FB0-C767CC7B0EE7}"/>
              </a:ext>
            </a:extLst>
          </p:cNvPr>
          <p:cNvSpPr/>
          <p:nvPr/>
        </p:nvSpPr>
        <p:spPr>
          <a:xfrm>
            <a:off x="13806828" y="2311908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C63A656-1FDC-4799-1235-77DC5CAF3D36}"/>
              </a:ext>
            </a:extLst>
          </p:cNvPr>
          <p:cNvSpPr/>
          <p:nvPr/>
        </p:nvSpPr>
        <p:spPr>
          <a:xfrm>
            <a:off x="10265874" y="5728575"/>
            <a:ext cx="1580444" cy="13216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5AFFF73-3A0D-E1F1-20A3-913AAC94962E}"/>
              </a:ext>
            </a:extLst>
          </p:cNvPr>
          <p:cNvSpPr/>
          <p:nvPr/>
        </p:nvSpPr>
        <p:spPr>
          <a:xfrm>
            <a:off x="10265874" y="7130231"/>
            <a:ext cx="1580444" cy="13216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7339D36-9FDC-C501-2303-85A05B4D1629}"/>
              </a:ext>
            </a:extLst>
          </p:cNvPr>
          <p:cNvSpPr/>
          <p:nvPr/>
        </p:nvSpPr>
        <p:spPr>
          <a:xfrm>
            <a:off x="11950351" y="5724979"/>
            <a:ext cx="1580444" cy="13252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DB14A9F-0C49-1ECD-BD2F-C5BB0993364A}"/>
              </a:ext>
            </a:extLst>
          </p:cNvPr>
          <p:cNvSpPr/>
          <p:nvPr/>
        </p:nvSpPr>
        <p:spPr>
          <a:xfrm>
            <a:off x="11950351" y="7130231"/>
            <a:ext cx="1580444" cy="1321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93483D3-1B47-20AB-5777-441221B5BD63}"/>
              </a:ext>
            </a:extLst>
          </p:cNvPr>
          <p:cNvSpPr/>
          <p:nvPr/>
        </p:nvSpPr>
        <p:spPr>
          <a:xfrm>
            <a:off x="9370712" y="4797852"/>
            <a:ext cx="8933687" cy="486961"/>
          </a:xfrm>
          <a:prstGeom prst="rect">
            <a:avLst/>
          </a:prstGeom>
          <a:ln w="9525">
            <a:noFill/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56577AC-CC18-1C88-71BE-336ACAEA1539}"/>
              </a:ext>
            </a:extLst>
          </p:cNvPr>
          <p:cNvSpPr txBox="1"/>
          <p:nvPr/>
        </p:nvSpPr>
        <p:spPr>
          <a:xfrm>
            <a:off x="9370712" y="4826007"/>
            <a:ext cx="8872231" cy="45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  <a:tabLst>
                <a:tab pos="4664075" algn="l"/>
              </a:tabLst>
            </a:pPr>
            <a:r>
              <a:rPr lang="zh-CN" altLang="en-US" sz="1200" dirty="0">
                <a:latin typeface="+mn-ea"/>
              </a:rPr>
              <a:t>过去榜单主要以店为对象，满足用户找店决策。从搜索</a:t>
            </a:r>
            <a:r>
              <a:rPr lang="en-US" altLang="zh-CN" sz="1200" dirty="0">
                <a:latin typeface="+mn-ea"/>
              </a:rPr>
              <a:t>QV</a:t>
            </a:r>
            <a:r>
              <a:rPr lang="zh-CN" altLang="en-US" sz="1200" dirty="0">
                <a:latin typeface="+mn-ea"/>
              </a:rPr>
              <a:t>看，用户基于菜品决策的需求同样旺盛。一方面应持续扩展特色菜的城市、菜品覆盖。另一方面，基于</a:t>
            </a:r>
            <a:r>
              <a:rPr lang="zh-CN" altLang="en-US" sz="1200" dirty="0">
                <a:effectLst/>
                <a:latin typeface="+mn-ea"/>
              </a:rPr>
              <a:t>菜品信息的日益完善及智能点餐的覆盖提升，逐步</a:t>
            </a:r>
            <a:r>
              <a:rPr lang="zh-CN" altLang="en-US" sz="1200" dirty="0">
                <a:latin typeface="+mn-ea"/>
              </a:rPr>
              <a:t>试点时令尝新等菜品榜单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ACE1DC2F-1A2A-20C1-45E3-ABCB5B1A72A9}"/>
              </a:ext>
            </a:extLst>
          </p:cNvPr>
          <p:cNvCxnSpPr>
            <a:cxnSpLocks/>
            <a:endCxn id="126" idx="2"/>
          </p:cNvCxnSpPr>
          <p:nvPr/>
        </p:nvCxnSpPr>
        <p:spPr>
          <a:xfrm flipV="1">
            <a:off x="11892207" y="5600928"/>
            <a:ext cx="0" cy="300382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59D1D3BA-D1AF-C9EB-5962-265BCD90BEDD}"/>
              </a:ext>
            </a:extLst>
          </p:cNvPr>
          <p:cNvCxnSpPr>
            <a:cxnSpLocks/>
            <a:stCxn id="123" idx="3"/>
            <a:endCxn id="124" idx="1"/>
          </p:cNvCxnSpPr>
          <p:nvPr/>
        </p:nvCxnSpPr>
        <p:spPr>
          <a:xfrm>
            <a:off x="10123468" y="7081631"/>
            <a:ext cx="349632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6A0659A-3293-86E4-B7AF-09BDD34B5838}"/>
              </a:ext>
            </a:extLst>
          </p:cNvPr>
          <p:cNvSpPr txBox="1"/>
          <p:nvPr/>
        </p:nvSpPr>
        <p:spPr>
          <a:xfrm>
            <a:off x="9307206" y="6943131"/>
            <a:ext cx="81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E544DA2-16C1-E961-E793-B63434196B84}"/>
              </a:ext>
            </a:extLst>
          </p:cNvPr>
          <p:cNvSpPr txBox="1"/>
          <p:nvPr/>
        </p:nvSpPr>
        <p:spPr>
          <a:xfrm>
            <a:off x="13619788" y="6943131"/>
            <a:ext cx="852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1BDAD626-707C-F9E3-704E-9784677BEE4C}"/>
              </a:ext>
            </a:extLst>
          </p:cNvPr>
          <p:cNvSpPr txBox="1"/>
          <p:nvPr/>
        </p:nvSpPr>
        <p:spPr>
          <a:xfrm>
            <a:off x="11096997" y="8804069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E30ED1E-9F92-4E35-5849-F05AFFBC0D22}"/>
              </a:ext>
            </a:extLst>
          </p:cNvPr>
          <p:cNvSpPr txBox="1"/>
          <p:nvPr/>
        </p:nvSpPr>
        <p:spPr>
          <a:xfrm>
            <a:off x="11096997" y="5323929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1229BBF-870C-B00B-8F2D-AE8B328E856E}"/>
              </a:ext>
            </a:extLst>
          </p:cNvPr>
          <p:cNvSpPr txBox="1"/>
          <p:nvPr/>
        </p:nvSpPr>
        <p:spPr>
          <a:xfrm>
            <a:off x="10272716" y="7641470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无需决策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636EC9C-A11A-2D50-3E22-C590AA140407}"/>
              </a:ext>
            </a:extLst>
          </p:cNvPr>
          <p:cNvSpPr txBox="1"/>
          <p:nvPr/>
        </p:nvSpPr>
        <p:spPr>
          <a:xfrm>
            <a:off x="11891739" y="7632171"/>
            <a:ext cx="15904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门店招牌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（推荐菜、热销菜）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3B07465-9815-AE1C-CB7E-76A676BF3FF4}"/>
              </a:ext>
            </a:extLst>
          </p:cNvPr>
          <p:cNvSpPr txBox="1"/>
          <p:nvPr/>
        </p:nvSpPr>
        <p:spPr>
          <a:xfrm>
            <a:off x="11528848" y="6260013"/>
            <a:ext cx="15794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时令菜品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FF26E4CF-90DB-598C-9AFE-D78610F8BE89}"/>
              </a:ext>
            </a:extLst>
          </p:cNvPr>
          <p:cNvSpPr txBox="1"/>
          <p:nvPr/>
        </p:nvSpPr>
        <p:spPr>
          <a:xfrm>
            <a:off x="11043434" y="6259843"/>
            <a:ext cx="846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当地特色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457AD17F-9842-1390-95B9-01871E6F3E37}"/>
              </a:ext>
            </a:extLst>
          </p:cNvPr>
          <p:cNvSpPr txBox="1"/>
          <p:nvPr/>
        </p:nvSpPr>
        <p:spPr>
          <a:xfrm>
            <a:off x="10254037" y="6269780"/>
            <a:ext cx="9009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特定菜品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（如战斧牛排）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781D296C-586F-02C6-861C-56D8B61D9169}"/>
              </a:ext>
            </a:extLst>
          </p:cNvPr>
          <p:cNvCxnSpPr>
            <a:cxnSpLocks/>
          </p:cNvCxnSpPr>
          <p:nvPr/>
        </p:nvCxnSpPr>
        <p:spPr>
          <a:xfrm>
            <a:off x="11102125" y="5878109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30092F03-49C9-1487-E5CB-0592A32804DD}"/>
              </a:ext>
            </a:extLst>
          </p:cNvPr>
          <p:cNvSpPr txBox="1"/>
          <p:nvPr/>
        </p:nvSpPr>
        <p:spPr>
          <a:xfrm>
            <a:off x="11894332" y="6091270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③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F149A0AA-0F58-7104-4DD4-F1C752754027}"/>
              </a:ext>
            </a:extLst>
          </p:cNvPr>
          <p:cNvSpPr txBox="1"/>
          <p:nvPr/>
        </p:nvSpPr>
        <p:spPr>
          <a:xfrm>
            <a:off x="10556482" y="6066274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①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1D4AB72-8549-E1B7-D017-B31307FCBFAF}"/>
              </a:ext>
            </a:extLst>
          </p:cNvPr>
          <p:cNvSpPr txBox="1"/>
          <p:nvPr/>
        </p:nvSpPr>
        <p:spPr>
          <a:xfrm>
            <a:off x="11281745" y="6091270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②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F9402935-EFD3-85D9-BB97-521CF68AC736}"/>
              </a:ext>
            </a:extLst>
          </p:cNvPr>
          <p:cNvSpPr txBox="1"/>
          <p:nvPr/>
        </p:nvSpPr>
        <p:spPr>
          <a:xfrm>
            <a:off x="12285042" y="7447167"/>
            <a:ext cx="846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⑤</a:t>
            </a:r>
          </a:p>
        </p:txBody>
      </p:sp>
      <p:graphicFrame>
        <p:nvGraphicFramePr>
          <p:cNvPr id="137" name="表格 136">
            <a:extLst>
              <a:ext uri="{FF2B5EF4-FFF2-40B4-BE49-F238E27FC236}">
                <a16:creationId xmlns:a16="http://schemas.microsoft.com/office/drawing/2014/main" id="{E0E2AA4A-C255-3367-0BF8-474ACBC13A17}"/>
              </a:ext>
            </a:extLst>
          </p:cNvPr>
          <p:cNvGraphicFramePr>
            <a:graphicFrameLocks noGrp="1"/>
          </p:cNvGraphicFramePr>
          <p:nvPr/>
        </p:nvGraphicFramePr>
        <p:xfrm>
          <a:off x="14636901" y="5516526"/>
          <a:ext cx="3557419" cy="3428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90">
                  <a:extLst>
                    <a:ext uri="{9D8B030D-6E8A-4147-A177-3AD203B41FA5}">
                      <a16:colId xmlns:a16="http://schemas.microsoft.com/office/drawing/2014/main" val="1332178433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016871320"/>
                    </a:ext>
                  </a:extLst>
                </a:gridCol>
                <a:gridCol w="641839">
                  <a:extLst>
                    <a:ext uri="{9D8B030D-6E8A-4147-A177-3AD203B41FA5}">
                      <a16:colId xmlns:a16="http://schemas.microsoft.com/office/drawing/2014/main" val="2121448744"/>
                    </a:ext>
                  </a:extLst>
                </a:gridCol>
                <a:gridCol w="958361">
                  <a:extLst>
                    <a:ext uri="{9D8B030D-6E8A-4147-A177-3AD203B41FA5}">
                      <a16:colId xmlns:a16="http://schemas.microsoft.com/office/drawing/2014/main" val="345367386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0246068"/>
                    </a:ext>
                  </a:extLst>
                </a:gridCol>
              </a:tblGrid>
              <a:tr h="2486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  <a:endParaRPr lang="zh-CN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决策逻辑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选菜标准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资产引用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依赖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现状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34842"/>
                  </a:ext>
                </a:extLst>
              </a:tr>
              <a:tr h="460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①特定菜品</a:t>
                      </a:r>
                      <a:endParaRPr lang="en-US" altLang="zh-CN" sz="9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以菜找店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一定需求规模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菜品信息</a:t>
                      </a:r>
                      <a:r>
                        <a:rPr lang="zh-CN" altLang="en-US" sz="8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（更新时间、原子菜关系、图谱关系等）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（搜索量、热度、评价量、交易量等）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店关系资产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（店内点赞</a:t>
                      </a:r>
                      <a:r>
                        <a:rPr lang="en-US" altLang="zh-CN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收藏、评价、交易等）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门店资产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1381"/>
                  </a:ext>
                </a:extLst>
              </a:tr>
              <a:tr h="9634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②当地特色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特色菜字典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+mn-ea"/>
                        </a:rPr>
                        <a:t>特色菜，陆续扩城扩菜</a:t>
                      </a:r>
                      <a:endParaRPr lang="en-US" altLang="zh-CN" sz="900" dirty="0">
                        <a:latin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115573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③时令菜品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时令菜知识图谱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试点春鲜榜，验证迭代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061612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④尝新尝热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找菜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新品标准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一定热度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点评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奶茶新品榜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53701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</a:t>
                      </a:r>
                      <a:r>
                        <a:rPr lang="zh-CN" altLang="en-US" sz="900" b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门店招牌</a:t>
                      </a:r>
                      <a:endParaRPr lang="en" sz="900" b="1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进店选菜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满足定义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门槛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推荐菜为主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92682"/>
                  </a:ext>
                </a:extLst>
              </a:tr>
            </a:tbl>
          </a:graphicData>
        </a:graphic>
      </p:graphicFrame>
      <p:sp>
        <p:nvSpPr>
          <p:cNvPr id="138" name="文本框 137">
            <a:extLst>
              <a:ext uri="{FF2B5EF4-FFF2-40B4-BE49-F238E27FC236}">
                <a16:creationId xmlns:a16="http://schemas.microsoft.com/office/drawing/2014/main" id="{38D83D43-BD56-1703-9ECB-383E72E2DB83}"/>
              </a:ext>
            </a:extLst>
          </p:cNvPr>
          <p:cNvSpPr txBox="1"/>
          <p:nvPr/>
        </p:nvSpPr>
        <p:spPr>
          <a:xfrm>
            <a:off x="12685358" y="6257079"/>
            <a:ext cx="855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尝新尝热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6B6CD134-6F93-C489-4BE8-856F77DD22DE}"/>
              </a:ext>
            </a:extLst>
          </p:cNvPr>
          <p:cNvSpPr txBox="1"/>
          <p:nvPr/>
        </p:nvSpPr>
        <p:spPr>
          <a:xfrm>
            <a:off x="12679848" y="6091270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④</a:t>
            </a:r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8404799D-95BB-2427-B91C-3E5F10C4079B}"/>
              </a:ext>
            </a:extLst>
          </p:cNvPr>
          <p:cNvCxnSpPr>
            <a:cxnSpLocks/>
          </p:cNvCxnSpPr>
          <p:nvPr/>
        </p:nvCxnSpPr>
        <p:spPr>
          <a:xfrm>
            <a:off x="12702365" y="5878109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DB5B369B-B152-97D8-25BD-DC3B0F0DA661}"/>
              </a:ext>
            </a:extLst>
          </p:cNvPr>
          <p:cNvSpPr/>
          <p:nvPr/>
        </p:nvSpPr>
        <p:spPr>
          <a:xfrm>
            <a:off x="10684806" y="5593368"/>
            <a:ext cx="834599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菜品精搜</a:t>
            </a: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9AD5ADBE-C6B9-8543-3570-E26B8E06514C}"/>
              </a:ext>
            </a:extLst>
          </p:cNvPr>
          <p:cNvSpPr/>
          <p:nvPr/>
        </p:nvSpPr>
        <p:spPr>
          <a:xfrm>
            <a:off x="12267512" y="8294083"/>
            <a:ext cx="893370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、点餐</a:t>
            </a: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98707BC4-684C-7C9F-37C8-1FAC3E831A20}"/>
              </a:ext>
            </a:extLst>
          </p:cNvPr>
          <p:cNvSpPr/>
          <p:nvPr/>
        </p:nvSpPr>
        <p:spPr>
          <a:xfrm>
            <a:off x="12122966" y="5569378"/>
            <a:ext cx="1328305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菜品泛搜、推荐</a:t>
            </a:r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F31E6E79-E636-2F4A-9356-229E06CF6C5C}"/>
              </a:ext>
            </a:extLst>
          </p:cNvPr>
          <p:cNvSpPr/>
          <p:nvPr/>
        </p:nvSpPr>
        <p:spPr>
          <a:xfrm>
            <a:off x="8583251" y="-1893083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C0ED0B-C122-CF65-DA63-88ECCA4043B8}"/>
              </a:ext>
            </a:extLst>
          </p:cNvPr>
          <p:cNvCxnSpPr>
            <a:cxnSpLocks/>
          </p:cNvCxnSpPr>
          <p:nvPr/>
        </p:nvCxnSpPr>
        <p:spPr>
          <a:xfrm>
            <a:off x="9478601" y="1012042"/>
            <a:ext cx="3390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0746F5-90CE-30EC-EC1B-A7139233D59A}"/>
              </a:ext>
            </a:extLst>
          </p:cNvPr>
          <p:cNvCxnSpPr>
            <a:cxnSpLocks/>
          </p:cNvCxnSpPr>
          <p:nvPr/>
        </p:nvCxnSpPr>
        <p:spPr>
          <a:xfrm>
            <a:off x="10173924" y="-216683"/>
            <a:ext cx="1962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B10D63C1-F18A-FF6C-57EE-2105A06C0371}"/>
              </a:ext>
            </a:extLst>
          </p:cNvPr>
          <p:cNvSpPr txBox="1">
            <a:spLocks/>
          </p:cNvSpPr>
          <p:nvPr/>
        </p:nvSpPr>
        <p:spPr>
          <a:xfrm>
            <a:off x="9255539" y="137391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安全层</a:t>
            </a:r>
            <a:endParaRPr lang="en-US" altLang="zh-CN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（资质、食安、作弊</a:t>
            </a:r>
            <a:r>
              <a:rPr lang="en-US" altLang="zh-CN" dirty="0">
                <a:latin typeface="+mn-ea"/>
              </a:rPr>
              <a:t>…</a:t>
            </a:r>
            <a:r>
              <a:rPr lang="zh-CN" altLang="en-US" dirty="0">
                <a:latin typeface="+mn-ea"/>
              </a:rPr>
              <a:t>）</a:t>
            </a:r>
          </a:p>
        </p:txBody>
      </p:sp>
      <p:sp>
        <p:nvSpPr>
          <p:cNvPr id="18" name="文本占位符 1">
            <a:extLst>
              <a:ext uri="{FF2B5EF4-FFF2-40B4-BE49-F238E27FC236}">
                <a16:creationId xmlns:a16="http://schemas.microsoft.com/office/drawing/2014/main" id="{E44B8C32-0CDB-6777-550A-DCCB486A49B5}"/>
              </a:ext>
            </a:extLst>
          </p:cNvPr>
          <p:cNvSpPr txBox="1">
            <a:spLocks/>
          </p:cNvSpPr>
          <p:nvPr/>
        </p:nvSpPr>
        <p:spPr>
          <a:xfrm>
            <a:off x="9255539" y="70290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共识层</a:t>
            </a:r>
            <a:endParaRPr lang="en-US" altLang="zh-CN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（数据、资产</a:t>
            </a:r>
            <a:r>
              <a:rPr lang="en-US" altLang="zh-CN" dirty="0">
                <a:latin typeface="+mn-ea"/>
              </a:rPr>
              <a:t>…</a:t>
            </a:r>
            <a:r>
              <a:rPr lang="zh-CN" altLang="en-US" dirty="0">
                <a:latin typeface="+mn-ea"/>
              </a:rPr>
              <a:t>）</a:t>
            </a:r>
          </a:p>
        </p:txBody>
      </p:sp>
      <p:sp>
        <p:nvSpPr>
          <p:cNvPr id="19" name="文本占位符 1">
            <a:extLst>
              <a:ext uri="{FF2B5EF4-FFF2-40B4-BE49-F238E27FC236}">
                <a16:creationId xmlns:a16="http://schemas.microsoft.com/office/drawing/2014/main" id="{19754BBE-2F37-FEC1-3031-3509D6E119C8}"/>
              </a:ext>
            </a:extLst>
          </p:cNvPr>
          <p:cNvSpPr txBox="1">
            <a:spLocks/>
          </p:cNvSpPr>
          <p:nvPr/>
        </p:nvSpPr>
        <p:spPr>
          <a:xfrm>
            <a:off x="9255540" y="-1181249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期待层</a:t>
            </a:r>
            <a:endParaRPr lang="en-US" altLang="zh-CN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（创新、亮点</a:t>
            </a:r>
            <a:r>
              <a:rPr lang="en-US" altLang="zh-CN" dirty="0">
                <a:latin typeface="+mn-ea"/>
              </a:rPr>
              <a:t>…</a:t>
            </a:r>
            <a:r>
              <a:rPr lang="zh-CN" altLang="en-US" dirty="0">
                <a:latin typeface="+mn-ea"/>
              </a:rPr>
              <a:t>）</a:t>
            </a:r>
          </a:p>
        </p:txBody>
      </p: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6E77DCBC-CD89-69A2-201F-BDC6AA0D625B}"/>
              </a:ext>
            </a:extLst>
          </p:cNvPr>
          <p:cNvSpPr/>
          <p:nvPr/>
        </p:nvSpPr>
        <p:spPr>
          <a:xfrm>
            <a:off x="8830187" y="129163"/>
            <a:ext cx="516405" cy="32466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CFF88C-1FB2-D5F2-529F-0D39B24E7750}"/>
              </a:ext>
            </a:extLst>
          </p:cNvPr>
          <p:cNvSpPr/>
          <p:nvPr/>
        </p:nvSpPr>
        <p:spPr>
          <a:xfrm>
            <a:off x="9144001" y="3170731"/>
            <a:ext cx="2556869" cy="7057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安全层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（资质、食安、作弊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…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AD6C4392-BE41-BEA0-976F-0269F49097C3}"/>
              </a:ext>
            </a:extLst>
          </p:cNvPr>
          <p:cNvSpPr txBox="1">
            <a:spLocks/>
          </p:cNvSpPr>
          <p:nvPr/>
        </p:nvSpPr>
        <p:spPr>
          <a:xfrm>
            <a:off x="9144000" y="3170731"/>
            <a:ext cx="2556870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zh-CN" altLang="en-US" sz="1600" dirty="0">
              <a:latin typeface="+mn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0D81071-9973-0236-A640-966E3E6E2698}"/>
              </a:ext>
            </a:extLst>
          </p:cNvPr>
          <p:cNvSpPr/>
          <p:nvPr/>
        </p:nvSpPr>
        <p:spPr>
          <a:xfrm>
            <a:off x="4688323" y="2897328"/>
            <a:ext cx="2556869" cy="7057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资产量</a:t>
            </a:r>
          </a:p>
        </p:txBody>
      </p:sp>
      <p:sp>
        <p:nvSpPr>
          <p:cNvPr id="30" name="文本占位符 1">
            <a:extLst>
              <a:ext uri="{FF2B5EF4-FFF2-40B4-BE49-F238E27FC236}">
                <a16:creationId xmlns:a16="http://schemas.microsoft.com/office/drawing/2014/main" id="{EBEDD78D-463D-1381-BB4F-07D359313139}"/>
              </a:ext>
            </a:extLst>
          </p:cNvPr>
          <p:cNvSpPr txBox="1">
            <a:spLocks/>
          </p:cNvSpPr>
          <p:nvPr/>
        </p:nvSpPr>
        <p:spPr>
          <a:xfrm>
            <a:off x="4411802" y="1021031"/>
            <a:ext cx="2556870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zh-CN" altLang="en-US" sz="1600" dirty="0">
              <a:latin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D8CCD2-EE92-572E-53B6-2503A5CB956B}"/>
              </a:ext>
            </a:extLst>
          </p:cNvPr>
          <p:cNvSpPr/>
          <p:nvPr/>
        </p:nvSpPr>
        <p:spPr>
          <a:xfrm>
            <a:off x="4167268" y="1021031"/>
            <a:ext cx="2556869" cy="7057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资产量</a:t>
            </a:r>
          </a:p>
        </p:txBody>
      </p:sp>
    </p:spTree>
    <p:extLst>
      <p:ext uri="{BB962C8B-B14F-4D97-AF65-F5344CB8AC3E}">
        <p14:creationId xmlns:p14="http://schemas.microsoft.com/office/powerpoint/2010/main" val="500318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B528635-AF65-CBA7-7E5F-315E60158824}"/>
              </a:ext>
            </a:extLst>
          </p:cNvPr>
          <p:cNvSpPr/>
          <p:nvPr/>
        </p:nvSpPr>
        <p:spPr>
          <a:xfrm flipH="1">
            <a:off x="4106684" y="101339"/>
            <a:ext cx="3343275" cy="440019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等腰三角形 4">
            <a:extLst>
              <a:ext uri="{FF2B5EF4-FFF2-40B4-BE49-F238E27FC236}">
                <a16:creationId xmlns:a16="http://schemas.microsoft.com/office/drawing/2014/main" id="{798A5E47-636C-66B0-E695-CAA69C645C49}"/>
              </a:ext>
            </a:extLst>
          </p:cNvPr>
          <p:cNvSpPr/>
          <p:nvPr/>
        </p:nvSpPr>
        <p:spPr>
          <a:xfrm>
            <a:off x="8394700" y="-358691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3A59F87-917D-1377-7A52-B7EF5D0ABFBF}"/>
              </a:ext>
            </a:extLst>
          </p:cNvPr>
          <p:cNvCxnSpPr>
            <a:cxnSpLocks/>
          </p:cNvCxnSpPr>
          <p:nvPr/>
        </p:nvCxnSpPr>
        <p:spPr>
          <a:xfrm>
            <a:off x="9290050" y="2546434"/>
            <a:ext cx="3390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EF0E61F-3C93-79EF-B566-1E9F1D78CBD6}"/>
              </a:ext>
            </a:extLst>
          </p:cNvPr>
          <p:cNvCxnSpPr>
            <a:cxnSpLocks/>
          </p:cNvCxnSpPr>
          <p:nvPr/>
        </p:nvCxnSpPr>
        <p:spPr>
          <a:xfrm>
            <a:off x="9985373" y="1317709"/>
            <a:ext cx="1962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35A3B7C8-002A-B240-CF8C-53141A0198C4}"/>
              </a:ext>
            </a:extLst>
          </p:cNvPr>
          <p:cNvSpPr txBox="1">
            <a:spLocks/>
          </p:cNvSpPr>
          <p:nvPr/>
        </p:nvSpPr>
        <p:spPr>
          <a:xfrm>
            <a:off x="9066988" y="2908305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安全层</a:t>
            </a:r>
            <a:endParaRPr lang="en-US" altLang="zh-CN" dirty="0"/>
          </a:p>
          <a:p>
            <a:pPr marL="0" indent="0" algn="ctr">
              <a:buNone/>
            </a:pPr>
            <a:r>
              <a:rPr lang="zh-CN" altLang="en-US" dirty="0"/>
              <a:t>（资质、食安、作弊</a:t>
            </a:r>
            <a:r>
              <a:rPr lang="en-US" altLang="zh-CN" dirty="0"/>
              <a:t>…</a:t>
            </a:r>
            <a:r>
              <a:rPr lang="zh-CN" altLang="en-US" dirty="0"/>
              <a:t>）</a:t>
            </a:r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5F94431D-8248-0360-0872-632B65C6CE1D}"/>
              </a:ext>
            </a:extLst>
          </p:cNvPr>
          <p:cNvSpPr txBox="1">
            <a:spLocks/>
          </p:cNvSpPr>
          <p:nvPr/>
        </p:nvSpPr>
        <p:spPr>
          <a:xfrm>
            <a:off x="9066988" y="1604682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基本层</a:t>
            </a:r>
            <a:endParaRPr lang="en-US" altLang="zh-CN" dirty="0"/>
          </a:p>
          <a:p>
            <a:pPr marL="0" indent="0" algn="ctr">
              <a:buNone/>
            </a:pPr>
            <a:r>
              <a:rPr lang="zh-CN" altLang="en-US" dirty="0"/>
              <a:t>（数据、资产</a:t>
            </a:r>
            <a:r>
              <a:rPr lang="en-US" altLang="zh-CN" dirty="0"/>
              <a:t>…</a:t>
            </a:r>
            <a:r>
              <a:rPr lang="zh-CN" altLang="en-US" dirty="0"/>
              <a:t>）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DAE7CD89-592E-A1D1-6829-C12EC4B86AA0}"/>
              </a:ext>
            </a:extLst>
          </p:cNvPr>
          <p:cNvSpPr txBox="1">
            <a:spLocks/>
          </p:cNvSpPr>
          <p:nvPr/>
        </p:nvSpPr>
        <p:spPr>
          <a:xfrm>
            <a:off x="9066989" y="35314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期待层</a:t>
            </a:r>
            <a:endParaRPr lang="en-US" altLang="zh-CN" dirty="0"/>
          </a:p>
          <a:p>
            <a:pPr marL="0" indent="0" algn="ctr">
              <a:buNone/>
            </a:pPr>
            <a:r>
              <a:rPr lang="zh-CN" altLang="en-US" dirty="0"/>
              <a:t>（创新、亮点</a:t>
            </a:r>
            <a:r>
              <a:rPr lang="en-US" altLang="zh-CN" dirty="0"/>
              <a:t>…</a:t>
            </a:r>
            <a:r>
              <a:rPr lang="zh-CN" altLang="en-US" dirty="0"/>
              <a:t>）</a:t>
            </a:r>
          </a:p>
        </p:txBody>
      </p:sp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57EA3899-8321-8B9F-2FD9-FB1B55B2A4F2}"/>
              </a:ext>
            </a:extLst>
          </p:cNvPr>
          <p:cNvSpPr txBox="1">
            <a:spLocks/>
          </p:cNvSpPr>
          <p:nvPr/>
        </p:nvSpPr>
        <p:spPr>
          <a:xfrm>
            <a:off x="9276569" y="-3042653"/>
            <a:ext cx="4261631" cy="122044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上面层有一定的个性化部分，比如好不好吃，坚守本味</a:t>
            </a:r>
            <a:r>
              <a:rPr lang="en-US" altLang="zh-CN" dirty="0"/>
              <a:t>/</a:t>
            </a:r>
            <a:r>
              <a:rPr lang="zh-CN" altLang="en-US" dirty="0"/>
              <a:t>融入改良，价格带，那些亮点吸引人等</a:t>
            </a:r>
            <a:endParaRPr lang="en-US" altLang="zh-CN" dirty="0"/>
          </a:p>
        </p:txBody>
      </p:sp>
      <p:sp>
        <p:nvSpPr>
          <p:cNvPr id="22" name="文本占位符 1">
            <a:extLst>
              <a:ext uri="{FF2B5EF4-FFF2-40B4-BE49-F238E27FC236}">
                <a16:creationId xmlns:a16="http://schemas.microsoft.com/office/drawing/2014/main" id="{C914D716-ACEC-65B9-D76B-2A083A031C4F}"/>
              </a:ext>
            </a:extLst>
          </p:cNvPr>
          <p:cNvSpPr txBox="1">
            <a:spLocks/>
          </p:cNvSpPr>
          <p:nvPr/>
        </p:nvSpPr>
        <p:spPr>
          <a:xfrm>
            <a:off x="13438280" y="-758620"/>
            <a:ext cx="1990725" cy="407034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一票否决</a:t>
            </a:r>
            <a:endParaRPr lang="en-US" altLang="zh-CN" dirty="0"/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AE98191E-1646-7A13-3883-2D716259B2B8}"/>
              </a:ext>
            </a:extLst>
          </p:cNvPr>
          <p:cNvSpPr txBox="1">
            <a:spLocks/>
          </p:cNvSpPr>
          <p:nvPr/>
        </p:nvSpPr>
        <p:spPr>
          <a:xfrm>
            <a:off x="13438279" y="-2105137"/>
            <a:ext cx="1990725" cy="407034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代表大众</a:t>
            </a:r>
            <a:endParaRPr lang="en-US" altLang="zh-CN" dirty="0"/>
          </a:p>
        </p:txBody>
      </p:sp>
      <p:sp>
        <p:nvSpPr>
          <p:cNvPr id="28" name="文本占位符 1">
            <a:extLst>
              <a:ext uri="{FF2B5EF4-FFF2-40B4-BE49-F238E27FC236}">
                <a16:creationId xmlns:a16="http://schemas.microsoft.com/office/drawing/2014/main" id="{F2ED582F-CF6D-4FAF-3798-B4D8641268F0}"/>
              </a:ext>
            </a:extLst>
          </p:cNvPr>
          <p:cNvSpPr txBox="1">
            <a:spLocks/>
          </p:cNvSpPr>
          <p:nvPr/>
        </p:nvSpPr>
        <p:spPr>
          <a:xfrm>
            <a:off x="13438278" y="-3451654"/>
            <a:ext cx="1990725" cy="407034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挖掘补充</a:t>
            </a:r>
            <a:endParaRPr lang="en-US" altLang="zh-CN" dirty="0"/>
          </a:p>
        </p:txBody>
      </p:sp>
      <p:sp>
        <p:nvSpPr>
          <p:cNvPr id="30" name="文本占位符 1">
            <a:extLst>
              <a:ext uri="{FF2B5EF4-FFF2-40B4-BE49-F238E27FC236}">
                <a16:creationId xmlns:a16="http://schemas.microsoft.com/office/drawing/2014/main" id="{FE389FCE-DF46-EB6C-FAF9-94471B0C305B}"/>
              </a:ext>
            </a:extLst>
          </p:cNvPr>
          <p:cNvSpPr txBox="1">
            <a:spLocks/>
          </p:cNvSpPr>
          <p:nvPr/>
        </p:nvSpPr>
        <p:spPr>
          <a:xfrm>
            <a:off x="5187516" y="-90779"/>
            <a:ext cx="1298714" cy="42998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线下验证</a:t>
            </a:r>
            <a:endParaRPr lang="en-US" altLang="zh-CN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3BECB4B-8A62-7C43-50C6-92CD6A27E30B}"/>
              </a:ext>
            </a:extLst>
          </p:cNvPr>
          <p:cNvSpPr/>
          <p:nvPr/>
        </p:nvSpPr>
        <p:spPr>
          <a:xfrm>
            <a:off x="4540474" y="457167"/>
            <a:ext cx="2453993" cy="8040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走访抽样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7B2E21E-E32E-536F-FCCF-FA5DD9060EE9}"/>
              </a:ext>
            </a:extLst>
          </p:cNvPr>
          <p:cNvSpPr/>
          <p:nvPr/>
        </p:nvSpPr>
        <p:spPr>
          <a:xfrm>
            <a:off x="4540473" y="1881287"/>
            <a:ext cx="2453993" cy="8040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前线联动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D67F28B-DBE5-817B-ABC9-7AEDF5D1AEE2}"/>
              </a:ext>
            </a:extLst>
          </p:cNvPr>
          <p:cNvSpPr/>
          <p:nvPr/>
        </p:nvSpPr>
        <p:spPr>
          <a:xfrm>
            <a:off x="4563195" y="3305408"/>
            <a:ext cx="2453993" cy="8040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复用提报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875975E2-9E02-60F8-0D60-8A2D3B73D837}"/>
              </a:ext>
            </a:extLst>
          </p:cNvPr>
          <p:cNvSpPr/>
          <p:nvPr/>
        </p:nvSpPr>
        <p:spPr>
          <a:xfrm>
            <a:off x="-71226" y="-2828335"/>
            <a:ext cx="727117" cy="8380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21B1D2BC-1F63-178E-7DAC-1CBB58EC350E}"/>
              </a:ext>
            </a:extLst>
          </p:cNvPr>
          <p:cNvSpPr/>
          <p:nvPr/>
        </p:nvSpPr>
        <p:spPr>
          <a:xfrm>
            <a:off x="-66023" y="-2732840"/>
            <a:ext cx="727117" cy="62770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核心资产引用</a:t>
            </a:r>
            <a:endParaRPr lang="en-US" sz="1200" b="1" dirty="0">
              <a:latin typeface="+mn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D210C30-3469-9B14-0DB3-28D0B0F2E686}"/>
              </a:ext>
            </a:extLst>
          </p:cNvPr>
          <p:cNvGrpSpPr/>
          <p:nvPr/>
        </p:nvGrpSpPr>
        <p:grpSpPr>
          <a:xfrm>
            <a:off x="651208" y="-2532194"/>
            <a:ext cx="1720517" cy="542182"/>
            <a:chOff x="826001" y="3486588"/>
            <a:chExt cx="2115811" cy="1051279"/>
          </a:xfrm>
        </p:grpSpPr>
        <p:sp>
          <p:nvSpPr>
            <p:cNvPr id="37" name="Shape 86">
              <a:extLst>
                <a:ext uri="{FF2B5EF4-FFF2-40B4-BE49-F238E27FC236}">
                  <a16:creationId xmlns:a16="http://schemas.microsoft.com/office/drawing/2014/main" id="{D14A0439-A2A8-5F82-6315-5FA38C83D8FF}"/>
                </a:ext>
              </a:extLst>
            </p:cNvPr>
            <p:cNvSpPr/>
            <p:nvPr/>
          </p:nvSpPr>
          <p:spPr>
            <a:xfrm>
              <a:off x="873934" y="3493475"/>
              <a:ext cx="2067878" cy="1044392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2805E51-BDE2-A456-329F-9B252F2D36F9}"/>
                </a:ext>
              </a:extLst>
            </p:cNvPr>
            <p:cNvSpPr txBox="1"/>
            <p:nvPr/>
          </p:nvSpPr>
          <p:spPr>
            <a:xfrm>
              <a:off x="826001" y="3486588"/>
              <a:ext cx="2115811" cy="984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b="1" dirty="0">
                  <a:latin typeface="+mn-ea"/>
                </a:rPr>
                <a:t>当地人推荐：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本地用户评价+城市特色品类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lang="en-US" altLang="zh-CN" sz="9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2062124-4F83-1799-0FA0-8BFDB96487AE}"/>
              </a:ext>
            </a:extLst>
          </p:cNvPr>
          <p:cNvGrpSpPr/>
          <p:nvPr/>
        </p:nvGrpSpPr>
        <p:grpSpPr>
          <a:xfrm>
            <a:off x="2429908" y="-2532194"/>
            <a:ext cx="1797228" cy="538630"/>
            <a:chOff x="2619908" y="3492690"/>
            <a:chExt cx="1797228" cy="1044393"/>
          </a:xfrm>
        </p:grpSpPr>
        <p:sp>
          <p:nvSpPr>
            <p:cNvPr id="40" name="Shape 86">
              <a:extLst>
                <a:ext uri="{FF2B5EF4-FFF2-40B4-BE49-F238E27FC236}">
                  <a16:creationId xmlns:a16="http://schemas.microsoft.com/office/drawing/2014/main" id="{6975FEC6-EEA2-6A90-5032-E8C56471D43F}"/>
                </a:ext>
              </a:extLst>
            </p:cNvPr>
            <p:cNvSpPr/>
            <p:nvPr/>
          </p:nvSpPr>
          <p:spPr>
            <a:xfrm>
              <a:off x="2619908" y="3492690"/>
              <a:ext cx="1797228" cy="1044393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D8550AF-96EB-6ADB-A59B-5E0B4772E824}"/>
                </a:ext>
              </a:extLst>
            </p:cNvPr>
            <p:cNvSpPr txBox="1"/>
            <p:nvPr/>
          </p:nvSpPr>
          <p:spPr>
            <a:xfrm>
              <a:off x="2619908" y="3539914"/>
              <a:ext cx="1719056" cy="984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latin typeface="+mn-ea"/>
                  <a:sym typeface="Wingdings" panose="05000000000000000000" pitchFamily="2" charset="2"/>
                </a:rPr>
                <a:t>烟火榜：</a:t>
              </a:r>
              <a:r>
                <a:rPr lang="zh-CN" altLang="en-US" sz="900" dirty="0">
                  <a:latin typeface="+mn-ea"/>
                  <a:sym typeface="Wingdings" panose="05000000000000000000" pitchFamily="2" charset="2"/>
                </a:rPr>
                <a:t>烟火主题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评价+现炒现制标签+GTV/核销量/流量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3E98B6F-FF42-6689-2223-DA44A89F36AE}"/>
              </a:ext>
            </a:extLst>
          </p:cNvPr>
          <p:cNvGrpSpPr/>
          <p:nvPr/>
        </p:nvGrpSpPr>
        <p:grpSpPr>
          <a:xfrm>
            <a:off x="4248718" y="-2532194"/>
            <a:ext cx="2275357" cy="542182"/>
            <a:chOff x="4480520" y="3480783"/>
            <a:chExt cx="2275357" cy="1051278"/>
          </a:xfrm>
        </p:grpSpPr>
        <p:sp>
          <p:nvSpPr>
            <p:cNvPr id="43" name="Shape 86">
              <a:extLst>
                <a:ext uri="{FF2B5EF4-FFF2-40B4-BE49-F238E27FC236}">
                  <a16:creationId xmlns:a16="http://schemas.microsoft.com/office/drawing/2014/main" id="{7E736E00-D175-C10F-62CA-E1F751F0FC7F}"/>
                </a:ext>
              </a:extLst>
            </p:cNvPr>
            <p:cNvSpPr/>
            <p:nvPr/>
          </p:nvSpPr>
          <p:spPr>
            <a:xfrm>
              <a:off x="4502619" y="3480783"/>
              <a:ext cx="2250704" cy="1051278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zh-CN" altLang="en-US" dirty="0">
                <a:latin typeface="+mn-ea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DF19D9D-D16A-5EF8-6270-7299388A1F79}"/>
                </a:ext>
              </a:extLst>
            </p:cNvPr>
            <p:cNvSpPr txBox="1"/>
            <p:nvPr/>
          </p:nvSpPr>
          <p:spPr>
            <a:xfrm>
              <a:off x="4480520" y="3546613"/>
              <a:ext cx="2275357" cy="650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900" b="1" dirty="0">
                  <a:latin typeface="+mn-ea"/>
                </a:rPr>
                <a:t>约会榜：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约会主题评价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+景观特色等标签+GTV/核销量/流量+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预订/双人餐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sp>
        <p:nvSpPr>
          <p:cNvPr id="45" name="Shape 86">
            <a:extLst>
              <a:ext uri="{FF2B5EF4-FFF2-40B4-BE49-F238E27FC236}">
                <a16:creationId xmlns:a16="http://schemas.microsoft.com/office/drawing/2014/main" id="{6D0353E2-7B0A-3EEF-D4FE-25D797393FB9}"/>
              </a:ext>
            </a:extLst>
          </p:cNvPr>
          <p:cNvSpPr/>
          <p:nvPr/>
        </p:nvSpPr>
        <p:spPr>
          <a:xfrm>
            <a:off x="6579516" y="-2532194"/>
            <a:ext cx="2279106" cy="542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6DC4F84-EEF1-3774-4602-A8A8D1F03B8C}"/>
              </a:ext>
            </a:extLst>
          </p:cNvPr>
          <p:cNvSpPr txBox="1"/>
          <p:nvPr/>
        </p:nvSpPr>
        <p:spPr>
          <a:xfrm>
            <a:off x="6579516" y="-2532194"/>
            <a:ext cx="22507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亲子榜：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亲子</a:t>
            </a:r>
            <a:r>
              <a:rPr lang="zh-CN" altLang="en-US" sz="900" dirty="0">
                <a:latin typeface="+mn-ea"/>
              </a:rPr>
              <a:t>主题评价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+亲子设施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不可吸烟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等标签+GTV/核销量/流量+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儿童套餐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endParaRPr lang="en-US" altLang="zh-CN" sz="9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7" name="Shape 70">
            <a:extLst>
              <a:ext uri="{FF2B5EF4-FFF2-40B4-BE49-F238E27FC236}">
                <a16:creationId xmlns:a16="http://schemas.microsoft.com/office/drawing/2014/main" id="{0CAB1BB6-CEB7-5667-5484-1F0119DEE306}"/>
              </a:ext>
            </a:extLst>
          </p:cNvPr>
          <p:cNvSpPr/>
          <p:nvPr/>
        </p:nvSpPr>
        <p:spPr>
          <a:xfrm>
            <a:off x="690186" y="-2828336"/>
            <a:ext cx="8172842" cy="2158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900" dirty="0">
                <a:latin typeface="+mn-ea"/>
              </a:rPr>
              <a:t>主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入围：</a:t>
            </a:r>
            <a:r>
              <a:rPr lang="en-US" altLang="zh-CN" sz="900" dirty="0">
                <a:latin typeface="+mn-ea"/>
              </a:rPr>
              <a:t>UGC</a:t>
            </a:r>
            <a:r>
              <a:rPr lang="zh-CN" altLang="en-US" sz="900" dirty="0">
                <a:latin typeface="+mn-ea"/>
              </a:rPr>
              <a:t>挖掘主题相关度。辅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排序：</a:t>
            </a:r>
            <a:r>
              <a:rPr lang="en-US" altLang="zh-CN" sz="900" dirty="0">
                <a:latin typeface="+mn-ea"/>
              </a:rPr>
              <a:t>B(D)GC</a:t>
            </a:r>
            <a:r>
              <a:rPr lang="zh-CN" altLang="en-US" sz="900" dirty="0">
                <a:latin typeface="+mn-ea"/>
              </a:rPr>
              <a:t>信息标签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用户行为资产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（交履服务）</a:t>
            </a:r>
            <a:r>
              <a:rPr lang="en-US" altLang="zh-CN" sz="900" dirty="0">
                <a:latin typeface="+mn-ea"/>
              </a:rPr>
              <a:t>	</a:t>
            </a:r>
            <a:endParaRPr lang="zh-CN" altLang="en-US" sz="900" dirty="0">
              <a:latin typeface="+mn-ea"/>
            </a:endParaRPr>
          </a:p>
        </p:txBody>
      </p:sp>
      <p:sp>
        <p:nvSpPr>
          <p:cNvPr id="48" name="箭头: 左右 47">
            <a:extLst>
              <a:ext uri="{FF2B5EF4-FFF2-40B4-BE49-F238E27FC236}">
                <a16:creationId xmlns:a16="http://schemas.microsoft.com/office/drawing/2014/main" id="{7DF9069A-4D43-E8F0-A667-A34353227656}"/>
              </a:ext>
            </a:extLst>
          </p:cNvPr>
          <p:cNvSpPr/>
          <p:nvPr/>
        </p:nvSpPr>
        <p:spPr>
          <a:xfrm>
            <a:off x="7746639" y="2139104"/>
            <a:ext cx="516405" cy="32466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0B01075-B796-A1FC-AA3A-C770A16CB229}"/>
              </a:ext>
            </a:extLst>
          </p:cNvPr>
          <p:cNvSpPr/>
          <p:nvPr/>
        </p:nvSpPr>
        <p:spPr>
          <a:xfrm flipH="1">
            <a:off x="466729" y="78387"/>
            <a:ext cx="3343275" cy="440019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4" name="文本占位符 1">
            <a:extLst>
              <a:ext uri="{FF2B5EF4-FFF2-40B4-BE49-F238E27FC236}">
                <a16:creationId xmlns:a16="http://schemas.microsoft.com/office/drawing/2014/main" id="{9EAF495B-9B12-A433-6EB9-BDD1715ADFCF}"/>
              </a:ext>
            </a:extLst>
          </p:cNvPr>
          <p:cNvSpPr txBox="1">
            <a:spLocks/>
          </p:cNvSpPr>
          <p:nvPr/>
        </p:nvSpPr>
        <p:spPr>
          <a:xfrm>
            <a:off x="1267255" y="-102178"/>
            <a:ext cx="1720517" cy="407034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线上</a:t>
            </a:r>
            <a:r>
              <a:rPr lang="en-US" altLang="zh-CN" dirty="0"/>
              <a:t>+AI</a:t>
            </a:r>
            <a:r>
              <a:rPr lang="zh-CN" altLang="en-US" dirty="0"/>
              <a:t>验证</a:t>
            </a:r>
            <a:endParaRPr lang="en-US" altLang="zh-CN" dirty="0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2CC61A69-248F-1A34-26B7-1518538A9AE9}"/>
              </a:ext>
            </a:extLst>
          </p:cNvPr>
          <p:cNvSpPr/>
          <p:nvPr/>
        </p:nvSpPr>
        <p:spPr>
          <a:xfrm>
            <a:off x="900519" y="434215"/>
            <a:ext cx="2453993" cy="8269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挖掘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BA6048C-3198-4C71-CBDB-4BA2F648B9A2}"/>
              </a:ext>
            </a:extLst>
          </p:cNvPr>
          <p:cNvSpPr/>
          <p:nvPr/>
        </p:nvSpPr>
        <p:spPr>
          <a:xfrm>
            <a:off x="900518" y="1858335"/>
            <a:ext cx="2453993" cy="8269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信号交叉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4BEDDFA-4415-8C4D-F79D-5FE87474B90F}"/>
              </a:ext>
            </a:extLst>
          </p:cNvPr>
          <p:cNvSpPr/>
          <p:nvPr/>
        </p:nvSpPr>
        <p:spPr>
          <a:xfrm>
            <a:off x="923240" y="3282456"/>
            <a:ext cx="2453993" cy="8269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外部采集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3806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等腰三角形 30">
            <a:extLst>
              <a:ext uri="{FF2B5EF4-FFF2-40B4-BE49-F238E27FC236}">
                <a16:creationId xmlns:a16="http://schemas.microsoft.com/office/drawing/2014/main" id="{F1FDB5D0-DEFB-FC1D-5432-ACEFD5FB047B}"/>
              </a:ext>
            </a:extLst>
          </p:cNvPr>
          <p:cNvSpPr/>
          <p:nvPr/>
        </p:nvSpPr>
        <p:spPr>
          <a:xfrm>
            <a:off x="1534565" y="-386344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BC6D777C-AB91-0D92-FB71-BDDD57757BF6}"/>
              </a:ext>
            </a:extLst>
          </p:cNvPr>
          <p:cNvSpPr/>
          <p:nvPr/>
        </p:nvSpPr>
        <p:spPr>
          <a:xfrm>
            <a:off x="2520098" y="-381000"/>
            <a:ext cx="1041400" cy="1308100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08100"/>
              <a:gd name="connsiteX1" fmla="*/ 0 w 1041400"/>
              <a:gd name="connsiteY1" fmla="*/ 1308100 h 1308100"/>
              <a:gd name="connsiteX2" fmla="*/ 628650 w 1041400"/>
              <a:gd name="connsiteY2" fmla="*/ 1289050 h 1308100"/>
              <a:gd name="connsiteX3" fmla="*/ 1041400 w 1041400"/>
              <a:gd name="connsiteY3" fmla="*/ 1308100 h 1308100"/>
              <a:gd name="connsiteX4" fmla="*/ 533400 w 1041400"/>
              <a:gd name="connsiteY4" fmla="*/ 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1308100">
                <a:moveTo>
                  <a:pt x="533400" y="0"/>
                </a:moveTo>
                <a:lnTo>
                  <a:pt x="0" y="1308100"/>
                </a:lnTo>
                <a:lnTo>
                  <a:pt x="628650" y="1289050"/>
                </a:lnTo>
                <a:lnTo>
                  <a:pt x="1041400" y="1308100"/>
                </a:lnTo>
                <a:lnTo>
                  <a:pt x="53340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B83EE16-3CD1-B2DD-26C9-90E778C44CEC}"/>
              </a:ext>
            </a:extLst>
          </p:cNvPr>
          <p:cNvSpPr txBox="1">
            <a:spLocks/>
          </p:cNvSpPr>
          <p:nvPr/>
        </p:nvSpPr>
        <p:spPr>
          <a:xfrm>
            <a:off x="2047328" y="-695280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公信力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21EDC7BC-4F9D-B36D-294D-934E5778F927}"/>
              </a:ext>
            </a:extLst>
          </p:cNvPr>
          <p:cNvSpPr txBox="1">
            <a:spLocks/>
          </p:cNvSpPr>
          <p:nvPr/>
        </p:nvSpPr>
        <p:spPr>
          <a:xfrm>
            <a:off x="228600" y="1443158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覆盖</a:t>
            </a: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4B01D5EE-FEE7-5A31-DB4A-3AFF8B3516BF}"/>
              </a:ext>
            </a:extLst>
          </p:cNvPr>
          <p:cNvSpPr txBox="1">
            <a:spLocks/>
          </p:cNvSpPr>
          <p:nvPr/>
        </p:nvSpPr>
        <p:spPr>
          <a:xfrm>
            <a:off x="4022179" y="1377950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时效</a:t>
            </a:r>
          </a:p>
        </p:txBody>
      </p:sp>
      <p:sp>
        <p:nvSpPr>
          <p:cNvPr id="30" name="文本占位符 1">
            <a:extLst>
              <a:ext uri="{FF2B5EF4-FFF2-40B4-BE49-F238E27FC236}">
                <a16:creationId xmlns:a16="http://schemas.microsoft.com/office/drawing/2014/main" id="{1C2CA049-FD9A-042A-B993-1F0111C3482D}"/>
              </a:ext>
            </a:extLst>
          </p:cNvPr>
          <p:cNvSpPr txBox="1">
            <a:spLocks/>
          </p:cNvSpPr>
          <p:nvPr/>
        </p:nvSpPr>
        <p:spPr>
          <a:xfrm>
            <a:off x="2085236" y="42682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/>
              <a:t>IP</a:t>
            </a:r>
            <a:r>
              <a:rPr lang="zh-CN" altLang="en-US" dirty="0"/>
              <a:t>榜</a:t>
            </a:r>
          </a:p>
        </p:txBody>
      </p:sp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62D10EBE-6017-637D-4413-DE18E52C46DB}"/>
              </a:ext>
            </a:extLst>
          </p:cNvPr>
          <p:cNvSpPr/>
          <p:nvPr/>
        </p:nvSpPr>
        <p:spPr>
          <a:xfrm>
            <a:off x="11112864" y="-547338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51D06B3E-A3C8-FC76-79A1-989AA5B4227D}"/>
              </a:ext>
            </a:extLst>
          </p:cNvPr>
          <p:cNvSpPr/>
          <p:nvPr/>
        </p:nvSpPr>
        <p:spPr>
          <a:xfrm>
            <a:off x="11268989" y="521430"/>
            <a:ext cx="2799309" cy="934057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27104"/>
              <a:gd name="connsiteX1" fmla="*/ 0 w 1041400"/>
              <a:gd name="connsiteY1" fmla="*/ 1308100 h 1327104"/>
              <a:gd name="connsiteX2" fmla="*/ 516988 w 1041400"/>
              <a:gd name="connsiteY2" fmla="*/ 1327104 h 1327104"/>
              <a:gd name="connsiteX3" fmla="*/ 1041400 w 1041400"/>
              <a:gd name="connsiteY3" fmla="*/ 1308100 h 1327104"/>
              <a:gd name="connsiteX4" fmla="*/ 533400 w 1041400"/>
              <a:gd name="connsiteY4" fmla="*/ 0 h 1327104"/>
              <a:gd name="connsiteX0" fmla="*/ 498671 w 1006671"/>
              <a:gd name="connsiteY0" fmla="*/ 0 h 1692857"/>
              <a:gd name="connsiteX1" fmla="*/ 0 w 1006671"/>
              <a:gd name="connsiteY1" fmla="*/ 1692857 h 1692857"/>
              <a:gd name="connsiteX2" fmla="*/ 482259 w 1006671"/>
              <a:gd name="connsiteY2" fmla="*/ 1327104 h 1692857"/>
              <a:gd name="connsiteX3" fmla="*/ 1006671 w 1006671"/>
              <a:gd name="connsiteY3" fmla="*/ 1308100 h 1692857"/>
              <a:gd name="connsiteX4" fmla="*/ 498671 w 1006671"/>
              <a:gd name="connsiteY4" fmla="*/ 0 h 1692857"/>
              <a:gd name="connsiteX0" fmla="*/ 498671 w 860036"/>
              <a:gd name="connsiteY0" fmla="*/ 0 h 1746295"/>
              <a:gd name="connsiteX1" fmla="*/ 0 w 860036"/>
              <a:gd name="connsiteY1" fmla="*/ 1692857 h 1746295"/>
              <a:gd name="connsiteX2" fmla="*/ 482259 w 860036"/>
              <a:gd name="connsiteY2" fmla="*/ 1327104 h 1746295"/>
              <a:gd name="connsiteX3" fmla="*/ 860036 w 860036"/>
              <a:gd name="connsiteY3" fmla="*/ 1746295 h 1746295"/>
              <a:gd name="connsiteX4" fmla="*/ 498671 w 860036"/>
              <a:gd name="connsiteY4" fmla="*/ 0 h 1746295"/>
              <a:gd name="connsiteX0" fmla="*/ 498671 w 860036"/>
              <a:gd name="connsiteY0" fmla="*/ 0 h 1746295"/>
              <a:gd name="connsiteX1" fmla="*/ 0 w 860036"/>
              <a:gd name="connsiteY1" fmla="*/ 1692857 h 1746295"/>
              <a:gd name="connsiteX2" fmla="*/ 424377 w 860036"/>
              <a:gd name="connsiteY2" fmla="*/ 1722549 h 1746295"/>
              <a:gd name="connsiteX3" fmla="*/ 860036 w 860036"/>
              <a:gd name="connsiteY3" fmla="*/ 1746295 h 1746295"/>
              <a:gd name="connsiteX4" fmla="*/ 498671 w 860036"/>
              <a:gd name="connsiteY4" fmla="*/ 0 h 1746295"/>
              <a:gd name="connsiteX0" fmla="*/ 498671 w 860036"/>
              <a:gd name="connsiteY0" fmla="*/ 0 h 1746295"/>
              <a:gd name="connsiteX1" fmla="*/ 0 w 860036"/>
              <a:gd name="connsiteY1" fmla="*/ 1692857 h 1746295"/>
              <a:gd name="connsiteX2" fmla="*/ 435954 w 860036"/>
              <a:gd name="connsiteY2" fmla="*/ 1711861 h 1746295"/>
              <a:gd name="connsiteX3" fmla="*/ 860036 w 860036"/>
              <a:gd name="connsiteY3" fmla="*/ 1746295 h 1746295"/>
              <a:gd name="connsiteX4" fmla="*/ 498671 w 860036"/>
              <a:gd name="connsiteY4" fmla="*/ 0 h 1746295"/>
              <a:gd name="connsiteX0" fmla="*/ 425353 w 786718"/>
              <a:gd name="connsiteY0" fmla="*/ 0 h 1746295"/>
              <a:gd name="connsiteX1" fmla="*/ 0 w 786718"/>
              <a:gd name="connsiteY1" fmla="*/ 1575293 h 1746295"/>
              <a:gd name="connsiteX2" fmla="*/ 362636 w 786718"/>
              <a:gd name="connsiteY2" fmla="*/ 1711861 h 1746295"/>
              <a:gd name="connsiteX3" fmla="*/ 786718 w 786718"/>
              <a:gd name="connsiteY3" fmla="*/ 1746295 h 1746295"/>
              <a:gd name="connsiteX4" fmla="*/ 425353 w 786718"/>
              <a:gd name="connsiteY4" fmla="*/ 0 h 1746295"/>
              <a:gd name="connsiteX0" fmla="*/ 425353 w 713400"/>
              <a:gd name="connsiteY0" fmla="*/ 0 h 1711861"/>
              <a:gd name="connsiteX1" fmla="*/ 0 w 713400"/>
              <a:gd name="connsiteY1" fmla="*/ 1575293 h 1711861"/>
              <a:gd name="connsiteX2" fmla="*/ 362636 w 713400"/>
              <a:gd name="connsiteY2" fmla="*/ 1711861 h 1711861"/>
              <a:gd name="connsiteX3" fmla="*/ 713400 w 713400"/>
              <a:gd name="connsiteY3" fmla="*/ 1596667 h 1711861"/>
              <a:gd name="connsiteX4" fmla="*/ 425353 w 713400"/>
              <a:gd name="connsiteY4" fmla="*/ 0 h 1711861"/>
              <a:gd name="connsiteX0" fmla="*/ 425353 w 713400"/>
              <a:gd name="connsiteY0" fmla="*/ 0 h 1596667"/>
              <a:gd name="connsiteX1" fmla="*/ 0 w 713400"/>
              <a:gd name="connsiteY1" fmla="*/ 1575293 h 1596667"/>
              <a:gd name="connsiteX2" fmla="*/ 370354 w 713400"/>
              <a:gd name="connsiteY2" fmla="*/ 1594296 h 1596667"/>
              <a:gd name="connsiteX3" fmla="*/ 713400 w 713400"/>
              <a:gd name="connsiteY3" fmla="*/ 1596667 h 1596667"/>
              <a:gd name="connsiteX4" fmla="*/ 425353 w 713400"/>
              <a:gd name="connsiteY4" fmla="*/ 0 h 1596667"/>
              <a:gd name="connsiteX0" fmla="*/ 332741 w 713400"/>
              <a:gd name="connsiteY0" fmla="*/ 0 h 837841"/>
              <a:gd name="connsiteX1" fmla="*/ 0 w 713400"/>
              <a:gd name="connsiteY1" fmla="*/ 816467 h 837841"/>
              <a:gd name="connsiteX2" fmla="*/ 370354 w 713400"/>
              <a:gd name="connsiteY2" fmla="*/ 835470 h 837841"/>
              <a:gd name="connsiteX3" fmla="*/ 713400 w 713400"/>
              <a:gd name="connsiteY3" fmla="*/ 837841 h 837841"/>
              <a:gd name="connsiteX4" fmla="*/ 332741 w 713400"/>
              <a:gd name="connsiteY4" fmla="*/ 0 h 83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3400" h="837841">
                <a:moveTo>
                  <a:pt x="332741" y="0"/>
                </a:moveTo>
                <a:lnTo>
                  <a:pt x="0" y="816467"/>
                </a:lnTo>
                <a:lnTo>
                  <a:pt x="370354" y="835470"/>
                </a:lnTo>
                <a:lnTo>
                  <a:pt x="713400" y="837841"/>
                </a:lnTo>
                <a:lnTo>
                  <a:pt x="33274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占位符 1">
            <a:extLst>
              <a:ext uri="{FF2B5EF4-FFF2-40B4-BE49-F238E27FC236}">
                <a16:creationId xmlns:a16="http://schemas.microsoft.com/office/drawing/2014/main" id="{6055F03C-1AD3-33F7-E376-D5144DDD71A8}"/>
              </a:ext>
            </a:extLst>
          </p:cNvPr>
          <p:cNvSpPr txBox="1">
            <a:spLocks/>
          </p:cNvSpPr>
          <p:nvPr/>
        </p:nvSpPr>
        <p:spPr>
          <a:xfrm>
            <a:off x="11625627" y="-856274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公信力</a:t>
            </a:r>
          </a:p>
        </p:txBody>
      </p:sp>
      <p:sp>
        <p:nvSpPr>
          <p:cNvPr id="37" name="文本占位符 1">
            <a:extLst>
              <a:ext uri="{FF2B5EF4-FFF2-40B4-BE49-F238E27FC236}">
                <a16:creationId xmlns:a16="http://schemas.microsoft.com/office/drawing/2014/main" id="{19D1CC82-63FD-A8D5-BAEB-E7767D58DC39}"/>
              </a:ext>
            </a:extLst>
          </p:cNvPr>
          <p:cNvSpPr txBox="1">
            <a:spLocks/>
          </p:cNvSpPr>
          <p:nvPr/>
        </p:nvSpPr>
        <p:spPr>
          <a:xfrm>
            <a:off x="9806899" y="1282164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覆盖</a:t>
            </a:r>
          </a:p>
        </p:txBody>
      </p:sp>
      <p:sp>
        <p:nvSpPr>
          <p:cNvPr id="38" name="文本占位符 1">
            <a:extLst>
              <a:ext uri="{FF2B5EF4-FFF2-40B4-BE49-F238E27FC236}">
                <a16:creationId xmlns:a16="http://schemas.microsoft.com/office/drawing/2014/main" id="{9B787529-EA4A-3CE1-B648-28E7E4B663CE}"/>
              </a:ext>
            </a:extLst>
          </p:cNvPr>
          <p:cNvSpPr txBox="1">
            <a:spLocks/>
          </p:cNvSpPr>
          <p:nvPr/>
        </p:nvSpPr>
        <p:spPr>
          <a:xfrm>
            <a:off x="13600478" y="1216956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时效</a:t>
            </a:r>
          </a:p>
        </p:txBody>
      </p:sp>
      <p:sp>
        <p:nvSpPr>
          <p:cNvPr id="39" name="文本占位符 1">
            <a:extLst>
              <a:ext uri="{FF2B5EF4-FFF2-40B4-BE49-F238E27FC236}">
                <a16:creationId xmlns:a16="http://schemas.microsoft.com/office/drawing/2014/main" id="{1985D444-C2B0-5FC2-EB88-36300728B5F7}"/>
              </a:ext>
            </a:extLst>
          </p:cNvPr>
          <p:cNvSpPr txBox="1">
            <a:spLocks/>
          </p:cNvSpPr>
          <p:nvPr/>
        </p:nvSpPr>
        <p:spPr>
          <a:xfrm>
            <a:off x="11620815" y="85380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指数榜</a:t>
            </a:r>
          </a:p>
        </p:txBody>
      </p:sp>
      <p:sp>
        <p:nvSpPr>
          <p:cNvPr id="46" name="等腰三角形 45">
            <a:extLst>
              <a:ext uri="{FF2B5EF4-FFF2-40B4-BE49-F238E27FC236}">
                <a16:creationId xmlns:a16="http://schemas.microsoft.com/office/drawing/2014/main" id="{2BA282C9-F792-18B5-863F-4E2A30305934}"/>
              </a:ext>
            </a:extLst>
          </p:cNvPr>
          <p:cNvSpPr/>
          <p:nvPr/>
        </p:nvSpPr>
        <p:spPr>
          <a:xfrm>
            <a:off x="12089325" y="6196315"/>
            <a:ext cx="3059103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占位符 1">
            <a:extLst>
              <a:ext uri="{FF2B5EF4-FFF2-40B4-BE49-F238E27FC236}">
                <a16:creationId xmlns:a16="http://schemas.microsoft.com/office/drawing/2014/main" id="{7A97652B-85B3-1410-0017-69B417B4E507}"/>
              </a:ext>
            </a:extLst>
          </p:cNvPr>
          <p:cNvSpPr txBox="1">
            <a:spLocks/>
          </p:cNvSpPr>
          <p:nvPr/>
        </p:nvSpPr>
        <p:spPr>
          <a:xfrm>
            <a:off x="12602089" y="5887379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公信力</a:t>
            </a:r>
          </a:p>
        </p:txBody>
      </p:sp>
      <p:sp>
        <p:nvSpPr>
          <p:cNvPr id="49" name="文本占位符 1">
            <a:extLst>
              <a:ext uri="{FF2B5EF4-FFF2-40B4-BE49-F238E27FC236}">
                <a16:creationId xmlns:a16="http://schemas.microsoft.com/office/drawing/2014/main" id="{B6C3C0D6-1403-9D05-5DFD-3E5047DBAD56}"/>
              </a:ext>
            </a:extLst>
          </p:cNvPr>
          <p:cNvSpPr txBox="1">
            <a:spLocks/>
          </p:cNvSpPr>
          <p:nvPr/>
        </p:nvSpPr>
        <p:spPr>
          <a:xfrm>
            <a:off x="10783361" y="8025817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覆盖</a:t>
            </a:r>
          </a:p>
        </p:txBody>
      </p:sp>
      <p:sp>
        <p:nvSpPr>
          <p:cNvPr id="50" name="文本占位符 1">
            <a:extLst>
              <a:ext uri="{FF2B5EF4-FFF2-40B4-BE49-F238E27FC236}">
                <a16:creationId xmlns:a16="http://schemas.microsoft.com/office/drawing/2014/main" id="{ACBAB073-AE92-1CB5-8BBC-3D651CBDA297}"/>
              </a:ext>
            </a:extLst>
          </p:cNvPr>
          <p:cNvSpPr txBox="1">
            <a:spLocks/>
          </p:cNvSpPr>
          <p:nvPr/>
        </p:nvSpPr>
        <p:spPr>
          <a:xfrm>
            <a:off x="14576940" y="7960609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时效</a:t>
            </a:r>
          </a:p>
        </p:txBody>
      </p:sp>
      <p:sp>
        <p:nvSpPr>
          <p:cNvPr id="52" name="等腰三角形 51">
            <a:extLst>
              <a:ext uri="{FF2B5EF4-FFF2-40B4-BE49-F238E27FC236}">
                <a16:creationId xmlns:a16="http://schemas.microsoft.com/office/drawing/2014/main" id="{956E3978-2A7C-99FC-87F5-7B4804D27E50}"/>
              </a:ext>
            </a:extLst>
          </p:cNvPr>
          <p:cNvSpPr/>
          <p:nvPr/>
        </p:nvSpPr>
        <p:spPr>
          <a:xfrm>
            <a:off x="6328859" y="-452186"/>
            <a:ext cx="3059103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占位符 1">
            <a:extLst>
              <a:ext uri="{FF2B5EF4-FFF2-40B4-BE49-F238E27FC236}">
                <a16:creationId xmlns:a16="http://schemas.microsoft.com/office/drawing/2014/main" id="{D6E4CC7B-ECD4-8C15-3B76-F6C970C6D2B8}"/>
              </a:ext>
            </a:extLst>
          </p:cNvPr>
          <p:cNvSpPr txBox="1">
            <a:spLocks/>
          </p:cNvSpPr>
          <p:nvPr/>
        </p:nvSpPr>
        <p:spPr>
          <a:xfrm>
            <a:off x="6841623" y="-761122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公信力</a:t>
            </a:r>
          </a:p>
        </p:txBody>
      </p:sp>
      <p:sp>
        <p:nvSpPr>
          <p:cNvPr id="55" name="文本占位符 1">
            <a:extLst>
              <a:ext uri="{FF2B5EF4-FFF2-40B4-BE49-F238E27FC236}">
                <a16:creationId xmlns:a16="http://schemas.microsoft.com/office/drawing/2014/main" id="{1DC503FC-D5E8-A143-510F-60166789EF89}"/>
              </a:ext>
            </a:extLst>
          </p:cNvPr>
          <p:cNvSpPr txBox="1">
            <a:spLocks/>
          </p:cNvSpPr>
          <p:nvPr/>
        </p:nvSpPr>
        <p:spPr>
          <a:xfrm>
            <a:off x="5022895" y="1377316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覆盖</a:t>
            </a:r>
          </a:p>
        </p:txBody>
      </p:sp>
      <p:sp>
        <p:nvSpPr>
          <p:cNvPr id="56" name="文本占位符 1">
            <a:extLst>
              <a:ext uri="{FF2B5EF4-FFF2-40B4-BE49-F238E27FC236}">
                <a16:creationId xmlns:a16="http://schemas.microsoft.com/office/drawing/2014/main" id="{F1F1C100-2AB6-CD2D-5859-AFEF58E11598}"/>
              </a:ext>
            </a:extLst>
          </p:cNvPr>
          <p:cNvSpPr txBox="1">
            <a:spLocks/>
          </p:cNvSpPr>
          <p:nvPr/>
        </p:nvSpPr>
        <p:spPr>
          <a:xfrm>
            <a:off x="8816474" y="1312108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时效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934F2B7-6C39-FAD2-7402-34E6B2DC9649}"/>
              </a:ext>
            </a:extLst>
          </p:cNvPr>
          <p:cNvSpPr txBox="1"/>
          <p:nvPr/>
        </p:nvSpPr>
        <p:spPr>
          <a:xfrm>
            <a:off x="-7162752" y="961809"/>
            <a:ext cx="60706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第二优先级：建立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品类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×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商圈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的中密度品质榜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这是最大的产品缺口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这是你发现的核心问题所在。在必吃榜（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0.086%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覆盖率）和大众点评排行榜（全量覆盖但无权威性）之间，存在一个巨大的产品真空地带：用户需要一个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覆盖率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10-20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倍于必吃榜、但权威性显著高于热门榜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的中间层产品。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具体参数推演（以下为推测）：如果必吃榜覆盖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4279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家（约占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500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万商家的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0.086%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），那么中密度榜需要覆盖到约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万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-10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万家（约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1-2%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），才能在多数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LBS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场景下保证用户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附近有榜单餐厅可选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。一个简单的估算：全国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300+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地级市，每个城市平均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200-300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家上榜，覆盖主要品类（火锅、烧烤、日料、川菜、粤菜等约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15-20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个一级品类）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×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主要商圈（每个城市约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10-15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个核心商圈），每个品类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×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商圈单元里有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3-5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家上榜，基本可以保证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用户附近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公里内大概率有对应品类的品质推荐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这个中间层的取舍是：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中等权威性（算法筛选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一定的人工或规则审核，但不做公证级别的流程）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中高覆盖性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中等时效性（季度或月度更新）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。位于不可能三角的中心区域，三个维度都不极端。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实际上，大众点评的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城市生活指南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特色美食榜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可能就是在试图做这件事，但规则已与排行榜合并（</a:t>
            </a:r>
            <a:r>
              <a:rPr lang="zh-CN" altLang="en-US" b="0" i="0" u="sng" dirty="0">
                <a:solidFill>
                  <a:srgbClr val="0285FF"/>
                </a:solidFill>
                <a:effectLst/>
                <a:latin typeface="-apple-system"/>
                <a:hlinkClick r:id="rId6"/>
              </a:rPr>
              <a:t>美团规则中心</a:t>
            </a:r>
            <a:r>
              <a:rPr lang="en-US" altLang="zh-CN" b="0" i="0" u="sng" dirty="0">
                <a:solidFill>
                  <a:srgbClr val="0285FF"/>
                </a:solidFill>
                <a:effectLst/>
                <a:latin typeface="-apple-system"/>
                <a:hlinkClick r:id="rId6"/>
              </a:rPr>
              <a:t>2026.2.25</a:t>
            </a:r>
            <a:r>
              <a:rPr lang="zh-CN" altLang="en-US" b="0" i="0" u="sng" dirty="0">
                <a:solidFill>
                  <a:srgbClr val="0285FF"/>
                </a:solidFill>
                <a:effectLst/>
                <a:latin typeface="-apple-system"/>
                <a:hlinkClick r:id="rId6"/>
              </a:rPr>
              <a:t>修订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），说明这个中间层在产品定义上还不够清晰。</a:t>
            </a:r>
          </a:p>
        </p:txBody>
      </p:sp>
      <p:sp>
        <p:nvSpPr>
          <p:cNvPr id="65" name="等腰三角形 64">
            <a:extLst>
              <a:ext uri="{FF2B5EF4-FFF2-40B4-BE49-F238E27FC236}">
                <a16:creationId xmlns:a16="http://schemas.microsoft.com/office/drawing/2014/main" id="{22FBA160-E96D-9882-1E76-F228A6B1265C}"/>
              </a:ext>
            </a:extLst>
          </p:cNvPr>
          <p:cNvSpPr/>
          <p:nvPr/>
        </p:nvSpPr>
        <p:spPr>
          <a:xfrm>
            <a:off x="2136923" y="-3569947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占位符 1">
            <a:extLst>
              <a:ext uri="{FF2B5EF4-FFF2-40B4-BE49-F238E27FC236}">
                <a16:creationId xmlns:a16="http://schemas.microsoft.com/office/drawing/2014/main" id="{E1B5A1BB-9D9E-20B4-95C4-883428DB5744}"/>
              </a:ext>
            </a:extLst>
          </p:cNvPr>
          <p:cNvSpPr txBox="1">
            <a:spLocks/>
          </p:cNvSpPr>
          <p:nvPr/>
        </p:nvSpPr>
        <p:spPr>
          <a:xfrm>
            <a:off x="2635005" y="-3877176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公信力</a:t>
            </a:r>
          </a:p>
        </p:txBody>
      </p:sp>
      <p:sp>
        <p:nvSpPr>
          <p:cNvPr id="68" name="文本占位符 1">
            <a:extLst>
              <a:ext uri="{FF2B5EF4-FFF2-40B4-BE49-F238E27FC236}">
                <a16:creationId xmlns:a16="http://schemas.microsoft.com/office/drawing/2014/main" id="{56DF5C53-1A3E-378E-21C9-A3221546D3AE}"/>
              </a:ext>
            </a:extLst>
          </p:cNvPr>
          <p:cNvSpPr txBox="1">
            <a:spLocks/>
          </p:cNvSpPr>
          <p:nvPr/>
        </p:nvSpPr>
        <p:spPr>
          <a:xfrm>
            <a:off x="4769686" y="-1689076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时效</a:t>
            </a:r>
          </a:p>
        </p:txBody>
      </p:sp>
      <p:sp>
        <p:nvSpPr>
          <p:cNvPr id="69" name="文本占位符 1">
            <a:extLst>
              <a:ext uri="{FF2B5EF4-FFF2-40B4-BE49-F238E27FC236}">
                <a16:creationId xmlns:a16="http://schemas.microsoft.com/office/drawing/2014/main" id="{DC01685C-B186-A013-3B62-71F3BFB8AFC8}"/>
              </a:ext>
            </a:extLst>
          </p:cNvPr>
          <p:cNvSpPr txBox="1">
            <a:spLocks/>
          </p:cNvSpPr>
          <p:nvPr/>
        </p:nvSpPr>
        <p:spPr>
          <a:xfrm>
            <a:off x="2876031" y="-3081923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/>
              <a:t>必吃榜</a:t>
            </a:r>
          </a:p>
        </p:txBody>
      </p:sp>
      <p:sp>
        <p:nvSpPr>
          <p:cNvPr id="70" name="文本占位符 1">
            <a:extLst>
              <a:ext uri="{FF2B5EF4-FFF2-40B4-BE49-F238E27FC236}">
                <a16:creationId xmlns:a16="http://schemas.microsoft.com/office/drawing/2014/main" id="{E766C728-B47D-35FB-E992-67EBC8BF626B}"/>
              </a:ext>
            </a:extLst>
          </p:cNvPr>
          <p:cNvSpPr txBox="1">
            <a:spLocks/>
          </p:cNvSpPr>
          <p:nvPr/>
        </p:nvSpPr>
        <p:spPr>
          <a:xfrm>
            <a:off x="594404" y="-1637872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覆盖</a:t>
            </a: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3F37D389-8D23-D348-02E7-6CAA1829A2B4}"/>
              </a:ext>
            </a:extLst>
          </p:cNvPr>
          <p:cNvSpPr/>
          <p:nvPr/>
        </p:nvSpPr>
        <p:spPr>
          <a:xfrm>
            <a:off x="3416968" y="-3041583"/>
            <a:ext cx="144530" cy="144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2CBA6BA4-63D7-4F4B-72E8-6DBB7AE337A2}"/>
              </a:ext>
            </a:extLst>
          </p:cNvPr>
          <p:cNvSpPr/>
          <p:nvPr/>
        </p:nvSpPr>
        <p:spPr>
          <a:xfrm>
            <a:off x="3525481" y="-3188785"/>
            <a:ext cx="144530" cy="1445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占位符 1">
            <a:extLst>
              <a:ext uri="{FF2B5EF4-FFF2-40B4-BE49-F238E27FC236}">
                <a16:creationId xmlns:a16="http://schemas.microsoft.com/office/drawing/2014/main" id="{D45CF502-048B-69AA-DEA4-3FFB83DBE2A4}"/>
              </a:ext>
            </a:extLst>
          </p:cNvPr>
          <p:cNvSpPr txBox="1">
            <a:spLocks/>
          </p:cNvSpPr>
          <p:nvPr/>
        </p:nvSpPr>
        <p:spPr>
          <a:xfrm>
            <a:off x="2946891" y="-3238601"/>
            <a:ext cx="2038351" cy="30401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/>
              <a:t>黑珍珠</a:t>
            </a:r>
          </a:p>
        </p:txBody>
      </p:sp>
      <p:sp>
        <p:nvSpPr>
          <p:cNvPr id="74" name="文本占位符 1">
            <a:extLst>
              <a:ext uri="{FF2B5EF4-FFF2-40B4-BE49-F238E27FC236}">
                <a16:creationId xmlns:a16="http://schemas.microsoft.com/office/drawing/2014/main" id="{B59B23BA-F1AF-D44D-A4F2-406423EE4A58}"/>
              </a:ext>
            </a:extLst>
          </p:cNvPr>
          <p:cNvSpPr txBox="1">
            <a:spLocks/>
          </p:cNvSpPr>
          <p:nvPr/>
        </p:nvSpPr>
        <p:spPr>
          <a:xfrm>
            <a:off x="3152923" y="-2524782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/>
              <a:t>当地人推荐</a:t>
            </a: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CAD40E63-F61F-DF26-66EC-C58CF46D98DD}"/>
              </a:ext>
            </a:extLst>
          </p:cNvPr>
          <p:cNvSpPr/>
          <p:nvPr/>
        </p:nvSpPr>
        <p:spPr>
          <a:xfrm>
            <a:off x="3693860" y="-2484442"/>
            <a:ext cx="144530" cy="1445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7EDC99D-C546-7ABC-0FF0-81184858F430}"/>
              </a:ext>
            </a:extLst>
          </p:cNvPr>
          <p:cNvSpPr txBox="1"/>
          <p:nvPr/>
        </p:nvSpPr>
        <p:spPr>
          <a:xfrm>
            <a:off x="5022895" y="-3393045"/>
            <a:ext cx="8884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。数量级大约是必吃榜（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3091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家）的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3-10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倍，即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万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-3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万家（推测）</a:t>
            </a:r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357ADF0-B3F7-A869-F7C4-415B9AD904E6}"/>
              </a:ext>
            </a:extLst>
          </p:cNvPr>
          <p:cNvSpPr txBox="1"/>
          <p:nvPr/>
        </p:nvSpPr>
        <p:spPr>
          <a:xfrm>
            <a:off x="-7169045" y="-6502912"/>
            <a:ext cx="55126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第一层需求：高风险决策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——"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这顿饭不能出错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场景：请重要客户吃饭、纪念日约会、第一次带对象见父母、旅游去一个完全陌生的城市。共同特征是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决策失败的代价很高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（丢面子、毁体验、浪费一次宝贵的机会）。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这类需求对信任的要求极高（我需要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闭眼选都不会错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的确定性），对覆盖的容忍度高（一个城市有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20-30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家可选就够了，反正一年也就几次这种场景），对时效性的要求低（好餐厅不会一个月变差）。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所以这层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应该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占据权威性的顶点，牺牲覆盖性和时效性。必吃榜、黑珍珠、米其林目前就在这个位置，而且从需求角度看，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这个位置是对的，不需要改变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AEEA9952-9032-F909-3980-A43F3B3030E9}"/>
              </a:ext>
            </a:extLst>
          </p:cNvPr>
          <p:cNvSpPr/>
          <p:nvPr/>
        </p:nvSpPr>
        <p:spPr>
          <a:xfrm rot="6900730">
            <a:off x="13727797" y="6999981"/>
            <a:ext cx="1041400" cy="1765300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1765300">
                <a:moveTo>
                  <a:pt x="533400" y="0"/>
                </a:moveTo>
                <a:lnTo>
                  <a:pt x="0" y="1308100"/>
                </a:lnTo>
                <a:lnTo>
                  <a:pt x="609600" y="1765300"/>
                </a:lnTo>
                <a:lnTo>
                  <a:pt x="1041400" y="1308100"/>
                </a:lnTo>
                <a:lnTo>
                  <a:pt x="53340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13CEA1A-9924-BAE6-2EAC-0B8BFDE0BF85}"/>
              </a:ext>
            </a:extLst>
          </p:cNvPr>
          <p:cNvSpPr txBox="1"/>
          <p:nvPr/>
        </p:nvSpPr>
        <p:spPr>
          <a:xfrm>
            <a:off x="-7283425" y="-2751155"/>
            <a:ext cx="63285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第二层需求：日常品质决策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——"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想吃好一点，但不想踩雷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场景：周末跟朋友聚餐选个新地方、工作日想换个口味、偶尔犒劳自己。共同特征是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有品质要求但不是生死攸关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，频率中等（每周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1-2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次），需要在附近可达范围内有足够的选择。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这类需求对信任的要求是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中等可信就行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（不需要米其林级别的保证，但需要比纯排行榜高）；对覆盖的要求是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我附近的品类里至少有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3-5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家推荐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（如果推荐的店都在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10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公里外，没用）；对时效性的要求是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不要推荐已经关门或者最近变差的店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（季度更新足够）。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应该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在权威性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-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覆盖性之间的边上，用中等权威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中等覆盖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中等时效的组合。这就是我们说的中密度品质榜的位置。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目前这个位置是空的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这是最大的产品缺口。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</p:txBody>
      </p:sp>
      <p:sp>
        <p:nvSpPr>
          <p:cNvPr id="51" name="文本占位符 1">
            <a:extLst>
              <a:ext uri="{FF2B5EF4-FFF2-40B4-BE49-F238E27FC236}">
                <a16:creationId xmlns:a16="http://schemas.microsoft.com/office/drawing/2014/main" id="{9DD19C03-A049-DAA6-DA6E-4696E88D4B3F}"/>
              </a:ext>
            </a:extLst>
          </p:cNvPr>
          <p:cNvSpPr txBox="1">
            <a:spLocks/>
          </p:cNvSpPr>
          <p:nvPr/>
        </p:nvSpPr>
        <p:spPr>
          <a:xfrm>
            <a:off x="12889425" y="7664148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新店榜</a:t>
            </a:r>
          </a:p>
        </p:txBody>
      </p:sp>
      <p:sp>
        <p:nvSpPr>
          <p:cNvPr id="84" name="等腰三角形 83">
            <a:extLst>
              <a:ext uri="{FF2B5EF4-FFF2-40B4-BE49-F238E27FC236}">
                <a16:creationId xmlns:a16="http://schemas.microsoft.com/office/drawing/2014/main" id="{4F21362B-FC13-590A-E8D6-58425328826F}"/>
              </a:ext>
            </a:extLst>
          </p:cNvPr>
          <p:cNvSpPr/>
          <p:nvPr/>
        </p:nvSpPr>
        <p:spPr>
          <a:xfrm>
            <a:off x="6687689" y="2923862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AF7E2697-ACF6-5DEE-CE7C-B24A779ADD5B}"/>
              </a:ext>
            </a:extLst>
          </p:cNvPr>
          <p:cNvSpPr/>
          <p:nvPr/>
        </p:nvSpPr>
        <p:spPr>
          <a:xfrm>
            <a:off x="7219650" y="3253056"/>
            <a:ext cx="1407886" cy="1422400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1215572 w 1723572"/>
              <a:gd name="connsiteY0" fmla="*/ 0 h 1917700"/>
              <a:gd name="connsiteX1" fmla="*/ 0 w 1723572"/>
              <a:gd name="connsiteY1" fmla="*/ 1917700 h 1917700"/>
              <a:gd name="connsiteX2" fmla="*/ 1291772 w 1723572"/>
              <a:gd name="connsiteY2" fmla="*/ 1765300 h 1917700"/>
              <a:gd name="connsiteX3" fmla="*/ 1723572 w 1723572"/>
              <a:gd name="connsiteY3" fmla="*/ 1308100 h 1917700"/>
              <a:gd name="connsiteX4" fmla="*/ 1215572 w 1723572"/>
              <a:gd name="connsiteY4" fmla="*/ 0 h 1917700"/>
              <a:gd name="connsiteX0" fmla="*/ 1215572 w 1723572"/>
              <a:gd name="connsiteY0" fmla="*/ 0 h 1917700"/>
              <a:gd name="connsiteX1" fmla="*/ 0 w 1723572"/>
              <a:gd name="connsiteY1" fmla="*/ 1917700 h 1917700"/>
              <a:gd name="connsiteX2" fmla="*/ 1103087 w 1723572"/>
              <a:gd name="connsiteY2" fmla="*/ 1518558 h 1917700"/>
              <a:gd name="connsiteX3" fmla="*/ 1723572 w 1723572"/>
              <a:gd name="connsiteY3" fmla="*/ 1308100 h 1917700"/>
              <a:gd name="connsiteX4" fmla="*/ 1215572 w 1723572"/>
              <a:gd name="connsiteY4" fmla="*/ 0 h 1917700"/>
              <a:gd name="connsiteX0" fmla="*/ 1215572 w 1636486"/>
              <a:gd name="connsiteY0" fmla="*/ 0 h 1917700"/>
              <a:gd name="connsiteX1" fmla="*/ 0 w 1636486"/>
              <a:gd name="connsiteY1" fmla="*/ 1917700 h 1917700"/>
              <a:gd name="connsiteX2" fmla="*/ 1103087 w 1636486"/>
              <a:gd name="connsiteY2" fmla="*/ 1518558 h 1917700"/>
              <a:gd name="connsiteX3" fmla="*/ 1636486 w 1636486"/>
              <a:gd name="connsiteY3" fmla="*/ 1221014 h 1917700"/>
              <a:gd name="connsiteX4" fmla="*/ 1215572 w 1636486"/>
              <a:gd name="connsiteY4" fmla="*/ 0 h 1917700"/>
              <a:gd name="connsiteX0" fmla="*/ 1215572 w 1636486"/>
              <a:gd name="connsiteY0" fmla="*/ 0 h 1917700"/>
              <a:gd name="connsiteX1" fmla="*/ 0 w 1636486"/>
              <a:gd name="connsiteY1" fmla="*/ 1917700 h 1917700"/>
              <a:gd name="connsiteX2" fmla="*/ 1074058 w 1636486"/>
              <a:gd name="connsiteY2" fmla="*/ 1475015 h 1917700"/>
              <a:gd name="connsiteX3" fmla="*/ 1636486 w 1636486"/>
              <a:gd name="connsiteY3" fmla="*/ 1221014 h 1917700"/>
              <a:gd name="connsiteX4" fmla="*/ 1215572 w 1636486"/>
              <a:gd name="connsiteY4" fmla="*/ 0 h 1917700"/>
              <a:gd name="connsiteX0" fmla="*/ 1215572 w 1636486"/>
              <a:gd name="connsiteY0" fmla="*/ 0 h 1593850"/>
              <a:gd name="connsiteX1" fmla="*/ 0 w 1636486"/>
              <a:gd name="connsiteY1" fmla="*/ 1593850 h 1593850"/>
              <a:gd name="connsiteX2" fmla="*/ 1074058 w 1636486"/>
              <a:gd name="connsiteY2" fmla="*/ 1151165 h 1593850"/>
              <a:gd name="connsiteX3" fmla="*/ 1636486 w 1636486"/>
              <a:gd name="connsiteY3" fmla="*/ 897164 h 1593850"/>
              <a:gd name="connsiteX4" fmla="*/ 1215572 w 1636486"/>
              <a:gd name="connsiteY4" fmla="*/ 0 h 1593850"/>
              <a:gd name="connsiteX0" fmla="*/ 986972 w 1407886"/>
              <a:gd name="connsiteY0" fmla="*/ 0 h 1422400"/>
              <a:gd name="connsiteX1" fmla="*/ 0 w 1407886"/>
              <a:gd name="connsiteY1" fmla="*/ 1422400 h 1422400"/>
              <a:gd name="connsiteX2" fmla="*/ 845458 w 1407886"/>
              <a:gd name="connsiteY2" fmla="*/ 1151165 h 1422400"/>
              <a:gd name="connsiteX3" fmla="*/ 1407886 w 1407886"/>
              <a:gd name="connsiteY3" fmla="*/ 897164 h 1422400"/>
              <a:gd name="connsiteX4" fmla="*/ 986972 w 1407886"/>
              <a:gd name="connsiteY4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7886" h="1422400">
                <a:moveTo>
                  <a:pt x="986972" y="0"/>
                </a:moveTo>
                <a:lnTo>
                  <a:pt x="0" y="1422400"/>
                </a:lnTo>
                <a:lnTo>
                  <a:pt x="845458" y="1151165"/>
                </a:lnTo>
                <a:lnTo>
                  <a:pt x="1407886" y="897164"/>
                </a:lnTo>
                <a:lnTo>
                  <a:pt x="986972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占位符 1">
            <a:extLst>
              <a:ext uri="{FF2B5EF4-FFF2-40B4-BE49-F238E27FC236}">
                <a16:creationId xmlns:a16="http://schemas.microsoft.com/office/drawing/2014/main" id="{B95D3C7F-0FEC-0ACD-5B57-E350B4B592CA}"/>
              </a:ext>
            </a:extLst>
          </p:cNvPr>
          <p:cNvSpPr txBox="1">
            <a:spLocks/>
          </p:cNvSpPr>
          <p:nvPr/>
        </p:nvSpPr>
        <p:spPr>
          <a:xfrm>
            <a:off x="7200452" y="2614926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公信力</a:t>
            </a:r>
          </a:p>
        </p:txBody>
      </p:sp>
      <p:sp>
        <p:nvSpPr>
          <p:cNvPr id="87" name="文本占位符 1">
            <a:extLst>
              <a:ext uri="{FF2B5EF4-FFF2-40B4-BE49-F238E27FC236}">
                <a16:creationId xmlns:a16="http://schemas.microsoft.com/office/drawing/2014/main" id="{AAEB1C58-E3D8-372B-834E-860FB3F78D53}"/>
              </a:ext>
            </a:extLst>
          </p:cNvPr>
          <p:cNvSpPr txBox="1">
            <a:spLocks/>
          </p:cNvSpPr>
          <p:nvPr/>
        </p:nvSpPr>
        <p:spPr>
          <a:xfrm>
            <a:off x="5381724" y="4698059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覆盖</a:t>
            </a:r>
          </a:p>
        </p:txBody>
      </p:sp>
      <p:sp>
        <p:nvSpPr>
          <p:cNvPr id="88" name="文本占位符 1">
            <a:extLst>
              <a:ext uri="{FF2B5EF4-FFF2-40B4-BE49-F238E27FC236}">
                <a16:creationId xmlns:a16="http://schemas.microsoft.com/office/drawing/2014/main" id="{4A63C894-7A61-4F04-41A5-C8A5ACB16E87}"/>
              </a:ext>
            </a:extLst>
          </p:cNvPr>
          <p:cNvSpPr txBox="1">
            <a:spLocks/>
          </p:cNvSpPr>
          <p:nvPr/>
        </p:nvSpPr>
        <p:spPr>
          <a:xfrm>
            <a:off x="9041904" y="4698059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时效</a:t>
            </a:r>
          </a:p>
        </p:txBody>
      </p:sp>
      <p:sp>
        <p:nvSpPr>
          <p:cNvPr id="89" name="文本占位符 1">
            <a:extLst>
              <a:ext uri="{FF2B5EF4-FFF2-40B4-BE49-F238E27FC236}">
                <a16:creationId xmlns:a16="http://schemas.microsoft.com/office/drawing/2014/main" id="{4BD5DDFF-019F-E8AB-59D3-3681E067E6D3}"/>
              </a:ext>
            </a:extLst>
          </p:cNvPr>
          <p:cNvSpPr txBox="1">
            <a:spLocks/>
          </p:cNvSpPr>
          <p:nvPr/>
        </p:nvSpPr>
        <p:spPr>
          <a:xfrm>
            <a:off x="7088282" y="3885653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？</a:t>
            </a:r>
          </a:p>
        </p:txBody>
      </p:sp>
      <p:sp>
        <p:nvSpPr>
          <p:cNvPr id="90" name="等腰三角形 89">
            <a:extLst>
              <a:ext uri="{FF2B5EF4-FFF2-40B4-BE49-F238E27FC236}">
                <a16:creationId xmlns:a16="http://schemas.microsoft.com/office/drawing/2014/main" id="{3358626F-CF5B-17AF-CB70-733CB5458A3D}"/>
              </a:ext>
            </a:extLst>
          </p:cNvPr>
          <p:cNvSpPr/>
          <p:nvPr/>
        </p:nvSpPr>
        <p:spPr>
          <a:xfrm>
            <a:off x="1603631" y="2947207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0B9C8628-6EBC-3401-CFE2-02F82E06A450}"/>
              </a:ext>
            </a:extLst>
          </p:cNvPr>
          <p:cNvSpPr/>
          <p:nvPr/>
        </p:nvSpPr>
        <p:spPr>
          <a:xfrm>
            <a:off x="2748819" y="3314500"/>
            <a:ext cx="1446440" cy="1470024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1215572 w 1723572"/>
              <a:gd name="connsiteY0" fmla="*/ 0 h 1917700"/>
              <a:gd name="connsiteX1" fmla="*/ 0 w 1723572"/>
              <a:gd name="connsiteY1" fmla="*/ 1917700 h 1917700"/>
              <a:gd name="connsiteX2" fmla="*/ 1291772 w 1723572"/>
              <a:gd name="connsiteY2" fmla="*/ 1765300 h 1917700"/>
              <a:gd name="connsiteX3" fmla="*/ 1723572 w 1723572"/>
              <a:gd name="connsiteY3" fmla="*/ 1308100 h 1917700"/>
              <a:gd name="connsiteX4" fmla="*/ 1215572 w 1723572"/>
              <a:gd name="connsiteY4" fmla="*/ 0 h 1917700"/>
              <a:gd name="connsiteX0" fmla="*/ 1215572 w 1723572"/>
              <a:gd name="connsiteY0" fmla="*/ 0 h 1917700"/>
              <a:gd name="connsiteX1" fmla="*/ 0 w 1723572"/>
              <a:gd name="connsiteY1" fmla="*/ 1917700 h 1917700"/>
              <a:gd name="connsiteX2" fmla="*/ 1103087 w 1723572"/>
              <a:gd name="connsiteY2" fmla="*/ 1518558 h 1917700"/>
              <a:gd name="connsiteX3" fmla="*/ 1723572 w 1723572"/>
              <a:gd name="connsiteY3" fmla="*/ 1308100 h 1917700"/>
              <a:gd name="connsiteX4" fmla="*/ 1215572 w 1723572"/>
              <a:gd name="connsiteY4" fmla="*/ 0 h 1917700"/>
              <a:gd name="connsiteX0" fmla="*/ 1215572 w 1636486"/>
              <a:gd name="connsiteY0" fmla="*/ 0 h 1917700"/>
              <a:gd name="connsiteX1" fmla="*/ 0 w 1636486"/>
              <a:gd name="connsiteY1" fmla="*/ 1917700 h 1917700"/>
              <a:gd name="connsiteX2" fmla="*/ 1103087 w 1636486"/>
              <a:gd name="connsiteY2" fmla="*/ 1518558 h 1917700"/>
              <a:gd name="connsiteX3" fmla="*/ 1636486 w 1636486"/>
              <a:gd name="connsiteY3" fmla="*/ 1221014 h 1917700"/>
              <a:gd name="connsiteX4" fmla="*/ 1215572 w 1636486"/>
              <a:gd name="connsiteY4" fmla="*/ 0 h 1917700"/>
              <a:gd name="connsiteX0" fmla="*/ 1215572 w 2579914"/>
              <a:gd name="connsiteY0" fmla="*/ 0 h 2048328"/>
              <a:gd name="connsiteX1" fmla="*/ 0 w 2579914"/>
              <a:gd name="connsiteY1" fmla="*/ 1917700 h 2048328"/>
              <a:gd name="connsiteX2" fmla="*/ 1103087 w 2579914"/>
              <a:gd name="connsiteY2" fmla="*/ 1518558 h 2048328"/>
              <a:gd name="connsiteX3" fmla="*/ 2579914 w 2579914"/>
              <a:gd name="connsiteY3" fmla="*/ 2048328 h 2048328"/>
              <a:gd name="connsiteX4" fmla="*/ 1215572 w 2579914"/>
              <a:gd name="connsiteY4" fmla="*/ 0 h 2048328"/>
              <a:gd name="connsiteX0" fmla="*/ 185058 w 1549400"/>
              <a:gd name="connsiteY0" fmla="*/ 0 h 2048328"/>
              <a:gd name="connsiteX1" fmla="*/ 0 w 1549400"/>
              <a:gd name="connsiteY1" fmla="*/ 1191986 h 2048328"/>
              <a:gd name="connsiteX2" fmla="*/ 72573 w 1549400"/>
              <a:gd name="connsiteY2" fmla="*/ 1518558 h 2048328"/>
              <a:gd name="connsiteX3" fmla="*/ 1549400 w 1549400"/>
              <a:gd name="connsiteY3" fmla="*/ 2048328 h 2048328"/>
              <a:gd name="connsiteX4" fmla="*/ 185058 w 1549400"/>
              <a:gd name="connsiteY4" fmla="*/ 0 h 2048328"/>
              <a:gd name="connsiteX0" fmla="*/ 373744 w 1738086"/>
              <a:gd name="connsiteY0" fmla="*/ 0 h 2048328"/>
              <a:gd name="connsiteX1" fmla="*/ 0 w 1738086"/>
              <a:gd name="connsiteY1" fmla="*/ 1235529 h 2048328"/>
              <a:gd name="connsiteX2" fmla="*/ 261259 w 1738086"/>
              <a:gd name="connsiteY2" fmla="*/ 1518558 h 2048328"/>
              <a:gd name="connsiteX3" fmla="*/ 1738086 w 1738086"/>
              <a:gd name="connsiteY3" fmla="*/ 2048328 h 2048328"/>
              <a:gd name="connsiteX4" fmla="*/ 373744 w 1738086"/>
              <a:gd name="connsiteY4" fmla="*/ 0 h 2048328"/>
              <a:gd name="connsiteX0" fmla="*/ 373744 w 1738086"/>
              <a:gd name="connsiteY0" fmla="*/ 0 h 2048328"/>
              <a:gd name="connsiteX1" fmla="*/ 0 w 1738086"/>
              <a:gd name="connsiteY1" fmla="*/ 1235529 h 2048328"/>
              <a:gd name="connsiteX2" fmla="*/ 406402 w 1738086"/>
              <a:gd name="connsiteY2" fmla="*/ 1475016 h 2048328"/>
              <a:gd name="connsiteX3" fmla="*/ 1738086 w 1738086"/>
              <a:gd name="connsiteY3" fmla="*/ 2048328 h 2048328"/>
              <a:gd name="connsiteX4" fmla="*/ 373744 w 1738086"/>
              <a:gd name="connsiteY4" fmla="*/ 0 h 2048328"/>
              <a:gd name="connsiteX0" fmla="*/ 373744 w 1665515"/>
              <a:gd name="connsiteY0" fmla="*/ 0 h 1917699"/>
              <a:gd name="connsiteX1" fmla="*/ 0 w 1665515"/>
              <a:gd name="connsiteY1" fmla="*/ 1235529 h 1917699"/>
              <a:gd name="connsiteX2" fmla="*/ 406402 w 1665515"/>
              <a:gd name="connsiteY2" fmla="*/ 1475016 h 1917699"/>
              <a:gd name="connsiteX3" fmla="*/ 1665515 w 1665515"/>
              <a:gd name="connsiteY3" fmla="*/ 1917699 h 1917699"/>
              <a:gd name="connsiteX4" fmla="*/ 373744 w 1665515"/>
              <a:gd name="connsiteY4" fmla="*/ 0 h 1917699"/>
              <a:gd name="connsiteX0" fmla="*/ 373744 w 1665515"/>
              <a:gd name="connsiteY0" fmla="*/ 0 h 1917699"/>
              <a:gd name="connsiteX1" fmla="*/ 0 w 1665515"/>
              <a:gd name="connsiteY1" fmla="*/ 1235529 h 1917699"/>
              <a:gd name="connsiteX2" fmla="*/ 464459 w 1665515"/>
              <a:gd name="connsiteY2" fmla="*/ 1460501 h 1917699"/>
              <a:gd name="connsiteX3" fmla="*/ 1665515 w 1665515"/>
              <a:gd name="connsiteY3" fmla="*/ 1917699 h 1917699"/>
              <a:gd name="connsiteX4" fmla="*/ 373744 w 1665515"/>
              <a:gd name="connsiteY4" fmla="*/ 0 h 1917699"/>
              <a:gd name="connsiteX0" fmla="*/ 383269 w 1665515"/>
              <a:gd name="connsiteY0" fmla="*/ 0 h 1555749"/>
              <a:gd name="connsiteX1" fmla="*/ 0 w 1665515"/>
              <a:gd name="connsiteY1" fmla="*/ 873579 h 1555749"/>
              <a:gd name="connsiteX2" fmla="*/ 464459 w 1665515"/>
              <a:gd name="connsiteY2" fmla="*/ 1098551 h 1555749"/>
              <a:gd name="connsiteX3" fmla="*/ 1665515 w 1665515"/>
              <a:gd name="connsiteY3" fmla="*/ 1555749 h 1555749"/>
              <a:gd name="connsiteX4" fmla="*/ 383269 w 1665515"/>
              <a:gd name="connsiteY4" fmla="*/ 0 h 1555749"/>
              <a:gd name="connsiteX0" fmla="*/ 383269 w 1446440"/>
              <a:gd name="connsiteY0" fmla="*/ 0 h 1470024"/>
              <a:gd name="connsiteX1" fmla="*/ 0 w 1446440"/>
              <a:gd name="connsiteY1" fmla="*/ 873579 h 1470024"/>
              <a:gd name="connsiteX2" fmla="*/ 464459 w 1446440"/>
              <a:gd name="connsiteY2" fmla="*/ 1098551 h 1470024"/>
              <a:gd name="connsiteX3" fmla="*/ 1446440 w 1446440"/>
              <a:gd name="connsiteY3" fmla="*/ 1470024 h 1470024"/>
              <a:gd name="connsiteX4" fmla="*/ 383269 w 1446440"/>
              <a:gd name="connsiteY4" fmla="*/ 0 h 147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440" h="1470024">
                <a:moveTo>
                  <a:pt x="383269" y="0"/>
                </a:moveTo>
                <a:lnTo>
                  <a:pt x="0" y="873579"/>
                </a:lnTo>
                <a:lnTo>
                  <a:pt x="464459" y="1098551"/>
                </a:lnTo>
                <a:lnTo>
                  <a:pt x="1446440" y="1470024"/>
                </a:lnTo>
                <a:lnTo>
                  <a:pt x="383269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占位符 1">
            <a:extLst>
              <a:ext uri="{FF2B5EF4-FFF2-40B4-BE49-F238E27FC236}">
                <a16:creationId xmlns:a16="http://schemas.microsoft.com/office/drawing/2014/main" id="{FB2E6D33-9F33-C300-20E0-687FF10F7CF2}"/>
              </a:ext>
            </a:extLst>
          </p:cNvPr>
          <p:cNvSpPr txBox="1">
            <a:spLocks/>
          </p:cNvSpPr>
          <p:nvPr/>
        </p:nvSpPr>
        <p:spPr>
          <a:xfrm>
            <a:off x="2116394" y="2638271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公信力</a:t>
            </a:r>
          </a:p>
        </p:txBody>
      </p:sp>
      <p:sp>
        <p:nvSpPr>
          <p:cNvPr id="93" name="文本占位符 1">
            <a:extLst>
              <a:ext uri="{FF2B5EF4-FFF2-40B4-BE49-F238E27FC236}">
                <a16:creationId xmlns:a16="http://schemas.microsoft.com/office/drawing/2014/main" id="{A85FCDB2-0E22-00C4-4006-6D6B108CD164}"/>
              </a:ext>
            </a:extLst>
          </p:cNvPr>
          <p:cNvSpPr txBox="1">
            <a:spLocks/>
          </p:cNvSpPr>
          <p:nvPr/>
        </p:nvSpPr>
        <p:spPr>
          <a:xfrm>
            <a:off x="4091245" y="4711501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时效</a:t>
            </a:r>
          </a:p>
        </p:txBody>
      </p:sp>
      <p:sp>
        <p:nvSpPr>
          <p:cNvPr id="94" name="文本占位符 1">
            <a:extLst>
              <a:ext uri="{FF2B5EF4-FFF2-40B4-BE49-F238E27FC236}">
                <a16:creationId xmlns:a16="http://schemas.microsoft.com/office/drawing/2014/main" id="{6D59E704-6E29-12B3-9AC0-7F3529F5FEA7}"/>
              </a:ext>
            </a:extLst>
          </p:cNvPr>
          <p:cNvSpPr txBox="1">
            <a:spLocks/>
          </p:cNvSpPr>
          <p:nvPr/>
        </p:nvSpPr>
        <p:spPr>
          <a:xfrm>
            <a:off x="2320811" y="3879961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？</a:t>
            </a:r>
          </a:p>
        </p:txBody>
      </p:sp>
      <p:sp>
        <p:nvSpPr>
          <p:cNvPr id="95" name="文本占位符 1">
            <a:extLst>
              <a:ext uri="{FF2B5EF4-FFF2-40B4-BE49-F238E27FC236}">
                <a16:creationId xmlns:a16="http://schemas.microsoft.com/office/drawing/2014/main" id="{6F1D8249-A052-77F2-DC3C-B039D22A409B}"/>
              </a:ext>
            </a:extLst>
          </p:cNvPr>
          <p:cNvSpPr txBox="1">
            <a:spLocks/>
          </p:cNvSpPr>
          <p:nvPr/>
        </p:nvSpPr>
        <p:spPr>
          <a:xfrm>
            <a:off x="286751" y="4711501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覆盖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87800954-DF1C-EAFE-E789-1301E0F49566}"/>
              </a:ext>
            </a:extLst>
          </p:cNvPr>
          <p:cNvSpPr/>
          <p:nvPr/>
        </p:nvSpPr>
        <p:spPr>
          <a:xfrm>
            <a:off x="7043409" y="186559"/>
            <a:ext cx="1683084" cy="1041400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08100"/>
              <a:gd name="connsiteX1" fmla="*/ 0 w 1041400"/>
              <a:gd name="connsiteY1" fmla="*/ 1308100 h 1308100"/>
              <a:gd name="connsiteX2" fmla="*/ 628650 w 1041400"/>
              <a:gd name="connsiteY2" fmla="*/ 1289050 h 1308100"/>
              <a:gd name="connsiteX3" fmla="*/ 1041400 w 1041400"/>
              <a:gd name="connsiteY3" fmla="*/ 1308100 h 1308100"/>
              <a:gd name="connsiteX4" fmla="*/ 533400 w 1041400"/>
              <a:gd name="connsiteY4" fmla="*/ 0 h 1308100"/>
              <a:gd name="connsiteX0" fmla="*/ 819150 w 1327150"/>
              <a:gd name="connsiteY0" fmla="*/ 0 h 1308100"/>
              <a:gd name="connsiteX1" fmla="*/ 0 w 1327150"/>
              <a:gd name="connsiteY1" fmla="*/ 1212850 h 1308100"/>
              <a:gd name="connsiteX2" fmla="*/ 914400 w 1327150"/>
              <a:gd name="connsiteY2" fmla="*/ 1289050 h 1308100"/>
              <a:gd name="connsiteX3" fmla="*/ 1327150 w 1327150"/>
              <a:gd name="connsiteY3" fmla="*/ 1308100 h 1308100"/>
              <a:gd name="connsiteX4" fmla="*/ 819150 w 1327150"/>
              <a:gd name="connsiteY4" fmla="*/ 0 h 1308100"/>
              <a:gd name="connsiteX0" fmla="*/ 819150 w 1651000"/>
              <a:gd name="connsiteY0" fmla="*/ 0 h 1289050"/>
              <a:gd name="connsiteX1" fmla="*/ 0 w 1651000"/>
              <a:gd name="connsiteY1" fmla="*/ 1212850 h 1289050"/>
              <a:gd name="connsiteX2" fmla="*/ 914400 w 1651000"/>
              <a:gd name="connsiteY2" fmla="*/ 1289050 h 1289050"/>
              <a:gd name="connsiteX3" fmla="*/ 1651000 w 1651000"/>
              <a:gd name="connsiteY3" fmla="*/ 1155700 h 1289050"/>
              <a:gd name="connsiteX4" fmla="*/ 819150 w 1651000"/>
              <a:gd name="connsiteY4" fmla="*/ 0 h 1289050"/>
              <a:gd name="connsiteX0" fmla="*/ 819150 w 1651000"/>
              <a:gd name="connsiteY0" fmla="*/ 0 h 1212850"/>
              <a:gd name="connsiteX1" fmla="*/ 0 w 1651000"/>
              <a:gd name="connsiteY1" fmla="*/ 1212850 h 1212850"/>
              <a:gd name="connsiteX2" fmla="*/ 933450 w 1651000"/>
              <a:gd name="connsiteY2" fmla="*/ 1212850 h 1212850"/>
              <a:gd name="connsiteX3" fmla="*/ 1651000 w 1651000"/>
              <a:gd name="connsiteY3" fmla="*/ 1155700 h 1212850"/>
              <a:gd name="connsiteX4" fmla="*/ 819150 w 1651000"/>
              <a:gd name="connsiteY4" fmla="*/ 0 h 1212850"/>
              <a:gd name="connsiteX0" fmla="*/ 800100 w 1651000"/>
              <a:gd name="connsiteY0" fmla="*/ 0 h 1041400"/>
              <a:gd name="connsiteX1" fmla="*/ 0 w 1651000"/>
              <a:gd name="connsiteY1" fmla="*/ 1041400 h 1041400"/>
              <a:gd name="connsiteX2" fmla="*/ 933450 w 1651000"/>
              <a:gd name="connsiteY2" fmla="*/ 1041400 h 1041400"/>
              <a:gd name="connsiteX3" fmla="*/ 1651000 w 1651000"/>
              <a:gd name="connsiteY3" fmla="*/ 984250 h 1041400"/>
              <a:gd name="connsiteX4" fmla="*/ 800100 w 1651000"/>
              <a:gd name="connsiteY4" fmla="*/ 0 h 1041400"/>
              <a:gd name="connsiteX0" fmla="*/ 800100 w 1683084"/>
              <a:gd name="connsiteY0" fmla="*/ 0 h 1041400"/>
              <a:gd name="connsiteX1" fmla="*/ 0 w 1683084"/>
              <a:gd name="connsiteY1" fmla="*/ 1041400 h 1041400"/>
              <a:gd name="connsiteX2" fmla="*/ 933450 w 1683084"/>
              <a:gd name="connsiteY2" fmla="*/ 1041400 h 1041400"/>
              <a:gd name="connsiteX3" fmla="*/ 1683084 w 1683084"/>
              <a:gd name="connsiteY3" fmla="*/ 1040397 h 1041400"/>
              <a:gd name="connsiteX4" fmla="*/ 800100 w 1683084"/>
              <a:gd name="connsiteY4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3084" h="1041400">
                <a:moveTo>
                  <a:pt x="800100" y="0"/>
                </a:moveTo>
                <a:lnTo>
                  <a:pt x="0" y="1041400"/>
                </a:lnTo>
                <a:lnTo>
                  <a:pt x="933450" y="1041400"/>
                </a:lnTo>
                <a:lnTo>
                  <a:pt x="1683084" y="1040397"/>
                </a:lnTo>
                <a:lnTo>
                  <a:pt x="80010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占位符 1">
            <a:extLst>
              <a:ext uri="{FF2B5EF4-FFF2-40B4-BE49-F238E27FC236}">
                <a16:creationId xmlns:a16="http://schemas.microsoft.com/office/drawing/2014/main" id="{B050A705-9518-73DB-9975-C3992A6A65F1}"/>
              </a:ext>
            </a:extLst>
          </p:cNvPr>
          <p:cNvSpPr txBox="1">
            <a:spLocks/>
          </p:cNvSpPr>
          <p:nvPr/>
        </p:nvSpPr>
        <p:spPr>
          <a:xfrm>
            <a:off x="6867363" y="647948"/>
            <a:ext cx="2035176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场景榜</a:t>
            </a:r>
          </a:p>
        </p:txBody>
      </p:sp>
    </p:spTree>
    <p:extLst>
      <p:ext uri="{BB962C8B-B14F-4D97-AF65-F5344CB8AC3E}">
        <p14:creationId xmlns:p14="http://schemas.microsoft.com/office/powerpoint/2010/main" val="2593459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C3AD1FB-D5D5-3A4B-E691-22639043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22228" y="-3249919"/>
            <a:ext cx="4105275" cy="5054600"/>
          </a:xfrm>
          <a:prstGeom prst="rect">
            <a:avLst/>
          </a:prstGeom>
          <a:ln>
            <a:noFill/>
          </a:ln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0" imgH="0" progId="TCLayout.ActiveDocument.1">
                  <p:embed/>
                </p:oleObj>
              </mc:Choice>
              <mc:Fallback>
                <p:oleObj name="think-cell 幻灯片" r:id="rId6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3A59F87-917D-1377-7A52-B7EF5D0ABFBF}"/>
              </a:ext>
            </a:extLst>
          </p:cNvPr>
          <p:cNvCxnSpPr>
            <a:cxnSpLocks/>
          </p:cNvCxnSpPr>
          <p:nvPr/>
        </p:nvCxnSpPr>
        <p:spPr>
          <a:xfrm flipV="1">
            <a:off x="11371827" y="671530"/>
            <a:ext cx="2273300" cy="179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EF0E61F-3C93-79EF-B566-1E9F1D78CBD6}"/>
              </a:ext>
            </a:extLst>
          </p:cNvPr>
          <p:cNvCxnSpPr>
            <a:cxnSpLocks/>
          </p:cNvCxnSpPr>
          <p:nvPr/>
        </p:nvCxnSpPr>
        <p:spPr>
          <a:xfrm flipV="1">
            <a:off x="11219427" y="-2070066"/>
            <a:ext cx="2425700" cy="27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35A3B7C8-002A-B240-CF8C-53141A0198C4}"/>
              </a:ext>
            </a:extLst>
          </p:cNvPr>
          <p:cNvSpPr txBox="1">
            <a:spLocks/>
          </p:cNvSpPr>
          <p:nvPr/>
        </p:nvSpPr>
        <p:spPr>
          <a:xfrm>
            <a:off x="11489301" y="-2837149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典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（资产综合）</a:t>
            </a:r>
            <a:endParaRPr lang="en-US" altLang="zh-CN" sz="1600" dirty="0"/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5F94431D-8248-0360-0872-632B65C6CE1D}"/>
              </a:ext>
            </a:extLst>
          </p:cNvPr>
          <p:cNvSpPr txBox="1">
            <a:spLocks/>
          </p:cNvSpPr>
          <p:nvPr/>
        </p:nvSpPr>
        <p:spPr>
          <a:xfrm>
            <a:off x="10987441" y="-1387778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热</a:t>
            </a:r>
          </a:p>
          <a:p>
            <a:pPr marL="0" indent="0" algn="ctr">
              <a:buNone/>
            </a:pPr>
            <a:r>
              <a:rPr lang="zh-CN" altLang="en-US" sz="1600" dirty="0"/>
              <a:t>（资产沉淀）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DAE7CD89-592E-A1D1-6829-C12EC4B86AA0}"/>
              </a:ext>
            </a:extLst>
          </p:cNvPr>
          <p:cNvSpPr txBox="1">
            <a:spLocks/>
          </p:cNvSpPr>
          <p:nvPr/>
        </p:nvSpPr>
        <p:spPr>
          <a:xfrm>
            <a:off x="11047164" y="752965"/>
            <a:ext cx="2994833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新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（资产初建）</a:t>
            </a:r>
            <a:endParaRPr lang="en-US" altLang="zh-CN" sz="1600" dirty="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C68D7D6-8E2E-C21D-5A2E-C1C9E8F83BAF}"/>
              </a:ext>
            </a:extLst>
          </p:cNvPr>
          <p:cNvSpPr txBox="1">
            <a:spLocks/>
          </p:cNvSpPr>
          <p:nvPr/>
        </p:nvSpPr>
        <p:spPr>
          <a:xfrm>
            <a:off x="10718800" y="-3449213"/>
            <a:ext cx="352425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店</a:t>
            </a:r>
            <a:endParaRPr lang="en-US" altLang="zh-CN" sz="1600" dirty="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9E0AD82B-6953-1A74-770B-9BEE352BCC15}"/>
              </a:ext>
            </a:extLst>
          </p:cNvPr>
          <p:cNvSpPr txBox="1">
            <a:spLocks/>
          </p:cNvSpPr>
          <p:nvPr/>
        </p:nvSpPr>
        <p:spPr>
          <a:xfrm>
            <a:off x="19485459" y="-3799842"/>
            <a:ext cx="4859513" cy="127377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品</a:t>
            </a:r>
            <a:r>
              <a:rPr lang="en-US" altLang="zh-CN" sz="1600" dirty="0"/>
              <a:t>/</a:t>
            </a:r>
            <a:r>
              <a:rPr lang="zh-CN" altLang="en-US" sz="1600" dirty="0"/>
              <a:t>菜</a:t>
            </a:r>
            <a:endParaRPr lang="en-US" altLang="zh-CN" sz="16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F84603-44A7-3C95-8C22-EDCE68E7C12C}"/>
              </a:ext>
            </a:extLst>
          </p:cNvPr>
          <p:cNvSpPr/>
          <p:nvPr/>
        </p:nvSpPr>
        <p:spPr>
          <a:xfrm>
            <a:off x="20353619" y="428949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F22A4B-2CD5-977F-9DC7-A06F4574377D}"/>
              </a:ext>
            </a:extLst>
          </p:cNvPr>
          <p:cNvSpPr/>
          <p:nvPr/>
        </p:nvSpPr>
        <p:spPr>
          <a:xfrm>
            <a:off x="20353618" y="-1800267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4F60C3-FAB4-08B4-DD85-253708C9A007}"/>
              </a:ext>
            </a:extLst>
          </p:cNvPr>
          <p:cNvSpPr/>
          <p:nvPr/>
        </p:nvSpPr>
        <p:spPr>
          <a:xfrm>
            <a:off x="20296528" y="-685292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占位符 1">
            <a:extLst>
              <a:ext uri="{FF2B5EF4-FFF2-40B4-BE49-F238E27FC236}">
                <a16:creationId xmlns:a16="http://schemas.microsoft.com/office/drawing/2014/main" id="{E2E1E4D5-30F2-83B2-BD63-37E7A6172AB7}"/>
              </a:ext>
            </a:extLst>
          </p:cNvPr>
          <p:cNvSpPr txBox="1">
            <a:spLocks/>
          </p:cNvSpPr>
          <p:nvPr/>
        </p:nvSpPr>
        <p:spPr>
          <a:xfrm>
            <a:off x="10961438" y="-97086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特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（资产特色）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BAA11FA-F820-65F1-6DA0-F59589051F46}"/>
              </a:ext>
            </a:extLst>
          </p:cNvPr>
          <p:cNvCxnSpPr>
            <a:cxnSpLocks/>
          </p:cNvCxnSpPr>
          <p:nvPr/>
        </p:nvCxnSpPr>
        <p:spPr>
          <a:xfrm flipV="1">
            <a:off x="10821579" y="-236387"/>
            <a:ext cx="3332146" cy="14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20AC24A-7F5A-4E6F-6580-2FD51FFB5F14}"/>
              </a:ext>
            </a:extLst>
          </p:cNvPr>
          <p:cNvSpPr/>
          <p:nvPr/>
        </p:nvSpPr>
        <p:spPr>
          <a:xfrm>
            <a:off x="14666514" y="830540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尝新榜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A78792F-CF72-80D4-7BBF-289FBBA3598F}"/>
              </a:ext>
            </a:extLst>
          </p:cNvPr>
          <p:cNvSpPr/>
          <p:nvPr/>
        </p:nvSpPr>
        <p:spPr>
          <a:xfrm>
            <a:off x="14698491" y="-1463261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CCCDFAC-9FAE-14F7-8F10-AC028CA78D07}"/>
              </a:ext>
            </a:extLst>
          </p:cNvPr>
          <p:cNvSpPr/>
          <p:nvPr/>
        </p:nvSpPr>
        <p:spPr>
          <a:xfrm>
            <a:off x="14666515" y="-2914316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77875DA-EF66-3865-3DE3-FE229303232A}"/>
              </a:ext>
            </a:extLst>
          </p:cNvPr>
          <p:cNvSpPr/>
          <p:nvPr/>
        </p:nvSpPr>
        <p:spPr>
          <a:xfrm>
            <a:off x="14698492" y="-134610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主题场景榜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文本占位符 1">
            <a:extLst>
              <a:ext uri="{FF2B5EF4-FFF2-40B4-BE49-F238E27FC236}">
                <a16:creationId xmlns:a16="http://schemas.microsoft.com/office/drawing/2014/main" id="{3B3F80D1-9A60-8685-66C0-C01525071D06}"/>
              </a:ext>
            </a:extLst>
          </p:cNvPr>
          <p:cNvSpPr txBox="1">
            <a:spLocks/>
          </p:cNvSpPr>
          <p:nvPr/>
        </p:nvSpPr>
        <p:spPr>
          <a:xfrm>
            <a:off x="8683449" y="-3404800"/>
            <a:ext cx="1806001" cy="3597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39DC229-E9A0-118C-FF83-8386D87A8D58}"/>
              </a:ext>
            </a:extLst>
          </p:cNvPr>
          <p:cNvSpPr/>
          <p:nvPr/>
        </p:nvSpPr>
        <p:spPr>
          <a:xfrm>
            <a:off x="8683449" y="-2920118"/>
            <a:ext cx="1806001" cy="767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综合需求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D126C5A-1E29-9281-87EB-B60ABF08C1C2}"/>
              </a:ext>
            </a:extLst>
          </p:cNvPr>
          <p:cNvSpPr/>
          <p:nvPr/>
        </p:nvSpPr>
        <p:spPr>
          <a:xfrm>
            <a:off x="8683449" y="-1454995"/>
            <a:ext cx="1806001" cy="767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品类等需求从众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C790FF1-4DE7-45D0-8034-BF6C796619F2}"/>
              </a:ext>
            </a:extLst>
          </p:cNvPr>
          <p:cNvSpPr/>
          <p:nvPr/>
        </p:nvSpPr>
        <p:spPr>
          <a:xfrm>
            <a:off x="8683449" y="-97087"/>
            <a:ext cx="1806001" cy="767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社交、审美需求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BA0F29A-1018-37F4-4E29-6B80E3D3AA9B}"/>
              </a:ext>
            </a:extLst>
          </p:cNvPr>
          <p:cNvSpPr/>
          <p:nvPr/>
        </p:nvSpPr>
        <p:spPr>
          <a:xfrm>
            <a:off x="8649838" y="752965"/>
            <a:ext cx="1806001" cy="767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尝鲜需求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5" name="文本占位符 1">
            <a:extLst>
              <a:ext uri="{FF2B5EF4-FFF2-40B4-BE49-F238E27FC236}">
                <a16:creationId xmlns:a16="http://schemas.microsoft.com/office/drawing/2014/main" id="{5726C88C-5256-7ABF-B9DE-8796EA4BE4B7}"/>
              </a:ext>
            </a:extLst>
          </p:cNvPr>
          <p:cNvSpPr txBox="1">
            <a:spLocks/>
          </p:cNvSpPr>
          <p:nvPr/>
        </p:nvSpPr>
        <p:spPr>
          <a:xfrm>
            <a:off x="14666514" y="-3470455"/>
            <a:ext cx="2453993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7A858C8-5E25-A6E4-B879-5F2FA57B6942}"/>
              </a:ext>
            </a:extLst>
          </p:cNvPr>
          <p:cNvSpPr/>
          <p:nvPr/>
        </p:nvSpPr>
        <p:spPr>
          <a:xfrm>
            <a:off x="17453249" y="896195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新店榜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（点评）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C280B61-7D1C-B9A9-CFC0-87A6AA7CC68A}"/>
              </a:ext>
            </a:extLst>
          </p:cNvPr>
          <p:cNvSpPr/>
          <p:nvPr/>
        </p:nvSpPr>
        <p:spPr>
          <a:xfrm>
            <a:off x="17485226" y="-1397606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57F7A5E-A0DB-B2EF-09F4-2E926F64C97F}"/>
              </a:ext>
            </a:extLst>
          </p:cNvPr>
          <p:cNvSpPr/>
          <p:nvPr/>
        </p:nvSpPr>
        <p:spPr>
          <a:xfrm>
            <a:off x="17453250" y="-2848661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</a:p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6264A49-F7CA-0E64-818D-8204D6A9DCB3}"/>
              </a:ext>
            </a:extLst>
          </p:cNvPr>
          <p:cNvSpPr/>
          <p:nvPr/>
        </p:nvSpPr>
        <p:spPr>
          <a:xfrm>
            <a:off x="17485227" y="-68955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当地人推荐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约会榜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占位符 1">
            <a:extLst>
              <a:ext uri="{FF2B5EF4-FFF2-40B4-BE49-F238E27FC236}">
                <a16:creationId xmlns:a16="http://schemas.microsoft.com/office/drawing/2014/main" id="{C200ED5D-BBDD-FC40-C62B-49E64233A588}"/>
              </a:ext>
            </a:extLst>
          </p:cNvPr>
          <p:cNvSpPr txBox="1">
            <a:spLocks/>
          </p:cNvSpPr>
          <p:nvPr/>
        </p:nvSpPr>
        <p:spPr>
          <a:xfrm>
            <a:off x="17453249" y="-3404800"/>
            <a:ext cx="2453993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6AA6581-7971-D5E1-54B1-772C6007C587}"/>
              </a:ext>
            </a:extLst>
          </p:cNvPr>
          <p:cNvSpPr/>
          <p:nvPr/>
        </p:nvSpPr>
        <p:spPr>
          <a:xfrm>
            <a:off x="1344737" y="1827222"/>
            <a:ext cx="1806001" cy="767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6FDA8B8-F54E-197D-99EF-A79D4CE5A749}"/>
              </a:ext>
            </a:extLst>
          </p:cNvPr>
          <p:cNvSpPr/>
          <p:nvPr/>
        </p:nvSpPr>
        <p:spPr>
          <a:xfrm>
            <a:off x="6843837" y="1827221"/>
            <a:ext cx="1806001" cy="767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供给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66E7E41-2FC8-DA23-7FF5-27E781219A1C}"/>
              </a:ext>
            </a:extLst>
          </p:cNvPr>
          <p:cNvSpPr/>
          <p:nvPr/>
        </p:nvSpPr>
        <p:spPr>
          <a:xfrm>
            <a:off x="4120644" y="1827221"/>
            <a:ext cx="1806001" cy="767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交叉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EFD1969-65DD-EBD7-DBDB-8405BE184CFB}"/>
              </a:ext>
            </a:extLst>
          </p:cNvPr>
          <p:cNvSpPr/>
          <p:nvPr/>
        </p:nvSpPr>
        <p:spPr>
          <a:xfrm>
            <a:off x="1371095" y="3479412"/>
            <a:ext cx="7305101" cy="7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需求及好店挖掘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193CB7C-674F-823E-15D3-4FF541E5F621}"/>
              </a:ext>
            </a:extLst>
          </p:cNvPr>
          <p:cNvCxnSpPr>
            <a:stCxn id="2" idx="2"/>
          </p:cNvCxnSpPr>
          <p:nvPr/>
        </p:nvCxnSpPr>
        <p:spPr>
          <a:xfrm flipH="1">
            <a:off x="2247737" y="2594305"/>
            <a:ext cx="1" cy="885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25B3077-2547-6105-800F-76A63EFEC5A0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7746837" y="2594304"/>
            <a:ext cx="1" cy="885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FDAD6D9E-CF6E-6CB4-0337-C42F566CE2DD}"/>
              </a:ext>
            </a:extLst>
          </p:cNvPr>
          <p:cNvSpPr txBox="1">
            <a:spLocks/>
          </p:cNvSpPr>
          <p:nvPr/>
        </p:nvSpPr>
        <p:spPr>
          <a:xfrm>
            <a:off x="6727661" y="2858492"/>
            <a:ext cx="2038351" cy="3567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/>
              <a:t>GC</a:t>
            </a:r>
            <a:r>
              <a:rPr lang="zh-CN" altLang="en-US" sz="1600" dirty="0"/>
              <a:t>及标签</a:t>
            </a:r>
          </a:p>
        </p:txBody>
      </p:sp>
      <p:sp>
        <p:nvSpPr>
          <p:cNvPr id="29" name="文本占位符 1">
            <a:extLst>
              <a:ext uri="{FF2B5EF4-FFF2-40B4-BE49-F238E27FC236}">
                <a16:creationId xmlns:a16="http://schemas.microsoft.com/office/drawing/2014/main" id="{B994BC1D-A0BD-156D-D53C-060718AB6410}"/>
              </a:ext>
            </a:extLst>
          </p:cNvPr>
          <p:cNvSpPr txBox="1">
            <a:spLocks/>
          </p:cNvSpPr>
          <p:nvPr/>
        </p:nvSpPr>
        <p:spPr>
          <a:xfrm>
            <a:off x="1228561" y="2872749"/>
            <a:ext cx="2038351" cy="3567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用户状态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BA99E6D-B4B8-AE62-C878-7326F98B4407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5023645" y="2594304"/>
            <a:ext cx="1" cy="88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占位符 1">
            <a:extLst>
              <a:ext uri="{FF2B5EF4-FFF2-40B4-BE49-F238E27FC236}">
                <a16:creationId xmlns:a16="http://schemas.microsoft.com/office/drawing/2014/main" id="{49E2E4A7-3281-D0CC-B15F-8E6953B5FB88}"/>
              </a:ext>
            </a:extLst>
          </p:cNvPr>
          <p:cNvSpPr txBox="1">
            <a:spLocks/>
          </p:cNvSpPr>
          <p:nvPr/>
        </p:nvSpPr>
        <p:spPr>
          <a:xfrm>
            <a:off x="4004468" y="2838996"/>
            <a:ext cx="2038351" cy="3567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交叉行为</a:t>
            </a:r>
          </a:p>
        </p:txBody>
      </p:sp>
    </p:spTree>
    <p:extLst>
      <p:ext uri="{BB962C8B-B14F-4D97-AF65-F5344CB8AC3E}">
        <p14:creationId xmlns:p14="http://schemas.microsoft.com/office/powerpoint/2010/main" val="3152513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等腰三角形 1">
            <a:extLst>
              <a:ext uri="{FF2B5EF4-FFF2-40B4-BE49-F238E27FC236}">
                <a16:creationId xmlns:a16="http://schemas.microsoft.com/office/drawing/2014/main" id="{79180BD6-40AB-09EE-6E10-FA6AE292C3D6}"/>
              </a:ext>
            </a:extLst>
          </p:cNvPr>
          <p:cNvSpPr/>
          <p:nvPr/>
        </p:nvSpPr>
        <p:spPr>
          <a:xfrm>
            <a:off x="1359354" y="354724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DC95E27-4C93-50F8-4991-597BF6B58DD7}"/>
              </a:ext>
            </a:extLst>
          </p:cNvPr>
          <p:cNvCxnSpPr>
            <a:cxnSpLocks/>
          </p:cNvCxnSpPr>
          <p:nvPr/>
        </p:nvCxnSpPr>
        <p:spPr>
          <a:xfrm>
            <a:off x="1690734" y="3717049"/>
            <a:ext cx="448073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EE3D564-9E84-3C03-C206-444F52105858}"/>
              </a:ext>
            </a:extLst>
          </p:cNvPr>
          <p:cNvCxnSpPr>
            <a:cxnSpLocks/>
          </p:cNvCxnSpPr>
          <p:nvPr/>
        </p:nvCxnSpPr>
        <p:spPr>
          <a:xfrm>
            <a:off x="1858638" y="2645323"/>
            <a:ext cx="3867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7D3B2FE-8941-2AC0-79F8-E20D46D5CAA3}"/>
              </a:ext>
            </a:extLst>
          </p:cNvPr>
          <p:cNvSpPr txBox="1">
            <a:spLocks/>
          </p:cNvSpPr>
          <p:nvPr/>
        </p:nvSpPr>
        <p:spPr>
          <a:xfrm>
            <a:off x="1926867" y="4059948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全部门店</a:t>
            </a:r>
          </a:p>
        </p:txBody>
      </p:sp>
      <p:sp>
        <p:nvSpPr>
          <p:cNvPr id="25" name="文本占位符 1">
            <a:extLst>
              <a:ext uri="{FF2B5EF4-FFF2-40B4-BE49-F238E27FC236}">
                <a16:creationId xmlns:a16="http://schemas.microsoft.com/office/drawing/2014/main" id="{10C56E87-0769-36D0-5142-38E092EA9E1C}"/>
              </a:ext>
            </a:extLst>
          </p:cNvPr>
          <p:cNvSpPr txBox="1">
            <a:spLocks/>
          </p:cNvSpPr>
          <p:nvPr/>
        </p:nvSpPr>
        <p:spPr>
          <a:xfrm>
            <a:off x="1990367" y="3011879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标签门店</a:t>
            </a:r>
          </a:p>
        </p:txBody>
      </p: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AFC4E482-7F52-9822-6649-92B32F7AFF1F}"/>
              </a:ext>
            </a:extLst>
          </p:cNvPr>
          <p:cNvSpPr txBox="1">
            <a:spLocks/>
          </p:cNvSpPr>
          <p:nvPr/>
        </p:nvSpPr>
        <p:spPr>
          <a:xfrm>
            <a:off x="2196741" y="1878240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上榜门店（集合）</a:t>
            </a:r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4AC65BDD-0C88-3B48-01D7-79A2E5FC6FC2}"/>
              </a:ext>
            </a:extLst>
          </p:cNvPr>
          <p:cNvSpPr txBox="1">
            <a:spLocks/>
          </p:cNvSpPr>
          <p:nvPr/>
        </p:nvSpPr>
        <p:spPr>
          <a:xfrm>
            <a:off x="4132227" y="8468359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上面层有一定的个性化部分，比如好不好吃，坚守本味</a:t>
            </a:r>
            <a:r>
              <a:rPr lang="en-US" altLang="zh-CN" dirty="0"/>
              <a:t>/</a:t>
            </a:r>
            <a:r>
              <a:rPr lang="zh-CN" altLang="en-US" dirty="0"/>
              <a:t>融入改良，价格带，那些亮点吸引人等</a:t>
            </a:r>
            <a:endParaRPr lang="en-US" altLang="zh-CN" dirty="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2DF5670-240F-D351-354D-4B479A389D23}"/>
              </a:ext>
            </a:extLst>
          </p:cNvPr>
          <p:cNvCxnSpPr>
            <a:cxnSpLocks/>
          </p:cNvCxnSpPr>
          <p:nvPr/>
        </p:nvCxnSpPr>
        <p:spPr>
          <a:xfrm>
            <a:off x="1990367" y="1460500"/>
            <a:ext cx="3867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1">
            <a:extLst>
              <a:ext uri="{FF2B5EF4-FFF2-40B4-BE49-F238E27FC236}">
                <a16:creationId xmlns:a16="http://schemas.microsoft.com/office/drawing/2014/main" id="{CD347E19-5C58-3508-3579-94EA8D8AF2B0}"/>
              </a:ext>
            </a:extLst>
          </p:cNvPr>
          <p:cNvSpPr txBox="1">
            <a:spLocks/>
          </p:cNvSpPr>
          <p:nvPr/>
        </p:nvSpPr>
        <p:spPr>
          <a:xfrm>
            <a:off x="2058596" y="81121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上榜门店（</a:t>
            </a:r>
            <a:r>
              <a:rPr lang="en-US" altLang="zh-CN" dirty="0"/>
              <a:t>Top</a:t>
            </a:r>
            <a:r>
              <a:rPr lang="zh-CN" altLang="en-US" dirty="0"/>
              <a:t>）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F3DC46-7B9E-9EC3-902B-CBDA8C832AA1}"/>
              </a:ext>
            </a:extLst>
          </p:cNvPr>
          <p:cNvSpPr txBox="1"/>
          <p:nvPr/>
        </p:nvSpPr>
        <p:spPr>
          <a:xfrm>
            <a:off x="-5728513" y="1828800"/>
            <a:ext cx="4876800" cy="1837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条件一：该场景的评价维度与通用品质榜有实质性差异。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如果一个场景下的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跟通用意义上的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是同一件事，那么用通用品质榜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标签筛选就够了，不需要独立评选。但如果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的定义不一样，通用榜的排序就是错的，必须单独评。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氛围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私密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仪式感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口味，权重分配跟通用品质榜（口味为王）完全不同。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旅游打卡：好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地道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值得专程去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口味。跟通用品质榜差异不大（必吃榜本身就偏好地道小店），但有一个独特维度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，即一个外地人在这个城市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不可替代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的体验。**部分满足。**但必吃榜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2025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年异地用户占比已超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50%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（来源：</a:t>
            </a:r>
            <a:r>
              <a:rPr lang="zh-CN" altLang="en-US" b="0" i="0" u="sng" dirty="0">
                <a:solidFill>
                  <a:srgbClr val="0285FF"/>
                </a:solidFill>
                <a:effectLst/>
                <a:latin typeface="-apple-system"/>
                <a:hlinkClick r:id="rId6"/>
              </a:rPr>
              <a:t>新华网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），说明必吃榜已经在事实上承担这个功能。所以旅游打卡可能不需要独立榜单，但需要必吃榜在评选中更显式地纳入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在地特色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维度。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夜宵：好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深夜还能吃到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出品稳定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烟火气。跟通用品质榜的差异主要是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深夜营业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这个功能性条件，品质判断本身差异不大。**不满足。**夜宵的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跟白天的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没有本质区别，只是多了个营业时间过滤。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出片：好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视觉颜值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上镜效果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摆盘精致，跟口味弱相关。评价维度完全不同。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下午茶：好 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= 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环境舒适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甜品精致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适合坐着聊天。跟正餐的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好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有差异（正餐重口味，下午茶重环境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甜品），但差异程度不如约会那么大。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边界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case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条件二：该场景的决策频率和需求规模支撑独立榜单的运营成本。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做一个独立品牌榜单是有成本的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需要独立的评选逻辑、品牌建设、用户认知教育。如果一个场景一年只发生一两次，覆盖的用户群太窄，独立建榜的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ROI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不成立。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约会相关的高仪式性决策（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520/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七夕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纪念日）：全国范围看，这类节日消费需求巨大。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2024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年七夕当天，大众点评上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约会餐厅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搜索量较平日增长显著（具体倍数缺乏数据，推测）。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规模可能满足。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出片：小红书上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相关笔记超过百万篇（推测，未验证具体数据），说明需求真实存在且规模不小。但这个需求的主场不在美团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点评，用户更习惯在内容平台上找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漂亮饭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规模可能满足，但供给端不在自己平台。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下午茶：这个品类在大众点评上已有独立分类，搜索量应该不低，但下午茶决策的仪式性通常不高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很多时候就是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找个地方坐坐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，不需要榜单级别的品质承诺。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规模可能满足，但仪式性不满足。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条件三：现有产品无法通过简单叠加来满足该场景需求。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第二层品质甄选榜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场景标签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就能很好地解决，就不需要独立榜单。只有当叠加方案在用户感知上显著不如独立榜单时，才值得投入。</a:t>
            </a: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这个条件的判断标准其实就是你说的那个直觉：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用户在这个场景下是否强烈需要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告诉我第一名</a:t>
            </a:r>
            <a:r>
              <a:rPr lang="en-US" altLang="zh-CN" b="1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的代理决策？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约会（高仪式性）：是的。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520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那天用户不想在品质甄选榜里筛约会标签然后自己比较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他想要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"520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约会榜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TOP 1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，直接订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</a:t>
            </a:r>
            <a:r>
              <a:rPr lang="zh-CN" altLang="en-US" b="1" i="0" dirty="0">
                <a:solidFill>
                  <a:srgbClr val="0D0D0D"/>
                </a:solidFill>
                <a:effectLst/>
                <a:latin typeface="-apple-system"/>
              </a:rPr>
              <a:t>满足。</a:t>
            </a:r>
            <a:endParaRPr lang="zh-CN" alt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夜宵：通常不是。大多数夜宵决策是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附近什么还开着、评分还行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，排行榜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营业时间筛选就够了。**不满足。**但你提到的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夜宵人气榜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其实可以作为第三层排行榜的一个固定筛选视图存在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不需要独立品牌，但可以作为排行榜的常驻入口之一。</a:t>
            </a: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09640592-C3D9-5ACF-14CA-261E2129C2B9}"/>
              </a:ext>
            </a:extLst>
          </p:cNvPr>
          <p:cNvSpPr/>
          <p:nvPr/>
        </p:nvSpPr>
        <p:spPr>
          <a:xfrm>
            <a:off x="7784646" y="316469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899E61-230F-3751-709B-2B27FD396B92}"/>
              </a:ext>
            </a:extLst>
          </p:cNvPr>
          <p:cNvCxnSpPr>
            <a:cxnSpLocks/>
          </p:cNvCxnSpPr>
          <p:nvPr/>
        </p:nvCxnSpPr>
        <p:spPr>
          <a:xfrm>
            <a:off x="8116026" y="3678794"/>
            <a:ext cx="448073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77C143B-7307-5447-CC02-14B27567F299}"/>
              </a:ext>
            </a:extLst>
          </p:cNvPr>
          <p:cNvCxnSpPr>
            <a:cxnSpLocks/>
          </p:cNvCxnSpPr>
          <p:nvPr/>
        </p:nvCxnSpPr>
        <p:spPr>
          <a:xfrm>
            <a:off x="8283930" y="2607068"/>
            <a:ext cx="3867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4E9630B6-D1D2-F10D-37BC-A2B24A1D101E}"/>
              </a:ext>
            </a:extLst>
          </p:cNvPr>
          <p:cNvSpPr txBox="1">
            <a:spLocks/>
          </p:cNvSpPr>
          <p:nvPr/>
        </p:nvSpPr>
        <p:spPr>
          <a:xfrm>
            <a:off x="8352159" y="402169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全部门店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DE0D5A6E-A59F-3F95-5D67-72B8F4D9A115}"/>
              </a:ext>
            </a:extLst>
          </p:cNvPr>
          <p:cNvSpPr txBox="1">
            <a:spLocks/>
          </p:cNvSpPr>
          <p:nvPr/>
        </p:nvSpPr>
        <p:spPr>
          <a:xfrm>
            <a:off x="8415659" y="297362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资产门店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6D01E319-E431-59F0-8DCE-12FF8CE485E7}"/>
              </a:ext>
            </a:extLst>
          </p:cNvPr>
          <p:cNvSpPr txBox="1">
            <a:spLocks/>
          </p:cNvSpPr>
          <p:nvPr/>
        </p:nvSpPr>
        <p:spPr>
          <a:xfrm>
            <a:off x="8415658" y="1996530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上榜门店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93F8FE9-EF91-A493-41C0-87B4F25A67DF}"/>
              </a:ext>
            </a:extLst>
          </p:cNvPr>
          <p:cNvCxnSpPr>
            <a:cxnSpLocks/>
          </p:cNvCxnSpPr>
          <p:nvPr/>
        </p:nvCxnSpPr>
        <p:spPr>
          <a:xfrm>
            <a:off x="8415659" y="1422245"/>
            <a:ext cx="3867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D5BB2FDC-8D19-8D1C-5037-840237BF0FE8}"/>
              </a:ext>
            </a:extLst>
          </p:cNvPr>
          <p:cNvSpPr txBox="1">
            <a:spLocks/>
          </p:cNvSpPr>
          <p:nvPr/>
        </p:nvSpPr>
        <p:spPr>
          <a:xfrm>
            <a:off x="8483888" y="772958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上榜门店（</a:t>
            </a:r>
            <a:r>
              <a:rPr lang="en-US" altLang="zh-CN" sz="1600" dirty="0"/>
              <a:t>Top</a:t>
            </a:r>
            <a:r>
              <a:rPr lang="zh-CN" altLang="en-US" sz="1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41155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200" b="1" dirty="0">
                <a:latin typeface="+mn-ea"/>
                <a:ea typeface="+mn-ea"/>
              </a:rPr>
              <a:t>目录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1593" y="-4939943"/>
            <a:ext cx="6497021" cy="4617716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1557563" y="1363305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逛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3312628" y="1371697"/>
            <a:ext cx="1510416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比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排序选择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5063819" y="1371697"/>
            <a:ext cx="1523730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看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6828323" y="1371697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到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交易履约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308022" y="2115664"/>
            <a:ext cx="1164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B80E4E-27ED-4A14-FF97-F290624B890F}"/>
              </a:ext>
            </a:extLst>
          </p:cNvPr>
          <p:cNvSpPr txBox="1"/>
          <p:nvPr/>
        </p:nvSpPr>
        <p:spPr>
          <a:xfrm>
            <a:off x="318370" y="3652529"/>
            <a:ext cx="1164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榜单建设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1559499" y="2040508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逛场景前置触达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3312628" y="2040508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5065757" y="2040508"/>
            <a:ext cx="1521792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榜单标签展示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6828324" y="2049939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1482766" y="2726561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318370" y="1353645"/>
            <a:ext cx="1164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用户决策需求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1557562" y="3441687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1516244" y="272391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5063818" y="3441688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规则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</a:rPr>
              <a:t>算法优化、更匹配物理世界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2508698" y="74009"/>
            <a:ext cx="6179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主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入围：</a:t>
            </a:r>
            <a:r>
              <a:rPr lang="en-US" altLang="zh-CN" sz="1800" dirty="0">
                <a:latin typeface="+mn-ea"/>
              </a:rPr>
              <a:t>UGC</a:t>
            </a:r>
            <a:r>
              <a:rPr lang="zh-CN" altLang="en-US" sz="1800" dirty="0">
                <a:latin typeface="+mn-ea"/>
              </a:rPr>
              <a:t>挖掘主题相关度。辅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排序：</a:t>
            </a:r>
            <a:r>
              <a:rPr lang="en-US" altLang="zh-CN" sz="1800" dirty="0">
                <a:latin typeface="+mn-ea"/>
              </a:rPr>
              <a:t>B(D)GC</a:t>
            </a:r>
            <a:r>
              <a:rPr lang="zh-CN" altLang="en-US" sz="1800" dirty="0">
                <a:latin typeface="+mn-ea"/>
              </a:rPr>
              <a:t>信息标签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用户行为资产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（交履服务）</a:t>
            </a:r>
            <a:r>
              <a:rPr lang="en-US" altLang="zh-CN" sz="1800" dirty="0">
                <a:latin typeface="+mn-ea"/>
              </a:rPr>
              <a:t>	</a:t>
            </a:r>
            <a:endParaRPr lang="zh-CN" altLang="en-US" sz="1800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1557562" y="2937232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5063818" y="2937232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4803096" y="2998791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3310690" y="3444917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1472418" y="1202167"/>
            <a:ext cx="6970542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EDEB499A-9D92-C575-291C-8F013C10CEF3}"/>
              </a:ext>
            </a:extLst>
          </p:cNvPr>
          <p:cNvSpPr/>
          <p:nvPr/>
        </p:nvSpPr>
        <p:spPr>
          <a:xfrm>
            <a:off x="1472417" y="1952529"/>
            <a:ext cx="6970543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2207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AE36-B936-6EC7-EF3A-48B0DA43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5C8BBBD-2CF6-2325-E203-2A8F43F95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902761"/>
              </p:ext>
            </p:extLst>
          </p:nvPr>
        </p:nvGraphicFramePr>
        <p:xfrm>
          <a:off x="348523" y="2795646"/>
          <a:ext cx="8568371" cy="1864475"/>
        </p:xfrm>
        <a:graphic>
          <a:graphicData uri="http://schemas.openxmlformats.org/drawingml/2006/table">
            <a:tbl>
              <a:tblPr/>
              <a:tblGrid>
                <a:gridCol w="1344641">
                  <a:extLst>
                    <a:ext uri="{9D8B030D-6E8A-4147-A177-3AD203B41FA5}">
                      <a16:colId xmlns:a16="http://schemas.microsoft.com/office/drawing/2014/main" val="2039135121"/>
                    </a:ext>
                  </a:extLst>
                </a:gridCol>
                <a:gridCol w="1553188">
                  <a:extLst>
                    <a:ext uri="{9D8B030D-6E8A-4147-A177-3AD203B41FA5}">
                      <a16:colId xmlns:a16="http://schemas.microsoft.com/office/drawing/2014/main" val="1345433579"/>
                    </a:ext>
                  </a:extLst>
                </a:gridCol>
                <a:gridCol w="742165">
                  <a:extLst>
                    <a:ext uri="{9D8B030D-6E8A-4147-A177-3AD203B41FA5}">
                      <a16:colId xmlns:a16="http://schemas.microsoft.com/office/drawing/2014/main" val="3106620960"/>
                    </a:ext>
                  </a:extLst>
                </a:gridCol>
                <a:gridCol w="811121">
                  <a:extLst>
                    <a:ext uri="{9D8B030D-6E8A-4147-A177-3AD203B41FA5}">
                      <a16:colId xmlns:a16="http://schemas.microsoft.com/office/drawing/2014/main" val="1435758453"/>
                    </a:ext>
                  </a:extLst>
                </a:gridCol>
                <a:gridCol w="811121">
                  <a:extLst>
                    <a:ext uri="{9D8B030D-6E8A-4147-A177-3AD203B41FA5}">
                      <a16:colId xmlns:a16="http://schemas.microsoft.com/office/drawing/2014/main" val="386496419"/>
                    </a:ext>
                  </a:extLst>
                </a:gridCol>
                <a:gridCol w="811121">
                  <a:extLst>
                    <a:ext uri="{9D8B030D-6E8A-4147-A177-3AD203B41FA5}">
                      <a16:colId xmlns:a16="http://schemas.microsoft.com/office/drawing/2014/main" val="4173801618"/>
                    </a:ext>
                  </a:extLst>
                </a:gridCol>
                <a:gridCol w="811121">
                  <a:extLst>
                    <a:ext uri="{9D8B030D-6E8A-4147-A177-3AD203B41FA5}">
                      <a16:colId xmlns:a16="http://schemas.microsoft.com/office/drawing/2014/main" val="3421137762"/>
                    </a:ext>
                  </a:extLst>
                </a:gridCol>
                <a:gridCol w="811121">
                  <a:extLst>
                    <a:ext uri="{9D8B030D-6E8A-4147-A177-3AD203B41FA5}">
                      <a16:colId xmlns:a16="http://schemas.microsoft.com/office/drawing/2014/main" val="2180118608"/>
                    </a:ext>
                  </a:extLst>
                </a:gridCol>
                <a:gridCol w="872772">
                  <a:extLst>
                    <a:ext uri="{9D8B030D-6E8A-4147-A177-3AD203B41FA5}">
                      <a16:colId xmlns:a16="http://schemas.microsoft.com/office/drawing/2014/main" val="3092882036"/>
                    </a:ext>
                  </a:extLst>
                </a:gridCol>
              </a:tblGrid>
              <a:tr h="299411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dirty="0">
                          <a:effectLst/>
                        </a:rPr>
                        <a:t>数据类型</a:t>
                      </a:r>
                      <a:endParaRPr lang="zh-CN" sz="9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zh-CN" sz="800" dirty="0">
                        <a:effectLst/>
                      </a:endParaRPr>
                    </a:p>
                  </a:txBody>
                  <a:tcPr marL="47226" marR="47226" marT="5903" marB="590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900" dirty="0">
                          <a:effectLst/>
                        </a:rPr>
                        <a:t>2026-01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900" dirty="0">
                          <a:effectLst/>
                        </a:rPr>
                        <a:t>2026-02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900" dirty="0">
                          <a:effectLst/>
                        </a:rPr>
                        <a:t>2026-03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900" dirty="0">
                          <a:effectLst/>
                        </a:rPr>
                        <a:t>2026-04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900" dirty="0">
                          <a:effectLst/>
                        </a:rPr>
                        <a:t>2026-05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</a:rPr>
                        <a:t>2026-06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</a:rPr>
                        <a:t>(</a:t>
                      </a:r>
                      <a:r>
                        <a:rPr lang="zh-CN" altLang="en-US" sz="900" dirty="0">
                          <a:effectLst/>
                        </a:rPr>
                        <a:t>截至</a:t>
                      </a:r>
                      <a:r>
                        <a:rPr lang="en-US" altLang="zh-CN" sz="900" dirty="0">
                          <a:effectLst/>
                        </a:rPr>
                        <a:t>6.13)</a:t>
                      </a:r>
                      <a:endParaRPr lang="zh-CN" sz="9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effectLst/>
                        </a:rPr>
                        <a:t>26.6</a:t>
                      </a:r>
                      <a:r>
                        <a:rPr lang="zh-CN" altLang="en-US" sz="900" dirty="0">
                          <a:effectLst/>
                        </a:rPr>
                        <a:t>月 </a:t>
                      </a:r>
                      <a:r>
                        <a:rPr lang="zh-CN" altLang="zh-CN" sz="900" dirty="0">
                          <a:effectLst/>
                        </a:rPr>
                        <a:t>vs </a:t>
                      </a:r>
                      <a:r>
                        <a:rPr lang="en-US" altLang="zh-CN" sz="900" dirty="0">
                          <a:effectLst/>
                        </a:rPr>
                        <a:t>26.1</a:t>
                      </a:r>
                      <a:r>
                        <a:rPr lang="zh-CN" altLang="en-US" sz="900" dirty="0">
                          <a:effectLst/>
                        </a:rPr>
                        <a:t>月</a:t>
                      </a:r>
                      <a:endParaRPr lang="zh-CN" altLang="zh-CN" sz="9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892628"/>
                  </a:ext>
                </a:extLst>
              </a:tr>
              <a:tr h="163463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zh-CN" sz="9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900" dirty="0">
                          <a:effectLst/>
                        </a:rPr>
                        <a:t>榜单决策触达UV</a:t>
                      </a:r>
                      <a:r>
                        <a:rPr lang="zh-CN" altLang="en-US" sz="900" dirty="0">
                          <a:effectLst/>
                        </a:rPr>
                        <a:t>（万）</a:t>
                      </a:r>
                      <a:endParaRPr lang="zh-CN" sz="9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185.99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232.21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221.10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248.57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265.83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277.35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b="0">
                          <a:solidFill>
                            <a:srgbClr val="FF0000"/>
                          </a:solidFill>
                          <a:effectLst/>
                        </a:rPr>
                        <a:t>49.12%</a:t>
                      </a:r>
                      <a:endParaRPr lang="zh-CN" altLang="en-US" b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880472"/>
                  </a:ext>
                </a:extLst>
              </a:tr>
              <a:tr h="163463"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zh-CN" sz="8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榜单决策</a:t>
                      </a: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UV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渗透率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3.53%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4.35%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4.31%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4.65%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4.75%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5.03%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sz="900" b="0" dirty="0">
                          <a:solidFill>
                            <a:srgbClr val="FF0000"/>
                          </a:solidFill>
                          <a:effectLst/>
                        </a:rPr>
                        <a:t>1.52pp</a:t>
                      </a:r>
                      <a:endParaRPr lang="en-US" b="0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843463"/>
                  </a:ext>
                </a:extLst>
              </a:tr>
              <a:tr h="163463">
                <a:tc rowSpan="4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effectLst/>
                        </a:rPr>
                        <a:t>Input1-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优化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端渠道动线（万）</a:t>
                      </a:r>
                      <a:endParaRPr lang="zh-CN" sz="9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商详页_榜单决策触达UV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72.55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102.84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83.81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96.20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105.76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93.45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b="0">
                          <a:solidFill>
                            <a:srgbClr val="FF0000"/>
                          </a:solidFill>
                          <a:effectLst/>
                        </a:rPr>
                        <a:t>28.81%</a:t>
                      </a:r>
                      <a:endParaRPr lang="zh-CN" altLang="en-US" b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106534"/>
                  </a:ext>
                </a:extLst>
              </a:tr>
              <a:tr h="194762"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zh-CN" sz="8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美食首页_榜单决策触达UV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58.26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74.39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54.73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61.44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67.44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54.67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b="0" dirty="0">
                          <a:solidFill>
                            <a:srgbClr val="70AD47"/>
                          </a:solidFill>
                          <a:effectLst/>
                        </a:rPr>
                        <a:t>-6.16%</a:t>
                      </a:r>
                      <a:endParaRPr lang="zh-CN" altLang="en-US" b="0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11452"/>
                  </a:ext>
                </a:extLst>
              </a:tr>
              <a:tr h="163463"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zh-CN" sz="8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大搜_榜单决策触达UV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60.98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69.55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63.71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69.00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69.48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66.19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b="0">
                          <a:solidFill>
                            <a:srgbClr val="FF0000"/>
                          </a:solidFill>
                          <a:effectLst/>
                        </a:rPr>
                        <a:t>8.54%</a:t>
                      </a:r>
                      <a:endParaRPr lang="zh-CN" altLang="en-US" b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355697"/>
                  </a:ext>
                </a:extLst>
              </a:tr>
              <a:tr h="194762"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zh-CN" sz="800" dirty="0"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首页猜喜_榜单决策触达UV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7.74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11.96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12.14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14.36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14.08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13.29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b="0" dirty="0">
                          <a:solidFill>
                            <a:srgbClr val="FF0000"/>
                          </a:solidFill>
                          <a:effectLst/>
                        </a:rPr>
                        <a:t>71.71%</a:t>
                      </a:r>
                      <a:endParaRPr lang="zh-CN" altLang="en-US" b="0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96536"/>
                  </a:ext>
                </a:extLst>
              </a:tr>
              <a:tr h="163463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effectLst/>
                        </a:rPr>
                        <a:t>Input2-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建设榜单矩阵</a:t>
                      </a:r>
                      <a:endParaRPr lang="en-US" altLang="zh-CN" sz="9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指数榜需求满足度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20.58%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19.97%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41.02%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39.96%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40.54%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39.69%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sz="900" b="0">
                          <a:solidFill>
                            <a:srgbClr val="FF0000"/>
                          </a:solidFill>
                          <a:effectLst/>
                        </a:rPr>
                        <a:t>19.11pp</a:t>
                      </a:r>
                      <a:endParaRPr lang="en-US" b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836114"/>
                  </a:ext>
                </a:extLst>
              </a:tr>
              <a:tr h="1634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场景榜需求满足度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3.48%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7.93%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7.96%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8.01%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7.97%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</a:rPr>
                        <a:t>8.33%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sz="900" b="0" dirty="0">
                          <a:solidFill>
                            <a:srgbClr val="FF0000"/>
                          </a:solidFill>
                          <a:effectLst/>
                        </a:rPr>
                        <a:t>4.85pp</a:t>
                      </a:r>
                      <a:endParaRPr lang="en-US" b="0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00444"/>
                  </a:ext>
                </a:extLst>
              </a:tr>
              <a:tr h="1947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观测指标（万）</a:t>
                      </a:r>
                      <a:endParaRPr lang="zh-CN" sz="9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dirty="0">
                          <a:solidFill>
                            <a:schemeClr val="tx1"/>
                          </a:solidFill>
                          <a:effectLst/>
                        </a:rPr>
                        <a:t>榜单决策意向U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</a:p>
                  </a:txBody>
                  <a:tcPr marL="47226" marR="47226" marT="5903" marB="5903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72.37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96.04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78.10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89.51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96.86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>
                          <a:solidFill>
                            <a:srgbClr val="000000"/>
                          </a:solidFill>
                          <a:effectLst/>
                        </a:rPr>
                        <a:t>86.29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1"/>
                      <a:r>
                        <a:rPr lang="en-US" altLang="zh-CN" sz="900" b="0" dirty="0">
                          <a:solidFill>
                            <a:srgbClr val="FF0000"/>
                          </a:solidFill>
                          <a:effectLst/>
                        </a:rPr>
                        <a:t>19.23%</a:t>
                      </a:r>
                      <a:endParaRPr lang="zh-CN" altLang="en-US" b="0" dirty="0">
                        <a:effectLst/>
                      </a:endParaRPr>
                    </a:p>
                  </a:txBody>
                  <a:tcPr marL="76200" marR="76200" marT="9525" marB="952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731060"/>
                  </a:ext>
                </a:extLst>
              </a:tr>
            </a:tbl>
          </a:graphicData>
        </a:graphic>
      </p:graphicFrame>
      <p:sp>
        <p:nvSpPr>
          <p:cNvPr id="3" name="Shape 8">
            <a:extLst>
              <a:ext uri="{FF2B5EF4-FFF2-40B4-BE49-F238E27FC236}">
                <a16:creationId xmlns:a16="http://schemas.microsoft.com/office/drawing/2014/main" id="{12A7B086-AFF8-DFAF-D042-E0308AF91DAA}"/>
              </a:ext>
            </a:extLst>
          </p:cNvPr>
          <p:cNvSpPr/>
          <p:nvPr/>
        </p:nvSpPr>
        <p:spPr>
          <a:xfrm>
            <a:off x="1799504" y="502417"/>
            <a:ext cx="1018649" cy="608148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101A094B-259C-771A-8225-0BD75D9FCBC7}"/>
              </a:ext>
            </a:extLst>
          </p:cNvPr>
          <p:cNvSpPr/>
          <p:nvPr/>
        </p:nvSpPr>
        <p:spPr>
          <a:xfrm>
            <a:off x="1799503" y="488587"/>
            <a:ext cx="1018649" cy="3358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34A02CA-175C-6ACA-C159-6784B0DACA54}"/>
              </a:ext>
            </a:extLst>
          </p:cNvPr>
          <p:cNvSpPr/>
          <p:nvPr/>
        </p:nvSpPr>
        <p:spPr>
          <a:xfrm>
            <a:off x="1704243" y="481748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</a:t>
            </a:r>
            <a:r>
              <a:rPr lang="en-US" altLang="zh-CN" sz="16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49</a:t>
            </a:r>
            <a:r>
              <a:rPr lang="en-US" sz="16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%</a:t>
            </a:r>
            <a:endParaRPr lang="en-US" sz="1600" dirty="0">
              <a:latin typeface="+mn-ea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AD8785D6-E596-21E4-2C3A-6667F073B08F}"/>
              </a:ext>
            </a:extLst>
          </p:cNvPr>
          <p:cNvSpPr/>
          <p:nvPr/>
        </p:nvSpPr>
        <p:spPr>
          <a:xfrm>
            <a:off x="1794570" y="902840"/>
            <a:ext cx="1042927" cy="145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榜单决策</a:t>
            </a:r>
            <a:r>
              <a:rPr lang="zh-CN" altLang="en-US" sz="9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触达</a:t>
            </a:r>
            <a:r>
              <a:rPr lang="en-US" sz="9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UV</a:t>
            </a:r>
            <a:endParaRPr lang="en-US" sz="900" dirty="0">
              <a:latin typeface="+mn-ea"/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E1DB0ADF-7F48-B681-4036-169E603E03BD}"/>
              </a:ext>
            </a:extLst>
          </p:cNvPr>
          <p:cNvSpPr/>
          <p:nvPr/>
        </p:nvSpPr>
        <p:spPr>
          <a:xfrm>
            <a:off x="2851217" y="490029"/>
            <a:ext cx="1018649" cy="624710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DB54C87A-B7A2-D6E8-CD45-62A4A4EB172A}"/>
              </a:ext>
            </a:extLst>
          </p:cNvPr>
          <p:cNvSpPr/>
          <p:nvPr/>
        </p:nvSpPr>
        <p:spPr>
          <a:xfrm>
            <a:off x="2851217" y="490029"/>
            <a:ext cx="1018649" cy="3358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6480320E-0E29-3EBC-A65C-4E111CCF9A3F}"/>
              </a:ext>
            </a:extLst>
          </p:cNvPr>
          <p:cNvSpPr/>
          <p:nvPr/>
        </p:nvSpPr>
        <p:spPr>
          <a:xfrm>
            <a:off x="2755958" y="467507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</a:t>
            </a:r>
            <a:r>
              <a:rPr lang="en-US" altLang="zh-CN" sz="16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1.52pp</a:t>
            </a:r>
            <a:endParaRPr lang="en-US" sz="1600" dirty="0">
              <a:latin typeface="+mn-ea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0DC48ED6-B4F9-B418-63D2-57469FDC01DD}"/>
              </a:ext>
            </a:extLst>
          </p:cNvPr>
          <p:cNvSpPr/>
          <p:nvPr/>
        </p:nvSpPr>
        <p:spPr>
          <a:xfrm>
            <a:off x="2755958" y="901890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榜单决策</a:t>
            </a:r>
            <a:r>
              <a:rPr lang="en-US" altLang="zh-CN" sz="9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UV</a:t>
            </a:r>
            <a:r>
              <a:rPr lang="en-US" sz="9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渗透率</a:t>
            </a:r>
            <a:endParaRPr lang="en-US" sz="900" dirty="0">
              <a:latin typeface="+mn-ea"/>
            </a:endParaRPr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265440A5-CEC3-B34F-ACE3-58679928C2D9}"/>
              </a:ext>
            </a:extLst>
          </p:cNvPr>
          <p:cNvSpPr txBox="1"/>
          <p:nvPr/>
        </p:nvSpPr>
        <p:spPr>
          <a:xfrm>
            <a:off x="286251" y="570297"/>
            <a:ext cx="1538499" cy="4639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200" b="1" dirty="0">
                <a:latin typeface="+mn-ea"/>
                <a:ea typeface="+mn-ea"/>
              </a:rPr>
              <a:t>承接用户决策规模及渗透提升</a:t>
            </a: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531CCA2C-04E0-82F8-EE12-D8092B90A736}"/>
              </a:ext>
            </a:extLst>
          </p:cNvPr>
          <p:cNvSpPr txBox="1"/>
          <p:nvPr/>
        </p:nvSpPr>
        <p:spPr>
          <a:xfrm>
            <a:off x="3882498" y="568330"/>
            <a:ext cx="1209168" cy="5599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200" b="1" dirty="0">
                <a:latin typeface="+mn-ea"/>
                <a:ea typeface="+mn-ea"/>
              </a:rPr>
              <a:t>承接节日节点重大决策</a:t>
            </a:r>
          </a:p>
        </p:txBody>
      </p:sp>
      <p:sp>
        <p:nvSpPr>
          <p:cNvPr id="120" name="Shape 20">
            <a:extLst>
              <a:ext uri="{FF2B5EF4-FFF2-40B4-BE49-F238E27FC236}">
                <a16:creationId xmlns:a16="http://schemas.microsoft.com/office/drawing/2014/main" id="{CF696307-FE5F-65C9-F6D6-1BDB53483B44}"/>
              </a:ext>
            </a:extLst>
          </p:cNvPr>
          <p:cNvSpPr/>
          <p:nvPr/>
        </p:nvSpPr>
        <p:spPr>
          <a:xfrm>
            <a:off x="5009038" y="493508"/>
            <a:ext cx="1300395" cy="608442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21" name="Shape 21">
            <a:extLst>
              <a:ext uri="{FF2B5EF4-FFF2-40B4-BE49-F238E27FC236}">
                <a16:creationId xmlns:a16="http://schemas.microsoft.com/office/drawing/2014/main" id="{D967EC01-5970-26C1-E041-36EDE6BB9D62}"/>
              </a:ext>
            </a:extLst>
          </p:cNvPr>
          <p:cNvSpPr/>
          <p:nvPr/>
        </p:nvSpPr>
        <p:spPr>
          <a:xfrm>
            <a:off x="5009038" y="471771"/>
            <a:ext cx="1287157" cy="45719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3" name="Text 22">
            <a:extLst>
              <a:ext uri="{FF2B5EF4-FFF2-40B4-BE49-F238E27FC236}">
                <a16:creationId xmlns:a16="http://schemas.microsoft.com/office/drawing/2014/main" id="{B5EB1E9B-6E23-E930-F824-188B59CB68FB}"/>
              </a:ext>
            </a:extLst>
          </p:cNvPr>
          <p:cNvSpPr/>
          <p:nvPr/>
        </p:nvSpPr>
        <p:spPr>
          <a:xfrm>
            <a:off x="4966201" y="481748"/>
            <a:ext cx="1352670" cy="366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600" b="1" dirty="0">
                <a:latin typeface="+mn-ea"/>
                <a:cs typeface="Microsoft YaHei" pitchFamily="34" charset="-120"/>
              </a:rPr>
              <a:t>+44%/112%</a:t>
            </a:r>
            <a:endParaRPr lang="en-US" sz="1600" dirty="0">
              <a:latin typeface="+mn-ea"/>
            </a:endParaRPr>
          </a:p>
        </p:txBody>
      </p:sp>
      <p:sp>
        <p:nvSpPr>
          <p:cNvPr id="124" name="Text 23">
            <a:extLst>
              <a:ext uri="{FF2B5EF4-FFF2-40B4-BE49-F238E27FC236}">
                <a16:creationId xmlns:a16="http://schemas.microsoft.com/office/drawing/2014/main" id="{D5B27BB0-DA31-700C-34EF-6C8440312214}"/>
              </a:ext>
            </a:extLst>
          </p:cNvPr>
          <p:cNvSpPr/>
          <p:nvPr/>
        </p:nvSpPr>
        <p:spPr>
          <a:xfrm>
            <a:off x="4995800" y="819160"/>
            <a:ext cx="1300395" cy="232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dirty="0">
                <a:latin typeface="+mn-ea"/>
              </a:rPr>
              <a:t>清明榜单决策</a:t>
            </a:r>
            <a:r>
              <a:rPr lang="en-US" altLang="zh-CN" sz="900" dirty="0">
                <a:latin typeface="+mn-ea"/>
              </a:rPr>
              <a:t>UV</a:t>
            </a:r>
            <a:r>
              <a:rPr lang="zh-CN" altLang="en-US" sz="900" dirty="0">
                <a:latin typeface="+mn-ea"/>
              </a:rPr>
              <a:t>增幅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异地用户增幅</a:t>
            </a:r>
            <a:endParaRPr lang="en-US" altLang="zh-CN" sz="900" dirty="0">
              <a:latin typeface="+mn-ea"/>
            </a:endParaRPr>
          </a:p>
        </p:txBody>
      </p:sp>
      <p:sp>
        <p:nvSpPr>
          <p:cNvPr id="133" name="Shape 20">
            <a:extLst>
              <a:ext uri="{FF2B5EF4-FFF2-40B4-BE49-F238E27FC236}">
                <a16:creationId xmlns:a16="http://schemas.microsoft.com/office/drawing/2014/main" id="{1EFDB8FB-DAB0-2427-5BC0-B04531BD4D95}"/>
              </a:ext>
            </a:extLst>
          </p:cNvPr>
          <p:cNvSpPr/>
          <p:nvPr/>
        </p:nvSpPr>
        <p:spPr>
          <a:xfrm>
            <a:off x="6380415" y="493508"/>
            <a:ext cx="1300395" cy="608442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134" name="Shape 21">
            <a:extLst>
              <a:ext uri="{FF2B5EF4-FFF2-40B4-BE49-F238E27FC236}">
                <a16:creationId xmlns:a16="http://schemas.microsoft.com/office/drawing/2014/main" id="{B31CDA79-09B7-9BD0-F92C-A1295FB7AC5E}"/>
              </a:ext>
            </a:extLst>
          </p:cNvPr>
          <p:cNvSpPr/>
          <p:nvPr/>
        </p:nvSpPr>
        <p:spPr>
          <a:xfrm>
            <a:off x="6380415" y="471771"/>
            <a:ext cx="1287157" cy="45719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5" name="Text 22">
            <a:extLst>
              <a:ext uri="{FF2B5EF4-FFF2-40B4-BE49-F238E27FC236}">
                <a16:creationId xmlns:a16="http://schemas.microsoft.com/office/drawing/2014/main" id="{128A05D1-BECE-64F4-04DC-AFD2029FADC4}"/>
              </a:ext>
            </a:extLst>
          </p:cNvPr>
          <p:cNvSpPr/>
          <p:nvPr/>
        </p:nvSpPr>
        <p:spPr>
          <a:xfrm>
            <a:off x="6337578" y="481748"/>
            <a:ext cx="1352670" cy="366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600" b="1" dirty="0">
                <a:latin typeface="+mn-ea"/>
                <a:cs typeface="Microsoft YaHei" pitchFamily="34" charset="-120"/>
              </a:rPr>
              <a:t>+71%/+183%</a:t>
            </a:r>
            <a:endParaRPr lang="en-US" sz="1600" dirty="0">
              <a:latin typeface="+mn-ea"/>
            </a:endParaRPr>
          </a:p>
        </p:txBody>
      </p:sp>
      <p:sp>
        <p:nvSpPr>
          <p:cNvPr id="136" name="Text 23">
            <a:extLst>
              <a:ext uri="{FF2B5EF4-FFF2-40B4-BE49-F238E27FC236}">
                <a16:creationId xmlns:a16="http://schemas.microsoft.com/office/drawing/2014/main" id="{F4065B16-784F-017C-BDC1-77139314B7D3}"/>
              </a:ext>
            </a:extLst>
          </p:cNvPr>
          <p:cNvSpPr/>
          <p:nvPr/>
        </p:nvSpPr>
        <p:spPr>
          <a:xfrm>
            <a:off x="6367177" y="819160"/>
            <a:ext cx="1300395" cy="232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dirty="0">
                <a:latin typeface="+mn-ea"/>
              </a:rPr>
              <a:t>五一榜单决策</a:t>
            </a:r>
            <a:r>
              <a:rPr lang="en-US" altLang="zh-CN" sz="900" dirty="0">
                <a:latin typeface="+mn-ea"/>
              </a:rPr>
              <a:t>UV</a:t>
            </a:r>
            <a:r>
              <a:rPr lang="zh-CN" altLang="en-US" sz="900" dirty="0">
                <a:latin typeface="+mn-ea"/>
              </a:rPr>
              <a:t>增幅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异地用户增幅</a:t>
            </a:r>
            <a:endParaRPr lang="en-US" altLang="zh-CN" sz="900" dirty="0">
              <a:latin typeface="+mn-ea"/>
            </a:endParaRPr>
          </a:p>
        </p:txBody>
      </p:sp>
      <p:sp>
        <p:nvSpPr>
          <p:cNvPr id="141" name="Shape 20">
            <a:extLst>
              <a:ext uri="{FF2B5EF4-FFF2-40B4-BE49-F238E27FC236}">
                <a16:creationId xmlns:a16="http://schemas.microsoft.com/office/drawing/2014/main" id="{EAA39BF1-16C2-09DD-AF71-C8F9F493A684}"/>
              </a:ext>
            </a:extLst>
          </p:cNvPr>
          <p:cNvSpPr/>
          <p:nvPr/>
        </p:nvSpPr>
        <p:spPr>
          <a:xfrm>
            <a:off x="7746323" y="499878"/>
            <a:ext cx="1300395" cy="608442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42" name="Shape 21">
            <a:extLst>
              <a:ext uri="{FF2B5EF4-FFF2-40B4-BE49-F238E27FC236}">
                <a16:creationId xmlns:a16="http://schemas.microsoft.com/office/drawing/2014/main" id="{60D76648-6EE7-0973-3B7C-5E5090782578}"/>
              </a:ext>
            </a:extLst>
          </p:cNvPr>
          <p:cNvSpPr/>
          <p:nvPr/>
        </p:nvSpPr>
        <p:spPr>
          <a:xfrm>
            <a:off x="7746323" y="471532"/>
            <a:ext cx="1287157" cy="45719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43" name="Text 22">
            <a:extLst>
              <a:ext uri="{FF2B5EF4-FFF2-40B4-BE49-F238E27FC236}">
                <a16:creationId xmlns:a16="http://schemas.microsoft.com/office/drawing/2014/main" id="{3FD866DC-BA09-256F-C3C9-11BFF9FB20C6}"/>
              </a:ext>
            </a:extLst>
          </p:cNvPr>
          <p:cNvSpPr/>
          <p:nvPr/>
        </p:nvSpPr>
        <p:spPr>
          <a:xfrm>
            <a:off x="7684862" y="493355"/>
            <a:ext cx="1352670" cy="366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+mn-ea"/>
                <a:cs typeface="Microsoft YaHei" pitchFamily="34" charset="-120"/>
              </a:rPr>
              <a:t>4.6</a:t>
            </a:r>
            <a:r>
              <a:rPr lang="en-US" altLang="zh-CN" sz="1600" b="1" dirty="0">
                <a:latin typeface="+mn-ea"/>
                <a:cs typeface="Microsoft YaHei" pitchFamily="34" charset="-120"/>
              </a:rPr>
              <a:t>w</a:t>
            </a:r>
            <a:endParaRPr lang="en-US" sz="1600" dirty="0">
              <a:latin typeface="+mn-ea"/>
            </a:endParaRPr>
          </a:p>
        </p:txBody>
      </p:sp>
      <p:sp>
        <p:nvSpPr>
          <p:cNvPr id="144" name="Text 23">
            <a:extLst>
              <a:ext uri="{FF2B5EF4-FFF2-40B4-BE49-F238E27FC236}">
                <a16:creationId xmlns:a16="http://schemas.microsoft.com/office/drawing/2014/main" id="{E7B7A456-A882-5882-E1C7-6D7EBCC0F8EB}"/>
              </a:ext>
            </a:extLst>
          </p:cNvPr>
          <p:cNvSpPr/>
          <p:nvPr/>
        </p:nvSpPr>
        <p:spPr>
          <a:xfrm>
            <a:off x="7733085" y="825530"/>
            <a:ext cx="1300395" cy="232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900" dirty="0">
                <a:latin typeface="+mn-ea"/>
              </a:rPr>
              <a:t>520</a:t>
            </a:r>
            <a:r>
              <a:rPr lang="zh-CN" altLang="en-US" sz="900" dirty="0">
                <a:latin typeface="+mn-ea"/>
              </a:rPr>
              <a:t>试点约会榜决策</a:t>
            </a:r>
            <a:r>
              <a:rPr lang="en-US" altLang="zh-CN" sz="900" dirty="0">
                <a:latin typeface="+mn-ea"/>
              </a:rPr>
              <a:t>UV</a:t>
            </a:r>
          </a:p>
        </p:txBody>
      </p:sp>
      <p:sp>
        <p:nvSpPr>
          <p:cNvPr id="149" name="Shape 90">
            <a:extLst>
              <a:ext uri="{FF2B5EF4-FFF2-40B4-BE49-F238E27FC236}">
                <a16:creationId xmlns:a16="http://schemas.microsoft.com/office/drawing/2014/main" id="{D3199323-E8D8-C53E-3421-C9330D6E48DC}"/>
              </a:ext>
            </a:extLst>
          </p:cNvPr>
          <p:cNvSpPr/>
          <p:nvPr/>
        </p:nvSpPr>
        <p:spPr>
          <a:xfrm>
            <a:off x="348522" y="1510487"/>
            <a:ext cx="8666731" cy="1126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150" name="Text 91">
            <a:extLst>
              <a:ext uri="{FF2B5EF4-FFF2-40B4-BE49-F238E27FC236}">
                <a16:creationId xmlns:a16="http://schemas.microsoft.com/office/drawing/2014/main" id="{487E95EA-2818-7699-9496-610EB52B9273}"/>
              </a:ext>
            </a:extLst>
          </p:cNvPr>
          <p:cNvSpPr/>
          <p:nvPr/>
        </p:nvSpPr>
        <p:spPr>
          <a:xfrm>
            <a:off x="0" y="1885120"/>
            <a:ext cx="318923" cy="48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核心</a:t>
            </a:r>
            <a:r>
              <a:rPr lang="zh-CN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举措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1" name="Text 92">
            <a:extLst>
              <a:ext uri="{FF2B5EF4-FFF2-40B4-BE49-F238E27FC236}">
                <a16:creationId xmlns:a16="http://schemas.microsoft.com/office/drawing/2014/main" id="{BCAA1A09-3907-2914-1A4A-5A33FFAE309B}"/>
              </a:ext>
            </a:extLst>
          </p:cNvPr>
          <p:cNvSpPr/>
          <p:nvPr/>
        </p:nvSpPr>
        <p:spPr>
          <a:xfrm>
            <a:off x="2014711" y="1499291"/>
            <a:ext cx="1236039" cy="50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sz="1100" b="1" dirty="0">
                <a:latin typeface="+mn-ea"/>
              </a:rPr>
              <a:t>用户动线建设</a:t>
            </a:r>
            <a:endParaRPr lang="en-US" altLang="zh-CN" sz="1100" dirty="0">
              <a:latin typeface="+mn-ea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29B9BA8-FF09-F647-D926-8805FED3C01B}"/>
              </a:ext>
            </a:extLst>
          </p:cNvPr>
          <p:cNvSpPr txBox="1"/>
          <p:nvPr/>
        </p:nvSpPr>
        <p:spPr>
          <a:xfrm>
            <a:off x="-18560" y="4980461"/>
            <a:ext cx="7751645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1" baseline="-25000" dirty="0">
                <a:latin typeface="+mn-ea"/>
              </a:rPr>
              <a:t>*数据口径基期：清明（</a:t>
            </a:r>
            <a:r>
              <a:rPr lang="en-US" altLang="zh-CN" sz="1000" i="1" baseline="-25000" dirty="0">
                <a:latin typeface="+mn-ea"/>
              </a:rPr>
              <a:t>4.4-4.6</a:t>
            </a:r>
            <a:r>
              <a:rPr lang="zh-CN" altLang="en-US" sz="1000" i="1" baseline="-25000" dirty="0">
                <a:latin typeface="+mn-ea"/>
              </a:rPr>
              <a:t>，基期</a:t>
            </a:r>
            <a:r>
              <a:rPr lang="en-US" altLang="zh-CN" sz="1000" i="1" baseline="-25000" dirty="0">
                <a:latin typeface="+mn-ea"/>
              </a:rPr>
              <a:t>3.23-3.29</a:t>
            </a:r>
            <a:r>
              <a:rPr lang="zh-CN" altLang="en-US" sz="1000" i="1" baseline="-25000" dirty="0">
                <a:latin typeface="+mn-ea"/>
              </a:rPr>
              <a:t>），五一（</a:t>
            </a:r>
            <a:r>
              <a:rPr lang="en-US" altLang="zh-CN" sz="1000" i="1" baseline="-25000" dirty="0">
                <a:latin typeface="+mn-ea"/>
              </a:rPr>
              <a:t>5.1-5.5 </a:t>
            </a:r>
            <a:r>
              <a:rPr lang="zh-CN" altLang="en-US" sz="1000" i="1" baseline="-25000" dirty="0">
                <a:latin typeface="+mn-ea"/>
              </a:rPr>
              <a:t>基期</a:t>
            </a:r>
            <a:r>
              <a:rPr lang="en-US" altLang="zh-CN" sz="1000" i="1" baseline="-25000" dirty="0">
                <a:latin typeface="+mn-ea"/>
              </a:rPr>
              <a:t>4.20-4.26)</a:t>
            </a:r>
            <a:endParaRPr lang="zh-CN" altLang="en-US" sz="1000" i="1" baseline="-25000" dirty="0">
              <a:latin typeface="+mn-ea"/>
            </a:endParaRPr>
          </a:p>
        </p:txBody>
      </p:sp>
      <p:sp>
        <p:nvSpPr>
          <p:cNvPr id="155" name="标题 1">
            <a:extLst>
              <a:ext uri="{FF2B5EF4-FFF2-40B4-BE49-F238E27FC236}">
                <a16:creationId xmlns:a16="http://schemas.microsoft.com/office/drawing/2014/main" id="{B6575A87-C63C-149D-138F-00584D519403}"/>
              </a:ext>
            </a:extLst>
          </p:cNvPr>
          <p:cNvSpPr txBox="1"/>
          <p:nvPr/>
        </p:nvSpPr>
        <p:spPr>
          <a:xfrm>
            <a:off x="251999" y="32009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dirty="0">
                <a:latin typeface="+mn-ea"/>
                <a:ea typeface="+mn-ea"/>
              </a:rPr>
              <a:t>1.</a:t>
            </a:r>
            <a:r>
              <a:rPr lang="zh-CN" altLang="en-US" sz="2100" dirty="0">
                <a:latin typeface="+mn-ea"/>
                <a:ea typeface="+mn-ea"/>
              </a:rPr>
              <a:t>榜单运营数据概览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96C8CCE7-8BF7-6FEB-4075-268C13608927}"/>
              </a:ext>
            </a:extLst>
          </p:cNvPr>
          <p:cNvSpPr txBox="1"/>
          <p:nvPr/>
        </p:nvSpPr>
        <p:spPr>
          <a:xfrm>
            <a:off x="4633099" y="2128870"/>
            <a:ext cx="42221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指数榜细化品类（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39→74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）、新增</a:t>
            </a:r>
            <a:r>
              <a:rPr lang="en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AOI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景点（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8k+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）榜单筛选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;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旅游榜单扩城（当地人推荐扩城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Q2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661-&gt;674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，特色菜扩城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362-&gt;524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、菜品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2,485-&gt;4,119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），约会榜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35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城试点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85B02834-8875-8B19-8052-3ED5F98F4FA1}"/>
              </a:ext>
            </a:extLst>
          </p:cNvPr>
          <p:cNvSpPr txBox="1"/>
          <p:nvPr/>
        </p:nvSpPr>
        <p:spPr>
          <a:xfrm>
            <a:off x="1218232" y="1890874"/>
            <a:ext cx="30235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决策意图嵌入 </a:t>
            </a:r>
            <a:r>
              <a:rPr lang="en-US" altLang="zh-CN" sz="1600" b="1" dirty="0">
                <a:latin typeface="+mn-ea"/>
              </a:rPr>
              <a:t>+ </a:t>
            </a:r>
            <a:r>
              <a:rPr lang="zh-CN" altLang="en-US" sz="1600" b="1" dirty="0">
                <a:latin typeface="+mn-ea"/>
              </a:rPr>
              <a:t>个性化触达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60" name="Text 91">
            <a:extLst>
              <a:ext uri="{FF2B5EF4-FFF2-40B4-BE49-F238E27FC236}">
                <a16:creationId xmlns:a16="http://schemas.microsoft.com/office/drawing/2014/main" id="{F20A768B-0945-98C0-2553-A4B5FF548CA9}"/>
              </a:ext>
            </a:extLst>
          </p:cNvPr>
          <p:cNvSpPr/>
          <p:nvPr/>
        </p:nvSpPr>
        <p:spPr>
          <a:xfrm>
            <a:off x="-3055" y="560594"/>
            <a:ext cx="318923" cy="48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核心</a:t>
            </a:r>
            <a:r>
              <a:rPr lang="zh-CN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结论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1" name="Text 91">
            <a:extLst>
              <a:ext uri="{FF2B5EF4-FFF2-40B4-BE49-F238E27FC236}">
                <a16:creationId xmlns:a16="http://schemas.microsoft.com/office/drawing/2014/main" id="{D487E3F3-6CD5-E4A2-C35A-EDFAE3D74FB0}"/>
              </a:ext>
            </a:extLst>
          </p:cNvPr>
          <p:cNvSpPr/>
          <p:nvPr/>
        </p:nvSpPr>
        <p:spPr>
          <a:xfrm>
            <a:off x="30045" y="3194399"/>
            <a:ext cx="318923" cy="881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核心</a:t>
            </a:r>
            <a:r>
              <a:rPr lang="zh-CN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指标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2" name="Text 92">
            <a:extLst>
              <a:ext uri="{FF2B5EF4-FFF2-40B4-BE49-F238E27FC236}">
                <a16:creationId xmlns:a16="http://schemas.microsoft.com/office/drawing/2014/main" id="{DC728424-6763-09E3-3577-624DD198AF4F}"/>
              </a:ext>
            </a:extLst>
          </p:cNvPr>
          <p:cNvSpPr/>
          <p:nvPr/>
        </p:nvSpPr>
        <p:spPr>
          <a:xfrm>
            <a:off x="6034846" y="1507621"/>
            <a:ext cx="1236039" cy="444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sz="1100" b="1" dirty="0">
                <a:latin typeface="+mn-ea"/>
              </a:rPr>
              <a:t>榜单矩阵建设</a:t>
            </a:r>
            <a:endParaRPr lang="en-US" altLang="zh-CN" sz="1100" dirty="0">
              <a:latin typeface="+mn-ea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96F23414-F2A5-CE3E-AD31-D87D5A54714A}"/>
              </a:ext>
            </a:extLst>
          </p:cNvPr>
          <p:cNvSpPr txBox="1"/>
          <p:nvPr/>
        </p:nvSpPr>
        <p:spPr>
          <a:xfrm>
            <a:off x="5094348" y="1862319"/>
            <a:ext cx="3690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细化品类 </a:t>
            </a:r>
            <a:r>
              <a:rPr lang="en-US" altLang="zh-CN" sz="1600" b="1" dirty="0">
                <a:latin typeface="+mn-ea"/>
              </a:rPr>
              <a:t>+ </a:t>
            </a:r>
            <a:r>
              <a:rPr lang="zh-CN" altLang="en-US" sz="1600" b="1" dirty="0">
                <a:latin typeface="+mn-ea"/>
              </a:rPr>
              <a:t>景点成榜 </a:t>
            </a:r>
            <a:r>
              <a:rPr lang="en-US" altLang="zh-CN" sz="1600" b="1" dirty="0">
                <a:latin typeface="+mn-ea"/>
              </a:rPr>
              <a:t>+ </a:t>
            </a:r>
            <a:r>
              <a:rPr lang="zh-CN" altLang="en-US" sz="1600" b="1" dirty="0">
                <a:latin typeface="+mn-ea"/>
              </a:rPr>
              <a:t>扩充场景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087E641A-C12F-E524-1EF1-4BBC4681B9C6}"/>
              </a:ext>
            </a:extLst>
          </p:cNvPr>
          <p:cNvSpPr txBox="1"/>
          <p:nvPr/>
        </p:nvSpPr>
        <p:spPr>
          <a:xfrm>
            <a:off x="1055501" y="2130070"/>
            <a:ext cx="3181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搜索（</a:t>
            </a:r>
            <a:r>
              <a:rPr lang="en-US" altLang="zh-CN" sz="9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sug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快筛）、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POI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等；异地美食频道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/push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、猜喜等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9377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90">
            <a:extLst>
              <a:ext uri="{FF2B5EF4-FFF2-40B4-BE49-F238E27FC236}">
                <a16:creationId xmlns:a16="http://schemas.microsoft.com/office/drawing/2014/main" id="{3FBAC2A4-DA85-9232-43B1-F6D838B86735}"/>
              </a:ext>
            </a:extLst>
          </p:cNvPr>
          <p:cNvSpPr/>
          <p:nvPr/>
        </p:nvSpPr>
        <p:spPr>
          <a:xfrm>
            <a:off x="1320525" y="740806"/>
            <a:ext cx="7706951" cy="806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91" name="标题 1"/>
          <p:cNvSpPr txBox="1"/>
          <p:nvPr/>
        </p:nvSpPr>
        <p:spPr>
          <a:xfrm>
            <a:off x="251999" y="32009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用户决策需求满足情况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324891" y="414170"/>
            <a:ext cx="88191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从大搜看用户决策意图，主要通过找</a:t>
            </a:r>
            <a:r>
              <a:rPr lang="zh-CN" altLang="zh-CN" sz="1200" b="1" dirty="0"/>
              <a:t>品类、菜品、地址</a:t>
            </a:r>
            <a:r>
              <a:rPr lang="zh-CN" altLang="zh-CN" sz="1200" dirty="0"/>
              <a:t>决策。但从站外热点看，</a:t>
            </a:r>
            <a:r>
              <a:rPr lang="zh-CN" altLang="en-US" sz="1200" dirty="0"/>
              <a:t>主要为</a:t>
            </a:r>
            <a:r>
              <a:rPr lang="zh-CN" altLang="en-US" sz="1200" b="1" dirty="0"/>
              <a:t>跟</a:t>
            </a:r>
            <a:r>
              <a:rPr lang="zh-CN" altLang="zh-CN" sz="1200" b="1" dirty="0"/>
              <a:t>明星/KOL</a:t>
            </a:r>
            <a:r>
              <a:rPr lang="zh-CN" altLang="en-US" sz="1200" b="1" dirty="0"/>
              <a:t>、跟场景</a:t>
            </a:r>
            <a:r>
              <a:rPr lang="zh-CN" altLang="zh-CN" sz="1200" dirty="0"/>
              <a:t>决策，发现属性更强。</a:t>
            </a:r>
            <a:endParaRPr lang="en-US" altLang="zh-CN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CE2AA4-8C0A-45BA-8E37-C017854C03E3}"/>
              </a:ext>
            </a:extLst>
          </p:cNvPr>
          <p:cNvSpPr txBox="1"/>
          <p:nvPr/>
        </p:nvSpPr>
        <p:spPr>
          <a:xfrm>
            <a:off x="-2" y="4966012"/>
            <a:ext cx="7086601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1" baseline="-25000" dirty="0"/>
              <a:t>*</a:t>
            </a:r>
            <a:r>
              <a:rPr lang="zh-CN" altLang="zh-CN" sz="1000" i="1" baseline="-25000" dirty="0"/>
              <a:t>站内数据口径</a:t>
            </a:r>
            <a:r>
              <a:rPr lang="zh-CN" altLang="en-US" sz="1000" i="1" baseline="-25000" dirty="0"/>
              <a:t>：根据大搜用户泛搜意图划分</a:t>
            </a:r>
            <a:r>
              <a:rPr lang="zh-CN" altLang="zh-CN" sz="1000" i="1" baseline="-25000" dirty="0"/>
              <a:t>5月1-5月5日均query，TOP 5k</a:t>
            </a:r>
            <a:r>
              <a:rPr lang="zh-CN" altLang="en-US" sz="1000" i="1" baseline="-25000" dirty="0"/>
              <a:t> </a:t>
            </a:r>
            <a:r>
              <a:rPr lang="zh-CN" altLang="zh-CN" sz="1000" i="1" baseline="-25000" dirty="0"/>
              <a:t>Query 分析得出</a:t>
            </a:r>
            <a:r>
              <a:rPr lang="zh-CN" altLang="en-US" sz="1000" i="1" baseline="-25000" dirty="0"/>
              <a:t>，满足度为城市</a:t>
            </a:r>
            <a:r>
              <a:rPr lang="en-US" altLang="zh-CN" sz="1000" i="1" baseline="-25000" dirty="0" err="1"/>
              <a:t>xquery</a:t>
            </a:r>
            <a:r>
              <a:rPr lang="zh-CN" altLang="en-US" sz="1000" i="1" baseline="-25000" dirty="0"/>
              <a:t>；站外取</a:t>
            </a:r>
            <a:r>
              <a:rPr lang="en-US" altLang="zh-CN" sz="1000" i="1" baseline="-25000" dirty="0"/>
              <a:t>5</a:t>
            </a:r>
            <a:r>
              <a:rPr lang="zh-CN" altLang="en-US" sz="1000" i="1" baseline="-25000" dirty="0"/>
              <a:t>月</a:t>
            </a:r>
            <a:r>
              <a:rPr lang="en-US" altLang="zh-CN" sz="1000" i="1" baseline="-25000" dirty="0"/>
              <a:t>1-25</a:t>
            </a:r>
            <a:r>
              <a:rPr lang="zh-CN" altLang="en-US" sz="1000" i="1" baseline="-25000" dirty="0"/>
              <a:t>日抖音、小红书、微博热度计算</a:t>
            </a:r>
            <a:endParaRPr lang="zh-CN" altLang="en-US" sz="1000" i="1" baseline="-25000" dirty="0">
              <a:effectLst/>
            </a:endParaRPr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1BA9562F-BECF-810F-E652-E8B9E583D578}"/>
              </a:ext>
            </a:extLst>
          </p:cNvPr>
          <p:cNvSpPr/>
          <p:nvPr/>
        </p:nvSpPr>
        <p:spPr>
          <a:xfrm>
            <a:off x="116522" y="1541593"/>
            <a:ext cx="2881847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站内搜索</a:t>
            </a:r>
            <a:r>
              <a:rPr lang="zh-CN" altLang="en-US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：</a:t>
            </a:r>
            <a:endParaRPr lang="en-US" sz="1200" dirty="0">
              <a:latin typeface="+mn-ea"/>
            </a:endParaRPr>
          </a:p>
        </p:txBody>
      </p:sp>
      <p:sp>
        <p:nvSpPr>
          <p:cNvPr id="7" name="Text 46">
            <a:extLst>
              <a:ext uri="{FF2B5EF4-FFF2-40B4-BE49-F238E27FC236}">
                <a16:creationId xmlns:a16="http://schemas.microsoft.com/office/drawing/2014/main" id="{33C90AF8-3228-AFDB-A146-A187DB01279B}"/>
              </a:ext>
            </a:extLst>
          </p:cNvPr>
          <p:cNvSpPr/>
          <p:nvPr/>
        </p:nvSpPr>
        <p:spPr>
          <a:xfrm>
            <a:off x="4398870" y="1541594"/>
            <a:ext cx="1072308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站外热点</a:t>
            </a:r>
            <a:r>
              <a:rPr lang="zh-CN" altLang="en-US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：</a:t>
            </a:r>
            <a:endParaRPr lang="en-US" sz="1200" dirty="0">
              <a:latin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BA2543C-E039-AB3F-7D27-A2C7915A4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516826"/>
              </p:ext>
            </p:extLst>
          </p:nvPr>
        </p:nvGraphicFramePr>
        <p:xfrm>
          <a:off x="156981" y="1824291"/>
          <a:ext cx="4085082" cy="31474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5276">
                  <a:extLst>
                    <a:ext uri="{9D8B030D-6E8A-4147-A177-3AD203B41FA5}">
                      <a16:colId xmlns:a16="http://schemas.microsoft.com/office/drawing/2014/main" val="1332178433"/>
                    </a:ext>
                  </a:extLst>
                </a:gridCol>
                <a:gridCol w="727566">
                  <a:extLst>
                    <a:ext uri="{9D8B030D-6E8A-4147-A177-3AD203B41FA5}">
                      <a16:colId xmlns:a16="http://schemas.microsoft.com/office/drawing/2014/main" val="3016871320"/>
                    </a:ext>
                  </a:extLst>
                </a:gridCol>
                <a:gridCol w="895546">
                  <a:extLst>
                    <a:ext uri="{9D8B030D-6E8A-4147-A177-3AD203B41FA5}">
                      <a16:colId xmlns:a16="http://schemas.microsoft.com/office/drawing/2014/main" val="3453673861"/>
                    </a:ext>
                  </a:extLst>
                </a:gridCol>
                <a:gridCol w="876694">
                  <a:extLst>
                    <a:ext uri="{9D8B030D-6E8A-4147-A177-3AD203B41FA5}">
                      <a16:colId xmlns:a16="http://schemas.microsoft.com/office/drawing/2014/main" val="170246068"/>
                    </a:ext>
                  </a:extLst>
                </a:gridCol>
              </a:tblGrid>
              <a:tr h="1813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大搜意图分类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品类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菜品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地址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34842"/>
                  </a:ext>
                </a:extLst>
              </a:tr>
              <a:tr h="2134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搜索</a:t>
                      </a:r>
                      <a:r>
                        <a:rPr lang="en-US" altLang="zh-CN" sz="900" u="none" strike="noStrike" dirty="0">
                          <a:effectLst/>
                          <a:latin typeface="+mn-ea"/>
                          <a:ea typeface="+mn-ea"/>
                        </a:rPr>
                        <a:t>QV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900" u="none" strike="noStrike" dirty="0">
                          <a:effectLst/>
                          <a:latin typeface="+mn-ea"/>
                          <a:ea typeface="+mn-ea"/>
                        </a:rPr>
                        <a:t>1,142w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900" u="none" strike="noStrike" dirty="0">
                          <a:effectLst/>
                          <a:latin typeface="+mn-ea"/>
                          <a:ea typeface="+mn-ea"/>
                        </a:rPr>
                        <a:t>633w 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900" u="none" strike="noStrike" dirty="0">
                          <a:effectLst/>
                          <a:latin typeface="+mn-ea"/>
                          <a:ea typeface="+mn-ea"/>
                        </a:rPr>
                        <a:t>138w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1381"/>
                  </a:ext>
                </a:extLst>
              </a:tr>
              <a:tr h="426812">
                <a:tc>
                  <a:txBody>
                    <a:bodyPr/>
                    <a:lstStyle/>
                    <a:p>
                      <a:pPr marL="0" algn="l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有榜单，可覆盖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QV</a:t>
                      </a:r>
                      <a:endParaRPr lang="en" sz="9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688w</a:t>
                      </a:r>
                    </a:p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60.2%</a:t>
                      </a: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9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zh-CN" altLang="en-US" sz="5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注：</a:t>
                      </a:r>
                      <a:r>
                        <a:rPr lang="en-US" altLang="zh-CN" sz="5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5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月为</a:t>
                      </a:r>
                      <a:r>
                        <a:rPr lang="en-US" altLang="zh-CN" sz="5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34.6%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46w </a:t>
                      </a:r>
                    </a:p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7.2%</a:t>
                      </a: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9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注：</a:t>
                      </a:r>
                      <a:r>
                        <a:rPr lang="en-US" altLang="zh-CN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月为</a:t>
                      </a:r>
                      <a:r>
                        <a:rPr lang="en-US" altLang="zh-CN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53w </a:t>
                      </a:r>
                    </a:p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38.3%</a:t>
                      </a: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9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注：</a:t>
                      </a:r>
                      <a:r>
                        <a:rPr lang="en-US" altLang="zh-CN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月为</a:t>
                      </a:r>
                      <a:r>
                        <a:rPr lang="en-US" altLang="zh-CN" sz="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37.9%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115573"/>
                  </a:ext>
                </a:extLst>
              </a:tr>
              <a:tr h="2134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大搜</a:t>
                      </a:r>
                      <a:r>
                        <a:rPr lang="en-US" altLang="zh-CN" sz="900" b="0" i="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sug</a:t>
                      </a:r>
                      <a:r>
                        <a:rPr lang="zh-CN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动线已覆盖</a:t>
                      </a:r>
                      <a:endParaRPr lang="en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90800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441w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过去以</a:t>
                      </a:r>
                      <a:r>
                        <a:rPr lang="en-US" altLang="zh-CN" sz="9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找店</a:t>
                      </a: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决策为主。除扩展特色菜外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，试点建设其它菜品榜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陆续</a:t>
                      </a:r>
                      <a:r>
                        <a:rPr lang="zh-CN" altLang="en-US" sz="9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完善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商场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景点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城市热门打卡地覆盖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57574"/>
                  </a:ext>
                </a:extLst>
              </a:tr>
              <a:tr h="236525"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大搜</a:t>
                      </a:r>
                      <a:r>
                        <a:rPr lang="en-US" altLang="zh-CN" sz="900" b="0" i="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sug</a:t>
                      </a:r>
                      <a:r>
                        <a:rPr lang="zh-CN" altLang="en-US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动线未覆盖</a:t>
                      </a:r>
                      <a:endParaRPr lang="en-US" altLang="zh-CN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（主要为</a:t>
                      </a:r>
                      <a:r>
                        <a:rPr lang="zh-CN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奶咖、轻快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en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90800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247w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zh-CN" sz="105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zh-CN" sz="105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682396"/>
                  </a:ext>
                </a:extLst>
              </a:tr>
              <a:tr h="341449">
                <a:tc>
                  <a:txBody>
                    <a:bodyPr/>
                    <a:lstStyle/>
                    <a:p>
                      <a:pPr marL="0" algn="l" defTabSz="685800" rtl="0" eaLnBrk="1" fontAlgn="b" latinLnBrk="0" hangingPunct="1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无榜单，暂未未覆盖</a:t>
                      </a:r>
                      <a:r>
                        <a:rPr lang="en-US" altLang="zh-C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QV</a:t>
                      </a:r>
                      <a:endParaRPr lang="e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454w</a:t>
                      </a:r>
                    </a:p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39.8%</a:t>
                      </a:r>
                      <a:r>
                        <a:rPr lang="zh-CN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265441"/>
                  </a:ext>
                </a:extLst>
              </a:tr>
              <a:tr h="412585">
                <a:tc>
                  <a:txBody>
                    <a:bodyPr/>
                    <a:lstStyle/>
                    <a:p>
                      <a:pPr marL="0" algn="l" defTabSz="685800" rtl="0" eaLnBrk="1" fontAlgn="b" latinLnBrk="0" hangingPunct="1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当前未建设品类</a:t>
                      </a:r>
                      <a:endParaRPr lang="en-US" altLang="zh-CN" sz="9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（如铁锅炖、江湖菜、减脂餐等，需</a:t>
                      </a:r>
                      <a:r>
                        <a:rPr lang="zh-CN" altLang="en-US" sz="7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品类运营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定义）</a:t>
                      </a:r>
                    </a:p>
                  </a:txBody>
                  <a:tcPr marL="1908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174w</a:t>
                      </a:r>
                      <a:endParaRPr lang="zh-CN" altLang="en-US" sz="9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43957"/>
                  </a:ext>
                </a:extLst>
              </a:tr>
              <a:tr h="512174">
                <a:tc>
                  <a:txBody>
                    <a:bodyPr/>
                    <a:lstStyle/>
                    <a:p>
                      <a:pPr marL="0" algn="l" defTabSz="685800" rtl="0" eaLnBrk="1" fontAlgn="b" latinLnBrk="0" hangingPunct="1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城市*品类供给不足</a:t>
                      </a:r>
                      <a:endParaRPr lang="en-US" altLang="zh-CN" sz="9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en-US" sz="7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如连云港、荣成</a:t>
                      </a:r>
                      <a:r>
                        <a:rPr lang="en-US" altLang="zh-CN" sz="7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7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海鲜自助、宁津</a:t>
                      </a:r>
                      <a:r>
                        <a:rPr lang="en-US" altLang="zh-CN" sz="7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70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烤串，品类下门店不足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，暂不成榜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，需</a:t>
                      </a:r>
                      <a:r>
                        <a:rPr lang="zh-CN" altLang="en-US" sz="7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优化品类定义召回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1908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75w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497034"/>
                  </a:ext>
                </a:extLst>
              </a:tr>
              <a:tr h="412585">
                <a:tc>
                  <a:txBody>
                    <a:bodyPr/>
                    <a:lstStyle/>
                    <a:p>
                      <a:pPr marL="0" algn="l" defTabSz="685800" rtl="0" eaLnBrk="1" fontAlgn="b" latinLnBrk="0" hangingPunct="1">
                        <a:buNone/>
                      </a:pPr>
                      <a:r>
                        <a:rPr lang="zh-CN" altLang="en-US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细化品类成榜</a:t>
                      </a:r>
                      <a:endParaRPr lang="en-US" altLang="zh-CN" sz="9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（后续主要为</a:t>
                      </a:r>
                      <a:r>
                        <a:rPr lang="zh-CN" altLang="en-US" sz="7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</a:t>
                      </a:r>
                      <a:r>
                        <a:rPr lang="en-US" altLang="zh-CN" sz="7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en-US" sz="7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特色品</a:t>
                      </a:r>
                      <a:r>
                        <a:rPr lang="zh-CN" altLang="en-US" sz="7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，及小吃快餐、甜点饮品）</a:t>
                      </a:r>
                      <a:endParaRPr lang="en-US" altLang="zh-CN" sz="7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080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205w</a:t>
                      </a:r>
                      <a:endParaRPr lang="zh-CN" altLang="en-US" sz="9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44674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FFDFB43-8DCA-9000-DFBC-D6BCA379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819809"/>
              </p:ext>
            </p:extLst>
          </p:nvPr>
        </p:nvGraphicFramePr>
        <p:xfrm>
          <a:off x="4364991" y="1824290"/>
          <a:ext cx="4146487" cy="3127998"/>
        </p:xfrm>
        <a:graphic>
          <a:graphicData uri="http://schemas.openxmlformats.org/drawingml/2006/table">
            <a:tbl>
              <a:tblPr/>
              <a:tblGrid>
                <a:gridCol w="998547">
                  <a:extLst>
                    <a:ext uri="{9D8B030D-6E8A-4147-A177-3AD203B41FA5}">
                      <a16:colId xmlns:a16="http://schemas.microsoft.com/office/drawing/2014/main" val="223966769"/>
                    </a:ext>
                  </a:extLst>
                </a:gridCol>
                <a:gridCol w="1618523">
                  <a:extLst>
                    <a:ext uri="{9D8B030D-6E8A-4147-A177-3AD203B41FA5}">
                      <a16:colId xmlns:a16="http://schemas.microsoft.com/office/drawing/2014/main" val="699297740"/>
                    </a:ext>
                  </a:extLst>
                </a:gridCol>
                <a:gridCol w="1529417">
                  <a:extLst>
                    <a:ext uri="{9D8B030D-6E8A-4147-A177-3AD203B41FA5}">
                      <a16:colId xmlns:a16="http://schemas.microsoft.com/office/drawing/2014/main" val="1727341553"/>
                    </a:ext>
                  </a:extLst>
                </a:gridCol>
              </a:tblGrid>
              <a:tr h="191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1" dirty="0">
                          <a:solidFill>
                            <a:srgbClr val="0D0D0D"/>
                          </a:solidFill>
                          <a:effectLst/>
                        </a:rPr>
                        <a:t>分类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明星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/KOL</a:t>
                      </a:r>
                      <a:endParaRPr lang="zh-CN" altLang="en-US" sz="9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场景词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3683"/>
                  </a:ext>
                </a:extLst>
              </a:tr>
              <a:tr h="18471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1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代表热点</a:t>
                      </a:r>
                      <a:endParaRPr lang="zh-CN" altLang="en-US" sz="900" dirty="0"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黄仁勋炸酱面（</a:t>
                      </a:r>
                      <a:r>
                        <a:rPr lang="en-US" altLang="zh-CN" sz="9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633.6w)</a:t>
                      </a:r>
                    </a:p>
                    <a:p>
                      <a:pPr algn="l" fontAlgn="ctr" latinLnBrk="0"/>
                      <a:r>
                        <a:rPr lang="zh-CN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公瑾爆蛋</a:t>
                      </a:r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(867.8</a:t>
                      </a:r>
                      <a:r>
                        <a:rPr 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w)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母亲节聚餐（</a:t>
                      </a:r>
                      <a:r>
                        <a:rPr lang="en-US" altLang="zh-CN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194.2w</a:t>
                      </a:r>
                      <a:r>
                        <a:rPr lang="zh-CN" altLang="en-US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900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母亲节餐厅（</a:t>
                      </a:r>
                      <a:r>
                        <a:rPr lang="en-US" altLang="zh-CN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180.3w</a:t>
                      </a:r>
                      <a:r>
                        <a:rPr lang="zh-CN" altLang="en-US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900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520</a:t>
                      </a:r>
                      <a:r>
                        <a:rPr lang="zh-CN" altLang="en-US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约会餐厅（</a:t>
                      </a:r>
                      <a:r>
                        <a:rPr lang="en-US" altLang="zh-CN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483.2w</a:t>
                      </a:r>
                      <a:r>
                        <a:rPr lang="zh-CN" altLang="en-US" sz="900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56807" marR="56807" marT="26213" marB="26213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66832"/>
                  </a:ext>
                </a:extLst>
              </a:tr>
              <a:tr h="1089291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站外</a:t>
                      </a:r>
                      <a:r>
                        <a:rPr lang="en-US" altLang="zh-CN" sz="900" b="1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QV</a:t>
                      </a:r>
                      <a:endParaRPr lang="zh-CN" altLang="en-US" sz="900" b="1" dirty="0"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9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2,399w</a:t>
                      </a:r>
                      <a:endParaRPr lang="zh-CN" altLang="en-US" sz="9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>
                          <a:effectLst/>
                          <a:latin typeface="+mn-ea"/>
                          <a:ea typeface="+mn-ea"/>
                        </a:rPr>
                        <a:t>1,325w</a:t>
                      </a:r>
                      <a:endParaRPr lang="zh-CN" altLang="en-US" sz="9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0713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B19DC375-B446-CDA6-02C0-32073643468E}"/>
              </a:ext>
            </a:extLst>
          </p:cNvPr>
          <p:cNvSpPr txBox="1"/>
          <p:nvPr/>
        </p:nvSpPr>
        <p:spPr>
          <a:xfrm>
            <a:off x="1942739" y="836635"/>
            <a:ext cx="1571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品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地做深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442850-5837-D83C-55DA-53C6DAECEB5A}"/>
              </a:ext>
            </a:extLst>
          </p:cNvPr>
          <p:cNvSpPr txBox="1"/>
          <p:nvPr/>
        </p:nvSpPr>
        <p:spPr>
          <a:xfrm>
            <a:off x="4736097" y="831569"/>
            <a:ext cx="1571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场景扩宽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3E8E35-797F-8B53-2573-A811D596485D}"/>
              </a:ext>
            </a:extLst>
          </p:cNvPr>
          <p:cNvSpPr txBox="1"/>
          <p:nvPr/>
        </p:nvSpPr>
        <p:spPr>
          <a:xfrm>
            <a:off x="7201261" y="829414"/>
            <a:ext cx="1571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菜品尝新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781159-143D-FBDC-1BCB-241147C008AC}"/>
              </a:ext>
            </a:extLst>
          </p:cNvPr>
          <p:cNvSpPr txBox="1"/>
          <p:nvPr/>
        </p:nvSpPr>
        <p:spPr>
          <a:xfrm>
            <a:off x="1380415" y="1083487"/>
            <a:ext cx="2737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1. 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协同品类运营扩展品类定义、优化供给映射；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2.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细化地方特色品及轻快品类；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3.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完善热门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AOI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覆盖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endParaRPr lang="en" altLang="zh-CN" sz="900" b="0" i="0" u="none" strike="noStrike" dirty="0">
              <a:solidFill>
                <a:schemeClr val="bg1">
                  <a:lumMod val="50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9513D4-3CAB-0B38-E212-178771439A9E}"/>
              </a:ext>
            </a:extLst>
          </p:cNvPr>
          <p:cNvSpPr txBox="1"/>
          <p:nvPr/>
        </p:nvSpPr>
        <p:spPr>
          <a:xfrm>
            <a:off x="4440882" y="1083183"/>
            <a:ext cx="2289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" altLang="zh-CN" sz="9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ea typeface="+mn-ea"/>
              </a:rPr>
              <a:t>1. 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扩宽县域、烟火小城等旅游场景；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2.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补全约会、亲子、聚会等主题场景</a:t>
            </a:r>
            <a:endParaRPr lang="en" altLang="zh-CN" sz="900" b="0" i="0" u="none" strike="noStrike" dirty="0">
              <a:solidFill>
                <a:schemeClr val="bg1">
                  <a:lumMod val="50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AB8F97-1CA2-0083-478F-20DB5C9914EB}"/>
              </a:ext>
            </a:extLst>
          </p:cNvPr>
          <p:cNvSpPr txBox="1"/>
          <p:nvPr/>
        </p:nvSpPr>
        <p:spPr>
          <a:xfrm>
            <a:off x="6877889" y="1096026"/>
            <a:ext cx="21495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zh-CN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扩展、试点特色菜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、时令菜</a:t>
            </a:r>
            <a:r>
              <a:rPr lang="zh-CN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等菜品榜单</a:t>
            </a:r>
            <a:endParaRPr lang="en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B87559C-F75F-98B1-F42D-8198EDE0D51C}"/>
              </a:ext>
            </a:extLst>
          </p:cNvPr>
          <p:cNvSpPr txBox="1"/>
          <p:nvPr/>
        </p:nvSpPr>
        <p:spPr>
          <a:xfrm>
            <a:off x="-15328" y="877735"/>
            <a:ext cx="1054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提升用户动线覆盖转化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33" name="箭头: 左右 32">
            <a:extLst>
              <a:ext uri="{FF2B5EF4-FFF2-40B4-BE49-F238E27FC236}">
                <a16:creationId xmlns:a16="http://schemas.microsoft.com/office/drawing/2014/main" id="{6F4B6D39-0F38-1AEE-9EFD-4340DED92002}"/>
              </a:ext>
            </a:extLst>
          </p:cNvPr>
          <p:cNvSpPr/>
          <p:nvPr/>
        </p:nvSpPr>
        <p:spPr>
          <a:xfrm>
            <a:off x="942463" y="1007278"/>
            <a:ext cx="337490" cy="240096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B0D9F5-7455-ED6D-5A2E-8D608F869F86}"/>
              </a:ext>
            </a:extLst>
          </p:cNvPr>
          <p:cNvSpPr/>
          <p:nvPr/>
        </p:nvSpPr>
        <p:spPr>
          <a:xfrm>
            <a:off x="0" y="4756680"/>
            <a:ext cx="9144000" cy="392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0E904F4C-176F-0F29-C586-0B55F12A9FBF}"/>
              </a:ext>
            </a:extLst>
          </p:cNvPr>
          <p:cNvSpPr/>
          <p:nvPr/>
        </p:nvSpPr>
        <p:spPr>
          <a:xfrm>
            <a:off x="6198865" y="818747"/>
            <a:ext cx="2653200" cy="4233367"/>
          </a:xfrm>
          <a:prstGeom prst="roundRect">
            <a:avLst>
              <a:gd name="adj" fmla="val 4769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BA5535C0-CFBF-EC20-58CF-8941884F233F}"/>
              </a:ext>
            </a:extLst>
          </p:cNvPr>
          <p:cNvSpPr/>
          <p:nvPr/>
        </p:nvSpPr>
        <p:spPr>
          <a:xfrm>
            <a:off x="3365519" y="818747"/>
            <a:ext cx="2653200" cy="4233367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8105E117-3D3C-2DA3-900B-923B64889A42}"/>
              </a:ext>
            </a:extLst>
          </p:cNvPr>
          <p:cNvSpPr/>
          <p:nvPr/>
        </p:nvSpPr>
        <p:spPr>
          <a:xfrm>
            <a:off x="514641" y="818747"/>
            <a:ext cx="2653200" cy="4233367"/>
          </a:xfrm>
          <a:prstGeom prst="roundRect">
            <a:avLst>
              <a:gd name="adj" fmla="val 4769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63C81CD-0F21-E726-EC5F-7CE26B642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54" y="1109203"/>
            <a:ext cx="1210709" cy="2520000"/>
          </a:xfrm>
          <a:prstGeom prst="rect">
            <a:avLst/>
          </a:prstGeom>
        </p:spPr>
      </p:pic>
      <p:sp>
        <p:nvSpPr>
          <p:cNvPr id="20" name="米菲PPT9">
            <a:extLst>
              <a:ext uri="{FF2B5EF4-FFF2-40B4-BE49-F238E27FC236}">
                <a16:creationId xmlns:a16="http://schemas.microsoft.com/office/drawing/2014/main" id="{237914CF-B902-A0B4-1980-47989494C475}"/>
              </a:ext>
            </a:extLst>
          </p:cNvPr>
          <p:cNvSpPr/>
          <p:nvPr/>
        </p:nvSpPr>
        <p:spPr>
          <a:xfrm>
            <a:off x="374812" y="530181"/>
            <a:ext cx="2880000" cy="237600"/>
          </a:xfrm>
          <a:prstGeom prst="homePlate">
            <a:avLst>
              <a:gd name="adj" fmla="val 3628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起心动念</a:t>
            </a:r>
          </a:p>
        </p:txBody>
      </p:sp>
      <p:sp>
        <p:nvSpPr>
          <p:cNvPr id="21" name="米菲PPT10">
            <a:extLst>
              <a:ext uri="{FF2B5EF4-FFF2-40B4-BE49-F238E27FC236}">
                <a16:creationId xmlns:a16="http://schemas.microsoft.com/office/drawing/2014/main" id="{81275C98-EA09-F312-CAC5-15F696B9885D}"/>
              </a:ext>
            </a:extLst>
          </p:cNvPr>
          <p:cNvSpPr/>
          <p:nvPr/>
        </p:nvSpPr>
        <p:spPr>
          <a:xfrm>
            <a:off x="3233168" y="530181"/>
            <a:ext cx="2880000" cy="237600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考虑决策</a:t>
            </a:r>
          </a:p>
        </p:txBody>
      </p:sp>
      <p:sp>
        <p:nvSpPr>
          <p:cNvPr id="22" name="米菲PPT11">
            <a:extLst>
              <a:ext uri="{FF2B5EF4-FFF2-40B4-BE49-F238E27FC236}">
                <a16:creationId xmlns:a16="http://schemas.microsoft.com/office/drawing/2014/main" id="{1823962E-DF85-D9A7-56C2-DA7879AC3891}"/>
              </a:ext>
            </a:extLst>
          </p:cNvPr>
          <p:cNvSpPr/>
          <p:nvPr/>
        </p:nvSpPr>
        <p:spPr>
          <a:xfrm>
            <a:off x="6113168" y="525759"/>
            <a:ext cx="2880000" cy="237600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评估选择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E5D6B4C9-BF7F-BF5B-F9CD-D5D67439C736}"/>
              </a:ext>
            </a:extLst>
          </p:cNvPr>
          <p:cNvSpPr txBox="1"/>
          <p:nvPr/>
        </p:nvSpPr>
        <p:spPr>
          <a:xfrm>
            <a:off x="3846056" y="843746"/>
            <a:ext cx="153181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搜索结果页</a:t>
            </a:r>
            <a:endParaRPr lang="en-US" altLang="zh-CN" sz="1000" b="1" dirty="0"/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13E56D8B-8A9C-EAC7-ACA5-3455C577DDBB}"/>
              </a:ext>
            </a:extLst>
          </p:cNvPr>
          <p:cNvSpPr txBox="1"/>
          <p:nvPr/>
        </p:nvSpPr>
        <p:spPr>
          <a:xfrm>
            <a:off x="348506" y="828782"/>
            <a:ext cx="1889895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美团首页</a:t>
            </a:r>
            <a:endParaRPr lang="en-US" altLang="zh-CN" sz="1000" b="1" dirty="0"/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8BD91CA2-C80A-0B37-80B4-48B3A1CB62AE}"/>
              </a:ext>
            </a:extLst>
          </p:cNvPr>
          <p:cNvSpPr txBox="1"/>
          <p:nvPr/>
        </p:nvSpPr>
        <p:spPr>
          <a:xfrm>
            <a:off x="1490957" y="822668"/>
            <a:ext cx="1889895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搜索</a:t>
            </a:r>
            <a:endParaRPr lang="en-US" altLang="zh-CN" sz="1000" dirty="0"/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4167ACB3-A01E-AEFD-660C-E40801AF5DAF}"/>
              </a:ext>
            </a:extLst>
          </p:cNvPr>
          <p:cNvSpPr txBox="1"/>
          <p:nvPr/>
        </p:nvSpPr>
        <p:spPr>
          <a:xfrm>
            <a:off x="7168120" y="829163"/>
            <a:ext cx="914914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榜单集合页</a:t>
            </a:r>
            <a:endParaRPr lang="en-US" altLang="zh-CN" sz="1000" b="1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93326FF-D9F2-53BC-C3EF-291F48C277DF}"/>
              </a:ext>
            </a:extLst>
          </p:cNvPr>
          <p:cNvCxnSpPr/>
          <p:nvPr/>
        </p:nvCxnSpPr>
        <p:spPr>
          <a:xfrm>
            <a:off x="2682942" y="2306468"/>
            <a:ext cx="355703" cy="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815F532-2DD0-415E-0BB5-152208A8A70E}"/>
              </a:ext>
            </a:extLst>
          </p:cNvPr>
          <p:cNvCxnSpPr/>
          <p:nvPr/>
        </p:nvCxnSpPr>
        <p:spPr>
          <a:xfrm>
            <a:off x="5844258" y="2874233"/>
            <a:ext cx="451129" cy="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A24C03C-1838-B175-15BD-9F84A4DB7907}"/>
              </a:ext>
            </a:extLst>
          </p:cNvPr>
          <p:cNvGrpSpPr/>
          <p:nvPr/>
        </p:nvGrpSpPr>
        <p:grpSpPr>
          <a:xfrm>
            <a:off x="1902027" y="1102060"/>
            <a:ext cx="1162394" cy="2520000"/>
            <a:chOff x="1550608" y="1214776"/>
            <a:chExt cx="1162394" cy="252000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6DC87C1F-D487-EEA0-F65F-6C204077B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0608" y="1214776"/>
              <a:ext cx="1162394" cy="2520000"/>
            </a:xfrm>
            <a:prstGeom prst="rect">
              <a:avLst/>
            </a:prstGeom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6D81D50-9B60-39EA-9D89-D296B48898D1}"/>
                </a:ext>
              </a:extLst>
            </p:cNvPr>
            <p:cNvSpPr/>
            <p:nvPr/>
          </p:nvSpPr>
          <p:spPr>
            <a:xfrm>
              <a:off x="1559253" y="2368464"/>
              <a:ext cx="483019" cy="146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5C0FAB86-F508-EE8A-08BD-1D4928BB9860}"/>
              </a:ext>
            </a:extLst>
          </p:cNvPr>
          <p:cNvSpPr/>
          <p:nvPr/>
        </p:nvSpPr>
        <p:spPr>
          <a:xfrm>
            <a:off x="589050" y="3231552"/>
            <a:ext cx="619284" cy="103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8379BC1-F483-1458-C7D0-194230BDA05B}"/>
              </a:ext>
            </a:extLst>
          </p:cNvPr>
          <p:cNvSpPr txBox="1"/>
          <p:nvPr/>
        </p:nvSpPr>
        <p:spPr>
          <a:xfrm>
            <a:off x="-2409" y="3793643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策略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F67BB63-8E23-8B6D-6BEF-C9D66880F01A}"/>
              </a:ext>
            </a:extLst>
          </p:cNvPr>
          <p:cNvSpPr txBox="1"/>
          <p:nvPr/>
        </p:nvSpPr>
        <p:spPr>
          <a:xfrm>
            <a:off x="-20870" y="4597012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效果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68BEAB2-6DA9-25E5-9554-EC84F348E64F}"/>
              </a:ext>
            </a:extLst>
          </p:cNvPr>
          <p:cNvSpPr txBox="1"/>
          <p:nvPr/>
        </p:nvSpPr>
        <p:spPr>
          <a:xfrm>
            <a:off x="0" y="1965948"/>
            <a:ext cx="450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用户</a:t>
            </a:r>
            <a:endParaRPr lang="en-US" altLang="zh-CN" sz="1000" b="1" dirty="0"/>
          </a:p>
          <a:p>
            <a:r>
              <a:rPr lang="zh-CN" altLang="en-US" sz="1000" b="1" dirty="0"/>
              <a:t>动线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B31FBFB-F0CD-08DF-997B-A8C0F31779E7}"/>
              </a:ext>
            </a:extLst>
          </p:cNvPr>
          <p:cNvSpPr txBox="1"/>
          <p:nvPr/>
        </p:nvSpPr>
        <p:spPr>
          <a:xfrm>
            <a:off x="523104" y="3683493"/>
            <a:ext cx="1257769" cy="140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结合用户偏好，通过人气上榜好店，可以持续激发用户的就餐需求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/>
              <a:t>曝光</a:t>
            </a:r>
            <a:r>
              <a:rPr lang="en-US" altLang="zh-CN" sz="800" dirty="0"/>
              <a:t>100w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带来榜单页</a:t>
            </a:r>
            <a:r>
              <a:rPr lang="en-US" altLang="zh-CN" sz="800" dirty="0">
                <a:latin typeface="+mn-ea"/>
              </a:rPr>
              <a:t>DAU 20</a:t>
            </a:r>
            <a:r>
              <a:rPr lang="zh-CN" altLang="en-US" sz="800" dirty="0">
                <a:latin typeface="+mn-ea"/>
              </a:rPr>
              <a:t>万，榜单标签</a:t>
            </a:r>
            <a:r>
              <a:rPr lang="en-US" altLang="zh-CN" sz="800" dirty="0">
                <a:latin typeface="+mn-ea"/>
              </a:rPr>
              <a:t>CTCVR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3.2%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CA8CA26-24D9-FD33-F46C-3EE6E717E0EE}"/>
              </a:ext>
            </a:extLst>
          </p:cNvPr>
          <p:cNvSpPr txBox="1"/>
          <p:nvPr/>
        </p:nvSpPr>
        <p:spPr>
          <a:xfrm>
            <a:off x="1887653" y="3696767"/>
            <a:ext cx="1257769" cy="137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投放共计</a:t>
            </a:r>
            <a:r>
              <a:rPr lang="en-US" altLang="zh-CN" sz="800" dirty="0">
                <a:latin typeface="+mn-ea"/>
              </a:rPr>
              <a:t>1,170</a:t>
            </a:r>
            <a:r>
              <a:rPr lang="zh-CN" altLang="en-US" sz="800" dirty="0">
                <a:latin typeface="+mn-ea"/>
              </a:rPr>
              <a:t>个触发词（包含品类词、菜品词、场景词等）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800" dirty="0"/>
              <a:t>曝光</a:t>
            </a:r>
            <a:r>
              <a:rPr lang="en-US" altLang="zh-CN" sz="800" dirty="0"/>
              <a:t>180w</a:t>
            </a:r>
            <a:r>
              <a:rPr lang="zh-CN" altLang="en-US" sz="800" dirty="0"/>
              <a:t>，带来榜单页</a:t>
            </a:r>
            <a:r>
              <a:rPr lang="en-US" altLang="zh-CN" sz="800" dirty="0"/>
              <a:t>DAU 11</a:t>
            </a:r>
            <a:r>
              <a:rPr lang="zh-CN" altLang="en-US" sz="800" dirty="0"/>
              <a:t>万，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3.8%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其他投放</a:t>
            </a:r>
            <a:r>
              <a:rPr lang="en-US" altLang="zh-CN" sz="800" dirty="0">
                <a:latin typeface="+mn-ea"/>
              </a:rPr>
              <a:t>+1.5pp</a:t>
            </a:r>
            <a:r>
              <a:rPr lang="zh-CN" altLang="en-US" sz="800" dirty="0">
                <a:latin typeface="+mn-ea"/>
              </a:rPr>
              <a:t>），意向率：</a:t>
            </a:r>
            <a:r>
              <a:rPr lang="en-US" altLang="zh-CN" sz="800" dirty="0">
                <a:latin typeface="+mn-ea"/>
              </a:rPr>
              <a:t>38.6%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其他投放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+17.3pp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87B8998-2212-2741-E99F-1F0B35C6E4A8}"/>
              </a:ext>
            </a:extLst>
          </p:cNvPr>
          <p:cNvSpPr txBox="1"/>
          <p:nvPr/>
        </p:nvSpPr>
        <p:spPr>
          <a:xfrm>
            <a:off x="3420165" y="3688438"/>
            <a:ext cx="1257769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在榜单可以承接的高搜低转</a:t>
            </a:r>
            <a:r>
              <a:rPr lang="en-US" altLang="zh-CN" sz="800" dirty="0">
                <a:latin typeface="+mn-ea"/>
              </a:rPr>
              <a:t>TOP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200+query</a:t>
            </a:r>
            <a:r>
              <a:rPr lang="zh-CN" altLang="en-US" sz="800" dirty="0">
                <a:latin typeface="+mn-ea"/>
              </a:rPr>
              <a:t>下增加“上榜好店”筛选帮助用户提升决策效率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800" dirty="0"/>
              <a:t>曝光</a:t>
            </a:r>
            <a:r>
              <a:rPr lang="en-US" altLang="zh-CN" sz="800" dirty="0"/>
              <a:t>40w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0.89%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基准值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+0.39pp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 </a:t>
            </a:r>
            <a:r>
              <a:rPr lang="zh-CN" altLang="en-US" sz="800" dirty="0">
                <a:latin typeface="+mn-ea"/>
              </a:rPr>
              <a:t>图筛点击率</a:t>
            </a:r>
            <a:r>
              <a:rPr lang="en-US" altLang="zh-CN" sz="800" dirty="0">
                <a:latin typeface="+mn-ea"/>
              </a:rPr>
              <a:t>0.93%</a:t>
            </a:r>
            <a:r>
              <a:rPr lang="zh-CN" altLang="en-US" sz="800" dirty="0">
                <a:latin typeface="+mn-ea"/>
              </a:rPr>
              <a:t>  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其他图筛项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+0.5pp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</a:p>
        </p:txBody>
      </p:sp>
      <p:pic>
        <p:nvPicPr>
          <p:cNvPr id="41" name="图片 40" descr="图形用户界面&#10;&#10;AI 生成的内容可能不正确。">
            <a:extLst>
              <a:ext uri="{FF2B5EF4-FFF2-40B4-BE49-F238E27FC236}">
                <a16:creationId xmlns:a16="http://schemas.microsoft.com/office/drawing/2014/main" id="{EDCE4923-44C8-2BAE-75F2-849DD9BD9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043" y="1094620"/>
            <a:ext cx="1159833" cy="252000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774006F7-30DD-7B6D-FF2D-F9892785A856}"/>
              </a:ext>
            </a:extLst>
          </p:cNvPr>
          <p:cNvSpPr txBox="1"/>
          <p:nvPr/>
        </p:nvSpPr>
        <p:spPr>
          <a:xfrm>
            <a:off x="6290422" y="3688438"/>
            <a:ext cx="1257769" cy="140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新版榜单页，强化榜单心智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目前</a:t>
            </a:r>
            <a:r>
              <a:rPr lang="en-US" altLang="zh-CN" sz="800" dirty="0">
                <a:latin typeface="+mn-ea"/>
              </a:rPr>
              <a:t>90%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77.9%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旧版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+11.7pp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r>
              <a:rPr lang="zh-CN" altLang="en-US" sz="800" dirty="0">
                <a:latin typeface="+mn-ea"/>
              </a:rPr>
              <a:t>，意向率：</a:t>
            </a:r>
            <a:r>
              <a:rPr lang="en-US" altLang="zh-CN" sz="800" dirty="0">
                <a:latin typeface="+mn-ea"/>
              </a:rPr>
              <a:t>43.6%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旧版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-3.6pp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C4C4718-332A-E8E5-8B81-493950DEEB31}"/>
              </a:ext>
            </a:extLst>
          </p:cNvPr>
          <p:cNvSpPr txBox="1"/>
          <p:nvPr/>
        </p:nvSpPr>
        <p:spPr>
          <a:xfrm>
            <a:off x="7604074" y="3662972"/>
            <a:ext cx="1257769" cy="141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放开二三级</a:t>
            </a:r>
            <a:r>
              <a:rPr lang="en-US" altLang="zh-CN" sz="800" dirty="0">
                <a:latin typeface="+mn-ea"/>
              </a:rPr>
              <a:t>74</a:t>
            </a:r>
            <a:r>
              <a:rPr lang="zh-CN" altLang="en-US" sz="800" dirty="0">
                <a:latin typeface="+mn-ea"/>
              </a:rPr>
              <a:t>个品类成榜，支持更多的品类找店的需求承接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/>
              <a:t>6.9</a:t>
            </a:r>
            <a:r>
              <a:rPr lang="en-US" altLang="zh-CN" sz="800" dirty="0">
                <a:latin typeface="+mn-ea"/>
              </a:rPr>
              <a:t>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/>
              <a:t> vs</a:t>
            </a:r>
            <a:r>
              <a:rPr lang="zh-CN" altLang="en-US" sz="800" dirty="0"/>
              <a:t>增加前</a:t>
            </a:r>
            <a:r>
              <a:rPr lang="en-US" altLang="zh-CN" sz="800" dirty="0">
                <a:latin typeface="+mn-ea"/>
              </a:rPr>
              <a:t>+1.2pp</a:t>
            </a:r>
            <a:r>
              <a:rPr lang="zh-CN" altLang="en-US" sz="800" dirty="0">
                <a:latin typeface="+mn-ea"/>
              </a:rPr>
              <a:t>），</a:t>
            </a:r>
            <a:r>
              <a:rPr lang="zh-CN" altLang="en-US" sz="800" dirty="0"/>
              <a:t>意向率</a:t>
            </a:r>
            <a:r>
              <a:rPr lang="en-US" altLang="zh-CN" sz="800" dirty="0"/>
              <a:t>40.8%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增加前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+4.8pp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）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7EB58B2-967C-66C7-3E99-DE2D69A1F4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373" y="1086619"/>
            <a:ext cx="1160395" cy="252000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0D8BA974-673B-BF37-E247-65AC27DDCAB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9628"/>
          <a:stretch/>
        </p:blipFill>
        <p:spPr>
          <a:xfrm>
            <a:off x="4807904" y="1109203"/>
            <a:ext cx="1121035" cy="25200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9F8FFB71-A68D-9442-A39A-4FDC48AFCCCA}"/>
              </a:ext>
            </a:extLst>
          </p:cNvPr>
          <p:cNvSpPr txBox="1"/>
          <p:nvPr/>
        </p:nvSpPr>
        <p:spPr>
          <a:xfrm>
            <a:off x="4717991" y="3688438"/>
            <a:ext cx="1257769" cy="125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强化上榜标签，承接用户品类决策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新版标签预计</a:t>
            </a:r>
            <a:r>
              <a:rPr lang="en-US" altLang="zh-CN" sz="800" dirty="0">
                <a:latin typeface="+mn-ea"/>
              </a:rPr>
              <a:t>6</a:t>
            </a:r>
            <a:r>
              <a:rPr lang="zh-CN" altLang="en-US" sz="800" dirty="0">
                <a:latin typeface="+mn-ea"/>
              </a:rPr>
              <a:t>月底上线</a:t>
            </a:r>
            <a:endParaRPr lang="en-US" altLang="zh-CN" sz="800" dirty="0">
              <a:latin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7A037A4-08B8-4B2C-1692-24713332284D}"/>
              </a:ext>
            </a:extLst>
          </p:cNvPr>
          <p:cNvSpPr/>
          <p:nvPr/>
        </p:nvSpPr>
        <p:spPr>
          <a:xfrm>
            <a:off x="5033127" y="1830363"/>
            <a:ext cx="284109" cy="425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标题 1">
            <a:extLst>
              <a:ext uri="{FF2B5EF4-FFF2-40B4-BE49-F238E27FC236}">
                <a16:creationId xmlns:a16="http://schemas.microsoft.com/office/drawing/2014/main" id="{317618E5-D0D9-8C2E-E6FB-909C560E7D38}"/>
              </a:ext>
            </a:extLst>
          </p:cNvPr>
          <p:cNvSpPr txBox="1"/>
          <p:nvPr/>
        </p:nvSpPr>
        <p:spPr>
          <a:xfrm>
            <a:off x="61575" y="32379"/>
            <a:ext cx="4320001" cy="4273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+mj-ea"/>
              </a:rPr>
              <a:t>2.</a:t>
            </a:r>
            <a:r>
              <a:rPr kumimoji="1" lang="zh-CN" altLang="en-US" sz="2400" dirty="0">
                <a:latin typeface="+mj-ea"/>
              </a:rPr>
              <a:t>榜单用户动线建设</a:t>
            </a:r>
            <a:endParaRPr kumimoji="1" lang="en-US" altLang="zh-CN" sz="2400" dirty="0">
              <a:latin typeface="+mj-ea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0633766E-277D-EDD7-0552-2C0948DD51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1911"/>
          <a:stretch>
            <a:fillRect/>
          </a:stretch>
        </p:blipFill>
        <p:spPr>
          <a:xfrm>
            <a:off x="3447832" y="1094620"/>
            <a:ext cx="1162394" cy="1211848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F2D542D2-D21E-7339-FC33-B86C0D8442B1}"/>
              </a:ext>
            </a:extLst>
          </p:cNvPr>
          <p:cNvSpPr/>
          <p:nvPr/>
        </p:nvSpPr>
        <p:spPr>
          <a:xfrm>
            <a:off x="3777064" y="1501349"/>
            <a:ext cx="229151" cy="132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B93CF98B-4589-2A38-6333-BC2E325DA42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50000"/>
          <a:stretch>
            <a:fillRect/>
          </a:stretch>
        </p:blipFill>
        <p:spPr>
          <a:xfrm>
            <a:off x="3448952" y="2338607"/>
            <a:ext cx="1162800" cy="1263224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2B974088-6078-4C07-D991-05E202511C99}"/>
              </a:ext>
            </a:extLst>
          </p:cNvPr>
          <p:cNvSpPr/>
          <p:nvPr/>
        </p:nvSpPr>
        <p:spPr>
          <a:xfrm>
            <a:off x="3826437" y="2748871"/>
            <a:ext cx="222228" cy="237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/>
          <p:cNvPicPr>
            <a:picLocks noChangeAspect="1"/>
          </p:cNvPicPr>
          <p:nvPr/>
        </p:nvPicPr>
        <p:blipFill rotWithShape="1">
          <a:blip r:embed="rId3"/>
          <a:srcRect t="-1" b="35652"/>
          <a:stretch>
            <a:fillRect/>
          </a:stretch>
        </p:blipFill>
        <p:spPr>
          <a:xfrm>
            <a:off x="2010923" y="1192706"/>
            <a:ext cx="1063699" cy="1480179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043" y="1176218"/>
            <a:ext cx="1173438" cy="254394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25989" y="4968502"/>
            <a:ext cx="9144000" cy="392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Rounded Rectangle 13"/>
          <p:cNvSpPr/>
          <p:nvPr/>
        </p:nvSpPr>
        <p:spPr>
          <a:xfrm>
            <a:off x="3400124" y="943013"/>
            <a:ext cx="2821807" cy="4382563"/>
          </a:xfrm>
          <a:prstGeom prst="roundRect">
            <a:avLst>
              <a:gd name="adj" fmla="val 5224"/>
            </a:avLst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3"/>
          <p:cNvSpPr/>
          <p:nvPr/>
        </p:nvSpPr>
        <p:spPr>
          <a:xfrm>
            <a:off x="455349" y="943013"/>
            <a:ext cx="2789873" cy="4382563"/>
          </a:xfrm>
          <a:prstGeom prst="roundRect">
            <a:avLst>
              <a:gd name="adj" fmla="val 4621"/>
            </a:avLst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米菲PPT9"/>
          <p:cNvSpPr/>
          <p:nvPr/>
        </p:nvSpPr>
        <p:spPr>
          <a:xfrm>
            <a:off x="461931" y="677307"/>
            <a:ext cx="2880000" cy="239395"/>
          </a:xfrm>
          <a:prstGeom prst="homePlate">
            <a:avLst>
              <a:gd name="adj" fmla="val 3628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起心动念</a:t>
            </a:r>
          </a:p>
        </p:txBody>
      </p:sp>
      <p:sp>
        <p:nvSpPr>
          <p:cNvPr id="13" name="米菲PPT10"/>
          <p:cNvSpPr/>
          <p:nvPr/>
        </p:nvSpPr>
        <p:spPr>
          <a:xfrm>
            <a:off x="3341931" y="677307"/>
            <a:ext cx="2880000" cy="239395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考虑决策</a:t>
            </a:r>
          </a:p>
        </p:txBody>
      </p:sp>
      <p:sp>
        <p:nvSpPr>
          <p:cNvPr id="7" name="米菲PPT11"/>
          <p:cNvSpPr/>
          <p:nvPr/>
        </p:nvSpPr>
        <p:spPr>
          <a:xfrm>
            <a:off x="6221931" y="677307"/>
            <a:ext cx="2880000" cy="239395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评估选择</a:t>
            </a:r>
          </a:p>
        </p:txBody>
      </p:sp>
      <p:sp>
        <p:nvSpPr>
          <p:cNvPr id="100" name="TextBox 17"/>
          <p:cNvSpPr txBox="1"/>
          <p:nvPr/>
        </p:nvSpPr>
        <p:spPr>
          <a:xfrm>
            <a:off x="2033375" y="937173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美团首页</a:t>
            </a:r>
            <a:endParaRPr lang="en-US" altLang="zh-CN" sz="1000" b="1" dirty="0"/>
          </a:p>
        </p:txBody>
      </p:sp>
      <p:sp>
        <p:nvSpPr>
          <p:cNvPr id="102" name="TextBox 17"/>
          <p:cNvSpPr txBox="1"/>
          <p:nvPr/>
        </p:nvSpPr>
        <p:spPr>
          <a:xfrm>
            <a:off x="3637054" y="937173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美食频道</a:t>
            </a:r>
            <a:endParaRPr lang="en-US" altLang="zh-CN" sz="1000" b="1" dirty="0"/>
          </a:p>
        </p:txBody>
      </p:sp>
      <p:sp>
        <p:nvSpPr>
          <p:cNvPr id="103" name="文本框 102"/>
          <p:cNvSpPr txBox="1"/>
          <p:nvPr/>
        </p:nvSpPr>
        <p:spPr>
          <a:xfrm>
            <a:off x="1826902" y="3803238"/>
            <a:ext cx="1470801" cy="155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/>
              <a:t>下沉</a:t>
            </a:r>
            <a:r>
              <a:rPr lang="en-US" altLang="zh-CN" sz="800" dirty="0"/>
              <a:t>177</a:t>
            </a:r>
            <a:r>
              <a:rPr lang="zh-CN" altLang="en-US" sz="800" dirty="0"/>
              <a:t> “烟火小城”首页异地版，本地榜单入口</a:t>
            </a:r>
            <a:r>
              <a:rPr lang="en-US" altLang="zh-CN" sz="800" dirty="0"/>
              <a:t>+</a:t>
            </a:r>
            <a:r>
              <a:rPr lang="zh-CN" altLang="en-US" sz="800" dirty="0"/>
              <a:t>推荐提权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五一</a:t>
            </a:r>
            <a:r>
              <a:rPr lang="en-US" altLang="zh-CN" sz="800" dirty="0">
                <a:latin typeface="+mn-ea"/>
              </a:rPr>
              <a:t>177</a:t>
            </a:r>
            <a:r>
              <a:rPr lang="zh-CN" altLang="en-US" sz="800" dirty="0">
                <a:latin typeface="+mn-ea"/>
              </a:rPr>
              <a:t>城意向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较基期</a:t>
            </a:r>
            <a:r>
              <a:rPr lang="en-US" altLang="zh-CN" sz="800" dirty="0">
                <a:latin typeface="+mn-ea"/>
              </a:rPr>
              <a:t>+94.6%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下沉大盘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+20.1pp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榜单入口</a:t>
            </a:r>
            <a:r>
              <a:rPr lang="zh-CN" altLang="en-US" sz="800" dirty="0">
                <a:effectLst/>
              </a:rPr>
              <a:t>美食点击率</a:t>
            </a:r>
            <a:r>
              <a:rPr lang="en-US" altLang="zh-CN" sz="800" dirty="0">
                <a:effectLst/>
              </a:rPr>
              <a:t>1.03% vs </a:t>
            </a:r>
            <a:r>
              <a:rPr lang="zh-CN" altLang="en-US" sz="800" dirty="0">
                <a:effectLst/>
              </a:rPr>
              <a:t>其他</a:t>
            </a:r>
            <a:r>
              <a:rPr lang="en-US" altLang="zh-CN" sz="800" dirty="0">
                <a:effectLst/>
              </a:rPr>
              <a:t>0.18%</a:t>
            </a:r>
            <a:r>
              <a:rPr lang="zh-CN" altLang="en-US" sz="800" dirty="0">
                <a:effectLst/>
              </a:rPr>
              <a:t>；猜喜加权到餐到餐</a:t>
            </a:r>
            <a:r>
              <a:rPr lang="en-US" altLang="zh-CN" sz="800" dirty="0">
                <a:effectLst/>
              </a:rPr>
              <a:t>ctr</a:t>
            </a:r>
            <a:r>
              <a:rPr lang="zh-CN" altLang="en-US" sz="800" dirty="0">
                <a:effectLst/>
              </a:rPr>
              <a:t>显著 </a:t>
            </a:r>
            <a:r>
              <a:rPr lang="en-US" altLang="zh-CN" sz="800" dirty="0">
                <a:effectLst/>
              </a:rPr>
              <a:t>+1.08%</a:t>
            </a:r>
          </a:p>
        </p:txBody>
      </p:sp>
      <p:sp>
        <p:nvSpPr>
          <p:cNvPr id="112" name="Rounded Rectangle 13"/>
          <p:cNvSpPr/>
          <p:nvPr/>
        </p:nvSpPr>
        <p:spPr>
          <a:xfrm>
            <a:off x="6376833" y="955977"/>
            <a:ext cx="2652697" cy="4334335"/>
          </a:xfrm>
          <a:prstGeom prst="roundRect">
            <a:avLst>
              <a:gd name="adj" fmla="val 5103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9" name="组合 98"/>
          <p:cNvGrpSpPr>
            <a:grpSpLocks noChangeAspect="1"/>
          </p:cNvGrpSpPr>
          <p:nvPr/>
        </p:nvGrpSpPr>
        <p:grpSpPr>
          <a:xfrm>
            <a:off x="7772205" y="1153789"/>
            <a:ext cx="1162389" cy="2520000"/>
            <a:chOff x="7170438" y="1105086"/>
            <a:chExt cx="1162389" cy="2520000"/>
          </a:xfrm>
        </p:grpSpPr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70438" y="1105086"/>
              <a:ext cx="1162388" cy="2520000"/>
            </a:xfrm>
            <a:prstGeom prst="rect">
              <a:avLst/>
            </a:prstGeom>
          </p:spPr>
        </p:pic>
        <p:sp>
          <p:nvSpPr>
            <p:cNvPr id="98" name="矩形 97"/>
            <p:cNvSpPr/>
            <p:nvPr/>
          </p:nvSpPr>
          <p:spPr>
            <a:xfrm>
              <a:off x="7170439" y="2136696"/>
              <a:ext cx="1162388" cy="1772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4" name="TextBox 17"/>
          <p:cNvSpPr txBox="1"/>
          <p:nvPr/>
        </p:nvSpPr>
        <p:spPr>
          <a:xfrm>
            <a:off x="7536809" y="937173"/>
            <a:ext cx="1633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POI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页</a:t>
            </a:r>
            <a:endParaRPr lang="en-US" altLang="zh-CN"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5" name="TextBox 17"/>
          <p:cNvSpPr txBox="1"/>
          <p:nvPr/>
        </p:nvSpPr>
        <p:spPr>
          <a:xfrm>
            <a:off x="4645198" y="937173"/>
            <a:ext cx="1740211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大搜目的页</a:t>
            </a:r>
            <a:endParaRPr lang="en-US" altLang="zh-CN" sz="10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234" y="1169354"/>
            <a:ext cx="1162394" cy="2520000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>
          <a:xfrm>
            <a:off x="5439723" y="2189210"/>
            <a:ext cx="418302" cy="127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TextBox 17"/>
          <p:cNvSpPr txBox="1"/>
          <p:nvPr/>
        </p:nvSpPr>
        <p:spPr>
          <a:xfrm>
            <a:off x="6278782" y="937173"/>
            <a:ext cx="1633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当地人推荐</a:t>
            </a:r>
            <a:endParaRPr lang="en-US" altLang="zh-CN"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7"/>
          <a:srcRect t="60662"/>
          <a:stretch>
            <a:fillRect/>
          </a:stretch>
        </p:blipFill>
        <p:spPr>
          <a:xfrm>
            <a:off x="1995907" y="2709528"/>
            <a:ext cx="1163793" cy="99132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35507" y="2065104"/>
            <a:ext cx="534599" cy="691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007271" y="2860802"/>
            <a:ext cx="562835" cy="104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TextBox 17"/>
          <p:cNvSpPr txBox="1"/>
          <p:nvPr/>
        </p:nvSpPr>
        <p:spPr>
          <a:xfrm>
            <a:off x="677428" y="937173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直播</a:t>
            </a:r>
            <a:r>
              <a:rPr lang="en-US" altLang="zh-CN" sz="1000" b="1" dirty="0"/>
              <a:t>&amp;Push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5989" y="3819451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策略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5661" y="4533372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效果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5989" y="2077512"/>
            <a:ext cx="450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用户</a:t>
            </a:r>
            <a:endParaRPr lang="en-US" altLang="zh-CN" sz="1000" b="1" dirty="0"/>
          </a:p>
          <a:p>
            <a:r>
              <a:rPr lang="zh-CN" altLang="en-US" sz="1000" b="1" dirty="0"/>
              <a:t>动线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752731" y="1965276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03510" y="2805214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②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40703" y="3810581"/>
            <a:ext cx="1352731" cy="169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①定向推送当地特色榜单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城市直播提高榜单心智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</a:t>
            </a:r>
            <a:r>
              <a:rPr lang="en-US" altLang="zh-CN" sz="800" dirty="0">
                <a:latin typeface="+mn-ea"/>
              </a:rPr>
              <a:t>Push</a:t>
            </a:r>
            <a:r>
              <a:rPr lang="zh-CN" altLang="en-US" sz="800" dirty="0">
                <a:latin typeface="+mn-ea"/>
              </a:rPr>
              <a:t>日均曝光</a:t>
            </a:r>
            <a:r>
              <a:rPr lang="en-US" altLang="zh-CN" sz="800" dirty="0">
                <a:latin typeface="+mn-ea"/>
              </a:rPr>
              <a:t>UV2.8w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0.4%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均值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+0.24pp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r>
              <a:rPr lang="zh-CN" altLang="en-US" sz="800" dirty="0">
                <a:latin typeface="+mn-ea"/>
              </a:rPr>
              <a:t>；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榜单曝光</a:t>
            </a:r>
            <a:r>
              <a:rPr lang="en-US" altLang="zh-CN" sz="800" dirty="0">
                <a:latin typeface="+mn-ea"/>
              </a:rPr>
              <a:t>UV 6.7w/</a:t>
            </a:r>
            <a:r>
              <a:rPr lang="zh-CN" altLang="en-US" sz="800" dirty="0">
                <a:latin typeface="+mn-ea"/>
              </a:rPr>
              <a:t>场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点击次数为普通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1.9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倍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341190" y="3810581"/>
            <a:ext cx="1561599" cy="125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异地橱窗，</a:t>
            </a:r>
            <a:r>
              <a:rPr lang="en-US" altLang="zh-CN" sz="800" dirty="0">
                <a:latin typeface="+mn-ea"/>
              </a:rPr>
              <a:t>Q2</a:t>
            </a:r>
            <a:r>
              <a:rPr lang="zh-CN" altLang="en-US" sz="800" dirty="0">
                <a:latin typeface="+mn-ea"/>
              </a:rPr>
              <a:t>从</a:t>
            </a:r>
            <a:r>
              <a:rPr lang="en-US" altLang="zh-CN" sz="800" dirty="0">
                <a:latin typeface="+mn-ea"/>
              </a:rPr>
              <a:t>313</a:t>
            </a:r>
            <a:r>
              <a:rPr lang="zh-CN" altLang="en-US" sz="800" dirty="0">
                <a:latin typeface="+mn-ea"/>
              </a:rPr>
              <a:t>城扩至</a:t>
            </a:r>
            <a:r>
              <a:rPr lang="en-US" altLang="zh-CN" sz="800" dirty="0">
                <a:latin typeface="+mn-ea"/>
              </a:rPr>
              <a:t>446</a:t>
            </a:r>
            <a:r>
              <a:rPr lang="zh-CN" altLang="en-US" sz="800" dirty="0">
                <a:latin typeface="+mn-ea"/>
              </a:rPr>
              <a:t>城，新增宜宾、沂州等旅游高增速的三、四线城市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金刚</a:t>
            </a:r>
            <a:r>
              <a:rPr lang="en-US" altLang="zh-CN" sz="800" dirty="0">
                <a:latin typeface="+mn-ea"/>
              </a:rPr>
              <a:t>CTR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4.8%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本地榜单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+2.8pp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当地人和特色菜点击率</a:t>
            </a:r>
            <a:r>
              <a:rPr lang="en-US" altLang="zh-CN" sz="800" dirty="0">
                <a:latin typeface="+mn-ea"/>
                <a:sym typeface="+mj-lt"/>
              </a:rPr>
              <a:t>3.2%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663209" y="1634040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04383" y="2130032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②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862028" y="3828389"/>
            <a:ext cx="1330974" cy="140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大搜目的地页，增加必吃榜、当地人推荐快筛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“必吃榜”快筛点击率</a:t>
            </a:r>
            <a:r>
              <a:rPr lang="en-US" altLang="zh-CN" sz="800" dirty="0">
                <a:latin typeface="+mn-ea"/>
              </a:rPr>
              <a:t>2.0%</a:t>
            </a:r>
            <a:r>
              <a:rPr lang="zh-CN" altLang="en-US" sz="800" dirty="0">
                <a:latin typeface="+mn-ea"/>
              </a:rPr>
              <a:t>、“当地人推荐”快筛点击率</a:t>
            </a:r>
            <a:r>
              <a:rPr lang="en-US" altLang="zh-CN" sz="800" dirty="0">
                <a:latin typeface="+mn-ea"/>
              </a:rPr>
              <a:t>1.1%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其他快筛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+1.0pp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333461" y="3824445"/>
            <a:ext cx="1350374" cy="141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榜单新增</a:t>
            </a:r>
            <a:r>
              <a:rPr lang="en-US" altLang="zh-CN" sz="800" dirty="0">
                <a:latin typeface="+mn-ea"/>
              </a:rPr>
              <a:t>8,000+</a:t>
            </a:r>
            <a:r>
              <a:rPr lang="zh-CN" altLang="en-US" sz="800" dirty="0">
                <a:latin typeface="+mn-ea"/>
              </a:rPr>
              <a:t>个</a:t>
            </a:r>
            <a:r>
              <a:rPr lang="en-US" altLang="zh-CN" sz="800" dirty="0"/>
              <a:t>AOI</a:t>
            </a:r>
            <a:r>
              <a:rPr lang="zh-CN" altLang="en-US" sz="800" dirty="0"/>
              <a:t>热门景点筛选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000000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  <a:sym typeface="+mj-lt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000000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  <a:sym typeface="+mj-lt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000000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  <a:sym typeface="+mj-lt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节假日热门景点筛选项异地点击率达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8.6%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（</a:t>
            </a:r>
            <a:r>
              <a:rPr lang="en-GB" altLang="zh-CN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本地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+4.2</a:t>
            </a:r>
            <a:r>
              <a:rPr lang="en-GB" altLang="zh-CN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pp</a:t>
            </a:r>
            <a:r>
              <a:rPr lang="zh-CN" altLang="en-GB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）</a:t>
            </a:r>
            <a:r>
              <a:rPr lang="zh-CN" altLang="en-GB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，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意向率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25.3%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（</a:t>
            </a:r>
            <a:r>
              <a:rPr lang="en-GB" altLang="zh-CN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vs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本地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+13.2</a:t>
            </a:r>
            <a:r>
              <a:rPr lang="en-GB" altLang="zh-CN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pp</a:t>
            </a:r>
            <a:r>
              <a:rPr lang="zh-CN" altLang="en-GB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）</a:t>
            </a:r>
            <a:endParaRPr lang="en-GB" altLang="zh-C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704347" y="3822012"/>
            <a:ext cx="1374724" cy="125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POI</a:t>
            </a:r>
            <a:r>
              <a:rPr lang="zh-CN" altLang="en-US" sz="800" dirty="0">
                <a:latin typeface="+mn-ea"/>
              </a:rPr>
              <a:t>标签：黑珍珠必吃榜 </a:t>
            </a:r>
            <a:r>
              <a:rPr lang="en-US" altLang="zh-CN" sz="800" dirty="0">
                <a:latin typeface="+mn-ea"/>
              </a:rPr>
              <a:t>&gt; </a:t>
            </a:r>
            <a:r>
              <a:rPr lang="zh-CN" altLang="en-US" sz="800" b="1" dirty="0">
                <a:latin typeface="+mn-ea"/>
              </a:rPr>
              <a:t>异地榜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&gt; </a:t>
            </a:r>
            <a:r>
              <a:rPr lang="zh-CN" altLang="en-US" sz="800" dirty="0">
                <a:latin typeface="+mn-ea"/>
              </a:rPr>
              <a:t>普通榜 </a:t>
            </a:r>
            <a:r>
              <a:rPr lang="en-US" altLang="zh-CN" sz="800" dirty="0">
                <a:latin typeface="+mn-ea"/>
              </a:rPr>
              <a:t>&gt; </a:t>
            </a:r>
            <a:r>
              <a:rPr lang="zh-CN" altLang="en-US" sz="800" dirty="0">
                <a:latin typeface="+mn-ea"/>
              </a:rPr>
              <a:t>内容类亮点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五一必吃榜曝光</a:t>
            </a:r>
            <a:r>
              <a:rPr lang="en-US" altLang="zh-CN" sz="800" dirty="0">
                <a:latin typeface="+mn-ea"/>
              </a:rPr>
              <a:t>77w</a:t>
            </a:r>
            <a:r>
              <a:rPr lang="zh-CN" altLang="en-US" sz="800" dirty="0">
                <a:latin typeface="+mn-ea"/>
              </a:rPr>
              <a:t>、点击率</a:t>
            </a:r>
            <a:r>
              <a:rPr lang="en-US" altLang="zh-CN" sz="800" dirty="0">
                <a:latin typeface="+mn-ea"/>
              </a:rPr>
              <a:t>1.8%</a:t>
            </a:r>
            <a:r>
              <a:rPr lang="zh-CN" altLang="en-US" sz="800" dirty="0">
                <a:latin typeface="+mn-ea"/>
              </a:rPr>
              <a:t>；特色菜曝光</a:t>
            </a:r>
            <a:r>
              <a:rPr lang="en-US" altLang="zh-CN" sz="800" dirty="0">
                <a:latin typeface="+mn-ea"/>
              </a:rPr>
              <a:t>100w</a:t>
            </a:r>
            <a:r>
              <a:rPr lang="zh-CN" altLang="en-US" sz="800" dirty="0">
                <a:latin typeface="+mn-ea"/>
              </a:rPr>
              <a:t>、点击率</a:t>
            </a:r>
            <a:r>
              <a:rPr lang="en-US" altLang="zh-CN" sz="800" dirty="0">
                <a:latin typeface="+mn-ea"/>
              </a:rPr>
              <a:t>1.6%</a:t>
            </a:r>
            <a:r>
              <a:rPr lang="zh-CN" altLang="en-US" sz="800" dirty="0">
                <a:latin typeface="+mn-ea"/>
              </a:rPr>
              <a:t>；</a:t>
            </a:r>
            <a:endParaRPr lang="en-US" altLang="zh-CN" sz="800" dirty="0">
              <a:latin typeface="+mn-ea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874" y="1147343"/>
            <a:ext cx="1162394" cy="2520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9"/>
          <a:srcRect t="1227" b="21094"/>
          <a:stretch>
            <a:fillRect/>
          </a:stretch>
        </p:blipFill>
        <p:spPr>
          <a:xfrm>
            <a:off x="625363" y="1780545"/>
            <a:ext cx="1114876" cy="188022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0"/>
          <a:srcRect l="-1" t="64951" r="2602" b="18741"/>
          <a:stretch>
            <a:fillRect/>
          </a:stretch>
        </p:blipFill>
        <p:spPr>
          <a:xfrm>
            <a:off x="622541" y="1226183"/>
            <a:ext cx="1148971" cy="417067"/>
          </a:xfrm>
          <a:prstGeom prst="rect">
            <a:avLst/>
          </a:prstGeom>
        </p:spPr>
      </p:pic>
      <p:sp>
        <p:nvSpPr>
          <p:cNvPr id="3" name="AutoShape 2"/>
          <p:cNvSpPr>
            <a:spLocks noChangeAspect="1" noChangeArrowheads="1"/>
          </p:cNvSpPr>
          <p:nvPr/>
        </p:nvSpPr>
        <p:spPr bwMode="auto">
          <a:xfrm>
            <a:off x="4445589" y="260700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AutoShape 4"/>
          <p:cNvSpPr>
            <a:spLocks noChangeAspect="1" noChangeArrowheads="1"/>
          </p:cNvSpPr>
          <p:nvPr/>
        </p:nvSpPr>
        <p:spPr bwMode="auto">
          <a:xfrm>
            <a:off x="4597989" y="275940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9" name="标题 1"/>
          <p:cNvSpPr txBox="1"/>
          <p:nvPr/>
        </p:nvSpPr>
        <p:spPr>
          <a:xfrm>
            <a:off x="259048" y="431706"/>
            <a:ext cx="8723235" cy="3126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200" dirty="0">
                <a:latin typeface="+mn-ea"/>
                <a:ea typeface="+mn-ea"/>
              </a:rPr>
              <a:t>针对异地旅游用户，设计</a:t>
            </a:r>
            <a:r>
              <a:rPr lang="zh-CN" altLang="en-US" sz="1200" b="1" dirty="0">
                <a:latin typeface="+mn-ea"/>
                <a:ea typeface="+mn-ea"/>
              </a:rPr>
              <a:t>差异化的榜单动线承接</a:t>
            </a:r>
            <a:r>
              <a:rPr lang="zh-CN" altLang="en-US" sz="1200" dirty="0">
                <a:latin typeface="+mn-ea"/>
                <a:ea typeface="+mn-ea"/>
              </a:rPr>
              <a:t>，五一期间</a:t>
            </a:r>
            <a:r>
              <a:rPr lang="zh-CN" altLang="en-US" sz="1200" dirty="0">
                <a:latin typeface="+mj-ea"/>
                <a:ea typeface="+mj-ea"/>
              </a:rPr>
              <a:t>两榜日均意向</a:t>
            </a:r>
            <a:r>
              <a:rPr lang="en-US" altLang="zh-CN" sz="1200" dirty="0">
                <a:latin typeface="+mj-ea"/>
                <a:ea typeface="+mj-ea"/>
              </a:rPr>
              <a:t>UV </a:t>
            </a:r>
            <a:r>
              <a:rPr lang="en-US" altLang="zh-CN" sz="1200" b="1" dirty="0">
                <a:latin typeface="+mj-ea"/>
                <a:ea typeface="+mj-ea"/>
              </a:rPr>
              <a:t>YoY+26.2% </a:t>
            </a:r>
            <a:r>
              <a:rPr lang="en-US" altLang="zh-CN" sz="1200" dirty="0">
                <a:latin typeface="+mj-ea"/>
              </a:rPr>
              <a:t>(</a:t>
            </a:r>
            <a:r>
              <a:rPr lang="en-US" altLang="zh-CN" sz="1200" dirty="0">
                <a:latin typeface="+mj-ea"/>
                <a:ea typeface="+mj-ea"/>
              </a:rPr>
              <a:t>vs</a:t>
            </a:r>
            <a:r>
              <a:rPr lang="zh-CN" altLang="en-US" sz="1200" dirty="0">
                <a:latin typeface="+mj-ea"/>
                <a:ea typeface="+mj-ea"/>
              </a:rPr>
              <a:t>基期 </a:t>
            </a:r>
            <a:r>
              <a:rPr lang="en-US" altLang="zh-CN" sz="1200" dirty="0">
                <a:latin typeface="+mj-ea"/>
                <a:ea typeface="+mj-ea"/>
              </a:rPr>
              <a:t>+329%</a:t>
            </a:r>
            <a:r>
              <a:rPr lang="zh-CN" altLang="en-US" sz="1200" dirty="0">
                <a:latin typeface="+mj-ea"/>
                <a:ea typeface="+mj-ea"/>
              </a:rPr>
              <a:t>）</a:t>
            </a:r>
            <a:endParaRPr lang="en-US" altLang="zh-CN" sz="1200" dirty="0">
              <a:latin typeface="+mj-ea"/>
              <a:ea typeface="+mj-ea"/>
            </a:endParaRPr>
          </a:p>
          <a:p>
            <a:endParaRPr lang="zh-CN" altLang="en-US" sz="1200" b="1" dirty="0">
              <a:latin typeface="+mn-ea"/>
              <a:ea typeface="+mn-ea"/>
            </a:endParaRP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E0A841B0-BD7D-84D9-1D8E-280A95FE0B28}"/>
              </a:ext>
            </a:extLst>
          </p:cNvPr>
          <p:cNvSpPr txBox="1"/>
          <p:nvPr/>
        </p:nvSpPr>
        <p:spPr>
          <a:xfrm>
            <a:off x="61575" y="2884"/>
            <a:ext cx="4320001" cy="4273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+mj-ea"/>
              </a:rPr>
              <a:t>2.</a:t>
            </a:r>
            <a:r>
              <a:rPr kumimoji="1" lang="zh-CN" altLang="en-US" sz="2400" dirty="0">
                <a:latin typeface="+mj-ea"/>
              </a:rPr>
              <a:t>榜单用户动线建设</a:t>
            </a:r>
            <a:endParaRPr kumimoji="1" lang="en-US" altLang="zh-CN" sz="2400" dirty="0">
              <a:latin typeface="+mj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8DED-FDBA-55FC-D2C8-610DAF957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634CD-3A6E-D3BD-D449-EDEE5B8D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50524"/>
            <a:ext cx="7664380" cy="427313"/>
          </a:xfrm>
        </p:spPr>
        <p:txBody>
          <a:bodyPr>
            <a:normAutofit/>
          </a:bodyPr>
          <a:lstStyle/>
          <a:p>
            <a:r>
              <a:rPr lang="en-US" altLang="zh-CN" sz="1900" dirty="0"/>
              <a:t>2.</a:t>
            </a:r>
            <a:r>
              <a:rPr lang="zh-CN" altLang="en-US" sz="1900" dirty="0"/>
              <a:t>榜单动线建设</a:t>
            </a:r>
            <a:r>
              <a:rPr lang="en-US" altLang="zh-CN" sz="1900" dirty="0"/>
              <a:t>-</a:t>
            </a:r>
            <a:r>
              <a:rPr lang="zh-CN" altLang="en-US" sz="1900" dirty="0"/>
              <a:t>持续优化心智表达</a:t>
            </a:r>
            <a:endParaRPr kumimoji="1" lang="zh-CN" altLang="en-US" sz="1900" dirty="0"/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5C357D52-9816-1830-EF48-28DBE8330A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00" b="49311"/>
          <a:stretch>
            <a:fillRect/>
          </a:stretch>
        </p:blipFill>
        <p:spPr>
          <a:xfrm>
            <a:off x="624702" y="2263788"/>
            <a:ext cx="2156400" cy="2112567"/>
          </a:xfrm>
          <a:prstGeom prst="rect">
            <a:avLst/>
          </a:prstGeom>
        </p:spPr>
      </p:pic>
      <p:sp>
        <p:nvSpPr>
          <p:cNvPr id="83" name="标题 1">
            <a:extLst>
              <a:ext uri="{FF2B5EF4-FFF2-40B4-BE49-F238E27FC236}">
                <a16:creationId xmlns:a16="http://schemas.microsoft.com/office/drawing/2014/main" id="{F99236D6-6D11-C5DD-2EB1-FC50EB62CD27}"/>
              </a:ext>
            </a:extLst>
          </p:cNvPr>
          <p:cNvSpPr txBox="1">
            <a:spLocks/>
          </p:cNvSpPr>
          <p:nvPr/>
        </p:nvSpPr>
        <p:spPr>
          <a:xfrm>
            <a:off x="378932" y="4406952"/>
            <a:ext cx="2534762" cy="427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900" b="1" dirty="0">
                <a:latin typeface="+mn-ea"/>
                <a:ea typeface="+mn-ea"/>
              </a:rPr>
              <a:t>信得过</a:t>
            </a:r>
            <a:r>
              <a:rPr lang="en-US" altLang="zh-CN" sz="900" dirty="0">
                <a:latin typeface="+mn-ea"/>
                <a:ea typeface="+mn-ea"/>
              </a:rPr>
              <a:t>——</a:t>
            </a:r>
            <a:r>
              <a:rPr lang="zh-CN" altLang="en-US" sz="900" dirty="0">
                <a:latin typeface="+mn-ea"/>
                <a:ea typeface="+mn-ea"/>
              </a:rPr>
              <a:t>强化资产表达</a:t>
            </a:r>
            <a:endParaRPr lang="en-US" altLang="zh-CN" sz="900" dirty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latin typeface="+mn-ea"/>
                <a:ea typeface="+mn-ea"/>
              </a:rPr>
              <a:t>约会榜已上、其他榜单陆续优化</a:t>
            </a:r>
          </a:p>
        </p:txBody>
      </p:sp>
      <p:sp>
        <p:nvSpPr>
          <p:cNvPr id="84" name="标题 1">
            <a:extLst>
              <a:ext uri="{FF2B5EF4-FFF2-40B4-BE49-F238E27FC236}">
                <a16:creationId xmlns:a16="http://schemas.microsoft.com/office/drawing/2014/main" id="{6763250F-5C8D-F1AA-C52A-9A5705E3A247}"/>
              </a:ext>
            </a:extLst>
          </p:cNvPr>
          <p:cNvSpPr txBox="1">
            <a:spLocks/>
          </p:cNvSpPr>
          <p:nvPr/>
        </p:nvSpPr>
        <p:spPr>
          <a:xfrm>
            <a:off x="3697814" y="4406952"/>
            <a:ext cx="1611821" cy="427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900" b="1" dirty="0">
                <a:latin typeface="+mn-ea"/>
                <a:ea typeface="+mn-ea"/>
              </a:rPr>
              <a:t>吃得到</a:t>
            </a:r>
            <a:r>
              <a:rPr lang="en-US" altLang="zh-CN" sz="900" b="1" dirty="0">
                <a:latin typeface="+mn-ea"/>
                <a:ea typeface="+mn-ea"/>
              </a:rPr>
              <a:t>——</a:t>
            </a:r>
            <a:r>
              <a:rPr lang="zh-CN" altLang="en-US" sz="900" dirty="0">
                <a:latin typeface="+mn-ea"/>
                <a:ea typeface="+mn-ea"/>
              </a:rPr>
              <a:t>强化交履可得性</a:t>
            </a:r>
            <a:endParaRPr lang="en-US" altLang="zh-CN" sz="900" dirty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latin typeface="+mn-ea"/>
                <a:ea typeface="+mn-ea"/>
              </a:rPr>
              <a:t>约会榜订座七夕前上线</a:t>
            </a:r>
          </a:p>
        </p:txBody>
      </p:sp>
      <p:sp>
        <p:nvSpPr>
          <p:cNvPr id="85" name="标题 1">
            <a:extLst>
              <a:ext uri="{FF2B5EF4-FFF2-40B4-BE49-F238E27FC236}">
                <a16:creationId xmlns:a16="http://schemas.microsoft.com/office/drawing/2014/main" id="{15CDF6FB-0FB5-DDBE-14A7-249B21019FF0}"/>
              </a:ext>
            </a:extLst>
          </p:cNvPr>
          <p:cNvSpPr txBox="1">
            <a:spLocks/>
          </p:cNvSpPr>
          <p:nvPr/>
        </p:nvSpPr>
        <p:spPr>
          <a:xfrm>
            <a:off x="6136201" y="4406952"/>
            <a:ext cx="2152863" cy="427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900" b="1" dirty="0">
                <a:latin typeface="+mn-ea"/>
                <a:ea typeface="+mn-ea"/>
              </a:rPr>
              <a:t>看得透</a:t>
            </a:r>
            <a:r>
              <a:rPr lang="en-US" altLang="zh-CN" sz="900" b="1" dirty="0">
                <a:latin typeface="+mn-ea"/>
                <a:ea typeface="+mn-ea"/>
              </a:rPr>
              <a:t>——</a:t>
            </a:r>
            <a:r>
              <a:rPr lang="en-US" altLang="zh-CN" sz="900" dirty="0">
                <a:latin typeface="+mn-ea"/>
                <a:ea typeface="+mn-ea"/>
              </a:rPr>
              <a:t>AI</a:t>
            </a:r>
            <a:r>
              <a:rPr lang="zh-CN" altLang="en-US" sz="900" dirty="0">
                <a:latin typeface="+mn-ea"/>
                <a:ea typeface="+mn-ea"/>
              </a:rPr>
              <a:t>富媒体展示</a:t>
            </a:r>
            <a:endParaRPr lang="en-US" altLang="zh-CN" sz="900" dirty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latin typeface="+mn-ea"/>
                <a:ea typeface="+mn-ea"/>
              </a:rPr>
              <a:t>尝试</a:t>
            </a:r>
            <a:r>
              <a:rPr lang="en-US" altLang="zh-CN" sz="900" dirty="0">
                <a:latin typeface="+mn-ea"/>
                <a:ea typeface="+mn-ea"/>
              </a:rPr>
              <a:t>AI</a:t>
            </a:r>
            <a:r>
              <a:rPr lang="zh-CN" altLang="en-US" sz="900" dirty="0">
                <a:latin typeface="+mn-ea"/>
                <a:ea typeface="+mn-ea"/>
              </a:rPr>
              <a:t>视频、全景等</a:t>
            </a: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FAD3D658-3C75-4A17-C7A5-C2D8AE0E0713}"/>
              </a:ext>
            </a:extLst>
          </p:cNvPr>
          <p:cNvGrpSpPr/>
          <p:nvPr/>
        </p:nvGrpSpPr>
        <p:grpSpPr>
          <a:xfrm>
            <a:off x="619748" y="578736"/>
            <a:ext cx="2166307" cy="1603383"/>
            <a:chOff x="333840" y="816299"/>
            <a:chExt cx="1847709" cy="1367574"/>
          </a:xfrm>
        </p:grpSpPr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C36F4EB5-FAFC-0803-4048-FBEF7D8DB8F9}"/>
                </a:ext>
              </a:extLst>
            </p:cNvPr>
            <p:cNvGrpSpPr/>
            <p:nvPr/>
          </p:nvGrpSpPr>
          <p:grpSpPr>
            <a:xfrm>
              <a:off x="333840" y="816299"/>
              <a:ext cx="1847709" cy="1367574"/>
              <a:chOff x="140206" y="2875208"/>
              <a:chExt cx="2152800" cy="1593386"/>
            </a:xfrm>
          </p:grpSpPr>
          <p:pic>
            <p:nvPicPr>
              <p:cNvPr id="111" name="图片 110">
                <a:extLst>
                  <a:ext uri="{FF2B5EF4-FFF2-40B4-BE49-F238E27FC236}">
                    <a16:creationId xmlns:a16="http://schemas.microsoft.com/office/drawing/2014/main" id="{C0958D33-F229-7B64-20ED-CC7F2DFF7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5586" b="60348"/>
              <a:stretch>
                <a:fillRect/>
              </a:stretch>
            </p:blipFill>
            <p:spPr>
              <a:xfrm>
                <a:off x="140206" y="2875208"/>
                <a:ext cx="2152800" cy="1593386"/>
              </a:xfrm>
              <a:prstGeom prst="rect">
                <a:avLst/>
              </a:prstGeom>
            </p:spPr>
          </p:pic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B05E0F2A-35CD-A915-8C6B-2DF212BB7A86}"/>
                  </a:ext>
                </a:extLst>
              </p:cNvPr>
              <p:cNvSpPr/>
              <p:nvPr/>
            </p:nvSpPr>
            <p:spPr>
              <a:xfrm>
                <a:off x="667788" y="4034412"/>
                <a:ext cx="985165" cy="1227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kumimoji="1" lang="zh-CN" alt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FA0073FF-739F-73C1-3401-A1750020C0F8}"/>
                  </a:ext>
                </a:extLst>
              </p:cNvPr>
              <p:cNvSpPr/>
              <p:nvPr/>
            </p:nvSpPr>
            <p:spPr>
              <a:xfrm>
                <a:off x="575521" y="4036989"/>
                <a:ext cx="1567543" cy="1227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zh-CN" altLang="en-US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回头客说：“每个月至少来吃一次，豆米任你加”</a:t>
                </a:r>
              </a:p>
            </p:txBody>
          </p:sp>
        </p:grp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0277BF79-7D7B-AD5B-34C1-033CC8A8A3F5}"/>
                </a:ext>
              </a:extLst>
            </p:cNvPr>
            <p:cNvSpPr/>
            <p:nvPr/>
          </p:nvSpPr>
          <p:spPr>
            <a:xfrm>
              <a:off x="742207" y="1811223"/>
              <a:ext cx="1368521" cy="1143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14" name="图片 113">
            <a:extLst>
              <a:ext uri="{FF2B5EF4-FFF2-40B4-BE49-F238E27FC236}">
                <a16:creationId xmlns:a16="http://schemas.microsoft.com/office/drawing/2014/main" id="{698AFB35-FF2C-206D-1DE8-5703C3BAB9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372" r="2837" b="5599"/>
          <a:stretch>
            <a:fillRect/>
          </a:stretch>
        </p:blipFill>
        <p:spPr>
          <a:xfrm>
            <a:off x="3579675" y="578737"/>
            <a:ext cx="1813410" cy="3792980"/>
          </a:xfrm>
          <a:prstGeom prst="rect">
            <a:avLst/>
          </a:prstGeom>
        </p:spPr>
      </p:pic>
      <p:sp>
        <p:nvSpPr>
          <p:cNvPr id="115" name="矩形 114">
            <a:extLst>
              <a:ext uri="{FF2B5EF4-FFF2-40B4-BE49-F238E27FC236}">
                <a16:creationId xmlns:a16="http://schemas.microsoft.com/office/drawing/2014/main" id="{63EA4043-832B-B200-9C96-5C9602D9EC54}"/>
              </a:ext>
            </a:extLst>
          </p:cNvPr>
          <p:cNvSpPr/>
          <p:nvPr/>
        </p:nvSpPr>
        <p:spPr>
          <a:xfrm>
            <a:off x="4991920" y="3182150"/>
            <a:ext cx="317715" cy="162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6" name="10357625269793331088.mp4">
            <a:hlinkClick r:id="" action="ppaction://media"/>
            <a:extLst>
              <a:ext uri="{FF2B5EF4-FFF2-40B4-BE49-F238E27FC236}">
                <a16:creationId xmlns:a16="http://schemas.microsoft.com/office/drawing/2014/main" id="{4A015CAD-F468-0C29-3A22-CE1F3EBC939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2658"/>
                </p14:media>
              </p:ext>
            </p:extLst>
          </p:nvPr>
        </p:nvPicPr>
        <p:blipFill>
          <a:blip r:embed="rId7"/>
          <a:srcRect b="4909"/>
          <a:stretch>
            <a:fillRect/>
          </a:stretch>
        </p:blipFill>
        <p:spPr>
          <a:xfrm>
            <a:off x="6357947" y="578737"/>
            <a:ext cx="1813410" cy="3792980"/>
          </a:xfrm>
          <a:prstGeom prst="rect">
            <a:avLst/>
          </a:prstGeom>
        </p:spPr>
      </p:pic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6A46DA64-419C-F608-81BF-9DD8BA6A7EF0}"/>
              </a:ext>
            </a:extLst>
          </p:cNvPr>
          <p:cNvGrpSpPr/>
          <p:nvPr/>
        </p:nvGrpSpPr>
        <p:grpSpPr>
          <a:xfrm>
            <a:off x="673384" y="3989647"/>
            <a:ext cx="1384468" cy="174366"/>
            <a:chOff x="864686" y="3989647"/>
            <a:chExt cx="1384468" cy="17436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B88E7265-656C-F210-7835-1D49FFD3BAE8}"/>
                </a:ext>
              </a:extLst>
            </p:cNvPr>
            <p:cNvSpPr/>
            <p:nvPr/>
          </p:nvSpPr>
          <p:spPr>
            <a:xfrm>
              <a:off x="864686" y="3992563"/>
              <a:ext cx="1384468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PingFang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B9DD7D2C-981E-7C8A-947A-717AC946A9B0}"/>
                </a:ext>
              </a:extLst>
            </p:cNvPr>
            <p:cNvGrpSpPr/>
            <p:nvPr/>
          </p:nvGrpSpPr>
          <p:grpSpPr>
            <a:xfrm>
              <a:off x="915196" y="3989647"/>
              <a:ext cx="1056479" cy="169277"/>
              <a:chOff x="2425566" y="1081935"/>
              <a:chExt cx="1055818" cy="169277"/>
            </a:xfrm>
          </p:grpSpPr>
          <p:sp>
            <p:nvSpPr>
              <p:cNvPr id="89" name="圆角矩形 88">
                <a:extLst>
                  <a:ext uri="{FF2B5EF4-FFF2-40B4-BE49-F238E27FC236}">
                    <a16:creationId xmlns:a16="http://schemas.microsoft.com/office/drawing/2014/main" id="{977E944D-E0E0-879E-48D5-91256E9A1423}"/>
                  </a:ext>
                </a:extLst>
              </p:cNvPr>
              <p:cNvSpPr/>
              <p:nvPr/>
            </p:nvSpPr>
            <p:spPr>
              <a:xfrm>
                <a:off x="2425566" y="1110706"/>
                <a:ext cx="1055818" cy="107929"/>
              </a:xfrm>
              <a:prstGeom prst="roundRect">
                <a:avLst>
                  <a:gd name="adj" fmla="val 50000"/>
                </a:avLst>
              </a:prstGeom>
              <a:solidFill>
                <a:srgbClr val="FFF2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PingFang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96878500-44D0-E289-7BCD-B5963DD68359}"/>
                  </a:ext>
                </a:extLst>
              </p:cNvPr>
              <p:cNvSpPr txBox="1"/>
              <p:nvPr/>
            </p:nvSpPr>
            <p:spPr>
              <a:xfrm>
                <a:off x="2446629" y="1081935"/>
                <a:ext cx="48883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500" dirty="0">
                    <a:latin typeface="苹方"/>
                    <a:ea typeface="等线" panose="02010600030101010101" pitchFamily="2" charset="-122"/>
                  </a:rPr>
                  <a:t>当地人说：</a:t>
                </a:r>
              </a:p>
            </p:txBody>
          </p:sp>
          <p:pic>
            <p:nvPicPr>
              <p:cNvPr id="91" name="图片 90">
                <a:extLst>
                  <a:ext uri="{FF2B5EF4-FFF2-40B4-BE49-F238E27FC236}">
                    <a16:creationId xmlns:a16="http://schemas.microsoft.com/office/drawing/2014/main" id="{2D9784F2-B69A-4935-0C55-C6C76FF25F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33606"/>
              <a:stretch>
                <a:fillRect/>
              </a:stretch>
            </p:blipFill>
            <p:spPr>
              <a:xfrm>
                <a:off x="2822469" y="1088701"/>
                <a:ext cx="488839" cy="157399"/>
              </a:xfrm>
              <a:prstGeom prst="rect">
                <a:avLst/>
              </a:prstGeom>
            </p:spPr>
          </p:pic>
          <p:sp>
            <p:nvSpPr>
              <p:cNvPr id="92" name="三角形 91">
                <a:extLst>
                  <a:ext uri="{FF2B5EF4-FFF2-40B4-BE49-F238E27FC236}">
                    <a16:creationId xmlns:a16="http://schemas.microsoft.com/office/drawing/2014/main" id="{EE2C6A6A-EE10-FCCC-F93C-B0D12CB25AA1}"/>
                  </a:ext>
                </a:extLst>
              </p:cNvPr>
              <p:cNvSpPr/>
              <p:nvPr/>
            </p:nvSpPr>
            <p:spPr>
              <a:xfrm rot="5400000">
                <a:off x="3398133" y="1148283"/>
                <a:ext cx="54000" cy="36000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PingFang"/>
                </a:endParaRPr>
              </a:p>
            </p:txBody>
          </p:sp>
        </p:grpSp>
        <p:pic>
          <p:nvPicPr>
            <p:cNvPr id="88" name="图片 87">
              <a:extLst>
                <a:ext uri="{FF2B5EF4-FFF2-40B4-BE49-F238E27FC236}">
                  <a16:creationId xmlns:a16="http://schemas.microsoft.com/office/drawing/2014/main" id="{C8222882-F254-1467-8A86-12ADE6C43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937575" y="4016418"/>
              <a:ext cx="108000" cy="107930"/>
            </a:xfrm>
            <a:prstGeom prst="rect">
              <a:avLst/>
            </a:prstGeom>
          </p:spPr>
        </p:pic>
        <p:pic>
          <p:nvPicPr>
            <p:cNvPr id="118" name="图片 117">
              <a:extLst>
                <a:ext uri="{FF2B5EF4-FFF2-40B4-BE49-F238E27FC236}">
                  <a16:creationId xmlns:a16="http://schemas.microsoft.com/office/drawing/2014/main" id="{14D1CBBD-FE34-BF44-CAE5-778F5D134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3606" t="1" r="43226" b="-1"/>
            <a:stretch>
              <a:fillRect/>
            </a:stretch>
          </p:blipFill>
          <p:spPr>
            <a:xfrm>
              <a:off x="1688422" y="3996413"/>
              <a:ext cx="170681" cy="157399"/>
            </a:xfrm>
            <a:prstGeom prst="rect">
              <a:avLst/>
            </a:prstGeom>
          </p:spPr>
        </p:pic>
      </p:grpSp>
      <p:sp>
        <p:nvSpPr>
          <p:cNvPr id="107" name="矩形 106">
            <a:extLst>
              <a:ext uri="{FF2B5EF4-FFF2-40B4-BE49-F238E27FC236}">
                <a16:creationId xmlns:a16="http://schemas.microsoft.com/office/drawing/2014/main" id="{53692760-E634-9B65-4F14-6803F06101B4}"/>
              </a:ext>
            </a:extLst>
          </p:cNvPr>
          <p:cNvSpPr/>
          <p:nvPr/>
        </p:nvSpPr>
        <p:spPr>
          <a:xfrm>
            <a:off x="709181" y="3988126"/>
            <a:ext cx="1150567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PingFang"/>
            </a:endParaRPr>
          </a:p>
        </p:txBody>
      </p:sp>
    </p:spTree>
    <p:extLst>
      <p:ext uri="{BB962C8B-B14F-4D97-AF65-F5344CB8AC3E}">
        <p14:creationId xmlns:p14="http://schemas.microsoft.com/office/powerpoint/2010/main" val="35503929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5" fill="hold"/>
                                        <p:tgtEl>
                                          <p:spTgt spid="1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6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0246AA1-3FFF-D83E-C68E-B2B3AB0D2145}"/>
              </a:ext>
            </a:extLst>
          </p:cNvPr>
          <p:cNvSpPr/>
          <p:nvPr/>
        </p:nvSpPr>
        <p:spPr>
          <a:xfrm>
            <a:off x="133026" y="36166"/>
            <a:ext cx="6076271" cy="3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zh-CN" sz="1900" dirty="0">
                <a:latin typeface="+mn-ea"/>
              </a:rPr>
              <a:t>承接用户品类决策：品类扩充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2DA58B7-D3CA-7DBA-5CC1-FD8DB64F3D58}"/>
              </a:ext>
            </a:extLst>
          </p:cNvPr>
          <p:cNvSpPr txBox="1"/>
          <p:nvPr/>
        </p:nvSpPr>
        <p:spPr>
          <a:xfrm>
            <a:off x="35077" y="4977723"/>
            <a:ext cx="15696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aseline="-25000" dirty="0">
                <a:latin typeface="+mn-ea"/>
              </a:rPr>
              <a:t>注：榜单品类分析以人气榜为主进行分析</a:t>
            </a:r>
          </a:p>
        </p:txBody>
      </p:sp>
      <p:sp>
        <p:nvSpPr>
          <p:cNvPr id="23" name="米菲PPT1">
            <a:extLst>
              <a:ext uri="{FF2B5EF4-FFF2-40B4-BE49-F238E27FC236}">
                <a16:creationId xmlns:a16="http://schemas.microsoft.com/office/drawing/2014/main" id="{84A3BB70-8C88-17CE-9B4E-F96826EE2EDB}"/>
              </a:ext>
            </a:extLst>
          </p:cNvPr>
          <p:cNvSpPr/>
          <p:nvPr/>
        </p:nvSpPr>
        <p:spPr>
          <a:xfrm>
            <a:off x="62330" y="3043120"/>
            <a:ext cx="9058124" cy="742322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A16506-A886-EB7B-4F86-EAEB5DEC6AF3}"/>
              </a:ext>
            </a:extLst>
          </p:cNvPr>
          <p:cNvSpPr txBox="1"/>
          <p:nvPr/>
        </p:nvSpPr>
        <p:spPr>
          <a:xfrm>
            <a:off x="3872669" y="3010981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i="1" dirty="0">
                <a:solidFill>
                  <a:srgbClr val="C00000"/>
                </a:solidFill>
                <a:latin typeface="+mn-ea"/>
              </a:rPr>
              <a:t>销售原声：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56161AB-AAC4-2583-72B7-0121B18DAA7C}"/>
              </a:ext>
            </a:extLst>
          </p:cNvPr>
          <p:cNvSpPr txBox="1"/>
          <p:nvPr/>
        </p:nvSpPr>
        <p:spPr>
          <a:xfrm>
            <a:off x="3872670" y="3203173"/>
            <a:ext cx="5374641" cy="601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“会更方便消费者更有针对性的选择自己想尝试的品类，那对于商家来说，竞争也会显得更公平一些，像之前如果品类太大了，那其实你一个类目榜单下的门店，他的实际区别其实还是差蛮多的，所以我觉得这改变挺好的”</a:t>
            </a:r>
            <a:r>
              <a:rPr lang="en-US" altLang="zh-CN" sz="700" i="1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---</a:t>
            </a: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区域品牌客户部</a:t>
            </a:r>
            <a:r>
              <a:rPr lang="en-US" altLang="zh-CN" sz="700" i="1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—</a:t>
            </a: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福州三组</a:t>
            </a:r>
            <a:endParaRPr lang="en-US" altLang="zh-CN" sz="700" i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“目前下来没有收到商户什么意见和投诉，整体改动还是不错的</a:t>
            </a:r>
            <a:r>
              <a:rPr lang="en-US" altLang="zh-CN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~</a:t>
            </a: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”</a:t>
            </a:r>
            <a:r>
              <a:rPr lang="en-US" altLang="zh-CN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---</a:t>
            </a: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蜂窝</a:t>
            </a:r>
            <a:r>
              <a:rPr lang="en-US" altLang="zh-CN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</a:t>
            </a: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苏州二区</a:t>
            </a:r>
          </a:p>
        </p:txBody>
      </p:sp>
      <p:sp>
        <p:nvSpPr>
          <p:cNvPr id="53" name="米菲PPT1">
            <a:extLst>
              <a:ext uri="{FF2B5EF4-FFF2-40B4-BE49-F238E27FC236}">
                <a16:creationId xmlns:a16="http://schemas.microsoft.com/office/drawing/2014/main" id="{483E02CD-7097-FD88-76A0-A72866DE3BE0}"/>
              </a:ext>
            </a:extLst>
          </p:cNvPr>
          <p:cNvSpPr/>
          <p:nvPr/>
        </p:nvSpPr>
        <p:spPr>
          <a:xfrm>
            <a:off x="62330" y="3820851"/>
            <a:ext cx="9058124" cy="903286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下一步计划</a:t>
            </a:r>
            <a:endParaRPr lang="en-US" altLang="zh-CN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26A1A35-557B-2E68-79B6-E69814295BFA}"/>
              </a:ext>
            </a:extLst>
          </p:cNvPr>
          <p:cNvSpPr txBox="1"/>
          <p:nvPr/>
        </p:nvSpPr>
        <p:spPr>
          <a:xfrm>
            <a:off x="144558" y="4019526"/>
            <a:ext cx="8648521" cy="748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i="0" dirty="0">
                <a:effectLst/>
                <a:latin typeface="+mn-ea"/>
              </a:rPr>
              <a:t>① </a:t>
            </a:r>
            <a:r>
              <a:rPr lang="zh-CN" altLang="en-US" sz="1000" b="1" dirty="0">
                <a:latin typeface="+mn-ea"/>
              </a:rPr>
              <a:t>协同品类运营扩展品类定义、优化供给映射：</a:t>
            </a:r>
            <a:r>
              <a:rPr lang="zh-CN" altLang="en-US" sz="1000" dirty="0">
                <a:latin typeface="+mn-ea"/>
              </a:rPr>
              <a:t>针对有需求的未建设品类、供给不足品类，优化品类定义，根据商家经营实际信息优化供给映射。</a:t>
            </a:r>
            <a:endParaRPr lang="en-US" altLang="zh-CN" sz="10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effectLst/>
                <a:latin typeface="+mn-ea"/>
              </a:rPr>
              <a:t>② 细化城市 </a:t>
            </a:r>
            <a:r>
              <a:rPr lang="en-US" altLang="zh-CN" sz="1000" b="1" i="0" dirty="0">
                <a:effectLst/>
                <a:latin typeface="+mn-ea"/>
              </a:rPr>
              <a:t>x</a:t>
            </a:r>
            <a:r>
              <a:rPr lang="zh-CN" altLang="en-US" sz="1000" b="1" i="0" dirty="0">
                <a:effectLst/>
                <a:latin typeface="+mn-ea"/>
              </a:rPr>
              <a:t> </a:t>
            </a:r>
            <a:r>
              <a:rPr lang="zh-CN" altLang="en-US" sz="1000" b="1" dirty="0">
                <a:latin typeface="+mn-ea"/>
              </a:rPr>
              <a:t>特色</a:t>
            </a:r>
            <a:r>
              <a:rPr lang="zh-CN" altLang="en-US" sz="1000" b="1" i="0" dirty="0">
                <a:effectLst/>
                <a:latin typeface="+mn-ea"/>
              </a:rPr>
              <a:t>品类榜：</a:t>
            </a:r>
            <a:r>
              <a:rPr lang="zh-CN" altLang="en-US" sz="1000" b="0" i="0" dirty="0">
                <a:effectLst/>
                <a:latin typeface="+mn-ea"/>
              </a:rPr>
              <a:t>依托城市维度的差异化品类需求洞察，持续扩充个性化榜单品类覆盖广度，提升榜单对本地化消费场景的精准适配能力。</a:t>
            </a: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effectLst/>
                <a:latin typeface="+mn-ea"/>
              </a:rPr>
              <a:t>③ 识别需求缺口品类：</a:t>
            </a:r>
            <a:r>
              <a:rPr lang="zh-CN" altLang="en-US" sz="1000" b="0" i="0" dirty="0">
                <a:effectLst/>
                <a:latin typeface="+mn-ea"/>
              </a:rPr>
              <a:t>基于用户搜索意图数据及餐饮行业热点趋势动态，系统性识别当前榜单尚未有效承接的品类需求缺口，并关注新兴品类。</a:t>
            </a:r>
            <a:endParaRPr lang="zh-CN" altLang="en-US" sz="1000" dirty="0">
              <a:latin typeface="+mn-ea"/>
            </a:endParaRPr>
          </a:p>
        </p:txBody>
      </p:sp>
      <p:sp>
        <p:nvSpPr>
          <p:cNvPr id="11" name="米菲PPT1">
            <a:extLst>
              <a:ext uri="{FF2B5EF4-FFF2-40B4-BE49-F238E27FC236}">
                <a16:creationId xmlns:a16="http://schemas.microsoft.com/office/drawing/2014/main" id="{10AB337F-9302-E9F9-AAF5-A49CD07E952B}"/>
              </a:ext>
            </a:extLst>
          </p:cNvPr>
          <p:cNvSpPr/>
          <p:nvPr/>
        </p:nvSpPr>
        <p:spPr>
          <a:xfrm>
            <a:off x="35077" y="622250"/>
            <a:ext cx="2262048" cy="2382490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bg1">
                <a:lumMod val="5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AF46998C-51A5-8A75-55E6-88F02A70B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57" b="2271"/>
          <a:stretch/>
        </p:blipFill>
        <p:spPr>
          <a:xfrm>
            <a:off x="186729" y="901142"/>
            <a:ext cx="2014016" cy="20089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0464F019-C3D1-1C41-BED6-7151E627853B}"/>
              </a:ext>
            </a:extLst>
          </p:cNvPr>
          <p:cNvSpPr txBox="1"/>
          <p:nvPr/>
        </p:nvSpPr>
        <p:spPr>
          <a:xfrm>
            <a:off x="684059" y="622250"/>
            <a:ext cx="954107" cy="276999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zh-CN" altLang="en-US" sz="1200" b="1" i="1" u="sng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品类扩充前</a:t>
            </a:r>
          </a:p>
        </p:txBody>
      </p:sp>
      <p:sp>
        <p:nvSpPr>
          <p:cNvPr id="48" name="米菲PPT1">
            <a:extLst>
              <a:ext uri="{FF2B5EF4-FFF2-40B4-BE49-F238E27FC236}">
                <a16:creationId xmlns:a16="http://schemas.microsoft.com/office/drawing/2014/main" id="{03B1FBDC-F39F-635F-5BB0-46F332A94351}"/>
              </a:ext>
            </a:extLst>
          </p:cNvPr>
          <p:cNvSpPr/>
          <p:nvPr/>
        </p:nvSpPr>
        <p:spPr>
          <a:xfrm>
            <a:off x="2343085" y="622250"/>
            <a:ext cx="3086035" cy="2382491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8909283-C1A5-F73A-3523-EB2FD8C0B1BB}"/>
              </a:ext>
            </a:extLst>
          </p:cNvPr>
          <p:cNvSpPr txBox="1"/>
          <p:nvPr/>
        </p:nvSpPr>
        <p:spPr>
          <a:xfrm>
            <a:off x="3363555" y="56647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i="1" u="sng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品类扩充后</a:t>
            </a: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3CD511F4-3C25-5A70-5DC3-870E93EDD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776" y="957998"/>
            <a:ext cx="1368403" cy="19518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AEB9E24-7DA9-91B8-C4FB-49CADC71B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030" y="945747"/>
            <a:ext cx="1267803" cy="19643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D2AC63B6-CEC8-2F7F-FC45-0312C735AA61}"/>
              </a:ext>
            </a:extLst>
          </p:cNvPr>
          <p:cNvSpPr/>
          <p:nvPr/>
        </p:nvSpPr>
        <p:spPr>
          <a:xfrm>
            <a:off x="2412087" y="1247165"/>
            <a:ext cx="292276" cy="169029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5EDC98C9-7842-F8EC-B538-AFC7AE21C6F1}"/>
              </a:ext>
            </a:extLst>
          </p:cNvPr>
          <p:cNvSpPr/>
          <p:nvPr/>
        </p:nvSpPr>
        <p:spPr>
          <a:xfrm>
            <a:off x="3826778" y="1275156"/>
            <a:ext cx="1397401" cy="1634658"/>
          </a:xfrm>
          <a:prstGeom prst="roundRect">
            <a:avLst>
              <a:gd name="adj" fmla="val 5216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米菲PPT1">
            <a:extLst>
              <a:ext uri="{FF2B5EF4-FFF2-40B4-BE49-F238E27FC236}">
                <a16:creationId xmlns:a16="http://schemas.microsoft.com/office/drawing/2014/main" id="{A3B3163E-C863-F32D-900F-FBDE697B64D0}"/>
              </a:ext>
            </a:extLst>
          </p:cNvPr>
          <p:cNvSpPr/>
          <p:nvPr/>
        </p:nvSpPr>
        <p:spPr>
          <a:xfrm>
            <a:off x="5475080" y="629021"/>
            <a:ext cx="3516415" cy="237572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更好承接用户品类决策。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品类扩充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35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个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39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74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大搜品类意图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QV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承接 </a:t>
            </a:r>
            <a:r>
              <a:rPr lang="en-US" altLang="zh-CN" sz="900" dirty="0">
                <a:solidFill>
                  <a:srgbClr val="C00000"/>
                </a:solidFill>
                <a:latin typeface="+mn-ea"/>
              </a:rPr>
              <a:t>+12.5%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336w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378w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），后向意向率 </a:t>
            </a:r>
            <a:r>
              <a:rPr lang="en-US" altLang="zh-CN" sz="900" dirty="0">
                <a:solidFill>
                  <a:srgbClr val="C00000"/>
                </a:solidFill>
                <a:latin typeface="+mn-ea"/>
              </a:rPr>
              <a:t>+4.8pp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36%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 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40.8%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）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驱动商家供给上翻。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新上榜商户在线项目数 </a:t>
            </a:r>
            <a:r>
              <a:rPr lang="en-US" altLang="zh-CN" sz="900" dirty="0">
                <a:solidFill>
                  <a:srgbClr val="C00000"/>
                </a:solidFill>
                <a:latin typeface="+mn-ea"/>
              </a:rPr>
              <a:t>+4</a:t>
            </a:r>
            <a:r>
              <a:rPr lang="zh-CN" altLang="en-US" sz="900" dirty="0">
                <a:solidFill>
                  <a:srgbClr val="C00000"/>
                </a:solidFill>
                <a:latin typeface="+mn-ea"/>
              </a:rPr>
              <a:t>万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，动销项目数 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+5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万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提升商家曝光转化。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新上榜商户</a:t>
            </a:r>
            <a:r>
              <a:rPr lang="zh-CN" altLang="en-US" sz="900" dirty="0">
                <a:solidFill>
                  <a:srgbClr val="C00000"/>
                </a:solidFill>
                <a:latin typeface="+mn-ea"/>
              </a:rPr>
              <a:t>实付</a:t>
            </a:r>
            <a:r>
              <a:rPr lang="en-US" altLang="zh-CN" sz="900" dirty="0">
                <a:solidFill>
                  <a:srgbClr val="C00000"/>
                </a:solidFill>
                <a:latin typeface="+mn-ea"/>
              </a:rPr>
              <a:t>GTV</a:t>
            </a:r>
            <a:r>
              <a:rPr lang="zh-CN" altLang="en-US" sz="900" dirty="0">
                <a:solidFill>
                  <a:srgbClr val="C00000"/>
                </a:solidFill>
                <a:latin typeface="+mn-ea"/>
              </a:rPr>
              <a:t>周均</a:t>
            </a:r>
            <a:r>
              <a:rPr lang="en-US" altLang="zh-CN" sz="900" dirty="0">
                <a:solidFill>
                  <a:srgbClr val="C00000"/>
                </a:solidFill>
                <a:latin typeface="+mn-ea"/>
              </a:rPr>
              <a:t>+ 377</a:t>
            </a:r>
            <a:r>
              <a:rPr lang="zh-CN" altLang="en-US" sz="900" dirty="0">
                <a:solidFill>
                  <a:srgbClr val="C00000"/>
                </a:solidFill>
                <a:latin typeface="+mn-ea"/>
              </a:rPr>
              <a:t>元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834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元→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1,211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元），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POI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意向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UV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+20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101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 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121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 ）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箭头: 右 87">
            <a:extLst>
              <a:ext uri="{FF2B5EF4-FFF2-40B4-BE49-F238E27FC236}">
                <a16:creationId xmlns:a16="http://schemas.microsoft.com/office/drawing/2014/main" id="{0239A430-4406-EE74-5B12-E7BFB24FAC72}"/>
              </a:ext>
            </a:extLst>
          </p:cNvPr>
          <p:cNvSpPr/>
          <p:nvPr/>
        </p:nvSpPr>
        <p:spPr>
          <a:xfrm>
            <a:off x="1726166" y="629021"/>
            <a:ext cx="1136012" cy="285334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2000">
                <a:srgbClr val="FFFBE6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sx="1000" sy="1000" algn="ctr" rotWithShape="0">
              <a:srgbClr val="000000">
                <a:alpha val="9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B5A1C8-996F-53EA-268D-1439F28B748F}"/>
              </a:ext>
            </a:extLst>
          </p:cNvPr>
          <p:cNvSpPr txBox="1"/>
          <p:nvPr/>
        </p:nvSpPr>
        <p:spPr>
          <a:xfrm>
            <a:off x="111752" y="2988603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i="1" dirty="0">
                <a:solidFill>
                  <a:srgbClr val="C00000"/>
                </a:solidFill>
                <a:latin typeface="+mn-ea"/>
              </a:rPr>
              <a:t>用户原声：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FE03919-2DEF-A106-3542-DF7D423BD4AD}"/>
              </a:ext>
            </a:extLst>
          </p:cNvPr>
          <p:cNvSpPr txBox="1"/>
          <p:nvPr/>
        </p:nvSpPr>
        <p:spPr>
          <a:xfrm>
            <a:off x="111754" y="3180795"/>
            <a:ext cx="3737934" cy="601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“看到了更丰富的榜单的分类，比之前的选择更多了”</a:t>
            </a:r>
            <a:r>
              <a:rPr lang="en-US" altLang="zh-CN" sz="700" i="1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---</a:t>
            </a: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来自东北的马先生</a:t>
            </a:r>
            <a:endParaRPr lang="en-US" altLang="zh-CN" sz="700" i="1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“原来想在榜单里找到好吃的老北京火锅，但上榜的火锅店里辣火锅、牛肉火锅、酸汤火锅都混在一起，终于有个分类能然我只看老北京火锅了”</a:t>
            </a:r>
            <a:r>
              <a:rPr lang="en-US" altLang="zh-CN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---</a:t>
            </a:r>
            <a:r>
              <a:rPr lang="zh-CN" altLang="en-US" sz="7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来自北京王女士</a:t>
            </a:r>
          </a:p>
        </p:txBody>
      </p:sp>
    </p:spTree>
    <p:extLst>
      <p:ext uri="{BB962C8B-B14F-4D97-AF65-F5344CB8AC3E}">
        <p14:creationId xmlns:p14="http://schemas.microsoft.com/office/powerpoint/2010/main" val="19182300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288" y="59440"/>
            <a:ext cx="8413029" cy="427313"/>
          </a:xfrm>
        </p:spPr>
        <p:txBody>
          <a:bodyPr>
            <a:normAutofit/>
          </a:bodyPr>
          <a:lstStyle/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承接用户地址决策：完善热门</a:t>
            </a:r>
            <a:r>
              <a:rPr lang="en-US" altLang="zh-CN" sz="1900" dirty="0">
                <a:latin typeface="+mn-ea"/>
                <a:ea typeface="+mn-ea"/>
                <a:cs typeface="Arial" panose="020B0604020202020204" pitchFamily="34" charset="0"/>
              </a:rPr>
              <a:t>AOI</a:t>
            </a:r>
            <a:r>
              <a:rPr lang="zh-CN" altLang="en-US" sz="1900" dirty="0">
                <a:latin typeface="+mn-ea"/>
                <a:ea typeface="+mn-ea"/>
                <a:cs typeface="Arial" panose="020B0604020202020204" pitchFamily="34" charset="0"/>
              </a:rPr>
              <a:t>覆盖</a:t>
            </a:r>
            <a:endParaRPr lang="zh-CN" altLang="en-US" sz="1900" dirty="0">
              <a:latin typeface="+mn-ea"/>
              <a:ea typeface="+mn-ea"/>
            </a:endParaRPr>
          </a:p>
        </p:txBody>
      </p:sp>
      <p:sp>
        <p:nvSpPr>
          <p:cNvPr id="33" name="米菲PPT15">
            <a:extLst>
              <a:ext uri="{FF2B5EF4-FFF2-40B4-BE49-F238E27FC236}">
                <a16:creationId xmlns:a16="http://schemas.microsoft.com/office/drawing/2014/main" id="{BF9F8EAA-0DC1-C9A5-1815-0B0890063225}"/>
              </a:ext>
            </a:extLst>
          </p:cNvPr>
          <p:cNvSpPr/>
          <p:nvPr/>
        </p:nvSpPr>
        <p:spPr>
          <a:xfrm rot="5400000" flipV="1">
            <a:off x="1521156" y="-514826"/>
            <a:ext cx="390175" cy="27680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6" name="米菲PPT14">
            <a:extLst>
              <a:ext uri="{FF2B5EF4-FFF2-40B4-BE49-F238E27FC236}">
                <a16:creationId xmlns:a16="http://schemas.microsoft.com/office/drawing/2014/main" id="{D0D4E189-B8E0-3B6E-423D-FCF5978527A5}"/>
              </a:ext>
            </a:extLst>
          </p:cNvPr>
          <p:cNvSpPr/>
          <p:nvPr/>
        </p:nvSpPr>
        <p:spPr>
          <a:xfrm rot="5400000" flipV="1">
            <a:off x="4507674" y="-534687"/>
            <a:ext cx="390182" cy="282203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</a:endParaRPr>
          </a:p>
        </p:txBody>
      </p:sp>
      <p:cxnSp>
        <p:nvCxnSpPr>
          <p:cNvPr id="43" name="直线连接符 118">
            <a:extLst>
              <a:ext uri="{FF2B5EF4-FFF2-40B4-BE49-F238E27FC236}">
                <a16:creationId xmlns:a16="http://schemas.microsoft.com/office/drawing/2014/main" id="{68E5EDE2-2C7B-D812-A70D-27E6AA3E0790}"/>
              </a:ext>
            </a:extLst>
          </p:cNvPr>
          <p:cNvCxnSpPr>
            <a:cxnSpLocks/>
          </p:cNvCxnSpPr>
          <p:nvPr/>
        </p:nvCxnSpPr>
        <p:spPr>
          <a:xfrm>
            <a:off x="3307798" y="1235651"/>
            <a:ext cx="0" cy="3111996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米菲PPT14">
            <a:extLst>
              <a:ext uri="{FF2B5EF4-FFF2-40B4-BE49-F238E27FC236}">
                <a16:creationId xmlns:a16="http://schemas.microsoft.com/office/drawing/2014/main" id="{9D79DECB-6AF1-CF67-9E0D-0C20D4717DAF}"/>
              </a:ext>
            </a:extLst>
          </p:cNvPr>
          <p:cNvSpPr/>
          <p:nvPr/>
        </p:nvSpPr>
        <p:spPr>
          <a:xfrm rot="5400000" flipV="1">
            <a:off x="7363144" y="-565886"/>
            <a:ext cx="390182" cy="287019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</a:endParaRPr>
          </a:p>
        </p:txBody>
      </p:sp>
      <p:cxnSp>
        <p:nvCxnSpPr>
          <p:cNvPr id="18" name="直线连接符 118">
            <a:extLst>
              <a:ext uri="{FF2B5EF4-FFF2-40B4-BE49-F238E27FC236}">
                <a16:creationId xmlns:a16="http://schemas.microsoft.com/office/drawing/2014/main" id="{0FA97A1B-36CD-C5E3-550D-A5D1149CA41E}"/>
              </a:ext>
            </a:extLst>
          </p:cNvPr>
          <p:cNvCxnSpPr>
            <a:cxnSpLocks/>
          </p:cNvCxnSpPr>
          <p:nvPr/>
        </p:nvCxnSpPr>
        <p:spPr>
          <a:xfrm>
            <a:off x="6105191" y="1235651"/>
            <a:ext cx="0" cy="3111996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米菲PPT40">
            <a:extLst>
              <a:ext uri="{FF2B5EF4-FFF2-40B4-BE49-F238E27FC236}">
                <a16:creationId xmlns:a16="http://schemas.microsoft.com/office/drawing/2014/main" id="{88B71AFF-CC8C-5D4D-99CE-E64D858B600B}"/>
              </a:ext>
            </a:extLst>
          </p:cNvPr>
          <p:cNvSpPr/>
          <p:nvPr/>
        </p:nvSpPr>
        <p:spPr>
          <a:xfrm>
            <a:off x="3267250" y="792205"/>
            <a:ext cx="2815047" cy="18134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rtl="0" eaLnBrk="0">
              <a:lnSpc>
                <a:spcPct val="83000"/>
              </a:lnSpc>
            </a:pP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二期</a:t>
            </a:r>
            <a:r>
              <a:rPr lang="en-US" altLang="zh-CN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AOI</a:t>
            </a: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策略</a:t>
            </a:r>
            <a:endParaRPr sz="1000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4" name="米菲PPT42">
            <a:extLst>
              <a:ext uri="{FF2B5EF4-FFF2-40B4-BE49-F238E27FC236}">
                <a16:creationId xmlns:a16="http://schemas.microsoft.com/office/drawing/2014/main" id="{8FBAA98E-CDF1-7A5C-18BF-6BA29B8DB9F9}"/>
              </a:ext>
            </a:extLst>
          </p:cNvPr>
          <p:cNvSpPr/>
          <p:nvPr/>
        </p:nvSpPr>
        <p:spPr>
          <a:xfrm>
            <a:off x="466114" y="758404"/>
            <a:ext cx="2503662" cy="23470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rtl="0" eaLnBrk="0">
              <a:lnSpc>
                <a:spcPct val="83000"/>
              </a:lnSpc>
            </a:pP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一期</a:t>
            </a:r>
            <a:r>
              <a:rPr lang="en-US" altLang="zh-CN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AOI</a:t>
            </a: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数据效果</a:t>
            </a:r>
          </a:p>
        </p:txBody>
      </p:sp>
      <p:sp>
        <p:nvSpPr>
          <p:cNvPr id="38" name="米菲PPT40">
            <a:extLst>
              <a:ext uri="{FF2B5EF4-FFF2-40B4-BE49-F238E27FC236}">
                <a16:creationId xmlns:a16="http://schemas.microsoft.com/office/drawing/2014/main" id="{78978FB4-A468-3FBE-AEE4-CB81B0E6F0DC}"/>
              </a:ext>
            </a:extLst>
          </p:cNvPr>
          <p:cNvSpPr/>
          <p:nvPr/>
        </p:nvSpPr>
        <p:spPr>
          <a:xfrm>
            <a:off x="6148334" y="785086"/>
            <a:ext cx="2815047" cy="18134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rtl="0" eaLnBrk="0">
              <a:lnSpc>
                <a:spcPct val="83000"/>
              </a:lnSpc>
            </a:pPr>
            <a:r>
              <a:rPr lang="en-US" altLang="zh-CN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AOI</a:t>
            </a: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动线优化</a:t>
            </a:r>
            <a:endParaRPr sz="1000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6E097F-E735-4FC9-80CF-E5AE6DBE3798}"/>
              </a:ext>
            </a:extLst>
          </p:cNvPr>
          <p:cNvSpPr txBox="1"/>
          <p:nvPr/>
        </p:nvSpPr>
        <p:spPr>
          <a:xfrm>
            <a:off x="1519866" y="2751334"/>
            <a:ext cx="1666578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意向率 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vs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行政区 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+2.2pp</a:t>
            </a:r>
          </a:p>
          <a:p>
            <a:pPr marL="88900" indent="-88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异地用户</a:t>
            </a:r>
            <a:r>
              <a:rPr lang="en-US" altLang="zh-CN" sz="900" dirty="0">
                <a:latin typeface="+mn-ea"/>
              </a:rPr>
              <a:t>AOI</a:t>
            </a:r>
            <a:r>
              <a:rPr lang="zh-CN" altLang="en-US" sz="900" dirty="0">
                <a:latin typeface="+mn-ea"/>
              </a:rPr>
              <a:t>使用度更高</a:t>
            </a:r>
            <a:endParaRPr lang="en-US" altLang="zh-CN" sz="900" dirty="0">
              <a:latin typeface="+mn-ea"/>
            </a:endParaRPr>
          </a:p>
          <a:p>
            <a:pPr marL="88900" indent="-88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节假日期间本地用户亦有需求提升</a:t>
            </a:r>
            <a:endParaRPr lang="en-US" altLang="zh-CN" sz="900" dirty="0">
              <a:latin typeface="+mn-ea"/>
            </a:endParaRPr>
          </a:p>
        </p:txBody>
      </p:sp>
      <p:sp>
        <p:nvSpPr>
          <p:cNvPr id="57" name="米菲PPT9">
            <a:extLst>
              <a:ext uri="{FF2B5EF4-FFF2-40B4-BE49-F238E27FC236}">
                <a16:creationId xmlns:a16="http://schemas.microsoft.com/office/drawing/2014/main" id="{124FED32-EB68-456F-A843-30886BC41DBE}"/>
              </a:ext>
            </a:extLst>
          </p:cNvPr>
          <p:cNvSpPr/>
          <p:nvPr/>
        </p:nvSpPr>
        <p:spPr>
          <a:xfrm>
            <a:off x="3477507" y="1447154"/>
            <a:ext cx="2467199" cy="588803"/>
          </a:xfrm>
          <a:prstGeom prst="roundRect">
            <a:avLst>
              <a:gd name="adj" fmla="val 9058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58" name="米菲PPT41">
            <a:extLst>
              <a:ext uri="{FF2B5EF4-FFF2-40B4-BE49-F238E27FC236}">
                <a16:creationId xmlns:a16="http://schemas.microsoft.com/office/drawing/2014/main" id="{BD680593-A443-4285-89A4-63C0DC63C7F0}"/>
              </a:ext>
            </a:extLst>
          </p:cNvPr>
          <p:cNvSpPr/>
          <p:nvPr/>
        </p:nvSpPr>
        <p:spPr>
          <a:xfrm>
            <a:off x="3620061" y="1314225"/>
            <a:ext cx="1938655" cy="655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>
              <a:lnSpc>
                <a:spcPct val="79000"/>
              </a:lnSpc>
            </a:pPr>
            <a:r>
              <a:rPr lang="zh-CN" altLang="en-US" sz="9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第一类：商场</a:t>
            </a:r>
            <a:r>
              <a:rPr lang="en-US" altLang="zh-CN" sz="9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lang="zh-CN" altLang="en-US" sz="9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购物中心</a:t>
            </a:r>
            <a:endParaRPr sz="900" b="1" dirty="0">
              <a:solidFill>
                <a:schemeClr val="accent2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59" name="米菲PPT92">
            <a:extLst>
              <a:ext uri="{FF2B5EF4-FFF2-40B4-BE49-F238E27FC236}">
                <a16:creationId xmlns:a16="http://schemas.microsoft.com/office/drawing/2014/main" id="{CB8F923E-DF12-49F2-92D4-0C9B9A5EFA66}"/>
              </a:ext>
            </a:extLst>
          </p:cNvPr>
          <p:cNvSpPr txBox="1"/>
          <p:nvPr/>
        </p:nvSpPr>
        <p:spPr>
          <a:xfrm>
            <a:off x="3377811" y="1243556"/>
            <a:ext cx="366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√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9F7B1B04-3B4B-B70B-7A9C-FFEEFA4FC408}"/>
              </a:ext>
            </a:extLst>
          </p:cNvPr>
          <p:cNvSpPr txBox="1"/>
          <p:nvPr/>
        </p:nvSpPr>
        <p:spPr>
          <a:xfrm>
            <a:off x="6468357" y="3566722"/>
            <a:ext cx="755760" cy="20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700" dirty="0">
                <a:latin typeface="+mn-ea"/>
              </a:rPr>
              <a:t>大搜</a:t>
            </a:r>
            <a:endParaRPr lang="en-US" altLang="zh-CN" sz="700" dirty="0">
              <a:latin typeface="+mn-ea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2772F9A7-5EE8-2B6D-1D95-038C7486CCFC}"/>
              </a:ext>
            </a:extLst>
          </p:cNvPr>
          <p:cNvSpPr txBox="1"/>
          <p:nvPr/>
        </p:nvSpPr>
        <p:spPr>
          <a:xfrm>
            <a:off x="7758928" y="3570213"/>
            <a:ext cx="755760" cy="20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700" dirty="0">
                <a:latin typeface="+mn-ea"/>
              </a:rPr>
              <a:t>落地页</a:t>
            </a:r>
            <a:endParaRPr lang="en-US" altLang="zh-CN" sz="700" dirty="0">
              <a:latin typeface="+mn-ea"/>
            </a:endParaRPr>
          </a:p>
        </p:txBody>
      </p:sp>
      <p:sp>
        <p:nvSpPr>
          <p:cNvPr id="19" name="米菲PPT9">
            <a:extLst>
              <a:ext uri="{FF2B5EF4-FFF2-40B4-BE49-F238E27FC236}">
                <a16:creationId xmlns:a16="http://schemas.microsoft.com/office/drawing/2014/main" id="{2FD60DDD-1887-4136-AB72-56B3A62C5EEB}"/>
              </a:ext>
            </a:extLst>
          </p:cNvPr>
          <p:cNvSpPr/>
          <p:nvPr/>
        </p:nvSpPr>
        <p:spPr>
          <a:xfrm>
            <a:off x="3480483" y="2521811"/>
            <a:ext cx="2462512" cy="613578"/>
          </a:xfrm>
          <a:prstGeom prst="roundRect">
            <a:avLst>
              <a:gd name="adj" fmla="val 9058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0" name="米菲PPT41">
            <a:extLst>
              <a:ext uri="{FF2B5EF4-FFF2-40B4-BE49-F238E27FC236}">
                <a16:creationId xmlns:a16="http://schemas.microsoft.com/office/drawing/2014/main" id="{BE0818EA-D6A4-4313-92C5-97C56F800158}"/>
              </a:ext>
            </a:extLst>
          </p:cNvPr>
          <p:cNvSpPr/>
          <p:nvPr/>
        </p:nvSpPr>
        <p:spPr>
          <a:xfrm>
            <a:off x="3618348" y="2384215"/>
            <a:ext cx="1938655" cy="655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>
              <a:lnSpc>
                <a:spcPct val="79000"/>
              </a:lnSpc>
            </a:pPr>
            <a:r>
              <a:rPr lang="zh-CN" altLang="en-US" sz="9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第二类：城市周边游</a:t>
            </a:r>
            <a:r>
              <a:rPr lang="en-US" altLang="zh-CN" sz="9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lang="zh-CN" altLang="en-US" sz="9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周边热门景点</a:t>
            </a:r>
            <a:endParaRPr sz="900" b="1" dirty="0">
              <a:solidFill>
                <a:schemeClr val="accent2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2" name="米菲PPT92">
            <a:extLst>
              <a:ext uri="{FF2B5EF4-FFF2-40B4-BE49-F238E27FC236}">
                <a16:creationId xmlns:a16="http://schemas.microsoft.com/office/drawing/2014/main" id="{40770404-442E-4C5F-91C9-97783AF64354}"/>
              </a:ext>
            </a:extLst>
          </p:cNvPr>
          <p:cNvSpPr txBox="1"/>
          <p:nvPr/>
        </p:nvSpPr>
        <p:spPr>
          <a:xfrm>
            <a:off x="3376098" y="2313546"/>
            <a:ext cx="366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√</a:t>
            </a:r>
          </a:p>
        </p:txBody>
      </p:sp>
      <p:sp>
        <p:nvSpPr>
          <p:cNvPr id="25" name="米菲PPT47">
            <a:extLst>
              <a:ext uri="{FF2B5EF4-FFF2-40B4-BE49-F238E27FC236}">
                <a16:creationId xmlns:a16="http://schemas.microsoft.com/office/drawing/2014/main" id="{C82FDDEB-2EB9-4706-97AE-772D5C977D58}"/>
              </a:ext>
            </a:extLst>
          </p:cNvPr>
          <p:cNvSpPr txBox="1"/>
          <p:nvPr/>
        </p:nvSpPr>
        <p:spPr>
          <a:xfrm>
            <a:off x="3427667" y="2532136"/>
            <a:ext cx="2622995" cy="5688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用户群体：本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/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异地用户需求补足</a:t>
            </a:r>
            <a:endParaRPr lang="en-US" altLang="zh-CN" sz="900" dirty="0">
              <a:latin typeface="+mn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·AOI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特征：除市内的周边景点，如古北水镇</a:t>
            </a:r>
            <a:endParaRPr lang="en-US" altLang="zh-CN" sz="900" dirty="0">
              <a:latin typeface="+mn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预估数量：单城新增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5-8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个，预计新增</a:t>
            </a:r>
            <a:r>
              <a:rPr lang="en-US" altLang="zh-CN" sz="900" b="1" dirty="0">
                <a:latin typeface="+mn-ea"/>
                <a:cs typeface="MiSans Medium" panose="00000600000000000000" pitchFamily="2" charset="-122"/>
              </a:rPr>
              <a:t>3k+ 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AOI</a:t>
            </a:r>
            <a:endParaRPr lang="zh-CN" altLang="en-US" sz="90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2" name="米菲PPT9">
            <a:extLst>
              <a:ext uri="{FF2B5EF4-FFF2-40B4-BE49-F238E27FC236}">
                <a16:creationId xmlns:a16="http://schemas.microsoft.com/office/drawing/2014/main" id="{16D49187-F213-46E5-BDDC-0352CC1EDC4D}"/>
              </a:ext>
            </a:extLst>
          </p:cNvPr>
          <p:cNvSpPr/>
          <p:nvPr/>
        </p:nvSpPr>
        <p:spPr>
          <a:xfrm>
            <a:off x="3480752" y="3615849"/>
            <a:ext cx="2463953" cy="568874"/>
          </a:xfrm>
          <a:prstGeom prst="roundRect">
            <a:avLst>
              <a:gd name="adj" fmla="val 9058"/>
            </a:avLst>
          </a:prstGeom>
          <a:gradFill>
            <a:gsLst>
              <a:gs pos="100000">
                <a:schemeClr val="accent2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9" name="米菲PPT41">
            <a:extLst>
              <a:ext uri="{FF2B5EF4-FFF2-40B4-BE49-F238E27FC236}">
                <a16:creationId xmlns:a16="http://schemas.microsoft.com/office/drawing/2014/main" id="{1B433B76-31A5-4CCB-B9BC-6F2EA3DEB2C1}"/>
              </a:ext>
            </a:extLst>
          </p:cNvPr>
          <p:cNvSpPr/>
          <p:nvPr/>
        </p:nvSpPr>
        <p:spPr>
          <a:xfrm>
            <a:off x="3620061" y="3478253"/>
            <a:ext cx="1938655" cy="15998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>
              <a:lnSpc>
                <a:spcPct val="79000"/>
              </a:lnSpc>
            </a:pPr>
            <a:r>
              <a:rPr lang="zh-CN" altLang="en-US" sz="900" b="1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第三类：核心网红打卡地</a:t>
            </a:r>
            <a:endParaRPr sz="900" b="1" dirty="0">
              <a:solidFill>
                <a:schemeClr val="accent2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1" name="米菲PPT92">
            <a:extLst>
              <a:ext uri="{FF2B5EF4-FFF2-40B4-BE49-F238E27FC236}">
                <a16:creationId xmlns:a16="http://schemas.microsoft.com/office/drawing/2014/main" id="{584B40F1-D80F-4652-8EEF-DE73B537DBAE}"/>
              </a:ext>
            </a:extLst>
          </p:cNvPr>
          <p:cNvSpPr txBox="1"/>
          <p:nvPr/>
        </p:nvSpPr>
        <p:spPr>
          <a:xfrm>
            <a:off x="3377811" y="3407584"/>
            <a:ext cx="366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 dirty="0">
                <a:solidFill>
                  <a:schemeClr val="accent2"/>
                </a:solidFill>
                <a:latin typeface="+mn-ea"/>
                <a:cs typeface="MiSans Medium" panose="00000600000000000000" pitchFamily="2" charset="-122"/>
              </a:rPr>
              <a:t>√</a:t>
            </a:r>
          </a:p>
        </p:txBody>
      </p:sp>
      <p:sp>
        <p:nvSpPr>
          <p:cNvPr id="44" name="米菲PPT47">
            <a:extLst>
              <a:ext uri="{FF2B5EF4-FFF2-40B4-BE49-F238E27FC236}">
                <a16:creationId xmlns:a16="http://schemas.microsoft.com/office/drawing/2014/main" id="{E7ABB9E1-3994-47DE-9D91-9641F5B2ED89}"/>
              </a:ext>
            </a:extLst>
          </p:cNvPr>
          <p:cNvSpPr txBox="1"/>
          <p:nvPr/>
        </p:nvSpPr>
        <p:spPr>
          <a:xfrm>
            <a:off x="3432297" y="1449751"/>
            <a:ext cx="2563837" cy="5688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用户群体：本地用户需求补足</a:t>
            </a:r>
            <a:endParaRPr lang="en-US" altLang="zh-CN" sz="900" dirty="0">
              <a:latin typeface="+mn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·AOI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特征：大型流量商场，例如北京合生汇</a:t>
            </a:r>
            <a:endParaRPr lang="en-US" altLang="zh-CN" sz="900" dirty="0">
              <a:latin typeface="+mn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预估数量：单城新增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10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个，预计新增</a:t>
            </a:r>
            <a:r>
              <a:rPr lang="en-US" altLang="zh-CN" sz="900" b="1" dirty="0">
                <a:latin typeface="+mn-ea"/>
                <a:cs typeface="MiSans Medium" panose="00000600000000000000" pitchFamily="2" charset="-122"/>
              </a:rPr>
              <a:t>5k+ 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AOI</a:t>
            </a:r>
            <a:endParaRPr lang="zh-CN" altLang="en-US" sz="90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6" name="米菲PPT47">
            <a:extLst>
              <a:ext uri="{FF2B5EF4-FFF2-40B4-BE49-F238E27FC236}">
                <a16:creationId xmlns:a16="http://schemas.microsoft.com/office/drawing/2014/main" id="{B1CBBBFD-8131-4D6A-B37D-11503E1DBE50}"/>
              </a:ext>
            </a:extLst>
          </p:cNvPr>
          <p:cNvSpPr txBox="1"/>
          <p:nvPr/>
        </p:nvSpPr>
        <p:spPr>
          <a:xfrm>
            <a:off x="3411127" y="3606582"/>
            <a:ext cx="2677711" cy="5688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用户群体：本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/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异地用户需求补足</a:t>
            </a:r>
            <a:endParaRPr lang="en-US" altLang="zh-CN" sz="900" dirty="0">
              <a:latin typeface="+mn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·AOI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特征：市内核心热门地，如泡泡玛特乐园</a:t>
            </a:r>
            <a:endParaRPr lang="en-US" altLang="zh-CN" sz="900" dirty="0">
              <a:latin typeface="+mn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·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预估数量：单城新增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5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个，预计新增</a:t>
            </a:r>
            <a:r>
              <a:rPr lang="en-US" altLang="zh-CN" sz="900" b="1" dirty="0">
                <a:latin typeface="+mn-ea"/>
                <a:cs typeface="MiSans Medium" panose="00000600000000000000" pitchFamily="2" charset="-122"/>
              </a:rPr>
              <a:t>2k+ </a:t>
            </a:r>
            <a:r>
              <a:rPr lang="en-US" altLang="zh-CN" sz="900" dirty="0">
                <a:latin typeface="+mn-ea"/>
                <a:cs typeface="MiSans Medium" panose="00000600000000000000" pitchFamily="2" charset="-122"/>
              </a:rPr>
              <a:t>AOI</a:t>
            </a:r>
            <a:endParaRPr lang="zh-CN" altLang="en-US" sz="900" dirty="0">
              <a:latin typeface="+mn-ea"/>
              <a:cs typeface="MiSans Medium" panose="00000600000000000000" pitchFamily="2" charset="-122"/>
            </a:endParaRPr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1EC307EC-C1E3-41A7-8DB1-EDA0A4D05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66640"/>
              </p:ext>
            </p:extLst>
          </p:nvPr>
        </p:nvGraphicFramePr>
        <p:xfrm>
          <a:off x="1541860" y="1808634"/>
          <a:ext cx="1670861" cy="669943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964113810"/>
                    </a:ext>
                  </a:extLst>
                </a:gridCol>
                <a:gridCol w="283530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328001">
                  <a:extLst>
                    <a:ext uri="{9D8B030D-6E8A-4147-A177-3AD203B41FA5}">
                      <a16:colId xmlns:a16="http://schemas.microsoft.com/office/drawing/2014/main" val="1409255481"/>
                    </a:ext>
                  </a:extLst>
                </a:gridCol>
                <a:gridCol w="247489">
                  <a:extLst>
                    <a:ext uri="{9D8B030D-6E8A-4147-A177-3AD203B41FA5}">
                      <a16:colId xmlns:a16="http://schemas.microsoft.com/office/drawing/2014/main" val="688774873"/>
                    </a:ext>
                  </a:extLst>
                </a:gridCol>
                <a:gridCol w="380041">
                  <a:extLst>
                    <a:ext uri="{9D8B030D-6E8A-4147-A177-3AD203B41FA5}">
                      <a16:colId xmlns:a16="http://schemas.microsoft.com/office/drawing/2014/main" val="434546904"/>
                    </a:ext>
                  </a:extLst>
                </a:gridCol>
              </a:tblGrid>
              <a:tr h="17444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kern="1200" dirty="0">
                          <a:solidFill>
                            <a:srgbClr val="0D0D0D"/>
                          </a:solidFill>
                          <a:effectLst/>
                        </a:rPr>
                        <a:t>指标项</a:t>
                      </a:r>
                      <a:endParaRPr lang="zh-CN" altLang="en-US" sz="700" kern="1200" dirty="0">
                        <a:solidFill>
                          <a:srgbClr val="0D0D0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700" dirty="0">
                          <a:effectLst/>
                        </a:rPr>
                        <a:t>节日日均</a:t>
                      </a:r>
                    </a:p>
                  </a:txBody>
                  <a:tcPr marL="50800" marR="50800" marT="6350" marB="6350"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algn="ctr"/>
                      <a:endParaRPr lang="en-US" altLang="zh-CN" sz="700" dirty="0">
                        <a:effectLst/>
                      </a:endParaRPr>
                    </a:p>
                  </a:txBody>
                  <a:tcPr marL="50800" marR="50800" marT="6350" marB="6350" anchor="ctr"/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700" dirty="0">
                          <a:effectLst/>
                        </a:rPr>
                        <a:t>非节日日均</a:t>
                      </a:r>
                    </a:p>
                  </a:txBody>
                  <a:tcPr marL="50800" marR="50800" marT="6350" marB="635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algn="ctr"/>
                      <a:endParaRPr lang="zh-CN" altLang="en-US" sz="700" dirty="0">
                        <a:effectLst/>
                      </a:endParaRPr>
                    </a:p>
                  </a:txBody>
                  <a:tcPr marL="50800" marR="50800" marT="6350" marB="6350" anchor="ctr"/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165166"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本地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本地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异地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0380927"/>
                  </a:ext>
                </a:extLst>
              </a:tr>
              <a:tr h="16516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AOI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点击率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8.6%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8912086"/>
                  </a:ext>
                </a:extLst>
              </a:tr>
              <a:tr h="16516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AOI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意向率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25.3%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22.2%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125849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A72E5F55-8D9D-8F1C-4779-0E7587A04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83" y="1419983"/>
            <a:ext cx="1238837" cy="268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234C4F0-BB36-D5DC-DD3F-FC7CE8834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79"/>
          <a:stretch/>
        </p:blipFill>
        <p:spPr bwMode="auto">
          <a:xfrm>
            <a:off x="6258546" y="1345684"/>
            <a:ext cx="1313539" cy="226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0CB45B1-26FE-3F6E-661A-BC8E313A12D7}"/>
              </a:ext>
            </a:extLst>
          </p:cNvPr>
          <p:cNvSpPr/>
          <p:nvPr/>
        </p:nvSpPr>
        <p:spPr>
          <a:xfrm>
            <a:off x="6434944" y="1670211"/>
            <a:ext cx="180971" cy="5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9C98B0-D383-5E55-B127-3F2CE7CC2A4A}"/>
              </a:ext>
            </a:extLst>
          </p:cNvPr>
          <p:cNvSpPr/>
          <p:nvPr/>
        </p:nvSpPr>
        <p:spPr>
          <a:xfrm>
            <a:off x="6611347" y="2027481"/>
            <a:ext cx="242697" cy="11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22563E81-F8C8-6B8F-3756-94FA5BE923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0" t="28725" r="69296" b="68691"/>
          <a:stretch/>
        </p:blipFill>
        <p:spPr bwMode="auto">
          <a:xfrm>
            <a:off x="6608966" y="2036556"/>
            <a:ext cx="54768" cy="7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E87F0F-B230-7DB3-35F0-00947CCE54C4}"/>
              </a:ext>
            </a:extLst>
          </p:cNvPr>
          <p:cNvSpPr/>
          <p:nvPr/>
        </p:nvSpPr>
        <p:spPr>
          <a:xfrm>
            <a:off x="6258545" y="2007632"/>
            <a:ext cx="468497" cy="134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2F5943DB-39D4-5C22-CAE6-4493569D1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219" y="1365614"/>
            <a:ext cx="1024831" cy="222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EFFEC4EF-101E-03FB-58B5-A0537B52C6EA}"/>
              </a:ext>
            </a:extLst>
          </p:cNvPr>
          <p:cNvSpPr/>
          <p:nvPr/>
        </p:nvSpPr>
        <p:spPr>
          <a:xfrm>
            <a:off x="7613714" y="1672987"/>
            <a:ext cx="330886" cy="134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775F19-6791-7C3D-92BC-624C961A9DC6}"/>
              </a:ext>
            </a:extLst>
          </p:cNvPr>
          <p:cNvSpPr txBox="1"/>
          <p:nvPr/>
        </p:nvSpPr>
        <p:spPr>
          <a:xfrm>
            <a:off x="6249323" y="3801130"/>
            <a:ext cx="2426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承接用户地址搜索，加强基于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AOI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的榜单找店决策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A6874B0-21F4-7129-1548-7723B4029420}"/>
              </a:ext>
            </a:extLst>
          </p:cNvPr>
          <p:cNvSpPr txBox="1"/>
          <p:nvPr/>
        </p:nvSpPr>
        <p:spPr>
          <a:xfrm>
            <a:off x="946825" y="1014073"/>
            <a:ext cx="15904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i="0" dirty="0">
                <a:solidFill>
                  <a:srgbClr val="0D0D0D"/>
                </a:solidFill>
                <a:effectLst/>
                <a:latin typeface="+mn-ea"/>
              </a:rPr>
              <a:t>验证可行</a:t>
            </a:r>
            <a:endParaRPr lang="zh-CN" altLang="en-US" sz="900" dirty="0"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4B0FB7E-F915-8ACA-4F9D-C12143FA5DDB}"/>
              </a:ext>
            </a:extLst>
          </p:cNvPr>
          <p:cNvSpPr txBox="1"/>
          <p:nvPr/>
        </p:nvSpPr>
        <p:spPr>
          <a:xfrm>
            <a:off x="3686951" y="1018720"/>
            <a:ext cx="20479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i="0" dirty="0">
                <a:solidFill>
                  <a:srgbClr val="0D0D0D"/>
                </a:solidFill>
                <a:effectLst/>
                <a:latin typeface="+mn-ea"/>
              </a:rPr>
              <a:t>完善覆盖</a:t>
            </a:r>
            <a:endParaRPr lang="zh-CN" altLang="en-US" sz="9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511C178-5666-6528-5467-BDB94CCCEF3B}"/>
              </a:ext>
            </a:extLst>
          </p:cNvPr>
          <p:cNvSpPr txBox="1"/>
          <p:nvPr/>
        </p:nvSpPr>
        <p:spPr>
          <a:xfrm>
            <a:off x="6996023" y="1006196"/>
            <a:ext cx="10329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i="0" dirty="0">
                <a:solidFill>
                  <a:srgbClr val="0D0D0D"/>
                </a:solidFill>
                <a:effectLst/>
                <a:latin typeface="+mn-ea"/>
              </a:rPr>
              <a:t>加强承接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3324193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4"/>
          <p:cNvSpPr/>
          <p:nvPr/>
        </p:nvSpPr>
        <p:spPr>
          <a:xfrm>
            <a:off x="71649" y="1408243"/>
            <a:ext cx="727117" cy="742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5" name="Text 15"/>
          <p:cNvSpPr/>
          <p:nvPr/>
        </p:nvSpPr>
        <p:spPr>
          <a:xfrm>
            <a:off x="71649" y="1420996"/>
            <a:ext cx="727117" cy="71693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  <a:cs typeface="微软雅黑" panose="020B0503020204020204" pitchFamily="34" charset="-120"/>
              </a:rPr>
              <a:t>榜单</a:t>
            </a:r>
            <a:endParaRPr lang="en-US" altLang="zh-CN" sz="1200" b="1" dirty="0">
              <a:latin typeface="+mn-ea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定位</a:t>
            </a:r>
            <a:endParaRPr lang="en-US" sz="1200" dirty="0">
              <a:latin typeface="+mn-ea"/>
            </a:endParaRPr>
          </a:p>
        </p:txBody>
      </p:sp>
      <p:sp>
        <p:nvSpPr>
          <p:cNvPr id="6" name="Shape 16"/>
          <p:cNvSpPr/>
          <p:nvPr/>
        </p:nvSpPr>
        <p:spPr>
          <a:xfrm>
            <a:off x="71649" y="761421"/>
            <a:ext cx="727117" cy="5609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7" name="Text 17"/>
          <p:cNvSpPr/>
          <p:nvPr/>
        </p:nvSpPr>
        <p:spPr>
          <a:xfrm>
            <a:off x="71649" y="761421"/>
            <a:ext cx="727117" cy="55893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用户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需求</a:t>
            </a:r>
            <a:endParaRPr lang="en-US" sz="1200" b="1" dirty="0">
              <a:latin typeface="+mn-ea"/>
            </a:endParaRPr>
          </a:p>
        </p:txBody>
      </p:sp>
      <p:sp>
        <p:nvSpPr>
          <p:cNvPr id="12" name="Shape 22"/>
          <p:cNvSpPr/>
          <p:nvPr/>
        </p:nvSpPr>
        <p:spPr>
          <a:xfrm>
            <a:off x="66966" y="3114516"/>
            <a:ext cx="727117" cy="744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3" name="Text 23"/>
          <p:cNvSpPr/>
          <p:nvPr/>
        </p:nvSpPr>
        <p:spPr>
          <a:xfrm>
            <a:off x="66966" y="3114516"/>
            <a:ext cx="727117" cy="740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当前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进展</a:t>
            </a:r>
            <a:endParaRPr lang="en-US" sz="1200" b="1" dirty="0">
              <a:latin typeface="+mn-ea"/>
            </a:endParaRPr>
          </a:p>
        </p:txBody>
      </p:sp>
      <p:sp>
        <p:nvSpPr>
          <p:cNvPr id="15" name="Shape 24"/>
          <p:cNvSpPr/>
          <p:nvPr/>
        </p:nvSpPr>
        <p:spPr>
          <a:xfrm>
            <a:off x="67623" y="3954050"/>
            <a:ext cx="727117" cy="7314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6" name="Text 25"/>
          <p:cNvSpPr/>
          <p:nvPr/>
        </p:nvSpPr>
        <p:spPr>
          <a:xfrm>
            <a:off x="67623" y="4040245"/>
            <a:ext cx="727117" cy="5656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未来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计划</a:t>
            </a:r>
            <a:endParaRPr lang="en-US" sz="1200" b="1" dirty="0">
              <a:latin typeface="+mn-ea"/>
            </a:endParaRPr>
          </a:p>
        </p:txBody>
      </p:sp>
      <p:sp>
        <p:nvSpPr>
          <p:cNvPr id="18" name="Shape 27"/>
          <p:cNvSpPr/>
          <p:nvPr/>
        </p:nvSpPr>
        <p:spPr>
          <a:xfrm>
            <a:off x="4423343" y="488112"/>
            <a:ext cx="222604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约会</a:t>
            </a:r>
          </a:p>
        </p:txBody>
      </p:sp>
      <p:sp>
        <p:nvSpPr>
          <p:cNvPr id="56" name="Shape 64"/>
          <p:cNvSpPr/>
          <p:nvPr/>
        </p:nvSpPr>
        <p:spPr>
          <a:xfrm>
            <a:off x="838896" y="488112"/>
            <a:ext cx="353829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旅游</a:t>
            </a:r>
          </a:p>
        </p:txBody>
      </p:sp>
      <p:sp>
        <p:nvSpPr>
          <p:cNvPr id="55" name="Shape 63"/>
          <p:cNvSpPr/>
          <p:nvPr/>
        </p:nvSpPr>
        <p:spPr>
          <a:xfrm>
            <a:off x="841493" y="1403554"/>
            <a:ext cx="1673107" cy="742437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2" name="Shape 70"/>
          <p:cNvSpPr/>
          <p:nvPr/>
        </p:nvSpPr>
        <p:spPr>
          <a:xfrm>
            <a:off x="846349" y="761421"/>
            <a:ext cx="3530837" cy="552839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3" name="Text 71"/>
          <p:cNvSpPr/>
          <p:nvPr/>
        </p:nvSpPr>
        <p:spPr>
          <a:xfrm>
            <a:off x="965233" y="761421"/>
            <a:ext cx="1911397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83" name="Shape 91"/>
          <p:cNvSpPr/>
          <p:nvPr/>
        </p:nvSpPr>
        <p:spPr>
          <a:xfrm>
            <a:off x="837467" y="3959065"/>
            <a:ext cx="1641271" cy="711983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89" name="Shape 97"/>
          <p:cNvSpPr/>
          <p:nvPr/>
        </p:nvSpPr>
        <p:spPr>
          <a:xfrm>
            <a:off x="6733555" y="488112"/>
            <a:ext cx="228746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亲子</a:t>
            </a:r>
          </a:p>
        </p:txBody>
      </p:sp>
      <p:sp>
        <p:nvSpPr>
          <p:cNvPr id="136" name="Shape 63"/>
          <p:cNvSpPr/>
          <p:nvPr/>
        </p:nvSpPr>
        <p:spPr>
          <a:xfrm>
            <a:off x="2559734" y="1403554"/>
            <a:ext cx="1825248" cy="737748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139" name="Text 71"/>
          <p:cNvSpPr/>
          <p:nvPr/>
        </p:nvSpPr>
        <p:spPr>
          <a:xfrm>
            <a:off x="3010496" y="761421"/>
            <a:ext cx="1387058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44" name="Shape 91"/>
          <p:cNvSpPr/>
          <p:nvPr/>
        </p:nvSpPr>
        <p:spPr>
          <a:xfrm>
            <a:off x="2566102" y="3960646"/>
            <a:ext cx="1802625" cy="711983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146" name="Shape 63"/>
          <p:cNvSpPr/>
          <p:nvPr/>
        </p:nvSpPr>
        <p:spPr>
          <a:xfrm>
            <a:off x="4423343" y="1398866"/>
            <a:ext cx="2244460" cy="747126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7" name="Shape 70"/>
          <p:cNvSpPr/>
          <p:nvPr/>
        </p:nvSpPr>
        <p:spPr>
          <a:xfrm>
            <a:off x="4423343" y="761421"/>
            <a:ext cx="2244460" cy="56096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48" name="Text 71"/>
          <p:cNvSpPr/>
          <p:nvPr/>
        </p:nvSpPr>
        <p:spPr>
          <a:xfrm>
            <a:off x="4423343" y="761421"/>
            <a:ext cx="2129654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54" name="Shape 91"/>
          <p:cNvSpPr/>
          <p:nvPr/>
        </p:nvSpPr>
        <p:spPr>
          <a:xfrm>
            <a:off x="4419317" y="3954049"/>
            <a:ext cx="2251834" cy="711983"/>
          </a:xfrm>
          <a:prstGeom prst="rect">
            <a:avLst/>
          </a:prstGeom>
          <a:solidFill>
            <a:srgbClr val="FCF2F2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7" name="Shape 63"/>
          <p:cNvSpPr/>
          <p:nvPr/>
        </p:nvSpPr>
        <p:spPr>
          <a:xfrm>
            <a:off x="6750039" y="1408244"/>
            <a:ext cx="2264296" cy="737748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58" name="Shape 70"/>
          <p:cNvSpPr/>
          <p:nvPr/>
        </p:nvSpPr>
        <p:spPr>
          <a:xfrm>
            <a:off x="6756721" y="761420"/>
            <a:ext cx="2264296" cy="566405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59" name="Text 71"/>
          <p:cNvSpPr/>
          <p:nvPr/>
        </p:nvSpPr>
        <p:spPr>
          <a:xfrm>
            <a:off x="6861454" y="761421"/>
            <a:ext cx="2148475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64" name="Shape 91"/>
          <p:cNvSpPr/>
          <p:nvPr/>
        </p:nvSpPr>
        <p:spPr>
          <a:xfrm>
            <a:off x="6726796" y="3958647"/>
            <a:ext cx="2279107" cy="7119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68" name="文本框 167"/>
          <p:cNvSpPr txBox="1"/>
          <p:nvPr/>
        </p:nvSpPr>
        <p:spPr>
          <a:xfrm>
            <a:off x="834723" y="1504419"/>
            <a:ext cx="1624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当地人推荐榜：</a:t>
            </a:r>
            <a:r>
              <a:rPr lang="zh-CN" altLang="en-US" sz="900" dirty="0">
                <a:latin typeface="+mn-ea"/>
              </a:rPr>
              <a:t>本地人真实消费评价，筛选本地特色好店，外地人跟着选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2563378" y="1504419"/>
            <a:ext cx="183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n-ea"/>
              </a:rPr>
              <a:t>烟火榜：</a:t>
            </a:r>
            <a:r>
              <a:rPr lang="zh-CN" altLang="en-US" sz="900" dirty="0">
                <a:effectLst/>
                <a:latin typeface="+mn-ea"/>
              </a:rPr>
              <a:t>锅气十足</a:t>
            </a:r>
            <a:r>
              <a:rPr lang="zh-CN" altLang="en-US" sz="900" dirty="0">
                <a:latin typeface="+mn-ea"/>
              </a:rPr>
              <a:t>、口味地道、价格实惠</a:t>
            </a:r>
            <a:r>
              <a:rPr lang="zh-CN" altLang="en-US" sz="900" dirty="0">
                <a:effectLst/>
                <a:latin typeface="+mn-ea"/>
              </a:rPr>
              <a:t>的市井小店。</a:t>
            </a:r>
            <a:endParaRPr lang="zh-CN" altLang="en-US" sz="900" dirty="0">
              <a:latin typeface="+mn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94953" y="836838"/>
            <a:ext cx="3502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+mn-ea"/>
              </a:rPr>
              <a:t>异地旅游用户为主，吃得地道、品尝地方特色菜及小吃。吃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玩时间有一定规划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9F6783F-EF36-44F5-8C56-9BCE3FE0BDAE}"/>
              </a:ext>
            </a:extLst>
          </p:cNvPr>
          <p:cNvGrpSpPr/>
          <p:nvPr/>
        </p:nvGrpSpPr>
        <p:grpSpPr>
          <a:xfrm>
            <a:off x="845171" y="3115299"/>
            <a:ext cx="1661134" cy="744643"/>
            <a:chOff x="911966" y="3493473"/>
            <a:chExt cx="1980477" cy="744643"/>
          </a:xfrm>
        </p:grpSpPr>
        <p:sp>
          <p:nvSpPr>
            <p:cNvPr id="78" name="Shape 86"/>
            <p:cNvSpPr/>
            <p:nvPr/>
          </p:nvSpPr>
          <p:spPr>
            <a:xfrm>
              <a:off x="911966" y="3493473"/>
              <a:ext cx="1980477" cy="744643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84" name="文本框 183"/>
            <p:cNvSpPr txBox="1"/>
            <p:nvPr/>
          </p:nvSpPr>
          <p:spPr>
            <a:xfrm>
              <a:off x="920938" y="3709770"/>
              <a:ext cx="19485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当地人推荐扩城至</a:t>
              </a:r>
              <a:r>
                <a:rPr lang="en-US" altLang="zh-CN" sz="900" dirty="0">
                  <a:latin typeface="+mn-ea"/>
                </a:rPr>
                <a:t>674</a:t>
              </a:r>
              <a:r>
                <a:rPr lang="zh-CN" altLang="en-US" sz="900" dirty="0">
                  <a:latin typeface="+mn-ea"/>
                </a:rPr>
                <a:t>；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C22A47A-B9A8-4075-902A-9FBBF0E87B46}"/>
              </a:ext>
            </a:extLst>
          </p:cNvPr>
          <p:cNvGrpSpPr/>
          <p:nvPr/>
        </p:nvGrpSpPr>
        <p:grpSpPr>
          <a:xfrm>
            <a:off x="2568099" y="3114516"/>
            <a:ext cx="1819512" cy="739415"/>
            <a:chOff x="2948938" y="3492690"/>
            <a:chExt cx="1493433" cy="739415"/>
          </a:xfrm>
        </p:grpSpPr>
        <p:sp>
          <p:nvSpPr>
            <p:cNvPr id="143" name="Shape 86"/>
            <p:cNvSpPr/>
            <p:nvPr/>
          </p:nvSpPr>
          <p:spPr>
            <a:xfrm>
              <a:off x="2948938" y="3492690"/>
              <a:ext cx="1468197" cy="739415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85" name="文本框 184"/>
            <p:cNvSpPr txBox="1"/>
            <p:nvPr/>
          </p:nvSpPr>
          <p:spPr>
            <a:xfrm>
              <a:off x="2948938" y="3730106"/>
              <a:ext cx="14934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上线</a:t>
              </a:r>
              <a:r>
                <a:rPr lang="en-US" altLang="zh-CN" sz="900" dirty="0">
                  <a:latin typeface="+mn-ea"/>
                </a:rPr>
                <a:t>10</a:t>
              </a:r>
              <a:r>
                <a:rPr lang="zh-CN" altLang="en-US" sz="900" dirty="0">
                  <a:latin typeface="+mn-ea"/>
                </a:rPr>
                <a:t>个试点城市，调优中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186" name="文本框 185"/>
          <p:cNvSpPr txBox="1"/>
          <p:nvPr/>
        </p:nvSpPr>
        <p:spPr>
          <a:xfrm>
            <a:off x="2521465" y="3944111"/>
            <a:ext cx="1772652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成榜策略迭代，扩大覆盖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联动餐饮生态，推进点亮“烟火小店”计划，结合中餐申遗强化非遗表达</a:t>
            </a:r>
            <a:endParaRPr lang="en-US" altLang="zh-CN" sz="900" dirty="0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790057" y="3942164"/>
            <a:ext cx="1686236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建立美团侧挖掘流程，扩大县域经济的中低线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下沉旅游城市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加强商家荣誉，铺设物料</a:t>
            </a:r>
            <a:endParaRPr lang="en-US" altLang="zh-CN" sz="900" dirty="0"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4423343" y="1504419"/>
            <a:ext cx="2172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n-ea"/>
              </a:rPr>
              <a:t>约会榜：</a:t>
            </a:r>
            <a:r>
              <a:rPr lang="zh-CN" altLang="en-US" sz="900" dirty="0">
                <a:effectLst/>
                <a:latin typeface="+mn-ea"/>
              </a:rPr>
              <a:t>氛围</a:t>
            </a:r>
            <a:r>
              <a:rPr lang="zh-CN" altLang="en-US" sz="900" dirty="0">
                <a:latin typeface="+mn-ea"/>
              </a:rPr>
              <a:t>浪漫</a:t>
            </a:r>
            <a:r>
              <a:rPr lang="zh-CN" altLang="en-US" sz="900" dirty="0">
                <a:effectLst/>
                <a:latin typeface="+mn-ea"/>
              </a:rPr>
              <a:t>、服务优质、</a:t>
            </a:r>
            <a:r>
              <a:rPr lang="zh-CN" altLang="en-US" sz="900" dirty="0">
                <a:latin typeface="+mn-ea"/>
              </a:rPr>
              <a:t>出品精致</a:t>
            </a:r>
            <a:r>
              <a:rPr lang="zh-CN" altLang="en-US" sz="900" dirty="0">
                <a:effectLst/>
                <a:latin typeface="+mn-ea"/>
              </a:rPr>
              <a:t>的约会指南。</a:t>
            </a:r>
          </a:p>
        </p:txBody>
      </p:sp>
      <p:sp>
        <p:nvSpPr>
          <p:cNvPr id="198" name="文本框 197"/>
          <p:cNvSpPr txBox="1"/>
          <p:nvPr/>
        </p:nvSpPr>
        <p:spPr>
          <a:xfrm>
            <a:off x="4449148" y="815807"/>
            <a:ext cx="2129654" cy="41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  <a:latin typeface="+mn-ea"/>
              </a:rPr>
              <a:t>年轻情侣、女性和部分闺蜜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朋友群体，注重用餐仪式感和社交体验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0D10832-FEB9-4B19-A2E4-79B80D35AF6B}"/>
              </a:ext>
            </a:extLst>
          </p:cNvPr>
          <p:cNvGrpSpPr/>
          <p:nvPr/>
        </p:nvGrpSpPr>
        <p:grpSpPr>
          <a:xfrm>
            <a:off x="4382727" y="3114516"/>
            <a:ext cx="2286637" cy="739415"/>
            <a:chOff x="4468198" y="3492690"/>
            <a:chExt cx="2286637" cy="739415"/>
          </a:xfrm>
        </p:grpSpPr>
        <p:sp>
          <p:nvSpPr>
            <p:cNvPr id="153" name="Shape 86"/>
            <p:cNvSpPr/>
            <p:nvPr/>
          </p:nvSpPr>
          <p:spPr>
            <a:xfrm>
              <a:off x="4504131" y="3492690"/>
              <a:ext cx="2250704" cy="739415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99" name="文本框 198"/>
            <p:cNvSpPr txBox="1"/>
            <p:nvPr/>
          </p:nvSpPr>
          <p:spPr>
            <a:xfrm>
              <a:off x="4468198" y="3723111"/>
              <a:ext cx="2164881" cy="402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已覆盖</a:t>
              </a:r>
              <a:r>
                <a:rPr lang="en-US" altLang="zh-CN" sz="900" dirty="0">
                  <a:latin typeface="+mn-ea"/>
                </a:rPr>
                <a:t>SAB</a:t>
              </a:r>
              <a:r>
                <a:rPr lang="zh-CN" altLang="en-US" sz="900" dirty="0">
                  <a:latin typeface="+mn-ea"/>
                </a:rPr>
                <a:t>级</a:t>
              </a:r>
              <a:r>
                <a:rPr lang="en-US" altLang="zh-CN" sz="900" dirty="0">
                  <a:latin typeface="+mn-ea"/>
                </a:rPr>
                <a:t>35</a:t>
              </a:r>
              <a:r>
                <a:rPr lang="zh-CN" altLang="en-US" sz="900" dirty="0">
                  <a:latin typeface="+mn-ea"/>
                </a:rPr>
                <a:t>个城，进一步调优</a:t>
              </a:r>
            </a:p>
            <a:p>
              <a:pPr>
                <a:lnSpc>
                  <a:spcPct val="120000"/>
                </a:lnSpc>
              </a:pP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4419317" y="3942164"/>
            <a:ext cx="2140766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强化预约交履表达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加强商家宣导，铺设荣誉物料</a:t>
            </a:r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6782079" y="1517093"/>
            <a:ext cx="2213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+mn-ea"/>
              </a:rPr>
              <a:t>亲子</a:t>
            </a:r>
            <a:r>
              <a:rPr lang="zh-CN" altLang="en-US" sz="900" b="1" dirty="0">
                <a:effectLst/>
                <a:latin typeface="+mn-ea"/>
              </a:rPr>
              <a:t>榜：</a:t>
            </a:r>
            <a:r>
              <a:rPr lang="zh-CN" altLang="en-US" sz="900" dirty="0">
                <a:effectLst/>
                <a:latin typeface="+mn-ea"/>
              </a:rPr>
              <a:t>吃得放心、舒心、开心。</a:t>
            </a:r>
            <a:r>
              <a:rPr lang="zh-CN" altLang="en-US" sz="900" dirty="0">
                <a:latin typeface="+mn-ea"/>
              </a:rPr>
              <a:t>满足家长带孩子吃玩的一站式需求。</a:t>
            </a:r>
          </a:p>
        </p:txBody>
      </p:sp>
      <p:sp>
        <p:nvSpPr>
          <p:cNvPr id="211" name="文本框 210"/>
          <p:cNvSpPr txBox="1"/>
          <p:nvPr/>
        </p:nvSpPr>
        <p:spPr>
          <a:xfrm>
            <a:off x="6736991" y="820167"/>
            <a:ext cx="2264295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  <a:latin typeface="+mn-ea"/>
              </a:rPr>
              <a:t>家长群体，母亲决策导向，注重儿童设施、安全和</a:t>
            </a:r>
            <a:r>
              <a:rPr lang="zh-CN" altLang="en-US" sz="900" dirty="0">
                <a:latin typeface="+mn-ea"/>
              </a:rPr>
              <a:t>营养</a:t>
            </a:r>
            <a:r>
              <a:rPr lang="zh-CN" altLang="en-US" sz="900" dirty="0">
                <a:effectLst/>
                <a:latin typeface="+mn-ea"/>
              </a:rPr>
              <a:t>搭配，兼顾</a:t>
            </a:r>
            <a:r>
              <a:rPr lang="zh-CN" altLang="en-US" sz="900" dirty="0">
                <a:latin typeface="+mn-ea"/>
              </a:rPr>
              <a:t>玩乐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大人口味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D4342C-2683-411A-A5E7-633677254BE7}"/>
              </a:ext>
            </a:extLst>
          </p:cNvPr>
          <p:cNvGrpSpPr/>
          <p:nvPr/>
        </p:nvGrpSpPr>
        <p:grpSpPr>
          <a:xfrm>
            <a:off x="6720452" y="3114516"/>
            <a:ext cx="2279106" cy="747108"/>
            <a:chOff x="6763835" y="3492690"/>
            <a:chExt cx="2279106" cy="747108"/>
          </a:xfrm>
        </p:grpSpPr>
        <p:sp>
          <p:nvSpPr>
            <p:cNvPr id="163" name="Shape 86"/>
            <p:cNvSpPr/>
            <p:nvPr/>
          </p:nvSpPr>
          <p:spPr>
            <a:xfrm>
              <a:off x="6763835" y="3492690"/>
              <a:ext cx="2279106" cy="747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212" name="文本框 211"/>
            <p:cNvSpPr txBox="1"/>
            <p:nvPr/>
          </p:nvSpPr>
          <p:spPr>
            <a:xfrm>
              <a:off x="6763835" y="3587878"/>
              <a:ext cx="2213129" cy="402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zh-CN" sz="900" dirty="0">
                <a:latin typeface="+mn-ea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900" b="1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完成初步挖掘方案，评审中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213" name="文本框 212"/>
          <p:cNvSpPr txBox="1"/>
          <p:nvPr/>
        </p:nvSpPr>
        <p:spPr>
          <a:xfrm>
            <a:off x="6705023" y="3942164"/>
            <a:ext cx="2213129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·7</a:t>
            </a:r>
            <a:r>
              <a:rPr lang="zh-CN" altLang="en-US" sz="900" dirty="0">
                <a:latin typeface="+mn-ea"/>
              </a:rPr>
              <a:t>月初亲子榜上线，预计覆盖</a:t>
            </a:r>
            <a:r>
              <a:rPr lang="en-US" altLang="zh-CN" sz="900" dirty="0">
                <a:latin typeface="+mn-ea"/>
              </a:rPr>
              <a:t>30+ SAB</a:t>
            </a:r>
            <a:r>
              <a:rPr lang="zh-CN" altLang="en-US" sz="900" dirty="0">
                <a:latin typeface="+mn-ea"/>
              </a:rPr>
              <a:t>级城市，承接暑假亲子找店需求</a:t>
            </a:r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4C159214-00A5-4025-81BD-C0DB2CC339C9}"/>
              </a:ext>
            </a:extLst>
          </p:cNvPr>
          <p:cNvSpPr/>
          <p:nvPr/>
        </p:nvSpPr>
        <p:spPr>
          <a:xfrm>
            <a:off x="71649" y="2210233"/>
            <a:ext cx="727117" cy="8380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07" name="Text 25">
            <a:extLst>
              <a:ext uri="{FF2B5EF4-FFF2-40B4-BE49-F238E27FC236}">
                <a16:creationId xmlns:a16="http://schemas.microsoft.com/office/drawing/2014/main" id="{0C4F8E77-09F2-4852-9468-44A1C9287DE4}"/>
              </a:ext>
            </a:extLst>
          </p:cNvPr>
          <p:cNvSpPr/>
          <p:nvPr/>
        </p:nvSpPr>
        <p:spPr>
          <a:xfrm>
            <a:off x="76852" y="2305728"/>
            <a:ext cx="727117" cy="62770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核心资产引用</a:t>
            </a:r>
            <a:endParaRPr lang="en-US" sz="1200" b="1" dirty="0">
              <a:latin typeface="+mn-ea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81987A07-5BD7-4FDD-AA0E-B3158174501D}"/>
              </a:ext>
            </a:extLst>
          </p:cNvPr>
          <p:cNvGrpSpPr/>
          <p:nvPr/>
        </p:nvGrpSpPr>
        <p:grpSpPr>
          <a:xfrm>
            <a:off x="794083" y="2506374"/>
            <a:ext cx="1720517" cy="542182"/>
            <a:chOff x="826001" y="3486588"/>
            <a:chExt cx="2115811" cy="1051279"/>
          </a:xfrm>
        </p:grpSpPr>
        <p:sp>
          <p:nvSpPr>
            <p:cNvPr id="109" name="Shape 86">
              <a:extLst>
                <a:ext uri="{FF2B5EF4-FFF2-40B4-BE49-F238E27FC236}">
                  <a16:creationId xmlns:a16="http://schemas.microsoft.com/office/drawing/2014/main" id="{D9244994-12BC-4906-BB13-A60C6BBE1EC1}"/>
                </a:ext>
              </a:extLst>
            </p:cNvPr>
            <p:cNvSpPr/>
            <p:nvPr/>
          </p:nvSpPr>
          <p:spPr>
            <a:xfrm>
              <a:off x="873934" y="3493475"/>
              <a:ext cx="2067878" cy="1044392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21A58CF2-BC74-4F48-AF3C-87A14619309D}"/>
                </a:ext>
              </a:extLst>
            </p:cNvPr>
            <p:cNvSpPr txBox="1"/>
            <p:nvPr/>
          </p:nvSpPr>
          <p:spPr>
            <a:xfrm>
              <a:off x="826001" y="3486588"/>
              <a:ext cx="2115811" cy="984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b="1" dirty="0">
                  <a:latin typeface="+mn-ea"/>
                </a:rPr>
                <a:t>当地人推荐：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本地用户评价+城市特色品类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lang="en-US" altLang="zh-CN" sz="9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373588B4-A10F-4D0A-93E4-36E708BAD948}"/>
              </a:ext>
            </a:extLst>
          </p:cNvPr>
          <p:cNvGrpSpPr/>
          <p:nvPr/>
        </p:nvGrpSpPr>
        <p:grpSpPr>
          <a:xfrm>
            <a:off x="2572783" y="2506374"/>
            <a:ext cx="1797228" cy="538630"/>
            <a:chOff x="2619908" y="3492690"/>
            <a:chExt cx="1797228" cy="1044393"/>
          </a:xfrm>
        </p:grpSpPr>
        <p:sp>
          <p:nvSpPr>
            <p:cNvPr id="112" name="Shape 86">
              <a:extLst>
                <a:ext uri="{FF2B5EF4-FFF2-40B4-BE49-F238E27FC236}">
                  <a16:creationId xmlns:a16="http://schemas.microsoft.com/office/drawing/2014/main" id="{509201E7-3860-4721-A674-E289896CA459}"/>
                </a:ext>
              </a:extLst>
            </p:cNvPr>
            <p:cNvSpPr/>
            <p:nvPr/>
          </p:nvSpPr>
          <p:spPr>
            <a:xfrm>
              <a:off x="2619908" y="3492690"/>
              <a:ext cx="1797228" cy="1044393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F2CF6561-B7E5-4853-BACE-2B6121393C09}"/>
                </a:ext>
              </a:extLst>
            </p:cNvPr>
            <p:cNvSpPr txBox="1"/>
            <p:nvPr/>
          </p:nvSpPr>
          <p:spPr>
            <a:xfrm>
              <a:off x="2619908" y="3539914"/>
              <a:ext cx="1719056" cy="984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latin typeface="+mn-ea"/>
                  <a:sym typeface="Wingdings" panose="05000000000000000000" pitchFamily="2" charset="2"/>
                </a:rPr>
                <a:t>烟火榜：</a:t>
              </a:r>
              <a:r>
                <a:rPr lang="zh-CN" altLang="en-US" sz="900" dirty="0">
                  <a:latin typeface="+mn-ea"/>
                  <a:sym typeface="Wingdings" panose="05000000000000000000" pitchFamily="2" charset="2"/>
                </a:rPr>
                <a:t>烟火主题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评价+现炒现制标签+GTV/核销量/流量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D2396428-152D-482C-BAAA-34E2B1463E25}"/>
              </a:ext>
            </a:extLst>
          </p:cNvPr>
          <p:cNvGrpSpPr/>
          <p:nvPr/>
        </p:nvGrpSpPr>
        <p:grpSpPr>
          <a:xfrm>
            <a:off x="4391593" y="2506374"/>
            <a:ext cx="2275357" cy="542182"/>
            <a:chOff x="4480520" y="3480783"/>
            <a:chExt cx="2275357" cy="1051278"/>
          </a:xfrm>
        </p:grpSpPr>
        <p:sp>
          <p:nvSpPr>
            <p:cNvPr id="115" name="Shape 86">
              <a:extLst>
                <a:ext uri="{FF2B5EF4-FFF2-40B4-BE49-F238E27FC236}">
                  <a16:creationId xmlns:a16="http://schemas.microsoft.com/office/drawing/2014/main" id="{D9EB7C8F-A58D-481B-9093-5E63D5CB832F}"/>
                </a:ext>
              </a:extLst>
            </p:cNvPr>
            <p:cNvSpPr/>
            <p:nvPr/>
          </p:nvSpPr>
          <p:spPr>
            <a:xfrm>
              <a:off x="4502619" y="3480783"/>
              <a:ext cx="2250704" cy="1051278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zh-CN" altLang="en-US" dirty="0">
                <a:latin typeface="+mn-ea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9C2798DC-A764-4603-A381-66C27F9264D3}"/>
                </a:ext>
              </a:extLst>
            </p:cNvPr>
            <p:cNvSpPr txBox="1"/>
            <p:nvPr/>
          </p:nvSpPr>
          <p:spPr>
            <a:xfrm>
              <a:off x="4480520" y="3546613"/>
              <a:ext cx="2275357" cy="650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900" b="1" dirty="0">
                  <a:latin typeface="+mn-ea"/>
                </a:rPr>
                <a:t>约会榜：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约会主题评价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+景观特色等标签+GTV/核销量/流量+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预订/双人餐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sp>
        <p:nvSpPr>
          <p:cNvPr id="118" name="Shape 86">
            <a:extLst>
              <a:ext uri="{FF2B5EF4-FFF2-40B4-BE49-F238E27FC236}">
                <a16:creationId xmlns:a16="http://schemas.microsoft.com/office/drawing/2014/main" id="{AA1E70C2-175F-4378-ADE7-6922A647FFB8}"/>
              </a:ext>
            </a:extLst>
          </p:cNvPr>
          <p:cNvSpPr/>
          <p:nvPr/>
        </p:nvSpPr>
        <p:spPr>
          <a:xfrm>
            <a:off x="6722391" y="2506374"/>
            <a:ext cx="2279106" cy="542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FF3FC18F-CA2B-4C1E-9142-4B65F39DD163}"/>
              </a:ext>
            </a:extLst>
          </p:cNvPr>
          <p:cNvSpPr txBox="1"/>
          <p:nvPr/>
        </p:nvSpPr>
        <p:spPr>
          <a:xfrm>
            <a:off x="6722391" y="2506374"/>
            <a:ext cx="22507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亲子榜：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亲子</a:t>
            </a:r>
            <a:r>
              <a:rPr lang="zh-CN" altLang="en-US" sz="900" dirty="0">
                <a:latin typeface="+mn-ea"/>
              </a:rPr>
              <a:t>主题评价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+亲子设施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不可吸烟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等标签+GTV/核销量/流量+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儿童套餐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endParaRPr lang="en-US" altLang="zh-CN" sz="9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40364BF-E8B2-BEB0-CB98-2E879F09F3F7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承接用户场景决策</a:t>
            </a:r>
          </a:p>
        </p:txBody>
      </p:sp>
      <p:sp>
        <p:nvSpPr>
          <p:cNvPr id="14" name="Shape 70">
            <a:extLst>
              <a:ext uri="{FF2B5EF4-FFF2-40B4-BE49-F238E27FC236}">
                <a16:creationId xmlns:a16="http://schemas.microsoft.com/office/drawing/2014/main" id="{6DED207E-D38A-1EE5-61D2-AEEE2F4A92EF}"/>
              </a:ext>
            </a:extLst>
          </p:cNvPr>
          <p:cNvSpPr/>
          <p:nvPr/>
        </p:nvSpPr>
        <p:spPr>
          <a:xfrm>
            <a:off x="833061" y="2210232"/>
            <a:ext cx="8172842" cy="2158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900" dirty="0">
                <a:latin typeface="+mn-ea"/>
              </a:rPr>
              <a:t>主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入围：</a:t>
            </a:r>
            <a:r>
              <a:rPr lang="en-US" altLang="zh-CN" sz="900" dirty="0">
                <a:latin typeface="+mn-ea"/>
              </a:rPr>
              <a:t>UGC</a:t>
            </a:r>
            <a:r>
              <a:rPr lang="zh-CN" altLang="en-US" sz="900" dirty="0">
                <a:latin typeface="+mn-ea"/>
              </a:rPr>
              <a:t>挖掘主题相关度。辅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排序：</a:t>
            </a:r>
            <a:r>
              <a:rPr lang="en-US" altLang="zh-CN" sz="900" dirty="0">
                <a:latin typeface="+mn-ea"/>
              </a:rPr>
              <a:t>B(D)GC</a:t>
            </a:r>
            <a:r>
              <a:rPr lang="zh-CN" altLang="en-US" sz="900" dirty="0">
                <a:latin typeface="+mn-ea"/>
              </a:rPr>
              <a:t>信息标签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用户行为资产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（交履服务）</a:t>
            </a:r>
            <a:r>
              <a:rPr lang="en-US" altLang="zh-CN" sz="900" dirty="0">
                <a:latin typeface="+mn-ea"/>
              </a:rPr>
              <a:t>	</a:t>
            </a:r>
            <a:endParaRPr lang="zh-CN" altLang="en-US" sz="900" dirty="0">
              <a:latin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E7EE0AB2-0602-02B6-078C-E4B83B4A43AA}"/>
              </a:ext>
            </a:extLst>
          </p:cNvPr>
          <p:cNvSpPr/>
          <p:nvPr/>
        </p:nvSpPr>
        <p:spPr>
          <a:xfrm>
            <a:off x="995746" y="1359660"/>
            <a:ext cx="1580444" cy="13216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E97726F-55C1-4761-FBB8-7E5C0A6739D0}"/>
              </a:ext>
            </a:extLst>
          </p:cNvPr>
          <p:cNvSpPr/>
          <p:nvPr/>
        </p:nvSpPr>
        <p:spPr>
          <a:xfrm>
            <a:off x="995746" y="2761316"/>
            <a:ext cx="1580444" cy="13216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FA8637E-162E-B572-2B62-1768E6175305}"/>
              </a:ext>
            </a:extLst>
          </p:cNvPr>
          <p:cNvSpPr/>
          <p:nvPr/>
        </p:nvSpPr>
        <p:spPr>
          <a:xfrm>
            <a:off x="2680223" y="1356064"/>
            <a:ext cx="1580444" cy="13252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4DFE5E-4860-8947-8B36-88000244D56A}"/>
              </a:ext>
            </a:extLst>
          </p:cNvPr>
          <p:cNvSpPr/>
          <p:nvPr/>
        </p:nvSpPr>
        <p:spPr>
          <a:xfrm>
            <a:off x="2680223" y="2761316"/>
            <a:ext cx="1580444" cy="1321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10B3377-3EE7-069F-BD69-94153EA90EF5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承接用户菜品决策</a:t>
            </a:r>
            <a:endParaRPr lang="zh-CN" altLang="en-US" sz="1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9D0299-CADC-E2AA-8851-F595337E6624}"/>
              </a:ext>
            </a:extLst>
          </p:cNvPr>
          <p:cNvSpPr/>
          <p:nvPr/>
        </p:nvSpPr>
        <p:spPr>
          <a:xfrm>
            <a:off x="100584" y="428937"/>
            <a:ext cx="8933687" cy="486961"/>
          </a:xfrm>
          <a:prstGeom prst="rect">
            <a:avLst/>
          </a:prstGeom>
          <a:ln w="9525">
            <a:noFill/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5A4244C-3E74-4F47-2A18-B14CE966FAE1}"/>
              </a:ext>
            </a:extLst>
          </p:cNvPr>
          <p:cNvSpPr txBox="1"/>
          <p:nvPr/>
        </p:nvSpPr>
        <p:spPr>
          <a:xfrm>
            <a:off x="100584" y="457092"/>
            <a:ext cx="8872231" cy="45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  <a:tabLst>
                <a:tab pos="4664075" algn="l"/>
              </a:tabLst>
            </a:pPr>
            <a:r>
              <a:rPr lang="zh-CN" altLang="en-US" sz="1200" dirty="0">
                <a:latin typeface="+mn-ea"/>
              </a:rPr>
              <a:t>过去榜单主要以店为对象，满足用户找店决策。从搜索</a:t>
            </a:r>
            <a:r>
              <a:rPr lang="en-US" altLang="zh-CN" sz="1200" dirty="0">
                <a:latin typeface="+mn-ea"/>
              </a:rPr>
              <a:t>QV</a:t>
            </a:r>
            <a:r>
              <a:rPr lang="zh-CN" altLang="en-US" sz="1200" dirty="0">
                <a:latin typeface="+mn-ea"/>
              </a:rPr>
              <a:t>看，用户基于菜品决策的需求同样旺盛。一方面应持续扩展特色菜的城市、菜品覆盖。另一方面，基于</a:t>
            </a:r>
            <a:r>
              <a:rPr lang="zh-CN" altLang="en-US" sz="1200" dirty="0">
                <a:effectLst/>
              </a:rPr>
              <a:t>菜品信息的日益完善及智能点餐的覆盖提升，逐步</a:t>
            </a:r>
            <a:r>
              <a:rPr lang="zh-CN" altLang="en-US" sz="1200" dirty="0">
                <a:latin typeface="+mn-ea"/>
              </a:rPr>
              <a:t>试点时令尝新等菜品榜单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716FDCE-0712-85BB-01E3-25458D98F7D2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2622079" y="1232013"/>
            <a:ext cx="0" cy="300382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8E061FC-1EA0-CFFC-BE6A-7ACC7D4B3A81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853340" y="2712716"/>
            <a:ext cx="349632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6A5902E-B87F-32D9-3B89-4F108FD1391E}"/>
              </a:ext>
            </a:extLst>
          </p:cNvPr>
          <p:cNvSpPr txBox="1"/>
          <p:nvPr/>
        </p:nvSpPr>
        <p:spPr>
          <a:xfrm>
            <a:off x="37078" y="2574216"/>
            <a:ext cx="81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55BF8CB-818C-005F-1B6B-FFF2CDAAD526}"/>
              </a:ext>
            </a:extLst>
          </p:cNvPr>
          <p:cNvSpPr txBox="1"/>
          <p:nvPr/>
        </p:nvSpPr>
        <p:spPr>
          <a:xfrm>
            <a:off x="4349660" y="2574216"/>
            <a:ext cx="852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E3A63A1-6F44-5B81-4FAF-89043D124ED5}"/>
              </a:ext>
            </a:extLst>
          </p:cNvPr>
          <p:cNvSpPr txBox="1"/>
          <p:nvPr/>
        </p:nvSpPr>
        <p:spPr>
          <a:xfrm>
            <a:off x="1826869" y="4435154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27F171B-8CB1-071A-6667-A29079C90CFC}"/>
              </a:ext>
            </a:extLst>
          </p:cNvPr>
          <p:cNvSpPr txBox="1"/>
          <p:nvPr/>
        </p:nvSpPr>
        <p:spPr>
          <a:xfrm>
            <a:off x="1826869" y="955014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F49705C-E95E-F93E-58E3-37D180459124}"/>
              </a:ext>
            </a:extLst>
          </p:cNvPr>
          <p:cNvSpPr txBox="1"/>
          <p:nvPr/>
        </p:nvSpPr>
        <p:spPr>
          <a:xfrm>
            <a:off x="1002588" y="3272555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无需决策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33CED8A-0A5B-F985-5D57-15519DC2375D}"/>
              </a:ext>
            </a:extLst>
          </p:cNvPr>
          <p:cNvSpPr txBox="1"/>
          <p:nvPr/>
        </p:nvSpPr>
        <p:spPr>
          <a:xfrm>
            <a:off x="2621611" y="3263256"/>
            <a:ext cx="15904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门店招牌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（推荐菜、热销菜）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46B0CD3-7EEB-0033-11BC-2457FEDB1C8B}"/>
              </a:ext>
            </a:extLst>
          </p:cNvPr>
          <p:cNvSpPr txBox="1"/>
          <p:nvPr/>
        </p:nvSpPr>
        <p:spPr>
          <a:xfrm>
            <a:off x="2258720" y="1891098"/>
            <a:ext cx="15794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时令菜品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5BE9C84-197F-3A7B-7EA4-0126AD7354F3}"/>
              </a:ext>
            </a:extLst>
          </p:cNvPr>
          <p:cNvSpPr txBox="1"/>
          <p:nvPr/>
        </p:nvSpPr>
        <p:spPr>
          <a:xfrm>
            <a:off x="1773306" y="1890928"/>
            <a:ext cx="846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当地特色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D424B1F-D92C-AFE8-DFF4-5E63B2781A9F}"/>
              </a:ext>
            </a:extLst>
          </p:cNvPr>
          <p:cNvSpPr txBox="1"/>
          <p:nvPr/>
        </p:nvSpPr>
        <p:spPr>
          <a:xfrm>
            <a:off x="983909" y="1900865"/>
            <a:ext cx="9009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特定菜品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（如战斧牛排）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00A4EE3-781D-6FE2-EF1A-0EEC9CC770DD}"/>
              </a:ext>
            </a:extLst>
          </p:cNvPr>
          <p:cNvCxnSpPr>
            <a:cxnSpLocks/>
          </p:cNvCxnSpPr>
          <p:nvPr/>
        </p:nvCxnSpPr>
        <p:spPr>
          <a:xfrm>
            <a:off x="1831997" y="1509194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2A7C1EE-7A1B-7654-4AAC-6D432D4CFE07}"/>
              </a:ext>
            </a:extLst>
          </p:cNvPr>
          <p:cNvSpPr txBox="1"/>
          <p:nvPr/>
        </p:nvSpPr>
        <p:spPr>
          <a:xfrm>
            <a:off x="2624204" y="1722355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③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8F13FB-195C-BAEE-8A7E-823DAEE885F8}"/>
              </a:ext>
            </a:extLst>
          </p:cNvPr>
          <p:cNvSpPr txBox="1"/>
          <p:nvPr/>
        </p:nvSpPr>
        <p:spPr>
          <a:xfrm>
            <a:off x="1286354" y="1697359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①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D915622-6876-78AD-30AE-DFADE431DB17}"/>
              </a:ext>
            </a:extLst>
          </p:cNvPr>
          <p:cNvSpPr txBox="1"/>
          <p:nvPr/>
        </p:nvSpPr>
        <p:spPr>
          <a:xfrm>
            <a:off x="2011617" y="1722355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②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F104371-45A1-C91D-8CB7-56E2BDA4FA80}"/>
              </a:ext>
            </a:extLst>
          </p:cNvPr>
          <p:cNvSpPr txBox="1"/>
          <p:nvPr/>
        </p:nvSpPr>
        <p:spPr>
          <a:xfrm>
            <a:off x="3014914" y="3078252"/>
            <a:ext cx="846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⑤</a:t>
            </a:r>
          </a:p>
        </p:txBody>
      </p: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964CC2ED-BA91-D8FF-3979-A3AD662E3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431317"/>
              </p:ext>
            </p:extLst>
          </p:nvPr>
        </p:nvGraphicFramePr>
        <p:xfrm>
          <a:off x="5366773" y="1147611"/>
          <a:ext cx="3557419" cy="3428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90">
                  <a:extLst>
                    <a:ext uri="{9D8B030D-6E8A-4147-A177-3AD203B41FA5}">
                      <a16:colId xmlns:a16="http://schemas.microsoft.com/office/drawing/2014/main" val="1332178433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016871320"/>
                    </a:ext>
                  </a:extLst>
                </a:gridCol>
                <a:gridCol w="641839">
                  <a:extLst>
                    <a:ext uri="{9D8B030D-6E8A-4147-A177-3AD203B41FA5}">
                      <a16:colId xmlns:a16="http://schemas.microsoft.com/office/drawing/2014/main" val="2121448744"/>
                    </a:ext>
                  </a:extLst>
                </a:gridCol>
                <a:gridCol w="958361">
                  <a:extLst>
                    <a:ext uri="{9D8B030D-6E8A-4147-A177-3AD203B41FA5}">
                      <a16:colId xmlns:a16="http://schemas.microsoft.com/office/drawing/2014/main" val="345367386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0246068"/>
                    </a:ext>
                  </a:extLst>
                </a:gridCol>
              </a:tblGrid>
              <a:tr h="2486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  <a:endParaRPr lang="zh-CN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决策逻辑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选菜标准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资产引用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依赖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现状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34842"/>
                  </a:ext>
                </a:extLst>
              </a:tr>
              <a:tr h="460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①特定菜品</a:t>
                      </a:r>
                      <a:endParaRPr lang="en-US" altLang="zh-CN" sz="9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以菜找店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一定需求规模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菜品信息</a:t>
                      </a:r>
                      <a:r>
                        <a:rPr lang="zh-CN" altLang="en-US" sz="8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（更新时间、原子菜关系、图谱关系等）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（搜索量、热度、评价量、交易量等）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店关系资产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（店内点赞</a:t>
                      </a:r>
                      <a:r>
                        <a:rPr lang="en-US" altLang="zh-CN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收藏、评价、交易等）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门店资产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1381"/>
                  </a:ext>
                </a:extLst>
              </a:tr>
              <a:tr h="9634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②当地特色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特色菜字典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+mn-ea"/>
                        </a:rPr>
                        <a:t>特色菜，陆续扩城扩菜</a:t>
                      </a:r>
                      <a:endParaRPr lang="en-US" altLang="zh-CN" sz="900" dirty="0">
                        <a:latin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115573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③时令菜品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时令菜知识图谱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试点春鲜榜，验证迭代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061612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④尝新尝热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找菜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新品标准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一定热度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点评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奶茶新品榜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53701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</a:t>
                      </a:r>
                      <a:r>
                        <a:rPr lang="zh-CN" altLang="en-US" sz="900" b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门店招牌</a:t>
                      </a:r>
                      <a:endParaRPr lang="en" sz="900" b="1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进店选菜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满足定义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门槛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推荐菜为主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92682"/>
                  </a:ext>
                </a:extLst>
              </a:tr>
            </a:tbl>
          </a:graphicData>
        </a:graphic>
      </p:graphicFrame>
      <p:sp>
        <p:nvSpPr>
          <p:cNvPr id="100" name="文本框 99">
            <a:extLst>
              <a:ext uri="{FF2B5EF4-FFF2-40B4-BE49-F238E27FC236}">
                <a16:creationId xmlns:a16="http://schemas.microsoft.com/office/drawing/2014/main" id="{BDBA5D32-ED70-5EF4-7A52-9449ACDBC0B8}"/>
              </a:ext>
            </a:extLst>
          </p:cNvPr>
          <p:cNvSpPr txBox="1"/>
          <p:nvPr/>
        </p:nvSpPr>
        <p:spPr>
          <a:xfrm>
            <a:off x="3415230" y="1888164"/>
            <a:ext cx="855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尝新尝热</a:t>
            </a:r>
            <a:endParaRPr lang="zh-CN" altLang="en-US" sz="120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4E7EC94-F6DE-AB41-E14E-233B9DDE4FFB}"/>
              </a:ext>
            </a:extLst>
          </p:cNvPr>
          <p:cNvSpPr txBox="1"/>
          <p:nvPr/>
        </p:nvSpPr>
        <p:spPr>
          <a:xfrm>
            <a:off x="3409720" y="1722355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④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3D2CE200-667C-CFC9-05F2-FA837E50FC27}"/>
              </a:ext>
            </a:extLst>
          </p:cNvPr>
          <p:cNvCxnSpPr>
            <a:cxnSpLocks/>
          </p:cNvCxnSpPr>
          <p:nvPr/>
        </p:nvCxnSpPr>
        <p:spPr>
          <a:xfrm>
            <a:off x="3432237" y="1509194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3EC90C5D-2C7B-2306-2CFB-B04CBAF3B5C6}"/>
              </a:ext>
            </a:extLst>
          </p:cNvPr>
          <p:cNvSpPr/>
          <p:nvPr/>
        </p:nvSpPr>
        <p:spPr>
          <a:xfrm>
            <a:off x="1414678" y="1224453"/>
            <a:ext cx="834599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菜品精搜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D325221A-BEE7-23B2-B058-2B9568E35A50}"/>
              </a:ext>
            </a:extLst>
          </p:cNvPr>
          <p:cNvSpPr/>
          <p:nvPr/>
        </p:nvSpPr>
        <p:spPr>
          <a:xfrm>
            <a:off x="2997384" y="3925168"/>
            <a:ext cx="893370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</a:rPr>
              <a:t>、点餐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EE7A4142-340C-7219-0F03-5699592CD2D6}"/>
              </a:ext>
            </a:extLst>
          </p:cNvPr>
          <p:cNvSpPr/>
          <p:nvPr/>
        </p:nvSpPr>
        <p:spPr>
          <a:xfrm>
            <a:off x="2852838" y="1200463"/>
            <a:ext cx="1328305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菜品泛搜、推荐</a:t>
            </a:r>
          </a:p>
        </p:txBody>
      </p:sp>
    </p:spTree>
    <p:extLst>
      <p:ext uri="{BB962C8B-B14F-4D97-AF65-F5344CB8AC3E}">
        <p14:creationId xmlns:p14="http://schemas.microsoft.com/office/powerpoint/2010/main" val="717399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>
            <a:extLst>
              <a:ext uri="{FF2B5EF4-FFF2-40B4-BE49-F238E27FC236}">
                <a16:creationId xmlns:a16="http://schemas.microsoft.com/office/drawing/2014/main" id="{81FCAE35-A0BD-C971-94C7-1521D5A0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3" y="0"/>
            <a:ext cx="4446117" cy="427313"/>
          </a:xfrm>
        </p:spPr>
        <p:txBody>
          <a:bodyPr>
            <a:normAutofit/>
          </a:bodyPr>
          <a:lstStyle/>
          <a:p>
            <a:r>
              <a:rPr lang="en-US" altLang="zh-CN" sz="1900" dirty="0"/>
              <a:t>4.</a:t>
            </a:r>
            <a:r>
              <a:rPr lang="zh-CN" altLang="en-US" sz="1900" dirty="0"/>
              <a:t>榜单智能运营</a:t>
            </a:r>
            <a:r>
              <a:rPr lang="en-US" altLang="zh-CN" sz="1900" dirty="0"/>
              <a:t>-Agent</a:t>
            </a:r>
            <a:r>
              <a:rPr lang="zh-CN" altLang="en-US" sz="1900" dirty="0"/>
              <a:t>架构全景</a:t>
            </a:r>
            <a:endParaRPr kumimoji="1" lang="zh-CN" altLang="en-US" sz="19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45EDF6-1628-497A-1313-C5519F2F56A6}"/>
              </a:ext>
            </a:extLst>
          </p:cNvPr>
          <p:cNvSpPr txBox="1"/>
          <p:nvPr/>
        </p:nvSpPr>
        <p:spPr>
          <a:xfrm>
            <a:off x="178096" y="586296"/>
            <a:ext cx="2561294" cy="61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0" i="0" dirty="0">
                <a:solidFill>
                  <a:srgbClr val="111925"/>
                </a:solidFill>
                <a:effectLst/>
                <a:latin typeface="__SYMBOL"/>
              </a:rPr>
              <a:t>整体采用</a:t>
            </a:r>
            <a:r>
              <a:rPr lang="en-US" altLang="zh-CN" sz="1200" b="0" i="0" dirty="0">
                <a:solidFill>
                  <a:srgbClr val="111925"/>
                </a:solidFill>
                <a:effectLst/>
                <a:latin typeface="__SYMBOL"/>
              </a:rPr>
              <a:t>Orchestrator-</a:t>
            </a:r>
            <a:r>
              <a:rPr lang="en-US" altLang="zh-CN" sz="1200" b="0" i="0" dirty="0" err="1">
                <a:solidFill>
                  <a:srgbClr val="111925"/>
                </a:solidFill>
                <a:effectLst/>
                <a:latin typeface="__SYMBOL"/>
              </a:rPr>
              <a:t>SubAgent</a:t>
            </a:r>
            <a:r>
              <a:rPr lang="zh-CN" altLang="en-US" sz="1200" b="0" i="0" dirty="0">
                <a:solidFill>
                  <a:srgbClr val="111925"/>
                </a:solidFill>
                <a:effectLst/>
                <a:latin typeface="__SYMBOL"/>
              </a:rPr>
              <a:t>模式，</a:t>
            </a:r>
            <a:r>
              <a:rPr lang="en-US" altLang="zh-CN" sz="1200" b="0" i="0" dirty="0">
                <a:solidFill>
                  <a:srgbClr val="111925"/>
                </a:solidFill>
                <a:effectLst/>
                <a:latin typeface="__SYMBOL"/>
              </a:rPr>
              <a:t>1</a:t>
            </a:r>
            <a:r>
              <a:rPr lang="zh-CN" altLang="en-US" sz="1200" b="0" i="0" dirty="0">
                <a:solidFill>
                  <a:srgbClr val="111925"/>
                </a:solidFill>
                <a:effectLst/>
                <a:latin typeface="__SYMBOL"/>
              </a:rPr>
              <a:t>个主 </a:t>
            </a:r>
            <a:r>
              <a:rPr lang="en-US" altLang="zh-CN" sz="1200" b="0" i="0" dirty="0">
                <a:solidFill>
                  <a:srgbClr val="111925"/>
                </a:solidFill>
                <a:effectLst/>
                <a:latin typeface="__SYMBOL"/>
              </a:rPr>
              <a:t>Agent </a:t>
            </a:r>
            <a:r>
              <a:rPr lang="zh-CN" altLang="en-US" sz="1200" b="0" i="0" dirty="0">
                <a:solidFill>
                  <a:srgbClr val="111925"/>
                </a:solidFill>
                <a:effectLst/>
                <a:latin typeface="__SYMBOL"/>
              </a:rPr>
              <a:t>，</a:t>
            </a:r>
            <a:r>
              <a:rPr lang="en-US" altLang="zh-CN" sz="1200" b="0" i="0" dirty="0">
                <a:solidFill>
                  <a:srgbClr val="111925"/>
                </a:solidFill>
                <a:effectLst/>
                <a:latin typeface="__SYMBOL"/>
              </a:rPr>
              <a:t>4</a:t>
            </a:r>
            <a:r>
              <a:rPr lang="zh-CN" altLang="en-US" sz="1200" b="0" i="0" dirty="0">
                <a:solidFill>
                  <a:srgbClr val="111925"/>
                </a:solidFill>
                <a:effectLst/>
                <a:latin typeface="__SYMBOL"/>
              </a:rPr>
              <a:t>个专业子 </a:t>
            </a:r>
            <a:r>
              <a:rPr lang="en-US" altLang="zh-CN" sz="1200" b="0" i="0" dirty="0">
                <a:solidFill>
                  <a:srgbClr val="111925"/>
                </a:solidFill>
                <a:effectLst/>
                <a:latin typeface="__SYMBOL"/>
              </a:rPr>
              <a:t>Agent</a:t>
            </a:r>
            <a:r>
              <a:rPr lang="zh-CN" altLang="en-US" sz="1200" b="0" i="0" dirty="0">
                <a:solidFill>
                  <a:srgbClr val="111925"/>
                </a:solidFill>
                <a:effectLst/>
                <a:latin typeface="__SYMBOL"/>
              </a:rPr>
              <a:t>。</a:t>
            </a:r>
            <a:endParaRPr lang="zh-CN" altLang="en-US" sz="12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4C14BDA-3E66-1D06-FEB1-56A862F23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390" y="582708"/>
            <a:ext cx="6290310" cy="4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9305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243">
            <a:extLst>
              <a:ext uri="{FF2B5EF4-FFF2-40B4-BE49-F238E27FC236}">
                <a16:creationId xmlns:a16="http://schemas.microsoft.com/office/drawing/2014/main" id="{28080BF6-E143-4002-A65F-17325F32CB29}"/>
              </a:ext>
            </a:extLst>
          </p:cNvPr>
          <p:cNvSpPr/>
          <p:nvPr/>
        </p:nvSpPr>
        <p:spPr>
          <a:xfrm>
            <a:off x="90367" y="74238"/>
            <a:ext cx="4516880" cy="25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1900" dirty="0"/>
              <a:t>4.</a:t>
            </a:r>
            <a:r>
              <a:rPr lang="zh-CN" altLang="en-US" sz="1900" dirty="0">
                <a:latin typeface="+mn-ea"/>
              </a:rPr>
              <a:t>榜单智能运营 </a:t>
            </a:r>
            <a:r>
              <a:rPr lang="en-US" altLang="zh-CN" sz="1900" dirty="0">
                <a:latin typeface="+mn-ea"/>
              </a:rPr>
              <a:t>- 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</a:rPr>
              <a:t>人机协作</a:t>
            </a:r>
            <a:r>
              <a:rPr lang="en-US" sz="1900" b="1" dirty="0" err="1">
                <a:solidFill>
                  <a:srgbClr val="000000"/>
                </a:solidFill>
                <a:latin typeface="+mn-ea"/>
                <a:cs typeface="PingFang SC" pitchFamily="34" charset="-120"/>
              </a:rPr>
              <a:t>关系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PingFang SC" pitchFamily="34" charset="-120"/>
              </a:rPr>
              <a:t>变化</a:t>
            </a:r>
            <a:endParaRPr lang="en-US" sz="1900" dirty="0">
              <a:latin typeface="+mn-ea"/>
            </a:endParaRPr>
          </a:p>
        </p:txBody>
      </p:sp>
      <p:pic>
        <p:nvPicPr>
          <p:cNvPr id="531" name="图片 530">
            <a:extLst>
              <a:ext uri="{FF2B5EF4-FFF2-40B4-BE49-F238E27FC236}">
                <a16:creationId xmlns:a16="http://schemas.microsoft.com/office/drawing/2014/main" id="{49D49FC1-F762-8040-DE3C-A3AD19815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531943"/>
            <a:ext cx="7795260" cy="432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9826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67ADC-676D-DDF8-F76E-B235981B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74344"/>
            <a:ext cx="7664380" cy="427313"/>
          </a:xfrm>
        </p:spPr>
        <p:txBody>
          <a:bodyPr>
            <a:normAutofit/>
          </a:bodyPr>
          <a:lstStyle/>
          <a:p>
            <a:r>
              <a:rPr lang="en-US" altLang="zh-CN" sz="1900" dirty="0"/>
              <a:t>4.</a:t>
            </a:r>
            <a:r>
              <a:rPr lang="zh-CN" altLang="en-US" sz="1900" dirty="0">
                <a:latin typeface="+mn-ea"/>
              </a:rPr>
              <a:t>榜单智能运营</a:t>
            </a:r>
            <a:r>
              <a:rPr kumimoji="1" lang="zh-CN" altLang="en-US" sz="1900" dirty="0"/>
              <a:t>示例</a:t>
            </a:r>
            <a:r>
              <a:rPr lang="zh-CN" altLang="en-US" sz="1900" dirty="0"/>
              <a:t>：</a:t>
            </a:r>
            <a:r>
              <a:rPr lang="en-US" altLang="zh-CN" sz="1900" dirty="0"/>
              <a:t>AI</a:t>
            </a:r>
            <a:r>
              <a:rPr lang="zh-CN" altLang="en-US" sz="1900" dirty="0"/>
              <a:t>主题</a:t>
            </a:r>
            <a:r>
              <a:rPr kumimoji="1" lang="zh-CN" altLang="en-US" sz="1900" dirty="0"/>
              <a:t>榜单生成</a:t>
            </a:r>
            <a:r>
              <a:rPr kumimoji="1" lang="en-US" altLang="zh-CN" sz="1900" dirty="0"/>
              <a:t>Agent</a:t>
            </a:r>
            <a:endParaRPr kumimoji="1" lang="zh-CN" altLang="en-US" sz="1900" dirty="0">
              <a:solidFill>
                <a:srgbClr val="FF0000"/>
              </a:solidFill>
            </a:endParaRPr>
          </a:p>
        </p:txBody>
      </p:sp>
      <p:pic>
        <p:nvPicPr>
          <p:cNvPr id="5" name="榜单生产Agent">
            <a:hlinkClick r:id="" action="ppaction://media"/>
            <a:extLst>
              <a:ext uri="{FF2B5EF4-FFF2-40B4-BE49-F238E27FC236}">
                <a16:creationId xmlns:a16="http://schemas.microsoft.com/office/drawing/2014/main" id="{2BAF4384-E7B6-87F6-0704-1FF6A96EAF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1507" y="501657"/>
            <a:ext cx="7780985" cy="43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689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片 76">
            <a:extLst>
              <a:ext uri="{FF2B5EF4-FFF2-40B4-BE49-F238E27FC236}">
                <a16:creationId xmlns:a16="http://schemas.microsoft.com/office/drawing/2014/main" id="{542AC80F-3E79-EF12-BEF7-29713CAB0E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78"/>
          <a:stretch/>
        </p:blipFill>
        <p:spPr>
          <a:xfrm>
            <a:off x="6620068" y="894747"/>
            <a:ext cx="2486943" cy="501685"/>
          </a:xfrm>
          <a:prstGeom prst="rect">
            <a:avLst/>
          </a:prstGeom>
        </p:spPr>
      </p:pic>
      <p:sp>
        <p:nvSpPr>
          <p:cNvPr id="4" name="米菲PPT15">
            <a:extLst>
              <a:ext uri="{FF2B5EF4-FFF2-40B4-BE49-F238E27FC236}">
                <a16:creationId xmlns:a16="http://schemas.microsoft.com/office/drawing/2014/main" id="{7831419F-FA1F-A954-90AF-7E55C0BB4BA2}"/>
              </a:ext>
            </a:extLst>
          </p:cNvPr>
          <p:cNvSpPr/>
          <p:nvPr/>
        </p:nvSpPr>
        <p:spPr>
          <a:xfrm rot="5400000" flipV="1">
            <a:off x="1543183" y="-734068"/>
            <a:ext cx="288787" cy="287115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5" name="米菲PPT42">
            <a:extLst>
              <a:ext uri="{FF2B5EF4-FFF2-40B4-BE49-F238E27FC236}">
                <a16:creationId xmlns:a16="http://schemas.microsoft.com/office/drawing/2014/main" id="{D0C47D1C-9E64-39C0-4136-955453AD75CC}"/>
              </a:ext>
            </a:extLst>
          </p:cNvPr>
          <p:cNvSpPr/>
          <p:nvPr/>
        </p:nvSpPr>
        <p:spPr>
          <a:xfrm>
            <a:off x="564702" y="636177"/>
            <a:ext cx="2355968" cy="2097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4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权重方案一：重</a:t>
            </a:r>
            <a:r>
              <a:rPr lang="en-US" altLang="zh-CN" sz="1054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GTV</a:t>
            </a:r>
          </a:p>
        </p:txBody>
      </p:sp>
      <p:sp>
        <p:nvSpPr>
          <p:cNvPr id="6" name="米菲PPT15">
            <a:extLst>
              <a:ext uri="{FF2B5EF4-FFF2-40B4-BE49-F238E27FC236}">
                <a16:creationId xmlns:a16="http://schemas.microsoft.com/office/drawing/2014/main" id="{B5283680-5754-3DBE-A2CC-6B8753131A98}"/>
              </a:ext>
            </a:extLst>
          </p:cNvPr>
          <p:cNvSpPr/>
          <p:nvPr/>
        </p:nvSpPr>
        <p:spPr>
          <a:xfrm rot="5400000" flipV="1">
            <a:off x="4499862" y="-731407"/>
            <a:ext cx="288788" cy="286583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" name="米菲PPT42">
            <a:extLst>
              <a:ext uri="{FF2B5EF4-FFF2-40B4-BE49-F238E27FC236}">
                <a16:creationId xmlns:a16="http://schemas.microsoft.com/office/drawing/2014/main" id="{7164F3CE-6176-C1D0-42A0-C376ECE3DA13}"/>
              </a:ext>
            </a:extLst>
          </p:cNvPr>
          <p:cNvSpPr/>
          <p:nvPr/>
        </p:nvSpPr>
        <p:spPr>
          <a:xfrm>
            <a:off x="3433977" y="636178"/>
            <a:ext cx="2355968" cy="2097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4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权重方案二：重发现</a:t>
            </a:r>
            <a:endParaRPr sz="1054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8" name="米菲PPT15">
            <a:extLst>
              <a:ext uri="{FF2B5EF4-FFF2-40B4-BE49-F238E27FC236}">
                <a16:creationId xmlns:a16="http://schemas.microsoft.com/office/drawing/2014/main" id="{64929797-2609-BDD1-7386-E47E13BB8049}"/>
              </a:ext>
            </a:extLst>
          </p:cNvPr>
          <p:cNvSpPr/>
          <p:nvPr/>
        </p:nvSpPr>
        <p:spPr>
          <a:xfrm rot="5400000" flipV="1">
            <a:off x="7466660" y="-731407"/>
            <a:ext cx="288787" cy="286583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9" name="米菲PPT42">
            <a:extLst>
              <a:ext uri="{FF2B5EF4-FFF2-40B4-BE49-F238E27FC236}">
                <a16:creationId xmlns:a16="http://schemas.microsoft.com/office/drawing/2014/main" id="{AEBA8891-5332-D184-A5AB-7EA4F7AC4995}"/>
              </a:ext>
            </a:extLst>
          </p:cNvPr>
          <p:cNvSpPr/>
          <p:nvPr/>
        </p:nvSpPr>
        <p:spPr>
          <a:xfrm>
            <a:off x="6303252" y="636178"/>
            <a:ext cx="2355968" cy="2097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4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权重方案三：折中</a:t>
            </a:r>
            <a:endParaRPr sz="1054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AC92363-196E-4A17-93D7-F64CDD503B7B}"/>
              </a:ext>
            </a:extLst>
          </p:cNvPr>
          <p:cNvSpPr txBox="1"/>
          <p:nvPr/>
        </p:nvSpPr>
        <p:spPr>
          <a:xfrm>
            <a:off x="189301" y="872794"/>
            <a:ext cx="9676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latin typeface="+mn-ea"/>
              </a:rPr>
              <a:t>回头客质量</a:t>
            </a:r>
            <a:endParaRPr kumimoji="1" lang="en-US" altLang="zh-CN" sz="700" dirty="0">
              <a:latin typeface="+mn-ea"/>
            </a:endParaRPr>
          </a:p>
          <a:p>
            <a:r>
              <a:rPr kumimoji="1" lang="zh-CN" altLang="en-US" sz="700" dirty="0">
                <a:latin typeface="+mn-ea"/>
              </a:rPr>
              <a:t>回头客</a:t>
            </a:r>
            <a:r>
              <a:rPr kumimoji="1" lang="en-US" altLang="zh-CN" sz="700" dirty="0">
                <a:latin typeface="+mn-ea"/>
              </a:rPr>
              <a:t>GTV</a:t>
            </a:r>
            <a:endParaRPr kumimoji="1" lang="zh-CN" altLang="en-US" sz="700" dirty="0">
              <a:latin typeface="+mn-ea"/>
            </a:endParaRPr>
          </a:p>
          <a:p>
            <a:r>
              <a:rPr kumimoji="1" lang="zh-CN" altLang="en-US" sz="700" dirty="0">
                <a:latin typeface="+mn-ea"/>
              </a:rPr>
              <a:t>回头客规模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EB59C52-1C58-4BA3-8C64-DAE9DC4EBD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141"/>
          <a:stretch/>
        </p:blipFill>
        <p:spPr>
          <a:xfrm>
            <a:off x="3728226" y="897724"/>
            <a:ext cx="2300181" cy="563338"/>
          </a:xfrm>
          <a:prstGeom prst="rect">
            <a:avLst/>
          </a:prstGeom>
        </p:spPr>
      </p:pic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0067B2D0-B373-498E-A93E-1DE4E0E75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363187"/>
              </p:ext>
            </p:extLst>
          </p:nvPr>
        </p:nvGraphicFramePr>
        <p:xfrm>
          <a:off x="281825" y="4104340"/>
          <a:ext cx="2866177" cy="68453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319242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1546935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</a:tblGrid>
              <a:tr h="96273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kern="1200" dirty="0">
                          <a:solidFill>
                            <a:srgbClr val="0D0D0D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北京上榜</a:t>
                      </a:r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ea"/>
                          <a:ea typeface="+mj-ea"/>
                        </a:rPr>
                        <a:t>典型门店示例</a:t>
                      </a:r>
                    </a:p>
                  </a:txBody>
                  <a:tcPr marL="50800" marR="50800" marT="6350" marB="63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门店特征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chemeClr val="accent4"/>
                          </a:solidFill>
                          <a:effectLst/>
                          <a:latin typeface="+mj-lt"/>
                          <a:ea typeface="+mj-ea"/>
                        </a:rPr>
                        <a:t>★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   铭门盛宴艺术海鲜姿造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人均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500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元海鲜自助，北京认可高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九十九顶毡房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客单价较高优质地方特色门店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CAPARESH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開府莱舍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中高客单品质异国菜店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75936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j-ea"/>
                        </a:rPr>
                        <a:t>烤悠悠旋转自助烤肉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因品类特征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gtv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较高，差异化较弱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80927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巴奴毛肚火锅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品牌门店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gtv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较高，发现属性较差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2086"/>
                  </a:ext>
                </a:extLst>
              </a:tr>
            </a:tbl>
          </a:graphicData>
        </a:graphic>
      </p:graphicFrame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D86535B8-6580-4AF1-BE35-807A72CB3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705875"/>
              </p:ext>
            </p:extLst>
          </p:nvPr>
        </p:nvGraphicFramePr>
        <p:xfrm>
          <a:off x="3235162" y="4105228"/>
          <a:ext cx="2865834" cy="68453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574081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1291753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</a:tblGrid>
              <a:tr h="96273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kern="1200" dirty="0">
                          <a:solidFill>
                            <a:srgbClr val="0D0D0D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北京上榜典型门店示例</a:t>
                      </a:r>
                    </a:p>
                  </a:txBody>
                  <a:tcPr marL="50800" marR="50800" marT="6350" marB="63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门店特征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究脑壳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·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湘潭下饭菜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小店发现，在湖南本地受认可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鲜攸辣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·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重庆小面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·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川菜馆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低客单受认可的好店发掘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无名冒菜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低价自选快餐，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工作餐性质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75936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宋美丽鸡汤饭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主要是中式快餐，工作餐性质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80927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灶福三味</a:t>
                      </a: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砂锅菜</a:t>
                      </a: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烧烤</a:t>
                      </a: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三福面馆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周边居民属性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2086"/>
                  </a:ext>
                </a:extLst>
              </a:tr>
            </a:tbl>
          </a:graphicData>
        </a:graphic>
      </p:graphicFrame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9C90F702-9EF5-44AB-9989-7DD3BD279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36470"/>
              </p:ext>
            </p:extLst>
          </p:nvPr>
        </p:nvGraphicFramePr>
        <p:xfrm>
          <a:off x="6188156" y="4104340"/>
          <a:ext cx="2856619" cy="68453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61669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1294950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</a:tblGrid>
              <a:tr h="96273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kern="1200" dirty="0">
                          <a:solidFill>
                            <a:srgbClr val="0D0D0D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北京上榜典型门店示例</a:t>
                      </a:r>
                    </a:p>
                  </a:txBody>
                  <a:tcPr marL="50800" marR="50800" marT="6350" marB="635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</a:rPr>
                        <a:t>门店特征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铭门盛宴艺术海鲜姿造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保留高客单优质大店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九十九顶毡房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保留品质特色大店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CAPARESH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開府莱舍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保留异国菜受认可大店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75936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究脑壳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·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湘潭下饭菜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保留小众连锁发掘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80927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kern="1200" dirty="0">
                          <a:solidFill>
                            <a:schemeClr val="accent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</a:t>
                      </a:r>
                      <a:r>
                        <a:rPr lang="zh-CN" alt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鲜攸辣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·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重庆小面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·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川菜馆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保留小店发掘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2086"/>
                  </a:ext>
                </a:extLst>
              </a:tr>
            </a:tbl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C25D1237-6B27-47B7-BBC4-6EA022929F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373"/>
          <a:stretch/>
        </p:blipFill>
        <p:spPr>
          <a:xfrm>
            <a:off x="729696" y="908072"/>
            <a:ext cx="2300181" cy="551538"/>
          </a:xfrm>
          <a:prstGeom prst="rect">
            <a:avLst/>
          </a:prstGeom>
        </p:spPr>
      </p:pic>
      <p:graphicFrame>
        <p:nvGraphicFramePr>
          <p:cNvPr id="81" name="表格 80">
            <a:extLst>
              <a:ext uri="{FF2B5EF4-FFF2-40B4-BE49-F238E27FC236}">
                <a16:creationId xmlns:a16="http://schemas.microsoft.com/office/drawing/2014/main" id="{D84494F7-E3B5-4272-A059-F023D0560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352959"/>
              </p:ext>
            </p:extLst>
          </p:nvPr>
        </p:nvGraphicFramePr>
        <p:xfrm>
          <a:off x="3244377" y="1458073"/>
          <a:ext cx="2856619" cy="3454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059431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797188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</a:tblGrid>
              <a:tr h="96273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</a:rPr>
                        <a:t>上榜门店总体情况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/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</a:rPr>
                        <a:t>数据值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/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上榜门店日均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GTV(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1,503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上榜门店日均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UV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</a:tbl>
          </a:graphicData>
        </a:graphic>
      </p:graphicFrame>
      <p:graphicFrame>
        <p:nvGraphicFramePr>
          <p:cNvPr id="82" name="表格 81">
            <a:extLst>
              <a:ext uri="{FF2B5EF4-FFF2-40B4-BE49-F238E27FC236}">
                <a16:creationId xmlns:a16="http://schemas.microsoft.com/office/drawing/2014/main" id="{34A02B61-56D5-4116-ACA6-7A454DF74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28260"/>
              </p:ext>
            </p:extLst>
          </p:nvPr>
        </p:nvGraphicFramePr>
        <p:xfrm>
          <a:off x="252001" y="1459776"/>
          <a:ext cx="2866176" cy="3454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991214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874962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</a:tblGrid>
              <a:tr h="96273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</a:rPr>
                        <a:t>上榜门店总体情况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/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</a:rPr>
                        <a:t>数据值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/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1123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上榜门店日均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GTV(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1,825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上榜门店日均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UV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116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</a:tbl>
          </a:graphicData>
        </a:graphic>
      </p:graphicFrame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5F6DD3D6-C963-428A-B2CE-A0DF0283C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799522"/>
              </p:ext>
            </p:extLst>
          </p:nvPr>
        </p:nvGraphicFramePr>
        <p:xfrm>
          <a:off x="6211175" y="1458073"/>
          <a:ext cx="2856619" cy="3454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059431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797188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</a:tblGrid>
              <a:tr h="96273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</a:rPr>
                        <a:t>上榜门店总体情况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/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</a:rPr>
                        <a:t>数据值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/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上榜门店日均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GTV(</a:t>
                      </a:r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1,641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9115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上榜门店日均</a:t>
                      </a:r>
                      <a:r>
                        <a:rPr lang="en-US" altLang="zh-CN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UV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E5813376-4681-4862-BBD3-54DB44758B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583"/>
          <a:stretch/>
        </p:blipFill>
        <p:spPr>
          <a:xfrm>
            <a:off x="646623" y="3020429"/>
            <a:ext cx="2034088" cy="97999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243896E-7F9A-4744-8A6C-DE6E305740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521"/>
          <a:stretch/>
        </p:blipFill>
        <p:spPr>
          <a:xfrm>
            <a:off x="3622213" y="2973947"/>
            <a:ext cx="2175535" cy="10660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D67F233-6D40-42EF-A2CB-32515990448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5788"/>
          <a:stretch/>
        </p:blipFill>
        <p:spPr>
          <a:xfrm>
            <a:off x="6628014" y="3001465"/>
            <a:ext cx="2255039" cy="106604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190CFB57-CA45-493B-8ACB-F45B6B213F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124" y="1837283"/>
            <a:ext cx="2866175" cy="114492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1B8502F-EABE-41D3-B83C-5821D0A1B1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4377" y="1879791"/>
            <a:ext cx="2931208" cy="113527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F0DC4958-32D8-4097-A0C4-01B0F2CBE0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5585" y="1866302"/>
            <a:ext cx="2818305" cy="109075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58A1FFF-14CE-8550-98EE-07E28DC49847}"/>
              </a:ext>
            </a:extLst>
          </p:cNvPr>
          <p:cNvSpPr txBox="1"/>
          <p:nvPr/>
        </p:nvSpPr>
        <p:spPr>
          <a:xfrm>
            <a:off x="3171812" y="873196"/>
            <a:ext cx="9676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latin typeface="+mn-ea"/>
              </a:rPr>
              <a:t>回头客质量</a:t>
            </a:r>
            <a:endParaRPr kumimoji="1" lang="en-US" altLang="zh-CN" sz="700" dirty="0">
              <a:latin typeface="+mn-ea"/>
            </a:endParaRPr>
          </a:p>
          <a:p>
            <a:r>
              <a:rPr kumimoji="1" lang="zh-CN" altLang="en-US" sz="700" dirty="0">
                <a:latin typeface="+mn-ea"/>
              </a:rPr>
              <a:t>回头客</a:t>
            </a:r>
            <a:r>
              <a:rPr kumimoji="1" lang="en-US" altLang="zh-CN" sz="700" dirty="0">
                <a:latin typeface="+mn-ea"/>
              </a:rPr>
              <a:t>GTV</a:t>
            </a:r>
            <a:endParaRPr kumimoji="1" lang="zh-CN" altLang="en-US" sz="700" dirty="0">
              <a:latin typeface="+mn-ea"/>
            </a:endParaRPr>
          </a:p>
          <a:p>
            <a:r>
              <a:rPr kumimoji="1" lang="zh-CN" altLang="en-US" sz="700" dirty="0">
                <a:latin typeface="+mn-ea"/>
              </a:rPr>
              <a:t>回头客规模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0E2B17F-2B44-D6EF-99BE-80446D3D23F2}"/>
              </a:ext>
            </a:extLst>
          </p:cNvPr>
          <p:cNvSpPr txBox="1"/>
          <p:nvPr/>
        </p:nvSpPr>
        <p:spPr>
          <a:xfrm>
            <a:off x="6100996" y="862542"/>
            <a:ext cx="9676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latin typeface="+mn-ea"/>
              </a:rPr>
              <a:t>回头客质量</a:t>
            </a:r>
            <a:endParaRPr kumimoji="1" lang="en-US" altLang="zh-CN" sz="700" dirty="0">
              <a:latin typeface="+mn-ea"/>
            </a:endParaRPr>
          </a:p>
          <a:p>
            <a:r>
              <a:rPr kumimoji="1" lang="zh-CN" altLang="en-US" sz="700" dirty="0">
                <a:latin typeface="+mn-ea"/>
              </a:rPr>
              <a:t>回头客</a:t>
            </a:r>
            <a:r>
              <a:rPr kumimoji="1" lang="en-US" altLang="zh-CN" sz="700" dirty="0">
                <a:latin typeface="+mn-ea"/>
              </a:rPr>
              <a:t>GTV</a:t>
            </a:r>
            <a:endParaRPr kumimoji="1" lang="zh-CN" altLang="en-US" sz="700" dirty="0">
              <a:latin typeface="+mn-ea"/>
            </a:endParaRPr>
          </a:p>
          <a:p>
            <a:r>
              <a:rPr kumimoji="1" lang="zh-CN" altLang="en-US" sz="700" dirty="0">
                <a:latin typeface="+mn-ea"/>
              </a:rPr>
              <a:t>回头客规模</a:t>
            </a:r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B306C9FA-BDA9-5F93-36A6-66B31A90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74344"/>
            <a:ext cx="7664380" cy="427313"/>
          </a:xfrm>
        </p:spPr>
        <p:txBody>
          <a:bodyPr>
            <a:normAutofit/>
          </a:bodyPr>
          <a:lstStyle/>
          <a:p>
            <a:r>
              <a:rPr lang="en-US" altLang="zh-CN" sz="1900" dirty="0"/>
              <a:t>4.</a:t>
            </a:r>
            <a:r>
              <a:rPr lang="zh-CN" altLang="en-US" sz="1900" dirty="0">
                <a:latin typeface="+mn-ea"/>
              </a:rPr>
              <a:t>榜单智能运营</a:t>
            </a:r>
            <a:r>
              <a:rPr kumimoji="1" lang="zh-CN" altLang="en-US" sz="1900" dirty="0">
                <a:latin typeface="+mn-ea"/>
                <a:ea typeface="+mn-ea"/>
              </a:rPr>
              <a:t>示例</a:t>
            </a:r>
            <a:r>
              <a:rPr lang="zh-CN" altLang="en-US" sz="1900" dirty="0">
                <a:latin typeface="+mn-ea"/>
                <a:ea typeface="+mn-ea"/>
              </a:rPr>
              <a:t>：</a:t>
            </a:r>
            <a:r>
              <a:rPr lang="en-US" altLang="zh-CN" sz="1900" dirty="0">
                <a:latin typeface="+mn-ea"/>
                <a:ea typeface="+mn-ea"/>
              </a:rPr>
              <a:t>AI</a:t>
            </a:r>
            <a:r>
              <a:rPr lang="zh-CN" altLang="en-US" sz="1900" dirty="0">
                <a:latin typeface="+mn-ea"/>
                <a:ea typeface="+mn-ea"/>
              </a:rPr>
              <a:t>指数</a:t>
            </a:r>
            <a:r>
              <a:rPr kumimoji="1" lang="zh-CN" altLang="en-US" sz="1900" dirty="0">
                <a:latin typeface="+mn-ea"/>
                <a:ea typeface="+mn-ea"/>
              </a:rPr>
              <a:t>榜单生成</a:t>
            </a:r>
            <a:r>
              <a:rPr kumimoji="1" lang="en-US" altLang="zh-CN" sz="1900" dirty="0">
                <a:latin typeface="+mn-ea"/>
                <a:ea typeface="+mn-ea"/>
              </a:rPr>
              <a:t>Skill</a:t>
            </a:r>
            <a:endParaRPr kumimoji="1" lang="zh-CN" altLang="en-US" sz="1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8" name="Text 91">
            <a:extLst>
              <a:ext uri="{FF2B5EF4-FFF2-40B4-BE49-F238E27FC236}">
                <a16:creationId xmlns:a16="http://schemas.microsoft.com/office/drawing/2014/main" id="{0675496F-8136-D59A-AE39-F8F792376CDB}"/>
              </a:ext>
            </a:extLst>
          </p:cNvPr>
          <p:cNvSpPr/>
          <p:nvPr/>
        </p:nvSpPr>
        <p:spPr>
          <a:xfrm>
            <a:off x="-20172" y="822554"/>
            <a:ext cx="318923" cy="48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指数调节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9" name="Text 91">
            <a:extLst>
              <a:ext uri="{FF2B5EF4-FFF2-40B4-BE49-F238E27FC236}">
                <a16:creationId xmlns:a16="http://schemas.microsoft.com/office/drawing/2014/main" id="{21BEEB65-E6FE-AA06-0578-1A5A729A1AA0}"/>
              </a:ext>
            </a:extLst>
          </p:cNvPr>
          <p:cNvSpPr/>
          <p:nvPr/>
        </p:nvSpPr>
        <p:spPr>
          <a:xfrm>
            <a:off x="-2320" y="2713303"/>
            <a:ext cx="318923" cy="48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数据分析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DE783321-6299-C1E2-BB91-BD296AB6849F}"/>
              </a:ext>
            </a:extLst>
          </p:cNvPr>
          <p:cNvCxnSpPr/>
          <p:nvPr/>
        </p:nvCxnSpPr>
        <p:spPr>
          <a:xfrm>
            <a:off x="94211" y="1396432"/>
            <a:ext cx="901128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EF4B0A8C-B762-D265-DF56-2933CFC552C6}"/>
              </a:ext>
            </a:extLst>
          </p:cNvPr>
          <p:cNvCxnSpPr/>
          <p:nvPr/>
        </p:nvCxnSpPr>
        <p:spPr>
          <a:xfrm>
            <a:off x="94211" y="4039995"/>
            <a:ext cx="901128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 91">
            <a:extLst>
              <a:ext uri="{FF2B5EF4-FFF2-40B4-BE49-F238E27FC236}">
                <a16:creationId xmlns:a16="http://schemas.microsoft.com/office/drawing/2014/main" id="{271C75A1-DE5E-8557-28FF-429FA8DEADE0}"/>
              </a:ext>
            </a:extLst>
          </p:cNvPr>
          <p:cNvSpPr/>
          <p:nvPr/>
        </p:nvSpPr>
        <p:spPr>
          <a:xfrm>
            <a:off x="-9647" y="4301370"/>
            <a:ext cx="318923" cy="48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案例抽取</a:t>
            </a:r>
            <a:endParaRPr lang="en-US" altLang="zh-CN" sz="7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marL="0" indent="0" algn="ctr">
              <a:buNone/>
            </a:pPr>
            <a:r>
              <a:rPr lang="en-US" altLang="zh-CN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</a:t>
            </a:r>
          </a:p>
          <a:p>
            <a:pPr marL="0" indent="0" algn="ctr">
              <a:buNone/>
            </a:pPr>
            <a:r>
              <a:rPr lang="zh-CN" altLang="en-US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价值判断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F2F425D-A147-6657-C234-D6BEADE03476}"/>
              </a:ext>
            </a:extLst>
          </p:cNvPr>
          <p:cNvSpPr txBox="1"/>
          <p:nvPr/>
        </p:nvSpPr>
        <p:spPr>
          <a:xfrm>
            <a:off x="1134781" y="4802479"/>
            <a:ext cx="1100615" cy="23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发现属性差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7B2153CA-4171-4BF9-5159-76910808EC4F}"/>
              </a:ext>
            </a:extLst>
          </p:cNvPr>
          <p:cNvSpPr txBox="1"/>
          <p:nvPr/>
        </p:nvSpPr>
        <p:spPr>
          <a:xfrm>
            <a:off x="3985574" y="4788870"/>
            <a:ext cx="1812174" cy="23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部分过于个性化、参考意义小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7FD26BD-09A4-3F42-B828-0B5ADC6D1EDA}"/>
              </a:ext>
            </a:extLst>
          </p:cNvPr>
          <p:cNvSpPr txBox="1"/>
          <p:nvPr/>
        </p:nvSpPr>
        <p:spPr>
          <a:xfrm>
            <a:off x="6957452" y="4802479"/>
            <a:ext cx="1812174" cy="23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兼顾折中，选定方案</a:t>
            </a:r>
          </a:p>
        </p:txBody>
      </p:sp>
    </p:spTree>
    <p:extLst>
      <p:ext uri="{BB962C8B-B14F-4D97-AF65-F5344CB8AC3E}">
        <p14:creationId xmlns:p14="http://schemas.microsoft.com/office/powerpoint/2010/main" val="218197373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8E3A-CD26-F660-55E0-ED1A65E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米菲PPT3">
            <a:extLst>
              <a:ext uri="{FF2B5EF4-FFF2-40B4-BE49-F238E27FC236}">
                <a16:creationId xmlns:a16="http://schemas.microsoft.com/office/drawing/2014/main" id="{0E5917AE-B724-2E28-2958-236276368AFC}"/>
              </a:ext>
            </a:extLst>
          </p:cNvPr>
          <p:cNvSpPr/>
          <p:nvPr/>
        </p:nvSpPr>
        <p:spPr>
          <a:xfrm>
            <a:off x="0" y="-44556"/>
            <a:ext cx="9144000" cy="945201"/>
          </a:xfrm>
          <a:prstGeom prst="roundRect">
            <a:avLst>
              <a:gd name="adj" fmla="val 7474"/>
            </a:avLst>
          </a:prstGeom>
          <a:solidFill>
            <a:srgbClr val="FFD1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" name="米菲PPT4">
            <a:extLst>
              <a:ext uri="{FF2B5EF4-FFF2-40B4-BE49-F238E27FC236}">
                <a16:creationId xmlns:a16="http://schemas.microsoft.com/office/drawing/2014/main" id="{DEEC2D26-3E1D-68C9-72AB-1060A94C1C7A}"/>
              </a:ext>
            </a:extLst>
          </p:cNvPr>
          <p:cNvSpPr txBox="1"/>
          <p:nvPr/>
        </p:nvSpPr>
        <p:spPr>
          <a:xfrm>
            <a:off x="845119" y="153421"/>
            <a:ext cx="7405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榜单建设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Road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Map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8" name="米菲PPT7">
            <a:extLst>
              <a:ext uri="{FF2B5EF4-FFF2-40B4-BE49-F238E27FC236}">
                <a16:creationId xmlns:a16="http://schemas.microsoft.com/office/drawing/2014/main" id="{F124440A-E4A6-683F-27F8-DDD035EB853B}"/>
              </a:ext>
            </a:extLst>
          </p:cNvPr>
          <p:cNvSpPr txBox="1"/>
          <p:nvPr/>
        </p:nvSpPr>
        <p:spPr>
          <a:xfrm>
            <a:off x="2912310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6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9" name="米菲PPT8">
            <a:extLst>
              <a:ext uri="{FF2B5EF4-FFF2-40B4-BE49-F238E27FC236}">
                <a16:creationId xmlns:a16="http://schemas.microsoft.com/office/drawing/2014/main" id="{6F4CDFB7-9FA4-30DE-3DA9-8848A8636391}"/>
              </a:ext>
            </a:extLst>
          </p:cNvPr>
          <p:cNvSpPr txBox="1"/>
          <p:nvPr/>
        </p:nvSpPr>
        <p:spPr>
          <a:xfrm>
            <a:off x="4100872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7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0" name="米菲PPT9">
            <a:extLst>
              <a:ext uri="{FF2B5EF4-FFF2-40B4-BE49-F238E27FC236}">
                <a16:creationId xmlns:a16="http://schemas.microsoft.com/office/drawing/2014/main" id="{06EA183B-3C5B-5DB3-E9C4-F14826C83AC6}"/>
              </a:ext>
            </a:extLst>
          </p:cNvPr>
          <p:cNvSpPr txBox="1"/>
          <p:nvPr/>
        </p:nvSpPr>
        <p:spPr>
          <a:xfrm>
            <a:off x="5310885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8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1" name="米菲PPT10">
            <a:extLst>
              <a:ext uri="{FF2B5EF4-FFF2-40B4-BE49-F238E27FC236}">
                <a16:creationId xmlns:a16="http://schemas.microsoft.com/office/drawing/2014/main" id="{C71C5AD6-0A7E-DC50-86FF-9E78948FFF1C}"/>
              </a:ext>
            </a:extLst>
          </p:cNvPr>
          <p:cNvSpPr txBox="1"/>
          <p:nvPr/>
        </p:nvSpPr>
        <p:spPr>
          <a:xfrm>
            <a:off x="6568405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9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2" name="米菲PPT11">
            <a:extLst>
              <a:ext uri="{FF2B5EF4-FFF2-40B4-BE49-F238E27FC236}">
                <a16:creationId xmlns:a16="http://schemas.microsoft.com/office/drawing/2014/main" id="{EB27CF75-E6B0-D376-E4BE-82E8D9C0E1D7}"/>
              </a:ext>
            </a:extLst>
          </p:cNvPr>
          <p:cNvSpPr txBox="1"/>
          <p:nvPr/>
        </p:nvSpPr>
        <p:spPr>
          <a:xfrm>
            <a:off x="7405365" y="631836"/>
            <a:ext cx="1037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10-12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cxnSp>
        <p:nvCxnSpPr>
          <p:cNvPr id="13" name="米菲PPT25-1">
            <a:extLst>
              <a:ext uri="{FF2B5EF4-FFF2-40B4-BE49-F238E27FC236}">
                <a16:creationId xmlns:a16="http://schemas.microsoft.com/office/drawing/2014/main" id="{F29E028F-EA92-8A52-9BC9-91E7F4F9115C}"/>
              </a:ext>
            </a:extLst>
          </p:cNvPr>
          <p:cNvCxnSpPr>
            <a:cxnSpLocks/>
          </p:cNvCxnSpPr>
          <p:nvPr/>
        </p:nvCxnSpPr>
        <p:spPr>
          <a:xfrm>
            <a:off x="106625" y="908901"/>
            <a:ext cx="8960632" cy="0"/>
          </a:xfrm>
          <a:prstGeom prst="straightConnector1">
            <a:avLst/>
          </a:prstGeom>
          <a:ln w="47625">
            <a:solidFill>
              <a:srgbClr val="FFC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米菲PPT25-2">
            <a:extLst>
              <a:ext uri="{FF2B5EF4-FFF2-40B4-BE49-F238E27FC236}">
                <a16:creationId xmlns:a16="http://schemas.microsoft.com/office/drawing/2014/main" id="{3ABF131D-DBE2-1E94-BEF6-2D6604AAB0D9}"/>
              </a:ext>
            </a:extLst>
          </p:cNvPr>
          <p:cNvSpPr/>
          <p:nvPr/>
        </p:nvSpPr>
        <p:spPr>
          <a:xfrm>
            <a:off x="101264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6" name="米菲PPT25-3">
            <a:extLst>
              <a:ext uri="{FF2B5EF4-FFF2-40B4-BE49-F238E27FC236}">
                <a16:creationId xmlns:a16="http://schemas.microsoft.com/office/drawing/2014/main" id="{A0725080-822A-A17E-6FDE-DB76CE24B244}"/>
              </a:ext>
            </a:extLst>
          </p:cNvPr>
          <p:cNvSpPr/>
          <p:nvPr/>
        </p:nvSpPr>
        <p:spPr>
          <a:xfrm>
            <a:off x="2050743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8" name="米菲PPT25-4">
            <a:extLst>
              <a:ext uri="{FF2B5EF4-FFF2-40B4-BE49-F238E27FC236}">
                <a16:creationId xmlns:a16="http://schemas.microsoft.com/office/drawing/2014/main" id="{BB4DFDCC-2929-634A-7FB0-9FEA1470C8D6}"/>
              </a:ext>
            </a:extLst>
          </p:cNvPr>
          <p:cNvSpPr/>
          <p:nvPr/>
        </p:nvSpPr>
        <p:spPr>
          <a:xfrm>
            <a:off x="682216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9" name="米菲PPT25-5">
            <a:extLst>
              <a:ext uri="{FF2B5EF4-FFF2-40B4-BE49-F238E27FC236}">
                <a16:creationId xmlns:a16="http://schemas.microsoft.com/office/drawing/2014/main" id="{CC39FAA1-325F-B84F-DA9F-01C7EDBC86E8}"/>
              </a:ext>
            </a:extLst>
          </p:cNvPr>
          <p:cNvSpPr/>
          <p:nvPr/>
        </p:nvSpPr>
        <p:spPr>
          <a:xfrm>
            <a:off x="3170070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0" name="米菲PPT25-6">
            <a:extLst>
              <a:ext uri="{FF2B5EF4-FFF2-40B4-BE49-F238E27FC236}">
                <a16:creationId xmlns:a16="http://schemas.microsoft.com/office/drawing/2014/main" id="{369C7CB7-15FF-9649-7517-7065F533DA00}"/>
              </a:ext>
            </a:extLst>
          </p:cNvPr>
          <p:cNvSpPr/>
          <p:nvPr/>
        </p:nvSpPr>
        <p:spPr>
          <a:xfrm>
            <a:off x="556464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1" name="米菲PPT25-7">
            <a:extLst>
              <a:ext uri="{FF2B5EF4-FFF2-40B4-BE49-F238E27FC236}">
                <a16:creationId xmlns:a16="http://schemas.microsoft.com/office/drawing/2014/main" id="{0CF13679-F1A3-636E-0E71-5B46B4508AFC}"/>
              </a:ext>
            </a:extLst>
          </p:cNvPr>
          <p:cNvSpPr/>
          <p:nvPr/>
        </p:nvSpPr>
        <p:spPr>
          <a:xfrm>
            <a:off x="435463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2" name="米菲PPT26">
            <a:extLst>
              <a:ext uri="{FF2B5EF4-FFF2-40B4-BE49-F238E27FC236}">
                <a16:creationId xmlns:a16="http://schemas.microsoft.com/office/drawing/2014/main" id="{6DC41484-3172-D3CB-5B11-F50035AF4CB4}"/>
              </a:ext>
            </a:extLst>
          </p:cNvPr>
          <p:cNvSpPr txBox="1"/>
          <p:nvPr/>
        </p:nvSpPr>
        <p:spPr>
          <a:xfrm>
            <a:off x="1796979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23" name="米菲PPT28">
            <a:extLst>
              <a:ext uri="{FF2B5EF4-FFF2-40B4-BE49-F238E27FC236}">
                <a16:creationId xmlns:a16="http://schemas.microsoft.com/office/drawing/2014/main" id="{8B67F3EA-98EC-B574-FD7E-D05D2C56053A}"/>
              </a:ext>
            </a:extLst>
          </p:cNvPr>
          <p:cNvSpPr txBox="1"/>
          <p:nvPr/>
        </p:nvSpPr>
        <p:spPr>
          <a:xfrm>
            <a:off x="54606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时间</a:t>
            </a:r>
          </a:p>
        </p:txBody>
      </p:sp>
      <p:sp>
        <p:nvSpPr>
          <p:cNvPr id="24" name="米菲PPT77">
            <a:extLst>
              <a:ext uri="{FF2B5EF4-FFF2-40B4-BE49-F238E27FC236}">
                <a16:creationId xmlns:a16="http://schemas.microsoft.com/office/drawing/2014/main" id="{29CC2EF1-0903-C4BA-0B9F-F1CA951D4A20}"/>
              </a:ext>
            </a:extLst>
          </p:cNvPr>
          <p:cNvSpPr/>
          <p:nvPr/>
        </p:nvSpPr>
        <p:spPr>
          <a:xfrm>
            <a:off x="2491428" y="1500154"/>
            <a:ext cx="1150041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榜单页改版</a:t>
            </a:r>
          </a:p>
        </p:txBody>
      </p:sp>
      <p:sp>
        <p:nvSpPr>
          <p:cNvPr id="27" name="米菲PPT77">
            <a:extLst>
              <a:ext uri="{FF2B5EF4-FFF2-40B4-BE49-F238E27FC236}">
                <a16:creationId xmlns:a16="http://schemas.microsoft.com/office/drawing/2014/main" id="{D49B7C38-D9DC-B77C-5BEF-970443CD389E}"/>
              </a:ext>
            </a:extLst>
          </p:cNvPr>
          <p:cNvSpPr/>
          <p:nvPr/>
        </p:nvSpPr>
        <p:spPr>
          <a:xfrm>
            <a:off x="686259" y="1769061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猜喜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-feed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流榜单标签</a:t>
            </a:r>
          </a:p>
        </p:txBody>
      </p:sp>
      <p:sp>
        <p:nvSpPr>
          <p:cNvPr id="28" name="米菲PPT77">
            <a:extLst>
              <a:ext uri="{FF2B5EF4-FFF2-40B4-BE49-F238E27FC236}">
                <a16:creationId xmlns:a16="http://schemas.microsoft.com/office/drawing/2014/main" id="{059EFBD7-C22E-7E06-E2DE-D5075B663ADE}"/>
              </a:ext>
            </a:extLst>
          </p:cNvPr>
          <p:cNvSpPr/>
          <p:nvPr/>
        </p:nvSpPr>
        <p:spPr>
          <a:xfrm>
            <a:off x="686259" y="2023999"/>
            <a:ext cx="1591047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Push-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异地场景下根据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城市推榜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623598A-E55D-F2FE-E870-DA92F79D1A63}"/>
              </a:ext>
            </a:extLst>
          </p:cNvPr>
          <p:cNvSpPr/>
          <p:nvPr/>
        </p:nvSpPr>
        <p:spPr>
          <a:xfrm>
            <a:off x="106625" y="3071181"/>
            <a:ext cx="511603" cy="723052"/>
          </a:xfrm>
          <a:prstGeom prst="roundRect">
            <a:avLst/>
          </a:prstGeom>
          <a:solidFill>
            <a:srgbClr val="FFD6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主题榜单建设</a:t>
            </a:r>
            <a:endParaRPr kumimoji="1"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CD9E96C-CD04-5A90-6B68-8921DC59F536}"/>
              </a:ext>
            </a:extLst>
          </p:cNvPr>
          <p:cNvSpPr/>
          <p:nvPr/>
        </p:nvSpPr>
        <p:spPr>
          <a:xfrm>
            <a:off x="106625" y="2272972"/>
            <a:ext cx="511603" cy="723052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指数榜单建设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48026B6B-5AAE-AD59-CFEB-8FD18BEB823E}"/>
              </a:ext>
            </a:extLst>
          </p:cNvPr>
          <p:cNvSpPr/>
          <p:nvPr/>
        </p:nvSpPr>
        <p:spPr>
          <a:xfrm>
            <a:off x="106625" y="3882710"/>
            <a:ext cx="511603" cy="915614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AI</a:t>
            </a:r>
          </a:p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赋能</a:t>
            </a:r>
          </a:p>
        </p:txBody>
      </p:sp>
      <p:sp>
        <p:nvSpPr>
          <p:cNvPr id="40" name="米菲PPT26">
            <a:extLst>
              <a:ext uri="{FF2B5EF4-FFF2-40B4-BE49-F238E27FC236}">
                <a16:creationId xmlns:a16="http://schemas.microsoft.com/office/drawing/2014/main" id="{A3A60F65-53A6-AF11-319F-A1810FEB6BD3}"/>
              </a:ext>
            </a:extLst>
          </p:cNvPr>
          <p:cNvSpPr txBox="1"/>
          <p:nvPr/>
        </p:nvSpPr>
        <p:spPr>
          <a:xfrm>
            <a:off x="758882" y="635448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41" name="米菲PPT77">
            <a:extLst>
              <a:ext uri="{FF2B5EF4-FFF2-40B4-BE49-F238E27FC236}">
                <a16:creationId xmlns:a16="http://schemas.microsoft.com/office/drawing/2014/main" id="{CA56567A-1711-F100-61B0-9F4322927238}"/>
              </a:ext>
            </a:extLst>
          </p:cNvPr>
          <p:cNvSpPr/>
          <p:nvPr/>
        </p:nvSpPr>
        <p:spPr>
          <a:xfrm>
            <a:off x="686259" y="1231597"/>
            <a:ext cx="288000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-Sug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、快筛、图筛</a:t>
            </a:r>
          </a:p>
        </p:txBody>
      </p:sp>
      <p:sp>
        <p:nvSpPr>
          <p:cNvPr id="42" name="米菲PPT77">
            <a:extLst>
              <a:ext uri="{FF2B5EF4-FFF2-40B4-BE49-F238E27FC236}">
                <a16:creationId xmlns:a16="http://schemas.microsoft.com/office/drawing/2014/main" id="{07C1274F-E08D-F85E-B776-D9D7D83A8A63}"/>
              </a:ext>
            </a:extLst>
          </p:cNvPr>
          <p:cNvSpPr/>
          <p:nvPr/>
        </p:nvSpPr>
        <p:spPr>
          <a:xfrm>
            <a:off x="6480153" y="1496489"/>
            <a:ext cx="2048972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-AI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问小团</a:t>
            </a:r>
          </a:p>
        </p:txBody>
      </p:sp>
      <p:sp>
        <p:nvSpPr>
          <p:cNvPr id="44" name="米菲PPT77">
            <a:extLst>
              <a:ext uri="{FF2B5EF4-FFF2-40B4-BE49-F238E27FC236}">
                <a16:creationId xmlns:a16="http://schemas.microsoft.com/office/drawing/2014/main" id="{AC83957E-3733-4557-94C6-9BF15150450B}"/>
              </a:ext>
            </a:extLst>
          </p:cNvPr>
          <p:cNvSpPr/>
          <p:nvPr/>
        </p:nvSpPr>
        <p:spPr>
          <a:xfrm>
            <a:off x="4033477" y="1494635"/>
            <a:ext cx="1600706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下挂榜单标签</a:t>
            </a:r>
          </a:p>
        </p:txBody>
      </p:sp>
      <p:sp>
        <p:nvSpPr>
          <p:cNvPr id="51" name="米菲PPT25-4">
            <a:extLst>
              <a:ext uri="{FF2B5EF4-FFF2-40B4-BE49-F238E27FC236}">
                <a16:creationId xmlns:a16="http://schemas.microsoft.com/office/drawing/2014/main" id="{9D5B215E-E4B2-0AA0-4CF4-82E8750F1693}"/>
              </a:ext>
            </a:extLst>
          </p:cNvPr>
          <p:cNvSpPr/>
          <p:nvPr/>
        </p:nvSpPr>
        <p:spPr>
          <a:xfrm>
            <a:off x="7825925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07A015D6-1B7F-8324-5284-336D258A0DDF}"/>
              </a:ext>
            </a:extLst>
          </p:cNvPr>
          <p:cNvSpPr/>
          <p:nvPr/>
        </p:nvSpPr>
        <p:spPr>
          <a:xfrm>
            <a:off x="107666" y="1225815"/>
            <a:ext cx="511603" cy="972000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动线建设</a:t>
            </a:r>
          </a:p>
        </p:txBody>
      </p:sp>
      <p:sp>
        <p:nvSpPr>
          <p:cNvPr id="56" name="米菲PPT77">
            <a:extLst>
              <a:ext uri="{FF2B5EF4-FFF2-40B4-BE49-F238E27FC236}">
                <a16:creationId xmlns:a16="http://schemas.microsoft.com/office/drawing/2014/main" id="{9A5ABE43-6CA2-D0C1-C695-BF2F2EC6EAB1}"/>
              </a:ext>
            </a:extLst>
          </p:cNvPr>
          <p:cNvSpPr/>
          <p:nvPr/>
        </p:nvSpPr>
        <p:spPr>
          <a:xfrm>
            <a:off x="686259" y="1497032"/>
            <a:ext cx="1248824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上榜门店提权</a:t>
            </a:r>
          </a:p>
        </p:txBody>
      </p:sp>
      <p:sp>
        <p:nvSpPr>
          <p:cNvPr id="2" name="米菲PPT77">
            <a:extLst>
              <a:ext uri="{FF2B5EF4-FFF2-40B4-BE49-F238E27FC236}">
                <a16:creationId xmlns:a16="http://schemas.microsoft.com/office/drawing/2014/main" id="{BF0F1809-7152-6FA6-FD62-820C96C5BCAF}"/>
              </a:ext>
            </a:extLst>
          </p:cNvPr>
          <p:cNvSpPr/>
          <p:nvPr/>
        </p:nvSpPr>
        <p:spPr>
          <a:xfrm>
            <a:off x="6749827" y="1761041"/>
            <a:ext cx="1921721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目的地页、场景页、地点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tab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" name="米菲PPT77">
            <a:extLst>
              <a:ext uri="{FF2B5EF4-FFF2-40B4-BE49-F238E27FC236}">
                <a16:creationId xmlns:a16="http://schemas.microsoft.com/office/drawing/2014/main" id="{89873AFC-C98E-5D3D-EB71-4AFCD7EFD011}"/>
              </a:ext>
            </a:extLst>
          </p:cNvPr>
          <p:cNvSpPr/>
          <p:nvPr/>
        </p:nvSpPr>
        <p:spPr>
          <a:xfrm>
            <a:off x="2088577" y="2278937"/>
            <a:ext cx="2432513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回头客榜建设</a:t>
            </a:r>
          </a:p>
        </p:txBody>
      </p:sp>
      <p:sp>
        <p:nvSpPr>
          <p:cNvPr id="6" name="米菲PPT77">
            <a:extLst>
              <a:ext uri="{FF2B5EF4-FFF2-40B4-BE49-F238E27FC236}">
                <a16:creationId xmlns:a16="http://schemas.microsoft.com/office/drawing/2014/main" id="{E9249AE0-36D5-FE30-E73A-FDD8F63BAAA1}"/>
              </a:ext>
            </a:extLst>
          </p:cNvPr>
          <p:cNvSpPr/>
          <p:nvPr/>
        </p:nvSpPr>
        <p:spPr>
          <a:xfrm>
            <a:off x="4430695" y="2527910"/>
            <a:ext cx="288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指数榜城市*特色品类扩充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7" name="米菲PPT77">
            <a:extLst>
              <a:ext uri="{FF2B5EF4-FFF2-40B4-BE49-F238E27FC236}">
                <a16:creationId xmlns:a16="http://schemas.microsoft.com/office/drawing/2014/main" id="{3BD58427-8320-1875-FCA8-7895F5F32788}"/>
              </a:ext>
            </a:extLst>
          </p:cNvPr>
          <p:cNvSpPr/>
          <p:nvPr/>
        </p:nvSpPr>
        <p:spPr>
          <a:xfrm>
            <a:off x="5839166" y="2272972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AOI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扩充商场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9" name="米菲PPT77">
            <a:extLst>
              <a:ext uri="{FF2B5EF4-FFF2-40B4-BE49-F238E27FC236}">
                <a16:creationId xmlns:a16="http://schemas.microsoft.com/office/drawing/2014/main" id="{7D12299B-5331-12F5-4596-813FADFABC2D}"/>
              </a:ext>
            </a:extLst>
          </p:cNvPr>
          <p:cNvSpPr/>
          <p:nvPr/>
        </p:nvSpPr>
        <p:spPr>
          <a:xfrm>
            <a:off x="3750347" y="2816029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指数榜引入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GTV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0" name="米菲PPT77">
            <a:extLst>
              <a:ext uri="{FF2B5EF4-FFF2-40B4-BE49-F238E27FC236}">
                <a16:creationId xmlns:a16="http://schemas.microsoft.com/office/drawing/2014/main" id="{F34F7933-75EE-4000-1813-533F41540FAC}"/>
              </a:ext>
            </a:extLst>
          </p:cNvPr>
          <p:cNvSpPr/>
          <p:nvPr/>
        </p:nvSpPr>
        <p:spPr>
          <a:xfrm>
            <a:off x="5489827" y="2816029"/>
            <a:ext cx="252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菜品榜建设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6" name="米菲PPT77">
            <a:extLst>
              <a:ext uri="{FF2B5EF4-FFF2-40B4-BE49-F238E27FC236}">
                <a16:creationId xmlns:a16="http://schemas.microsoft.com/office/drawing/2014/main" id="{35A7B18F-382C-D836-D4EC-19344F741B83}"/>
              </a:ext>
            </a:extLst>
          </p:cNvPr>
          <p:cNvSpPr/>
          <p:nvPr/>
        </p:nvSpPr>
        <p:spPr>
          <a:xfrm>
            <a:off x="983574" y="3110733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5.20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35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8" name="米菲PPT77">
            <a:extLst>
              <a:ext uri="{FF2B5EF4-FFF2-40B4-BE49-F238E27FC236}">
                <a16:creationId xmlns:a16="http://schemas.microsoft.com/office/drawing/2014/main" id="{FF79A3E5-D332-68AA-5D4E-C4A63C6B2CA5}"/>
              </a:ext>
            </a:extLst>
          </p:cNvPr>
          <p:cNvSpPr/>
          <p:nvPr/>
        </p:nvSpPr>
        <p:spPr>
          <a:xfrm>
            <a:off x="5377157" y="3359682"/>
            <a:ext cx="1891765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烟火榜（扩城）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9" name="米菲PPT77">
            <a:extLst>
              <a:ext uri="{FF2B5EF4-FFF2-40B4-BE49-F238E27FC236}">
                <a16:creationId xmlns:a16="http://schemas.microsoft.com/office/drawing/2014/main" id="{A761E21B-B711-91E0-BFBD-0D233E102E1E}"/>
              </a:ext>
            </a:extLst>
          </p:cNvPr>
          <p:cNvSpPr/>
          <p:nvPr/>
        </p:nvSpPr>
        <p:spPr>
          <a:xfrm>
            <a:off x="3668803" y="3353547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亲子榜（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7.10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SAB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9" name="米菲PPT77">
            <a:extLst>
              <a:ext uri="{FF2B5EF4-FFF2-40B4-BE49-F238E27FC236}">
                <a16:creationId xmlns:a16="http://schemas.microsoft.com/office/drawing/2014/main" id="{B0944F60-F492-7AB2-639F-AC979544F7F9}"/>
              </a:ext>
            </a:extLst>
          </p:cNvPr>
          <p:cNvSpPr/>
          <p:nvPr/>
        </p:nvSpPr>
        <p:spPr>
          <a:xfrm>
            <a:off x="983574" y="3602142"/>
            <a:ext cx="3371062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旅游榜扩城扩菜（当地人推荐、特色菜）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0" name="米菲PPT77">
            <a:extLst>
              <a:ext uri="{FF2B5EF4-FFF2-40B4-BE49-F238E27FC236}">
                <a16:creationId xmlns:a16="http://schemas.microsoft.com/office/drawing/2014/main" id="{2DDB55D7-EC9D-B54A-58A9-C31FBAE9FCA6}"/>
              </a:ext>
            </a:extLst>
          </p:cNvPr>
          <p:cNvSpPr/>
          <p:nvPr/>
        </p:nvSpPr>
        <p:spPr>
          <a:xfrm>
            <a:off x="4243885" y="3110733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8.7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扩城）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9" name="米菲PPT77">
            <a:extLst>
              <a:ext uri="{FF2B5EF4-FFF2-40B4-BE49-F238E27FC236}">
                <a16:creationId xmlns:a16="http://schemas.microsoft.com/office/drawing/2014/main" id="{B14BF0D9-A578-3301-93CB-137A4BCE009D}"/>
              </a:ext>
            </a:extLst>
          </p:cNvPr>
          <p:cNvSpPr/>
          <p:nvPr/>
        </p:nvSpPr>
        <p:spPr>
          <a:xfrm>
            <a:off x="1579537" y="3880825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榜单生产及投放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3" name="米菲PPT77">
            <a:extLst>
              <a:ext uri="{FF2B5EF4-FFF2-40B4-BE49-F238E27FC236}">
                <a16:creationId xmlns:a16="http://schemas.microsoft.com/office/drawing/2014/main" id="{C63BE82F-6E80-4FB6-329D-2DD5A5EC1461}"/>
              </a:ext>
            </a:extLst>
          </p:cNvPr>
          <p:cNvSpPr/>
          <p:nvPr/>
        </p:nvSpPr>
        <p:spPr>
          <a:xfrm>
            <a:off x="5619095" y="3603315"/>
            <a:ext cx="2419586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聚餐、商务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0" name="米菲PPT77">
            <a:extLst>
              <a:ext uri="{FF2B5EF4-FFF2-40B4-BE49-F238E27FC236}">
                <a16:creationId xmlns:a16="http://schemas.microsoft.com/office/drawing/2014/main" id="{204B416A-874F-A751-8C5B-C4B88BA392B8}"/>
              </a:ext>
            </a:extLst>
          </p:cNvPr>
          <p:cNvSpPr/>
          <p:nvPr/>
        </p:nvSpPr>
        <p:spPr>
          <a:xfrm>
            <a:off x="6480153" y="4374923"/>
            <a:ext cx="1878344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需求洞察及分析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5" name="米菲PPT77">
            <a:extLst>
              <a:ext uri="{FF2B5EF4-FFF2-40B4-BE49-F238E27FC236}">
                <a16:creationId xmlns:a16="http://schemas.microsoft.com/office/drawing/2014/main" id="{5589929C-38D3-9E98-1323-6C36CA0AB62B}"/>
              </a:ext>
            </a:extLst>
          </p:cNvPr>
          <p:cNvSpPr/>
          <p:nvPr/>
        </p:nvSpPr>
        <p:spPr>
          <a:xfrm>
            <a:off x="3238901" y="4618324"/>
            <a:ext cx="5791636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主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（持续）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6" name="米菲PPT77">
            <a:extLst>
              <a:ext uri="{FF2B5EF4-FFF2-40B4-BE49-F238E27FC236}">
                <a16:creationId xmlns:a16="http://schemas.microsoft.com/office/drawing/2014/main" id="{02F5D1D5-4A06-246A-B378-73A00B44F1BB}"/>
              </a:ext>
            </a:extLst>
          </p:cNvPr>
          <p:cNvSpPr/>
          <p:nvPr/>
        </p:nvSpPr>
        <p:spPr>
          <a:xfrm>
            <a:off x="3245739" y="3880061"/>
            <a:ext cx="162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候选集数据生产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 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6" name="米菲PPT77">
            <a:extLst>
              <a:ext uri="{FF2B5EF4-FFF2-40B4-BE49-F238E27FC236}">
                <a16:creationId xmlns:a16="http://schemas.microsoft.com/office/drawing/2014/main" id="{36E08686-F21D-E8CE-FE85-BF998DD81E01}"/>
              </a:ext>
            </a:extLst>
          </p:cNvPr>
          <p:cNvSpPr/>
          <p:nvPr/>
        </p:nvSpPr>
        <p:spPr>
          <a:xfrm>
            <a:off x="1678023" y="3348003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烟火榜（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8" name="米菲PPT77">
            <a:extLst>
              <a:ext uri="{FF2B5EF4-FFF2-40B4-BE49-F238E27FC236}">
                <a16:creationId xmlns:a16="http://schemas.microsoft.com/office/drawing/2014/main" id="{998CF404-6008-A21F-621E-6BFCB397A89C}"/>
              </a:ext>
            </a:extLst>
          </p:cNvPr>
          <p:cNvSpPr/>
          <p:nvPr/>
        </p:nvSpPr>
        <p:spPr>
          <a:xfrm>
            <a:off x="4686482" y="4127492"/>
            <a:ext cx="1878344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数据监测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 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5" name="米菲PPT77">
            <a:extLst>
              <a:ext uri="{FF2B5EF4-FFF2-40B4-BE49-F238E27FC236}">
                <a16:creationId xmlns:a16="http://schemas.microsoft.com/office/drawing/2014/main" id="{C9ED504B-832B-9A18-8562-8BDD0B2D7986}"/>
              </a:ext>
            </a:extLst>
          </p:cNvPr>
          <p:cNvSpPr/>
          <p:nvPr/>
        </p:nvSpPr>
        <p:spPr>
          <a:xfrm>
            <a:off x="5936422" y="3103501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非遗榜（试点）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7" name="米菲PPT77">
            <a:extLst>
              <a:ext uri="{FF2B5EF4-FFF2-40B4-BE49-F238E27FC236}">
                <a16:creationId xmlns:a16="http://schemas.microsoft.com/office/drawing/2014/main" id="{38CA4CC1-60DE-4D56-03EB-17D374E0AE6D}"/>
              </a:ext>
            </a:extLst>
          </p:cNvPr>
          <p:cNvSpPr/>
          <p:nvPr/>
        </p:nvSpPr>
        <p:spPr>
          <a:xfrm>
            <a:off x="4482208" y="1754808"/>
            <a:ext cx="1591047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Push-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异地场景下产品化</a:t>
            </a:r>
          </a:p>
        </p:txBody>
      </p:sp>
      <p:sp>
        <p:nvSpPr>
          <p:cNvPr id="62" name="米菲PPT77">
            <a:extLst>
              <a:ext uri="{FF2B5EF4-FFF2-40B4-BE49-F238E27FC236}">
                <a16:creationId xmlns:a16="http://schemas.microsoft.com/office/drawing/2014/main" id="{74F360CC-CE39-C21F-EC90-68CF850A7F40}"/>
              </a:ext>
            </a:extLst>
          </p:cNvPr>
          <p:cNvSpPr/>
          <p:nvPr/>
        </p:nvSpPr>
        <p:spPr>
          <a:xfrm>
            <a:off x="4732027" y="1232546"/>
            <a:ext cx="2432513" cy="1836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sug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品类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/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菜品扩充</a:t>
            </a:r>
          </a:p>
        </p:txBody>
      </p:sp>
    </p:spTree>
    <p:extLst>
      <p:ext uri="{BB962C8B-B14F-4D97-AF65-F5344CB8AC3E}">
        <p14:creationId xmlns:p14="http://schemas.microsoft.com/office/powerpoint/2010/main" val="19425308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168283</TotalTime>
  <Words>19474</Words>
  <Application>Microsoft Office PowerPoint</Application>
  <PresentationFormat>全屏显示(16:9)</PresentationFormat>
  <Paragraphs>2304</Paragraphs>
  <Slides>38</Slides>
  <Notes>35</Notes>
  <HiddenSlides>0</HiddenSlides>
  <MMClips>2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4" baseType="lpstr">
      <vt:lpstr>__SYMBOL</vt:lpstr>
      <vt:lpstr>-apple-system</vt:lpstr>
      <vt:lpstr>Helvetica Neue</vt:lpstr>
      <vt:lpstr>MiSans Bold</vt:lpstr>
      <vt:lpstr>PingFang</vt:lpstr>
      <vt:lpstr>PingFang SC</vt:lpstr>
      <vt:lpstr>等线</vt:lpstr>
      <vt:lpstr>楷体</vt:lpstr>
      <vt:lpstr>苹方</vt:lpstr>
      <vt:lpstr>微软雅黑</vt:lpstr>
      <vt:lpstr>微软雅黑</vt:lpstr>
      <vt:lpstr>Arial</vt:lpstr>
      <vt:lpstr>Calibri</vt:lpstr>
      <vt:lpstr>Wingdings</vt:lpstr>
      <vt:lpstr>Office 主题​​</vt:lpstr>
      <vt:lpstr>think-cell 幻灯片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行业榜单需求覆盖分析</vt:lpstr>
      <vt:lpstr>行业榜单需求覆盖分析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2.榜单动线建设-持续优化心智表达</vt:lpstr>
      <vt:lpstr>PowerPoint 演示文稿</vt:lpstr>
      <vt:lpstr>3.榜单矩阵建设-承接用户地址决策：完善热门AOI覆盖</vt:lpstr>
      <vt:lpstr>PowerPoint 演示文稿</vt:lpstr>
      <vt:lpstr>PowerPoint 演示文稿</vt:lpstr>
      <vt:lpstr>4.榜单智能运营-Agent架构全景</vt:lpstr>
      <vt:lpstr>PowerPoint 演示文稿</vt:lpstr>
      <vt:lpstr>4.榜单智能运营示例：AI主题榜单生成Agent</vt:lpstr>
      <vt:lpstr>4.榜单智能运营示例：AI指数榜单生成Skill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2892</cp:revision>
  <cp:lastPrinted>2026-03-16T07:19:48Z</cp:lastPrinted>
  <dcterms:created xsi:type="dcterms:W3CDTF">2026-01-26T07:38:34Z</dcterms:created>
  <dcterms:modified xsi:type="dcterms:W3CDTF">2026-08-25T01:17:39Z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榜单汇报-双周会 6月-20260612.pptx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a81e92534a5fabc87cd5c945c9f539fb01f4ef34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