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4999077" r:id="rId2"/>
    <p:sldId id="14998990" r:id="rId3"/>
    <p:sldId id="14999048" r:id="rId4"/>
    <p:sldId id="14999065" r:id="rId5"/>
    <p:sldId id="14999007" r:id="rId6"/>
    <p:sldId id="14999081" r:id="rId7"/>
    <p:sldId id="14999082" r:id="rId8"/>
    <p:sldId id="14999083" r:id="rId9"/>
    <p:sldId id="14999066" r:id="rId10"/>
    <p:sldId id="14999034" r:id="rId11"/>
    <p:sldId id="14999084" r:id="rId12"/>
    <p:sldId id="14999067" r:id="rId13"/>
    <p:sldId id="14999085" r:id="rId14"/>
    <p:sldId id="14999086" r:id="rId15"/>
    <p:sldId id="14999038" r:id="rId16"/>
    <p:sldId id="14999087" r:id="rId17"/>
    <p:sldId id="14999088" r:id="rId18"/>
    <p:sldId id="14999089" r:id="rId19"/>
    <p:sldId id="14999069" r:id="rId20"/>
    <p:sldId id="14999036" r:id="rId21"/>
    <p:sldId id="14999070" r:id="rId22"/>
    <p:sldId id="14999076" r:id="rId23"/>
    <p:sldId id="14999060" r:id="rId24"/>
  </p:sldIdLst>
  <p:sldSz cx="9144000" cy="5143500" type="screen16x9"/>
  <p:notesSz cx="6807200" cy="9939338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E6E6"/>
    <a:srgbClr val="FFF9DD"/>
    <a:srgbClr val="DDEBF7"/>
    <a:srgbClr val="70AD47"/>
    <a:srgbClr val="FFED99"/>
    <a:srgbClr val="CCE4FF"/>
    <a:srgbClr val="F2F2F2"/>
    <a:srgbClr val="FFD5D5"/>
    <a:srgbClr val="B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6" autoAdjust="0"/>
    <p:restoredTop sz="94834" autoAdjust="0"/>
  </p:normalViewPr>
  <p:slideViewPr>
    <p:cSldViewPr snapToGrid="0" showGuides="1">
      <p:cViewPr varScale="1">
        <p:scale>
          <a:sx n="88" d="100"/>
          <a:sy n="88" d="100"/>
        </p:scale>
        <p:origin x="660" y="64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23002;&#33402;\Desktop\ppt&#20986;&#2227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r>
              <a:rPr lang="zh-CN" sz="1000" b="1" dirty="0"/>
              <a:t>各榜单上榜门店平均客单价对比</a:t>
            </a:r>
            <a:r>
              <a:rPr lang="zh-CN" altLang="en-US" sz="1000" b="1" dirty="0"/>
              <a:t>（元）</a:t>
            </a:r>
            <a:endParaRPr lang="zh-CN" sz="1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Sheet5!$D$45</c:f>
              <c:strCache>
                <c:ptCount val="1"/>
                <c:pt idx="0">
                  <c:v>上榜门店平均客单价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Sheet5!$C$46:$C$51</c:f>
              <c:strCache>
                <c:ptCount val="6"/>
                <c:pt idx="0">
                  <c:v>心动榜</c:v>
                </c:pt>
                <c:pt idx="1">
                  <c:v>状元榜</c:v>
                </c:pt>
                <c:pt idx="2">
                  <c:v>必吃榜</c:v>
                </c:pt>
                <c:pt idx="3">
                  <c:v>人气榜</c:v>
                </c:pt>
                <c:pt idx="4">
                  <c:v>好评榜</c:v>
                </c:pt>
                <c:pt idx="5">
                  <c:v>黑珍珠</c:v>
                </c:pt>
              </c:strCache>
            </c:strRef>
          </c:cat>
          <c:val>
            <c:numRef>
              <c:f>Sheet5!$D$46:$D$51</c:f>
              <c:numCache>
                <c:formatCode>#,##0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77</c:v>
                </c:pt>
                <c:pt idx="3">
                  <c:v>55</c:v>
                </c:pt>
                <c:pt idx="4">
                  <c:v>60</c:v>
                </c:pt>
                <c:pt idx="5">
                  <c:v>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1-48A5-ABDE-36876F3C5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8555472"/>
        <c:axId val="1858557136"/>
      </c:barChart>
      <c:catAx>
        <c:axId val="1858555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858557136"/>
        <c:crosses val="autoZero"/>
        <c:auto val="1"/>
        <c:lblAlgn val="ctr"/>
        <c:lblOffset val="100"/>
        <c:noMultiLvlLbl val="0"/>
      </c:catAx>
      <c:valAx>
        <c:axId val="1858557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85855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689873b-547e-4b5c-aceb-7adf97cc97e6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楷体" panose="02010609060101010101" pitchFamily="49" charset="-122"/>
          <a:ea typeface="楷体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刷好评、星级很难维持、不确定性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加规模，分子分母</a:t>
            </a:r>
            <a:r>
              <a:rPr kumimoji="1" lang="en-US" altLang="zh-CN" dirty="0"/>
              <a:t>@</a:t>
            </a:r>
            <a:r>
              <a:rPr kumimoji="1" lang="zh-CN" altLang="en-US" dirty="0"/>
              <a:t>雯漪 </a:t>
            </a:r>
            <a:r>
              <a:rPr kumimoji="1" lang="en-US" altLang="zh-CN" dirty="0"/>
              <a:t>P0</a:t>
            </a:r>
            <a:r>
              <a:rPr kumimoji="1" lang="zh-CN" altLang="en-US" dirty="0"/>
              <a:t>全国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@</a:t>
            </a:r>
            <a:r>
              <a:rPr lang="zh-CN" altLang="en-US" dirty="0"/>
              <a:t>雯漪 </a:t>
            </a:r>
            <a:r>
              <a:rPr lang="en-US" altLang="zh-CN" dirty="0"/>
              <a:t>P0    </a:t>
            </a:r>
            <a:r>
              <a:rPr kumimoji="1" lang="zh-CN" altLang="en-US" dirty="0"/>
              <a:t>看门店</a:t>
            </a:r>
            <a:r>
              <a:rPr kumimoji="1" lang="en-US" altLang="zh-CN" dirty="0"/>
              <a:t>6789</a:t>
            </a:r>
            <a:r>
              <a:rPr kumimoji="1" lang="zh-CN" altLang="en-US" dirty="0"/>
              <a:t>月的星级分值波动，把波动大的门店捞出来看一下</a:t>
            </a:r>
            <a:r>
              <a:rPr kumimoji="1" lang="en-US" altLang="zh-CN" dirty="0"/>
              <a:t>P1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@</a:t>
            </a:r>
            <a:r>
              <a:rPr lang="zh-CN" altLang="en-US" dirty="0"/>
              <a:t>雯漪 </a:t>
            </a:r>
            <a:r>
              <a:rPr lang="en-US" altLang="zh-CN" dirty="0"/>
              <a:t>P0</a:t>
            </a:r>
            <a:r>
              <a:rPr lang="zh-CN" altLang="en-US" dirty="0">
                <a:solidFill>
                  <a:srgbClr val="C00000"/>
                </a:solidFill>
              </a:rPr>
              <a:t>增加</a:t>
            </a:r>
            <a:r>
              <a:rPr lang="en-US" altLang="zh-CN" dirty="0">
                <a:solidFill>
                  <a:srgbClr val="C00000"/>
                </a:solidFill>
              </a:rPr>
              <a:t>10</a:t>
            </a:r>
            <a:r>
              <a:rPr lang="zh-CN" altLang="en-US" dirty="0">
                <a:solidFill>
                  <a:srgbClr val="C00000"/>
                </a:solidFill>
              </a:rPr>
              <a:t>条评价以上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增量趋势：榜单使用近</a:t>
            </a:r>
            <a:r>
              <a:rPr lang="en-US" altLang="zh-CN" dirty="0">
                <a:solidFill>
                  <a:srgbClr val="C00000"/>
                </a:solidFill>
              </a:rPr>
              <a:t>7</a:t>
            </a:r>
            <a:r>
              <a:rPr lang="zh-CN" altLang="en-US" dirty="0">
                <a:solidFill>
                  <a:srgbClr val="C00000"/>
                </a:solidFill>
              </a:rPr>
              <a:t>天的评价数量，导致无法上榜
星级 全量、在线、分布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截图 </a:t>
            </a:r>
            <a:r>
              <a:rPr kumimoji="1" lang="en-US" altLang="zh-CN" dirty="0"/>
              <a:t>P0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标记重点</a:t>
            </a:r>
            <a:r>
              <a:rPr lang="en-US" altLang="zh-CN" dirty="0"/>
              <a:t>@</a:t>
            </a:r>
            <a:r>
              <a:rPr lang="zh-CN" altLang="en-US" dirty="0"/>
              <a:t>问题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没合作（原因）</a:t>
            </a:r>
            <a:endParaRPr kumimoji="1" lang="en-US" altLang="zh-CN" dirty="0"/>
          </a:p>
          <a:p>
            <a:r>
              <a:rPr kumimoji="1" lang="zh-CN" altLang="en-US" dirty="0"/>
              <a:t>合作但团购套餐不行</a:t>
            </a:r>
            <a:endParaRPr kumimoji="1" lang="en-US" altLang="zh-CN" dirty="0"/>
          </a:p>
          <a:p>
            <a:r>
              <a:rPr kumimoji="1" lang="zh-CN" altLang="en-US" dirty="0"/>
              <a:t>合作但团购还行但没上榜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点评：评价、榜单共建、榜单运营、规则策略</a:t>
            </a:r>
            <a:r>
              <a:rPr kumimoji="1" lang="en-US" altLang="zh-CN" dirty="0"/>
              <a:t>@</a:t>
            </a:r>
            <a:r>
              <a:rPr kumimoji="1" lang="zh-CN" altLang="en-US" dirty="0"/>
              <a:t>辰辰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2025/10/26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1999" y="987425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5" y="288000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1999" y="298633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0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79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5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5" y="123825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0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6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3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250825" y="123825"/>
            <a:ext cx="57881" cy="8635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4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0" imgH="0" progId="TCLayout.ActiveDocument.1">
                  <p:embed/>
                </p:oleObj>
              </mc:Choice>
              <mc:Fallback>
                <p:oleObj name="think-cell 幻灯片" r:id="rId8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19" y="4739964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11" Type="http://schemas.openxmlformats.org/officeDocument/2006/relationships/image" Target="../media/image34.emf"/><Relationship Id="rId5" Type="http://schemas.openxmlformats.org/officeDocument/2006/relationships/image" Target="../media/image28.png"/><Relationship Id="rId10" Type="http://schemas.openxmlformats.org/officeDocument/2006/relationships/image" Target="../media/image33.emf"/><Relationship Id="rId4" Type="http://schemas.openxmlformats.org/officeDocument/2006/relationships/image" Target="../media/image27.png"/><Relationship Id="rId9" Type="http://schemas.openxmlformats.org/officeDocument/2006/relationships/image" Target="../media/image32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榜单数据资产汇报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600" b="1" dirty="0"/>
              <a:t>目录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02166" y="1070517"/>
            <a:ext cx="5043260" cy="263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榜单资产矩阵现状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榜单问题一览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竞品分析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问题分析及关键举措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资产建设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榜单规则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用户心智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222" y="206232"/>
            <a:ext cx="8584470" cy="547945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榜单资产矩阵现状</a:t>
            </a:r>
            <a:endParaRPr lang="zh-CN" altLang="en-US" dirty="0">
              <a:effectLst/>
              <a:latin typeface="+mn-ea"/>
              <a:ea typeface="+mn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772257" y="4794851"/>
            <a:ext cx="4783993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772257" y="2551995"/>
            <a:ext cx="0" cy="2242856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151207" y="4808713"/>
            <a:ext cx="85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意向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流量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266770" y="4808713"/>
            <a:ext cx="85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服务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382333" y="4808713"/>
            <a:ext cx="85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交易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81159" y="4162611"/>
            <a:ext cx="6216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latin typeface="+mn-ea"/>
              </a:rPr>
              <a:t>周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日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81159" y="3164715"/>
            <a:ext cx="6216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latin typeface="+mn-ea"/>
              </a:rPr>
              <a:t>季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月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85747" y="2674237"/>
            <a:ext cx="621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latin typeface="+mn-ea"/>
              </a:rPr>
              <a:t>年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半年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497897" y="4808713"/>
            <a:ext cx="8544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+mn-ea"/>
              </a:rPr>
              <a:t>评价</a:t>
            </a:r>
          </a:p>
        </p:txBody>
      </p:sp>
      <p:sp>
        <p:nvSpPr>
          <p:cNvPr id="35" name="流程图: 可选过程 34"/>
          <p:cNvSpPr/>
          <p:nvPr/>
        </p:nvSpPr>
        <p:spPr>
          <a:xfrm>
            <a:off x="834869" y="4340067"/>
            <a:ext cx="4660765" cy="173600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</a:t>
            </a:r>
            <a:r>
              <a:rPr lang="zh-CN" altLang="en-US" sz="1000">
                <a:solidFill>
                  <a:schemeClr val="tx1"/>
                </a:solidFill>
                <a:latin typeface="+mn-ea"/>
              </a:rPr>
              <a:t>热门榜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流程图: 可选过程 55"/>
          <p:cNvSpPr/>
          <p:nvPr/>
        </p:nvSpPr>
        <p:spPr>
          <a:xfrm>
            <a:off x="834974" y="4599801"/>
            <a:ext cx="4660767" cy="172800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971626" y="4600929"/>
            <a:ext cx="2395661" cy="172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点评主题榜</a:t>
            </a: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(</a:t>
            </a: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近期，不确定具体累计周期</a:t>
            </a: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26347" y="2305774"/>
            <a:ext cx="992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累积周期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effectLst/>
              <a:latin typeface="+mn-ea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800388" y="3492614"/>
            <a:ext cx="4695353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791024" y="3035075"/>
            <a:ext cx="471332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流程图: 可选过程 68"/>
          <p:cNvSpPr/>
          <p:nvPr/>
        </p:nvSpPr>
        <p:spPr>
          <a:xfrm>
            <a:off x="842503" y="2730363"/>
            <a:ext cx="4656624" cy="172800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406904" y="2317621"/>
            <a:ext cx="992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>
                <a:effectLst/>
                <a:latin typeface="+mn-ea"/>
              </a:rPr>
              <a:t>量化数据</a:t>
            </a:r>
            <a:r>
              <a:rPr lang="zh-CN" altLang="en-US" sz="1000" b="1" dirty="0">
                <a:latin typeface="+mn-ea"/>
              </a:rPr>
              <a:t>资产</a:t>
            </a:r>
            <a:endParaRPr lang="en-US" altLang="zh-CN" sz="1000" b="1" dirty="0">
              <a:effectLst/>
              <a:latin typeface="+mn-ea"/>
            </a:endParaRPr>
          </a:p>
        </p:txBody>
      </p:sp>
      <p:sp>
        <p:nvSpPr>
          <p:cNvPr id="73" name="内容占位符 2"/>
          <p:cNvSpPr txBox="1"/>
          <p:nvPr/>
        </p:nvSpPr>
        <p:spPr>
          <a:xfrm>
            <a:off x="364237" y="810182"/>
            <a:ext cx="8410726" cy="12572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dirty="0">
                <a:latin typeface="+mn-ea"/>
                <a:ea typeface="+mn-ea"/>
              </a:rPr>
              <a:t>榜单是对</a:t>
            </a:r>
            <a:r>
              <a:rPr lang="zh-CN" altLang="en-US" sz="1000" b="1" dirty="0">
                <a:latin typeface="+mn-ea"/>
                <a:ea typeface="+mn-ea"/>
              </a:rPr>
              <a:t>某一同类相关事物</a:t>
            </a:r>
            <a:r>
              <a:rPr lang="zh-CN" altLang="en-US" sz="1000" dirty="0">
                <a:latin typeface="+mn-ea"/>
                <a:ea typeface="+mn-ea"/>
              </a:rPr>
              <a:t>的</a:t>
            </a:r>
            <a:r>
              <a:rPr lang="zh-CN" altLang="en-US" sz="1000" b="1" dirty="0">
                <a:latin typeface="+mn-ea"/>
                <a:ea typeface="+mn-ea"/>
              </a:rPr>
              <a:t>客观实力</a:t>
            </a:r>
            <a:r>
              <a:rPr lang="zh-CN" altLang="en-US" sz="1000" dirty="0">
                <a:latin typeface="+mn-ea"/>
                <a:ea typeface="+mn-ea"/>
              </a:rPr>
              <a:t>的反映，通过预设</a:t>
            </a:r>
            <a:r>
              <a:rPr lang="zh-CN" altLang="en-US" sz="1000" b="1" dirty="0">
                <a:latin typeface="+mn-ea"/>
                <a:ea typeface="+mn-ea"/>
              </a:rPr>
              <a:t>规则</a:t>
            </a:r>
            <a:r>
              <a:rPr lang="zh-CN" altLang="en-US" sz="1000" dirty="0">
                <a:latin typeface="+mn-ea"/>
                <a:ea typeface="+mn-ea"/>
              </a:rPr>
              <a:t>，对不同个体进行</a:t>
            </a:r>
            <a:r>
              <a:rPr lang="zh-CN" altLang="en-US" sz="1000" b="1" dirty="0">
                <a:latin typeface="+mn-ea"/>
                <a:ea typeface="+mn-ea"/>
              </a:rPr>
              <a:t>相互比较</a:t>
            </a:r>
            <a:r>
              <a:rPr lang="zh-CN" altLang="en-US" sz="1000" dirty="0">
                <a:latin typeface="+mn-ea"/>
                <a:ea typeface="+mn-ea"/>
              </a:rPr>
              <a:t>。其中：</a:t>
            </a:r>
            <a:endParaRPr lang="en-US" altLang="zh-CN" sz="1000" dirty="0">
              <a:latin typeface="+mn-ea"/>
              <a:ea typeface="+mn-ea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b="1" dirty="0">
                <a:latin typeface="+mn-ea"/>
              </a:rPr>
              <a:t>量化数据</a:t>
            </a:r>
            <a:r>
              <a:rPr lang="zh-CN" altLang="en-US" sz="1000" dirty="0">
                <a:latin typeface="+mn-ea"/>
              </a:rPr>
              <a:t>用于统计而相互比较；例如意向</a:t>
            </a:r>
            <a:r>
              <a:rPr lang="en-US" altLang="zh-CN" sz="1000" dirty="0">
                <a:latin typeface="+mn-ea"/>
              </a:rPr>
              <a:t>/</a:t>
            </a:r>
            <a:r>
              <a:rPr lang="zh-CN" altLang="en-US" sz="1000" dirty="0">
                <a:latin typeface="+mn-ea"/>
              </a:rPr>
              <a:t>流量、服务、交易、评价量等。用于排序、入围商户，影响用户决策顺序；</a:t>
            </a:r>
            <a:endParaRPr lang="en-US" altLang="zh-CN" sz="1000" b="1" dirty="0">
              <a:latin typeface="+mn-ea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b="1" dirty="0">
                <a:latin typeface="+mn-ea"/>
              </a:rPr>
              <a:t>标签信息</a:t>
            </a:r>
            <a:r>
              <a:rPr lang="zh-CN" altLang="en-US" sz="1000" dirty="0">
                <a:latin typeface="+mn-ea"/>
              </a:rPr>
              <a:t>用于描述事物属类，如区域、品类、场景主题、基本信息、价格等。用于筛选、聚合特定商户供给，满足特定用户需求；</a:t>
            </a:r>
            <a:endParaRPr lang="en-US" altLang="zh-CN" sz="1000" dirty="0">
              <a:latin typeface="+mn-ea"/>
            </a:endParaRPr>
          </a:p>
          <a:p>
            <a:pPr marL="171450"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dirty="0">
                <a:latin typeface="+mn-ea"/>
              </a:rPr>
              <a:t>榜单矩阵，则是通过不同的榜单规则，组合应用量化数据</a:t>
            </a:r>
            <a:r>
              <a:rPr lang="en-US" altLang="zh-CN" sz="1000" dirty="0">
                <a:latin typeface="+mn-ea"/>
              </a:rPr>
              <a:t>x</a:t>
            </a:r>
            <a:r>
              <a:rPr lang="zh-CN" altLang="en-US" sz="1000" dirty="0">
                <a:latin typeface="+mn-ea"/>
              </a:rPr>
              <a:t>标签信息资产；</a:t>
            </a:r>
            <a:endParaRPr lang="en-US" altLang="zh-CN" sz="1000" dirty="0">
              <a:latin typeface="+mn-ea"/>
            </a:endParaRPr>
          </a:p>
          <a:p>
            <a:pPr marL="171450" lvl="1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dirty="0">
                <a:latin typeface="+mn-ea"/>
              </a:rPr>
              <a:t>目前，必吃榜采用多维量化数据资产，累积周期最长，并通过标签信息资产过滤保证高质量供给，心智和公信力最强。美团榜单使用的量化数据资产维度相对单一，累积周期短，标签信息资产使用较泛（区域、品类筛选，基本不过滤），公信力和特色度上均有空间。从资产视角看，榜单规则可沿量化数据资产的维度选用、累积周期计算，以及标签信息资产的筛选过滤上着手固化、强化榜单矩阵</a:t>
            </a:r>
            <a:endParaRPr lang="en-US" altLang="zh-CN" sz="1000" dirty="0">
              <a:latin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676916" y="2317621"/>
            <a:ext cx="992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>
                <a:latin typeface="+mn-ea"/>
              </a:rPr>
              <a:t>标签信息资产</a:t>
            </a:r>
            <a:endParaRPr lang="en-US" altLang="zh-CN" sz="1000" b="1" dirty="0">
              <a:effectLst/>
              <a:latin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206357" y="2317621"/>
            <a:ext cx="992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b="1" dirty="0">
                <a:effectLst/>
                <a:latin typeface="+mn-ea"/>
              </a:rPr>
              <a:t>X</a:t>
            </a:r>
          </a:p>
        </p:txBody>
      </p:sp>
      <p:sp>
        <p:nvSpPr>
          <p:cNvPr id="84" name="流程图: 可选过程 83"/>
          <p:cNvSpPr/>
          <p:nvPr/>
        </p:nvSpPr>
        <p:spPr>
          <a:xfrm>
            <a:off x="8220537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价格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5787718" y="4778951"/>
            <a:ext cx="3057832" cy="1295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V="1">
            <a:off x="5787718" y="2544191"/>
            <a:ext cx="0" cy="225066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流程图: 可选过程 92"/>
          <p:cNvSpPr/>
          <p:nvPr/>
        </p:nvSpPr>
        <p:spPr>
          <a:xfrm>
            <a:off x="7632221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基本信息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流程图: 可选过程 93"/>
          <p:cNvSpPr/>
          <p:nvPr/>
        </p:nvSpPr>
        <p:spPr>
          <a:xfrm>
            <a:off x="6455587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品类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流程图: 可选过程 94"/>
          <p:cNvSpPr/>
          <p:nvPr/>
        </p:nvSpPr>
        <p:spPr>
          <a:xfrm>
            <a:off x="5867270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区域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流程图: 可选过程 95"/>
          <p:cNvSpPr/>
          <p:nvPr/>
        </p:nvSpPr>
        <p:spPr>
          <a:xfrm>
            <a:off x="7043904" y="2727028"/>
            <a:ext cx="562420" cy="17280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场景主题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流程图: 可选过程 98"/>
          <p:cNvSpPr/>
          <p:nvPr/>
        </p:nvSpPr>
        <p:spPr>
          <a:xfrm>
            <a:off x="5865592" y="2966168"/>
            <a:ext cx="1146763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扬州早茶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流程图: 可选过程 100"/>
          <p:cNvSpPr/>
          <p:nvPr/>
        </p:nvSpPr>
        <p:spPr>
          <a:xfrm>
            <a:off x="6455586" y="3196681"/>
            <a:ext cx="1734783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夜宵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流程图: 可选过程 104"/>
          <p:cNvSpPr/>
          <p:nvPr/>
        </p:nvSpPr>
        <p:spPr>
          <a:xfrm>
            <a:off x="5865592" y="3427194"/>
            <a:ext cx="2917364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043904" y="3426999"/>
            <a:ext cx="562420" cy="1728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地方小店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流程图: 可选过程 106"/>
          <p:cNvSpPr/>
          <p:nvPr/>
        </p:nvSpPr>
        <p:spPr>
          <a:xfrm>
            <a:off x="5865592" y="4579758"/>
            <a:ext cx="2895147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…</a:t>
            </a:r>
          </a:p>
        </p:txBody>
      </p:sp>
      <p:sp>
        <p:nvSpPr>
          <p:cNvPr id="111" name="矩形 110"/>
          <p:cNvSpPr/>
          <p:nvPr/>
        </p:nvSpPr>
        <p:spPr>
          <a:xfrm>
            <a:off x="1947685" y="2737737"/>
            <a:ext cx="2395661" cy="16566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必吃榜？（需确定用到流量了么）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流程图: 可选过程 111"/>
          <p:cNvSpPr/>
          <p:nvPr/>
        </p:nvSpPr>
        <p:spPr>
          <a:xfrm>
            <a:off x="2011538" y="2656860"/>
            <a:ext cx="555499" cy="9633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入选城市</a:t>
            </a:r>
            <a:r>
              <a:rPr lang="en-US" altLang="zh-CN" sz="700" dirty="0">
                <a:solidFill>
                  <a:schemeClr val="tx1"/>
                </a:solidFill>
                <a:latin typeface="+mn-ea"/>
              </a:rPr>
              <a:t>144</a:t>
            </a:r>
          </a:p>
        </p:txBody>
      </p:sp>
      <p:sp>
        <p:nvSpPr>
          <p:cNvPr id="115" name="流程图: 可选过程 114"/>
          <p:cNvSpPr/>
          <p:nvPr/>
        </p:nvSpPr>
        <p:spPr>
          <a:xfrm>
            <a:off x="2601268" y="2656860"/>
            <a:ext cx="555499" cy="9633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正餐非标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流程图: 可选过程 115"/>
          <p:cNvSpPr/>
          <p:nvPr/>
        </p:nvSpPr>
        <p:spPr>
          <a:xfrm>
            <a:off x="3190998" y="2656860"/>
            <a:ext cx="555499" cy="9633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长期稳定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流程图: 可选过程 116"/>
          <p:cNvSpPr/>
          <p:nvPr/>
        </p:nvSpPr>
        <p:spPr>
          <a:xfrm>
            <a:off x="3780729" y="2656860"/>
            <a:ext cx="555499" cy="96330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日常消费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流程图: 可选过程 118"/>
          <p:cNvSpPr/>
          <p:nvPr/>
        </p:nvSpPr>
        <p:spPr>
          <a:xfrm>
            <a:off x="2005105" y="4538628"/>
            <a:ext cx="1163349" cy="96356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覆盖城市</a:t>
            </a:r>
            <a:r>
              <a:rPr lang="en-US" altLang="zh-CN" sz="700" dirty="0">
                <a:solidFill>
                  <a:schemeClr val="tx1"/>
                </a:solidFill>
                <a:latin typeface="+mn-ea"/>
              </a:rPr>
              <a:t>759</a:t>
            </a:r>
          </a:p>
        </p:txBody>
      </p:sp>
      <p:sp>
        <p:nvSpPr>
          <p:cNvPr id="121" name="流程图: 可选过程 120"/>
          <p:cNvSpPr/>
          <p:nvPr/>
        </p:nvSpPr>
        <p:spPr>
          <a:xfrm>
            <a:off x="3184565" y="4538628"/>
            <a:ext cx="1165559" cy="96356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特定主题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971522" y="4339396"/>
            <a:ext cx="2393917" cy="165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点评热门榜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线上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24" name="流程图: 可选过程 123"/>
          <p:cNvSpPr/>
          <p:nvPr/>
        </p:nvSpPr>
        <p:spPr>
          <a:xfrm>
            <a:off x="3135675" y="4159214"/>
            <a:ext cx="2360066" cy="16566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点评销量榜</a:t>
            </a:r>
          </a:p>
        </p:txBody>
      </p:sp>
      <p:sp>
        <p:nvSpPr>
          <p:cNvPr id="126" name="流程图: 可选过程 125"/>
          <p:cNvSpPr/>
          <p:nvPr/>
        </p:nvSpPr>
        <p:spPr>
          <a:xfrm>
            <a:off x="4359088" y="3968625"/>
            <a:ext cx="1142125" cy="16566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点评打卡人气榜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7" name="流程图: 可选过程 126"/>
          <p:cNvSpPr/>
          <p:nvPr/>
        </p:nvSpPr>
        <p:spPr>
          <a:xfrm>
            <a:off x="837917" y="3086260"/>
            <a:ext cx="4660765" cy="173600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点评热门榜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974570" y="3085588"/>
            <a:ext cx="2393917" cy="1735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点评热门榜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线下荣誉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29" name="流程图: 可选过程 128"/>
          <p:cNvSpPr/>
          <p:nvPr/>
        </p:nvSpPr>
        <p:spPr>
          <a:xfrm>
            <a:off x="4359088" y="3778109"/>
            <a:ext cx="1142125" cy="165664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美团好评榜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流程图: 可选过程 129"/>
          <p:cNvSpPr/>
          <p:nvPr/>
        </p:nvSpPr>
        <p:spPr>
          <a:xfrm>
            <a:off x="1947403" y="3585099"/>
            <a:ext cx="3556946" cy="165664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美团热订榜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1" name="流程图: 可选过程 130"/>
          <p:cNvSpPr/>
          <p:nvPr/>
        </p:nvSpPr>
        <p:spPr>
          <a:xfrm>
            <a:off x="3135674" y="3960892"/>
            <a:ext cx="1180404" cy="165664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美团人气榜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4" name="流程图: 可选过程 133"/>
          <p:cNvSpPr/>
          <p:nvPr/>
        </p:nvSpPr>
        <p:spPr>
          <a:xfrm>
            <a:off x="4359088" y="3299778"/>
            <a:ext cx="1142125" cy="16566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点评好评榜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28597" y="3585031"/>
            <a:ext cx="1230492" cy="165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美团热订榜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流程图: 可选过程 135"/>
          <p:cNvSpPr/>
          <p:nvPr/>
        </p:nvSpPr>
        <p:spPr>
          <a:xfrm>
            <a:off x="3166769" y="3521916"/>
            <a:ext cx="555499" cy="9060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可在线预订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7" name="流程图: 可选过程 136"/>
          <p:cNvSpPr/>
          <p:nvPr/>
        </p:nvSpPr>
        <p:spPr>
          <a:xfrm>
            <a:off x="3746097" y="3521915"/>
            <a:ext cx="555499" cy="90605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800"/>
              </a:lnSpc>
            </a:pP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聚餐</a:t>
            </a:r>
            <a:r>
              <a:rPr lang="en-US" altLang="zh-CN" sz="7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700" dirty="0">
                <a:solidFill>
                  <a:schemeClr val="tx1"/>
                </a:solidFill>
                <a:latin typeface="+mn-ea"/>
              </a:rPr>
              <a:t>约会</a:t>
            </a:r>
            <a:endParaRPr lang="en-US" altLang="zh-CN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" name="流程图: 可选过程 144"/>
          <p:cNvSpPr/>
          <p:nvPr/>
        </p:nvSpPr>
        <p:spPr>
          <a:xfrm>
            <a:off x="6455587" y="3657707"/>
            <a:ext cx="1730452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年夜饭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流程图: 可选过程 145"/>
          <p:cNvSpPr/>
          <p:nvPr/>
        </p:nvSpPr>
        <p:spPr>
          <a:xfrm>
            <a:off x="7043904" y="3888220"/>
            <a:ext cx="1739049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一人食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8" name="流程图: 可选过程 147"/>
          <p:cNvSpPr/>
          <p:nvPr/>
        </p:nvSpPr>
        <p:spPr>
          <a:xfrm>
            <a:off x="7632221" y="4118733"/>
            <a:ext cx="562418" cy="1728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名人</a:t>
            </a:r>
            <a:r>
              <a:rPr lang="zh-CN" altLang="en-US" sz="1000">
                <a:solidFill>
                  <a:schemeClr val="tx1"/>
                </a:solidFill>
                <a:latin typeface="+mn-ea"/>
              </a:rPr>
              <a:t>探店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" name="流程图: 可选过程 148"/>
          <p:cNvSpPr/>
          <p:nvPr/>
        </p:nvSpPr>
        <p:spPr>
          <a:xfrm>
            <a:off x="5865592" y="4349246"/>
            <a:ext cx="2329050" cy="172800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名人探店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6462128" y="4356354"/>
            <a:ext cx="1098956" cy="15731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>
              <a:lnSpc>
                <a:spcPts val="8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城市首店</a:t>
            </a:r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米菲PPT3"/>
          <p:cNvSpPr/>
          <p:nvPr/>
        </p:nvSpPr>
        <p:spPr>
          <a:xfrm rot="16200000" flipH="1">
            <a:off x="5616658" y="2134626"/>
            <a:ext cx="1701214" cy="626475"/>
          </a:xfrm>
          <a:prstGeom prst="triangle">
            <a:avLst/>
          </a:prstGeom>
          <a:gradFill flip="none" rotWithShape="1">
            <a:gsLst>
              <a:gs pos="1000">
                <a:srgbClr val="FFFFFF"/>
              </a:gs>
              <a:gs pos="50000">
                <a:schemeClr val="accent4">
                  <a:alpha val="63182"/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2" name="米菲PPT3"/>
          <p:cNvSpPr/>
          <p:nvPr/>
        </p:nvSpPr>
        <p:spPr>
          <a:xfrm flipH="1">
            <a:off x="5981818" y="454841"/>
            <a:ext cx="3418479" cy="275224"/>
          </a:xfrm>
          <a:prstGeom prst="parallelogram">
            <a:avLst/>
          </a:prstGeom>
          <a:gradFill flip="none" rotWithShape="1">
            <a:gsLst>
              <a:gs pos="100000">
                <a:srgbClr val="FCA072">
                  <a:alpha val="0"/>
                </a:srgbClr>
              </a:gs>
              <a:gs pos="1000">
                <a:srgbClr val="FCA072">
                  <a:alpha val="26000"/>
                </a:srgbClr>
              </a:gs>
            </a:gsLst>
            <a:lin ang="12000000" scaled="0"/>
            <a:tileRect/>
          </a:gra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6" name="米菲PPT7"/>
          <p:cNvSpPr/>
          <p:nvPr/>
        </p:nvSpPr>
        <p:spPr>
          <a:xfrm flipH="1">
            <a:off x="1213329" y="1062693"/>
            <a:ext cx="1233250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7" name="米菲PPT8"/>
          <p:cNvSpPr/>
          <p:nvPr/>
        </p:nvSpPr>
        <p:spPr>
          <a:xfrm>
            <a:off x="2018226" y="3068507"/>
            <a:ext cx="4639511" cy="884519"/>
          </a:xfrm>
          <a:custGeom>
            <a:avLst/>
            <a:gdLst>
              <a:gd name="connsiteX0" fmla="*/ 309380 w 5947703"/>
              <a:gd name="connsiteY0" fmla="*/ 0 h 1133924"/>
              <a:gd name="connsiteX1" fmla="*/ 5638323 w 5947703"/>
              <a:gd name="connsiteY1" fmla="*/ 0 h 1133924"/>
              <a:gd name="connsiteX2" fmla="*/ 5947703 w 5947703"/>
              <a:gd name="connsiteY2" fmla="*/ 1133924 h 1133924"/>
              <a:gd name="connsiteX3" fmla="*/ 0 w 5947703"/>
              <a:gd name="connsiteY3" fmla="*/ 1133924 h 1133924"/>
              <a:gd name="connsiteX4" fmla="*/ 309380 w 5947703"/>
              <a:gd name="connsiteY4" fmla="*/ 0 h 113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7703" h="1133924">
                <a:moveTo>
                  <a:pt x="309380" y="0"/>
                </a:moveTo>
                <a:lnTo>
                  <a:pt x="5638323" y="0"/>
                </a:lnTo>
                <a:lnTo>
                  <a:pt x="5947703" y="1133924"/>
                </a:lnTo>
                <a:lnTo>
                  <a:pt x="0" y="1133924"/>
                </a:lnTo>
                <a:lnTo>
                  <a:pt x="309380" y="0"/>
                </a:lnTo>
                <a:close/>
              </a:path>
            </a:pathLst>
          </a:cu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87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0" name="米菲PPT11"/>
          <p:cNvSpPr/>
          <p:nvPr/>
        </p:nvSpPr>
        <p:spPr>
          <a:xfrm>
            <a:off x="3283321" y="2385811"/>
            <a:ext cx="1224409" cy="538491"/>
          </a:xfrm>
          <a:custGeom>
            <a:avLst/>
            <a:gdLst>
              <a:gd name="connsiteX0" fmla="*/ 153228 w 1569653"/>
              <a:gd name="connsiteY0" fmla="*/ 0 h 690328"/>
              <a:gd name="connsiteX1" fmla="*/ 1569653 w 1569653"/>
              <a:gd name="connsiteY1" fmla="*/ 0 h 690328"/>
              <a:gd name="connsiteX2" fmla="*/ 1416425 w 1569653"/>
              <a:gd name="connsiteY2" fmla="*/ 690328 h 690328"/>
              <a:gd name="connsiteX3" fmla="*/ 0 w 1569653"/>
              <a:gd name="connsiteY3" fmla="*/ 690328 h 690328"/>
              <a:gd name="connsiteX4" fmla="*/ 153228 w 1569653"/>
              <a:gd name="connsiteY4" fmla="*/ 0 h 69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9653" h="690328">
                <a:moveTo>
                  <a:pt x="153228" y="0"/>
                </a:moveTo>
                <a:lnTo>
                  <a:pt x="1569653" y="0"/>
                </a:lnTo>
                <a:lnTo>
                  <a:pt x="1416425" y="690328"/>
                </a:lnTo>
                <a:lnTo>
                  <a:pt x="0" y="690328"/>
                </a:lnTo>
                <a:lnTo>
                  <a:pt x="153228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1" name="米菲PPT12"/>
          <p:cNvSpPr/>
          <p:nvPr/>
        </p:nvSpPr>
        <p:spPr>
          <a:xfrm>
            <a:off x="4400034" y="2385811"/>
            <a:ext cx="1224788" cy="540199"/>
          </a:xfrm>
          <a:custGeom>
            <a:avLst/>
            <a:gdLst>
              <a:gd name="connsiteX0" fmla="*/ 153714 w 1570139"/>
              <a:gd name="connsiteY0" fmla="*/ 0 h 692518"/>
              <a:gd name="connsiteX1" fmla="*/ 1570139 w 1570139"/>
              <a:gd name="connsiteY1" fmla="*/ 0 h 692518"/>
              <a:gd name="connsiteX2" fmla="*/ 1416425 w 1570139"/>
              <a:gd name="connsiteY2" fmla="*/ 692518 h 692518"/>
              <a:gd name="connsiteX3" fmla="*/ 0 w 1570139"/>
              <a:gd name="connsiteY3" fmla="*/ 692518 h 69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0139" h="692518">
                <a:moveTo>
                  <a:pt x="153714" y="0"/>
                </a:moveTo>
                <a:lnTo>
                  <a:pt x="1570139" y="0"/>
                </a:lnTo>
                <a:lnTo>
                  <a:pt x="1416425" y="692518"/>
                </a:lnTo>
                <a:lnTo>
                  <a:pt x="0" y="692518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2" name="米菲PPT13"/>
          <p:cNvSpPr/>
          <p:nvPr/>
        </p:nvSpPr>
        <p:spPr>
          <a:xfrm>
            <a:off x="5504917" y="2385811"/>
            <a:ext cx="886686" cy="540199"/>
          </a:xfrm>
          <a:custGeom>
            <a:avLst/>
            <a:gdLst>
              <a:gd name="connsiteX0" fmla="*/ 153714 w 1136703"/>
              <a:gd name="connsiteY0" fmla="*/ 0 h 692518"/>
              <a:gd name="connsiteX1" fmla="*/ 947757 w 1136703"/>
              <a:gd name="connsiteY1" fmla="*/ 0 h 692518"/>
              <a:gd name="connsiteX2" fmla="*/ 1136703 w 1136703"/>
              <a:gd name="connsiteY2" fmla="*/ 692518 h 692518"/>
              <a:gd name="connsiteX3" fmla="*/ 0 w 1136703"/>
              <a:gd name="connsiteY3" fmla="*/ 692518 h 692518"/>
              <a:gd name="connsiteX4" fmla="*/ 153714 w 1136703"/>
              <a:gd name="connsiteY4" fmla="*/ 0 h 69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6703" h="692518">
                <a:moveTo>
                  <a:pt x="153714" y="0"/>
                </a:moveTo>
                <a:lnTo>
                  <a:pt x="947757" y="0"/>
                </a:lnTo>
                <a:lnTo>
                  <a:pt x="1136703" y="692518"/>
                </a:lnTo>
                <a:lnTo>
                  <a:pt x="0" y="692518"/>
                </a:lnTo>
                <a:lnTo>
                  <a:pt x="153714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3" name="米菲PPT14"/>
          <p:cNvSpPr/>
          <p:nvPr/>
        </p:nvSpPr>
        <p:spPr>
          <a:xfrm>
            <a:off x="2284362" y="2385811"/>
            <a:ext cx="1130692" cy="537799"/>
          </a:xfrm>
          <a:prstGeom prst="parallelogram">
            <a:avLst>
              <a:gd name="adj" fmla="val 22211"/>
            </a:avLst>
          </a:pr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6" name="米菲PPT19"/>
          <p:cNvSpPr/>
          <p:nvPr/>
        </p:nvSpPr>
        <p:spPr>
          <a:xfrm>
            <a:off x="4276967" y="1754707"/>
            <a:ext cx="1942448" cy="540199"/>
          </a:xfrm>
          <a:custGeom>
            <a:avLst/>
            <a:gdLst>
              <a:gd name="connsiteX0" fmla="*/ 142644 w 2490155"/>
              <a:gd name="connsiteY0" fmla="*/ 0 h 692518"/>
              <a:gd name="connsiteX1" fmla="*/ 2301208 w 2490155"/>
              <a:gd name="connsiteY1" fmla="*/ 0 h 692518"/>
              <a:gd name="connsiteX2" fmla="*/ 2490155 w 2490155"/>
              <a:gd name="connsiteY2" fmla="*/ 692518 h 692518"/>
              <a:gd name="connsiteX3" fmla="*/ 0 w 2490155"/>
              <a:gd name="connsiteY3" fmla="*/ 692518 h 692518"/>
              <a:gd name="connsiteX4" fmla="*/ 142644 w 2490155"/>
              <a:gd name="connsiteY4" fmla="*/ 0 h 69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0155" h="692518">
                <a:moveTo>
                  <a:pt x="142644" y="0"/>
                </a:moveTo>
                <a:lnTo>
                  <a:pt x="2301208" y="0"/>
                </a:lnTo>
                <a:lnTo>
                  <a:pt x="2490155" y="692518"/>
                </a:lnTo>
                <a:lnTo>
                  <a:pt x="0" y="692518"/>
                </a:lnTo>
                <a:lnTo>
                  <a:pt x="142644" y="0"/>
                </a:lnTo>
                <a:close/>
              </a:path>
            </a:pathLst>
          </a:custGeom>
          <a:solidFill>
            <a:srgbClr val="F57359">
              <a:alpha val="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7" name="米菲PPT20"/>
          <p:cNvSpPr/>
          <p:nvPr/>
        </p:nvSpPr>
        <p:spPr>
          <a:xfrm>
            <a:off x="2475338" y="1754707"/>
            <a:ext cx="1931683" cy="540199"/>
          </a:xfrm>
          <a:custGeom>
            <a:avLst/>
            <a:gdLst>
              <a:gd name="connsiteX0" fmla="*/ 188946 w 2476355"/>
              <a:gd name="connsiteY0" fmla="*/ 0 h 692518"/>
              <a:gd name="connsiteX1" fmla="*/ 2476355 w 2476355"/>
              <a:gd name="connsiteY1" fmla="*/ 0 h 692518"/>
              <a:gd name="connsiteX2" fmla="*/ 2333711 w 2476355"/>
              <a:gd name="connsiteY2" fmla="*/ 692518 h 692518"/>
              <a:gd name="connsiteX3" fmla="*/ 0 w 2476355"/>
              <a:gd name="connsiteY3" fmla="*/ 692518 h 692518"/>
              <a:gd name="connsiteX4" fmla="*/ 188946 w 2476355"/>
              <a:gd name="connsiteY4" fmla="*/ 0 h 69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355" h="692518">
                <a:moveTo>
                  <a:pt x="188946" y="0"/>
                </a:moveTo>
                <a:lnTo>
                  <a:pt x="2476355" y="0"/>
                </a:lnTo>
                <a:lnTo>
                  <a:pt x="2333711" y="692518"/>
                </a:lnTo>
                <a:lnTo>
                  <a:pt x="0" y="692518"/>
                </a:lnTo>
                <a:lnTo>
                  <a:pt x="188946" y="0"/>
                </a:lnTo>
                <a:close/>
              </a:path>
            </a:pathLst>
          </a:custGeom>
          <a:solidFill>
            <a:srgbClr val="F57359">
              <a:alpha val="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8" name="米菲PPT21"/>
          <p:cNvSpPr/>
          <p:nvPr/>
        </p:nvSpPr>
        <p:spPr>
          <a:xfrm>
            <a:off x="3458629" y="4046330"/>
            <a:ext cx="1962741" cy="516351"/>
          </a:xfrm>
          <a:custGeom>
            <a:avLst/>
            <a:gdLst>
              <a:gd name="connsiteX0" fmla="*/ 141821 w 2516171"/>
              <a:gd name="connsiteY0" fmla="*/ 0 h 661945"/>
              <a:gd name="connsiteX1" fmla="*/ 2516171 w 2516171"/>
              <a:gd name="connsiteY1" fmla="*/ 0 h 661945"/>
              <a:gd name="connsiteX2" fmla="*/ 2374350 w 2516171"/>
              <a:gd name="connsiteY2" fmla="*/ 661945 h 661945"/>
              <a:gd name="connsiteX3" fmla="*/ 0 w 2516171"/>
              <a:gd name="connsiteY3" fmla="*/ 661945 h 661945"/>
              <a:gd name="connsiteX4" fmla="*/ 141821 w 2516171"/>
              <a:gd name="connsiteY4" fmla="*/ 0 h 661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6171" h="661945">
                <a:moveTo>
                  <a:pt x="141821" y="0"/>
                </a:moveTo>
                <a:lnTo>
                  <a:pt x="2516171" y="0"/>
                </a:lnTo>
                <a:lnTo>
                  <a:pt x="2374350" y="661945"/>
                </a:lnTo>
                <a:lnTo>
                  <a:pt x="0" y="661945"/>
                </a:lnTo>
                <a:lnTo>
                  <a:pt x="141821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9" name="米菲PPT22"/>
          <p:cNvSpPr/>
          <p:nvPr/>
        </p:nvSpPr>
        <p:spPr>
          <a:xfrm>
            <a:off x="1852544" y="4046330"/>
            <a:ext cx="1716713" cy="516351"/>
          </a:xfrm>
          <a:custGeom>
            <a:avLst/>
            <a:gdLst>
              <a:gd name="connsiteX0" fmla="*/ 180605 w 2200770"/>
              <a:gd name="connsiteY0" fmla="*/ 0 h 661945"/>
              <a:gd name="connsiteX1" fmla="*/ 2200770 w 2200770"/>
              <a:gd name="connsiteY1" fmla="*/ 0 h 661945"/>
              <a:gd name="connsiteX2" fmla="*/ 2058949 w 2200770"/>
              <a:gd name="connsiteY2" fmla="*/ 661945 h 661945"/>
              <a:gd name="connsiteX3" fmla="*/ 0 w 2200770"/>
              <a:gd name="connsiteY3" fmla="*/ 661945 h 661945"/>
              <a:gd name="connsiteX4" fmla="*/ 180605 w 2200770"/>
              <a:gd name="connsiteY4" fmla="*/ 0 h 661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0770" h="661945">
                <a:moveTo>
                  <a:pt x="180605" y="0"/>
                </a:moveTo>
                <a:lnTo>
                  <a:pt x="2200770" y="0"/>
                </a:lnTo>
                <a:lnTo>
                  <a:pt x="2058949" y="661945"/>
                </a:lnTo>
                <a:lnTo>
                  <a:pt x="0" y="661945"/>
                </a:lnTo>
                <a:lnTo>
                  <a:pt x="180605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0" name="米菲PPT23"/>
          <p:cNvSpPr/>
          <p:nvPr/>
        </p:nvSpPr>
        <p:spPr>
          <a:xfrm>
            <a:off x="5310743" y="4046330"/>
            <a:ext cx="1512679" cy="516351"/>
          </a:xfrm>
          <a:custGeom>
            <a:avLst/>
            <a:gdLst>
              <a:gd name="connsiteX0" fmla="*/ 141821 w 1939205"/>
              <a:gd name="connsiteY0" fmla="*/ 0 h 661945"/>
              <a:gd name="connsiteX1" fmla="*/ 1758601 w 1939205"/>
              <a:gd name="connsiteY1" fmla="*/ 0 h 661945"/>
              <a:gd name="connsiteX2" fmla="*/ 1939205 w 1939205"/>
              <a:gd name="connsiteY2" fmla="*/ 661942 h 661945"/>
              <a:gd name="connsiteX3" fmla="*/ 1939205 w 1939205"/>
              <a:gd name="connsiteY3" fmla="*/ 661945 h 661945"/>
              <a:gd name="connsiteX4" fmla="*/ 0 w 1939205"/>
              <a:gd name="connsiteY4" fmla="*/ 661945 h 661945"/>
              <a:gd name="connsiteX5" fmla="*/ 141821 w 1939205"/>
              <a:gd name="connsiteY5" fmla="*/ 0 h 661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39205" h="661945">
                <a:moveTo>
                  <a:pt x="141821" y="0"/>
                </a:moveTo>
                <a:lnTo>
                  <a:pt x="1758601" y="0"/>
                </a:lnTo>
                <a:lnTo>
                  <a:pt x="1939205" y="661942"/>
                </a:lnTo>
                <a:lnTo>
                  <a:pt x="1939205" y="661945"/>
                </a:lnTo>
                <a:lnTo>
                  <a:pt x="0" y="661945"/>
                </a:lnTo>
                <a:lnTo>
                  <a:pt x="141821" y="0"/>
                </a:lnTo>
                <a:close/>
              </a:path>
            </a:pathLst>
          </a:custGeom>
          <a:solidFill>
            <a:srgbClr val="FCA072">
              <a:alpha val="15000"/>
            </a:srgbClr>
          </a:solidFill>
          <a:ln w="635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31" name="米菲PPT24"/>
          <p:cNvCxnSpPr/>
          <p:nvPr/>
        </p:nvCxnSpPr>
        <p:spPr>
          <a:xfrm flipH="1">
            <a:off x="5507068" y="2385811"/>
            <a:ext cx="121387" cy="545463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round/>
          </a:ln>
          <a:effectLst/>
        </p:spPr>
      </p:cxnSp>
      <p:cxnSp>
        <p:nvCxnSpPr>
          <p:cNvPr id="132" name="米菲PPT25"/>
          <p:cNvCxnSpPr/>
          <p:nvPr/>
        </p:nvCxnSpPr>
        <p:spPr>
          <a:xfrm flipH="1">
            <a:off x="4266850" y="1754706"/>
            <a:ext cx="121387" cy="545463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35" name="米菲PPT28"/>
          <p:cNvCxnSpPr>
            <a:stCxn id="129" idx="1"/>
          </p:cNvCxnSpPr>
          <p:nvPr/>
        </p:nvCxnSpPr>
        <p:spPr>
          <a:xfrm flipH="1">
            <a:off x="3458629" y="4046330"/>
            <a:ext cx="110628" cy="516351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36" name="米菲PPT29"/>
          <p:cNvCxnSpPr/>
          <p:nvPr/>
        </p:nvCxnSpPr>
        <p:spPr>
          <a:xfrm flipH="1">
            <a:off x="5310743" y="4043931"/>
            <a:ext cx="110628" cy="516351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37" name="米菲PPT30"/>
          <p:cNvCxnSpPr/>
          <p:nvPr/>
        </p:nvCxnSpPr>
        <p:spPr>
          <a:xfrm flipH="1">
            <a:off x="3293667" y="2385811"/>
            <a:ext cx="121387" cy="545463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round/>
          </a:ln>
          <a:effectLst/>
        </p:spPr>
      </p:cxnSp>
      <p:cxnSp>
        <p:nvCxnSpPr>
          <p:cNvPr id="138" name="米菲PPT31"/>
          <p:cNvCxnSpPr/>
          <p:nvPr/>
        </p:nvCxnSpPr>
        <p:spPr>
          <a:xfrm flipH="1">
            <a:off x="4388237" y="2385811"/>
            <a:ext cx="121387" cy="545463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round/>
          </a:ln>
          <a:effectLst/>
        </p:spPr>
      </p:cxnSp>
      <p:sp>
        <p:nvSpPr>
          <p:cNvPr id="139" name="米菲PPT32"/>
          <p:cNvSpPr/>
          <p:nvPr/>
        </p:nvSpPr>
        <p:spPr>
          <a:xfrm>
            <a:off x="34544" y="1051835"/>
            <a:ext cx="891599" cy="471592"/>
          </a:xfrm>
          <a:prstGeom prst="roundRect">
            <a:avLst/>
          </a:prstGeom>
          <a:gradFill>
            <a:gsLst>
              <a:gs pos="0">
                <a:srgbClr val="F57359">
                  <a:lumMod val="84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用户心智问题</a:t>
            </a:r>
          </a:p>
        </p:txBody>
      </p:sp>
      <p:sp>
        <p:nvSpPr>
          <p:cNvPr id="140" name="米菲PPT33"/>
          <p:cNvSpPr/>
          <p:nvPr/>
        </p:nvSpPr>
        <p:spPr>
          <a:xfrm>
            <a:off x="34544" y="2025359"/>
            <a:ext cx="891599" cy="471592"/>
          </a:xfrm>
          <a:prstGeom prst="roundRect">
            <a:avLst/>
          </a:prstGeom>
          <a:gradFill>
            <a:gsLst>
              <a:gs pos="0">
                <a:srgbClr val="F57359">
                  <a:lumMod val="84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榜单规则影响</a:t>
            </a:r>
          </a:p>
        </p:txBody>
      </p:sp>
      <p:sp>
        <p:nvSpPr>
          <p:cNvPr id="141" name="米菲PPT34"/>
          <p:cNvSpPr/>
          <p:nvPr/>
        </p:nvSpPr>
        <p:spPr>
          <a:xfrm>
            <a:off x="34544" y="3545286"/>
            <a:ext cx="891599" cy="471592"/>
          </a:xfrm>
          <a:prstGeom prst="roundRect">
            <a:avLst/>
          </a:prstGeom>
          <a:gradFill>
            <a:gsLst>
              <a:gs pos="0">
                <a:srgbClr val="F57359">
                  <a:lumMod val="84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资产建设问题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43" name="米菲PPT36"/>
          <p:cNvSpPr/>
          <p:nvPr/>
        </p:nvSpPr>
        <p:spPr>
          <a:xfrm>
            <a:off x="997188" y="1743082"/>
            <a:ext cx="145283" cy="1146423"/>
          </a:xfrm>
          <a:prstGeom prst="lef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4" name="米菲PPT37"/>
          <p:cNvSpPr/>
          <p:nvPr/>
        </p:nvSpPr>
        <p:spPr>
          <a:xfrm>
            <a:off x="997188" y="3040018"/>
            <a:ext cx="145283" cy="1520264"/>
          </a:xfrm>
          <a:prstGeom prst="lef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8" name="米菲PPT41"/>
          <p:cNvSpPr/>
          <p:nvPr/>
        </p:nvSpPr>
        <p:spPr>
          <a:xfrm>
            <a:off x="1248060" y="454840"/>
            <a:ext cx="4497796" cy="260663"/>
          </a:xfrm>
          <a:prstGeom prst="trapezoid">
            <a:avLst/>
          </a:prstGeom>
          <a:solidFill>
            <a:srgbClr val="62799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7" name="米菲PPT50"/>
          <p:cNvSpPr txBox="1"/>
          <p:nvPr/>
        </p:nvSpPr>
        <p:spPr>
          <a:xfrm>
            <a:off x="2973648" y="2013465"/>
            <a:ext cx="1094669" cy="24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上榜门店不够“优”</a:t>
            </a:r>
          </a:p>
        </p:txBody>
      </p:sp>
      <p:sp>
        <p:nvSpPr>
          <p:cNvPr id="158" name="米菲PPT51"/>
          <p:cNvSpPr txBox="1"/>
          <p:nvPr/>
        </p:nvSpPr>
        <p:spPr>
          <a:xfrm>
            <a:off x="4711233" y="2013465"/>
            <a:ext cx="1309647" cy="24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“优质”门店无法上榜</a:t>
            </a:r>
          </a:p>
        </p:txBody>
      </p:sp>
      <p:sp>
        <p:nvSpPr>
          <p:cNvPr id="159" name="米菲PPT52"/>
          <p:cNvSpPr txBox="1"/>
          <p:nvPr/>
        </p:nvSpPr>
        <p:spPr>
          <a:xfrm>
            <a:off x="2505881" y="2497854"/>
            <a:ext cx="682977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评选维度单一</a:t>
            </a:r>
          </a:p>
        </p:txBody>
      </p:sp>
      <p:sp>
        <p:nvSpPr>
          <p:cNvPr id="160" name="米菲PPT53"/>
          <p:cNvSpPr txBox="1"/>
          <p:nvPr/>
        </p:nvSpPr>
        <p:spPr>
          <a:xfrm>
            <a:off x="3478979" y="2497854"/>
            <a:ext cx="800414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上榜门槛</a:t>
            </a:r>
            <a:endParaRPr lang="en-US" altLang="zh-CN" sz="900" dirty="0">
              <a:solidFill>
                <a:srgbClr val="62799C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低</a:t>
            </a:r>
          </a:p>
        </p:txBody>
      </p:sp>
      <p:sp>
        <p:nvSpPr>
          <p:cNvPr id="161" name="米菲PPT54"/>
          <p:cNvSpPr txBox="1"/>
          <p:nvPr/>
        </p:nvSpPr>
        <p:spPr>
          <a:xfrm>
            <a:off x="4607731" y="2497854"/>
            <a:ext cx="800414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榜单赛道</a:t>
            </a:r>
            <a:endParaRPr lang="en-US" altLang="zh-CN" sz="900" dirty="0">
              <a:solidFill>
                <a:srgbClr val="62799C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不细分</a:t>
            </a:r>
          </a:p>
        </p:txBody>
      </p:sp>
      <p:sp>
        <p:nvSpPr>
          <p:cNvPr id="162" name="米菲PPT55"/>
          <p:cNvSpPr txBox="1"/>
          <p:nvPr/>
        </p:nvSpPr>
        <p:spPr>
          <a:xfrm>
            <a:off x="5541981" y="2497854"/>
            <a:ext cx="869648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业务</a:t>
            </a:r>
            <a:r>
              <a:rPr lang="en-US" altLang="zh-CN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商户</a:t>
            </a:r>
            <a:r>
              <a:rPr lang="en-US" altLang="zh-CN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榜单规则未对齐</a:t>
            </a:r>
          </a:p>
        </p:txBody>
      </p:sp>
      <p:sp>
        <p:nvSpPr>
          <p:cNvPr id="163" name="米菲PPT56"/>
          <p:cNvSpPr/>
          <p:nvPr/>
        </p:nvSpPr>
        <p:spPr>
          <a:xfrm>
            <a:off x="2349498" y="3285793"/>
            <a:ext cx="302873" cy="487290"/>
          </a:xfrm>
          <a:prstGeom prst="roundRect">
            <a:avLst/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62799C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4" name="米菲PPT57"/>
          <p:cNvSpPr txBox="1"/>
          <p:nvPr/>
        </p:nvSpPr>
        <p:spPr>
          <a:xfrm>
            <a:off x="2304950" y="3383166"/>
            <a:ext cx="391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7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品类缺失</a:t>
            </a:r>
          </a:p>
        </p:txBody>
      </p:sp>
      <p:sp>
        <p:nvSpPr>
          <p:cNvPr id="165" name="米菲PPT58"/>
          <p:cNvSpPr txBox="1"/>
          <p:nvPr/>
        </p:nvSpPr>
        <p:spPr>
          <a:xfrm>
            <a:off x="2648059" y="3210650"/>
            <a:ext cx="1218622" cy="60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品类过多</a:t>
            </a:r>
            <a:r>
              <a:rPr lang="en-US" altLang="zh-CN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过少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品类过粗</a:t>
            </a:r>
            <a:r>
              <a:rPr lang="en-US" altLang="zh-CN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过细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品类模糊（江浙菜）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时令品类不突出</a:t>
            </a:r>
          </a:p>
        </p:txBody>
      </p:sp>
      <p:sp>
        <p:nvSpPr>
          <p:cNvPr id="166" name="米菲PPT59"/>
          <p:cNvSpPr/>
          <p:nvPr/>
        </p:nvSpPr>
        <p:spPr>
          <a:xfrm>
            <a:off x="3837017" y="3285793"/>
            <a:ext cx="302873" cy="487290"/>
          </a:xfrm>
          <a:prstGeom prst="roundRect">
            <a:avLst/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62799C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7" name="米菲PPT60"/>
          <p:cNvSpPr txBox="1"/>
          <p:nvPr/>
        </p:nvSpPr>
        <p:spPr>
          <a:xfrm>
            <a:off x="3792469" y="3383166"/>
            <a:ext cx="391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7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场景缺失</a:t>
            </a:r>
          </a:p>
        </p:txBody>
      </p:sp>
      <p:sp>
        <p:nvSpPr>
          <p:cNvPr id="168" name="米菲PPT61"/>
          <p:cNvSpPr txBox="1"/>
          <p:nvPr/>
        </p:nvSpPr>
        <p:spPr>
          <a:xfrm>
            <a:off x="4163321" y="3210650"/>
            <a:ext cx="1328219" cy="60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情人节、聚餐、商务聚餐、亲子场景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本异地场景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主题场景</a:t>
            </a:r>
          </a:p>
        </p:txBody>
      </p:sp>
      <p:sp>
        <p:nvSpPr>
          <p:cNvPr id="169" name="米菲PPT62"/>
          <p:cNvSpPr/>
          <p:nvPr/>
        </p:nvSpPr>
        <p:spPr>
          <a:xfrm>
            <a:off x="5438983" y="3285793"/>
            <a:ext cx="302873" cy="487290"/>
          </a:xfrm>
          <a:prstGeom prst="roundRect">
            <a:avLst/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62799C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0" name="米菲PPT63"/>
          <p:cNvSpPr txBox="1"/>
          <p:nvPr/>
        </p:nvSpPr>
        <p:spPr>
          <a:xfrm>
            <a:off x="5394435" y="3383166"/>
            <a:ext cx="391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7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城市缺失</a:t>
            </a:r>
          </a:p>
        </p:txBody>
      </p:sp>
      <p:sp>
        <p:nvSpPr>
          <p:cNvPr id="171" name="米菲PPT64"/>
          <p:cNvSpPr txBox="1"/>
          <p:nvPr/>
        </p:nvSpPr>
        <p:spPr>
          <a:xfrm>
            <a:off x="5725840" y="3210650"/>
            <a:ext cx="835628" cy="730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中低线城市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旅游城市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r>
              <a:rPr lang="zh-CN" altLang="en-US" sz="7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热门远郊区县</a:t>
            </a:r>
            <a:endParaRPr lang="en-US" altLang="zh-CN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171450" indent="-171450" defTabSz="457200">
              <a:lnSpc>
                <a:spcPct val="120000"/>
              </a:lnSpc>
              <a:buFont typeface="MiSans Medium" panose="00000600000000000000" pitchFamily="2" charset="-122"/>
              <a:buChar char="•"/>
              <a:defRPr/>
            </a:pPr>
            <a:endParaRPr lang="zh-CN" altLang="en-US" sz="7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74" name="米菲PPT67"/>
          <p:cNvSpPr txBox="1"/>
          <p:nvPr/>
        </p:nvSpPr>
        <p:spPr>
          <a:xfrm>
            <a:off x="3823624" y="4151981"/>
            <a:ext cx="115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刷好评、星级很难维持、不确定性</a:t>
            </a:r>
          </a:p>
        </p:txBody>
      </p:sp>
      <p:sp>
        <p:nvSpPr>
          <p:cNvPr id="175" name="米菲PPT68"/>
          <p:cNvSpPr txBox="1"/>
          <p:nvPr/>
        </p:nvSpPr>
        <p:spPr>
          <a:xfrm>
            <a:off x="2301806" y="4129828"/>
            <a:ext cx="682977" cy="413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双平台资产不一致</a:t>
            </a:r>
          </a:p>
        </p:txBody>
      </p:sp>
      <p:sp>
        <p:nvSpPr>
          <p:cNvPr id="176" name="米菲PPT69"/>
          <p:cNvSpPr txBox="1"/>
          <p:nvPr/>
        </p:nvSpPr>
        <p:spPr>
          <a:xfrm>
            <a:off x="5678261" y="4108315"/>
            <a:ext cx="682977" cy="41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核心资产覆盖不足</a:t>
            </a:r>
          </a:p>
        </p:txBody>
      </p:sp>
      <p:sp>
        <p:nvSpPr>
          <p:cNvPr id="177" name="米菲PPT70"/>
          <p:cNvSpPr txBox="1"/>
          <p:nvPr/>
        </p:nvSpPr>
        <p:spPr>
          <a:xfrm>
            <a:off x="1243913" y="1157068"/>
            <a:ext cx="12680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用户榜单心智弱</a:t>
            </a:r>
          </a:p>
        </p:txBody>
      </p:sp>
      <p:sp>
        <p:nvSpPr>
          <p:cNvPr id="178" name="米菲PPT71"/>
          <p:cNvSpPr/>
          <p:nvPr/>
        </p:nvSpPr>
        <p:spPr>
          <a:xfrm flipH="1">
            <a:off x="1213329" y="1829562"/>
            <a:ext cx="1085082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9" name="米菲PPT72"/>
          <p:cNvSpPr txBox="1"/>
          <p:nvPr/>
        </p:nvSpPr>
        <p:spPr>
          <a:xfrm>
            <a:off x="1243913" y="1920339"/>
            <a:ext cx="1081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影响公信力</a:t>
            </a:r>
          </a:p>
        </p:txBody>
      </p:sp>
      <p:sp>
        <p:nvSpPr>
          <p:cNvPr id="180" name="米菲PPT73"/>
          <p:cNvSpPr/>
          <p:nvPr/>
        </p:nvSpPr>
        <p:spPr>
          <a:xfrm flipH="1">
            <a:off x="1213329" y="2413934"/>
            <a:ext cx="911089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1" name="米菲PPT74"/>
          <p:cNvSpPr txBox="1"/>
          <p:nvPr/>
        </p:nvSpPr>
        <p:spPr>
          <a:xfrm>
            <a:off x="1165192" y="2508309"/>
            <a:ext cx="8937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影响牵引力</a:t>
            </a:r>
          </a:p>
        </p:txBody>
      </p:sp>
      <p:sp>
        <p:nvSpPr>
          <p:cNvPr id="182" name="米菲PPT75"/>
          <p:cNvSpPr/>
          <p:nvPr/>
        </p:nvSpPr>
        <p:spPr>
          <a:xfrm flipH="1">
            <a:off x="1213329" y="3186794"/>
            <a:ext cx="758011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3" name="米菲PPT76"/>
          <p:cNvSpPr txBox="1"/>
          <p:nvPr/>
        </p:nvSpPr>
        <p:spPr>
          <a:xfrm>
            <a:off x="1124395" y="3281169"/>
            <a:ext cx="986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资产缺失问题</a:t>
            </a:r>
          </a:p>
        </p:txBody>
      </p:sp>
      <p:sp>
        <p:nvSpPr>
          <p:cNvPr id="184" name="米菲PPT77"/>
          <p:cNvSpPr/>
          <p:nvPr/>
        </p:nvSpPr>
        <p:spPr>
          <a:xfrm flipH="1">
            <a:off x="1213329" y="4052502"/>
            <a:ext cx="632581" cy="421127"/>
          </a:xfrm>
          <a:prstGeom prst="wedgeRectCallout">
            <a:avLst>
              <a:gd name="adj1" fmla="val -65994"/>
              <a:gd name="adj2" fmla="val 3561"/>
            </a:avLst>
          </a:prstGeom>
          <a:noFill/>
          <a:ln w="15875" cap="flat" cmpd="sng" algn="ctr">
            <a:gradFill>
              <a:gsLst>
                <a:gs pos="100000">
                  <a:srgbClr val="FCA072"/>
                </a:gs>
                <a:gs pos="0">
                  <a:srgbClr val="FCA072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6" tIns="45726" rIns="91436" bIns="45726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5" name="米菲PPT78"/>
          <p:cNvSpPr txBox="1"/>
          <p:nvPr/>
        </p:nvSpPr>
        <p:spPr>
          <a:xfrm>
            <a:off x="1170015" y="4094357"/>
            <a:ext cx="7438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1050" dirty="0">
                <a:solidFill>
                  <a:srgbClr val="62799C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数据资产底层</a:t>
            </a:r>
          </a:p>
        </p:txBody>
      </p:sp>
      <p:sp>
        <p:nvSpPr>
          <p:cNvPr id="186" name="米菲PPT79"/>
          <p:cNvSpPr txBox="1"/>
          <p:nvPr/>
        </p:nvSpPr>
        <p:spPr>
          <a:xfrm>
            <a:off x="2128367" y="456704"/>
            <a:ext cx="38307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zh-CN" altLang="en-US" sz="11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榜单资产建设 核心问题整理</a:t>
            </a:r>
          </a:p>
        </p:txBody>
      </p:sp>
      <p:sp>
        <p:nvSpPr>
          <p:cNvPr id="193" name="米菲PPT86"/>
          <p:cNvSpPr txBox="1"/>
          <p:nvPr/>
        </p:nvSpPr>
        <p:spPr>
          <a:xfrm>
            <a:off x="6780503" y="462602"/>
            <a:ext cx="1469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1100" dirty="0">
                <a:solidFill>
                  <a:srgbClr val="62799C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业务原声</a:t>
            </a:r>
          </a:p>
        </p:txBody>
      </p:sp>
      <p:pic>
        <p:nvPicPr>
          <p:cNvPr id="218" name="图片 2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970" y="1826914"/>
            <a:ext cx="284170" cy="252000"/>
          </a:xfrm>
          <a:prstGeom prst="rect">
            <a:avLst/>
          </a:prstGeom>
        </p:spPr>
      </p:pic>
      <p:pic>
        <p:nvPicPr>
          <p:cNvPr id="219" name="图片 2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894" y="1816245"/>
            <a:ext cx="229765" cy="252000"/>
          </a:xfrm>
          <a:prstGeom prst="rect">
            <a:avLst/>
          </a:prstGeom>
        </p:spPr>
      </p:pic>
      <p:sp>
        <p:nvSpPr>
          <p:cNvPr id="222" name="米菲PPT15"/>
          <p:cNvSpPr/>
          <p:nvPr/>
        </p:nvSpPr>
        <p:spPr>
          <a:xfrm>
            <a:off x="3643255" y="994345"/>
            <a:ext cx="1336726" cy="545260"/>
          </a:xfrm>
          <a:custGeom>
            <a:avLst/>
            <a:gdLst>
              <a:gd name="connsiteX0" fmla="*/ 130872 w 1547297"/>
              <a:gd name="connsiteY0" fmla="*/ 0 h 589608"/>
              <a:gd name="connsiteX1" fmla="*/ 1547297 w 1547297"/>
              <a:gd name="connsiteY1" fmla="*/ 0 h 589608"/>
              <a:gd name="connsiteX2" fmla="*/ 1416425 w 1547297"/>
              <a:gd name="connsiteY2" fmla="*/ 589608 h 589608"/>
              <a:gd name="connsiteX3" fmla="*/ 0 w 1547297"/>
              <a:gd name="connsiteY3" fmla="*/ 589608 h 589608"/>
              <a:gd name="connsiteX4" fmla="*/ 130872 w 1547297"/>
              <a:gd name="connsiteY4" fmla="*/ 0 h 58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7297" h="589608">
                <a:moveTo>
                  <a:pt x="130872" y="0"/>
                </a:moveTo>
                <a:lnTo>
                  <a:pt x="1547297" y="0"/>
                </a:lnTo>
                <a:lnTo>
                  <a:pt x="1416425" y="589608"/>
                </a:lnTo>
                <a:lnTo>
                  <a:pt x="0" y="589608"/>
                </a:lnTo>
                <a:lnTo>
                  <a:pt x="130872" y="0"/>
                </a:lnTo>
                <a:close/>
              </a:path>
            </a:pathLst>
          </a:custGeom>
          <a:gradFill>
            <a:gsLst>
              <a:gs pos="0">
                <a:srgbClr val="F57359">
                  <a:lumMod val="88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23" name="米菲PPT16"/>
          <p:cNvSpPr/>
          <p:nvPr/>
        </p:nvSpPr>
        <p:spPr>
          <a:xfrm>
            <a:off x="2643582" y="994345"/>
            <a:ext cx="3404581" cy="547286"/>
          </a:xfrm>
          <a:custGeom>
            <a:avLst/>
            <a:gdLst>
              <a:gd name="connsiteX0" fmla="*/ 161466 w 3940895"/>
              <a:gd name="connsiteY0" fmla="*/ 0 h 591798"/>
              <a:gd name="connsiteX1" fmla="*/ 1288020 w 3940895"/>
              <a:gd name="connsiteY1" fmla="*/ 0 h 591798"/>
              <a:gd name="connsiteX2" fmla="*/ 1157148 w 3940895"/>
              <a:gd name="connsiteY2" fmla="*/ 589608 h 591798"/>
              <a:gd name="connsiteX3" fmla="*/ 2573573 w 3940895"/>
              <a:gd name="connsiteY3" fmla="*/ 589608 h 591798"/>
              <a:gd name="connsiteX4" fmla="*/ 2704445 w 3940895"/>
              <a:gd name="connsiteY4" fmla="*/ 0 h 591798"/>
              <a:gd name="connsiteX5" fmla="*/ 3779429 w 3940895"/>
              <a:gd name="connsiteY5" fmla="*/ 0 h 591798"/>
              <a:gd name="connsiteX6" fmla="*/ 3940895 w 3940895"/>
              <a:gd name="connsiteY6" fmla="*/ 591798 h 591798"/>
              <a:gd name="connsiteX7" fmla="*/ 0 w 3940895"/>
              <a:gd name="connsiteY7" fmla="*/ 591798 h 591798"/>
              <a:gd name="connsiteX8" fmla="*/ 161466 w 3940895"/>
              <a:gd name="connsiteY8" fmla="*/ 0 h 59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40895" h="591798">
                <a:moveTo>
                  <a:pt x="161466" y="0"/>
                </a:moveTo>
                <a:lnTo>
                  <a:pt x="1288020" y="0"/>
                </a:lnTo>
                <a:lnTo>
                  <a:pt x="1157148" y="589608"/>
                </a:lnTo>
                <a:lnTo>
                  <a:pt x="2573573" y="589608"/>
                </a:lnTo>
                <a:lnTo>
                  <a:pt x="2704445" y="0"/>
                </a:lnTo>
                <a:lnTo>
                  <a:pt x="3779429" y="0"/>
                </a:lnTo>
                <a:lnTo>
                  <a:pt x="3940895" y="591798"/>
                </a:lnTo>
                <a:lnTo>
                  <a:pt x="0" y="591798"/>
                </a:lnTo>
                <a:lnTo>
                  <a:pt x="161466" y="0"/>
                </a:lnTo>
                <a:close/>
              </a:path>
            </a:pathLst>
          </a:custGeom>
          <a:gradFill>
            <a:gsLst>
              <a:gs pos="0">
                <a:srgbClr val="F57359">
                  <a:lumMod val="87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224" name="米菲PPT26"/>
          <p:cNvCxnSpPr/>
          <p:nvPr/>
        </p:nvCxnSpPr>
        <p:spPr>
          <a:xfrm flipH="1">
            <a:off x="3643255" y="1001867"/>
            <a:ext cx="118965" cy="530794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225" name="米菲PPT27"/>
          <p:cNvCxnSpPr/>
          <p:nvPr/>
        </p:nvCxnSpPr>
        <p:spPr>
          <a:xfrm flipH="1">
            <a:off x="4861016" y="1001867"/>
            <a:ext cx="118965" cy="530794"/>
          </a:xfrm>
          <a:prstGeom prst="line">
            <a:avLst/>
          </a:prstGeom>
          <a:noFill/>
          <a:ln w="25400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226" name="米菲PPT38"/>
          <p:cNvSpPr txBox="1"/>
          <p:nvPr/>
        </p:nvSpPr>
        <p:spPr>
          <a:xfrm>
            <a:off x="2695010" y="1082296"/>
            <a:ext cx="95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榜单路径</a:t>
            </a:r>
            <a:endParaRPr lang="en-US" altLang="zh-CN" sz="9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单一且深</a:t>
            </a:r>
          </a:p>
        </p:txBody>
      </p:sp>
      <p:sp>
        <p:nvSpPr>
          <p:cNvPr id="227" name="米菲PPT39"/>
          <p:cNvSpPr txBox="1"/>
          <p:nvPr/>
        </p:nvSpPr>
        <p:spPr>
          <a:xfrm>
            <a:off x="3832335" y="1082296"/>
            <a:ext cx="95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没有美团</a:t>
            </a:r>
            <a:endParaRPr lang="en-US" altLang="zh-CN" sz="9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榜单心智</a:t>
            </a:r>
          </a:p>
        </p:txBody>
      </p:sp>
      <p:sp>
        <p:nvSpPr>
          <p:cNvPr id="228" name="米菲PPT40"/>
          <p:cNvSpPr txBox="1"/>
          <p:nvPr/>
        </p:nvSpPr>
        <p:spPr>
          <a:xfrm>
            <a:off x="4979981" y="1082296"/>
            <a:ext cx="95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营销活动</a:t>
            </a:r>
            <a:endParaRPr lang="en-US" altLang="zh-CN" sz="900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defTabSz="457200">
              <a:defRPr/>
            </a:pPr>
            <a:r>
              <a:rPr lang="zh-CN" altLang="en-US" sz="900" dirty="0">
                <a:solidFill>
                  <a:srgbClr val="FFFFFF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中榜单缺失</a:t>
            </a:r>
          </a:p>
        </p:txBody>
      </p:sp>
      <p:sp>
        <p:nvSpPr>
          <p:cNvPr id="239" name="米菲PPT58"/>
          <p:cNvSpPr txBox="1"/>
          <p:nvPr/>
        </p:nvSpPr>
        <p:spPr>
          <a:xfrm>
            <a:off x="6192528" y="795373"/>
            <a:ext cx="267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“60%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用户愿意体验上榜商家，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77%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体验后愿意继续使用，但仅有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56%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用户能找到榜单，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入口较深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”</a:t>
            </a:r>
          </a:p>
        </p:txBody>
      </p:sp>
      <p:sp>
        <p:nvSpPr>
          <p:cNvPr id="243" name="文本框 242"/>
          <p:cNvSpPr txBox="1"/>
          <p:nvPr/>
        </p:nvSpPr>
        <p:spPr>
          <a:xfrm>
            <a:off x="6219258" y="1184440"/>
            <a:ext cx="2768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“站内，主动搜索“必吃榜”并进入必吃榜页面的点评侧用户日均</a:t>
            </a:r>
            <a:r>
              <a:rPr lang="en-GB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UV1W</a:t>
            </a:r>
            <a:r>
              <a:rPr lang="zh-CN" altLang="en-GB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是同期点评热门榜搜索用户量的一百倍；站外，用户在小红书上对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“必吃榜”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的搜索指数也在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逐年增加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”</a:t>
            </a:r>
          </a:p>
        </p:txBody>
      </p:sp>
      <p:sp>
        <p:nvSpPr>
          <p:cNvPr id="246" name="文本框 245"/>
          <p:cNvSpPr txBox="1"/>
          <p:nvPr/>
        </p:nvSpPr>
        <p:spPr>
          <a:xfrm>
            <a:off x="6491159" y="1774745"/>
            <a:ext cx="2477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“商户对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必吃榜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，有些哀声哉道，比如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12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月不能有违规记录，说明得平时非常的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小心翼翼的做事情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，而且得持续的做任务做热度才能上榜。”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—— 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吴莉媛 东部大区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浙南区域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金华一区 </a:t>
            </a:r>
          </a:p>
        </p:txBody>
      </p:sp>
      <p:sp>
        <p:nvSpPr>
          <p:cNvPr id="247" name="文本框 246"/>
          <p:cNvSpPr txBox="1"/>
          <p:nvPr/>
        </p:nvSpPr>
        <p:spPr>
          <a:xfrm>
            <a:off x="6499140" y="2332549"/>
            <a:ext cx="24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“单一维度的数据榜对于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商户牵引单一维度有效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，但对于平台其他有价值的资产牵引有限，并且可以刷榜作弊”</a:t>
            </a:r>
          </a:p>
        </p:txBody>
      </p:sp>
      <p:sp>
        <p:nvSpPr>
          <p:cNvPr id="252" name="米菲PPT3"/>
          <p:cNvSpPr/>
          <p:nvPr/>
        </p:nvSpPr>
        <p:spPr>
          <a:xfrm rot="16200000" flipH="1">
            <a:off x="5332325" y="930758"/>
            <a:ext cx="1701214" cy="626475"/>
          </a:xfrm>
          <a:prstGeom prst="triangle">
            <a:avLst/>
          </a:prstGeom>
          <a:gradFill flip="none" rotWithShape="1">
            <a:gsLst>
              <a:gs pos="100000">
                <a:srgbClr val="62799C">
                  <a:lumMod val="20000"/>
                  <a:lumOff val="80000"/>
                  <a:alpha val="73000"/>
                </a:srgbClr>
              </a:gs>
              <a:gs pos="24000">
                <a:srgbClr val="62799C">
                  <a:lumMod val="20000"/>
                  <a:lumOff val="8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6499140" y="2792476"/>
            <a:ext cx="247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“想上白云区必吃榜，但是不了解上榜的具体规则，开店满一年、无任何处罚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.......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不知道主攻哪几个方面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”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——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广州湾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·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印象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·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顺德鱼生（海珠店）”</a:t>
            </a:r>
          </a:p>
        </p:txBody>
      </p:sp>
      <p:sp>
        <p:nvSpPr>
          <p:cNvPr id="254" name="米菲PPT3"/>
          <p:cNvSpPr/>
          <p:nvPr/>
        </p:nvSpPr>
        <p:spPr>
          <a:xfrm rot="16200000" flipH="1">
            <a:off x="6068647" y="3811221"/>
            <a:ext cx="1701214" cy="626475"/>
          </a:xfrm>
          <a:prstGeom prst="triangle">
            <a:avLst/>
          </a:prstGeom>
          <a:gradFill flip="none" rotWithShape="1">
            <a:gsLst>
              <a:gs pos="100000">
                <a:srgbClr val="62799C">
                  <a:lumMod val="20000"/>
                  <a:lumOff val="80000"/>
                  <a:alpha val="73000"/>
                </a:srgbClr>
              </a:gs>
              <a:gs pos="24000">
                <a:srgbClr val="62799C">
                  <a:lumMod val="20000"/>
                  <a:lumOff val="8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6767202" y="3303273"/>
            <a:ext cx="2263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好多没名字的小店也很好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啊，这些店都是大牌餐饮。外地的朋友来天津查看榜单，看的都是什么重庆火锅，我觉得不太合适”</a:t>
            </a:r>
          </a:p>
        </p:txBody>
      </p:sp>
      <p:sp>
        <p:nvSpPr>
          <p:cNvPr id="256" name="文本框 255"/>
          <p:cNvSpPr txBox="1"/>
          <p:nvPr/>
        </p:nvSpPr>
        <p:spPr>
          <a:xfrm>
            <a:off x="6780589" y="3749837"/>
            <a:ext cx="2263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“从用户的角度，当前很多用户习惯在小程序操作。从商家的角度，商家确实比较重视榜单。从平台的角度，当前小程序贡献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20%+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的交易，以及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300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万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月的新增用户。如果合理的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小程序行为不能影响商家榜单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，对商家和平台确实是一个问题”</a:t>
            </a:r>
          </a:p>
        </p:txBody>
      </p:sp>
      <p:sp>
        <p:nvSpPr>
          <p:cNvPr id="257" name="文本框 256"/>
          <p:cNvSpPr txBox="1"/>
          <p:nvPr/>
        </p:nvSpPr>
        <p:spPr>
          <a:xfrm>
            <a:off x="6823422" y="4547977"/>
            <a:ext cx="2263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“榜单一定要是</a:t>
            </a:r>
            <a:r>
              <a:rPr lang="zh-CN" altLang="en-US" sz="800" i="1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美团和点评双平台的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，因为扬州是旅游城市流量来源一半一半”</a:t>
            </a:r>
            <a:r>
              <a:rPr lang="en-US" altLang="zh-CN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——</a:t>
            </a:r>
            <a:r>
              <a:rPr lang="zh-CN" altLang="en-US" sz="800" i="1" dirty="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香园茶社旗舰店</a:t>
            </a:r>
          </a:p>
        </p:txBody>
      </p:sp>
      <p:sp>
        <p:nvSpPr>
          <p:cNvPr id="258" name="标题 1"/>
          <p:cNvSpPr>
            <a:spLocks noGrp="1"/>
          </p:cNvSpPr>
          <p:nvPr>
            <p:ph type="title"/>
          </p:nvPr>
        </p:nvSpPr>
        <p:spPr>
          <a:xfrm>
            <a:off x="308705" y="-45541"/>
            <a:ext cx="8584470" cy="547945"/>
          </a:xfrm>
        </p:spPr>
        <p:txBody>
          <a:bodyPr/>
          <a:lstStyle/>
          <a:p>
            <a:r>
              <a:rPr lang="zh-CN" altLang="en-US" dirty="0"/>
              <a:t>榜单问题汇总</a:t>
            </a:r>
            <a:endParaRPr lang="en-US" altLang="zh-CN" dirty="0"/>
          </a:p>
        </p:txBody>
      </p:sp>
      <p:sp>
        <p:nvSpPr>
          <p:cNvPr id="260" name="米菲PPT48"/>
          <p:cNvSpPr/>
          <p:nvPr/>
        </p:nvSpPr>
        <p:spPr>
          <a:xfrm>
            <a:off x="6945030" y="482481"/>
            <a:ext cx="208734" cy="208757"/>
          </a:xfrm>
          <a:custGeom>
            <a:avLst/>
            <a:gdLst>
              <a:gd name="connsiteX0" fmla="*/ 1143000 w 1219200"/>
              <a:gd name="connsiteY0" fmla="*/ 76333 h 1219332"/>
              <a:gd name="connsiteX1" fmla="*/ 1095851 w 1219200"/>
              <a:gd name="connsiteY1" fmla="*/ 5848 h 1219332"/>
              <a:gd name="connsiteX2" fmla="*/ 1012746 w 1219200"/>
              <a:gd name="connsiteY2" fmla="*/ 22278 h 1219332"/>
              <a:gd name="connsiteX3" fmla="*/ 908923 w 1219200"/>
              <a:gd name="connsiteY3" fmla="*/ 126339 h 1219332"/>
              <a:gd name="connsiteX4" fmla="*/ 477917 w 1219200"/>
              <a:gd name="connsiteY4" fmla="*/ 304933 h 1219332"/>
              <a:gd name="connsiteX5" fmla="*/ 152400 w 1219200"/>
              <a:gd name="connsiteY5" fmla="*/ 304933 h 1219332"/>
              <a:gd name="connsiteX6" fmla="*/ 0 w 1219200"/>
              <a:gd name="connsiteY6" fmla="*/ 457333 h 1219332"/>
              <a:gd name="connsiteX7" fmla="*/ 0 w 1219200"/>
              <a:gd name="connsiteY7" fmla="*/ 685933 h 1219332"/>
              <a:gd name="connsiteX8" fmla="*/ 152400 w 1219200"/>
              <a:gd name="connsiteY8" fmla="*/ 838333 h 1219332"/>
              <a:gd name="connsiteX9" fmla="*/ 152400 w 1219200"/>
              <a:gd name="connsiteY9" fmla="*/ 1143133 h 1219332"/>
              <a:gd name="connsiteX10" fmla="*/ 228600 w 1219200"/>
              <a:gd name="connsiteY10" fmla="*/ 1219333 h 1219332"/>
              <a:gd name="connsiteX11" fmla="*/ 381000 w 1219200"/>
              <a:gd name="connsiteY11" fmla="*/ 1219333 h 1219332"/>
              <a:gd name="connsiteX12" fmla="*/ 457200 w 1219200"/>
              <a:gd name="connsiteY12" fmla="*/ 1143133 h 1219332"/>
              <a:gd name="connsiteX13" fmla="*/ 457200 w 1219200"/>
              <a:gd name="connsiteY13" fmla="*/ 838333 h 1219332"/>
              <a:gd name="connsiteX14" fmla="*/ 477917 w 1219200"/>
              <a:gd name="connsiteY14" fmla="*/ 838333 h 1219332"/>
              <a:gd name="connsiteX15" fmla="*/ 908923 w 1219200"/>
              <a:gd name="connsiteY15" fmla="*/ 1016926 h 1219332"/>
              <a:gd name="connsiteX16" fmla="*/ 1012746 w 1219200"/>
              <a:gd name="connsiteY16" fmla="*/ 1120749 h 1219332"/>
              <a:gd name="connsiteX17" fmla="*/ 1095851 w 1219200"/>
              <a:gd name="connsiteY17" fmla="*/ 1137180 h 1219332"/>
              <a:gd name="connsiteX18" fmla="*/ 1143000 w 1219200"/>
              <a:gd name="connsiteY18" fmla="*/ 1066694 h 1219332"/>
              <a:gd name="connsiteX19" fmla="*/ 1143000 w 1219200"/>
              <a:gd name="connsiteY19" fmla="*/ 715222 h 1219332"/>
              <a:gd name="connsiteX20" fmla="*/ 1219200 w 1219200"/>
              <a:gd name="connsiteY20" fmla="*/ 571394 h 1219332"/>
              <a:gd name="connsiteX21" fmla="*/ 1143000 w 1219200"/>
              <a:gd name="connsiteY21" fmla="*/ 427567 h 1219332"/>
              <a:gd name="connsiteX22" fmla="*/ 990600 w 1219200"/>
              <a:gd name="connsiteY22" fmla="*/ 258974 h 1219332"/>
              <a:gd name="connsiteX23" fmla="*/ 990600 w 1219200"/>
              <a:gd name="connsiteY23" fmla="*/ 884291 h 1219332"/>
              <a:gd name="connsiteX24" fmla="*/ 477917 w 1219200"/>
              <a:gd name="connsiteY24" fmla="*/ 685933 h 1219332"/>
              <a:gd name="connsiteX25" fmla="*/ 457200 w 1219200"/>
              <a:gd name="connsiteY25" fmla="*/ 685933 h 1219332"/>
              <a:gd name="connsiteX26" fmla="*/ 457200 w 1219200"/>
              <a:gd name="connsiteY26" fmla="*/ 457333 h 1219332"/>
              <a:gd name="connsiteX27" fmla="*/ 477917 w 1219200"/>
              <a:gd name="connsiteY27" fmla="*/ 457333 h 1219332"/>
              <a:gd name="connsiteX28" fmla="*/ 990600 w 1219200"/>
              <a:gd name="connsiteY28" fmla="*/ 258974 h 121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9200" h="1219332">
                <a:moveTo>
                  <a:pt x="1143000" y="76333"/>
                </a:moveTo>
                <a:cubicBezTo>
                  <a:pt x="1143000" y="45614"/>
                  <a:pt x="1124426" y="17754"/>
                  <a:pt x="1095851" y="5848"/>
                </a:cubicBezTo>
                <a:cubicBezTo>
                  <a:pt x="1067276" y="-6059"/>
                  <a:pt x="1034653" y="609"/>
                  <a:pt x="1012746" y="22278"/>
                </a:cubicBezTo>
                <a:lnTo>
                  <a:pt x="908923" y="126339"/>
                </a:lnTo>
                <a:cubicBezTo>
                  <a:pt x="794623" y="240639"/>
                  <a:pt x="639604" y="304933"/>
                  <a:pt x="477917" y="304933"/>
                </a:cubicBezTo>
                <a:lnTo>
                  <a:pt x="152400" y="304933"/>
                </a:lnTo>
                <a:cubicBezTo>
                  <a:pt x="68342" y="304933"/>
                  <a:pt x="0" y="373274"/>
                  <a:pt x="0" y="457333"/>
                </a:cubicBezTo>
                <a:lnTo>
                  <a:pt x="0" y="685933"/>
                </a:lnTo>
                <a:cubicBezTo>
                  <a:pt x="0" y="769991"/>
                  <a:pt x="68342" y="838333"/>
                  <a:pt x="152400" y="838333"/>
                </a:cubicBezTo>
                <a:lnTo>
                  <a:pt x="152400" y="1143133"/>
                </a:lnTo>
                <a:cubicBezTo>
                  <a:pt x="152400" y="1185281"/>
                  <a:pt x="186452" y="1219333"/>
                  <a:pt x="228600" y="1219333"/>
                </a:cubicBezTo>
                <a:lnTo>
                  <a:pt x="381000" y="1219333"/>
                </a:lnTo>
                <a:cubicBezTo>
                  <a:pt x="423148" y="1219333"/>
                  <a:pt x="457200" y="1185281"/>
                  <a:pt x="457200" y="1143133"/>
                </a:cubicBezTo>
                <a:lnTo>
                  <a:pt x="457200" y="838333"/>
                </a:lnTo>
                <a:lnTo>
                  <a:pt x="477917" y="838333"/>
                </a:lnTo>
                <a:cubicBezTo>
                  <a:pt x="639604" y="838333"/>
                  <a:pt x="794623" y="902626"/>
                  <a:pt x="908923" y="1016926"/>
                </a:cubicBezTo>
                <a:lnTo>
                  <a:pt x="1012746" y="1120749"/>
                </a:lnTo>
                <a:cubicBezTo>
                  <a:pt x="1034653" y="1142656"/>
                  <a:pt x="1067276" y="1149086"/>
                  <a:pt x="1095851" y="1137180"/>
                </a:cubicBezTo>
                <a:cubicBezTo>
                  <a:pt x="1124426" y="1125273"/>
                  <a:pt x="1143000" y="1097651"/>
                  <a:pt x="1143000" y="1066694"/>
                </a:cubicBezTo>
                <a:lnTo>
                  <a:pt x="1143000" y="715222"/>
                </a:lnTo>
                <a:cubicBezTo>
                  <a:pt x="1187291" y="694267"/>
                  <a:pt x="1219200" y="637831"/>
                  <a:pt x="1219200" y="571394"/>
                </a:cubicBezTo>
                <a:cubicBezTo>
                  <a:pt x="1219200" y="504958"/>
                  <a:pt x="1187291" y="448522"/>
                  <a:pt x="1143000" y="427567"/>
                </a:cubicBezTo>
                <a:close/>
                <a:moveTo>
                  <a:pt x="990600" y="258974"/>
                </a:moveTo>
                <a:lnTo>
                  <a:pt x="990600" y="884291"/>
                </a:lnTo>
                <a:cubicBezTo>
                  <a:pt x="850583" y="756894"/>
                  <a:pt x="667941" y="685933"/>
                  <a:pt x="477917" y="685933"/>
                </a:cubicBezTo>
                <a:lnTo>
                  <a:pt x="457200" y="685933"/>
                </a:lnTo>
                <a:lnTo>
                  <a:pt x="457200" y="457333"/>
                </a:lnTo>
                <a:lnTo>
                  <a:pt x="477917" y="457333"/>
                </a:lnTo>
                <a:cubicBezTo>
                  <a:pt x="667941" y="457333"/>
                  <a:pt x="850583" y="386371"/>
                  <a:pt x="990600" y="258974"/>
                </a:cubicBezTo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ysClr val="windowText" lastClr="000000">
                <a:alpha val="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61" name="米菲PPT50"/>
          <p:cNvSpPr txBox="1"/>
          <p:nvPr/>
        </p:nvSpPr>
        <p:spPr>
          <a:xfrm>
            <a:off x="3172181" y="1820997"/>
            <a:ext cx="1094669" cy="24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指数榜过“松”</a:t>
            </a:r>
          </a:p>
        </p:txBody>
      </p:sp>
      <p:sp>
        <p:nvSpPr>
          <p:cNvPr id="262" name="米菲PPT50"/>
          <p:cNvSpPr txBox="1"/>
          <p:nvPr/>
        </p:nvSpPr>
        <p:spPr>
          <a:xfrm>
            <a:off x="4967856" y="1821446"/>
            <a:ext cx="1094669" cy="24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  <a:defRPr/>
            </a:pPr>
            <a:r>
              <a:rPr lang="zh-CN" altLang="en-US" sz="900" dirty="0">
                <a:solidFill>
                  <a:srgbClr val="F57359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必吃榜过“严”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43204" y="-860158"/>
            <a:ext cx="8584470" cy="687286"/>
          </a:xfrm>
        </p:spPr>
        <p:txBody>
          <a:bodyPr/>
          <a:lstStyle/>
          <a:p>
            <a:r>
              <a:rPr lang="zh-CN" altLang="en-US" dirty="0"/>
              <a:t>在资产的多个维度上，与竞品概要结论比较 </a:t>
            </a:r>
            <a:r>
              <a:rPr lang="en-GB" altLang="zh-CN" dirty="0"/>
              <a:t>1p</a:t>
            </a:r>
          </a:p>
        </p:txBody>
      </p:sp>
      <p:sp>
        <p:nvSpPr>
          <p:cNvPr id="19" name="内容占位符 2"/>
          <p:cNvSpPr txBox="1"/>
          <p:nvPr/>
        </p:nvSpPr>
        <p:spPr>
          <a:xfrm>
            <a:off x="279765" y="1151825"/>
            <a:ext cx="3098560" cy="28398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sz="1000" b="1" dirty="0"/>
              <a:t>各大平台均依托核心资产构建榜单体系。</a:t>
            </a:r>
            <a:br>
              <a:rPr kumimoji="1" lang="en-US" altLang="zh-CN" sz="1000" b="1" dirty="0"/>
            </a:br>
            <a:r>
              <a:rPr kumimoji="1" lang="zh-CN" altLang="en-US" sz="1000" dirty="0"/>
              <a:t>在不同维度各有优势：</a:t>
            </a:r>
            <a:endParaRPr kumimoji="1" lang="en-US" altLang="zh-CN" sz="1000" b="1" dirty="0"/>
          </a:p>
          <a:p>
            <a:pPr>
              <a:buClrTx/>
            </a:pPr>
            <a:r>
              <a:rPr kumimoji="1" lang="zh-CN" altLang="en-US" sz="1000" b="1" dirty="0"/>
              <a:t>点评必吃榜</a:t>
            </a:r>
            <a:r>
              <a:rPr kumimoji="1" lang="zh-CN" altLang="en-US" sz="1000" dirty="0"/>
              <a:t>作为行业标杆，</a:t>
            </a:r>
            <a:r>
              <a:rPr kumimoji="1" lang="zh-CN" altLang="en-US" sz="1000" b="1" dirty="0"/>
              <a:t>评选规则严谨公正</a:t>
            </a:r>
            <a:r>
              <a:rPr kumimoji="1" lang="zh-CN" altLang="en-US" sz="1000" dirty="0"/>
              <a:t>，</a:t>
            </a:r>
            <a:r>
              <a:rPr kumimoji="1" lang="zh-CN" altLang="en-US" sz="1000" b="1" dirty="0"/>
              <a:t>上榜后能明显带动用户关注</a:t>
            </a:r>
            <a:r>
              <a:rPr kumimoji="1" lang="zh-CN" altLang="en-US" sz="1000" dirty="0"/>
              <a:t>，助力商家</a:t>
            </a:r>
            <a:r>
              <a:rPr kumimoji="1" lang="zh-CN" altLang="en-US" sz="1000" b="1" dirty="0"/>
              <a:t>流量和订单增长</a:t>
            </a:r>
            <a:r>
              <a:rPr kumimoji="1" lang="zh-CN" altLang="en-US" sz="1000" dirty="0"/>
              <a:t>。在持续多年的口碑积累下，</a:t>
            </a:r>
            <a:r>
              <a:rPr kumimoji="1" lang="zh-CN" altLang="en-US" sz="1000" b="1" dirty="0"/>
              <a:t>公信力最强。</a:t>
            </a:r>
            <a:endParaRPr kumimoji="1" lang="en-US" altLang="zh-CN" sz="1000" b="1" dirty="0"/>
          </a:p>
          <a:p>
            <a:pPr>
              <a:buClrTx/>
            </a:pPr>
            <a:r>
              <a:rPr kumimoji="1" lang="zh-CN" altLang="en-US" sz="1000" b="1" dirty="0"/>
              <a:t>抖音心动榜</a:t>
            </a:r>
            <a:r>
              <a:rPr kumimoji="1" lang="zh-CN" altLang="en-US" sz="1000" dirty="0"/>
              <a:t>利用强内容生态和达人资源，通过流量激励、降佣补贴与营销活动打造榜单声量，商家权益最丰富。</a:t>
            </a:r>
            <a:endParaRPr kumimoji="1" lang="en-US" altLang="zh-CN" sz="1000" dirty="0"/>
          </a:p>
          <a:p>
            <a:pPr>
              <a:buClrTx/>
            </a:pPr>
            <a:r>
              <a:rPr kumimoji="1" lang="zh-CN" altLang="en-US" sz="1000" b="1" dirty="0"/>
              <a:t>高德发挥出行与地理数据优势</a:t>
            </a:r>
            <a:r>
              <a:rPr kumimoji="1" lang="zh-CN" altLang="en-US" sz="1000" dirty="0"/>
              <a:t>，将真实行为数据作为榜单指标，资产利用充分、数据真实性高</a:t>
            </a:r>
            <a:endParaRPr kumimoji="1" lang="en-US" altLang="zh-CN" sz="1000" dirty="0"/>
          </a:p>
          <a:p>
            <a:pPr>
              <a:buClrTx/>
            </a:pPr>
            <a:r>
              <a:rPr lang="zh-CN" altLang="en-US" sz="1000" dirty="0"/>
              <a:t>美团人气榜商家牵引路径最直接，一定程度能推动商家上套代买。</a:t>
            </a:r>
            <a:endParaRPr lang="en-US" altLang="zh-CN" sz="1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506808" y="427701"/>
          <a:ext cx="5470528" cy="4493037"/>
        </p:xfrm>
        <a:graphic>
          <a:graphicData uri="http://schemas.openxmlformats.org/drawingml/2006/table">
            <a:tbl>
              <a:tblPr/>
              <a:tblGrid>
                <a:gridCol w="457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8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52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抖音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高德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核心资产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用户行为数据（交易履约）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浏览、搜索、收藏、消费、评价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·UGC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评价数据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门店信息完整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丰富的供给和履约服务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·UGC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评价数据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用户行为数据（评价交易）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浏览、搜索、收藏、消费、评价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门店信息完整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丰富的供给和履约服务</a:t>
                      </a:r>
                    </a:p>
                  </a:txBody>
                  <a:tcPr marL="2404" marR="2404" marT="240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用户行为数据（内容互动） 点赞、收藏、评价、消费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内容生态丰富 明星达人矩阵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x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直播、短视频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用户行为数据（导航出行） 导航、搜索、消费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地图信息库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27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核心榜单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人气榜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、好评榜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心动榜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扫街榜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37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评选规则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根据商户上周核销量（套餐、代金券、全包、买单以及智能点餐销量）总和进行排序。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根据商户上周星级及好评数量计算综合好评值进行排序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必吃榜以上一年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-12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日为考察期，综合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评价真实可信、口味优中选优、长期稳定体验佳、符合日常消费水平、满足日常就餐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选择五大维度，进行评选。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基于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抖音用户对餐厅的点赞、评价、收藏、消费及商家在抖音经营行为的深浅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，综合优选抖音用户高赞心动之选。榜单划分为人气、氛围、风味三个子榜。调研算法比例：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①心动指数（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40%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订单量和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、好评率、复购率；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②内容热度（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30%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：播放量、短视频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直播间数量、达人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明星推荐；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③用户体验（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20%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：环境体验、服务体验；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④价格力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(10%)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: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价格力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状元榜：基于高德海量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真实出行数据挖掘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的推荐榜单，主要依据商户的出行热度，结合体验品质，在公平公正的基础上计算得到最终入榜名单。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14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商家牵引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合作交易：上线套代买提升订单量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重视营销场：利用特团直营销场提升团购销量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线下店推：将线下流量转化为线上交易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广告投放：使用推广通、智选展位增加曝光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鼓励消费者留下真实评价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维护星级评分，及时处理差评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评价管理：定期分析评价，优化服务细节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会员运营：通过会员体系提升老客复购和评价率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确保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评价真实可信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杜绝刷评或虚假评价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菜品口味需达到较高水平并保持稳定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保持长期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稳定的服务质量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控制差评率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在较低水平，并及时处理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设定合理价位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，符合同城就餐水平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菜品或服务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反映当地特色</a:t>
                      </a:r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进行广告投流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直播、短视频创作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对标美团低价套餐，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保证套餐性价比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维护店铺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星级评价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合作明星、达人探店</a:t>
                      </a:r>
                      <a:b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重视环境、服务提升</a:t>
                      </a:r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引导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商户入驻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购买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搜索广告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7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商家权益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美团搜索排序优先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线上荣誉标签展示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线下免费荣誉物料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美团搜索排序优先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荣誉背书及明星物料支持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专属一对一服务通道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官方活动流量加持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助力上榜商户经营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必吃套餐聚宝盆激励（活动期间）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灵活佣金政策，至高降至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1%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全域流量曝光，推荐、搜索等商家内容商品投放加权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30%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线上应季营销专属资源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线下节日商圈活动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明星及达人资源倾斜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心动套餐货补激励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·1V1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官方企微服务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5000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万次精准流量曝光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，扶持烟火小店，如首页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AI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推荐、搜索热词、导航语音植入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餐饮商家首年免入驻费并提供流量补贴红包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·2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亿打车券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+9.5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亿元消费券补贴引导用户到店消费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148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公信力表达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上榜指标清晰，</a:t>
                      </a:r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端公信力尚可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上榜门槛低，门店质量参差不齐，</a:t>
                      </a:r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端公信力低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必吃榜是行业标杆榜单，公信力非常强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①必吃榜以用户的真实评价数据为基础。通过大模型及人工审核，拦截恶意差评，并设置线索举报通道。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②坚持公平公正的原则，评选过程不牵涉任何经济利益和商业行为，不采纳人为提名，必吃榜不会以任何形式收取评选费用。</a:t>
                      </a:r>
                      <a:b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③所有评选结果受第三方公证机构权威监督公证。</a:t>
                      </a:r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心动榜公信力较弱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除系统算法捞取外，还可以通过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BD/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行业运营提报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达人推荐，影响上榜公平性。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联合行业专家、中国烹饪协会，校验餐厅特色体验，为用户提供优先前往理由，一定程度提供了背书。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高德扫街榜公信力较强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主要来源于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①基于真实到店行为（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亿次导航、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4514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万人真实足迹）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②引入芝麻信用体系，并通过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AI 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风控过滤虚假内容。</a:t>
                      </a:r>
                      <a:b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③不受高德合作或其他商业行为影响。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8706" y="123823"/>
            <a:ext cx="8583088" cy="266037"/>
          </a:xfrm>
        </p:spPr>
        <p:txBody>
          <a:bodyPr/>
          <a:lstStyle/>
          <a:p>
            <a:r>
              <a:rPr lang="zh-CN" altLang="en-US" dirty="0"/>
              <a:t>资产建设问题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竞品分析</a:t>
            </a:r>
            <a:r>
              <a:rPr lang="en-US" altLang="zh-CN" dirty="0"/>
              <a:t>-</a:t>
            </a:r>
            <a:r>
              <a:rPr lang="zh-CN" altLang="en-US" dirty="0"/>
              <a:t>榜单资产引用对比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双平台核心资产不一致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80456" y="-603779"/>
            <a:ext cx="8639588" cy="409045"/>
          </a:xfrm>
        </p:spPr>
        <p:txBody>
          <a:bodyPr/>
          <a:lstStyle/>
          <a:p>
            <a:r>
              <a:rPr lang="zh-CN" altLang="en-US" dirty="0"/>
              <a:t>双平台榜单资产应用现状、规模 </a:t>
            </a:r>
            <a:r>
              <a:rPr lang="en-US" altLang="zh-CN" dirty="0"/>
              <a:t>1</a:t>
            </a:r>
            <a:r>
              <a:rPr lang="en-GB" altLang="zh-CN" dirty="0"/>
              <a:t>p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资产建设问题</a:t>
            </a:r>
            <a:endParaRPr kumimoji="1" lang="zh-CN" altLang="en-US" dirty="0"/>
          </a:p>
        </p:txBody>
      </p:sp>
      <p:sp>
        <p:nvSpPr>
          <p:cNvPr id="15" name="内容占位符 2"/>
          <p:cNvSpPr txBox="1"/>
          <p:nvPr/>
        </p:nvSpPr>
        <p:spPr>
          <a:xfrm>
            <a:off x="353224" y="1326751"/>
            <a:ext cx="3047623" cy="303704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b="1" i="0" dirty="0">
                <a:solidFill>
                  <a:srgbClr val="1F2328"/>
                </a:solidFill>
                <a:effectLst/>
                <a:latin typeface="PingFang SC"/>
              </a:rPr>
              <a:t>双平台</a:t>
            </a:r>
            <a:r>
              <a:rPr lang="zh-CN" altLang="en-US" sz="1000" b="1" dirty="0">
                <a:solidFill>
                  <a:srgbClr val="1F2328"/>
                </a:solidFill>
                <a:latin typeface="PingFang SC"/>
              </a:rPr>
              <a:t>核心</a:t>
            </a:r>
            <a:r>
              <a:rPr lang="zh-CN" altLang="en-US" sz="1000" b="1" i="0" dirty="0">
                <a:solidFill>
                  <a:srgbClr val="1F2328"/>
                </a:solidFill>
                <a:effectLst/>
                <a:latin typeface="PingFang SC"/>
              </a:rPr>
              <a:t>资产</a:t>
            </a:r>
            <a:r>
              <a:rPr lang="zh-CN" altLang="en-US" sz="1000" b="1" dirty="0">
                <a:solidFill>
                  <a:srgbClr val="1F2328"/>
                </a:solidFill>
                <a:latin typeface="PingFang SC"/>
              </a:rPr>
              <a:t>不一致：</a:t>
            </a:r>
            <a:endParaRPr lang="en-US" altLang="zh-CN" sz="1000" b="1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美团和点评榜单部分互通，前台品类、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星级</a:t>
            </a: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、门店收藏打卡不一致，门店信息、供给、评价等基础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资产已打通。</a:t>
            </a:r>
            <a:endParaRPr lang="en-US" altLang="zh-CN" sz="1000" b="0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b="1" i="0" dirty="0">
                <a:solidFill>
                  <a:srgbClr val="1F2328"/>
                </a:solidFill>
                <a:effectLst/>
                <a:latin typeface="PingFang SC"/>
              </a:rPr>
              <a:t>美团榜单资产应用单一：</a:t>
            </a:r>
            <a:endParaRPr lang="en-US" altLang="zh-CN" sz="1000" b="1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目前</a:t>
            </a: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各类榜单对数据资产的应用集中在星级评分及交易指标，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点评侧榜单指标较复合，</a:t>
            </a: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美团侧榜单指标较单一。</a:t>
            </a:r>
            <a:endParaRPr lang="en-US" altLang="zh-CN" sz="1000" dirty="0">
              <a:solidFill>
                <a:srgbClr val="62799C"/>
              </a:solidFill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pPr marL="0" indent="0">
              <a:buNone/>
            </a:pPr>
            <a:r>
              <a:rPr lang="zh-CN" altLang="en-US" sz="1000" b="1" dirty="0">
                <a:solidFill>
                  <a:srgbClr val="1F2328"/>
                </a:solidFill>
                <a:latin typeface="PingFang SC"/>
              </a:rPr>
              <a:t>刷好评、星级很难维持、不确定性：</a:t>
            </a:r>
            <a:endParaRPr lang="en-US" altLang="zh-CN" sz="1000" b="1" dirty="0">
              <a:solidFill>
                <a:srgbClr val="1F2328"/>
              </a:solidFill>
              <a:latin typeface="PingFang SC"/>
            </a:endParaRPr>
          </a:p>
          <a:p>
            <a:pPr marL="0" indent="0">
              <a:buNone/>
            </a:pP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评价和星级在双侧平台和各类榜单中应用较为高频，且对于榜单排序影响较大，因此商户对于好评数量和星级分值的位置十分在意，但又没有明确规则感知。</a:t>
            </a:r>
            <a:endParaRPr lang="en-US" altLang="zh-CN" sz="1000" b="0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00" b="1" dirty="0">
                <a:solidFill>
                  <a:srgbClr val="1F2328"/>
                </a:solidFill>
                <a:latin typeface="PingFang SC"/>
              </a:rPr>
              <a:t>资产覆盖率不足：</a:t>
            </a:r>
            <a:endParaRPr lang="en-US" altLang="zh-CN" sz="1000" b="1" dirty="0">
              <a:solidFill>
                <a:srgbClr val="1F2328"/>
              </a:solidFill>
              <a:latin typeface="PingFang SC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合作套代买的商户仅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26.8%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；排队、智能点餐的覆盖不足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1%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；评价覆盖率不足一半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41%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；美团星级覆盖率仅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41.75%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，点评侧更低只有</a:t>
            </a:r>
            <a:r>
              <a:rPr lang="en-US" altLang="zh-CN" sz="1000" dirty="0">
                <a:solidFill>
                  <a:srgbClr val="1F2328"/>
                </a:solidFill>
                <a:latin typeface="PingFang SC"/>
              </a:rPr>
              <a:t>35.72%</a:t>
            </a:r>
            <a:r>
              <a:rPr lang="zh-CN" altLang="en-US" sz="1000" dirty="0">
                <a:solidFill>
                  <a:srgbClr val="1F2328"/>
                </a:solidFill>
                <a:latin typeface="PingFang SC"/>
              </a:rPr>
              <a:t>。</a:t>
            </a:r>
            <a:endParaRPr lang="en-US" altLang="zh-CN" sz="1000" b="1" dirty="0">
              <a:solidFill>
                <a:srgbClr val="1F2328"/>
              </a:solidFill>
              <a:latin typeface="PingFang SC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517892" y="217212"/>
          <a:ext cx="5317397" cy="4887268"/>
        </p:xfrm>
        <a:graphic>
          <a:graphicData uri="http://schemas.openxmlformats.org/drawingml/2006/table">
            <a:tbl>
              <a:tblPr/>
              <a:tblGrid>
                <a:gridCol w="42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5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5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0969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资产类型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资产数据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双平台展示一致性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覆盖率</a:t>
                      </a:r>
                      <a:endParaRPr lang="en-US" altLang="zh-CN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（全国营业中）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资产规模</a:t>
                      </a:r>
                      <a:endParaRPr lang="en-US" altLang="zh-CN" sz="600" b="1" i="0" u="none" strike="noStrike" kern="12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 defTabSz="685800" rtl="0" eaLnBrk="1" fontAlgn="ctr" latinLnBrk="0" hangingPunct="1"/>
                      <a:r>
                        <a:rPr lang="zh-CN" altLang="en-US" sz="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（全国营业中）</a:t>
                      </a:r>
                      <a:endParaRPr lang="zh-CN" altLang="en-US" sz="600" b="1" i="0" u="none" strike="noStrike" kern="1200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美团人气榜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美团好评榜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点评必吃榜*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点评热门榜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点评好评榜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点评销量榜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打卡人气榜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9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门店信息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前台品类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8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后台品类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6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基本信息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√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8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商家标签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部分一致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3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交易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产生核销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前台展示一致（开店宝后台可分开）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3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流量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意向</a:t>
                      </a: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UV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本异地流量美团和点评各自一套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69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供给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套代买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26.80%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3,279,520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89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服务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0.82%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100,334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8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预订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8.62%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1,055,012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6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智能点餐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0.09%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10,596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69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已打通，但召排逻辑不一致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41%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5,028,246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√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69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星级评分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mt：41.75%</a:t>
                      </a:r>
                      <a:b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dp：35.72%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mt：5,108,351</a:t>
                      </a:r>
                      <a:b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dp：4,370,574</a:t>
                      </a:r>
                      <a:endParaRPr lang="en-US" sz="600" b="0" i="0" u="none" strike="noStrike" dirty="0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只用美团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√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89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菜品信息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98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商家招牌菜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一致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6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网友推荐菜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1697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互动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收藏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 :40.29%</a:t>
                      </a:r>
                      <a:b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: 26.68%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mt：4,930,265</a:t>
                      </a:r>
                      <a:b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3,264,862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6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打卡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美团无打卡，点评自己一套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dp：33.88%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4,123,149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只用点评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1697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分享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美团和点评各自一套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 : 2.57%</a:t>
                      </a:r>
                      <a:b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: 2.12%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mt：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314,734</a:t>
                      </a:r>
                      <a:b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6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dp</a:t>
                      </a: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：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259,938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？？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</a:p>
                  </a:txBody>
                  <a:tcPr marL="2483" marR="2483" marT="24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zh-CN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*点评必吃榜涉及数据资产都是算法黑盒机密，因此仅勾选规则中明确引用的数据资产。</a:t>
                      </a:r>
                    </a:p>
                  </a:txBody>
                  <a:tcPr marL="2483" marR="2483" marT="24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429333">
                <a:tc gridSpan="12">
                  <a:txBody>
                    <a:bodyPr/>
                    <a:lstStyle/>
                    <a:p>
                      <a:pPr algn="l" fontAlgn="t"/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*统计周期截止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2025/09/30</a:t>
                      </a:r>
                      <a:b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覆盖率分母：</a:t>
                      </a:r>
                      <a:r>
                        <a:rPr lang="en-US" altLang="zh-CN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9/30</a:t>
                      </a:r>
                      <a:r>
                        <a:rPr lang="zh-CN" alt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当天餐非海外营业中门店 约</a:t>
                      </a:r>
                      <a:r>
                        <a:rPr lang="en-US" altLang="zh-CN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1223</a:t>
                      </a:r>
                      <a:r>
                        <a:rPr lang="zh-CN" altLang="en-US" sz="4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万家</a:t>
                      </a:r>
                      <a:b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预订覆盖率分子：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FDC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标签表覆盖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需要提前预订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','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可预订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','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提前预订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','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可在线预订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'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门店数</a:t>
                      </a:r>
                      <a:b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星级评分覆盖率分子：星级评分＞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且不为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NULL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的门店数</a:t>
                      </a:r>
                      <a:b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评价覆盖率分子：累计过审评价数＞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的门店数</a:t>
                      </a:r>
                      <a:b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打卡覆盖率分子：累计打卡（签到）数＞</a:t>
                      </a:r>
                      <a:r>
                        <a:rPr lang="en-US" altLang="zh-C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  <a:r>
                        <a:rPr lang="zh-CN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的门店数</a:t>
                      </a:r>
                    </a:p>
                  </a:txBody>
                  <a:tcPr marL="2483" marR="2483" marT="248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5940" y="378962"/>
            <a:ext cx="8584470" cy="54794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</a:rPr>
              <a:t>刷好评、星级很难维持、不确定性</a:t>
            </a:r>
            <a:endParaRPr kumimoji="1" lang="zh-CN" altLang="en-US" dirty="0">
              <a:solidFill>
                <a:srgbClr val="000000"/>
              </a:solidFill>
              <a:latin typeface="楷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资产建设问题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95199" y="4029663"/>
            <a:ext cx="729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星级</a:t>
            </a:r>
            <a:endParaRPr lang="zh-CN" altLang="en-US" sz="1100" b="1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495895" y="3877636"/>
            <a:ext cx="858843" cy="886902"/>
            <a:chOff x="5261033" y="2308393"/>
            <a:chExt cx="928310" cy="926437"/>
          </a:xfrm>
        </p:grpSpPr>
        <p:sp>
          <p:nvSpPr>
            <p:cNvPr id="21" name="左中括号 20"/>
            <p:cNvSpPr/>
            <p:nvPr/>
          </p:nvSpPr>
          <p:spPr>
            <a:xfrm>
              <a:off x="5261033" y="2308393"/>
              <a:ext cx="120880" cy="79240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右中括号 21"/>
            <p:cNvSpPr/>
            <p:nvPr/>
          </p:nvSpPr>
          <p:spPr>
            <a:xfrm>
              <a:off x="6069680" y="2308393"/>
              <a:ext cx="119663" cy="792406"/>
            </a:xfrm>
            <a:prstGeom prst="righ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374181" y="2318567"/>
              <a:ext cx="755330" cy="9162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b="1" dirty="0"/>
                <a:t>评价分值评价数量</a:t>
              </a:r>
              <a:endParaRPr lang="en-US" altLang="zh-CN" sz="1000" b="1" dirty="0"/>
            </a:p>
            <a:p>
              <a:pPr algn="ctr"/>
              <a:r>
                <a:rPr lang="zh-CN" altLang="en-US" sz="1000" b="1" dirty="0"/>
                <a:t>评价时间</a:t>
              </a:r>
              <a:endParaRPr lang="en-US" altLang="zh-CN" sz="1000" b="1" dirty="0"/>
            </a:p>
            <a:p>
              <a:pPr algn="ctr"/>
              <a:r>
                <a:rPr lang="zh-CN" altLang="en-US" sz="1000" b="1" dirty="0"/>
                <a:t>评价长度</a:t>
              </a:r>
              <a:endParaRPr lang="en-US" altLang="zh-CN" sz="1000" b="1" dirty="0"/>
            </a:p>
            <a:p>
              <a:pPr algn="ctr"/>
              <a:r>
                <a:rPr lang="en-US" altLang="zh-CN" sz="1100" b="1" dirty="0"/>
                <a:t>……</a:t>
              </a:r>
              <a:endParaRPr lang="zh-CN" altLang="en-US" sz="1100" b="1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107" y="3877634"/>
            <a:ext cx="858843" cy="758590"/>
            <a:chOff x="5261033" y="2308393"/>
            <a:chExt cx="928310" cy="792406"/>
          </a:xfrm>
        </p:grpSpPr>
        <p:sp>
          <p:nvSpPr>
            <p:cNvPr id="25" name="左中括号 24"/>
            <p:cNvSpPr/>
            <p:nvPr/>
          </p:nvSpPr>
          <p:spPr>
            <a:xfrm>
              <a:off x="5261033" y="2308393"/>
              <a:ext cx="120880" cy="792406"/>
            </a:xfrm>
            <a:prstGeom prst="lef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右中括号 25"/>
            <p:cNvSpPr/>
            <p:nvPr/>
          </p:nvSpPr>
          <p:spPr>
            <a:xfrm>
              <a:off x="6069680" y="2308393"/>
              <a:ext cx="119663" cy="792406"/>
            </a:xfrm>
            <a:prstGeom prst="righ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304181" y="2472678"/>
              <a:ext cx="846305" cy="4179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b="1" dirty="0"/>
                <a:t>前台城市</a:t>
              </a:r>
              <a:endParaRPr lang="en-US" altLang="zh-CN" sz="1000" b="1" dirty="0"/>
            </a:p>
            <a:p>
              <a:pPr algn="ctr"/>
              <a:r>
                <a:rPr lang="zh-CN" altLang="en-US" sz="1000" b="1" dirty="0"/>
                <a:t>后台品类</a:t>
              </a:r>
              <a:endParaRPr lang="en-US" altLang="zh-CN" sz="1000" b="1" dirty="0"/>
            </a:p>
          </p:txBody>
        </p:sp>
      </p:grpSp>
      <p:sp>
        <p:nvSpPr>
          <p:cNvPr id="30" name="乘号 62"/>
          <p:cNvSpPr/>
          <p:nvPr/>
        </p:nvSpPr>
        <p:spPr>
          <a:xfrm>
            <a:off x="2684204" y="4122760"/>
            <a:ext cx="168418" cy="224406"/>
          </a:xfrm>
          <a:prstGeom prst="mathMultiply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ln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586561" y="3739828"/>
            <a:ext cx="6988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dirty="0">
                <a:solidFill>
                  <a:schemeClr val="tx2"/>
                </a:solidFill>
              </a:rPr>
              <a:t>计算因子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201111" y="3748368"/>
            <a:ext cx="6988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00" b="1" dirty="0">
                <a:solidFill>
                  <a:schemeClr val="tx2"/>
                </a:solidFill>
              </a:rPr>
              <a:t>排序映射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113789" y="3962715"/>
            <a:ext cx="1057131" cy="55399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sz="6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美团星级计算步骤：</a:t>
            </a:r>
            <a:endParaRPr lang="en-US" altLang="zh-CN" sz="600" b="1" i="0" u="none" strike="noStrike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6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①商户、评论筛选</a:t>
            </a:r>
            <a:r>
              <a:rPr lang="zh-CN" altLang="en-US" sz="6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6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②评论权重计算</a:t>
            </a:r>
            <a:endParaRPr lang="en-US" altLang="zh-CN" sz="600" b="0" i="0" u="none" strike="noStrike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6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③</a:t>
            </a:r>
            <a:r>
              <a:rPr lang="zh-CN" altLang="en-US" sz="600" dirty="0">
                <a:effectLst/>
              </a:rPr>
              <a:t>使用固定阈值</a:t>
            </a:r>
            <a:r>
              <a:rPr lang="en-US" altLang="zh-CN" sz="600" dirty="0">
                <a:effectLst/>
              </a:rPr>
              <a:t>+</a:t>
            </a:r>
            <a:r>
              <a:rPr lang="zh-CN" altLang="en-US" sz="600" dirty="0">
                <a:effectLst/>
              </a:rPr>
              <a:t>动态阈值映射到最终分数</a:t>
            </a:r>
          </a:p>
        </p:txBody>
      </p:sp>
      <p:sp>
        <p:nvSpPr>
          <p:cNvPr id="35" name="内容占位符 2"/>
          <p:cNvSpPr txBox="1"/>
          <p:nvPr/>
        </p:nvSpPr>
        <p:spPr>
          <a:xfrm>
            <a:off x="308706" y="811931"/>
            <a:ext cx="8583088" cy="223155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sz="1200" dirty="0"/>
              <a:t>当前星级评价规存在规则不清晰、商家刷好评、竞对刷差评等问题，导致星级波动大、难以管理，并最终影响商户上榜及排名</a:t>
            </a:r>
            <a:r>
              <a:rPr lang="zh-CN" altLang="en-US" sz="1300" b="0" i="0" dirty="0">
                <a:solidFill>
                  <a:srgbClr val="1F2328"/>
                </a:solidFill>
                <a:effectLst/>
                <a:latin typeface="PingFang SC"/>
              </a:rPr>
              <a:t>：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 algn="l">
              <a:buClr>
                <a:schemeClr val="tx1"/>
              </a:buClr>
              <a:buFont typeface="+mj-lt"/>
              <a:buAutoNum type="arabicPeriod"/>
            </a:pPr>
            <a:r>
              <a:rPr lang="zh-CN" altLang="en-US" sz="1100" b="1" dirty="0">
                <a:latin typeface="PingFang SC"/>
              </a:rPr>
              <a:t>计算因子多权重不清晰</a:t>
            </a:r>
            <a:r>
              <a:rPr lang="zh-CN" altLang="en-US" sz="1100" b="1" i="0" dirty="0">
                <a:effectLst/>
                <a:latin typeface="PingFang SC"/>
              </a:rPr>
              <a:t>：</a:t>
            </a:r>
            <a:r>
              <a:rPr lang="zh-CN" altLang="en-US" sz="1100" b="0" i="0" dirty="0">
                <a:effectLst/>
                <a:latin typeface="PingFang SC"/>
              </a:rPr>
              <a:t>星级计算综合考虑评分分值、评分数量、评分时间、评分长度等多个因素。</a:t>
            </a:r>
            <a:r>
              <a:rPr lang="zh-CN" altLang="en-US" sz="1100" b="0" i="0" dirty="0">
                <a:solidFill>
                  <a:srgbClr val="1F2328"/>
                </a:solidFill>
                <a:effectLst/>
                <a:latin typeface="PingFang SC"/>
              </a:rPr>
              <a:t>但具体权重和补救路径并不透明，让商家难以精准维护。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 algn="l">
              <a:buClr>
                <a:schemeClr val="tx1"/>
              </a:buClr>
              <a:buFont typeface="+mj-lt"/>
              <a:buAutoNum type="arabicPeriod"/>
            </a:pPr>
            <a:r>
              <a:rPr lang="zh-CN" altLang="en-US" sz="1100" b="1" i="0" dirty="0">
                <a:effectLst/>
                <a:latin typeface="PingFang SC"/>
              </a:rPr>
              <a:t>恶意</a:t>
            </a:r>
            <a:r>
              <a:rPr lang="en-US" altLang="zh-CN" sz="1100" b="1" i="0" dirty="0">
                <a:effectLst/>
                <a:latin typeface="PingFang SC"/>
              </a:rPr>
              <a:t>/</a:t>
            </a:r>
            <a:r>
              <a:rPr lang="zh-CN" altLang="en-US" sz="1100" b="1" i="0" dirty="0">
                <a:effectLst/>
                <a:latin typeface="PingFang SC"/>
              </a:rPr>
              <a:t>虚假评价干扰</a:t>
            </a:r>
            <a:r>
              <a:rPr lang="zh-CN" altLang="en-US" sz="1100" dirty="0">
                <a:latin typeface="PingFang SC"/>
              </a:rPr>
              <a:t>：</a:t>
            </a:r>
            <a:r>
              <a:rPr lang="zh-CN" altLang="en-US" sz="1100" b="0" i="0" dirty="0">
                <a:effectLst/>
                <a:latin typeface="PingFang SC"/>
              </a:rPr>
              <a:t>尽管平台设有识别机制，但依然无法完全杜绝刷好评或恶意差评，这些异常数据会直接影响整体评分公正性和可信度。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eriod"/>
            </a:pPr>
            <a:r>
              <a:rPr lang="zh-CN" altLang="en-US" sz="1100" b="1" i="0" dirty="0">
                <a:solidFill>
                  <a:srgbClr val="1F2328"/>
                </a:solidFill>
                <a:effectLst/>
                <a:latin typeface="PingFang SC"/>
              </a:rPr>
              <a:t>美团星级统计门槛低：</a:t>
            </a:r>
            <a:r>
              <a:rPr lang="zh-CN" altLang="en-US" sz="1100" dirty="0">
                <a:solidFill>
                  <a:srgbClr val="1F2328"/>
                </a:solidFill>
                <a:latin typeface="PingFang SC"/>
              </a:rPr>
              <a:t>美团星级统计全部打星评价，包括无字评价，</a:t>
            </a:r>
            <a:r>
              <a:rPr lang="zh-CN" altLang="en-US" sz="1100" b="0" i="0" dirty="0">
                <a:solidFill>
                  <a:srgbClr val="1F2328"/>
                </a:solidFill>
                <a:effectLst/>
                <a:latin typeface="PingFang SC"/>
              </a:rPr>
              <a:t>大量简短无实质信息的好评容易被批量操作，从而稀释真实口碑，使得评分参考价值下降。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 algn="l">
              <a:buClr>
                <a:schemeClr val="tx1"/>
              </a:buClr>
              <a:buFont typeface="+mj-lt"/>
              <a:buAutoNum type="arabicPeriod"/>
            </a:pPr>
            <a:r>
              <a:rPr lang="zh-CN" altLang="en-US" sz="1100" b="1" i="0" dirty="0">
                <a:effectLst/>
                <a:latin typeface="PingFang SC"/>
              </a:rPr>
              <a:t>缺乏明确反馈与优化通道</a:t>
            </a:r>
            <a:r>
              <a:rPr lang="zh-CN" altLang="en-US" sz="1100" dirty="0">
                <a:latin typeface="PingFang SC"/>
              </a:rPr>
              <a:t>：</a:t>
            </a:r>
            <a:r>
              <a:rPr lang="zh-CN" altLang="en-US" sz="1100" b="0" i="0" dirty="0">
                <a:effectLst/>
                <a:latin typeface="PingFang SC"/>
              </a:rPr>
              <a:t>商户很难获知哪些具体行为能有效提升星级，也缺乏清晰的指引，进一步加深了星级评分管理的困难。</a:t>
            </a:r>
            <a:endParaRPr lang="en-US" altLang="zh-CN" sz="1100" b="0" i="0" dirty="0">
              <a:effectLst/>
              <a:latin typeface="PingFang SC"/>
            </a:endParaRPr>
          </a:p>
          <a:p>
            <a:pPr marL="228600" indent="-228600" algn="l">
              <a:buClr>
                <a:schemeClr val="tx1"/>
              </a:buClr>
              <a:buFont typeface="+mj-lt"/>
              <a:buAutoNum type="arabicPeriod"/>
            </a:pPr>
            <a:endParaRPr lang="zh-CN" altLang="en-US" sz="1100" b="0" i="0" dirty="0">
              <a:effectLst/>
              <a:latin typeface="PingFang SC"/>
            </a:endParaRPr>
          </a:p>
          <a:p>
            <a:pPr marL="0" indent="0" algn="l">
              <a:buClr>
                <a:schemeClr val="tx1"/>
              </a:buClr>
              <a:buNone/>
            </a:pPr>
            <a:endParaRPr lang="zh-CN" altLang="en-US" sz="1100" b="0" i="0" dirty="0">
              <a:effectLst/>
              <a:latin typeface="PingFang SC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zh-CN" sz="1000" dirty="0"/>
          </a:p>
        </p:txBody>
      </p:sp>
      <p:sp>
        <p:nvSpPr>
          <p:cNvPr id="18" name="乘号 62"/>
          <p:cNvSpPr/>
          <p:nvPr/>
        </p:nvSpPr>
        <p:spPr>
          <a:xfrm>
            <a:off x="1123909" y="4101551"/>
            <a:ext cx="168418" cy="224406"/>
          </a:xfrm>
          <a:prstGeom prst="mathEqual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ln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697501" y="3377939"/>
            <a:ext cx="27985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zh-CN" altLang="en-US" sz="1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星级基础规则</a:t>
            </a:r>
            <a:endParaRPr lang="en-US" altLang="zh-CN" sz="10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fontAlgn="ctr"/>
            <a:r>
              <a:rPr lang="en-US" altLang="zh-CN" sz="1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点评与美团的星级评分体系各自独立</a:t>
            </a:r>
            <a:r>
              <a:rPr lang="zh-CN" altLang="en-US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，同一家商户在两个平台的星级没有直接相关性</a:t>
            </a:r>
            <a:br>
              <a:rPr lang="zh-CN" altLang="en-US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数据源不同：美团星级统计美团和点评双平台</a:t>
            </a:r>
            <a:r>
              <a:rPr lang="zh-CN" altLang="en-US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的全部打星评价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（有字</a:t>
            </a:r>
            <a:r>
              <a:rPr lang="en-US" altLang="zh-CN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无字）</a:t>
            </a:r>
            <a:r>
              <a:rPr lang="zh-CN" altLang="en-US" sz="10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点评星级只计算用户通过</a:t>
            </a:r>
            <a:r>
              <a:rPr lang="zh-CN" altLang="en-US" sz="1000" b="1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大众点评发表的评价</a:t>
            </a:r>
            <a:r>
              <a:rPr lang="zh-CN" altLang="en-US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非折叠区的全部评价</a:t>
            </a:r>
            <a:r>
              <a:rPr lang="en-US" altLang="zh-CN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折叠区的未超过</a:t>
            </a:r>
            <a:r>
              <a:rPr lang="en-US" altLang="zh-CN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sz="100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字的真实评价。</a:t>
            </a:r>
            <a:endParaRPr lang="zh-CN" altLang="en-US" sz="10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5940" y="378962"/>
            <a:ext cx="8584470" cy="547945"/>
          </a:xfrm>
        </p:spPr>
        <p:txBody>
          <a:bodyPr/>
          <a:lstStyle/>
          <a:p>
            <a:r>
              <a:rPr lang="zh-CN" altLang="en-US" dirty="0"/>
              <a:t>核心资产未覆盖：评价星级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资产建设问题</a:t>
            </a:r>
            <a:endParaRPr kumimoji="1" lang="zh-CN" altLang="en-US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328406" y="-678122"/>
            <a:ext cx="8639588" cy="6588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评论扽数量、分布、或不置信评论规模、数量</a:t>
            </a:r>
            <a:r>
              <a:rPr lang="en-US" altLang="zh-CN" dirty="0"/>
              <a:t>——</a:t>
            </a:r>
            <a:r>
              <a:rPr lang="zh-CN" altLang="en-US" dirty="0"/>
              <a:t>如评分分布不均区分度不大？评论数量少（商家</a:t>
            </a:r>
            <a:r>
              <a:rPr lang="en-US" altLang="zh-CN" dirty="0"/>
              <a:t>-</a:t>
            </a:r>
            <a:r>
              <a:rPr lang="zh-CN" altLang="en-US" dirty="0"/>
              <a:t>评论数量分布）、差评影响失衡（差评规模、差评率等）</a:t>
            </a:r>
            <a:r>
              <a:rPr lang="en-US" altLang="zh-CN" dirty="0"/>
              <a:t>1p</a:t>
            </a:r>
          </a:p>
          <a:p>
            <a:pPr marL="0" indent="0">
              <a:buFont typeface="Arial" panose="020B0604020202020204" pitchFamily="34" charset="0"/>
              <a:buNone/>
            </a:pPr>
            <a:endParaRPr kumimoji="1" lang="zh-CN" altLang="en-US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328405" y="885543"/>
            <a:ext cx="8608186" cy="16685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87500" lnSpcReduction="20000"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dirty="0"/>
              <a:t>榜单在核心资产的引用上较为突出的两个资产是星级和评价：</a:t>
            </a:r>
            <a:endParaRPr kumimoji="1"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CN" dirty="0"/>
              <a:t>①</a:t>
            </a:r>
            <a:r>
              <a:rPr kumimoji="1" lang="zh-CN" altLang="en-US" dirty="0"/>
              <a:t> 评价数量为＜</a:t>
            </a:r>
            <a:r>
              <a:rPr kumimoji="1" lang="en-US" altLang="zh-CN" dirty="0"/>
              <a:t>5</a:t>
            </a:r>
            <a:r>
              <a:rPr kumimoji="1" lang="zh-CN" altLang="en-US" dirty="0"/>
              <a:t>条的门店占比到餐所有门店近</a:t>
            </a:r>
            <a:r>
              <a:rPr kumimoji="1" lang="en-US" altLang="zh-CN" dirty="0"/>
              <a:t>74%</a:t>
            </a:r>
            <a:r>
              <a:rPr kumimoji="1" lang="zh-CN" altLang="en-US" dirty="0"/>
              <a:t>，意味着超过一半的门店因为</a:t>
            </a:r>
            <a:r>
              <a:rPr kumimoji="1" lang="zh-CN" altLang="en-US" b="1" dirty="0"/>
              <a:t>评价数量不足导致无法上榜</a:t>
            </a:r>
            <a:r>
              <a:rPr kumimoji="1" lang="zh-CN" altLang="en-US" dirty="0"/>
              <a:t>（美团好评榜、点评侧所有榜单）；近</a:t>
            </a:r>
            <a:r>
              <a:rPr kumimoji="1" lang="en-US" altLang="zh-CN" dirty="0"/>
              <a:t>90</a:t>
            </a:r>
            <a:r>
              <a:rPr kumimoji="1" lang="zh-CN" altLang="en-US" dirty="0"/>
              <a:t>天新增评论数＞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的门店仅占到餐所有门店约</a:t>
            </a:r>
            <a:r>
              <a:rPr kumimoji="1" lang="en-US" altLang="zh-CN" dirty="0"/>
              <a:t>22%</a:t>
            </a:r>
            <a:r>
              <a:rPr kumimoji="1" lang="zh-CN" altLang="en-US" dirty="0"/>
              <a:t>，</a:t>
            </a:r>
            <a:r>
              <a:rPr kumimoji="1" lang="zh-CN" altLang="en-US" b="1" dirty="0"/>
              <a:t>新增评论数不足会导致无法上榜</a:t>
            </a:r>
            <a:r>
              <a:rPr kumimoji="1" lang="zh-CN" altLang="en-US" dirty="0"/>
              <a:t>（点评数据表、城市生活指南上榜基础门槛之一）。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②</a:t>
            </a:r>
            <a:r>
              <a:rPr kumimoji="1" lang="zh-CN" altLang="en-US" dirty="0"/>
              <a:t>同时评价数量影响星级，导致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</a:rPr>
              <a:t>美团门店星级覆盖率仅有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</a:rPr>
              <a:t>41.75%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</a:rPr>
              <a:t>，点评门店星级覆盖率更低</a:t>
            </a: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</a:rPr>
              <a:t>35.72%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</a:rPr>
              <a:t>；并且</a:t>
            </a:r>
            <a:r>
              <a:rPr kumimoji="1" lang="zh-CN" altLang="en-US" dirty="0"/>
              <a:t>因为上榜门店的星级底线只需要</a:t>
            </a:r>
            <a:r>
              <a:rPr kumimoji="1" lang="en-US" altLang="zh-CN" dirty="0"/>
              <a:t>≥3</a:t>
            </a:r>
            <a:r>
              <a:rPr kumimoji="1" lang="zh-CN" altLang="en-US" dirty="0"/>
              <a:t>分，但美团星级的起始分值就在</a:t>
            </a:r>
            <a:r>
              <a:rPr kumimoji="1" lang="en-US" altLang="zh-CN" dirty="0"/>
              <a:t>3</a:t>
            </a:r>
            <a:r>
              <a:rPr kumimoji="1" lang="zh-CN" altLang="en-US" dirty="0"/>
              <a:t>分，因此目前</a:t>
            </a:r>
            <a:r>
              <a:rPr kumimoji="1" lang="zh-CN" altLang="en-US" b="1" dirty="0"/>
              <a:t>星级对榜单入选门槛没有任何帮助，且不会对于榜单的排名有直接影响。</a:t>
            </a:r>
            <a:r>
              <a:rPr kumimoji="1" lang="zh-CN" altLang="en-US" sz="900" dirty="0"/>
              <a:t>（</a:t>
            </a:r>
            <a:r>
              <a:rPr lang="zh-CN" altLang="en-US" sz="900" dirty="0"/>
              <a:t>人气榜 美团星级≥</a:t>
            </a:r>
            <a:r>
              <a:rPr lang="en-US" altLang="zh-CN" sz="900" dirty="0"/>
              <a:t>3 </a:t>
            </a:r>
            <a:r>
              <a:rPr lang="zh-CN" altLang="en-US" sz="900" dirty="0"/>
              <a:t>；好评榜 美团星级≥</a:t>
            </a:r>
            <a:r>
              <a:rPr lang="en-US" altLang="zh-CN" sz="900" dirty="0"/>
              <a:t>4</a:t>
            </a:r>
            <a:r>
              <a:rPr lang="zh-CN" altLang="en-US" sz="900" dirty="0"/>
              <a:t>；热门榜、销量榜、打卡人气榜 点评星级≥</a:t>
            </a:r>
            <a:r>
              <a:rPr lang="en-US" altLang="zh-CN" sz="900" dirty="0"/>
              <a:t>3.5</a:t>
            </a:r>
            <a:r>
              <a:rPr lang="zh-CN" altLang="en-US" sz="900" dirty="0"/>
              <a:t>；好评榜 口味榜、服务榜 点评星级≥</a:t>
            </a:r>
            <a:r>
              <a:rPr lang="en-US" altLang="zh-CN" sz="900" dirty="0"/>
              <a:t>4</a:t>
            </a:r>
            <a:r>
              <a:rPr kumimoji="1" lang="zh-CN" altLang="en-US" sz="900" dirty="0"/>
              <a:t>）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17" y="2474682"/>
            <a:ext cx="3026122" cy="1832271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/>
        </p:nvGraphicFramePr>
        <p:xfrm>
          <a:off x="181109" y="2474677"/>
          <a:ext cx="5760720" cy="2116455"/>
        </p:xfrm>
        <a:graphic>
          <a:graphicData uri="http://schemas.openxmlformats.org/drawingml/2006/table">
            <a:tbl>
              <a:tblPr/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846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营业中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DB6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城市线级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评价数=0的门店数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无评论门店数占比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评价渗透率(%)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0＜评价数量＜5的门店数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0＜评价数量＜5的门店数占比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5≤评价数量的门店数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ADE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5≤评价数量的门店数占比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ADE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10≤评价数量的门店数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10≤评价数量的门店数占比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全国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12,233,409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7,178,117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58.7%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5,055,292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41.3%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1,881,324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15.4%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3,173,968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25.9%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2,519,853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20.6%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4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高线城市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5,812,391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3,298,972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56.8%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2,513,419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43.2%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750,960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12.9%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1,762,459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30.3%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1,459,044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25.1%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中低线城市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6,421,018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3,879,145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60.4%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2,541,873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39.6%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1,130,364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17.6%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1,411,509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22.0%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1,060,809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16.5%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60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营业且交易在线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城市线级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评价数=0的门店数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无评论门店数占比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评价渗透率(%)＞0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0＜评价数量＜5的门店数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0＜评价数量＜5的门店数占比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5≤评价数量的门店数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ADE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5≤评价数量的门店数占比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DADE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10≤评价数量的门店数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10≤评价数量的门店数占比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8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全国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3,135,574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481,143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15.3%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2,654,431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84.7%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569,751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18.2%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2,084,680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66.5%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1,802,140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57.5%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8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高线城市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1,396,171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134,166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9.6%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1,262,005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90.4%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172,723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12.4%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1,089,282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78.0%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986,889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70.7%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7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B cap="flat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中低线城市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1,739,403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346,977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700"/>
                        <a:t>19.9%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1,392,426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80.1%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397,028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22.8%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995,398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57.2%</a:t>
                      </a:r>
                      <a:endParaRPr lang="zh-CN" altLang="en-US" sz="700"/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815,251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46.9%</a:t>
                      </a:r>
                      <a:endParaRPr lang="zh-CN" altLang="en-US" sz="700" dirty="0"/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品类资产</a:t>
            </a:r>
            <a:r>
              <a:rPr kumimoji="1" lang="en-US" altLang="zh-CN" dirty="0"/>
              <a:t>-</a:t>
            </a:r>
            <a:r>
              <a:rPr lang="zh-CN" altLang="en-US" dirty="0"/>
              <a:t>双平台不一致及链路复杂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6" y="869536"/>
            <a:ext cx="8790049" cy="798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900" b="1" dirty="0"/>
              <a:t>品类运营的复杂度</a:t>
            </a:r>
            <a:r>
              <a:rPr lang="zh-CN" altLang="en-US" sz="900" dirty="0"/>
              <a:t>：</a:t>
            </a:r>
            <a:r>
              <a:rPr lang="en-US" altLang="zh-CN" sz="900" b="1" dirty="0"/>
              <a:t>①</a:t>
            </a:r>
            <a:r>
              <a:rPr lang="zh-CN" altLang="en-US" sz="900" b="1" dirty="0"/>
              <a:t> 影响业务多</a:t>
            </a:r>
            <a:r>
              <a:rPr lang="zh-CN" altLang="en-US" sz="900" dirty="0"/>
              <a:t>：三套品类有各自应用场景，现阶段很难整合，导致品类的“增删改”对于各个应用方会有很大影响，需提前周知所有业务尽早评估，因此</a:t>
            </a:r>
            <a:r>
              <a:rPr lang="zh-CN" altLang="en-US" sz="900" b="1" dirty="0"/>
              <a:t>品类修改的生效周期长（约一个月）</a:t>
            </a:r>
            <a:r>
              <a:rPr lang="zh-CN" altLang="en-US" sz="900" dirty="0"/>
              <a:t>；</a:t>
            </a:r>
            <a:r>
              <a:rPr lang="en-US" altLang="zh-CN" sz="900" b="1" dirty="0"/>
              <a:t>②</a:t>
            </a:r>
            <a:r>
              <a:rPr lang="zh-CN" altLang="en-US" sz="900" b="1" dirty="0"/>
              <a:t>双平台差异大</a:t>
            </a:r>
            <a:r>
              <a:rPr lang="zh-CN" altLang="en-US" sz="900" dirty="0"/>
              <a:t>：美团和点评的前台类目各有一套，因此在做品类修改时需要连同点评侧的方案一起输出，防止</a:t>
            </a:r>
            <a:r>
              <a:rPr lang="zh-CN" altLang="en-US" sz="900" b="1" dirty="0"/>
              <a:t>双平台数据和展现不一致的情况</a:t>
            </a:r>
            <a:r>
              <a:rPr lang="zh-CN" altLang="en-US" sz="900" dirty="0"/>
              <a:t>；</a:t>
            </a:r>
            <a:r>
              <a:rPr lang="en-US" altLang="zh-CN" sz="900" b="1" dirty="0"/>
              <a:t>③</a:t>
            </a:r>
            <a:r>
              <a:rPr lang="zh-CN" altLang="en-US" sz="900" b="1" dirty="0"/>
              <a:t>美团应用路径长</a:t>
            </a:r>
            <a:r>
              <a:rPr lang="zh-CN" altLang="en-US" sz="900" dirty="0"/>
              <a:t>：区别于点评，美团的后台品类到前台应用中间多了一层丛林服务，增加了映射出错、数据更新不及时的风险，</a:t>
            </a:r>
            <a:r>
              <a:rPr lang="zh-CN" altLang="en-US" sz="900" b="1" dirty="0"/>
              <a:t>问题排查链路较长、效率低</a:t>
            </a:r>
            <a:r>
              <a:rPr lang="zh-CN" altLang="en-US" sz="900" dirty="0"/>
              <a:t>。</a:t>
            </a:r>
            <a:endParaRPr lang="en-US" altLang="zh-CN" sz="9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/>
              <a:t>资产建设问题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2206" y="1616111"/>
          <a:ext cx="4319794" cy="3246498"/>
        </p:xfrm>
        <a:graphic>
          <a:graphicData uri="http://schemas.openxmlformats.org/drawingml/2006/table">
            <a:tbl>
              <a:tblPr/>
              <a:tblGrid>
                <a:gridCol w="8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0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三套品类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后台品类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经营品类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前台品类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89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品类应用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u="sng" dirty="0">
                          <a:effectLst/>
                        </a:rPr>
                        <a:t>服务商户的品类理解。</a:t>
                      </a:r>
                      <a:endParaRPr lang="zh-CN" alt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影响品类佣金费率。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影响经营品类和前台品类的生产。当前后台品类树每</a:t>
                      </a:r>
                      <a:r>
                        <a:rPr lang="en-US" altLang="zh-CN" sz="800" dirty="0">
                          <a:effectLst/>
                        </a:rPr>
                        <a:t>2000-3000</a:t>
                      </a:r>
                      <a:r>
                        <a:rPr lang="zh-CN" altLang="en-US" sz="800" dirty="0">
                          <a:effectLst/>
                        </a:rPr>
                        <a:t>个接口调用。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u="sng" dirty="0">
                          <a:effectLst/>
                        </a:rPr>
                        <a:t>服务经营分析、竞争策略和资源投入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u="sng" dirty="0">
                          <a:effectLst/>
                        </a:rPr>
                        <a:t>服务用户品类理解</a:t>
                      </a:r>
                      <a:endParaRPr lang="zh-CN" alt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包括品类筛选、品类榜单、品类搜索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09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品类树维护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800" dirty="0">
                          <a:effectLst/>
                        </a:rPr>
                        <a:t>PDC</a:t>
                      </a:r>
                      <a:r>
                        <a:rPr lang="zh-CN" altLang="en-US" sz="800" dirty="0">
                          <a:effectLst/>
                        </a:rPr>
                        <a:t>维护品类树。当前的树自</a:t>
                      </a:r>
                      <a:r>
                        <a:rPr lang="en-US" altLang="zh-CN" sz="800" dirty="0">
                          <a:effectLst/>
                        </a:rPr>
                        <a:t>2015</a:t>
                      </a:r>
                      <a:r>
                        <a:rPr lang="zh-CN" altLang="en-US" sz="800" dirty="0">
                          <a:effectLst/>
                        </a:rPr>
                        <a:t>年起形成后迭代变化小。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通过机审</a:t>
                      </a:r>
                      <a:r>
                        <a:rPr lang="en-US" altLang="zh-CN" sz="800" dirty="0">
                          <a:effectLst/>
                        </a:rPr>
                        <a:t>+</a:t>
                      </a:r>
                      <a:r>
                        <a:rPr lang="zh-CN" altLang="en-US" sz="800" dirty="0">
                          <a:effectLst/>
                        </a:rPr>
                        <a:t>人工审核方式，对商户</a:t>
                      </a:r>
                      <a:r>
                        <a:rPr lang="en-US" altLang="zh-CN" sz="800" dirty="0">
                          <a:effectLst/>
                        </a:rPr>
                        <a:t>/</a:t>
                      </a:r>
                      <a:r>
                        <a:rPr lang="zh-CN" altLang="en-US" sz="800" dirty="0">
                          <a:effectLst/>
                        </a:rPr>
                        <a:t>销售提报的品类进行审核。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到餐商分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800">
                          <a:effectLst/>
                        </a:rPr>
                        <a:t>PDC</a:t>
                      </a:r>
                      <a:r>
                        <a:rPr lang="zh-CN" altLang="en-US" sz="800">
                          <a:effectLst/>
                        </a:rPr>
                        <a:t>维护前台品类树，</a:t>
                      </a:r>
                      <a:r>
                        <a:rPr lang="en-GB" sz="800">
                          <a:effectLst/>
                        </a:rPr>
                        <a:t>C</a:t>
                      </a:r>
                      <a:r>
                        <a:rPr lang="zh-CN" altLang="en-US" sz="800">
                          <a:effectLst/>
                        </a:rPr>
                        <a:t>端产品加工应用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44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生产方式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商户</a:t>
                      </a:r>
                      <a:r>
                        <a:rPr lang="en-US" altLang="zh-CN" sz="800" dirty="0">
                          <a:effectLst/>
                        </a:rPr>
                        <a:t>/</a:t>
                      </a:r>
                      <a:r>
                        <a:rPr lang="zh-CN" altLang="en-US" sz="800" dirty="0">
                          <a:effectLst/>
                        </a:rPr>
                        <a:t>销售根据</a:t>
                      </a:r>
                      <a:r>
                        <a:rPr lang="en-GB" sz="800" dirty="0">
                          <a:effectLst/>
                        </a:rPr>
                        <a:t>PDC</a:t>
                      </a:r>
                      <a:r>
                        <a:rPr lang="zh-CN" altLang="en-US" sz="800" dirty="0">
                          <a:effectLst/>
                        </a:rPr>
                        <a:t>维护的品类树进行选择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对后台品类重新归类映射得到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800" dirty="0">
                          <a:effectLst/>
                        </a:rPr>
                        <a:t>PDC</a:t>
                      </a:r>
                      <a:r>
                        <a:rPr lang="zh-CN" altLang="en-US" sz="800" dirty="0">
                          <a:effectLst/>
                        </a:rPr>
                        <a:t>根据后台品类映射得到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44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举例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effectLst/>
                        </a:rPr>
                        <a:t>“辣家私厨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小龙虾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川菜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烧烤”后台品类：</a:t>
                      </a:r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主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小吃快餐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小龙虾，</a:t>
                      </a:r>
                    </a:p>
                    <a:p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次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烧烤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烤串，</a:t>
                      </a:r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次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川菜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川菜馆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“辣家私厨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小龙虾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川菜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烧烤”经营品类：类标品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地方菜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“辣家私厨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小龙虾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川菜</a:t>
                      </a:r>
                      <a:r>
                        <a:rPr lang="en-US" altLang="zh-CN" sz="800" dirty="0">
                          <a:effectLst/>
                        </a:rPr>
                        <a:t>·</a:t>
                      </a:r>
                      <a:r>
                        <a:rPr lang="zh-CN" altLang="en-US" sz="800" dirty="0">
                          <a:effectLst/>
                        </a:rPr>
                        <a:t>烧烤”对应前台品类：</a:t>
                      </a:r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主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鱼鲜海鲜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小龙虾，</a:t>
                      </a:r>
                      <a:r>
                        <a:rPr lang="en-US" altLang="zh-CN" sz="800" dirty="0">
                          <a:effectLst/>
                        </a:rPr>
                        <a:t>[</a:t>
                      </a:r>
                      <a:r>
                        <a:rPr lang="zh-CN" altLang="en-US" sz="800" dirty="0">
                          <a:effectLst/>
                        </a:rPr>
                        <a:t>次</a:t>
                      </a:r>
                      <a:r>
                        <a:rPr lang="en-US" altLang="zh-CN" sz="800" dirty="0">
                          <a:effectLst/>
                        </a:rPr>
                        <a:t>] </a:t>
                      </a:r>
                      <a:r>
                        <a:rPr lang="zh-CN" altLang="en-US" sz="800" dirty="0">
                          <a:effectLst/>
                        </a:rPr>
                        <a:t>小吃快餐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28650" y="1495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îṡľíďé"/>
          <p:cNvSpPr txBox="1"/>
          <p:nvPr/>
        </p:nvSpPr>
        <p:spPr>
          <a:xfrm>
            <a:off x="6096277" y="3353411"/>
            <a:ext cx="1590663" cy="281354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800" b="1" dirty="0"/>
              <a:t>点评 </a:t>
            </a:r>
            <a:r>
              <a:rPr lang="en-US" altLang="zh-CN" sz="800" b="1" dirty="0"/>
              <a:t>VS</a:t>
            </a:r>
            <a:r>
              <a:rPr lang="zh-CN" altLang="en-US" sz="800" b="1" dirty="0"/>
              <a:t>美团前后台映射</a:t>
            </a:r>
            <a:endParaRPr lang="en-US" altLang="zh-CN" sz="80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963" y="1467100"/>
            <a:ext cx="4301292" cy="1857986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948708" y="3663090"/>
          <a:ext cx="3885800" cy="1223599"/>
        </p:xfrm>
        <a:graphic>
          <a:graphicData uri="http://schemas.openxmlformats.org/drawingml/2006/table">
            <a:tbl>
              <a:tblPr/>
              <a:tblGrid>
                <a:gridCol w="726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1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双侧差异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点评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美团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418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前台类目数量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/>
                        <a:t>937</a:t>
                      </a:r>
                      <a:r>
                        <a:rPr lang="zh-CN" altLang="en-US" sz="800" dirty="0"/>
                        <a:t>个（层级不一定相同）</a:t>
                      </a:r>
                      <a:endParaRPr lang="en-US" altLang="zh-CN" sz="800" dirty="0"/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>
                          <a:effectLst/>
                        </a:rPr>
                        <a:t>点评独有</a:t>
                      </a:r>
                      <a:r>
                        <a:rPr lang="en-US" altLang="zh-CN" sz="800" dirty="0"/>
                        <a:t>439</a:t>
                      </a:r>
                      <a:r>
                        <a:rPr lang="zh-CN" altLang="en-US" sz="800" dirty="0"/>
                        <a:t>个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>
                          <a:effectLst/>
                        </a:rPr>
                        <a:t>美团独有</a:t>
                      </a:r>
                      <a:r>
                        <a:rPr lang="en-US" altLang="zh-CN" sz="800">
                          <a:effectLst/>
                        </a:rPr>
                        <a:t>765</a:t>
                      </a:r>
                      <a:r>
                        <a:rPr lang="zh-CN" altLang="en-US" sz="800">
                          <a:effectLst/>
                        </a:rPr>
                        <a:t>个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01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类目结构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/>
                        <a:t>分城市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dirty="0"/>
                        <a:t>不分城市，且包含团购类目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6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>
                          <a:effectLst/>
                        </a:rPr>
                        <a:t>应用方式</a:t>
                      </a: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/>
                        <a:t>商户前台类目有落地</a:t>
                      </a:r>
                      <a:r>
                        <a:rPr lang="zh-CN" altLang="en-US" sz="800" dirty="0"/>
                        <a:t>。是</a:t>
                      </a:r>
                      <a:r>
                        <a:rPr lang="en-GB" altLang="zh-CN" sz="800" dirty="0"/>
                        <a:t>PDC</a:t>
                      </a:r>
                      <a:r>
                        <a:rPr lang="zh-CN" altLang="en-US" sz="800" dirty="0"/>
                        <a:t>根据 商户后台类目 和 前后台类目映射关系 推导出来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800" b="1" dirty="0"/>
                        <a:t>商户前台类目未落地</a:t>
                      </a:r>
                      <a:r>
                        <a:rPr lang="zh-CN" altLang="en-US" sz="800" dirty="0"/>
                        <a:t>。是业务侧根据 商户后台类目 和 前后台类目映射关系 实时推导出来（丛林服务）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46945" marR="46945" marT="5868" marB="58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图片 8" descr="upload_post_object_v2_34667426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808" y="28344"/>
            <a:ext cx="1666178" cy="3634687"/>
          </a:xfrm>
          <a:prstGeom prst="rect">
            <a:avLst/>
          </a:prstGeom>
        </p:spPr>
      </p:pic>
      <p:pic>
        <p:nvPicPr>
          <p:cNvPr id="10" name="图片 9" descr="upload_post_object_v2_17663335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1743" y="28344"/>
            <a:ext cx="1666178" cy="3634687"/>
          </a:xfrm>
          <a:prstGeom prst="rect">
            <a:avLst/>
          </a:prstGeom>
        </p:spPr>
      </p:pic>
      <p:sp>
        <p:nvSpPr>
          <p:cNvPr id="137" name="文本框 136"/>
          <p:cNvSpPr txBox="1"/>
          <p:nvPr/>
        </p:nvSpPr>
        <p:spPr>
          <a:xfrm>
            <a:off x="9624101" y="3663031"/>
            <a:ext cx="1325729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点评前台品类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451942" y="3663031"/>
            <a:ext cx="1325729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/>
              <a:t>美团</a:t>
            </a:r>
            <a:r>
              <a:rPr lang="zh-CN" altLang="en-US" sz="1000" b="1" dirty="0">
                <a:cs typeface="Arial" panose="020B0604020202020204" pitchFamily="34" charset="0"/>
              </a:rPr>
              <a:t>前台</a:t>
            </a:r>
            <a:r>
              <a:rPr lang="zh-CN" altLang="en-US" sz="1000" b="1" dirty="0"/>
              <a:t>品类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核心资产未覆盖：用户高搜需求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0" y="-547945"/>
            <a:ext cx="8639588" cy="54794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通过用户需求（用户高</a:t>
            </a:r>
            <a:r>
              <a:rPr lang="en-GB" altLang="zh-CN" dirty="0"/>
              <a:t>query</a:t>
            </a:r>
            <a:r>
              <a:rPr lang="zh-CN" altLang="en-GB" dirty="0"/>
              <a:t>）</a:t>
            </a:r>
            <a:r>
              <a:rPr lang="zh-CN" altLang="en-US" dirty="0"/>
              <a:t>看问题优先级，用户高</a:t>
            </a:r>
            <a:r>
              <a:rPr lang="en-GB" altLang="zh-CN" dirty="0"/>
              <a:t>query</a:t>
            </a:r>
            <a:r>
              <a:rPr lang="zh-CN" altLang="en-US" dirty="0"/>
              <a:t>分类品类、场景、</a:t>
            </a:r>
            <a:r>
              <a:rPr lang="en-GB" altLang="zh-CN" dirty="0"/>
              <a:t>xx</a:t>
            </a:r>
            <a:r>
              <a:rPr lang="zh-CN" altLang="en-US" dirty="0"/>
              <a:t>等问题，对应的</a:t>
            </a:r>
            <a:r>
              <a:rPr lang="en-GB" altLang="zh-CN" dirty="0"/>
              <a:t>query</a:t>
            </a:r>
            <a:r>
              <a:rPr lang="zh-CN" altLang="en-US" dirty="0"/>
              <a:t>量、</a:t>
            </a:r>
            <a:r>
              <a:rPr lang="en-GB" altLang="zh-CN" dirty="0"/>
              <a:t>GTV</a:t>
            </a:r>
            <a:r>
              <a:rPr lang="zh-CN" altLang="en-US" dirty="0"/>
              <a:t>和店量；</a:t>
            </a:r>
            <a:r>
              <a:rPr lang="en-US" altLang="zh-CN" dirty="0"/>
              <a:t>1</a:t>
            </a:r>
            <a:r>
              <a:rPr lang="en-GB" altLang="zh-CN" dirty="0"/>
              <a:t>p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资产建设问题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3179349" y="1256708"/>
            <a:ext cx="1325729" cy="56938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2000" b="1" dirty="0"/>
              <a:t>资产建设</a:t>
            </a:r>
            <a:endParaRPr lang="en-US" altLang="zh-CN" sz="2000" b="1" dirty="0"/>
          </a:p>
          <a:p>
            <a:r>
              <a:rPr lang="zh-CN" altLang="en-US" sz="1100" b="1" dirty="0"/>
              <a:t>（品类、标签）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3179349" y="3460898"/>
            <a:ext cx="1325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场景建设</a:t>
            </a:r>
            <a:endParaRPr lang="en-US" altLang="zh-CN" sz="2000" b="1" dirty="0"/>
          </a:p>
          <a:p>
            <a:r>
              <a:rPr lang="zh-CN" altLang="en-US" sz="1200" b="1" dirty="0"/>
              <a:t>（大搜、频道）</a:t>
            </a: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3759079" y="1896273"/>
            <a:ext cx="0" cy="1337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3759080" y="2003544"/>
            <a:ext cx="3232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用户需求满足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3357369" y="2219262"/>
            <a:ext cx="323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榜单</a:t>
            </a:r>
            <a:endParaRPr lang="en-US" altLang="zh-CN" sz="1400" b="1" dirty="0"/>
          </a:p>
        </p:txBody>
      </p:sp>
      <p:sp>
        <p:nvSpPr>
          <p:cNvPr id="165" name="文本框 164"/>
          <p:cNvSpPr txBox="1"/>
          <p:nvPr/>
        </p:nvSpPr>
        <p:spPr>
          <a:xfrm>
            <a:off x="0" y="3990586"/>
            <a:ext cx="336623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+mn-ea"/>
              </a:rPr>
              <a:t>美团榜单品类优化：</a:t>
            </a:r>
            <a:r>
              <a:rPr lang="zh-CN" altLang="en-US" sz="1000" dirty="0">
                <a:latin typeface="+mn-ea"/>
              </a:rPr>
              <a:t>针对</a:t>
            </a:r>
            <a:r>
              <a:rPr lang="zh-CN" altLang="en-US" sz="1000" b="1" dirty="0">
                <a:latin typeface="+mn-ea"/>
              </a:rPr>
              <a:t>高搜但榜单未覆盖的热门品类，</a:t>
            </a:r>
            <a:r>
              <a:rPr lang="zh-CN" altLang="en-US" sz="1000" dirty="0">
                <a:latin typeface="+mn-ea"/>
              </a:rPr>
              <a:t>在人气榜、好评榜中进行拆分成榜，提升相关门店的曝光和转化。如大闸蟹、泰国菜、农家乐等。</a:t>
            </a:r>
            <a:endParaRPr lang="en-US" altLang="zh-CN" sz="10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+mn-ea"/>
              </a:rPr>
              <a:t>门店</a:t>
            </a:r>
            <a:r>
              <a:rPr lang="en-US" altLang="zh-CN" sz="1000" b="1" dirty="0">
                <a:latin typeface="+mn-ea"/>
              </a:rPr>
              <a:t>/</a:t>
            </a:r>
            <a:r>
              <a:rPr lang="zh-CN" altLang="en-US" sz="1000" b="1" dirty="0">
                <a:latin typeface="+mn-ea"/>
              </a:rPr>
              <a:t>供给特色标签建设：</a:t>
            </a:r>
            <a:r>
              <a:rPr lang="zh-CN" altLang="en-US" sz="1000" dirty="0">
                <a:latin typeface="+mn-ea"/>
              </a:rPr>
              <a:t>针对</a:t>
            </a:r>
            <a:r>
              <a:rPr lang="zh-CN" altLang="en-US" sz="1000" b="1" dirty="0">
                <a:latin typeface="+mn-ea"/>
              </a:rPr>
              <a:t>高需但平台未覆盖</a:t>
            </a:r>
            <a:r>
              <a:rPr lang="zh-CN" altLang="en-US" sz="1000" dirty="0">
                <a:latin typeface="+mn-ea"/>
              </a:rPr>
              <a:t>的供给进行识别打标，增强召回精度。如铁锅炖、烙锅等</a:t>
            </a:r>
            <a:endParaRPr lang="en-US" altLang="zh-CN" sz="1000" dirty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10485" y="3996135"/>
            <a:ext cx="30758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i="0" dirty="0">
                <a:solidFill>
                  <a:srgbClr val="1F2328"/>
                </a:solidFill>
                <a:effectLst/>
                <a:latin typeface="PingFang SC"/>
              </a:rPr>
              <a:t>大搜等核心入口强化内容榜单承接</a:t>
            </a:r>
            <a:r>
              <a:rPr lang="zh-CN" altLang="en-US" sz="1000" b="0" i="0" dirty="0">
                <a:solidFill>
                  <a:srgbClr val="1F2328"/>
                </a:solidFill>
                <a:effectLst/>
                <a:latin typeface="PingFang SC"/>
              </a:rPr>
              <a:t>，以精准覆盖用户在节日热点、场景化或泛模糊需求下的找店路径，如附近的美食、夜宵、年夜饭等，提升用户决策和转化效率。</a:t>
            </a:r>
            <a:endParaRPr lang="zh-CN" altLang="en-US" sz="1000" dirty="0">
              <a:latin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5306" y="1102316"/>
          <a:ext cx="2721013" cy="2618986"/>
        </p:xfrm>
        <a:graphic>
          <a:graphicData uri="http://schemas.openxmlformats.org/drawingml/2006/table">
            <a:tbl>
              <a:tblPr/>
              <a:tblGrid>
                <a:gridCol w="307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4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0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5574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品类需求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4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分类</a:t>
                      </a:r>
                    </a:p>
                  </a:txBody>
                  <a:tcPr marL="4941" marR="4941" marT="4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Query</a:t>
                      </a:r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 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搜索</a:t>
                      </a: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访购率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48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全国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高搜</a:t>
                      </a:r>
                    </a:p>
                  </a:txBody>
                  <a:tcPr marL="4941" marR="4941" marT="4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E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平台未覆盖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铁锅炖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40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57,028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870,294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12.67%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地锅鸡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98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26,071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401,049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14.64%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清真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110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22,340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65,391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3.23%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酸汤火锅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251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10,203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116,668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9.72%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烙锅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295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8,891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86,762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10.37%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榜单未覆盖</a:t>
                      </a:r>
                      <a:endParaRPr lang="zh-CN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大闸蟹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136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17,486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27,969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0.96%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泰国菜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238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10,621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85,803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5.71%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农家乐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631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4,117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5,149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0.56%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E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7548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地方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高搜</a:t>
                      </a:r>
                    </a:p>
                  </a:txBody>
                  <a:tcPr marL="4941" marR="4941" marT="4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6E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平台未覆盖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豆米火锅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贵阳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TOP20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2,714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20,231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9.74%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江湖菜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重庆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TOP49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2,867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14,274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3.25%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糟粕醋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海口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TOP45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1,769 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22,317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7.52%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老爸茶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海口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TOP23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1,261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3,996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4.39%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榜单未覆盖</a:t>
                      </a:r>
                      <a:endParaRPr lang="zh-CN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客家菜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深圳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TOP150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1,668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10,840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4.37%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75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天津菜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天津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TOP105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923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2,520 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2.23%</a:t>
                      </a:r>
                    </a:p>
                  </a:txBody>
                  <a:tcPr marL="4941" marR="4941" marT="49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EF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432190" y="1143945"/>
            <a:ext cx="159268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*统计周期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2025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-6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月，大闸蟹为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2024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500" b="0" i="0" u="none" strike="noStrike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600250" y="1163533"/>
          <a:ext cx="2805852" cy="2557769"/>
        </p:xfrm>
        <a:graphic>
          <a:graphicData uri="http://schemas.openxmlformats.org/drawingml/2006/table">
            <a:tbl>
              <a:tblPr/>
              <a:tblGrid>
                <a:gridCol w="659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9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1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9139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模糊需求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统计周期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</a:t>
                      </a:r>
                      <a:r>
                        <a:rPr lang="zh-CN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3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Query</a:t>
                      </a:r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 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访购率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无结果 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美食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35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73,774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311,132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4.30%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146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附近的美食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37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60,382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272,831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4.77%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饭店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136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18,852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78,329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1.64%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17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139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场景需求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r" fontAlgn="ctr"/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*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统计周期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-6</a:t>
                      </a:r>
                      <a:r>
                        <a:rPr lang="zh-CN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3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Query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 </a:t>
                      </a: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访购率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无结果 </a:t>
                      </a: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早茶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120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20,911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89,944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4.19%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下午茶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151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16,765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32,815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2.91%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夜宵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207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12,444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10,964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0.99%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减脂餐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302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8,751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620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0.30%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139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节日节令</a:t>
                      </a: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热点需求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33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Query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 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GTV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访购率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搜索</a:t>
                      </a: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QV WoW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年夜饭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2025.1.28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52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24,042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457,233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4.72%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+259.5%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母亲节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2025.5.11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37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88,361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111,270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1.59%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+13992.66%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青团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2025.4.4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52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69,957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39,654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3.90%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+319.2%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粽子 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2025.5.31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3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481,677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167,737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1.26%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+1927.52%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15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长安的荔枝</a:t>
                      </a:r>
                      <a:r>
                        <a:rPr lang="en-US" altLang="zh-C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2025.7.19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5331" marR="5331" marT="533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TOP 292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32,156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152,109 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8.57%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+426.54%</a:t>
                      </a:r>
                    </a:p>
                  </a:txBody>
                  <a:tcPr marL="5331" marR="5331" marT="533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447" y="314418"/>
            <a:ext cx="1324800" cy="28710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015" y="1749961"/>
            <a:ext cx="1325729" cy="2873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资产建设问题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307324" y="381794"/>
            <a:ext cx="8584470" cy="547945"/>
          </a:xfrm>
        </p:spPr>
        <p:txBody>
          <a:bodyPr/>
          <a:lstStyle/>
          <a:p>
            <a:r>
              <a:rPr lang="zh-CN" altLang="en-US" dirty="0"/>
              <a:t>核心资产未覆盖：时令品类</a:t>
            </a:r>
            <a:endParaRPr kumimoji="1" lang="zh-CN" altLang="en-US" sz="1000" dirty="0">
              <a:highlight>
                <a:srgbClr val="FFFF00"/>
              </a:highlight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sz="quarter" idx="23"/>
          </p:nvPr>
        </p:nvSpPr>
        <p:spPr>
          <a:xfrm>
            <a:off x="6358896" y="1282484"/>
            <a:ext cx="2665623" cy="1942836"/>
          </a:xfrm>
        </p:spPr>
        <p:txBody>
          <a:bodyPr>
            <a:normAutofit fontScale="75000" lnSpcReduction="20000"/>
          </a:bodyPr>
          <a:lstStyle/>
          <a:p>
            <a:r>
              <a:rPr lang="zh-CN" altLang="en-US" sz="1100" dirty="0"/>
              <a:t>大闸蟹时令区间：</a:t>
            </a:r>
            <a:r>
              <a:rPr lang="en-US" altLang="zh-CN" sz="1100" dirty="0"/>
              <a:t>9</a:t>
            </a:r>
            <a:r>
              <a:rPr lang="zh-CN" altLang="en-US" sz="1100" dirty="0"/>
              <a:t>月</a:t>
            </a:r>
            <a:r>
              <a:rPr lang="en-US" altLang="zh-CN" sz="1100" dirty="0"/>
              <a:t>-12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16.39%</a:t>
            </a:r>
            <a:r>
              <a:rPr lang="zh-CN" altLang="en-US" sz="1100" dirty="0"/>
              <a:t>；小龙虾时令区间：</a:t>
            </a:r>
            <a:r>
              <a:rPr lang="en-US" altLang="zh-CN" sz="1100" dirty="0"/>
              <a:t>4-7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13.66%</a:t>
            </a:r>
          </a:p>
          <a:p>
            <a:r>
              <a:rPr lang="zh-CN" altLang="en-US" sz="1100" dirty="0"/>
              <a:t>菌菇火锅时令区间：</a:t>
            </a:r>
            <a:r>
              <a:rPr lang="en-US" altLang="zh-CN" sz="1100" dirty="0"/>
              <a:t>7-8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10.52%</a:t>
            </a:r>
            <a:r>
              <a:rPr lang="zh-CN" altLang="en-US" sz="1100" dirty="0"/>
              <a:t>；海鲜时令区间：</a:t>
            </a:r>
            <a:r>
              <a:rPr lang="en-US" altLang="zh-CN" sz="1100" dirty="0"/>
              <a:t>7-8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6.91%</a:t>
            </a:r>
          </a:p>
          <a:p>
            <a:r>
              <a:rPr lang="zh-CN" altLang="en-US" sz="1100" dirty="0"/>
              <a:t>东北菜时令区间：</a:t>
            </a:r>
            <a:r>
              <a:rPr lang="en-US" altLang="zh-CN" sz="1100" dirty="0"/>
              <a:t>1-3</a:t>
            </a:r>
            <a:r>
              <a:rPr lang="zh-CN" altLang="en-US" sz="1100" dirty="0"/>
              <a:t>月、</a:t>
            </a:r>
            <a:r>
              <a:rPr lang="en-US" altLang="zh-CN" sz="1100" dirty="0"/>
              <a:t>10-12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6.61%</a:t>
            </a:r>
            <a:r>
              <a:rPr lang="zh-CN" altLang="en-US" sz="1100" dirty="0"/>
              <a:t>；贵州菜时令区间：</a:t>
            </a:r>
            <a:r>
              <a:rPr lang="en-US" altLang="zh-CN" sz="1100" dirty="0"/>
              <a:t>7-8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6.56%</a:t>
            </a:r>
          </a:p>
          <a:p>
            <a:r>
              <a:rPr lang="zh-CN" altLang="en-US" sz="1100" dirty="0"/>
              <a:t>豫菜时令区间：</a:t>
            </a:r>
            <a:r>
              <a:rPr lang="en-US" altLang="zh-CN" sz="1100" dirty="0"/>
              <a:t>1-3</a:t>
            </a:r>
            <a:r>
              <a:rPr lang="zh-CN" altLang="en-US" sz="1100" dirty="0"/>
              <a:t>月、</a:t>
            </a:r>
            <a:r>
              <a:rPr lang="en-US" altLang="zh-CN" sz="1100" dirty="0"/>
              <a:t>8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6.44%</a:t>
            </a:r>
            <a:r>
              <a:rPr lang="zh-CN" altLang="en-US" sz="1100" dirty="0"/>
              <a:t>；闽菜时令区间</a:t>
            </a:r>
            <a:r>
              <a:rPr lang="en-US" altLang="zh-CN" sz="1100" dirty="0"/>
              <a:t>10-12</a:t>
            </a:r>
            <a:r>
              <a:rPr lang="zh-CN" altLang="en-US" sz="1100" dirty="0"/>
              <a:t>月、</a:t>
            </a:r>
            <a:r>
              <a:rPr lang="en-US" altLang="zh-CN" sz="1100" dirty="0"/>
              <a:t>1-3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6.28%</a:t>
            </a:r>
          </a:p>
          <a:p>
            <a:r>
              <a:rPr lang="zh-CN" altLang="en-US" sz="1100" dirty="0"/>
              <a:t>江西菜时令区间：</a:t>
            </a:r>
            <a:r>
              <a:rPr lang="en-US" altLang="zh-CN" sz="1100" dirty="0"/>
              <a:t>1-3</a:t>
            </a:r>
            <a:r>
              <a:rPr lang="zh-CN" altLang="en-US" sz="1100" dirty="0"/>
              <a:t>月、</a:t>
            </a:r>
            <a:r>
              <a:rPr lang="en-US" altLang="zh-CN" sz="1100" dirty="0"/>
              <a:t>8</a:t>
            </a:r>
            <a:r>
              <a:rPr lang="zh-CN" altLang="en-US" sz="1100" dirty="0"/>
              <a:t>月、</a:t>
            </a:r>
            <a:r>
              <a:rPr lang="en-US" altLang="zh-CN" sz="1100" dirty="0"/>
              <a:t>10</a:t>
            </a:r>
            <a:r>
              <a:rPr lang="zh-CN" altLang="en-US" sz="1100" dirty="0"/>
              <a:t>月、</a:t>
            </a:r>
            <a:r>
              <a:rPr lang="en-US" altLang="zh-CN" sz="1100" dirty="0"/>
              <a:t>12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6.10%</a:t>
            </a:r>
            <a:r>
              <a:rPr lang="zh-CN" altLang="en-US" sz="1100" dirty="0"/>
              <a:t>；老北京火锅时令区间：</a:t>
            </a:r>
            <a:r>
              <a:rPr lang="en-US" altLang="zh-CN" sz="1100" dirty="0"/>
              <a:t>1-3</a:t>
            </a:r>
            <a:r>
              <a:rPr lang="zh-CN" altLang="en-US" sz="1100" dirty="0"/>
              <a:t>月、</a:t>
            </a:r>
            <a:r>
              <a:rPr lang="en-US" altLang="zh-CN" sz="1100" dirty="0"/>
              <a:t>10-12</a:t>
            </a:r>
            <a:r>
              <a:rPr lang="zh-CN" altLang="en-US" sz="1100" dirty="0"/>
              <a:t>月，极差</a:t>
            </a:r>
            <a:r>
              <a:rPr lang="en-US" altLang="zh-CN" sz="1100" dirty="0"/>
              <a:t>5.62%</a:t>
            </a:r>
            <a:r>
              <a:rPr lang="zh-CN" altLang="en-US" sz="1100" dirty="0"/>
              <a:t>。</a:t>
            </a:r>
            <a:endParaRPr lang="en-US" altLang="zh-CN" sz="1100" dirty="0"/>
          </a:p>
        </p:txBody>
      </p:sp>
      <p:sp>
        <p:nvSpPr>
          <p:cNvPr id="14" name="内容占位符 2"/>
          <p:cNvSpPr txBox="1"/>
          <p:nvPr/>
        </p:nvSpPr>
        <p:spPr>
          <a:xfrm>
            <a:off x="317137" y="815302"/>
            <a:ext cx="8374957" cy="5479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100" dirty="0"/>
              <a:t>时令品类筛选规则：根据</a:t>
            </a:r>
            <a:r>
              <a:rPr lang="en-US" altLang="zh-CN" sz="1100" dirty="0"/>
              <a:t>2024</a:t>
            </a:r>
            <a:r>
              <a:rPr lang="zh-CN" altLang="en-US" sz="1100" dirty="0"/>
              <a:t>年</a:t>
            </a:r>
            <a:r>
              <a:rPr lang="en-US" altLang="zh-CN" sz="1100" dirty="0"/>
              <a:t>1</a:t>
            </a:r>
            <a:r>
              <a:rPr lang="zh-CN" altLang="en-US" sz="1100" dirty="0"/>
              <a:t>月</a:t>
            </a:r>
            <a:r>
              <a:rPr lang="en-US" altLang="zh-CN" sz="1100" dirty="0"/>
              <a:t>-12</a:t>
            </a:r>
            <a:r>
              <a:rPr lang="zh-CN" altLang="en-US" sz="1100" dirty="0"/>
              <a:t>月每月</a:t>
            </a:r>
            <a:r>
              <a:rPr lang="en-US" altLang="zh-CN" sz="1100" dirty="0"/>
              <a:t>GTV</a:t>
            </a:r>
            <a:r>
              <a:rPr lang="zh-CN" altLang="en-US" sz="1100" dirty="0"/>
              <a:t>金额（万元）占该品类全年</a:t>
            </a:r>
            <a:r>
              <a:rPr lang="en-US" altLang="zh-CN" sz="1100" dirty="0"/>
              <a:t>GTV</a:t>
            </a:r>
            <a:r>
              <a:rPr lang="zh-CN" altLang="en-US" sz="1100" dirty="0"/>
              <a:t>的比，选取极大值月</a:t>
            </a:r>
            <a:r>
              <a:rPr lang="en-US" altLang="zh-CN" sz="1100" dirty="0"/>
              <a:t>-</a:t>
            </a:r>
            <a:r>
              <a:rPr lang="zh-CN" altLang="en-US" sz="1100" dirty="0"/>
              <a:t>极小值月，极差</a:t>
            </a:r>
            <a:r>
              <a:rPr lang="en-US" altLang="zh-CN" sz="1100" dirty="0"/>
              <a:t>&gt;5.5%</a:t>
            </a:r>
            <a:r>
              <a:rPr lang="zh-CN" altLang="en-US" sz="1100" dirty="0"/>
              <a:t>的品类列示（仅正餐），针对时令高热品类，后续举措考虑提前进行时令榜单运营。</a:t>
            </a:r>
            <a:endParaRPr lang="zh-CN" altLang="en-US" sz="1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17152" y="3144557"/>
            <a:ext cx="7918665" cy="2374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1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联动</a:t>
            </a:r>
            <a:r>
              <a:rPr lang="en-US" altLang="zh-CN" sz="11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Arial" panose="020B0604020202020204" pitchFamily="34" charset="0"/>
              </a:rPr>
              <a:t>AI</a:t>
            </a:r>
            <a:r>
              <a:rPr lang="zh-CN" altLang="en-US" sz="11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Arial" panose="020B0604020202020204" pitchFamily="34" charset="0"/>
              </a:rPr>
              <a:t>、数据挖掘团队，进行如微博热搜、抖音热榜、小红书、各地文旅局热榜等站外美食、菜品热词定期预警：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</p:txBody>
      </p:sp>
      <p:pic>
        <p:nvPicPr>
          <p:cNvPr id="16" name="图片 15" descr="upload_post_object_v2_985138263"/>
          <p:cNvPicPr>
            <a:picLocks noChangeAspect="1"/>
          </p:cNvPicPr>
          <p:nvPr/>
        </p:nvPicPr>
        <p:blipFill>
          <a:blip r:embed="rId2"/>
          <a:srcRect b="6905"/>
          <a:stretch>
            <a:fillRect/>
          </a:stretch>
        </p:blipFill>
        <p:spPr>
          <a:xfrm>
            <a:off x="3658494" y="3472801"/>
            <a:ext cx="2122208" cy="1480834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/>
        </p:nvSpPr>
        <p:spPr>
          <a:xfrm>
            <a:off x="438032" y="3345207"/>
            <a:ext cx="2724610" cy="16249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b="1" dirty="0">
                <a:solidFill>
                  <a:srgbClr val="FF0000"/>
                </a:solidFill>
              </a:rPr>
              <a:t>2</a:t>
            </a:r>
            <a:r>
              <a:rPr lang="en-US" altLang="zh-CN" sz="1100" b="1" dirty="0">
                <a:solidFill>
                  <a:srgbClr val="FF0000"/>
                </a:solidFill>
              </a:rPr>
              <a:t>025</a:t>
            </a:r>
            <a:r>
              <a:rPr lang="zh-CN" altLang="en-US" sz="1100" b="1" dirty="0">
                <a:solidFill>
                  <a:srgbClr val="FF0000"/>
                </a:solidFill>
              </a:rPr>
              <a:t>美食热词：</a:t>
            </a:r>
            <a:endParaRPr lang="en-US" altLang="zh-CN" sz="1100" b="1" dirty="0">
              <a:solidFill>
                <a:srgbClr val="FF0000"/>
              </a:solidFill>
            </a:endParaRPr>
          </a:p>
          <a:p>
            <a:endParaRPr lang="zh-CN" altLang="en-US" sz="1100" b="1" dirty="0">
              <a:solidFill>
                <a:srgbClr val="FF0000"/>
              </a:solidFill>
            </a:endParaRPr>
          </a:p>
          <a:p>
            <a:endParaRPr lang="en-US" altLang="zh-CN" sz="1100" dirty="0"/>
          </a:p>
        </p:txBody>
      </p:sp>
      <p:sp>
        <p:nvSpPr>
          <p:cNvPr id="18" name="米菲PPT32"/>
          <p:cNvSpPr/>
          <p:nvPr/>
        </p:nvSpPr>
        <p:spPr>
          <a:xfrm>
            <a:off x="651387" y="3701422"/>
            <a:ext cx="801445" cy="357713"/>
          </a:xfrm>
          <a:prstGeom prst="roundRect">
            <a:avLst/>
          </a:prstGeom>
          <a:gradFill>
            <a:gsLst>
              <a:gs pos="0">
                <a:srgbClr val="F57359">
                  <a:lumMod val="84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鸡排哥</a:t>
            </a:r>
          </a:p>
        </p:txBody>
      </p:sp>
      <p:sp>
        <p:nvSpPr>
          <p:cNvPr id="19" name="米菲PPT32"/>
          <p:cNvSpPr/>
          <p:nvPr/>
        </p:nvSpPr>
        <p:spPr>
          <a:xfrm>
            <a:off x="1039359" y="4027710"/>
            <a:ext cx="1052144" cy="452318"/>
          </a:xfrm>
          <a:prstGeom prst="roundRect">
            <a:avLst/>
          </a:prstGeom>
          <a:solidFill>
            <a:srgbClr val="FFC000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charset="0"/>
                <a:ea typeface="MiSans Bold" charset="0"/>
                <a:cs typeface="MiSans Medium" charset="0"/>
                <a:sym typeface="MiSans Bold" panose="00000800000000000000" pitchFamily="2" charset="-122"/>
              </a:rPr>
              <a:t>贵州</a:t>
            </a: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charset="0"/>
                <a:ea typeface="MiSans Bold" charset="0"/>
                <a:cs typeface="Arial" panose="020B0604020202020204" pitchFamily="34" charset="0"/>
                <a:sym typeface="MiSans Bold" panose="00000800000000000000" pitchFamily="2" charset="-122"/>
              </a:rPr>
              <a:t>酸汤</a:t>
            </a:r>
            <a:endParaRPr lang="zh-CN" altLang="en-US"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0" name="米菲PPT32"/>
          <p:cNvSpPr/>
          <p:nvPr/>
        </p:nvSpPr>
        <p:spPr>
          <a:xfrm>
            <a:off x="399957" y="4381750"/>
            <a:ext cx="1090364" cy="452318"/>
          </a:xfrm>
          <a:prstGeom prst="roundRect">
            <a:avLst/>
          </a:prstGeom>
          <a:solidFill>
            <a:srgbClr val="BF9000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荔枝</a:t>
            </a: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Arial" panose="020B0604020202020204" pitchFamily="34" charset="0"/>
                <a:sym typeface="MiSans Bold" panose="00000800000000000000" pitchFamily="2" charset="-122"/>
              </a:rPr>
              <a:t>排骨</a:t>
            </a:r>
            <a:endParaRPr lang="zh-CN" altLang="en-US"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1" name="米菲PPT32"/>
          <p:cNvSpPr/>
          <p:nvPr/>
        </p:nvSpPr>
        <p:spPr>
          <a:xfrm>
            <a:off x="1920301" y="4145656"/>
            <a:ext cx="1090364" cy="452318"/>
          </a:xfrm>
          <a:prstGeom prst="roundRect">
            <a:avLst/>
          </a:prstGeom>
          <a:solidFill>
            <a:srgbClr val="8FAADC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charset="0"/>
                <a:ea typeface="MiSans Bold" charset="0"/>
                <a:cs typeface="MiSans Medium" charset="0"/>
                <a:sym typeface="MiSans Bold" panose="00000800000000000000" pitchFamily="2" charset="-122"/>
              </a:rPr>
              <a:t>水火锅</a:t>
            </a:r>
            <a:endParaRPr lang="zh-CN" altLang="en-US"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2" name="米菲PPT32"/>
          <p:cNvSpPr/>
          <p:nvPr/>
        </p:nvSpPr>
        <p:spPr>
          <a:xfrm>
            <a:off x="1314479" y="4480051"/>
            <a:ext cx="1090364" cy="404543"/>
          </a:xfrm>
          <a:prstGeom prst="roundRect">
            <a:avLst/>
          </a:prstGeom>
          <a:solidFill>
            <a:srgbClr val="BDD7EE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鸡煲</a:t>
            </a:r>
          </a:p>
        </p:txBody>
      </p:sp>
      <p:sp>
        <p:nvSpPr>
          <p:cNvPr id="23" name="米菲PPT32"/>
          <p:cNvSpPr/>
          <p:nvPr/>
        </p:nvSpPr>
        <p:spPr>
          <a:xfrm>
            <a:off x="2215426" y="3770980"/>
            <a:ext cx="1090364" cy="452318"/>
          </a:xfrm>
          <a:prstGeom prst="roundRect">
            <a:avLst/>
          </a:prstGeom>
          <a:solidFill>
            <a:srgbClr val="C9C9C9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干蒸菜</a:t>
            </a:r>
          </a:p>
        </p:txBody>
      </p:sp>
      <p:pic>
        <p:nvPicPr>
          <p:cNvPr id="24" name="图片 23" descr="upload_post_object_v2_528069799"/>
          <p:cNvPicPr>
            <a:picLocks noChangeAspect="1"/>
          </p:cNvPicPr>
          <p:nvPr/>
        </p:nvPicPr>
        <p:blipFill>
          <a:blip r:embed="rId3"/>
          <a:srcRect t="3901" r="2086"/>
          <a:stretch>
            <a:fillRect/>
          </a:stretch>
        </p:blipFill>
        <p:spPr>
          <a:xfrm>
            <a:off x="5981359" y="3472794"/>
            <a:ext cx="858866" cy="1497338"/>
          </a:xfrm>
          <a:prstGeom prst="rect">
            <a:avLst/>
          </a:prstGeom>
        </p:spPr>
      </p:pic>
      <p:pic>
        <p:nvPicPr>
          <p:cNvPr id="25" name="图片 24" descr="upload_post_object_v2_2612904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476" y="3472801"/>
            <a:ext cx="951656" cy="1538605"/>
          </a:xfrm>
          <a:prstGeom prst="rect">
            <a:avLst/>
          </a:prstGeom>
        </p:spPr>
      </p:pic>
      <p:sp>
        <p:nvSpPr>
          <p:cNvPr id="26" name="米菲PPT32"/>
          <p:cNvSpPr/>
          <p:nvPr/>
        </p:nvSpPr>
        <p:spPr>
          <a:xfrm>
            <a:off x="1378579" y="3627421"/>
            <a:ext cx="1052144" cy="452318"/>
          </a:xfrm>
          <a:prstGeom prst="roundRect">
            <a:avLst/>
          </a:prstGeom>
          <a:solidFill>
            <a:srgbClr val="C5E0B4">
              <a:alpha val="10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charset="0"/>
                <a:ea typeface="MiSans Bold" charset="0"/>
                <a:cs typeface="MiSans Medium" charset="0"/>
                <a:sym typeface="MiSans Bold" panose="00000800000000000000" pitchFamily="2" charset="-122"/>
              </a:rPr>
              <a:t>地摊火锅</a:t>
            </a:r>
            <a:endParaRPr lang="zh-CN" altLang="en-US"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57790" y="1359724"/>
          <a:ext cx="6096000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0357485" imgH="2850515" progId="Excel.Sheet.12">
                  <p:embed/>
                </p:oleObj>
              </mc:Choice>
              <mc:Fallback>
                <p:oleObj name="Worksheet" r:id="rId5" imgW="10357485" imgH="2850515" progId="Excel.Sheet.12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7790" y="1359724"/>
                        <a:ext cx="6096000" cy="167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328609"/>
            <a:ext cx="8584470" cy="547945"/>
          </a:xfrm>
        </p:spPr>
        <p:txBody>
          <a:bodyPr/>
          <a:lstStyle/>
          <a:p>
            <a:r>
              <a:rPr lang="zh-CN" altLang="en-US" dirty="0"/>
              <a:t>核心资产未覆盖：</a:t>
            </a:r>
            <a:r>
              <a:rPr kumimoji="1" lang="zh-CN" altLang="en-US" dirty="0"/>
              <a:t>榜单场景心智缺失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榜单覆盖问题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308705" y="1297306"/>
          <a:ext cx="8407782" cy="387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6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平台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点评主题榜</a:t>
                      </a:r>
                      <a:endParaRPr lang="zh-CN" altLang="en-US" sz="8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点评当地人推荐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美团当地人推荐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美食</a:t>
                      </a:r>
                      <a:r>
                        <a:rPr lang="zh-CN" altLang="en-GB" sz="11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发现</a:t>
                      </a:r>
                      <a:r>
                        <a:rPr lang="en-US" altLang="zh-CN" sz="11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tab</a:t>
                      </a:r>
                      <a:endParaRPr lang="zh-CN" altLang="en-US" sz="1100" b="1" kern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8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规则概述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按</a:t>
                      </a:r>
                      <a:r>
                        <a:rPr lang="zh-CN" altLang="en-US" sz="900" b="1" dirty="0">
                          <a:effectLst/>
                        </a:rPr>
                        <a:t>「区域</a:t>
                      </a:r>
                      <a:r>
                        <a:rPr lang="en-US" altLang="zh-CN" sz="900" b="1" dirty="0">
                          <a:effectLst/>
                        </a:rPr>
                        <a:t>×</a:t>
                      </a:r>
                      <a:r>
                        <a:rPr lang="zh-CN" altLang="en-US" sz="900" b="1" dirty="0">
                          <a:effectLst/>
                        </a:rPr>
                        <a:t>主题」</a:t>
                      </a:r>
                      <a:r>
                        <a:rPr lang="zh-CN" altLang="en-US" sz="900" dirty="0">
                          <a:effectLst/>
                        </a:rPr>
                        <a:t>划分赛道，依据热度和主题相关度进行商户排名。</a:t>
                      </a:r>
                      <a:endParaRPr lang="en-US" altLang="zh-CN" sz="900" dirty="0">
                        <a:effectLst/>
                      </a:endParaRPr>
                    </a:p>
                    <a:p>
                      <a:endParaRPr lang="en-US" altLang="zh-CN" sz="900" dirty="0">
                        <a:effectLst/>
                      </a:endParaRPr>
                    </a:p>
                    <a:p>
                      <a:r>
                        <a:rPr lang="zh-CN" altLang="en-US" sz="900" dirty="0">
                          <a:effectLst/>
                        </a:rPr>
                        <a:t>成榜门槛：一个赛道下上榜商户不足</a:t>
                      </a:r>
                      <a:r>
                        <a:rPr lang="en-US" altLang="zh-CN" sz="900" dirty="0">
                          <a:effectLst/>
                        </a:rPr>
                        <a:t>5</a:t>
                      </a:r>
                      <a:r>
                        <a:rPr lang="zh-CN" altLang="en-US" sz="900" dirty="0">
                          <a:effectLst/>
                        </a:rPr>
                        <a:t>家时，该赛道不发榜</a:t>
                      </a:r>
                    </a:p>
                    <a:p>
                      <a:r>
                        <a:rPr lang="zh-CN" altLang="en-US" sz="900" dirty="0">
                          <a:effectLst/>
                        </a:rPr>
                        <a:t>榜单容量：全城榜最多取</a:t>
                      </a:r>
                      <a:r>
                        <a:rPr lang="en-GB" altLang="zh-CN" sz="900" dirty="0">
                          <a:effectLst/>
                        </a:rPr>
                        <a:t>TOP100</a:t>
                      </a:r>
                      <a:r>
                        <a:rPr lang="zh-CN" altLang="en-GB" sz="900" dirty="0">
                          <a:effectLst/>
                        </a:rPr>
                        <a:t>，</a:t>
                      </a:r>
                      <a:r>
                        <a:rPr lang="zh-CN" altLang="en-US" sz="900" dirty="0">
                          <a:effectLst/>
                        </a:rPr>
                        <a:t>行政区</a:t>
                      </a:r>
                      <a:r>
                        <a:rPr lang="en-US" altLang="zh-CN" sz="900" dirty="0">
                          <a:effectLst/>
                        </a:rPr>
                        <a:t>/</a:t>
                      </a:r>
                      <a:r>
                        <a:rPr lang="zh-CN" altLang="en-US" sz="900" dirty="0">
                          <a:effectLst/>
                        </a:rPr>
                        <a:t>商圈榜最多取</a:t>
                      </a:r>
                      <a:r>
                        <a:rPr lang="en-GB" altLang="zh-CN" sz="900" dirty="0">
                          <a:effectLst/>
                        </a:rPr>
                        <a:t>TOP20</a:t>
                      </a:r>
                      <a:endParaRPr lang="zh-CN" altLang="en-US" sz="900" dirty="0">
                        <a:effectLst/>
                      </a:endParaRPr>
                    </a:p>
                    <a:p>
                      <a:pPr indent="0">
                        <a:buNone/>
                      </a:pPr>
                      <a:endParaRPr lang="zh-CN" altLang="en-US" sz="9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综合收录年限、当地人评价数量、当地人好评度、具备当地特色等维度进行商户评选</a:t>
                      </a:r>
                    </a:p>
                    <a:p>
                      <a:pPr indent="0">
                        <a:buNone/>
                      </a:pPr>
                      <a:endParaRPr lang="zh-CN" altLang="en-US" sz="9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限定经营当地特色品类、包含当地特色菜的商户，在美团大众点评平台收录时间须满</a:t>
                      </a:r>
                      <a:r>
                        <a:rPr lang="en-US" altLang="zh-CN" sz="900" dirty="0">
                          <a:effectLst/>
                        </a:rPr>
                        <a:t>3</a:t>
                      </a:r>
                      <a:r>
                        <a:rPr lang="zh-CN" altLang="en-US" sz="900" dirty="0">
                          <a:effectLst/>
                        </a:rPr>
                        <a:t>年，星级评价数据稳定。餐厅吸引大量当地用户去餐厅消费、打卡、评价。考察口味分指标，尤其当地用户的口味评分。无违法违规行为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/>
                        <a:t>页面涉及的门店及门店总结是基于美团用户评价，</a:t>
                      </a:r>
                      <a:r>
                        <a:rPr lang="en-GB" altLang="zh-CN" sz="900" dirty="0"/>
                        <a:t>Al</a:t>
                      </a:r>
                      <a:r>
                        <a:rPr lang="zh-CN" altLang="en-US" sz="900" dirty="0"/>
                        <a:t>进行总结生成。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5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更新机制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排名制。每日发榜更新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入选制。每日发榜更新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排名制。每日发榜更新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effectLst/>
                        </a:rPr>
                        <a:t>合集形式。定期更新（半年）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2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覆盖范围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dirty="0">
                          <a:effectLst/>
                        </a:rPr>
                        <a:t>覆盖了境内外共</a:t>
                      </a:r>
                      <a:r>
                        <a:rPr lang="en-US" altLang="zh-CN" sz="900" b="1" dirty="0">
                          <a:effectLst/>
                        </a:rPr>
                        <a:t>759</a:t>
                      </a:r>
                      <a:r>
                        <a:rPr lang="zh-CN" altLang="en-US" sz="900" b="1" dirty="0">
                          <a:effectLst/>
                        </a:rPr>
                        <a:t>个城市</a:t>
                      </a:r>
                      <a:r>
                        <a:rPr lang="zh-CN" altLang="en-US" sz="900" dirty="0">
                          <a:effectLst/>
                        </a:rPr>
                        <a:t>及</a:t>
                      </a:r>
                      <a:r>
                        <a:rPr lang="en-US" altLang="zh-CN" sz="900" b="1" dirty="0">
                          <a:effectLst/>
                        </a:rPr>
                        <a:t>140</a:t>
                      </a:r>
                      <a:r>
                        <a:rPr lang="zh-CN" altLang="en-US" sz="900" b="1" dirty="0">
                          <a:effectLst/>
                        </a:rPr>
                        <a:t>个细分主题</a:t>
                      </a:r>
                      <a:r>
                        <a:rPr lang="zh-CN" altLang="en-US" sz="900" dirty="0">
                          <a:effectLst/>
                        </a:rPr>
                        <a:t>（吃喝玩乐）。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effectLst/>
                        </a:rPr>
                        <a:t>上榜商户</a:t>
                      </a:r>
                      <a:r>
                        <a:rPr lang="en-US" altLang="zh-CN" sz="900" b="1" dirty="0">
                          <a:effectLst/>
                        </a:rPr>
                        <a:t>9.8</a:t>
                      </a:r>
                      <a:r>
                        <a:rPr lang="en-GB" sz="900" b="1" dirty="0">
                          <a:effectLst/>
                        </a:rPr>
                        <a:t>w</a:t>
                      </a:r>
                      <a:r>
                        <a:rPr lang="en-GB" sz="900" dirty="0">
                          <a:effectLst/>
                        </a:rPr>
                        <a:t>，</a:t>
                      </a:r>
                      <a:r>
                        <a:rPr lang="zh-CN" altLang="en-US" sz="900" dirty="0">
                          <a:effectLst/>
                        </a:rPr>
                        <a:t>占全量美食商户的</a:t>
                      </a:r>
                      <a:r>
                        <a:rPr lang="en-US" altLang="zh-CN" sz="900" dirty="0">
                          <a:effectLst/>
                        </a:rPr>
                        <a:t>1.16%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/>
                        <a:t>境内共</a:t>
                      </a:r>
                      <a:r>
                        <a:rPr lang="en-US" altLang="zh-CN" sz="900" dirty="0"/>
                        <a:t>106</a:t>
                      </a:r>
                      <a:r>
                        <a:rPr lang="zh-CN" altLang="en-US" sz="900" dirty="0"/>
                        <a:t>个主题</a:t>
                      </a:r>
                      <a:r>
                        <a:rPr lang="zh-CN" altLang="en-US" sz="900" dirty="0">
                          <a:effectLst/>
                        </a:rPr>
                        <a:t>（主题分类：时令榜单、正餐、休闲饮食、休闲玩乐、社交场景、住宿、购物</a:t>
                      </a:r>
                      <a:r>
                        <a:rPr lang="en-US" altLang="zh-CN" sz="900" dirty="0">
                          <a:effectLst/>
                        </a:rPr>
                        <a:t>7</a:t>
                      </a:r>
                      <a:r>
                        <a:rPr lang="zh-CN" altLang="en-US" sz="900" dirty="0">
                          <a:effectLst/>
                        </a:rPr>
                        <a:t>大主题）</a:t>
                      </a:r>
                      <a:endParaRPr lang="en-US" altLang="zh-CN" sz="900" dirty="0"/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dirty="0"/>
                        <a:t>境外共</a:t>
                      </a:r>
                      <a:r>
                        <a:rPr lang="en-US" altLang="zh-CN" sz="900" dirty="0"/>
                        <a:t>34</a:t>
                      </a:r>
                      <a:r>
                        <a:rPr lang="zh-CN" altLang="en-US" sz="900" dirty="0"/>
                        <a:t>个主题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en-US" altLang="zh-CN" sz="9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effectLst/>
                        </a:rPr>
                        <a:t>覆盖</a:t>
                      </a:r>
                      <a:r>
                        <a:rPr lang="en-US" altLang="zh-CN" sz="900" b="1" dirty="0">
                          <a:effectLst/>
                        </a:rPr>
                        <a:t>419</a:t>
                      </a:r>
                      <a:r>
                        <a:rPr lang="zh-CN" altLang="en-US" sz="900" b="1" dirty="0">
                          <a:effectLst/>
                        </a:rPr>
                        <a:t>个城市</a:t>
                      </a:r>
                      <a:r>
                        <a:rPr lang="zh-CN" altLang="en-US" sz="900" dirty="0">
                          <a:effectLst/>
                        </a:rPr>
                        <a:t>。</a:t>
                      </a:r>
                    </a:p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900" b="1" dirty="0">
                          <a:effectLst/>
                        </a:rPr>
                        <a:t>上榜商户</a:t>
                      </a:r>
                      <a:r>
                        <a:rPr lang="en-US" altLang="zh-CN" sz="900" b="1" dirty="0">
                          <a:effectLst/>
                        </a:rPr>
                        <a:t>8</a:t>
                      </a:r>
                      <a:r>
                        <a:rPr lang="en-GB" sz="900" b="1" dirty="0">
                          <a:effectLst/>
                        </a:rPr>
                        <a:t>w</a:t>
                      </a:r>
                      <a:r>
                        <a:rPr lang="en-GB" sz="900" dirty="0">
                          <a:effectLst/>
                        </a:rPr>
                        <a:t>，</a:t>
                      </a:r>
                      <a:r>
                        <a:rPr lang="zh-CN" altLang="en-US" sz="900" dirty="0">
                          <a:effectLst/>
                        </a:rPr>
                        <a:t>占全量美食商户的</a:t>
                      </a:r>
                      <a:r>
                        <a:rPr lang="en-US" altLang="zh-CN" sz="900" dirty="0">
                          <a:effectLst/>
                        </a:rPr>
                        <a:t>0.94%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effectLst/>
                        </a:rPr>
                        <a:t>覆盖</a:t>
                      </a:r>
                      <a:r>
                        <a:rPr lang="en-US" altLang="zh-CN" sz="900" b="1" dirty="0">
                          <a:effectLst/>
                        </a:rPr>
                        <a:t>410</a:t>
                      </a:r>
                      <a:r>
                        <a:rPr lang="zh-CN" altLang="en-US" sz="900" b="1" dirty="0">
                          <a:effectLst/>
                        </a:rPr>
                        <a:t>个城市</a:t>
                      </a:r>
                      <a:r>
                        <a:rPr lang="zh-CN" altLang="en-US" sz="900" dirty="0">
                          <a:effectLst/>
                        </a:rPr>
                        <a:t>。</a:t>
                      </a:r>
                      <a:endParaRPr lang="en-US" altLang="zh-CN" sz="9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effectLst/>
                        </a:rPr>
                        <a:t>上榜商户</a:t>
                      </a:r>
                      <a:r>
                        <a:rPr lang="en-US" altLang="zh-CN" sz="900" b="1" dirty="0">
                          <a:effectLst/>
                        </a:rPr>
                        <a:t>4.6w</a:t>
                      </a:r>
                      <a:r>
                        <a:rPr lang="en-GB" altLang="zh-CN" sz="900" dirty="0">
                          <a:effectLst/>
                        </a:rPr>
                        <a:t>，</a:t>
                      </a:r>
                      <a:r>
                        <a:rPr lang="zh-CN" altLang="en-US" sz="900" dirty="0">
                          <a:effectLst/>
                        </a:rPr>
                        <a:t>占全量美食商户的</a:t>
                      </a:r>
                      <a:r>
                        <a:rPr lang="en-US" altLang="zh-CN" sz="900" dirty="0">
                          <a:effectLst/>
                        </a:rPr>
                        <a:t>0.47%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effectLst/>
                        </a:rPr>
                        <a:t>覆盖主题共</a:t>
                      </a:r>
                      <a:r>
                        <a:rPr lang="en-US" altLang="zh-CN" sz="900" b="1" dirty="0">
                          <a:effectLst/>
                        </a:rPr>
                        <a:t>11</a:t>
                      </a:r>
                      <a:r>
                        <a:rPr lang="zh-CN" altLang="en-US" sz="900" b="1" dirty="0">
                          <a:effectLst/>
                        </a:rPr>
                        <a:t>个</a:t>
                      </a:r>
                      <a:r>
                        <a:rPr lang="zh-CN" altLang="en-US" sz="900" dirty="0">
                          <a:effectLst/>
                        </a:rPr>
                        <a:t>：人工找：驻京</a:t>
                      </a:r>
                      <a:r>
                        <a:rPr lang="en-US" altLang="zh-CN" sz="900" dirty="0">
                          <a:effectLst/>
                        </a:rPr>
                        <a:t>/</a:t>
                      </a:r>
                      <a:r>
                        <a:rPr lang="zh-CN" altLang="en-US" sz="900" dirty="0">
                          <a:effectLst/>
                        </a:rPr>
                        <a:t>沪办、达人探店、美食大咖、美食影综、获奖餐厅；</a:t>
                      </a:r>
                      <a:r>
                        <a:rPr lang="en-US" altLang="zh-CN" sz="900" dirty="0">
                          <a:effectLst/>
                        </a:rPr>
                        <a:t>AI</a:t>
                      </a:r>
                      <a:r>
                        <a:rPr lang="zh-CN" altLang="en-US" sz="900" dirty="0">
                          <a:effectLst/>
                        </a:rPr>
                        <a:t>挖掘：经典老店、苍蝇馆子、一人食友好、首店、最佳观景、漂亮饭</a:t>
                      </a:r>
                      <a:endParaRPr lang="en-US" altLang="zh-CN" sz="9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>
                          <a:effectLst/>
                        </a:rPr>
                        <a:t>覆盖</a:t>
                      </a:r>
                      <a:r>
                        <a:rPr lang="en-US" altLang="zh-CN" sz="900" b="1" dirty="0"/>
                        <a:t>118</a:t>
                      </a:r>
                      <a:r>
                        <a:rPr lang="zh-CN" altLang="en-US" sz="900" b="1" dirty="0"/>
                        <a:t>个城市</a:t>
                      </a:r>
                      <a:r>
                        <a:rPr lang="zh-CN" altLang="en-US" sz="900" dirty="0"/>
                        <a:t>。</a:t>
                      </a:r>
                      <a:endParaRPr lang="en-US" altLang="zh-CN" sz="9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/>
                        <a:t>北上两个城市每个城市</a:t>
                      </a:r>
                      <a:r>
                        <a:rPr lang="en-GB" altLang="zh-CN" sz="900" dirty="0"/>
                        <a:t>Poi2500</a:t>
                      </a:r>
                      <a:r>
                        <a:rPr lang="zh-CN" altLang="en-US" sz="900" dirty="0"/>
                        <a:t>左右</a:t>
                      </a:r>
                      <a:br>
                        <a:rPr lang="zh-CN" altLang="en-US" sz="900" dirty="0"/>
                      </a:br>
                      <a:r>
                        <a:rPr lang="en-GB" altLang="zh-CN" sz="900" dirty="0"/>
                        <a:t>A</a:t>
                      </a:r>
                      <a:r>
                        <a:rPr lang="zh-CN" altLang="en-US" sz="900" dirty="0"/>
                        <a:t>级城市</a:t>
                      </a:r>
                      <a:r>
                        <a:rPr lang="en-US" altLang="zh-CN" sz="900" dirty="0"/>
                        <a:t>800-1000</a:t>
                      </a:r>
                      <a:br>
                        <a:rPr lang="en-US" altLang="zh-CN" sz="900" dirty="0"/>
                      </a:br>
                      <a:r>
                        <a:rPr lang="en-GB" altLang="zh-CN" sz="900" dirty="0"/>
                        <a:t>A</a:t>
                      </a:r>
                      <a:r>
                        <a:rPr lang="zh-CN" altLang="en-US" sz="900" dirty="0"/>
                        <a:t>级以下</a:t>
                      </a:r>
                      <a:r>
                        <a:rPr lang="en-US" altLang="zh-CN" sz="900" dirty="0"/>
                        <a:t>500</a:t>
                      </a:r>
                      <a:r>
                        <a:rPr lang="zh-CN" altLang="en-US" sz="900" dirty="0"/>
                        <a:t>以内（个别城市特别少会在</a:t>
                      </a:r>
                      <a:r>
                        <a:rPr lang="en-US" altLang="zh-CN" sz="900" dirty="0"/>
                        <a:t>100</a:t>
                      </a:r>
                      <a:r>
                        <a:rPr lang="zh-CN" altLang="en-US" sz="900" dirty="0"/>
                        <a:t>以内，还在持续扩供给）</a:t>
                      </a:r>
                      <a:endParaRPr lang="en-US" altLang="zh-CN" sz="9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端数据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日均 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5w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、支付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UV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日均  </a:t>
                      </a:r>
                      <a:r>
                        <a:rPr lang="en-GB" altLang="zh-CN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</a:t>
                      </a: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GB" altLang="zh-CN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900" dirty="0">
                          <a:effectLst/>
                        </a:rPr>
                        <a:t>支付</a:t>
                      </a:r>
                      <a:r>
                        <a:rPr lang="en-US" altLang="zh-CN" sz="900" dirty="0">
                          <a:effectLst/>
                        </a:rPr>
                        <a:t>UV</a:t>
                      </a:r>
                      <a:r>
                        <a:rPr lang="zh-CN" altLang="en-US" sz="900" dirty="0">
                          <a:effectLst/>
                        </a:rPr>
                        <a:t> </a:t>
                      </a:r>
                      <a:r>
                        <a:rPr lang="en-US" altLang="zh-CN" sz="900" dirty="0">
                          <a:effectLst/>
                        </a:rPr>
                        <a:t>9</a:t>
                      </a:r>
                      <a:endParaRPr lang="en-GB" altLang="zh-CN" sz="9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日均 </a:t>
                      </a:r>
                      <a:r>
                        <a:rPr lang="en-US" altLang="zh-CN" sz="900" dirty="0">
                          <a:effectLst/>
                        </a:rPr>
                        <a:t>2w</a:t>
                      </a:r>
                      <a:r>
                        <a:rPr lang="zh-CN" altLang="en-US" sz="900" dirty="0">
                          <a:effectLst/>
                        </a:rPr>
                        <a:t>、支付</a:t>
                      </a:r>
                      <a:r>
                        <a:rPr lang="en-US" altLang="zh-CN" sz="900" dirty="0">
                          <a:effectLst/>
                        </a:rPr>
                        <a:t>UV</a:t>
                      </a:r>
                      <a:r>
                        <a:rPr lang="zh-CN" altLang="en-US" sz="900" dirty="0">
                          <a:effectLst/>
                        </a:rPr>
                        <a:t> </a:t>
                      </a:r>
                      <a:r>
                        <a:rPr lang="en-US" altLang="zh-CN" sz="900" dirty="0">
                          <a:effectLst/>
                        </a:rPr>
                        <a:t>250</a:t>
                      </a:r>
                      <a:endParaRPr lang="en-GB" altLang="zh-CN" sz="9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</a:rPr>
                        <a:t>日均 </a:t>
                      </a:r>
                      <a:r>
                        <a:rPr lang="en-US" altLang="zh-CN" sz="900" dirty="0">
                          <a:effectLst/>
                        </a:rPr>
                        <a:t>2w</a:t>
                      </a:r>
                      <a:r>
                        <a:rPr lang="zh-CN" altLang="en-US" sz="900" dirty="0">
                          <a:effectLst/>
                        </a:rPr>
                        <a:t>、支付</a:t>
                      </a:r>
                      <a:r>
                        <a:rPr lang="en-US" altLang="zh-CN" sz="900" dirty="0">
                          <a:effectLst/>
                        </a:rPr>
                        <a:t>UV</a:t>
                      </a:r>
                      <a:r>
                        <a:rPr lang="zh-CN" altLang="en-US" sz="900" dirty="0">
                          <a:effectLst/>
                        </a:rPr>
                        <a:t> </a:t>
                      </a:r>
                      <a:r>
                        <a:rPr lang="en-US" altLang="zh-CN" sz="900" dirty="0">
                          <a:effectLst/>
                        </a:rPr>
                        <a:t>30</a:t>
                      </a:r>
                      <a:endParaRPr lang="en-GB" altLang="zh-CN" sz="9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内容占位符 2"/>
          <p:cNvSpPr txBox="1"/>
          <p:nvPr/>
        </p:nvSpPr>
        <p:spPr>
          <a:xfrm>
            <a:off x="317137" y="815302"/>
            <a:ext cx="8374957" cy="5479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100" dirty="0"/>
              <a:t>虽然点评美团双侧都有可以满足消费者场景需求的榜单和主题，但从目前的城市覆盖、商户覆盖及用户渗透率来看，仍没有达到可对标必吃榜和人气榜的效果，</a:t>
            </a:r>
            <a:r>
              <a:rPr lang="zh-CN" altLang="en-US" sz="1100" b="1" dirty="0"/>
              <a:t>缺少对此类场景榜的覆盖提升，及用户心智的教育</a:t>
            </a:r>
            <a:r>
              <a:rPr lang="zh-CN" altLang="en-US" sz="1100" dirty="0"/>
              <a:t>。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核心资产未覆盖：榜单城市覆盖问题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6" y="885825"/>
            <a:ext cx="8639588" cy="3516312"/>
          </a:xfrm>
        </p:spPr>
        <p:txBody>
          <a:bodyPr/>
          <a:lstStyle/>
          <a:p>
            <a:r>
              <a:rPr lang="zh-CN" altLang="en-US" dirty="0"/>
              <a:t>当前必吃榜城市覆盖重点在高线，中底线覆盖不足，结合竞品</a:t>
            </a:r>
            <a:r>
              <a:rPr lang="en-US" altLang="zh-CN" dirty="0"/>
              <a:t>D+</a:t>
            </a:r>
            <a:r>
              <a:rPr lang="zh-CN" altLang="en-US" dirty="0"/>
              <a:t>心动榜、高德状元榜建议补充高</a:t>
            </a:r>
            <a:r>
              <a:rPr lang="en-US" altLang="zh-CN" dirty="0"/>
              <a:t>UV30</a:t>
            </a:r>
            <a:r>
              <a:rPr lang="zh-CN" altLang="en-US" dirty="0"/>
              <a:t>城。</a:t>
            </a:r>
            <a:endParaRPr lang="zh-CN" altLang="en-GB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榜单覆盖问题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9886" y="3194297"/>
            <a:ext cx="368617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必吃榜城市结构分布中，城市门店数在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1k-3k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门店范围数量最多，而必吃榜主要覆盖了中高线城市；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对同一门店数水平下的城市，必吃榜仍存在覆盖空白，例如济宁门店数超过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3w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，但必吃榜暂未覆盖，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D+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心动榜和高德扫街榜均覆盖；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必吃榜覆盖城市分布不均，针对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1k-3k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门店的城市反而覆盖了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46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个，规模高于此类城市门店的城市，还存在较多未覆盖的市场空白。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337489" y="1265237"/>
          <a:ext cx="4025461" cy="319047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44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77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8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268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序号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前台城市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门店数量</a:t>
                      </a:r>
                      <a:endParaRPr lang="zh-CN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日均</a:t>
                      </a:r>
                      <a:r>
                        <a:rPr lang="en-US" sz="600" b="1" u="none" strike="noStrike" dirty="0">
                          <a:effectLst/>
                        </a:rPr>
                        <a:t>GTV(</a:t>
                      </a:r>
                      <a:r>
                        <a:rPr lang="zh-CN" altLang="en-US" sz="600" b="1" u="none" strike="noStrike" dirty="0">
                          <a:effectLst/>
                        </a:rPr>
                        <a:t>万</a:t>
                      </a:r>
                      <a:r>
                        <a:rPr lang="en-US" altLang="zh-CN" sz="600" b="1" u="none" strike="noStrike" dirty="0">
                          <a:effectLst/>
                        </a:rPr>
                        <a:t>)</a:t>
                      </a:r>
                      <a:endParaRPr lang="en-US" altLang="zh-CN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日均</a:t>
                      </a:r>
                      <a:r>
                        <a:rPr lang="en-US" sz="600" b="1" u="none" strike="noStrike" dirty="0">
                          <a:effectLst/>
                        </a:rPr>
                        <a:t>UV(</a:t>
                      </a:r>
                      <a:r>
                        <a:rPr lang="zh-CN" altLang="en-US" sz="600" b="1" u="none" strike="noStrike" dirty="0">
                          <a:effectLst/>
                        </a:rPr>
                        <a:t>万</a:t>
                      </a:r>
                      <a:r>
                        <a:rPr lang="en-US" altLang="zh-CN" sz="600" b="1" u="none" strike="noStrike" dirty="0">
                          <a:effectLst/>
                        </a:rPr>
                        <a:t>)</a:t>
                      </a:r>
                      <a:endParaRPr lang="en-US" altLang="zh-CN" sz="6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u="none" strike="noStrike" dirty="0">
                          <a:effectLst/>
                        </a:rPr>
                        <a:t>D+</a:t>
                      </a:r>
                      <a:r>
                        <a:rPr lang="zh-CN" altLang="en-US" sz="600" b="1" u="none" strike="noStrike" dirty="0">
                          <a:effectLst/>
                        </a:rPr>
                        <a:t>上榜门店数</a:t>
                      </a:r>
                      <a:endParaRPr lang="zh-CN" altLang="en-US" sz="600" b="1" i="0" u="none" strike="noStrike" dirty="0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b="1" u="none" strike="noStrike" dirty="0">
                          <a:effectLst/>
                        </a:rPr>
                        <a:t>高德上榜门店数</a:t>
                      </a:r>
                      <a:endParaRPr lang="zh-CN" altLang="en-US" sz="600" b="1" i="0" u="none" strike="noStrike" dirty="0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600" u="none" strike="noStrike">
                          <a:solidFill>
                            <a:srgbClr val="FF0000"/>
                          </a:solidFill>
                          <a:effectLst/>
                        </a:rPr>
                        <a:t>必吃榜上榜城市中位数水平：</a:t>
                      </a:r>
                      <a:endParaRPr lang="zh-CN" altLang="en-US" sz="600" b="1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solidFill>
                            <a:srgbClr val="FF0000"/>
                          </a:solidFill>
                          <a:effectLst/>
                        </a:rPr>
                        <a:t>9276</a:t>
                      </a:r>
                      <a:endParaRPr lang="en-US" altLang="zh-CN" sz="600" b="1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solidFill>
                            <a:srgbClr val="FF0000"/>
                          </a:solidFill>
                          <a:effectLst/>
                        </a:rPr>
                        <a:t>328</a:t>
                      </a:r>
                      <a:endParaRPr lang="en-US" altLang="zh-CN" sz="600" b="1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214</a:t>
                      </a:r>
                      <a:endParaRPr lang="en-US" altLang="zh-CN" sz="600" b="1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600" b="1" i="0" u="none" strike="noStrike">
                        <a:solidFill>
                          <a:srgbClr val="ED7D3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济宁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31,298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758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547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赣州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29,270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620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402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南阳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26,935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708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474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邯郸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26,273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725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496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菏泽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24,855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472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周口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23,724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520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310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阜阳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23,572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447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商丘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22,562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651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375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沧州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21,724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690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399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邢台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20,665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461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317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信阳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18,465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582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323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南充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15,399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540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274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安阳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15,353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321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滁州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14,598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332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199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宜春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12,474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253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158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宿迁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19,962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454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240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肇庆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19,730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450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375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德州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18,729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新乡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18,454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616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432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聊城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18,161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450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驻马店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17,928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359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曲靖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17,660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256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169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23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毕节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16,277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178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102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梅州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15,287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200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145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渭南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13,764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194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榆林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13,556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270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172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莆田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13,212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410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28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许昌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12,731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434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297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汕尾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12,611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261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179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30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600" u="none" strike="noStrike">
                          <a:effectLst/>
                        </a:rPr>
                        <a:t>鞍山</a:t>
                      </a: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12,323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362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249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>
                          <a:effectLst/>
                        </a:rPr>
                        <a:t>-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u="none" strike="noStrike" dirty="0">
                          <a:effectLst/>
                        </a:rPr>
                        <a:t>30</a:t>
                      </a:r>
                      <a:endParaRPr lang="en-US" altLang="zh-CN" sz="6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3491" marR="3491" marT="3491" marB="0" anchor="ctr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95285" y="1265237"/>
          <a:ext cx="3686175" cy="1833364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25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768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前台城市分布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城市数量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必吃榜覆盖城市数量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覆盖率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</a:rPr>
                        <a:t>未覆盖城市数量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10</a:t>
                      </a:r>
                      <a:r>
                        <a:rPr lang="zh-CN" altLang="en-US" sz="800" u="none" strike="noStrike">
                          <a:effectLst/>
                        </a:rPr>
                        <a:t>万以上城市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100%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3-10</a:t>
                      </a:r>
                      <a:r>
                        <a:rPr lang="zh-CN" altLang="en-US" sz="800" u="none" strike="noStrike">
                          <a:effectLst/>
                        </a:rPr>
                        <a:t>万以上城市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98%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2-3</a:t>
                      </a:r>
                      <a:r>
                        <a:rPr lang="zh-CN" altLang="en-US" sz="800" u="none" strike="noStrike">
                          <a:effectLst/>
                        </a:rPr>
                        <a:t>万城市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27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67%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1-2</a:t>
                      </a:r>
                      <a:r>
                        <a:rPr lang="zh-CN" altLang="en-US" sz="800" u="none" strike="noStrike">
                          <a:effectLst/>
                        </a:rPr>
                        <a:t>万城市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120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38%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75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5k-1</a:t>
                      </a:r>
                      <a:r>
                        <a:rPr lang="zh-CN" altLang="en-US" sz="800" u="none" strike="noStrike">
                          <a:effectLst/>
                        </a:rPr>
                        <a:t>万城市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132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37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28%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r>
                        <a:rPr lang="en-US" sz="800" u="none" strike="noStrike">
                          <a:effectLst/>
                        </a:rPr>
                        <a:t>k-5k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131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30%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1</a:t>
                      </a:r>
                      <a:r>
                        <a:rPr lang="en-US" sz="800" u="none" strike="noStrike">
                          <a:effectLst/>
                        </a:rPr>
                        <a:t>k-3k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522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9%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476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500-1</a:t>
                      </a:r>
                      <a:r>
                        <a:rPr lang="en-US" sz="800" u="none" strike="noStrike">
                          <a:effectLst/>
                        </a:rPr>
                        <a:t>k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184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2%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181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</a:t>
                      </a:r>
                      <a:r>
                        <a:rPr lang="en-US" altLang="zh-CN" sz="800" u="none" strike="noStrike">
                          <a:effectLst/>
                        </a:rPr>
                        <a:t>300-500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16%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门店数小于</a:t>
                      </a:r>
                      <a:r>
                        <a:rPr lang="en-US" altLang="zh-CN" sz="800" u="none" strike="noStrike">
                          <a:effectLst/>
                        </a:rPr>
                        <a:t>300</a:t>
                      </a:r>
                      <a:r>
                        <a:rPr lang="zh-CN" altLang="en-US" sz="800" u="none" strike="noStrike">
                          <a:effectLst/>
                        </a:rPr>
                        <a:t>城市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0%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1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总计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1,190</a:t>
                      </a:r>
                      <a:endParaRPr lang="en-US" altLang="zh-CN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237</a:t>
                      </a:r>
                      <a:endParaRPr lang="en-US" altLang="zh-CN" sz="8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20%</a:t>
                      </a:r>
                      <a:endParaRPr lang="en-US" altLang="zh-CN" sz="8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953</a:t>
                      </a:r>
                      <a:endParaRPr lang="en-US" altLang="zh-CN" sz="8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榜单</a:t>
            </a:r>
            <a:r>
              <a:rPr lang="zh-CN" altLang="en-US" dirty="0"/>
              <a:t>商圈</a:t>
            </a:r>
            <a:r>
              <a:rPr kumimoji="1" lang="zh-CN" altLang="en-US" dirty="0"/>
              <a:t>覆盖问题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榜单覆盖问题</a:t>
            </a:r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522756" y="1440843"/>
          <a:ext cx="8369039" cy="494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3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5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全国商圈数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美团人气榜覆盖商圈数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覆盖率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美团好评榜覆盖商圈数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覆盖率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必吃榜覆盖商圈数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覆盖率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6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23,881</a:t>
                      </a:r>
                      <a:r>
                        <a:rPr lang="zh-CN" altLang="en-US" sz="1000" dirty="0">
                          <a:latin typeface="+mj-ea"/>
                          <a:ea typeface="+mj-ea"/>
                        </a:rPr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20,101</a:t>
                      </a:r>
                      <a:r>
                        <a:rPr lang="zh-CN" altLang="en-US" sz="1000" dirty="0">
                          <a:latin typeface="+mj-ea"/>
                          <a:ea typeface="+mj-ea"/>
                        </a:rPr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84%</a:t>
                      </a:r>
                      <a:endParaRPr lang="zh-CN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16,820</a:t>
                      </a:r>
                      <a:r>
                        <a:rPr lang="zh-CN" altLang="en-US" sz="1000" dirty="0">
                          <a:latin typeface="+mj-ea"/>
                          <a:ea typeface="+mj-ea"/>
                        </a:rPr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70%</a:t>
                      </a:r>
                      <a:endParaRPr lang="zh-CN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1,627</a:t>
                      </a:r>
                      <a:r>
                        <a:rPr lang="zh-CN" altLang="en-US" sz="1000" dirty="0">
                          <a:latin typeface="+mj-ea"/>
                          <a:ea typeface="+mj-ea"/>
                        </a:rPr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latin typeface="+mj-ea"/>
                          <a:ea typeface="+mj-ea"/>
                        </a:rPr>
                        <a:t>7%</a:t>
                      </a:r>
                      <a:endParaRPr lang="zh-CN" altLang="en-US" sz="10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282187" y="2054281"/>
            <a:ext cx="27977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effectLst/>
              </a:rPr>
              <a:t>必吃榜未覆盖优质商圈门店供给情况：</a:t>
            </a:r>
            <a:endParaRPr lang="en-US" altLang="zh-CN" sz="1100" dirty="0">
              <a:effectLst/>
            </a:endParaRPr>
          </a:p>
        </p:txBody>
      </p:sp>
      <p:graphicFrame>
        <p:nvGraphicFramePr>
          <p:cNvPr id="8" name="表格 8"/>
          <p:cNvGraphicFramePr>
            <a:graphicFrameLocks noGrp="1"/>
          </p:cNvGraphicFramePr>
          <p:nvPr/>
        </p:nvGraphicFramePr>
        <p:xfrm>
          <a:off x="6470306" y="2355850"/>
          <a:ext cx="2421488" cy="19202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5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行政区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商圈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营业门店数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深圳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宝安区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沙井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13,232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佛山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南海区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里水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12,031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厦门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思明区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市政府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9,671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广州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白云区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嘉禾</a:t>
                      </a:r>
                      <a:r>
                        <a:rPr lang="en-US" altLang="zh-CN" sz="8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人和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8,425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深圳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龙岗区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横岗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7,789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深圳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宝安区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石岩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6,899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佛山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顺德区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北滘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6,631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重庆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沙坪坝区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大学城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latin typeface="+mj-ea"/>
                          <a:ea typeface="+mj-ea"/>
                        </a:rPr>
                        <a:t>6,245</a:t>
                      </a:r>
                      <a:r>
                        <a:rPr lang="zh-CN" altLang="en-US" sz="800" dirty="0">
                          <a:latin typeface="+mj-ea"/>
                          <a:ea typeface="+mj-ea"/>
                        </a:rPr>
                        <a:t>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08705" y="1985038"/>
            <a:ext cx="3793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effectLst/>
              </a:rPr>
              <a:t>美团人气榜未覆盖热度商圈</a:t>
            </a:r>
            <a:r>
              <a:rPr lang="en-US" altLang="zh-CN" sz="1100" dirty="0">
                <a:effectLst/>
              </a:rPr>
              <a:t>VS</a:t>
            </a:r>
            <a:r>
              <a:rPr lang="zh-CN" altLang="en-US" sz="1100" dirty="0">
                <a:effectLst/>
              </a:rPr>
              <a:t>点评、竞品对比：</a:t>
            </a:r>
            <a:endParaRPr lang="en-US" altLang="zh-CN" sz="800" dirty="0">
              <a:solidFill>
                <a:srgbClr val="FF0000"/>
              </a:solidFill>
              <a:effectLst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1"/>
            </p:custDataLst>
          </p:nvPr>
        </p:nvGraphicFramePr>
        <p:xfrm>
          <a:off x="522756" y="2218721"/>
          <a:ext cx="564944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80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4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商圈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已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美团侧问题诊断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美团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点评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高德扫街榜</a:t>
                      </a:r>
                      <a:endParaRPr lang="zh-CN" altLang="en-US" sz="8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D+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心动榜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4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崇礼滑雪</a:t>
                      </a:r>
                      <a:endParaRPr lang="en-US" altLang="zh-CN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5000+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家门店）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有行政区，但无热门滑雪场周边榜单覆盖，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sym typeface="+mn-ea"/>
                        </a:rPr>
                        <a:t>缺少由流量导向的榜单需求、缺少榜单地图需求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崇礼三大滑雪热门区均无榜单门店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zh-CN" altLang="en-US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点评热门榜已覆盖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indent="0">
                        <a:buNone/>
                      </a:pPr>
                      <a:endParaRPr lang="zh-CN" altLang="en-US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能直接通过滑雪场定位展示周边上榜门店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无“崇礼区”行政区划分，也无滑雪热门商圈划分，无上榜门店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0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承德丰宁</a:t>
                      </a:r>
                      <a:endParaRPr lang="en-US" altLang="zh-CN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坝上草原</a:t>
                      </a:r>
                      <a:endParaRPr lang="en-US" altLang="zh-CN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500+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家门店）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未覆盖商圈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（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热门景区空白</a:t>
                      </a:r>
                      <a:r>
                        <a:rPr lang="zh-CN" altLang="en-US" sz="800" dirty="0">
                          <a:effectLst/>
                        </a:rPr>
                        <a:t>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美团无商圈榜单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点评多个数据榜已覆盖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>
                        <a:effectLst/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高德该地点上榜状元榜</a:t>
                      </a:r>
                      <a:r>
                        <a:rPr lang="en-US" altLang="zh-CN" sz="800" dirty="0">
                          <a:effectLst/>
                        </a:rPr>
                        <a:t>-</a:t>
                      </a:r>
                      <a:r>
                        <a:rPr lang="zh-CN" altLang="en-US" sz="800" dirty="0">
                          <a:effectLst/>
                        </a:rPr>
                        <a:t>必玩榜，但周边无扫街榜美食门店推荐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未覆盖该城市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新疆日喀则</a:t>
                      </a:r>
                      <a:endParaRPr lang="en-US" altLang="zh-CN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达热瓦公园（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300+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家门店）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未覆盖商圈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（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热门景区空白</a:t>
                      </a:r>
                      <a:r>
                        <a:rPr lang="zh-CN" altLang="en-US" sz="800" dirty="0">
                          <a:effectLst/>
                        </a:rPr>
                        <a:t>）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美团无商圈榜单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点评多个数据榜已覆盖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周边有扫街榜上榜餐厅</a:t>
                      </a:r>
                      <a:endParaRPr lang="en-US" altLang="zh-CN" sz="800" dirty="0">
                        <a:effectLst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未覆盖该城市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/>
          <a:srcRect r="36627"/>
          <a:stretch>
            <a:fillRect/>
          </a:stretch>
        </p:blipFill>
        <p:spPr>
          <a:xfrm>
            <a:off x="2126649" y="2698907"/>
            <a:ext cx="761043" cy="123412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r="30453"/>
          <a:stretch>
            <a:fillRect/>
          </a:stretch>
        </p:blipFill>
        <p:spPr>
          <a:xfrm>
            <a:off x="3117449" y="2585776"/>
            <a:ext cx="928965" cy="13353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5"/>
          <a:srcRect t="12839" r="3301" b="7531"/>
          <a:stretch>
            <a:fillRect/>
          </a:stretch>
        </p:blipFill>
        <p:spPr>
          <a:xfrm>
            <a:off x="4236371" y="2698907"/>
            <a:ext cx="858595" cy="121222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8361" y="4154809"/>
            <a:ext cx="680389" cy="33331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7934" y="4169709"/>
            <a:ext cx="946772" cy="30351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7682" y="4635777"/>
            <a:ext cx="915148" cy="26990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5072" y="4709897"/>
            <a:ext cx="915147" cy="195784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7663" y="4658505"/>
            <a:ext cx="828751" cy="269877"/>
          </a:xfrm>
          <a:prstGeom prst="rect">
            <a:avLst/>
          </a:prstGeom>
        </p:spPr>
      </p:pic>
      <p:sp>
        <p:nvSpPr>
          <p:cNvPr id="23" name="内容占位符 2"/>
          <p:cNvSpPr>
            <a:spLocks noGrp="1"/>
          </p:cNvSpPr>
          <p:nvPr>
            <p:ph sz="quarter" idx="23"/>
          </p:nvPr>
        </p:nvSpPr>
        <p:spPr>
          <a:xfrm>
            <a:off x="301173" y="870473"/>
            <a:ext cx="8598154" cy="667388"/>
          </a:xfrm>
        </p:spPr>
        <p:txBody>
          <a:bodyPr>
            <a:normAutofit fontScale="90000"/>
          </a:bodyPr>
          <a:lstStyle/>
          <a:p>
            <a:r>
              <a:rPr lang="zh-CN" altLang="en-US" sz="1200" dirty="0"/>
              <a:t>人气榜商圈覆盖度较高，但存在热门流量空白区域未覆盖，点评数据榜基于流量角度成榜覆盖更全面，后续美团人气榜考虑进行商圈热度成榜补齐；必吃榜由于城市有限且城市内门店数较少，故总体商圈覆盖率较低，建议从覆盖城市×商圈角度补齐覆盖。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榜单规则现状问题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榜单规则问题</a:t>
            </a:r>
          </a:p>
        </p:txBody>
      </p:sp>
      <p:sp>
        <p:nvSpPr>
          <p:cNvPr id="17" name="内容占位符 2"/>
          <p:cNvSpPr txBox="1"/>
          <p:nvPr/>
        </p:nvSpPr>
        <p:spPr>
          <a:xfrm>
            <a:off x="180981" y="1145474"/>
            <a:ext cx="2714619" cy="385518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100" b="1" dirty="0">
                <a:latin typeface="+mn-ea"/>
                <a:ea typeface="+mn-ea"/>
              </a:rPr>
              <a:t>目前美团榜单资产以销量或评价为主，单一资产虽牵引力强，但存在公信力弱问题：</a:t>
            </a:r>
            <a:endParaRPr lang="en-US" altLang="zh-CN" sz="1100" b="1" dirty="0">
              <a:latin typeface="+mn-ea"/>
              <a:ea typeface="+mn-ea"/>
            </a:endParaRPr>
          </a:p>
          <a:p>
            <a:pPr>
              <a:buClr>
                <a:schemeClr val="tx1"/>
              </a:buClr>
            </a:pPr>
            <a:r>
              <a:rPr lang="zh-CN" altLang="en-US" sz="1100" b="1" dirty="0">
                <a:latin typeface="+mn-ea"/>
                <a:ea typeface="+mn-ea"/>
              </a:rPr>
              <a:t>引用资产较单一，导致热门门店缺失：</a:t>
            </a:r>
            <a:r>
              <a:rPr lang="zh-CN" altLang="en-US" sz="1100" dirty="0">
                <a:latin typeface="+mn-ea"/>
                <a:ea typeface="+mn-ea"/>
              </a:rPr>
              <a:t>主要依赖核销量、星级评价，缺乏</a:t>
            </a:r>
            <a:r>
              <a:rPr lang="en-US" altLang="zh-CN" sz="1100" dirty="0">
                <a:latin typeface="+mn-ea"/>
                <a:ea typeface="+mn-ea"/>
              </a:rPr>
              <a:t>UGC</a:t>
            </a:r>
            <a:r>
              <a:rPr lang="zh-CN" altLang="en-US" sz="1100" dirty="0">
                <a:latin typeface="+mn-ea"/>
                <a:ea typeface="+mn-ea"/>
              </a:rPr>
              <a:t>内容、流量等多维度数据支持，考虑</a:t>
            </a:r>
            <a:r>
              <a:rPr lang="zh-CN" altLang="en-US" sz="1100" b="1" dirty="0">
                <a:latin typeface="+mn-ea"/>
                <a:ea typeface="+mn-ea"/>
              </a:rPr>
              <a:t>后续建设综合资产榜单</a:t>
            </a:r>
            <a:r>
              <a:rPr lang="zh-CN" altLang="en-US" sz="1100" dirty="0">
                <a:latin typeface="+mn-ea"/>
                <a:ea typeface="+mn-ea"/>
              </a:rPr>
              <a:t>（交易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评价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信息</a:t>
            </a:r>
            <a:r>
              <a:rPr lang="en-US" altLang="zh-CN" sz="1100" dirty="0">
                <a:latin typeface="+mn-ea"/>
                <a:ea typeface="+mn-ea"/>
              </a:rPr>
              <a:t>+</a:t>
            </a:r>
            <a:r>
              <a:rPr lang="zh-CN" altLang="en-US" sz="1100" dirty="0">
                <a:latin typeface="+mn-ea"/>
                <a:ea typeface="+mn-ea"/>
              </a:rPr>
              <a:t>服务等）</a:t>
            </a:r>
            <a:endParaRPr lang="en-US" altLang="zh-CN" sz="1100" b="1" dirty="0">
              <a:latin typeface="+mn-ea"/>
              <a:ea typeface="+mn-ea"/>
            </a:endParaRPr>
          </a:p>
          <a:p>
            <a:pPr>
              <a:buClr>
                <a:schemeClr val="tx1"/>
              </a:buClr>
            </a:pPr>
            <a:r>
              <a:rPr lang="zh-CN" altLang="en-US" sz="1100" b="1" dirty="0">
                <a:latin typeface="+mn-ea"/>
                <a:ea typeface="+mn-ea"/>
              </a:rPr>
              <a:t>上榜门槛宽松，导致上榜门店质量参差</a:t>
            </a:r>
            <a:r>
              <a:rPr lang="zh-CN" altLang="en-US" sz="1100" dirty="0">
                <a:latin typeface="+mn-ea"/>
                <a:ea typeface="+mn-ea"/>
              </a:rPr>
              <a:t>：</a:t>
            </a:r>
            <a:r>
              <a:rPr lang="zh-CN" altLang="en-US" sz="1100" dirty="0"/>
              <a:t>有过多商家上榜，其中有较大比例的商家压线上榜（周销量</a:t>
            </a:r>
            <a:r>
              <a:rPr lang="en-US" altLang="zh-CN" sz="1100" dirty="0"/>
              <a:t>10 </a:t>
            </a:r>
            <a:r>
              <a:rPr lang="zh-CN" altLang="en-US" sz="1100" dirty="0"/>
              <a:t>），</a:t>
            </a:r>
            <a:r>
              <a:rPr lang="zh-CN" altLang="en-US" sz="1100" dirty="0">
                <a:latin typeface="+mn-ea"/>
                <a:ea typeface="+mn-ea"/>
              </a:rPr>
              <a:t>降低了</a:t>
            </a:r>
            <a:r>
              <a:rPr lang="zh-CN" altLang="en-US" sz="1100" b="1" dirty="0">
                <a:latin typeface="+mn-ea"/>
                <a:ea typeface="+mn-ea"/>
              </a:rPr>
              <a:t>榜单的稀缺性和权威性</a:t>
            </a:r>
            <a:r>
              <a:rPr lang="zh-CN" altLang="en-US" sz="1100" dirty="0">
                <a:latin typeface="+mn-ea"/>
                <a:ea typeface="+mn-ea"/>
              </a:rPr>
              <a:t>，影响用户公信力，</a:t>
            </a:r>
            <a:r>
              <a:rPr lang="zh-CN" altLang="en-US" sz="1100" b="1" dirty="0">
                <a:latin typeface="+mn-ea"/>
                <a:ea typeface="+mn-ea"/>
              </a:rPr>
              <a:t>后续需优先确保上榜的含金量</a:t>
            </a:r>
            <a:r>
              <a:rPr lang="zh-CN" altLang="en-US" sz="1100" dirty="0">
                <a:latin typeface="+mn-ea"/>
                <a:ea typeface="+mn-ea"/>
              </a:rPr>
              <a:t>。</a:t>
            </a:r>
            <a:endParaRPr lang="en-US" altLang="zh-CN" sz="1100" dirty="0">
              <a:latin typeface="+mn-ea"/>
              <a:ea typeface="+mn-ea"/>
            </a:endParaRPr>
          </a:p>
          <a:p>
            <a:pPr>
              <a:buClr>
                <a:schemeClr val="tx1"/>
              </a:buClr>
            </a:pPr>
            <a:r>
              <a:rPr lang="zh-CN" altLang="en-US" sz="1100" b="1" dirty="0">
                <a:latin typeface="+mn-ea"/>
                <a:ea typeface="+mn-ea"/>
              </a:rPr>
              <a:t>对于价格带离散的品类，榜单未细分：</a:t>
            </a:r>
            <a:r>
              <a:rPr lang="zh-CN" altLang="en-US" sz="1100" dirty="0">
                <a:latin typeface="+mn-ea"/>
                <a:ea typeface="+mn-ea"/>
              </a:rPr>
              <a:t>例如海鲜、日料、烤鸭等品类下高低客单价在同一榜单，有失公允</a:t>
            </a:r>
            <a:endParaRPr lang="en-US" altLang="zh-CN" sz="1100" dirty="0">
              <a:latin typeface="+mn-ea"/>
              <a:ea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032119" y="123823"/>
          <a:ext cx="5859675" cy="4876832"/>
        </p:xfrm>
        <a:graphic>
          <a:graphicData uri="http://schemas.openxmlformats.org/drawingml/2006/table">
            <a:tbl>
              <a:tblPr/>
              <a:tblGrid>
                <a:gridCol w="482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0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29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29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29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平台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4B3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核心榜单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人气榜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好评榜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热门榜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好评榜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销量榜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打卡人气榜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43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榜单规则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成榜门槛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排行榜每周一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10:00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发榜更新，按「区域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排名方式」划分赛道，不同榜单依据不同的指标进行排名。每个赛道满足上榜条件的商家需≥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区域：全城评选前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名。行政区评选前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名。商圈评选前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品类：美团前台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级品类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入围制：优中选优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排行榜每日发榜更新，按「区域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×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排名方式」划分赛道，不同榜单依据不同的数据指标进行排名。每个赛道需满足正常营业的商户数≥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家 且 满足上榜门槛的正常营业商户数≥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b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区域：全城评选前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名。行政区评选前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名。商圈评选前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名。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品类：点评前台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级品类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23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评选规则</a:t>
                      </a: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&amp;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入榜门槛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美团星级 ≥ 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b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门店在线：门店在上一周榜单统计时间内处于营业中，未有停业歇业等行为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项目在线：① 门店当前项目（套餐或代金券）在美团侧或双平台可购买；② 门店当前项目（套餐或代金券或商家券包）在榜单统计时间内处于在线状态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门店周核销量 ≥ 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美团星级 ≥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4</a:t>
                      </a:r>
                      <a:b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门店在线：门店在上一周榜单统计时间内处于营业中，未有停业歇业等行为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项目在线：门店在榜单时间内美团侧的套餐或代金券或买单在线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门店评价数：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天内有字过审评论，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mt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侧≥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条，双侧总和≥ 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必吃榜以上一年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-12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日为考察期，综合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评价真实可信、口味优中选优、长期稳定体验佳、符合日常消费水平、满足日常就餐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选择五大维度，进行评选。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评价真实可信：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考察评价诚信指标，餐厅评价真实可信，且在考察期内没有因为诱导好评、炒作等干扰评价秩序的行为被处罚记录。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口味优中选优：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考察口味分指标，餐厅在各个用户群体中的口味分位居本城前列。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长期稳定体验佳：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考察长期稳定指标，截至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日，餐厅在大众点评上收录满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365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天，且正常营业时间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&gt;=182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天，星级评价数据稳定保持在本城排名前列。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符合日常消费水平：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考察性价比指标，餐厅价格符合本城用户日常外出用餐的消费水平，包括正餐和小吃。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满足日常用餐选择：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考察本城用户的用餐偏好，餐厅贴近本城用户的日常选择。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不受合作影响：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榜单评选秉承对所有餐厅一视同仁，餐厅是否与大众点评、美团合作均不影响评选过程及结果，同时评选数据中不纳入用户通过免费试等活动产生的评价。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无违法违规行为：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餐厅在考察期内未发生如证照不全、食品安全问题等违法违规行为。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点评评价总数：境内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S/A/B/C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级城市≥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条；境内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D/E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级城市≥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条；境外或境内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F/Z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级城市≥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点评新增评价：境内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S/A/B/C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级城市近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天至少有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条新增评价；境外或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及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级以下城市近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90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天内至少有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条新增评价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9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点评星级：≥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3.5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近一周点评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APP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端商详页流量不为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点评星级：≥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点评星级：≥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3.5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评选当日在点评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APP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有可售卖产品（代金券、团购套餐、商家券包、优惠买单、一键买单、智能点餐）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点评星级：≥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3.5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星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近一周打卡人数≥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5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排序逻辑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根据商户上周核销量（套餐、代金券、全包、买单以及智能点餐销量）总和进行排序。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根据商户上周星级及好评数量计算综合好评值进行排序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按热门指数排名。热门指数主要根据商户近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天的大众点评商详页真实访问人数综合计算。作弊流量会被剔除。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境内非低线城市：按好评指数排名。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境外、境内低线城市：按星级分总分取两位小数排名，分值相同时再按热门指数排名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根据销量指数排序，销量指数主要依据商户在点评平台近一周的真实销量和销售额、剔除刷单等作弊数据后进行综合排序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按近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天有效打卡人数排名。作弊打卡数据会被剔除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55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更新频率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每周一更新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每周一更新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一年一更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每日更新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206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商家牵引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合作交易：上线套代买提升订单量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重视营销场：利用特团直营销场提升团购销量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线下店推：通过线下店推将线下流量转化为线上交易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广告投放：使用推广通、智选展位增加曝光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活动策划：结合节日热点推出限时活动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鼓励消费者留下真实评价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维护星级评分，及时处理差评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高位运营动作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评价管理：定期分析评价，优化服务细节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会员运营：通过会员体系提升老客复购和评价率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确保评价真实可信，杜绝刷评或虚假评价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菜品口味需达到较高水平并保持稳定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保持长期稳定的服务质量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控制差评率在较低水平，并及时处理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设定合理价位，符合同城就餐水平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菜品或服务反映当地特色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门店装修、优化封面标签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引导用户扫码进入商详页或打卡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参与官方活动提升曝光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优化口味：持续提升菜品质量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改善门店环境、特色环境布置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保证整体服务体验，提供特色服务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使用官方评价积累工具：如申领并铺设评价码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提供更多优质优惠线上供给</a:t>
                      </a:r>
                      <a:b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引导用户在大众点评线上下单结账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参与平台打卡活动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铺设官方打卡码物料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引导顾客打卡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843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公信力表达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上榜指标清晰，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端公信力尚可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上榜门槛低，门店质量参差不齐，</a:t>
                      </a:r>
                      <a:r>
                        <a:rPr lang="en-US" altLang="zh-CN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端公信力低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必吃榜是行业标杆榜单，公信力非常强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主要来源于：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①必吃榜以用户的真实评价数据为基础。通过大模型及人工审核，拦截恶意差评，并设置线索举报通道。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②坚持公平公正的原则，评选过程不牵涉任何经济利益和商业行为，不采纳人为提名，必吃榜不会以任何形式收取评选费用。</a:t>
                      </a:r>
                      <a:b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</a:br>
                      <a:r>
                        <a:rPr lang="zh-CN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③所有评选结果受第三方公证机构权威监督公证。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上榜指标清晰，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</a:t>
                      </a:r>
                      <a:r>
                        <a:rPr lang="en-US" altLang="zh-C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&amp;C</a:t>
                      </a:r>
                      <a:r>
                        <a:rPr lang="zh-CN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端公信力尚可</a:t>
                      </a:r>
                    </a:p>
                  </a:txBody>
                  <a:tcPr marL="1795" marR="1795" marT="179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/>
          <p:cNvSpPr/>
          <p:nvPr/>
        </p:nvSpPr>
        <p:spPr>
          <a:xfrm>
            <a:off x="4027552" y="4605097"/>
            <a:ext cx="5059391" cy="399546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4022073" y="3125527"/>
            <a:ext cx="5059391" cy="399546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榜单规则问题：</a:t>
            </a:r>
            <a:r>
              <a:rPr lang="zh-CN" altLang="en-US" dirty="0"/>
              <a:t> ：导致商家牵引力</a:t>
            </a:r>
            <a:r>
              <a:rPr lang="en-US" altLang="zh-CN" dirty="0"/>
              <a:t>+</a:t>
            </a:r>
            <a:r>
              <a:rPr lang="zh-CN" altLang="en-US" dirty="0"/>
              <a:t>公信力问题</a:t>
            </a:r>
            <a:endParaRPr kumimoji="1" lang="zh-CN" altLang="en-US" dirty="0"/>
          </a:p>
        </p:txBody>
      </p:sp>
      <p:sp>
        <p:nvSpPr>
          <p:cNvPr id="168" name="米菲PPT1"/>
          <p:cNvSpPr/>
          <p:nvPr/>
        </p:nvSpPr>
        <p:spPr>
          <a:xfrm>
            <a:off x="19608" y="935458"/>
            <a:ext cx="3594168" cy="3539512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5" name="米菲PPT51"/>
          <p:cNvSpPr txBox="1"/>
          <p:nvPr/>
        </p:nvSpPr>
        <p:spPr>
          <a:xfrm>
            <a:off x="891157" y="4258620"/>
            <a:ext cx="1848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全量营业门店 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1222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万家</a:t>
            </a:r>
          </a:p>
        </p:txBody>
      </p:sp>
      <p:cxnSp>
        <p:nvCxnSpPr>
          <p:cNvPr id="357" name="直线连接符 356"/>
          <p:cNvCxnSpPr>
            <a:stCxn id="175" idx="0"/>
          </p:cNvCxnSpPr>
          <p:nvPr/>
        </p:nvCxnSpPr>
        <p:spPr>
          <a:xfrm flipH="1">
            <a:off x="19608" y="1145154"/>
            <a:ext cx="179988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线连接符 357"/>
          <p:cNvCxnSpPr/>
          <p:nvPr/>
        </p:nvCxnSpPr>
        <p:spPr>
          <a:xfrm flipH="1" flipV="1">
            <a:off x="149504" y="4165468"/>
            <a:ext cx="1613200" cy="974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米菲PPT51"/>
          <p:cNvSpPr txBox="1"/>
          <p:nvPr/>
        </p:nvSpPr>
        <p:spPr>
          <a:xfrm>
            <a:off x="277390" y="1533022"/>
            <a:ext cx="353943" cy="1836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 defTabSz="457200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交易合作门店 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360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万家</a:t>
            </a:r>
          </a:p>
        </p:txBody>
      </p:sp>
      <p:grpSp>
        <p:nvGrpSpPr>
          <p:cNvPr id="366" name="米菲PPT14"/>
          <p:cNvGrpSpPr/>
          <p:nvPr/>
        </p:nvGrpSpPr>
        <p:grpSpPr>
          <a:xfrm>
            <a:off x="1663111" y="2164121"/>
            <a:ext cx="1671631" cy="119907"/>
            <a:chOff x="9256258" y="2931456"/>
            <a:chExt cx="2401871" cy="99104"/>
          </a:xfrm>
        </p:grpSpPr>
        <p:cxnSp>
          <p:nvCxnSpPr>
            <p:cNvPr id="367" name="米菲PPT14-1"/>
            <p:cNvCxnSpPr/>
            <p:nvPr/>
          </p:nvCxnSpPr>
          <p:spPr>
            <a:xfrm>
              <a:off x="9385651" y="3028491"/>
              <a:ext cx="2272478" cy="0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68" name="米菲PPT14-2"/>
            <p:cNvCxnSpPr/>
            <p:nvPr/>
          </p:nvCxnSpPr>
          <p:spPr>
            <a:xfrm>
              <a:off x="9256258" y="2931456"/>
              <a:ext cx="129393" cy="99104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369" name="米菲PPT21"/>
          <p:cNvSpPr txBox="1"/>
          <p:nvPr/>
        </p:nvSpPr>
        <p:spPr>
          <a:xfrm>
            <a:off x="2397321" y="1912576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门店占比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1%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</a:t>
            </a:r>
            <a:endParaRPr lang="en-US" altLang="zh-CN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35%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</p:txBody>
      </p:sp>
      <p:grpSp>
        <p:nvGrpSpPr>
          <p:cNvPr id="377" name="米菲PPT14"/>
          <p:cNvGrpSpPr/>
          <p:nvPr/>
        </p:nvGrpSpPr>
        <p:grpSpPr>
          <a:xfrm>
            <a:off x="2130924" y="2790431"/>
            <a:ext cx="1671631" cy="119907"/>
            <a:chOff x="9256258" y="2931456"/>
            <a:chExt cx="2401871" cy="99104"/>
          </a:xfrm>
        </p:grpSpPr>
        <p:cxnSp>
          <p:nvCxnSpPr>
            <p:cNvPr id="378" name="米菲PPT14-1"/>
            <p:cNvCxnSpPr/>
            <p:nvPr/>
          </p:nvCxnSpPr>
          <p:spPr>
            <a:xfrm>
              <a:off x="9385651" y="3028491"/>
              <a:ext cx="2272478" cy="0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79" name="米菲PPT14-2"/>
            <p:cNvCxnSpPr/>
            <p:nvPr/>
          </p:nvCxnSpPr>
          <p:spPr>
            <a:xfrm>
              <a:off x="9256258" y="2931456"/>
              <a:ext cx="129393" cy="99104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380" name="米菲PPT21"/>
          <p:cNvSpPr txBox="1"/>
          <p:nvPr/>
        </p:nvSpPr>
        <p:spPr>
          <a:xfrm>
            <a:off x="2593673" y="2550137"/>
            <a:ext cx="1316879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门店占比 </a:t>
            </a:r>
            <a:r>
              <a:rPr lang="en-US" altLang="zh-CN" sz="1100" dirty="0">
                <a:solidFill>
                  <a:srgbClr val="C00000"/>
                </a:solidFill>
                <a:cs typeface="MiSans Medium" panose="00000600000000000000" pitchFamily="2" charset="-122"/>
              </a:rPr>
              <a:t>1.6%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+3%</a:t>
            </a: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35%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</p:txBody>
      </p:sp>
      <p:grpSp>
        <p:nvGrpSpPr>
          <p:cNvPr id="381" name="米菲PPT14"/>
          <p:cNvGrpSpPr/>
          <p:nvPr/>
        </p:nvGrpSpPr>
        <p:grpSpPr>
          <a:xfrm>
            <a:off x="2252573" y="3417044"/>
            <a:ext cx="1652499" cy="119907"/>
            <a:chOff x="9256258" y="2931456"/>
            <a:chExt cx="2401871" cy="99104"/>
          </a:xfrm>
        </p:grpSpPr>
        <p:cxnSp>
          <p:nvCxnSpPr>
            <p:cNvPr id="382" name="米菲PPT14-1"/>
            <p:cNvCxnSpPr/>
            <p:nvPr/>
          </p:nvCxnSpPr>
          <p:spPr>
            <a:xfrm>
              <a:off x="9385651" y="3028491"/>
              <a:ext cx="2272478" cy="0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83" name="米菲PPT14-2"/>
            <p:cNvCxnSpPr/>
            <p:nvPr/>
          </p:nvCxnSpPr>
          <p:spPr>
            <a:xfrm>
              <a:off x="9256258" y="2931456"/>
              <a:ext cx="129393" cy="99104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384" name="米菲PPT21"/>
          <p:cNvSpPr txBox="1"/>
          <p:nvPr/>
        </p:nvSpPr>
        <p:spPr>
          <a:xfrm>
            <a:off x="2984300" y="3172941"/>
            <a:ext cx="1173957" cy="39267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门店占比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8%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</a:t>
            </a:r>
            <a:endParaRPr lang="en-US" altLang="zh-CN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20%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</p:txBody>
      </p:sp>
      <p:sp>
        <p:nvSpPr>
          <p:cNvPr id="418" name="米菲PPT45"/>
          <p:cNvSpPr/>
          <p:nvPr/>
        </p:nvSpPr>
        <p:spPr>
          <a:xfrm>
            <a:off x="5300520" y="329503"/>
            <a:ext cx="1132959" cy="203335"/>
          </a:xfrm>
          <a:prstGeom prst="parallelogram">
            <a:avLst>
              <a:gd name="adj" fmla="val 51891"/>
            </a:avLst>
          </a:prstGeom>
          <a:gradFill>
            <a:gsLst>
              <a:gs pos="0">
                <a:srgbClr val="F57359">
                  <a:lumMod val="89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228600" dist="139700" dir="5400000" algn="t" rotWithShape="0">
              <a:srgbClr val="F57359">
                <a:alpha val="2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19" name="米菲PPT46"/>
          <p:cNvSpPr txBox="1"/>
          <p:nvPr/>
        </p:nvSpPr>
        <p:spPr>
          <a:xfrm>
            <a:off x="5588087" y="313374"/>
            <a:ext cx="6078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1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必吃榜</a:t>
            </a:r>
          </a:p>
        </p:txBody>
      </p:sp>
      <p:sp>
        <p:nvSpPr>
          <p:cNvPr id="422" name="米菲PPT45"/>
          <p:cNvSpPr/>
          <p:nvPr/>
        </p:nvSpPr>
        <p:spPr>
          <a:xfrm>
            <a:off x="6617175" y="329503"/>
            <a:ext cx="1132959" cy="203335"/>
          </a:xfrm>
          <a:prstGeom prst="parallelogram">
            <a:avLst>
              <a:gd name="adj" fmla="val 51891"/>
            </a:avLst>
          </a:prstGeom>
          <a:gradFill>
            <a:gsLst>
              <a:gs pos="0">
                <a:schemeClr val="accent2">
                  <a:lumMod val="89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228600" dist="139700" dir="5400000" algn="t" rotWithShape="0">
              <a:schemeClr val="accent2">
                <a:alpha val="2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23" name="米菲PPT46"/>
          <p:cNvSpPr txBox="1"/>
          <p:nvPr/>
        </p:nvSpPr>
        <p:spPr>
          <a:xfrm>
            <a:off x="6904741" y="313374"/>
            <a:ext cx="6078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人气榜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424" name="米菲PPT45"/>
          <p:cNvSpPr/>
          <p:nvPr/>
        </p:nvSpPr>
        <p:spPr>
          <a:xfrm>
            <a:off x="7883218" y="330378"/>
            <a:ext cx="1132959" cy="203335"/>
          </a:xfrm>
          <a:prstGeom prst="parallelogram">
            <a:avLst>
              <a:gd name="adj" fmla="val 51891"/>
            </a:avLst>
          </a:prstGeom>
          <a:gradFill>
            <a:gsLst>
              <a:gs pos="0">
                <a:schemeClr val="accent2">
                  <a:lumMod val="89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228600" dist="139700" dir="5400000" algn="t" rotWithShape="0">
              <a:schemeClr val="accent2">
                <a:alpha val="2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25" name="米菲PPT46"/>
          <p:cNvSpPr txBox="1"/>
          <p:nvPr/>
        </p:nvSpPr>
        <p:spPr>
          <a:xfrm>
            <a:off x="8170784" y="314249"/>
            <a:ext cx="6078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好评榜</a:t>
            </a:r>
          </a:p>
        </p:txBody>
      </p:sp>
      <p:sp>
        <p:nvSpPr>
          <p:cNvPr id="426" name="米菲PPT21"/>
          <p:cNvSpPr txBox="1"/>
          <p:nvPr/>
        </p:nvSpPr>
        <p:spPr>
          <a:xfrm>
            <a:off x="5355425" y="647775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661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占比头部门店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2.2%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27" name="米菲PPT21"/>
          <p:cNvSpPr txBox="1"/>
          <p:nvPr/>
        </p:nvSpPr>
        <p:spPr>
          <a:xfrm>
            <a:off x="6628369" y="650038"/>
            <a:ext cx="1358186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29,269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占比头部门店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97%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28" name="米菲PPT21"/>
          <p:cNvSpPr txBox="1"/>
          <p:nvPr/>
        </p:nvSpPr>
        <p:spPr>
          <a:xfrm>
            <a:off x="7869437" y="649648"/>
            <a:ext cx="1358186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23,881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占比头部门店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79%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29" name="米菲PPT21"/>
          <p:cNvSpPr txBox="1"/>
          <p:nvPr/>
        </p:nvSpPr>
        <p:spPr>
          <a:xfrm>
            <a:off x="5365794" y="1331590"/>
            <a:ext cx="1302060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①</a:t>
            </a:r>
            <a:r>
              <a:rPr lang="zh-CN" altLang="en-US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b="1" dirty="0">
                <a:solidFill>
                  <a:schemeClr val="accent4"/>
                </a:solidFill>
              </a:rPr>
              <a:t>29,396</a:t>
            </a:r>
            <a:r>
              <a:rPr lang="zh-CN" altLang="en-US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 </a:t>
            </a:r>
            <a:endParaRPr lang="en-US" altLang="zh-CN" sz="900" b="1" dirty="0">
              <a:solidFill>
                <a:schemeClr val="accent4"/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b="1" dirty="0">
                <a:solidFill>
                  <a:schemeClr val="accent4"/>
                </a:solidFill>
                <a:cs typeface="MiSans Medium" panose="00000600000000000000" pitchFamily="2" charset="-122"/>
              </a:rPr>
              <a:t>34%</a:t>
            </a:r>
            <a:endParaRPr lang="zh-CN" altLang="en-US" sz="900" b="1" dirty="0">
              <a:solidFill>
                <a:schemeClr val="accent4"/>
              </a:solidFill>
              <a:cs typeface="MiSans Medium" panose="00000600000000000000" pitchFamily="2" charset="-122"/>
            </a:endParaRPr>
          </a:p>
        </p:txBody>
      </p:sp>
      <p:sp>
        <p:nvSpPr>
          <p:cNvPr id="430" name="米菲PPT21"/>
          <p:cNvSpPr txBox="1"/>
          <p:nvPr/>
        </p:nvSpPr>
        <p:spPr>
          <a:xfrm>
            <a:off x="6667854" y="1329483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788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0.7%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31" name="米菲PPT21"/>
          <p:cNvSpPr txBox="1"/>
          <p:nvPr/>
        </p:nvSpPr>
        <p:spPr>
          <a:xfrm>
            <a:off x="7887734" y="1329483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6,176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6%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34" name="文本框 433"/>
          <p:cNvSpPr txBox="1"/>
          <p:nvPr/>
        </p:nvSpPr>
        <p:spPr>
          <a:xfrm>
            <a:off x="0" y="4675522"/>
            <a:ext cx="39567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门店占比及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GTV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占比均按照到餐交易在线门店计算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5w+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</a:t>
            </a:r>
            <a:r>
              <a:rPr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UV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门店筛选规则：未合作的门店中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2025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年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月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-9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月月均门店意向</a:t>
            </a:r>
            <a:r>
              <a:rPr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UV&gt;1000</a:t>
            </a:r>
            <a:r>
              <a:rPr lang="zh-CN" altLang="en-GB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参考必吃榜上榜商户最低平均</a:t>
            </a:r>
            <a:r>
              <a:rPr lang="en-GB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UV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仅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581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）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37" name="直线连接符 436"/>
          <p:cNvCxnSpPr/>
          <p:nvPr/>
        </p:nvCxnSpPr>
        <p:spPr>
          <a:xfrm flipH="1">
            <a:off x="6195252" y="1084616"/>
            <a:ext cx="2811042" cy="547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米菲PPT21"/>
          <p:cNvSpPr txBox="1"/>
          <p:nvPr/>
        </p:nvSpPr>
        <p:spPr>
          <a:xfrm>
            <a:off x="5218940" y="1973181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1,505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占比颈部门店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35%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2" name="米菲PPT21"/>
          <p:cNvSpPr txBox="1"/>
          <p:nvPr/>
        </p:nvSpPr>
        <p:spPr>
          <a:xfrm>
            <a:off x="6521131" y="1963619"/>
            <a:ext cx="1320680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111,262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占比颈部门店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62%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3" name="米菲PPT21"/>
          <p:cNvSpPr txBox="1"/>
          <p:nvPr/>
        </p:nvSpPr>
        <p:spPr>
          <a:xfrm>
            <a:off x="7861558" y="1979421"/>
            <a:ext cx="1358186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82,184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占比颈部门店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46%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4" name="米菲PPT21"/>
          <p:cNvSpPr txBox="1"/>
          <p:nvPr/>
        </p:nvSpPr>
        <p:spPr>
          <a:xfrm>
            <a:off x="5216128" y="2710105"/>
            <a:ext cx="1451726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119,613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34%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5" name="米菲PPT21"/>
          <p:cNvSpPr txBox="1"/>
          <p:nvPr/>
        </p:nvSpPr>
        <p:spPr>
          <a:xfrm>
            <a:off x="6536094" y="2714878"/>
            <a:ext cx="1450461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9,856</a:t>
            </a: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2%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46" name="米菲PPT21"/>
          <p:cNvSpPr txBox="1"/>
          <p:nvPr/>
        </p:nvSpPr>
        <p:spPr>
          <a:xfrm>
            <a:off x="7861558" y="2710105"/>
            <a:ext cx="1402261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38,934</a:t>
            </a: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11%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48" name="直线连接符 447"/>
          <p:cNvCxnSpPr/>
          <p:nvPr/>
        </p:nvCxnSpPr>
        <p:spPr>
          <a:xfrm flipH="1">
            <a:off x="6051167" y="2480505"/>
            <a:ext cx="29551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米菲PPT21"/>
          <p:cNvSpPr txBox="1"/>
          <p:nvPr/>
        </p:nvSpPr>
        <p:spPr>
          <a:xfrm>
            <a:off x="5022036" y="3624983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394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占比腰部门店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0.1%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0" name="米菲PPT21"/>
          <p:cNvSpPr txBox="1"/>
          <p:nvPr/>
        </p:nvSpPr>
        <p:spPr>
          <a:xfrm>
            <a:off x="6320683" y="3613711"/>
            <a:ext cx="1440669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223,901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占比腰部门店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74%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1" name="米菲PPT21"/>
          <p:cNvSpPr txBox="1"/>
          <p:nvPr/>
        </p:nvSpPr>
        <p:spPr>
          <a:xfrm>
            <a:off x="7736080" y="3603655"/>
            <a:ext cx="1440669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上榜门店数量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118,623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占比腰部门店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39%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2" name="米菲PPT21"/>
          <p:cNvSpPr txBox="1"/>
          <p:nvPr/>
        </p:nvSpPr>
        <p:spPr>
          <a:xfrm>
            <a:off x="4967704" y="4274009"/>
            <a:ext cx="1425193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300,562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20%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3" name="米菲PPT21"/>
          <p:cNvSpPr txBox="1"/>
          <p:nvPr/>
        </p:nvSpPr>
        <p:spPr>
          <a:xfrm>
            <a:off x="6320683" y="4283469"/>
            <a:ext cx="1425193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77,055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5%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454" name="米菲PPT21"/>
          <p:cNvSpPr txBox="1"/>
          <p:nvPr/>
        </p:nvSpPr>
        <p:spPr>
          <a:xfrm>
            <a:off x="7736080" y="4271229"/>
            <a:ext cx="1491543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缺失门店数量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182,333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None/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贡献占比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cs typeface="MiSans Medium" panose="00000600000000000000" pitchFamily="2" charset="-122"/>
              </a:rPr>
              <a:t>11%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cs typeface="MiSans Medium" panose="00000600000000000000" pitchFamily="2" charset="-122"/>
            </a:endParaRPr>
          </a:p>
        </p:txBody>
      </p:sp>
      <p:cxnSp>
        <p:nvCxnSpPr>
          <p:cNvPr id="456" name="直线连接符 455"/>
          <p:cNvCxnSpPr/>
          <p:nvPr/>
        </p:nvCxnSpPr>
        <p:spPr>
          <a:xfrm flipH="1">
            <a:off x="5889262" y="4078674"/>
            <a:ext cx="3126915" cy="1486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米菲PPT36"/>
          <p:cNvCxnSpPr/>
          <p:nvPr/>
        </p:nvCxnSpPr>
        <p:spPr>
          <a:xfrm flipV="1">
            <a:off x="5178345" y="1834236"/>
            <a:ext cx="3903119" cy="6759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1" name="米菲PPT14"/>
          <p:cNvGrpSpPr/>
          <p:nvPr/>
        </p:nvGrpSpPr>
        <p:grpSpPr>
          <a:xfrm>
            <a:off x="2584616" y="4046083"/>
            <a:ext cx="1438446" cy="119907"/>
            <a:chOff x="9256258" y="2931456"/>
            <a:chExt cx="2401871" cy="99104"/>
          </a:xfrm>
        </p:grpSpPr>
        <p:cxnSp>
          <p:nvCxnSpPr>
            <p:cNvPr id="462" name="米菲PPT14-1"/>
            <p:cNvCxnSpPr/>
            <p:nvPr/>
          </p:nvCxnSpPr>
          <p:spPr>
            <a:xfrm>
              <a:off x="9385651" y="3028491"/>
              <a:ext cx="2272478" cy="0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463" name="米菲PPT14-2"/>
            <p:cNvCxnSpPr/>
            <p:nvPr/>
          </p:nvCxnSpPr>
          <p:spPr>
            <a:xfrm>
              <a:off x="9256258" y="2931456"/>
              <a:ext cx="129393" cy="99104"/>
            </a:xfrm>
            <a:prstGeom prst="line">
              <a:avLst/>
            </a:prstGeom>
            <a:noFill/>
            <a:ln w="15875" cap="flat" cmpd="sng" algn="ctr">
              <a:solidFill>
                <a:srgbClr val="62799C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464" name="米菲PPT21"/>
          <p:cNvSpPr txBox="1"/>
          <p:nvPr/>
        </p:nvSpPr>
        <p:spPr>
          <a:xfrm>
            <a:off x="3124874" y="3792544"/>
            <a:ext cx="1173957" cy="4154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门店占比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88%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</a:t>
            </a:r>
            <a:endParaRPr lang="en-US" altLang="zh-CN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  <a:p>
            <a:pPr marL="0" indent="0" algn="just" defTabSz="45720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GTV</a:t>
            </a: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 占比 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cs typeface="MiSans Medium" panose="00000600000000000000" pitchFamily="2" charset="-122"/>
              </a:rPr>
              <a:t>10%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cs typeface="MiSans Medium" panose="00000600000000000000" pitchFamily="2" charset="-122"/>
            </a:endParaRPr>
          </a:p>
        </p:txBody>
      </p:sp>
      <p:sp>
        <p:nvSpPr>
          <p:cNvPr id="401" name="米菲PPT26"/>
          <p:cNvSpPr/>
          <p:nvPr/>
        </p:nvSpPr>
        <p:spPr>
          <a:xfrm rot="10800000">
            <a:off x="4024892" y="3576854"/>
            <a:ext cx="860726" cy="1022049"/>
          </a:xfrm>
          <a:custGeom>
            <a:avLst/>
            <a:gdLst>
              <a:gd name="connsiteX0" fmla="*/ 251710 w 1099962"/>
              <a:gd name="connsiteY0" fmla="*/ 0 h 1472526"/>
              <a:gd name="connsiteX1" fmla="*/ 1099962 w 1099962"/>
              <a:gd name="connsiteY1" fmla="*/ 0 h 1472526"/>
              <a:gd name="connsiteX2" fmla="*/ 1099962 w 1099962"/>
              <a:gd name="connsiteY2" fmla="*/ 1472526 h 1472526"/>
              <a:gd name="connsiteX3" fmla="*/ 0 w 1099962"/>
              <a:gd name="connsiteY3" fmla="*/ 1472526 h 147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962" h="1472526">
                <a:moveTo>
                  <a:pt x="251710" y="0"/>
                </a:moveTo>
                <a:lnTo>
                  <a:pt x="1099962" y="0"/>
                </a:lnTo>
                <a:lnTo>
                  <a:pt x="1099962" y="1472526"/>
                </a:lnTo>
                <a:lnTo>
                  <a:pt x="0" y="1472526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228600" dist="139700" dir="5400000" sx="91000" sy="91000" algn="t" rotWithShape="0">
              <a:schemeClr val="accent4">
                <a:alpha val="26255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02" name="米菲PPT27"/>
          <p:cNvSpPr/>
          <p:nvPr/>
        </p:nvSpPr>
        <p:spPr>
          <a:xfrm rot="10800000">
            <a:off x="4024893" y="1891967"/>
            <a:ext cx="1141823" cy="1233559"/>
          </a:xfrm>
          <a:custGeom>
            <a:avLst/>
            <a:gdLst>
              <a:gd name="connsiteX0" fmla="*/ 252607 w 1367241"/>
              <a:gd name="connsiteY0" fmla="*/ 0 h 1477769"/>
              <a:gd name="connsiteX1" fmla="*/ 1367241 w 1367241"/>
              <a:gd name="connsiteY1" fmla="*/ 0 h 1477769"/>
              <a:gd name="connsiteX2" fmla="*/ 1367241 w 1367241"/>
              <a:gd name="connsiteY2" fmla="*/ 1477769 h 1477769"/>
              <a:gd name="connsiteX3" fmla="*/ 0 w 1367241"/>
              <a:gd name="connsiteY3" fmla="*/ 1477769 h 1477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241" h="1477769">
                <a:moveTo>
                  <a:pt x="252607" y="0"/>
                </a:moveTo>
                <a:lnTo>
                  <a:pt x="1367241" y="0"/>
                </a:lnTo>
                <a:lnTo>
                  <a:pt x="1367241" y="1477769"/>
                </a:lnTo>
                <a:lnTo>
                  <a:pt x="0" y="147776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228600" dist="139700" dir="5400000" algn="t" rotWithShape="0">
              <a:srgbClr val="F57359">
                <a:alpha val="2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03" name="米菲PPT28"/>
          <p:cNvSpPr/>
          <p:nvPr/>
        </p:nvSpPr>
        <p:spPr>
          <a:xfrm rot="10800000">
            <a:off x="4024893" y="601911"/>
            <a:ext cx="1340901" cy="1243458"/>
          </a:xfrm>
          <a:custGeom>
            <a:avLst/>
            <a:gdLst>
              <a:gd name="connsiteX0" fmla="*/ 223707 w 1605620"/>
              <a:gd name="connsiteY0" fmla="*/ 0 h 1308707"/>
              <a:gd name="connsiteX1" fmla="*/ 1605620 w 1605620"/>
              <a:gd name="connsiteY1" fmla="*/ 0 h 1308707"/>
              <a:gd name="connsiteX2" fmla="*/ 1605620 w 1605620"/>
              <a:gd name="connsiteY2" fmla="*/ 1308707 h 1308707"/>
              <a:gd name="connsiteX3" fmla="*/ 0 w 1605620"/>
              <a:gd name="connsiteY3" fmla="*/ 1308707 h 130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620" h="1308707">
                <a:moveTo>
                  <a:pt x="223707" y="0"/>
                </a:moveTo>
                <a:lnTo>
                  <a:pt x="1605620" y="0"/>
                </a:lnTo>
                <a:lnTo>
                  <a:pt x="1605620" y="1308707"/>
                </a:lnTo>
                <a:lnTo>
                  <a:pt x="0" y="1308707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>
            <a:outerShdw blurRad="228600" dist="139700" dir="5400000" algn="t" rotWithShape="0">
              <a:srgbClr val="F57359">
                <a:alpha val="2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grpSp>
        <p:nvGrpSpPr>
          <p:cNvPr id="473" name="组合 472"/>
          <p:cNvGrpSpPr/>
          <p:nvPr/>
        </p:nvGrpSpPr>
        <p:grpSpPr>
          <a:xfrm rot="10800000">
            <a:off x="4107158" y="816885"/>
            <a:ext cx="1118132" cy="769577"/>
            <a:chOff x="3880934" y="3782112"/>
            <a:chExt cx="1118132" cy="769577"/>
          </a:xfrm>
        </p:grpSpPr>
        <p:sp>
          <p:nvSpPr>
            <p:cNvPr id="404" name="米菲PPT29"/>
            <p:cNvSpPr txBox="1"/>
            <p:nvPr/>
          </p:nvSpPr>
          <p:spPr>
            <a:xfrm rot="10800000" flipH="1">
              <a:off x="4138519" y="4243912"/>
              <a:ext cx="7622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14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1%</a:t>
              </a:r>
              <a:endParaRPr lang="zh-CN" altLang="en-US" sz="14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05" name="米菲PPT30"/>
            <p:cNvSpPr txBox="1"/>
            <p:nvPr/>
          </p:nvSpPr>
          <p:spPr>
            <a:xfrm rot="10800000" flipH="1">
              <a:off x="3880934" y="3959469"/>
              <a:ext cx="11181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头部商户</a:t>
              </a:r>
              <a:r>
                <a:rPr lang="en-US" altLang="zh-CN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3w+</a:t>
              </a:r>
              <a:endParaRPr lang="zh-CN" altLang="en-US" sz="10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06" name="米菲PPT31"/>
            <p:cNvSpPr txBox="1"/>
            <p:nvPr/>
          </p:nvSpPr>
          <p:spPr>
            <a:xfrm rot="10800000" flipH="1">
              <a:off x="3926894" y="3782112"/>
              <a:ext cx="107217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店月均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GTV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 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40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万</a:t>
              </a:r>
            </a:p>
          </p:txBody>
        </p:sp>
      </p:grpSp>
      <p:grpSp>
        <p:nvGrpSpPr>
          <p:cNvPr id="474" name="组合 473"/>
          <p:cNvGrpSpPr/>
          <p:nvPr/>
        </p:nvGrpSpPr>
        <p:grpSpPr>
          <a:xfrm rot="10800000">
            <a:off x="4014986" y="2109764"/>
            <a:ext cx="1350807" cy="769577"/>
            <a:chOff x="3920630" y="2300327"/>
            <a:chExt cx="1350807" cy="769577"/>
          </a:xfrm>
        </p:grpSpPr>
        <p:sp>
          <p:nvSpPr>
            <p:cNvPr id="407" name="米菲PPT32"/>
            <p:cNvSpPr txBox="1"/>
            <p:nvPr/>
          </p:nvSpPr>
          <p:spPr>
            <a:xfrm rot="10800000" flipH="1">
              <a:off x="4182203" y="2762127"/>
              <a:ext cx="9782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14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3%</a:t>
              </a:r>
              <a:endParaRPr lang="zh-CN" altLang="en-US" sz="14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08" name="米菲PPT33"/>
            <p:cNvSpPr txBox="1"/>
            <p:nvPr/>
          </p:nvSpPr>
          <p:spPr>
            <a:xfrm rot="10800000" flipH="1">
              <a:off x="3920630" y="2477002"/>
              <a:ext cx="13508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颈部商户</a:t>
              </a:r>
              <a:r>
                <a:rPr lang="en-US" altLang="zh-CN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12w+</a:t>
              </a:r>
              <a:endParaRPr lang="zh-CN" altLang="en-US" sz="10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09" name="米菲PPT34"/>
            <p:cNvSpPr txBox="1"/>
            <p:nvPr/>
          </p:nvSpPr>
          <p:spPr>
            <a:xfrm rot="10800000" flipH="1">
              <a:off x="4146478" y="2300327"/>
              <a:ext cx="112144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店月均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GTV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 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10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万</a:t>
              </a:r>
            </a:p>
          </p:txBody>
        </p:sp>
      </p:grpSp>
      <p:grpSp>
        <p:nvGrpSpPr>
          <p:cNvPr id="475" name="组合 474"/>
          <p:cNvGrpSpPr/>
          <p:nvPr/>
        </p:nvGrpSpPr>
        <p:grpSpPr>
          <a:xfrm rot="10800000">
            <a:off x="3953866" y="3696986"/>
            <a:ext cx="1401558" cy="770562"/>
            <a:chOff x="4200392" y="1261546"/>
            <a:chExt cx="1340874" cy="770562"/>
          </a:xfrm>
        </p:grpSpPr>
        <p:sp>
          <p:nvSpPr>
            <p:cNvPr id="410" name="米菲PPT35"/>
            <p:cNvSpPr txBox="1"/>
            <p:nvPr/>
          </p:nvSpPr>
          <p:spPr>
            <a:xfrm rot="10800000" flipH="1">
              <a:off x="4270053" y="1724331"/>
              <a:ext cx="1121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14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8%</a:t>
              </a:r>
              <a:endParaRPr lang="zh-CN" altLang="en-US" sz="14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11" name="米菲PPT36"/>
            <p:cNvSpPr txBox="1"/>
            <p:nvPr/>
          </p:nvSpPr>
          <p:spPr>
            <a:xfrm rot="10800000" flipH="1">
              <a:off x="4200392" y="1431465"/>
              <a:ext cx="13362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腰部商户</a:t>
              </a:r>
              <a:r>
                <a:rPr lang="en-US" altLang="zh-CN" sz="1000" dirty="0">
                  <a:solidFill>
                    <a:prstClr val="white"/>
                  </a:solidFill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  <a:sym typeface="MiSans Bold" panose="00000800000000000000" pitchFamily="2" charset="-122"/>
                </a:rPr>
                <a:t>30w+</a:t>
              </a:r>
              <a:endParaRPr lang="zh-CN" altLang="en-US" sz="1000" dirty="0">
                <a:solidFill>
                  <a:prstClr val="white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endParaRPr>
            </a:p>
          </p:txBody>
        </p:sp>
        <p:sp>
          <p:nvSpPr>
            <p:cNvPr id="412" name="米菲PPT37"/>
            <p:cNvSpPr txBox="1"/>
            <p:nvPr/>
          </p:nvSpPr>
          <p:spPr>
            <a:xfrm rot="10800000" flipH="1">
              <a:off x="4581912" y="1261546"/>
              <a:ext cx="95935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店月均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GTV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 </a:t>
              </a:r>
              <a:r>
                <a:rPr lang="en-US" altLang="zh-CN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2.3</a:t>
              </a:r>
              <a:r>
                <a:rPr lang="zh-CN" altLang="en-US" sz="7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</a:rPr>
                <a:t>万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51017" y="1145154"/>
            <a:ext cx="2536959" cy="3056043"/>
            <a:chOff x="612364" y="1547899"/>
            <a:chExt cx="2125539" cy="2560443"/>
          </a:xfrm>
        </p:grpSpPr>
        <p:sp>
          <p:nvSpPr>
            <p:cNvPr id="171" name="米菲PPT32"/>
            <p:cNvSpPr/>
            <p:nvPr/>
          </p:nvSpPr>
          <p:spPr>
            <a:xfrm>
              <a:off x="1053346" y="2545402"/>
              <a:ext cx="1243576" cy="487124"/>
            </a:xfrm>
            <a:custGeom>
              <a:avLst/>
              <a:gdLst>
                <a:gd name="connsiteX0" fmla="*/ 204016 w 1243576"/>
                <a:gd name="connsiteY0" fmla="*/ 0 h 487124"/>
                <a:gd name="connsiteX1" fmla="*/ 1039560 w 1243576"/>
                <a:gd name="connsiteY1" fmla="*/ 0 h 487124"/>
                <a:gd name="connsiteX2" fmla="*/ 1243576 w 1243576"/>
                <a:gd name="connsiteY2" fmla="*/ 487124 h 487124"/>
                <a:gd name="connsiteX3" fmla="*/ 0 w 1243576"/>
                <a:gd name="connsiteY3" fmla="*/ 487124 h 487124"/>
                <a:gd name="connsiteX4" fmla="*/ 204016 w 1243576"/>
                <a:gd name="connsiteY4" fmla="*/ 0 h 4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3576" h="487124">
                  <a:moveTo>
                    <a:pt x="204016" y="0"/>
                  </a:moveTo>
                  <a:lnTo>
                    <a:pt x="1039560" y="0"/>
                  </a:lnTo>
                  <a:lnTo>
                    <a:pt x="1243576" y="487124"/>
                  </a:lnTo>
                  <a:lnTo>
                    <a:pt x="0" y="487124"/>
                  </a:lnTo>
                  <a:lnTo>
                    <a:pt x="204016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2" name="米菲PPT33"/>
            <p:cNvSpPr/>
            <p:nvPr/>
          </p:nvSpPr>
          <p:spPr>
            <a:xfrm>
              <a:off x="832855" y="3071862"/>
              <a:ext cx="1684558" cy="487124"/>
            </a:xfrm>
            <a:custGeom>
              <a:avLst/>
              <a:gdLst>
                <a:gd name="connsiteX0" fmla="*/ 204016 w 1684558"/>
                <a:gd name="connsiteY0" fmla="*/ 0 h 487124"/>
                <a:gd name="connsiteX1" fmla="*/ 1480542 w 1684558"/>
                <a:gd name="connsiteY1" fmla="*/ 0 h 487124"/>
                <a:gd name="connsiteX2" fmla="*/ 1684558 w 1684558"/>
                <a:gd name="connsiteY2" fmla="*/ 487124 h 487124"/>
                <a:gd name="connsiteX3" fmla="*/ 0 w 1684558"/>
                <a:gd name="connsiteY3" fmla="*/ 487124 h 487124"/>
                <a:gd name="connsiteX4" fmla="*/ 204016 w 1684558"/>
                <a:gd name="connsiteY4" fmla="*/ 0 h 4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4558" h="487124">
                  <a:moveTo>
                    <a:pt x="204016" y="0"/>
                  </a:moveTo>
                  <a:lnTo>
                    <a:pt x="1480542" y="0"/>
                  </a:lnTo>
                  <a:lnTo>
                    <a:pt x="1684558" y="487124"/>
                  </a:lnTo>
                  <a:lnTo>
                    <a:pt x="0" y="487124"/>
                  </a:lnTo>
                  <a:lnTo>
                    <a:pt x="204016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3" name="米菲PPT34"/>
            <p:cNvSpPr/>
            <p:nvPr/>
          </p:nvSpPr>
          <p:spPr>
            <a:xfrm>
              <a:off x="612364" y="3598322"/>
              <a:ext cx="2125539" cy="487124"/>
            </a:xfrm>
            <a:custGeom>
              <a:avLst/>
              <a:gdLst>
                <a:gd name="connsiteX0" fmla="*/ 204017 w 2125539"/>
                <a:gd name="connsiteY0" fmla="*/ 0 h 487124"/>
                <a:gd name="connsiteX1" fmla="*/ 1921523 w 2125539"/>
                <a:gd name="connsiteY1" fmla="*/ 0 h 487124"/>
                <a:gd name="connsiteX2" fmla="*/ 2125539 w 2125539"/>
                <a:gd name="connsiteY2" fmla="*/ 487124 h 487124"/>
                <a:gd name="connsiteX3" fmla="*/ 0 w 2125539"/>
                <a:gd name="connsiteY3" fmla="*/ 487124 h 487124"/>
                <a:gd name="connsiteX4" fmla="*/ 204017 w 2125539"/>
                <a:gd name="connsiteY4" fmla="*/ 0 h 487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5539" h="487124">
                  <a:moveTo>
                    <a:pt x="204017" y="0"/>
                  </a:moveTo>
                  <a:lnTo>
                    <a:pt x="1921523" y="0"/>
                  </a:lnTo>
                  <a:lnTo>
                    <a:pt x="2125539" y="487124"/>
                  </a:lnTo>
                  <a:lnTo>
                    <a:pt x="0" y="487124"/>
                  </a:lnTo>
                  <a:lnTo>
                    <a:pt x="204017" y="0"/>
                  </a:lnTo>
                  <a:close/>
                </a:path>
              </a:pathLst>
            </a:custGeom>
            <a:solidFill>
              <a:srgbClr val="62799C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5" name="米菲PPT36"/>
            <p:cNvSpPr/>
            <p:nvPr/>
          </p:nvSpPr>
          <p:spPr>
            <a:xfrm>
              <a:off x="1273837" y="1547899"/>
              <a:ext cx="802594" cy="958166"/>
            </a:xfrm>
            <a:custGeom>
              <a:avLst/>
              <a:gdLst>
                <a:gd name="connsiteX0" fmla="*/ 401297 w 802594"/>
                <a:gd name="connsiteY0" fmla="*/ 0 h 958166"/>
                <a:gd name="connsiteX1" fmla="*/ 433569 w 802594"/>
                <a:gd name="connsiteY1" fmla="*/ 77054 h 958166"/>
                <a:gd name="connsiteX2" fmla="*/ 433569 w 802594"/>
                <a:gd name="connsiteY2" fmla="*/ 77054 h 958166"/>
                <a:gd name="connsiteX3" fmla="*/ 802594 w 802594"/>
                <a:gd name="connsiteY3" fmla="*/ 958166 h 958166"/>
                <a:gd name="connsiteX4" fmla="*/ 0 w 802594"/>
                <a:gd name="connsiteY4" fmla="*/ 958166 h 958166"/>
                <a:gd name="connsiteX5" fmla="*/ 369025 w 802594"/>
                <a:gd name="connsiteY5" fmla="*/ 77054 h 958166"/>
                <a:gd name="connsiteX6" fmla="*/ 369026 w 802594"/>
                <a:gd name="connsiteY6" fmla="*/ 77054 h 95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2594" h="958166">
                  <a:moveTo>
                    <a:pt x="401297" y="0"/>
                  </a:moveTo>
                  <a:lnTo>
                    <a:pt x="433569" y="77054"/>
                  </a:lnTo>
                  <a:lnTo>
                    <a:pt x="433569" y="77054"/>
                  </a:lnTo>
                  <a:lnTo>
                    <a:pt x="802594" y="958166"/>
                  </a:lnTo>
                  <a:lnTo>
                    <a:pt x="0" y="958166"/>
                  </a:lnTo>
                  <a:lnTo>
                    <a:pt x="369025" y="77054"/>
                  </a:lnTo>
                  <a:lnTo>
                    <a:pt x="369026" y="77054"/>
                  </a:lnTo>
                  <a:close/>
                </a:path>
              </a:pathLst>
            </a:cu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323" name="米菲PPT49"/>
            <p:cNvSpPr txBox="1"/>
            <p:nvPr/>
          </p:nvSpPr>
          <p:spPr>
            <a:xfrm>
              <a:off x="1105857" y="1974479"/>
              <a:ext cx="1120399" cy="386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2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头部</a:t>
              </a:r>
              <a:endParaRPr lang="en-US" altLang="zh-CN" sz="1200" dirty="0">
                <a:solidFill>
                  <a:prstClr val="white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  <a:p>
              <a:pPr algn="ctr" defTabSz="457200"/>
              <a:r>
                <a:rPr lang="zh-CN" altLang="en-US" sz="12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商户</a:t>
              </a:r>
            </a:p>
          </p:txBody>
        </p:sp>
        <p:sp>
          <p:nvSpPr>
            <p:cNvPr id="325" name="米菲PPT53"/>
            <p:cNvSpPr txBox="1"/>
            <p:nvPr/>
          </p:nvSpPr>
          <p:spPr>
            <a:xfrm>
              <a:off x="741653" y="3224002"/>
              <a:ext cx="1848806" cy="232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200" dirty="0">
                  <a:solidFill>
                    <a:schemeClr val="bg1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腰部商户</a:t>
              </a:r>
            </a:p>
          </p:txBody>
        </p:sp>
        <p:sp>
          <p:nvSpPr>
            <p:cNvPr id="326" name="米菲PPT55"/>
            <p:cNvSpPr txBox="1"/>
            <p:nvPr/>
          </p:nvSpPr>
          <p:spPr>
            <a:xfrm>
              <a:off x="741653" y="3765342"/>
              <a:ext cx="1848806" cy="232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200" dirty="0">
                  <a:solidFill>
                    <a:srgbClr val="62799C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尾部商户</a:t>
              </a:r>
            </a:p>
          </p:txBody>
        </p:sp>
        <p:sp>
          <p:nvSpPr>
            <p:cNvPr id="460" name="米菲PPT51"/>
            <p:cNvSpPr txBox="1"/>
            <p:nvPr/>
          </p:nvSpPr>
          <p:spPr>
            <a:xfrm>
              <a:off x="1295275" y="2362081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3w+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家门店</a:t>
              </a:r>
            </a:p>
          </p:txBody>
        </p:sp>
        <p:sp>
          <p:nvSpPr>
            <p:cNvPr id="467" name="米菲PPT51"/>
            <p:cNvSpPr txBox="1"/>
            <p:nvPr/>
          </p:nvSpPr>
          <p:spPr>
            <a:xfrm>
              <a:off x="1595080" y="2879973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12w+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家高</a:t>
              </a:r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GTV</a:t>
              </a:r>
              <a:endPara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sp>
          <p:nvSpPr>
            <p:cNvPr id="468" name="米菲PPT51"/>
            <p:cNvSpPr txBox="1"/>
            <p:nvPr/>
          </p:nvSpPr>
          <p:spPr>
            <a:xfrm>
              <a:off x="1304518" y="3416898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30w+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家门店</a:t>
              </a:r>
            </a:p>
          </p:txBody>
        </p:sp>
        <p:sp>
          <p:nvSpPr>
            <p:cNvPr id="469" name="米菲PPT51"/>
            <p:cNvSpPr txBox="1"/>
            <p:nvPr/>
          </p:nvSpPr>
          <p:spPr>
            <a:xfrm>
              <a:off x="1308542" y="3927837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315w+</a:t>
              </a: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家门店</a:t>
              </a:r>
            </a:p>
          </p:txBody>
        </p:sp>
        <p:sp>
          <p:nvSpPr>
            <p:cNvPr id="470" name="米菲PPT51"/>
            <p:cNvSpPr txBox="1"/>
            <p:nvPr/>
          </p:nvSpPr>
          <p:spPr>
            <a:xfrm>
              <a:off x="940962" y="2893980"/>
              <a:ext cx="736005" cy="180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srgbClr val="C00000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5w+</a:t>
              </a:r>
              <a:r>
                <a:rPr lang="zh-CN" altLang="en-US" sz="800" dirty="0">
                  <a:solidFill>
                    <a:srgbClr val="C00000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家高</a:t>
              </a:r>
              <a:r>
                <a:rPr lang="en-US" altLang="zh-CN" sz="800" dirty="0">
                  <a:solidFill>
                    <a:srgbClr val="C00000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UV</a:t>
              </a:r>
              <a:endParaRPr lang="zh-CN" altLang="en-US" sz="800" dirty="0">
                <a:solidFill>
                  <a:srgbClr val="C00000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  <p:cxnSp>
          <p:nvCxnSpPr>
            <p:cNvPr id="466" name="直线连接符 465"/>
            <p:cNvCxnSpPr/>
            <p:nvPr/>
          </p:nvCxnSpPr>
          <p:spPr>
            <a:xfrm>
              <a:off x="1529855" y="2550310"/>
              <a:ext cx="0" cy="482216"/>
            </a:xfrm>
            <a:prstGeom prst="line">
              <a:avLst/>
            </a:prstGeom>
            <a:ln w="127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米菲PPT51"/>
            <p:cNvSpPr txBox="1"/>
            <p:nvPr/>
          </p:nvSpPr>
          <p:spPr>
            <a:xfrm>
              <a:off x="741653" y="2689746"/>
              <a:ext cx="1848806" cy="2320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1200" dirty="0">
                  <a:solidFill>
                    <a:prstClr val="white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颈部商户</a:t>
              </a: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216101" y="968891"/>
            <a:ext cx="10722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头部缺失门店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143783" y="2357743"/>
            <a:ext cx="10722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颈部缺失门店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885618" y="3947869"/>
            <a:ext cx="10722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sym typeface="MiSans Bold" panose="00000800000000000000" pitchFamily="2" charset="-122"/>
              </a:rPr>
              <a:t>腰部缺失门店</a:t>
            </a:r>
          </a:p>
        </p:txBody>
      </p:sp>
      <p:sp>
        <p:nvSpPr>
          <p:cNvPr id="21" name="米菲PPT21"/>
          <p:cNvSpPr txBox="1"/>
          <p:nvPr/>
        </p:nvSpPr>
        <p:spPr>
          <a:xfrm>
            <a:off x="5111842" y="3179693"/>
            <a:ext cx="3776905" cy="314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accent4"/>
                </a:solidFill>
              </a:rPr>
              <a:t>这</a:t>
            </a:r>
            <a:r>
              <a:rPr lang="en-US" altLang="zh-CN" sz="900" dirty="0">
                <a:solidFill>
                  <a:schemeClr val="accent4"/>
                </a:solidFill>
              </a:rPr>
              <a:t>5w+</a:t>
            </a:r>
            <a:r>
              <a:rPr lang="zh-CN" altLang="en-US" sz="900" dirty="0">
                <a:solidFill>
                  <a:schemeClr val="accent4"/>
                </a:solidFill>
              </a:rPr>
              <a:t>门店中仅</a:t>
            </a:r>
            <a:r>
              <a:rPr lang="en-US" altLang="zh-CN" sz="900" dirty="0">
                <a:solidFill>
                  <a:schemeClr val="accent4"/>
                </a:solidFill>
              </a:rPr>
              <a:t>742</a:t>
            </a:r>
            <a:r>
              <a:rPr lang="zh-CN" altLang="en-US" sz="900" dirty="0">
                <a:solidFill>
                  <a:schemeClr val="accent4"/>
                </a:solidFill>
              </a:rPr>
              <a:t>家上了榜必吃榜，人气和好评榜均因没有合作没有上榜，但因为他们的</a:t>
            </a:r>
            <a:r>
              <a:rPr lang="en-US" altLang="zh-CN" sz="900" dirty="0">
                <a:solidFill>
                  <a:schemeClr val="accent4"/>
                </a:solidFill>
              </a:rPr>
              <a:t>UV</a:t>
            </a:r>
            <a:r>
              <a:rPr lang="zh-CN" altLang="en-US" sz="900" dirty="0">
                <a:solidFill>
                  <a:schemeClr val="accent4"/>
                </a:solidFill>
              </a:rPr>
              <a:t>较高，算是机会门店</a:t>
            </a:r>
          </a:p>
        </p:txBody>
      </p:sp>
      <p:sp>
        <p:nvSpPr>
          <p:cNvPr id="19" name="米菲PPT33"/>
          <p:cNvSpPr txBox="1"/>
          <p:nvPr/>
        </p:nvSpPr>
        <p:spPr>
          <a:xfrm flipH="1">
            <a:off x="4003006" y="3127154"/>
            <a:ext cx="114182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②</a:t>
            </a:r>
            <a:r>
              <a:rPr lang="zh-CN" altLang="en-US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未合作</a:t>
            </a:r>
            <a:endParaRPr lang="en-US" altLang="zh-CN" sz="1000" b="1" dirty="0">
              <a:solidFill>
                <a:schemeClr val="accent4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defTabSz="457200"/>
            <a:r>
              <a:rPr lang="zh-CN" altLang="en-US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高</a:t>
            </a:r>
            <a:r>
              <a:rPr lang="en-US" altLang="zh-CN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UV</a:t>
            </a:r>
            <a:r>
              <a:rPr lang="zh-CN" altLang="en-US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商户</a:t>
            </a:r>
            <a:r>
              <a:rPr lang="zh-CN" altLang="en-US" sz="8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 </a:t>
            </a:r>
            <a:r>
              <a:rPr lang="en-US" altLang="zh-CN" sz="8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5w+</a:t>
            </a:r>
            <a:endParaRPr lang="zh-CN" altLang="en-US" sz="800" b="1" dirty="0">
              <a:solidFill>
                <a:schemeClr val="accent4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2" name="米菲PPT51"/>
          <p:cNvSpPr txBox="1"/>
          <p:nvPr/>
        </p:nvSpPr>
        <p:spPr>
          <a:xfrm>
            <a:off x="4022073" y="30883"/>
            <a:ext cx="51219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未上榜的机会门店：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①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合作且高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GTV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  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②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未合作且高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UV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  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③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合作且高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UV</a:t>
            </a:r>
            <a:r>
              <a:rPr lang="zh-CN" altLang="en-US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低</a:t>
            </a:r>
            <a:r>
              <a:rPr lang="en-US" altLang="zh-CN" sz="1050" b="1" dirty="0">
                <a:solidFill>
                  <a:schemeClr val="accent4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GTV</a:t>
            </a:r>
            <a:endParaRPr lang="zh-CN" altLang="en-US" sz="1050" b="1" dirty="0">
              <a:solidFill>
                <a:schemeClr val="accent4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51" name="米菲PPT36"/>
          <p:cNvSpPr txBox="1"/>
          <p:nvPr/>
        </p:nvSpPr>
        <p:spPr>
          <a:xfrm flipH="1">
            <a:off x="4003006" y="4709532"/>
            <a:ext cx="948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③</a:t>
            </a:r>
            <a:r>
              <a:rPr lang="zh-CN" altLang="en-US" sz="1000" b="1" dirty="0">
                <a:solidFill>
                  <a:schemeClr val="accent4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尾部商户</a:t>
            </a:r>
          </a:p>
        </p:txBody>
      </p:sp>
      <p:sp>
        <p:nvSpPr>
          <p:cNvPr id="53" name="米菲PPT21"/>
          <p:cNvSpPr txBox="1"/>
          <p:nvPr/>
        </p:nvSpPr>
        <p:spPr>
          <a:xfrm>
            <a:off x="4893705" y="4671462"/>
            <a:ext cx="3995042" cy="314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marL="285750" indent="-285750" eaLnBrk="0">
              <a:lnSpc>
                <a:spcPct val="90000"/>
              </a:lnSpc>
              <a:buFont typeface="Arial" panose="020B0604020202020204" pitchFamily="34" charset="0"/>
              <a:buChar char="•"/>
              <a:defRPr sz="1405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  <a:cs typeface="MiSans Normal" panose="00000500000000000000" pitchFamily="2" charset="-122"/>
              </a:defRPr>
            </a:lvl1pPr>
          </a:lstStyle>
          <a:p>
            <a:pPr marL="0" indent="0" algn="just" defTabSz="45720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chemeClr val="accent4"/>
                </a:solidFill>
              </a:rPr>
              <a:t>在</a:t>
            </a:r>
            <a:r>
              <a:rPr lang="en-US" altLang="zh-CN" sz="900" dirty="0">
                <a:solidFill>
                  <a:schemeClr val="accent4"/>
                </a:solidFill>
              </a:rPr>
              <a:t>315w+</a:t>
            </a:r>
            <a:r>
              <a:rPr lang="zh-CN" altLang="en-US" sz="900" dirty="0">
                <a:solidFill>
                  <a:schemeClr val="accent4"/>
                </a:solidFill>
              </a:rPr>
              <a:t>家的尾部商户中存在</a:t>
            </a:r>
            <a:r>
              <a:rPr lang="en-US" altLang="zh-CN" sz="900" dirty="0">
                <a:solidFill>
                  <a:schemeClr val="accent4"/>
                </a:solidFill>
              </a:rPr>
              <a:t>1w+</a:t>
            </a:r>
            <a:r>
              <a:rPr lang="zh-CN" altLang="en-US" sz="900" dirty="0">
                <a:solidFill>
                  <a:schemeClr val="accent4"/>
                </a:solidFill>
              </a:rPr>
              <a:t>高</a:t>
            </a:r>
            <a:r>
              <a:rPr lang="en-US" altLang="zh-CN" sz="900" dirty="0">
                <a:solidFill>
                  <a:schemeClr val="accent4"/>
                </a:solidFill>
              </a:rPr>
              <a:t>UV</a:t>
            </a:r>
            <a:r>
              <a:rPr lang="zh-CN" altLang="en-US" sz="900" dirty="0">
                <a:solidFill>
                  <a:schemeClr val="accent4"/>
                </a:solidFill>
              </a:rPr>
              <a:t>但低</a:t>
            </a:r>
            <a:r>
              <a:rPr lang="en-US" altLang="zh-CN" sz="900" dirty="0">
                <a:solidFill>
                  <a:schemeClr val="accent4"/>
                </a:solidFill>
              </a:rPr>
              <a:t>GTV</a:t>
            </a:r>
            <a:r>
              <a:rPr lang="zh-CN" altLang="en-US" sz="900" dirty="0">
                <a:solidFill>
                  <a:schemeClr val="accent4"/>
                </a:solidFill>
              </a:rPr>
              <a:t>非常差的门店，他们的套餐质量低，导致门店交易转化率低；如果可以推动商户优化套餐质量，有收益空间</a:t>
            </a:r>
          </a:p>
        </p:txBody>
      </p:sp>
      <p:sp>
        <p:nvSpPr>
          <p:cNvPr id="133" name="矩形 132"/>
          <p:cNvSpPr/>
          <p:nvPr/>
        </p:nvSpPr>
        <p:spPr>
          <a:xfrm>
            <a:off x="5331862" y="1293267"/>
            <a:ext cx="1285313" cy="399546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439479"/>
            <a:ext cx="4283020" cy="547945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规则问题：资产单一导致核心商户未上榜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381423"/>
            <a:ext cx="8584470" cy="547945"/>
          </a:xfrm>
        </p:spPr>
        <p:txBody>
          <a:bodyPr/>
          <a:lstStyle/>
          <a:p>
            <a:r>
              <a:rPr lang="zh-CN" altLang="en-US" dirty="0"/>
              <a:t>规则问题：对未上榜门店的机会探究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榜单规则问题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quarter" idx="23"/>
          </p:nvPr>
        </p:nvSpPr>
        <p:spPr>
          <a:xfrm>
            <a:off x="252206" y="754403"/>
            <a:ext cx="8639588" cy="615950"/>
          </a:xfrm>
        </p:spPr>
        <p:txBody>
          <a:bodyPr>
            <a:normAutofit/>
          </a:bodyPr>
          <a:lstStyle/>
          <a:p>
            <a:r>
              <a:rPr lang="zh-CN" altLang="en-US" sz="1200" dirty="0"/>
              <a:t>当前未上榜门店主要三类划分，结合商户结构、当前供给问题、品牌等综合考虑与榜单联动的牵引思路。</a:t>
            </a:r>
            <a:endParaRPr lang="zh-CN" altLang="en-GB" sz="1200" dirty="0"/>
          </a:p>
        </p:txBody>
      </p:sp>
      <p:sp>
        <p:nvSpPr>
          <p:cNvPr id="8" name="米菲PPT32"/>
          <p:cNvSpPr/>
          <p:nvPr/>
        </p:nvSpPr>
        <p:spPr>
          <a:xfrm>
            <a:off x="585410" y="1045720"/>
            <a:ext cx="8069941" cy="21218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高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UV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未上榜门店分析</a:t>
            </a: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585410" y="1293911"/>
          <a:ext cx="8069941" cy="3737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17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17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4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问题类型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店名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月均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UV</a:t>
                      </a:r>
                      <a:endParaRPr lang="zh-CN" altLang="en-US" sz="8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是否与美团合作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门店当前所属层级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是否与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D+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合作</a:t>
                      </a:r>
                    </a:p>
                  </a:txBody>
                  <a:tcPr marL="68580" marR="68580" marT="34290" marB="34290" anchor="b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是否与</a:t>
                      </a:r>
                      <a:r>
                        <a:rPr lang="en-US" altLang="zh-CN" sz="8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B+</a:t>
                      </a:r>
                      <a:r>
                        <a:rPr lang="zh-CN" altLang="en-US" sz="800" b="1" kern="1200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合作</a:t>
                      </a:r>
                      <a:endParaRPr lang="zh-CN" altLang="en-US" sz="8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+mn-ea"/>
                      </a:endParaRP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  <a:sym typeface="+mn-ea"/>
                        </a:rPr>
                        <a:t>榜单牵引思路（待完善）</a:t>
                      </a:r>
                    </a:p>
                  </a:txBody>
                  <a:tcPr marL="68580" marR="68580" marT="34290" marB="34290" anchor="b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①高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UV+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高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GTV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御将军海鲜自助（徐州新都广场店）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3.0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万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头部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是，上心动榜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排查榜单门店空缺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08">
                <a:tc row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②高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UV+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未合作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胡麻（上海静安嘉里店）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15.1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万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颈部</a:t>
                      </a: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价值证明，提供“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数据诊断报告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”，进行流量孵化实验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7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笨罗卜浏阳菜馆（长沙多店）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14.6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竞争施压，做“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品类造星</a:t>
                      </a:r>
                      <a:r>
                        <a:rPr lang="zh-CN" altLang="en-US" sz="800" dirty="0">
                          <a:effectLst/>
                        </a:rPr>
                        <a:t>”计划，打造同类新网红博弈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凤临阁（大同）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12.3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否，上人气榜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构建“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榜单商家俱乐部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”，构建高端主厨峰会、打造明星旅游宣传片共创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浩海火烧云傣家菜（北京多店）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9.2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否，上状元榜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资源置换，迎合品牌需求，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榜单</a:t>
                      </a:r>
                      <a:r>
                        <a:rPr lang="en-US" altLang="zh-CN" sz="800" b="1" dirty="0">
                          <a:solidFill>
                            <a:srgbClr val="FF0000"/>
                          </a:solidFill>
                          <a:effectLst/>
                        </a:rPr>
                        <a:t>+</a:t>
                      </a:r>
                      <a:r>
                        <a:rPr lang="zh-CN" altLang="en-US" sz="800" b="1" dirty="0">
                          <a:solidFill>
                            <a:srgbClr val="FF0000"/>
                          </a:solidFill>
                          <a:effectLst/>
                        </a:rPr>
                        <a:t>履约产品提效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51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③高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UV+</a:t>
                      </a:r>
                      <a:r>
                        <a:rPr lang="zh-CN" altLang="en-US" sz="800" b="1" dirty="0">
                          <a:solidFill>
                            <a:schemeClr val="tx1"/>
                          </a:solidFill>
                        </a:rPr>
                        <a:t>低</a:t>
                      </a:r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GTV</a:t>
                      </a:r>
                      <a:endParaRPr lang="zh-CN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清平饭店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广州第一鸡（陈家祠店）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6.2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是，上线两个套餐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是，抖音上线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5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个套餐，美团价格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lose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，上评鉴官推荐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否，上扫街榜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补充更多高销套餐，</a:t>
                      </a:r>
                      <a:r>
                        <a:rPr lang="en-US" altLang="zh-CN" sz="800" dirty="0">
                          <a:effectLst/>
                        </a:rPr>
                        <a:t>beat</a:t>
                      </a:r>
                      <a:r>
                        <a:rPr lang="zh-CN" altLang="en-US" sz="800" dirty="0">
                          <a:effectLst/>
                        </a:rPr>
                        <a:t>竞对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7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北京大槐树烤肉馆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7.5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是，仅上线买单满减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颈部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否，上人气榜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否，上状元榜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完善套餐达成上榜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5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阿元来了（上海静安寺店、大悦城店）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5.8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是，仅上线青岛啤酒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尾部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是，且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D+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有招牌卤肉饭套餐，但美团侧无，未上心动榜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否，未上榜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补充核心菜品套餐，完善合作实现上榜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7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Meraki189 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麻吉（上海）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5.1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是，仅上线微醺精酿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尾部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否，未上心动榜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否，上扫街榜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补充核心菜品套餐，完善合作实现上榜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70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34290" marB="34290"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Mercadito 166·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西班牙茶餐厅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</a:rPr>
                        <a:t>港汇恒隆广场店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4.0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万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是，仅上线单一套餐，销量差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尾部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是，抖音和美团上线同款套餐，价格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sym typeface="+mn-ea"/>
                        </a:rPr>
                        <a:t>match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sym typeface="+mn-ea"/>
                        </a:rPr>
                        <a:t>，未上心动榜</a:t>
                      </a:r>
                      <a:endParaRPr lang="en-US" altLang="zh-CN" sz="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否，未上榜</a:t>
                      </a:r>
                      <a:endParaRPr lang="en-US" altLang="zh-CN" sz="800" dirty="0">
                        <a:effectLst/>
                      </a:endParaRP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>
                          <a:effectLst/>
                        </a:rPr>
                        <a:t>补充更多高销套餐，</a:t>
                      </a:r>
                      <a:r>
                        <a:rPr lang="en-US" altLang="zh-CN" sz="800" dirty="0">
                          <a:effectLst/>
                        </a:rPr>
                        <a:t>beat</a:t>
                      </a:r>
                      <a:r>
                        <a:rPr lang="zh-CN" altLang="en-US" sz="800" dirty="0">
                          <a:effectLst/>
                        </a:rPr>
                        <a:t>竞对</a:t>
                      </a:r>
                    </a:p>
                  </a:txBody>
                  <a:tcPr marL="76200" marR="76200" marT="9525" marB="9525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025" y="1567543"/>
            <a:ext cx="2758782" cy="285951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071" y="3241262"/>
            <a:ext cx="441340" cy="37513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规则问题：对上榜门店的价格带影响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榜单规则问题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81280" y="1623368"/>
            <a:ext cx="247803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对比各不同竞对价格带榜单：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lvl="1">
              <a:defRPr/>
            </a:pP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美团榜单总体停留在低价格带，而黑珍珠价格带过高，故介于均价在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100-500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元区间内为主的榜单暂时较为空白，而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D+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</a:rPr>
              <a:t>有心动榜作为平价榜，甄选榜作为品质榜，均更符合价格需求。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100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品类价格带离散度较高，导致榜单有失公允：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lvl="1"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大盘中客单价大于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150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楷体" panose="02010609060101010101" pitchFamily="49" charset="-122"/>
                <a:cs typeface="+mn-cs"/>
              </a:rPr>
              <a:t>元门店在日料、异国料理、西餐、自助、鱼鲜海鲜、江浙菜、粤菜品类下门店数量占比相对更高，但上榜门店中品质型和商务型门店数量占比在异域料理、鱼鲜海鲜品类上有明显不足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sz="quarter" idx="23"/>
          </p:nvPr>
        </p:nvSpPr>
        <p:spPr>
          <a:xfrm>
            <a:off x="252194" y="870024"/>
            <a:ext cx="8639588" cy="613957"/>
          </a:xfrm>
        </p:spPr>
        <p:txBody>
          <a:bodyPr>
            <a:normAutofit fontScale="80000" lnSpcReduction="20000"/>
          </a:bodyPr>
          <a:lstStyle/>
          <a:p>
            <a:r>
              <a:rPr lang="zh-CN" altLang="en-US" dirty="0"/>
              <a:t>当前榜单门店价格带偏低：对比</a:t>
            </a:r>
            <a:r>
              <a:rPr lang="en-US" altLang="zh-CN" dirty="0"/>
              <a:t>D+</a:t>
            </a:r>
            <a:r>
              <a:rPr lang="zh-CN" altLang="en-US" dirty="0"/>
              <a:t>和高德的榜单，美团榜单是三个平台中客单价较低的，总体上榜门店客单价中：黑珍珠（</a:t>
            </a:r>
            <a:r>
              <a:rPr lang="en-US" altLang="zh-CN" dirty="0"/>
              <a:t>881</a:t>
            </a:r>
            <a:r>
              <a:rPr lang="zh-CN" altLang="en-US" dirty="0"/>
              <a:t>元）</a:t>
            </a:r>
            <a:r>
              <a:rPr lang="en-US" altLang="zh-CN" dirty="0"/>
              <a:t>&gt;</a:t>
            </a:r>
            <a:r>
              <a:rPr lang="zh-CN" altLang="en-US" dirty="0"/>
              <a:t>心动氛围榜（</a:t>
            </a:r>
            <a:r>
              <a:rPr lang="en-US" altLang="zh-CN" dirty="0"/>
              <a:t>123</a:t>
            </a:r>
            <a:r>
              <a:rPr lang="zh-CN" altLang="en-US" dirty="0"/>
              <a:t>元）＞心动人气榜（</a:t>
            </a:r>
            <a:r>
              <a:rPr lang="en-US" altLang="zh-CN" dirty="0"/>
              <a:t>96</a:t>
            </a:r>
            <a:r>
              <a:rPr lang="zh-CN" altLang="en-US" dirty="0"/>
              <a:t>元）＞高德状元榜（</a:t>
            </a:r>
            <a:r>
              <a:rPr lang="en-US" altLang="zh-CN" dirty="0"/>
              <a:t>92</a:t>
            </a:r>
            <a:r>
              <a:rPr lang="zh-CN" altLang="en-US" dirty="0"/>
              <a:t>元）＞心动风味榜（</a:t>
            </a:r>
            <a:r>
              <a:rPr lang="en-US" altLang="zh-CN" dirty="0"/>
              <a:t>86</a:t>
            </a:r>
            <a:r>
              <a:rPr lang="zh-CN" altLang="en-US" dirty="0"/>
              <a:t>元）＞必吃榜（</a:t>
            </a:r>
            <a:r>
              <a:rPr lang="en-US" altLang="zh-CN" dirty="0"/>
              <a:t>77</a:t>
            </a:r>
            <a:r>
              <a:rPr lang="zh-CN" altLang="en-US" dirty="0"/>
              <a:t>元）＞美团好评榜（</a:t>
            </a:r>
            <a:r>
              <a:rPr lang="en-US" altLang="zh-CN" dirty="0"/>
              <a:t>60</a:t>
            </a:r>
            <a:r>
              <a:rPr lang="zh-CN" altLang="en-US" dirty="0"/>
              <a:t>元）＞美团人气榜人（</a:t>
            </a:r>
            <a:r>
              <a:rPr lang="en-US" altLang="zh-CN" dirty="0"/>
              <a:t>55</a:t>
            </a:r>
            <a:r>
              <a:rPr lang="zh-CN" altLang="en-US" dirty="0"/>
              <a:t>元）部分共有城市上榜门店平均客单价对比</a:t>
            </a:r>
            <a:r>
              <a:rPr lang="zh-CN" altLang="en-US" b="1" dirty="0"/>
              <a:t>。</a:t>
            </a:r>
            <a:endParaRPr lang="en-GB" altLang="zh-CN" b="1" dirty="0">
              <a:effectLst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2699656" y="1483981"/>
          <a:ext cx="3202819" cy="3066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39661" y="1483981"/>
          <a:ext cx="2752121" cy="3271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566285" imgH="5904230" progId="Excel.Sheet.12">
                  <p:embed/>
                </p:oleObj>
              </mc:Choice>
              <mc:Fallback>
                <p:oleObj name="Worksheet" r:id="rId3" imgW="4566285" imgH="5904230" progId="Excel.Sheet.12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39661" y="1483981"/>
                        <a:ext cx="2752121" cy="3271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0" y="4449002"/>
            <a:ext cx="4900707" cy="553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000"/>
              <a:t>关键举措：</a:t>
            </a:r>
          </a:p>
          <a:p>
            <a:r>
              <a:rPr lang="en-US" altLang="zh-CN" sz="1000"/>
              <a:t>1. </a:t>
            </a:r>
            <a:r>
              <a:rPr lang="zh-CN" altLang="en-US" sz="1000"/>
              <a:t>补充价格带在</a:t>
            </a:r>
            <a:r>
              <a:rPr lang="en-US" altLang="zh-CN" sz="1000"/>
              <a:t>100-300</a:t>
            </a:r>
            <a:r>
              <a:rPr lang="zh-CN" altLang="en-US" sz="1000"/>
              <a:t>、</a:t>
            </a:r>
            <a:r>
              <a:rPr lang="en-US" altLang="zh-CN" sz="1000"/>
              <a:t>200-500</a:t>
            </a:r>
            <a:r>
              <a:rPr lang="zh-CN" altLang="en-US" sz="1000"/>
              <a:t>价格区间的榜单</a:t>
            </a:r>
          </a:p>
          <a:p>
            <a:r>
              <a:rPr lang="en-US" altLang="zh-CN" sz="1000"/>
              <a:t>2. </a:t>
            </a:r>
            <a:r>
              <a:rPr lang="zh-CN" altLang="en-US" sz="1000"/>
              <a:t>对于价格带离散的品类后续考虑拆分更细分的榜单维度，以保证赛道公允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363744"/>
            <a:ext cx="8584470" cy="547945"/>
          </a:xfrm>
        </p:spPr>
        <p:txBody>
          <a:bodyPr/>
          <a:lstStyle/>
          <a:p>
            <a:r>
              <a:rPr kumimoji="1" lang="zh-CN" altLang="en-US" dirty="0"/>
              <a:t>业务和榜单之间应加强互动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07323" y="144749"/>
            <a:ext cx="8583088" cy="266037"/>
          </a:xfrm>
        </p:spPr>
        <p:txBody>
          <a:bodyPr/>
          <a:lstStyle/>
          <a:p>
            <a:r>
              <a:rPr kumimoji="1" lang="zh-CN" altLang="en-US" dirty="0"/>
              <a:t>榜单规则问题</a:t>
            </a:r>
          </a:p>
        </p:txBody>
      </p:sp>
      <p:sp>
        <p:nvSpPr>
          <p:cNvPr id="123" name="米菲PPT1"/>
          <p:cNvSpPr/>
          <p:nvPr/>
        </p:nvSpPr>
        <p:spPr>
          <a:xfrm>
            <a:off x="3149074" y="1039017"/>
            <a:ext cx="2870718" cy="3980660"/>
          </a:xfrm>
          <a:prstGeom prst="rect">
            <a:avLst/>
          </a:prstGeom>
          <a:solidFill>
            <a:srgbClr val="62799C">
              <a:alpha val="4000"/>
            </a:srgbClr>
          </a:solidFill>
          <a:ln w="19050" cap="flat" cmpd="sng" algn="ctr">
            <a:solidFill>
              <a:sysClr val="window" lastClr="FFFFFF">
                <a:lumMod val="75000"/>
                <a:alpha val="13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5" name="米菲PPT3"/>
          <p:cNvSpPr/>
          <p:nvPr/>
        </p:nvSpPr>
        <p:spPr>
          <a:xfrm>
            <a:off x="6066531" y="1039017"/>
            <a:ext cx="2793628" cy="3980660"/>
          </a:xfrm>
          <a:prstGeom prst="rect">
            <a:avLst/>
          </a:prstGeom>
          <a:solidFill>
            <a:srgbClr val="FCA072">
              <a:alpha val="4000"/>
            </a:srgbClr>
          </a:solidFill>
          <a:ln w="19050" cap="flat" cmpd="sng" algn="ctr">
            <a:solidFill>
              <a:sysClr val="window" lastClr="FFFFFF">
                <a:lumMod val="75000"/>
                <a:alpha val="13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26" name="米菲PPT4"/>
          <p:cNvCxnSpPr/>
          <p:nvPr/>
        </p:nvCxnSpPr>
        <p:spPr>
          <a:xfrm>
            <a:off x="7482209" y="4239607"/>
            <a:ext cx="0" cy="20322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7" name="米菲PPT5"/>
          <p:cNvCxnSpPr/>
          <p:nvPr/>
        </p:nvCxnSpPr>
        <p:spPr>
          <a:xfrm>
            <a:off x="7483867" y="3643773"/>
            <a:ext cx="0" cy="435232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28" name="米菲PPT8"/>
          <p:cNvSpPr/>
          <p:nvPr/>
        </p:nvSpPr>
        <p:spPr>
          <a:xfrm>
            <a:off x="308705" y="1039017"/>
            <a:ext cx="2793628" cy="3980660"/>
          </a:xfrm>
          <a:prstGeom prst="rect">
            <a:avLst/>
          </a:prstGeom>
          <a:solidFill>
            <a:srgbClr val="F57359">
              <a:alpha val="2000"/>
            </a:srgbClr>
          </a:solidFill>
          <a:ln w="19050" cap="flat" cmpd="sng" algn="ctr">
            <a:solidFill>
              <a:sysClr val="window" lastClr="FFFFFF">
                <a:lumMod val="75000"/>
                <a:alpha val="13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9" name="米菲PPT9"/>
          <p:cNvSpPr/>
          <p:nvPr/>
        </p:nvSpPr>
        <p:spPr>
          <a:xfrm flipH="1">
            <a:off x="1514433" y="1208039"/>
            <a:ext cx="403556" cy="128625"/>
          </a:xfrm>
          <a:custGeom>
            <a:avLst/>
            <a:gdLst>
              <a:gd name="connsiteX0" fmla="*/ 583499 w 1166998"/>
              <a:gd name="connsiteY0" fmla="*/ 369863 h 369863"/>
              <a:gd name="connsiteX1" fmla="*/ 0 w 1166998"/>
              <a:gd name="connsiteY1" fmla="*/ 0 h 369863"/>
              <a:gd name="connsiteX2" fmla="*/ 583499 w 1166998"/>
              <a:gd name="connsiteY2" fmla="*/ 0 h 369863"/>
              <a:gd name="connsiteX3" fmla="*/ 1166998 w 1166998"/>
              <a:gd name="connsiteY3" fmla="*/ 0 h 369863"/>
              <a:gd name="connsiteX4" fmla="*/ 583499 w 1166998"/>
              <a:gd name="connsiteY4" fmla="*/ 369863 h 369863"/>
              <a:gd name="connsiteX0-1" fmla="*/ 583499 w 1166998"/>
              <a:gd name="connsiteY0-2" fmla="*/ 369863 h 369863"/>
              <a:gd name="connsiteX1-3" fmla="*/ 0 w 1166998"/>
              <a:gd name="connsiteY1-4" fmla="*/ 0 h 369863"/>
              <a:gd name="connsiteX2-5" fmla="*/ 583499 w 1166998"/>
              <a:gd name="connsiteY2-6" fmla="*/ 0 h 369863"/>
              <a:gd name="connsiteX3-7" fmla="*/ 1166998 w 1166998"/>
              <a:gd name="connsiteY3-8" fmla="*/ 0 h 369863"/>
              <a:gd name="connsiteX4-9" fmla="*/ 583499 w 1166998"/>
              <a:gd name="connsiteY4-10" fmla="*/ 369863 h 369863"/>
              <a:gd name="connsiteX0-11" fmla="*/ 583499 w 1166998"/>
              <a:gd name="connsiteY0-12" fmla="*/ 369863 h 369863"/>
              <a:gd name="connsiteX1-13" fmla="*/ 0 w 1166998"/>
              <a:gd name="connsiteY1-14" fmla="*/ 0 h 369863"/>
              <a:gd name="connsiteX2-15" fmla="*/ 583499 w 1166998"/>
              <a:gd name="connsiteY2-16" fmla="*/ 0 h 369863"/>
              <a:gd name="connsiteX3-17" fmla="*/ 1166998 w 1166998"/>
              <a:gd name="connsiteY3-18" fmla="*/ 0 h 369863"/>
              <a:gd name="connsiteX4-19" fmla="*/ 583499 w 1166998"/>
              <a:gd name="connsiteY4-20" fmla="*/ 369863 h 369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66998" h="369863">
                <a:moveTo>
                  <a:pt x="583499" y="369863"/>
                </a:moveTo>
                <a:cubicBezTo>
                  <a:pt x="489218" y="266576"/>
                  <a:pt x="442150" y="135988"/>
                  <a:pt x="0" y="0"/>
                </a:cubicBezTo>
                <a:lnTo>
                  <a:pt x="583499" y="0"/>
                </a:lnTo>
                <a:lnTo>
                  <a:pt x="1166998" y="0"/>
                </a:lnTo>
                <a:cubicBezTo>
                  <a:pt x="724848" y="135988"/>
                  <a:pt x="682852" y="271620"/>
                  <a:pt x="583499" y="369863"/>
                </a:cubicBezTo>
                <a:close/>
              </a:path>
            </a:pathLst>
          </a:cu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0" name="米菲PPT10"/>
          <p:cNvSpPr/>
          <p:nvPr/>
        </p:nvSpPr>
        <p:spPr>
          <a:xfrm>
            <a:off x="319398" y="843174"/>
            <a:ext cx="2793628" cy="40508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57359">
                  <a:lumMod val="85000"/>
                </a:srgbClr>
              </a:gs>
              <a:gs pos="100000">
                <a:srgbClr val="F57359">
                  <a:lumMod val="93000"/>
                  <a:lumOff val="7000"/>
                </a:srgb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加强对外合作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cross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for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 流量指标）</a:t>
            </a:r>
          </a:p>
        </p:txBody>
      </p:sp>
      <p:sp>
        <p:nvSpPr>
          <p:cNvPr id="131" name="米菲PPT11"/>
          <p:cNvSpPr/>
          <p:nvPr/>
        </p:nvSpPr>
        <p:spPr>
          <a:xfrm flipH="1">
            <a:off x="4377098" y="1208039"/>
            <a:ext cx="412848" cy="128625"/>
          </a:xfrm>
          <a:custGeom>
            <a:avLst/>
            <a:gdLst>
              <a:gd name="connsiteX0" fmla="*/ 583499 w 1166998"/>
              <a:gd name="connsiteY0" fmla="*/ 369863 h 369863"/>
              <a:gd name="connsiteX1" fmla="*/ 0 w 1166998"/>
              <a:gd name="connsiteY1" fmla="*/ 0 h 369863"/>
              <a:gd name="connsiteX2" fmla="*/ 583499 w 1166998"/>
              <a:gd name="connsiteY2" fmla="*/ 0 h 369863"/>
              <a:gd name="connsiteX3" fmla="*/ 1166998 w 1166998"/>
              <a:gd name="connsiteY3" fmla="*/ 0 h 369863"/>
              <a:gd name="connsiteX4" fmla="*/ 583499 w 1166998"/>
              <a:gd name="connsiteY4" fmla="*/ 369863 h 369863"/>
              <a:gd name="connsiteX0-1" fmla="*/ 583499 w 1166998"/>
              <a:gd name="connsiteY0-2" fmla="*/ 369863 h 369863"/>
              <a:gd name="connsiteX1-3" fmla="*/ 0 w 1166998"/>
              <a:gd name="connsiteY1-4" fmla="*/ 0 h 369863"/>
              <a:gd name="connsiteX2-5" fmla="*/ 583499 w 1166998"/>
              <a:gd name="connsiteY2-6" fmla="*/ 0 h 369863"/>
              <a:gd name="connsiteX3-7" fmla="*/ 1166998 w 1166998"/>
              <a:gd name="connsiteY3-8" fmla="*/ 0 h 369863"/>
              <a:gd name="connsiteX4-9" fmla="*/ 583499 w 1166998"/>
              <a:gd name="connsiteY4-10" fmla="*/ 369863 h 369863"/>
              <a:gd name="connsiteX0-11" fmla="*/ 583499 w 1166998"/>
              <a:gd name="connsiteY0-12" fmla="*/ 369863 h 369863"/>
              <a:gd name="connsiteX1-13" fmla="*/ 0 w 1166998"/>
              <a:gd name="connsiteY1-14" fmla="*/ 0 h 369863"/>
              <a:gd name="connsiteX2-15" fmla="*/ 583499 w 1166998"/>
              <a:gd name="connsiteY2-16" fmla="*/ 0 h 369863"/>
              <a:gd name="connsiteX3-17" fmla="*/ 1166998 w 1166998"/>
              <a:gd name="connsiteY3-18" fmla="*/ 0 h 369863"/>
              <a:gd name="connsiteX4-19" fmla="*/ 583499 w 1166998"/>
              <a:gd name="connsiteY4-20" fmla="*/ 369863 h 369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66998" h="369863">
                <a:moveTo>
                  <a:pt x="583499" y="369863"/>
                </a:moveTo>
                <a:cubicBezTo>
                  <a:pt x="489218" y="266576"/>
                  <a:pt x="442150" y="135988"/>
                  <a:pt x="0" y="0"/>
                </a:cubicBezTo>
                <a:lnTo>
                  <a:pt x="583499" y="0"/>
                </a:lnTo>
                <a:lnTo>
                  <a:pt x="1166998" y="0"/>
                </a:lnTo>
                <a:cubicBezTo>
                  <a:pt x="724848" y="135988"/>
                  <a:pt x="682852" y="271620"/>
                  <a:pt x="583499" y="369863"/>
                </a:cubicBezTo>
                <a:close/>
              </a:path>
            </a:pathLst>
          </a:cu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2" name="米菲PPT12"/>
          <p:cNvSpPr/>
          <p:nvPr/>
        </p:nvSpPr>
        <p:spPr>
          <a:xfrm>
            <a:off x="3154545" y="843174"/>
            <a:ext cx="2857956" cy="4050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加强对内榜单规则互通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for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 产品基建）</a:t>
            </a:r>
          </a:p>
        </p:txBody>
      </p:sp>
      <p:sp>
        <p:nvSpPr>
          <p:cNvPr id="133" name="米菲PPT13"/>
          <p:cNvSpPr/>
          <p:nvPr/>
        </p:nvSpPr>
        <p:spPr>
          <a:xfrm flipH="1">
            <a:off x="7259747" y="1208039"/>
            <a:ext cx="403556" cy="128625"/>
          </a:xfrm>
          <a:custGeom>
            <a:avLst/>
            <a:gdLst>
              <a:gd name="connsiteX0" fmla="*/ 583499 w 1166998"/>
              <a:gd name="connsiteY0" fmla="*/ 369863 h 369863"/>
              <a:gd name="connsiteX1" fmla="*/ 0 w 1166998"/>
              <a:gd name="connsiteY1" fmla="*/ 0 h 369863"/>
              <a:gd name="connsiteX2" fmla="*/ 583499 w 1166998"/>
              <a:gd name="connsiteY2" fmla="*/ 0 h 369863"/>
              <a:gd name="connsiteX3" fmla="*/ 1166998 w 1166998"/>
              <a:gd name="connsiteY3" fmla="*/ 0 h 369863"/>
              <a:gd name="connsiteX4" fmla="*/ 583499 w 1166998"/>
              <a:gd name="connsiteY4" fmla="*/ 369863 h 369863"/>
              <a:gd name="connsiteX0-1" fmla="*/ 583499 w 1166998"/>
              <a:gd name="connsiteY0-2" fmla="*/ 369863 h 369863"/>
              <a:gd name="connsiteX1-3" fmla="*/ 0 w 1166998"/>
              <a:gd name="connsiteY1-4" fmla="*/ 0 h 369863"/>
              <a:gd name="connsiteX2-5" fmla="*/ 583499 w 1166998"/>
              <a:gd name="connsiteY2-6" fmla="*/ 0 h 369863"/>
              <a:gd name="connsiteX3-7" fmla="*/ 1166998 w 1166998"/>
              <a:gd name="connsiteY3-8" fmla="*/ 0 h 369863"/>
              <a:gd name="connsiteX4-9" fmla="*/ 583499 w 1166998"/>
              <a:gd name="connsiteY4-10" fmla="*/ 369863 h 369863"/>
              <a:gd name="connsiteX0-11" fmla="*/ 583499 w 1166998"/>
              <a:gd name="connsiteY0-12" fmla="*/ 369863 h 369863"/>
              <a:gd name="connsiteX1-13" fmla="*/ 0 w 1166998"/>
              <a:gd name="connsiteY1-14" fmla="*/ 0 h 369863"/>
              <a:gd name="connsiteX2-15" fmla="*/ 583499 w 1166998"/>
              <a:gd name="connsiteY2-16" fmla="*/ 0 h 369863"/>
              <a:gd name="connsiteX3-17" fmla="*/ 1166998 w 1166998"/>
              <a:gd name="connsiteY3-18" fmla="*/ 0 h 369863"/>
              <a:gd name="connsiteX4-19" fmla="*/ 583499 w 1166998"/>
              <a:gd name="connsiteY4-20" fmla="*/ 369863 h 369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66998" h="369863">
                <a:moveTo>
                  <a:pt x="583499" y="369863"/>
                </a:moveTo>
                <a:cubicBezTo>
                  <a:pt x="489218" y="266576"/>
                  <a:pt x="442150" y="135988"/>
                  <a:pt x="0" y="0"/>
                </a:cubicBezTo>
                <a:lnTo>
                  <a:pt x="583499" y="0"/>
                </a:lnTo>
                <a:lnTo>
                  <a:pt x="1166998" y="0"/>
                </a:lnTo>
                <a:cubicBezTo>
                  <a:pt x="724848" y="135988"/>
                  <a:pt x="682852" y="271620"/>
                  <a:pt x="583499" y="369863"/>
                </a:cubicBezTo>
                <a:close/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4" name="米菲PPT14"/>
          <p:cNvSpPr/>
          <p:nvPr/>
        </p:nvSpPr>
        <p:spPr>
          <a:xfrm>
            <a:off x="6064712" y="843174"/>
            <a:ext cx="2793628" cy="40508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加强对商户榜单指导</a:t>
            </a:r>
            <a:endParaRPr lang="en-US" altLang="zh-CN" sz="1200" kern="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（</a:t>
            </a:r>
            <a:r>
              <a:rPr lang="en-US" altLang="zh-CN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for</a:t>
            </a:r>
            <a:r>
              <a:rPr lang="zh-CN" altLang="en-US" sz="12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 核心商户覆盖）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35" name="米菲PPT15"/>
          <p:cNvSpPr txBox="1"/>
          <p:nvPr/>
        </p:nvSpPr>
        <p:spPr>
          <a:xfrm>
            <a:off x="6250229" y="1365296"/>
            <a:ext cx="2560102" cy="660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建立榜单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→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销运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→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销售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→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商户的培训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SOP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，同时尝试给出不同门店的冲榜诊断，最终可在经营宝中落地商户工具。</a:t>
            </a:r>
          </a:p>
        </p:txBody>
      </p:sp>
      <p:sp>
        <p:nvSpPr>
          <p:cNvPr id="136" name="米菲PPT16"/>
          <p:cNvSpPr/>
          <p:nvPr/>
        </p:nvSpPr>
        <p:spPr>
          <a:xfrm>
            <a:off x="6283996" y="2161998"/>
            <a:ext cx="2399743" cy="766157"/>
          </a:xfrm>
          <a:prstGeom prst="rect">
            <a:avLst/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7" name="米菲PPT17"/>
          <p:cNvSpPr/>
          <p:nvPr/>
        </p:nvSpPr>
        <p:spPr>
          <a:xfrm flipV="1">
            <a:off x="6900616" y="2945227"/>
            <a:ext cx="1270667" cy="276623"/>
          </a:xfrm>
          <a:prstGeom prst="triangle">
            <a:avLst/>
          </a:prstGeom>
          <a:gradFill flip="none" rotWithShape="1">
            <a:gsLst>
              <a:gs pos="0">
                <a:srgbClr val="FCA072">
                  <a:alpha val="0"/>
                </a:srgbClr>
              </a:gs>
              <a:gs pos="93000">
                <a:srgbClr val="FCA072">
                  <a:alpha val="65000"/>
                </a:srgbClr>
              </a:gs>
            </a:gsLst>
            <a:lin ang="16200000" scaled="1"/>
            <a:tileRect/>
          </a:gra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8" name="米菲PPT18"/>
          <p:cNvSpPr/>
          <p:nvPr/>
        </p:nvSpPr>
        <p:spPr>
          <a:xfrm>
            <a:off x="6283996" y="2074554"/>
            <a:ext cx="2399743" cy="248126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商户冲榜指南</a:t>
            </a:r>
          </a:p>
        </p:txBody>
      </p:sp>
      <p:sp>
        <p:nvSpPr>
          <p:cNvPr id="139" name="米菲PPT19"/>
          <p:cNvSpPr txBox="1"/>
          <p:nvPr/>
        </p:nvSpPr>
        <p:spPr>
          <a:xfrm>
            <a:off x="6573758" y="2377292"/>
            <a:ext cx="1078852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门店当前优势</a:t>
            </a:r>
          </a:p>
        </p:txBody>
      </p:sp>
      <p:sp>
        <p:nvSpPr>
          <p:cNvPr id="140" name="米菲PPT20"/>
          <p:cNvSpPr txBox="1"/>
          <p:nvPr/>
        </p:nvSpPr>
        <p:spPr>
          <a:xfrm>
            <a:off x="6573758" y="2613158"/>
            <a:ext cx="1078852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有利上榜情况</a:t>
            </a:r>
          </a:p>
        </p:txBody>
      </p:sp>
      <p:sp>
        <p:nvSpPr>
          <p:cNvPr id="141" name="米菲PPT21"/>
          <p:cNvSpPr txBox="1"/>
          <p:nvPr/>
        </p:nvSpPr>
        <p:spPr>
          <a:xfrm>
            <a:off x="7902457" y="2377292"/>
            <a:ext cx="1078852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竞店情况</a:t>
            </a:r>
          </a:p>
        </p:txBody>
      </p:sp>
      <p:sp>
        <p:nvSpPr>
          <p:cNvPr id="142" name="米菲PPT22"/>
          <p:cNvSpPr txBox="1"/>
          <p:nvPr/>
        </p:nvSpPr>
        <p:spPr>
          <a:xfrm>
            <a:off x="7902457" y="2615036"/>
            <a:ext cx="1078852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诊断建议</a:t>
            </a:r>
          </a:p>
        </p:txBody>
      </p:sp>
      <p:sp>
        <p:nvSpPr>
          <p:cNvPr id="143" name="米菲PPT23"/>
          <p:cNvSpPr/>
          <p:nvPr/>
        </p:nvSpPr>
        <p:spPr>
          <a:xfrm>
            <a:off x="6463302" y="2697406"/>
            <a:ext cx="123979" cy="123978"/>
          </a:xfrm>
          <a:custGeom>
            <a:avLst/>
            <a:gdLst>
              <a:gd name="connsiteX0" fmla="*/ 63948 w 182707"/>
              <a:gd name="connsiteY0" fmla="*/ 146166 h 182707"/>
              <a:gd name="connsiteX1" fmla="*/ 122871 w 182707"/>
              <a:gd name="connsiteY1" fmla="*/ 146166 h 182707"/>
              <a:gd name="connsiteX2" fmla="*/ 146166 w 182707"/>
              <a:gd name="connsiteY2" fmla="*/ 92039 h 182707"/>
              <a:gd name="connsiteX3" fmla="*/ 146166 w 182707"/>
              <a:gd name="connsiteY3" fmla="*/ 73083 h 182707"/>
              <a:gd name="connsiteX4" fmla="*/ 95008 w 182707"/>
              <a:gd name="connsiteY4" fmla="*/ 73083 h 182707"/>
              <a:gd name="connsiteX5" fmla="*/ 101174 w 182707"/>
              <a:gd name="connsiteY5" fmla="*/ 37455 h 182707"/>
              <a:gd name="connsiteX6" fmla="*/ 91354 w 182707"/>
              <a:gd name="connsiteY6" fmla="*/ 27406 h 182707"/>
              <a:gd name="connsiteX7" fmla="*/ 45677 w 182707"/>
              <a:gd name="connsiteY7" fmla="*/ 77194 h 182707"/>
              <a:gd name="connsiteX8" fmla="*/ 45677 w 182707"/>
              <a:gd name="connsiteY8" fmla="*/ 127895 h 182707"/>
              <a:gd name="connsiteX9" fmla="*/ 51048 w 182707"/>
              <a:gd name="connsiteY9" fmla="*/ 140804 h 182707"/>
              <a:gd name="connsiteX10" fmla="*/ 63948 w 182707"/>
              <a:gd name="connsiteY10" fmla="*/ 146166 h 182707"/>
              <a:gd name="connsiteX11" fmla="*/ 91354 w 182707"/>
              <a:gd name="connsiteY11" fmla="*/ 182708 h 182707"/>
              <a:gd name="connsiteX12" fmla="*/ 55726 w 182707"/>
              <a:gd name="connsiteY12" fmla="*/ 175509 h 182707"/>
              <a:gd name="connsiteX13" fmla="*/ 26721 w 182707"/>
              <a:gd name="connsiteY13" fmla="*/ 155987 h 182707"/>
              <a:gd name="connsiteX14" fmla="*/ 7199 w 182707"/>
              <a:gd name="connsiteY14" fmla="*/ 126982 h 182707"/>
              <a:gd name="connsiteX15" fmla="*/ 0 w 182707"/>
              <a:gd name="connsiteY15" fmla="*/ 91354 h 182707"/>
              <a:gd name="connsiteX16" fmla="*/ 7199 w 182707"/>
              <a:gd name="connsiteY16" fmla="*/ 55726 h 182707"/>
              <a:gd name="connsiteX17" fmla="*/ 26721 w 182707"/>
              <a:gd name="connsiteY17" fmla="*/ 26721 h 182707"/>
              <a:gd name="connsiteX18" fmla="*/ 55726 w 182707"/>
              <a:gd name="connsiteY18" fmla="*/ 7199 h 182707"/>
              <a:gd name="connsiteX19" fmla="*/ 91354 w 182707"/>
              <a:gd name="connsiteY19" fmla="*/ 0 h 182707"/>
              <a:gd name="connsiteX20" fmla="*/ 126982 w 182707"/>
              <a:gd name="connsiteY20" fmla="*/ 7199 h 182707"/>
              <a:gd name="connsiteX21" fmla="*/ 155987 w 182707"/>
              <a:gd name="connsiteY21" fmla="*/ 26721 h 182707"/>
              <a:gd name="connsiteX22" fmla="*/ 175518 w 182707"/>
              <a:gd name="connsiteY22" fmla="*/ 55726 h 182707"/>
              <a:gd name="connsiteX23" fmla="*/ 182708 w 182707"/>
              <a:gd name="connsiteY23" fmla="*/ 91354 h 182707"/>
              <a:gd name="connsiteX24" fmla="*/ 175509 w 182707"/>
              <a:gd name="connsiteY24" fmla="*/ 126982 h 182707"/>
              <a:gd name="connsiteX25" fmla="*/ 155987 w 182707"/>
              <a:gd name="connsiteY25" fmla="*/ 155987 h 182707"/>
              <a:gd name="connsiteX26" fmla="*/ 126982 w 182707"/>
              <a:gd name="connsiteY26" fmla="*/ 175518 h 182707"/>
              <a:gd name="connsiteX27" fmla="*/ 91354 w 182707"/>
              <a:gd name="connsiteY27" fmla="*/ 182708 h 18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82707" h="182707">
                <a:moveTo>
                  <a:pt x="63948" y="146166"/>
                </a:moveTo>
                <a:lnTo>
                  <a:pt x="122871" y="146166"/>
                </a:lnTo>
                <a:lnTo>
                  <a:pt x="146166" y="92039"/>
                </a:lnTo>
                <a:lnTo>
                  <a:pt x="146166" y="73083"/>
                </a:lnTo>
                <a:lnTo>
                  <a:pt x="95008" y="73083"/>
                </a:lnTo>
                <a:lnTo>
                  <a:pt x="101174" y="37455"/>
                </a:lnTo>
                <a:lnTo>
                  <a:pt x="91354" y="27406"/>
                </a:lnTo>
                <a:lnTo>
                  <a:pt x="45677" y="77194"/>
                </a:lnTo>
                <a:lnTo>
                  <a:pt x="45677" y="127895"/>
                </a:lnTo>
                <a:cubicBezTo>
                  <a:pt x="45677" y="132920"/>
                  <a:pt x="47467" y="137222"/>
                  <a:pt x="51048" y="140804"/>
                </a:cubicBezTo>
                <a:cubicBezTo>
                  <a:pt x="54630" y="144385"/>
                  <a:pt x="58929" y="146172"/>
                  <a:pt x="63948" y="146166"/>
                </a:cubicBezTo>
                <a:moveTo>
                  <a:pt x="91354" y="182708"/>
                </a:moveTo>
                <a:cubicBezTo>
                  <a:pt x="78716" y="182708"/>
                  <a:pt x="66841" y="180308"/>
                  <a:pt x="55726" y="175509"/>
                </a:cubicBezTo>
                <a:cubicBezTo>
                  <a:pt x="44611" y="170710"/>
                  <a:pt x="34943" y="164202"/>
                  <a:pt x="26721" y="155987"/>
                </a:cubicBezTo>
                <a:cubicBezTo>
                  <a:pt x="18499" y="147771"/>
                  <a:pt x="11992" y="138103"/>
                  <a:pt x="7199" y="126982"/>
                </a:cubicBezTo>
                <a:cubicBezTo>
                  <a:pt x="2406" y="115861"/>
                  <a:pt x="6" y="103985"/>
                  <a:pt x="0" y="91354"/>
                </a:cubicBezTo>
                <a:cubicBezTo>
                  <a:pt x="-6" y="78723"/>
                  <a:pt x="2393" y="66847"/>
                  <a:pt x="7199" y="55726"/>
                </a:cubicBezTo>
                <a:cubicBezTo>
                  <a:pt x="12004" y="44605"/>
                  <a:pt x="18511" y="34937"/>
                  <a:pt x="26721" y="26721"/>
                </a:cubicBezTo>
                <a:cubicBezTo>
                  <a:pt x="34931" y="18505"/>
                  <a:pt x="44599" y="11998"/>
                  <a:pt x="55726" y="7199"/>
                </a:cubicBezTo>
                <a:cubicBezTo>
                  <a:pt x="66853" y="2400"/>
                  <a:pt x="78729" y="0"/>
                  <a:pt x="91354" y="0"/>
                </a:cubicBezTo>
                <a:cubicBezTo>
                  <a:pt x="103979" y="0"/>
                  <a:pt x="115855" y="2400"/>
                  <a:pt x="126982" y="7199"/>
                </a:cubicBezTo>
                <a:cubicBezTo>
                  <a:pt x="138109" y="11998"/>
                  <a:pt x="147777" y="18505"/>
                  <a:pt x="155987" y="26721"/>
                </a:cubicBezTo>
                <a:cubicBezTo>
                  <a:pt x="164196" y="34937"/>
                  <a:pt x="170707" y="44605"/>
                  <a:pt x="175518" y="55726"/>
                </a:cubicBezTo>
                <a:cubicBezTo>
                  <a:pt x="180329" y="66847"/>
                  <a:pt x="182726" y="78723"/>
                  <a:pt x="182708" y="91354"/>
                </a:cubicBezTo>
                <a:cubicBezTo>
                  <a:pt x="182689" y="103985"/>
                  <a:pt x="180290" y="115861"/>
                  <a:pt x="175509" y="126982"/>
                </a:cubicBezTo>
                <a:cubicBezTo>
                  <a:pt x="170728" y="138103"/>
                  <a:pt x="164221" y="147771"/>
                  <a:pt x="155987" y="155987"/>
                </a:cubicBezTo>
                <a:cubicBezTo>
                  <a:pt x="147753" y="164202"/>
                  <a:pt x="138084" y="170713"/>
                  <a:pt x="126982" y="175518"/>
                </a:cubicBezTo>
                <a:cubicBezTo>
                  <a:pt x="115879" y="180323"/>
                  <a:pt x="104003" y="182720"/>
                  <a:pt x="91354" y="182708"/>
                </a:cubicBezTo>
              </a:path>
            </a:pathLst>
          </a:cu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9" name="米菲PPT27"/>
          <p:cNvSpPr/>
          <p:nvPr/>
        </p:nvSpPr>
        <p:spPr>
          <a:xfrm>
            <a:off x="6157122" y="3234705"/>
            <a:ext cx="630000" cy="263059"/>
          </a:xfrm>
          <a:prstGeom prst="roundRect">
            <a:avLst>
              <a:gd name="adj" fmla="val 2363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所在城市*品类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xx%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51" name="米菲PPT29"/>
          <p:cNvSpPr/>
          <p:nvPr/>
        </p:nvSpPr>
        <p:spPr>
          <a:xfrm>
            <a:off x="6831525" y="3238922"/>
            <a:ext cx="630000" cy="263059"/>
          </a:xfrm>
          <a:prstGeom prst="roundRect">
            <a:avLst>
              <a:gd name="adj" fmla="val 28425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lvl="0" algn="ctr"/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所在商圈*品类</a:t>
            </a:r>
            <a:r>
              <a:rPr lang="en-US" altLang="zh-CN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xx%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53" name="米菲PPT31"/>
          <p:cNvSpPr/>
          <p:nvPr/>
        </p:nvSpPr>
        <p:spPr>
          <a:xfrm>
            <a:off x="7505928" y="3238922"/>
            <a:ext cx="630000" cy="263059"/>
          </a:xfrm>
          <a:prstGeom prst="roundRect">
            <a:avLst>
              <a:gd name="adj" fmla="val 26028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lvl="0" algn="ctr"/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所在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XX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榜单</a:t>
            </a: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第</a:t>
            </a:r>
            <a:r>
              <a:rPr lang="en-US" altLang="zh-CN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</a:t>
            </a: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名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55" name="米菲PPT33"/>
          <p:cNvSpPr/>
          <p:nvPr/>
        </p:nvSpPr>
        <p:spPr>
          <a:xfrm>
            <a:off x="8180331" y="3236454"/>
            <a:ext cx="630000" cy="263059"/>
          </a:xfrm>
          <a:prstGeom prst="roundRect">
            <a:avLst>
              <a:gd name="adj" fmla="val 26028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lvl="0" algn="ctr"/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距离上一名差</a:t>
            </a:r>
            <a:r>
              <a:rPr lang="en-US" altLang="zh-CN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XX</a:t>
            </a: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56" name="米菲PPT34"/>
          <p:cNvSpPr/>
          <p:nvPr/>
        </p:nvSpPr>
        <p:spPr>
          <a:xfrm rot="16200000">
            <a:off x="7498157" y="2458191"/>
            <a:ext cx="98932" cy="2272232"/>
          </a:xfrm>
          <a:prstGeom prst="leftBracket">
            <a:avLst>
              <a:gd name="adj" fmla="val 0"/>
            </a:avLst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57" name="米菲PPT35"/>
          <p:cNvCxnSpPr/>
          <p:nvPr/>
        </p:nvCxnSpPr>
        <p:spPr>
          <a:xfrm>
            <a:off x="7123426" y="3544840"/>
            <a:ext cx="0" cy="98933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58" name="米菲PPT36"/>
          <p:cNvCxnSpPr/>
          <p:nvPr/>
        </p:nvCxnSpPr>
        <p:spPr>
          <a:xfrm>
            <a:off x="7971819" y="3544840"/>
            <a:ext cx="0" cy="98933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59" name="米菲PPT37"/>
          <p:cNvSpPr/>
          <p:nvPr/>
        </p:nvSpPr>
        <p:spPr>
          <a:xfrm>
            <a:off x="6764711" y="3751047"/>
            <a:ext cx="1434995" cy="19215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A072"/>
              </a:gs>
              <a:gs pos="1000">
                <a:srgbClr val="FCA072">
                  <a:lumMod val="75000"/>
                </a:srgbClr>
              </a:gs>
            </a:gsLst>
            <a:lin ang="19800000" scaled="0"/>
            <a:tileRect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lvl="0" algn="ctr"/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预计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1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周内可冲上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XX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榜第</a:t>
            </a:r>
            <a:r>
              <a:rPr lang="en-US" altLang="zh-CN" sz="7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X</a:t>
            </a:r>
            <a:r>
              <a:rPr lang="zh-CN" altLang="en-US" sz="700" kern="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名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0" name="米菲PPT38"/>
          <p:cNvSpPr/>
          <p:nvPr/>
        </p:nvSpPr>
        <p:spPr>
          <a:xfrm>
            <a:off x="7098663" y="4065074"/>
            <a:ext cx="750751" cy="19215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CA072">
                    <a:lumMod val="7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诊断建议</a:t>
            </a:r>
          </a:p>
        </p:txBody>
      </p:sp>
      <p:sp>
        <p:nvSpPr>
          <p:cNvPr id="161" name="米菲PPT39"/>
          <p:cNvSpPr/>
          <p:nvPr/>
        </p:nvSpPr>
        <p:spPr>
          <a:xfrm>
            <a:off x="6458874" y="4442711"/>
            <a:ext cx="640800" cy="19215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套餐数量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62" name="米菲PPT40"/>
          <p:cNvSpPr/>
          <p:nvPr/>
        </p:nvSpPr>
        <p:spPr>
          <a:xfrm rot="5400000" flipV="1">
            <a:off x="7436005" y="3804772"/>
            <a:ext cx="107011" cy="1168865"/>
          </a:xfrm>
          <a:prstGeom prst="leftBracket">
            <a:avLst>
              <a:gd name="adj" fmla="val 0"/>
            </a:avLst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3" name="米菲PPT41"/>
          <p:cNvSpPr/>
          <p:nvPr/>
        </p:nvSpPr>
        <p:spPr>
          <a:xfrm>
            <a:off x="7163847" y="4442711"/>
            <a:ext cx="636722" cy="19215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折扣力度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64" name="米菲PPT42"/>
          <p:cNvSpPr/>
          <p:nvPr/>
        </p:nvSpPr>
        <p:spPr>
          <a:xfrm>
            <a:off x="7864742" y="4444871"/>
            <a:ext cx="640800" cy="19215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FCA072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CA072"/>
            </a:solidFill>
            <a:prstDash val="solid"/>
            <a:miter lim="800000"/>
          </a:ln>
          <a:effectLst>
            <a:outerShdw blurRad="469900" dist="123444" dir="5400000" sx="99000" sy="99000" algn="ctr" rotWithShape="0">
              <a:srgbClr val="FCA072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kern="0" dirty="0">
                <a:solidFill>
                  <a:srgbClr val="FCA072">
                    <a:lumMod val="7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套餐餐型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CA072">
                  <a:lumMod val="7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65" name="米菲PPT43"/>
          <p:cNvSpPr txBox="1"/>
          <p:nvPr/>
        </p:nvSpPr>
        <p:spPr>
          <a:xfrm>
            <a:off x="525035" y="1365296"/>
            <a:ext cx="2447618" cy="66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将榜单作为优质门店的筛选器，与到餐外的业务合作，输出优质供给，提升转化效率，实现与餐外业务共赢。</a:t>
            </a:r>
          </a:p>
        </p:txBody>
      </p:sp>
      <p:sp>
        <p:nvSpPr>
          <p:cNvPr id="166" name="米菲PPT44"/>
          <p:cNvSpPr/>
          <p:nvPr/>
        </p:nvSpPr>
        <p:spPr>
          <a:xfrm>
            <a:off x="526358" y="2018109"/>
            <a:ext cx="2399743" cy="2481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到餐外多触点合作</a:t>
            </a:r>
          </a:p>
        </p:txBody>
      </p:sp>
      <p:sp>
        <p:nvSpPr>
          <p:cNvPr id="167" name="米菲PPT45"/>
          <p:cNvSpPr/>
          <p:nvPr/>
        </p:nvSpPr>
        <p:spPr>
          <a:xfrm>
            <a:off x="526358" y="3689744"/>
            <a:ext cx="2399743" cy="2481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沉淀美团榜单用户心智</a:t>
            </a:r>
          </a:p>
        </p:txBody>
      </p:sp>
      <p:sp>
        <p:nvSpPr>
          <p:cNvPr id="168" name="米菲PPT46"/>
          <p:cNvSpPr/>
          <p:nvPr/>
        </p:nvSpPr>
        <p:spPr>
          <a:xfrm>
            <a:off x="551534" y="4009154"/>
            <a:ext cx="1152283" cy="809654"/>
          </a:xfrm>
          <a:prstGeom prst="rect">
            <a:avLst/>
          </a:prstGeom>
          <a:gradFill>
            <a:gsLst>
              <a:gs pos="100000">
                <a:srgbClr val="F57359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9" name="米菲PPT47"/>
          <p:cNvSpPr/>
          <p:nvPr/>
        </p:nvSpPr>
        <p:spPr>
          <a:xfrm>
            <a:off x="1773818" y="4009154"/>
            <a:ext cx="1152283" cy="809654"/>
          </a:xfrm>
          <a:prstGeom prst="rect">
            <a:avLst/>
          </a:prstGeom>
          <a:gradFill>
            <a:gsLst>
              <a:gs pos="100000">
                <a:srgbClr val="F57359">
                  <a:lumMod val="5000"/>
                  <a:lumOff val="95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4" name="米菲PPT50"/>
          <p:cNvSpPr txBox="1"/>
          <p:nvPr/>
        </p:nvSpPr>
        <p:spPr>
          <a:xfrm>
            <a:off x="613074" y="4284908"/>
            <a:ext cx="1029203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建设榜单</a:t>
            </a:r>
            <a:r>
              <a:rPr lang="en-US" altLang="zh-CN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IP</a:t>
            </a:r>
            <a:endParaRPr lang="zh-CN" altLang="en-US" sz="1100" dirty="0">
              <a:solidFill>
                <a:prstClr val="black">
                  <a:lumMod val="65000"/>
                  <a:lumOff val="35000"/>
                </a:prst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75" name="米菲PPT51"/>
          <p:cNvSpPr txBox="1"/>
          <p:nvPr/>
        </p:nvSpPr>
        <p:spPr>
          <a:xfrm>
            <a:off x="1781756" y="4206934"/>
            <a:ext cx="1147845" cy="485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</a:pPr>
            <a:r>
              <a: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引导回流榜单落地页</a:t>
            </a:r>
          </a:p>
        </p:txBody>
      </p:sp>
      <p:grpSp>
        <p:nvGrpSpPr>
          <p:cNvPr id="176" name="米菲PPT52"/>
          <p:cNvGrpSpPr/>
          <p:nvPr/>
        </p:nvGrpSpPr>
        <p:grpSpPr>
          <a:xfrm>
            <a:off x="1916492" y="2422125"/>
            <a:ext cx="678320" cy="395200"/>
            <a:chOff x="1721747" y="3023106"/>
            <a:chExt cx="990806" cy="577260"/>
          </a:xfrm>
        </p:grpSpPr>
        <p:sp>
          <p:nvSpPr>
            <p:cNvPr id="177" name="米菲PPT52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78" name="米菲PPT52-2"/>
            <p:cNvSpPr txBox="1"/>
            <p:nvPr/>
          </p:nvSpPr>
          <p:spPr>
            <a:xfrm>
              <a:off x="1721747" y="3114826"/>
              <a:ext cx="990806" cy="385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会员</a:t>
              </a:r>
            </a:p>
          </p:txBody>
        </p:sp>
      </p:grpSp>
      <p:grpSp>
        <p:nvGrpSpPr>
          <p:cNvPr id="179" name="米菲PPT53"/>
          <p:cNvGrpSpPr/>
          <p:nvPr/>
        </p:nvGrpSpPr>
        <p:grpSpPr>
          <a:xfrm>
            <a:off x="2167461" y="2927893"/>
            <a:ext cx="541506" cy="425276"/>
            <a:chOff x="1859930" y="3023106"/>
            <a:chExt cx="735028" cy="577260"/>
          </a:xfrm>
        </p:grpSpPr>
        <p:sp>
          <p:nvSpPr>
            <p:cNvPr id="180" name="米菲PPT53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1" name="米菲PPT53-2"/>
            <p:cNvSpPr txBox="1"/>
            <p:nvPr/>
          </p:nvSpPr>
          <p:spPr>
            <a:xfrm>
              <a:off x="1859930" y="3039496"/>
              <a:ext cx="735028" cy="54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营销活动</a:t>
              </a:r>
            </a:p>
          </p:txBody>
        </p:sp>
      </p:grpSp>
      <p:grpSp>
        <p:nvGrpSpPr>
          <p:cNvPr id="182" name="米菲PPT54"/>
          <p:cNvGrpSpPr/>
          <p:nvPr/>
        </p:nvGrpSpPr>
        <p:grpSpPr>
          <a:xfrm>
            <a:off x="1017379" y="2408502"/>
            <a:ext cx="464450" cy="425276"/>
            <a:chOff x="1895394" y="3023106"/>
            <a:chExt cx="630434" cy="577260"/>
          </a:xfrm>
        </p:grpSpPr>
        <p:sp>
          <p:nvSpPr>
            <p:cNvPr id="183" name="米菲PPT54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4" name="米菲PPT54-2"/>
            <p:cNvSpPr txBox="1"/>
            <p:nvPr/>
          </p:nvSpPr>
          <p:spPr>
            <a:xfrm>
              <a:off x="1895394" y="3128505"/>
              <a:ext cx="630434" cy="334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猜喜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endParaRPr>
            </a:p>
          </p:txBody>
        </p:sp>
      </p:grpSp>
      <p:grpSp>
        <p:nvGrpSpPr>
          <p:cNvPr id="185" name="米菲PPT55"/>
          <p:cNvGrpSpPr/>
          <p:nvPr/>
        </p:nvGrpSpPr>
        <p:grpSpPr>
          <a:xfrm>
            <a:off x="671471" y="2900540"/>
            <a:ext cx="492126" cy="425276"/>
            <a:chOff x="1867824" y="3023106"/>
            <a:chExt cx="668001" cy="577260"/>
          </a:xfrm>
        </p:grpSpPr>
        <p:sp>
          <p:nvSpPr>
            <p:cNvPr id="186" name="米菲PPT55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87" name="米菲PPT55-2"/>
            <p:cNvSpPr txBox="1"/>
            <p:nvPr/>
          </p:nvSpPr>
          <p:spPr>
            <a:xfrm>
              <a:off x="1867824" y="3150473"/>
              <a:ext cx="668001" cy="334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点评</a:t>
              </a:r>
            </a:p>
          </p:txBody>
        </p:sp>
      </p:grpSp>
      <p:grpSp>
        <p:nvGrpSpPr>
          <p:cNvPr id="188" name="米菲PPT56"/>
          <p:cNvGrpSpPr/>
          <p:nvPr/>
        </p:nvGrpSpPr>
        <p:grpSpPr>
          <a:xfrm>
            <a:off x="1474399" y="2730379"/>
            <a:ext cx="598837" cy="517491"/>
            <a:chOff x="1886191" y="3023106"/>
            <a:chExt cx="668001" cy="577260"/>
          </a:xfrm>
        </p:grpSpPr>
        <p:sp>
          <p:nvSpPr>
            <p:cNvPr id="189" name="米菲PPT56-1"/>
            <p:cNvSpPr/>
            <p:nvPr/>
          </p:nvSpPr>
          <p:spPr>
            <a:xfrm>
              <a:off x="1913195" y="3023106"/>
              <a:ext cx="577260" cy="577260"/>
            </a:xfrm>
            <a:prstGeom prst="ellipse">
              <a:avLst/>
            </a:prstGeom>
            <a:gradFill>
              <a:gsLst>
                <a:gs pos="100000">
                  <a:srgbClr val="F57359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solidFill>
                <a:srgbClr val="F57359"/>
              </a:solidFill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190" name="米菲PPT56-2"/>
            <p:cNvSpPr txBox="1"/>
            <p:nvPr/>
          </p:nvSpPr>
          <p:spPr>
            <a:xfrm>
              <a:off x="1886191" y="3175143"/>
              <a:ext cx="668001" cy="283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大搜</a:t>
              </a:r>
            </a:p>
          </p:txBody>
        </p:sp>
      </p:grpSp>
      <p:cxnSp>
        <p:nvCxnSpPr>
          <p:cNvPr id="191" name="米菲PPT57"/>
          <p:cNvCxnSpPr>
            <a:stCxn id="183" idx="5"/>
          </p:cNvCxnSpPr>
          <p:nvPr/>
        </p:nvCxnSpPr>
        <p:spPr>
          <a:xfrm>
            <a:off x="1393489" y="2771497"/>
            <a:ext cx="119743" cy="83792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92" name="米菲PPT58"/>
          <p:cNvCxnSpPr>
            <a:endCxn id="177" idx="3"/>
          </p:cNvCxnSpPr>
          <p:nvPr/>
        </p:nvCxnSpPr>
        <p:spPr>
          <a:xfrm flipV="1">
            <a:off x="1983141" y="2759450"/>
            <a:ext cx="122295" cy="81722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93" name="米菲PPT59"/>
          <p:cNvCxnSpPr>
            <a:endCxn id="180" idx="2"/>
          </p:cNvCxnSpPr>
          <p:nvPr/>
        </p:nvCxnSpPr>
        <p:spPr>
          <a:xfrm>
            <a:off x="2007419" y="3100651"/>
            <a:ext cx="199283" cy="39879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94" name="米菲PPT60"/>
          <p:cNvCxnSpPr/>
          <p:nvPr/>
        </p:nvCxnSpPr>
        <p:spPr>
          <a:xfrm flipV="1">
            <a:off x="1115569" y="3008840"/>
            <a:ext cx="380691" cy="175343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95" name="米菲PPT61"/>
          <p:cNvCxnSpPr>
            <a:stCxn id="186" idx="0"/>
          </p:cNvCxnSpPr>
          <p:nvPr/>
        </p:nvCxnSpPr>
        <p:spPr>
          <a:xfrm flipH="1" flipV="1">
            <a:off x="805499" y="2784725"/>
            <a:ext cx="112035" cy="115815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96" name="米菲PPT62"/>
          <p:cNvSpPr/>
          <p:nvPr/>
        </p:nvSpPr>
        <p:spPr>
          <a:xfrm>
            <a:off x="788718" y="2768815"/>
            <a:ext cx="45261" cy="45261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97" name="米菲PPT63"/>
          <p:cNvSpPr/>
          <p:nvPr/>
        </p:nvSpPr>
        <p:spPr>
          <a:xfrm>
            <a:off x="1297429" y="3048879"/>
            <a:ext cx="66682" cy="66682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198" name="米菲PPT64"/>
          <p:cNvCxnSpPr/>
          <p:nvPr/>
        </p:nvCxnSpPr>
        <p:spPr>
          <a:xfrm flipH="1" flipV="1">
            <a:off x="2435827" y="2694461"/>
            <a:ext cx="172061" cy="42612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99" name="米菲PPT65"/>
          <p:cNvSpPr/>
          <p:nvPr/>
        </p:nvSpPr>
        <p:spPr>
          <a:xfrm>
            <a:off x="2585698" y="2716405"/>
            <a:ext cx="75040" cy="75040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cxnSp>
        <p:nvCxnSpPr>
          <p:cNvPr id="200" name="米菲PPT66"/>
          <p:cNvCxnSpPr/>
          <p:nvPr/>
        </p:nvCxnSpPr>
        <p:spPr>
          <a:xfrm>
            <a:off x="1729722" y="2605222"/>
            <a:ext cx="10502" cy="125928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01" name="米菲PPT67"/>
          <p:cNvCxnSpPr>
            <a:stCxn id="197" idx="6"/>
          </p:cNvCxnSpPr>
          <p:nvPr/>
        </p:nvCxnSpPr>
        <p:spPr>
          <a:xfrm>
            <a:off x="1364111" y="3082220"/>
            <a:ext cx="199079" cy="210474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02" name="米菲PPT68"/>
          <p:cNvCxnSpPr/>
          <p:nvPr/>
        </p:nvCxnSpPr>
        <p:spPr>
          <a:xfrm flipH="1">
            <a:off x="2158788" y="3269767"/>
            <a:ext cx="92157" cy="89120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03" name="米菲PPT69"/>
          <p:cNvSpPr/>
          <p:nvPr/>
        </p:nvSpPr>
        <p:spPr>
          <a:xfrm>
            <a:off x="1680402" y="2537362"/>
            <a:ext cx="106035" cy="106035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04" name="米菲PPT70"/>
          <p:cNvSpPr/>
          <p:nvPr/>
        </p:nvSpPr>
        <p:spPr>
          <a:xfrm>
            <a:off x="2132554" y="3349268"/>
            <a:ext cx="45261" cy="45261"/>
          </a:xfrm>
          <a:prstGeom prst="ellipse">
            <a:avLst/>
          </a:prstGeom>
          <a:gradFill>
            <a:gsLst>
              <a:gs pos="0">
                <a:srgbClr val="F57359">
                  <a:lumMod val="75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05" name="米菲PPT71"/>
          <p:cNvSpPr/>
          <p:nvPr/>
        </p:nvSpPr>
        <p:spPr>
          <a:xfrm>
            <a:off x="1521682" y="3270731"/>
            <a:ext cx="70435" cy="70435"/>
          </a:xfrm>
          <a:prstGeom prst="ellipse">
            <a:avLst/>
          </a:prstGeom>
          <a:gradFill>
            <a:gsLst>
              <a:gs pos="0">
                <a:srgbClr val="F57359">
                  <a:lumMod val="40000"/>
                  <a:lumOff val="60000"/>
                </a:srgbClr>
              </a:gs>
              <a:gs pos="100000">
                <a:srgbClr val="F57359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4699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grpSp>
        <p:nvGrpSpPr>
          <p:cNvPr id="206" name="米菲PPT72"/>
          <p:cNvGrpSpPr/>
          <p:nvPr/>
        </p:nvGrpSpPr>
        <p:grpSpPr>
          <a:xfrm rot="17753926" flipV="1">
            <a:off x="2188025" y="3370219"/>
            <a:ext cx="33682" cy="107273"/>
            <a:chOff x="3594613" y="3901055"/>
            <a:chExt cx="61436" cy="195666"/>
          </a:xfrm>
        </p:grpSpPr>
        <p:cxnSp>
          <p:nvCxnSpPr>
            <p:cNvPr id="207" name="米菲PPT72-1"/>
            <p:cNvCxnSpPr/>
            <p:nvPr/>
          </p:nvCxnSpPr>
          <p:spPr>
            <a:xfrm rot="16200000" flipV="1">
              <a:off x="3563836" y="4004508"/>
              <a:ext cx="158902" cy="25524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208" name="米菲PPT72-2"/>
            <p:cNvSpPr/>
            <p:nvPr/>
          </p:nvSpPr>
          <p:spPr>
            <a:xfrm>
              <a:off x="3594613" y="3901055"/>
              <a:ext cx="61436" cy="61436"/>
            </a:xfrm>
            <a:prstGeom prst="ellipse">
              <a:avLst/>
            </a:prstGeom>
            <a:gradFill>
              <a:gsLst>
                <a:gs pos="0">
                  <a:srgbClr val="F57359">
                    <a:lumMod val="75000"/>
                  </a:srgbClr>
                </a:gs>
                <a:gs pos="100000">
                  <a:srgbClr val="F57359"/>
                </a:gs>
              </a:gsLst>
              <a:path path="circle">
                <a:fillToRect l="100000" t="100000"/>
              </a:path>
            </a:gradFill>
            <a:ln w="12700" cap="flat" cmpd="sng" algn="ctr">
              <a:noFill/>
              <a:prstDash val="solid"/>
              <a:miter lim="800000"/>
            </a:ln>
            <a:effectLst>
              <a:outerShdw blurRad="469900" dist="139700" dir="5400000" algn="t" rotWithShape="0">
                <a:srgbClr val="F57359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209" name="米菲PPT73"/>
          <p:cNvSpPr txBox="1"/>
          <p:nvPr/>
        </p:nvSpPr>
        <p:spPr>
          <a:xfrm>
            <a:off x="3385168" y="1365296"/>
            <a:ext cx="2447618" cy="854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面对产运、下沉等业务发展，带来对榜单规则的调整（例如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3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单变</a:t>
            </a:r>
            <a:r>
              <a:rPr lang="en-US" altLang="zh-CN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1</a:t>
            </a:r>
            <a:r>
              <a:rPr lang="zh-CN" alt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  <a:sym typeface="MiSans Medium" panose="00000600000000000000" pitchFamily="2" charset="-122"/>
              </a:rPr>
              <a:t>单），我们要建立定期的沟通机制，及时评估影响，并且跟进效果。</a:t>
            </a:r>
          </a:p>
        </p:txBody>
      </p:sp>
      <p:grpSp>
        <p:nvGrpSpPr>
          <p:cNvPr id="223" name="米菲PPT81"/>
          <p:cNvGrpSpPr/>
          <p:nvPr/>
        </p:nvGrpSpPr>
        <p:grpSpPr>
          <a:xfrm>
            <a:off x="3412808" y="2740229"/>
            <a:ext cx="2344937" cy="2231748"/>
            <a:chOff x="4506899" y="3262722"/>
            <a:chExt cx="3182963" cy="3029323"/>
          </a:xfrm>
        </p:grpSpPr>
        <p:sp>
          <p:nvSpPr>
            <p:cNvPr id="224" name="米菲PPT81-1"/>
            <p:cNvSpPr/>
            <p:nvPr/>
          </p:nvSpPr>
          <p:spPr>
            <a:xfrm flipV="1">
              <a:off x="4722758" y="3262722"/>
              <a:ext cx="2719667" cy="3029323"/>
            </a:xfrm>
            <a:prstGeom prst="triangle">
              <a:avLst/>
            </a:prstGeom>
            <a:gradFill flip="none" rotWithShape="1">
              <a:gsLst>
                <a:gs pos="0">
                  <a:srgbClr val="62799C">
                    <a:alpha val="2000"/>
                  </a:srgbClr>
                </a:gs>
                <a:gs pos="81000">
                  <a:srgbClr val="62799C">
                    <a:alpha val="65000"/>
                  </a:srgbClr>
                </a:gs>
              </a:gsLst>
              <a:lin ang="16200000" scaled="1"/>
              <a:tileRect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25" name="米菲PPT81-2"/>
            <p:cNvSpPr/>
            <p:nvPr/>
          </p:nvSpPr>
          <p:spPr>
            <a:xfrm>
              <a:off x="4506899" y="3577037"/>
              <a:ext cx="3178201" cy="726616"/>
            </a:xfrm>
            <a:prstGeom prst="flowChartProcess">
              <a:avLst/>
            </a:prstGeom>
            <a:gradFill>
              <a:gsLst>
                <a:gs pos="100000">
                  <a:srgbClr val="62799C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62799C"/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建立机制：</a:t>
              </a:r>
              <a:r>
                <a:rPr lang="zh-CN" altLang="en-US" sz="105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sym typeface="MiSans Medium" panose="00000600000000000000" pitchFamily="2" charset="-122"/>
                </a:rPr>
                <a:t>建立上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线通报群，在立项之前尽早介入，了解背景需求</a:t>
              </a:r>
            </a:p>
          </p:txBody>
        </p:sp>
        <p:cxnSp>
          <p:nvCxnSpPr>
            <p:cNvPr id="226" name="米菲PPT81-3"/>
            <p:cNvCxnSpPr/>
            <p:nvPr/>
          </p:nvCxnSpPr>
          <p:spPr>
            <a:xfrm>
              <a:off x="4506899" y="3556889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cxnSp>
          <p:nvCxnSpPr>
            <p:cNvPr id="227" name="米菲PPT81-4"/>
            <p:cNvCxnSpPr/>
            <p:nvPr/>
          </p:nvCxnSpPr>
          <p:spPr>
            <a:xfrm>
              <a:off x="6186119" y="3556889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sp>
          <p:nvSpPr>
            <p:cNvPr id="228" name="米菲PPT81-5"/>
            <p:cNvSpPr/>
            <p:nvPr/>
          </p:nvSpPr>
          <p:spPr>
            <a:xfrm>
              <a:off x="5973968" y="3421647"/>
              <a:ext cx="244062" cy="244062"/>
            </a:xfrm>
            <a:prstGeom prst="ellipse">
              <a:avLst/>
            </a:prstGeom>
            <a:solidFill>
              <a:srgbClr val="F5735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</a:rPr>
                <a:t>1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</p:grpSp>
      <p:grpSp>
        <p:nvGrpSpPr>
          <p:cNvPr id="229" name="米菲PPT82"/>
          <p:cNvGrpSpPr/>
          <p:nvPr/>
        </p:nvGrpSpPr>
        <p:grpSpPr>
          <a:xfrm>
            <a:off x="3412808" y="3539858"/>
            <a:ext cx="2344937" cy="649787"/>
            <a:chOff x="4506899" y="4425941"/>
            <a:chExt cx="3182963" cy="882006"/>
          </a:xfrm>
        </p:grpSpPr>
        <p:sp>
          <p:nvSpPr>
            <p:cNvPr id="230" name="米菲PPT82-1"/>
            <p:cNvSpPr/>
            <p:nvPr/>
          </p:nvSpPr>
          <p:spPr>
            <a:xfrm>
              <a:off x="4506899" y="4581331"/>
              <a:ext cx="3178201" cy="726616"/>
            </a:xfrm>
            <a:prstGeom prst="flowChartProcess">
              <a:avLst/>
            </a:prstGeom>
            <a:gradFill>
              <a:gsLst>
                <a:gs pos="100000">
                  <a:srgbClr val="62799C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62799C"/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把控规则：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从平台、商户、用户视角评估规则的影响、价值，给出合理的规则判断</a:t>
              </a:r>
            </a:p>
          </p:txBody>
        </p:sp>
        <p:cxnSp>
          <p:nvCxnSpPr>
            <p:cNvPr id="231" name="米菲PPT82-2"/>
            <p:cNvCxnSpPr/>
            <p:nvPr/>
          </p:nvCxnSpPr>
          <p:spPr>
            <a:xfrm>
              <a:off x="4506899" y="4561183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cxnSp>
          <p:nvCxnSpPr>
            <p:cNvPr id="232" name="米菲PPT82-3"/>
            <p:cNvCxnSpPr/>
            <p:nvPr/>
          </p:nvCxnSpPr>
          <p:spPr>
            <a:xfrm>
              <a:off x="6186119" y="4561183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sp>
          <p:nvSpPr>
            <p:cNvPr id="233" name="米菲PPT82-4"/>
            <p:cNvSpPr/>
            <p:nvPr/>
          </p:nvSpPr>
          <p:spPr>
            <a:xfrm>
              <a:off x="5973968" y="4425941"/>
              <a:ext cx="244062" cy="244062"/>
            </a:xfrm>
            <a:prstGeom prst="ellipse">
              <a:avLst/>
            </a:prstGeom>
            <a:solidFill>
              <a:srgbClr val="F5735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</a:rPr>
                <a:t>2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</p:grpSp>
      <p:grpSp>
        <p:nvGrpSpPr>
          <p:cNvPr id="234" name="米菲PPT83"/>
          <p:cNvGrpSpPr/>
          <p:nvPr/>
        </p:nvGrpSpPr>
        <p:grpSpPr>
          <a:xfrm>
            <a:off x="3412808" y="4222404"/>
            <a:ext cx="2344937" cy="649787"/>
            <a:chOff x="4506899" y="5407512"/>
            <a:chExt cx="3182963" cy="882006"/>
          </a:xfrm>
        </p:grpSpPr>
        <p:sp>
          <p:nvSpPr>
            <p:cNvPr id="235" name="米菲PPT83-1"/>
            <p:cNvSpPr/>
            <p:nvPr/>
          </p:nvSpPr>
          <p:spPr>
            <a:xfrm>
              <a:off x="4506899" y="5562902"/>
              <a:ext cx="3178201" cy="726616"/>
            </a:xfrm>
            <a:prstGeom prst="flowChartProcess">
              <a:avLst/>
            </a:prstGeom>
            <a:gradFill>
              <a:gsLst>
                <a:gs pos="100000">
                  <a:srgbClr val="62799C">
                    <a:lumMod val="5000"/>
                    <a:lumOff val="95000"/>
                  </a:srgbClr>
                </a:gs>
                <a:gs pos="1000">
                  <a:sysClr val="window" lastClr="FFFFFF"/>
                </a:gs>
              </a:gsLst>
              <a:lin ang="198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kern="0" dirty="0">
                  <a:solidFill>
                    <a:srgbClr val="62799C"/>
                  </a:solidFill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跟进效果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62799C"/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：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Medium" panose="00000600000000000000" pitchFamily="2" charset="-122"/>
                  <a:sym typeface="MiSans Medium" panose="00000600000000000000" pitchFamily="2" charset="-122"/>
                </a:rPr>
                <a:t>跟进上线后效果，从用户心智、商户牵引力、平台价值出发</a:t>
              </a:r>
            </a:p>
          </p:txBody>
        </p:sp>
        <p:cxnSp>
          <p:nvCxnSpPr>
            <p:cNvPr id="236" name="米菲PPT83-2"/>
            <p:cNvCxnSpPr/>
            <p:nvPr/>
          </p:nvCxnSpPr>
          <p:spPr>
            <a:xfrm>
              <a:off x="4506899" y="5542754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cxnSp>
          <p:nvCxnSpPr>
            <p:cNvPr id="237" name="米菲PPT83-3"/>
            <p:cNvCxnSpPr/>
            <p:nvPr/>
          </p:nvCxnSpPr>
          <p:spPr>
            <a:xfrm>
              <a:off x="6186119" y="5542754"/>
              <a:ext cx="1503743" cy="0"/>
            </a:xfrm>
            <a:prstGeom prst="line">
              <a:avLst/>
            </a:prstGeom>
            <a:noFill/>
            <a:ln w="47625" cap="flat" cmpd="sng" algn="ctr">
              <a:solidFill>
                <a:srgbClr val="62799C"/>
              </a:solidFill>
              <a:prstDash val="solid"/>
              <a:miter lim="800000"/>
            </a:ln>
            <a:effectLst/>
          </p:spPr>
        </p:cxnSp>
        <p:sp>
          <p:nvSpPr>
            <p:cNvPr id="238" name="米菲PPT83-4"/>
            <p:cNvSpPr/>
            <p:nvPr/>
          </p:nvSpPr>
          <p:spPr>
            <a:xfrm>
              <a:off x="5973968" y="5407512"/>
              <a:ext cx="244062" cy="244062"/>
            </a:xfrm>
            <a:prstGeom prst="ellipse">
              <a:avLst/>
            </a:prstGeom>
            <a:solidFill>
              <a:srgbClr val="F5735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469900" dist="123444" dir="5400000" sx="99000" sy="99000" algn="ctr" rotWithShape="0">
                <a:srgbClr val="62799C">
                  <a:alpha val="24000"/>
                </a:srgbClr>
              </a:outerShdw>
            </a:effectLst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Sans Bold" panose="00000800000000000000" pitchFamily="2" charset="-122"/>
                  <a:ea typeface="MiSans Bold" panose="00000800000000000000" pitchFamily="2" charset="-122"/>
                  <a:cs typeface="MiSans Medium" panose="00000600000000000000" pitchFamily="2" charset="-122"/>
                </a:rPr>
                <a:t>3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124" name="米菲PPT2"/>
          <p:cNvSpPr/>
          <p:nvPr/>
        </p:nvSpPr>
        <p:spPr>
          <a:xfrm>
            <a:off x="3591297" y="2368601"/>
            <a:ext cx="1948377" cy="401652"/>
          </a:xfrm>
          <a:prstGeom prst="triangle">
            <a:avLst/>
          </a:prstGeom>
          <a:gradFill flip="none" rotWithShape="1">
            <a:gsLst>
              <a:gs pos="96000">
                <a:srgbClr val="62799C">
                  <a:alpha val="0"/>
                </a:srgbClr>
              </a:gs>
              <a:gs pos="0">
                <a:srgbClr val="62799C">
                  <a:alpha val="26000"/>
                </a:srgbClr>
              </a:gs>
            </a:gsLst>
            <a:lin ang="16200000" scaled="1"/>
            <a:tileRect/>
          </a:gradFill>
          <a:ln w="38100" cap="flat" cmpd="sng" algn="ctr">
            <a:noFill/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0" name="米菲PPT74"/>
          <p:cNvSpPr/>
          <p:nvPr/>
        </p:nvSpPr>
        <p:spPr>
          <a:xfrm>
            <a:off x="3901568" y="2208257"/>
            <a:ext cx="495123" cy="495123"/>
          </a:xfrm>
          <a:prstGeom prst="ellipse">
            <a:avLst/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1" name="米菲PPT75"/>
          <p:cNvSpPr/>
          <p:nvPr/>
        </p:nvSpPr>
        <p:spPr>
          <a:xfrm>
            <a:off x="4763770" y="2208257"/>
            <a:ext cx="495123" cy="495123"/>
          </a:xfrm>
          <a:prstGeom prst="ellipse">
            <a:avLst/>
          </a:prstGeom>
          <a:gradFill flip="none" rotWithShape="1">
            <a:gsLst>
              <a:gs pos="100000">
                <a:srgbClr val="62799C"/>
              </a:gs>
              <a:gs pos="0">
                <a:srgbClr val="62799C">
                  <a:lumMod val="75000"/>
                </a:srgbClr>
              </a:gs>
            </a:gsLst>
            <a:lin ang="19800000" scaled="0"/>
            <a:tileRect/>
          </a:gra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6" name="米菲PPT77-1"/>
          <p:cNvSpPr/>
          <p:nvPr/>
        </p:nvSpPr>
        <p:spPr>
          <a:xfrm>
            <a:off x="5076236" y="2532302"/>
            <a:ext cx="8429" cy="6754"/>
          </a:xfrm>
          <a:custGeom>
            <a:avLst/>
            <a:gdLst>
              <a:gd name="connsiteX0" fmla="*/ 8800 w 14201"/>
              <a:gd name="connsiteY0" fmla="*/ 1935 h 11379"/>
              <a:gd name="connsiteX1" fmla="*/ 8596 w 14201"/>
              <a:gd name="connsiteY1" fmla="*/ 1969 h 11379"/>
              <a:gd name="connsiteX2" fmla="*/ 7390 w 14201"/>
              <a:gd name="connsiteY2" fmla="*/ 2563 h 11379"/>
              <a:gd name="connsiteX3" fmla="*/ 7050 w 14201"/>
              <a:gd name="connsiteY3" fmla="*/ 2631 h 11379"/>
              <a:gd name="connsiteX4" fmla="*/ 6812 w 14201"/>
              <a:gd name="connsiteY4" fmla="*/ 2563 h 11379"/>
              <a:gd name="connsiteX5" fmla="*/ 5606 w 14201"/>
              <a:gd name="connsiteY5" fmla="*/ 1952 h 11379"/>
              <a:gd name="connsiteX6" fmla="*/ 5198 w 14201"/>
              <a:gd name="connsiteY6" fmla="*/ 2054 h 11379"/>
              <a:gd name="connsiteX7" fmla="*/ 5130 w 14201"/>
              <a:gd name="connsiteY7" fmla="*/ 2224 h 11379"/>
              <a:gd name="connsiteX8" fmla="*/ 4841 w 14201"/>
              <a:gd name="connsiteY8" fmla="*/ 9494 h 11379"/>
              <a:gd name="connsiteX9" fmla="*/ 4926 w 14201"/>
              <a:gd name="connsiteY9" fmla="*/ 9834 h 11379"/>
              <a:gd name="connsiteX10" fmla="*/ 5096 w 14201"/>
              <a:gd name="connsiteY10" fmla="*/ 10055 h 11379"/>
              <a:gd name="connsiteX11" fmla="*/ 6863 w 14201"/>
              <a:gd name="connsiteY11" fmla="*/ 11312 h 11379"/>
              <a:gd name="connsiteX12" fmla="*/ 7118 w 14201"/>
              <a:gd name="connsiteY12" fmla="*/ 11380 h 11379"/>
              <a:gd name="connsiteX13" fmla="*/ 7322 w 14201"/>
              <a:gd name="connsiteY13" fmla="*/ 11312 h 11379"/>
              <a:gd name="connsiteX14" fmla="*/ 9088 w 14201"/>
              <a:gd name="connsiteY14" fmla="*/ 10055 h 11379"/>
              <a:gd name="connsiteX15" fmla="*/ 9292 w 14201"/>
              <a:gd name="connsiteY15" fmla="*/ 9783 h 11379"/>
              <a:gd name="connsiteX16" fmla="*/ 9360 w 14201"/>
              <a:gd name="connsiteY16" fmla="*/ 9494 h 11379"/>
              <a:gd name="connsiteX17" fmla="*/ 9071 w 14201"/>
              <a:gd name="connsiteY17" fmla="*/ 2241 h 11379"/>
              <a:gd name="connsiteX18" fmla="*/ 8800 w 14201"/>
              <a:gd name="connsiteY18" fmla="*/ 1935 h 11379"/>
              <a:gd name="connsiteX19" fmla="*/ 13284 w 14201"/>
              <a:gd name="connsiteY19" fmla="*/ 15 h 11379"/>
              <a:gd name="connsiteX20" fmla="*/ 13046 w 14201"/>
              <a:gd name="connsiteY20" fmla="*/ 49 h 11379"/>
              <a:gd name="connsiteX21" fmla="*/ 9921 w 14201"/>
              <a:gd name="connsiteY21" fmla="*/ 1629 h 11379"/>
              <a:gd name="connsiteX22" fmla="*/ 9751 w 14201"/>
              <a:gd name="connsiteY22" fmla="*/ 1799 h 11379"/>
              <a:gd name="connsiteX23" fmla="*/ 9700 w 14201"/>
              <a:gd name="connsiteY23" fmla="*/ 1986 h 11379"/>
              <a:gd name="connsiteX24" fmla="*/ 10006 w 14201"/>
              <a:gd name="connsiteY24" fmla="*/ 9290 h 11379"/>
              <a:gd name="connsiteX25" fmla="*/ 10091 w 14201"/>
              <a:gd name="connsiteY25" fmla="*/ 9494 h 11379"/>
              <a:gd name="connsiteX26" fmla="*/ 10227 w 14201"/>
              <a:gd name="connsiteY26" fmla="*/ 9630 h 11379"/>
              <a:gd name="connsiteX27" fmla="*/ 13641 w 14201"/>
              <a:gd name="connsiteY27" fmla="*/ 11193 h 11379"/>
              <a:gd name="connsiteX28" fmla="*/ 14134 w 14201"/>
              <a:gd name="connsiteY28" fmla="*/ 11057 h 11379"/>
              <a:gd name="connsiteX29" fmla="*/ 14202 w 14201"/>
              <a:gd name="connsiteY29" fmla="*/ 10819 h 11379"/>
              <a:gd name="connsiteX30" fmla="*/ 13624 w 14201"/>
              <a:gd name="connsiteY30" fmla="*/ 389 h 11379"/>
              <a:gd name="connsiteX31" fmla="*/ 13284 w 14201"/>
              <a:gd name="connsiteY31" fmla="*/ 15 h 11379"/>
              <a:gd name="connsiteX32" fmla="*/ 1138 w 14201"/>
              <a:gd name="connsiteY32" fmla="*/ 49 h 11379"/>
              <a:gd name="connsiteX33" fmla="*/ 679 w 14201"/>
              <a:gd name="connsiteY33" fmla="*/ 151 h 11379"/>
              <a:gd name="connsiteX34" fmla="*/ 578 w 14201"/>
              <a:gd name="connsiteY34" fmla="*/ 389 h 11379"/>
              <a:gd name="connsiteX35" fmla="*/ 0 w 14201"/>
              <a:gd name="connsiteY35" fmla="*/ 10819 h 11379"/>
              <a:gd name="connsiteX36" fmla="*/ 289 w 14201"/>
              <a:gd name="connsiteY36" fmla="*/ 11227 h 11379"/>
              <a:gd name="connsiteX37" fmla="*/ 544 w 14201"/>
              <a:gd name="connsiteY37" fmla="*/ 11193 h 11379"/>
              <a:gd name="connsiteX38" fmla="*/ 3958 w 14201"/>
              <a:gd name="connsiteY38" fmla="*/ 9613 h 11379"/>
              <a:gd name="connsiteX39" fmla="*/ 4128 w 14201"/>
              <a:gd name="connsiteY39" fmla="*/ 9477 h 11379"/>
              <a:gd name="connsiteX40" fmla="*/ 4179 w 14201"/>
              <a:gd name="connsiteY40" fmla="*/ 9290 h 11379"/>
              <a:gd name="connsiteX41" fmla="*/ 4485 w 14201"/>
              <a:gd name="connsiteY41" fmla="*/ 1986 h 11379"/>
              <a:gd name="connsiteX42" fmla="*/ 4434 w 14201"/>
              <a:gd name="connsiteY42" fmla="*/ 1782 h 11379"/>
              <a:gd name="connsiteX43" fmla="*/ 4264 w 14201"/>
              <a:gd name="connsiteY43" fmla="*/ 1612 h 1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4201" h="11379">
                <a:moveTo>
                  <a:pt x="8800" y="1935"/>
                </a:moveTo>
                <a:lnTo>
                  <a:pt x="8596" y="1969"/>
                </a:lnTo>
                <a:lnTo>
                  <a:pt x="7390" y="2563"/>
                </a:lnTo>
                <a:lnTo>
                  <a:pt x="7050" y="2631"/>
                </a:lnTo>
                <a:lnTo>
                  <a:pt x="6812" y="2563"/>
                </a:lnTo>
                <a:lnTo>
                  <a:pt x="5606" y="1952"/>
                </a:lnTo>
                <a:cubicBezTo>
                  <a:pt x="5425" y="1907"/>
                  <a:pt x="5289" y="1941"/>
                  <a:pt x="5198" y="2054"/>
                </a:cubicBezTo>
                <a:lnTo>
                  <a:pt x="5130" y="2224"/>
                </a:lnTo>
                <a:lnTo>
                  <a:pt x="4841" y="9494"/>
                </a:lnTo>
                <a:lnTo>
                  <a:pt x="4926" y="9834"/>
                </a:lnTo>
                <a:lnTo>
                  <a:pt x="5096" y="10055"/>
                </a:lnTo>
                <a:lnTo>
                  <a:pt x="6863" y="11312"/>
                </a:lnTo>
                <a:lnTo>
                  <a:pt x="7118" y="11380"/>
                </a:lnTo>
                <a:lnTo>
                  <a:pt x="7322" y="11312"/>
                </a:lnTo>
                <a:lnTo>
                  <a:pt x="9088" y="10055"/>
                </a:lnTo>
                <a:lnTo>
                  <a:pt x="9292" y="9783"/>
                </a:lnTo>
                <a:lnTo>
                  <a:pt x="9360" y="9494"/>
                </a:lnTo>
                <a:lnTo>
                  <a:pt x="9071" y="2241"/>
                </a:lnTo>
                <a:cubicBezTo>
                  <a:pt x="9026" y="2059"/>
                  <a:pt x="8935" y="1957"/>
                  <a:pt x="8800" y="1935"/>
                </a:cubicBezTo>
                <a:moveTo>
                  <a:pt x="13284" y="15"/>
                </a:moveTo>
                <a:lnTo>
                  <a:pt x="13046" y="49"/>
                </a:lnTo>
                <a:lnTo>
                  <a:pt x="9921" y="1629"/>
                </a:lnTo>
                <a:lnTo>
                  <a:pt x="9751" y="1799"/>
                </a:lnTo>
                <a:lnTo>
                  <a:pt x="9700" y="1986"/>
                </a:lnTo>
                <a:lnTo>
                  <a:pt x="10006" y="9290"/>
                </a:lnTo>
                <a:lnTo>
                  <a:pt x="10091" y="9494"/>
                </a:lnTo>
                <a:lnTo>
                  <a:pt x="10227" y="9630"/>
                </a:lnTo>
                <a:lnTo>
                  <a:pt x="13641" y="11193"/>
                </a:lnTo>
                <a:cubicBezTo>
                  <a:pt x="13856" y="11250"/>
                  <a:pt x="14020" y="11204"/>
                  <a:pt x="14134" y="11057"/>
                </a:cubicBezTo>
                <a:lnTo>
                  <a:pt x="14202" y="10819"/>
                </a:lnTo>
                <a:lnTo>
                  <a:pt x="13624" y="389"/>
                </a:lnTo>
                <a:cubicBezTo>
                  <a:pt x="13567" y="174"/>
                  <a:pt x="13454" y="49"/>
                  <a:pt x="13284" y="15"/>
                </a:cubicBezTo>
                <a:moveTo>
                  <a:pt x="1138" y="49"/>
                </a:moveTo>
                <a:cubicBezTo>
                  <a:pt x="983" y="-45"/>
                  <a:pt x="780" y="0"/>
                  <a:pt x="679" y="151"/>
                </a:cubicBezTo>
                <a:lnTo>
                  <a:pt x="578" y="389"/>
                </a:lnTo>
                <a:lnTo>
                  <a:pt x="0" y="10819"/>
                </a:lnTo>
                <a:cubicBezTo>
                  <a:pt x="11" y="11023"/>
                  <a:pt x="108" y="11159"/>
                  <a:pt x="289" y="11227"/>
                </a:cubicBezTo>
                <a:lnTo>
                  <a:pt x="544" y="11193"/>
                </a:lnTo>
                <a:lnTo>
                  <a:pt x="3958" y="9613"/>
                </a:lnTo>
                <a:lnTo>
                  <a:pt x="4128" y="9477"/>
                </a:lnTo>
                <a:lnTo>
                  <a:pt x="4179" y="9290"/>
                </a:lnTo>
                <a:lnTo>
                  <a:pt x="4485" y="1986"/>
                </a:lnTo>
                <a:lnTo>
                  <a:pt x="4434" y="1782"/>
                </a:lnTo>
                <a:lnTo>
                  <a:pt x="4264" y="1612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24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8" name="米菲PPT78"/>
          <p:cNvSpPr txBox="1"/>
          <p:nvPr/>
        </p:nvSpPr>
        <p:spPr>
          <a:xfrm>
            <a:off x="3760867" y="2671272"/>
            <a:ext cx="736355" cy="27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1000" dirty="0">
                <a:solidFill>
                  <a:srgbClr val="62799C"/>
                </a:solidFill>
                <a:cs typeface="MiSans Medium" panose="00000600000000000000" pitchFamily="2" charset="-122"/>
              </a:rPr>
              <a:t>资产团队</a:t>
            </a:r>
          </a:p>
        </p:txBody>
      </p:sp>
      <p:sp>
        <p:nvSpPr>
          <p:cNvPr id="219" name="米菲PPT79"/>
          <p:cNvSpPr txBox="1"/>
          <p:nvPr/>
        </p:nvSpPr>
        <p:spPr>
          <a:xfrm>
            <a:off x="4576294" y="2668444"/>
            <a:ext cx="881146" cy="263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1000" dirty="0">
                <a:solidFill>
                  <a:srgbClr val="62799C"/>
                </a:solidFill>
                <a:cs typeface="MiSans Medium" panose="00000600000000000000" pitchFamily="2" charset="-122"/>
              </a:rPr>
              <a:t>业务团队</a:t>
            </a:r>
          </a:p>
        </p:txBody>
      </p:sp>
      <p:grpSp>
        <p:nvGrpSpPr>
          <p:cNvPr id="247" name="米菲PPT90"/>
          <p:cNvGrpSpPr/>
          <p:nvPr/>
        </p:nvGrpSpPr>
        <p:grpSpPr>
          <a:xfrm>
            <a:off x="4421293" y="2420591"/>
            <a:ext cx="321628" cy="89826"/>
            <a:chOff x="1104388" y="5547020"/>
            <a:chExt cx="4890598" cy="306277"/>
          </a:xfrm>
        </p:grpSpPr>
        <p:sp>
          <p:nvSpPr>
            <p:cNvPr id="248" name="米菲PPT90-1"/>
            <p:cNvSpPr/>
            <p:nvPr/>
          </p:nvSpPr>
          <p:spPr>
            <a:xfrm flipV="1">
              <a:off x="1104388" y="5547020"/>
              <a:ext cx="4357166" cy="166876"/>
            </a:xfrm>
            <a:custGeom>
              <a:avLst/>
              <a:gdLst>
                <a:gd name="connsiteX0" fmla="*/ 0 w 8809388"/>
                <a:gd name="connsiteY0" fmla="*/ 0 h 777509"/>
                <a:gd name="connsiteX1" fmla="*/ 8803241 w 8809388"/>
                <a:gd name="connsiteY1" fmla="*/ 0 h 777509"/>
                <a:gd name="connsiteX2" fmla="*/ 8809388 w 8809388"/>
                <a:gd name="connsiteY2" fmla="*/ 5604 h 777509"/>
                <a:gd name="connsiteX3" fmla="*/ 7962716 w 8809388"/>
                <a:gd name="connsiteY3" fmla="*/ 777509 h 777509"/>
                <a:gd name="connsiteX4" fmla="*/ 7962716 w 8809388"/>
                <a:gd name="connsiteY4" fmla="*/ 328476 h 777509"/>
                <a:gd name="connsiteX5" fmla="*/ 0 w 8809388"/>
                <a:gd name="connsiteY5" fmla="*/ 328476 h 77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09388" h="777509">
                  <a:moveTo>
                    <a:pt x="0" y="0"/>
                  </a:moveTo>
                  <a:lnTo>
                    <a:pt x="8803241" y="0"/>
                  </a:lnTo>
                  <a:lnTo>
                    <a:pt x="8809388" y="5604"/>
                  </a:lnTo>
                  <a:lnTo>
                    <a:pt x="7962716" y="777509"/>
                  </a:lnTo>
                  <a:lnTo>
                    <a:pt x="7962716" y="328476"/>
                  </a:lnTo>
                  <a:lnTo>
                    <a:pt x="0" y="328476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57359">
                    <a:alpha val="0"/>
                  </a:srgbClr>
                </a:gs>
                <a:gs pos="1000">
                  <a:srgbClr val="F57359">
                    <a:alpha val="81000"/>
                  </a:srgbClr>
                </a:gs>
              </a:gsLst>
              <a:lin ang="15600000" scaled="0"/>
              <a:tileRect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4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  <p:sp>
          <p:nvSpPr>
            <p:cNvPr id="249" name="米菲PPT90-2"/>
            <p:cNvSpPr/>
            <p:nvPr/>
          </p:nvSpPr>
          <p:spPr>
            <a:xfrm flipH="1" flipV="1">
              <a:off x="1637821" y="5686421"/>
              <a:ext cx="4357165" cy="166876"/>
            </a:xfrm>
            <a:custGeom>
              <a:avLst/>
              <a:gdLst>
                <a:gd name="connsiteX0" fmla="*/ 0 w 8809388"/>
                <a:gd name="connsiteY0" fmla="*/ 0 h 777509"/>
                <a:gd name="connsiteX1" fmla="*/ 8803241 w 8809388"/>
                <a:gd name="connsiteY1" fmla="*/ 0 h 777509"/>
                <a:gd name="connsiteX2" fmla="*/ 8809388 w 8809388"/>
                <a:gd name="connsiteY2" fmla="*/ 5604 h 777509"/>
                <a:gd name="connsiteX3" fmla="*/ 7962716 w 8809388"/>
                <a:gd name="connsiteY3" fmla="*/ 777509 h 777509"/>
                <a:gd name="connsiteX4" fmla="*/ 7962716 w 8809388"/>
                <a:gd name="connsiteY4" fmla="*/ 328476 h 777509"/>
                <a:gd name="connsiteX5" fmla="*/ 0 w 8809388"/>
                <a:gd name="connsiteY5" fmla="*/ 328476 h 77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09388" h="777509">
                  <a:moveTo>
                    <a:pt x="0" y="0"/>
                  </a:moveTo>
                  <a:lnTo>
                    <a:pt x="8803241" y="0"/>
                  </a:lnTo>
                  <a:lnTo>
                    <a:pt x="8809388" y="5604"/>
                  </a:lnTo>
                  <a:lnTo>
                    <a:pt x="7962716" y="777509"/>
                  </a:lnTo>
                  <a:lnTo>
                    <a:pt x="7962716" y="328476"/>
                  </a:lnTo>
                  <a:lnTo>
                    <a:pt x="0" y="328476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CA072">
                    <a:alpha val="0"/>
                  </a:srgbClr>
                </a:gs>
                <a:gs pos="1000">
                  <a:srgbClr val="FCA072">
                    <a:alpha val="74000"/>
                  </a:srgbClr>
                </a:gs>
              </a:gsLst>
              <a:lin ang="15600000" scaled="0"/>
              <a:tileRect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lIns="98756" tIns="49375" rIns="98756" bIns="49375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4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endParaRPr>
            </a:p>
          </p:txBody>
        </p:sp>
      </p:grpSp>
      <p:sp>
        <p:nvSpPr>
          <p:cNvPr id="250" name="米菲PPT78"/>
          <p:cNvSpPr txBox="1"/>
          <p:nvPr/>
        </p:nvSpPr>
        <p:spPr>
          <a:xfrm>
            <a:off x="3781237" y="2227127"/>
            <a:ext cx="736355" cy="44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cs typeface="MiSans Medium" panose="00000600000000000000" pitchFamily="2" charset="-122"/>
              </a:rPr>
              <a:t>榜单</a:t>
            </a:r>
            <a:endParaRPr lang="en-US" altLang="zh-CN" sz="1000" dirty="0">
              <a:solidFill>
                <a:schemeClr val="bg1"/>
              </a:solidFill>
              <a:cs typeface="MiSans Medium" panose="00000600000000000000" pitchFamily="2" charset="-122"/>
            </a:endParaRPr>
          </a:p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cs typeface="MiSans Medium" panose="00000600000000000000" pitchFamily="2" charset="-122"/>
              </a:rPr>
              <a:t>规则</a:t>
            </a:r>
          </a:p>
        </p:txBody>
      </p:sp>
      <p:sp>
        <p:nvSpPr>
          <p:cNvPr id="251" name="米菲PPT78"/>
          <p:cNvSpPr txBox="1"/>
          <p:nvPr/>
        </p:nvSpPr>
        <p:spPr>
          <a:xfrm>
            <a:off x="4658293" y="2227127"/>
            <a:ext cx="736355" cy="44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cs typeface="MiSans Medium" panose="00000600000000000000" pitchFamily="2" charset="-122"/>
              </a:rPr>
              <a:t>新功能</a:t>
            </a:r>
            <a:endParaRPr lang="en-US" altLang="zh-CN" sz="1000" dirty="0">
              <a:solidFill>
                <a:schemeClr val="bg1"/>
              </a:solidFill>
              <a:cs typeface="MiSans Medium" panose="00000600000000000000" pitchFamily="2" charset="-122"/>
            </a:endParaRPr>
          </a:p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cs typeface="MiSans Medium" panose="00000600000000000000" pitchFamily="2" charset="-122"/>
              </a:rPr>
              <a:t>上线</a:t>
            </a:r>
          </a:p>
        </p:txBody>
      </p:sp>
      <p:sp>
        <p:nvSpPr>
          <p:cNvPr id="253" name="米菲PPT79"/>
          <p:cNvSpPr txBox="1"/>
          <p:nvPr/>
        </p:nvSpPr>
        <p:spPr>
          <a:xfrm>
            <a:off x="4244806" y="2294102"/>
            <a:ext cx="646104" cy="1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500" b="1" dirty="0">
                <a:solidFill>
                  <a:schemeClr val="tx1">
                    <a:lumMod val="75000"/>
                    <a:lumOff val="25000"/>
                  </a:schemeClr>
                </a:solidFill>
                <a:cs typeface="MiSans Medium" panose="00000600000000000000" pitchFamily="2" charset="-122"/>
              </a:rPr>
              <a:t>评估决策</a:t>
            </a:r>
          </a:p>
        </p:txBody>
      </p:sp>
      <p:sp>
        <p:nvSpPr>
          <p:cNvPr id="254" name="米菲PPT79"/>
          <p:cNvSpPr txBox="1"/>
          <p:nvPr/>
        </p:nvSpPr>
        <p:spPr>
          <a:xfrm>
            <a:off x="4241279" y="2472509"/>
            <a:ext cx="646104" cy="1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algn="ctr" defTabSz="457200"/>
            <a:r>
              <a:rPr lang="zh-CN" altLang="en-US" sz="500" b="1" dirty="0">
                <a:solidFill>
                  <a:schemeClr val="tx1">
                    <a:lumMod val="75000"/>
                    <a:lumOff val="25000"/>
                  </a:schemeClr>
                </a:solidFill>
                <a:cs typeface="MiSans Medium" panose="00000600000000000000" pitchFamily="2" charset="-122"/>
              </a:rPr>
              <a:t>沟通机制</a:t>
            </a:r>
          </a:p>
        </p:txBody>
      </p:sp>
      <p:sp>
        <p:nvSpPr>
          <p:cNvPr id="258" name="米菲PPT162"/>
          <p:cNvSpPr/>
          <p:nvPr/>
        </p:nvSpPr>
        <p:spPr>
          <a:xfrm>
            <a:off x="7782665" y="2697406"/>
            <a:ext cx="123979" cy="123979"/>
          </a:xfrm>
          <a:custGeom>
            <a:avLst/>
            <a:gdLst>
              <a:gd name="connsiteX0" fmla="*/ 492760 w 1041400"/>
              <a:gd name="connsiteY0" fmla="*/ 812800 h 1041400"/>
              <a:gd name="connsiteX1" fmla="*/ 287020 w 1041400"/>
              <a:gd name="connsiteY1" fmla="*/ 718820 h 1041400"/>
              <a:gd name="connsiteX2" fmla="*/ 203200 w 1041400"/>
              <a:gd name="connsiteY2" fmla="*/ 508000 h 1041400"/>
              <a:gd name="connsiteX3" fmla="*/ 292100 w 1041400"/>
              <a:gd name="connsiteY3" fmla="*/ 292100 h 1041400"/>
              <a:gd name="connsiteX4" fmla="*/ 508000 w 1041400"/>
              <a:gd name="connsiteY4" fmla="*/ 203200 h 1041400"/>
              <a:gd name="connsiteX5" fmla="*/ 718820 w 1041400"/>
              <a:gd name="connsiteY5" fmla="*/ 287020 h 1041400"/>
              <a:gd name="connsiteX6" fmla="*/ 812800 w 1041400"/>
              <a:gd name="connsiteY6" fmla="*/ 492760 h 1041400"/>
              <a:gd name="connsiteX7" fmla="*/ 706120 w 1041400"/>
              <a:gd name="connsiteY7" fmla="*/ 461010 h 1041400"/>
              <a:gd name="connsiteX8" fmla="*/ 635000 w 1041400"/>
              <a:gd name="connsiteY8" fmla="*/ 348640 h 1041400"/>
              <a:gd name="connsiteX9" fmla="*/ 508000 w 1041400"/>
              <a:gd name="connsiteY9" fmla="*/ 304800 h 1041400"/>
              <a:gd name="connsiteX10" fmla="*/ 364490 w 1041400"/>
              <a:gd name="connsiteY10" fmla="*/ 364490 h 1041400"/>
              <a:gd name="connsiteX11" fmla="*/ 304800 w 1041400"/>
              <a:gd name="connsiteY11" fmla="*/ 508000 h 1041400"/>
              <a:gd name="connsiteX12" fmla="*/ 348640 w 1041400"/>
              <a:gd name="connsiteY12" fmla="*/ 635000 h 1041400"/>
              <a:gd name="connsiteX13" fmla="*/ 461010 w 1041400"/>
              <a:gd name="connsiteY13" fmla="*/ 706120 h 1041400"/>
              <a:gd name="connsiteX14" fmla="*/ 553720 w 1041400"/>
              <a:gd name="connsiteY14" fmla="*/ 1013460 h 1041400"/>
              <a:gd name="connsiteX15" fmla="*/ 530860 w 1041400"/>
              <a:gd name="connsiteY15" fmla="*/ 1016000 h 1041400"/>
              <a:gd name="connsiteX16" fmla="*/ 508000 w 1041400"/>
              <a:gd name="connsiteY16" fmla="*/ 1016000 h 1041400"/>
              <a:gd name="connsiteX17" fmla="*/ 309880 w 1041400"/>
              <a:gd name="connsiteY17" fmla="*/ 975970 h 1041400"/>
              <a:gd name="connsiteX18" fmla="*/ 148590 w 1041400"/>
              <a:gd name="connsiteY18" fmla="*/ 867410 h 1041400"/>
              <a:gd name="connsiteX19" fmla="*/ 40030 w 1041400"/>
              <a:gd name="connsiteY19" fmla="*/ 706120 h 1041400"/>
              <a:gd name="connsiteX20" fmla="*/ 0 w 1041400"/>
              <a:gd name="connsiteY20" fmla="*/ 508000 h 1041400"/>
              <a:gd name="connsiteX21" fmla="*/ 40030 w 1041400"/>
              <a:gd name="connsiteY21" fmla="*/ 309880 h 1041400"/>
              <a:gd name="connsiteX22" fmla="*/ 148590 w 1041400"/>
              <a:gd name="connsiteY22" fmla="*/ 148590 h 1041400"/>
              <a:gd name="connsiteX23" fmla="*/ 309880 w 1041400"/>
              <a:gd name="connsiteY23" fmla="*/ 40030 h 1041400"/>
              <a:gd name="connsiteX24" fmla="*/ 508000 w 1041400"/>
              <a:gd name="connsiteY24" fmla="*/ 0 h 1041400"/>
              <a:gd name="connsiteX25" fmla="*/ 706120 w 1041400"/>
              <a:gd name="connsiteY25" fmla="*/ 40030 h 1041400"/>
              <a:gd name="connsiteX26" fmla="*/ 867410 w 1041400"/>
              <a:gd name="connsiteY26" fmla="*/ 148590 h 1041400"/>
              <a:gd name="connsiteX27" fmla="*/ 976020 w 1041400"/>
              <a:gd name="connsiteY27" fmla="*/ 309880 h 1041400"/>
              <a:gd name="connsiteX28" fmla="*/ 1016000 w 1041400"/>
              <a:gd name="connsiteY28" fmla="*/ 508000 h 1041400"/>
              <a:gd name="connsiteX29" fmla="*/ 1016000 w 1041400"/>
              <a:gd name="connsiteY29" fmla="*/ 530860 h 1041400"/>
              <a:gd name="connsiteX30" fmla="*/ 1013460 w 1041400"/>
              <a:gd name="connsiteY30" fmla="*/ 553720 h 1041400"/>
              <a:gd name="connsiteX31" fmla="*/ 914400 w 1041400"/>
              <a:gd name="connsiteY31" fmla="*/ 523240 h 1041400"/>
              <a:gd name="connsiteX32" fmla="*/ 914400 w 1041400"/>
              <a:gd name="connsiteY32" fmla="*/ 508000 h 1041400"/>
              <a:gd name="connsiteX33" fmla="*/ 796290 w 1041400"/>
              <a:gd name="connsiteY33" fmla="*/ 219710 h 1041400"/>
              <a:gd name="connsiteX34" fmla="*/ 508000 w 1041400"/>
              <a:gd name="connsiteY34" fmla="*/ 101600 h 1041400"/>
              <a:gd name="connsiteX35" fmla="*/ 219710 w 1041400"/>
              <a:gd name="connsiteY35" fmla="*/ 219710 h 1041400"/>
              <a:gd name="connsiteX36" fmla="*/ 101600 w 1041400"/>
              <a:gd name="connsiteY36" fmla="*/ 508000 h 1041400"/>
              <a:gd name="connsiteX37" fmla="*/ 219710 w 1041400"/>
              <a:gd name="connsiteY37" fmla="*/ 796290 h 1041400"/>
              <a:gd name="connsiteX38" fmla="*/ 508000 w 1041400"/>
              <a:gd name="connsiteY38" fmla="*/ 914400 h 1041400"/>
              <a:gd name="connsiteX39" fmla="*/ 523240 w 1041400"/>
              <a:gd name="connsiteY39" fmla="*/ 914400 h 1041400"/>
              <a:gd name="connsiteX40" fmla="*/ 941070 w 1041400"/>
              <a:gd name="connsiteY40" fmla="*/ 1041400 h 1041400"/>
              <a:gd name="connsiteX41" fmla="*/ 723900 w 1041400"/>
              <a:gd name="connsiteY41" fmla="*/ 824230 h 1041400"/>
              <a:gd name="connsiteX42" fmla="*/ 660400 w 1041400"/>
              <a:gd name="connsiteY42" fmla="*/ 1016000 h 1041400"/>
              <a:gd name="connsiteX43" fmla="*/ 508000 w 1041400"/>
              <a:gd name="connsiteY43" fmla="*/ 508000 h 1041400"/>
              <a:gd name="connsiteX44" fmla="*/ 1016000 w 1041400"/>
              <a:gd name="connsiteY44" fmla="*/ 660400 h 1041400"/>
              <a:gd name="connsiteX45" fmla="*/ 824230 w 1041400"/>
              <a:gd name="connsiteY45" fmla="*/ 723900 h 1041400"/>
              <a:gd name="connsiteX46" fmla="*/ 1041400 w 1041400"/>
              <a:gd name="connsiteY46" fmla="*/ 94107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41400" h="1041400">
                <a:moveTo>
                  <a:pt x="492760" y="812800"/>
                </a:moveTo>
                <a:cubicBezTo>
                  <a:pt x="411480" y="808567"/>
                  <a:pt x="342900" y="777240"/>
                  <a:pt x="287020" y="718820"/>
                </a:cubicBezTo>
                <a:cubicBezTo>
                  <a:pt x="231140" y="660400"/>
                  <a:pt x="203200" y="590127"/>
                  <a:pt x="203200" y="508000"/>
                </a:cubicBezTo>
                <a:cubicBezTo>
                  <a:pt x="203200" y="423333"/>
                  <a:pt x="232833" y="351367"/>
                  <a:pt x="292100" y="292100"/>
                </a:cubicBezTo>
                <a:cubicBezTo>
                  <a:pt x="351367" y="232833"/>
                  <a:pt x="423333" y="203200"/>
                  <a:pt x="508000" y="203200"/>
                </a:cubicBezTo>
                <a:cubicBezTo>
                  <a:pt x="590127" y="203200"/>
                  <a:pt x="660400" y="231140"/>
                  <a:pt x="718820" y="287020"/>
                </a:cubicBezTo>
                <a:cubicBezTo>
                  <a:pt x="777240" y="342900"/>
                  <a:pt x="808567" y="411480"/>
                  <a:pt x="812800" y="492760"/>
                </a:cubicBezTo>
                <a:lnTo>
                  <a:pt x="706120" y="461010"/>
                </a:lnTo>
                <a:cubicBezTo>
                  <a:pt x="695113" y="415290"/>
                  <a:pt x="671407" y="377833"/>
                  <a:pt x="635000" y="348640"/>
                </a:cubicBezTo>
                <a:cubicBezTo>
                  <a:pt x="598593" y="319447"/>
                  <a:pt x="556260" y="304834"/>
                  <a:pt x="508000" y="304800"/>
                </a:cubicBezTo>
                <a:cubicBezTo>
                  <a:pt x="452120" y="304800"/>
                  <a:pt x="404283" y="324697"/>
                  <a:pt x="364490" y="364490"/>
                </a:cubicBezTo>
                <a:cubicBezTo>
                  <a:pt x="324697" y="404283"/>
                  <a:pt x="304800" y="452120"/>
                  <a:pt x="304800" y="508000"/>
                </a:cubicBezTo>
                <a:cubicBezTo>
                  <a:pt x="304800" y="556260"/>
                  <a:pt x="319414" y="598593"/>
                  <a:pt x="348640" y="635000"/>
                </a:cubicBezTo>
                <a:cubicBezTo>
                  <a:pt x="377867" y="671407"/>
                  <a:pt x="415324" y="695113"/>
                  <a:pt x="461010" y="706120"/>
                </a:cubicBezTo>
                <a:close/>
                <a:moveTo>
                  <a:pt x="553720" y="1013460"/>
                </a:moveTo>
                <a:cubicBezTo>
                  <a:pt x="546100" y="1015153"/>
                  <a:pt x="538480" y="1016000"/>
                  <a:pt x="530860" y="1016000"/>
                </a:cubicBezTo>
                <a:lnTo>
                  <a:pt x="508000" y="1016000"/>
                </a:lnTo>
                <a:cubicBezTo>
                  <a:pt x="437727" y="1016000"/>
                  <a:pt x="371687" y="1002657"/>
                  <a:pt x="309880" y="975970"/>
                </a:cubicBezTo>
                <a:cubicBezTo>
                  <a:pt x="248073" y="949283"/>
                  <a:pt x="194310" y="913096"/>
                  <a:pt x="148590" y="867410"/>
                </a:cubicBezTo>
                <a:cubicBezTo>
                  <a:pt x="102870" y="821724"/>
                  <a:pt x="66684" y="767961"/>
                  <a:pt x="40030" y="706120"/>
                </a:cubicBezTo>
                <a:cubicBezTo>
                  <a:pt x="13377" y="644280"/>
                  <a:pt x="34" y="578239"/>
                  <a:pt x="0" y="508000"/>
                </a:cubicBezTo>
                <a:cubicBezTo>
                  <a:pt x="-34" y="437761"/>
                  <a:pt x="13310" y="371721"/>
                  <a:pt x="40030" y="309880"/>
                </a:cubicBezTo>
                <a:cubicBezTo>
                  <a:pt x="66751" y="248039"/>
                  <a:pt x="102938" y="194276"/>
                  <a:pt x="148590" y="148590"/>
                </a:cubicBezTo>
                <a:cubicBezTo>
                  <a:pt x="194242" y="102904"/>
                  <a:pt x="248006" y="66717"/>
                  <a:pt x="309880" y="40030"/>
                </a:cubicBezTo>
                <a:cubicBezTo>
                  <a:pt x="371754" y="13343"/>
                  <a:pt x="437794" y="0"/>
                  <a:pt x="508000" y="0"/>
                </a:cubicBezTo>
                <a:cubicBezTo>
                  <a:pt x="578206" y="0"/>
                  <a:pt x="644246" y="13343"/>
                  <a:pt x="706120" y="40030"/>
                </a:cubicBezTo>
                <a:cubicBezTo>
                  <a:pt x="767994" y="66717"/>
                  <a:pt x="821758" y="102904"/>
                  <a:pt x="867410" y="148590"/>
                </a:cubicBezTo>
                <a:cubicBezTo>
                  <a:pt x="913062" y="194276"/>
                  <a:pt x="949266" y="248039"/>
                  <a:pt x="976020" y="309880"/>
                </a:cubicBezTo>
                <a:cubicBezTo>
                  <a:pt x="1002775" y="371721"/>
                  <a:pt x="1016102" y="437761"/>
                  <a:pt x="1016000" y="508000"/>
                </a:cubicBezTo>
                <a:lnTo>
                  <a:pt x="1016000" y="530860"/>
                </a:lnTo>
                <a:cubicBezTo>
                  <a:pt x="1016000" y="538480"/>
                  <a:pt x="1015153" y="546100"/>
                  <a:pt x="1013460" y="553720"/>
                </a:cubicBezTo>
                <a:lnTo>
                  <a:pt x="914400" y="523240"/>
                </a:lnTo>
                <a:lnTo>
                  <a:pt x="914400" y="508000"/>
                </a:lnTo>
                <a:cubicBezTo>
                  <a:pt x="914400" y="394547"/>
                  <a:pt x="875030" y="298450"/>
                  <a:pt x="796290" y="219710"/>
                </a:cubicBezTo>
                <a:cubicBezTo>
                  <a:pt x="717550" y="140970"/>
                  <a:pt x="621453" y="101600"/>
                  <a:pt x="508000" y="101600"/>
                </a:cubicBezTo>
                <a:cubicBezTo>
                  <a:pt x="394547" y="101600"/>
                  <a:pt x="298450" y="140970"/>
                  <a:pt x="219710" y="219710"/>
                </a:cubicBezTo>
                <a:cubicBezTo>
                  <a:pt x="140970" y="298450"/>
                  <a:pt x="101600" y="394547"/>
                  <a:pt x="101600" y="508000"/>
                </a:cubicBezTo>
                <a:cubicBezTo>
                  <a:pt x="101600" y="621453"/>
                  <a:pt x="140970" y="717550"/>
                  <a:pt x="219710" y="796290"/>
                </a:cubicBezTo>
                <a:cubicBezTo>
                  <a:pt x="298450" y="875030"/>
                  <a:pt x="394547" y="914400"/>
                  <a:pt x="508000" y="914400"/>
                </a:cubicBezTo>
                <a:lnTo>
                  <a:pt x="523240" y="914400"/>
                </a:lnTo>
                <a:close/>
                <a:moveTo>
                  <a:pt x="941070" y="1041400"/>
                </a:moveTo>
                <a:lnTo>
                  <a:pt x="723900" y="824230"/>
                </a:lnTo>
                <a:lnTo>
                  <a:pt x="660400" y="1016000"/>
                </a:lnTo>
                <a:lnTo>
                  <a:pt x="508000" y="508000"/>
                </a:lnTo>
                <a:lnTo>
                  <a:pt x="1016000" y="660400"/>
                </a:lnTo>
                <a:lnTo>
                  <a:pt x="824230" y="723900"/>
                </a:lnTo>
                <a:lnTo>
                  <a:pt x="1041400" y="941070"/>
                </a:lnTo>
                <a:close/>
              </a:path>
            </a:pathLst>
          </a:custGeom>
          <a:solidFill>
            <a:srgbClr val="F57359"/>
          </a:solidFill>
          <a:ln w="6846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36" tIns="45721" rIns="91436" bIns="45721" numCol="1" spcCol="0" rtlCol="0" fromWordArt="0" anchor="ctr" anchorCtr="0" forceAA="0" compatLnSpc="1">
            <a:no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60" name="米菲PPT161"/>
          <p:cNvSpPr>
            <a:spLocks noChangeAspect="1"/>
          </p:cNvSpPr>
          <p:nvPr/>
        </p:nvSpPr>
        <p:spPr>
          <a:xfrm>
            <a:off x="6454870" y="2455320"/>
            <a:ext cx="129600" cy="129600"/>
          </a:xfrm>
          <a:custGeom>
            <a:avLst/>
            <a:gdLst>
              <a:gd name="connsiteX0" fmla="*/ 96317 w 1016000"/>
              <a:gd name="connsiteY0" fmla="*/ 805739 h 1016000"/>
              <a:gd name="connsiteX1" fmla="*/ 294996 w 1016000"/>
              <a:gd name="connsiteY1" fmla="*/ 607060 h 1016000"/>
              <a:gd name="connsiteX2" fmla="*/ 438709 w 1016000"/>
              <a:gd name="connsiteY2" fmla="*/ 750722 h 1016000"/>
              <a:gd name="connsiteX3" fmla="*/ 670916 w 1016000"/>
              <a:gd name="connsiteY3" fmla="*/ 518516 h 1016000"/>
              <a:gd name="connsiteX4" fmla="*/ 762000 w 1016000"/>
              <a:gd name="connsiteY4" fmla="*/ 609600 h 1016000"/>
              <a:gd name="connsiteX5" fmla="*/ 762000 w 1016000"/>
              <a:gd name="connsiteY5" fmla="*/ 355600 h 1016000"/>
              <a:gd name="connsiteX6" fmla="*/ 508000 w 1016000"/>
              <a:gd name="connsiteY6" fmla="*/ 355600 h 1016000"/>
              <a:gd name="connsiteX7" fmla="*/ 599085 w 1016000"/>
              <a:gd name="connsiteY7" fmla="*/ 446684 h 1016000"/>
              <a:gd name="connsiteX8" fmla="*/ 438709 w 1016000"/>
              <a:gd name="connsiteY8" fmla="*/ 607060 h 1016000"/>
              <a:gd name="connsiteX9" fmla="*/ 294996 w 1016000"/>
              <a:gd name="connsiteY9" fmla="*/ 463347 h 1016000"/>
              <a:gd name="connsiteX10" fmla="*/ 43790 w 1016000"/>
              <a:gd name="connsiteY10" fmla="*/ 714604 h 1016000"/>
              <a:gd name="connsiteX11" fmla="*/ 0 w 1016000"/>
              <a:gd name="connsiteY11" fmla="*/ 508000 h 1016000"/>
              <a:gd name="connsiteX12" fmla="*/ 508000 w 1016000"/>
              <a:gd name="connsiteY12" fmla="*/ 0 h 1016000"/>
              <a:gd name="connsiteX13" fmla="*/ 1016000 w 1016000"/>
              <a:gd name="connsiteY13" fmla="*/ 508000 h 1016000"/>
              <a:gd name="connsiteX14" fmla="*/ 508000 w 1016000"/>
              <a:gd name="connsiteY14" fmla="*/ 1016000 h 1016000"/>
              <a:gd name="connsiteX15" fmla="*/ 96317 w 1016000"/>
              <a:gd name="connsiteY15" fmla="*/ 805688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16000" h="1016000">
                <a:moveTo>
                  <a:pt x="96317" y="805739"/>
                </a:moveTo>
                <a:lnTo>
                  <a:pt x="294996" y="607060"/>
                </a:lnTo>
                <a:lnTo>
                  <a:pt x="438709" y="750722"/>
                </a:lnTo>
                <a:lnTo>
                  <a:pt x="670916" y="518516"/>
                </a:lnTo>
                <a:lnTo>
                  <a:pt x="762000" y="609600"/>
                </a:lnTo>
                <a:lnTo>
                  <a:pt x="762000" y="355600"/>
                </a:lnTo>
                <a:lnTo>
                  <a:pt x="508000" y="355600"/>
                </a:lnTo>
                <a:lnTo>
                  <a:pt x="599085" y="446684"/>
                </a:lnTo>
                <a:lnTo>
                  <a:pt x="438709" y="607060"/>
                </a:lnTo>
                <a:lnTo>
                  <a:pt x="294996" y="463347"/>
                </a:lnTo>
                <a:lnTo>
                  <a:pt x="43790" y="714604"/>
                </a:lnTo>
                <a:cubicBezTo>
                  <a:pt x="14881" y="649564"/>
                  <a:pt x="-38" y="579175"/>
                  <a:pt x="0" y="508000"/>
                </a:cubicBezTo>
                <a:cubicBezTo>
                  <a:pt x="0" y="227432"/>
                  <a:pt x="227432" y="0"/>
                  <a:pt x="508000" y="0"/>
                </a:cubicBezTo>
                <a:cubicBezTo>
                  <a:pt x="788568" y="0"/>
                  <a:pt x="1016000" y="227432"/>
                  <a:pt x="1016000" y="508000"/>
                </a:cubicBezTo>
                <a:cubicBezTo>
                  <a:pt x="1016000" y="788568"/>
                  <a:pt x="788568" y="1016000"/>
                  <a:pt x="508000" y="1016000"/>
                </a:cubicBezTo>
                <a:cubicBezTo>
                  <a:pt x="344956" y="1016098"/>
                  <a:pt x="191793" y="937853"/>
                  <a:pt x="96317" y="805688"/>
                </a:cubicBezTo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5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63" name="米菲PPT37"/>
          <p:cNvSpPr>
            <a:spLocks noChangeAspect="1"/>
          </p:cNvSpPr>
          <p:nvPr/>
        </p:nvSpPr>
        <p:spPr>
          <a:xfrm>
            <a:off x="7782665" y="2455320"/>
            <a:ext cx="137608" cy="129600"/>
          </a:xfrm>
          <a:custGeom>
            <a:avLst/>
            <a:gdLst>
              <a:gd name="connsiteX0" fmla="*/ 50800 w 914400"/>
              <a:gd name="connsiteY0" fmla="*/ 101600 h 812800"/>
              <a:gd name="connsiteX1" fmla="*/ 50800 w 914400"/>
              <a:gd name="connsiteY1" fmla="*/ 0 h 812800"/>
              <a:gd name="connsiteX2" fmla="*/ 863600 w 914400"/>
              <a:gd name="connsiteY2" fmla="*/ 0 h 812800"/>
              <a:gd name="connsiteX3" fmla="*/ 863600 w 914400"/>
              <a:gd name="connsiteY3" fmla="*/ 101600 h 812800"/>
              <a:gd name="connsiteX4" fmla="*/ 50800 w 914400"/>
              <a:gd name="connsiteY4" fmla="*/ 812800 h 812800"/>
              <a:gd name="connsiteX5" fmla="*/ 50800 w 914400"/>
              <a:gd name="connsiteY5" fmla="*/ 508000 h 812800"/>
              <a:gd name="connsiteX6" fmla="*/ 0 w 914400"/>
              <a:gd name="connsiteY6" fmla="*/ 508000 h 812800"/>
              <a:gd name="connsiteX7" fmla="*/ 0 w 914400"/>
              <a:gd name="connsiteY7" fmla="*/ 406400 h 812800"/>
              <a:gd name="connsiteX8" fmla="*/ 50800 w 914400"/>
              <a:gd name="connsiteY8" fmla="*/ 152400 h 812800"/>
              <a:gd name="connsiteX9" fmla="*/ 863600 w 914400"/>
              <a:gd name="connsiteY9" fmla="*/ 152400 h 812800"/>
              <a:gd name="connsiteX10" fmla="*/ 914400 w 914400"/>
              <a:gd name="connsiteY10" fmla="*/ 406400 h 812800"/>
              <a:gd name="connsiteX11" fmla="*/ 914400 w 914400"/>
              <a:gd name="connsiteY11" fmla="*/ 508000 h 812800"/>
              <a:gd name="connsiteX12" fmla="*/ 863600 w 914400"/>
              <a:gd name="connsiteY12" fmla="*/ 508000 h 812800"/>
              <a:gd name="connsiteX13" fmla="*/ 863600 w 914400"/>
              <a:gd name="connsiteY13" fmla="*/ 812800 h 812800"/>
              <a:gd name="connsiteX14" fmla="*/ 762000 w 914400"/>
              <a:gd name="connsiteY14" fmla="*/ 812800 h 812800"/>
              <a:gd name="connsiteX15" fmla="*/ 762000 w 914400"/>
              <a:gd name="connsiteY15" fmla="*/ 508000 h 812800"/>
              <a:gd name="connsiteX16" fmla="*/ 558800 w 914400"/>
              <a:gd name="connsiteY16" fmla="*/ 508000 h 812800"/>
              <a:gd name="connsiteX17" fmla="*/ 558800 w 914400"/>
              <a:gd name="connsiteY17" fmla="*/ 812800 h 812800"/>
              <a:gd name="connsiteX18" fmla="*/ 152400 w 914400"/>
              <a:gd name="connsiteY18" fmla="*/ 711200 h 812800"/>
              <a:gd name="connsiteX19" fmla="*/ 457200 w 914400"/>
              <a:gd name="connsiteY19" fmla="*/ 711200 h 812800"/>
              <a:gd name="connsiteX20" fmla="*/ 457200 w 914400"/>
              <a:gd name="connsiteY20" fmla="*/ 508000 h 812800"/>
              <a:gd name="connsiteX21" fmla="*/ 152400 w 914400"/>
              <a:gd name="connsiteY21" fmla="*/ 50800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14400" h="812800">
                <a:moveTo>
                  <a:pt x="50800" y="101600"/>
                </a:moveTo>
                <a:lnTo>
                  <a:pt x="50800" y="0"/>
                </a:lnTo>
                <a:lnTo>
                  <a:pt x="863600" y="0"/>
                </a:lnTo>
                <a:lnTo>
                  <a:pt x="863600" y="101600"/>
                </a:lnTo>
                <a:close/>
                <a:moveTo>
                  <a:pt x="50800" y="812800"/>
                </a:moveTo>
                <a:lnTo>
                  <a:pt x="50800" y="508000"/>
                </a:lnTo>
                <a:lnTo>
                  <a:pt x="0" y="508000"/>
                </a:lnTo>
                <a:lnTo>
                  <a:pt x="0" y="406400"/>
                </a:lnTo>
                <a:lnTo>
                  <a:pt x="50800" y="152400"/>
                </a:lnTo>
                <a:lnTo>
                  <a:pt x="863600" y="152400"/>
                </a:lnTo>
                <a:lnTo>
                  <a:pt x="914400" y="406400"/>
                </a:lnTo>
                <a:lnTo>
                  <a:pt x="914400" y="508000"/>
                </a:lnTo>
                <a:lnTo>
                  <a:pt x="863600" y="508000"/>
                </a:lnTo>
                <a:lnTo>
                  <a:pt x="863600" y="812800"/>
                </a:lnTo>
                <a:lnTo>
                  <a:pt x="762000" y="812800"/>
                </a:lnTo>
                <a:lnTo>
                  <a:pt x="762000" y="508000"/>
                </a:lnTo>
                <a:lnTo>
                  <a:pt x="558800" y="508000"/>
                </a:lnTo>
                <a:lnTo>
                  <a:pt x="558800" y="812800"/>
                </a:lnTo>
                <a:close/>
                <a:moveTo>
                  <a:pt x="152400" y="711200"/>
                </a:moveTo>
                <a:lnTo>
                  <a:pt x="457200" y="711200"/>
                </a:lnTo>
                <a:lnTo>
                  <a:pt x="457200" y="508000"/>
                </a:lnTo>
                <a:lnTo>
                  <a:pt x="152400" y="508000"/>
                </a:lnTo>
                <a:close/>
              </a:path>
            </a:pathLst>
          </a:custGeom>
          <a:solidFill>
            <a:srgbClr val="F57359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米菲PPT2"/>
          <p:cNvSpPr/>
          <p:nvPr/>
        </p:nvSpPr>
        <p:spPr>
          <a:xfrm>
            <a:off x="2244837" y="2835865"/>
            <a:ext cx="597864" cy="1053979"/>
          </a:xfrm>
          <a:prstGeom prst="leftBrace">
            <a:avLst>
              <a:gd name="adj1" fmla="val 33433"/>
              <a:gd name="adj2" fmla="val 49404"/>
            </a:avLst>
          </a:prstGeom>
          <a:gradFill flip="none" rotWithShape="1">
            <a:gsLst>
              <a:gs pos="0">
                <a:srgbClr val="F57359">
                  <a:alpha val="53000"/>
                </a:srgbClr>
              </a:gs>
              <a:gs pos="100000">
                <a:srgbClr val="F57359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47" name="米菲PPT4"/>
          <p:cNvSpPr/>
          <p:nvPr/>
        </p:nvSpPr>
        <p:spPr>
          <a:xfrm rot="5400000" flipV="1">
            <a:off x="-1040205" y="1733749"/>
            <a:ext cx="4925725" cy="1676002"/>
          </a:xfrm>
          <a:prstGeom prst="roundRect">
            <a:avLst>
              <a:gd name="adj" fmla="val 1461"/>
            </a:avLst>
          </a:prstGeom>
          <a:solidFill>
            <a:srgbClr val="F57359">
              <a:lumMod val="20000"/>
              <a:lumOff val="80000"/>
              <a:alpha val="5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48" name="米菲PPT18"/>
          <p:cNvSpPr txBox="1"/>
          <p:nvPr/>
        </p:nvSpPr>
        <p:spPr>
          <a:xfrm>
            <a:off x="2820246" y="293120"/>
            <a:ext cx="1600156" cy="42641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457200">
              <a:defRPr/>
            </a:pPr>
            <a:r>
              <a:rPr lang="zh-CN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活动页榜单</a:t>
            </a:r>
            <a:endParaRPr lang="en-US" altLang="zh-CN" sz="1200" kern="0" dirty="0">
              <a:solidFill>
                <a:prstClr val="black">
                  <a:lumMod val="75000"/>
                  <a:lumOff val="25000"/>
                </a:prstClr>
              </a:solidFill>
              <a:cs typeface="MiSans Medium" panose="00000600000000000000" pitchFamily="2" charset="-122"/>
            </a:endParaRPr>
          </a:p>
          <a:p>
            <a:pPr lvl="0" defTabSz="457200">
              <a:defRPr/>
            </a:pPr>
            <a:r>
              <a:rPr lang="zh-CN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模块曝光</a:t>
            </a:r>
            <a:r>
              <a:rPr lang="en-US" altLang="zh-CN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UV</a:t>
            </a:r>
            <a:endParaRPr lang="zh-CN" altLang="en-US" sz="1200" kern="0" dirty="0">
              <a:solidFill>
                <a:prstClr val="black">
                  <a:lumMod val="75000"/>
                  <a:lumOff val="25000"/>
                </a:prstClr>
              </a:solidFill>
              <a:cs typeface="MiSans Medium" panose="00000600000000000000" pitchFamily="2" charset="-122"/>
            </a:endParaRPr>
          </a:p>
        </p:txBody>
      </p:sp>
      <p:sp>
        <p:nvSpPr>
          <p:cNvPr id="349" name="米菲PPT34"/>
          <p:cNvSpPr/>
          <p:nvPr/>
        </p:nvSpPr>
        <p:spPr>
          <a:xfrm rot="5400000" flipV="1">
            <a:off x="881845" y="11134"/>
            <a:ext cx="1081098" cy="164495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57359">
                  <a:lumMod val="20000"/>
                  <a:lumOff val="80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06400" dist="139700" dir="5400000" algn="t" rotWithShape="0">
              <a:srgbClr val="F57359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0" name="米菲PPT35"/>
          <p:cNvSpPr txBox="1"/>
          <p:nvPr/>
        </p:nvSpPr>
        <p:spPr>
          <a:xfrm>
            <a:off x="738245" y="332942"/>
            <a:ext cx="1368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平台产运</a:t>
            </a:r>
            <a:r>
              <a:rPr lang="en-US" altLang="zh-CN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/</a:t>
            </a:r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用增</a:t>
            </a:r>
          </a:p>
        </p:txBody>
      </p:sp>
      <p:sp>
        <p:nvSpPr>
          <p:cNvPr id="351" name="米菲PPT36"/>
          <p:cNvSpPr txBox="1"/>
          <p:nvPr/>
        </p:nvSpPr>
        <p:spPr>
          <a:xfrm>
            <a:off x="738245" y="715418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心智流量</a:t>
            </a:r>
          </a:p>
        </p:txBody>
      </p:sp>
      <p:sp>
        <p:nvSpPr>
          <p:cNvPr id="352" name="米菲PPT37"/>
          <p:cNvSpPr/>
          <p:nvPr/>
        </p:nvSpPr>
        <p:spPr>
          <a:xfrm rot="5400000" flipV="1">
            <a:off x="880762" y="2525856"/>
            <a:ext cx="1083027" cy="164495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57359">
                  <a:lumMod val="20000"/>
                  <a:lumOff val="80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06400" dist="139700" dir="5400000" algn="t" rotWithShape="0">
              <a:srgbClr val="F57359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3" name="米菲PPT38"/>
          <p:cNvSpPr txBox="1"/>
          <p:nvPr/>
        </p:nvSpPr>
        <p:spPr>
          <a:xfrm>
            <a:off x="738127" y="2861613"/>
            <a:ext cx="1368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到餐产运</a:t>
            </a:r>
          </a:p>
        </p:txBody>
      </p:sp>
      <p:sp>
        <p:nvSpPr>
          <p:cNvPr id="354" name="米菲PPT39"/>
          <p:cNvSpPr txBox="1"/>
          <p:nvPr/>
        </p:nvSpPr>
        <p:spPr>
          <a:xfrm>
            <a:off x="738127" y="3314074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资产建设</a:t>
            </a:r>
          </a:p>
        </p:txBody>
      </p:sp>
      <p:sp>
        <p:nvSpPr>
          <p:cNvPr id="355" name="米菲PPT40"/>
          <p:cNvSpPr/>
          <p:nvPr/>
        </p:nvSpPr>
        <p:spPr>
          <a:xfrm rot="5400000" flipV="1">
            <a:off x="925475" y="3715216"/>
            <a:ext cx="993835" cy="164495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57359">
                  <a:lumMod val="20000"/>
                  <a:lumOff val="80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06400" dist="139700" dir="5400000" algn="t" rotWithShape="0">
              <a:srgbClr val="F57359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6" name="米菲PPT41"/>
          <p:cNvSpPr txBox="1"/>
          <p:nvPr/>
        </p:nvSpPr>
        <p:spPr>
          <a:xfrm>
            <a:off x="738244" y="4115136"/>
            <a:ext cx="1368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销运</a:t>
            </a:r>
            <a:r>
              <a:rPr lang="en-US" altLang="zh-CN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/</a:t>
            </a:r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销售</a:t>
            </a:r>
          </a:p>
        </p:txBody>
      </p:sp>
      <p:sp>
        <p:nvSpPr>
          <p:cNvPr id="357" name="米菲PPT42"/>
          <p:cNvSpPr txBox="1"/>
          <p:nvPr/>
        </p:nvSpPr>
        <p:spPr>
          <a:xfrm>
            <a:off x="738244" y="4515108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资产覆盖</a:t>
            </a:r>
          </a:p>
        </p:txBody>
      </p:sp>
      <p:sp>
        <p:nvSpPr>
          <p:cNvPr id="358" name="米菲PPT45"/>
          <p:cNvSpPr txBox="1"/>
          <p:nvPr/>
        </p:nvSpPr>
        <p:spPr>
          <a:xfrm>
            <a:off x="2820298" y="790862"/>
            <a:ext cx="1600156" cy="316902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榜单落地页</a:t>
            </a:r>
            <a:r>
              <a:rPr lang="en-US" altLang="zh-CN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UV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59" name="米菲PPT46"/>
          <p:cNvSpPr txBox="1"/>
          <p:nvPr/>
        </p:nvSpPr>
        <p:spPr>
          <a:xfrm>
            <a:off x="2820298" y="1212873"/>
            <a:ext cx="1600156" cy="27473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星级评价资产规模</a:t>
            </a:r>
          </a:p>
        </p:txBody>
      </p:sp>
      <p:sp>
        <p:nvSpPr>
          <p:cNvPr id="360" name="米菲PPT47"/>
          <p:cNvSpPr txBox="1"/>
          <p:nvPr/>
        </p:nvSpPr>
        <p:spPr>
          <a:xfrm>
            <a:off x="2820182" y="2835857"/>
            <a:ext cx="1600156" cy="29940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cs typeface="MiSans Medium" panose="00000600000000000000" pitchFamily="2" charset="-122"/>
              </a:rPr>
              <a:t>核心资产规模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61" name="米菲PPT48"/>
          <p:cNvSpPr txBox="1"/>
          <p:nvPr/>
        </p:nvSpPr>
        <p:spPr>
          <a:xfrm>
            <a:off x="2820182" y="3209054"/>
            <a:ext cx="1600156" cy="32879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核心资产准确率</a:t>
            </a:r>
          </a:p>
        </p:txBody>
      </p:sp>
      <p:sp>
        <p:nvSpPr>
          <p:cNvPr id="362" name="米菲PPT49"/>
          <p:cNvSpPr txBox="1"/>
          <p:nvPr/>
        </p:nvSpPr>
        <p:spPr>
          <a:xfrm>
            <a:off x="2820182" y="3607970"/>
            <a:ext cx="1600156" cy="28869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数据工具支持</a:t>
            </a:r>
          </a:p>
        </p:txBody>
      </p:sp>
      <p:sp>
        <p:nvSpPr>
          <p:cNvPr id="363" name="米菲PPT50"/>
          <p:cNvSpPr txBox="1"/>
          <p:nvPr/>
        </p:nvSpPr>
        <p:spPr>
          <a:xfrm>
            <a:off x="2820245" y="4167617"/>
            <a:ext cx="1600156" cy="31163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核心资产覆盖率</a:t>
            </a:r>
          </a:p>
        </p:txBody>
      </p:sp>
      <p:sp>
        <p:nvSpPr>
          <p:cNvPr id="364" name="米菲PPT51"/>
          <p:cNvSpPr txBox="1"/>
          <p:nvPr/>
        </p:nvSpPr>
        <p:spPr>
          <a:xfrm>
            <a:off x="2820245" y="4530316"/>
            <a:ext cx="1600156" cy="29415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核心商户覆盖率</a:t>
            </a:r>
          </a:p>
        </p:txBody>
      </p:sp>
      <p:sp>
        <p:nvSpPr>
          <p:cNvPr id="365" name="米菲PPT52"/>
          <p:cNvSpPr txBox="1"/>
          <p:nvPr/>
        </p:nvSpPr>
        <p:spPr>
          <a:xfrm>
            <a:off x="-172511" y="1695744"/>
            <a:ext cx="675005" cy="2179224"/>
          </a:xfrm>
          <a:prstGeom prst="rect">
            <a:avLst/>
          </a:prstGeom>
          <a:noFill/>
        </p:spPr>
        <p:txBody>
          <a:bodyPr vert="eaVert" wrap="square">
            <a:no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600" b="1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协同方及</a:t>
            </a:r>
            <a:r>
              <a:rPr lang="zh-CN" altLang="en-US" sz="1600" b="1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Arial" panose="020B0604020202020204" pitchFamily="34" charset="0"/>
              </a:rPr>
              <a:t>核心指标</a:t>
            </a:r>
            <a:endParaRPr lang="zh-CN" altLang="en-US" sz="1600" b="1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66" name="米菲PPT2"/>
          <p:cNvSpPr/>
          <p:nvPr/>
        </p:nvSpPr>
        <p:spPr>
          <a:xfrm>
            <a:off x="2220567" y="293063"/>
            <a:ext cx="597864" cy="1194649"/>
          </a:xfrm>
          <a:prstGeom prst="leftBrace">
            <a:avLst>
              <a:gd name="adj1" fmla="val 32877"/>
              <a:gd name="adj2" fmla="val 49404"/>
            </a:avLst>
          </a:prstGeom>
          <a:gradFill flip="none" rotWithShape="1">
            <a:gsLst>
              <a:gs pos="0">
                <a:srgbClr val="F57359">
                  <a:alpha val="53000"/>
                </a:srgbClr>
              </a:gs>
              <a:gs pos="100000">
                <a:srgbClr val="F57359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67" name="米菲PPT2"/>
          <p:cNvSpPr/>
          <p:nvPr/>
        </p:nvSpPr>
        <p:spPr>
          <a:xfrm>
            <a:off x="2207337" y="4115136"/>
            <a:ext cx="597864" cy="827051"/>
          </a:xfrm>
          <a:prstGeom prst="leftBrace">
            <a:avLst>
              <a:gd name="adj1" fmla="val 22780"/>
              <a:gd name="adj2" fmla="val 49404"/>
            </a:avLst>
          </a:prstGeom>
          <a:gradFill flip="none" rotWithShape="1">
            <a:gsLst>
              <a:gs pos="0">
                <a:srgbClr val="F57359">
                  <a:alpha val="53000"/>
                </a:srgbClr>
              </a:gs>
              <a:gs pos="100000">
                <a:srgbClr val="F57359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2" name="米菲PPT63"/>
          <p:cNvSpPr/>
          <p:nvPr/>
        </p:nvSpPr>
        <p:spPr>
          <a:xfrm>
            <a:off x="4571999" y="290439"/>
            <a:ext cx="3830843" cy="432144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3" name="米菲PPT69"/>
          <p:cNvSpPr txBox="1"/>
          <p:nvPr/>
        </p:nvSpPr>
        <p:spPr>
          <a:xfrm>
            <a:off x="4682317" y="343382"/>
            <a:ext cx="3720525" cy="27799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lvl="0"/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用户核心路径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lang="zh-CN" altLang="en-US" kern="0" dirty="0"/>
              <a:t>营销活动下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榜单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标签的曝光</a:t>
            </a:r>
            <a:r>
              <a:rPr lang="en-US" altLang="zh-CN" kern="0" dirty="0"/>
              <a:t>UV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374" name="米菲PPT63"/>
          <p:cNvSpPr/>
          <p:nvPr/>
        </p:nvSpPr>
        <p:spPr>
          <a:xfrm>
            <a:off x="4572051" y="790869"/>
            <a:ext cx="3830843" cy="322632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5" name="米菲PPT69"/>
          <p:cNvSpPr txBox="1"/>
          <p:nvPr/>
        </p:nvSpPr>
        <p:spPr>
          <a:xfrm>
            <a:off x="4682369" y="791323"/>
            <a:ext cx="3720525" cy="168484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所有路径下回流到榜单落地页的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UV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376" name="米菲PPT63"/>
          <p:cNvSpPr/>
          <p:nvPr/>
        </p:nvSpPr>
        <p:spPr>
          <a:xfrm>
            <a:off x="4572051" y="1215046"/>
            <a:ext cx="3830843" cy="281204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7" name="米菲PPT69"/>
          <p:cNvSpPr txBox="1"/>
          <p:nvPr/>
        </p:nvSpPr>
        <p:spPr>
          <a:xfrm>
            <a:off x="4682369" y="1198004"/>
            <a:ext cx="3720525" cy="12705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星级评价资产的覆盖率、优质率、准确率等</a:t>
            </a:r>
          </a:p>
        </p:txBody>
      </p:sp>
      <p:sp>
        <p:nvSpPr>
          <p:cNvPr id="378" name="米菲PPT63"/>
          <p:cNvSpPr/>
          <p:nvPr/>
        </p:nvSpPr>
        <p:spPr>
          <a:xfrm>
            <a:off x="4571936" y="2835864"/>
            <a:ext cx="3830843" cy="305135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9" name="米菲PPT69"/>
          <p:cNvSpPr txBox="1"/>
          <p:nvPr/>
        </p:nvSpPr>
        <p:spPr>
          <a:xfrm>
            <a:off x="4682254" y="2836318"/>
            <a:ext cx="3720525" cy="15098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核心资产（商户信息、服务、互动等）的覆盖率</a:t>
            </a:r>
          </a:p>
        </p:txBody>
      </p:sp>
      <p:sp>
        <p:nvSpPr>
          <p:cNvPr id="380" name="米菲PPT63"/>
          <p:cNvSpPr/>
          <p:nvPr/>
        </p:nvSpPr>
        <p:spPr>
          <a:xfrm>
            <a:off x="4571936" y="3209062"/>
            <a:ext cx="3830843" cy="334528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81" name="米菲PPT69"/>
          <p:cNvSpPr txBox="1"/>
          <p:nvPr/>
        </p:nvSpPr>
        <p:spPr>
          <a:xfrm>
            <a:off x="4682254" y="3209516"/>
            <a:ext cx="3720525" cy="18038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lvl="0"/>
            <a:r>
              <a:rPr lang="zh-CN" altLang="en-US" kern="0" dirty="0"/>
              <a:t>核心资产（商户信息、服务、互动等）的准确率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382" name="米菲PPT63"/>
          <p:cNvSpPr/>
          <p:nvPr/>
        </p:nvSpPr>
        <p:spPr>
          <a:xfrm>
            <a:off x="4571936" y="3621073"/>
            <a:ext cx="3830843" cy="294428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83" name="米菲PPT69"/>
          <p:cNvSpPr txBox="1"/>
          <p:nvPr/>
        </p:nvSpPr>
        <p:spPr>
          <a:xfrm>
            <a:off x="4682254" y="3604031"/>
            <a:ext cx="3720525" cy="14028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榜单数据监测、看板，商户诊断工具的支持</a:t>
            </a:r>
          </a:p>
        </p:txBody>
      </p:sp>
      <p:sp>
        <p:nvSpPr>
          <p:cNvPr id="384" name="米菲PPT63"/>
          <p:cNvSpPr/>
          <p:nvPr/>
        </p:nvSpPr>
        <p:spPr>
          <a:xfrm>
            <a:off x="4571999" y="4152633"/>
            <a:ext cx="3830843" cy="317362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85" name="米菲PPT69"/>
          <p:cNvSpPr txBox="1"/>
          <p:nvPr/>
        </p:nvSpPr>
        <p:spPr>
          <a:xfrm>
            <a:off x="4682317" y="4135591"/>
            <a:ext cx="3720525" cy="163214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能够推动销售、商户侧按照榜单规则做资产优化</a:t>
            </a:r>
          </a:p>
        </p:txBody>
      </p:sp>
      <p:sp>
        <p:nvSpPr>
          <p:cNvPr id="3" name="米菲PPT63"/>
          <p:cNvSpPr/>
          <p:nvPr/>
        </p:nvSpPr>
        <p:spPr>
          <a:xfrm>
            <a:off x="4571999" y="4499052"/>
            <a:ext cx="3830843" cy="299887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" name="米菲PPT69"/>
          <p:cNvSpPr txBox="1"/>
          <p:nvPr/>
        </p:nvSpPr>
        <p:spPr>
          <a:xfrm>
            <a:off x="4682317" y="4482009"/>
            <a:ext cx="3720525" cy="145738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围绕核心商户提升上榜门店的覆盖率</a:t>
            </a:r>
          </a:p>
        </p:txBody>
      </p:sp>
      <p:sp>
        <p:nvSpPr>
          <p:cNvPr id="2" name="米菲PPT36"/>
          <p:cNvSpPr txBox="1"/>
          <p:nvPr/>
        </p:nvSpPr>
        <p:spPr>
          <a:xfrm>
            <a:off x="2818430" y="12269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b="1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输出指标</a:t>
            </a:r>
          </a:p>
        </p:txBody>
      </p:sp>
      <p:sp>
        <p:nvSpPr>
          <p:cNvPr id="5" name="米菲PPT36"/>
          <p:cNvSpPr txBox="1"/>
          <p:nvPr/>
        </p:nvSpPr>
        <p:spPr>
          <a:xfrm>
            <a:off x="5641347" y="23531"/>
            <a:ext cx="1368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b="1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输入指标</a:t>
            </a:r>
          </a:p>
        </p:txBody>
      </p:sp>
      <p:sp>
        <p:nvSpPr>
          <p:cNvPr id="6" name="米菲PPT36"/>
          <p:cNvSpPr txBox="1"/>
          <p:nvPr/>
        </p:nvSpPr>
        <p:spPr>
          <a:xfrm>
            <a:off x="599913" y="958624"/>
            <a:ext cx="1755277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（大搜、猜喜、团购、市场、公信力、设计）</a:t>
            </a:r>
          </a:p>
        </p:txBody>
      </p:sp>
      <p:sp>
        <p:nvSpPr>
          <p:cNvPr id="7" name="米菲PPT36"/>
          <p:cNvSpPr txBox="1"/>
          <p:nvPr/>
        </p:nvSpPr>
        <p:spPr>
          <a:xfrm>
            <a:off x="449139" y="3550630"/>
            <a:ext cx="17581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C/B</a:t>
            </a:r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端产运、算法、数据产品、用研）</a:t>
            </a:r>
          </a:p>
        </p:txBody>
      </p:sp>
      <p:sp>
        <p:nvSpPr>
          <p:cNvPr id="9" name="米菲PPT36"/>
          <p:cNvSpPr txBox="1"/>
          <p:nvPr/>
        </p:nvSpPr>
        <p:spPr>
          <a:xfrm>
            <a:off x="502541" y="4740317"/>
            <a:ext cx="17581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（销运、销售、销支）</a:t>
            </a:r>
          </a:p>
        </p:txBody>
      </p:sp>
      <p:sp>
        <p:nvSpPr>
          <p:cNvPr id="11" name="米菲PPT2"/>
          <p:cNvSpPr/>
          <p:nvPr/>
        </p:nvSpPr>
        <p:spPr>
          <a:xfrm>
            <a:off x="2229767" y="1621735"/>
            <a:ext cx="597864" cy="1053979"/>
          </a:xfrm>
          <a:prstGeom prst="leftBrace">
            <a:avLst>
              <a:gd name="adj1" fmla="val 33433"/>
              <a:gd name="adj2" fmla="val 49404"/>
            </a:avLst>
          </a:prstGeom>
          <a:gradFill flip="none" rotWithShape="1">
            <a:gsLst>
              <a:gs pos="0">
                <a:srgbClr val="F57359">
                  <a:alpha val="53000"/>
                </a:srgbClr>
              </a:gs>
              <a:gs pos="100000">
                <a:srgbClr val="F57359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" name="米菲PPT37"/>
          <p:cNvSpPr/>
          <p:nvPr/>
        </p:nvSpPr>
        <p:spPr>
          <a:xfrm rot="5400000" flipV="1">
            <a:off x="865692" y="1311726"/>
            <a:ext cx="1083027" cy="1644957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57359">
                  <a:lumMod val="20000"/>
                  <a:lumOff val="80000"/>
                </a:srgbClr>
              </a:gs>
              <a:gs pos="1000">
                <a:sysClr val="window" lastClr="FFFFFF"/>
              </a:gs>
            </a:gsLst>
            <a:lin ang="19800000" scaled="0"/>
          </a:gra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406400" dist="139700" dir="5400000" algn="t" rotWithShape="0">
              <a:srgbClr val="F57359">
                <a:alpha val="1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" name="米菲PPT38"/>
          <p:cNvSpPr txBox="1"/>
          <p:nvPr/>
        </p:nvSpPr>
        <p:spPr>
          <a:xfrm>
            <a:off x="723057" y="1647482"/>
            <a:ext cx="136829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MiSans Medium" panose="00000600000000000000" pitchFamily="2" charset="-122"/>
              </a:rPr>
              <a:t>点评</a:t>
            </a:r>
            <a:r>
              <a:rPr lang="zh-CN" altLang="en-US" b="1" dirty="0">
                <a:solidFill>
                  <a:srgbClr val="F57359"/>
                </a:solidFill>
                <a:latin typeface="MiSans Bold"/>
                <a:ea typeface="MiSans Bold"/>
                <a:cs typeface="Arial" panose="020B0604020202020204" pitchFamily="34" charset="0"/>
              </a:rPr>
              <a:t>产运</a:t>
            </a:r>
            <a:endParaRPr lang="zh-CN" altLang="en-US" b="1" dirty="0">
              <a:solidFill>
                <a:srgbClr val="F57359"/>
              </a:solidFill>
              <a:latin typeface="MiSans Bold"/>
              <a:ea typeface="MiSans Bold"/>
              <a:cs typeface="MiSans Medium" panose="00000600000000000000" pitchFamily="2" charset="-122"/>
            </a:endParaRPr>
          </a:p>
        </p:txBody>
      </p:sp>
      <p:sp>
        <p:nvSpPr>
          <p:cNvPr id="14" name="米菲PPT39"/>
          <p:cNvSpPr txBox="1"/>
          <p:nvPr/>
        </p:nvSpPr>
        <p:spPr>
          <a:xfrm>
            <a:off x="723057" y="2099943"/>
            <a:ext cx="1368296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榜单</a:t>
            </a:r>
            <a:r>
              <a:rPr lang="zh-CN" altLang="en-US" sz="120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Arial" panose="020B0604020202020204" pitchFamily="34" charset="0"/>
              </a:rPr>
              <a:t>共建</a:t>
            </a:r>
            <a:endParaRPr lang="zh-CN" altLang="en-US" sz="1200" dirty="0">
              <a:solidFill>
                <a:prstClr val="black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" name="米菲PPT47"/>
          <p:cNvSpPr txBox="1"/>
          <p:nvPr/>
        </p:nvSpPr>
        <p:spPr>
          <a:xfrm>
            <a:off x="2805113" y="1621727"/>
            <a:ext cx="1600156" cy="29940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FillTx/>
                <a:latin typeface="MiSans Medium" charset="0"/>
                <a:ea typeface="MiSans Medium" charset="0"/>
                <a:cs typeface="MiSans Medium" panose="00000600000000000000" pitchFamily="2" charset="-122"/>
              </a:rPr>
              <a:t>评价</a:t>
            </a:r>
            <a:r>
              <a:rPr lang="zh-CN" altLang="en-US" sz="1200" kern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FillTx/>
                <a:latin typeface="MiSans Medium" charset="0"/>
                <a:ea typeface="MiSans Medium" charset="0"/>
                <a:cs typeface="Arial" panose="020B0604020202020204" pitchFamily="34" charset="0"/>
              </a:rPr>
              <a:t>资产覆盖率</a:t>
            </a:r>
            <a:endParaRPr lang="zh-CN" altLang="en-US">
              <a:latin typeface="MiSans Medium" charset="0"/>
              <a:ea typeface="MiSans Medium" charset="0"/>
              <a:cs typeface="Arial" panose="020B0604020202020204" pitchFamily="34" charset="0"/>
            </a:endParaRPr>
          </a:p>
        </p:txBody>
      </p:sp>
      <p:sp>
        <p:nvSpPr>
          <p:cNvPr id="16" name="米菲PPT48"/>
          <p:cNvSpPr txBox="1"/>
          <p:nvPr/>
        </p:nvSpPr>
        <p:spPr>
          <a:xfrm>
            <a:off x="2805113" y="1994923"/>
            <a:ext cx="1600156" cy="32879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榜单渗透率</a:t>
            </a:r>
            <a:endParaRPr lang="zh-CN" altLang="en-US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" name="米菲PPT49"/>
          <p:cNvSpPr txBox="1"/>
          <p:nvPr/>
        </p:nvSpPr>
        <p:spPr>
          <a:xfrm>
            <a:off x="2805113" y="2393839"/>
            <a:ext cx="1615217" cy="30185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rgbClr val="F57359"/>
            </a:solidFill>
            <a:prstDash val="solid"/>
            <a:miter lim="800000"/>
          </a:ln>
          <a:effectLst>
            <a:outerShdw blurRad="825500" dist="139700" dir="5400000" algn="t" rotWithShape="0">
              <a:srgbClr val="F57359">
                <a:alpha val="24000"/>
              </a:srgb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榜单规则策略</a:t>
            </a:r>
            <a:r>
              <a:rPr lang="zh-CN" altLang="en-US" sz="1200" kern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uFillTx/>
                <a:latin typeface="MiSans Medium" charset="0"/>
                <a:ea typeface="MiSans Medium" charset="0"/>
                <a:cs typeface="MiSans Medium" charset="0"/>
              </a:rPr>
              <a:t>合理性</a:t>
            </a:r>
            <a:endParaRPr lang="zh-CN" altLang="en-US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" name="米菲PPT63"/>
          <p:cNvSpPr/>
          <p:nvPr/>
        </p:nvSpPr>
        <p:spPr>
          <a:xfrm>
            <a:off x="4556866" y="1621734"/>
            <a:ext cx="3830843" cy="305135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9" name="米菲PPT69"/>
          <p:cNvSpPr txBox="1"/>
          <p:nvPr/>
        </p:nvSpPr>
        <p:spPr>
          <a:xfrm>
            <a:off x="4667184" y="1622188"/>
            <a:ext cx="3720525" cy="304681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uFillTx/>
                <a:latin typeface="MiSans Medium" panose="00000600000000000000" pitchFamily="2" charset="-122"/>
                <a:ea typeface="MiSans Medium" panose="00000600000000000000" pitchFamily="2" charset="-122"/>
              </a:rPr>
              <a:t>拉通</a:t>
            </a:r>
            <a:r>
              <a:rPr lang="zh-CN" altLang="en-US" kern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Arial" panose="020B0604020202020204" pitchFamily="34" charset="0"/>
              </a:rPr>
              <a:t>点评侧评价数据，包括规模、覆盖、策略等</a:t>
            </a:r>
            <a:endParaRPr lang="zh-CN" altLang="en-US">
              <a:latin typeface="MiSans Medium" panose="00000600000000000000" pitchFamily="2" charset="-122"/>
              <a:ea typeface="MiSans Medium" panose="00000600000000000000" pitchFamily="2" charset="-122"/>
            </a:endParaRPr>
          </a:p>
        </p:txBody>
      </p:sp>
      <p:sp>
        <p:nvSpPr>
          <p:cNvPr id="20" name="米菲PPT63"/>
          <p:cNvSpPr/>
          <p:nvPr/>
        </p:nvSpPr>
        <p:spPr>
          <a:xfrm>
            <a:off x="4556866" y="1994931"/>
            <a:ext cx="3830843" cy="334528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1" name="米菲PPT69"/>
          <p:cNvSpPr txBox="1"/>
          <p:nvPr/>
        </p:nvSpPr>
        <p:spPr>
          <a:xfrm>
            <a:off x="4667184" y="1995385"/>
            <a:ext cx="3720525" cy="28327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lvl="0"/>
            <a:r>
              <a:rPr lang="zh-CN" altLang="en-US" kern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FillTx/>
                <a:latin typeface="MiSans Medium" charset="0"/>
                <a:ea typeface="MiSans Medium" charset="0"/>
                <a:cs typeface="MiSans Medium" charset="0"/>
              </a:rPr>
              <a:t>拉通必吃榜、主题榜等榜单的建设，及心智建设</a:t>
            </a:r>
            <a:endParaRPr lang="zh-CN" altLang="en-US">
              <a:latin typeface="MiSans Medium" charset="0"/>
              <a:ea typeface="MiSans Medium" charset="0"/>
              <a:cs typeface="MiSans Medium" charset="0"/>
            </a:endParaRPr>
          </a:p>
        </p:txBody>
      </p:sp>
      <p:sp>
        <p:nvSpPr>
          <p:cNvPr id="22" name="米菲PPT63"/>
          <p:cNvSpPr/>
          <p:nvPr/>
        </p:nvSpPr>
        <p:spPr>
          <a:xfrm>
            <a:off x="4556866" y="2406942"/>
            <a:ext cx="3830843" cy="294490"/>
          </a:xfrm>
          <a:prstGeom prst="roundRect">
            <a:avLst>
              <a:gd name="adj" fmla="val 10545"/>
            </a:avLst>
          </a:prstGeom>
          <a:solidFill>
            <a:sysClr val="window" lastClr="FFFFFF"/>
          </a:solidFill>
          <a:ln w="6350" cap="flat" cmpd="sng" algn="ctr">
            <a:noFill/>
            <a:prstDash val="solid"/>
            <a:miter lim="800000"/>
          </a:ln>
          <a:effectLst>
            <a:outerShdw blurRad="469900" dist="123444" dir="5400000" sx="99000" sy="99000" algn="ctr" rotWithShape="0">
              <a:srgbClr val="62799C">
                <a:alpha val="16000"/>
              </a:srgbClr>
            </a:outerShdw>
          </a:effectLst>
        </p:spPr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MiSans Medium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3" name="米菲PPT69"/>
          <p:cNvSpPr txBox="1"/>
          <p:nvPr/>
        </p:nvSpPr>
        <p:spPr>
          <a:xfrm>
            <a:off x="4667184" y="2389900"/>
            <a:ext cx="3720525" cy="24166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charset="0"/>
              </a:rPr>
              <a:t>从城市、品类、商户覆盖情况衡量规则策略的合理性</a:t>
            </a:r>
            <a:endParaRPr lang="zh-CN" altLang="en-US">
              <a:latin typeface="MiSans Medium" panose="00000600000000000000" pitchFamily="2" charset="-122"/>
              <a:ea typeface="MiSans Medium" panose="00000600000000000000" pitchFamily="2" charset="-122"/>
              <a:cs typeface="MiSans Medium" charset="0"/>
            </a:endParaRPr>
          </a:p>
        </p:txBody>
      </p:sp>
      <p:sp>
        <p:nvSpPr>
          <p:cNvPr id="24" name="米菲PPT36"/>
          <p:cNvSpPr txBox="1"/>
          <p:nvPr/>
        </p:nvSpPr>
        <p:spPr>
          <a:xfrm>
            <a:off x="529591" y="2376351"/>
            <a:ext cx="1755277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100000"/>
                  </a:schemeClr>
                </a:solidFill>
                <a:effectLst/>
                <a:latin typeface="MiSans Normal" panose="00000500000000000000" pitchFamily="2" charset="-122"/>
                <a:ea typeface="MiSans Normal" panose="00000500000000000000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zh-CN" altLang="en-US" sz="1050" dirty="0">
                <a:solidFill>
                  <a:prstClr val="black"/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（产运、用增、市场）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榜单渗透率低及优化方向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用户心智问题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026" y="1698127"/>
            <a:ext cx="4431394" cy="31639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342" y="151420"/>
            <a:ext cx="831461" cy="18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1272" y="151420"/>
            <a:ext cx="831461" cy="180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652" y="151420"/>
            <a:ext cx="831461" cy="1800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962" y="164640"/>
            <a:ext cx="831461" cy="1800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6269" y="151420"/>
            <a:ext cx="831461" cy="18000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56269" y="196464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美团首页猜喜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062342" y="197786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大搜结果列表页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998651" y="197786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商家详情页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931684" y="197786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美食首页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871272" y="1977860"/>
            <a:ext cx="83146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b="1" dirty="0"/>
              <a:t>榜单聚合页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670581" y="340284"/>
            <a:ext cx="492443" cy="135784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000" b="1" dirty="0"/>
              <a:t>美团榜单核心路径（现状）</a:t>
            </a:r>
          </a:p>
        </p:txBody>
      </p:sp>
      <p:sp>
        <p:nvSpPr>
          <p:cNvPr id="24" name="矩形 23"/>
          <p:cNvSpPr/>
          <p:nvPr/>
        </p:nvSpPr>
        <p:spPr>
          <a:xfrm>
            <a:off x="4164330" y="868203"/>
            <a:ext cx="390461" cy="560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271806" y="733113"/>
            <a:ext cx="328655" cy="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998651" y="703316"/>
            <a:ext cx="420831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241248" y="464119"/>
            <a:ext cx="160367" cy="148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267231" y="1337263"/>
            <a:ext cx="260175" cy="52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670572" y="2691716"/>
            <a:ext cx="492443" cy="135784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000" b="1" dirty="0"/>
              <a:t>优化用户主要动线（计划）</a:t>
            </a:r>
          </a:p>
        </p:txBody>
      </p:sp>
      <p:sp>
        <p:nvSpPr>
          <p:cNvPr id="30" name="内容占位符 2"/>
          <p:cNvSpPr>
            <a:spLocks noGrp="1"/>
          </p:cNvSpPr>
          <p:nvPr>
            <p:ph sz="quarter" idx="23"/>
          </p:nvPr>
        </p:nvSpPr>
        <p:spPr>
          <a:xfrm>
            <a:off x="252206" y="1131888"/>
            <a:ext cx="3610721" cy="9256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 dirty="0"/>
              <a:t>美团榜单渗透率低</a:t>
            </a:r>
            <a:r>
              <a:rPr lang="en-US" altLang="zh-CN" dirty="0"/>
              <a:t>1.7%</a:t>
            </a:r>
            <a:r>
              <a:rPr lang="zh-CN" altLang="en-US" dirty="0"/>
              <a:t>（</a:t>
            </a:r>
            <a:r>
              <a:rPr lang="en-US" altLang="zh-CN" dirty="0"/>
              <a:t>66w/3950w</a:t>
            </a:r>
            <a:r>
              <a:rPr lang="zh-CN" altLang="en-US" dirty="0"/>
              <a:t>），我们的计划是在节日</a:t>
            </a:r>
            <a:r>
              <a:rPr lang="en-US" altLang="zh-CN" dirty="0"/>
              <a:t>/</a:t>
            </a:r>
            <a:r>
              <a:rPr lang="zh-CN" altLang="en-US" dirty="0"/>
              <a:t>节点</a:t>
            </a:r>
            <a:r>
              <a:rPr lang="en-US" altLang="zh-CN" dirty="0"/>
              <a:t>/</a:t>
            </a:r>
            <a:r>
              <a:rPr lang="zh-CN" altLang="en-US" dirty="0"/>
              <a:t>热点等，结合场景榜透出测试；在资产建设完善</a:t>
            </a:r>
            <a:r>
              <a:rPr lang="en-US" altLang="zh-CN" dirty="0"/>
              <a:t>+</a:t>
            </a:r>
            <a:r>
              <a:rPr lang="zh-CN" altLang="en-US" dirty="0"/>
              <a:t>榜单矩阵初具规模时，可以占据用户主要动线，承接美食消费决策主要需求。</a:t>
            </a:r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 flipH="1">
            <a:off x="335396" y="4457800"/>
            <a:ext cx="3130550" cy="36933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美团榜单的主要流量来源</a:t>
            </a:r>
            <a:endParaRPr lang="en-US" altLang="zh-CN" sz="1000" b="1" dirty="0"/>
          </a:p>
          <a:p>
            <a:pPr algn="ctr"/>
            <a:r>
              <a:rPr lang="en-US" altLang="zh-CN" sz="800" dirty="0"/>
              <a:t>TOP</a:t>
            </a:r>
            <a:r>
              <a:rPr lang="zh-CN" altLang="en-US" sz="800" dirty="0"/>
              <a:t> </a:t>
            </a:r>
            <a:r>
              <a:rPr lang="en-US" altLang="zh-CN" sz="800" dirty="0"/>
              <a:t>3</a:t>
            </a:r>
            <a:r>
              <a:rPr lang="zh-CN" altLang="en-US" sz="800" dirty="0"/>
              <a:t>：</a:t>
            </a:r>
            <a:r>
              <a:rPr lang="en-US" altLang="zh-CN" sz="800" dirty="0"/>
              <a:t>①</a:t>
            </a:r>
            <a:r>
              <a:rPr lang="zh-CN" altLang="en-US" sz="800" dirty="0"/>
              <a:t>大搜搜索结果页 </a:t>
            </a:r>
            <a:r>
              <a:rPr lang="en-US" altLang="zh-CN" sz="800" dirty="0"/>
              <a:t>②</a:t>
            </a:r>
            <a:r>
              <a:rPr lang="zh-CN" altLang="en-US" sz="800" dirty="0"/>
              <a:t>商家详情页 </a:t>
            </a:r>
            <a:r>
              <a:rPr lang="en-US" altLang="zh-CN" sz="800" dirty="0"/>
              <a:t>③</a:t>
            </a:r>
            <a:r>
              <a:rPr lang="zh-CN" altLang="en-US" sz="800" dirty="0"/>
              <a:t>美食首页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9539" y="2301259"/>
            <a:ext cx="1032267" cy="2235201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7778" y="2304460"/>
            <a:ext cx="1031704" cy="22320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9830" y="2304460"/>
            <a:ext cx="1030788" cy="22320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 flipH="1">
            <a:off x="4239538" y="4576648"/>
            <a:ext cx="103226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大搜</a:t>
            </a:r>
            <a:r>
              <a:rPr lang="en-US" altLang="zh-CN" sz="1000" b="1" dirty="0"/>
              <a:t>SUG</a:t>
            </a:r>
            <a:r>
              <a:rPr lang="zh-CN" altLang="en-US" sz="1000" b="1" dirty="0"/>
              <a:t>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增加榜单入口</a:t>
            </a:r>
          </a:p>
        </p:txBody>
      </p:sp>
      <p:sp>
        <p:nvSpPr>
          <p:cNvPr id="36" name="文本框 35"/>
          <p:cNvSpPr txBox="1"/>
          <p:nvPr/>
        </p:nvSpPr>
        <p:spPr>
          <a:xfrm flipH="1">
            <a:off x="5432153" y="4590919"/>
            <a:ext cx="1008478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搜索结果页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增加榜单模块</a:t>
            </a:r>
          </a:p>
        </p:txBody>
      </p:sp>
      <p:sp>
        <p:nvSpPr>
          <p:cNvPr id="37" name="文本框 36"/>
          <p:cNvSpPr txBox="1"/>
          <p:nvPr/>
        </p:nvSpPr>
        <p:spPr>
          <a:xfrm flipH="1">
            <a:off x="6590985" y="4578750"/>
            <a:ext cx="1008478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美团首页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增加榜单金刚</a:t>
            </a:r>
          </a:p>
        </p:txBody>
      </p:sp>
      <p:sp>
        <p:nvSpPr>
          <p:cNvPr id="39" name="文本框 38"/>
          <p:cNvSpPr txBox="1"/>
          <p:nvPr/>
        </p:nvSpPr>
        <p:spPr>
          <a:xfrm flipH="1">
            <a:off x="7725849" y="4578750"/>
            <a:ext cx="1008478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zh-CN" altLang="en-US" sz="1000" b="1" dirty="0"/>
              <a:t>节日</a:t>
            </a:r>
            <a:r>
              <a:rPr lang="en-US" altLang="zh-CN" sz="1000" b="1" dirty="0"/>
              <a:t>/</a:t>
            </a:r>
            <a:r>
              <a:rPr lang="zh-CN" altLang="en-US" sz="1000" b="1" dirty="0"/>
              <a:t>节点</a:t>
            </a:r>
            <a:r>
              <a:rPr lang="en-US" altLang="zh-CN" sz="1000" b="1" dirty="0"/>
              <a:t>/</a:t>
            </a:r>
          </a:p>
          <a:p>
            <a:pPr algn="ctr"/>
            <a:r>
              <a:rPr lang="zh-CN" altLang="en-US" sz="1000" b="1" dirty="0"/>
              <a:t>热点榜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0966" y="2304460"/>
            <a:ext cx="918244" cy="223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椭圆 85"/>
          <p:cNvSpPr/>
          <p:nvPr/>
        </p:nvSpPr>
        <p:spPr>
          <a:xfrm>
            <a:off x="4873498" y="959674"/>
            <a:ext cx="720000" cy="720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38000"/>
                  <a:lumOff val="62000"/>
                </a:schemeClr>
              </a:gs>
              <a:gs pos="0">
                <a:schemeClr val="bg1"/>
              </a:gs>
            </a:gsLst>
            <a:lin ang="210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0" y="-720341"/>
            <a:ext cx="8639588" cy="66913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营销活动以供给为主，加强两榜一会双节的</a:t>
            </a:r>
            <a:r>
              <a:rPr lang="en-GB" altLang="zh-CN" dirty="0"/>
              <a:t>C</a:t>
            </a:r>
            <a:r>
              <a:rPr lang="zh-CN" altLang="en-US" dirty="0"/>
              <a:t>端牵引；</a:t>
            </a:r>
            <a:r>
              <a:rPr lang="en-US" altLang="zh-CN" dirty="0"/>
              <a:t>1</a:t>
            </a:r>
            <a:r>
              <a:rPr lang="en-GB" altLang="zh-CN" dirty="0"/>
              <a:t>p</a:t>
            </a:r>
          </a:p>
          <a:p>
            <a:r>
              <a:rPr lang="zh-CN" altLang="en-US" dirty="0"/>
              <a:t>竞品的营销大会的玩法比对：融入消费者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48208" y="128765"/>
            <a:ext cx="8583088" cy="266037"/>
          </a:xfrm>
        </p:spPr>
        <p:txBody>
          <a:bodyPr/>
          <a:lstStyle/>
          <a:p>
            <a:r>
              <a:rPr kumimoji="1" lang="zh-CN" altLang="en-US" dirty="0"/>
              <a:t>用户心智问题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94883" y="1062436"/>
            <a:ext cx="3533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「</a:t>
            </a:r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两榜一会双节</a:t>
            </a:r>
            <a:r>
              <a:rPr lang="ja-JP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」</a:t>
            </a:r>
            <a:endParaRPr lang="zh-CN" altLang="en-US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椭圆 5"/>
          <p:cNvSpPr/>
          <p:nvPr/>
        </p:nvSpPr>
        <p:spPr>
          <a:xfrm>
            <a:off x="3468080" y="954333"/>
            <a:ext cx="720000" cy="720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38000"/>
                  <a:lumOff val="62000"/>
                </a:schemeClr>
              </a:gs>
              <a:gs pos="0">
                <a:schemeClr val="bg1"/>
              </a:gs>
            </a:gsLst>
            <a:lin ang="210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86692" y="1091492"/>
            <a:ext cx="824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+mn-ea"/>
              </a:rPr>
              <a:t>B</a:t>
            </a:r>
            <a:r>
              <a:rPr lang="zh-CN" altLang="en-US" sz="2000" b="1" dirty="0">
                <a:latin typeface="+mn-ea"/>
              </a:rPr>
              <a:t>端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24636" y="1586381"/>
            <a:ext cx="1949091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＃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全民美食狂欢盛典策略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972114" y="1114144"/>
            <a:ext cx="80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+mn-ea"/>
              </a:rPr>
              <a:t>C</a:t>
            </a:r>
            <a:r>
              <a:rPr lang="zh-CN" altLang="en-US" sz="2000" b="1" dirty="0">
                <a:latin typeface="+mn-ea"/>
              </a:rPr>
              <a:t>端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353143" y="1026234"/>
            <a:ext cx="359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+</a:t>
            </a:r>
            <a:endParaRPr lang="zh-CN" altLang="en-US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9" name="矩形: 圆角 68"/>
          <p:cNvSpPr/>
          <p:nvPr/>
        </p:nvSpPr>
        <p:spPr>
          <a:xfrm>
            <a:off x="6278916" y="901035"/>
            <a:ext cx="1554723" cy="720358"/>
          </a:xfrm>
          <a:prstGeom prst="roundRect">
            <a:avLst/>
          </a:prstGeom>
          <a:gradFill flip="none" rotWithShape="1">
            <a:gsLst>
              <a:gs pos="100000">
                <a:schemeClr val="bg1">
                  <a:lumMod val="38000"/>
                  <a:lumOff val="62000"/>
                </a:schemeClr>
              </a:gs>
              <a:gs pos="0">
                <a:schemeClr val="bg1"/>
              </a:gs>
            </a:gsLst>
            <a:lin ang="21000000" scaled="0"/>
            <a:tileRect/>
          </a:gradFill>
          <a:ln w="635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290440" y="1089886"/>
            <a:ext cx="1703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影响力渗透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5757358" y="1077690"/>
            <a:ext cx="521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＝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-9741" y="2407214"/>
            <a:ext cx="1453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+mn-ea"/>
              </a:rPr>
              <a:t>竞品玩法亮点：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/>
          <a:srcRect l="15955" r="8441" b="21017"/>
          <a:stretch>
            <a:fillRect/>
          </a:stretch>
        </p:blipFill>
        <p:spPr>
          <a:xfrm>
            <a:off x="93687" y="3561846"/>
            <a:ext cx="876876" cy="6264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59" name="组合 58"/>
          <p:cNvGrpSpPr/>
          <p:nvPr/>
        </p:nvGrpSpPr>
        <p:grpSpPr>
          <a:xfrm>
            <a:off x="-2145" y="2929887"/>
            <a:ext cx="1482148" cy="1890399"/>
            <a:chOff x="-2145" y="2929887"/>
            <a:chExt cx="1482148" cy="189039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636" y="2929887"/>
              <a:ext cx="855367" cy="189039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50" name="文本框 49"/>
            <p:cNvSpPr txBox="1"/>
            <p:nvPr/>
          </p:nvSpPr>
          <p:spPr>
            <a:xfrm>
              <a:off x="-2145" y="4298264"/>
              <a:ext cx="114491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/>
              <a:r>
                <a:rPr lang="en-US" altLang="zh-CN" sz="800" dirty="0">
                  <a:effectLst/>
                </a:rPr>
                <a:t>D+</a:t>
              </a:r>
              <a:r>
                <a:rPr lang="zh-CN" altLang="en-US" sz="800" dirty="0">
                  <a:effectLst/>
                </a:rPr>
                <a:t>心动榜</a:t>
              </a:r>
              <a:endParaRPr lang="en-US" altLang="zh-CN" sz="800" dirty="0">
                <a:effectLst/>
              </a:endParaRPr>
            </a:p>
            <a:p>
              <a:pPr marL="0" marR="0"/>
              <a:r>
                <a:rPr lang="zh-CN" altLang="en-US" sz="800" dirty="0">
                  <a:effectLst/>
                </a:rPr>
                <a:t>成团夜活动</a:t>
              </a: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045" y="2804844"/>
            <a:ext cx="939442" cy="18912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6"/>
          <a:srcRect l="19857" r="-12936"/>
          <a:stretch>
            <a:fillRect/>
          </a:stretch>
        </p:blipFill>
        <p:spPr>
          <a:xfrm>
            <a:off x="1496719" y="2813074"/>
            <a:ext cx="1387211" cy="10268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0" name="文本框 59"/>
          <p:cNvSpPr txBox="1"/>
          <p:nvPr/>
        </p:nvSpPr>
        <p:spPr>
          <a:xfrm>
            <a:off x="1496719" y="4255938"/>
            <a:ext cx="10330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800" dirty="0">
                <a:effectLst/>
              </a:rPr>
              <a:t>高德扫街榜宣发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9382" y="2787475"/>
            <a:ext cx="882533" cy="11590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0" name="内容占位符 2"/>
          <p:cNvSpPr txBox="1"/>
          <p:nvPr/>
        </p:nvSpPr>
        <p:spPr>
          <a:xfrm>
            <a:off x="5110317" y="-890201"/>
            <a:ext cx="8523223" cy="116184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/>
              <a:t>线上发榜盛典</a:t>
            </a:r>
            <a:r>
              <a:rPr lang="zh-CN" altLang="en-US" sz="1200" dirty="0"/>
              <a:t>，现场直播并邀请明星、头部美食</a:t>
            </a:r>
            <a:r>
              <a:rPr lang="en-US" altLang="zh-CN" sz="1200" dirty="0"/>
              <a:t>KOL</a:t>
            </a:r>
            <a:r>
              <a:rPr lang="zh-CN" altLang="en-US" sz="1200" dirty="0"/>
              <a:t>、知名厨师等为商家颁奖，打造兼具趣味性和权威性的美食狂欢节。</a:t>
            </a:r>
            <a:endParaRPr lang="en-US" altLang="zh-CN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/>
              <a:t>全渠道内容同步，引爆线上线下流量：</a:t>
            </a:r>
            <a:r>
              <a:rPr lang="zh-CN" altLang="en-US" sz="1200" dirty="0"/>
              <a:t>微博、小红书、快手等社交媒体话题发布，</a:t>
            </a:r>
            <a:r>
              <a:rPr lang="en-US" altLang="zh-CN" sz="1200" dirty="0"/>
              <a:t>KOL</a:t>
            </a:r>
            <a:r>
              <a:rPr lang="zh-CN" altLang="en-US" sz="1200" dirty="0"/>
              <a:t>探店达人矩阵宣传，主流媒体宣发。</a:t>
            </a:r>
            <a:endParaRPr lang="en-US" altLang="zh-CN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i="0" dirty="0">
                <a:solidFill>
                  <a:srgbClr val="1F2328"/>
                </a:solidFill>
                <a:effectLst/>
                <a:latin typeface="PingFang SC"/>
              </a:rPr>
              <a:t>个性化推荐与互动玩法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PingFang SC"/>
              </a:rPr>
              <a:t>：利用足迹点亮、美食打榜等互动性强的机制实现社交裂变，增强榜单传播，提高用户参与度。</a:t>
            </a:r>
            <a:endParaRPr lang="en-US" altLang="zh-CN" sz="1200" b="0" i="0" dirty="0">
              <a:solidFill>
                <a:srgbClr val="1F2328"/>
              </a:solidFill>
              <a:effectLst/>
              <a:latin typeface="PingFang SC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i="0" dirty="0">
                <a:solidFill>
                  <a:srgbClr val="1F2328"/>
                </a:solidFill>
                <a:effectLst/>
                <a:latin typeface="PingFang SC"/>
              </a:rPr>
              <a:t>一饭封神</a:t>
            </a:r>
            <a:r>
              <a:rPr lang="en-US" altLang="zh-CN" sz="1200" b="1" i="0" dirty="0">
                <a:solidFill>
                  <a:srgbClr val="1F2328"/>
                </a:solidFill>
                <a:effectLst/>
                <a:latin typeface="PingFang SC"/>
              </a:rPr>
              <a:t>IP</a:t>
            </a:r>
            <a:r>
              <a:rPr lang="zh-CN" altLang="en-US" sz="1200" b="1" dirty="0">
                <a:solidFill>
                  <a:srgbClr val="1F2328"/>
                </a:solidFill>
                <a:latin typeface="PingFang SC"/>
              </a:rPr>
              <a:t>联名造势，</a:t>
            </a:r>
            <a:r>
              <a:rPr lang="zh-CN" altLang="en-US" sz="1200" dirty="0">
                <a:solidFill>
                  <a:srgbClr val="1F2328"/>
                </a:solidFill>
                <a:latin typeface="PingFang SC"/>
              </a:rPr>
              <a:t>上线“封神同款套餐”，打造“封神探店路线”等活动，为榜单进行权威背书，持续扩大影响力。</a:t>
            </a:r>
            <a:endParaRPr lang="zh-CN" altLang="en-US" sz="1200" i="0" dirty="0">
              <a:solidFill>
                <a:srgbClr val="1F2328"/>
              </a:solidFill>
              <a:effectLst/>
              <a:latin typeface="PingFang SC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强化榜单运营：提升榜单整体品牌力及认知度</a:t>
            </a:r>
            <a:endParaRPr kumimoji="1" lang="zh-CN" altLang="en-US" dirty="0"/>
          </a:p>
        </p:txBody>
      </p:sp>
      <p:sp>
        <p:nvSpPr>
          <p:cNvPr id="10" name="米菲PPT136"/>
          <p:cNvSpPr/>
          <p:nvPr/>
        </p:nvSpPr>
        <p:spPr>
          <a:xfrm>
            <a:off x="4188245" y="1893248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商家邀约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" name="米菲PPT137"/>
          <p:cNvSpPr/>
          <p:nvPr/>
        </p:nvSpPr>
        <p:spPr>
          <a:xfrm>
            <a:off x="3320760" y="2203883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颁奖典礼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2" name="米菲PPT136"/>
          <p:cNvSpPr/>
          <p:nvPr/>
        </p:nvSpPr>
        <p:spPr>
          <a:xfrm>
            <a:off x="3320760" y="1893248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奖项划分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" name="米菲PPT136"/>
          <p:cNvSpPr/>
          <p:nvPr/>
        </p:nvSpPr>
        <p:spPr>
          <a:xfrm>
            <a:off x="5049664" y="1888558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邀约明星</a:t>
            </a:r>
          </a:p>
        </p:txBody>
      </p:sp>
      <p:sp>
        <p:nvSpPr>
          <p:cNvPr id="16" name="米菲PPT137"/>
          <p:cNvSpPr/>
          <p:nvPr/>
        </p:nvSpPr>
        <p:spPr>
          <a:xfrm>
            <a:off x="5922887" y="1899068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线上预热</a:t>
            </a:r>
          </a:p>
        </p:txBody>
      </p:sp>
      <p:sp>
        <p:nvSpPr>
          <p:cNvPr id="17" name="米菲PPT136"/>
          <p:cNvSpPr/>
          <p:nvPr/>
        </p:nvSpPr>
        <p:spPr>
          <a:xfrm>
            <a:off x="5049664" y="2198117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粉丝互动</a:t>
            </a:r>
          </a:p>
        </p:txBody>
      </p:sp>
      <p:sp>
        <p:nvSpPr>
          <p:cNvPr id="18" name="米菲PPT137"/>
          <p:cNvSpPr/>
          <p:nvPr/>
        </p:nvSpPr>
        <p:spPr>
          <a:xfrm>
            <a:off x="5911248" y="2193004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抽奖造势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5" name="米菲PPT136"/>
          <p:cNvSpPr/>
          <p:nvPr/>
        </p:nvSpPr>
        <p:spPr>
          <a:xfrm>
            <a:off x="6784469" y="2191724"/>
            <a:ext cx="1554723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线上流量矩阵</a:t>
            </a:r>
            <a:r>
              <a:rPr lang="en-US" altLang="zh-CN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+</a:t>
            </a: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粉丝效能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0" name="米菲PPT137"/>
          <p:cNvSpPr/>
          <p:nvPr/>
        </p:nvSpPr>
        <p:spPr>
          <a:xfrm>
            <a:off x="3320760" y="2533170"/>
            <a:ext cx="1032383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线下物料铺设</a:t>
            </a:r>
          </a:p>
        </p:txBody>
      </p: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3953602" y="2824177"/>
          <a:ext cx="5190399" cy="219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7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发榜前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发榜中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</a:rPr>
                        <a:t>发榜后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dirty="0"/>
                        <a:t>D+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招商预热、</a:t>
                      </a:r>
                      <a:r>
                        <a:rPr lang="zh-CN" altLang="en-US" sz="1100" b="1" dirty="0"/>
                        <a:t>短视频挑战赛、粉丝打榜</a:t>
                      </a:r>
                      <a:r>
                        <a:rPr lang="zh-CN" altLang="en-US" sz="1100" dirty="0"/>
                        <a:t>解锁明星物料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行业媒体</a:t>
                      </a:r>
                      <a:r>
                        <a:rPr lang="en-US" altLang="zh-CN" sz="1100" dirty="0"/>
                        <a:t>+</a:t>
                      </a:r>
                      <a:r>
                        <a:rPr lang="zh-CN" altLang="en-US" sz="1100" dirty="0"/>
                        <a:t>美食</a:t>
                      </a:r>
                      <a:r>
                        <a:rPr lang="en-GB" altLang="zh-CN" sz="1100" dirty="0"/>
                        <a:t>KOL</a:t>
                      </a:r>
                      <a:r>
                        <a:rPr lang="zh-CN" altLang="en-US" sz="1100" dirty="0"/>
                        <a:t>传播、明星商家同台、线上</a:t>
                      </a:r>
                      <a:r>
                        <a:rPr lang="zh-CN" altLang="en-US" sz="1100" b="1" dirty="0"/>
                        <a:t>直播盛典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流量长效激励、引导用户打卡、精选商家</a:t>
                      </a:r>
                      <a:r>
                        <a:rPr lang="en-GB" altLang="zh-CN" sz="1100" dirty="0"/>
                        <a:t>showcase</a:t>
                      </a:r>
                      <a:r>
                        <a:rPr lang="zh-CN" altLang="en-US" sz="1100" dirty="0"/>
                        <a:t>宣传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dirty="0"/>
                        <a:t>B+</a:t>
                      </a:r>
                      <a:endParaRPr lang="zh-CN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王鹤棣短片宣传</a:t>
                      </a:r>
                      <a:r>
                        <a:rPr lang="zh-CN" altLang="en-US" sz="1100" dirty="0"/>
                        <a:t>、权威媒体预热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线上刷屏线下硬广</a:t>
                      </a:r>
                      <a:r>
                        <a:rPr lang="zh-CN" altLang="en-US" sz="1100" dirty="0"/>
                        <a:t>、烟火好店支持计划、站内全域流量扶持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写评价</a:t>
                      </a:r>
                      <a:r>
                        <a:rPr lang="zh-CN" altLang="en-US" sz="1100" b="1" dirty="0"/>
                        <a:t>抽手机</a:t>
                      </a:r>
                      <a:r>
                        <a:rPr lang="zh-CN" altLang="en-US" sz="1100" dirty="0"/>
                        <a:t>拉新促活、推出国庆热点榜单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2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/>
                        <a:t>微博之夜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出席名单预热</a:t>
                      </a:r>
                      <a:r>
                        <a:rPr lang="zh-CN" altLang="en-US" sz="1100" dirty="0"/>
                        <a:t>、品牌宣传片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红毯仪式直播</a:t>
                      </a:r>
                      <a:r>
                        <a:rPr lang="zh-CN" altLang="en-US" sz="1100" dirty="0"/>
                        <a:t>、趣味</a:t>
                      </a:r>
                      <a:r>
                        <a:rPr lang="zh-CN" altLang="en-US" sz="1100" b="1" dirty="0"/>
                        <a:t>颁奖环节</a:t>
                      </a:r>
                      <a:r>
                        <a:rPr lang="zh-CN" altLang="en-US" sz="1100" dirty="0"/>
                        <a:t>、</a:t>
                      </a:r>
                      <a:r>
                        <a:rPr lang="zh-CN" altLang="en-US" sz="1100" b="1" dirty="0"/>
                        <a:t>用户实时互动玩法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话题长尾运营、品牌二次传播、</a:t>
                      </a:r>
                      <a:r>
                        <a:rPr lang="zh-CN" altLang="en-US" sz="1100" b="1" dirty="0"/>
                        <a:t>发布影响力数据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文本框 40"/>
          <p:cNvSpPr txBox="1"/>
          <p:nvPr/>
        </p:nvSpPr>
        <p:spPr>
          <a:xfrm>
            <a:off x="2365432" y="1830953"/>
            <a:ext cx="8556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/>
                </a:solidFill>
              </a:rPr>
              <a:t>发榜前</a:t>
            </a:r>
            <a:endParaRPr lang="zh-CN" altLang="en-US" sz="1400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2440775" y="2164891"/>
            <a:ext cx="780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/>
              <a:t>发榜中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2338582" y="2497067"/>
            <a:ext cx="882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/>
              <a:t>发榜后</a:t>
            </a:r>
          </a:p>
        </p:txBody>
      </p:sp>
      <p:sp>
        <p:nvSpPr>
          <p:cNvPr id="57" name="米菲PPT137"/>
          <p:cNvSpPr/>
          <p:nvPr/>
        </p:nvSpPr>
        <p:spPr>
          <a:xfrm>
            <a:off x="4188080" y="2209619"/>
            <a:ext cx="767840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直播盛典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161387" y="4740551"/>
            <a:ext cx="1063100" cy="15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800" dirty="0">
                <a:effectLst/>
              </a:rPr>
              <a:t>微博之夜热搜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3695" y="3347311"/>
            <a:ext cx="1194411" cy="85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168" name="米菲PPT137"/>
          <p:cNvSpPr/>
          <p:nvPr/>
        </p:nvSpPr>
        <p:spPr>
          <a:xfrm>
            <a:off x="4794579" y="2533170"/>
            <a:ext cx="1032383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抽奖活动促活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7169" name="米菲PPT137"/>
          <p:cNvSpPr/>
          <p:nvPr/>
        </p:nvSpPr>
        <p:spPr>
          <a:xfrm>
            <a:off x="6548801" y="2533170"/>
            <a:ext cx="1199653" cy="190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rPr>
              <a:t>发布影响力数据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ea"/>
                <a:ea typeface="+mn-ea"/>
              </a:rPr>
              <a:t>美团榜单定位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-129540" y="-1015663"/>
            <a:ext cx="67919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定位及差异化（核心资产、核心用户、核心供给、核心xx）：通过核心资产的xxx，巩固加强用户用餐重决策心智，长期成为用户餐饮决策的首选。同时帮助商家xx（待讨论）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信息→交易→评价→复购，更准确+筛选过的的高效信息-&gt;交易效率-&gt;验证一致性评价-&gt;验证一致性评复购-&gt;积累核心资产-&gt;更有公信力的信息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394887" y="1037043"/>
            <a:ext cx="8410726" cy="34210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latin typeface="+mn-ea"/>
                <a:ea typeface="+mn-ea"/>
              </a:rPr>
              <a:t>基于美团</a:t>
            </a:r>
            <a:r>
              <a:rPr lang="en-US" altLang="zh-CN" sz="1200" dirty="0">
                <a:latin typeface="+mn-ea"/>
                <a:ea typeface="+mn-ea"/>
              </a:rPr>
              <a:t>+</a:t>
            </a:r>
            <a:r>
              <a:rPr lang="zh-CN" altLang="en-US" sz="1200" dirty="0">
                <a:latin typeface="+mn-ea"/>
                <a:ea typeface="+mn-ea"/>
              </a:rPr>
              <a:t>点评双平台长期及先发优势而积累的交易、评价、服务履约及门店信息等核心资产构建公信力，覆盖、排筛用心经营的核心供给，牵引其成长，助力其增长及沉淀核心资产。进而，不断巩固加强用户用餐重决策心智，长期成为用户用餐决策首选。</a:t>
            </a:r>
            <a:endParaRPr lang="en-US" altLang="zh-CN" sz="12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</a:rPr>
              <a:t>相对于</a:t>
            </a:r>
            <a:r>
              <a:rPr lang="en-US" altLang="zh-CN" dirty="0">
                <a:latin typeface="+mn-ea"/>
              </a:rPr>
              <a:t>D+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B+</a:t>
            </a:r>
            <a:r>
              <a:rPr lang="zh-CN" altLang="en-US" dirty="0">
                <a:latin typeface="+mn-ea"/>
              </a:rPr>
              <a:t>，定位差异在于</a:t>
            </a:r>
            <a:r>
              <a:rPr lang="zh-CN" altLang="en-US" b="1" dirty="0">
                <a:latin typeface="+mn-ea"/>
              </a:rPr>
              <a:t>核心资产的规模及丰富度</a:t>
            </a:r>
            <a:r>
              <a:rPr lang="zh-CN" altLang="en-US" dirty="0">
                <a:latin typeface="+mn-ea"/>
              </a:rPr>
              <a:t>，以及对</a:t>
            </a:r>
            <a:r>
              <a:rPr lang="zh-CN" altLang="en-US" b="1" dirty="0">
                <a:latin typeface="+mn-ea"/>
              </a:rPr>
              <a:t>核心供给</a:t>
            </a:r>
            <a:r>
              <a:rPr lang="zh-CN" altLang="en-US" dirty="0">
                <a:latin typeface="+mn-ea"/>
              </a:rPr>
              <a:t>选择、牵引、服务；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  <a:ea typeface="+mn-ea"/>
              </a:rPr>
              <a:t>相对于点评，定位差异在于</a:t>
            </a:r>
            <a:r>
              <a:rPr lang="zh-CN" altLang="en-US" b="1" dirty="0">
                <a:latin typeface="+mn-ea"/>
                <a:ea typeface="+mn-ea"/>
              </a:rPr>
              <a:t>核心资产的维度</a:t>
            </a:r>
            <a:r>
              <a:rPr lang="zh-CN" altLang="en-US" dirty="0">
                <a:latin typeface="+mn-ea"/>
                <a:ea typeface="+mn-ea"/>
              </a:rPr>
              <a:t>，对商家的</a:t>
            </a:r>
            <a:r>
              <a:rPr lang="zh-CN" altLang="en-US" b="1" dirty="0">
                <a:latin typeface="+mn-ea"/>
                <a:ea typeface="+mn-ea"/>
              </a:rPr>
              <a:t>牵引及助力，</a:t>
            </a:r>
            <a:r>
              <a:rPr lang="zh-CN" altLang="en-US" dirty="0">
                <a:latin typeface="+mn-ea"/>
                <a:ea typeface="+mn-ea"/>
              </a:rPr>
              <a:t>以及满足</a:t>
            </a:r>
            <a:r>
              <a:rPr lang="zh-CN" altLang="en-US" b="1" dirty="0">
                <a:latin typeface="+mn-ea"/>
                <a:ea typeface="+mn-ea"/>
              </a:rPr>
              <a:t>不同核心用户</a:t>
            </a:r>
            <a:r>
              <a:rPr lang="zh-CN" altLang="en-US" dirty="0">
                <a:latin typeface="+mn-ea"/>
                <a:ea typeface="+mn-ea"/>
              </a:rPr>
              <a:t>的需求；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endParaRPr lang="en-US" altLang="zh-CN" sz="1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zh-CN" altLang="en-US" sz="1200" dirty="0">
                <a:latin typeface="+mn-ea"/>
                <a:ea typeface="+mn-ea"/>
              </a:rPr>
              <a:t>基于定位，榜单目前需要解决的核心问题包括：</a:t>
            </a:r>
            <a:endParaRPr lang="en-US" altLang="zh-CN" sz="12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</a:rPr>
              <a:t>提升核心城市覆盖，提升品类、场景、细粒度</a:t>
            </a:r>
            <a:r>
              <a:rPr lang="en-US" altLang="zh-CN" dirty="0">
                <a:latin typeface="+mn-ea"/>
              </a:rPr>
              <a:t>LBS</a:t>
            </a:r>
            <a:r>
              <a:rPr lang="zh-CN" altLang="en-US" dirty="0">
                <a:latin typeface="+mn-ea"/>
              </a:rPr>
              <a:t>等覆盖，即提升对核心供给和核心用心智户的覆盖；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  <a:ea typeface="+mn-ea"/>
              </a:rPr>
              <a:t>优化榜单规则、完善榜单矩阵，加大、丰富榜单对核心资产的多维应用，强化公信力及牵引能力；</a:t>
            </a:r>
            <a:endParaRPr lang="en-US" altLang="zh-CN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</a:rPr>
              <a:t>强化榜单的服务能力，通过榜单，将流量和销量等权益导向核心供给；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300"/>
              </a:spcBef>
            </a:pPr>
            <a:r>
              <a:rPr lang="zh-CN" altLang="en-US" dirty="0">
                <a:latin typeface="+mn-ea"/>
              </a:rPr>
              <a:t>加强榜单运营。提升榜单整体品牌力及认知度；</a:t>
            </a:r>
          </a:p>
          <a:p>
            <a:pPr marL="342900" lvl="1" indent="0">
              <a:lnSpc>
                <a:spcPct val="150000"/>
              </a:lnSpc>
              <a:spcBef>
                <a:spcPts val="300"/>
              </a:spcBef>
              <a:buNone/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437"/>
  <p:tag name="TABLE_ENDDRAG_RECT" val="51*44*873*43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437"/>
  <p:tag name="TABLE_ENDDRAG_RECT" val="51*44*873*43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437"/>
  <p:tag name="TABLE_ENDDRAG_RECT" val="51*44*873*437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11339</Words>
  <Application>Microsoft Office PowerPoint</Application>
  <PresentationFormat>全屏显示(16:9)</PresentationFormat>
  <Paragraphs>1668</Paragraphs>
  <Slides>23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MiSans Bold</vt:lpstr>
      <vt:lpstr>MiSans Medium</vt:lpstr>
      <vt:lpstr>PingFang SC</vt:lpstr>
      <vt:lpstr>等线</vt:lpstr>
      <vt:lpstr>楷体</vt:lpstr>
      <vt:lpstr>宋体</vt:lpstr>
      <vt:lpstr>微软雅黑</vt:lpstr>
      <vt:lpstr>Arial</vt:lpstr>
      <vt:lpstr>Calibri</vt:lpstr>
      <vt:lpstr>Wingdings</vt:lpstr>
      <vt:lpstr>Office 主题​​</vt:lpstr>
      <vt:lpstr>think-cell 幻灯片</vt:lpstr>
      <vt:lpstr>Worksheet</vt:lpstr>
      <vt:lpstr>PowerPoint 演示文稿</vt:lpstr>
      <vt:lpstr>目录</vt:lpstr>
      <vt:lpstr>榜单资产矩阵现状</vt:lpstr>
      <vt:lpstr>榜单问题汇总</vt:lpstr>
      <vt:lpstr>PowerPoint 演示文稿</vt:lpstr>
      <vt:lpstr>双平台核心资产不一致</vt:lpstr>
      <vt:lpstr>刷好评、星级很难维持、不确定性</vt:lpstr>
      <vt:lpstr>核心资产未覆盖：评价星级</vt:lpstr>
      <vt:lpstr>品类资产-双平台不一致及链路复杂</vt:lpstr>
      <vt:lpstr>核心资产未覆盖：用户高搜需求 </vt:lpstr>
      <vt:lpstr>核心资产未覆盖：时令品类</vt:lpstr>
      <vt:lpstr>核心资产未覆盖：榜单场景心智缺失</vt:lpstr>
      <vt:lpstr>核心资产未覆盖：榜单城市覆盖问题</vt:lpstr>
      <vt:lpstr>榜单商圈覆盖问题</vt:lpstr>
      <vt:lpstr>榜单规则现状问题</vt:lpstr>
      <vt:lpstr>规则问题：资产单一导致核心商户未上榜</vt:lpstr>
      <vt:lpstr>规则问题：对未上榜门店的机会探究</vt:lpstr>
      <vt:lpstr>规则问题：对上榜门店的价格带影响</vt:lpstr>
      <vt:lpstr>业务和榜单之间应加强互动</vt:lpstr>
      <vt:lpstr>PowerPoint 演示文稿</vt:lpstr>
      <vt:lpstr>榜单渗透率低及优化方向</vt:lpstr>
      <vt:lpstr>强化榜单运营：提升榜单整体品牌力及认知度</vt:lpstr>
      <vt:lpstr>美团榜单定位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韩速</cp:lastModifiedBy>
  <cp:revision>5</cp:revision>
  <cp:lastPrinted>2025-10-25T14:42:37Z</cp:lastPrinted>
  <dcterms:created xsi:type="dcterms:W3CDTF">2025-10-25T14:42:37Z</dcterms:created>
  <dcterms:modified xsi:type="dcterms:W3CDTF">2025-10-26T10:26:05Z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数据资产汇报-1024-20251024.pptx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ea935c29d91d7cb59310689b2167b4fce4358977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