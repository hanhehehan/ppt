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commentAuthors.xml" ContentType="application/vnd.openxmlformats-officedocument.presentationml.commentAuthors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25"/>
  </p:notesMasterIdLst>
  <p:handoutMasterIdLst>
    <p:handoutMasterId r:id="rId26"/>
  </p:handoutMasterIdLst>
  <p:sldIdLst>
    <p:sldId id="14999077" r:id="rId2"/>
    <p:sldId id="14998990" r:id="rId3"/>
    <p:sldId id="14999048" r:id="rId4"/>
    <p:sldId id="14999065" r:id="rId5"/>
    <p:sldId id="14999007" r:id="rId6"/>
    <p:sldId id="14999081" r:id="rId7"/>
    <p:sldId id="14999082" r:id="rId8"/>
    <p:sldId id="14999083" r:id="rId9"/>
    <p:sldId id="14999066" r:id="rId10"/>
    <p:sldId id="14999034" r:id="rId11"/>
    <p:sldId id="14999084" r:id="rId12"/>
    <p:sldId id="14999067" r:id="rId13"/>
    <p:sldId id="14999085" r:id="rId14"/>
    <p:sldId id="14999086" r:id="rId15"/>
    <p:sldId id="14999038" r:id="rId16"/>
    <p:sldId id="14999087" r:id="rId17"/>
    <p:sldId id="14999088" r:id="rId18"/>
    <p:sldId id="14999089" r:id="rId19"/>
    <p:sldId id="14999069" r:id="rId20"/>
    <p:sldId id="14999036" r:id="rId21"/>
    <p:sldId id="14999070" r:id="rId22"/>
    <p:sldId id="14999076" r:id="rId23"/>
    <p:sldId id="14999060" r:id="rId24"/>
  </p:sldIdLst>
  <p:sldSz cx="9144000" cy="5143500" type="screen16x9"/>
  <p:notesSz cx="6807200" cy="9939338"/>
  <p:custDataLst>
    <p:tags r:id="rId2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1701" userDrawn="1">
          <p15:clr>
            <a:srgbClr val="A4A3A4"/>
          </p15:clr>
        </p15:guide>
        <p15:guide id="2" orient="horz" pos="2346" userDrawn="1">
          <p15:clr>
            <a:srgbClr val="A4A3A4"/>
          </p15:clr>
        </p15:guide>
        <p15:guide id="3" orient="horz" pos="1688" userDrawn="1">
          <p15:clr>
            <a:srgbClr val="A4A3A4"/>
          </p15:clr>
        </p15:guide>
        <p15:guide id="4" pos="5670" userDrawn="1">
          <p15:clr>
            <a:srgbClr val="A4A3A4"/>
          </p15:clr>
        </p15:guide>
        <p15:guide id="5" orient="horz" pos="148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ang yohann" initials="wy" lastIdx="1" clrIdx="0"/>
  <p:cmAuthor id="2" name="Luke Lu" initials="LL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E7E6E6"/>
    <a:srgbClr val="FFF9DD"/>
    <a:srgbClr val="DDEBF7"/>
    <a:srgbClr val="70AD47"/>
    <a:srgbClr val="FFED99"/>
    <a:srgbClr val="CCE4FF"/>
    <a:srgbClr val="F2F2F2"/>
    <a:srgbClr val="FFD5D5"/>
    <a:srgbClr val="BC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浅色样式 1 - 强调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46" autoAdjust="0"/>
    <p:restoredTop sz="94834" autoAdjust="0"/>
  </p:normalViewPr>
  <p:slideViewPr>
    <p:cSldViewPr snapToGrid="0" showGuides="1">
      <p:cViewPr varScale="1">
        <p:scale>
          <a:sx n="88" d="100"/>
          <a:sy n="88" d="100"/>
        </p:scale>
        <p:origin x="660" y="64"/>
      </p:cViewPr>
      <p:guideLst>
        <p:guide pos="1701"/>
        <p:guide orient="horz" pos="2346"/>
        <p:guide orient="horz" pos="1688"/>
        <p:guide pos="5670"/>
        <p:guide orient="horz" pos="148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10" d="100"/>
        <a:sy n="110" d="100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notesViewPr>
    <p:cSldViewPr snapToGrid="0">
      <p:cViewPr varScale="1">
        <p:scale>
          <a:sx n="76" d="100"/>
          <a:sy n="76" d="100"/>
        </p:scale>
        <p:origin x="3448" y="76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handoutMaster" Target="handoutMasters/handoutMaster1.xml"/><Relationship Id="rId27" Type="http://schemas.openxmlformats.org/officeDocument/2006/relationships/tags" Target="tags/tag1.xml"/><Relationship Id="rId28" Type="http://schemas.openxmlformats.org/officeDocument/2006/relationships/commentAuthors" Target="commentAuthors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oleObject" Target="file:///C:\Users\&#23002;&#33402;\Desktop\ppt&#20986;&#22270;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>
              <a:defRPr lang="zh-CN"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pPr>
            <a:r>
              <a:rPr lang="zh-CN" sz="1000" b="1" dirty="0"/>
              <a:t>各榜单上榜门店平均客单价对比</a:t>
            </a:r>
            <a:r>
              <a:rPr lang="zh-CN" altLang="en-US" sz="1000" b="1" dirty="0"/>
              <a:t>（元）</a:t>
            </a:r>
            <a:endParaRPr lang="zh-CN" sz="1000" b="1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>
            <a:defRPr lang="zh-CN"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  <a:cs typeface="+mn-cs"/>
            </a:defRPr>
          </a:pPr>
          <a:endParaRPr lang="zh-C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Sheet5!$D$45</c:f>
              <c:strCache>
                <c:ptCount val="1"/>
                <c:pt idx="0">
                  <c:v>上榜门店平均客单价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Sheet5!$C$46:$C$51</c:f>
              <c:strCache>
                <c:ptCount val="6"/>
                <c:pt idx="0">
                  <c:v>心动榜</c:v>
                </c:pt>
                <c:pt idx="1">
                  <c:v>状元榜</c:v>
                </c:pt>
                <c:pt idx="2">
                  <c:v>必吃榜</c:v>
                </c:pt>
                <c:pt idx="3">
                  <c:v>人气榜</c:v>
                </c:pt>
                <c:pt idx="4">
                  <c:v>好评榜</c:v>
                </c:pt>
                <c:pt idx="5">
                  <c:v>黑珍珠</c:v>
                </c:pt>
              </c:strCache>
            </c:strRef>
          </c:cat>
          <c:val>
            <c:numRef>
              <c:f>Sheet5!$D$46:$D$51</c:f>
              <c:numCache>
                <c:formatCode>#,##0</c:formatCode>
                <c:ptCount val="6"/>
                <c:pt idx="0">
                  <c:v>100</c:v>
                </c:pt>
                <c:pt idx="1">
                  <c:v>92</c:v>
                </c:pt>
                <c:pt idx="2">
                  <c:v>77</c:v>
                </c:pt>
                <c:pt idx="3">
                  <c:v>55</c:v>
                </c:pt>
                <c:pt idx="4">
                  <c:v>60</c:v>
                </c:pt>
                <c:pt idx="5">
                  <c:v>881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331-48A5-ABDE-36876F3C582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858555472"/>
        <c:axId val="1858557136"/>
      </c:barChart>
      <c:catAx>
        <c:axId val="18585554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pPr>
            <a:endParaRPr lang="zh-CN"/>
          </a:p>
        </c:txPr>
        <c:crossAx val="1858557136"/>
        <c:crosses val="autoZero"/>
        <c:auto val="1"/>
        <c:lblAlgn val="ctr"/>
        <c:lblOffset val="100"/>
        <c:noMultiLvlLbl val="0"/>
      </c:catAx>
      <c:valAx>
        <c:axId val="18585571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pPr>
            <a:endParaRPr lang="zh-CN"/>
          </a:p>
        </c:txPr>
        <c:crossAx val="185855547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c689873b-547e-4b5c-aceb-7adf97cc97e6}"/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 lang="zh-CN">
          <a:latin typeface="楷体" panose="02010609060101010101" pitchFamily="49" charset="-122"/>
          <a:ea typeface="楷体" panose="02010609060101010101" pitchFamily="49" charset="-122"/>
        </a:defRPr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55838" y="1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BC94BE-2FCD-E14D-BE46-75045743C492}" type="datetime1">
              <a:rPr kumimoji="1" lang="zh-CN" altLang="en-US" smtClean="0"/>
              <a:t>2025/10/26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40647"/>
            <a:ext cx="2949787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55838" y="9440647"/>
            <a:ext cx="2949787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5C933-74A5-4A4D-B3F1-D428FDB7A8F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5838" y="1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fld id="{DBD08E20-E2E4-BC43-9479-D71B4713CF91}" type="datetime1">
              <a:rPr kumimoji="1" lang="zh-CN" altLang="en-US" smtClean="0"/>
              <a:t>2025/10/26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3013"/>
            <a:ext cx="59626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5"/>
          </p:nvPr>
        </p:nvSpPr>
        <p:spPr>
          <a:xfrm>
            <a:off x="3856038" y="9440863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210192-B253-41D5-A493-1466DCB1FD7D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4"/>
          </p:nvPr>
        </p:nvSpPr>
        <p:spPr>
          <a:xfrm>
            <a:off x="0" y="9440863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11" name="备注占位符 10"/>
          <p:cNvSpPr>
            <a:spLocks noGrp="1"/>
          </p:cNvSpPr>
          <p:nvPr>
            <p:ph type="body" sz="quarter" idx="3"/>
          </p:nvPr>
        </p:nvSpPr>
        <p:spPr>
          <a:xfrm>
            <a:off x="681038" y="4783138"/>
            <a:ext cx="5445125" cy="39131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  <a:sym typeface="+mn-lt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200" dirty="0">
              <a:solidFill>
                <a:schemeClr val="accent2">
                  <a:lumMod val="50000"/>
                </a:schemeClr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200" dirty="0">
              <a:solidFill>
                <a:schemeClr val="accent2">
                  <a:lumMod val="50000"/>
                </a:schemeClr>
              </a:solidFill>
            </a:endParaRPr>
          </a:p>
          <a:p>
            <a:endParaRPr lang="en-US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2025/10/26</a:t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2025/10/26</a:t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刷好评、星级很难维持、不确定性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2025/10/26</a:t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2025/10/26</a:t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加规模，分子分母</a:t>
            </a:r>
            <a:r>
              <a:rPr kumimoji="1" lang="en-US" altLang="zh-CN" dirty="0"/>
              <a:t>@</a:t>
            </a:r>
            <a:r>
              <a:rPr kumimoji="1" lang="zh-CN" altLang="en-US" dirty="0"/>
              <a:t>雯漪 </a:t>
            </a:r>
            <a:r>
              <a:rPr kumimoji="1" lang="en-US" altLang="zh-CN" dirty="0"/>
              <a:t>P0</a:t>
            </a:r>
            <a:r>
              <a:rPr kumimoji="1" lang="zh-CN" altLang="en-US" dirty="0"/>
              <a:t>全国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2025/10/26</a:t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@</a:t>
            </a:r>
            <a:r>
              <a:rPr lang="zh-CN" altLang="en-US" dirty="0"/>
              <a:t>雯漪 </a:t>
            </a:r>
            <a:r>
              <a:rPr lang="en-US" altLang="zh-CN" dirty="0"/>
              <a:t>P0    </a:t>
            </a:r>
            <a:r>
              <a:rPr kumimoji="1" lang="zh-CN" altLang="en-US" dirty="0"/>
              <a:t>看门店</a:t>
            </a:r>
            <a:r>
              <a:rPr kumimoji="1" lang="en-US" altLang="zh-CN" dirty="0"/>
              <a:t>6789</a:t>
            </a:r>
            <a:r>
              <a:rPr kumimoji="1" lang="zh-CN" altLang="en-US" dirty="0"/>
              <a:t>月的星级分值波动，把波动大的门店捞出来看一下</a:t>
            </a:r>
            <a:r>
              <a:rPr kumimoji="1" lang="en-US" altLang="zh-CN" dirty="0"/>
              <a:t>P1</a:t>
            </a:r>
          </a:p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2025/10/26</a:t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@</a:t>
            </a:r>
            <a:r>
              <a:rPr lang="zh-CN" altLang="en-US" dirty="0"/>
              <a:t>雯漪 </a:t>
            </a:r>
            <a:r>
              <a:rPr lang="en-US" altLang="zh-CN" dirty="0"/>
              <a:t>P0</a:t>
            </a:r>
            <a:r>
              <a:rPr lang="zh-CN" altLang="en-US" dirty="0">
                <a:solidFill>
                  <a:srgbClr val="C00000"/>
                </a:solidFill>
              </a:rPr>
              <a:t>增加</a:t>
            </a:r>
            <a:r>
              <a:rPr lang="en-US" altLang="zh-CN" dirty="0">
                <a:solidFill>
                  <a:srgbClr val="C00000"/>
                </a:solidFill>
              </a:rPr>
              <a:t>10</a:t>
            </a:r>
            <a:r>
              <a:rPr lang="zh-CN" altLang="en-US" dirty="0">
                <a:solidFill>
                  <a:srgbClr val="C00000"/>
                </a:solidFill>
              </a:rPr>
              <a:t>条评价以上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zh-CN" altLang="en-US" dirty="0">
                <a:solidFill>
                  <a:srgbClr val="C00000"/>
                </a:solidFill>
              </a:rPr>
              <a:t>增量趋势：榜单使用近</a:t>
            </a:r>
            <a:r>
              <a:rPr lang="en-US" altLang="zh-CN" dirty="0">
                <a:solidFill>
                  <a:srgbClr val="C00000"/>
                </a:solidFill>
              </a:rPr>
              <a:t>7</a:t>
            </a:r>
            <a:r>
              <a:rPr lang="zh-CN" altLang="en-US" dirty="0">
                <a:solidFill>
                  <a:srgbClr val="C00000"/>
                </a:solidFill>
              </a:rPr>
              <a:t>天的评价数量，导致无法上榜
星级 全量、在线、分布</a:t>
            </a:r>
          </a:p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2025/10/26</a:t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截图 </a:t>
            </a:r>
            <a:r>
              <a:rPr kumimoji="1" lang="en-US" altLang="zh-CN" dirty="0"/>
              <a:t>P0</a:t>
            </a:r>
            <a:endParaRPr kumimoji="1"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2025/10/26</a:t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2025/10/26</a:t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2025/10/26</a:t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标记重点</a:t>
            </a:r>
            <a:r>
              <a:rPr lang="en-US" altLang="zh-CN" dirty="0"/>
              <a:t>@</a:t>
            </a:r>
            <a:r>
              <a:rPr lang="zh-CN" altLang="en-US" dirty="0"/>
              <a:t>问题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2025/10/26</a:t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没合作（原因）</a:t>
            </a:r>
            <a:endParaRPr kumimoji="1" lang="en-US" altLang="zh-CN" dirty="0"/>
          </a:p>
          <a:p>
            <a:r>
              <a:rPr kumimoji="1" lang="zh-CN" altLang="en-US" dirty="0"/>
              <a:t>合作但团购套餐不行</a:t>
            </a:r>
            <a:endParaRPr kumimoji="1" lang="en-US" altLang="zh-CN" dirty="0"/>
          </a:p>
          <a:p>
            <a:r>
              <a:rPr kumimoji="1" lang="zh-CN" altLang="en-US" dirty="0"/>
              <a:t>合作但团购还行但没上榜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2025/10/26</a:t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2025/10/26</a:t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点评：评价、榜单共建、榜单运营、规则策略</a:t>
            </a:r>
            <a:r>
              <a:rPr kumimoji="1" lang="en-US" altLang="zh-CN" dirty="0"/>
              <a:t>@</a:t>
            </a:r>
            <a:r>
              <a:rPr kumimoji="1" lang="zh-CN" altLang="en-US" dirty="0"/>
              <a:t>辰辰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2025/10/26</a:t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2025/10/26</a:t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2025/10/26</a:t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2025/10/26</a:t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1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1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1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0" imgH="0" progId="TCLayout.ActiveDocument.1">
                  <p:embed/>
                </p:oleObj>
              </mc:Choice>
              <mc:Fallback>
                <p:oleObj name="think-cell 幻灯片" r:id="rId3" imgW="0" imgH="0" progId="TCLayout.ActiveDocument.1">
                  <p:embed/>
                  <p:pic>
                    <p:nvPicPr>
                      <p:cNvPr id="0" name="对象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251999" y="987425"/>
            <a:ext cx="8639999" cy="3595025"/>
          </a:xfrm>
          <a:prstGeom prst="rect">
            <a:avLst/>
          </a:prstGeom>
        </p:spPr>
        <p:txBody>
          <a:bodyPr tIns="90000" bIns="90000"/>
          <a:lstStyle>
            <a:lvl1pPr>
              <a:lnSpc>
                <a:spcPct val="120000"/>
              </a:lnSpc>
              <a:spcBef>
                <a:spcPts val="1200"/>
              </a:spcBef>
              <a:buClr>
                <a:srgbClr val="FFD100"/>
              </a:buClr>
              <a:defRPr sz="1800" b="0" i="0" baseline="0">
                <a:latin typeface="Calibri" panose="020F0502020204030204" pitchFamily="34" charset="0"/>
                <a:ea typeface="楷体" panose="02010609060101010101" pitchFamily="49" charset="-122"/>
                <a:cs typeface="+mn-cs"/>
                <a:sym typeface="+mn-lt"/>
              </a:defRPr>
            </a:lvl1pPr>
          </a:lstStyle>
          <a:p>
            <a:r>
              <a:rPr kumimoji="1" lang="zh-CN" altLang="en-US" dirty="0"/>
              <a:t>目录一
目录二
目录三
目录四
目录五</a:t>
            </a:r>
          </a:p>
        </p:txBody>
      </p:sp>
      <p:sp>
        <p:nvSpPr>
          <p:cNvPr id="7" name="标题 2"/>
          <p:cNvSpPr>
            <a:spLocks noGrp="1"/>
          </p:cNvSpPr>
          <p:nvPr>
            <p:ph type="title"/>
          </p:nvPr>
        </p:nvSpPr>
        <p:spPr>
          <a:xfrm>
            <a:off x="384305" y="288000"/>
            <a:ext cx="7285837" cy="4273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kumimoji="1" lang="zh-CN" altLang="en-US" sz="2400" b="0" i="0" kern="1200" baseline="0" dirty="0">
                <a:solidFill>
                  <a:schemeClr val="tx1"/>
                </a:solidFill>
                <a:latin typeface="Calibri" panose="020F0502020204030204" pitchFamily="34" charset="0"/>
                <a:ea typeface="楷体" panose="02010609060101010101" pitchFamily="49" charset="-122"/>
                <a:cs typeface="+mj-cs"/>
                <a:sym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矩形 4"/>
          <p:cNvSpPr/>
          <p:nvPr userDrawn="1"/>
        </p:nvSpPr>
        <p:spPr>
          <a:xfrm>
            <a:off x="251999" y="298633"/>
            <a:ext cx="45719" cy="42731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aseline="0">
              <a:latin typeface="Calibri" panose="020F0502020204030204" pitchFamily="34" charset="0"/>
              <a:ea typeface="楷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goal模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对象 9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90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0" imgH="0" progId="TCLayout.ActiveDocument.1">
                  <p:embed/>
                </p:oleObj>
              </mc:Choice>
              <mc:Fallback>
                <p:oleObj name="think-cell 幻灯片" r:id="rId3" imgW="0" imgH="0" progId="TCLayout.ActiveDocument.1">
                  <p:embed/>
                  <p:pic>
                    <p:nvPicPr>
                      <p:cNvPr id="0" name="对象 9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0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矩形"/>
          <p:cNvSpPr/>
          <p:nvPr userDrawn="1"/>
        </p:nvSpPr>
        <p:spPr>
          <a:xfrm>
            <a:off x="0" y="5037438"/>
            <a:ext cx="9144000" cy="114300"/>
          </a:xfrm>
          <a:prstGeom prst="rect">
            <a:avLst/>
          </a:prstGeom>
          <a:solidFill>
            <a:srgbClr val="FFD10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baseline="0">
              <a:latin typeface="Calibri" panose="020F0502020204030204" pitchFamily="34" charset="0"/>
              <a:ea typeface="楷体" panose="02010609060101010101" pitchFamily="49" charset="-122"/>
              <a:cs typeface="+mn-cs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quarter" idx="23" hasCustomPrompt="1"/>
          </p:nvPr>
        </p:nvSpPr>
        <p:spPr>
          <a:xfrm>
            <a:off x="1813560" y="1424940"/>
            <a:ext cx="7078234" cy="3461385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>
            <a:lvl1pPr>
              <a:lnSpc>
                <a:spcPct val="100000"/>
              </a:lnSpc>
              <a:defRPr sz="1000" baseline="0">
                <a:latin typeface="Calibri" panose="020F0502020204030204" pitchFamily="34" charset="0"/>
                <a:ea typeface="楷体" panose="02010609060101010101" pitchFamily="49" charset="-122"/>
              </a:defRPr>
            </a:lvl1pPr>
            <a:lvl2pPr>
              <a:lnSpc>
                <a:spcPct val="120000"/>
              </a:lnSpc>
              <a:defRPr sz="1200"/>
            </a:lvl2pPr>
            <a:lvl3pPr>
              <a:lnSpc>
                <a:spcPct val="120000"/>
              </a:lnSpc>
              <a:defRPr sz="1050"/>
            </a:lvl3pPr>
            <a:lvl4pPr>
              <a:lnSpc>
                <a:spcPct val="120000"/>
              </a:lnSpc>
              <a:defRPr sz="1050"/>
            </a:lvl4pPr>
            <a:lvl5pPr>
              <a:lnSpc>
                <a:spcPct val="120000"/>
              </a:lnSpc>
              <a:defRPr sz="1050"/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6" name="标题 2"/>
          <p:cNvSpPr>
            <a:spLocks noGrp="1"/>
          </p:cNvSpPr>
          <p:nvPr>
            <p:ph type="title" hasCustomPrompt="1"/>
          </p:nvPr>
        </p:nvSpPr>
        <p:spPr>
          <a:xfrm>
            <a:off x="308705" y="439479"/>
            <a:ext cx="8584470" cy="855921"/>
          </a:xfrm>
          <a:prstGeom prst="rect">
            <a:avLst/>
          </a:prstGeom>
        </p:spPr>
        <p:txBody>
          <a:bodyPr vert="horz" anchor="ctr">
            <a:normAutofit/>
          </a:bodyPr>
          <a:lstStyle>
            <a:lvl1pPr>
              <a:defRPr kumimoji="1" lang="zh-CN" altLang="en-US" sz="1600" b="0" i="0" kern="1200" baseline="0" dirty="0">
                <a:solidFill>
                  <a:schemeClr val="tx1"/>
                </a:solidFill>
                <a:latin typeface="Calibri" panose="020F0502020204030204" pitchFamily="34" charset="0"/>
                <a:ea typeface="楷体" panose="02010609060101010101" pitchFamily="49" charset="-122"/>
                <a:cs typeface="+mj-cs"/>
                <a:sym typeface="+mj-lt"/>
              </a:defRPr>
            </a:lvl1pPr>
          </a:lstStyle>
          <a:p>
            <a:r>
              <a:rPr lang="en-US" altLang="zh-CN" dirty="0"/>
              <a:t>TGX:</a:t>
            </a:r>
            <a:r>
              <a:rPr lang="zh-CN" altLang="en-US" dirty="0"/>
              <a:t> </a:t>
            </a:r>
            <a:r>
              <a:rPr lang="en-US" altLang="zh-CN" dirty="0"/>
              <a:t>XXXXXXX</a:t>
            </a:r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22" hasCustomPrompt="1"/>
          </p:nvPr>
        </p:nvSpPr>
        <p:spPr>
          <a:xfrm>
            <a:off x="308706" y="123825"/>
            <a:ext cx="8583088" cy="26603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lang="zh-CN" altLang="en-US" sz="1200" b="1" i="0" kern="1200" baseline="0" dirty="0" smtClean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楷体" panose="02010609060101010101" pitchFamily="49" charset="-122"/>
                <a:cs typeface="+mn-cs"/>
                <a:sym typeface="+mn-lt"/>
              </a:defRPr>
            </a:lvl1pPr>
            <a:lvl2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lang="zh-CN" altLang="en-US" sz="1800" b="0" i="0" kern="1200" dirty="0" smtClean="0">
                <a:solidFill>
                  <a:schemeClr val="bg1">
                    <a:lumMod val="50000"/>
                  </a:schemeClr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+mn-cs"/>
              </a:defRPr>
            </a:lvl2pPr>
            <a:lvl3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lang="zh-CN" altLang="en-US" sz="1800" b="0" i="0" kern="1200" dirty="0" smtClean="0">
                <a:solidFill>
                  <a:schemeClr val="bg1">
                    <a:lumMod val="50000"/>
                  </a:schemeClr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+mn-cs"/>
              </a:defRPr>
            </a:lvl3pPr>
            <a:lvl4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lang="zh-CN" altLang="en-US" sz="1800" b="0" i="0" kern="1200" dirty="0" smtClean="0">
                <a:solidFill>
                  <a:schemeClr val="bg1">
                    <a:lumMod val="50000"/>
                  </a:schemeClr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+mn-cs"/>
              </a:defRPr>
            </a:lvl4pPr>
            <a:lvl5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lang="zh-CN" altLang="en-US" sz="1800" b="0" i="0" kern="1200" dirty="0">
                <a:solidFill>
                  <a:schemeClr val="bg1">
                    <a:lumMod val="50000"/>
                  </a:schemeClr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+mn-cs"/>
              </a:defRPr>
            </a:lvl5pPr>
          </a:lstStyle>
          <a:p>
            <a:r>
              <a:rPr kumimoji="1" lang="en-US" altLang="zh-CN" dirty="0">
                <a:solidFill>
                  <a:schemeClr val="bg1">
                    <a:lumMod val="50000"/>
                  </a:schemeClr>
                </a:solidFill>
              </a:rPr>
              <a:t>4 </a:t>
            </a:r>
            <a:r>
              <a:rPr kumimoji="1" lang="en-US" altLang="zh-CN" dirty="0" err="1">
                <a:solidFill>
                  <a:schemeClr val="bg1">
                    <a:lumMod val="50000"/>
                  </a:schemeClr>
                </a:solidFill>
              </a:rPr>
              <a:t>Teamgoal</a:t>
            </a:r>
            <a:r>
              <a:rPr kumimoji="1" lang="zh-CN" altLang="en-US" dirty="0">
                <a:solidFill>
                  <a:schemeClr val="bg1">
                    <a:lumMod val="50000"/>
                  </a:schemeClr>
                </a:solidFill>
              </a:rPr>
              <a:t>进展同步</a:t>
            </a:r>
          </a:p>
        </p:txBody>
      </p:sp>
      <p:sp>
        <p:nvSpPr>
          <p:cNvPr id="8" name="矩形 7"/>
          <p:cNvSpPr/>
          <p:nvPr userDrawn="1"/>
        </p:nvSpPr>
        <p:spPr>
          <a:xfrm>
            <a:off x="250825" y="123825"/>
            <a:ext cx="57881" cy="11715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aseline="0">
              <a:latin typeface="Calibri" panose="020F0502020204030204" pitchFamily="34" charset="0"/>
              <a:ea typeface="楷体" panose="02010609060101010101" pitchFamily="49" charset="-122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250824" y="1424940"/>
            <a:ext cx="1417956" cy="346138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请使用这个模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对象 9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90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0" imgH="0" progId="TCLayout.ActiveDocument.1">
                  <p:embed/>
                </p:oleObj>
              </mc:Choice>
              <mc:Fallback>
                <p:oleObj name="think-cell 幻灯片" r:id="rId3" imgW="0" imgH="0" progId="TCLayout.ActiveDocument.1">
                  <p:embed/>
                  <p:pic>
                    <p:nvPicPr>
                      <p:cNvPr id="0" name="对象 9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0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矩形"/>
          <p:cNvSpPr/>
          <p:nvPr userDrawn="1"/>
        </p:nvSpPr>
        <p:spPr>
          <a:xfrm>
            <a:off x="0" y="5037438"/>
            <a:ext cx="9144000" cy="114300"/>
          </a:xfrm>
          <a:prstGeom prst="rect">
            <a:avLst/>
          </a:prstGeom>
          <a:solidFill>
            <a:srgbClr val="FFD10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baseline="0">
              <a:latin typeface="Calibri" panose="020F0502020204030204" pitchFamily="34" charset="0"/>
              <a:ea typeface="楷体" panose="02010609060101010101" pitchFamily="49" charset="-122"/>
              <a:cs typeface="+mn-cs"/>
              <a:sym typeface="+mn-lt"/>
            </a:endParaRPr>
          </a:p>
        </p:txBody>
      </p:sp>
      <p:sp>
        <p:nvSpPr>
          <p:cNvPr id="15" name="标题 2"/>
          <p:cNvSpPr>
            <a:spLocks noGrp="1"/>
          </p:cNvSpPr>
          <p:nvPr>
            <p:ph type="title"/>
          </p:nvPr>
        </p:nvSpPr>
        <p:spPr>
          <a:xfrm>
            <a:off x="308705" y="439479"/>
            <a:ext cx="8584470" cy="547945"/>
          </a:xfrm>
          <a:prstGeom prst="rect">
            <a:avLst/>
          </a:prstGeom>
        </p:spPr>
        <p:txBody>
          <a:bodyPr vert="horz" anchor="ctr">
            <a:normAutofit/>
          </a:bodyPr>
          <a:lstStyle>
            <a:lvl1pPr>
              <a:defRPr kumimoji="1" lang="zh-CN" altLang="en-US" sz="1800" b="0" i="0" kern="1200" baseline="0" dirty="0">
                <a:solidFill>
                  <a:schemeClr val="tx1"/>
                </a:solidFill>
                <a:latin typeface="Calibri" panose="020F0502020204030204" pitchFamily="34" charset="0"/>
                <a:ea typeface="楷体" panose="02010609060101010101" pitchFamily="49" charset="-122"/>
                <a:cs typeface="+mj-cs"/>
                <a:sym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23" hasCustomPrompt="1"/>
          </p:nvPr>
        </p:nvSpPr>
        <p:spPr>
          <a:xfrm>
            <a:off x="252206" y="1131888"/>
            <a:ext cx="8639588" cy="3516312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lnSpc>
                <a:spcPct val="120000"/>
              </a:lnSpc>
              <a:buClr>
                <a:schemeClr val="accent1"/>
              </a:buClr>
              <a:defRPr sz="1400" baseline="0">
                <a:latin typeface="Calibri" panose="020F0502020204030204" pitchFamily="34" charset="0"/>
                <a:ea typeface="楷体" panose="02010609060101010101" pitchFamily="49" charset="-122"/>
              </a:defRPr>
            </a:lvl1pPr>
            <a:lvl2pPr>
              <a:lnSpc>
                <a:spcPct val="120000"/>
              </a:lnSpc>
              <a:defRPr sz="1200"/>
            </a:lvl2pPr>
            <a:lvl3pPr>
              <a:lnSpc>
                <a:spcPct val="120000"/>
              </a:lnSpc>
              <a:defRPr sz="1050"/>
            </a:lvl3pPr>
            <a:lvl4pPr>
              <a:lnSpc>
                <a:spcPct val="120000"/>
              </a:lnSpc>
              <a:defRPr sz="1050"/>
            </a:lvl4pPr>
            <a:lvl5pPr>
              <a:lnSpc>
                <a:spcPct val="120000"/>
              </a:lnSpc>
              <a:defRPr sz="1050"/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6" name="文本占位符 6"/>
          <p:cNvSpPr>
            <a:spLocks noGrp="1"/>
          </p:cNvSpPr>
          <p:nvPr>
            <p:ph type="body" sz="quarter" idx="22" hasCustomPrompt="1"/>
          </p:nvPr>
        </p:nvSpPr>
        <p:spPr>
          <a:xfrm>
            <a:off x="308706" y="123823"/>
            <a:ext cx="8583088" cy="266037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lang="zh-CN" altLang="en-US" sz="1200" b="1" i="0" kern="1200" baseline="0" dirty="0" smtClean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楷体" panose="02010609060101010101" pitchFamily="49" charset="-122"/>
                <a:cs typeface="+mn-cs"/>
                <a:sym typeface="+mn-lt"/>
              </a:defRPr>
            </a:lvl1pPr>
            <a:lvl2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lang="zh-CN" altLang="en-US" sz="1800" b="0" i="0" kern="1200" dirty="0" smtClean="0">
                <a:solidFill>
                  <a:schemeClr val="bg1">
                    <a:lumMod val="50000"/>
                  </a:schemeClr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+mn-cs"/>
              </a:defRPr>
            </a:lvl2pPr>
            <a:lvl3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lang="zh-CN" altLang="en-US" sz="1800" b="0" i="0" kern="1200" dirty="0" smtClean="0">
                <a:solidFill>
                  <a:schemeClr val="bg1">
                    <a:lumMod val="50000"/>
                  </a:schemeClr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+mn-cs"/>
              </a:defRPr>
            </a:lvl3pPr>
            <a:lvl4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lang="zh-CN" altLang="en-US" sz="1800" b="0" i="0" kern="1200" dirty="0" smtClean="0">
                <a:solidFill>
                  <a:schemeClr val="bg1">
                    <a:lumMod val="50000"/>
                  </a:schemeClr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+mn-cs"/>
              </a:defRPr>
            </a:lvl4pPr>
            <a:lvl5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lang="zh-CN" altLang="en-US" sz="1800" b="0" i="0" kern="1200" dirty="0">
                <a:solidFill>
                  <a:schemeClr val="bg1">
                    <a:lumMod val="50000"/>
                  </a:schemeClr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+mn-cs"/>
              </a:defRPr>
            </a:lvl5pPr>
          </a:lstStyle>
          <a:p>
            <a:r>
              <a:rPr kumimoji="1" lang="zh-CN" altLang="en-US" dirty="0">
                <a:solidFill>
                  <a:schemeClr val="bg1">
                    <a:lumMod val="50000"/>
                  </a:schemeClr>
                </a:solidFill>
              </a:rPr>
              <a:t>单击此处添加副标题</a:t>
            </a:r>
          </a:p>
        </p:txBody>
      </p:sp>
      <p:sp>
        <p:nvSpPr>
          <p:cNvPr id="7" name="矩形 6"/>
          <p:cNvSpPr/>
          <p:nvPr userDrawn="1"/>
        </p:nvSpPr>
        <p:spPr>
          <a:xfrm>
            <a:off x="250825" y="123825"/>
            <a:ext cx="57881" cy="8635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aseline="0">
              <a:latin typeface="Calibri" panose="020F0502020204030204" pitchFamily="34" charset="0"/>
              <a:ea typeface="楷体" panose="02010609060101010101" pitchFamily="49" charset="-122"/>
            </a:endParaRPr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0" imgH="0" progId="TCLayout.ActiveDocument.1">
                  <p:embed/>
                </p:oleObj>
              </mc:Choice>
              <mc:Fallback>
                <p:oleObj name="think-cell 幻灯片" r:id="rId3" imgW="0" imgH="0" progId="TCLayout.ActiveDocument.1">
                  <p:embed/>
                  <p:pic>
                    <p:nvPicPr>
                      <p:cNvPr id="0" name="对象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占位符 2"/>
          <p:cNvSpPr>
            <a:spLocks noGrp="1"/>
          </p:cNvSpPr>
          <p:nvPr>
            <p:ph type="body" sz="quarter" idx="13" hasCustomPrompt="1"/>
          </p:nvPr>
        </p:nvSpPr>
        <p:spPr>
          <a:xfrm>
            <a:off x="1354104" y="2045244"/>
            <a:ext cx="6435792" cy="57653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000" b="1" i="0" baseline="0">
                <a:latin typeface="Calibri" panose="020F0502020204030204" pitchFamily="34" charset="0"/>
                <a:ea typeface="楷体" panose="02010609060101010101" pitchFamily="49" charset="-122"/>
                <a:cs typeface="+mn-cs"/>
                <a:sym typeface="+mn-lt"/>
              </a:defRPr>
            </a:lvl1pPr>
          </a:lstStyle>
          <a:p>
            <a:r>
              <a:rPr kumimoji="1" lang="zh-CN" altLang="en-US" dirty="0"/>
              <a:t>单击此处添加章节标题</a:t>
            </a:r>
          </a:p>
        </p:txBody>
      </p:sp>
      <p:sp>
        <p:nvSpPr>
          <p:cNvPr id="4" name="矩形"/>
          <p:cNvSpPr/>
          <p:nvPr userDrawn="1"/>
        </p:nvSpPr>
        <p:spPr>
          <a:xfrm>
            <a:off x="-5052" y="4061865"/>
            <a:ext cx="9149052" cy="108163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1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baseline="0" dirty="0">
              <a:latin typeface="Calibri" panose="020F0502020204030204" pitchFamily="34" charset="0"/>
              <a:ea typeface="楷体" panose="02010609060101010101" pitchFamily="49" charset="-122"/>
              <a:cs typeface="+mn-cs"/>
              <a:sym typeface="+mn-lt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tags" Target="../tags/tag2.xml"/><Relationship Id="rId8" Type="http://schemas.openxmlformats.org/officeDocument/2006/relationships/oleObject" Target="../embeddings/oleObject1.bin"/><Relationship Id="rId9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 hidden="1"/>
          <p:cNvGraphicFramePr>
            <a:graphicFrameLocks noChangeAspect="1"/>
          </p:cNvGraphicFramePr>
          <p:nvPr userDrawn="1">
            <p:custDataLst>
              <p:tags r:id="rId7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8" imgW="0" imgH="0" progId="TCLayout.ActiveDocument.1">
                  <p:embed/>
                </p:oleObj>
              </mc:Choice>
              <mc:Fallback>
                <p:oleObj name="think-cell 幻灯片" r:id="rId8" imgW="0" imgH="0" progId="TCLayout.ActiveDocument.1">
                  <p:embed/>
                  <p:pic>
                    <p:nvPicPr>
                      <p:cNvPr id="0" name="对象 4" hidden="1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"/>
          <p:cNvSpPr/>
          <p:nvPr userDrawn="1"/>
        </p:nvSpPr>
        <p:spPr>
          <a:xfrm>
            <a:off x="0" y="5037438"/>
            <a:ext cx="9144000" cy="114300"/>
          </a:xfrm>
          <a:prstGeom prst="rect">
            <a:avLst/>
          </a:prstGeom>
          <a:solidFill>
            <a:srgbClr val="FFD10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baseline="0">
              <a:latin typeface="Calibri" panose="020F0502020204030204" pitchFamily="34" charset="0"/>
              <a:ea typeface="楷体" panose="02010609060101010101" pitchFamily="49" charset="-122"/>
              <a:cs typeface="+mn-cs"/>
              <a:sym typeface="+mn-lt"/>
            </a:endParaRPr>
          </a:p>
        </p:txBody>
      </p:sp>
      <p:sp>
        <p:nvSpPr>
          <p:cNvPr id="7" name="文本占位符 11"/>
          <p:cNvSpPr txBox="1"/>
          <p:nvPr userDrawn="1"/>
        </p:nvSpPr>
        <p:spPr>
          <a:xfrm>
            <a:off x="7736319" y="4739964"/>
            <a:ext cx="1078947" cy="251811"/>
          </a:xfrm>
          <a:prstGeom prst="rect">
            <a:avLst/>
          </a:prstGeom>
        </p:spPr>
        <p:txBody>
          <a:bodyPr wrap="none" anchor="ctr"/>
          <a:lstStyle>
            <a:lvl1pPr marL="0" indent="0" algn="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648968B-9B7E-4AEF-AF8F-76389AEE4EF7}" type="slidenum">
              <a:rPr kumimoji="1" lang="zh-CN" altLang="en-US" baseline="0" smtClean="0">
                <a:latin typeface="Calibri" panose="020F0502020204030204" pitchFamily="34" charset="0"/>
                <a:ea typeface="楷体" panose="02010609060101010101" pitchFamily="49" charset="-122"/>
                <a:cs typeface="+mn-cs"/>
                <a:sym typeface="+mn-lt"/>
              </a:rPr>
              <a:t>‹#›</a:t>
            </a:fld>
            <a:endParaRPr kumimoji="1" lang="zh-CN" altLang="en-US" baseline="0" dirty="0">
              <a:latin typeface="Calibri" panose="020F0502020204030204" pitchFamily="34" charset="0"/>
              <a:ea typeface="楷体" panose="02010609060101010101" pitchFamily="49" charset="-122"/>
              <a:cs typeface="+mn-cs"/>
              <a:sym typeface="+mn-lt"/>
            </a:endParaRPr>
          </a:p>
        </p:txBody>
      </p:sp>
      <p:sp>
        <p:nvSpPr>
          <p:cNvPr id="6" name="标题占位符 5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8" name="文本占位符 7"/>
          <p:cNvSpPr>
            <a:spLocks noGrp="1"/>
          </p:cNvSpPr>
          <p:nvPr>
            <p:ph type="body"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Clr>
          <a:schemeClr val="accent1"/>
        </a:buClr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Clr>
          <a:schemeClr val="accent1"/>
        </a:buClr>
        <a:buSzPct val="60000"/>
        <a:buFont typeface="Wingdings" panose="05000000000000000000" pitchFamily="2" charset="2"/>
        <a:buChar char="¡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Clr>
          <a:schemeClr val="accent1"/>
        </a:buClr>
        <a:buSzPct val="60000"/>
        <a:buFont typeface="Wingdings" panose="05000000000000000000" pitchFamily="2" charset="2"/>
        <a:buChar char="¡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Clr>
          <a:schemeClr val="accent1"/>
        </a:buClr>
        <a:buSzPct val="60000"/>
        <a:buFont typeface="Wingdings" panose="05000000000000000000" pitchFamily="2" charset="2"/>
        <a:buChar char="n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Relationship Id="rId4" Type="http://schemas.openxmlformats.org/officeDocument/2006/relationships/oleObject" Target="../embeddings/oleObject6.bin"/><Relationship Id="rId5" Type="http://schemas.openxmlformats.org/officeDocument/2006/relationships/image" Target="../media/image2.em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7.jpeg"/><Relationship Id="rId5" Type="http://schemas.openxmlformats.org/officeDocument/2006/relationships/image" Target="../media/image8.jpe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jpeg"/><Relationship Id="rId4" Type="http://schemas.openxmlformats.org/officeDocument/2006/relationships/image" Target="../media/image10.jpe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1.png"/><Relationship Id="rId3" Type="http://schemas.openxmlformats.org/officeDocument/2006/relationships/image" Target="../media/image12.jpeg"/><Relationship Id="rId4" Type="http://schemas.openxmlformats.org/officeDocument/2006/relationships/image" Target="../media/image13.png"/><Relationship Id="rId5" Type="http://schemas.openxmlformats.org/officeDocument/2006/relationships/package" Target="../embeddings/Microsoft_Excel_Worksheet.xlsx"/><Relationship Id="rId6" Type="http://schemas.openxmlformats.org/officeDocument/2006/relationships/image" Target="../media/image14.em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slideLayout" Target="../slideLayouts/slideLayout4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jpe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Relationship Id="rId9" Type="http://schemas.openxmlformats.org/officeDocument/2006/relationships/image" Target="../media/image21.png"/><Relationship Id="rId10" Type="http://schemas.openxmlformats.org/officeDocument/2006/relationships/image" Target="../media/image2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tags" Target="../tags/tag10.xml"/><Relationship Id="rId2" Type="http://schemas.openxmlformats.org/officeDocument/2006/relationships/slideLayout" Target="../slideLayouts/slideLayout4.xml"/><Relationship Id="rId3" Type="http://schemas.openxmlformats.org/officeDocument/2006/relationships/image" Target="../media/image23.png"/><Relationship Id="rId4" Type="http://schemas.openxmlformats.org/officeDocument/2006/relationships/image" Target="../media/image2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package" Target="../embeddings/Microsoft_Excel_Worksheet1.xlsx"/><Relationship Id="rId4" Type="http://schemas.openxmlformats.org/officeDocument/2006/relationships/image" Target="../media/image25.emf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image" Target="../media/image30.png"/><Relationship Id="rId8" Type="http://schemas.openxmlformats.org/officeDocument/2006/relationships/image" Target="../media/image31.png"/><Relationship Id="rId9" Type="http://schemas.openxmlformats.org/officeDocument/2006/relationships/image" Target="../media/image32.emf"/><Relationship Id="rId10" Type="http://schemas.openxmlformats.org/officeDocument/2006/relationships/image" Target="../media/image33.emf"/><Relationship Id="rId11" Type="http://schemas.openxmlformats.org/officeDocument/2006/relationships/image" Target="../media/image34.emf"/><Relationship Id="rId12" Type="http://schemas.openxmlformats.org/officeDocument/2006/relationships/image" Target="../media/image35.emf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image" Target="../media/image38.png"/><Relationship Id="rId6" Type="http://schemas.openxmlformats.org/officeDocument/2006/relationships/image" Target="../media/image39.png"/><Relationship Id="rId7" Type="http://schemas.openxmlformats.org/officeDocument/2006/relationships/image" Target="../media/image40.png"/><Relationship Id="rId8" Type="http://schemas.openxmlformats.org/officeDocument/2006/relationships/image" Target="../media/image4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zh-CN" altLang="en-US" dirty="0"/>
              <a:t>榜单数据资产汇报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0" imgH="0" progId="TCLayout.ActiveDocument.1">
                  <p:embed/>
                </p:oleObj>
              </mc:Choice>
              <mc:Fallback>
                <p:oleObj name="think-cell 幻灯片" r:id="rId4" imgW="0" imgH="0" progId="TCLayout.ActiveDocument.1">
                  <p:embed/>
                  <p:pic>
                    <p:nvPicPr>
                      <p:cNvPr id="0" name="think-cell data - do not delete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9" name="标题 12"/>
          <p:cNvSpPr>
            <a:spLocks noGrp="1"/>
          </p:cNvSpPr>
          <p:nvPr>
            <p:ph type="title"/>
          </p:nvPr>
        </p:nvSpPr>
        <p:spPr/>
        <p:txBody>
          <a:bodyPr vert="horz">
            <a:noAutofit/>
          </a:bodyPr>
          <a:lstStyle/>
          <a:p>
            <a:r>
              <a:rPr lang="zh-CN" altLang="en-US" sz="1600" b="1" dirty="0"/>
              <a:t>目录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602166" y="1070517"/>
            <a:ext cx="5043260" cy="2635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/>
              <a:t>榜单资产矩阵现状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/>
              <a:t>榜单问题一览</a:t>
            </a:r>
            <a:endParaRPr kumimoji="1" lang="en-US" altLang="zh-CN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600" dirty="0"/>
              <a:t>竞品分析</a:t>
            </a:r>
            <a:endParaRPr kumimoji="1" lang="en-US" altLang="zh-CN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/>
              <a:t>问题分析及关键举措</a:t>
            </a:r>
            <a:endParaRPr lang="en-US" altLang="zh-CN" sz="16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/>
              <a:t>资产建设</a:t>
            </a:r>
            <a:endParaRPr lang="en-US" altLang="zh-CN" sz="16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/>
              <a:t>榜单规则</a:t>
            </a:r>
            <a:endParaRPr lang="en-US" altLang="zh-CN" sz="16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/>
              <a:t>用户心智</a:t>
            </a:r>
            <a:endParaRPr lang="en-US" altLang="zh-CN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64222" y="206232"/>
            <a:ext cx="8584470" cy="547945"/>
          </a:xfrm>
        </p:spPr>
        <p:txBody>
          <a:bodyPr/>
          <a:lstStyle/>
          <a:p>
            <a:r>
              <a:rPr lang="zh-CN" altLang="en-US" dirty="0">
                <a:latin typeface="+mn-ea"/>
                <a:ea typeface="+mn-ea"/>
              </a:rPr>
              <a:t>榜单资产矩阵现状</a:t>
            </a:r>
            <a:endParaRPr lang="zh-CN" altLang="en-US" dirty="0">
              <a:effectLst/>
              <a:latin typeface="+mn-ea"/>
              <a:ea typeface="+mn-ea"/>
            </a:endParaRPr>
          </a:p>
        </p:txBody>
      </p:sp>
      <p:cxnSp>
        <p:nvCxnSpPr>
          <p:cNvPr id="20" name="直接连接符 19"/>
          <p:cNvCxnSpPr/>
          <p:nvPr/>
        </p:nvCxnSpPr>
        <p:spPr>
          <a:xfrm>
            <a:off x="772257" y="4794851"/>
            <a:ext cx="4783993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 flipV="1">
            <a:off x="772257" y="2551995"/>
            <a:ext cx="0" cy="2242856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/>
        </p:nvSpPr>
        <p:spPr>
          <a:xfrm>
            <a:off x="1151207" y="4808713"/>
            <a:ext cx="85441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000" dirty="0">
                <a:latin typeface="+mn-ea"/>
              </a:rPr>
              <a:t>意向</a:t>
            </a:r>
            <a:r>
              <a:rPr lang="en-US" altLang="zh-CN" sz="1000" dirty="0">
                <a:latin typeface="+mn-ea"/>
              </a:rPr>
              <a:t>/</a:t>
            </a:r>
            <a:r>
              <a:rPr lang="zh-CN" altLang="en-US" sz="1000" dirty="0">
                <a:latin typeface="+mn-ea"/>
              </a:rPr>
              <a:t>流量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2266770" y="4808713"/>
            <a:ext cx="85441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000" dirty="0">
                <a:latin typeface="+mn-ea"/>
              </a:rPr>
              <a:t>服务</a:t>
            </a:r>
          </a:p>
        </p:txBody>
      </p:sp>
      <p:sp>
        <p:nvSpPr>
          <p:cNvPr id="29" name="文本框 28"/>
          <p:cNvSpPr txBox="1"/>
          <p:nvPr/>
        </p:nvSpPr>
        <p:spPr>
          <a:xfrm>
            <a:off x="3382333" y="4808713"/>
            <a:ext cx="85441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000" dirty="0">
                <a:latin typeface="+mn-ea"/>
              </a:rPr>
              <a:t>交易</a:t>
            </a:r>
          </a:p>
        </p:txBody>
      </p:sp>
      <p:sp>
        <p:nvSpPr>
          <p:cNvPr id="30" name="文本框 29"/>
          <p:cNvSpPr txBox="1"/>
          <p:nvPr/>
        </p:nvSpPr>
        <p:spPr>
          <a:xfrm>
            <a:off x="181159" y="4162611"/>
            <a:ext cx="62163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000" dirty="0">
                <a:latin typeface="+mn-ea"/>
              </a:rPr>
              <a:t>周</a:t>
            </a:r>
            <a:r>
              <a:rPr lang="en-US" altLang="zh-CN" sz="1000" dirty="0">
                <a:latin typeface="+mn-ea"/>
              </a:rPr>
              <a:t>/</a:t>
            </a:r>
            <a:r>
              <a:rPr lang="zh-CN" altLang="en-US" sz="1000" dirty="0">
                <a:latin typeface="+mn-ea"/>
              </a:rPr>
              <a:t>日</a:t>
            </a:r>
          </a:p>
        </p:txBody>
      </p:sp>
      <p:sp>
        <p:nvSpPr>
          <p:cNvPr id="31" name="文本框 30"/>
          <p:cNvSpPr txBox="1"/>
          <p:nvPr/>
        </p:nvSpPr>
        <p:spPr>
          <a:xfrm>
            <a:off x="181159" y="3164715"/>
            <a:ext cx="62163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000" dirty="0">
                <a:latin typeface="+mn-ea"/>
              </a:rPr>
              <a:t>季</a:t>
            </a:r>
            <a:r>
              <a:rPr lang="en-US" altLang="zh-CN" sz="1000" dirty="0">
                <a:latin typeface="+mn-ea"/>
              </a:rPr>
              <a:t>/</a:t>
            </a:r>
            <a:r>
              <a:rPr lang="zh-CN" altLang="en-US" sz="1000" dirty="0">
                <a:latin typeface="+mn-ea"/>
              </a:rPr>
              <a:t>月</a:t>
            </a:r>
          </a:p>
        </p:txBody>
      </p:sp>
      <p:sp>
        <p:nvSpPr>
          <p:cNvPr id="32" name="文本框 31"/>
          <p:cNvSpPr txBox="1"/>
          <p:nvPr/>
        </p:nvSpPr>
        <p:spPr>
          <a:xfrm>
            <a:off x="185747" y="2674237"/>
            <a:ext cx="62163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000" dirty="0">
                <a:latin typeface="+mn-ea"/>
              </a:rPr>
              <a:t>年</a:t>
            </a:r>
            <a:r>
              <a:rPr lang="en-US" altLang="zh-CN" sz="1000" dirty="0">
                <a:latin typeface="+mn-ea"/>
              </a:rPr>
              <a:t>/</a:t>
            </a:r>
            <a:r>
              <a:rPr lang="zh-CN" altLang="en-US" sz="1000" dirty="0">
                <a:latin typeface="+mn-ea"/>
              </a:rPr>
              <a:t>半年</a:t>
            </a:r>
          </a:p>
        </p:txBody>
      </p:sp>
      <p:sp>
        <p:nvSpPr>
          <p:cNvPr id="33" name="文本框 32"/>
          <p:cNvSpPr txBox="1"/>
          <p:nvPr/>
        </p:nvSpPr>
        <p:spPr>
          <a:xfrm>
            <a:off x="4497897" y="4808713"/>
            <a:ext cx="85441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000" dirty="0">
                <a:latin typeface="+mn-ea"/>
              </a:rPr>
              <a:t>评价</a:t>
            </a:r>
          </a:p>
        </p:txBody>
      </p:sp>
      <p:sp>
        <p:nvSpPr>
          <p:cNvPr id="35" name="流程图: 可选过程 34"/>
          <p:cNvSpPr/>
          <p:nvPr/>
        </p:nvSpPr>
        <p:spPr>
          <a:xfrm>
            <a:off x="834869" y="4340067"/>
            <a:ext cx="4660765" cy="173600"/>
          </a:xfrm>
          <a:prstGeom prst="flowChartAlternateProcess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点评</a:t>
            </a:r>
            <a:r>
              <a:rPr lang="zh-CN" altLang="en-US" sz="1000">
                <a:solidFill>
                  <a:schemeClr val="tx1"/>
                </a:solidFill>
                <a:latin typeface="+mn-ea"/>
              </a:rPr>
              <a:t>热门榜</a:t>
            </a:r>
            <a:endParaRPr lang="en-US" altLang="zh-CN" sz="1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6" name="流程图: 可选过程 55"/>
          <p:cNvSpPr/>
          <p:nvPr/>
        </p:nvSpPr>
        <p:spPr>
          <a:xfrm>
            <a:off x="834974" y="4599801"/>
            <a:ext cx="4660767" cy="172800"/>
          </a:xfrm>
          <a:prstGeom prst="flowChartAlternateProcess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1971626" y="4600929"/>
            <a:ext cx="2395661" cy="172800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点评主题榜</a:t>
            </a:r>
            <a:r>
              <a:rPr lang="en-US" altLang="zh-CN" sz="700" dirty="0">
                <a:solidFill>
                  <a:schemeClr val="bg1">
                    <a:lumMod val="65000"/>
                  </a:schemeClr>
                </a:solidFill>
                <a:latin typeface="+mn-ea"/>
              </a:rPr>
              <a:t>(</a:t>
            </a:r>
            <a:r>
              <a:rPr lang="zh-CN" altLang="en-US" sz="700" dirty="0">
                <a:solidFill>
                  <a:schemeClr val="bg1">
                    <a:lumMod val="65000"/>
                  </a:schemeClr>
                </a:solidFill>
                <a:latin typeface="+mn-ea"/>
              </a:rPr>
              <a:t>近期，不确定具体累计周期</a:t>
            </a:r>
            <a:r>
              <a:rPr lang="en-US" altLang="zh-CN" sz="700" dirty="0">
                <a:solidFill>
                  <a:schemeClr val="bg1">
                    <a:lumMod val="65000"/>
                  </a:schemeClr>
                </a:solidFill>
                <a:latin typeface="+mn-ea"/>
              </a:rPr>
              <a:t>)</a:t>
            </a:r>
          </a:p>
        </p:txBody>
      </p:sp>
      <p:sp>
        <p:nvSpPr>
          <p:cNvPr id="66" name="文本框 65"/>
          <p:cNvSpPr txBox="1"/>
          <p:nvPr/>
        </p:nvSpPr>
        <p:spPr>
          <a:xfrm>
            <a:off x="426347" y="2305774"/>
            <a:ext cx="9929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00" dirty="0">
                <a:solidFill>
                  <a:schemeClr val="bg1">
                    <a:lumMod val="65000"/>
                  </a:schemeClr>
                </a:solidFill>
                <a:effectLst/>
                <a:latin typeface="+mn-ea"/>
              </a:rPr>
              <a:t>累积周期</a:t>
            </a:r>
            <a:endParaRPr lang="en-US" altLang="zh-CN" sz="1000" dirty="0">
              <a:solidFill>
                <a:schemeClr val="bg1">
                  <a:lumMod val="65000"/>
                </a:schemeClr>
              </a:solidFill>
              <a:effectLst/>
              <a:latin typeface="+mn-ea"/>
            </a:endParaRPr>
          </a:p>
        </p:txBody>
      </p:sp>
      <p:cxnSp>
        <p:nvCxnSpPr>
          <p:cNvPr id="67" name="直接连接符 66"/>
          <p:cNvCxnSpPr/>
          <p:nvPr/>
        </p:nvCxnSpPr>
        <p:spPr>
          <a:xfrm>
            <a:off x="800388" y="3492614"/>
            <a:ext cx="4695353" cy="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连接符 67"/>
          <p:cNvCxnSpPr/>
          <p:nvPr/>
        </p:nvCxnSpPr>
        <p:spPr>
          <a:xfrm>
            <a:off x="791024" y="3035075"/>
            <a:ext cx="4713325" cy="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流程图: 可选过程 68"/>
          <p:cNvSpPr/>
          <p:nvPr/>
        </p:nvSpPr>
        <p:spPr>
          <a:xfrm>
            <a:off x="842503" y="2730363"/>
            <a:ext cx="4656624" cy="172800"/>
          </a:xfrm>
          <a:prstGeom prst="flowChartAlternateProcess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0" name="文本框 69"/>
          <p:cNvSpPr txBox="1"/>
          <p:nvPr/>
        </p:nvSpPr>
        <p:spPr>
          <a:xfrm>
            <a:off x="2406904" y="2317621"/>
            <a:ext cx="9929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00" b="1" dirty="0">
                <a:effectLst/>
                <a:latin typeface="+mn-ea"/>
              </a:rPr>
              <a:t>量化数据</a:t>
            </a:r>
            <a:r>
              <a:rPr lang="zh-CN" altLang="en-US" sz="1000" b="1" dirty="0">
                <a:latin typeface="+mn-ea"/>
              </a:rPr>
              <a:t>资产</a:t>
            </a:r>
            <a:endParaRPr lang="en-US" altLang="zh-CN" sz="1000" b="1" dirty="0">
              <a:effectLst/>
              <a:latin typeface="+mn-ea"/>
            </a:endParaRPr>
          </a:p>
        </p:txBody>
      </p:sp>
      <p:sp>
        <p:nvSpPr>
          <p:cNvPr id="73" name="内容占位符 2"/>
          <p:cNvSpPr txBox="1"/>
          <p:nvPr/>
        </p:nvSpPr>
        <p:spPr>
          <a:xfrm>
            <a:off x="364237" y="810182"/>
            <a:ext cx="8410726" cy="1257263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12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/>
                </a:solidFill>
                <a:latin typeface="Calibri" panose="020F0502020204030204" pitchFamily="34" charset="0"/>
                <a:ea typeface="楷体" panose="02010609060101010101" pitchFamily="49" charset="-122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12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12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12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12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zh-CN" altLang="en-US" sz="1000" dirty="0">
                <a:latin typeface="+mn-ea"/>
                <a:ea typeface="+mn-ea"/>
              </a:rPr>
              <a:t>榜单是对</a:t>
            </a:r>
            <a:r>
              <a:rPr lang="zh-CN" altLang="en-US" sz="1000" b="1" dirty="0">
                <a:latin typeface="+mn-ea"/>
                <a:ea typeface="+mn-ea"/>
              </a:rPr>
              <a:t>某一同类相关事物</a:t>
            </a:r>
            <a:r>
              <a:rPr lang="zh-CN" altLang="en-US" sz="1000" dirty="0">
                <a:latin typeface="+mn-ea"/>
                <a:ea typeface="+mn-ea"/>
              </a:rPr>
              <a:t>的</a:t>
            </a:r>
            <a:r>
              <a:rPr lang="zh-CN" altLang="en-US" sz="1000" b="1" dirty="0">
                <a:latin typeface="+mn-ea"/>
                <a:ea typeface="+mn-ea"/>
              </a:rPr>
              <a:t>客观实力</a:t>
            </a:r>
            <a:r>
              <a:rPr lang="zh-CN" altLang="en-US" sz="1000" dirty="0">
                <a:latin typeface="+mn-ea"/>
                <a:ea typeface="+mn-ea"/>
              </a:rPr>
              <a:t>的反映，通过预设</a:t>
            </a:r>
            <a:r>
              <a:rPr lang="zh-CN" altLang="en-US" sz="1000" b="1" dirty="0">
                <a:latin typeface="+mn-ea"/>
                <a:ea typeface="+mn-ea"/>
              </a:rPr>
              <a:t>规则</a:t>
            </a:r>
            <a:r>
              <a:rPr lang="zh-CN" altLang="en-US" sz="1000" dirty="0">
                <a:latin typeface="+mn-ea"/>
                <a:ea typeface="+mn-ea"/>
              </a:rPr>
              <a:t>，对不同个体进行</a:t>
            </a:r>
            <a:r>
              <a:rPr lang="zh-CN" altLang="en-US" sz="1000" b="1" dirty="0">
                <a:latin typeface="+mn-ea"/>
                <a:ea typeface="+mn-ea"/>
              </a:rPr>
              <a:t>相互比较</a:t>
            </a:r>
            <a:r>
              <a:rPr lang="zh-CN" altLang="en-US" sz="1000" dirty="0">
                <a:latin typeface="+mn-ea"/>
                <a:ea typeface="+mn-ea"/>
              </a:rPr>
              <a:t>。其中：</a:t>
            </a:r>
            <a:endParaRPr lang="en-US" altLang="zh-CN" sz="1000" dirty="0">
              <a:latin typeface="+mn-ea"/>
              <a:ea typeface="+mn-ea"/>
            </a:endParaRPr>
          </a:p>
          <a:p>
            <a:pPr lvl="1">
              <a:lnSpc>
                <a:spcPct val="100000"/>
              </a:lnSpc>
              <a:spcBef>
                <a:spcPts val="300"/>
              </a:spcBef>
            </a:pPr>
            <a:r>
              <a:rPr lang="zh-CN" altLang="en-US" sz="1000" b="1" dirty="0">
                <a:latin typeface="+mn-ea"/>
              </a:rPr>
              <a:t>量化数据</a:t>
            </a:r>
            <a:r>
              <a:rPr lang="zh-CN" altLang="en-US" sz="1000" dirty="0">
                <a:latin typeface="+mn-ea"/>
              </a:rPr>
              <a:t>用于统计而相互比较；例如意向</a:t>
            </a:r>
            <a:r>
              <a:rPr lang="en-US" altLang="zh-CN" sz="1000" dirty="0">
                <a:latin typeface="+mn-ea"/>
              </a:rPr>
              <a:t>/</a:t>
            </a:r>
            <a:r>
              <a:rPr lang="zh-CN" altLang="en-US" sz="1000" dirty="0">
                <a:latin typeface="+mn-ea"/>
              </a:rPr>
              <a:t>流量、服务、交易、评价量等。用于排序、入围商户，影响用户决策顺序；</a:t>
            </a:r>
            <a:endParaRPr lang="en-US" altLang="zh-CN" sz="1000" b="1" dirty="0">
              <a:latin typeface="+mn-ea"/>
            </a:endParaRPr>
          </a:p>
          <a:p>
            <a:pPr lvl="1">
              <a:lnSpc>
                <a:spcPct val="100000"/>
              </a:lnSpc>
              <a:spcBef>
                <a:spcPts val="300"/>
              </a:spcBef>
            </a:pPr>
            <a:r>
              <a:rPr lang="zh-CN" altLang="en-US" sz="1000" b="1" dirty="0">
                <a:latin typeface="+mn-ea"/>
              </a:rPr>
              <a:t>标签信息</a:t>
            </a:r>
            <a:r>
              <a:rPr lang="zh-CN" altLang="en-US" sz="1000" dirty="0">
                <a:latin typeface="+mn-ea"/>
              </a:rPr>
              <a:t>用于描述事物属类，如区域、品类、场景主题、基本信息、价格等。用于筛选、聚合特定商户供给，满足特定用户需求；</a:t>
            </a:r>
            <a:endParaRPr lang="en-US" altLang="zh-CN" sz="1000" dirty="0">
              <a:latin typeface="+mn-ea"/>
            </a:endParaRPr>
          </a:p>
          <a:p>
            <a:pPr marL="171450" lvl="1">
              <a:lnSpc>
                <a:spcPct val="100000"/>
              </a:lnSpc>
              <a:spcBef>
                <a:spcPts val="300"/>
              </a:spcBef>
            </a:pPr>
            <a:r>
              <a:rPr lang="zh-CN" altLang="en-US" sz="1000" dirty="0">
                <a:latin typeface="+mn-ea"/>
              </a:rPr>
              <a:t>榜单矩阵，则是通过不同的榜单规则，组合应用量化数据</a:t>
            </a:r>
            <a:r>
              <a:rPr lang="en-US" altLang="zh-CN" sz="1000" dirty="0">
                <a:latin typeface="+mn-ea"/>
              </a:rPr>
              <a:t>x</a:t>
            </a:r>
            <a:r>
              <a:rPr lang="zh-CN" altLang="en-US" sz="1000" dirty="0">
                <a:latin typeface="+mn-ea"/>
              </a:rPr>
              <a:t>标签信息资产；</a:t>
            </a:r>
            <a:endParaRPr lang="en-US" altLang="zh-CN" sz="1000" dirty="0">
              <a:latin typeface="+mn-ea"/>
            </a:endParaRPr>
          </a:p>
          <a:p>
            <a:pPr marL="171450" lvl="1">
              <a:lnSpc>
                <a:spcPct val="100000"/>
              </a:lnSpc>
              <a:spcBef>
                <a:spcPts val="300"/>
              </a:spcBef>
            </a:pPr>
            <a:r>
              <a:rPr lang="zh-CN" altLang="en-US" sz="1000" dirty="0">
                <a:latin typeface="+mn-ea"/>
              </a:rPr>
              <a:t>目前，必吃榜采用多维量化数据资产，累积周期最长，并通过标签信息资产过滤保证高质量供给，心智和公信力最强。美团榜单使用的量化数据资产维度相对单一，累积周期短，标签信息资产使用较泛（区域、品类筛选，基本不过滤），公信力和特色度上均有空间。从资产视角看，榜单规则可沿量化数据资产的维度选用、累积周期计算，以及标签信息资产的筛选过滤上着手固化、强化榜单矩阵</a:t>
            </a:r>
            <a:endParaRPr lang="en-US" altLang="zh-CN" sz="1000" dirty="0">
              <a:latin typeface="+mn-ea"/>
            </a:endParaRPr>
          </a:p>
        </p:txBody>
      </p:sp>
      <p:sp>
        <p:nvSpPr>
          <p:cNvPr id="81" name="文本框 80"/>
          <p:cNvSpPr txBox="1"/>
          <p:nvPr/>
        </p:nvSpPr>
        <p:spPr>
          <a:xfrm>
            <a:off x="6676916" y="2317621"/>
            <a:ext cx="9929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00" b="1" dirty="0">
                <a:latin typeface="+mn-ea"/>
              </a:rPr>
              <a:t>标签信息资产</a:t>
            </a:r>
            <a:endParaRPr lang="en-US" altLang="zh-CN" sz="1000" b="1" dirty="0">
              <a:effectLst/>
              <a:latin typeface="+mn-ea"/>
            </a:endParaRPr>
          </a:p>
        </p:txBody>
      </p:sp>
      <p:sp>
        <p:nvSpPr>
          <p:cNvPr id="83" name="文本框 82"/>
          <p:cNvSpPr txBox="1"/>
          <p:nvPr/>
        </p:nvSpPr>
        <p:spPr>
          <a:xfrm>
            <a:off x="5206357" y="2317621"/>
            <a:ext cx="9929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000" b="1" dirty="0">
                <a:effectLst/>
                <a:latin typeface="+mn-ea"/>
              </a:rPr>
              <a:t>X</a:t>
            </a:r>
          </a:p>
        </p:txBody>
      </p:sp>
      <p:sp>
        <p:nvSpPr>
          <p:cNvPr id="84" name="流程图: 可选过程 83"/>
          <p:cNvSpPr/>
          <p:nvPr/>
        </p:nvSpPr>
        <p:spPr>
          <a:xfrm>
            <a:off x="8220537" y="2727028"/>
            <a:ext cx="562420" cy="172800"/>
          </a:xfrm>
          <a:prstGeom prst="flowChartAlternateProcess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>
              <a:lnSpc>
                <a:spcPts val="800"/>
              </a:lnSpc>
            </a:pPr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价格</a:t>
            </a:r>
            <a:endParaRPr lang="en-US" altLang="zh-CN" sz="10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85" name="直接连接符 84"/>
          <p:cNvCxnSpPr/>
          <p:nvPr/>
        </p:nvCxnSpPr>
        <p:spPr>
          <a:xfrm>
            <a:off x="5787718" y="4778951"/>
            <a:ext cx="3057832" cy="12954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接连接符 88"/>
          <p:cNvCxnSpPr/>
          <p:nvPr/>
        </p:nvCxnSpPr>
        <p:spPr>
          <a:xfrm flipV="1">
            <a:off x="5787718" y="2544191"/>
            <a:ext cx="0" cy="225066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流程图: 可选过程 92"/>
          <p:cNvSpPr/>
          <p:nvPr/>
        </p:nvSpPr>
        <p:spPr>
          <a:xfrm>
            <a:off x="7632221" y="2727028"/>
            <a:ext cx="562420" cy="172800"/>
          </a:xfrm>
          <a:prstGeom prst="flowChartAlternateProcess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>
              <a:lnSpc>
                <a:spcPts val="800"/>
              </a:lnSpc>
            </a:pPr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基本信息</a:t>
            </a:r>
            <a:endParaRPr lang="en-US" altLang="zh-CN" sz="1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94" name="流程图: 可选过程 93"/>
          <p:cNvSpPr/>
          <p:nvPr/>
        </p:nvSpPr>
        <p:spPr>
          <a:xfrm>
            <a:off x="6455587" y="2727028"/>
            <a:ext cx="562420" cy="172800"/>
          </a:xfrm>
          <a:prstGeom prst="flowChartAlternateProcess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>
              <a:lnSpc>
                <a:spcPts val="800"/>
              </a:lnSpc>
            </a:pPr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品类</a:t>
            </a:r>
            <a:endParaRPr lang="en-US" altLang="zh-CN" sz="1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95" name="流程图: 可选过程 94"/>
          <p:cNvSpPr/>
          <p:nvPr/>
        </p:nvSpPr>
        <p:spPr>
          <a:xfrm>
            <a:off x="5867270" y="2727028"/>
            <a:ext cx="562420" cy="172800"/>
          </a:xfrm>
          <a:prstGeom prst="flowChartAlternateProcess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>
              <a:lnSpc>
                <a:spcPts val="800"/>
              </a:lnSpc>
            </a:pPr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区域</a:t>
            </a:r>
            <a:endParaRPr lang="en-US" altLang="zh-CN" sz="1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96" name="流程图: 可选过程 95"/>
          <p:cNvSpPr/>
          <p:nvPr/>
        </p:nvSpPr>
        <p:spPr>
          <a:xfrm>
            <a:off x="7043904" y="2727028"/>
            <a:ext cx="562420" cy="172800"/>
          </a:xfrm>
          <a:prstGeom prst="flowChartAlternateProcess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>
              <a:lnSpc>
                <a:spcPts val="800"/>
              </a:lnSpc>
            </a:pPr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场景主题</a:t>
            </a:r>
            <a:endParaRPr lang="en-US" altLang="zh-CN" sz="1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99" name="流程图: 可选过程 98"/>
          <p:cNvSpPr/>
          <p:nvPr/>
        </p:nvSpPr>
        <p:spPr>
          <a:xfrm>
            <a:off x="5865592" y="2966168"/>
            <a:ext cx="1146763" cy="172800"/>
          </a:xfrm>
          <a:prstGeom prst="flowChartAlternateProcess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扬州早茶</a:t>
            </a:r>
            <a:endParaRPr lang="en-US" altLang="zh-CN" sz="1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1" name="流程图: 可选过程 100"/>
          <p:cNvSpPr/>
          <p:nvPr/>
        </p:nvSpPr>
        <p:spPr>
          <a:xfrm>
            <a:off x="6455586" y="3196681"/>
            <a:ext cx="1734783" cy="172800"/>
          </a:xfrm>
          <a:prstGeom prst="flowChartAlternateProcess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夜宵</a:t>
            </a:r>
            <a:endParaRPr lang="en-US" altLang="zh-CN" sz="1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5" name="流程图: 可选过程 104"/>
          <p:cNvSpPr/>
          <p:nvPr/>
        </p:nvSpPr>
        <p:spPr>
          <a:xfrm>
            <a:off x="5865592" y="3427194"/>
            <a:ext cx="2917364" cy="172800"/>
          </a:xfrm>
          <a:prstGeom prst="flowChartAlternateProcess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6" name="矩形 105"/>
          <p:cNvSpPr/>
          <p:nvPr/>
        </p:nvSpPr>
        <p:spPr>
          <a:xfrm>
            <a:off x="7043904" y="3426999"/>
            <a:ext cx="562420" cy="172800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>
              <a:lnSpc>
                <a:spcPts val="800"/>
              </a:lnSpc>
            </a:pPr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地方小店</a:t>
            </a:r>
            <a:endParaRPr lang="en-US" altLang="zh-CN" sz="1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7" name="流程图: 可选过程 106"/>
          <p:cNvSpPr/>
          <p:nvPr/>
        </p:nvSpPr>
        <p:spPr>
          <a:xfrm>
            <a:off x="5865592" y="4579758"/>
            <a:ext cx="2895147" cy="172800"/>
          </a:xfrm>
          <a:prstGeom prst="flowChartAlternateProcess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+mn-ea"/>
              </a:rPr>
              <a:t>…</a:t>
            </a:r>
          </a:p>
        </p:txBody>
      </p:sp>
      <p:sp>
        <p:nvSpPr>
          <p:cNvPr id="111" name="矩形 110"/>
          <p:cNvSpPr/>
          <p:nvPr/>
        </p:nvSpPr>
        <p:spPr>
          <a:xfrm>
            <a:off x="1947685" y="2737737"/>
            <a:ext cx="2395661" cy="165661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必吃榜？（需确定用到流量了么）</a:t>
            </a:r>
            <a:endParaRPr lang="en-US" altLang="zh-CN" sz="1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12" name="流程图: 可选过程 111"/>
          <p:cNvSpPr/>
          <p:nvPr/>
        </p:nvSpPr>
        <p:spPr>
          <a:xfrm>
            <a:off x="2011538" y="2656860"/>
            <a:ext cx="555499" cy="96330"/>
          </a:xfrm>
          <a:prstGeom prst="flowChartAlternateProcess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lnSpc>
                <a:spcPts val="800"/>
              </a:lnSpc>
            </a:pPr>
            <a:r>
              <a:rPr lang="zh-CN" altLang="en-US" sz="700" dirty="0">
                <a:solidFill>
                  <a:schemeClr val="tx1"/>
                </a:solidFill>
                <a:latin typeface="+mn-ea"/>
              </a:rPr>
              <a:t>入选城市</a:t>
            </a:r>
            <a:r>
              <a:rPr lang="en-US" altLang="zh-CN" sz="700" dirty="0">
                <a:solidFill>
                  <a:schemeClr val="tx1"/>
                </a:solidFill>
                <a:latin typeface="+mn-ea"/>
              </a:rPr>
              <a:t>144</a:t>
            </a:r>
          </a:p>
        </p:txBody>
      </p:sp>
      <p:sp>
        <p:nvSpPr>
          <p:cNvPr id="115" name="流程图: 可选过程 114"/>
          <p:cNvSpPr/>
          <p:nvPr/>
        </p:nvSpPr>
        <p:spPr>
          <a:xfrm>
            <a:off x="2601268" y="2656860"/>
            <a:ext cx="555499" cy="96330"/>
          </a:xfrm>
          <a:prstGeom prst="flowChartAlternateProcess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800"/>
              </a:lnSpc>
            </a:pPr>
            <a:r>
              <a:rPr lang="zh-CN" altLang="en-US" sz="700" dirty="0">
                <a:solidFill>
                  <a:schemeClr val="tx1"/>
                </a:solidFill>
                <a:latin typeface="+mn-ea"/>
              </a:rPr>
              <a:t>正餐非标</a:t>
            </a:r>
            <a:endParaRPr lang="en-US" altLang="zh-CN" sz="7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16" name="流程图: 可选过程 115"/>
          <p:cNvSpPr/>
          <p:nvPr/>
        </p:nvSpPr>
        <p:spPr>
          <a:xfrm>
            <a:off x="3190998" y="2656860"/>
            <a:ext cx="555499" cy="96330"/>
          </a:xfrm>
          <a:prstGeom prst="flowChartAlternateProcess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700" dirty="0">
                <a:solidFill>
                  <a:schemeClr val="tx1"/>
                </a:solidFill>
                <a:latin typeface="+mn-ea"/>
              </a:rPr>
              <a:t>长期稳定</a:t>
            </a:r>
            <a:endParaRPr lang="en-US" altLang="zh-CN" sz="7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17" name="流程图: 可选过程 116"/>
          <p:cNvSpPr/>
          <p:nvPr/>
        </p:nvSpPr>
        <p:spPr>
          <a:xfrm>
            <a:off x="3780729" y="2656860"/>
            <a:ext cx="555499" cy="96330"/>
          </a:xfrm>
          <a:prstGeom prst="flowChartAlternateProcess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700" dirty="0">
                <a:solidFill>
                  <a:schemeClr val="tx1"/>
                </a:solidFill>
                <a:latin typeface="+mn-ea"/>
              </a:rPr>
              <a:t>日常消费</a:t>
            </a:r>
            <a:endParaRPr lang="en-US" altLang="zh-CN" sz="7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19" name="流程图: 可选过程 118"/>
          <p:cNvSpPr/>
          <p:nvPr/>
        </p:nvSpPr>
        <p:spPr>
          <a:xfrm>
            <a:off x="2005105" y="4538628"/>
            <a:ext cx="1163349" cy="96356"/>
          </a:xfrm>
          <a:prstGeom prst="flowChartAlternateProcess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lnSpc>
                <a:spcPts val="800"/>
              </a:lnSpc>
            </a:pPr>
            <a:r>
              <a:rPr lang="zh-CN" altLang="en-US" sz="700" dirty="0">
                <a:solidFill>
                  <a:schemeClr val="tx1"/>
                </a:solidFill>
                <a:latin typeface="+mn-ea"/>
              </a:rPr>
              <a:t>覆盖城市</a:t>
            </a:r>
            <a:r>
              <a:rPr lang="en-US" altLang="zh-CN" sz="700" dirty="0">
                <a:solidFill>
                  <a:schemeClr val="tx1"/>
                </a:solidFill>
                <a:latin typeface="+mn-ea"/>
              </a:rPr>
              <a:t>759</a:t>
            </a:r>
          </a:p>
        </p:txBody>
      </p:sp>
      <p:sp>
        <p:nvSpPr>
          <p:cNvPr id="121" name="流程图: 可选过程 120"/>
          <p:cNvSpPr/>
          <p:nvPr/>
        </p:nvSpPr>
        <p:spPr>
          <a:xfrm>
            <a:off x="3184565" y="4538628"/>
            <a:ext cx="1165559" cy="96356"/>
          </a:xfrm>
          <a:prstGeom prst="flowChartAlternateProcess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700" dirty="0">
                <a:solidFill>
                  <a:schemeClr val="tx1"/>
                </a:solidFill>
                <a:latin typeface="+mn-ea"/>
              </a:rPr>
              <a:t>特定主题</a:t>
            </a:r>
            <a:endParaRPr lang="en-US" altLang="zh-CN" sz="7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23" name="矩形 122"/>
          <p:cNvSpPr/>
          <p:nvPr/>
        </p:nvSpPr>
        <p:spPr>
          <a:xfrm>
            <a:off x="1971522" y="4339396"/>
            <a:ext cx="2393917" cy="165664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点评热门榜</a:t>
            </a:r>
            <a:r>
              <a:rPr lang="en-US" altLang="zh-CN" sz="1000" dirty="0">
                <a:solidFill>
                  <a:schemeClr val="tx1"/>
                </a:solidFill>
                <a:latin typeface="+mn-ea"/>
              </a:rPr>
              <a:t>(</a:t>
            </a:r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线上</a:t>
            </a:r>
            <a:r>
              <a:rPr lang="en-US" altLang="zh-CN" sz="1000" dirty="0">
                <a:solidFill>
                  <a:schemeClr val="tx1"/>
                </a:solidFill>
                <a:latin typeface="+mn-ea"/>
              </a:rPr>
              <a:t>)</a:t>
            </a:r>
          </a:p>
        </p:txBody>
      </p:sp>
      <p:sp>
        <p:nvSpPr>
          <p:cNvPr id="124" name="流程图: 可选过程 123"/>
          <p:cNvSpPr/>
          <p:nvPr/>
        </p:nvSpPr>
        <p:spPr>
          <a:xfrm>
            <a:off x="3135675" y="4159214"/>
            <a:ext cx="2360066" cy="165664"/>
          </a:xfrm>
          <a:prstGeom prst="flowChartAlternateProcess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点评销量榜</a:t>
            </a:r>
          </a:p>
        </p:txBody>
      </p:sp>
      <p:sp>
        <p:nvSpPr>
          <p:cNvPr id="126" name="流程图: 可选过程 125"/>
          <p:cNvSpPr/>
          <p:nvPr/>
        </p:nvSpPr>
        <p:spPr>
          <a:xfrm>
            <a:off x="4359088" y="3968625"/>
            <a:ext cx="1142125" cy="165664"/>
          </a:xfrm>
          <a:prstGeom prst="flowChartAlternateProcess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点评打卡人气榜</a:t>
            </a:r>
            <a:endParaRPr lang="en-US" altLang="zh-CN" sz="1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27" name="流程图: 可选过程 126"/>
          <p:cNvSpPr/>
          <p:nvPr/>
        </p:nvSpPr>
        <p:spPr>
          <a:xfrm>
            <a:off x="837917" y="3086260"/>
            <a:ext cx="4660765" cy="173600"/>
          </a:xfrm>
          <a:prstGeom prst="flowChartAlternateProcess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点评热门榜</a:t>
            </a:r>
            <a:endParaRPr lang="en-US" altLang="zh-CN" sz="1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28" name="矩形 127"/>
          <p:cNvSpPr/>
          <p:nvPr/>
        </p:nvSpPr>
        <p:spPr>
          <a:xfrm>
            <a:off x="1974570" y="3085588"/>
            <a:ext cx="2393917" cy="173599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点评热门榜</a:t>
            </a:r>
            <a:r>
              <a:rPr lang="en-US" altLang="zh-CN" sz="1000" dirty="0">
                <a:solidFill>
                  <a:schemeClr val="tx1"/>
                </a:solidFill>
                <a:latin typeface="+mn-ea"/>
              </a:rPr>
              <a:t>(</a:t>
            </a:r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线下荣誉</a:t>
            </a:r>
            <a:r>
              <a:rPr lang="en-US" altLang="zh-CN" sz="1000" dirty="0">
                <a:solidFill>
                  <a:schemeClr val="tx1"/>
                </a:solidFill>
                <a:latin typeface="+mn-ea"/>
              </a:rPr>
              <a:t>)</a:t>
            </a:r>
          </a:p>
        </p:txBody>
      </p:sp>
      <p:sp>
        <p:nvSpPr>
          <p:cNvPr id="129" name="流程图: 可选过程 128"/>
          <p:cNvSpPr/>
          <p:nvPr/>
        </p:nvSpPr>
        <p:spPr>
          <a:xfrm>
            <a:off x="4359088" y="3778109"/>
            <a:ext cx="1142125" cy="165664"/>
          </a:xfrm>
          <a:prstGeom prst="flowChartAlternateProcess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美团好评榜</a:t>
            </a:r>
            <a:endParaRPr lang="en-US" altLang="zh-CN" sz="1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30" name="流程图: 可选过程 129"/>
          <p:cNvSpPr/>
          <p:nvPr/>
        </p:nvSpPr>
        <p:spPr>
          <a:xfrm>
            <a:off x="1947403" y="3585099"/>
            <a:ext cx="3556946" cy="165664"/>
          </a:xfrm>
          <a:prstGeom prst="flowChartAlternateProcess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美团热订榜</a:t>
            </a:r>
            <a:endParaRPr lang="en-US" altLang="zh-CN" sz="1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31" name="流程图: 可选过程 130"/>
          <p:cNvSpPr/>
          <p:nvPr/>
        </p:nvSpPr>
        <p:spPr>
          <a:xfrm>
            <a:off x="3135674" y="3960892"/>
            <a:ext cx="1180404" cy="165664"/>
          </a:xfrm>
          <a:prstGeom prst="flowChartAlternateProcess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美团人气榜</a:t>
            </a:r>
            <a:endParaRPr lang="en-US" altLang="zh-CN" sz="1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34" name="流程图: 可选过程 133"/>
          <p:cNvSpPr/>
          <p:nvPr/>
        </p:nvSpPr>
        <p:spPr>
          <a:xfrm>
            <a:off x="4359088" y="3299778"/>
            <a:ext cx="1142125" cy="165664"/>
          </a:xfrm>
          <a:prstGeom prst="flowChartAlternateProcess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点评好评榜</a:t>
            </a:r>
            <a:endParaRPr lang="en-US" altLang="zh-CN" sz="1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35" name="矩形 134"/>
          <p:cNvSpPr/>
          <p:nvPr/>
        </p:nvSpPr>
        <p:spPr>
          <a:xfrm>
            <a:off x="3128597" y="3585031"/>
            <a:ext cx="1230492" cy="165664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美团热订榜</a:t>
            </a:r>
            <a:endParaRPr lang="en-US" altLang="zh-CN" sz="1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36" name="流程图: 可选过程 135"/>
          <p:cNvSpPr/>
          <p:nvPr/>
        </p:nvSpPr>
        <p:spPr>
          <a:xfrm>
            <a:off x="3166769" y="3521916"/>
            <a:ext cx="555499" cy="90605"/>
          </a:xfrm>
          <a:prstGeom prst="flowChartAlternateProcess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lnSpc>
                <a:spcPts val="800"/>
              </a:lnSpc>
            </a:pPr>
            <a:r>
              <a:rPr lang="zh-CN" altLang="en-US" sz="700" dirty="0">
                <a:solidFill>
                  <a:schemeClr val="tx1"/>
                </a:solidFill>
                <a:latin typeface="+mn-ea"/>
              </a:rPr>
              <a:t>可在线预订</a:t>
            </a:r>
            <a:endParaRPr lang="en-US" altLang="zh-CN" sz="7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37" name="流程图: 可选过程 136"/>
          <p:cNvSpPr/>
          <p:nvPr/>
        </p:nvSpPr>
        <p:spPr>
          <a:xfrm>
            <a:off x="3746097" y="3521915"/>
            <a:ext cx="555499" cy="90605"/>
          </a:xfrm>
          <a:prstGeom prst="flowChartAlternateProcess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lnSpc>
                <a:spcPts val="800"/>
              </a:lnSpc>
            </a:pPr>
            <a:r>
              <a:rPr lang="zh-CN" altLang="en-US" sz="700" dirty="0">
                <a:solidFill>
                  <a:schemeClr val="tx1"/>
                </a:solidFill>
                <a:latin typeface="+mn-ea"/>
              </a:rPr>
              <a:t>聚餐</a:t>
            </a:r>
            <a:r>
              <a:rPr lang="en-US" altLang="zh-CN" sz="70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700" dirty="0">
                <a:solidFill>
                  <a:schemeClr val="tx1"/>
                </a:solidFill>
                <a:latin typeface="+mn-ea"/>
              </a:rPr>
              <a:t>约会</a:t>
            </a:r>
            <a:endParaRPr lang="en-US" altLang="zh-CN" sz="7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45" name="流程图: 可选过程 144"/>
          <p:cNvSpPr/>
          <p:nvPr/>
        </p:nvSpPr>
        <p:spPr>
          <a:xfrm>
            <a:off x="6455587" y="3657707"/>
            <a:ext cx="1730452" cy="172800"/>
          </a:xfrm>
          <a:prstGeom prst="flowChartAlternateProcess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年夜饭</a:t>
            </a:r>
            <a:endParaRPr lang="en-US" altLang="zh-CN" sz="1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46" name="流程图: 可选过程 145"/>
          <p:cNvSpPr/>
          <p:nvPr/>
        </p:nvSpPr>
        <p:spPr>
          <a:xfrm>
            <a:off x="7043904" y="3888220"/>
            <a:ext cx="1739049" cy="172800"/>
          </a:xfrm>
          <a:prstGeom prst="flowChartAlternateProcess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一人食</a:t>
            </a:r>
            <a:endParaRPr lang="en-US" altLang="zh-CN" sz="1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48" name="流程图: 可选过程 147"/>
          <p:cNvSpPr/>
          <p:nvPr/>
        </p:nvSpPr>
        <p:spPr>
          <a:xfrm>
            <a:off x="7632221" y="4118733"/>
            <a:ext cx="562418" cy="172800"/>
          </a:xfrm>
          <a:prstGeom prst="flowChartAlternateProcess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>
              <a:lnSpc>
                <a:spcPts val="800"/>
              </a:lnSpc>
            </a:pPr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名人</a:t>
            </a:r>
            <a:r>
              <a:rPr lang="zh-CN" altLang="en-US" sz="1000">
                <a:solidFill>
                  <a:schemeClr val="tx1"/>
                </a:solidFill>
                <a:latin typeface="+mn-ea"/>
              </a:rPr>
              <a:t>探店</a:t>
            </a:r>
            <a:endParaRPr lang="en-US" altLang="zh-CN" sz="1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49" name="流程图: 可选过程 148"/>
          <p:cNvSpPr/>
          <p:nvPr/>
        </p:nvSpPr>
        <p:spPr>
          <a:xfrm>
            <a:off x="5865592" y="4349246"/>
            <a:ext cx="2329050" cy="172800"/>
          </a:xfrm>
          <a:prstGeom prst="flowChartAlternateProcess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名人探店</a:t>
            </a:r>
            <a:endParaRPr lang="en-US" altLang="zh-CN" sz="1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50" name="矩形 149"/>
          <p:cNvSpPr/>
          <p:nvPr/>
        </p:nvSpPr>
        <p:spPr>
          <a:xfrm>
            <a:off x="6462128" y="4356354"/>
            <a:ext cx="1098956" cy="157313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>
              <a:lnSpc>
                <a:spcPts val="800"/>
              </a:lnSpc>
            </a:pPr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城市首店</a:t>
            </a:r>
            <a:endParaRPr lang="en-US" altLang="zh-CN" sz="1000" dirty="0">
              <a:solidFill>
                <a:schemeClr val="tx1"/>
              </a:solidFill>
              <a:latin typeface="+mn-ea"/>
            </a:endParaRP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米菲PPT3"/>
          <p:cNvSpPr/>
          <p:nvPr/>
        </p:nvSpPr>
        <p:spPr>
          <a:xfrm rot="16200000" flipH="1">
            <a:off x="5616658" y="2134626"/>
            <a:ext cx="1701214" cy="626475"/>
          </a:xfrm>
          <a:prstGeom prst="triangle">
            <a:avLst/>
          </a:prstGeom>
          <a:gradFill flip="none" rotWithShape="1">
            <a:gsLst>
              <a:gs pos="1000">
                <a:srgbClr val="FFFFFF"/>
              </a:gs>
              <a:gs pos="50000">
                <a:schemeClr val="accent4">
                  <a:alpha val="63182"/>
                  <a:lumMod val="20000"/>
                  <a:lumOff val="80000"/>
                </a:schemeClr>
              </a:gs>
              <a:gs pos="100000">
                <a:schemeClr val="accent4">
                  <a:lumMod val="20000"/>
                  <a:lumOff val="8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95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112" name="米菲PPT3"/>
          <p:cNvSpPr/>
          <p:nvPr/>
        </p:nvSpPr>
        <p:spPr>
          <a:xfrm flipH="1">
            <a:off x="5981818" y="454841"/>
            <a:ext cx="3418479" cy="275224"/>
          </a:xfrm>
          <a:prstGeom prst="parallelogram">
            <a:avLst/>
          </a:prstGeom>
          <a:gradFill flip="none" rotWithShape="1">
            <a:gsLst>
              <a:gs pos="100000">
                <a:srgbClr val="FCA072">
                  <a:alpha val="0"/>
                </a:srgbClr>
              </a:gs>
              <a:gs pos="1000">
                <a:srgbClr val="FCA072">
                  <a:alpha val="26000"/>
                </a:srgbClr>
              </a:gs>
            </a:gsLst>
            <a:lin ang="12000000" scaled="0"/>
            <a:tileRect/>
          </a:gradFill>
          <a:ln w="38100" cap="flat" cmpd="sng" algn="ctr">
            <a:noFill/>
            <a:prstDash val="solid"/>
            <a:miter lim="800000"/>
          </a:ln>
          <a:effectLst/>
        </p:spPr>
        <p:txBody>
          <a:bodyPr wrap="square" lIns="98756" tIns="49375" rIns="98756" bIns="49375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116" name="米菲PPT7"/>
          <p:cNvSpPr/>
          <p:nvPr/>
        </p:nvSpPr>
        <p:spPr>
          <a:xfrm flipH="1">
            <a:off x="1213329" y="1062693"/>
            <a:ext cx="1233250" cy="421127"/>
          </a:xfrm>
          <a:prstGeom prst="wedgeRectCallout">
            <a:avLst>
              <a:gd name="adj1" fmla="val -65994"/>
              <a:gd name="adj2" fmla="val 3561"/>
            </a:avLst>
          </a:prstGeom>
          <a:noFill/>
          <a:ln w="15875" cap="flat" cmpd="sng" algn="ctr">
            <a:gradFill>
              <a:gsLst>
                <a:gs pos="100000">
                  <a:srgbClr val="FCA072"/>
                </a:gs>
                <a:gs pos="0">
                  <a:srgbClr val="FCA072">
                    <a:alpha val="0"/>
                  </a:srgbClr>
                </a:gs>
              </a:gsLst>
              <a:lin ang="5400000" scaled="1"/>
            </a:gra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36" tIns="45726" rIns="91436" bIns="45726" numCol="1" spcCol="0" rtlCol="0" fromWordArt="0" anchor="ctr" anchorCtr="0" forceAA="0" compatLnSpc="1">
            <a:noAutofit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117" name="米菲PPT8"/>
          <p:cNvSpPr/>
          <p:nvPr/>
        </p:nvSpPr>
        <p:spPr>
          <a:xfrm>
            <a:off x="2018226" y="3068507"/>
            <a:ext cx="4639511" cy="884519"/>
          </a:xfrm>
          <a:custGeom>
            <a:avLst/>
            <a:gdLst>
              <a:gd name="connsiteX0" fmla="*/ 309380 w 5947703"/>
              <a:gd name="connsiteY0" fmla="*/ 0 h 1133924"/>
              <a:gd name="connsiteX1" fmla="*/ 5638323 w 5947703"/>
              <a:gd name="connsiteY1" fmla="*/ 0 h 1133924"/>
              <a:gd name="connsiteX2" fmla="*/ 5947703 w 5947703"/>
              <a:gd name="connsiteY2" fmla="*/ 1133924 h 1133924"/>
              <a:gd name="connsiteX3" fmla="*/ 0 w 5947703"/>
              <a:gd name="connsiteY3" fmla="*/ 1133924 h 1133924"/>
              <a:gd name="connsiteX4" fmla="*/ 309380 w 5947703"/>
              <a:gd name="connsiteY4" fmla="*/ 0 h 1133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47703" h="1133924">
                <a:moveTo>
                  <a:pt x="309380" y="0"/>
                </a:moveTo>
                <a:lnTo>
                  <a:pt x="5638323" y="0"/>
                </a:lnTo>
                <a:lnTo>
                  <a:pt x="5947703" y="1133924"/>
                </a:lnTo>
                <a:lnTo>
                  <a:pt x="0" y="1133924"/>
                </a:lnTo>
                <a:lnTo>
                  <a:pt x="309380" y="0"/>
                </a:lnTo>
                <a:close/>
              </a:path>
            </a:pathLst>
          </a:custGeom>
          <a:gradFill flip="none" rotWithShape="1">
            <a:gsLst>
              <a:gs pos="100000">
                <a:srgbClr val="62799C"/>
              </a:gs>
              <a:gs pos="0">
                <a:srgbClr val="62799C">
                  <a:lumMod val="87000"/>
                </a:srgbClr>
              </a:gs>
            </a:gsLst>
            <a:lin ang="19800000" scaled="0"/>
            <a:tileRect/>
          </a:gradFill>
          <a:ln w="38100" cap="flat" cmpd="sng" algn="ctr">
            <a:noFill/>
            <a:prstDash val="solid"/>
            <a:miter lim="800000"/>
          </a:ln>
          <a:effectLst>
            <a:outerShdw blurRad="469900" dist="123444" dir="5400000" sx="99000" sy="99000" algn="ctr" rotWithShape="0">
              <a:srgbClr val="62799C">
                <a:alpha val="24000"/>
              </a:srgbClr>
            </a:outerShdw>
          </a:effectLst>
        </p:spPr>
        <p:txBody>
          <a:bodyPr wrap="square" lIns="98756" tIns="49375" rIns="98756" bIns="49375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1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Sans Bold" panose="00000800000000000000" pitchFamily="2" charset="-122"/>
              <a:ea typeface="MiSans Bold" panose="000008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120" name="米菲PPT11"/>
          <p:cNvSpPr/>
          <p:nvPr/>
        </p:nvSpPr>
        <p:spPr>
          <a:xfrm>
            <a:off x="3283321" y="2385811"/>
            <a:ext cx="1224409" cy="538491"/>
          </a:xfrm>
          <a:custGeom>
            <a:avLst/>
            <a:gdLst>
              <a:gd name="connsiteX0" fmla="*/ 153228 w 1569653"/>
              <a:gd name="connsiteY0" fmla="*/ 0 h 690328"/>
              <a:gd name="connsiteX1" fmla="*/ 1569653 w 1569653"/>
              <a:gd name="connsiteY1" fmla="*/ 0 h 690328"/>
              <a:gd name="connsiteX2" fmla="*/ 1416425 w 1569653"/>
              <a:gd name="connsiteY2" fmla="*/ 690328 h 690328"/>
              <a:gd name="connsiteX3" fmla="*/ 0 w 1569653"/>
              <a:gd name="connsiteY3" fmla="*/ 690328 h 690328"/>
              <a:gd name="connsiteX4" fmla="*/ 153228 w 1569653"/>
              <a:gd name="connsiteY4" fmla="*/ 0 h 690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69653" h="690328">
                <a:moveTo>
                  <a:pt x="153228" y="0"/>
                </a:moveTo>
                <a:lnTo>
                  <a:pt x="1569653" y="0"/>
                </a:lnTo>
                <a:lnTo>
                  <a:pt x="1416425" y="690328"/>
                </a:lnTo>
                <a:lnTo>
                  <a:pt x="0" y="690328"/>
                </a:lnTo>
                <a:lnTo>
                  <a:pt x="153228" y="0"/>
                </a:lnTo>
                <a:close/>
              </a:path>
            </a:pathLst>
          </a:custGeom>
          <a:solidFill>
            <a:srgbClr val="FCA072">
              <a:alpha val="15000"/>
            </a:srgbClr>
          </a:solidFill>
          <a:ln w="6350" cap="flat" cmpd="sng" algn="ctr">
            <a:noFill/>
            <a:prstDash val="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121" name="米菲PPT12"/>
          <p:cNvSpPr/>
          <p:nvPr/>
        </p:nvSpPr>
        <p:spPr>
          <a:xfrm>
            <a:off x="4400034" y="2385811"/>
            <a:ext cx="1224788" cy="540199"/>
          </a:xfrm>
          <a:custGeom>
            <a:avLst/>
            <a:gdLst>
              <a:gd name="connsiteX0" fmla="*/ 153714 w 1570139"/>
              <a:gd name="connsiteY0" fmla="*/ 0 h 692518"/>
              <a:gd name="connsiteX1" fmla="*/ 1570139 w 1570139"/>
              <a:gd name="connsiteY1" fmla="*/ 0 h 692518"/>
              <a:gd name="connsiteX2" fmla="*/ 1416425 w 1570139"/>
              <a:gd name="connsiteY2" fmla="*/ 692518 h 692518"/>
              <a:gd name="connsiteX3" fmla="*/ 0 w 1570139"/>
              <a:gd name="connsiteY3" fmla="*/ 692518 h 692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70139" h="692518">
                <a:moveTo>
                  <a:pt x="153714" y="0"/>
                </a:moveTo>
                <a:lnTo>
                  <a:pt x="1570139" y="0"/>
                </a:lnTo>
                <a:lnTo>
                  <a:pt x="1416425" y="692518"/>
                </a:lnTo>
                <a:lnTo>
                  <a:pt x="0" y="692518"/>
                </a:lnTo>
                <a:close/>
              </a:path>
            </a:pathLst>
          </a:custGeom>
          <a:solidFill>
            <a:srgbClr val="FCA072">
              <a:alpha val="15000"/>
            </a:srgbClr>
          </a:solidFill>
          <a:ln w="6350" cap="flat" cmpd="sng" algn="ctr">
            <a:noFill/>
            <a:prstDash val="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122" name="米菲PPT13"/>
          <p:cNvSpPr/>
          <p:nvPr/>
        </p:nvSpPr>
        <p:spPr>
          <a:xfrm>
            <a:off x="5504917" y="2385811"/>
            <a:ext cx="886686" cy="540199"/>
          </a:xfrm>
          <a:custGeom>
            <a:avLst/>
            <a:gdLst>
              <a:gd name="connsiteX0" fmla="*/ 153714 w 1136703"/>
              <a:gd name="connsiteY0" fmla="*/ 0 h 692518"/>
              <a:gd name="connsiteX1" fmla="*/ 947757 w 1136703"/>
              <a:gd name="connsiteY1" fmla="*/ 0 h 692518"/>
              <a:gd name="connsiteX2" fmla="*/ 1136703 w 1136703"/>
              <a:gd name="connsiteY2" fmla="*/ 692518 h 692518"/>
              <a:gd name="connsiteX3" fmla="*/ 0 w 1136703"/>
              <a:gd name="connsiteY3" fmla="*/ 692518 h 692518"/>
              <a:gd name="connsiteX4" fmla="*/ 153714 w 1136703"/>
              <a:gd name="connsiteY4" fmla="*/ 0 h 692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6703" h="692518">
                <a:moveTo>
                  <a:pt x="153714" y="0"/>
                </a:moveTo>
                <a:lnTo>
                  <a:pt x="947757" y="0"/>
                </a:lnTo>
                <a:lnTo>
                  <a:pt x="1136703" y="692518"/>
                </a:lnTo>
                <a:lnTo>
                  <a:pt x="0" y="692518"/>
                </a:lnTo>
                <a:lnTo>
                  <a:pt x="153714" y="0"/>
                </a:lnTo>
                <a:close/>
              </a:path>
            </a:pathLst>
          </a:custGeom>
          <a:solidFill>
            <a:srgbClr val="FCA072">
              <a:alpha val="15000"/>
            </a:srgbClr>
          </a:solidFill>
          <a:ln w="6350" cap="flat" cmpd="sng" algn="ctr">
            <a:noFill/>
            <a:prstDash val="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123" name="米菲PPT14"/>
          <p:cNvSpPr/>
          <p:nvPr/>
        </p:nvSpPr>
        <p:spPr>
          <a:xfrm>
            <a:off x="2284362" y="2385811"/>
            <a:ext cx="1130692" cy="537799"/>
          </a:xfrm>
          <a:prstGeom prst="parallelogram">
            <a:avLst>
              <a:gd name="adj" fmla="val 22211"/>
            </a:avLst>
          </a:prstGeom>
          <a:solidFill>
            <a:srgbClr val="FCA072">
              <a:alpha val="15000"/>
            </a:srgbClr>
          </a:solidFill>
          <a:ln w="6350" cap="flat" cmpd="sng" algn="ctr">
            <a:noFill/>
            <a:prstDash val="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126" name="米菲PPT19"/>
          <p:cNvSpPr/>
          <p:nvPr/>
        </p:nvSpPr>
        <p:spPr>
          <a:xfrm>
            <a:off x="4276967" y="1754707"/>
            <a:ext cx="1942448" cy="540199"/>
          </a:xfrm>
          <a:custGeom>
            <a:avLst/>
            <a:gdLst>
              <a:gd name="connsiteX0" fmla="*/ 142644 w 2490155"/>
              <a:gd name="connsiteY0" fmla="*/ 0 h 692518"/>
              <a:gd name="connsiteX1" fmla="*/ 2301208 w 2490155"/>
              <a:gd name="connsiteY1" fmla="*/ 0 h 692518"/>
              <a:gd name="connsiteX2" fmla="*/ 2490155 w 2490155"/>
              <a:gd name="connsiteY2" fmla="*/ 692518 h 692518"/>
              <a:gd name="connsiteX3" fmla="*/ 0 w 2490155"/>
              <a:gd name="connsiteY3" fmla="*/ 692518 h 692518"/>
              <a:gd name="connsiteX4" fmla="*/ 142644 w 2490155"/>
              <a:gd name="connsiteY4" fmla="*/ 0 h 692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90155" h="692518">
                <a:moveTo>
                  <a:pt x="142644" y="0"/>
                </a:moveTo>
                <a:lnTo>
                  <a:pt x="2301208" y="0"/>
                </a:lnTo>
                <a:lnTo>
                  <a:pt x="2490155" y="692518"/>
                </a:lnTo>
                <a:lnTo>
                  <a:pt x="0" y="692518"/>
                </a:lnTo>
                <a:lnTo>
                  <a:pt x="142644" y="0"/>
                </a:lnTo>
                <a:close/>
              </a:path>
            </a:pathLst>
          </a:custGeom>
          <a:solidFill>
            <a:srgbClr val="F57359">
              <a:alpha val="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127" name="米菲PPT20"/>
          <p:cNvSpPr/>
          <p:nvPr/>
        </p:nvSpPr>
        <p:spPr>
          <a:xfrm>
            <a:off x="2475338" y="1754707"/>
            <a:ext cx="1931683" cy="540199"/>
          </a:xfrm>
          <a:custGeom>
            <a:avLst/>
            <a:gdLst>
              <a:gd name="connsiteX0" fmla="*/ 188946 w 2476355"/>
              <a:gd name="connsiteY0" fmla="*/ 0 h 692518"/>
              <a:gd name="connsiteX1" fmla="*/ 2476355 w 2476355"/>
              <a:gd name="connsiteY1" fmla="*/ 0 h 692518"/>
              <a:gd name="connsiteX2" fmla="*/ 2333711 w 2476355"/>
              <a:gd name="connsiteY2" fmla="*/ 692518 h 692518"/>
              <a:gd name="connsiteX3" fmla="*/ 0 w 2476355"/>
              <a:gd name="connsiteY3" fmla="*/ 692518 h 692518"/>
              <a:gd name="connsiteX4" fmla="*/ 188946 w 2476355"/>
              <a:gd name="connsiteY4" fmla="*/ 0 h 692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76355" h="692518">
                <a:moveTo>
                  <a:pt x="188946" y="0"/>
                </a:moveTo>
                <a:lnTo>
                  <a:pt x="2476355" y="0"/>
                </a:lnTo>
                <a:lnTo>
                  <a:pt x="2333711" y="692518"/>
                </a:lnTo>
                <a:lnTo>
                  <a:pt x="0" y="692518"/>
                </a:lnTo>
                <a:lnTo>
                  <a:pt x="188946" y="0"/>
                </a:lnTo>
                <a:close/>
              </a:path>
            </a:pathLst>
          </a:custGeom>
          <a:solidFill>
            <a:srgbClr val="F57359">
              <a:alpha val="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128" name="米菲PPT21"/>
          <p:cNvSpPr/>
          <p:nvPr/>
        </p:nvSpPr>
        <p:spPr>
          <a:xfrm>
            <a:off x="3458629" y="4046330"/>
            <a:ext cx="1962741" cy="516351"/>
          </a:xfrm>
          <a:custGeom>
            <a:avLst/>
            <a:gdLst>
              <a:gd name="connsiteX0" fmla="*/ 141821 w 2516171"/>
              <a:gd name="connsiteY0" fmla="*/ 0 h 661945"/>
              <a:gd name="connsiteX1" fmla="*/ 2516171 w 2516171"/>
              <a:gd name="connsiteY1" fmla="*/ 0 h 661945"/>
              <a:gd name="connsiteX2" fmla="*/ 2374350 w 2516171"/>
              <a:gd name="connsiteY2" fmla="*/ 661945 h 661945"/>
              <a:gd name="connsiteX3" fmla="*/ 0 w 2516171"/>
              <a:gd name="connsiteY3" fmla="*/ 661945 h 661945"/>
              <a:gd name="connsiteX4" fmla="*/ 141821 w 2516171"/>
              <a:gd name="connsiteY4" fmla="*/ 0 h 6619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16171" h="661945">
                <a:moveTo>
                  <a:pt x="141821" y="0"/>
                </a:moveTo>
                <a:lnTo>
                  <a:pt x="2516171" y="0"/>
                </a:lnTo>
                <a:lnTo>
                  <a:pt x="2374350" y="661945"/>
                </a:lnTo>
                <a:lnTo>
                  <a:pt x="0" y="661945"/>
                </a:lnTo>
                <a:lnTo>
                  <a:pt x="141821" y="0"/>
                </a:lnTo>
                <a:close/>
              </a:path>
            </a:pathLst>
          </a:custGeom>
          <a:solidFill>
            <a:srgbClr val="FCA072">
              <a:alpha val="15000"/>
            </a:srgbClr>
          </a:solidFill>
          <a:ln w="6350" cap="flat" cmpd="sng" algn="ctr">
            <a:noFill/>
            <a:prstDash val="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129" name="米菲PPT22"/>
          <p:cNvSpPr/>
          <p:nvPr/>
        </p:nvSpPr>
        <p:spPr>
          <a:xfrm>
            <a:off x="1852544" y="4046330"/>
            <a:ext cx="1716713" cy="516351"/>
          </a:xfrm>
          <a:custGeom>
            <a:avLst/>
            <a:gdLst>
              <a:gd name="connsiteX0" fmla="*/ 180605 w 2200770"/>
              <a:gd name="connsiteY0" fmla="*/ 0 h 661945"/>
              <a:gd name="connsiteX1" fmla="*/ 2200770 w 2200770"/>
              <a:gd name="connsiteY1" fmla="*/ 0 h 661945"/>
              <a:gd name="connsiteX2" fmla="*/ 2058949 w 2200770"/>
              <a:gd name="connsiteY2" fmla="*/ 661945 h 661945"/>
              <a:gd name="connsiteX3" fmla="*/ 0 w 2200770"/>
              <a:gd name="connsiteY3" fmla="*/ 661945 h 661945"/>
              <a:gd name="connsiteX4" fmla="*/ 180605 w 2200770"/>
              <a:gd name="connsiteY4" fmla="*/ 0 h 6619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00770" h="661945">
                <a:moveTo>
                  <a:pt x="180605" y="0"/>
                </a:moveTo>
                <a:lnTo>
                  <a:pt x="2200770" y="0"/>
                </a:lnTo>
                <a:lnTo>
                  <a:pt x="2058949" y="661945"/>
                </a:lnTo>
                <a:lnTo>
                  <a:pt x="0" y="661945"/>
                </a:lnTo>
                <a:lnTo>
                  <a:pt x="180605" y="0"/>
                </a:lnTo>
                <a:close/>
              </a:path>
            </a:pathLst>
          </a:custGeom>
          <a:solidFill>
            <a:srgbClr val="FCA072">
              <a:alpha val="15000"/>
            </a:srgbClr>
          </a:solidFill>
          <a:ln w="6350" cap="flat" cmpd="sng" algn="ctr">
            <a:noFill/>
            <a:prstDash val="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130" name="米菲PPT23"/>
          <p:cNvSpPr/>
          <p:nvPr/>
        </p:nvSpPr>
        <p:spPr>
          <a:xfrm>
            <a:off x="5310743" y="4046330"/>
            <a:ext cx="1512679" cy="516351"/>
          </a:xfrm>
          <a:custGeom>
            <a:avLst/>
            <a:gdLst>
              <a:gd name="connsiteX0" fmla="*/ 141821 w 1939205"/>
              <a:gd name="connsiteY0" fmla="*/ 0 h 661945"/>
              <a:gd name="connsiteX1" fmla="*/ 1758601 w 1939205"/>
              <a:gd name="connsiteY1" fmla="*/ 0 h 661945"/>
              <a:gd name="connsiteX2" fmla="*/ 1939205 w 1939205"/>
              <a:gd name="connsiteY2" fmla="*/ 661942 h 661945"/>
              <a:gd name="connsiteX3" fmla="*/ 1939205 w 1939205"/>
              <a:gd name="connsiteY3" fmla="*/ 661945 h 661945"/>
              <a:gd name="connsiteX4" fmla="*/ 0 w 1939205"/>
              <a:gd name="connsiteY4" fmla="*/ 661945 h 661945"/>
              <a:gd name="connsiteX5" fmla="*/ 141821 w 1939205"/>
              <a:gd name="connsiteY5" fmla="*/ 0 h 6619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39205" h="661945">
                <a:moveTo>
                  <a:pt x="141821" y="0"/>
                </a:moveTo>
                <a:lnTo>
                  <a:pt x="1758601" y="0"/>
                </a:lnTo>
                <a:lnTo>
                  <a:pt x="1939205" y="661942"/>
                </a:lnTo>
                <a:lnTo>
                  <a:pt x="1939205" y="661945"/>
                </a:lnTo>
                <a:lnTo>
                  <a:pt x="0" y="661945"/>
                </a:lnTo>
                <a:lnTo>
                  <a:pt x="141821" y="0"/>
                </a:lnTo>
                <a:close/>
              </a:path>
            </a:pathLst>
          </a:custGeom>
          <a:solidFill>
            <a:srgbClr val="FCA072">
              <a:alpha val="15000"/>
            </a:srgbClr>
          </a:solidFill>
          <a:ln w="6350" cap="flat" cmpd="sng" algn="ctr">
            <a:noFill/>
            <a:prstDash val="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cxnSp>
        <p:nvCxnSpPr>
          <p:cNvPr id="131" name="米菲PPT24"/>
          <p:cNvCxnSpPr/>
          <p:nvPr/>
        </p:nvCxnSpPr>
        <p:spPr>
          <a:xfrm flipH="1">
            <a:off x="5507068" y="2385811"/>
            <a:ext cx="121387" cy="545463"/>
          </a:xfrm>
          <a:prstGeom prst="line">
            <a:avLst/>
          </a:prstGeom>
          <a:noFill/>
          <a:ln w="25400" cap="rnd" cmpd="sng" algn="ctr">
            <a:solidFill>
              <a:sysClr val="window" lastClr="FFFFFF"/>
            </a:solidFill>
            <a:prstDash val="solid"/>
            <a:round/>
          </a:ln>
          <a:effectLst/>
        </p:spPr>
      </p:cxnSp>
      <p:cxnSp>
        <p:nvCxnSpPr>
          <p:cNvPr id="132" name="米菲PPT25"/>
          <p:cNvCxnSpPr/>
          <p:nvPr/>
        </p:nvCxnSpPr>
        <p:spPr>
          <a:xfrm flipH="1">
            <a:off x="4266850" y="1754706"/>
            <a:ext cx="121387" cy="545463"/>
          </a:xfrm>
          <a:prstGeom prst="line">
            <a:avLst/>
          </a:prstGeom>
          <a:noFill/>
          <a:ln w="25400" cap="rnd" cmpd="sng" algn="ctr">
            <a:solidFill>
              <a:sysClr val="window" lastClr="FFFFFF"/>
            </a:solidFill>
            <a:prstDash val="solid"/>
            <a:miter lim="800000"/>
          </a:ln>
          <a:effectLst/>
        </p:spPr>
      </p:cxnSp>
      <p:cxnSp>
        <p:nvCxnSpPr>
          <p:cNvPr id="135" name="米菲PPT28"/>
          <p:cNvCxnSpPr>
            <a:stCxn id="129" idx="1"/>
          </p:cNvCxnSpPr>
          <p:nvPr/>
        </p:nvCxnSpPr>
        <p:spPr>
          <a:xfrm flipH="1">
            <a:off x="3458629" y="4046330"/>
            <a:ext cx="110628" cy="516351"/>
          </a:xfrm>
          <a:prstGeom prst="line">
            <a:avLst/>
          </a:prstGeom>
          <a:noFill/>
          <a:ln w="25400" cap="rnd" cmpd="sng" algn="ctr">
            <a:solidFill>
              <a:sysClr val="window" lastClr="FFFFFF"/>
            </a:solidFill>
            <a:prstDash val="solid"/>
            <a:miter lim="800000"/>
          </a:ln>
          <a:effectLst/>
        </p:spPr>
      </p:cxnSp>
      <p:cxnSp>
        <p:nvCxnSpPr>
          <p:cNvPr id="136" name="米菲PPT29"/>
          <p:cNvCxnSpPr/>
          <p:nvPr/>
        </p:nvCxnSpPr>
        <p:spPr>
          <a:xfrm flipH="1">
            <a:off x="5310743" y="4043931"/>
            <a:ext cx="110628" cy="516351"/>
          </a:xfrm>
          <a:prstGeom prst="line">
            <a:avLst/>
          </a:prstGeom>
          <a:noFill/>
          <a:ln w="25400" cap="rnd" cmpd="sng" algn="ctr">
            <a:solidFill>
              <a:sysClr val="window" lastClr="FFFFFF"/>
            </a:solidFill>
            <a:prstDash val="solid"/>
            <a:miter lim="800000"/>
          </a:ln>
          <a:effectLst/>
        </p:spPr>
      </p:cxnSp>
      <p:cxnSp>
        <p:nvCxnSpPr>
          <p:cNvPr id="137" name="米菲PPT30"/>
          <p:cNvCxnSpPr/>
          <p:nvPr/>
        </p:nvCxnSpPr>
        <p:spPr>
          <a:xfrm flipH="1">
            <a:off x="3293667" y="2385811"/>
            <a:ext cx="121387" cy="545463"/>
          </a:xfrm>
          <a:prstGeom prst="line">
            <a:avLst/>
          </a:prstGeom>
          <a:noFill/>
          <a:ln w="25400" cap="rnd" cmpd="sng" algn="ctr">
            <a:solidFill>
              <a:sysClr val="window" lastClr="FFFFFF"/>
            </a:solidFill>
            <a:prstDash val="solid"/>
            <a:round/>
          </a:ln>
          <a:effectLst/>
        </p:spPr>
      </p:cxnSp>
      <p:cxnSp>
        <p:nvCxnSpPr>
          <p:cNvPr id="138" name="米菲PPT31"/>
          <p:cNvCxnSpPr/>
          <p:nvPr/>
        </p:nvCxnSpPr>
        <p:spPr>
          <a:xfrm flipH="1">
            <a:off x="4388237" y="2385811"/>
            <a:ext cx="121387" cy="545463"/>
          </a:xfrm>
          <a:prstGeom prst="line">
            <a:avLst/>
          </a:prstGeom>
          <a:noFill/>
          <a:ln w="25400" cap="rnd" cmpd="sng" algn="ctr">
            <a:solidFill>
              <a:sysClr val="window" lastClr="FFFFFF"/>
            </a:solidFill>
            <a:prstDash val="solid"/>
            <a:round/>
          </a:ln>
          <a:effectLst/>
        </p:spPr>
      </p:cxnSp>
      <p:sp>
        <p:nvSpPr>
          <p:cNvPr id="139" name="米菲PPT32"/>
          <p:cNvSpPr/>
          <p:nvPr/>
        </p:nvSpPr>
        <p:spPr>
          <a:xfrm>
            <a:off x="34544" y="1051835"/>
            <a:ext cx="891599" cy="471592"/>
          </a:xfrm>
          <a:prstGeom prst="roundRect">
            <a:avLst/>
          </a:prstGeom>
          <a:gradFill>
            <a:gsLst>
              <a:gs pos="0">
                <a:srgbClr val="F57359">
                  <a:lumMod val="84000"/>
                </a:srgbClr>
              </a:gs>
              <a:gs pos="100000">
                <a:srgbClr val="F57359"/>
              </a:gs>
            </a:gsLst>
            <a:path path="circle">
              <a:fillToRect l="100000" t="100000"/>
            </a:path>
          </a:gradFill>
          <a:ln w="12700" cap="flat" cmpd="sng" algn="ctr">
            <a:noFill/>
            <a:prstDash val="solid"/>
            <a:miter lim="800000"/>
          </a:ln>
          <a:effectLst>
            <a:outerShdw blurRad="469900" dist="139700" dir="5400000" algn="t" rotWithShape="0">
              <a:srgbClr val="F57359">
                <a:alpha val="24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rPr>
              <a:t>用户心智问题</a:t>
            </a:r>
          </a:p>
        </p:txBody>
      </p:sp>
      <p:sp>
        <p:nvSpPr>
          <p:cNvPr id="140" name="米菲PPT33"/>
          <p:cNvSpPr/>
          <p:nvPr/>
        </p:nvSpPr>
        <p:spPr>
          <a:xfrm>
            <a:off x="34544" y="2025359"/>
            <a:ext cx="891599" cy="471592"/>
          </a:xfrm>
          <a:prstGeom prst="roundRect">
            <a:avLst/>
          </a:prstGeom>
          <a:gradFill>
            <a:gsLst>
              <a:gs pos="0">
                <a:srgbClr val="F57359">
                  <a:lumMod val="84000"/>
                </a:srgbClr>
              </a:gs>
              <a:gs pos="100000">
                <a:srgbClr val="F57359"/>
              </a:gs>
            </a:gsLst>
            <a:path path="circle">
              <a:fillToRect l="100000" t="100000"/>
            </a:path>
          </a:gradFill>
          <a:ln w="12700" cap="flat" cmpd="sng" algn="ctr">
            <a:noFill/>
            <a:prstDash val="solid"/>
            <a:miter lim="800000"/>
          </a:ln>
          <a:effectLst>
            <a:outerShdw blurRad="469900" dist="139700" dir="5400000" algn="t" rotWithShape="0">
              <a:srgbClr val="F57359">
                <a:alpha val="24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rPr>
              <a:t>榜单规则影响</a:t>
            </a:r>
          </a:p>
        </p:txBody>
      </p:sp>
      <p:sp>
        <p:nvSpPr>
          <p:cNvPr id="141" name="米菲PPT34"/>
          <p:cNvSpPr/>
          <p:nvPr/>
        </p:nvSpPr>
        <p:spPr>
          <a:xfrm>
            <a:off x="34544" y="3545286"/>
            <a:ext cx="891599" cy="471592"/>
          </a:xfrm>
          <a:prstGeom prst="roundRect">
            <a:avLst/>
          </a:prstGeom>
          <a:gradFill>
            <a:gsLst>
              <a:gs pos="0">
                <a:srgbClr val="F57359">
                  <a:lumMod val="84000"/>
                </a:srgbClr>
              </a:gs>
              <a:gs pos="100000">
                <a:srgbClr val="F57359"/>
              </a:gs>
            </a:gsLst>
            <a:path path="circle">
              <a:fillToRect l="100000" t="100000"/>
            </a:path>
          </a:gradFill>
          <a:ln w="12700" cap="flat" cmpd="sng" algn="ctr">
            <a:noFill/>
            <a:prstDash val="solid"/>
            <a:miter lim="800000"/>
          </a:ln>
          <a:effectLst>
            <a:outerShdw blurRad="469900" dist="139700" dir="5400000" algn="t" rotWithShape="0">
              <a:srgbClr val="F57359">
                <a:alpha val="24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kern="0" dirty="0">
                <a:solidFill>
                  <a:srgbClr val="FFFFFF"/>
                </a:solidFill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rPr>
              <a:t>资产建设问题</a:t>
            </a: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Sans Bold" panose="00000800000000000000" pitchFamily="2" charset="-122"/>
              <a:ea typeface="MiSans Bold" panose="00000800000000000000" pitchFamily="2" charset="-122"/>
              <a:cs typeface="MiSans Medium" panose="00000600000000000000" pitchFamily="2" charset="-122"/>
              <a:sym typeface="MiSans Bold" panose="00000800000000000000" pitchFamily="2" charset="-122"/>
            </a:endParaRPr>
          </a:p>
        </p:txBody>
      </p:sp>
      <p:sp>
        <p:nvSpPr>
          <p:cNvPr id="143" name="米菲PPT36"/>
          <p:cNvSpPr/>
          <p:nvPr/>
        </p:nvSpPr>
        <p:spPr>
          <a:xfrm>
            <a:off x="997188" y="1743082"/>
            <a:ext cx="145283" cy="1146423"/>
          </a:xfrm>
          <a:prstGeom prst="leftBrace">
            <a:avLst>
              <a:gd name="adj1" fmla="val 0"/>
              <a:gd name="adj2" fmla="val 50000"/>
            </a:avLst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144" name="米菲PPT37"/>
          <p:cNvSpPr/>
          <p:nvPr/>
        </p:nvSpPr>
        <p:spPr>
          <a:xfrm>
            <a:off x="997188" y="3040018"/>
            <a:ext cx="145283" cy="1520264"/>
          </a:xfrm>
          <a:prstGeom prst="leftBrace">
            <a:avLst>
              <a:gd name="adj1" fmla="val 0"/>
              <a:gd name="adj2" fmla="val 50000"/>
            </a:avLst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148" name="米菲PPT41"/>
          <p:cNvSpPr/>
          <p:nvPr/>
        </p:nvSpPr>
        <p:spPr>
          <a:xfrm>
            <a:off x="1248060" y="454840"/>
            <a:ext cx="4497796" cy="260663"/>
          </a:xfrm>
          <a:prstGeom prst="trapezoid">
            <a:avLst/>
          </a:prstGeom>
          <a:solidFill>
            <a:srgbClr val="62799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157" name="米菲PPT50"/>
          <p:cNvSpPr txBox="1"/>
          <p:nvPr/>
        </p:nvSpPr>
        <p:spPr>
          <a:xfrm>
            <a:off x="2973648" y="2013465"/>
            <a:ext cx="1094669" cy="2467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lnSpc>
                <a:spcPct val="120000"/>
              </a:lnSpc>
              <a:defRPr/>
            </a:pPr>
            <a:r>
              <a:rPr lang="zh-CN" altLang="en-US" sz="900" dirty="0">
                <a:solidFill>
                  <a:srgbClr val="F57359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上榜门店不够“优”</a:t>
            </a:r>
          </a:p>
        </p:txBody>
      </p:sp>
      <p:sp>
        <p:nvSpPr>
          <p:cNvPr id="158" name="米菲PPT51"/>
          <p:cNvSpPr txBox="1"/>
          <p:nvPr/>
        </p:nvSpPr>
        <p:spPr>
          <a:xfrm>
            <a:off x="4711233" y="2013465"/>
            <a:ext cx="1309647" cy="2467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lnSpc>
                <a:spcPct val="120000"/>
              </a:lnSpc>
              <a:defRPr/>
            </a:pPr>
            <a:r>
              <a:rPr lang="zh-CN" altLang="en-US" sz="900" dirty="0">
                <a:solidFill>
                  <a:srgbClr val="F57359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“优质”门店无法上榜</a:t>
            </a:r>
          </a:p>
        </p:txBody>
      </p:sp>
      <p:sp>
        <p:nvSpPr>
          <p:cNvPr id="159" name="米菲PPT52"/>
          <p:cNvSpPr txBox="1"/>
          <p:nvPr/>
        </p:nvSpPr>
        <p:spPr>
          <a:xfrm>
            <a:off x="2505881" y="2497854"/>
            <a:ext cx="682977" cy="412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>
              <a:lnSpc>
                <a:spcPct val="120000"/>
              </a:lnSpc>
              <a:defRPr/>
            </a:pPr>
            <a:r>
              <a:rPr lang="zh-CN" altLang="en-US" sz="900" dirty="0">
                <a:solidFill>
                  <a:srgbClr val="62799C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评选维度单一</a:t>
            </a:r>
          </a:p>
        </p:txBody>
      </p:sp>
      <p:sp>
        <p:nvSpPr>
          <p:cNvPr id="160" name="米菲PPT53"/>
          <p:cNvSpPr txBox="1"/>
          <p:nvPr/>
        </p:nvSpPr>
        <p:spPr>
          <a:xfrm>
            <a:off x="3478979" y="2497854"/>
            <a:ext cx="800414" cy="412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>
              <a:lnSpc>
                <a:spcPct val="120000"/>
              </a:lnSpc>
              <a:defRPr/>
            </a:pPr>
            <a:r>
              <a:rPr lang="zh-CN" altLang="en-US" sz="900" dirty="0">
                <a:solidFill>
                  <a:srgbClr val="62799C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上榜门槛</a:t>
            </a:r>
            <a:endParaRPr lang="en-US" altLang="zh-CN" sz="900" dirty="0">
              <a:solidFill>
                <a:srgbClr val="62799C"/>
              </a:solidFill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  <a:sym typeface="MiSans Medium" panose="00000600000000000000" pitchFamily="2" charset="-122"/>
            </a:endParaRPr>
          </a:p>
          <a:p>
            <a:pPr algn="ctr" defTabSz="457200">
              <a:lnSpc>
                <a:spcPct val="120000"/>
              </a:lnSpc>
              <a:defRPr/>
            </a:pPr>
            <a:r>
              <a:rPr lang="zh-CN" altLang="en-US" sz="900" dirty="0">
                <a:solidFill>
                  <a:srgbClr val="62799C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低</a:t>
            </a:r>
          </a:p>
        </p:txBody>
      </p:sp>
      <p:sp>
        <p:nvSpPr>
          <p:cNvPr id="161" name="米菲PPT54"/>
          <p:cNvSpPr txBox="1"/>
          <p:nvPr/>
        </p:nvSpPr>
        <p:spPr>
          <a:xfrm>
            <a:off x="4607731" y="2497854"/>
            <a:ext cx="800414" cy="412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>
              <a:lnSpc>
                <a:spcPct val="120000"/>
              </a:lnSpc>
              <a:defRPr/>
            </a:pPr>
            <a:r>
              <a:rPr lang="zh-CN" altLang="en-US" sz="900" dirty="0">
                <a:solidFill>
                  <a:srgbClr val="62799C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榜单赛道</a:t>
            </a:r>
            <a:endParaRPr lang="en-US" altLang="zh-CN" sz="900" dirty="0">
              <a:solidFill>
                <a:srgbClr val="62799C"/>
              </a:solidFill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  <a:sym typeface="MiSans Medium" panose="00000600000000000000" pitchFamily="2" charset="-122"/>
            </a:endParaRPr>
          </a:p>
          <a:p>
            <a:pPr algn="ctr" defTabSz="457200">
              <a:lnSpc>
                <a:spcPct val="120000"/>
              </a:lnSpc>
              <a:defRPr/>
            </a:pPr>
            <a:r>
              <a:rPr lang="zh-CN" altLang="en-US" sz="900" dirty="0">
                <a:solidFill>
                  <a:srgbClr val="62799C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不细分</a:t>
            </a:r>
          </a:p>
        </p:txBody>
      </p:sp>
      <p:sp>
        <p:nvSpPr>
          <p:cNvPr id="162" name="米菲PPT55"/>
          <p:cNvSpPr txBox="1"/>
          <p:nvPr/>
        </p:nvSpPr>
        <p:spPr>
          <a:xfrm>
            <a:off x="5541981" y="2497854"/>
            <a:ext cx="869648" cy="412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>
              <a:lnSpc>
                <a:spcPct val="120000"/>
              </a:lnSpc>
              <a:defRPr/>
            </a:pPr>
            <a:r>
              <a:rPr lang="zh-CN" altLang="en-US" sz="900" dirty="0">
                <a:solidFill>
                  <a:srgbClr val="62799C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业务</a:t>
            </a:r>
            <a:r>
              <a:rPr lang="en-US" altLang="zh-CN" sz="900" dirty="0">
                <a:solidFill>
                  <a:srgbClr val="62799C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/</a:t>
            </a:r>
            <a:r>
              <a:rPr lang="zh-CN" altLang="en-US" sz="900" dirty="0">
                <a:solidFill>
                  <a:srgbClr val="62799C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商户</a:t>
            </a:r>
            <a:r>
              <a:rPr lang="en-US" altLang="zh-CN" sz="900" dirty="0">
                <a:solidFill>
                  <a:srgbClr val="62799C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/</a:t>
            </a:r>
            <a:r>
              <a:rPr lang="zh-CN" altLang="en-US" sz="900" dirty="0">
                <a:solidFill>
                  <a:srgbClr val="62799C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榜单规则未对齐</a:t>
            </a:r>
          </a:p>
        </p:txBody>
      </p:sp>
      <p:sp>
        <p:nvSpPr>
          <p:cNvPr id="163" name="米菲PPT56"/>
          <p:cNvSpPr/>
          <p:nvPr/>
        </p:nvSpPr>
        <p:spPr>
          <a:xfrm>
            <a:off x="2349498" y="3285793"/>
            <a:ext cx="302873" cy="487290"/>
          </a:xfrm>
          <a:prstGeom prst="roundRect">
            <a:avLst/>
          </a:prstGeom>
          <a:gradFill>
            <a:gsLst>
              <a:gs pos="100000">
                <a:srgbClr val="FCA072">
                  <a:lumMod val="5000"/>
                  <a:lumOff val="95000"/>
                </a:srgbClr>
              </a:gs>
              <a:gs pos="1000">
                <a:sysClr val="window" lastClr="FFFFFF"/>
              </a:gs>
            </a:gsLst>
            <a:lin ang="19800000" scaled="0"/>
          </a:gradFill>
          <a:ln w="6350" cap="flat" cmpd="sng" algn="ctr">
            <a:solidFill>
              <a:srgbClr val="62799C"/>
            </a:solidFill>
            <a:prstDash val="solid"/>
            <a:miter lim="800000"/>
          </a:ln>
          <a:effectLst>
            <a:outerShdw blurRad="469900" dist="123444" dir="5400000" sx="99000" sy="99000" algn="ctr" rotWithShape="0">
              <a:srgbClr val="FCA072">
                <a:alpha val="24000"/>
              </a:srgbClr>
            </a:outerShdw>
          </a:effectLst>
        </p:spPr>
        <p:txBody>
          <a:bodyPr wrap="square" lIns="98756" tIns="49375" rIns="98756" bIns="49375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164" name="米菲PPT57"/>
          <p:cNvSpPr txBox="1"/>
          <p:nvPr/>
        </p:nvSpPr>
        <p:spPr>
          <a:xfrm>
            <a:off x="2304950" y="3383166"/>
            <a:ext cx="3919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>
              <a:defRPr/>
            </a:pPr>
            <a:r>
              <a:rPr lang="zh-CN" altLang="en-US" sz="700" dirty="0">
                <a:solidFill>
                  <a:srgbClr val="62799C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品类缺失</a:t>
            </a:r>
          </a:p>
        </p:txBody>
      </p:sp>
      <p:sp>
        <p:nvSpPr>
          <p:cNvPr id="165" name="米菲PPT58"/>
          <p:cNvSpPr txBox="1"/>
          <p:nvPr/>
        </p:nvSpPr>
        <p:spPr>
          <a:xfrm>
            <a:off x="2648059" y="3210650"/>
            <a:ext cx="1218622" cy="600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defTabSz="457200">
              <a:lnSpc>
                <a:spcPct val="120000"/>
              </a:lnSpc>
              <a:buFont typeface="MiSans Medium" panose="00000600000000000000" pitchFamily="2" charset="-122"/>
              <a:buChar char="•"/>
              <a:defRPr/>
            </a:pPr>
            <a:r>
              <a:rPr lang="zh-CN" altLang="en-US" sz="700" dirty="0">
                <a:solidFill>
                  <a:srgbClr val="FFFFFF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品类过多</a:t>
            </a:r>
            <a:r>
              <a:rPr lang="en-US" altLang="zh-CN" sz="700" dirty="0">
                <a:solidFill>
                  <a:srgbClr val="FFFFFF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/</a:t>
            </a:r>
            <a:r>
              <a:rPr lang="zh-CN" altLang="en-US" sz="700" dirty="0">
                <a:solidFill>
                  <a:srgbClr val="FFFFFF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过少</a:t>
            </a:r>
            <a:endParaRPr lang="en-US" altLang="zh-CN" sz="700" dirty="0">
              <a:solidFill>
                <a:srgbClr val="FFFFFF"/>
              </a:solidFill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  <a:sym typeface="MiSans Medium" panose="00000600000000000000" pitchFamily="2" charset="-122"/>
            </a:endParaRPr>
          </a:p>
          <a:p>
            <a:pPr marL="171450" indent="-171450" defTabSz="457200">
              <a:lnSpc>
                <a:spcPct val="120000"/>
              </a:lnSpc>
              <a:buFont typeface="MiSans Medium" panose="00000600000000000000" pitchFamily="2" charset="-122"/>
              <a:buChar char="•"/>
              <a:defRPr/>
            </a:pPr>
            <a:r>
              <a:rPr lang="zh-CN" altLang="en-US" sz="700" dirty="0">
                <a:solidFill>
                  <a:srgbClr val="FFFFFF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品类过粗</a:t>
            </a:r>
            <a:r>
              <a:rPr lang="en-US" altLang="zh-CN" sz="700" dirty="0">
                <a:solidFill>
                  <a:srgbClr val="FFFFFF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/</a:t>
            </a:r>
            <a:r>
              <a:rPr lang="zh-CN" altLang="en-US" sz="700" dirty="0">
                <a:solidFill>
                  <a:srgbClr val="FFFFFF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过细</a:t>
            </a:r>
            <a:endParaRPr lang="en-US" altLang="zh-CN" sz="700" dirty="0">
              <a:solidFill>
                <a:srgbClr val="FFFFFF"/>
              </a:solidFill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  <a:sym typeface="MiSans Medium" panose="00000600000000000000" pitchFamily="2" charset="-122"/>
            </a:endParaRPr>
          </a:p>
          <a:p>
            <a:pPr marL="171450" indent="-171450" defTabSz="457200">
              <a:lnSpc>
                <a:spcPct val="120000"/>
              </a:lnSpc>
              <a:buFont typeface="MiSans Medium" panose="00000600000000000000" pitchFamily="2" charset="-122"/>
              <a:buChar char="•"/>
              <a:defRPr/>
            </a:pPr>
            <a:r>
              <a:rPr lang="zh-CN" altLang="en-US" sz="700" dirty="0">
                <a:solidFill>
                  <a:srgbClr val="FFFFFF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品类模糊（江浙菜）</a:t>
            </a:r>
            <a:endParaRPr lang="en-US" altLang="zh-CN" sz="700" dirty="0">
              <a:solidFill>
                <a:srgbClr val="FFFFFF"/>
              </a:solidFill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  <a:sym typeface="MiSans Medium" panose="00000600000000000000" pitchFamily="2" charset="-122"/>
            </a:endParaRPr>
          </a:p>
          <a:p>
            <a:pPr marL="171450" indent="-171450" defTabSz="457200">
              <a:lnSpc>
                <a:spcPct val="120000"/>
              </a:lnSpc>
              <a:buFont typeface="MiSans Medium" panose="00000600000000000000" pitchFamily="2" charset="-122"/>
              <a:buChar char="•"/>
              <a:defRPr/>
            </a:pPr>
            <a:r>
              <a:rPr lang="zh-CN" altLang="en-US" sz="700" dirty="0">
                <a:solidFill>
                  <a:srgbClr val="FFFFFF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时令品类不突出</a:t>
            </a:r>
          </a:p>
        </p:txBody>
      </p:sp>
      <p:sp>
        <p:nvSpPr>
          <p:cNvPr id="166" name="米菲PPT59"/>
          <p:cNvSpPr/>
          <p:nvPr/>
        </p:nvSpPr>
        <p:spPr>
          <a:xfrm>
            <a:off x="3837017" y="3285793"/>
            <a:ext cx="302873" cy="487290"/>
          </a:xfrm>
          <a:prstGeom prst="roundRect">
            <a:avLst/>
          </a:prstGeom>
          <a:gradFill>
            <a:gsLst>
              <a:gs pos="100000">
                <a:srgbClr val="FCA072">
                  <a:lumMod val="5000"/>
                  <a:lumOff val="95000"/>
                </a:srgbClr>
              </a:gs>
              <a:gs pos="1000">
                <a:sysClr val="window" lastClr="FFFFFF"/>
              </a:gs>
            </a:gsLst>
            <a:lin ang="19800000" scaled="0"/>
          </a:gradFill>
          <a:ln w="6350" cap="flat" cmpd="sng" algn="ctr">
            <a:solidFill>
              <a:srgbClr val="62799C"/>
            </a:solidFill>
            <a:prstDash val="solid"/>
            <a:miter lim="800000"/>
          </a:ln>
          <a:effectLst>
            <a:outerShdw blurRad="469900" dist="123444" dir="5400000" sx="99000" sy="99000" algn="ctr" rotWithShape="0">
              <a:srgbClr val="FCA072">
                <a:alpha val="24000"/>
              </a:srgbClr>
            </a:outerShdw>
          </a:effectLst>
        </p:spPr>
        <p:txBody>
          <a:bodyPr wrap="square" lIns="98756" tIns="49375" rIns="98756" bIns="49375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167" name="米菲PPT60"/>
          <p:cNvSpPr txBox="1"/>
          <p:nvPr/>
        </p:nvSpPr>
        <p:spPr>
          <a:xfrm>
            <a:off x="3792469" y="3383166"/>
            <a:ext cx="3919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>
              <a:defRPr/>
            </a:pPr>
            <a:r>
              <a:rPr lang="zh-CN" altLang="en-US" sz="700" dirty="0">
                <a:solidFill>
                  <a:srgbClr val="62799C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场景缺失</a:t>
            </a:r>
          </a:p>
        </p:txBody>
      </p:sp>
      <p:sp>
        <p:nvSpPr>
          <p:cNvPr id="168" name="米菲PPT61"/>
          <p:cNvSpPr txBox="1"/>
          <p:nvPr/>
        </p:nvSpPr>
        <p:spPr>
          <a:xfrm>
            <a:off x="4163321" y="3210650"/>
            <a:ext cx="1328219" cy="600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defTabSz="457200">
              <a:lnSpc>
                <a:spcPct val="120000"/>
              </a:lnSpc>
              <a:buFont typeface="MiSans Medium" panose="00000600000000000000" pitchFamily="2" charset="-122"/>
              <a:buChar char="•"/>
              <a:defRPr/>
            </a:pPr>
            <a:r>
              <a:rPr lang="zh-CN" altLang="en-US" sz="700" dirty="0">
                <a:solidFill>
                  <a:srgbClr val="FFFFFF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情人节、聚餐、商务聚餐、亲子场景</a:t>
            </a:r>
            <a:endParaRPr lang="en-US" altLang="zh-CN" sz="700" dirty="0">
              <a:solidFill>
                <a:srgbClr val="FFFFFF"/>
              </a:solidFill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  <a:sym typeface="MiSans Medium" panose="00000600000000000000" pitchFamily="2" charset="-122"/>
            </a:endParaRPr>
          </a:p>
          <a:p>
            <a:pPr marL="171450" indent="-171450" defTabSz="457200">
              <a:lnSpc>
                <a:spcPct val="120000"/>
              </a:lnSpc>
              <a:buFont typeface="MiSans Medium" panose="00000600000000000000" pitchFamily="2" charset="-122"/>
              <a:buChar char="•"/>
              <a:defRPr/>
            </a:pPr>
            <a:r>
              <a:rPr lang="zh-CN" altLang="en-US" sz="700" dirty="0">
                <a:solidFill>
                  <a:srgbClr val="FFFFFF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本异地场景</a:t>
            </a:r>
            <a:endParaRPr lang="en-US" altLang="zh-CN" sz="700" dirty="0">
              <a:solidFill>
                <a:srgbClr val="FFFFFF"/>
              </a:solidFill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  <a:sym typeface="MiSans Medium" panose="00000600000000000000" pitchFamily="2" charset="-122"/>
            </a:endParaRPr>
          </a:p>
          <a:p>
            <a:pPr marL="171450" indent="-171450" defTabSz="457200">
              <a:lnSpc>
                <a:spcPct val="120000"/>
              </a:lnSpc>
              <a:buFont typeface="MiSans Medium" panose="00000600000000000000" pitchFamily="2" charset="-122"/>
              <a:buChar char="•"/>
              <a:defRPr/>
            </a:pPr>
            <a:r>
              <a:rPr lang="zh-CN" altLang="en-US" sz="700" dirty="0">
                <a:solidFill>
                  <a:srgbClr val="FFFFFF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主题场景</a:t>
            </a:r>
          </a:p>
        </p:txBody>
      </p:sp>
      <p:sp>
        <p:nvSpPr>
          <p:cNvPr id="169" name="米菲PPT62"/>
          <p:cNvSpPr/>
          <p:nvPr/>
        </p:nvSpPr>
        <p:spPr>
          <a:xfrm>
            <a:off x="5438983" y="3285793"/>
            <a:ext cx="302873" cy="487290"/>
          </a:xfrm>
          <a:prstGeom prst="roundRect">
            <a:avLst/>
          </a:prstGeom>
          <a:gradFill>
            <a:gsLst>
              <a:gs pos="100000">
                <a:srgbClr val="FCA072">
                  <a:lumMod val="5000"/>
                  <a:lumOff val="95000"/>
                </a:srgbClr>
              </a:gs>
              <a:gs pos="1000">
                <a:sysClr val="window" lastClr="FFFFFF"/>
              </a:gs>
            </a:gsLst>
            <a:lin ang="19800000" scaled="0"/>
          </a:gradFill>
          <a:ln w="6350" cap="flat" cmpd="sng" algn="ctr">
            <a:solidFill>
              <a:srgbClr val="62799C"/>
            </a:solidFill>
            <a:prstDash val="solid"/>
            <a:miter lim="800000"/>
          </a:ln>
          <a:effectLst>
            <a:outerShdw blurRad="469900" dist="123444" dir="5400000" sx="99000" sy="99000" algn="ctr" rotWithShape="0">
              <a:srgbClr val="FCA072">
                <a:alpha val="24000"/>
              </a:srgbClr>
            </a:outerShdw>
          </a:effectLst>
        </p:spPr>
        <p:txBody>
          <a:bodyPr wrap="square" lIns="98756" tIns="49375" rIns="98756" bIns="49375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170" name="米菲PPT63"/>
          <p:cNvSpPr txBox="1"/>
          <p:nvPr/>
        </p:nvSpPr>
        <p:spPr>
          <a:xfrm>
            <a:off x="5394435" y="3383166"/>
            <a:ext cx="3919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>
              <a:defRPr/>
            </a:pPr>
            <a:r>
              <a:rPr lang="zh-CN" altLang="en-US" sz="700" dirty="0">
                <a:solidFill>
                  <a:srgbClr val="62799C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城市缺失</a:t>
            </a:r>
          </a:p>
        </p:txBody>
      </p:sp>
      <p:sp>
        <p:nvSpPr>
          <p:cNvPr id="171" name="米菲PPT64"/>
          <p:cNvSpPr txBox="1"/>
          <p:nvPr/>
        </p:nvSpPr>
        <p:spPr>
          <a:xfrm>
            <a:off x="5725840" y="3210650"/>
            <a:ext cx="835628" cy="730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defTabSz="457200">
              <a:lnSpc>
                <a:spcPct val="120000"/>
              </a:lnSpc>
              <a:buFont typeface="MiSans Medium" panose="00000600000000000000" pitchFamily="2" charset="-122"/>
              <a:buChar char="•"/>
              <a:defRPr/>
            </a:pPr>
            <a:r>
              <a:rPr lang="zh-CN" altLang="en-US" sz="700" dirty="0">
                <a:solidFill>
                  <a:srgbClr val="FFFFFF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中低线城市</a:t>
            </a:r>
            <a:endParaRPr lang="en-US" altLang="zh-CN" sz="700" dirty="0">
              <a:solidFill>
                <a:srgbClr val="FFFFFF"/>
              </a:solidFill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  <a:sym typeface="MiSans Medium" panose="00000600000000000000" pitchFamily="2" charset="-122"/>
            </a:endParaRPr>
          </a:p>
          <a:p>
            <a:pPr marL="171450" indent="-171450" defTabSz="457200">
              <a:lnSpc>
                <a:spcPct val="120000"/>
              </a:lnSpc>
              <a:buFont typeface="MiSans Medium" panose="00000600000000000000" pitchFamily="2" charset="-122"/>
              <a:buChar char="•"/>
              <a:defRPr/>
            </a:pPr>
            <a:r>
              <a:rPr lang="zh-CN" altLang="en-US" sz="700" dirty="0">
                <a:solidFill>
                  <a:srgbClr val="FFFFFF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旅游城市</a:t>
            </a:r>
            <a:endParaRPr lang="en-US" altLang="zh-CN" sz="700" dirty="0">
              <a:solidFill>
                <a:srgbClr val="FFFFFF"/>
              </a:solidFill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  <a:sym typeface="MiSans Medium" panose="00000600000000000000" pitchFamily="2" charset="-122"/>
            </a:endParaRPr>
          </a:p>
          <a:p>
            <a:pPr marL="171450" indent="-171450" defTabSz="457200">
              <a:lnSpc>
                <a:spcPct val="120000"/>
              </a:lnSpc>
              <a:buFont typeface="MiSans Medium" panose="00000600000000000000" pitchFamily="2" charset="-122"/>
              <a:buChar char="•"/>
              <a:defRPr/>
            </a:pPr>
            <a:r>
              <a:rPr lang="zh-CN" altLang="en-US" sz="700" dirty="0">
                <a:solidFill>
                  <a:srgbClr val="FFFFFF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热门远郊区县</a:t>
            </a:r>
            <a:endParaRPr lang="en-US" altLang="zh-CN" sz="700" dirty="0">
              <a:solidFill>
                <a:srgbClr val="FFFFFF"/>
              </a:solidFill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  <a:sym typeface="MiSans Medium" panose="00000600000000000000" pitchFamily="2" charset="-122"/>
            </a:endParaRPr>
          </a:p>
          <a:p>
            <a:pPr marL="171450" indent="-171450" defTabSz="457200">
              <a:lnSpc>
                <a:spcPct val="120000"/>
              </a:lnSpc>
              <a:buFont typeface="MiSans Medium" panose="00000600000000000000" pitchFamily="2" charset="-122"/>
              <a:buChar char="•"/>
              <a:defRPr/>
            </a:pPr>
            <a:endParaRPr lang="zh-CN" altLang="en-US" sz="700" dirty="0">
              <a:solidFill>
                <a:srgbClr val="FFFFFF"/>
              </a:solidFill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  <a:sym typeface="MiSans Medium" panose="00000600000000000000" pitchFamily="2" charset="-122"/>
            </a:endParaRPr>
          </a:p>
        </p:txBody>
      </p:sp>
      <p:sp>
        <p:nvSpPr>
          <p:cNvPr id="174" name="米菲PPT67"/>
          <p:cNvSpPr txBox="1"/>
          <p:nvPr/>
        </p:nvSpPr>
        <p:spPr>
          <a:xfrm>
            <a:off x="3823624" y="4151981"/>
            <a:ext cx="1152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00" dirty="0">
                <a:solidFill>
                  <a:srgbClr val="62799C"/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刷好评、星级很难维持、不确定性</a:t>
            </a:r>
          </a:p>
        </p:txBody>
      </p:sp>
      <p:sp>
        <p:nvSpPr>
          <p:cNvPr id="175" name="米菲PPT68"/>
          <p:cNvSpPr txBox="1"/>
          <p:nvPr/>
        </p:nvSpPr>
        <p:spPr>
          <a:xfrm>
            <a:off x="2301806" y="4129828"/>
            <a:ext cx="682977" cy="4136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>
              <a:lnSpc>
                <a:spcPct val="120000"/>
              </a:lnSpc>
              <a:defRPr/>
            </a:pPr>
            <a:r>
              <a:rPr lang="zh-CN" altLang="en-US" sz="900" dirty="0">
                <a:solidFill>
                  <a:srgbClr val="62799C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双平台资产不一致</a:t>
            </a:r>
          </a:p>
        </p:txBody>
      </p:sp>
      <p:sp>
        <p:nvSpPr>
          <p:cNvPr id="176" name="米菲PPT69"/>
          <p:cNvSpPr txBox="1"/>
          <p:nvPr/>
        </p:nvSpPr>
        <p:spPr>
          <a:xfrm>
            <a:off x="5678261" y="4108315"/>
            <a:ext cx="682977" cy="412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>
              <a:lnSpc>
                <a:spcPct val="120000"/>
              </a:lnSpc>
              <a:defRPr/>
            </a:pPr>
            <a:r>
              <a:rPr lang="zh-CN" altLang="en-US" sz="900" dirty="0">
                <a:solidFill>
                  <a:srgbClr val="62799C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核心资产覆盖不足</a:t>
            </a:r>
          </a:p>
        </p:txBody>
      </p:sp>
      <p:sp>
        <p:nvSpPr>
          <p:cNvPr id="177" name="米菲PPT70"/>
          <p:cNvSpPr txBox="1"/>
          <p:nvPr/>
        </p:nvSpPr>
        <p:spPr>
          <a:xfrm>
            <a:off x="1243913" y="1157068"/>
            <a:ext cx="126808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zh-CN" altLang="en-US" sz="1050" dirty="0">
                <a:solidFill>
                  <a:srgbClr val="62799C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用户榜单心智弱</a:t>
            </a:r>
          </a:p>
        </p:txBody>
      </p:sp>
      <p:sp>
        <p:nvSpPr>
          <p:cNvPr id="178" name="米菲PPT71"/>
          <p:cNvSpPr/>
          <p:nvPr/>
        </p:nvSpPr>
        <p:spPr>
          <a:xfrm flipH="1">
            <a:off x="1213329" y="1829562"/>
            <a:ext cx="1085082" cy="421127"/>
          </a:xfrm>
          <a:prstGeom prst="wedgeRectCallout">
            <a:avLst>
              <a:gd name="adj1" fmla="val -65994"/>
              <a:gd name="adj2" fmla="val 3561"/>
            </a:avLst>
          </a:prstGeom>
          <a:noFill/>
          <a:ln w="15875" cap="flat" cmpd="sng" algn="ctr">
            <a:gradFill>
              <a:gsLst>
                <a:gs pos="100000">
                  <a:srgbClr val="FCA072"/>
                </a:gs>
                <a:gs pos="0">
                  <a:srgbClr val="FCA072">
                    <a:alpha val="0"/>
                  </a:srgbClr>
                </a:gs>
              </a:gsLst>
              <a:lin ang="5400000" scaled="1"/>
            </a:gra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36" tIns="45726" rIns="91436" bIns="45726" numCol="1" spcCol="0" rtlCol="0" fromWordArt="0" anchor="ctr" anchorCtr="0" forceAA="0" compatLnSpc="1">
            <a:noAutofit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179" name="米菲PPT72"/>
          <p:cNvSpPr txBox="1"/>
          <p:nvPr/>
        </p:nvSpPr>
        <p:spPr>
          <a:xfrm>
            <a:off x="1243913" y="1920339"/>
            <a:ext cx="108179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zh-CN" altLang="en-US" sz="1050" dirty="0">
                <a:solidFill>
                  <a:srgbClr val="62799C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影响公信力</a:t>
            </a:r>
          </a:p>
        </p:txBody>
      </p:sp>
      <p:sp>
        <p:nvSpPr>
          <p:cNvPr id="180" name="米菲PPT73"/>
          <p:cNvSpPr/>
          <p:nvPr/>
        </p:nvSpPr>
        <p:spPr>
          <a:xfrm flipH="1">
            <a:off x="1213329" y="2413934"/>
            <a:ext cx="911089" cy="421127"/>
          </a:xfrm>
          <a:prstGeom prst="wedgeRectCallout">
            <a:avLst>
              <a:gd name="adj1" fmla="val -65994"/>
              <a:gd name="adj2" fmla="val 3561"/>
            </a:avLst>
          </a:prstGeom>
          <a:noFill/>
          <a:ln w="15875" cap="flat" cmpd="sng" algn="ctr">
            <a:gradFill>
              <a:gsLst>
                <a:gs pos="100000">
                  <a:srgbClr val="FCA072"/>
                </a:gs>
                <a:gs pos="0">
                  <a:srgbClr val="FCA072">
                    <a:alpha val="0"/>
                  </a:srgbClr>
                </a:gs>
              </a:gsLst>
              <a:lin ang="5400000" scaled="1"/>
            </a:gra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36" tIns="45726" rIns="91436" bIns="45726" numCol="1" spcCol="0" rtlCol="0" fromWordArt="0" anchor="ctr" anchorCtr="0" forceAA="0" compatLnSpc="1">
            <a:noAutofit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181" name="米菲PPT74"/>
          <p:cNvSpPr txBox="1"/>
          <p:nvPr/>
        </p:nvSpPr>
        <p:spPr>
          <a:xfrm>
            <a:off x="1165192" y="2508309"/>
            <a:ext cx="89375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>
              <a:defRPr/>
            </a:pPr>
            <a:r>
              <a:rPr lang="zh-CN" altLang="en-US" sz="1050" dirty="0">
                <a:solidFill>
                  <a:srgbClr val="62799C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影响牵引力</a:t>
            </a:r>
          </a:p>
        </p:txBody>
      </p:sp>
      <p:sp>
        <p:nvSpPr>
          <p:cNvPr id="182" name="米菲PPT75"/>
          <p:cNvSpPr/>
          <p:nvPr/>
        </p:nvSpPr>
        <p:spPr>
          <a:xfrm flipH="1">
            <a:off x="1213329" y="3186794"/>
            <a:ext cx="758011" cy="421127"/>
          </a:xfrm>
          <a:prstGeom prst="wedgeRectCallout">
            <a:avLst>
              <a:gd name="adj1" fmla="val -65994"/>
              <a:gd name="adj2" fmla="val 3561"/>
            </a:avLst>
          </a:prstGeom>
          <a:noFill/>
          <a:ln w="15875" cap="flat" cmpd="sng" algn="ctr">
            <a:gradFill>
              <a:gsLst>
                <a:gs pos="100000">
                  <a:srgbClr val="FCA072"/>
                </a:gs>
                <a:gs pos="0">
                  <a:srgbClr val="FCA072">
                    <a:alpha val="0"/>
                  </a:srgbClr>
                </a:gs>
              </a:gsLst>
              <a:lin ang="5400000" scaled="1"/>
            </a:gra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36" tIns="45726" rIns="91436" bIns="45726" numCol="1" spcCol="0" rtlCol="0" fromWordArt="0" anchor="ctr" anchorCtr="0" forceAA="0" compatLnSpc="1">
            <a:noAutofit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183" name="米菲PPT76"/>
          <p:cNvSpPr txBox="1"/>
          <p:nvPr/>
        </p:nvSpPr>
        <p:spPr>
          <a:xfrm>
            <a:off x="1124395" y="3281169"/>
            <a:ext cx="98639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>
              <a:defRPr/>
            </a:pPr>
            <a:r>
              <a:rPr lang="zh-CN" altLang="en-US" sz="1050" dirty="0">
                <a:solidFill>
                  <a:srgbClr val="62799C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资产缺失问题</a:t>
            </a:r>
          </a:p>
        </p:txBody>
      </p:sp>
      <p:sp>
        <p:nvSpPr>
          <p:cNvPr id="184" name="米菲PPT77"/>
          <p:cNvSpPr/>
          <p:nvPr/>
        </p:nvSpPr>
        <p:spPr>
          <a:xfrm flipH="1">
            <a:off x="1213329" y="4052502"/>
            <a:ext cx="632581" cy="421127"/>
          </a:xfrm>
          <a:prstGeom prst="wedgeRectCallout">
            <a:avLst>
              <a:gd name="adj1" fmla="val -65994"/>
              <a:gd name="adj2" fmla="val 3561"/>
            </a:avLst>
          </a:prstGeom>
          <a:noFill/>
          <a:ln w="15875" cap="flat" cmpd="sng" algn="ctr">
            <a:gradFill>
              <a:gsLst>
                <a:gs pos="100000">
                  <a:srgbClr val="FCA072"/>
                </a:gs>
                <a:gs pos="0">
                  <a:srgbClr val="FCA072">
                    <a:alpha val="0"/>
                  </a:srgbClr>
                </a:gs>
              </a:gsLst>
              <a:lin ang="5400000" scaled="1"/>
            </a:gra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36" tIns="45726" rIns="91436" bIns="45726" numCol="1" spcCol="0" rtlCol="0" fromWordArt="0" anchor="ctr" anchorCtr="0" forceAA="0" compatLnSpc="1">
            <a:noAutofit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185" name="米菲PPT78"/>
          <p:cNvSpPr txBox="1"/>
          <p:nvPr/>
        </p:nvSpPr>
        <p:spPr>
          <a:xfrm>
            <a:off x="1170015" y="4094357"/>
            <a:ext cx="743888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>
              <a:defRPr/>
            </a:pPr>
            <a:r>
              <a:rPr lang="zh-CN" altLang="en-US" sz="1050" dirty="0">
                <a:solidFill>
                  <a:srgbClr val="62799C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数据资产底层</a:t>
            </a:r>
          </a:p>
        </p:txBody>
      </p:sp>
      <p:sp>
        <p:nvSpPr>
          <p:cNvPr id="186" name="米菲PPT79"/>
          <p:cNvSpPr txBox="1"/>
          <p:nvPr/>
        </p:nvSpPr>
        <p:spPr>
          <a:xfrm>
            <a:off x="2128367" y="456704"/>
            <a:ext cx="38307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zh-CN" altLang="en-US" sz="1100" dirty="0">
                <a:solidFill>
                  <a:srgbClr val="FFFFFF"/>
                </a:solidFill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rPr>
              <a:t>榜单资产建设 核心问题整理</a:t>
            </a:r>
          </a:p>
        </p:txBody>
      </p:sp>
      <p:sp>
        <p:nvSpPr>
          <p:cNvPr id="193" name="米菲PPT86"/>
          <p:cNvSpPr txBox="1"/>
          <p:nvPr/>
        </p:nvSpPr>
        <p:spPr>
          <a:xfrm>
            <a:off x="6780503" y="462602"/>
            <a:ext cx="14699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>
              <a:defRPr/>
            </a:pPr>
            <a:r>
              <a:rPr lang="zh-CN" altLang="en-US" sz="1100" dirty="0">
                <a:solidFill>
                  <a:srgbClr val="62799C"/>
                </a:solidFill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rPr>
              <a:t>业务原声</a:t>
            </a:r>
          </a:p>
        </p:txBody>
      </p:sp>
      <p:pic>
        <p:nvPicPr>
          <p:cNvPr id="218" name="图片 2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4970" y="1826914"/>
            <a:ext cx="284170" cy="252000"/>
          </a:xfrm>
          <a:prstGeom prst="rect">
            <a:avLst/>
          </a:prstGeom>
        </p:spPr>
      </p:pic>
      <p:pic>
        <p:nvPicPr>
          <p:cNvPr id="219" name="图片 2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1894" y="1816245"/>
            <a:ext cx="229765" cy="252000"/>
          </a:xfrm>
          <a:prstGeom prst="rect">
            <a:avLst/>
          </a:prstGeom>
        </p:spPr>
      </p:pic>
      <p:sp>
        <p:nvSpPr>
          <p:cNvPr id="222" name="米菲PPT15"/>
          <p:cNvSpPr/>
          <p:nvPr/>
        </p:nvSpPr>
        <p:spPr>
          <a:xfrm>
            <a:off x="3643255" y="994345"/>
            <a:ext cx="1336726" cy="545260"/>
          </a:xfrm>
          <a:custGeom>
            <a:avLst/>
            <a:gdLst>
              <a:gd name="connsiteX0" fmla="*/ 130872 w 1547297"/>
              <a:gd name="connsiteY0" fmla="*/ 0 h 589608"/>
              <a:gd name="connsiteX1" fmla="*/ 1547297 w 1547297"/>
              <a:gd name="connsiteY1" fmla="*/ 0 h 589608"/>
              <a:gd name="connsiteX2" fmla="*/ 1416425 w 1547297"/>
              <a:gd name="connsiteY2" fmla="*/ 589608 h 589608"/>
              <a:gd name="connsiteX3" fmla="*/ 0 w 1547297"/>
              <a:gd name="connsiteY3" fmla="*/ 589608 h 589608"/>
              <a:gd name="connsiteX4" fmla="*/ 130872 w 1547297"/>
              <a:gd name="connsiteY4" fmla="*/ 0 h 589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47297" h="589608">
                <a:moveTo>
                  <a:pt x="130872" y="0"/>
                </a:moveTo>
                <a:lnTo>
                  <a:pt x="1547297" y="0"/>
                </a:lnTo>
                <a:lnTo>
                  <a:pt x="1416425" y="589608"/>
                </a:lnTo>
                <a:lnTo>
                  <a:pt x="0" y="589608"/>
                </a:lnTo>
                <a:lnTo>
                  <a:pt x="130872" y="0"/>
                </a:lnTo>
                <a:close/>
              </a:path>
            </a:pathLst>
          </a:custGeom>
          <a:gradFill>
            <a:gsLst>
              <a:gs pos="0">
                <a:srgbClr val="F57359">
                  <a:lumMod val="88000"/>
                </a:srgbClr>
              </a:gs>
              <a:gs pos="100000">
                <a:srgbClr val="F57359"/>
              </a:gs>
            </a:gsLst>
            <a:path path="circle">
              <a:fillToRect l="100000" t="100000"/>
            </a:path>
          </a:gradFill>
          <a:ln w="12700" cap="flat" cmpd="sng" algn="ctr">
            <a:noFill/>
            <a:prstDash val="solid"/>
            <a:miter lim="800000"/>
          </a:ln>
          <a:effectLst>
            <a:outerShdw blurRad="469900" dist="139700" dir="5400000" algn="t" rotWithShape="0">
              <a:srgbClr val="F57359">
                <a:alpha val="24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223" name="米菲PPT16"/>
          <p:cNvSpPr/>
          <p:nvPr/>
        </p:nvSpPr>
        <p:spPr>
          <a:xfrm>
            <a:off x="2643582" y="994345"/>
            <a:ext cx="3404581" cy="547286"/>
          </a:xfrm>
          <a:custGeom>
            <a:avLst/>
            <a:gdLst>
              <a:gd name="connsiteX0" fmla="*/ 161466 w 3940895"/>
              <a:gd name="connsiteY0" fmla="*/ 0 h 591798"/>
              <a:gd name="connsiteX1" fmla="*/ 1288020 w 3940895"/>
              <a:gd name="connsiteY1" fmla="*/ 0 h 591798"/>
              <a:gd name="connsiteX2" fmla="*/ 1157148 w 3940895"/>
              <a:gd name="connsiteY2" fmla="*/ 589608 h 591798"/>
              <a:gd name="connsiteX3" fmla="*/ 2573573 w 3940895"/>
              <a:gd name="connsiteY3" fmla="*/ 589608 h 591798"/>
              <a:gd name="connsiteX4" fmla="*/ 2704445 w 3940895"/>
              <a:gd name="connsiteY4" fmla="*/ 0 h 591798"/>
              <a:gd name="connsiteX5" fmla="*/ 3779429 w 3940895"/>
              <a:gd name="connsiteY5" fmla="*/ 0 h 591798"/>
              <a:gd name="connsiteX6" fmla="*/ 3940895 w 3940895"/>
              <a:gd name="connsiteY6" fmla="*/ 591798 h 591798"/>
              <a:gd name="connsiteX7" fmla="*/ 0 w 3940895"/>
              <a:gd name="connsiteY7" fmla="*/ 591798 h 591798"/>
              <a:gd name="connsiteX8" fmla="*/ 161466 w 3940895"/>
              <a:gd name="connsiteY8" fmla="*/ 0 h 5917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40895" h="591798">
                <a:moveTo>
                  <a:pt x="161466" y="0"/>
                </a:moveTo>
                <a:lnTo>
                  <a:pt x="1288020" y="0"/>
                </a:lnTo>
                <a:lnTo>
                  <a:pt x="1157148" y="589608"/>
                </a:lnTo>
                <a:lnTo>
                  <a:pt x="2573573" y="589608"/>
                </a:lnTo>
                <a:lnTo>
                  <a:pt x="2704445" y="0"/>
                </a:lnTo>
                <a:lnTo>
                  <a:pt x="3779429" y="0"/>
                </a:lnTo>
                <a:lnTo>
                  <a:pt x="3940895" y="591798"/>
                </a:lnTo>
                <a:lnTo>
                  <a:pt x="0" y="591798"/>
                </a:lnTo>
                <a:lnTo>
                  <a:pt x="161466" y="0"/>
                </a:lnTo>
                <a:close/>
              </a:path>
            </a:pathLst>
          </a:custGeom>
          <a:gradFill>
            <a:gsLst>
              <a:gs pos="0">
                <a:srgbClr val="F57359">
                  <a:lumMod val="87000"/>
                </a:srgbClr>
              </a:gs>
              <a:gs pos="100000">
                <a:srgbClr val="F57359"/>
              </a:gs>
            </a:gsLst>
            <a:path path="circle">
              <a:fillToRect l="100000" t="100000"/>
            </a:path>
          </a:gradFill>
          <a:ln w="12700" cap="flat" cmpd="sng" algn="ctr">
            <a:noFill/>
            <a:prstDash val="solid"/>
            <a:miter lim="800000"/>
          </a:ln>
          <a:effectLst>
            <a:outerShdw blurRad="469900" dist="139700" dir="5400000" algn="t" rotWithShape="0">
              <a:srgbClr val="F57359">
                <a:alpha val="24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cxnSp>
        <p:nvCxnSpPr>
          <p:cNvPr id="224" name="米菲PPT26"/>
          <p:cNvCxnSpPr/>
          <p:nvPr/>
        </p:nvCxnSpPr>
        <p:spPr>
          <a:xfrm flipH="1">
            <a:off x="3643255" y="1001867"/>
            <a:ext cx="118965" cy="530794"/>
          </a:xfrm>
          <a:prstGeom prst="line">
            <a:avLst/>
          </a:prstGeom>
          <a:noFill/>
          <a:ln w="25400" cap="rnd" cmpd="sng" algn="ctr">
            <a:solidFill>
              <a:sysClr val="window" lastClr="FFFFFF"/>
            </a:solidFill>
            <a:prstDash val="solid"/>
            <a:miter lim="800000"/>
          </a:ln>
          <a:effectLst/>
        </p:spPr>
      </p:cxnSp>
      <p:cxnSp>
        <p:nvCxnSpPr>
          <p:cNvPr id="225" name="米菲PPT27"/>
          <p:cNvCxnSpPr/>
          <p:nvPr/>
        </p:nvCxnSpPr>
        <p:spPr>
          <a:xfrm flipH="1">
            <a:off x="4861016" y="1001867"/>
            <a:ext cx="118965" cy="530794"/>
          </a:xfrm>
          <a:prstGeom prst="line">
            <a:avLst/>
          </a:prstGeom>
          <a:noFill/>
          <a:ln w="25400" cap="rnd" cmpd="sng" algn="ctr">
            <a:solidFill>
              <a:sysClr val="window" lastClr="FFFFFF"/>
            </a:solidFill>
            <a:prstDash val="solid"/>
            <a:miter lim="800000"/>
          </a:ln>
          <a:effectLst/>
        </p:spPr>
      </p:cxnSp>
      <p:sp>
        <p:nvSpPr>
          <p:cNvPr id="226" name="米菲PPT38"/>
          <p:cNvSpPr txBox="1"/>
          <p:nvPr/>
        </p:nvSpPr>
        <p:spPr>
          <a:xfrm>
            <a:off x="2695010" y="1082296"/>
            <a:ext cx="9567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>
              <a:defRPr/>
            </a:pPr>
            <a:r>
              <a:rPr lang="zh-CN" altLang="en-US" sz="900" dirty="0">
                <a:solidFill>
                  <a:srgbClr val="FFFFFF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榜单路径</a:t>
            </a:r>
            <a:endParaRPr lang="en-US" altLang="zh-CN" sz="900" dirty="0">
              <a:solidFill>
                <a:srgbClr val="FFFFFF"/>
              </a:solidFill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  <a:sym typeface="MiSans Medium" panose="00000600000000000000" pitchFamily="2" charset="-122"/>
            </a:endParaRPr>
          </a:p>
          <a:p>
            <a:pPr algn="ctr" defTabSz="457200">
              <a:defRPr/>
            </a:pPr>
            <a:r>
              <a:rPr lang="zh-CN" altLang="en-US" sz="900" dirty="0">
                <a:solidFill>
                  <a:srgbClr val="FFFFFF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单一且深</a:t>
            </a:r>
          </a:p>
        </p:txBody>
      </p:sp>
      <p:sp>
        <p:nvSpPr>
          <p:cNvPr id="227" name="米菲PPT39"/>
          <p:cNvSpPr txBox="1"/>
          <p:nvPr/>
        </p:nvSpPr>
        <p:spPr>
          <a:xfrm>
            <a:off x="3832335" y="1082296"/>
            <a:ext cx="9567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>
              <a:defRPr/>
            </a:pPr>
            <a:r>
              <a:rPr lang="zh-CN" altLang="en-US" sz="900" dirty="0">
                <a:solidFill>
                  <a:srgbClr val="FFFFFF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没有美团</a:t>
            </a:r>
            <a:endParaRPr lang="en-US" altLang="zh-CN" sz="900" dirty="0">
              <a:solidFill>
                <a:srgbClr val="FFFFFF"/>
              </a:solidFill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  <a:sym typeface="MiSans Medium" panose="00000600000000000000" pitchFamily="2" charset="-122"/>
            </a:endParaRPr>
          </a:p>
          <a:p>
            <a:pPr algn="ctr" defTabSz="457200">
              <a:defRPr/>
            </a:pPr>
            <a:r>
              <a:rPr lang="zh-CN" altLang="en-US" sz="900" dirty="0">
                <a:solidFill>
                  <a:srgbClr val="FFFFFF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榜单心智</a:t>
            </a:r>
          </a:p>
        </p:txBody>
      </p:sp>
      <p:sp>
        <p:nvSpPr>
          <p:cNvPr id="228" name="米菲PPT40"/>
          <p:cNvSpPr txBox="1"/>
          <p:nvPr/>
        </p:nvSpPr>
        <p:spPr>
          <a:xfrm>
            <a:off x="4979981" y="1082296"/>
            <a:ext cx="9567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>
              <a:defRPr/>
            </a:pPr>
            <a:r>
              <a:rPr lang="zh-CN" altLang="en-US" sz="900" dirty="0">
                <a:solidFill>
                  <a:srgbClr val="FFFFFF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营销活动</a:t>
            </a:r>
            <a:endParaRPr lang="en-US" altLang="zh-CN" sz="900" dirty="0">
              <a:solidFill>
                <a:srgbClr val="FFFFFF"/>
              </a:solidFill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  <a:sym typeface="MiSans Medium" panose="00000600000000000000" pitchFamily="2" charset="-122"/>
            </a:endParaRPr>
          </a:p>
          <a:p>
            <a:pPr algn="ctr" defTabSz="457200">
              <a:defRPr/>
            </a:pPr>
            <a:r>
              <a:rPr lang="zh-CN" altLang="en-US" sz="900" dirty="0">
                <a:solidFill>
                  <a:srgbClr val="FFFFFF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中榜单缺失</a:t>
            </a:r>
          </a:p>
        </p:txBody>
      </p:sp>
      <p:sp>
        <p:nvSpPr>
          <p:cNvPr id="239" name="米菲PPT58"/>
          <p:cNvSpPr txBox="1"/>
          <p:nvPr/>
        </p:nvSpPr>
        <p:spPr>
          <a:xfrm>
            <a:off x="6192528" y="795373"/>
            <a:ext cx="26749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altLang="zh-CN" sz="800" i="1" dirty="0">
                <a:solidFill>
                  <a:srgbClr val="000000">
                    <a:lumMod val="65000"/>
                    <a:lumOff val="35000"/>
                  </a:srgbClr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“60%</a:t>
            </a:r>
            <a:r>
              <a:rPr lang="zh-CN" altLang="en-US" sz="800" i="1" dirty="0">
                <a:solidFill>
                  <a:srgbClr val="000000">
                    <a:lumMod val="65000"/>
                    <a:lumOff val="35000"/>
                  </a:srgbClr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用户愿意体验上榜商家，</a:t>
            </a:r>
            <a:r>
              <a:rPr lang="en-US" altLang="zh-CN" sz="800" i="1" dirty="0">
                <a:solidFill>
                  <a:srgbClr val="000000">
                    <a:lumMod val="65000"/>
                    <a:lumOff val="35000"/>
                  </a:srgbClr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77%</a:t>
            </a:r>
            <a:r>
              <a:rPr lang="zh-CN" altLang="en-US" sz="800" i="1" dirty="0">
                <a:solidFill>
                  <a:srgbClr val="000000">
                    <a:lumMod val="65000"/>
                    <a:lumOff val="35000"/>
                  </a:srgbClr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体验后愿意继续使用，但仅有</a:t>
            </a:r>
            <a:r>
              <a:rPr lang="en-US" altLang="zh-CN" sz="800" i="1" dirty="0">
                <a:solidFill>
                  <a:srgbClr val="000000">
                    <a:lumMod val="65000"/>
                    <a:lumOff val="35000"/>
                  </a:srgbClr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56%</a:t>
            </a:r>
            <a:r>
              <a:rPr lang="zh-CN" altLang="en-US" sz="800" i="1" dirty="0">
                <a:solidFill>
                  <a:srgbClr val="000000">
                    <a:lumMod val="65000"/>
                    <a:lumOff val="35000"/>
                  </a:srgbClr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用户能找到榜单，</a:t>
            </a:r>
            <a:r>
              <a:rPr lang="zh-CN" altLang="en-US" sz="800" i="1" dirty="0">
                <a:solidFill>
                  <a:srgbClr val="C00000"/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入口较深</a:t>
            </a:r>
            <a:r>
              <a:rPr lang="zh-CN" altLang="en-US" sz="800" i="1" dirty="0">
                <a:solidFill>
                  <a:srgbClr val="000000">
                    <a:lumMod val="65000"/>
                    <a:lumOff val="35000"/>
                  </a:srgbClr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”</a:t>
            </a:r>
          </a:p>
        </p:txBody>
      </p:sp>
      <p:sp>
        <p:nvSpPr>
          <p:cNvPr id="243" name="文本框 242"/>
          <p:cNvSpPr txBox="1"/>
          <p:nvPr/>
        </p:nvSpPr>
        <p:spPr>
          <a:xfrm>
            <a:off x="6219258" y="1184440"/>
            <a:ext cx="276844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indent="-1714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sz="800" i="1" dirty="0">
                <a:solidFill>
                  <a:srgbClr val="000000">
                    <a:lumMod val="65000"/>
                    <a:lumOff val="35000"/>
                  </a:srgbClr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“站内，主动搜索“必吃榜”并进入必吃榜页面的点评侧用户日均</a:t>
            </a:r>
            <a:r>
              <a:rPr lang="en-GB" altLang="zh-CN" sz="800" i="1" dirty="0">
                <a:solidFill>
                  <a:srgbClr val="000000">
                    <a:lumMod val="65000"/>
                    <a:lumOff val="35000"/>
                  </a:srgbClr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UV1W</a:t>
            </a:r>
            <a:r>
              <a:rPr lang="zh-CN" altLang="en-GB" sz="800" i="1" dirty="0">
                <a:solidFill>
                  <a:srgbClr val="000000">
                    <a:lumMod val="65000"/>
                    <a:lumOff val="35000"/>
                  </a:srgbClr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，</a:t>
            </a:r>
            <a:r>
              <a:rPr lang="zh-CN" altLang="en-US" sz="800" i="1" dirty="0">
                <a:solidFill>
                  <a:srgbClr val="000000">
                    <a:lumMod val="65000"/>
                    <a:lumOff val="35000"/>
                  </a:srgbClr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是同期点评热门榜搜索用户量的一百倍；站外，用户在小红书上对</a:t>
            </a:r>
            <a:r>
              <a:rPr lang="zh-CN" altLang="en-US" sz="800" i="1" dirty="0">
                <a:solidFill>
                  <a:srgbClr val="C00000"/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“必吃榜”</a:t>
            </a:r>
            <a:r>
              <a:rPr lang="zh-CN" altLang="en-US" sz="800" i="1" dirty="0">
                <a:solidFill>
                  <a:srgbClr val="000000">
                    <a:lumMod val="65000"/>
                    <a:lumOff val="35000"/>
                  </a:srgbClr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的搜索指数也在</a:t>
            </a:r>
            <a:r>
              <a:rPr lang="zh-CN" altLang="en-US" sz="800" i="1" dirty="0">
                <a:solidFill>
                  <a:srgbClr val="C00000"/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逐年增加</a:t>
            </a:r>
            <a:r>
              <a:rPr lang="zh-CN" altLang="en-US" sz="800" i="1" dirty="0">
                <a:solidFill>
                  <a:srgbClr val="000000">
                    <a:lumMod val="65000"/>
                    <a:lumOff val="35000"/>
                  </a:srgbClr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”</a:t>
            </a:r>
          </a:p>
        </p:txBody>
      </p:sp>
      <p:sp>
        <p:nvSpPr>
          <p:cNvPr id="246" name="文本框 245"/>
          <p:cNvSpPr txBox="1"/>
          <p:nvPr/>
        </p:nvSpPr>
        <p:spPr>
          <a:xfrm>
            <a:off x="6491159" y="1774745"/>
            <a:ext cx="24772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sz="800" i="1" dirty="0">
                <a:solidFill>
                  <a:srgbClr val="000000">
                    <a:lumMod val="65000"/>
                    <a:lumOff val="35000"/>
                  </a:srgbClr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“商户对</a:t>
            </a:r>
            <a:r>
              <a:rPr lang="zh-CN" altLang="en-US" sz="800" i="1" dirty="0">
                <a:solidFill>
                  <a:srgbClr val="C00000"/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必吃榜</a:t>
            </a:r>
            <a:r>
              <a:rPr lang="zh-CN" altLang="en-US" sz="800" i="1" dirty="0">
                <a:solidFill>
                  <a:srgbClr val="000000">
                    <a:lumMod val="65000"/>
                    <a:lumOff val="35000"/>
                  </a:srgbClr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，有些哀声哉道，比如</a:t>
            </a:r>
            <a:r>
              <a:rPr lang="en-US" altLang="zh-CN" sz="800" i="1" dirty="0">
                <a:solidFill>
                  <a:srgbClr val="000000">
                    <a:lumMod val="65000"/>
                    <a:lumOff val="35000"/>
                  </a:srgbClr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12</a:t>
            </a:r>
            <a:r>
              <a:rPr lang="zh-CN" altLang="en-US" sz="800" i="1" dirty="0">
                <a:solidFill>
                  <a:srgbClr val="000000">
                    <a:lumMod val="65000"/>
                    <a:lumOff val="35000"/>
                  </a:srgbClr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月不能有违规记录，说明得平时非常的</a:t>
            </a:r>
            <a:r>
              <a:rPr lang="zh-CN" altLang="en-US" sz="800" i="1" dirty="0">
                <a:solidFill>
                  <a:srgbClr val="C00000"/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小心翼翼的做事情</a:t>
            </a:r>
            <a:r>
              <a:rPr lang="zh-CN" altLang="en-US" sz="800" i="1" dirty="0">
                <a:solidFill>
                  <a:srgbClr val="000000">
                    <a:lumMod val="65000"/>
                    <a:lumOff val="35000"/>
                  </a:srgbClr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，而且得持续的做任务做热度才能上榜。”</a:t>
            </a:r>
            <a:r>
              <a:rPr lang="en-US" altLang="zh-CN" sz="800" i="1" dirty="0">
                <a:solidFill>
                  <a:srgbClr val="000000">
                    <a:lumMod val="65000"/>
                    <a:lumOff val="35000"/>
                  </a:srgbClr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—— </a:t>
            </a:r>
            <a:r>
              <a:rPr lang="zh-CN" altLang="en-US" sz="800" i="1" dirty="0">
                <a:solidFill>
                  <a:srgbClr val="000000">
                    <a:lumMod val="65000"/>
                    <a:lumOff val="35000"/>
                  </a:srgbClr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吴莉媛 东部大区</a:t>
            </a:r>
            <a:r>
              <a:rPr lang="en-US" altLang="zh-CN" sz="800" i="1" dirty="0">
                <a:solidFill>
                  <a:srgbClr val="000000">
                    <a:lumMod val="65000"/>
                    <a:lumOff val="35000"/>
                  </a:srgbClr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/</a:t>
            </a:r>
            <a:r>
              <a:rPr lang="zh-CN" altLang="en-US" sz="800" i="1" dirty="0">
                <a:solidFill>
                  <a:srgbClr val="000000">
                    <a:lumMod val="65000"/>
                    <a:lumOff val="35000"/>
                  </a:srgbClr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浙南区域</a:t>
            </a:r>
            <a:r>
              <a:rPr lang="en-US" altLang="zh-CN" sz="800" i="1" dirty="0">
                <a:solidFill>
                  <a:srgbClr val="000000">
                    <a:lumMod val="65000"/>
                    <a:lumOff val="35000"/>
                  </a:srgbClr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/</a:t>
            </a:r>
            <a:r>
              <a:rPr lang="zh-CN" altLang="en-US" sz="800" i="1" dirty="0">
                <a:solidFill>
                  <a:srgbClr val="000000">
                    <a:lumMod val="65000"/>
                    <a:lumOff val="35000"/>
                  </a:srgbClr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金华一区 </a:t>
            </a:r>
          </a:p>
        </p:txBody>
      </p:sp>
      <p:sp>
        <p:nvSpPr>
          <p:cNvPr id="247" name="文本框 246"/>
          <p:cNvSpPr txBox="1"/>
          <p:nvPr/>
        </p:nvSpPr>
        <p:spPr>
          <a:xfrm>
            <a:off x="6499140" y="2332549"/>
            <a:ext cx="24772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sz="800" i="1" dirty="0">
                <a:solidFill>
                  <a:srgbClr val="000000">
                    <a:lumMod val="65000"/>
                    <a:lumOff val="35000"/>
                  </a:srgbClr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“单一维度的数据榜对于</a:t>
            </a:r>
            <a:r>
              <a:rPr lang="zh-CN" altLang="en-US" sz="800" i="1" dirty="0">
                <a:solidFill>
                  <a:srgbClr val="C00000"/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商户牵引单一维度有效</a:t>
            </a:r>
            <a:r>
              <a:rPr lang="zh-CN" altLang="en-US" sz="800" i="1" dirty="0">
                <a:solidFill>
                  <a:srgbClr val="000000">
                    <a:lumMod val="65000"/>
                    <a:lumOff val="35000"/>
                  </a:srgbClr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，但对于平台其他有价值的资产牵引有限，并且可以刷榜作弊”</a:t>
            </a:r>
          </a:p>
        </p:txBody>
      </p:sp>
      <p:sp>
        <p:nvSpPr>
          <p:cNvPr id="252" name="米菲PPT3"/>
          <p:cNvSpPr/>
          <p:nvPr/>
        </p:nvSpPr>
        <p:spPr>
          <a:xfrm rot="16200000" flipH="1">
            <a:off x="5332325" y="930758"/>
            <a:ext cx="1701214" cy="626475"/>
          </a:xfrm>
          <a:prstGeom prst="triangle">
            <a:avLst/>
          </a:prstGeom>
          <a:gradFill flip="none" rotWithShape="1">
            <a:gsLst>
              <a:gs pos="100000">
                <a:srgbClr val="62799C">
                  <a:lumMod val="20000"/>
                  <a:lumOff val="80000"/>
                  <a:alpha val="73000"/>
                </a:srgbClr>
              </a:gs>
              <a:gs pos="24000">
                <a:srgbClr val="62799C">
                  <a:lumMod val="20000"/>
                  <a:lumOff val="80000"/>
                  <a:alpha val="0"/>
                </a:srgbClr>
              </a:gs>
            </a:gsLst>
            <a:lin ang="162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95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248" name="文本框 247"/>
          <p:cNvSpPr txBox="1"/>
          <p:nvPr/>
        </p:nvSpPr>
        <p:spPr>
          <a:xfrm>
            <a:off x="6499140" y="2792476"/>
            <a:ext cx="24772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sz="800" i="1" dirty="0">
                <a:solidFill>
                  <a:srgbClr val="000000">
                    <a:lumMod val="65000"/>
                    <a:lumOff val="35000"/>
                  </a:srgbClr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“想上白云区必吃榜，但是不了解上榜的具体规则，开店满一年、无任何处罚</a:t>
            </a:r>
            <a:r>
              <a:rPr lang="en-US" altLang="zh-CN" sz="800" i="1" dirty="0">
                <a:solidFill>
                  <a:srgbClr val="000000">
                    <a:lumMod val="65000"/>
                    <a:lumOff val="35000"/>
                  </a:srgbClr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.......</a:t>
            </a:r>
            <a:r>
              <a:rPr lang="zh-CN" altLang="en-US" sz="800" i="1" dirty="0">
                <a:solidFill>
                  <a:srgbClr val="C00000"/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不知道主攻哪几个方面</a:t>
            </a:r>
            <a:r>
              <a:rPr lang="zh-CN" altLang="en-US" sz="800" i="1" dirty="0">
                <a:solidFill>
                  <a:srgbClr val="000000">
                    <a:lumMod val="65000"/>
                    <a:lumOff val="35000"/>
                  </a:srgbClr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”</a:t>
            </a:r>
            <a:r>
              <a:rPr lang="en-US" altLang="zh-CN" sz="800" i="1" dirty="0">
                <a:solidFill>
                  <a:srgbClr val="000000">
                    <a:lumMod val="65000"/>
                    <a:lumOff val="35000"/>
                  </a:srgbClr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——</a:t>
            </a:r>
            <a:r>
              <a:rPr lang="zh-CN" altLang="en-US" sz="800" i="1" dirty="0">
                <a:solidFill>
                  <a:srgbClr val="000000">
                    <a:lumMod val="65000"/>
                    <a:lumOff val="35000"/>
                  </a:srgbClr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广州湾</a:t>
            </a:r>
            <a:r>
              <a:rPr lang="en-US" altLang="zh-CN" sz="800" i="1" dirty="0">
                <a:solidFill>
                  <a:srgbClr val="000000">
                    <a:lumMod val="65000"/>
                    <a:lumOff val="35000"/>
                  </a:srgbClr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·</a:t>
            </a:r>
            <a:r>
              <a:rPr lang="zh-CN" altLang="en-US" sz="800" i="1" dirty="0">
                <a:solidFill>
                  <a:srgbClr val="000000">
                    <a:lumMod val="65000"/>
                    <a:lumOff val="35000"/>
                  </a:srgbClr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印象</a:t>
            </a:r>
            <a:r>
              <a:rPr lang="en-US" altLang="zh-CN" sz="800" i="1" dirty="0">
                <a:solidFill>
                  <a:srgbClr val="000000">
                    <a:lumMod val="65000"/>
                    <a:lumOff val="35000"/>
                  </a:srgbClr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·</a:t>
            </a:r>
            <a:r>
              <a:rPr lang="zh-CN" altLang="en-US" sz="800" i="1" dirty="0">
                <a:solidFill>
                  <a:srgbClr val="000000">
                    <a:lumMod val="65000"/>
                    <a:lumOff val="35000"/>
                  </a:srgbClr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顺德鱼生（海珠店）”</a:t>
            </a:r>
          </a:p>
        </p:txBody>
      </p:sp>
      <p:sp>
        <p:nvSpPr>
          <p:cNvPr id="254" name="米菲PPT3"/>
          <p:cNvSpPr/>
          <p:nvPr/>
        </p:nvSpPr>
        <p:spPr>
          <a:xfrm rot="16200000" flipH="1">
            <a:off x="6068647" y="3811221"/>
            <a:ext cx="1701214" cy="626475"/>
          </a:xfrm>
          <a:prstGeom prst="triangle">
            <a:avLst/>
          </a:prstGeom>
          <a:gradFill flip="none" rotWithShape="1">
            <a:gsLst>
              <a:gs pos="100000">
                <a:srgbClr val="62799C">
                  <a:lumMod val="20000"/>
                  <a:lumOff val="80000"/>
                  <a:alpha val="73000"/>
                </a:srgbClr>
              </a:gs>
              <a:gs pos="24000">
                <a:srgbClr val="62799C">
                  <a:lumMod val="20000"/>
                  <a:lumOff val="80000"/>
                  <a:alpha val="0"/>
                </a:srgbClr>
              </a:gs>
            </a:gsLst>
            <a:lin ang="162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95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255" name="文本框 254"/>
          <p:cNvSpPr txBox="1"/>
          <p:nvPr/>
        </p:nvSpPr>
        <p:spPr>
          <a:xfrm>
            <a:off x="6767202" y="3303273"/>
            <a:ext cx="22633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sz="800" i="1" dirty="0">
                <a:solidFill>
                  <a:srgbClr val="000000">
                    <a:lumMod val="65000"/>
                    <a:lumOff val="35000"/>
                  </a:srgbClr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“</a:t>
            </a:r>
            <a:r>
              <a:rPr lang="zh-CN" altLang="en-US" sz="800" i="1" dirty="0">
                <a:solidFill>
                  <a:srgbClr val="C00000"/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好多没名字的小店也很好</a:t>
            </a:r>
            <a:r>
              <a:rPr lang="zh-CN" altLang="en-US" sz="800" i="1" dirty="0">
                <a:solidFill>
                  <a:srgbClr val="000000">
                    <a:lumMod val="65000"/>
                    <a:lumOff val="35000"/>
                  </a:srgbClr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啊，这些店都是大牌餐饮。外地的朋友来天津查看榜单，看的都是什么重庆火锅，我觉得不太合适”</a:t>
            </a:r>
          </a:p>
        </p:txBody>
      </p:sp>
      <p:sp>
        <p:nvSpPr>
          <p:cNvPr id="256" name="文本框 255"/>
          <p:cNvSpPr txBox="1"/>
          <p:nvPr/>
        </p:nvSpPr>
        <p:spPr>
          <a:xfrm>
            <a:off x="6780589" y="3749837"/>
            <a:ext cx="226338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800" i="1" dirty="0">
                <a:solidFill>
                  <a:srgbClr val="000000">
                    <a:lumMod val="65000"/>
                    <a:lumOff val="35000"/>
                  </a:srgbClr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“从用户的角度，当前很多用户习惯在小程序操作。从商家的角度，商家确实比较重视榜单。从平台的角度，当前小程序贡献</a:t>
            </a:r>
            <a:r>
              <a:rPr lang="en-US" altLang="zh-CN" sz="800" i="1" dirty="0">
                <a:solidFill>
                  <a:srgbClr val="000000">
                    <a:lumMod val="65000"/>
                    <a:lumOff val="35000"/>
                  </a:srgbClr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20%+</a:t>
            </a:r>
            <a:r>
              <a:rPr lang="zh-CN" altLang="en-US" sz="800" i="1" dirty="0">
                <a:solidFill>
                  <a:srgbClr val="000000">
                    <a:lumMod val="65000"/>
                    <a:lumOff val="35000"/>
                  </a:srgbClr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的交易，以及</a:t>
            </a:r>
            <a:r>
              <a:rPr lang="en-US" altLang="zh-CN" sz="800" i="1" dirty="0">
                <a:solidFill>
                  <a:srgbClr val="000000">
                    <a:lumMod val="65000"/>
                    <a:lumOff val="35000"/>
                  </a:srgbClr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300</a:t>
            </a:r>
            <a:r>
              <a:rPr lang="zh-CN" altLang="en-US" sz="800" i="1" dirty="0">
                <a:solidFill>
                  <a:srgbClr val="000000">
                    <a:lumMod val="65000"/>
                    <a:lumOff val="35000"/>
                  </a:srgbClr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万</a:t>
            </a:r>
            <a:r>
              <a:rPr lang="en-US" altLang="zh-CN" sz="800" i="1" dirty="0">
                <a:solidFill>
                  <a:srgbClr val="000000">
                    <a:lumMod val="65000"/>
                    <a:lumOff val="35000"/>
                  </a:srgbClr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/</a:t>
            </a:r>
            <a:r>
              <a:rPr lang="zh-CN" altLang="en-US" sz="800" i="1" dirty="0">
                <a:solidFill>
                  <a:srgbClr val="000000">
                    <a:lumMod val="65000"/>
                    <a:lumOff val="35000"/>
                  </a:srgbClr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月的新增用户。如果合理的</a:t>
            </a:r>
            <a:r>
              <a:rPr lang="zh-CN" altLang="en-US" sz="800" i="1" dirty="0">
                <a:solidFill>
                  <a:srgbClr val="C00000"/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小程序行为不能影响商家榜单</a:t>
            </a:r>
            <a:r>
              <a:rPr lang="zh-CN" altLang="en-US" sz="800" i="1" dirty="0">
                <a:solidFill>
                  <a:srgbClr val="000000">
                    <a:lumMod val="65000"/>
                    <a:lumOff val="35000"/>
                  </a:srgbClr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，对商家和平台确实是一个问题”</a:t>
            </a:r>
          </a:p>
        </p:txBody>
      </p:sp>
      <p:sp>
        <p:nvSpPr>
          <p:cNvPr id="257" name="文本框 256"/>
          <p:cNvSpPr txBox="1"/>
          <p:nvPr/>
        </p:nvSpPr>
        <p:spPr>
          <a:xfrm>
            <a:off x="6823422" y="4547977"/>
            <a:ext cx="22633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800" i="1" dirty="0">
                <a:solidFill>
                  <a:srgbClr val="000000">
                    <a:lumMod val="65000"/>
                    <a:lumOff val="35000"/>
                  </a:srgbClr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“榜单一定要是</a:t>
            </a:r>
            <a:r>
              <a:rPr lang="zh-CN" altLang="en-US" sz="800" i="1" dirty="0">
                <a:solidFill>
                  <a:srgbClr val="C00000"/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美团和点评双平台的</a:t>
            </a:r>
            <a:r>
              <a:rPr lang="zh-CN" altLang="en-US" sz="800" i="1" dirty="0">
                <a:solidFill>
                  <a:srgbClr val="000000">
                    <a:lumMod val="65000"/>
                    <a:lumOff val="35000"/>
                  </a:srgbClr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，因为扬州是旅游城市流量来源一半一半”</a:t>
            </a:r>
            <a:r>
              <a:rPr lang="en-US" altLang="zh-CN" sz="800" i="1" dirty="0">
                <a:solidFill>
                  <a:srgbClr val="000000">
                    <a:lumMod val="65000"/>
                    <a:lumOff val="35000"/>
                  </a:srgbClr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——</a:t>
            </a:r>
            <a:r>
              <a:rPr lang="zh-CN" altLang="en-US" sz="800" i="1" dirty="0">
                <a:solidFill>
                  <a:srgbClr val="000000">
                    <a:lumMod val="65000"/>
                    <a:lumOff val="35000"/>
                  </a:srgbClr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香园茶社旗舰店</a:t>
            </a:r>
          </a:p>
        </p:txBody>
      </p:sp>
      <p:sp>
        <p:nvSpPr>
          <p:cNvPr id="258" name="标题 1"/>
          <p:cNvSpPr>
            <a:spLocks noGrp="1"/>
          </p:cNvSpPr>
          <p:nvPr>
            <p:ph type="title"/>
          </p:nvPr>
        </p:nvSpPr>
        <p:spPr>
          <a:xfrm>
            <a:off x="308705" y="-45541"/>
            <a:ext cx="8584470" cy="547945"/>
          </a:xfrm>
        </p:spPr>
        <p:txBody>
          <a:bodyPr/>
          <a:lstStyle/>
          <a:p>
            <a:r>
              <a:rPr lang="zh-CN" altLang="en-US" dirty="0"/>
              <a:t>榜单问题汇总</a:t>
            </a:r>
            <a:endParaRPr lang="en-US" altLang="zh-CN" dirty="0"/>
          </a:p>
        </p:txBody>
      </p:sp>
      <p:sp>
        <p:nvSpPr>
          <p:cNvPr id="260" name="米菲PPT48"/>
          <p:cNvSpPr/>
          <p:nvPr/>
        </p:nvSpPr>
        <p:spPr>
          <a:xfrm>
            <a:off x="6945030" y="482481"/>
            <a:ext cx="208734" cy="208757"/>
          </a:xfrm>
          <a:custGeom>
            <a:avLst/>
            <a:gdLst>
              <a:gd name="connsiteX0" fmla="*/ 1143000 w 1219200"/>
              <a:gd name="connsiteY0" fmla="*/ 76333 h 1219332"/>
              <a:gd name="connsiteX1" fmla="*/ 1095851 w 1219200"/>
              <a:gd name="connsiteY1" fmla="*/ 5848 h 1219332"/>
              <a:gd name="connsiteX2" fmla="*/ 1012746 w 1219200"/>
              <a:gd name="connsiteY2" fmla="*/ 22278 h 1219332"/>
              <a:gd name="connsiteX3" fmla="*/ 908923 w 1219200"/>
              <a:gd name="connsiteY3" fmla="*/ 126339 h 1219332"/>
              <a:gd name="connsiteX4" fmla="*/ 477917 w 1219200"/>
              <a:gd name="connsiteY4" fmla="*/ 304933 h 1219332"/>
              <a:gd name="connsiteX5" fmla="*/ 152400 w 1219200"/>
              <a:gd name="connsiteY5" fmla="*/ 304933 h 1219332"/>
              <a:gd name="connsiteX6" fmla="*/ 0 w 1219200"/>
              <a:gd name="connsiteY6" fmla="*/ 457333 h 1219332"/>
              <a:gd name="connsiteX7" fmla="*/ 0 w 1219200"/>
              <a:gd name="connsiteY7" fmla="*/ 685933 h 1219332"/>
              <a:gd name="connsiteX8" fmla="*/ 152400 w 1219200"/>
              <a:gd name="connsiteY8" fmla="*/ 838333 h 1219332"/>
              <a:gd name="connsiteX9" fmla="*/ 152400 w 1219200"/>
              <a:gd name="connsiteY9" fmla="*/ 1143133 h 1219332"/>
              <a:gd name="connsiteX10" fmla="*/ 228600 w 1219200"/>
              <a:gd name="connsiteY10" fmla="*/ 1219333 h 1219332"/>
              <a:gd name="connsiteX11" fmla="*/ 381000 w 1219200"/>
              <a:gd name="connsiteY11" fmla="*/ 1219333 h 1219332"/>
              <a:gd name="connsiteX12" fmla="*/ 457200 w 1219200"/>
              <a:gd name="connsiteY12" fmla="*/ 1143133 h 1219332"/>
              <a:gd name="connsiteX13" fmla="*/ 457200 w 1219200"/>
              <a:gd name="connsiteY13" fmla="*/ 838333 h 1219332"/>
              <a:gd name="connsiteX14" fmla="*/ 477917 w 1219200"/>
              <a:gd name="connsiteY14" fmla="*/ 838333 h 1219332"/>
              <a:gd name="connsiteX15" fmla="*/ 908923 w 1219200"/>
              <a:gd name="connsiteY15" fmla="*/ 1016926 h 1219332"/>
              <a:gd name="connsiteX16" fmla="*/ 1012746 w 1219200"/>
              <a:gd name="connsiteY16" fmla="*/ 1120749 h 1219332"/>
              <a:gd name="connsiteX17" fmla="*/ 1095851 w 1219200"/>
              <a:gd name="connsiteY17" fmla="*/ 1137180 h 1219332"/>
              <a:gd name="connsiteX18" fmla="*/ 1143000 w 1219200"/>
              <a:gd name="connsiteY18" fmla="*/ 1066694 h 1219332"/>
              <a:gd name="connsiteX19" fmla="*/ 1143000 w 1219200"/>
              <a:gd name="connsiteY19" fmla="*/ 715222 h 1219332"/>
              <a:gd name="connsiteX20" fmla="*/ 1219200 w 1219200"/>
              <a:gd name="connsiteY20" fmla="*/ 571394 h 1219332"/>
              <a:gd name="connsiteX21" fmla="*/ 1143000 w 1219200"/>
              <a:gd name="connsiteY21" fmla="*/ 427567 h 1219332"/>
              <a:gd name="connsiteX22" fmla="*/ 990600 w 1219200"/>
              <a:gd name="connsiteY22" fmla="*/ 258974 h 1219332"/>
              <a:gd name="connsiteX23" fmla="*/ 990600 w 1219200"/>
              <a:gd name="connsiteY23" fmla="*/ 884291 h 1219332"/>
              <a:gd name="connsiteX24" fmla="*/ 477917 w 1219200"/>
              <a:gd name="connsiteY24" fmla="*/ 685933 h 1219332"/>
              <a:gd name="connsiteX25" fmla="*/ 457200 w 1219200"/>
              <a:gd name="connsiteY25" fmla="*/ 685933 h 1219332"/>
              <a:gd name="connsiteX26" fmla="*/ 457200 w 1219200"/>
              <a:gd name="connsiteY26" fmla="*/ 457333 h 1219332"/>
              <a:gd name="connsiteX27" fmla="*/ 477917 w 1219200"/>
              <a:gd name="connsiteY27" fmla="*/ 457333 h 1219332"/>
              <a:gd name="connsiteX28" fmla="*/ 990600 w 1219200"/>
              <a:gd name="connsiteY28" fmla="*/ 258974 h 1219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219200" h="1219332">
                <a:moveTo>
                  <a:pt x="1143000" y="76333"/>
                </a:moveTo>
                <a:cubicBezTo>
                  <a:pt x="1143000" y="45614"/>
                  <a:pt x="1124426" y="17754"/>
                  <a:pt x="1095851" y="5848"/>
                </a:cubicBezTo>
                <a:cubicBezTo>
                  <a:pt x="1067276" y="-6059"/>
                  <a:pt x="1034653" y="609"/>
                  <a:pt x="1012746" y="22278"/>
                </a:cubicBezTo>
                <a:lnTo>
                  <a:pt x="908923" y="126339"/>
                </a:lnTo>
                <a:cubicBezTo>
                  <a:pt x="794623" y="240639"/>
                  <a:pt x="639604" y="304933"/>
                  <a:pt x="477917" y="304933"/>
                </a:cubicBezTo>
                <a:lnTo>
                  <a:pt x="152400" y="304933"/>
                </a:lnTo>
                <a:cubicBezTo>
                  <a:pt x="68342" y="304933"/>
                  <a:pt x="0" y="373274"/>
                  <a:pt x="0" y="457333"/>
                </a:cubicBezTo>
                <a:lnTo>
                  <a:pt x="0" y="685933"/>
                </a:lnTo>
                <a:cubicBezTo>
                  <a:pt x="0" y="769991"/>
                  <a:pt x="68342" y="838333"/>
                  <a:pt x="152400" y="838333"/>
                </a:cubicBezTo>
                <a:lnTo>
                  <a:pt x="152400" y="1143133"/>
                </a:lnTo>
                <a:cubicBezTo>
                  <a:pt x="152400" y="1185281"/>
                  <a:pt x="186452" y="1219333"/>
                  <a:pt x="228600" y="1219333"/>
                </a:cubicBezTo>
                <a:lnTo>
                  <a:pt x="381000" y="1219333"/>
                </a:lnTo>
                <a:cubicBezTo>
                  <a:pt x="423148" y="1219333"/>
                  <a:pt x="457200" y="1185281"/>
                  <a:pt x="457200" y="1143133"/>
                </a:cubicBezTo>
                <a:lnTo>
                  <a:pt x="457200" y="838333"/>
                </a:lnTo>
                <a:lnTo>
                  <a:pt x="477917" y="838333"/>
                </a:lnTo>
                <a:cubicBezTo>
                  <a:pt x="639604" y="838333"/>
                  <a:pt x="794623" y="902626"/>
                  <a:pt x="908923" y="1016926"/>
                </a:cubicBezTo>
                <a:lnTo>
                  <a:pt x="1012746" y="1120749"/>
                </a:lnTo>
                <a:cubicBezTo>
                  <a:pt x="1034653" y="1142656"/>
                  <a:pt x="1067276" y="1149086"/>
                  <a:pt x="1095851" y="1137180"/>
                </a:cubicBezTo>
                <a:cubicBezTo>
                  <a:pt x="1124426" y="1125273"/>
                  <a:pt x="1143000" y="1097651"/>
                  <a:pt x="1143000" y="1066694"/>
                </a:cubicBezTo>
                <a:lnTo>
                  <a:pt x="1143000" y="715222"/>
                </a:lnTo>
                <a:cubicBezTo>
                  <a:pt x="1187291" y="694267"/>
                  <a:pt x="1219200" y="637831"/>
                  <a:pt x="1219200" y="571394"/>
                </a:cubicBezTo>
                <a:cubicBezTo>
                  <a:pt x="1219200" y="504958"/>
                  <a:pt x="1187291" y="448522"/>
                  <a:pt x="1143000" y="427567"/>
                </a:cubicBezTo>
                <a:close/>
                <a:moveTo>
                  <a:pt x="990600" y="258974"/>
                </a:moveTo>
                <a:lnTo>
                  <a:pt x="990600" y="884291"/>
                </a:lnTo>
                <a:cubicBezTo>
                  <a:pt x="850583" y="756894"/>
                  <a:pt x="667941" y="685933"/>
                  <a:pt x="477917" y="685933"/>
                </a:cubicBezTo>
                <a:lnTo>
                  <a:pt x="457200" y="685933"/>
                </a:lnTo>
                <a:lnTo>
                  <a:pt x="457200" y="457333"/>
                </a:lnTo>
                <a:lnTo>
                  <a:pt x="477917" y="457333"/>
                </a:lnTo>
                <a:cubicBezTo>
                  <a:pt x="667941" y="457333"/>
                  <a:pt x="850583" y="386371"/>
                  <a:pt x="990600" y="258974"/>
                </a:cubicBezTo>
              </a:path>
            </a:pathLst>
          </a:custGeom>
          <a:solidFill>
            <a:schemeClr val="accent4"/>
          </a:solidFill>
          <a:ln w="12700" cap="flat" cmpd="sng" algn="ctr">
            <a:noFill/>
            <a:prstDash val="solid"/>
            <a:miter lim="800000"/>
          </a:ln>
          <a:effectLst>
            <a:outerShdw blurRad="469900" dist="139700" dir="5400000" algn="t" rotWithShape="0">
              <a:sysClr val="windowText" lastClr="000000">
                <a:alpha val="5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5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261" name="米菲PPT50"/>
          <p:cNvSpPr txBox="1"/>
          <p:nvPr/>
        </p:nvSpPr>
        <p:spPr>
          <a:xfrm>
            <a:off x="3172181" y="1820997"/>
            <a:ext cx="1094669" cy="2467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lnSpc>
                <a:spcPct val="120000"/>
              </a:lnSpc>
              <a:defRPr/>
            </a:pPr>
            <a:r>
              <a:rPr lang="zh-CN" altLang="en-US" sz="900" dirty="0">
                <a:solidFill>
                  <a:srgbClr val="F57359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指数榜过“松”</a:t>
            </a:r>
          </a:p>
        </p:txBody>
      </p:sp>
      <p:sp>
        <p:nvSpPr>
          <p:cNvPr id="262" name="米菲PPT50"/>
          <p:cNvSpPr txBox="1"/>
          <p:nvPr/>
        </p:nvSpPr>
        <p:spPr>
          <a:xfrm>
            <a:off x="4967856" y="1821446"/>
            <a:ext cx="1094669" cy="2467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lnSpc>
                <a:spcPct val="120000"/>
              </a:lnSpc>
              <a:defRPr/>
            </a:pPr>
            <a:r>
              <a:rPr lang="zh-CN" altLang="en-US" sz="900" dirty="0">
                <a:solidFill>
                  <a:srgbClr val="F57359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必吃榜过“严”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23"/>
          </p:nvPr>
        </p:nvSpPr>
        <p:spPr>
          <a:xfrm>
            <a:off x="243204" y="-860158"/>
            <a:ext cx="8584470" cy="687286"/>
          </a:xfrm>
        </p:spPr>
        <p:txBody>
          <a:bodyPr/>
          <a:lstStyle/>
          <a:p>
            <a:r>
              <a:rPr lang="zh-CN" altLang="en-US" dirty="0"/>
              <a:t>在资产的多个维度上，与竞品概要结论比较 </a:t>
            </a:r>
            <a:r>
              <a:rPr lang="en-GB" altLang="zh-CN" dirty="0"/>
              <a:t>1p</a:t>
            </a:r>
          </a:p>
        </p:txBody>
      </p:sp>
      <p:sp>
        <p:nvSpPr>
          <p:cNvPr id="19" name="内容占位符 2"/>
          <p:cNvSpPr txBox="1"/>
          <p:nvPr/>
        </p:nvSpPr>
        <p:spPr>
          <a:xfrm>
            <a:off x="279765" y="1151825"/>
            <a:ext cx="3098560" cy="283985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12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/>
                </a:solidFill>
                <a:latin typeface="Calibri" panose="020F0502020204030204" pitchFamily="34" charset="0"/>
                <a:ea typeface="楷体" panose="02010609060101010101" pitchFamily="49" charset="-122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12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12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12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12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kumimoji="1" lang="zh-CN" altLang="en-US" sz="1000" b="1" dirty="0"/>
              <a:t>各大平台均依托核心资产构建榜单体系。</a:t>
            </a:r>
            <a:br>
              <a:rPr kumimoji="1" lang="en-US" altLang="zh-CN" sz="1000" b="1" dirty="0"/>
            </a:br>
            <a:r>
              <a:rPr kumimoji="1" lang="zh-CN" altLang="en-US" sz="1000" dirty="0"/>
              <a:t>在不同维度各有优势：</a:t>
            </a:r>
            <a:endParaRPr kumimoji="1" lang="en-US" altLang="zh-CN" sz="1000" b="1" dirty="0"/>
          </a:p>
          <a:p>
            <a:pPr>
              <a:buClrTx/>
            </a:pPr>
            <a:r>
              <a:rPr kumimoji="1" lang="zh-CN" altLang="en-US" sz="1000" b="1" dirty="0"/>
              <a:t>点评必吃榜</a:t>
            </a:r>
            <a:r>
              <a:rPr kumimoji="1" lang="zh-CN" altLang="en-US" sz="1000" dirty="0"/>
              <a:t>作为行业标杆，</a:t>
            </a:r>
            <a:r>
              <a:rPr kumimoji="1" lang="zh-CN" altLang="en-US" sz="1000" b="1" dirty="0"/>
              <a:t>评选规则严谨公正</a:t>
            </a:r>
            <a:r>
              <a:rPr kumimoji="1" lang="zh-CN" altLang="en-US" sz="1000" dirty="0"/>
              <a:t>，</a:t>
            </a:r>
            <a:r>
              <a:rPr kumimoji="1" lang="zh-CN" altLang="en-US" sz="1000" b="1" dirty="0"/>
              <a:t>上榜后能明显带动用户关注</a:t>
            </a:r>
            <a:r>
              <a:rPr kumimoji="1" lang="zh-CN" altLang="en-US" sz="1000" dirty="0"/>
              <a:t>，助力商家</a:t>
            </a:r>
            <a:r>
              <a:rPr kumimoji="1" lang="zh-CN" altLang="en-US" sz="1000" b="1" dirty="0"/>
              <a:t>流量和订单增长</a:t>
            </a:r>
            <a:r>
              <a:rPr kumimoji="1" lang="zh-CN" altLang="en-US" sz="1000" dirty="0"/>
              <a:t>。在持续多年的口碑积累下，</a:t>
            </a:r>
            <a:r>
              <a:rPr kumimoji="1" lang="zh-CN" altLang="en-US" sz="1000" b="1" dirty="0"/>
              <a:t>公信力最强。</a:t>
            </a:r>
            <a:endParaRPr kumimoji="1" lang="en-US" altLang="zh-CN" sz="1000" b="1" dirty="0"/>
          </a:p>
          <a:p>
            <a:pPr>
              <a:buClrTx/>
            </a:pPr>
            <a:r>
              <a:rPr kumimoji="1" lang="zh-CN" altLang="en-US" sz="1000" b="1" dirty="0"/>
              <a:t>抖音心动榜</a:t>
            </a:r>
            <a:r>
              <a:rPr kumimoji="1" lang="zh-CN" altLang="en-US" sz="1000" dirty="0"/>
              <a:t>利用强内容生态和达人资源，通过流量激励、降佣补贴与营销活动打造榜单声量，商家权益最丰富。</a:t>
            </a:r>
            <a:endParaRPr kumimoji="1" lang="en-US" altLang="zh-CN" sz="1000" dirty="0"/>
          </a:p>
          <a:p>
            <a:pPr>
              <a:buClrTx/>
            </a:pPr>
            <a:r>
              <a:rPr kumimoji="1" lang="zh-CN" altLang="en-US" sz="1000" b="1" dirty="0"/>
              <a:t>高德发挥出行与地理数据优势</a:t>
            </a:r>
            <a:r>
              <a:rPr kumimoji="1" lang="zh-CN" altLang="en-US" sz="1000" dirty="0"/>
              <a:t>，将真实行为数据作为榜单指标，资产利用充分、数据真实性高</a:t>
            </a:r>
            <a:endParaRPr kumimoji="1" lang="en-US" altLang="zh-CN" sz="1000" dirty="0"/>
          </a:p>
          <a:p>
            <a:pPr>
              <a:buClrTx/>
            </a:pPr>
            <a:r>
              <a:rPr lang="zh-CN" altLang="en-US" sz="1000" dirty="0"/>
              <a:t>美团人气榜商家牵引路径最直接，一定程度能推动商家上套代买。</a:t>
            </a:r>
            <a:endParaRPr lang="en-US" altLang="zh-CN" sz="1000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3506808" y="427701"/>
          <a:ext cx="5470528" cy="4493037"/>
        </p:xfrm>
        <a:graphic>
          <a:graphicData uri="http://schemas.openxmlformats.org/drawingml/2006/table">
            <a:tbl>
              <a:tblPr/>
              <a:tblGrid>
                <a:gridCol w="4570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27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84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364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589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5679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99527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1" i="0" u="none" strike="noStrike" dirty="0">
                          <a:solidFill>
                            <a:srgbClr val="FFFFFF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平台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美团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CE4D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点评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CE4D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抖音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CE4D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高德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CE4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0021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核心资产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3CA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用户行为数据（交易履约）</a:t>
                      </a:r>
                      <a:b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浏览、搜索、收藏、消费、评价</a:t>
                      </a:r>
                      <a:b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·UGC</a:t>
                      </a:r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评价数据</a:t>
                      </a:r>
                      <a:b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门店信息完整</a:t>
                      </a:r>
                      <a:b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丰富的供给和履约服务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·UGC</a:t>
                      </a:r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评价数据</a:t>
                      </a:r>
                      <a:b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用户行为数据（评价交易）</a:t>
                      </a:r>
                      <a:b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浏览、搜索、收藏、消费、评价</a:t>
                      </a:r>
                      <a:b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门店信息完整</a:t>
                      </a:r>
                      <a:b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丰富的供给和履约服务</a:t>
                      </a:r>
                    </a:p>
                  </a:txBody>
                  <a:tcPr marL="2404" marR="2404" marT="2404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用户行为数据（内容互动） 点赞、收藏、评价、消费</a:t>
                      </a:r>
                      <a:b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内容生态丰富 明星达人矩阵</a:t>
                      </a:r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x</a:t>
                      </a:r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直播、短视频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用户行为数据（导航出行） 导航、搜索、消费</a:t>
                      </a:r>
                      <a:b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地图信息库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6273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核心榜单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人气榜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CE4D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、好评榜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CE4D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必吃榜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CE4D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心动榜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CE4D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扫街榜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CE4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4371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评选规则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3C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根据商户上周核销量（套餐、代金券、全包、买单以及智能点餐销量）总和进行排序。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根据商户上周星级及好评数量计算综合好评值进行排序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必吃榜以上一年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</a:t>
                      </a:r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月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</a:t>
                      </a:r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日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-12</a:t>
                      </a:r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月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31</a:t>
                      </a:r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日为考察期，综合</a:t>
                      </a:r>
                      <a:r>
                        <a:rPr lang="zh-CN" alt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评价真实可信、口味优中选优、长期稳定体验佳、符合日常消费水平、满足日常就餐</a:t>
                      </a:r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选择五大维度，进行评选。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基于</a:t>
                      </a:r>
                      <a:r>
                        <a:rPr lang="zh-CN" alt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抖音用户对餐厅的点赞、评价、收藏、消费及商家在抖音经营行为的深浅</a:t>
                      </a:r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，综合优选抖音用户高赞心动之选。榜单划分为人气、氛围、风味三个子榜。调研算法比例：</a:t>
                      </a:r>
                      <a:r>
                        <a:rPr lang="zh-CN" alt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①心动指数（</a:t>
                      </a:r>
                      <a:r>
                        <a:rPr lang="en-US" altLang="zh-CN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40%</a:t>
                      </a:r>
                      <a:r>
                        <a:rPr lang="zh-CN" alt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）</a:t>
                      </a:r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：</a:t>
                      </a:r>
                      <a:r>
                        <a:rPr lang="zh-CN" alt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订单量和</a:t>
                      </a:r>
                      <a:r>
                        <a:rPr lang="en-US" altLang="zh-CN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GTV</a:t>
                      </a:r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、好评率、复购率；</a:t>
                      </a:r>
                      <a:r>
                        <a:rPr lang="zh-CN" alt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②内容热度（</a:t>
                      </a:r>
                      <a:r>
                        <a:rPr lang="en-US" altLang="zh-CN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30%</a:t>
                      </a:r>
                      <a:r>
                        <a:rPr lang="zh-CN" alt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）</a:t>
                      </a:r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：播放量、短视频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/</a:t>
                      </a:r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直播间数量、达人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/</a:t>
                      </a:r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明星推荐；</a:t>
                      </a:r>
                      <a:r>
                        <a:rPr lang="zh-CN" alt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③用户体验（</a:t>
                      </a:r>
                      <a:r>
                        <a:rPr lang="en-US" altLang="zh-CN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20%</a:t>
                      </a:r>
                      <a:r>
                        <a:rPr lang="zh-CN" alt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）</a:t>
                      </a:r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：环境体验、服务体验；</a:t>
                      </a:r>
                      <a:r>
                        <a:rPr lang="zh-CN" alt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④价格力</a:t>
                      </a:r>
                      <a:r>
                        <a:rPr lang="en-US" altLang="zh-CN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(10%)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:</a:t>
                      </a:r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价格力</a:t>
                      </a:r>
                      <a:endParaRPr lang="en-US" altLang="zh-CN" sz="6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2404" marR="2404" marT="2404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状元榜：基于高德海量</a:t>
                      </a:r>
                      <a:r>
                        <a:rPr lang="zh-CN" alt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真实出行数据挖掘</a:t>
                      </a:r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的推荐榜单，主要依据商户的出行热度，结合体验品质，在公平公正的基础上计算得到最终入榜名单。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7143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商家牵引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3C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合作交易：上线套代买提升订单量</a:t>
                      </a:r>
                      <a:b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重视营销场：利用特团直营销场提升团购销量</a:t>
                      </a:r>
                      <a:b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线下店推：将线下流量转化为线上交易</a:t>
                      </a:r>
                      <a:b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广告投放：使用推广通、智选展位增加曝光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鼓励消费者留下真实评价</a:t>
                      </a:r>
                      <a:b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维护星级评分，及时处理差评</a:t>
                      </a:r>
                      <a:b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评价管理：定期分析评价，优化服务细节</a:t>
                      </a:r>
                      <a:b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会员运营：通过会员体系提升老客复购和评价率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确保</a:t>
                      </a:r>
                      <a:r>
                        <a:rPr lang="zh-CN" alt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评价真实可信</a:t>
                      </a:r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杜绝刷评或虚假评价</a:t>
                      </a:r>
                      <a:b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菜品口味需达到较高水平并保持稳定</a:t>
                      </a:r>
                      <a:b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保持长期</a:t>
                      </a:r>
                      <a:r>
                        <a:rPr lang="zh-CN" alt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稳定的服务质量</a:t>
                      </a:r>
                      <a:b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控制差评率</a:t>
                      </a:r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在较低水平，并及时处理</a:t>
                      </a:r>
                      <a:b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设定合理价位</a:t>
                      </a:r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，符合同城就餐水平</a:t>
                      </a:r>
                      <a:b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菜品或服务</a:t>
                      </a:r>
                      <a:r>
                        <a:rPr lang="zh-CN" alt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反映当地特色</a:t>
                      </a:r>
                      <a:endParaRPr lang="zh-CN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2404" marR="2404" marT="2404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进行广告投流</a:t>
                      </a:r>
                      <a:b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直播、短视频创作</a:t>
                      </a:r>
                      <a:b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对标美团低价套餐，</a:t>
                      </a:r>
                      <a:r>
                        <a:rPr lang="zh-CN" alt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保证套餐性价比</a:t>
                      </a:r>
                      <a:b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维护店铺</a:t>
                      </a:r>
                      <a:r>
                        <a:rPr lang="zh-CN" alt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星级评价</a:t>
                      </a:r>
                      <a:b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合作明星、达人探店</a:t>
                      </a:r>
                      <a:br>
                        <a:rPr lang="zh-CN" alt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重视环境、服务提升</a:t>
                      </a:r>
                      <a:endParaRPr lang="zh-CN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2404" marR="2404" marT="2404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引导</a:t>
                      </a:r>
                      <a:r>
                        <a:rPr lang="zh-CN" alt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商户入驻</a:t>
                      </a:r>
                      <a:b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购买</a:t>
                      </a:r>
                      <a:r>
                        <a:rPr lang="zh-CN" alt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搜索广告</a:t>
                      </a:r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2404" marR="2404" marT="2404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1719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商家权益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3CA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美团搜索排序优先</a:t>
                      </a:r>
                      <a:b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线上荣誉标签展示</a:t>
                      </a:r>
                      <a:b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线下免费荣誉物料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美团搜索排序优先</a:t>
                      </a:r>
                      <a:b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荣誉背书及明星物料支持</a:t>
                      </a:r>
                      <a:b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专属一对一服务通道</a:t>
                      </a:r>
                      <a:b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官方活动流量加持</a:t>
                      </a:r>
                      <a:b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助力上榜商户经营</a:t>
                      </a:r>
                      <a:b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必吃套餐聚宝盆激励（活动期间）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灵活佣金政策，至高降至</a:t>
                      </a:r>
                      <a:r>
                        <a:rPr lang="en-US" altLang="zh-CN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1%</a:t>
                      </a:r>
                      <a:b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全域流量曝光，推荐、搜索等商家内容商品投放加权</a:t>
                      </a:r>
                      <a:r>
                        <a:rPr lang="en-US" altLang="zh-CN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30%</a:t>
                      </a:r>
                      <a:b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线上应季营销专属资源</a:t>
                      </a:r>
                      <a:b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线下节日商圈活动</a:t>
                      </a:r>
                      <a:b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明星及达人资源倾斜</a:t>
                      </a:r>
                      <a:b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心动套餐货补激励</a:t>
                      </a:r>
                      <a:b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·1V1</a:t>
                      </a:r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官方企微服务</a:t>
                      </a:r>
                      <a:endParaRPr lang="zh-CN" altLang="en-US" sz="600" b="1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2404" marR="2404" marT="2404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en-US" altLang="zh-CN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5000</a:t>
                      </a:r>
                      <a:r>
                        <a:rPr lang="zh-CN" alt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万次精准流量曝光</a:t>
                      </a:r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，扶持烟火小店，如首页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AI</a:t>
                      </a:r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推荐、搜索热词、导航语音植入</a:t>
                      </a:r>
                      <a:b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餐饮商家首年免入驻费并提供流量补贴红包</a:t>
                      </a:r>
                      <a:b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·2</a:t>
                      </a:r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亿打车券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+9.5</a:t>
                      </a:r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亿元消费券补贴引导用户到店消费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8148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公信力表达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3CA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上榜指标清晰，</a:t>
                      </a:r>
                      <a:r>
                        <a:rPr lang="en-US" altLang="zh-CN" sz="6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B</a:t>
                      </a:r>
                      <a:r>
                        <a:rPr lang="zh-CN" alt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端公信力尚可</a:t>
                      </a:r>
                      <a:b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上榜门槛低，门店质量参差不齐，</a:t>
                      </a:r>
                      <a:r>
                        <a:rPr lang="en-US" altLang="zh-CN" sz="6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C</a:t>
                      </a:r>
                      <a:r>
                        <a:rPr lang="zh-CN" alt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端公信力低</a:t>
                      </a:r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2404" marR="2404" marT="2404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必吃榜是行业标杆榜单，公信力非常强</a:t>
                      </a:r>
                      <a:b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①必吃榜以用户的真实评价数据为基础。通过大模型及人工审核，拦截恶意差评，并设置线索举报通道。</a:t>
                      </a:r>
                      <a:b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②坚持公平公正的原则，评选过程不牵涉任何经济利益和商业行为，不采纳人为提名，必吃榜不会以任何形式收取评选费用。</a:t>
                      </a:r>
                      <a:b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③所有评选结果受第三方公证机构权威监督公证。</a:t>
                      </a:r>
                      <a:endParaRPr lang="zh-CN" altLang="en-US" sz="600" b="1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2404" marR="2404" marT="2404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心动榜公信力较弱</a:t>
                      </a:r>
                      <a:b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除系统算法捞取外，还可以通过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BD/</a:t>
                      </a:r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行业运营提报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/</a:t>
                      </a:r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达人推荐，影响上榜公平性。</a:t>
                      </a:r>
                      <a:b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联合行业专家、中国烹饪协会，校验餐厅特色体验，为用户提供优先前往理由，一定程度提供了背书。</a:t>
                      </a:r>
                      <a:endParaRPr lang="zh-CN" altLang="en-US" sz="600" b="1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2404" marR="2404" marT="2404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高德扫街榜公信力较强</a:t>
                      </a:r>
                      <a:b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主要来源于</a:t>
                      </a:r>
                      <a:b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①基于真实到店行为（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12</a:t>
                      </a:r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亿次导航、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4514</a:t>
                      </a:r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万人真实足迹）</a:t>
                      </a:r>
                      <a:b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②引入芝麻信用体系，并通过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AI </a:t>
                      </a:r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风控过滤虚假内容。</a:t>
                      </a:r>
                      <a:b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③不受高德合作或其他商业行为影响。</a:t>
                      </a:r>
                      <a:endParaRPr lang="zh-CN" altLang="en-US" sz="600" b="1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2404" marR="2404" marT="2404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文本占位符 3"/>
          <p:cNvSpPr>
            <a:spLocks noGrp="1"/>
          </p:cNvSpPr>
          <p:nvPr>
            <p:ph type="body" sz="quarter" idx="22"/>
          </p:nvPr>
        </p:nvSpPr>
        <p:spPr>
          <a:xfrm>
            <a:off x="308706" y="123823"/>
            <a:ext cx="8583088" cy="266037"/>
          </a:xfrm>
        </p:spPr>
        <p:txBody>
          <a:bodyPr/>
          <a:lstStyle/>
          <a:p>
            <a:r>
              <a:rPr lang="zh-CN" altLang="en-US" dirty="0"/>
              <a:t>资产建设问题</a:t>
            </a:r>
            <a:endParaRPr kumimoji="1" lang="zh-CN" altLang="en-US" dirty="0"/>
          </a:p>
        </p:txBody>
      </p:sp>
      <p:sp>
        <p:nvSpPr>
          <p:cNvPr id="8" name="标题 1"/>
          <p:cNvSpPr txBox="1"/>
          <p:nvPr/>
        </p:nvSpPr>
        <p:spPr>
          <a:xfrm>
            <a:off x="308705" y="439479"/>
            <a:ext cx="8584470" cy="5479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lang="zh-CN" altLang="en-US" sz="1800" b="0" i="0" kern="1200" baseline="0" dirty="0">
                <a:solidFill>
                  <a:schemeClr val="tx1"/>
                </a:solidFill>
                <a:latin typeface="Calibri" panose="020F0502020204030204" pitchFamily="34" charset="0"/>
                <a:ea typeface="楷体" panose="02010609060101010101" pitchFamily="49" charset="-122"/>
                <a:cs typeface="+mj-cs"/>
                <a:sym typeface="+mj-lt"/>
              </a:defRPr>
            </a:lvl1pPr>
          </a:lstStyle>
          <a:p>
            <a:r>
              <a:rPr lang="zh-CN" altLang="en-US" dirty="0"/>
              <a:t>竞品分析</a:t>
            </a:r>
            <a:r>
              <a:rPr lang="en-US" altLang="zh-CN" dirty="0"/>
              <a:t>-</a:t>
            </a:r>
            <a:r>
              <a:rPr lang="zh-CN" altLang="en-US" dirty="0"/>
              <a:t>榜单资产引用对比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双平台核心资产不一致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23"/>
          </p:nvPr>
        </p:nvSpPr>
        <p:spPr>
          <a:xfrm>
            <a:off x="280456" y="-603779"/>
            <a:ext cx="8639588" cy="409045"/>
          </a:xfrm>
        </p:spPr>
        <p:txBody>
          <a:bodyPr/>
          <a:lstStyle/>
          <a:p>
            <a:r>
              <a:rPr lang="zh-CN" altLang="en-US" dirty="0"/>
              <a:t>双平台榜单资产应用现状、规模 </a:t>
            </a:r>
            <a:r>
              <a:rPr lang="en-US" altLang="zh-CN" dirty="0"/>
              <a:t>1</a:t>
            </a:r>
            <a:r>
              <a:rPr lang="en-GB" altLang="zh-CN" dirty="0"/>
              <a:t>p</a:t>
            </a:r>
            <a:r>
              <a:rPr kumimoji="1" lang="zh-CN" altLang="en-US" dirty="0"/>
              <a:t> </a:t>
            </a:r>
            <a:endParaRPr kumimoji="1" lang="en-US" altLang="zh-CN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zh-CN" altLang="en-US" dirty="0"/>
              <a:t>资产建设问题</a:t>
            </a:r>
            <a:endParaRPr kumimoji="1" lang="zh-CN" altLang="en-US" dirty="0"/>
          </a:p>
        </p:txBody>
      </p:sp>
      <p:sp>
        <p:nvSpPr>
          <p:cNvPr id="15" name="内容占位符 2"/>
          <p:cNvSpPr txBox="1"/>
          <p:nvPr/>
        </p:nvSpPr>
        <p:spPr>
          <a:xfrm>
            <a:off x="353224" y="1326751"/>
            <a:ext cx="3047623" cy="3037044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normAutofit fontScale="92500" lnSpcReduction="10000"/>
          </a:bodyPr>
          <a:lstStyle>
            <a:lvl1pPr marL="171450" indent="-171450" algn="l" defTabSz="685800" rtl="0" eaLnBrk="1" latinLnBrk="0" hangingPunct="1">
              <a:lnSpc>
                <a:spcPct val="12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/>
                </a:solidFill>
                <a:latin typeface="Calibri" panose="020F0502020204030204" pitchFamily="34" charset="0"/>
                <a:ea typeface="楷体" panose="02010609060101010101" pitchFamily="49" charset="-122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12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12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12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12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000" b="1" i="0" dirty="0">
                <a:solidFill>
                  <a:srgbClr val="1F2328"/>
                </a:solidFill>
                <a:effectLst/>
                <a:latin typeface="PingFang SC"/>
              </a:rPr>
              <a:t>双平台</a:t>
            </a:r>
            <a:r>
              <a:rPr lang="zh-CN" altLang="en-US" sz="1000" b="1" dirty="0">
                <a:solidFill>
                  <a:srgbClr val="1F2328"/>
                </a:solidFill>
                <a:latin typeface="PingFang SC"/>
              </a:rPr>
              <a:t>核心</a:t>
            </a:r>
            <a:r>
              <a:rPr lang="zh-CN" altLang="en-US" sz="1000" b="1" i="0" dirty="0">
                <a:solidFill>
                  <a:srgbClr val="1F2328"/>
                </a:solidFill>
                <a:effectLst/>
                <a:latin typeface="PingFang SC"/>
              </a:rPr>
              <a:t>资产</a:t>
            </a:r>
            <a:r>
              <a:rPr lang="zh-CN" altLang="en-US" sz="1000" b="1" dirty="0">
                <a:solidFill>
                  <a:srgbClr val="1F2328"/>
                </a:solidFill>
                <a:latin typeface="PingFang SC"/>
              </a:rPr>
              <a:t>不一致：</a:t>
            </a:r>
            <a:endParaRPr lang="en-US" altLang="zh-CN" sz="1000" b="1" i="0" dirty="0">
              <a:solidFill>
                <a:srgbClr val="1F2328"/>
              </a:solidFill>
              <a:effectLst/>
              <a:latin typeface="PingFang SC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000" b="0" i="0" dirty="0">
                <a:solidFill>
                  <a:srgbClr val="1F2328"/>
                </a:solidFill>
                <a:effectLst/>
                <a:latin typeface="PingFang SC"/>
              </a:rPr>
              <a:t>美团和点评榜单部分互通，前台品类、</a:t>
            </a:r>
            <a:r>
              <a:rPr lang="zh-CN" altLang="en-US" sz="1000" dirty="0">
                <a:solidFill>
                  <a:srgbClr val="1F2328"/>
                </a:solidFill>
                <a:latin typeface="PingFang SC"/>
              </a:rPr>
              <a:t>星级</a:t>
            </a:r>
            <a:r>
              <a:rPr lang="zh-CN" altLang="en-US" sz="1000" b="0" i="0" dirty="0">
                <a:solidFill>
                  <a:srgbClr val="1F2328"/>
                </a:solidFill>
                <a:effectLst/>
                <a:latin typeface="PingFang SC"/>
              </a:rPr>
              <a:t>、门店收藏打卡不一致，门店信息、供给、评价等基础</a:t>
            </a:r>
            <a:r>
              <a:rPr lang="zh-CN" altLang="en-US" sz="1000" dirty="0">
                <a:solidFill>
                  <a:srgbClr val="1F2328"/>
                </a:solidFill>
                <a:latin typeface="PingFang SC"/>
              </a:rPr>
              <a:t>资产已打通。</a:t>
            </a:r>
            <a:endParaRPr lang="en-US" altLang="zh-CN" sz="1000" b="0" i="0" dirty="0">
              <a:solidFill>
                <a:srgbClr val="1F2328"/>
              </a:solidFill>
              <a:effectLst/>
              <a:latin typeface="PingFang SC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000" b="1" i="0" dirty="0">
                <a:solidFill>
                  <a:srgbClr val="1F2328"/>
                </a:solidFill>
                <a:effectLst/>
                <a:latin typeface="PingFang SC"/>
              </a:rPr>
              <a:t>美团榜单资产应用单一：</a:t>
            </a:r>
            <a:endParaRPr lang="en-US" altLang="zh-CN" sz="1000" b="1" i="0" dirty="0">
              <a:solidFill>
                <a:srgbClr val="1F2328"/>
              </a:solidFill>
              <a:effectLst/>
              <a:latin typeface="PingFang SC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000" dirty="0">
                <a:solidFill>
                  <a:srgbClr val="1F2328"/>
                </a:solidFill>
                <a:latin typeface="PingFang SC"/>
              </a:rPr>
              <a:t>目前</a:t>
            </a:r>
            <a:r>
              <a:rPr lang="zh-CN" altLang="en-US" sz="1000" b="0" i="0" dirty="0">
                <a:solidFill>
                  <a:srgbClr val="1F2328"/>
                </a:solidFill>
                <a:effectLst/>
                <a:latin typeface="PingFang SC"/>
              </a:rPr>
              <a:t>各类榜单对数据资产的应用集中在星级评分及交易指标，</a:t>
            </a:r>
            <a:r>
              <a:rPr lang="zh-CN" altLang="en-US" sz="1000" dirty="0">
                <a:solidFill>
                  <a:srgbClr val="1F2328"/>
                </a:solidFill>
                <a:latin typeface="PingFang SC"/>
              </a:rPr>
              <a:t>点评侧榜单指标较复合，</a:t>
            </a:r>
            <a:r>
              <a:rPr lang="zh-CN" altLang="en-US" sz="1000" b="0" i="0" dirty="0">
                <a:solidFill>
                  <a:srgbClr val="1F2328"/>
                </a:solidFill>
                <a:effectLst/>
                <a:latin typeface="PingFang SC"/>
              </a:rPr>
              <a:t>美团侧榜单指标较单一。</a:t>
            </a:r>
            <a:endParaRPr lang="en-US" altLang="zh-CN" sz="1000" dirty="0">
              <a:solidFill>
                <a:srgbClr val="62799C"/>
              </a:solidFill>
              <a:latin typeface="MiSans Medium" panose="00000600000000000000" pitchFamily="2" charset="-122"/>
              <a:ea typeface="MiSans Medium" panose="00000600000000000000" pitchFamily="2" charset="-122"/>
            </a:endParaRPr>
          </a:p>
          <a:p>
            <a:pPr marL="0" indent="0">
              <a:buNone/>
            </a:pPr>
            <a:r>
              <a:rPr lang="zh-CN" altLang="en-US" sz="1000" b="1" dirty="0">
                <a:solidFill>
                  <a:srgbClr val="1F2328"/>
                </a:solidFill>
                <a:latin typeface="PingFang SC"/>
              </a:rPr>
              <a:t>刷好评、星级很难维持、不确定性：</a:t>
            </a:r>
            <a:endParaRPr lang="en-US" altLang="zh-CN" sz="1000" b="1" dirty="0">
              <a:solidFill>
                <a:srgbClr val="1F2328"/>
              </a:solidFill>
              <a:latin typeface="PingFang SC"/>
            </a:endParaRPr>
          </a:p>
          <a:p>
            <a:pPr marL="0" indent="0">
              <a:buNone/>
            </a:pPr>
            <a:r>
              <a:rPr lang="zh-CN" altLang="en-US" sz="1000" b="0" i="0" dirty="0">
                <a:solidFill>
                  <a:srgbClr val="1F2328"/>
                </a:solidFill>
                <a:effectLst/>
                <a:latin typeface="PingFang SC"/>
              </a:rPr>
              <a:t>评价和星级在双侧平台和各类榜单中应用较为高频，且对于榜单排序影响较大，因此商户对于好评数量和星级分值的位置十分在意，但又没有明确规则感知。</a:t>
            </a:r>
            <a:endParaRPr lang="en-US" altLang="zh-CN" sz="1000" b="0" i="0" dirty="0">
              <a:solidFill>
                <a:srgbClr val="1F2328"/>
              </a:solidFill>
              <a:effectLst/>
              <a:latin typeface="PingFang SC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000" b="1" dirty="0">
                <a:solidFill>
                  <a:srgbClr val="1F2328"/>
                </a:solidFill>
                <a:latin typeface="PingFang SC"/>
              </a:rPr>
              <a:t>资产覆盖率不足：</a:t>
            </a:r>
            <a:endParaRPr lang="en-US" altLang="zh-CN" sz="1000" b="1" dirty="0">
              <a:solidFill>
                <a:srgbClr val="1F2328"/>
              </a:solidFill>
              <a:latin typeface="PingFang SC"/>
            </a:endParaRPr>
          </a:p>
          <a:p>
            <a:pPr marL="0" indent="0">
              <a:buNone/>
            </a:pPr>
            <a:r>
              <a:rPr lang="zh-CN" altLang="en-US" sz="1000" dirty="0">
                <a:solidFill>
                  <a:srgbClr val="1F2328"/>
                </a:solidFill>
                <a:latin typeface="PingFang SC"/>
              </a:rPr>
              <a:t>合作套代买的商户仅</a:t>
            </a:r>
            <a:r>
              <a:rPr lang="en-US" altLang="zh-CN" sz="1000" dirty="0">
                <a:solidFill>
                  <a:srgbClr val="1F2328"/>
                </a:solidFill>
                <a:latin typeface="PingFang SC"/>
              </a:rPr>
              <a:t>26.8%</a:t>
            </a:r>
            <a:r>
              <a:rPr lang="zh-CN" altLang="en-US" sz="1000" dirty="0">
                <a:solidFill>
                  <a:srgbClr val="1F2328"/>
                </a:solidFill>
                <a:latin typeface="PingFang SC"/>
              </a:rPr>
              <a:t>；排队、智能点餐的覆盖不足</a:t>
            </a:r>
            <a:r>
              <a:rPr lang="en-US" altLang="zh-CN" sz="1000" dirty="0">
                <a:solidFill>
                  <a:srgbClr val="1F2328"/>
                </a:solidFill>
                <a:latin typeface="PingFang SC"/>
              </a:rPr>
              <a:t>1%</a:t>
            </a:r>
            <a:r>
              <a:rPr lang="zh-CN" altLang="en-US" sz="1000" dirty="0">
                <a:solidFill>
                  <a:srgbClr val="1F2328"/>
                </a:solidFill>
                <a:latin typeface="PingFang SC"/>
              </a:rPr>
              <a:t>；评价覆盖率不足一半</a:t>
            </a:r>
            <a:r>
              <a:rPr lang="en-US" altLang="zh-CN" sz="1000" dirty="0">
                <a:solidFill>
                  <a:srgbClr val="1F2328"/>
                </a:solidFill>
                <a:latin typeface="PingFang SC"/>
              </a:rPr>
              <a:t>41%</a:t>
            </a:r>
            <a:r>
              <a:rPr lang="zh-CN" altLang="en-US" sz="1000" dirty="0">
                <a:solidFill>
                  <a:srgbClr val="1F2328"/>
                </a:solidFill>
                <a:latin typeface="PingFang SC"/>
              </a:rPr>
              <a:t>；美团星级覆盖率仅</a:t>
            </a:r>
            <a:r>
              <a:rPr lang="en-US" altLang="zh-CN" sz="1000" dirty="0">
                <a:solidFill>
                  <a:srgbClr val="1F2328"/>
                </a:solidFill>
                <a:latin typeface="PingFang SC"/>
              </a:rPr>
              <a:t>41.75%</a:t>
            </a:r>
            <a:r>
              <a:rPr lang="zh-CN" altLang="en-US" sz="1000" dirty="0">
                <a:solidFill>
                  <a:srgbClr val="1F2328"/>
                </a:solidFill>
                <a:latin typeface="PingFang SC"/>
              </a:rPr>
              <a:t>，点评侧更低只有</a:t>
            </a:r>
            <a:r>
              <a:rPr lang="en-US" altLang="zh-CN" sz="1000" dirty="0">
                <a:solidFill>
                  <a:srgbClr val="1F2328"/>
                </a:solidFill>
                <a:latin typeface="PingFang SC"/>
              </a:rPr>
              <a:t>35.72%</a:t>
            </a:r>
            <a:r>
              <a:rPr lang="zh-CN" altLang="en-US" sz="1000" dirty="0">
                <a:solidFill>
                  <a:srgbClr val="1F2328"/>
                </a:solidFill>
                <a:latin typeface="PingFang SC"/>
              </a:rPr>
              <a:t>。</a:t>
            </a:r>
            <a:endParaRPr lang="en-US" altLang="zh-CN" sz="1000" b="1" dirty="0">
              <a:solidFill>
                <a:srgbClr val="1F2328"/>
              </a:solidFill>
              <a:latin typeface="PingFang SC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3517892" y="217212"/>
          <a:ext cx="5317397" cy="4887268"/>
        </p:xfrm>
        <a:graphic>
          <a:graphicData uri="http://schemas.openxmlformats.org/drawingml/2006/table">
            <a:tbl>
              <a:tblPr/>
              <a:tblGrid>
                <a:gridCol w="4280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1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1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39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55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0656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0656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0656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0656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0656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0656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0656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20969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1" i="0" u="none" strike="noStrike" dirty="0">
                          <a:solidFill>
                            <a:srgbClr val="FFFFFF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资产类型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资产数据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双平台展示一致性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覆盖率</a:t>
                      </a:r>
                      <a:endParaRPr lang="en-US" altLang="zh-CN" sz="600" b="1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pPr algn="ctr" fontAlgn="ctr"/>
                      <a:r>
                        <a:rPr lang="zh-CN" altLang="en-US" sz="4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（全国营业中）</a:t>
                      </a:r>
                      <a:endParaRPr lang="zh-CN" altLang="en-US" sz="600" b="1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lang="zh-CN" altLang="en-US" sz="6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资产规模</a:t>
                      </a:r>
                      <a:endParaRPr lang="en-US" altLang="zh-CN" sz="600" b="1" i="0" u="none" strike="noStrike" kern="1200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  <a:cs typeface="+mn-cs"/>
                      </a:endParaRPr>
                    </a:p>
                    <a:p>
                      <a:pPr marL="0" algn="ctr" defTabSz="685800" rtl="0" eaLnBrk="1" fontAlgn="ctr" latinLnBrk="0" hangingPunct="1"/>
                      <a:r>
                        <a:rPr lang="zh-CN" altLang="en-US" sz="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（全国营业中）</a:t>
                      </a:r>
                      <a:endParaRPr lang="zh-CN" altLang="en-US" sz="600" b="1" i="0" u="none" strike="noStrike" kern="1200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  <a:cs typeface="+mn-cs"/>
                      </a:endParaRP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美团人气榜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3C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美团好评榜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3C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点评必吃榜*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CE4D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点评热门榜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CE4D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点评好评榜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CE4D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点评销量榜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CE4D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打卡人气榜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CE4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9692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门店信息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前台品类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美团和点评各自一套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只用美团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只用美团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只用点评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只用点评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只用点评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只用点评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只用点评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896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后台品类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一致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×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×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？？</a:t>
                      </a:r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×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×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×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×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9692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基本信息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一致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美团</a:t>
                      </a:r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+</a:t>
                      </a:r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点评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美团</a:t>
                      </a:r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+</a:t>
                      </a:r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点评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√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美团</a:t>
                      </a:r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+</a:t>
                      </a:r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点评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美团</a:t>
                      </a:r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+</a:t>
                      </a:r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点评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美团</a:t>
                      </a:r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+</a:t>
                      </a:r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点评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美团</a:t>
                      </a:r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+</a:t>
                      </a:r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点评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896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商家标签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部分一致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×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×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0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？？</a:t>
                      </a:r>
                      <a:endParaRPr lang="zh-CN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×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×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×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×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333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交易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产生核销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前台展示一致（开店宝后台可分开）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美团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+</a:t>
                      </a:r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点评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×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？？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×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×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只用点评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×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333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流量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意向</a:t>
                      </a: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UV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本异地流量美团和点评各自一套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×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×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？？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只用点评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×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×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只用点评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969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供给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套代买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一致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 dirty="0">
                          <a:solidFill>
                            <a:srgbClr val="C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26.80%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 dirty="0">
                          <a:solidFill>
                            <a:srgbClr val="C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3,279,520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美团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+</a:t>
                      </a:r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点评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只用美团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×</a:t>
                      </a:r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×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×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只用点评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×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39896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服务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排队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一致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>
                          <a:solidFill>
                            <a:srgbClr val="C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0.82%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 dirty="0">
                          <a:solidFill>
                            <a:srgbClr val="C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100,334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×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×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×</a:t>
                      </a:r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×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×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×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×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39896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预订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一致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 dirty="0">
                          <a:solidFill>
                            <a:srgbClr val="C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8.62%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 dirty="0">
                          <a:solidFill>
                            <a:srgbClr val="C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1,055,012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×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×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×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×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×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×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×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9692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智能点餐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一致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 dirty="0">
                          <a:solidFill>
                            <a:srgbClr val="C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0.09%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 dirty="0">
                          <a:solidFill>
                            <a:srgbClr val="C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10,596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美团</a:t>
                      </a:r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+</a:t>
                      </a:r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点评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×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×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×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×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只用点评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×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9692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评价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评价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已打通，但召排逻辑不一致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 dirty="0">
                          <a:solidFill>
                            <a:srgbClr val="C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41%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 dirty="0">
                          <a:solidFill>
                            <a:srgbClr val="C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5,028,246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×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美团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+</a:t>
                      </a:r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点评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√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只用点评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只用点评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只用点评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只用点评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16972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星级评分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美团和点评各自一套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C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mt：41.75%</a:t>
                      </a:r>
                      <a:br>
                        <a:rPr lang="en-US" sz="600" b="0" i="0" u="none" strike="noStrike" dirty="0">
                          <a:solidFill>
                            <a:srgbClr val="C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sz="600" b="0" i="0" u="none" strike="noStrike" dirty="0">
                          <a:solidFill>
                            <a:srgbClr val="C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dp：35.72%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600" b="0" i="0" u="none" strike="noStrike" dirty="0">
                          <a:solidFill>
                            <a:srgbClr val="C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mt：5,108,351</a:t>
                      </a:r>
                      <a:br>
                        <a:rPr lang="en-US" altLang="zh-CN" sz="600" b="0" i="0" u="none" strike="noStrike" dirty="0">
                          <a:solidFill>
                            <a:srgbClr val="C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600" b="0" i="0" u="none" strike="noStrike" dirty="0">
                          <a:solidFill>
                            <a:srgbClr val="C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dp：4,370,574</a:t>
                      </a:r>
                      <a:endParaRPr lang="en-US" sz="600" b="0" i="0" u="none" strike="noStrike" dirty="0">
                        <a:solidFill>
                          <a:srgbClr val="C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只用美团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只用美团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√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只用点评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只用点评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只用点评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只用点评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39896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菜品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菜品信息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一致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×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×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？？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×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×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×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×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39896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商家招牌菜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一致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×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×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？？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×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×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×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×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09692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网友推荐菜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美团和点评各自一套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×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×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？？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×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×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×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×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416972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互动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收藏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美团和点评各自一套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C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mt :40.29%</a:t>
                      </a:r>
                      <a:br>
                        <a:rPr lang="en-US" sz="600" b="0" i="0" u="none" strike="noStrike" dirty="0">
                          <a:solidFill>
                            <a:srgbClr val="C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sz="600" b="0" i="0" u="none" strike="noStrike" dirty="0" err="1">
                          <a:solidFill>
                            <a:srgbClr val="C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dp</a:t>
                      </a:r>
                      <a:r>
                        <a:rPr lang="en-US" sz="600" b="0" i="0" u="none" strike="noStrike" dirty="0">
                          <a:solidFill>
                            <a:srgbClr val="C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: 26.68%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600" b="0" i="0" u="none" strike="noStrike" dirty="0">
                          <a:solidFill>
                            <a:srgbClr val="C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mt：4,930,265</a:t>
                      </a:r>
                      <a:br>
                        <a:rPr lang="en-US" altLang="zh-CN" sz="600" b="0" i="0" u="none" strike="noStrike" dirty="0">
                          <a:solidFill>
                            <a:srgbClr val="C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600" b="0" i="0" u="none" strike="noStrike" dirty="0" err="1">
                          <a:solidFill>
                            <a:srgbClr val="C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dp</a:t>
                      </a:r>
                      <a:r>
                        <a:rPr lang="en-US" altLang="zh-CN" sz="600" b="0" i="0" u="none" strike="noStrike" dirty="0">
                          <a:solidFill>
                            <a:srgbClr val="C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：</a:t>
                      </a:r>
                    </a:p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600" b="0" i="0" u="none" strike="noStrike" dirty="0">
                          <a:solidFill>
                            <a:srgbClr val="C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3,264,862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×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×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？？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×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×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×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×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09692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打卡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美团无打卡，点评自己一套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C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dp：33.88%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600" b="0" i="0" u="none" strike="noStrike" dirty="0" err="1">
                          <a:solidFill>
                            <a:srgbClr val="C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dp</a:t>
                      </a:r>
                      <a:r>
                        <a:rPr lang="en-US" altLang="zh-CN" sz="600" b="0" i="0" u="none" strike="noStrike" dirty="0">
                          <a:solidFill>
                            <a:srgbClr val="C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：</a:t>
                      </a:r>
                    </a:p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600" b="0" i="0" u="none" strike="noStrike" dirty="0">
                          <a:solidFill>
                            <a:srgbClr val="C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4,123,149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×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×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？？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×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×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×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只用点评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416972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分享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美团和点评各自一套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C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mt : 2.57%</a:t>
                      </a:r>
                      <a:br>
                        <a:rPr lang="en-US" sz="600" b="0" i="0" u="none" strike="noStrike" dirty="0">
                          <a:solidFill>
                            <a:srgbClr val="C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sz="600" b="0" i="0" u="none" strike="noStrike" dirty="0" err="1">
                          <a:solidFill>
                            <a:srgbClr val="C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dp</a:t>
                      </a:r>
                      <a:r>
                        <a:rPr lang="en-US" sz="600" b="0" i="0" u="none" strike="noStrike" dirty="0">
                          <a:solidFill>
                            <a:srgbClr val="C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: 2.12%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600" b="0" i="0" u="none" strike="noStrike" dirty="0">
                          <a:solidFill>
                            <a:srgbClr val="C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mt：</a:t>
                      </a:r>
                    </a:p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600" b="0" i="0" u="none" strike="noStrike" dirty="0">
                          <a:solidFill>
                            <a:srgbClr val="C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314,734</a:t>
                      </a:r>
                      <a:br>
                        <a:rPr lang="en-US" altLang="zh-CN" sz="600" b="0" i="0" u="none" strike="noStrike" dirty="0">
                          <a:solidFill>
                            <a:srgbClr val="C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600" b="0" i="0" u="none" strike="noStrike" dirty="0" err="1">
                          <a:solidFill>
                            <a:srgbClr val="C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dp</a:t>
                      </a:r>
                      <a:r>
                        <a:rPr lang="en-US" altLang="zh-CN" sz="600" b="0" i="0" u="none" strike="noStrike" dirty="0">
                          <a:solidFill>
                            <a:srgbClr val="C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：</a:t>
                      </a:r>
                    </a:p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600" b="0" i="0" u="none" strike="noStrike" dirty="0">
                          <a:solidFill>
                            <a:srgbClr val="C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259,938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×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×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？？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×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×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×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×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0">
                <a:tc gridSpan="12"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*点评必吃榜涉及数据资产都是算法黑盒机密，因此仅勾选规则中明确引用的数据资产。</a:t>
                      </a:r>
                    </a:p>
                  </a:txBody>
                  <a:tcPr marL="2483" marR="2483" marT="248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429333">
                <a:tc gridSpan="12">
                  <a:txBody>
                    <a:bodyPr/>
                    <a:lstStyle/>
                    <a:p>
                      <a:pPr algn="l" fontAlgn="t"/>
                      <a:r>
                        <a:rPr lang="zh-CN" altLang="en-US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*统计周期截止</a:t>
                      </a:r>
                      <a:r>
                        <a:rPr lang="en-US" altLang="zh-C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2025/09/30</a:t>
                      </a:r>
                      <a:br>
                        <a:rPr lang="en-US" altLang="zh-C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zh-CN" altLang="en-US" sz="400" b="0" i="0" u="none" strike="noStrike" dirty="0">
                          <a:solidFill>
                            <a:srgbClr val="FF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覆盖率分母：</a:t>
                      </a:r>
                      <a:r>
                        <a:rPr lang="en-US" altLang="zh-CN" sz="400" b="0" i="0" u="none" strike="noStrike" dirty="0">
                          <a:solidFill>
                            <a:srgbClr val="FF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9/30</a:t>
                      </a:r>
                      <a:r>
                        <a:rPr lang="zh-CN" altLang="en-US" sz="400" b="0" i="0" u="none" strike="noStrike" dirty="0">
                          <a:solidFill>
                            <a:srgbClr val="FF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当天餐非海外营业中门店 约</a:t>
                      </a:r>
                      <a:r>
                        <a:rPr lang="en-US" altLang="zh-CN" sz="400" b="0" i="0" u="none" strike="noStrike" dirty="0">
                          <a:solidFill>
                            <a:srgbClr val="FF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1223</a:t>
                      </a:r>
                      <a:r>
                        <a:rPr lang="zh-CN" altLang="en-US" sz="400" b="0" i="0" u="none" strike="noStrike" dirty="0">
                          <a:solidFill>
                            <a:srgbClr val="FF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万家</a:t>
                      </a:r>
                      <a:br>
                        <a:rPr lang="zh-CN" altLang="en-US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zh-CN" altLang="en-US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预订覆盖率分子：</a:t>
                      </a:r>
                      <a:r>
                        <a:rPr lang="en-US" altLang="zh-C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FDC</a:t>
                      </a:r>
                      <a:r>
                        <a:rPr lang="zh-CN" altLang="en-US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标签表覆盖</a:t>
                      </a:r>
                      <a:r>
                        <a:rPr lang="en-US" altLang="zh-C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'</a:t>
                      </a:r>
                      <a:r>
                        <a:rPr lang="zh-CN" altLang="en-US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需要提前预订</a:t>
                      </a:r>
                      <a:r>
                        <a:rPr lang="en-US" altLang="zh-C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','</a:t>
                      </a:r>
                      <a:r>
                        <a:rPr lang="zh-CN" altLang="en-US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可预订</a:t>
                      </a:r>
                      <a:r>
                        <a:rPr lang="en-US" altLang="zh-C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','</a:t>
                      </a:r>
                      <a:r>
                        <a:rPr lang="zh-CN" altLang="en-US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提前预订</a:t>
                      </a:r>
                      <a:r>
                        <a:rPr lang="en-US" altLang="zh-C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','</a:t>
                      </a:r>
                      <a:r>
                        <a:rPr lang="zh-CN" altLang="en-US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可在线预订</a:t>
                      </a:r>
                      <a:r>
                        <a:rPr lang="en-US" altLang="zh-C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'</a:t>
                      </a:r>
                      <a:r>
                        <a:rPr lang="zh-CN" altLang="en-US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门店数</a:t>
                      </a:r>
                      <a:br>
                        <a:rPr lang="zh-CN" altLang="en-US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zh-CN" altLang="en-US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星级评分覆盖率分子：星级评分＞</a:t>
                      </a:r>
                      <a:r>
                        <a:rPr lang="en-US" altLang="zh-C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0</a:t>
                      </a:r>
                      <a:r>
                        <a:rPr lang="zh-CN" altLang="en-US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且不为</a:t>
                      </a:r>
                      <a:r>
                        <a:rPr lang="en-US" altLang="zh-C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NULL</a:t>
                      </a:r>
                      <a:r>
                        <a:rPr lang="zh-CN" altLang="en-US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的门店数</a:t>
                      </a:r>
                      <a:br>
                        <a:rPr lang="zh-CN" altLang="en-US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zh-CN" altLang="en-US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评价覆盖率分子：累计过审评价数＞</a:t>
                      </a:r>
                      <a:r>
                        <a:rPr lang="en-US" altLang="zh-C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0</a:t>
                      </a:r>
                      <a:r>
                        <a:rPr lang="zh-CN" altLang="en-US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的门店数</a:t>
                      </a:r>
                      <a:br>
                        <a:rPr lang="zh-CN" altLang="en-US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zh-CN" altLang="en-US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打卡覆盖率分子：累计打卡（签到）数＞</a:t>
                      </a:r>
                      <a:r>
                        <a:rPr lang="en-US" altLang="zh-C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0</a:t>
                      </a:r>
                      <a:r>
                        <a:rPr lang="zh-CN" altLang="en-US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的门店数</a:t>
                      </a:r>
                    </a:p>
                  </a:txBody>
                  <a:tcPr marL="2483" marR="2483" marT="2483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5940" y="378962"/>
            <a:ext cx="8584470" cy="547945"/>
          </a:xfrm>
        </p:spPr>
        <p:txBody>
          <a:bodyPr>
            <a:normAutofit/>
          </a:bodyPr>
          <a:lstStyle/>
          <a:p>
            <a:r>
              <a:rPr lang="zh-CN" altLang="en-US" dirty="0">
                <a:solidFill>
                  <a:srgbClr val="000000"/>
                </a:solidFill>
                <a:latin typeface="楷体" panose="02010609060101010101" pitchFamily="49" charset="-122"/>
              </a:rPr>
              <a:t>刷好评、星级很难维持、不确定性</a:t>
            </a:r>
            <a:endParaRPr kumimoji="1" lang="zh-CN" altLang="en-US" dirty="0">
              <a:solidFill>
                <a:srgbClr val="000000"/>
              </a:solidFill>
              <a:latin typeface="楷体" panose="02010609060101010101" pitchFamily="49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zh-CN" altLang="en-US" dirty="0"/>
              <a:t>资产建设问题</a:t>
            </a:r>
            <a:endParaRPr kumimoji="1" lang="zh-CN" altLang="en-US" dirty="0"/>
          </a:p>
        </p:txBody>
      </p:sp>
      <p:sp>
        <p:nvSpPr>
          <p:cNvPr id="14" name="文本框 13"/>
          <p:cNvSpPr txBox="1"/>
          <p:nvPr/>
        </p:nvSpPr>
        <p:spPr>
          <a:xfrm>
            <a:off x="395199" y="4029663"/>
            <a:ext cx="7291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/>
              <a:t>星级</a:t>
            </a:r>
            <a:endParaRPr lang="zh-CN" altLang="en-US" sz="1100" b="1" dirty="0"/>
          </a:p>
        </p:txBody>
      </p:sp>
      <p:grpSp>
        <p:nvGrpSpPr>
          <p:cNvPr id="20" name="组合 19"/>
          <p:cNvGrpSpPr/>
          <p:nvPr/>
        </p:nvGrpSpPr>
        <p:grpSpPr>
          <a:xfrm>
            <a:off x="1495895" y="3877636"/>
            <a:ext cx="858843" cy="886902"/>
            <a:chOff x="5261033" y="2308393"/>
            <a:chExt cx="928310" cy="926437"/>
          </a:xfrm>
        </p:grpSpPr>
        <p:sp>
          <p:nvSpPr>
            <p:cNvPr id="21" name="左中括号 20"/>
            <p:cNvSpPr/>
            <p:nvPr/>
          </p:nvSpPr>
          <p:spPr>
            <a:xfrm>
              <a:off x="5261033" y="2308393"/>
              <a:ext cx="120880" cy="792406"/>
            </a:xfrm>
            <a:prstGeom prst="leftBracket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ln w="28575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2" name="右中括号 21"/>
            <p:cNvSpPr/>
            <p:nvPr/>
          </p:nvSpPr>
          <p:spPr>
            <a:xfrm>
              <a:off x="6069680" y="2308393"/>
              <a:ext cx="119663" cy="792406"/>
            </a:xfrm>
            <a:prstGeom prst="rightBracket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ln w="28575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5374181" y="2318567"/>
              <a:ext cx="755330" cy="9162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000" b="1" dirty="0"/>
                <a:t>评价分值评价数量</a:t>
              </a:r>
              <a:endParaRPr lang="en-US" altLang="zh-CN" sz="1000" b="1" dirty="0"/>
            </a:p>
            <a:p>
              <a:pPr algn="ctr"/>
              <a:r>
                <a:rPr lang="zh-CN" altLang="en-US" sz="1000" b="1" dirty="0"/>
                <a:t>评价时间</a:t>
              </a:r>
              <a:endParaRPr lang="en-US" altLang="zh-CN" sz="1000" b="1" dirty="0"/>
            </a:p>
            <a:p>
              <a:pPr algn="ctr"/>
              <a:r>
                <a:rPr lang="zh-CN" altLang="en-US" sz="1000" b="1" dirty="0"/>
                <a:t>评价长度</a:t>
              </a:r>
              <a:endParaRPr lang="en-US" altLang="zh-CN" sz="1000" b="1" dirty="0"/>
            </a:p>
            <a:p>
              <a:pPr algn="ctr"/>
              <a:r>
                <a:rPr lang="en-US" altLang="zh-CN" sz="1100" b="1" dirty="0"/>
                <a:t>……</a:t>
              </a:r>
              <a:endParaRPr lang="zh-CN" altLang="en-US" sz="1100" b="1" dirty="0"/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3119107" y="3877634"/>
            <a:ext cx="858843" cy="758590"/>
            <a:chOff x="5261033" y="2308393"/>
            <a:chExt cx="928310" cy="792406"/>
          </a:xfrm>
        </p:grpSpPr>
        <p:sp>
          <p:nvSpPr>
            <p:cNvPr id="25" name="左中括号 24"/>
            <p:cNvSpPr/>
            <p:nvPr/>
          </p:nvSpPr>
          <p:spPr>
            <a:xfrm>
              <a:off x="5261033" y="2308393"/>
              <a:ext cx="120880" cy="792406"/>
            </a:xfrm>
            <a:prstGeom prst="leftBracket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ln w="28575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6" name="右中括号 25"/>
            <p:cNvSpPr/>
            <p:nvPr/>
          </p:nvSpPr>
          <p:spPr>
            <a:xfrm>
              <a:off x="6069680" y="2308393"/>
              <a:ext cx="119663" cy="792406"/>
            </a:xfrm>
            <a:prstGeom prst="rightBracket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ln w="28575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5304181" y="2472678"/>
              <a:ext cx="846305" cy="41794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000" b="1" dirty="0"/>
                <a:t>前台城市</a:t>
              </a:r>
              <a:endParaRPr lang="en-US" altLang="zh-CN" sz="1000" b="1" dirty="0"/>
            </a:p>
            <a:p>
              <a:pPr algn="ctr"/>
              <a:r>
                <a:rPr lang="zh-CN" altLang="en-US" sz="1000" b="1" dirty="0"/>
                <a:t>后台品类</a:t>
              </a:r>
              <a:endParaRPr lang="en-US" altLang="zh-CN" sz="1000" b="1" dirty="0"/>
            </a:p>
          </p:txBody>
        </p:sp>
      </p:grpSp>
      <p:sp>
        <p:nvSpPr>
          <p:cNvPr id="30" name="乘号 62"/>
          <p:cNvSpPr/>
          <p:nvPr/>
        </p:nvSpPr>
        <p:spPr>
          <a:xfrm>
            <a:off x="2684204" y="4122760"/>
            <a:ext cx="168418" cy="224406"/>
          </a:xfrm>
          <a:prstGeom prst="mathMultiply">
            <a:avLst/>
          </a:prstGeom>
          <a:solidFill>
            <a:schemeClr val="tx1"/>
          </a:solidFill>
          <a:ln w="3175">
            <a:solidFill>
              <a:schemeClr val="tx1"/>
            </a:solidFill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74067" tIns="37031" rIns="74067" bIns="37031" rtlCol="0" anchor="ctr">
            <a:noAutofit/>
          </a:bodyPr>
          <a:lstStyle/>
          <a:p>
            <a:pPr algn="ctr" defTabSz="685800"/>
            <a:endParaRPr lang="zh-CN" altLang="en-US" sz="1460" dirty="0">
              <a:ln>
                <a:solidFill>
                  <a:schemeClr val="tx1"/>
                </a:solidFill>
              </a:ln>
              <a:solidFill>
                <a:schemeClr val="tx1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+mn-ea"/>
              <a:cs typeface="MiSans Medium" panose="00000600000000000000" pitchFamily="2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1586561" y="3739828"/>
            <a:ext cx="698807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700" b="1" dirty="0">
                <a:solidFill>
                  <a:schemeClr val="tx2"/>
                </a:solidFill>
              </a:rPr>
              <a:t>计算因子</a:t>
            </a:r>
          </a:p>
        </p:txBody>
      </p:sp>
      <p:sp>
        <p:nvSpPr>
          <p:cNvPr id="32" name="文本框 31"/>
          <p:cNvSpPr txBox="1"/>
          <p:nvPr/>
        </p:nvSpPr>
        <p:spPr>
          <a:xfrm>
            <a:off x="3201111" y="3748368"/>
            <a:ext cx="698807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700" b="1" dirty="0">
                <a:solidFill>
                  <a:schemeClr val="tx2"/>
                </a:solidFill>
              </a:rPr>
              <a:t>排序映射</a:t>
            </a:r>
          </a:p>
        </p:txBody>
      </p:sp>
      <p:sp>
        <p:nvSpPr>
          <p:cNvPr id="34" name="文本框 33"/>
          <p:cNvSpPr txBox="1"/>
          <p:nvPr/>
        </p:nvSpPr>
        <p:spPr>
          <a:xfrm>
            <a:off x="4113789" y="3962715"/>
            <a:ext cx="1057131" cy="553998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zh-CN" altLang="en-US" sz="600" b="1" i="0" u="none" strike="noStrike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美团星级计算步骤：</a:t>
            </a:r>
            <a:endParaRPr lang="en-US" altLang="zh-CN" sz="600" b="1" i="0" u="none" strike="noStrike" dirty="0">
              <a:solidFill>
                <a:srgbClr val="000000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sz="600" b="0" i="0" u="none" strike="noStrike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①商户、评论筛选</a:t>
            </a:r>
            <a:r>
              <a:rPr lang="zh-CN" altLang="en-US" sz="6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endParaRPr lang="en-US" altLang="zh-CN" sz="6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sz="600" b="0" i="0" u="none" strike="noStrike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②评论权重计算</a:t>
            </a:r>
            <a:endParaRPr lang="en-US" altLang="zh-CN" sz="600" b="0" i="0" u="none" strike="noStrike" dirty="0">
              <a:solidFill>
                <a:srgbClr val="000000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sz="600" b="0" i="0" u="none" strike="noStrike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③</a:t>
            </a:r>
            <a:r>
              <a:rPr lang="zh-CN" altLang="en-US" sz="600" dirty="0">
                <a:effectLst/>
              </a:rPr>
              <a:t>使用固定阈值</a:t>
            </a:r>
            <a:r>
              <a:rPr lang="en-US" altLang="zh-CN" sz="600" dirty="0">
                <a:effectLst/>
              </a:rPr>
              <a:t>+</a:t>
            </a:r>
            <a:r>
              <a:rPr lang="zh-CN" altLang="en-US" sz="600" dirty="0">
                <a:effectLst/>
              </a:rPr>
              <a:t>动态阈值映射到最终分数</a:t>
            </a:r>
          </a:p>
        </p:txBody>
      </p:sp>
      <p:sp>
        <p:nvSpPr>
          <p:cNvPr id="35" name="内容占位符 2"/>
          <p:cNvSpPr txBox="1"/>
          <p:nvPr/>
        </p:nvSpPr>
        <p:spPr>
          <a:xfrm>
            <a:off x="308706" y="811931"/>
            <a:ext cx="8583088" cy="2231554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normAutofit lnSpcReduction="10000"/>
          </a:bodyPr>
          <a:lstStyle>
            <a:lvl1pPr marL="171450" indent="-171450" algn="l" defTabSz="685800" rtl="0" eaLnBrk="1" latinLnBrk="0" hangingPunct="1">
              <a:lnSpc>
                <a:spcPct val="12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/>
                </a:solidFill>
                <a:latin typeface="Calibri" panose="020F0502020204030204" pitchFamily="34" charset="0"/>
                <a:ea typeface="楷体" panose="02010609060101010101" pitchFamily="49" charset="-122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12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12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12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12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kumimoji="1" lang="zh-CN" altLang="en-US" sz="1200" dirty="0"/>
              <a:t>当前星级评价规存在规则不清晰、商家刷好评、竞对刷差评等问题，导致星级波动大、难以管理，并最终影响商户上榜及排名</a:t>
            </a:r>
            <a:r>
              <a:rPr lang="zh-CN" altLang="en-US" sz="1300" b="0" i="0" dirty="0">
                <a:solidFill>
                  <a:srgbClr val="1F2328"/>
                </a:solidFill>
                <a:effectLst/>
                <a:latin typeface="PingFang SC"/>
              </a:rPr>
              <a:t>：</a:t>
            </a:r>
            <a:endParaRPr lang="en-US" altLang="zh-CN" sz="1100" b="0" i="0" dirty="0">
              <a:effectLst/>
              <a:latin typeface="PingFang SC"/>
            </a:endParaRPr>
          </a:p>
          <a:p>
            <a:pPr marL="228600" indent="-228600" algn="l">
              <a:buClr>
                <a:schemeClr val="tx1"/>
              </a:buClr>
              <a:buFont typeface="+mj-lt"/>
              <a:buAutoNum type="arabicPeriod"/>
            </a:pPr>
            <a:r>
              <a:rPr lang="zh-CN" altLang="en-US" sz="1100" b="1" dirty="0">
                <a:latin typeface="PingFang SC"/>
              </a:rPr>
              <a:t>计算因子多权重不清晰</a:t>
            </a:r>
            <a:r>
              <a:rPr lang="zh-CN" altLang="en-US" sz="1100" b="1" i="0" dirty="0">
                <a:effectLst/>
                <a:latin typeface="PingFang SC"/>
              </a:rPr>
              <a:t>：</a:t>
            </a:r>
            <a:r>
              <a:rPr lang="zh-CN" altLang="en-US" sz="1100" b="0" i="0" dirty="0">
                <a:effectLst/>
                <a:latin typeface="PingFang SC"/>
              </a:rPr>
              <a:t>星级计算综合考虑评分分值、评分数量、评分时间、评分长度等多个因素。</a:t>
            </a:r>
            <a:r>
              <a:rPr lang="zh-CN" altLang="en-US" sz="1100" b="0" i="0" dirty="0">
                <a:solidFill>
                  <a:srgbClr val="1F2328"/>
                </a:solidFill>
                <a:effectLst/>
                <a:latin typeface="PingFang SC"/>
              </a:rPr>
              <a:t>但具体权重和补救路径并不透明，让商家难以精准维护。</a:t>
            </a:r>
            <a:endParaRPr lang="en-US" altLang="zh-CN" sz="1100" b="0" i="0" dirty="0">
              <a:effectLst/>
              <a:latin typeface="PingFang SC"/>
            </a:endParaRPr>
          </a:p>
          <a:p>
            <a:pPr marL="228600" indent="-228600" algn="l">
              <a:buClr>
                <a:schemeClr val="tx1"/>
              </a:buClr>
              <a:buFont typeface="+mj-lt"/>
              <a:buAutoNum type="arabicPeriod"/>
            </a:pPr>
            <a:r>
              <a:rPr lang="zh-CN" altLang="en-US" sz="1100" b="1" i="0" dirty="0">
                <a:effectLst/>
                <a:latin typeface="PingFang SC"/>
              </a:rPr>
              <a:t>恶意</a:t>
            </a:r>
            <a:r>
              <a:rPr lang="en-US" altLang="zh-CN" sz="1100" b="1" i="0" dirty="0">
                <a:effectLst/>
                <a:latin typeface="PingFang SC"/>
              </a:rPr>
              <a:t>/</a:t>
            </a:r>
            <a:r>
              <a:rPr lang="zh-CN" altLang="en-US" sz="1100" b="1" i="0" dirty="0">
                <a:effectLst/>
                <a:latin typeface="PingFang SC"/>
              </a:rPr>
              <a:t>虚假评价干扰</a:t>
            </a:r>
            <a:r>
              <a:rPr lang="zh-CN" altLang="en-US" sz="1100" dirty="0">
                <a:latin typeface="PingFang SC"/>
              </a:rPr>
              <a:t>：</a:t>
            </a:r>
            <a:r>
              <a:rPr lang="zh-CN" altLang="en-US" sz="1100" b="0" i="0" dirty="0">
                <a:effectLst/>
                <a:latin typeface="PingFang SC"/>
              </a:rPr>
              <a:t>尽管平台设有识别机制，但依然无法完全杜绝刷好评或恶意差评，这些异常数据会直接影响整体评分公正性和可信度。</a:t>
            </a:r>
            <a:endParaRPr lang="en-US" altLang="zh-CN" sz="1100" b="0" i="0" dirty="0">
              <a:effectLst/>
              <a:latin typeface="PingFang SC"/>
            </a:endParaRPr>
          </a:p>
          <a:p>
            <a:pPr marL="228600" indent="-228600">
              <a:buClr>
                <a:schemeClr val="tx1"/>
              </a:buClr>
              <a:buFont typeface="+mj-lt"/>
              <a:buAutoNum type="arabicPeriod"/>
            </a:pPr>
            <a:r>
              <a:rPr lang="zh-CN" altLang="en-US" sz="1100" b="1" i="0" dirty="0">
                <a:solidFill>
                  <a:srgbClr val="1F2328"/>
                </a:solidFill>
                <a:effectLst/>
                <a:latin typeface="PingFang SC"/>
              </a:rPr>
              <a:t>美团星级统计门槛低：</a:t>
            </a:r>
            <a:r>
              <a:rPr lang="zh-CN" altLang="en-US" sz="1100" dirty="0">
                <a:solidFill>
                  <a:srgbClr val="1F2328"/>
                </a:solidFill>
                <a:latin typeface="PingFang SC"/>
              </a:rPr>
              <a:t>美团星级统计全部打星评价，包括无字评价，</a:t>
            </a:r>
            <a:r>
              <a:rPr lang="zh-CN" altLang="en-US" sz="1100" b="0" i="0" dirty="0">
                <a:solidFill>
                  <a:srgbClr val="1F2328"/>
                </a:solidFill>
                <a:effectLst/>
                <a:latin typeface="PingFang SC"/>
              </a:rPr>
              <a:t>大量简短无实质信息的好评容易被批量操作，从而稀释真实口碑，使得评分参考价值下降。</a:t>
            </a:r>
            <a:endParaRPr lang="en-US" altLang="zh-CN" sz="1100" b="0" i="0" dirty="0">
              <a:effectLst/>
              <a:latin typeface="PingFang SC"/>
            </a:endParaRPr>
          </a:p>
          <a:p>
            <a:pPr marL="228600" indent="-228600" algn="l">
              <a:buClr>
                <a:schemeClr val="tx1"/>
              </a:buClr>
              <a:buFont typeface="+mj-lt"/>
              <a:buAutoNum type="arabicPeriod"/>
            </a:pPr>
            <a:r>
              <a:rPr lang="zh-CN" altLang="en-US" sz="1100" b="1" i="0" dirty="0">
                <a:effectLst/>
                <a:latin typeface="PingFang SC"/>
              </a:rPr>
              <a:t>缺乏明确反馈与优化通道</a:t>
            </a:r>
            <a:r>
              <a:rPr lang="zh-CN" altLang="en-US" sz="1100" dirty="0">
                <a:latin typeface="PingFang SC"/>
              </a:rPr>
              <a:t>：</a:t>
            </a:r>
            <a:r>
              <a:rPr lang="zh-CN" altLang="en-US" sz="1100" b="0" i="0" dirty="0">
                <a:effectLst/>
                <a:latin typeface="PingFang SC"/>
              </a:rPr>
              <a:t>商户很难获知哪些具体行为能有效提升星级，也缺乏清晰的指引，进一步加深了星级评分管理的困难。</a:t>
            </a:r>
            <a:endParaRPr lang="en-US" altLang="zh-CN" sz="1100" b="0" i="0" dirty="0">
              <a:effectLst/>
              <a:latin typeface="PingFang SC"/>
            </a:endParaRPr>
          </a:p>
          <a:p>
            <a:pPr marL="228600" indent="-228600" algn="l">
              <a:buClr>
                <a:schemeClr val="tx1"/>
              </a:buClr>
              <a:buFont typeface="+mj-lt"/>
              <a:buAutoNum type="arabicPeriod"/>
            </a:pPr>
            <a:endParaRPr lang="zh-CN" altLang="en-US" sz="1100" b="0" i="0" dirty="0">
              <a:effectLst/>
              <a:latin typeface="PingFang SC"/>
            </a:endParaRPr>
          </a:p>
          <a:p>
            <a:pPr marL="0" indent="0" algn="l">
              <a:buClr>
                <a:schemeClr val="tx1"/>
              </a:buClr>
              <a:buNone/>
            </a:pPr>
            <a:endParaRPr lang="zh-CN" altLang="en-US" sz="1100" b="0" i="0" dirty="0">
              <a:effectLst/>
              <a:latin typeface="PingFang SC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kumimoji="1" lang="en-US" altLang="zh-CN" sz="1000" dirty="0"/>
          </a:p>
        </p:txBody>
      </p:sp>
      <p:sp>
        <p:nvSpPr>
          <p:cNvPr id="18" name="乘号 62"/>
          <p:cNvSpPr/>
          <p:nvPr/>
        </p:nvSpPr>
        <p:spPr>
          <a:xfrm>
            <a:off x="1123909" y="4101551"/>
            <a:ext cx="168418" cy="224406"/>
          </a:xfrm>
          <a:prstGeom prst="mathEqual">
            <a:avLst/>
          </a:prstGeom>
          <a:solidFill>
            <a:schemeClr val="tx1"/>
          </a:solidFill>
          <a:ln w="3175">
            <a:solidFill>
              <a:schemeClr val="tx1"/>
            </a:solidFill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74067" tIns="37031" rIns="74067" bIns="37031" rtlCol="0" anchor="ctr">
            <a:noAutofit/>
          </a:bodyPr>
          <a:lstStyle/>
          <a:p>
            <a:pPr algn="ctr" defTabSz="685800"/>
            <a:endParaRPr lang="zh-CN" altLang="en-US" sz="1460" dirty="0">
              <a:ln>
                <a:solidFill>
                  <a:schemeClr val="tx1"/>
                </a:solidFill>
              </a:ln>
              <a:solidFill>
                <a:schemeClr val="tx1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+mn-ea"/>
              <a:cs typeface="MiSans Medium" panose="00000600000000000000" pitchFamily="2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5697501" y="3377939"/>
            <a:ext cx="2798584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ctr"/>
            <a:r>
              <a:rPr lang="zh-CN" altLang="en-US" sz="10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星级基础规则</a:t>
            </a:r>
            <a:endParaRPr lang="en-US" altLang="zh-CN" sz="1000" b="1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l" fontAlgn="ctr"/>
            <a:r>
              <a:rPr lang="en-US" altLang="zh-CN" sz="10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·</a:t>
            </a:r>
            <a:r>
              <a:rPr lang="zh-CN" altLang="en-US" sz="1000" b="1" i="0" u="none" strike="noStrike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点评与美团的星级评分体系各自独立</a:t>
            </a:r>
            <a:r>
              <a:rPr lang="zh-CN" altLang="en-US" sz="1000" b="0" i="0" u="none" strike="noStrike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，同一家商户在两个平台的星级没有直接相关性</a:t>
            </a:r>
            <a:br>
              <a:rPr lang="zh-CN" altLang="en-US" sz="1000" b="0" i="0" u="none" strike="noStrike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</a:br>
            <a:r>
              <a:rPr lang="en-US" altLang="zh-CN" sz="1000" b="0" i="0" u="none" strike="noStrike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·</a:t>
            </a:r>
            <a:r>
              <a:rPr lang="zh-CN" altLang="en-US" sz="1000" b="1" i="0" u="none" strike="noStrike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数据源不同：美团星级统计美团和点评双平台</a:t>
            </a:r>
            <a:r>
              <a:rPr lang="zh-CN" altLang="en-US" sz="1000" b="0" i="0" u="none" strike="noStrike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的全部打星评价</a:t>
            </a:r>
            <a:r>
              <a:rPr lang="zh-CN" altLang="en-US" sz="1000" b="1" i="0" u="none" strike="noStrike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（有字</a:t>
            </a:r>
            <a:r>
              <a:rPr lang="en-US" altLang="zh-CN" sz="1000" b="1" i="0" u="none" strike="noStrike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+</a:t>
            </a:r>
            <a:r>
              <a:rPr lang="zh-CN" altLang="en-US" sz="1000" b="1" i="0" u="none" strike="noStrike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无字）</a:t>
            </a:r>
            <a:r>
              <a:rPr lang="zh-CN" altLang="en-US" sz="1000" b="0" i="0" u="none" strike="noStrike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zh-CN" altLang="en-US" sz="1000" i="0" u="none" strike="noStrike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点评星级只计算用户通过</a:t>
            </a:r>
            <a:r>
              <a:rPr lang="zh-CN" altLang="en-US" sz="1000" b="1" i="0" u="none" strike="noStrike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大众点评发表的评价</a:t>
            </a:r>
            <a:r>
              <a:rPr lang="zh-CN" altLang="en-US" sz="1000" i="0" u="none" strike="noStrike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非折叠区的全部评价</a:t>
            </a:r>
            <a:r>
              <a:rPr lang="en-US" altLang="zh-CN" sz="1000" i="0" u="none" strike="noStrike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+</a:t>
            </a:r>
            <a:r>
              <a:rPr lang="zh-CN" altLang="en-US" sz="1000" i="0" u="none" strike="noStrike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折叠区的未超过</a:t>
            </a:r>
            <a:r>
              <a:rPr lang="en-US" altLang="zh-CN" sz="1000" i="0" u="none" strike="noStrike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15</a:t>
            </a:r>
            <a:r>
              <a:rPr lang="zh-CN" altLang="en-US" sz="1000" i="0" u="none" strike="noStrike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字的真实评价。</a:t>
            </a:r>
            <a:endParaRPr lang="zh-CN" altLang="en-US" sz="1000" dirty="0"/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5940" y="378962"/>
            <a:ext cx="8584470" cy="547945"/>
          </a:xfrm>
        </p:spPr>
        <p:txBody>
          <a:bodyPr/>
          <a:lstStyle/>
          <a:p>
            <a:r>
              <a:rPr lang="zh-CN" altLang="en-US" dirty="0"/>
              <a:t>核心资产未覆盖：评价星级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zh-CN" altLang="en-US" dirty="0"/>
              <a:t>资产建设问题</a:t>
            </a:r>
            <a:endParaRPr kumimoji="1" lang="zh-CN" altLang="en-US" dirty="0"/>
          </a:p>
        </p:txBody>
      </p:sp>
      <p:sp>
        <p:nvSpPr>
          <p:cNvPr id="7" name="内容占位符 2"/>
          <p:cNvSpPr txBox="1"/>
          <p:nvPr/>
        </p:nvSpPr>
        <p:spPr>
          <a:xfrm>
            <a:off x="328406" y="-678122"/>
            <a:ext cx="8639588" cy="658812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12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/>
                </a:solidFill>
                <a:latin typeface="Calibri" panose="020F0502020204030204" pitchFamily="34" charset="0"/>
                <a:ea typeface="楷体" panose="02010609060101010101" pitchFamily="49" charset="-122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12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12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12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12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评论扽数量、分布、或不置信评论规模、数量</a:t>
            </a:r>
            <a:r>
              <a:rPr lang="en-US" altLang="zh-CN" dirty="0"/>
              <a:t>——</a:t>
            </a:r>
            <a:r>
              <a:rPr lang="zh-CN" altLang="en-US" dirty="0"/>
              <a:t>如评分分布不均区分度不大？评论数量少（商家</a:t>
            </a:r>
            <a:r>
              <a:rPr lang="en-US" altLang="zh-CN" dirty="0"/>
              <a:t>-</a:t>
            </a:r>
            <a:r>
              <a:rPr lang="zh-CN" altLang="en-US" dirty="0"/>
              <a:t>评论数量分布）、差评影响失衡（差评规模、差评率等）</a:t>
            </a:r>
            <a:r>
              <a:rPr lang="en-US" altLang="zh-CN" dirty="0"/>
              <a:t>1p</a:t>
            </a:r>
          </a:p>
          <a:p>
            <a:pPr marL="0" indent="0">
              <a:buFont typeface="Arial" panose="020B0604020202020204" pitchFamily="34" charset="0"/>
              <a:buNone/>
            </a:pPr>
            <a:endParaRPr kumimoji="1" lang="zh-CN" altLang="en-US" dirty="0"/>
          </a:p>
        </p:txBody>
      </p:sp>
      <p:sp>
        <p:nvSpPr>
          <p:cNvPr id="8" name="内容占位符 2"/>
          <p:cNvSpPr txBox="1"/>
          <p:nvPr/>
        </p:nvSpPr>
        <p:spPr>
          <a:xfrm>
            <a:off x="328405" y="885543"/>
            <a:ext cx="8608186" cy="16685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normAutofit fontScale="87500" lnSpcReduction="20000"/>
          </a:bodyPr>
          <a:lstStyle>
            <a:lvl1pPr marL="171450" indent="-171450" algn="l" defTabSz="685800" rtl="0" eaLnBrk="1" latinLnBrk="0" hangingPunct="1">
              <a:lnSpc>
                <a:spcPct val="12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/>
                </a:solidFill>
                <a:latin typeface="Calibri" panose="020F0502020204030204" pitchFamily="34" charset="0"/>
                <a:ea typeface="楷体" panose="02010609060101010101" pitchFamily="49" charset="-122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12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12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12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12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kumimoji="1" lang="zh-CN" altLang="en-US" dirty="0"/>
              <a:t>榜单在核心资产的引用上较为突出的两个资产是星级和评价：</a:t>
            </a:r>
            <a:endParaRPr kumimoji="1" lang="en-US" altLang="zh-CN" dirty="0"/>
          </a:p>
          <a:p>
            <a:pPr marL="0" indent="0">
              <a:buFont typeface="Arial" panose="020B0604020202020204" pitchFamily="34" charset="0"/>
              <a:buNone/>
            </a:pPr>
            <a:r>
              <a:rPr kumimoji="1" lang="en-US" altLang="zh-CN" dirty="0"/>
              <a:t>①</a:t>
            </a:r>
            <a:r>
              <a:rPr kumimoji="1" lang="zh-CN" altLang="en-US" dirty="0"/>
              <a:t> 评价数量为＜</a:t>
            </a:r>
            <a:r>
              <a:rPr kumimoji="1" lang="en-US" altLang="zh-CN" dirty="0"/>
              <a:t>5</a:t>
            </a:r>
            <a:r>
              <a:rPr kumimoji="1" lang="zh-CN" altLang="en-US" dirty="0"/>
              <a:t>条的门店占比到餐所有门店近</a:t>
            </a:r>
            <a:r>
              <a:rPr kumimoji="1" lang="en-US" altLang="zh-CN" dirty="0"/>
              <a:t>74%</a:t>
            </a:r>
            <a:r>
              <a:rPr kumimoji="1" lang="zh-CN" altLang="en-US" dirty="0"/>
              <a:t>，意味着超过一半的门店因为</a:t>
            </a:r>
            <a:r>
              <a:rPr kumimoji="1" lang="zh-CN" altLang="en-US" b="1" dirty="0"/>
              <a:t>评价数量不足导致无法上榜</a:t>
            </a:r>
            <a:r>
              <a:rPr kumimoji="1" lang="zh-CN" altLang="en-US" dirty="0"/>
              <a:t>（美团好评榜、点评侧所有榜单）；近</a:t>
            </a:r>
            <a:r>
              <a:rPr kumimoji="1" lang="en-US" altLang="zh-CN" dirty="0"/>
              <a:t>90</a:t>
            </a:r>
            <a:r>
              <a:rPr kumimoji="1" lang="zh-CN" altLang="en-US" dirty="0"/>
              <a:t>天新增评论数＞</a:t>
            </a:r>
            <a:r>
              <a:rPr kumimoji="1" lang="en-US" altLang="zh-CN" dirty="0"/>
              <a:t>0</a:t>
            </a:r>
            <a:r>
              <a:rPr kumimoji="1" lang="zh-CN" altLang="en-US" dirty="0"/>
              <a:t>的门店仅占到餐所有门店约</a:t>
            </a:r>
            <a:r>
              <a:rPr kumimoji="1" lang="en-US" altLang="zh-CN" dirty="0"/>
              <a:t>22%</a:t>
            </a:r>
            <a:r>
              <a:rPr kumimoji="1" lang="zh-CN" altLang="en-US" dirty="0"/>
              <a:t>，</a:t>
            </a:r>
            <a:r>
              <a:rPr kumimoji="1" lang="zh-CN" altLang="en-US" b="1" dirty="0"/>
              <a:t>新增评论数不足会导致无法上榜</a:t>
            </a:r>
            <a:r>
              <a:rPr kumimoji="1" lang="zh-CN" altLang="en-US" dirty="0"/>
              <a:t>（点评数据表、城市生活指南上榜基础门槛之一）。</a:t>
            </a:r>
            <a:endParaRPr kumimoji="1" lang="en-US" altLang="zh-CN" dirty="0"/>
          </a:p>
          <a:p>
            <a:pPr marL="0" indent="0">
              <a:buNone/>
            </a:pPr>
            <a:r>
              <a:rPr kumimoji="1" lang="en-US" altLang="zh-CN" dirty="0"/>
              <a:t>②</a:t>
            </a:r>
            <a:r>
              <a:rPr kumimoji="1" lang="zh-CN" altLang="en-US" dirty="0"/>
              <a:t>同时评价数量影响星级，导致</a:t>
            </a:r>
            <a:r>
              <a:rPr lang="zh-CN" altLang="en-US" dirty="0">
                <a:solidFill>
                  <a:srgbClr val="000000"/>
                </a:solidFill>
                <a:latin typeface="楷体" panose="02010609060101010101" pitchFamily="49" charset="-122"/>
              </a:rPr>
              <a:t>美团门店星级覆盖率仅有</a:t>
            </a:r>
            <a:r>
              <a:rPr lang="en-US" altLang="zh-CN" dirty="0">
                <a:solidFill>
                  <a:srgbClr val="000000"/>
                </a:solidFill>
                <a:latin typeface="楷体" panose="02010609060101010101" pitchFamily="49" charset="-122"/>
              </a:rPr>
              <a:t>41.75%</a:t>
            </a:r>
            <a:r>
              <a:rPr lang="zh-CN" altLang="en-US" dirty="0">
                <a:solidFill>
                  <a:srgbClr val="000000"/>
                </a:solidFill>
                <a:latin typeface="楷体" panose="02010609060101010101" pitchFamily="49" charset="-122"/>
              </a:rPr>
              <a:t>，点评门店星级覆盖率更低</a:t>
            </a:r>
            <a:r>
              <a:rPr lang="en-US" altLang="zh-CN" dirty="0">
                <a:solidFill>
                  <a:srgbClr val="000000"/>
                </a:solidFill>
                <a:latin typeface="楷体" panose="02010609060101010101" pitchFamily="49" charset="-122"/>
              </a:rPr>
              <a:t>35.72%</a:t>
            </a:r>
            <a:r>
              <a:rPr lang="zh-CN" altLang="en-US" dirty="0">
                <a:solidFill>
                  <a:srgbClr val="000000"/>
                </a:solidFill>
                <a:latin typeface="楷体" panose="02010609060101010101" pitchFamily="49" charset="-122"/>
              </a:rPr>
              <a:t>；并且</a:t>
            </a:r>
            <a:r>
              <a:rPr kumimoji="1" lang="zh-CN" altLang="en-US" dirty="0"/>
              <a:t>因为上榜门店的星级底线只需要</a:t>
            </a:r>
            <a:r>
              <a:rPr kumimoji="1" lang="en-US" altLang="zh-CN" dirty="0"/>
              <a:t>≥3</a:t>
            </a:r>
            <a:r>
              <a:rPr kumimoji="1" lang="zh-CN" altLang="en-US" dirty="0"/>
              <a:t>分，但美团星级的起始分值就在</a:t>
            </a:r>
            <a:r>
              <a:rPr kumimoji="1" lang="en-US" altLang="zh-CN" dirty="0"/>
              <a:t>3</a:t>
            </a:r>
            <a:r>
              <a:rPr kumimoji="1" lang="zh-CN" altLang="en-US" dirty="0"/>
              <a:t>分，因此目前</a:t>
            </a:r>
            <a:r>
              <a:rPr kumimoji="1" lang="zh-CN" altLang="en-US" b="1" dirty="0"/>
              <a:t>星级对榜单入选门槛没有任何帮助，且不会对于榜单的排名有直接影响。</a:t>
            </a:r>
            <a:r>
              <a:rPr kumimoji="1" lang="zh-CN" altLang="en-US" sz="900" dirty="0"/>
              <a:t>（</a:t>
            </a:r>
            <a:r>
              <a:rPr lang="zh-CN" altLang="en-US" sz="900" dirty="0"/>
              <a:t>人气榜 美团星级≥</a:t>
            </a:r>
            <a:r>
              <a:rPr lang="en-US" altLang="zh-CN" sz="900" dirty="0"/>
              <a:t>3 </a:t>
            </a:r>
            <a:r>
              <a:rPr lang="zh-CN" altLang="en-US" sz="900" dirty="0"/>
              <a:t>；好评榜 美团星级≥</a:t>
            </a:r>
            <a:r>
              <a:rPr lang="en-US" altLang="zh-CN" sz="900" dirty="0"/>
              <a:t>4</a:t>
            </a:r>
            <a:r>
              <a:rPr lang="zh-CN" altLang="en-US" sz="900" dirty="0"/>
              <a:t>；热门榜、销量榜、打卡人气榜 点评星级≥</a:t>
            </a:r>
            <a:r>
              <a:rPr lang="en-US" altLang="zh-CN" sz="900" dirty="0"/>
              <a:t>3.5</a:t>
            </a:r>
            <a:r>
              <a:rPr lang="zh-CN" altLang="en-US" sz="900" dirty="0"/>
              <a:t>；好评榜 口味榜、服务榜 点评星级≥</a:t>
            </a:r>
            <a:r>
              <a:rPr lang="en-US" altLang="zh-CN" sz="900" dirty="0"/>
              <a:t>4</a:t>
            </a:r>
            <a:r>
              <a:rPr kumimoji="1" lang="zh-CN" altLang="en-US" sz="900" dirty="0"/>
              <a:t>）</a:t>
            </a:r>
            <a:endParaRPr kumimoji="1"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1817" y="2474682"/>
            <a:ext cx="3026122" cy="1832271"/>
          </a:xfrm>
          <a:prstGeom prst="rect">
            <a:avLst/>
          </a:prstGeom>
        </p:spPr>
      </p:pic>
      <p:graphicFrame>
        <p:nvGraphicFramePr>
          <p:cNvPr id="3" name="表格 2"/>
          <p:cNvGraphicFramePr/>
          <p:nvPr/>
        </p:nvGraphicFramePr>
        <p:xfrm>
          <a:off x="181109" y="2474677"/>
          <a:ext cx="5760720" cy="2116455"/>
        </p:xfrm>
        <a:graphic>
          <a:graphicData uri="http://schemas.openxmlformats.org/drawingml/2006/table">
            <a:tbl>
              <a:tblPr/>
              <a:tblGrid>
                <a:gridCol w="3568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32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95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32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25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425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44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4259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4259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4323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4386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4323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4259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78460">
                <a:tc rowSpan="4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7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营业中</a:t>
                      </a:r>
                      <a:endParaRPr lang="zh-CN" altLang="en-US" sz="700"/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EDB6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7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城市线级</a:t>
                      </a:r>
                      <a:endParaRPr lang="zh-CN" altLang="en-US" sz="700"/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F2F9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7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门店数</a:t>
                      </a:r>
                      <a:endParaRPr lang="zh-CN" altLang="en-US" sz="700"/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F2F9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7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评价数=0的门店数</a:t>
                      </a:r>
                      <a:endParaRPr lang="zh-CN" altLang="en-US" sz="700"/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F2F9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7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无评论门店数占比</a:t>
                      </a:r>
                      <a:endParaRPr lang="zh-CN" altLang="en-US" sz="700"/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F2F9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7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0＜评价的门店数</a:t>
                      </a:r>
                      <a:endParaRPr lang="zh-CN" altLang="en-US" sz="700"/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F4F2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7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评价渗透率(%)</a:t>
                      </a:r>
                      <a:endParaRPr lang="zh-CN" altLang="en-US" sz="700"/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F4F2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7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0＜评价数量＜5的门店数</a:t>
                      </a:r>
                      <a:endParaRPr lang="zh-CN" altLang="en-US" sz="700"/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3F2D9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7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0＜评价数量＜5的门店数占比</a:t>
                      </a:r>
                      <a:endParaRPr lang="zh-CN" altLang="en-US" sz="700"/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3F2D9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7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5≤评价数量的门店数</a:t>
                      </a:r>
                      <a:endParaRPr lang="zh-CN" altLang="en-US" sz="700"/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DADE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7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5≤评价数量的门店数占比</a:t>
                      </a:r>
                      <a:endParaRPr lang="zh-CN" altLang="en-US" sz="700"/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DADE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7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10≤评价数量的门店数</a:t>
                      </a:r>
                      <a:endParaRPr lang="zh-CN" altLang="en-US" sz="700"/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F2F9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7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10≤评价数量的门店数占比</a:t>
                      </a:r>
                      <a:endParaRPr lang="zh-CN" altLang="en-US" sz="700"/>
                    </a:p>
                  </a:txBody>
                  <a:tcPr marL="12700" marR="12700" marT="12700" anchor="ctr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383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全国</a:t>
                      </a:r>
                      <a:endParaRPr lang="zh-CN" altLang="en-US" sz="700"/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楷体" panose="02010609060101010101" pitchFamily="49" charset="-122"/>
                        </a:rPr>
                        <a:t>12,233,409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楷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楷体" panose="02010609060101010101" pitchFamily="49" charset="-122"/>
                        </a:rPr>
                        <a:t>7,178,117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楷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altLang="zh-CN" sz="700"/>
                        <a:t>58.7%</a:t>
                      </a:r>
                      <a:endParaRPr lang="zh-CN" altLang="en-US" sz="700"/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楷体" panose="02010609060101010101" pitchFamily="49" charset="-122"/>
                        </a:rPr>
                        <a:t>5,055,292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楷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楷体" panose="02010609060101010101" pitchFamily="49" charset="-122"/>
                        </a:rPr>
                        <a:t>41.3%</a:t>
                      </a:r>
                      <a:endParaRPr lang="zh-CN" altLang="en-US" sz="700"/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楷体" panose="02010609060101010101" pitchFamily="49" charset="-122"/>
                        </a:rPr>
                        <a:t>1,881,324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楷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楷体" panose="02010609060101010101" pitchFamily="49" charset="-122"/>
                        </a:rPr>
                        <a:t>15.4%</a:t>
                      </a:r>
                      <a:endParaRPr lang="zh-CN" altLang="en-US" sz="700"/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楷体" panose="02010609060101010101" pitchFamily="49" charset="-122"/>
                        </a:rPr>
                        <a:t>3,173,968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楷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楷体" panose="02010609060101010101" pitchFamily="49" charset="-122"/>
                        </a:rPr>
                        <a:t>25.9%</a:t>
                      </a:r>
                      <a:endParaRPr lang="zh-CN" altLang="en-US" sz="700"/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楷体" panose="02010609060101010101" pitchFamily="49" charset="-122"/>
                        </a:rPr>
                        <a:t>2,519,853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楷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楷体" panose="02010609060101010101" pitchFamily="49" charset="-122"/>
                        </a:rPr>
                        <a:t>20.6%</a:t>
                      </a:r>
                      <a:endParaRPr lang="zh-CN" altLang="en-US" sz="700"/>
                    </a:p>
                  </a:txBody>
                  <a:tcPr marL="12700" marR="12700" marT="12700" anchor="ctr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447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高线城市</a:t>
                      </a:r>
                      <a:endParaRPr lang="zh-CN" altLang="en-US" sz="700"/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楷体" panose="02010609060101010101" pitchFamily="49" charset="-122"/>
                        </a:rPr>
                        <a:t>5,812,391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楷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楷体" panose="02010609060101010101" pitchFamily="49" charset="-122"/>
                        </a:rPr>
                        <a:t>3,298,972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楷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altLang="zh-CN" sz="700"/>
                        <a:t>56.8%</a:t>
                      </a:r>
                      <a:endParaRPr lang="zh-CN" altLang="en-US" sz="700"/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楷体" panose="02010609060101010101" pitchFamily="49" charset="-122"/>
                        </a:rPr>
                        <a:t>2,513,419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楷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楷体" panose="02010609060101010101" pitchFamily="49" charset="-122"/>
                        </a:rPr>
                        <a:t>43.2%</a:t>
                      </a:r>
                      <a:endParaRPr lang="zh-CN" altLang="en-US" sz="700"/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楷体" panose="02010609060101010101" pitchFamily="49" charset="-122"/>
                        </a:rPr>
                        <a:t>750,960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楷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楷体" panose="02010609060101010101" pitchFamily="49" charset="-122"/>
                        </a:rPr>
                        <a:t>12.9%</a:t>
                      </a:r>
                      <a:endParaRPr lang="zh-CN" altLang="en-US" sz="700"/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楷体" panose="02010609060101010101" pitchFamily="49" charset="-122"/>
                        </a:rPr>
                        <a:t>1,762,459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楷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楷体" panose="02010609060101010101" pitchFamily="49" charset="-122"/>
                        </a:rPr>
                        <a:t>30.3%</a:t>
                      </a:r>
                      <a:endParaRPr lang="zh-CN" altLang="en-US" sz="700"/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楷体" panose="02010609060101010101" pitchFamily="49" charset="-122"/>
                        </a:rPr>
                        <a:t>1,459,044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楷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楷体" panose="02010609060101010101" pitchFamily="49" charset="-122"/>
                        </a:rPr>
                        <a:t>25.1%</a:t>
                      </a:r>
                      <a:endParaRPr lang="zh-CN" altLang="en-US" sz="700"/>
                    </a:p>
                  </a:txBody>
                  <a:tcPr marL="12700" marR="12700" marT="12700" anchor="ctr">
                    <a:lnL>
                      <a:noFill/>
                    </a:lnL>
                    <a:lnR cap="flat">
                      <a:noFill/>
                    </a:lnR>
                    <a:lnT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178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B cap="flat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中低线城市</a:t>
                      </a:r>
                      <a:endParaRPr lang="zh-CN" altLang="en-US" sz="700"/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楷体" panose="02010609060101010101" pitchFamily="49" charset="-122"/>
                        </a:rPr>
                        <a:t>6,421,018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楷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楷体" panose="02010609060101010101" pitchFamily="49" charset="-122"/>
                        </a:rPr>
                        <a:t>3,879,145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楷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altLang="zh-CN" sz="700"/>
                        <a:t>60.4%</a:t>
                      </a:r>
                      <a:endParaRPr lang="zh-CN" altLang="en-US" sz="700"/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楷体" panose="02010609060101010101" pitchFamily="49" charset="-122"/>
                        </a:rPr>
                        <a:t>2,541,873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楷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楷体" panose="02010609060101010101" pitchFamily="49" charset="-122"/>
                        </a:rPr>
                        <a:t>39.6%</a:t>
                      </a:r>
                      <a:endParaRPr lang="zh-CN" altLang="en-US" sz="700"/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楷体" panose="02010609060101010101" pitchFamily="49" charset="-122"/>
                        </a:rPr>
                        <a:t>1,130,364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楷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楷体" panose="02010609060101010101" pitchFamily="49" charset="-122"/>
                        </a:rPr>
                        <a:t>17.6%</a:t>
                      </a:r>
                      <a:endParaRPr lang="zh-CN" altLang="en-US" sz="700"/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楷体" panose="02010609060101010101" pitchFamily="49" charset="-122"/>
                        </a:rPr>
                        <a:t>1,411,509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楷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楷体" panose="02010609060101010101" pitchFamily="49" charset="-122"/>
                        </a:rPr>
                        <a:t>22.0%</a:t>
                      </a:r>
                      <a:endParaRPr lang="zh-CN" altLang="en-US" sz="700"/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楷体" panose="02010609060101010101" pitchFamily="49" charset="-122"/>
                        </a:rPr>
                        <a:t>1,060,809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楷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楷体" panose="02010609060101010101" pitchFamily="49" charset="-122"/>
                        </a:rPr>
                        <a:t>16.5%</a:t>
                      </a:r>
                      <a:endParaRPr lang="zh-CN" altLang="en-US" sz="700"/>
                    </a:p>
                  </a:txBody>
                  <a:tcPr marL="12700" marR="12700" marT="12700" anchor="ctr">
                    <a:lnL>
                      <a:noFill/>
                    </a:lnL>
                    <a:lnR cap="flat">
                      <a:noFill/>
                    </a:lnR>
                    <a:lnT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8460">
                <a:tc rowSpan="4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7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营业且交易在线</a:t>
                      </a:r>
                      <a:endParaRPr lang="zh-CN" altLang="en-US" sz="700"/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F4F2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7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城市线级</a:t>
                      </a:r>
                      <a:endParaRPr lang="zh-CN" altLang="en-US" sz="700"/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F2F9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7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门店数</a:t>
                      </a:r>
                      <a:endParaRPr lang="zh-CN" altLang="en-US" sz="700"/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F2F9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7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评价数=0的门店数</a:t>
                      </a:r>
                      <a:endParaRPr lang="zh-CN" altLang="en-US" sz="700"/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F2F9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7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无评论门店数占比</a:t>
                      </a:r>
                      <a:endParaRPr lang="zh-CN" altLang="en-US" sz="700"/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F2F9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7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0＜评价的门店数</a:t>
                      </a:r>
                      <a:endParaRPr lang="zh-CN" altLang="en-US" sz="700"/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F4F2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7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评价渗透率(%)＞0</a:t>
                      </a:r>
                      <a:endParaRPr lang="zh-CN" altLang="en-US" sz="700"/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F4F2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7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0＜评价数量＜5的门店数</a:t>
                      </a:r>
                      <a:endParaRPr lang="zh-CN" altLang="en-US" sz="700"/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3F2D9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7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0＜评价数量＜5的门店数占比</a:t>
                      </a:r>
                      <a:endParaRPr lang="zh-CN" altLang="en-US" sz="700"/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3F2D9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7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5≤评价数量的门店数</a:t>
                      </a:r>
                      <a:endParaRPr lang="zh-CN" altLang="en-US" sz="700"/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DADE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7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5≤评价数量的门店数占比</a:t>
                      </a:r>
                      <a:endParaRPr lang="zh-CN" altLang="en-US" sz="700"/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DADE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7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10≤评价数量的门店数</a:t>
                      </a:r>
                      <a:endParaRPr lang="zh-CN" altLang="en-US" sz="700"/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F2F9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7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10≤评价数量的门店数占比</a:t>
                      </a:r>
                      <a:endParaRPr lang="zh-CN" altLang="en-US" sz="700"/>
                    </a:p>
                  </a:txBody>
                  <a:tcPr marL="12700" marR="12700" marT="12700" anchor="ctr">
                    <a:lnL>
                      <a:noFill/>
                    </a:lnL>
                    <a:lnR cap="flat">
                      <a:noFill/>
                    </a:lnR>
                    <a:lnT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383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全国</a:t>
                      </a:r>
                      <a:endParaRPr lang="zh-CN" altLang="en-US" sz="700"/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楷体" panose="02010609060101010101" pitchFamily="49" charset="-122"/>
                        </a:rPr>
                        <a:t>3,135,574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楷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楷体" panose="02010609060101010101" pitchFamily="49" charset="-122"/>
                        </a:rPr>
                        <a:t>481,143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楷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altLang="zh-CN" sz="700"/>
                        <a:t>15.3%</a:t>
                      </a:r>
                      <a:endParaRPr lang="zh-CN" altLang="en-US" sz="700"/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楷体" panose="02010609060101010101" pitchFamily="49" charset="-122"/>
                        </a:rPr>
                        <a:t>2,654,431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楷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楷体" panose="02010609060101010101" pitchFamily="49" charset="-122"/>
                        </a:rPr>
                        <a:t>84.7%</a:t>
                      </a:r>
                      <a:endParaRPr lang="zh-CN" altLang="en-US" sz="700"/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楷体" panose="02010609060101010101" pitchFamily="49" charset="-122"/>
                        </a:rPr>
                        <a:t>569,751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楷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楷体" panose="02010609060101010101" pitchFamily="49" charset="-122"/>
                        </a:rPr>
                        <a:t>18.2%</a:t>
                      </a:r>
                      <a:endParaRPr lang="zh-CN" altLang="en-US" sz="700"/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楷体" panose="02010609060101010101" pitchFamily="49" charset="-122"/>
                        </a:rPr>
                        <a:t>2,084,680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楷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楷体" panose="02010609060101010101" pitchFamily="49" charset="-122"/>
                        </a:rPr>
                        <a:t>66.5%</a:t>
                      </a:r>
                      <a:endParaRPr lang="zh-CN" altLang="en-US" sz="700"/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楷体" panose="02010609060101010101" pitchFamily="49" charset="-122"/>
                        </a:rPr>
                        <a:t>1,802,140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楷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楷体" panose="02010609060101010101" pitchFamily="49" charset="-122"/>
                        </a:rPr>
                        <a:t>57.5%</a:t>
                      </a:r>
                      <a:endParaRPr lang="zh-CN" altLang="en-US" sz="700"/>
                    </a:p>
                  </a:txBody>
                  <a:tcPr marL="12700" marR="12700" marT="12700" anchor="ctr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383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高线城市</a:t>
                      </a:r>
                      <a:endParaRPr lang="zh-CN" altLang="en-US" sz="700"/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楷体" panose="02010609060101010101" pitchFamily="49" charset="-122"/>
                        </a:rPr>
                        <a:t>1,396,171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楷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楷体" panose="02010609060101010101" pitchFamily="49" charset="-122"/>
                        </a:rPr>
                        <a:t>134,166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楷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altLang="zh-CN" sz="700"/>
                        <a:t>9.6%</a:t>
                      </a:r>
                      <a:endParaRPr lang="zh-CN" altLang="en-US" sz="700"/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楷体" panose="02010609060101010101" pitchFamily="49" charset="-122"/>
                        </a:rPr>
                        <a:t>1,262,005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楷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楷体" panose="02010609060101010101" pitchFamily="49" charset="-122"/>
                        </a:rPr>
                        <a:t>90.4%</a:t>
                      </a:r>
                      <a:endParaRPr lang="zh-CN" altLang="en-US" sz="700"/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楷体" panose="02010609060101010101" pitchFamily="49" charset="-122"/>
                        </a:rPr>
                        <a:t>172,723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楷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楷体" panose="02010609060101010101" pitchFamily="49" charset="-122"/>
                        </a:rPr>
                        <a:t>12.4%</a:t>
                      </a:r>
                      <a:endParaRPr lang="zh-CN" altLang="en-US" sz="700"/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楷体" panose="02010609060101010101" pitchFamily="49" charset="-122"/>
                        </a:rPr>
                        <a:t>1,089,282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楷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楷体" panose="02010609060101010101" pitchFamily="49" charset="-122"/>
                        </a:rPr>
                        <a:t>78.0%</a:t>
                      </a:r>
                      <a:endParaRPr lang="zh-CN" altLang="en-US" sz="700"/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楷体" panose="02010609060101010101" pitchFamily="49" charset="-122"/>
                        </a:rPr>
                        <a:t>986,889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楷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楷体" panose="02010609060101010101" pitchFamily="49" charset="-122"/>
                        </a:rPr>
                        <a:t>70.7%</a:t>
                      </a:r>
                      <a:endParaRPr lang="zh-CN" altLang="en-US" sz="700"/>
                    </a:p>
                  </a:txBody>
                  <a:tcPr marL="12700" marR="12700" marT="12700" anchor="ctr">
                    <a:lnL>
                      <a:noFill/>
                    </a:lnL>
                    <a:lnR cap="flat">
                      <a:noFill/>
                    </a:lnR>
                    <a:lnT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178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B cap="flat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中低线城市</a:t>
                      </a:r>
                      <a:endParaRPr lang="zh-CN" altLang="en-US" sz="700"/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楷体" panose="02010609060101010101" pitchFamily="49" charset="-122"/>
                        </a:rPr>
                        <a:t>1,739,403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楷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楷体" panose="02010609060101010101" pitchFamily="49" charset="-122"/>
                        </a:rPr>
                        <a:t>346,977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楷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altLang="zh-CN" sz="700"/>
                        <a:t>19.9%</a:t>
                      </a:r>
                      <a:endParaRPr lang="zh-CN" altLang="en-US" sz="700"/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楷体" panose="02010609060101010101" pitchFamily="49" charset="-122"/>
                        </a:rPr>
                        <a:t>1,392,426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楷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楷体" panose="02010609060101010101" pitchFamily="49" charset="-122"/>
                        </a:rPr>
                        <a:t>80.1%</a:t>
                      </a:r>
                      <a:endParaRPr lang="zh-CN" altLang="en-US" sz="700"/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楷体" panose="02010609060101010101" pitchFamily="49" charset="-122"/>
                        </a:rPr>
                        <a:t>397,028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楷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楷体" panose="02010609060101010101" pitchFamily="49" charset="-122"/>
                        </a:rPr>
                        <a:t>22.8%</a:t>
                      </a:r>
                      <a:endParaRPr lang="zh-CN" altLang="en-US" sz="700"/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楷体" panose="02010609060101010101" pitchFamily="49" charset="-122"/>
                        </a:rPr>
                        <a:t>995,398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楷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楷体" panose="02010609060101010101" pitchFamily="49" charset="-122"/>
                        </a:rPr>
                        <a:t>57.2%</a:t>
                      </a:r>
                      <a:endParaRPr lang="zh-CN" altLang="en-US" sz="700"/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楷体" panose="02010609060101010101" pitchFamily="49" charset="-122"/>
                        </a:rPr>
                        <a:t>815,251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楷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楷体" panose="02010609060101010101" pitchFamily="49" charset="-122"/>
                        </a:rPr>
                        <a:t>46.9%</a:t>
                      </a:r>
                      <a:endParaRPr lang="zh-CN" altLang="en-US" sz="700" dirty="0"/>
                    </a:p>
                  </a:txBody>
                  <a:tcPr marL="12700" marR="12700" marT="12700" anchor="ctr">
                    <a:lnL>
                      <a:noFill/>
                    </a:lnL>
                    <a:lnR cap="flat">
                      <a:noFill/>
                    </a:lnR>
                    <a:lnT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品类资产</a:t>
            </a:r>
            <a:r>
              <a:rPr kumimoji="1" lang="en-US" altLang="zh-CN" dirty="0"/>
              <a:t>-</a:t>
            </a:r>
            <a:r>
              <a:rPr lang="zh-CN" altLang="en-US" dirty="0"/>
              <a:t>双平台不一致及链路复杂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23"/>
          </p:nvPr>
        </p:nvSpPr>
        <p:spPr>
          <a:xfrm>
            <a:off x="252206" y="869536"/>
            <a:ext cx="8790049" cy="7986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900" b="1" dirty="0"/>
              <a:t>品类运营的复杂度</a:t>
            </a:r>
            <a:r>
              <a:rPr lang="zh-CN" altLang="en-US" sz="900" dirty="0"/>
              <a:t>：</a:t>
            </a:r>
            <a:r>
              <a:rPr lang="en-US" altLang="zh-CN" sz="900" b="1" dirty="0"/>
              <a:t>①</a:t>
            </a:r>
            <a:r>
              <a:rPr lang="zh-CN" altLang="en-US" sz="900" b="1" dirty="0"/>
              <a:t> 影响业务多</a:t>
            </a:r>
            <a:r>
              <a:rPr lang="zh-CN" altLang="en-US" sz="900" dirty="0"/>
              <a:t>：三套品类有各自应用场景，现阶段很难整合，导致品类的“增删改”对于各个应用方会有很大影响，需提前周知所有业务尽早评估，因此</a:t>
            </a:r>
            <a:r>
              <a:rPr lang="zh-CN" altLang="en-US" sz="900" b="1" dirty="0"/>
              <a:t>品类修改的生效周期长（约一个月）</a:t>
            </a:r>
            <a:r>
              <a:rPr lang="zh-CN" altLang="en-US" sz="900" dirty="0"/>
              <a:t>；</a:t>
            </a:r>
            <a:r>
              <a:rPr lang="en-US" altLang="zh-CN" sz="900" b="1" dirty="0"/>
              <a:t>②</a:t>
            </a:r>
            <a:r>
              <a:rPr lang="zh-CN" altLang="en-US" sz="900" b="1" dirty="0"/>
              <a:t>双平台差异大</a:t>
            </a:r>
            <a:r>
              <a:rPr lang="zh-CN" altLang="en-US" sz="900" dirty="0"/>
              <a:t>：美团和点评的前台类目各有一套，因此在做品类修改时需要连同点评侧的方案一起输出，防止</a:t>
            </a:r>
            <a:r>
              <a:rPr lang="zh-CN" altLang="en-US" sz="900" b="1" dirty="0"/>
              <a:t>双平台数据和展现不一致的情况</a:t>
            </a:r>
            <a:r>
              <a:rPr lang="zh-CN" altLang="en-US" sz="900" dirty="0"/>
              <a:t>；</a:t>
            </a:r>
            <a:r>
              <a:rPr lang="en-US" altLang="zh-CN" sz="900" b="1" dirty="0"/>
              <a:t>③</a:t>
            </a:r>
            <a:r>
              <a:rPr lang="zh-CN" altLang="en-US" sz="900" b="1" dirty="0"/>
              <a:t>美团应用路径长</a:t>
            </a:r>
            <a:r>
              <a:rPr lang="zh-CN" altLang="en-US" sz="900" dirty="0"/>
              <a:t>：区别于点评，美团的后台品类到前台应用中间多了一层丛林服务，增加了映射出错、数据更新不及时的风险，</a:t>
            </a:r>
            <a:r>
              <a:rPr lang="zh-CN" altLang="en-US" sz="900" b="1" dirty="0"/>
              <a:t>问题排查链路较长、效率低</a:t>
            </a:r>
            <a:r>
              <a:rPr lang="zh-CN" altLang="en-US" sz="900" dirty="0"/>
              <a:t>。</a:t>
            </a:r>
            <a:endParaRPr lang="en-US" altLang="zh-CN" sz="90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zh-CN" altLang="en-US" dirty="0"/>
              <a:t>资产建设问题</a:t>
            </a:r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252206" y="1616111"/>
          <a:ext cx="4319794" cy="3246498"/>
        </p:xfrm>
        <a:graphic>
          <a:graphicData uri="http://schemas.openxmlformats.org/drawingml/2006/table">
            <a:tbl>
              <a:tblPr/>
              <a:tblGrid>
                <a:gridCol w="8036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66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31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63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3033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zh-CN" altLang="en-US" sz="800" b="1" dirty="0">
                          <a:effectLst/>
                        </a:rPr>
                        <a:t>三套品类</a:t>
                      </a:r>
                    </a:p>
                  </a:txBody>
                  <a:tcPr marL="46945" marR="46945" marT="5868" marB="5868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zh-CN" altLang="en-US" sz="800" b="1" dirty="0">
                          <a:effectLst/>
                        </a:rPr>
                        <a:t>后台品类</a:t>
                      </a:r>
                    </a:p>
                  </a:txBody>
                  <a:tcPr marL="46945" marR="46945" marT="5868" marB="5868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zh-CN" altLang="en-US" sz="800" b="1" dirty="0">
                          <a:effectLst/>
                        </a:rPr>
                        <a:t>经营品类</a:t>
                      </a:r>
                    </a:p>
                  </a:txBody>
                  <a:tcPr marL="46945" marR="46945" marT="5868" marB="5868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zh-CN" altLang="en-US" sz="800" b="1" dirty="0">
                          <a:effectLst/>
                        </a:rPr>
                        <a:t>前台品类</a:t>
                      </a:r>
                    </a:p>
                  </a:txBody>
                  <a:tcPr marL="46945" marR="46945" marT="5868" marB="5868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0089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zh-CN" altLang="en-US" sz="800" b="1" dirty="0">
                          <a:effectLst/>
                        </a:rPr>
                        <a:t>品类应用</a:t>
                      </a:r>
                    </a:p>
                  </a:txBody>
                  <a:tcPr marL="46945" marR="46945" marT="5868" marB="5868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zh-CN" altLang="en-US" sz="800" u="sng" dirty="0">
                          <a:effectLst/>
                        </a:rPr>
                        <a:t>服务商户的品类理解。</a:t>
                      </a:r>
                      <a:endParaRPr lang="zh-CN" altLang="en-US" sz="800" dirty="0">
                        <a:effectLst/>
                      </a:endParaRPr>
                    </a:p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zh-CN" altLang="en-US" sz="800" dirty="0">
                          <a:effectLst/>
                        </a:rPr>
                        <a:t>影响品类佣金费率。</a:t>
                      </a:r>
                    </a:p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zh-CN" altLang="en-US" sz="800" dirty="0">
                          <a:effectLst/>
                        </a:rPr>
                        <a:t>影响经营品类和前台品类的生产。当前后台品类树每</a:t>
                      </a:r>
                      <a:r>
                        <a:rPr lang="en-US" altLang="zh-CN" sz="800" dirty="0">
                          <a:effectLst/>
                        </a:rPr>
                        <a:t>2000-3000</a:t>
                      </a:r>
                      <a:r>
                        <a:rPr lang="zh-CN" altLang="en-US" sz="800" dirty="0">
                          <a:effectLst/>
                        </a:rPr>
                        <a:t>个接口调用。</a:t>
                      </a:r>
                    </a:p>
                  </a:txBody>
                  <a:tcPr marL="46945" marR="46945" marT="5868" marB="5868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zh-CN" altLang="en-US" sz="800" u="sng" dirty="0">
                          <a:effectLst/>
                        </a:rPr>
                        <a:t>服务经营分析、竞争策略和资源投入</a:t>
                      </a:r>
                      <a:endParaRPr lang="zh-CN" altLang="en-US" sz="800" dirty="0">
                        <a:effectLst/>
                      </a:endParaRPr>
                    </a:p>
                  </a:txBody>
                  <a:tcPr marL="46945" marR="46945" marT="5868" marB="5868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zh-CN" altLang="en-US" sz="800" u="sng" dirty="0">
                          <a:effectLst/>
                        </a:rPr>
                        <a:t>服务用户品类理解</a:t>
                      </a:r>
                      <a:endParaRPr lang="zh-CN" altLang="en-US" sz="800" dirty="0">
                        <a:effectLst/>
                      </a:endParaRPr>
                    </a:p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zh-CN" altLang="en-US" sz="800" dirty="0">
                          <a:effectLst/>
                        </a:rPr>
                        <a:t>包括品类筛选、品类榜单、品类搜索</a:t>
                      </a:r>
                    </a:p>
                  </a:txBody>
                  <a:tcPr marL="46945" marR="46945" marT="5868" marB="5868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1093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zh-CN" altLang="en-US" sz="800" b="1" dirty="0">
                          <a:effectLst/>
                        </a:rPr>
                        <a:t>品类树维护</a:t>
                      </a:r>
                    </a:p>
                  </a:txBody>
                  <a:tcPr marL="46945" marR="46945" marT="5868" marB="5868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GB" sz="800" dirty="0">
                          <a:effectLst/>
                        </a:rPr>
                        <a:t>PDC</a:t>
                      </a:r>
                      <a:r>
                        <a:rPr lang="zh-CN" altLang="en-US" sz="800" dirty="0">
                          <a:effectLst/>
                        </a:rPr>
                        <a:t>维护品类树。当前的树自</a:t>
                      </a:r>
                      <a:r>
                        <a:rPr lang="en-US" altLang="zh-CN" sz="800" dirty="0">
                          <a:effectLst/>
                        </a:rPr>
                        <a:t>2015</a:t>
                      </a:r>
                      <a:r>
                        <a:rPr lang="zh-CN" altLang="en-US" sz="800" dirty="0">
                          <a:effectLst/>
                        </a:rPr>
                        <a:t>年起形成后迭代变化小。</a:t>
                      </a:r>
                    </a:p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zh-CN" altLang="en-US" sz="800" dirty="0">
                          <a:effectLst/>
                        </a:rPr>
                        <a:t>通过机审</a:t>
                      </a:r>
                      <a:r>
                        <a:rPr lang="en-US" altLang="zh-CN" sz="800" dirty="0">
                          <a:effectLst/>
                        </a:rPr>
                        <a:t>+</a:t>
                      </a:r>
                      <a:r>
                        <a:rPr lang="zh-CN" altLang="en-US" sz="800" dirty="0">
                          <a:effectLst/>
                        </a:rPr>
                        <a:t>人工审核方式，对商户</a:t>
                      </a:r>
                      <a:r>
                        <a:rPr lang="en-US" altLang="zh-CN" sz="800" dirty="0">
                          <a:effectLst/>
                        </a:rPr>
                        <a:t>/</a:t>
                      </a:r>
                      <a:r>
                        <a:rPr lang="zh-CN" altLang="en-US" sz="800" dirty="0">
                          <a:effectLst/>
                        </a:rPr>
                        <a:t>销售提报的品类进行审核。</a:t>
                      </a:r>
                    </a:p>
                  </a:txBody>
                  <a:tcPr marL="46945" marR="46945" marT="5868" marB="5868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zh-CN" altLang="en-US" sz="800" dirty="0">
                          <a:effectLst/>
                        </a:rPr>
                        <a:t>到餐商分</a:t>
                      </a:r>
                    </a:p>
                  </a:txBody>
                  <a:tcPr marL="46945" marR="46945" marT="5868" marB="5868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GB" sz="800">
                          <a:effectLst/>
                        </a:rPr>
                        <a:t>PDC</a:t>
                      </a:r>
                      <a:r>
                        <a:rPr lang="zh-CN" altLang="en-US" sz="800">
                          <a:effectLst/>
                        </a:rPr>
                        <a:t>维护前台品类树，</a:t>
                      </a:r>
                      <a:r>
                        <a:rPr lang="en-GB" sz="800">
                          <a:effectLst/>
                        </a:rPr>
                        <a:t>C</a:t>
                      </a:r>
                      <a:r>
                        <a:rPr lang="zh-CN" altLang="en-US" sz="800">
                          <a:effectLst/>
                        </a:rPr>
                        <a:t>端产品加工应用</a:t>
                      </a:r>
                    </a:p>
                  </a:txBody>
                  <a:tcPr marL="46945" marR="46945" marT="5868" marB="5868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744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zh-CN" altLang="en-US" sz="800" b="1" dirty="0">
                          <a:effectLst/>
                        </a:rPr>
                        <a:t>生产方式</a:t>
                      </a:r>
                    </a:p>
                  </a:txBody>
                  <a:tcPr marL="46945" marR="46945" marT="5868" marB="5868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zh-CN" altLang="en-US" sz="800" dirty="0">
                          <a:effectLst/>
                        </a:rPr>
                        <a:t>商户</a:t>
                      </a:r>
                      <a:r>
                        <a:rPr lang="en-US" altLang="zh-CN" sz="800" dirty="0">
                          <a:effectLst/>
                        </a:rPr>
                        <a:t>/</a:t>
                      </a:r>
                      <a:r>
                        <a:rPr lang="zh-CN" altLang="en-US" sz="800" dirty="0">
                          <a:effectLst/>
                        </a:rPr>
                        <a:t>销售根据</a:t>
                      </a:r>
                      <a:r>
                        <a:rPr lang="en-GB" sz="800" dirty="0">
                          <a:effectLst/>
                        </a:rPr>
                        <a:t>PDC</a:t>
                      </a:r>
                      <a:r>
                        <a:rPr lang="zh-CN" altLang="en-US" sz="800" dirty="0">
                          <a:effectLst/>
                        </a:rPr>
                        <a:t>维护的品类树进行选择</a:t>
                      </a:r>
                    </a:p>
                  </a:txBody>
                  <a:tcPr marL="46945" marR="46945" marT="5868" marB="5868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zh-CN" altLang="en-US" sz="800" dirty="0">
                          <a:effectLst/>
                        </a:rPr>
                        <a:t>对后台品类重新归类映射得到</a:t>
                      </a:r>
                    </a:p>
                  </a:txBody>
                  <a:tcPr marL="46945" marR="46945" marT="5868" marB="5868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GB" sz="800" dirty="0">
                          <a:effectLst/>
                        </a:rPr>
                        <a:t>PDC</a:t>
                      </a:r>
                      <a:r>
                        <a:rPr lang="zh-CN" altLang="en-US" sz="800" dirty="0">
                          <a:effectLst/>
                        </a:rPr>
                        <a:t>根据后台品类映射得到</a:t>
                      </a:r>
                    </a:p>
                  </a:txBody>
                  <a:tcPr marL="46945" marR="46945" marT="5868" marB="5868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744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zh-CN" altLang="en-US" sz="800" b="1" dirty="0">
                          <a:effectLst/>
                        </a:rPr>
                        <a:t>举例</a:t>
                      </a:r>
                    </a:p>
                  </a:txBody>
                  <a:tcPr marL="46945" marR="46945" marT="5868" marB="5868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dirty="0">
                          <a:effectLst/>
                        </a:rPr>
                        <a:t>“辣家私厨</a:t>
                      </a:r>
                      <a:r>
                        <a:rPr lang="en-US" altLang="zh-CN" sz="800" dirty="0">
                          <a:effectLst/>
                        </a:rPr>
                        <a:t>·</a:t>
                      </a:r>
                      <a:r>
                        <a:rPr lang="zh-CN" altLang="en-US" sz="800" dirty="0">
                          <a:effectLst/>
                        </a:rPr>
                        <a:t>小龙虾</a:t>
                      </a:r>
                      <a:r>
                        <a:rPr lang="en-US" altLang="zh-CN" sz="800" dirty="0">
                          <a:effectLst/>
                        </a:rPr>
                        <a:t>·</a:t>
                      </a:r>
                      <a:r>
                        <a:rPr lang="zh-CN" altLang="en-US" sz="800" dirty="0">
                          <a:effectLst/>
                        </a:rPr>
                        <a:t>川菜</a:t>
                      </a:r>
                      <a:r>
                        <a:rPr lang="en-US" altLang="zh-CN" sz="800" dirty="0">
                          <a:effectLst/>
                        </a:rPr>
                        <a:t>·</a:t>
                      </a:r>
                      <a:r>
                        <a:rPr lang="zh-CN" altLang="en-US" sz="800" dirty="0">
                          <a:effectLst/>
                        </a:rPr>
                        <a:t>烧烤”后台品类：</a:t>
                      </a:r>
                      <a:r>
                        <a:rPr lang="en-US" altLang="zh-CN" sz="800" dirty="0">
                          <a:effectLst/>
                        </a:rPr>
                        <a:t>[</a:t>
                      </a:r>
                      <a:r>
                        <a:rPr lang="zh-CN" altLang="en-US" sz="800" dirty="0">
                          <a:effectLst/>
                        </a:rPr>
                        <a:t>主</a:t>
                      </a:r>
                      <a:r>
                        <a:rPr lang="en-US" altLang="zh-CN" sz="800" dirty="0">
                          <a:effectLst/>
                        </a:rPr>
                        <a:t>] </a:t>
                      </a:r>
                      <a:r>
                        <a:rPr lang="zh-CN" altLang="en-US" sz="800" dirty="0">
                          <a:effectLst/>
                        </a:rPr>
                        <a:t>小吃快餐</a:t>
                      </a:r>
                      <a:r>
                        <a:rPr lang="en-US" altLang="zh-CN" sz="800" dirty="0">
                          <a:effectLst/>
                        </a:rPr>
                        <a:t>-</a:t>
                      </a:r>
                      <a:r>
                        <a:rPr lang="zh-CN" altLang="en-US" sz="800" dirty="0">
                          <a:effectLst/>
                        </a:rPr>
                        <a:t>小龙虾，</a:t>
                      </a:r>
                    </a:p>
                    <a:p>
                      <a:r>
                        <a:rPr lang="en-US" altLang="zh-CN" sz="800" dirty="0">
                          <a:effectLst/>
                        </a:rPr>
                        <a:t>[</a:t>
                      </a:r>
                      <a:r>
                        <a:rPr lang="zh-CN" altLang="en-US" sz="800" dirty="0">
                          <a:effectLst/>
                        </a:rPr>
                        <a:t>次</a:t>
                      </a:r>
                      <a:r>
                        <a:rPr lang="en-US" altLang="zh-CN" sz="800" dirty="0">
                          <a:effectLst/>
                        </a:rPr>
                        <a:t>] </a:t>
                      </a:r>
                      <a:r>
                        <a:rPr lang="zh-CN" altLang="en-US" sz="800" dirty="0">
                          <a:effectLst/>
                        </a:rPr>
                        <a:t>烧烤</a:t>
                      </a:r>
                      <a:r>
                        <a:rPr lang="en-US" altLang="zh-CN" sz="800" dirty="0">
                          <a:effectLst/>
                        </a:rPr>
                        <a:t>-</a:t>
                      </a:r>
                      <a:r>
                        <a:rPr lang="zh-CN" altLang="en-US" sz="800" dirty="0">
                          <a:effectLst/>
                        </a:rPr>
                        <a:t>烤串，</a:t>
                      </a:r>
                      <a:r>
                        <a:rPr lang="en-US" altLang="zh-CN" sz="800" dirty="0">
                          <a:effectLst/>
                        </a:rPr>
                        <a:t>[</a:t>
                      </a:r>
                      <a:r>
                        <a:rPr lang="zh-CN" altLang="en-US" sz="800" dirty="0">
                          <a:effectLst/>
                        </a:rPr>
                        <a:t>次</a:t>
                      </a:r>
                      <a:r>
                        <a:rPr lang="en-US" altLang="zh-CN" sz="800" dirty="0">
                          <a:effectLst/>
                        </a:rPr>
                        <a:t>] </a:t>
                      </a:r>
                      <a:r>
                        <a:rPr lang="zh-CN" altLang="en-US" sz="800" dirty="0">
                          <a:effectLst/>
                        </a:rPr>
                        <a:t>川菜</a:t>
                      </a:r>
                      <a:r>
                        <a:rPr lang="en-US" altLang="zh-CN" sz="800" dirty="0">
                          <a:effectLst/>
                        </a:rPr>
                        <a:t>-</a:t>
                      </a:r>
                      <a:r>
                        <a:rPr lang="zh-CN" altLang="en-US" sz="800" dirty="0">
                          <a:effectLst/>
                        </a:rPr>
                        <a:t>川菜馆</a:t>
                      </a:r>
                    </a:p>
                  </a:txBody>
                  <a:tcPr marL="46945" marR="46945" marT="5868" marB="5868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dirty="0">
                          <a:effectLst/>
                        </a:rPr>
                        <a:t>“辣家私厨</a:t>
                      </a:r>
                      <a:r>
                        <a:rPr lang="en-US" altLang="zh-CN" sz="800" dirty="0">
                          <a:effectLst/>
                        </a:rPr>
                        <a:t>·</a:t>
                      </a:r>
                      <a:r>
                        <a:rPr lang="zh-CN" altLang="en-US" sz="800" dirty="0">
                          <a:effectLst/>
                        </a:rPr>
                        <a:t>小龙虾</a:t>
                      </a:r>
                      <a:r>
                        <a:rPr lang="en-US" altLang="zh-CN" sz="800" dirty="0">
                          <a:effectLst/>
                        </a:rPr>
                        <a:t>·</a:t>
                      </a:r>
                      <a:r>
                        <a:rPr lang="zh-CN" altLang="en-US" sz="800" dirty="0">
                          <a:effectLst/>
                        </a:rPr>
                        <a:t>川菜</a:t>
                      </a:r>
                      <a:r>
                        <a:rPr lang="en-US" altLang="zh-CN" sz="800" dirty="0">
                          <a:effectLst/>
                        </a:rPr>
                        <a:t>·</a:t>
                      </a:r>
                      <a:r>
                        <a:rPr lang="zh-CN" altLang="en-US" sz="800" dirty="0">
                          <a:effectLst/>
                        </a:rPr>
                        <a:t>烧烤”经营品类：类标品</a:t>
                      </a:r>
                      <a:r>
                        <a:rPr lang="en-US" altLang="zh-CN" sz="800" dirty="0">
                          <a:effectLst/>
                        </a:rPr>
                        <a:t>-</a:t>
                      </a:r>
                      <a:r>
                        <a:rPr lang="zh-CN" altLang="en-US" sz="800" dirty="0">
                          <a:effectLst/>
                        </a:rPr>
                        <a:t>地方菜</a:t>
                      </a:r>
                    </a:p>
                  </a:txBody>
                  <a:tcPr marL="46945" marR="46945" marT="5868" marB="5868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dirty="0">
                          <a:effectLst/>
                        </a:rPr>
                        <a:t>“辣家私厨</a:t>
                      </a:r>
                      <a:r>
                        <a:rPr lang="en-US" altLang="zh-CN" sz="800" dirty="0">
                          <a:effectLst/>
                        </a:rPr>
                        <a:t>·</a:t>
                      </a:r>
                      <a:r>
                        <a:rPr lang="zh-CN" altLang="en-US" sz="800" dirty="0">
                          <a:effectLst/>
                        </a:rPr>
                        <a:t>小龙虾</a:t>
                      </a:r>
                      <a:r>
                        <a:rPr lang="en-US" altLang="zh-CN" sz="800" dirty="0">
                          <a:effectLst/>
                        </a:rPr>
                        <a:t>·</a:t>
                      </a:r>
                      <a:r>
                        <a:rPr lang="zh-CN" altLang="en-US" sz="800" dirty="0">
                          <a:effectLst/>
                        </a:rPr>
                        <a:t>川菜</a:t>
                      </a:r>
                      <a:r>
                        <a:rPr lang="en-US" altLang="zh-CN" sz="800" dirty="0">
                          <a:effectLst/>
                        </a:rPr>
                        <a:t>·</a:t>
                      </a:r>
                      <a:r>
                        <a:rPr lang="zh-CN" altLang="en-US" sz="800" dirty="0">
                          <a:effectLst/>
                        </a:rPr>
                        <a:t>烧烤”对应前台品类：</a:t>
                      </a:r>
                      <a:r>
                        <a:rPr lang="en-US" altLang="zh-CN" sz="800" dirty="0">
                          <a:effectLst/>
                        </a:rPr>
                        <a:t>[</a:t>
                      </a:r>
                      <a:r>
                        <a:rPr lang="zh-CN" altLang="en-US" sz="800" dirty="0">
                          <a:effectLst/>
                        </a:rPr>
                        <a:t>主</a:t>
                      </a:r>
                      <a:r>
                        <a:rPr lang="en-US" altLang="zh-CN" sz="800" dirty="0">
                          <a:effectLst/>
                        </a:rPr>
                        <a:t>] </a:t>
                      </a:r>
                      <a:r>
                        <a:rPr lang="zh-CN" altLang="en-US" sz="800" dirty="0">
                          <a:effectLst/>
                        </a:rPr>
                        <a:t>鱼鲜海鲜</a:t>
                      </a:r>
                      <a:r>
                        <a:rPr lang="en-US" altLang="zh-CN" sz="800" dirty="0">
                          <a:effectLst/>
                        </a:rPr>
                        <a:t>-</a:t>
                      </a:r>
                      <a:r>
                        <a:rPr lang="zh-CN" altLang="en-US" sz="800" dirty="0">
                          <a:effectLst/>
                        </a:rPr>
                        <a:t>小龙虾，</a:t>
                      </a:r>
                      <a:r>
                        <a:rPr lang="en-US" altLang="zh-CN" sz="800" dirty="0">
                          <a:effectLst/>
                        </a:rPr>
                        <a:t>[</a:t>
                      </a:r>
                      <a:r>
                        <a:rPr lang="zh-CN" altLang="en-US" sz="800" dirty="0">
                          <a:effectLst/>
                        </a:rPr>
                        <a:t>次</a:t>
                      </a:r>
                      <a:r>
                        <a:rPr lang="en-US" altLang="zh-CN" sz="800" dirty="0">
                          <a:effectLst/>
                        </a:rPr>
                        <a:t>] </a:t>
                      </a:r>
                      <a:r>
                        <a:rPr lang="zh-CN" altLang="en-US" sz="800" dirty="0">
                          <a:effectLst/>
                        </a:rPr>
                        <a:t>小吃快餐</a:t>
                      </a:r>
                    </a:p>
                  </a:txBody>
                  <a:tcPr marL="46945" marR="46945" marT="5868" marB="5868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628650" y="14954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6" name="îṡľíďé"/>
          <p:cNvSpPr txBox="1"/>
          <p:nvPr/>
        </p:nvSpPr>
        <p:spPr>
          <a:xfrm>
            <a:off x="6096277" y="3353411"/>
            <a:ext cx="1590663" cy="281354"/>
          </a:xfrm>
          <a:prstGeom prst="rect">
            <a:avLst/>
          </a:prstGeom>
          <a:noFill/>
        </p:spPr>
        <p:txBody>
          <a:bodyPr wrap="square" lIns="91440" tIns="45720" rIns="91440" bIns="45720" rtlCol="0" anchor="ctr" anchorCtr="0">
            <a:noAutofit/>
          </a:bodyPr>
          <a:lstStyle/>
          <a:p>
            <a:pPr algn="ctr"/>
            <a:r>
              <a:rPr lang="zh-CN" altLang="en-US" sz="800" b="1" dirty="0"/>
              <a:t>点评 </a:t>
            </a:r>
            <a:r>
              <a:rPr lang="en-US" altLang="zh-CN" sz="800" b="1" dirty="0"/>
              <a:t>VS</a:t>
            </a:r>
            <a:r>
              <a:rPr lang="zh-CN" altLang="en-US" sz="800" b="1" dirty="0"/>
              <a:t>美团前后台映射</a:t>
            </a:r>
            <a:endParaRPr lang="en-US" altLang="zh-CN" sz="800" b="1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0963" y="1467100"/>
            <a:ext cx="4301292" cy="1857986"/>
          </a:xfrm>
          <a:prstGeom prst="rect">
            <a:avLst/>
          </a:prstGeom>
        </p:spPr>
      </p:pic>
      <p:graphicFrame>
        <p:nvGraphicFramePr>
          <p:cNvPr id="14" name="表格 13"/>
          <p:cNvGraphicFramePr>
            <a:graphicFrameLocks noGrp="1"/>
          </p:cNvGraphicFramePr>
          <p:nvPr/>
        </p:nvGraphicFramePr>
        <p:xfrm>
          <a:off x="4948708" y="3663090"/>
          <a:ext cx="3885800" cy="1223599"/>
        </p:xfrm>
        <a:graphic>
          <a:graphicData uri="http://schemas.openxmlformats.org/drawingml/2006/table">
            <a:tbl>
              <a:tblPr/>
              <a:tblGrid>
                <a:gridCol w="7269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09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78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2153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zh-CN" altLang="en-US" sz="800" b="1" dirty="0">
                          <a:effectLst/>
                        </a:rPr>
                        <a:t>双侧差异</a:t>
                      </a:r>
                    </a:p>
                  </a:txBody>
                  <a:tcPr marL="46945" marR="46945" marT="5868" marB="5868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zh-CN" altLang="en-US" sz="800" b="1" dirty="0">
                          <a:effectLst/>
                        </a:rPr>
                        <a:t>点评</a:t>
                      </a:r>
                    </a:p>
                  </a:txBody>
                  <a:tcPr marL="46945" marR="46945" marT="5868" marB="5868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zh-CN" altLang="en-US" sz="800" b="1" dirty="0">
                          <a:effectLst/>
                        </a:rPr>
                        <a:t>美团</a:t>
                      </a:r>
                    </a:p>
                  </a:txBody>
                  <a:tcPr marL="46945" marR="46945" marT="5868" marB="5868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6418">
                <a:tc rowSpan="2">
                  <a:txBody>
                    <a:bodyPr/>
                    <a:lstStyle/>
                    <a:p>
                      <a:pPr marL="0" marR="0" 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zh-CN" altLang="en-US" sz="800" b="1" dirty="0">
                          <a:effectLst/>
                        </a:rPr>
                        <a:t>前台类目数量</a:t>
                      </a:r>
                    </a:p>
                  </a:txBody>
                  <a:tcPr marL="46945" marR="46945" marT="5868" marB="5868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800" dirty="0"/>
                        <a:t>937</a:t>
                      </a:r>
                      <a:r>
                        <a:rPr lang="zh-CN" altLang="en-US" sz="800" dirty="0"/>
                        <a:t>个（层级不一定相同）</a:t>
                      </a:r>
                      <a:endParaRPr lang="en-US" altLang="zh-CN" sz="800" dirty="0"/>
                    </a:p>
                  </a:txBody>
                  <a:tcPr marL="46945" marR="46945" marT="5868" marB="5868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8594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46945" marR="46945" marT="5868" marB="5868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zh-CN" altLang="en-US" sz="800" dirty="0">
                          <a:effectLst/>
                        </a:rPr>
                        <a:t>点评独有</a:t>
                      </a:r>
                      <a:r>
                        <a:rPr lang="en-US" altLang="zh-CN" sz="800" dirty="0"/>
                        <a:t>439</a:t>
                      </a:r>
                      <a:r>
                        <a:rPr lang="zh-CN" altLang="en-US" sz="800" dirty="0"/>
                        <a:t>个</a:t>
                      </a:r>
                      <a:endParaRPr lang="zh-CN" altLang="en-US" sz="800" dirty="0">
                        <a:effectLst/>
                      </a:endParaRPr>
                    </a:p>
                  </a:txBody>
                  <a:tcPr marL="46945" marR="46945" marT="5868" marB="5868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zh-CN" altLang="en-US" sz="800">
                          <a:effectLst/>
                        </a:rPr>
                        <a:t>美团独有</a:t>
                      </a:r>
                      <a:r>
                        <a:rPr lang="en-US" altLang="zh-CN" sz="800">
                          <a:effectLst/>
                        </a:rPr>
                        <a:t>765</a:t>
                      </a:r>
                      <a:r>
                        <a:rPr lang="zh-CN" altLang="en-US" sz="800">
                          <a:effectLst/>
                        </a:rPr>
                        <a:t>个</a:t>
                      </a:r>
                      <a:endParaRPr lang="zh-CN" altLang="en-US" sz="800" dirty="0">
                        <a:effectLst/>
                      </a:endParaRPr>
                    </a:p>
                  </a:txBody>
                  <a:tcPr marL="46945" marR="46945" marT="5868" marB="5868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7018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zh-CN" altLang="en-US" sz="800" b="1" dirty="0">
                          <a:effectLst/>
                        </a:rPr>
                        <a:t>类目结构</a:t>
                      </a:r>
                    </a:p>
                  </a:txBody>
                  <a:tcPr marL="46945" marR="46945" marT="5868" marB="5868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zh-CN" altLang="en-US" sz="800" dirty="0"/>
                        <a:t>分城市</a:t>
                      </a:r>
                      <a:endParaRPr lang="zh-CN" altLang="en-US" sz="800" dirty="0">
                        <a:effectLst/>
                      </a:endParaRPr>
                    </a:p>
                  </a:txBody>
                  <a:tcPr marL="46945" marR="46945" marT="5868" marB="5868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zh-CN" altLang="en-US" sz="800" dirty="0"/>
                        <a:t>不分城市，且包含团购类目</a:t>
                      </a:r>
                      <a:endParaRPr lang="zh-CN" altLang="en-US" sz="800" dirty="0">
                        <a:effectLst/>
                      </a:endParaRPr>
                    </a:p>
                  </a:txBody>
                  <a:tcPr marL="46945" marR="46945" marT="5868" marB="5868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4869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zh-CN" altLang="en-US" sz="800" b="1" dirty="0">
                          <a:effectLst/>
                        </a:rPr>
                        <a:t>应用方式</a:t>
                      </a:r>
                    </a:p>
                  </a:txBody>
                  <a:tcPr marL="46945" marR="46945" marT="5868" marB="5868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zh-CN" altLang="en-US" sz="800" b="1" dirty="0"/>
                        <a:t>商户前台类目有落地</a:t>
                      </a:r>
                      <a:r>
                        <a:rPr lang="zh-CN" altLang="en-US" sz="800" dirty="0"/>
                        <a:t>。是</a:t>
                      </a:r>
                      <a:r>
                        <a:rPr lang="en-GB" altLang="zh-CN" sz="800" dirty="0"/>
                        <a:t>PDC</a:t>
                      </a:r>
                      <a:r>
                        <a:rPr lang="zh-CN" altLang="en-US" sz="800" dirty="0"/>
                        <a:t>根据 商户后台类目 和 前后台类目映射关系 推导出来</a:t>
                      </a:r>
                      <a:endParaRPr lang="zh-CN" altLang="en-US" sz="800" dirty="0">
                        <a:effectLst/>
                      </a:endParaRPr>
                    </a:p>
                  </a:txBody>
                  <a:tcPr marL="46945" marR="46945" marT="5868" marB="5868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zh-CN" altLang="en-US" sz="800" b="1" dirty="0"/>
                        <a:t>商户前台类目未落地</a:t>
                      </a:r>
                      <a:r>
                        <a:rPr lang="zh-CN" altLang="en-US" sz="800" dirty="0"/>
                        <a:t>。是业务侧根据 商户后台类目 和 前后台类目映射关系 实时推导出来（丛林服务）</a:t>
                      </a:r>
                      <a:endParaRPr lang="zh-CN" altLang="en-US" sz="800" dirty="0">
                        <a:effectLst/>
                      </a:endParaRPr>
                    </a:p>
                  </a:txBody>
                  <a:tcPr marL="46945" marR="46945" marT="5868" marB="5868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9" name="图片 8" descr="upload_post_object_v2_346674264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3808" y="28344"/>
            <a:ext cx="1666178" cy="3634687"/>
          </a:xfrm>
          <a:prstGeom prst="rect">
            <a:avLst/>
          </a:prstGeom>
        </p:spPr>
      </p:pic>
      <p:pic>
        <p:nvPicPr>
          <p:cNvPr id="10" name="图片 9" descr="upload_post_object_v2_176633352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81743" y="28344"/>
            <a:ext cx="1666178" cy="3634687"/>
          </a:xfrm>
          <a:prstGeom prst="rect">
            <a:avLst/>
          </a:prstGeom>
        </p:spPr>
      </p:pic>
      <p:sp>
        <p:nvSpPr>
          <p:cNvPr id="137" name="文本框 136"/>
          <p:cNvSpPr txBox="1"/>
          <p:nvPr/>
        </p:nvSpPr>
        <p:spPr>
          <a:xfrm>
            <a:off x="9624101" y="3663031"/>
            <a:ext cx="1325729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000" b="1" dirty="0"/>
              <a:t>点评前台品类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11451942" y="3663031"/>
            <a:ext cx="1325729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000" b="1" dirty="0"/>
              <a:t>美团</a:t>
            </a:r>
            <a:r>
              <a:rPr lang="zh-CN" altLang="en-US" sz="1000" b="1" dirty="0">
                <a:cs typeface="Arial" panose="020B0604020202020204" pitchFamily="34" charset="0"/>
              </a:rPr>
              <a:t>前台</a:t>
            </a:r>
            <a:r>
              <a:rPr lang="zh-CN" altLang="en-US" sz="1000" b="1" dirty="0"/>
              <a:t>品类</a:t>
            </a: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核心资产未覆盖：用户高搜需求 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23"/>
          </p:nvPr>
        </p:nvSpPr>
        <p:spPr>
          <a:xfrm>
            <a:off x="0" y="-547945"/>
            <a:ext cx="8639588" cy="547945"/>
          </a:xfrm>
        </p:spPr>
        <p:txBody>
          <a:bodyPr>
            <a:normAutofit fontScale="92500" lnSpcReduction="10000"/>
          </a:bodyPr>
          <a:lstStyle/>
          <a:p>
            <a:r>
              <a:rPr lang="zh-CN" altLang="en-US" dirty="0"/>
              <a:t>通过用户需求（用户高</a:t>
            </a:r>
            <a:r>
              <a:rPr lang="en-GB" altLang="zh-CN" dirty="0"/>
              <a:t>query</a:t>
            </a:r>
            <a:r>
              <a:rPr lang="zh-CN" altLang="en-GB" dirty="0"/>
              <a:t>）</a:t>
            </a:r>
            <a:r>
              <a:rPr lang="zh-CN" altLang="en-US" dirty="0"/>
              <a:t>看问题优先级，用户高</a:t>
            </a:r>
            <a:r>
              <a:rPr lang="en-GB" altLang="zh-CN" dirty="0"/>
              <a:t>query</a:t>
            </a:r>
            <a:r>
              <a:rPr lang="zh-CN" altLang="en-US" dirty="0"/>
              <a:t>分类品类、场景、</a:t>
            </a:r>
            <a:r>
              <a:rPr lang="en-GB" altLang="zh-CN" dirty="0"/>
              <a:t>xx</a:t>
            </a:r>
            <a:r>
              <a:rPr lang="zh-CN" altLang="en-US" dirty="0"/>
              <a:t>等问题，对应的</a:t>
            </a:r>
            <a:r>
              <a:rPr lang="en-GB" altLang="zh-CN" dirty="0"/>
              <a:t>query</a:t>
            </a:r>
            <a:r>
              <a:rPr lang="zh-CN" altLang="en-US" dirty="0"/>
              <a:t>量、</a:t>
            </a:r>
            <a:r>
              <a:rPr lang="en-GB" altLang="zh-CN" dirty="0"/>
              <a:t>GTV</a:t>
            </a:r>
            <a:r>
              <a:rPr lang="zh-CN" altLang="en-US" dirty="0"/>
              <a:t>和店量；</a:t>
            </a:r>
            <a:r>
              <a:rPr lang="en-US" altLang="zh-CN" dirty="0"/>
              <a:t>1</a:t>
            </a:r>
            <a:r>
              <a:rPr lang="en-GB" altLang="zh-CN" dirty="0"/>
              <a:t>p</a:t>
            </a:r>
          </a:p>
          <a:p>
            <a:pPr marL="0" indent="0">
              <a:buNone/>
            </a:pP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kumimoji="1" lang="zh-CN" altLang="en-US" dirty="0"/>
              <a:t>资产建设问题</a:t>
            </a:r>
          </a:p>
        </p:txBody>
      </p:sp>
      <p:sp>
        <p:nvSpPr>
          <p:cNvPr id="135" name="文本框 134"/>
          <p:cNvSpPr txBox="1"/>
          <p:nvPr/>
        </p:nvSpPr>
        <p:spPr>
          <a:xfrm>
            <a:off x="3179349" y="1256708"/>
            <a:ext cx="1325729" cy="569387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r>
              <a:rPr lang="zh-CN" altLang="en-US" sz="2000" b="1" dirty="0"/>
              <a:t>资产建设</a:t>
            </a:r>
            <a:endParaRPr lang="en-US" altLang="zh-CN" sz="2000" b="1" dirty="0"/>
          </a:p>
          <a:p>
            <a:r>
              <a:rPr lang="zh-CN" altLang="en-US" sz="1100" b="1" dirty="0"/>
              <a:t>（品类、标签）</a:t>
            </a:r>
          </a:p>
        </p:txBody>
      </p:sp>
      <p:sp>
        <p:nvSpPr>
          <p:cNvPr id="137" name="文本框 136"/>
          <p:cNvSpPr txBox="1"/>
          <p:nvPr/>
        </p:nvSpPr>
        <p:spPr>
          <a:xfrm>
            <a:off x="3179349" y="3460898"/>
            <a:ext cx="132572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/>
              <a:t>场景建设</a:t>
            </a:r>
            <a:endParaRPr lang="en-US" altLang="zh-CN" sz="2000" b="1" dirty="0"/>
          </a:p>
          <a:p>
            <a:r>
              <a:rPr lang="zh-CN" altLang="en-US" sz="1200" b="1" dirty="0"/>
              <a:t>（大搜、频道）</a:t>
            </a:r>
          </a:p>
        </p:txBody>
      </p:sp>
      <p:cxnSp>
        <p:nvCxnSpPr>
          <p:cNvPr id="139" name="直接箭头连接符 138"/>
          <p:cNvCxnSpPr/>
          <p:nvPr/>
        </p:nvCxnSpPr>
        <p:spPr>
          <a:xfrm>
            <a:off x="3759079" y="1896273"/>
            <a:ext cx="0" cy="13372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1" name="文本框 140"/>
          <p:cNvSpPr txBox="1"/>
          <p:nvPr/>
        </p:nvSpPr>
        <p:spPr>
          <a:xfrm>
            <a:off x="3759080" y="2003544"/>
            <a:ext cx="32323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/>
              <a:t>用户需求满足</a:t>
            </a:r>
          </a:p>
        </p:txBody>
      </p:sp>
      <p:sp>
        <p:nvSpPr>
          <p:cNvPr id="163" name="文本框 162"/>
          <p:cNvSpPr txBox="1"/>
          <p:nvPr/>
        </p:nvSpPr>
        <p:spPr>
          <a:xfrm>
            <a:off x="3357369" y="2219262"/>
            <a:ext cx="3232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/>
              <a:t>榜单</a:t>
            </a:r>
            <a:endParaRPr lang="en-US" altLang="zh-CN" sz="1400" b="1" dirty="0"/>
          </a:p>
        </p:txBody>
      </p:sp>
      <p:sp>
        <p:nvSpPr>
          <p:cNvPr id="165" name="文本框 164"/>
          <p:cNvSpPr txBox="1"/>
          <p:nvPr/>
        </p:nvSpPr>
        <p:spPr>
          <a:xfrm>
            <a:off x="0" y="3990586"/>
            <a:ext cx="3366235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000" b="1" dirty="0">
                <a:latin typeface="+mn-ea"/>
              </a:rPr>
              <a:t>美团榜单品类优化：</a:t>
            </a:r>
            <a:r>
              <a:rPr lang="zh-CN" altLang="en-US" sz="1000" dirty="0">
                <a:latin typeface="+mn-ea"/>
              </a:rPr>
              <a:t>针对</a:t>
            </a:r>
            <a:r>
              <a:rPr lang="zh-CN" altLang="en-US" sz="1000" b="1" dirty="0">
                <a:latin typeface="+mn-ea"/>
              </a:rPr>
              <a:t>高搜但榜单未覆盖的热门品类，</a:t>
            </a:r>
            <a:r>
              <a:rPr lang="zh-CN" altLang="en-US" sz="1000" dirty="0">
                <a:latin typeface="+mn-ea"/>
              </a:rPr>
              <a:t>在人气榜、好评榜中进行拆分成榜，提升相关门店的曝光和转化。如大闸蟹、泰国菜、农家乐等。</a:t>
            </a:r>
            <a:endParaRPr lang="en-US" altLang="zh-CN" sz="1000" dirty="0">
              <a:latin typeface="+mn-ea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000" b="1" dirty="0">
                <a:latin typeface="+mn-ea"/>
              </a:rPr>
              <a:t>门店</a:t>
            </a:r>
            <a:r>
              <a:rPr lang="en-US" altLang="zh-CN" sz="1000" b="1" dirty="0">
                <a:latin typeface="+mn-ea"/>
              </a:rPr>
              <a:t>/</a:t>
            </a:r>
            <a:r>
              <a:rPr lang="zh-CN" altLang="en-US" sz="1000" b="1" dirty="0">
                <a:latin typeface="+mn-ea"/>
              </a:rPr>
              <a:t>供给特色标签建设：</a:t>
            </a:r>
            <a:r>
              <a:rPr lang="zh-CN" altLang="en-US" sz="1000" dirty="0">
                <a:latin typeface="+mn-ea"/>
              </a:rPr>
              <a:t>针对</a:t>
            </a:r>
            <a:r>
              <a:rPr lang="zh-CN" altLang="en-US" sz="1000" b="1" dirty="0">
                <a:latin typeface="+mn-ea"/>
              </a:rPr>
              <a:t>高需但平台未覆盖</a:t>
            </a:r>
            <a:r>
              <a:rPr lang="zh-CN" altLang="en-US" sz="1000" dirty="0">
                <a:latin typeface="+mn-ea"/>
              </a:rPr>
              <a:t>的供给进行识别打标，增强召回精度。如铁锅炖、烙锅等</a:t>
            </a:r>
            <a:endParaRPr lang="en-US" altLang="zh-CN" sz="1000" dirty="0">
              <a:latin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410485" y="3996135"/>
            <a:ext cx="307588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000" b="1" i="0" dirty="0">
                <a:solidFill>
                  <a:srgbClr val="1F2328"/>
                </a:solidFill>
                <a:effectLst/>
                <a:latin typeface="PingFang SC"/>
              </a:rPr>
              <a:t>大搜等核心入口强化内容榜单承接</a:t>
            </a:r>
            <a:r>
              <a:rPr lang="zh-CN" altLang="en-US" sz="1000" b="0" i="0" dirty="0">
                <a:solidFill>
                  <a:srgbClr val="1F2328"/>
                </a:solidFill>
                <a:effectLst/>
                <a:latin typeface="PingFang SC"/>
              </a:rPr>
              <a:t>，以精准覆盖用户在节日热点、场景化或泛模糊需求下的找店路径，如附近的美食、夜宵、年夜饭等，提升用户决策和转化效率。</a:t>
            </a:r>
            <a:endParaRPr lang="zh-CN" altLang="en-US" sz="1000" dirty="0">
              <a:latin typeface="+mn-ea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195306" y="1102316"/>
          <a:ext cx="2721013" cy="2618986"/>
        </p:xfrm>
        <a:graphic>
          <a:graphicData uri="http://schemas.openxmlformats.org/drawingml/2006/table">
            <a:tbl>
              <a:tblPr/>
              <a:tblGrid>
                <a:gridCol w="3079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3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40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69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82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24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1001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95574">
                <a:tc gridSpan="2">
                  <a:txBody>
                    <a:bodyPr/>
                    <a:lstStyle/>
                    <a:p>
                      <a:pPr algn="l" fontAlgn="ctr"/>
                      <a:r>
                        <a:rPr lang="zh-CN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品类需求</a:t>
                      </a:r>
                    </a:p>
                  </a:txBody>
                  <a:tcPr marL="4941" marR="4941" marT="49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4941" marR="4941" marT="49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4941" marR="4941" marT="49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4941" marR="4941" marT="49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4941" marR="4941" marT="49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4941" marR="4941" marT="49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7548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1" i="0" u="none" strike="noStrike" dirty="0">
                          <a:solidFill>
                            <a:srgbClr val="FFFFFF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分类</a:t>
                      </a:r>
                    </a:p>
                  </a:txBody>
                  <a:tcPr marL="4941" marR="4941" marT="49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 dirty="0">
                          <a:solidFill>
                            <a:srgbClr val="FFFFFF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Query</a:t>
                      </a:r>
                      <a:r>
                        <a:rPr lang="zh-CN" altLang="en-US" sz="600" b="1" i="0" u="none" strike="noStrike" dirty="0">
                          <a:solidFill>
                            <a:srgbClr val="FFFFFF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词</a:t>
                      </a:r>
                    </a:p>
                  </a:txBody>
                  <a:tcPr marL="4941" marR="4941" marT="494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1" i="0" u="none" strike="noStrike" dirty="0">
                          <a:solidFill>
                            <a:srgbClr val="FFFFFF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搜索</a:t>
                      </a:r>
                      <a:r>
                        <a:rPr lang="en-US" sz="600" b="1" i="0" u="none" strike="noStrike" dirty="0">
                          <a:solidFill>
                            <a:srgbClr val="FFFFFF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QV</a:t>
                      </a:r>
                      <a:r>
                        <a:rPr lang="zh-CN" altLang="en-US" sz="600" b="1" i="0" u="none" strike="noStrike" dirty="0">
                          <a:solidFill>
                            <a:srgbClr val="FFFFFF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排序</a:t>
                      </a:r>
                    </a:p>
                  </a:txBody>
                  <a:tcPr marL="4941" marR="4941" marT="494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搜索 </a:t>
                      </a:r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QV</a:t>
                      </a:r>
                    </a:p>
                  </a:txBody>
                  <a:tcPr marL="4941" marR="4941" marT="494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1" i="0" u="none" strike="noStrike" dirty="0">
                          <a:solidFill>
                            <a:srgbClr val="FFFFFF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搜索</a:t>
                      </a:r>
                      <a:r>
                        <a:rPr lang="en-US" sz="600" b="1" i="0" u="none" strike="noStrike" dirty="0">
                          <a:solidFill>
                            <a:srgbClr val="FFFFFF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GTV </a:t>
                      </a:r>
                    </a:p>
                  </a:txBody>
                  <a:tcPr marL="4941" marR="4941" marT="494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4941" marR="4941" marT="494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1" i="0" u="none" strike="noStrike" dirty="0">
                          <a:solidFill>
                            <a:srgbClr val="FFFFFF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访购率</a:t>
                      </a:r>
                    </a:p>
                  </a:txBody>
                  <a:tcPr marL="4941" marR="4941" marT="4941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7548">
                <a:tc rowSpan="10"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全国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高搜</a:t>
                      </a:r>
                    </a:p>
                  </a:txBody>
                  <a:tcPr marL="4941" marR="4941" marT="49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6E9"/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平台未覆盖</a:t>
                      </a:r>
                    </a:p>
                  </a:txBody>
                  <a:tcPr marL="4941" marR="4941" marT="4941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7548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铁锅炖</a:t>
                      </a:r>
                    </a:p>
                  </a:txBody>
                  <a:tcPr marL="4941" marR="4941" marT="49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TOP 40</a:t>
                      </a:r>
                    </a:p>
                  </a:txBody>
                  <a:tcPr marL="4941" marR="4941" marT="49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F2D9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r" fontAlgn="ctr"/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57,028 </a:t>
                      </a:r>
                    </a:p>
                  </a:txBody>
                  <a:tcPr marL="4941" marR="4941" marT="49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F2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4941" marR="4941" marT="49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870,294 </a:t>
                      </a:r>
                    </a:p>
                  </a:txBody>
                  <a:tcPr marL="4941" marR="4941" marT="49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12.67%</a:t>
                      </a:r>
                    </a:p>
                  </a:txBody>
                  <a:tcPr marL="4941" marR="4941" marT="4941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F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7548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地锅鸡</a:t>
                      </a:r>
                    </a:p>
                  </a:txBody>
                  <a:tcPr marL="4941" marR="4941" marT="49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TOP 98</a:t>
                      </a:r>
                    </a:p>
                  </a:txBody>
                  <a:tcPr marL="4941" marR="4941" marT="49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F2D9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r" fontAlgn="ctr"/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26,071 </a:t>
                      </a:r>
                    </a:p>
                  </a:txBody>
                  <a:tcPr marL="4941" marR="4941" marT="49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F2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4941" marR="4941" marT="49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401,049 </a:t>
                      </a:r>
                    </a:p>
                  </a:txBody>
                  <a:tcPr marL="4941" marR="4941" marT="49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14.64%</a:t>
                      </a:r>
                    </a:p>
                  </a:txBody>
                  <a:tcPr marL="4941" marR="4941" marT="4941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F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7548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清真</a:t>
                      </a:r>
                    </a:p>
                  </a:txBody>
                  <a:tcPr marL="4941" marR="4941" marT="49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TOP 110</a:t>
                      </a:r>
                    </a:p>
                  </a:txBody>
                  <a:tcPr marL="4941" marR="4941" marT="49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F2D9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r" fontAlgn="ctr"/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22,340 </a:t>
                      </a:r>
                    </a:p>
                  </a:txBody>
                  <a:tcPr marL="4941" marR="4941" marT="49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F2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4941" marR="4941" marT="49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65,391 </a:t>
                      </a:r>
                    </a:p>
                  </a:txBody>
                  <a:tcPr marL="4941" marR="4941" marT="49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3.23%</a:t>
                      </a:r>
                    </a:p>
                  </a:txBody>
                  <a:tcPr marL="4941" marR="4941" marT="4941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F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7548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酸汤火锅</a:t>
                      </a:r>
                    </a:p>
                  </a:txBody>
                  <a:tcPr marL="4941" marR="4941" marT="49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TOP 251</a:t>
                      </a:r>
                    </a:p>
                  </a:txBody>
                  <a:tcPr marL="4941" marR="4941" marT="49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F2D9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r" fontAlgn="ctr"/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10,203 </a:t>
                      </a:r>
                    </a:p>
                  </a:txBody>
                  <a:tcPr marL="4941" marR="4941" marT="49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F2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4941" marR="4941" marT="49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116,668 </a:t>
                      </a:r>
                    </a:p>
                  </a:txBody>
                  <a:tcPr marL="4941" marR="4941" marT="49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9.72%</a:t>
                      </a:r>
                    </a:p>
                  </a:txBody>
                  <a:tcPr marL="4941" marR="4941" marT="4941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F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27548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烙锅</a:t>
                      </a:r>
                    </a:p>
                  </a:txBody>
                  <a:tcPr marL="4941" marR="4941" marT="49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TOP 295</a:t>
                      </a:r>
                    </a:p>
                  </a:txBody>
                  <a:tcPr marL="4941" marR="4941" marT="49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F2D9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r" fontAlgn="ctr"/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8,891 </a:t>
                      </a:r>
                    </a:p>
                  </a:txBody>
                  <a:tcPr marL="4941" marR="4941" marT="49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F2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4941" marR="4941" marT="49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86,762 </a:t>
                      </a:r>
                    </a:p>
                  </a:txBody>
                  <a:tcPr marL="4941" marR="4941" marT="49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10.37%</a:t>
                      </a:r>
                    </a:p>
                  </a:txBody>
                  <a:tcPr marL="4941" marR="4941" marT="4941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F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27548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 u="none" strike="noStrike">
                          <a:solidFill>
                            <a:srgbClr val="FF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榜单未覆盖</a:t>
                      </a:r>
                      <a:endParaRPr lang="zh-CN" altLang="en-US" sz="800" b="0" i="0" u="none" strike="noStrike" dirty="0">
                        <a:solidFill>
                          <a:srgbClr val="FF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4941" marR="4941" marT="4941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27548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大闸蟹</a:t>
                      </a:r>
                    </a:p>
                  </a:txBody>
                  <a:tcPr marL="4941" marR="4941" marT="49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9E4B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TOP 136</a:t>
                      </a:r>
                    </a:p>
                  </a:txBody>
                  <a:tcPr marL="4941" marR="4941" marT="49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9E4B4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r" fontAlgn="ctr"/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17,486 </a:t>
                      </a:r>
                    </a:p>
                  </a:txBody>
                  <a:tcPr marL="4941" marR="4941" marT="49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9E4B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4941" marR="4941" marT="49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9E4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27,969 </a:t>
                      </a:r>
                    </a:p>
                  </a:txBody>
                  <a:tcPr marL="4941" marR="4941" marT="49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9E4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0.96%</a:t>
                      </a:r>
                    </a:p>
                  </a:txBody>
                  <a:tcPr marL="4941" marR="4941" marT="4941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9E4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27548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泰国菜</a:t>
                      </a:r>
                    </a:p>
                  </a:txBody>
                  <a:tcPr marL="4941" marR="4941" marT="49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9E4B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TOP 238</a:t>
                      </a:r>
                    </a:p>
                  </a:txBody>
                  <a:tcPr marL="4941" marR="4941" marT="49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9E4B4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r" fontAlgn="ctr"/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10,621 </a:t>
                      </a:r>
                    </a:p>
                  </a:txBody>
                  <a:tcPr marL="4941" marR="4941" marT="49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9E4B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4941" marR="4941" marT="49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9E4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85,803 </a:t>
                      </a:r>
                    </a:p>
                  </a:txBody>
                  <a:tcPr marL="4941" marR="4941" marT="49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9E4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5.71%</a:t>
                      </a:r>
                    </a:p>
                  </a:txBody>
                  <a:tcPr marL="4941" marR="4941" marT="4941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9E4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27548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农家乐</a:t>
                      </a:r>
                    </a:p>
                  </a:txBody>
                  <a:tcPr marL="4941" marR="4941" marT="49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9E4B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TOP 631</a:t>
                      </a:r>
                    </a:p>
                  </a:txBody>
                  <a:tcPr marL="4941" marR="4941" marT="49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9E4B4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r" fontAlgn="ctr"/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4,117 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4941" marR="4941" marT="49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9E4B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4941" marR="4941" marT="49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9E4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5,149 </a:t>
                      </a:r>
                    </a:p>
                  </a:txBody>
                  <a:tcPr marL="4941" marR="4941" marT="49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9E4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0.56%</a:t>
                      </a:r>
                    </a:p>
                  </a:txBody>
                  <a:tcPr marL="4941" marR="4941" marT="4941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9E4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27548">
                <a:tc rowSpan="8"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地方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高搜</a:t>
                      </a:r>
                    </a:p>
                  </a:txBody>
                  <a:tcPr marL="4941" marR="4941" marT="49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6E9"/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 u="none" strike="noStrike">
                          <a:solidFill>
                            <a:srgbClr val="FF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平台未覆盖</a:t>
                      </a:r>
                    </a:p>
                  </a:txBody>
                  <a:tcPr marL="4941" marR="4941" marT="4941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27548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豆米火锅</a:t>
                      </a:r>
                    </a:p>
                  </a:txBody>
                  <a:tcPr marL="4941" marR="4941" marT="49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贵阳</a:t>
                      </a: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TOP20</a:t>
                      </a:r>
                    </a:p>
                  </a:txBody>
                  <a:tcPr marL="4941" marR="4941" marT="49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F2D9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r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</a:t>
                      </a:r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2,714 </a:t>
                      </a:r>
                    </a:p>
                  </a:txBody>
                  <a:tcPr marL="4941" marR="4941" marT="49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F2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4941" marR="4941" marT="49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20,231 </a:t>
                      </a:r>
                    </a:p>
                  </a:txBody>
                  <a:tcPr marL="4941" marR="4941" marT="49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9.74%</a:t>
                      </a:r>
                    </a:p>
                  </a:txBody>
                  <a:tcPr marL="4941" marR="4941" marT="4941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F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27548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江湖菜</a:t>
                      </a:r>
                    </a:p>
                  </a:txBody>
                  <a:tcPr marL="4941" marR="4941" marT="49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重庆</a:t>
                      </a: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TOP49</a:t>
                      </a:r>
                    </a:p>
                  </a:txBody>
                  <a:tcPr marL="4941" marR="4941" marT="49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F2D9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r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</a:t>
                      </a:r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2,867 </a:t>
                      </a:r>
                    </a:p>
                  </a:txBody>
                  <a:tcPr marL="4941" marR="4941" marT="49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F2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4941" marR="4941" marT="49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</a:t>
                      </a:r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14,274 </a:t>
                      </a:r>
                    </a:p>
                  </a:txBody>
                  <a:tcPr marL="4941" marR="4941" marT="49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3.25%</a:t>
                      </a:r>
                    </a:p>
                  </a:txBody>
                  <a:tcPr marL="4941" marR="4941" marT="4941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F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27548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糟粕醋</a:t>
                      </a:r>
                    </a:p>
                  </a:txBody>
                  <a:tcPr marL="4941" marR="4941" marT="49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海口</a:t>
                      </a: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TOP45</a:t>
                      </a:r>
                    </a:p>
                  </a:txBody>
                  <a:tcPr marL="4941" marR="4941" marT="49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F2D9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r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</a:t>
                      </a:r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1,769 </a:t>
                      </a:r>
                      <a:endParaRPr lang="en-US" altLang="zh-CN" sz="6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4941" marR="4941" marT="49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F2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4941" marR="4941" marT="49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22,317 </a:t>
                      </a:r>
                    </a:p>
                  </a:txBody>
                  <a:tcPr marL="4941" marR="4941" marT="49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7.52%</a:t>
                      </a:r>
                    </a:p>
                  </a:txBody>
                  <a:tcPr marL="4941" marR="4941" marT="4941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F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27548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老爸茶</a:t>
                      </a:r>
                    </a:p>
                  </a:txBody>
                  <a:tcPr marL="4941" marR="4941" marT="49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海口</a:t>
                      </a: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TOP23</a:t>
                      </a:r>
                    </a:p>
                  </a:txBody>
                  <a:tcPr marL="4941" marR="4941" marT="49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F2D9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r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</a:t>
                      </a:r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1,261 </a:t>
                      </a:r>
                    </a:p>
                  </a:txBody>
                  <a:tcPr marL="4941" marR="4941" marT="49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F2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4941" marR="4941" marT="49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3,996 </a:t>
                      </a:r>
                    </a:p>
                  </a:txBody>
                  <a:tcPr marL="4941" marR="4941" marT="49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4.39%</a:t>
                      </a:r>
                    </a:p>
                  </a:txBody>
                  <a:tcPr marL="4941" marR="4941" marT="4941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F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27548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 u="none" strike="noStrike">
                          <a:solidFill>
                            <a:srgbClr val="FF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榜单未覆盖</a:t>
                      </a:r>
                      <a:endParaRPr lang="zh-CN" altLang="en-US" sz="800" b="0" i="0" u="none" strike="noStrike" dirty="0">
                        <a:solidFill>
                          <a:srgbClr val="FF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4941" marR="4941" marT="4941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27548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客家菜</a:t>
                      </a:r>
                    </a:p>
                  </a:txBody>
                  <a:tcPr marL="4941" marR="4941" marT="49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1EF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深圳</a:t>
                      </a: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TOP150</a:t>
                      </a:r>
                    </a:p>
                  </a:txBody>
                  <a:tcPr marL="4941" marR="4941" marT="49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1EFD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r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</a:t>
                      </a:r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1,668 </a:t>
                      </a:r>
                    </a:p>
                  </a:txBody>
                  <a:tcPr marL="4941" marR="4941" marT="49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1EFD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4941" marR="4941" marT="49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1EF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10,840 </a:t>
                      </a:r>
                    </a:p>
                  </a:txBody>
                  <a:tcPr marL="4941" marR="4941" marT="49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1EF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4.37%</a:t>
                      </a:r>
                    </a:p>
                  </a:txBody>
                  <a:tcPr marL="4941" marR="4941" marT="4941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1EF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27548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天津菜</a:t>
                      </a:r>
                    </a:p>
                  </a:txBody>
                  <a:tcPr marL="4941" marR="4941" marT="49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1EF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天津</a:t>
                      </a: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TOP105</a:t>
                      </a:r>
                    </a:p>
                  </a:txBody>
                  <a:tcPr marL="4941" marR="4941" marT="49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1EFD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r" fontAlgn="ctr"/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923 </a:t>
                      </a:r>
                    </a:p>
                  </a:txBody>
                  <a:tcPr marL="4941" marR="4941" marT="49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1EFD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4941" marR="4941" marT="49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1EF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2,520 </a:t>
                      </a:r>
                    </a:p>
                  </a:txBody>
                  <a:tcPr marL="4941" marR="4941" marT="49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1EF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2.23%</a:t>
                      </a:r>
                    </a:p>
                  </a:txBody>
                  <a:tcPr marL="4941" marR="4941" marT="4941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1EF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17" name="文本框 16"/>
          <p:cNvSpPr txBox="1"/>
          <p:nvPr/>
        </p:nvSpPr>
        <p:spPr>
          <a:xfrm>
            <a:off x="1432190" y="1143945"/>
            <a:ext cx="1592685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zh-CN" altLang="en-US" sz="500" b="0" i="0" u="none" strike="noStrike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*统计周期</a:t>
            </a:r>
            <a:r>
              <a:rPr lang="en-US" altLang="zh-CN" sz="500" b="0" i="0" u="none" strike="noStrike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2025</a:t>
            </a:r>
            <a:r>
              <a:rPr lang="zh-CN" altLang="en-US" sz="500" b="0" i="0" u="none" strike="noStrike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年</a:t>
            </a:r>
            <a:r>
              <a:rPr lang="en-US" altLang="zh-CN" sz="500" b="0" i="0" u="none" strike="noStrike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500" b="0" i="0" u="none" strike="noStrike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月</a:t>
            </a:r>
            <a:r>
              <a:rPr lang="en-US" altLang="zh-CN" sz="500" b="0" i="0" u="none" strike="noStrike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-6</a:t>
            </a:r>
            <a:r>
              <a:rPr lang="zh-CN" altLang="en-US" sz="500" b="0" i="0" u="none" strike="noStrike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月，大闸蟹为</a:t>
            </a:r>
            <a:r>
              <a:rPr lang="en-US" altLang="zh-CN" sz="500" b="0" i="0" u="none" strike="noStrike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2024</a:t>
            </a:r>
            <a:r>
              <a:rPr lang="zh-CN" altLang="en-US" sz="500" b="0" i="0" u="none" strike="noStrike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年</a:t>
            </a:r>
            <a:r>
              <a:rPr lang="en-US" altLang="zh-CN" sz="500" b="0" i="0" u="none" strike="noStrike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10</a:t>
            </a:r>
            <a:r>
              <a:rPr lang="zh-CN" altLang="en-US" sz="500" b="0" i="0" u="none" strike="noStrike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月</a:t>
            </a:r>
          </a:p>
        </p:txBody>
      </p:sp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4600250" y="1163533"/>
          <a:ext cx="2805852" cy="2557769"/>
        </p:xfrm>
        <a:graphic>
          <a:graphicData uri="http://schemas.openxmlformats.org/drawingml/2006/table">
            <a:tbl>
              <a:tblPr/>
              <a:tblGrid>
                <a:gridCol w="6598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38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99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99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99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218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89139">
                <a:tc gridSpan="3">
                  <a:txBody>
                    <a:bodyPr/>
                    <a:lstStyle/>
                    <a:p>
                      <a:pPr algn="l" fontAlgn="ctr"/>
                      <a:r>
                        <a:rPr lang="zh-CN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模糊需求</a:t>
                      </a: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5331" marR="5331" marT="533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gridSpan="3">
                  <a:txBody>
                    <a:bodyPr/>
                    <a:lstStyle/>
                    <a:p>
                      <a:pPr algn="r" fontAlgn="ctr"/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*</a:t>
                      </a:r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统计周期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2025</a:t>
                      </a:r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年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</a:t>
                      </a:r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月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-6</a:t>
                      </a:r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月</a:t>
                      </a:r>
                    </a:p>
                  </a:txBody>
                  <a:tcPr marL="5331" marR="5331" marT="533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5331" marR="5331" marT="533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5331" marR="5331" marT="533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335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 dirty="0">
                          <a:solidFill>
                            <a:srgbClr val="FFFFFF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Query</a:t>
                      </a:r>
                      <a:r>
                        <a:rPr lang="zh-CN" altLang="en-US" sz="600" b="1" i="0" u="none" strike="noStrike" dirty="0">
                          <a:solidFill>
                            <a:srgbClr val="FFFFFF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词</a:t>
                      </a:r>
                    </a:p>
                  </a:txBody>
                  <a:tcPr marL="5331" marR="5331" marT="53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搜索</a:t>
                      </a:r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QV</a:t>
                      </a:r>
                      <a:r>
                        <a:rPr lang="zh-CN" alt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排序</a:t>
                      </a:r>
                    </a:p>
                  </a:txBody>
                  <a:tcPr marL="5331" marR="5331" marT="533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搜索 </a:t>
                      </a:r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QV</a:t>
                      </a:r>
                    </a:p>
                  </a:txBody>
                  <a:tcPr marL="5331" marR="5331" marT="5331" marB="0" anchor="ctr">
                    <a:lnL>
                      <a:noFill/>
                    </a:lnL>
                    <a:lnR>
                      <a:noFill/>
                    </a:lnR>
                    <a:lnB>
                      <a:noFill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搜索</a:t>
                      </a:r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GTV </a:t>
                      </a:r>
                    </a:p>
                  </a:txBody>
                  <a:tcPr marL="5331" marR="5331" marT="533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访购率</a:t>
                      </a:r>
                    </a:p>
                  </a:txBody>
                  <a:tcPr marL="5331" marR="5331" marT="533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无结果 </a:t>
                      </a:r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QV</a:t>
                      </a:r>
                    </a:p>
                  </a:txBody>
                  <a:tcPr marL="5331" marR="5331" marT="5331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157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美食</a:t>
                      </a:r>
                    </a:p>
                  </a:txBody>
                  <a:tcPr marL="5331" marR="5331" marT="53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TOP 35</a:t>
                      </a:r>
                    </a:p>
                  </a:txBody>
                  <a:tcPr marL="5331" marR="5331" marT="533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73,774</a:t>
                      </a:r>
                    </a:p>
                  </a:txBody>
                  <a:tcPr marL="5331" marR="5331" marT="533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311,132 </a:t>
                      </a:r>
                    </a:p>
                  </a:txBody>
                  <a:tcPr marL="5331" marR="5331" marT="533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4.30%</a:t>
                      </a:r>
                    </a:p>
                  </a:txBody>
                  <a:tcPr marL="5331" marR="5331" marT="533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146</a:t>
                      </a:r>
                    </a:p>
                  </a:txBody>
                  <a:tcPr marL="5331" marR="5331" marT="5331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157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附近的美食</a:t>
                      </a:r>
                    </a:p>
                  </a:txBody>
                  <a:tcPr marL="5331" marR="5331" marT="53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TOP 37</a:t>
                      </a:r>
                    </a:p>
                  </a:txBody>
                  <a:tcPr marL="5331" marR="5331" marT="533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60,382</a:t>
                      </a:r>
                    </a:p>
                  </a:txBody>
                  <a:tcPr marL="5331" marR="5331" marT="533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272,831 </a:t>
                      </a:r>
                    </a:p>
                  </a:txBody>
                  <a:tcPr marL="5331" marR="5331" marT="533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4.77%</a:t>
                      </a:r>
                    </a:p>
                  </a:txBody>
                  <a:tcPr marL="5331" marR="5331" marT="533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53</a:t>
                      </a:r>
                    </a:p>
                  </a:txBody>
                  <a:tcPr marL="5331" marR="5331" marT="5331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157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饭店</a:t>
                      </a:r>
                    </a:p>
                  </a:txBody>
                  <a:tcPr marL="5331" marR="5331" marT="53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TOP 136</a:t>
                      </a:r>
                    </a:p>
                  </a:txBody>
                  <a:tcPr marL="5331" marR="5331" marT="533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18,852</a:t>
                      </a:r>
                    </a:p>
                  </a:txBody>
                  <a:tcPr marL="5331" marR="5331" marT="533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78,329 </a:t>
                      </a:r>
                    </a:p>
                  </a:txBody>
                  <a:tcPr marL="5331" marR="5331" marT="533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1.64%</a:t>
                      </a:r>
                    </a:p>
                  </a:txBody>
                  <a:tcPr marL="5331" marR="5331" marT="533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17</a:t>
                      </a:r>
                    </a:p>
                  </a:txBody>
                  <a:tcPr marL="5331" marR="5331" marT="5331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9139">
                <a:tc gridSpan="3">
                  <a:txBody>
                    <a:bodyPr/>
                    <a:lstStyle/>
                    <a:p>
                      <a:pPr algn="l" fontAlgn="ctr"/>
                      <a:r>
                        <a:rPr lang="zh-CN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场景需求</a:t>
                      </a:r>
                    </a:p>
                  </a:txBody>
                  <a:tcPr marL="5331" marR="5331" marT="533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3">
                  <a:txBody>
                    <a:bodyPr/>
                    <a:lstStyle/>
                    <a:p>
                      <a:pPr algn="r" fontAlgn="ctr"/>
                      <a:r>
                        <a:rPr lang="en-US" altLang="zh-CN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*</a:t>
                      </a:r>
                      <a:r>
                        <a:rPr lang="zh-CN" alt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统计周期</a:t>
                      </a:r>
                      <a:r>
                        <a:rPr lang="en-US" altLang="zh-CN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2025</a:t>
                      </a:r>
                      <a:r>
                        <a:rPr lang="zh-CN" alt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年</a:t>
                      </a:r>
                      <a:r>
                        <a:rPr lang="en-US" altLang="zh-CN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</a:t>
                      </a:r>
                      <a:r>
                        <a:rPr lang="zh-CN" alt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月</a:t>
                      </a:r>
                      <a:r>
                        <a:rPr lang="en-US" altLang="zh-CN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-6</a:t>
                      </a:r>
                      <a:r>
                        <a:rPr lang="zh-CN" alt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月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331" marR="5331" marT="533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5331" marR="5331" marT="533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5331" marR="5331" marT="533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335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Query</a:t>
                      </a:r>
                      <a:r>
                        <a:rPr lang="zh-CN" alt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词</a:t>
                      </a:r>
                    </a:p>
                  </a:txBody>
                  <a:tcPr marL="5331" marR="5331" marT="53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搜索</a:t>
                      </a:r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QV</a:t>
                      </a:r>
                      <a:r>
                        <a:rPr lang="zh-CN" alt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排序</a:t>
                      </a:r>
                    </a:p>
                  </a:txBody>
                  <a:tcPr marL="5331" marR="5331" marT="533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1" i="0" u="none" strike="noStrike" dirty="0">
                          <a:solidFill>
                            <a:srgbClr val="FFFFFF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搜索 </a:t>
                      </a:r>
                      <a:r>
                        <a:rPr lang="en-US" sz="600" b="1" i="0" u="none" strike="noStrike" dirty="0">
                          <a:solidFill>
                            <a:srgbClr val="FFFFFF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QV</a:t>
                      </a:r>
                    </a:p>
                  </a:txBody>
                  <a:tcPr marL="5331" marR="5331" marT="5331" marB="0" anchor="ctr">
                    <a:lnL>
                      <a:noFill/>
                    </a:lnL>
                    <a:lnR>
                      <a:noFill/>
                    </a:lnR>
                    <a:lnB>
                      <a:noFill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搜索</a:t>
                      </a:r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GTV </a:t>
                      </a:r>
                    </a:p>
                  </a:txBody>
                  <a:tcPr marL="5331" marR="5331" marT="533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访购率</a:t>
                      </a:r>
                    </a:p>
                  </a:txBody>
                  <a:tcPr marL="5331" marR="5331" marT="533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1" i="0" u="none" strike="noStrike" dirty="0">
                          <a:solidFill>
                            <a:srgbClr val="FFFFFF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无结果 </a:t>
                      </a:r>
                      <a:r>
                        <a:rPr lang="en-US" sz="600" b="1" i="0" u="none" strike="noStrike" dirty="0">
                          <a:solidFill>
                            <a:srgbClr val="FFFFFF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QV</a:t>
                      </a:r>
                    </a:p>
                  </a:txBody>
                  <a:tcPr marL="5331" marR="5331" marT="5331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3157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早茶</a:t>
                      </a:r>
                    </a:p>
                  </a:txBody>
                  <a:tcPr marL="5331" marR="5331" marT="53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TOP 120</a:t>
                      </a:r>
                    </a:p>
                  </a:txBody>
                  <a:tcPr marL="5331" marR="5331" marT="533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20,911</a:t>
                      </a:r>
                    </a:p>
                  </a:txBody>
                  <a:tcPr marL="5331" marR="5331" marT="533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89,944 </a:t>
                      </a:r>
                    </a:p>
                  </a:txBody>
                  <a:tcPr marL="5331" marR="5331" marT="533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4.19%</a:t>
                      </a:r>
                    </a:p>
                  </a:txBody>
                  <a:tcPr marL="5331" marR="5331" marT="533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33</a:t>
                      </a:r>
                    </a:p>
                  </a:txBody>
                  <a:tcPr marL="5331" marR="5331" marT="5331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3157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下午茶</a:t>
                      </a:r>
                    </a:p>
                  </a:txBody>
                  <a:tcPr marL="5331" marR="5331" marT="53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TOP 151</a:t>
                      </a:r>
                    </a:p>
                  </a:txBody>
                  <a:tcPr marL="5331" marR="5331" marT="533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16,765</a:t>
                      </a:r>
                    </a:p>
                  </a:txBody>
                  <a:tcPr marL="5331" marR="5331" marT="533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32,815 </a:t>
                      </a:r>
                    </a:p>
                  </a:txBody>
                  <a:tcPr marL="5331" marR="5331" marT="533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2.91%</a:t>
                      </a:r>
                    </a:p>
                  </a:txBody>
                  <a:tcPr marL="5331" marR="5331" marT="533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43</a:t>
                      </a:r>
                    </a:p>
                  </a:txBody>
                  <a:tcPr marL="5331" marR="5331" marT="5331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3157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夜宵</a:t>
                      </a:r>
                    </a:p>
                  </a:txBody>
                  <a:tcPr marL="5331" marR="5331" marT="53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TOP 207</a:t>
                      </a:r>
                    </a:p>
                  </a:txBody>
                  <a:tcPr marL="5331" marR="5331" marT="533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12,444</a:t>
                      </a:r>
                    </a:p>
                  </a:txBody>
                  <a:tcPr marL="5331" marR="5331" marT="533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10,964 </a:t>
                      </a:r>
                    </a:p>
                  </a:txBody>
                  <a:tcPr marL="5331" marR="5331" marT="533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0.99%</a:t>
                      </a:r>
                    </a:p>
                  </a:txBody>
                  <a:tcPr marL="5331" marR="5331" marT="533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23</a:t>
                      </a:r>
                    </a:p>
                  </a:txBody>
                  <a:tcPr marL="5331" marR="5331" marT="5331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3157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减脂餐</a:t>
                      </a:r>
                    </a:p>
                  </a:txBody>
                  <a:tcPr marL="5331" marR="5331" marT="53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TOP 302</a:t>
                      </a:r>
                    </a:p>
                  </a:txBody>
                  <a:tcPr marL="5331" marR="5331" marT="533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8,751</a:t>
                      </a:r>
                    </a:p>
                  </a:txBody>
                  <a:tcPr marL="5331" marR="5331" marT="533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620 </a:t>
                      </a:r>
                    </a:p>
                  </a:txBody>
                  <a:tcPr marL="5331" marR="5331" marT="533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0.30%</a:t>
                      </a:r>
                    </a:p>
                  </a:txBody>
                  <a:tcPr marL="5331" marR="5331" marT="533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11</a:t>
                      </a:r>
                    </a:p>
                  </a:txBody>
                  <a:tcPr marL="5331" marR="5331" marT="5331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9139">
                <a:tc gridSpan="3">
                  <a:txBody>
                    <a:bodyPr/>
                    <a:lstStyle/>
                    <a:p>
                      <a:pPr algn="l" fontAlgn="ctr"/>
                      <a:r>
                        <a:rPr lang="zh-CN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节日节令</a:t>
                      </a:r>
                      <a:r>
                        <a:rPr lang="en-US" altLang="zh-CN" sz="12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/</a:t>
                      </a:r>
                      <a:r>
                        <a:rPr lang="zh-CN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热点需求</a:t>
                      </a:r>
                    </a:p>
                  </a:txBody>
                  <a:tcPr marL="5331" marR="5331" marT="533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5331" marR="5331" marT="533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5331" marR="5331" marT="533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331" marR="5331" marT="533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2335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Query</a:t>
                      </a:r>
                      <a:r>
                        <a:rPr lang="zh-CN" alt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词</a:t>
                      </a:r>
                    </a:p>
                  </a:txBody>
                  <a:tcPr marL="5331" marR="5331" marT="53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搜索</a:t>
                      </a:r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QV</a:t>
                      </a:r>
                      <a:r>
                        <a:rPr lang="zh-CN" alt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排序</a:t>
                      </a:r>
                    </a:p>
                  </a:txBody>
                  <a:tcPr marL="5331" marR="5331" marT="533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搜索 </a:t>
                      </a:r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QV</a:t>
                      </a:r>
                    </a:p>
                  </a:txBody>
                  <a:tcPr marL="5331" marR="5331" marT="5331" marB="0" anchor="ctr">
                    <a:lnL>
                      <a:noFill/>
                    </a:lnL>
                    <a:lnR>
                      <a:noFill/>
                    </a:lnR>
                    <a:lnB>
                      <a:noFill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搜索</a:t>
                      </a:r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GTV </a:t>
                      </a:r>
                    </a:p>
                  </a:txBody>
                  <a:tcPr marL="5331" marR="5331" marT="533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1" i="0" u="none" strike="noStrike" dirty="0">
                          <a:solidFill>
                            <a:srgbClr val="FFFFFF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访购率</a:t>
                      </a:r>
                    </a:p>
                  </a:txBody>
                  <a:tcPr marL="5331" marR="5331" marT="533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搜索</a:t>
                      </a:r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QV WoW</a:t>
                      </a:r>
                    </a:p>
                  </a:txBody>
                  <a:tcPr marL="5331" marR="5331" marT="5331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3157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年夜饭 </a:t>
                      </a:r>
                      <a:r>
                        <a:rPr lang="en-US" altLang="zh-CN" sz="4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2025.1.28</a:t>
                      </a:r>
                      <a:endParaRPr lang="zh-CN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5331" marR="5331" marT="53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TOP 52</a:t>
                      </a:r>
                    </a:p>
                  </a:txBody>
                  <a:tcPr marL="5331" marR="5331" marT="533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24,042 </a:t>
                      </a:r>
                    </a:p>
                  </a:txBody>
                  <a:tcPr marL="5331" marR="5331" marT="533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457,233 </a:t>
                      </a:r>
                    </a:p>
                  </a:txBody>
                  <a:tcPr marL="5331" marR="5331" marT="533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4.72%</a:t>
                      </a:r>
                    </a:p>
                  </a:txBody>
                  <a:tcPr marL="5331" marR="5331" marT="533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+259.5%</a:t>
                      </a:r>
                    </a:p>
                  </a:txBody>
                  <a:tcPr marL="5331" marR="5331" marT="5331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F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3157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母亲节 </a:t>
                      </a:r>
                      <a:r>
                        <a:rPr lang="en-US" altLang="zh-CN" sz="4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2025.5.11</a:t>
                      </a:r>
                      <a:endParaRPr lang="zh-CN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5331" marR="5331" marT="53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TOP 37</a:t>
                      </a:r>
                    </a:p>
                  </a:txBody>
                  <a:tcPr marL="5331" marR="5331" marT="533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88,361 </a:t>
                      </a:r>
                    </a:p>
                  </a:txBody>
                  <a:tcPr marL="5331" marR="5331" marT="533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111,270 </a:t>
                      </a:r>
                    </a:p>
                  </a:txBody>
                  <a:tcPr marL="5331" marR="5331" marT="533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1.59%</a:t>
                      </a:r>
                    </a:p>
                  </a:txBody>
                  <a:tcPr marL="5331" marR="5331" marT="533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+13992.66%</a:t>
                      </a:r>
                    </a:p>
                  </a:txBody>
                  <a:tcPr marL="5331" marR="5331" marT="5331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F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3157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青团 </a:t>
                      </a:r>
                      <a:r>
                        <a:rPr lang="en-US" altLang="zh-CN" sz="4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2025.4.4</a:t>
                      </a:r>
                      <a:endParaRPr lang="zh-CN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5331" marR="5331" marT="53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TOP 52</a:t>
                      </a:r>
                    </a:p>
                  </a:txBody>
                  <a:tcPr marL="5331" marR="5331" marT="533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69,957 </a:t>
                      </a:r>
                    </a:p>
                  </a:txBody>
                  <a:tcPr marL="5331" marR="5331" marT="533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39,654 </a:t>
                      </a:r>
                    </a:p>
                  </a:txBody>
                  <a:tcPr marL="5331" marR="5331" marT="533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3.90%</a:t>
                      </a:r>
                    </a:p>
                  </a:txBody>
                  <a:tcPr marL="5331" marR="5331" marT="533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+319.2%</a:t>
                      </a:r>
                    </a:p>
                  </a:txBody>
                  <a:tcPr marL="5331" marR="5331" marT="5331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F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3157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粽子 </a:t>
                      </a:r>
                      <a:r>
                        <a:rPr lang="en-US" altLang="zh-CN" sz="4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2025.5.31</a:t>
                      </a:r>
                      <a:endParaRPr lang="zh-CN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5331" marR="5331" marT="53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TOP 3</a:t>
                      </a:r>
                    </a:p>
                  </a:txBody>
                  <a:tcPr marL="5331" marR="5331" marT="533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481,677 </a:t>
                      </a:r>
                    </a:p>
                  </a:txBody>
                  <a:tcPr marL="5331" marR="5331" marT="533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167,737 </a:t>
                      </a:r>
                    </a:p>
                  </a:txBody>
                  <a:tcPr marL="5331" marR="5331" marT="533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1.26%</a:t>
                      </a:r>
                    </a:p>
                  </a:txBody>
                  <a:tcPr marL="5331" marR="5331" marT="533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+1927.52%</a:t>
                      </a:r>
                    </a:p>
                  </a:txBody>
                  <a:tcPr marL="5331" marR="5331" marT="5331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F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3157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长安的荔枝</a:t>
                      </a:r>
                      <a:r>
                        <a:rPr lang="en-US" altLang="zh-CN" sz="4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2025.7.19</a:t>
                      </a:r>
                      <a:endParaRPr lang="zh-CN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5331" marR="5331" marT="53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TOP 292</a:t>
                      </a:r>
                    </a:p>
                  </a:txBody>
                  <a:tcPr marL="5331" marR="5331" marT="533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32,156 </a:t>
                      </a:r>
                    </a:p>
                  </a:txBody>
                  <a:tcPr marL="5331" marR="5331" marT="533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152,109 </a:t>
                      </a:r>
                    </a:p>
                  </a:txBody>
                  <a:tcPr marL="5331" marR="5331" marT="533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8.57%</a:t>
                      </a:r>
                    </a:p>
                  </a:txBody>
                  <a:tcPr marL="5331" marR="5331" marT="533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+426.54%</a:t>
                      </a:r>
                    </a:p>
                  </a:txBody>
                  <a:tcPr marL="5331" marR="5331" marT="5331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7447" y="314418"/>
            <a:ext cx="1324800" cy="287108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6015" y="1749961"/>
            <a:ext cx="1325729" cy="28731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kumimoji="1" lang="zh-CN" altLang="en-US" dirty="0"/>
              <a:t>资产建设问题</a:t>
            </a:r>
          </a:p>
        </p:txBody>
      </p:sp>
      <p:sp>
        <p:nvSpPr>
          <p:cNvPr id="11" name="标题 1"/>
          <p:cNvSpPr>
            <a:spLocks noGrp="1"/>
          </p:cNvSpPr>
          <p:nvPr>
            <p:ph type="title"/>
          </p:nvPr>
        </p:nvSpPr>
        <p:spPr>
          <a:xfrm>
            <a:off x="307324" y="381794"/>
            <a:ext cx="8584470" cy="547945"/>
          </a:xfrm>
        </p:spPr>
        <p:txBody>
          <a:bodyPr/>
          <a:lstStyle/>
          <a:p>
            <a:r>
              <a:rPr lang="zh-CN" altLang="en-US" dirty="0"/>
              <a:t>核心资产未覆盖：时令品类</a:t>
            </a:r>
            <a:endParaRPr kumimoji="1" lang="zh-CN" altLang="en-US" sz="1000" dirty="0">
              <a:highlight>
                <a:srgbClr val="FFFF00"/>
              </a:highlight>
            </a:endParaRPr>
          </a:p>
        </p:txBody>
      </p:sp>
      <p:sp>
        <p:nvSpPr>
          <p:cNvPr id="12" name="内容占位符 2"/>
          <p:cNvSpPr>
            <a:spLocks noGrp="1"/>
          </p:cNvSpPr>
          <p:nvPr>
            <p:ph sz="quarter" idx="23"/>
          </p:nvPr>
        </p:nvSpPr>
        <p:spPr>
          <a:xfrm>
            <a:off x="6358896" y="1282484"/>
            <a:ext cx="2665623" cy="1942836"/>
          </a:xfrm>
        </p:spPr>
        <p:txBody>
          <a:bodyPr>
            <a:normAutofit fontScale="75000" lnSpcReduction="20000"/>
          </a:bodyPr>
          <a:lstStyle/>
          <a:p>
            <a:r>
              <a:rPr lang="zh-CN" altLang="en-US" sz="1100" dirty="0"/>
              <a:t>大闸蟹时令区间：</a:t>
            </a:r>
            <a:r>
              <a:rPr lang="en-US" altLang="zh-CN" sz="1100" dirty="0"/>
              <a:t>9</a:t>
            </a:r>
            <a:r>
              <a:rPr lang="zh-CN" altLang="en-US" sz="1100" dirty="0"/>
              <a:t>月</a:t>
            </a:r>
            <a:r>
              <a:rPr lang="en-US" altLang="zh-CN" sz="1100" dirty="0"/>
              <a:t>-12</a:t>
            </a:r>
            <a:r>
              <a:rPr lang="zh-CN" altLang="en-US" sz="1100" dirty="0"/>
              <a:t>月，极差</a:t>
            </a:r>
            <a:r>
              <a:rPr lang="en-US" altLang="zh-CN" sz="1100" dirty="0"/>
              <a:t>16.39%</a:t>
            </a:r>
            <a:r>
              <a:rPr lang="zh-CN" altLang="en-US" sz="1100" dirty="0"/>
              <a:t>；小龙虾时令区间：</a:t>
            </a:r>
            <a:r>
              <a:rPr lang="en-US" altLang="zh-CN" sz="1100" dirty="0"/>
              <a:t>4-7</a:t>
            </a:r>
            <a:r>
              <a:rPr lang="zh-CN" altLang="en-US" sz="1100" dirty="0"/>
              <a:t>月，极差</a:t>
            </a:r>
            <a:r>
              <a:rPr lang="en-US" altLang="zh-CN" sz="1100" dirty="0"/>
              <a:t>13.66%</a:t>
            </a:r>
          </a:p>
          <a:p>
            <a:r>
              <a:rPr lang="zh-CN" altLang="en-US" sz="1100" dirty="0"/>
              <a:t>菌菇火锅时令区间：</a:t>
            </a:r>
            <a:r>
              <a:rPr lang="en-US" altLang="zh-CN" sz="1100" dirty="0"/>
              <a:t>7-8</a:t>
            </a:r>
            <a:r>
              <a:rPr lang="zh-CN" altLang="en-US" sz="1100" dirty="0"/>
              <a:t>月，极差</a:t>
            </a:r>
            <a:r>
              <a:rPr lang="en-US" altLang="zh-CN" sz="1100" dirty="0"/>
              <a:t>10.52%</a:t>
            </a:r>
            <a:r>
              <a:rPr lang="zh-CN" altLang="en-US" sz="1100" dirty="0"/>
              <a:t>；海鲜时令区间：</a:t>
            </a:r>
            <a:r>
              <a:rPr lang="en-US" altLang="zh-CN" sz="1100" dirty="0"/>
              <a:t>7-8</a:t>
            </a:r>
            <a:r>
              <a:rPr lang="zh-CN" altLang="en-US" sz="1100" dirty="0"/>
              <a:t>月，极差</a:t>
            </a:r>
            <a:r>
              <a:rPr lang="en-US" altLang="zh-CN" sz="1100" dirty="0"/>
              <a:t>6.91%</a:t>
            </a:r>
          </a:p>
          <a:p>
            <a:r>
              <a:rPr lang="zh-CN" altLang="en-US" sz="1100" dirty="0"/>
              <a:t>东北菜时令区间：</a:t>
            </a:r>
            <a:r>
              <a:rPr lang="en-US" altLang="zh-CN" sz="1100" dirty="0"/>
              <a:t>1-3</a:t>
            </a:r>
            <a:r>
              <a:rPr lang="zh-CN" altLang="en-US" sz="1100" dirty="0"/>
              <a:t>月、</a:t>
            </a:r>
            <a:r>
              <a:rPr lang="en-US" altLang="zh-CN" sz="1100" dirty="0"/>
              <a:t>10-12</a:t>
            </a:r>
            <a:r>
              <a:rPr lang="zh-CN" altLang="en-US" sz="1100" dirty="0"/>
              <a:t>月，极差</a:t>
            </a:r>
            <a:r>
              <a:rPr lang="en-US" altLang="zh-CN" sz="1100" dirty="0"/>
              <a:t>6.61%</a:t>
            </a:r>
            <a:r>
              <a:rPr lang="zh-CN" altLang="en-US" sz="1100" dirty="0"/>
              <a:t>；贵州菜时令区间：</a:t>
            </a:r>
            <a:r>
              <a:rPr lang="en-US" altLang="zh-CN" sz="1100" dirty="0"/>
              <a:t>7-8</a:t>
            </a:r>
            <a:r>
              <a:rPr lang="zh-CN" altLang="en-US" sz="1100" dirty="0"/>
              <a:t>月，极差</a:t>
            </a:r>
            <a:r>
              <a:rPr lang="en-US" altLang="zh-CN" sz="1100" dirty="0"/>
              <a:t>6.56%</a:t>
            </a:r>
          </a:p>
          <a:p>
            <a:r>
              <a:rPr lang="zh-CN" altLang="en-US" sz="1100" dirty="0"/>
              <a:t>豫菜时令区间：</a:t>
            </a:r>
            <a:r>
              <a:rPr lang="en-US" altLang="zh-CN" sz="1100" dirty="0"/>
              <a:t>1-3</a:t>
            </a:r>
            <a:r>
              <a:rPr lang="zh-CN" altLang="en-US" sz="1100" dirty="0"/>
              <a:t>月、</a:t>
            </a:r>
            <a:r>
              <a:rPr lang="en-US" altLang="zh-CN" sz="1100" dirty="0"/>
              <a:t>8</a:t>
            </a:r>
            <a:r>
              <a:rPr lang="zh-CN" altLang="en-US" sz="1100" dirty="0"/>
              <a:t>月，极差</a:t>
            </a:r>
            <a:r>
              <a:rPr lang="en-US" altLang="zh-CN" sz="1100" dirty="0"/>
              <a:t>6.44%</a:t>
            </a:r>
            <a:r>
              <a:rPr lang="zh-CN" altLang="en-US" sz="1100" dirty="0"/>
              <a:t>；闽菜时令区间</a:t>
            </a:r>
            <a:r>
              <a:rPr lang="en-US" altLang="zh-CN" sz="1100" dirty="0"/>
              <a:t>10-12</a:t>
            </a:r>
            <a:r>
              <a:rPr lang="zh-CN" altLang="en-US" sz="1100" dirty="0"/>
              <a:t>月、</a:t>
            </a:r>
            <a:r>
              <a:rPr lang="en-US" altLang="zh-CN" sz="1100" dirty="0"/>
              <a:t>1-3</a:t>
            </a:r>
            <a:r>
              <a:rPr lang="zh-CN" altLang="en-US" sz="1100" dirty="0"/>
              <a:t>月，极差</a:t>
            </a:r>
            <a:r>
              <a:rPr lang="en-US" altLang="zh-CN" sz="1100" dirty="0"/>
              <a:t>6.28%</a:t>
            </a:r>
          </a:p>
          <a:p>
            <a:r>
              <a:rPr lang="zh-CN" altLang="en-US" sz="1100" dirty="0"/>
              <a:t>江西菜时令区间：</a:t>
            </a:r>
            <a:r>
              <a:rPr lang="en-US" altLang="zh-CN" sz="1100" dirty="0"/>
              <a:t>1-3</a:t>
            </a:r>
            <a:r>
              <a:rPr lang="zh-CN" altLang="en-US" sz="1100" dirty="0"/>
              <a:t>月、</a:t>
            </a:r>
            <a:r>
              <a:rPr lang="en-US" altLang="zh-CN" sz="1100" dirty="0"/>
              <a:t>8</a:t>
            </a:r>
            <a:r>
              <a:rPr lang="zh-CN" altLang="en-US" sz="1100" dirty="0"/>
              <a:t>月、</a:t>
            </a:r>
            <a:r>
              <a:rPr lang="en-US" altLang="zh-CN" sz="1100" dirty="0"/>
              <a:t>10</a:t>
            </a:r>
            <a:r>
              <a:rPr lang="zh-CN" altLang="en-US" sz="1100" dirty="0"/>
              <a:t>月、</a:t>
            </a:r>
            <a:r>
              <a:rPr lang="en-US" altLang="zh-CN" sz="1100" dirty="0"/>
              <a:t>12</a:t>
            </a:r>
            <a:r>
              <a:rPr lang="zh-CN" altLang="en-US" sz="1100" dirty="0"/>
              <a:t>月，极差</a:t>
            </a:r>
            <a:r>
              <a:rPr lang="en-US" altLang="zh-CN" sz="1100" dirty="0"/>
              <a:t>6.10%</a:t>
            </a:r>
            <a:r>
              <a:rPr lang="zh-CN" altLang="en-US" sz="1100" dirty="0"/>
              <a:t>；老北京火锅时令区间：</a:t>
            </a:r>
            <a:r>
              <a:rPr lang="en-US" altLang="zh-CN" sz="1100" dirty="0"/>
              <a:t>1-3</a:t>
            </a:r>
            <a:r>
              <a:rPr lang="zh-CN" altLang="en-US" sz="1100" dirty="0"/>
              <a:t>月、</a:t>
            </a:r>
            <a:r>
              <a:rPr lang="en-US" altLang="zh-CN" sz="1100" dirty="0"/>
              <a:t>10-12</a:t>
            </a:r>
            <a:r>
              <a:rPr lang="zh-CN" altLang="en-US" sz="1100" dirty="0"/>
              <a:t>月，极差</a:t>
            </a:r>
            <a:r>
              <a:rPr lang="en-US" altLang="zh-CN" sz="1100" dirty="0"/>
              <a:t>5.62%</a:t>
            </a:r>
            <a:r>
              <a:rPr lang="zh-CN" altLang="en-US" sz="1100" dirty="0"/>
              <a:t>。</a:t>
            </a:r>
            <a:endParaRPr lang="en-US" altLang="zh-CN" sz="1100" dirty="0"/>
          </a:p>
        </p:txBody>
      </p:sp>
      <p:sp>
        <p:nvSpPr>
          <p:cNvPr id="14" name="内容占位符 2"/>
          <p:cNvSpPr txBox="1"/>
          <p:nvPr/>
        </p:nvSpPr>
        <p:spPr>
          <a:xfrm>
            <a:off x="317137" y="815302"/>
            <a:ext cx="8374957" cy="54794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12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/>
                </a:solidFill>
                <a:latin typeface="Calibri" panose="020F0502020204030204" pitchFamily="34" charset="0"/>
                <a:ea typeface="楷体" panose="02010609060101010101" pitchFamily="49" charset="-122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12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12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12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12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100" dirty="0"/>
              <a:t>时令品类筛选规则：根据</a:t>
            </a:r>
            <a:r>
              <a:rPr lang="en-US" altLang="zh-CN" sz="1100" dirty="0"/>
              <a:t>2024</a:t>
            </a:r>
            <a:r>
              <a:rPr lang="zh-CN" altLang="en-US" sz="1100" dirty="0"/>
              <a:t>年</a:t>
            </a:r>
            <a:r>
              <a:rPr lang="en-US" altLang="zh-CN" sz="1100" dirty="0"/>
              <a:t>1</a:t>
            </a:r>
            <a:r>
              <a:rPr lang="zh-CN" altLang="en-US" sz="1100" dirty="0"/>
              <a:t>月</a:t>
            </a:r>
            <a:r>
              <a:rPr lang="en-US" altLang="zh-CN" sz="1100" dirty="0"/>
              <a:t>-12</a:t>
            </a:r>
            <a:r>
              <a:rPr lang="zh-CN" altLang="en-US" sz="1100" dirty="0"/>
              <a:t>月每月</a:t>
            </a:r>
            <a:r>
              <a:rPr lang="en-US" altLang="zh-CN" sz="1100" dirty="0"/>
              <a:t>GTV</a:t>
            </a:r>
            <a:r>
              <a:rPr lang="zh-CN" altLang="en-US" sz="1100" dirty="0"/>
              <a:t>金额（万元）占该品类全年</a:t>
            </a:r>
            <a:r>
              <a:rPr lang="en-US" altLang="zh-CN" sz="1100" dirty="0"/>
              <a:t>GTV</a:t>
            </a:r>
            <a:r>
              <a:rPr lang="zh-CN" altLang="en-US" sz="1100" dirty="0"/>
              <a:t>的比，选取极大值月</a:t>
            </a:r>
            <a:r>
              <a:rPr lang="en-US" altLang="zh-CN" sz="1100" dirty="0"/>
              <a:t>-</a:t>
            </a:r>
            <a:r>
              <a:rPr lang="zh-CN" altLang="en-US" sz="1100" dirty="0"/>
              <a:t>极小值月，极差</a:t>
            </a:r>
            <a:r>
              <a:rPr lang="en-US" altLang="zh-CN" sz="1100" dirty="0"/>
              <a:t>&gt;5.5%</a:t>
            </a:r>
            <a:r>
              <a:rPr lang="zh-CN" altLang="en-US" sz="1100" dirty="0"/>
              <a:t>的品类列示（仅正餐），针对时令高热品类，后续举措考虑提前进行时令榜单运营。</a:t>
            </a:r>
            <a:endParaRPr lang="zh-CN" altLang="en-US" sz="1000" dirty="0"/>
          </a:p>
        </p:txBody>
      </p:sp>
      <p:sp>
        <p:nvSpPr>
          <p:cNvPr id="15" name="文本框 14"/>
          <p:cNvSpPr txBox="1"/>
          <p:nvPr/>
        </p:nvSpPr>
        <p:spPr>
          <a:xfrm>
            <a:off x="317152" y="3144557"/>
            <a:ext cx="7918665" cy="23744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1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楷体" panose="02010609060101010101" pitchFamily="49" charset="-122"/>
                <a:cs typeface="+mn-cs"/>
              </a:rPr>
              <a:t>联动</a:t>
            </a:r>
            <a:r>
              <a:rPr lang="en-US" altLang="zh-CN" sz="11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楷体" panose="02010609060101010101" pitchFamily="49" charset="-122"/>
                <a:cs typeface="Arial" panose="020B0604020202020204" pitchFamily="34" charset="0"/>
              </a:rPr>
              <a:t>AI</a:t>
            </a:r>
            <a:r>
              <a:rPr lang="zh-CN" altLang="en-US" sz="11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楷体" panose="02010609060101010101" pitchFamily="49" charset="-122"/>
                <a:cs typeface="Arial" panose="020B0604020202020204" pitchFamily="34" charset="0"/>
              </a:rPr>
              <a:t>、数据挖掘团队，进行如微博热搜、抖音热榜、小红书、各地文旅局热榜等站外美食、菜品热词定期预警：</a:t>
            </a:r>
          </a:p>
          <a:p>
            <a:pPr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defRPr/>
            </a:pP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楷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楷体" panose="02010609060101010101" pitchFamily="49" charset="-122"/>
              <a:cs typeface="+mn-cs"/>
            </a:endParaRPr>
          </a:p>
        </p:txBody>
      </p:sp>
      <p:pic>
        <p:nvPicPr>
          <p:cNvPr id="16" name="图片 15" descr="upload_post_object_v2_985138263"/>
          <p:cNvPicPr>
            <a:picLocks noChangeAspect="1"/>
          </p:cNvPicPr>
          <p:nvPr/>
        </p:nvPicPr>
        <p:blipFill>
          <a:blip r:embed="rId2"/>
          <a:srcRect b="6905"/>
          <a:stretch>
            <a:fillRect/>
          </a:stretch>
        </p:blipFill>
        <p:spPr>
          <a:xfrm>
            <a:off x="3658494" y="3472801"/>
            <a:ext cx="2122208" cy="1480834"/>
          </a:xfrm>
          <a:prstGeom prst="rect">
            <a:avLst/>
          </a:prstGeom>
        </p:spPr>
      </p:pic>
      <p:sp>
        <p:nvSpPr>
          <p:cNvPr id="17" name="内容占位符 2"/>
          <p:cNvSpPr>
            <a:spLocks noGrp="1"/>
          </p:cNvSpPr>
          <p:nvPr/>
        </p:nvSpPr>
        <p:spPr>
          <a:xfrm>
            <a:off x="438032" y="3345207"/>
            <a:ext cx="2724610" cy="16249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12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/>
                </a:solidFill>
                <a:latin typeface="Calibri" panose="020F0502020204030204" pitchFamily="34" charset="0"/>
                <a:ea typeface="楷体" panose="02010609060101010101" pitchFamily="49" charset="-122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12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12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12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12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100" b="1" dirty="0">
                <a:solidFill>
                  <a:srgbClr val="FF0000"/>
                </a:solidFill>
              </a:rPr>
              <a:t>2</a:t>
            </a:r>
            <a:r>
              <a:rPr lang="en-US" altLang="zh-CN" sz="1100" b="1" dirty="0">
                <a:solidFill>
                  <a:srgbClr val="FF0000"/>
                </a:solidFill>
              </a:rPr>
              <a:t>025</a:t>
            </a:r>
            <a:r>
              <a:rPr lang="zh-CN" altLang="en-US" sz="1100" b="1" dirty="0">
                <a:solidFill>
                  <a:srgbClr val="FF0000"/>
                </a:solidFill>
              </a:rPr>
              <a:t>美食热词：</a:t>
            </a:r>
            <a:endParaRPr lang="en-US" altLang="zh-CN" sz="1100" b="1" dirty="0">
              <a:solidFill>
                <a:srgbClr val="FF0000"/>
              </a:solidFill>
            </a:endParaRPr>
          </a:p>
          <a:p>
            <a:endParaRPr lang="zh-CN" altLang="en-US" sz="1100" b="1" dirty="0">
              <a:solidFill>
                <a:srgbClr val="FF0000"/>
              </a:solidFill>
            </a:endParaRPr>
          </a:p>
          <a:p>
            <a:endParaRPr lang="en-US" altLang="zh-CN" sz="1100" dirty="0"/>
          </a:p>
        </p:txBody>
      </p:sp>
      <p:sp>
        <p:nvSpPr>
          <p:cNvPr id="18" name="米菲PPT32"/>
          <p:cNvSpPr/>
          <p:nvPr/>
        </p:nvSpPr>
        <p:spPr>
          <a:xfrm>
            <a:off x="651387" y="3701422"/>
            <a:ext cx="801445" cy="357713"/>
          </a:xfrm>
          <a:prstGeom prst="roundRect">
            <a:avLst/>
          </a:prstGeom>
          <a:gradFill>
            <a:gsLst>
              <a:gs pos="0">
                <a:srgbClr val="F57359">
                  <a:lumMod val="84000"/>
                </a:srgbClr>
              </a:gs>
              <a:gs pos="100000">
                <a:srgbClr val="F57359"/>
              </a:gs>
            </a:gsLst>
            <a:path path="circle">
              <a:fillToRect l="100000" t="100000"/>
            </a:path>
          </a:gradFill>
          <a:ln w="12700" cap="flat" cmpd="sng" algn="ctr">
            <a:noFill/>
            <a:prstDash val="solid"/>
            <a:miter lim="800000"/>
          </a:ln>
          <a:effectLst>
            <a:outerShdw blurRad="469900" dist="139700" dir="5400000" algn="t" rotWithShape="0">
              <a:srgbClr val="F57359">
                <a:alpha val="24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rPr>
              <a:t>鸡排哥</a:t>
            </a:r>
          </a:p>
        </p:txBody>
      </p:sp>
      <p:sp>
        <p:nvSpPr>
          <p:cNvPr id="19" name="米菲PPT32"/>
          <p:cNvSpPr/>
          <p:nvPr/>
        </p:nvSpPr>
        <p:spPr>
          <a:xfrm>
            <a:off x="1039359" y="4027710"/>
            <a:ext cx="1052144" cy="452318"/>
          </a:xfrm>
          <a:prstGeom prst="roundRect">
            <a:avLst/>
          </a:prstGeom>
          <a:solidFill>
            <a:srgbClr val="FFC000">
              <a:alpha val="100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469900" dist="139700" dir="5400000" algn="t" rotWithShape="0">
              <a:srgbClr val="F57359">
                <a:alpha val="24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kern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Sans Bold" charset="0"/>
                <a:ea typeface="MiSans Bold" charset="0"/>
                <a:cs typeface="MiSans Medium" charset="0"/>
                <a:sym typeface="MiSans Bold" panose="00000800000000000000" pitchFamily="2" charset="-122"/>
              </a:rPr>
              <a:t>贵州</a:t>
            </a:r>
            <a:r>
              <a:rPr lang="zh-CN" altLang="en-US" sz="1200" kern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Sans Bold" charset="0"/>
                <a:ea typeface="MiSans Bold" charset="0"/>
                <a:cs typeface="Arial" panose="020B0604020202020204" pitchFamily="34" charset="0"/>
                <a:sym typeface="MiSans Bold" panose="00000800000000000000" pitchFamily="2" charset="-122"/>
              </a:rPr>
              <a:t>酸汤</a:t>
            </a:r>
            <a:endParaRPr lang="zh-CN" altLang="en-US">
              <a:latin typeface="MiSans Bold" panose="00000800000000000000" pitchFamily="2" charset="-122"/>
              <a:ea typeface="MiSans Bold" panose="00000800000000000000" pitchFamily="2" charset="-122"/>
              <a:cs typeface="MiSans Medium" panose="00000600000000000000" pitchFamily="2" charset="-122"/>
              <a:sym typeface="MiSans Bold" panose="00000800000000000000" pitchFamily="2" charset="-122"/>
            </a:endParaRPr>
          </a:p>
        </p:txBody>
      </p:sp>
      <p:sp>
        <p:nvSpPr>
          <p:cNvPr id="20" name="米菲PPT32"/>
          <p:cNvSpPr/>
          <p:nvPr/>
        </p:nvSpPr>
        <p:spPr>
          <a:xfrm>
            <a:off x="399957" y="4381750"/>
            <a:ext cx="1090364" cy="452318"/>
          </a:xfrm>
          <a:prstGeom prst="roundRect">
            <a:avLst/>
          </a:prstGeom>
          <a:solidFill>
            <a:srgbClr val="BF9000">
              <a:alpha val="100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469900" dist="139700" dir="5400000" algn="t" rotWithShape="0">
              <a:srgbClr val="F57359">
                <a:alpha val="24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kern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rPr>
              <a:t>荔枝</a:t>
            </a:r>
            <a:r>
              <a:rPr lang="zh-CN" altLang="en-US" sz="1200" kern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Sans Bold" panose="00000800000000000000" pitchFamily="2" charset="-122"/>
                <a:ea typeface="MiSans Bold" panose="00000800000000000000" pitchFamily="2" charset="-122"/>
                <a:cs typeface="Arial" panose="020B0604020202020204" pitchFamily="34" charset="0"/>
                <a:sym typeface="MiSans Bold" panose="00000800000000000000" pitchFamily="2" charset="-122"/>
              </a:rPr>
              <a:t>排骨</a:t>
            </a:r>
            <a:endParaRPr lang="zh-CN" altLang="en-US">
              <a:latin typeface="MiSans Bold" panose="00000800000000000000" pitchFamily="2" charset="-122"/>
              <a:ea typeface="MiSans Bold" panose="00000800000000000000" pitchFamily="2" charset="-122"/>
              <a:cs typeface="MiSans Medium" panose="00000600000000000000" pitchFamily="2" charset="-122"/>
              <a:sym typeface="MiSans Bold" panose="00000800000000000000" pitchFamily="2" charset="-122"/>
            </a:endParaRPr>
          </a:p>
        </p:txBody>
      </p:sp>
      <p:sp>
        <p:nvSpPr>
          <p:cNvPr id="21" name="米菲PPT32"/>
          <p:cNvSpPr/>
          <p:nvPr/>
        </p:nvSpPr>
        <p:spPr>
          <a:xfrm>
            <a:off x="1920301" y="4145656"/>
            <a:ext cx="1090364" cy="452318"/>
          </a:xfrm>
          <a:prstGeom prst="roundRect">
            <a:avLst/>
          </a:prstGeom>
          <a:solidFill>
            <a:srgbClr val="8FAADC">
              <a:alpha val="100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469900" dist="139700" dir="5400000" algn="t" rotWithShape="0">
              <a:srgbClr val="F57359">
                <a:alpha val="24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kern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Sans Bold" charset="0"/>
                <a:ea typeface="MiSans Bold" charset="0"/>
                <a:cs typeface="MiSans Medium" charset="0"/>
                <a:sym typeface="MiSans Bold" panose="00000800000000000000" pitchFamily="2" charset="-122"/>
              </a:rPr>
              <a:t>水火锅</a:t>
            </a:r>
            <a:endParaRPr lang="zh-CN" altLang="en-US">
              <a:latin typeface="MiSans Bold" panose="00000800000000000000" pitchFamily="2" charset="-122"/>
              <a:ea typeface="MiSans Bold" panose="00000800000000000000" pitchFamily="2" charset="-122"/>
              <a:cs typeface="MiSans Medium" panose="00000600000000000000" pitchFamily="2" charset="-122"/>
              <a:sym typeface="MiSans Bold" panose="00000800000000000000" pitchFamily="2" charset="-122"/>
            </a:endParaRPr>
          </a:p>
        </p:txBody>
      </p:sp>
      <p:sp>
        <p:nvSpPr>
          <p:cNvPr id="22" name="米菲PPT32"/>
          <p:cNvSpPr/>
          <p:nvPr/>
        </p:nvSpPr>
        <p:spPr>
          <a:xfrm>
            <a:off x="1314479" y="4480051"/>
            <a:ext cx="1090364" cy="404543"/>
          </a:xfrm>
          <a:prstGeom prst="roundRect">
            <a:avLst/>
          </a:prstGeom>
          <a:solidFill>
            <a:srgbClr val="BDD7EE">
              <a:alpha val="100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469900" dist="139700" dir="5400000" algn="t" rotWithShape="0">
              <a:srgbClr val="F57359">
                <a:alpha val="24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>
                <a:solidFill>
                  <a:srgbClr val="FFFFFF"/>
                </a:solidFill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rPr>
              <a:t>鸡煲</a:t>
            </a:r>
          </a:p>
        </p:txBody>
      </p:sp>
      <p:sp>
        <p:nvSpPr>
          <p:cNvPr id="23" name="米菲PPT32"/>
          <p:cNvSpPr/>
          <p:nvPr/>
        </p:nvSpPr>
        <p:spPr>
          <a:xfrm>
            <a:off x="2215426" y="3770980"/>
            <a:ext cx="1090364" cy="452318"/>
          </a:xfrm>
          <a:prstGeom prst="roundRect">
            <a:avLst/>
          </a:prstGeom>
          <a:solidFill>
            <a:srgbClr val="C9C9C9">
              <a:alpha val="100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469900" dist="139700" dir="5400000" algn="t" rotWithShape="0">
              <a:srgbClr val="F57359">
                <a:alpha val="24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>
                <a:solidFill>
                  <a:srgbClr val="FFFFFF"/>
                </a:solidFill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rPr>
              <a:t>干蒸菜</a:t>
            </a:r>
          </a:p>
        </p:txBody>
      </p:sp>
      <p:pic>
        <p:nvPicPr>
          <p:cNvPr id="24" name="图片 23" descr="upload_post_object_v2_528069799"/>
          <p:cNvPicPr>
            <a:picLocks noChangeAspect="1"/>
          </p:cNvPicPr>
          <p:nvPr/>
        </p:nvPicPr>
        <p:blipFill>
          <a:blip r:embed="rId3"/>
          <a:srcRect t="3901" r="2086"/>
          <a:stretch>
            <a:fillRect/>
          </a:stretch>
        </p:blipFill>
        <p:spPr>
          <a:xfrm>
            <a:off x="5981359" y="3472794"/>
            <a:ext cx="858866" cy="1497338"/>
          </a:xfrm>
          <a:prstGeom prst="rect">
            <a:avLst/>
          </a:prstGeom>
        </p:spPr>
      </p:pic>
      <p:pic>
        <p:nvPicPr>
          <p:cNvPr id="25" name="图片 24" descr="upload_post_object_v2_261290400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1476" y="3472801"/>
            <a:ext cx="951656" cy="1538605"/>
          </a:xfrm>
          <a:prstGeom prst="rect">
            <a:avLst/>
          </a:prstGeom>
        </p:spPr>
      </p:pic>
      <p:sp>
        <p:nvSpPr>
          <p:cNvPr id="26" name="米菲PPT32"/>
          <p:cNvSpPr/>
          <p:nvPr/>
        </p:nvSpPr>
        <p:spPr>
          <a:xfrm>
            <a:off x="1378579" y="3627421"/>
            <a:ext cx="1052144" cy="452318"/>
          </a:xfrm>
          <a:prstGeom prst="roundRect">
            <a:avLst/>
          </a:prstGeom>
          <a:solidFill>
            <a:srgbClr val="C5E0B4">
              <a:alpha val="100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469900" dist="139700" dir="5400000" algn="t" rotWithShape="0">
              <a:srgbClr val="F57359">
                <a:alpha val="24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kern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Sans Bold" charset="0"/>
                <a:ea typeface="MiSans Bold" charset="0"/>
                <a:cs typeface="MiSans Medium" charset="0"/>
                <a:sym typeface="MiSans Bold" panose="00000800000000000000" pitchFamily="2" charset="-122"/>
              </a:rPr>
              <a:t>地摊火锅</a:t>
            </a:r>
            <a:endParaRPr lang="zh-CN" altLang="en-US">
              <a:latin typeface="MiSans Bold" panose="00000800000000000000" pitchFamily="2" charset="-122"/>
              <a:ea typeface="MiSans Bold" panose="00000800000000000000" pitchFamily="2" charset="-122"/>
              <a:cs typeface="MiSans Medium" panose="00000600000000000000" pitchFamily="2" charset="-122"/>
              <a:sym typeface="MiSans Bold" panose="00000800000000000000" pitchFamily="2" charset="-122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257790" y="1359724"/>
          <a:ext cx="6096000" cy="1677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10357485" imgH="2850515" progId="Excel.Sheet.12">
                  <p:embed/>
                </p:oleObj>
              </mc:Choice>
              <mc:Fallback>
                <p:oleObj name="Worksheet" r:id="rId5" imgW="10357485" imgH="2850515" progId="Excel.Sheet.12">
                  <p:embed/>
                  <p:pic>
                    <p:nvPicPr>
                      <p:cNvPr id="0" name="对象 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57790" y="1359724"/>
                        <a:ext cx="6096000" cy="16779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8705" y="328609"/>
            <a:ext cx="8584470" cy="547945"/>
          </a:xfrm>
        </p:spPr>
        <p:txBody>
          <a:bodyPr/>
          <a:lstStyle/>
          <a:p>
            <a:r>
              <a:rPr lang="zh-CN" altLang="en-US" dirty="0"/>
              <a:t>核心资产未覆盖：</a:t>
            </a:r>
            <a:r>
              <a:rPr kumimoji="1" lang="zh-CN" altLang="en-US" dirty="0"/>
              <a:t>榜单场景心智缺失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kumimoji="1" lang="zh-CN" altLang="en-US" dirty="0"/>
              <a:t>榜单覆盖问题</a:t>
            </a:r>
          </a:p>
        </p:txBody>
      </p:sp>
      <p:graphicFrame>
        <p:nvGraphicFramePr>
          <p:cNvPr id="7" name="表格 6"/>
          <p:cNvGraphicFramePr/>
          <p:nvPr>
            <p:custDataLst>
              <p:tags r:id="rId1"/>
            </p:custDataLst>
          </p:nvPr>
        </p:nvGraphicFramePr>
        <p:xfrm>
          <a:off x="308705" y="1297306"/>
          <a:ext cx="8407782" cy="387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88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356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37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547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547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0692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100" b="1" dirty="0">
                          <a:solidFill>
                            <a:schemeClr val="tx1"/>
                          </a:solidFill>
                        </a:rPr>
                        <a:t>平台</a:t>
                      </a:r>
                    </a:p>
                  </a:txBody>
                  <a:tcPr marL="68580" marR="68580" marT="34290" marB="34290" anchor="ctr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3175" cmpd="sng">
                      <a:solidFill>
                        <a:schemeClr val="tx1"/>
                      </a:solidFill>
                      <a:prstDash val="sysDot"/>
                    </a:lnR>
                    <a:lnT w="3175" cmpd="sng">
                      <a:solidFill>
                        <a:schemeClr val="tx1"/>
                      </a:solidFill>
                      <a:prstDash val="sysDot"/>
                    </a:lnT>
                    <a:lnB w="3175" cmpd="sng">
                      <a:solidFill>
                        <a:schemeClr val="tx1"/>
                      </a:solidFill>
                      <a:prstDash val="sysDot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1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  <a:sym typeface="+mn-ea"/>
                        </a:rPr>
                        <a:t>点评主题榜</a:t>
                      </a:r>
                      <a:endParaRPr lang="zh-CN" altLang="en-US" sz="800" dirty="0">
                        <a:solidFill>
                          <a:schemeClr val="tx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  <a:sym typeface="+mn-ea"/>
                      </a:endParaRPr>
                    </a:p>
                  </a:txBody>
                  <a:tcPr marL="68580" marR="68580" marT="34290" marB="34290" anchor="b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mpd="sng">
                      <a:solidFill>
                        <a:schemeClr val="tx1"/>
                      </a:solidFill>
                      <a:prstDash val="sysDot"/>
                    </a:lnT>
                    <a:lnB w="3175" cmpd="sng">
                      <a:solidFill>
                        <a:schemeClr val="tx1"/>
                      </a:solidFill>
                      <a:prstDash val="sysDot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1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  <a:sym typeface="+mn-ea"/>
                        </a:rPr>
                        <a:t>点评当地人推荐</a:t>
                      </a:r>
                    </a:p>
                  </a:txBody>
                  <a:tcPr marL="68580" marR="68580" marT="34290" marB="34290" anchor="b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mpd="sng">
                      <a:solidFill>
                        <a:schemeClr val="tx1"/>
                      </a:solidFill>
                      <a:prstDash val="sysDot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1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  <a:sym typeface="+mn-ea"/>
                        </a:rPr>
                        <a:t>美团当地人推荐</a:t>
                      </a:r>
                    </a:p>
                  </a:txBody>
                  <a:tcPr marL="68580" marR="68580" marT="34290" marB="34290" anchor="b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mpd="sng">
                      <a:solidFill>
                        <a:schemeClr val="tx1"/>
                      </a:solidFill>
                      <a:prstDash val="sysDot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buNone/>
                      </a:pPr>
                      <a:r>
                        <a:rPr lang="zh-CN" altLang="en-US" sz="1100" b="1" kern="12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美食</a:t>
                      </a:r>
                      <a:r>
                        <a:rPr lang="zh-CN" altLang="en-GB" sz="1100" b="1" kern="12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发现</a:t>
                      </a:r>
                      <a:r>
                        <a:rPr lang="en-US" altLang="zh-CN" sz="1100" b="1" kern="12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tab</a:t>
                      </a:r>
                      <a:endParaRPr lang="zh-CN" altLang="en-US" sz="1100" b="1" kern="1200" dirty="0">
                        <a:solidFill>
                          <a:schemeClr val="tx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  <a:sym typeface="+mn-ea"/>
                      </a:endParaRPr>
                    </a:p>
                  </a:txBody>
                  <a:tcPr marL="68580" marR="68580" marT="34290" marB="34290" anchor="b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3175" cmpd="sng">
                      <a:solidFill>
                        <a:schemeClr val="tx1"/>
                      </a:solidFill>
                      <a:prstDash val="sysDot"/>
                    </a:lnR>
                    <a:lnT w="3175" cmpd="sng">
                      <a:solidFill>
                        <a:schemeClr val="tx1"/>
                      </a:solidFill>
                      <a:prstDash val="sysDot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1588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050" b="1" dirty="0">
                          <a:solidFill>
                            <a:schemeClr val="tx1"/>
                          </a:solidFill>
                        </a:rPr>
                        <a:t>规则概述</a:t>
                      </a:r>
                    </a:p>
                  </a:txBody>
                  <a:tcPr marL="68580" marR="68580" marT="34290" marB="34290" anchor="ctr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3175" cmpd="sng">
                      <a:solidFill>
                        <a:schemeClr val="tx1"/>
                      </a:solidFill>
                      <a:prstDash val="sysDot"/>
                    </a:lnR>
                    <a:lnT w="3175" cmpd="sng">
                      <a:solidFill>
                        <a:schemeClr val="tx1"/>
                      </a:solidFill>
                      <a:prstDash val="sysDot"/>
                    </a:lnT>
                    <a:lnB w="3175" cmpd="sng">
                      <a:solidFill>
                        <a:schemeClr val="tx1"/>
                      </a:solidFill>
                      <a:prstDash val="sysDot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dirty="0">
                          <a:effectLst/>
                        </a:rPr>
                        <a:t>按</a:t>
                      </a:r>
                      <a:r>
                        <a:rPr lang="zh-CN" altLang="en-US" sz="900" b="1" dirty="0">
                          <a:effectLst/>
                        </a:rPr>
                        <a:t>「区域</a:t>
                      </a:r>
                      <a:r>
                        <a:rPr lang="en-US" altLang="zh-CN" sz="900" b="1" dirty="0">
                          <a:effectLst/>
                        </a:rPr>
                        <a:t>×</a:t>
                      </a:r>
                      <a:r>
                        <a:rPr lang="zh-CN" altLang="en-US" sz="900" b="1" dirty="0">
                          <a:effectLst/>
                        </a:rPr>
                        <a:t>主题」</a:t>
                      </a:r>
                      <a:r>
                        <a:rPr lang="zh-CN" altLang="en-US" sz="900" dirty="0">
                          <a:effectLst/>
                        </a:rPr>
                        <a:t>划分赛道，依据热度和主题相关度进行商户排名。</a:t>
                      </a:r>
                      <a:endParaRPr lang="en-US" altLang="zh-CN" sz="900" dirty="0">
                        <a:effectLst/>
                      </a:endParaRPr>
                    </a:p>
                    <a:p>
                      <a:endParaRPr lang="en-US" altLang="zh-CN" sz="900" dirty="0">
                        <a:effectLst/>
                      </a:endParaRPr>
                    </a:p>
                    <a:p>
                      <a:r>
                        <a:rPr lang="zh-CN" altLang="en-US" sz="900" dirty="0">
                          <a:effectLst/>
                        </a:rPr>
                        <a:t>成榜门槛：一个赛道下上榜商户不足</a:t>
                      </a:r>
                      <a:r>
                        <a:rPr lang="en-US" altLang="zh-CN" sz="900" dirty="0">
                          <a:effectLst/>
                        </a:rPr>
                        <a:t>5</a:t>
                      </a:r>
                      <a:r>
                        <a:rPr lang="zh-CN" altLang="en-US" sz="900" dirty="0">
                          <a:effectLst/>
                        </a:rPr>
                        <a:t>家时，该赛道不发榜</a:t>
                      </a:r>
                    </a:p>
                    <a:p>
                      <a:r>
                        <a:rPr lang="zh-CN" altLang="en-US" sz="900" dirty="0">
                          <a:effectLst/>
                        </a:rPr>
                        <a:t>榜单容量：全城榜最多取</a:t>
                      </a:r>
                      <a:r>
                        <a:rPr lang="en-GB" altLang="zh-CN" sz="900" dirty="0">
                          <a:effectLst/>
                        </a:rPr>
                        <a:t>TOP100</a:t>
                      </a:r>
                      <a:r>
                        <a:rPr lang="zh-CN" altLang="en-GB" sz="900" dirty="0">
                          <a:effectLst/>
                        </a:rPr>
                        <a:t>，</a:t>
                      </a:r>
                      <a:r>
                        <a:rPr lang="zh-CN" altLang="en-US" sz="900" dirty="0">
                          <a:effectLst/>
                        </a:rPr>
                        <a:t>行政区</a:t>
                      </a:r>
                      <a:r>
                        <a:rPr lang="en-US" altLang="zh-CN" sz="900" dirty="0">
                          <a:effectLst/>
                        </a:rPr>
                        <a:t>/</a:t>
                      </a:r>
                      <a:r>
                        <a:rPr lang="zh-CN" altLang="en-US" sz="900" dirty="0">
                          <a:effectLst/>
                        </a:rPr>
                        <a:t>商圈榜最多取</a:t>
                      </a:r>
                      <a:r>
                        <a:rPr lang="en-GB" altLang="zh-CN" sz="900" dirty="0">
                          <a:effectLst/>
                        </a:rPr>
                        <a:t>TOP20</a:t>
                      </a:r>
                      <a:endParaRPr lang="zh-CN" altLang="en-US" sz="900" dirty="0">
                        <a:effectLst/>
                      </a:endParaRPr>
                    </a:p>
                    <a:p>
                      <a:pPr indent="0">
                        <a:buNone/>
                      </a:pPr>
                      <a:endParaRPr lang="zh-CN" altLang="en-US" sz="900" b="0" dirty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 marL="68580" marR="68580" marT="34290" marB="34290" anchor="ctr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mpd="sng">
                      <a:solidFill>
                        <a:schemeClr val="tx1"/>
                      </a:solidFill>
                      <a:prstDash val="sysDot"/>
                    </a:lnT>
                    <a:lnB w="3175" cmpd="sng">
                      <a:solidFill>
                        <a:schemeClr val="tx1"/>
                      </a:solidFill>
                      <a:prstDash val="sysDot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dirty="0">
                          <a:effectLst/>
                        </a:rPr>
                        <a:t>综合收录年限、当地人评价数量、当地人好评度、具备当地特色等维度进行商户评选</a:t>
                      </a:r>
                    </a:p>
                    <a:p>
                      <a:pPr indent="0">
                        <a:buNone/>
                      </a:pPr>
                      <a:endParaRPr lang="zh-CN" altLang="en-US" sz="900" b="0" dirty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 marL="68580" marR="68580" marT="34290" marB="34290" anchor="ctr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dirty="0">
                          <a:effectLst/>
                        </a:rPr>
                        <a:t>限定经营当地特色品类、包含当地特色菜的商户，在美团大众点评平台收录时间须满</a:t>
                      </a:r>
                      <a:r>
                        <a:rPr lang="en-US" altLang="zh-CN" sz="900" dirty="0">
                          <a:effectLst/>
                        </a:rPr>
                        <a:t>3</a:t>
                      </a:r>
                      <a:r>
                        <a:rPr lang="zh-CN" altLang="en-US" sz="900" dirty="0">
                          <a:effectLst/>
                        </a:rPr>
                        <a:t>年，星级评价数据稳定。餐厅吸引大量当地用户去餐厅消费、打卡、评价。考察口味分指标，尤其当地用户的口味评分。无违法违规行为</a:t>
                      </a:r>
                    </a:p>
                  </a:txBody>
                  <a:tcPr marL="68580" marR="68580" marT="34290" marB="34290" anchor="ctr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dirty="0"/>
                        <a:t>页面涉及的门店及门店总结是基于美团用户评价，</a:t>
                      </a:r>
                      <a:r>
                        <a:rPr lang="en-GB" altLang="zh-CN" sz="900" dirty="0"/>
                        <a:t>Al</a:t>
                      </a:r>
                      <a:r>
                        <a:rPr lang="zh-CN" altLang="en-US" sz="900" dirty="0"/>
                        <a:t>进行总结生成。</a:t>
                      </a:r>
                      <a:endParaRPr lang="zh-CN" altLang="en-US" sz="900" dirty="0">
                        <a:effectLst/>
                      </a:endParaRPr>
                    </a:p>
                  </a:txBody>
                  <a:tcPr marL="68580" marR="68580" marT="34290" marB="34290" anchor="ctr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3175" cmpd="sng">
                      <a:solidFill>
                        <a:schemeClr val="tx1"/>
                      </a:solidFill>
                      <a:prstDash val="sysDot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857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050" b="1" dirty="0">
                          <a:solidFill>
                            <a:schemeClr val="tx1"/>
                          </a:solidFill>
                        </a:rPr>
                        <a:t>更新机制</a:t>
                      </a:r>
                    </a:p>
                  </a:txBody>
                  <a:tcPr marL="68580" marR="68580" marT="34290" marB="34290" anchor="ctr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3175" cmpd="sng">
                      <a:solidFill>
                        <a:schemeClr val="tx1"/>
                      </a:solidFill>
                      <a:prstDash val="sysDot"/>
                    </a:lnR>
                    <a:lnT w="3175" cmpd="sng">
                      <a:solidFill>
                        <a:schemeClr val="tx1"/>
                      </a:solidFill>
                      <a:prstDash val="sysDot"/>
                    </a:lnT>
                    <a:lnB w="3175" cmpd="sng">
                      <a:solidFill>
                        <a:schemeClr val="tx1"/>
                      </a:solidFill>
                      <a:prstDash val="sysDot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dirty="0">
                          <a:effectLst/>
                        </a:rPr>
                        <a:t>排名制。每日发榜更新</a:t>
                      </a:r>
                    </a:p>
                  </a:txBody>
                  <a:tcPr marL="68580" marR="68580" marT="34290" marB="34290" anchor="ctr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mpd="sng">
                      <a:solidFill>
                        <a:schemeClr val="tx1"/>
                      </a:solidFill>
                      <a:prstDash val="sysDot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dirty="0">
                          <a:effectLst/>
                        </a:rPr>
                        <a:t>入选制。每日发榜更新</a:t>
                      </a:r>
                    </a:p>
                  </a:txBody>
                  <a:tcPr marL="68580" marR="68580" marT="34290" marB="34290" anchor="ctr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dirty="0">
                          <a:effectLst/>
                        </a:rPr>
                        <a:t>排名制。每日发榜更新</a:t>
                      </a:r>
                    </a:p>
                  </a:txBody>
                  <a:tcPr marL="68580" marR="68580" marT="34290" marB="34290" anchor="ctr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dirty="0">
                          <a:effectLst/>
                        </a:rPr>
                        <a:t>合集形式。定期更新（半年）</a:t>
                      </a:r>
                    </a:p>
                  </a:txBody>
                  <a:tcPr marL="68580" marR="68580" marT="34290" marB="34290" anchor="ctr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3175" cmpd="sng">
                      <a:solidFill>
                        <a:schemeClr val="tx1"/>
                      </a:solidFill>
                      <a:prstDash val="sysDot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3202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050" b="1" dirty="0">
                          <a:solidFill>
                            <a:schemeClr val="tx1"/>
                          </a:solidFill>
                        </a:rPr>
                        <a:t>覆盖范围</a:t>
                      </a:r>
                    </a:p>
                  </a:txBody>
                  <a:tcPr marL="68580" marR="68580" marT="34290" marB="34290" anchor="ctr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mpd="sng">
                      <a:solidFill>
                        <a:schemeClr val="tx1"/>
                      </a:solidFill>
                      <a:prstDash val="sysDot"/>
                    </a:lnT>
                    <a:lnB w="3175" cmpd="sng">
                      <a:solidFill>
                        <a:schemeClr val="tx1"/>
                      </a:solidFill>
                      <a:prstDash val="sysDot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zh-CN" altLang="en-US" sz="900" dirty="0">
                          <a:effectLst/>
                        </a:rPr>
                        <a:t>覆盖了境内外共</a:t>
                      </a:r>
                      <a:r>
                        <a:rPr lang="en-US" altLang="zh-CN" sz="900" b="1" dirty="0">
                          <a:effectLst/>
                        </a:rPr>
                        <a:t>759</a:t>
                      </a:r>
                      <a:r>
                        <a:rPr lang="zh-CN" altLang="en-US" sz="900" b="1" dirty="0">
                          <a:effectLst/>
                        </a:rPr>
                        <a:t>个城市</a:t>
                      </a:r>
                      <a:r>
                        <a:rPr lang="zh-CN" altLang="en-US" sz="900" dirty="0">
                          <a:effectLst/>
                        </a:rPr>
                        <a:t>及</a:t>
                      </a:r>
                      <a:r>
                        <a:rPr lang="en-US" altLang="zh-CN" sz="900" b="1" dirty="0">
                          <a:effectLst/>
                        </a:rPr>
                        <a:t>140</a:t>
                      </a:r>
                      <a:r>
                        <a:rPr lang="zh-CN" altLang="en-US" sz="900" b="1" dirty="0">
                          <a:effectLst/>
                        </a:rPr>
                        <a:t>个细分主题</a:t>
                      </a:r>
                      <a:r>
                        <a:rPr lang="zh-CN" altLang="en-US" sz="900" dirty="0">
                          <a:effectLst/>
                        </a:rPr>
                        <a:t>（吃喝玩乐）。</a:t>
                      </a:r>
                    </a:p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zh-CN" altLang="en-US" sz="900" b="1" dirty="0">
                          <a:effectLst/>
                        </a:rPr>
                        <a:t>上榜商户</a:t>
                      </a:r>
                      <a:r>
                        <a:rPr lang="en-US" altLang="zh-CN" sz="900" b="1" dirty="0">
                          <a:effectLst/>
                        </a:rPr>
                        <a:t>9.8</a:t>
                      </a:r>
                      <a:r>
                        <a:rPr lang="en-GB" sz="900" b="1" dirty="0">
                          <a:effectLst/>
                        </a:rPr>
                        <a:t>w</a:t>
                      </a:r>
                      <a:r>
                        <a:rPr lang="en-GB" sz="900" dirty="0">
                          <a:effectLst/>
                        </a:rPr>
                        <a:t>，</a:t>
                      </a:r>
                      <a:r>
                        <a:rPr lang="zh-CN" altLang="en-US" sz="900" dirty="0">
                          <a:effectLst/>
                        </a:rPr>
                        <a:t>占全量美食商户的</a:t>
                      </a:r>
                      <a:r>
                        <a:rPr lang="en-US" altLang="zh-CN" sz="900" dirty="0">
                          <a:effectLst/>
                        </a:rPr>
                        <a:t>1.16%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dirty="0"/>
                        <a:t>境内共</a:t>
                      </a:r>
                      <a:r>
                        <a:rPr lang="en-US" altLang="zh-CN" sz="900" dirty="0"/>
                        <a:t>106</a:t>
                      </a:r>
                      <a:r>
                        <a:rPr lang="zh-CN" altLang="en-US" sz="900" dirty="0"/>
                        <a:t>个主题</a:t>
                      </a:r>
                      <a:r>
                        <a:rPr lang="zh-CN" altLang="en-US" sz="900" dirty="0">
                          <a:effectLst/>
                        </a:rPr>
                        <a:t>（主题分类：时令榜单、正餐、休闲饮食、休闲玩乐、社交场景、住宿、购物</a:t>
                      </a:r>
                      <a:r>
                        <a:rPr lang="en-US" altLang="zh-CN" sz="900" dirty="0">
                          <a:effectLst/>
                        </a:rPr>
                        <a:t>7</a:t>
                      </a:r>
                      <a:r>
                        <a:rPr lang="zh-CN" altLang="en-US" sz="900" dirty="0">
                          <a:effectLst/>
                        </a:rPr>
                        <a:t>大主题）</a:t>
                      </a:r>
                      <a:endParaRPr lang="en-US" altLang="zh-CN" sz="900" dirty="0"/>
                    </a:p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zh-CN" altLang="en-US" sz="900" dirty="0"/>
                        <a:t>境外共</a:t>
                      </a:r>
                      <a:r>
                        <a:rPr lang="en-US" altLang="zh-CN" sz="900" dirty="0"/>
                        <a:t>34</a:t>
                      </a:r>
                      <a:r>
                        <a:rPr lang="zh-CN" altLang="en-US" sz="900" dirty="0"/>
                        <a:t>个主题</a:t>
                      </a:r>
                    </a:p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endParaRPr lang="en-US" altLang="zh-CN" sz="900" dirty="0">
                        <a:effectLst/>
                      </a:endParaRPr>
                    </a:p>
                  </a:txBody>
                  <a:tcPr marL="76200" marR="76200" marT="9525" marB="9525" anchor="ctr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mpd="sng">
                      <a:solidFill>
                        <a:schemeClr val="tx1"/>
                      </a:solidFill>
                      <a:prstDash val="sysDot"/>
                    </a:lnT>
                    <a:lnB w="3175" cmpd="sng">
                      <a:solidFill>
                        <a:schemeClr val="tx1"/>
                      </a:solidFill>
                      <a:prstDash val="sysDot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zh-CN" altLang="en-US" sz="900" b="1" dirty="0">
                          <a:effectLst/>
                        </a:rPr>
                        <a:t>覆盖</a:t>
                      </a:r>
                      <a:r>
                        <a:rPr lang="en-US" altLang="zh-CN" sz="900" b="1" dirty="0">
                          <a:effectLst/>
                        </a:rPr>
                        <a:t>419</a:t>
                      </a:r>
                      <a:r>
                        <a:rPr lang="zh-CN" altLang="en-US" sz="900" b="1" dirty="0">
                          <a:effectLst/>
                        </a:rPr>
                        <a:t>个城市</a:t>
                      </a:r>
                      <a:r>
                        <a:rPr lang="zh-CN" altLang="en-US" sz="900" dirty="0">
                          <a:effectLst/>
                        </a:rPr>
                        <a:t>。</a:t>
                      </a:r>
                    </a:p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zh-CN" altLang="en-US" sz="900" b="1" dirty="0">
                          <a:effectLst/>
                        </a:rPr>
                        <a:t>上榜商户</a:t>
                      </a:r>
                      <a:r>
                        <a:rPr lang="en-US" altLang="zh-CN" sz="900" b="1" dirty="0">
                          <a:effectLst/>
                        </a:rPr>
                        <a:t>8</a:t>
                      </a:r>
                      <a:r>
                        <a:rPr lang="en-GB" sz="900" b="1" dirty="0">
                          <a:effectLst/>
                        </a:rPr>
                        <a:t>w</a:t>
                      </a:r>
                      <a:r>
                        <a:rPr lang="en-GB" sz="900" dirty="0">
                          <a:effectLst/>
                        </a:rPr>
                        <a:t>，</a:t>
                      </a:r>
                      <a:r>
                        <a:rPr lang="zh-CN" altLang="en-US" sz="900" dirty="0">
                          <a:effectLst/>
                        </a:rPr>
                        <a:t>占全量美食商户的</a:t>
                      </a:r>
                      <a:r>
                        <a:rPr lang="en-US" altLang="zh-CN" sz="900" dirty="0">
                          <a:effectLst/>
                        </a:rPr>
                        <a:t>0.94%</a:t>
                      </a:r>
                    </a:p>
                  </a:txBody>
                  <a:tcPr marL="76200" marR="76200" marT="9525" marB="9525" anchor="ctr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1" dirty="0">
                          <a:effectLst/>
                        </a:rPr>
                        <a:t>覆盖</a:t>
                      </a:r>
                      <a:r>
                        <a:rPr lang="en-US" altLang="zh-CN" sz="900" b="1" dirty="0">
                          <a:effectLst/>
                        </a:rPr>
                        <a:t>410</a:t>
                      </a:r>
                      <a:r>
                        <a:rPr lang="zh-CN" altLang="en-US" sz="900" b="1" dirty="0">
                          <a:effectLst/>
                        </a:rPr>
                        <a:t>个城市</a:t>
                      </a:r>
                      <a:r>
                        <a:rPr lang="zh-CN" altLang="en-US" sz="900" dirty="0">
                          <a:effectLst/>
                        </a:rPr>
                        <a:t>。</a:t>
                      </a:r>
                      <a:endParaRPr lang="en-US" altLang="zh-CN" sz="900" dirty="0">
                        <a:effectLst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1" dirty="0">
                          <a:effectLst/>
                        </a:rPr>
                        <a:t>上榜商户</a:t>
                      </a:r>
                      <a:r>
                        <a:rPr lang="en-US" altLang="zh-CN" sz="900" b="1" dirty="0">
                          <a:effectLst/>
                        </a:rPr>
                        <a:t>4.6w</a:t>
                      </a:r>
                      <a:r>
                        <a:rPr lang="en-GB" altLang="zh-CN" sz="900" dirty="0">
                          <a:effectLst/>
                        </a:rPr>
                        <a:t>，</a:t>
                      </a:r>
                      <a:r>
                        <a:rPr lang="zh-CN" altLang="en-US" sz="900" dirty="0">
                          <a:effectLst/>
                        </a:rPr>
                        <a:t>占全量美食商户的</a:t>
                      </a:r>
                      <a:r>
                        <a:rPr lang="en-US" altLang="zh-CN" sz="900" dirty="0">
                          <a:effectLst/>
                        </a:rPr>
                        <a:t>0.47%</a:t>
                      </a:r>
                    </a:p>
                  </a:txBody>
                  <a:tcPr marL="76200" marR="76200" marT="9525" marB="9525" anchor="ctr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1" dirty="0">
                          <a:effectLst/>
                        </a:rPr>
                        <a:t>覆盖主题共</a:t>
                      </a:r>
                      <a:r>
                        <a:rPr lang="en-US" altLang="zh-CN" sz="900" b="1" dirty="0">
                          <a:effectLst/>
                        </a:rPr>
                        <a:t>11</a:t>
                      </a:r>
                      <a:r>
                        <a:rPr lang="zh-CN" altLang="en-US" sz="900" b="1" dirty="0">
                          <a:effectLst/>
                        </a:rPr>
                        <a:t>个</a:t>
                      </a:r>
                      <a:r>
                        <a:rPr lang="zh-CN" altLang="en-US" sz="900" dirty="0">
                          <a:effectLst/>
                        </a:rPr>
                        <a:t>：人工找：驻京</a:t>
                      </a:r>
                      <a:r>
                        <a:rPr lang="en-US" altLang="zh-CN" sz="900" dirty="0">
                          <a:effectLst/>
                        </a:rPr>
                        <a:t>/</a:t>
                      </a:r>
                      <a:r>
                        <a:rPr lang="zh-CN" altLang="en-US" sz="900" dirty="0">
                          <a:effectLst/>
                        </a:rPr>
                        <a:t>沪办、达人探店、美食大咖、美食影综、获奖餐厅；</a:t>
                      </a:r>
                      <a:r>
                        <a:rPr lang="en-US" altLang="zh-CN" sz="900" dirty="0">
                          <a:effectLst/>
                        </a:rPr>
                        <a:t>AI</a:t>
                      </a:r>
                      <a:r>
                        <a:rPr lang="zh-CN" altLang="en-US" sz="900" dirty="0">
                          <a:effectLst/>
                        </a:rPr>
                        <a:t>挖掘：经典老店、苍蝇馆子、一人食友好、首店、最佳观景、漂亮饭</a:t>
                      </a:r>
                      <a:endParaRPr lang="en-US" altLang="zh-CN" sz="900" dirty="0">
                        <a:effectLst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1" dirty="0">
                          <a:effectLst/>
                        </a:rPr>
                        <a:t>覆盖</a:t>
                      </a:r>
                      <a:r>
                        <a:rPr lang="en-US" altLang="zh-CN" sz="900" b="1" dirty="0"/>
                        <a:t>118</a:t>
                      </a:r>
                      <a:r>
                        <a:rPr lang="zh-CN" altLang="en-US" sz="900" b="1" dirty="0"/>
                        <a:t>个城市</a:t>
                      </a:r>
                      <a:r>
                        <a:rPr lang="zh-CN" altLang="en-US" sz="900" dirty="0"/>
                        <a:t>。</a:t>
                      </a:r>
                      <a:endParaRPr lang="en-US" altLang="zh-CN" sz="900" dirty="0"/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dirty="0"/>
                        <a:t>北上两个城市每个城市</a:t>
                      </a:r>
                      <a:r>
                        <a:rPr lang="en-GB" altLang="zh-CN" sz="900" dirty="0"/>
                        <a:t>Poi2500</a:t>
                      </a:r>
                      <a:r>
                        <a:rPr lang="zh-CN" altLang="en-US" sz="900" dirty="0"/>
                        <a:t>左右</a:t>
                      </a:r>
                      <a:br>
                        <a:rPr lang="zh-CN" altLang="en-US" sz="900" dirty="0"/>
                      </a:br>
                      <a:r>
                        <a:rPr lang="en-GB" altLang="zh-CN" sz="900" dirty="0"/>
                        <a:t>A</a:t>
                      </a:r>
                      <a:r>
                        <a:rPr lang="zh-CN" altLang="en-US" sz="900" dirty="0"/>
                        <a:t>级城市</a:t>
                      </a:r>
                      <a:r>
                        <a:rPr lang="en-US" altLang="zh-CN" sz="900" dirty="0"/>
                        <a:t>800-1000</a:t>
                      </a:r>
                      <a:br>
                        <a:rPr lang="en-US" altLang="zh-CN" sz="900" dirty="0"/>
                      </a:br>
                      <a:r>
                        <a:rPr lang="en-GB" altLang="zh-CN" sz="900" dirty="0"/>
                        <a:t>A</a:t>
                      </a:r>
                      <a:r>
                        <a:rPr lang="zh-CN" altLang="en-US" sz="900" dirty="0"/>
                        <a:t>级以下</a:t>
                      </a:r>
                      <a:r>
                        <a:rPr lang="en-US" altLang="zh-CN" sz="900" dirty="0"/>
                        <a:t>500</a:t>
                      </a:r>
                      <a:r>
                        <a:rPr lang="zh-CN" altLang="en-US" sz="900" dirty="0"/>
                        <a:t>以内（个别城市特别少会在</a:t>
                      </a:r>
                      <a:r>
                        <a:rPr lang="en-US" altLang="zh-CN" sz="900" dirty="0"/>
                        <a:t>100</a:t>
                      </a:r>
                      <a:r>
                        <a:rPr lang="zh-CN" altLang="en-US" sz="900" dirty="0"/>
                        <a:t>以内，还在持续扩供给）</a:t>
                      </a:r>
                      <a:endParaRPr lang="en-US" altLang="zh-CN" sz="900" dirty="0">
                        <a:effectLst/>
                      </a:endParaRPr>
                    </a:p>
                  </a:txBody>
                  <a:tcPr marL="76200" marR="76200" marT="9525" marB="9525" anchor="ctr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3175" cmpd="sng">
                      <a:solidFill>
                        <a:schemeClr val="tx1"/>
                      </a:solidFill>
                      <a:prstDash val="sysDot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96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50" b="1" dirty="0">
                          <a:solidFill>
                            <a:schemeClr val="tx1"/>
                          </a:solidFill>
                        </a:rPr>
                        <a:t>C</a:t>
                      </a:r>
                      <a:r>
                        <a:rPr lang="zh-CN" altLang="en-US" sz="1050" b="1" dirty="0">
                          <a:solidFill>
                            <a:schemeClr val="tx1"/>
                          </a:solidFill>
                        </a:rPr>
                        <a:t>端数据</a:t>
                      </a:r>
                    </a:p>
                  </a:txBody>
                  <a:tcPr marL="68580" marR="68580" marT="34290" marB="34290" anchor="ctr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3175" cmpd="sng">
                      <a:solidFill>
                        <a:schemeClr val="tx1"/>
                      </a:solidFill>
                      <a:prstDash val="sysDot"/>
                    </a:lnR>
                    <a:lnT w="3175" cmpd="sng">
                      <a:solidFill>
                        <a:schemeClr val="tx1"/>
                      </a:solidFill>
                      <a:prstDash val="sysDot"/>
                    </a:lnT>
                    <a:lnB w="3175" cmpd="sng">
                      <a:solidFill>
                        <a:schemeClr val="tx1"/>
                      </a:solidFill>
                      <a:prstDash val="sysDot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zh-CN" altLang="en-US" sz="900" dirty="0">
                          <a:solidFill>
                            <a:schemeClr val="tx1"/>
                          </a:solidFill>
                        </a:rPr>
                        <a:t>日均 </a:t>
                      </a:r>
                      <a:r>
                        <a:rPr lang="en-US" altLang="zh-CN" sz="900" dirty="0">
                          <a:solidFill>
                            <a:schemeClr val="tx1"/>
                          </a:solidFill>
                        </a:rPr>
                        <a:t>5w</a:t>
                      </a:r>
                      <a:r>
                        <a:rPr lang="zh-CN" altLang="en-US" sz="900" dirty="0">
                          <a:solidFill>
                            <a:schemeClr val="tx1"/>
                          </a:solidFill>
                        </a:rPr>
                        <a:t>、支付</a:t>
                      </a:r>
                      <a:r>
                        <a:rPr lang="en-US" altLang="zh-CN" sz="900" dirty="0">
                          <a:solidFill>
                            <a:schemeClr val="tx1"/>
                          </a:solidFill>
                        </a:rPr>
                        <a:t>UV</a:t>
                      </a:r>
                      <a:r>
                        <a:rPr lang="zh-CN" altLang="en-US" sz="9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CN" sz="900" dirty="0">
                          <a:solidFill>
                            <a:schemeClr val="tx1"/>
                          </a:solidFill>
                        </a:rPr>
                        <a:t>80</a:t>
                      </a:r>
                      <a:endParaRPr lang="zh-CN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ctr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mpd="sng">
                      <a:solidFill>
                        <a:schemeClr val="tx1"/>
                      </a:solidFill>
                      <a:prstDash val="sysDot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defRPr/>
                      </a:pPr>
                      <a:r>
                        <a:rPr lang="zh-CN" altLang="en-US" sz="900" dirty="0">
                          <a:solidFill>
                            <a:schemeClr val="tx1"/>
                          </a:solidFill>
                        </a:rPr>
                        <a:t>日均  </a:t>
                      </a:r>
                      <a:r>
                        <a:rPr lang="en-GB" altLang="zh-CN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</a:t>
                      </a:r>
                      <a:r>
                        <a:rPr lang="en-US" altLang="zh-CN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en-GB" altLang="zh-CN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</a:t>
                      </a:r>
                      <a:r>
                        <a:rPr lang="zh-CN" altLang="en-US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、</a:t>
                      </a:r>
                      <a:r>
                        <a:rPr lang="zh-CN" altLang="en-US" sz="900" dirty="0">
                          <a:effectLst/>
                        </a:rPr>
                        <a:t>支付</a:t>
                      </a:r>
                      <a:r>
                        <a:rPr lang="en-US" altLang="zh-CN" sz="900" dirty="0">
                          <a:effectLst/>
                        </a:rPr>
                        <a:t>UV</a:t>
                      </a:r>
                      <a:r>
                        <a:rPr lang="zh-CN" altLang="en-US" sz="900" dirty="0">
                          <a:effectLst/>
                        </a:rPr>
                        <a:t> </a:t>
                      </a:r>
                      <a:r>
                        <a:rPr lang="en-US" altLang="zh-CN" sz="900" dirty="0">
                          <a:effectLst/>
                        </a:rPr>
                        <a:t>9</a:t>
                      </a:r>
                      <a:endParaRPr lang="en-GB" altLang="zh-CN" sz="900" dirty="0">
                        <a:effectLst/>
                      </a:endParaRPr>
                    </a:p>
                  </a:txBody>
                  <a:tcPr marL="68580" marR="68580" marT="34290" marB="34290" anchor="ctr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mpd="sng">
                      <a:solidFill>
                        <a:schemeClr val="tx1"/>
                      </a:solidFill>
                      <a:prstDash val="sysDot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defRPr/>
                      </a:pPr>
                      <a:r>
                        <a:rPr lang="zh-CN" altLang="en-US" sz="900" dirty="0">
                          <a:solidFill>
                            <a:schemeClr val="tx1"/>
                          </a:solidFill>
                        </a:rPr>
                        <a:t>日均 </a:t>
                      </a:r>
                      <a:r>
                        <a:rPr lang="en-US" altLang="zh-CN" sz="900" dirty="0">
                          <a:effectLst/>
                        </a:rPr>
                        <a:t>2w</a:t>
                      </a:r>
                      <a:r>
                        <a:rPr lang="zh-CN" altLang="en-US" sz="900" dirty="0">
                          <a:effectLst/>
                        </a:rPr>
                        <a:t>、支付</a:t>
                      </a:r>
                      <a:r>
                        <a:rPr lang="en-US" altLang="zh-CN" sz="900" dirty="0">
                          <a:effectLst/>
                        </a:rPr>
                        <a:t>UV</a:t>
                      </a:r>
                      <a:r>
                        <a:rPr lang="zh-CN" altLang="en-US" sz="900" dirty="0">
                          <a:effectLst/>
                        </a:rPr>
                        <a:t> </a:t>
                      </a:r>
                      <a:r>
                        <a:rPr lang="en-US" altLang="zh-CN" sz="900" dirty="0">
                          <a:effectLst/>
                        </a:rPr>
                        <a:t>250</a:t>
                      </a:r>
                      <a:endParaRPr lang="en-GB" altLang="zh-CN" sz="900" dirty="0">
                        <a:effectLst/>
                      </a:endParaRPr>
                    </a:p>
                  </a:txBody>
                  <a:tcPr marL="68580" marR="68580" marT="34290" marB="34290" anchor="ctr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mpd="sng">
                      <a:solidFill>
                        <a:schemeClr val="tx1"/>
                      </a:solidFill>
                      <a:prstDash val="sysDot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defRPr/>
                      </a:pPr>
                      <a:r>
                        <a:rPr lang="zh-CN" altLang="en-US" sz="900" dirty="0">
                          <a:solidFill>
                            <a:schemeClr val="tx1"/>
                          </a:solidFill>
                        </a:rPr>
                        <a:t>日均 </a:t>
                      </a:r>
                      <a:r>
                        <a:rPr lang="en-US" altLang="zh-CN" sz="900" dirty="0">
                          <a:effectLst/>
                        </a:rPr>
                        <a:t>2w</a:t>
                      </a:r>
                      <a:r>
                        <a:rPr lang="zh-CN" altLang="en-US" sz="900" dirty="0">
                          <a:effectLst/>
                        </a:rPr>
                        <a:t>、支付</a:t>
                      </a:r>
                      <a:r>
                        <a:rPr lang="en-US" altLang="zh-CN" sz="900" dirty="0">
                          <a:effectLst/>
                        </a:rPr>
                        <a:t>UV</a:t>
                      </a:r>
                      <a:r>
                        <a:rPr lang="zh-CN" altLang="en-US" sz="900" dirty="0">
                          <a:effectLst/>
                        </a:rPr>
                        <a:t> </a:t>
                      </a:r>
                      <a:r>
                        <a:rPr lang="en-US" altLang="zh-CN" sz="900" dirty="0">
                          <a:effectLst/>
                        </a:rPr>
                        <a:t>30</a:t>
                      </a:r>
                      <a:endParaRPr lang="en-GB" altLang="zh-CN" sz="900" dirty="0">
                        <a:effectLst/>
                      </a:endParaRPr>
                    </a:p>
                  </a:txBody>
                  <a:tcPr marL="68580" marR="68580" marT="34290" marB="34290" anchor="ctr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3175" cmpd="sng">
                      <a:solidFill>
                        <a:schemeClr val="tx1"/>
                      </a:solidFill>
                      <a:prstDash val="sysDot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mpd="sng">
                      <a:solidFill>
                        <a:schemeClr val="tx1"/>
                      </a:solidFill>
                      <a:prstDash val="sysDot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内容占位符 2"/>
          <p:cNvSpPr txBox="1"/>
          <p:nvPr/>
        </p:nvSpPr>
        <p:spPr>
          <a:xfrm>
            <a:off x="317137" y="815302"/>
            <a:ext cx="8374957" cy="54794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12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/>
                </a:solidFill>
                <a:latin typeface="Calibri" panose="020F0502020204030204" pitchFamily="34" charset="0"/>
                <a:ea typeface="楷体" panose="02010609060101010101" pitchFamily="49" charset="-122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12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12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12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12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100" dirty="0"/>
              <a:t>虽然点评美团双侧都有可以满足消费者场景需求的榜单和主题，但从目前的城市覆盖、商户覆盖及用户渗透率来看，仍没有达到可对标必吃榜和人气榜的效果，</a:t>
            </a:r>
            <a:r>
              <a:rPr lang="zh-CN" altLang="en-US" sz="1100" b="1" dirty="0"/>
              <a:t>缺少对此类场景榜的覆盖提升，及用户心智的教育</a:t>
            </a:r>
            <a:r>
              <a:rPr lang="zh-CN" altLang="en-US" sz="1100" dirty="0"/>
              <a:t>。</a:t>
            </a: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核心资产未覆盖：榜单城市覆盖问题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23"/>
          </p:nvPr>
        </p:nvSpPr>
        <p:spPr>
          <a:xfrm>
            <a:off x="252206" y="885825"/>
            <a:ext cx="8639588" cy="3516312"/>
          </a:xfrm>
        </p:spPr>
        <p:txBody>
          <a:bodyPr/>
          <a:lstStyle/>
          <a:p>
            <a:r>
              <a:rPr lang="zh-CN" altLang="en-US" dirty="0"/>
              <a:t>当前必吃榜城市覆盖重点在高线，中底线覆盖不足，结合竞品</a:t>
            </a:r>
            <a:r>
              <a:rPr lang="en-US" altLang="zh-CN" dirty="0"/>
              <a:t>D+</a:t>
            </a:r>
            <a:r>
              <a:rPr lang="zh-CN" altLang="en-US" dirty="0"/>
              <a:t>心动榜、高德状元榜建议补充高</a:t>
            </a:r>
            <a:r>
              <a:rPr lang="en-US" altLang="zh-CN" dirty="0"/>
              <a:t>UV30</a:t>
            </a:r>
            <a:r>
              <a:rPr lang="zh-CN" altLang="en-US" dirty="0"/>
              <a:t>城。</a:t>
            </a:r>
            <a:endParaRPr lang="zh-CN" altLang="en-GB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kumimoji="1" lang="zh-CN" altLang="en-US" dirty="0"/>
              <a:t>榜单覆盖问题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369886" y="3194297"/>
            <a:ext cx="3686175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楷体" panose="02010609060101010101" pitchFamily="49" charset="-122"/>
                <a:cs typeface="+mn-cs"/>
              </a:rPr>
              <a:t>必吃榜城市结构分布中，城市门店数在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楷体" panose="02010609060101010101" pitchFamily="49" charset="-122"/>
                <a:cs typeface="+mn-cs"/>
              </a:rPr>
              <a:t>1k-3k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楷体" panose="02010609060101010101" pitchFamily="49" charset="-122"/>
                <a:cs typeface="+mn-cs"/>
              </a:rPr>
              <a:t>门店范围数量最多，而必吃榜主要覆盖了中高线城市；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楷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楷体" panose="02010609060101010101" pitchFamily="49" charset="-122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楷体" panose="02010609060101010101" pitchFamily="49" charset="-122"/>
                <a:cs typeface="+mn-cs"/>
              </a:rPr>
              <a:t>对同一门店数水平下的城市，必吃榜仍存在覆盖空白，例如济宁门店数超过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楷体" panose="02010609060101010101" pitchFamily="49" charset="-122"/>
                <a:cs typeface="+mn-cs"/>
              </a:rPr>
              <a:t>3w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楷体" panose="02010609060101010101" pitchFamily="49" charset="-122"/>
                <a:cs typeface="+mn-cs"/>
              </a:rPr>
              <a:t>，但必吃榜暂未覆盖，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楷体" panose="02010609060101010101" pitchFamily="49" charset="-122"/>
                <a:cs typeface="+mn-cs"/>
              </a:rPr>
              <a:t>D+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楷体" panose="02010609060101010101" pitchFamily="49" charset="-122"/>
                <a:cs typeface="+mn-cs"/>
              </a:rPr>
              <a:t>心动榜和高德扫街榜均覆盖；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楷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楷体" panose="02010609060101010101" pitchFamily="49" charset="-122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楷体" panose="02010609060101010101" pitchFamily="49" charset="-122"/>
                <a:cs typeface="+mn-cs"/>
              </a:rPr>
              <a:t>必吃榜覆盖城市分布不均，针对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楷体" panose="02010609060101010101" pitchFamily="49" charset="-122"/>
                <a:cs typeface="+mn-cs"/>
              </a:rPr>
              <a:t>1k-3k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楷体" panose="02010609060101010101" pitchFamily="49" charset="-122"/>
                <a:cs typeface="+mn-cs"/>
              </a:rPr>
              <a:t>门店的城市反而覆盖了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楷体" panose="02010609060101010101" pitchFamily="49" charset="-122"/>
                <a:cs typeface="+mn-cs"/>
              </a:rPr>
              <a:t>46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楷体" panose="02010609060101010101" pitchFamily="49" charset="-122"/>
                <a:cs typeface="+mn-cs"/>
              </a:rPr>
              <a:t>个，规模高于此类城市门店的城市，还存在较多未覆盖的市场空白。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楷体" panose="02010609060101010101" pitchFamily="49" charset="-122"/>
              <a:cs typeface="+mn-cs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4337489" y="1265237"/>
          <a:ext cx="4025461" cy="3190476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4433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94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90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48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335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775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780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52684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1" u="none" strike="noStrike" dirty="0">
                          <a:effectLst/>
                        </a:rPr>
                        <a:t>序号</a:t>
                      </a:r>
                      <a:endParaRPr lang="zh-CN" altLang="en-US" sz="600" b="1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1" u="none" strike="noStrike" dirty="0">
                          <a:effectLst/>
                        </a:rPr>
                        <a:t>前台城市</a:t>
                      </a:r>
                      <a:endParaRPr lang="zh-CN" altLang="en-US" sz="600" b="1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1" u="none" strike="noStrike" dirty="0">
                          <a:effectLst/>
                        </a:rPr>
                        <a:t>门店数量</a:t>
                      </a:r>
                      <a:endParaRPr lang="zh-CN" altLang="en-US" sz="600" b="1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1" u="none" strike="noStrike" dirty="0">
                          <a:effectLst/>
                        </a:rPr>
                        <a:t>日均</a:t>
                      </a:r>
                      <a:r>
                        <a:rPr lang="en-US" sz="600" b="1" u="none" strike="noStrike" dirty="0">
                          <a:effectLst/>
                        </a:rPr>
                        <a:t>GTV(</a:t>
                      </a:r>
                      <a:r>
                        <a:rPr lang="zh-CN" altLang="en-US" sz="600" b="1" u="none" strike="noStrike" dirty="0">
                          <a:effectLst/>
                        </a:rPr>
                        <a:t>万</a:t>
                      </a:r>
                      <a:r>
                        <a:rPr lang="en-US" altLang="zh-CN" sz="600" b="1" u="none" strike="noStrike" dirty="0">
                          <a:effectLst/>
                        </a:rPr>
                        <a:t>)</a:t>
                      </a:r>
                      <a:endParaRPr lang="en-US" altLang="zh-CN" sz="600" b="1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1" u="none" strike="noStrike" dirty="0">
                          <a:effectLst/>
                        </a:rPr>
                        <a:t>日均</a:t>
                      </a:r>
                      <a:r>
                        <a:rPr lang="en-US" sz="600" b="1" u="none" strike="noStrike" dirty="0">
                          <a:effectLst/>
                        </a:rPr>
                        <a:t>UV(</a:t>
                      </a:r>
                      <a:r>
                        <a:rPr lang="zh-CN" altLang="en-US" sz="600" b="1" u="none" strike="noStrike" dirty="0">
                          <a:effectLst/>
                        </a:rPr>
                        <a:t>万</a:t>
                      </a:r>
                      <a:r>
                        <a:rPr lang="en-US" altLang="zh-CN" sz="600" b="1" u="none" strike="noStrike" dirty="0">
                          <a:effectLst/>
                        </a:rPr>
                        <a:t>)</a:t>
                      </a:r>
                      <a:endParaRPr lang="en-US" altLang="zh-CN" sz="600" b="1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u="none" strike="noStrike" dirty="0">
                          <a:effectLst/>
                        </a:rPr>
                        <a:t>D+</a:t>
                      </a:r>
                      <a:r>
                        <a:rPr lang="zh-CN" altLang="en-US" sz="600" b="1" u="none" strike="noStrike" dirty="0">
                          <a:effectLst/>
                        </a:rPr>
                        <a:t>上榜门店数</a:t>
                      </a:r>
                      <a:endParaRPr lang="zh-CN" altLang="en-US" sz="600" b="1" i="0" u="none" strike="noStrike" dirty="0">
                        <a:solidFill>
                          <a:srgbClr val="ED7D3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1" u="none" strike="noStrike" dirty="0">
                          <a:effectLst/>
                        </a:rPr>
                        <a:t>高德上榜门店数</a:t>
                      </a:r>
                      <a:endParaRPr lang="zh-CN" altLang="en-US" sz="600" b="1" i="0" u="none" strike="noStrike" dirty="0">
                        <a:solidFill>
                          <a:srgbClr val="ED7D3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l" fontAlgn="ctr"/>
                      <a:r>
                        <a:rPr lang="zh-CN" altLang="en-US" sz="600" u="none" strike="noStrike">
                          <a:solidFill>
                            <a:srgbClr val="FF0000"/>
                          </a:solidFill>
                          <a:effectLst/>
                        </a:rPr>
                        <a:t>必吃榜上榜城市中位数水平：</a:t>
                      </a:r>
                      <a:endParaRPr lang="zh-CN" altLang="en-US" sz="600" b="1" i="0" u="none" strike="noStrike">
                        <a:solidFill>
                          <a:srgbClr val="FF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solidFill>
                            <a:srgbClr val="FF0000"/>
                          </a:solidFill>
                          <a:effectLst/>
                        </a:rPr>
                        <a:t>9276</a:t>
                      </a:r>
                      <a:endParaRPr lang="en-US" altLang="zh-CN" sz="600" b="1" i="0" u="none" strike="noStrike">
                        <a:solidFill>
                          <a:srgbClr val="FF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solidFill>
                            <a:srgbClr val="FF0000"/>
                          </a:solidFill>
                          <a:effectLst/>
                        </a:rPr>
                        <a:t>328</a:t>
                      </a:r>
                      <a:endParaRPr lang="en-US" altLang="zh-CN" sz="600" b="1" i="0" u="none" strike="noStrike">
                        <a:solidFill>
                          <a:srgbClr val="FF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214</a:t>
                      </a:r>
                      <a:endParaRPr lang="en-US" altLang="zh-CN" sz="600" b="1" i="0" u="none" strike="noStrike" dirty="0">
                        <a:solidFill>
                          <a:srgbClr val="FF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600" b="1" i="0" u="none" strike="noStrike">
                        <a:solidFill>
                          <a:srgbClr val="ED7D3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600" b="1" i="0" u="none" strike="noStrike">
                        <a:solidFill>
                          <a:srgbClr val="ED7D3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zh-CN" altLang="en-US" sz="600" b="1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600" b="1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600" b="1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600" b="1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600" b="1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600" b="1" i="0" u="none" strike="noStrike">
                        <a:solidFill>
                          <a:srgbClr val="ED7D3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600" b="1" i="0" u="none" strike="noStrike">
                        <a:solidFill>
                          <a:srgbClr val="ED7D3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1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u="none" strike="noStrike">
                          <a:effectLst/>
                        </a:rPr>
                        <a:t>济宁</a:t>
                      </a:r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 dirty="0">
                          <a:effectLst/>
                        </a:rPr>
                        <a:t>31,298</a:t>
                      </a:r>
                      <a:endParaRPr lang="en-US" altLang="zh-CN" sz="6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758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547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15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29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2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u="none" strike="noStrike">
                          <a:effectLst/>
                        </a:rPr>
                        <a:t>赣州</a:t>
                      </a:r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 dirty="0">
                          <a:effectLst/>
                        </a:rPr>
                        <a:t>29,270</a:t>
                      </a:r>
                      <a:endParaRPr lang="en-US" altLang="zh-CN" sz="6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620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402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12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29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3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u="none" strike="noStrike">
                          <a:effectLst/>
                        </a:rPr>
                        <a:t>南阳</a:t>
                      </a:r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 dirty="0">
                          <a:effectLst/>
                        </a:rPr>
                        <a:t>26,935</a:t>
                      </a:r>
                      <a:endParaRPr lang="en-US" altLang="zh-CN" sz="6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708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474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7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28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4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u="none" strike="noStrike">
                          <a:effectLst/>
                        </a:rPr>
                        <a:t>邯郸</a:t>
                      </a:r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 dirty="0">
                          <a:effectLst/>
                        </a:rPr>
                        <a:t>26,273</a:t>
                      </a:r>
                      <a:endParaRPr lang="en-US" altLang="zh-CN" sz="6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 dirty="0">
                          <a:effectLst/>
                        </a:rPr>
                        <a:t>725</a:t>
                      </a:r>
                      <a:endParaRPr lang="en-US" altLang="zh-CN" sz="6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496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13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29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5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u="none" strike="noStrike">
                          <a:effectLst/>
                        </a:rPr>
                        <a:t>菏泽</a:t>
                      </a:r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 dirty="0">
                          <a:effectLst/>
                        </a:rPr>
                        <a:t>24,855</a:t>
                      </a:r>
                      <a:endParaRPr lang="en-US" altLang="zh-CN" sz="6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472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308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10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28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6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u="none" strike="noStrike">
                          <a:effectLst/>
                        </a:rPr>
                        <a:t>周口</a:t>
                      </a:r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 dirty="0">
                          <a:effectLst/>
                        </a:rPr>
                        <a:t>23,724</a:t>
                      </a:r>
                      <a:endParaRPr lang="en-US" altLang="zh-CN" sz="6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520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310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11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26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7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u="none" strike="noStrike">
                          <a:effectLst/>
                        </a:rPr>
                        <a:t>阜阳</a:t>
                      </a:r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 dirty="0">
                          <a:effectLst/>
                        </a:rPr>
                        <a:t>23,572</a:t>
                      </a:r>
                      <a:endParaRPr lang="en-US" altLang="zh-CN" sz="6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447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261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6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26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8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u="none" strike="noStrike">
                          <a:effectLst/>
                        </a:rPr>
                        <a:t>商丘</a:t>
                      </a:r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 dirty="0">
                          <a:effectLst/>
                        </a:rPr>
                        <a:t>22,562</a:t>
                      </a:r>
                      <a:endParaRPr lang="en-US" altLang="zh-CN" sz="6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651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375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9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26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9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u="none" strike="noStrike">
                          <a:effectLst/>
                        </a:rPr>
                        <a:t>沧州</a:t>
                      </a:r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 dirty="0">
                          <a:effectLst/>
                        </a:rPr>
                        <a:t>21,724</a:t>
                      </a:r>
                      <a:endParaRPr lang="en-US" altLang="zh-CN" sz="6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690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399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14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27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10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u="none" strike="noStrike">
                          <a:effectLst/>
                        </a:rPr>
                        <a:t>邢台</a:t>
                      </a:r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 dirty="0">
                          <a:effectLst/>
                        </a:rPr>
                        <a:t>20,665</a:t>
                      </a:r>
                      <a:endParaRPr lang="en-US" altLang="zh-CN" sz="6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461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317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11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28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11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u="none" strike="noStrike">
                          <a:effectLst/>
                        </a:rPr>
                        <a:t>信阳</a:t>
                      </a:r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 dirty="0">
                          <a:effectLst/>
                        </a:rPr>
                        <a:t>18,465</a:t>
                      </a:r>
                      <a:endParaRPr lang="en-US" altLang="zh-CN" sz="6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582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323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15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30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12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u="none" strike="noStrike">
                          <a:effectLst/>
                        </a:rPr>
                        <a:t>南充</a:t>
                      </a:r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 dirty="0">
                          <a:effectLst/>
                        </a:rPr>
                        <a:t>15,399</a:t>
                      </a:r>
                      <a:endParaRPr lang="en-US" altLang="zh-CN" sz="6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540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274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9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29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13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u="none" strike="noStrike">
                          <a:effectLst/>
                        </a:rPr>
                        <a:t>安阳</a:t>
                      </a:r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 dirty="0">
                          <a:effectLst/>
                        </a:rPr>
                        <a:t>15,353</a:t>
                      </a:r>
                      <a:endParaRPr lang="en-US" altLang="zh-CN" sz="6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426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321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9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26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14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u="none" strike="noStrike">
                          <a:effectLst/>
                        </a:rPr>
                        <a:t>滁州</a:t>
                      </a:r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 dirty="0">
                          <a:effectLst/>
                        </a:rPr>
                        <a:t>14,598</a:t>
                      </a:r>
                      <a:endParaRPr lang="en-US" altLang="zh-CN" sz="6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332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199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7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28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15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u="none" strike="noStrike">
                          <a:effectLst/>
                        </a:rPr>
                        <a:t>宜春</a:t>
                      </a:r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 dirty="0">
                          <a:effectLst/>
                        </a:rPr>
                        <a:t>12,474</a:t>
                      </a:r>
                      <a:endParaRPr lang="en-US" altLang="zh-CN" sz="6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253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158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9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30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16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u="none" strike="noStrike">
                          <a:effectLst/>
                        </a:rPr>
                        <a:t>宿迁</a:t>
                      </a:r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 dirty="0">
                          <a:effectLst/>
                        </a:rPr>
                        <a:t>19,962</a:t>
                      </a:r>
                      <a:endParaRPr lang="en-US" altLang="zh-CN" sz="6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454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240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-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30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17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u="none" strike="noStrike">
                          <a:effectLst/>
                        </a:rPr>
                        <a:t>肇庆</a:t>
                      </a:r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 dirty="0">
                          <a:effectLst/>
                        </a:rPr>
                        <a:t>19,730</a:t>
                      </a:r>
                      <a:endParaRPr lang="en-US" altLang="zh-CN" sz="6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450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375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-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29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18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u="none" strike="noStrike">
                          <a:effectLst/>
                        </a:rPr>
                        <a:t>德州</a:t>
                      </a:r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 dirty="0">
                          <a:effectLst/>
                        </a:rPr>
                        <a:t>18,729</a:t>
                      </a:r>
                      <a:endParaRPr lang="en-US" altLang="zh-CN" sz="6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428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284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-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29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19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u="none" strike="noStrike">
                          <a:effectLst/>
                        </a:rPr>
                        <a:t>新乡</a:t>
                      </a:r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 dirty="0">
                          <a:effectLst/>
                        </a:rPr>
                        <a:t>18,454</a:t>
                      </a:r>
                      <a:endParaRPr lang="en-US" altLang="zh-CN" sz="6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616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432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-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29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20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u="none" strike="noStrike">
                          <a:effectLst/>
                        </a:rPr>
                        <a:t>聊城</a:t>
                      </a:r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 dirty="0">
                          <a:effectLst/>
                        </a:rPr>
                        <a:t>18,161</a:t>
                      </a:r>
                      <a:endParaRPr lang="en-US" altLang="zh-CN" sz="6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450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296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-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30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21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u="none" strike="noStrike">
                          <a:effectLst/>
                        </a:rPr>
                        <a:t>驻马店</a:t>
                      </a:r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 dirty="0">
                          <a:effectLst/>
                        </a:rPr>
                        <a:t>17,928</a:t>
                      </a:r>
                      <a:endParaRPr lang="en-US" altLang="zh-CN" sz="6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359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260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-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29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22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u="none" strike="noStrike">
                          <a:effectLst/>
                        </a:rPr>
                        <a:t>曲靖</a:t>
                      </a:r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 dirty="0">
                          <a:effectLst/>
                        </a:rPr>
                        <a:t>17,660</a:t>
                      </a:r>
                      <a:endParaRPr lang="en-US" altLang="zh-CN" sz="6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256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169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-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30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23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u="none" strike="noStrike">
                          <a:effectLst/>
                        </a:rPr>
                        <a:t>毕节</a:t>
                      </a:r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 dirty="0">
                          <a:effectLst/>
                        </a:rPr>
                        <a:t>16,277</a:t>
                      </a:r>
                      <a:endParaRPr lang="en-US" altLang="zh-CN" sz="6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178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102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-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29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24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u="none" strike="noStrike">
                          <a:effectLst/>
                        </a:rPr>
                        <a:t>梅州</a:t>
                      </a:r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 dirty="0">
                          <a:effectLst/>
                        </a:rPr>
                        <a:t>15,287</a:t>
                      </a:r>
                      <a:endParaRPr lang="en-US" altLang="zh-CN" sz="6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200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145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-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30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25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u="none" strike="noStrike">
                          <a:effectLst/>
                        </a:rPr>
                        <a:t>渭南</a:t>
                      </a:r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 dirty="0">
                          <a:effectLst/>
                        </a:rPr>
                        <a:t>13,764</a:t>
                      </a:r>
                      <a:endParaRPr lang="en-US" altLang="zh-CN" sz="6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287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194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-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30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extLst>
                  <a:ext uri="{0D108BD9-81ED-4DB2-BD59-A6C34878D82A}">
                    <a16:rowId xmlns:a16="http://schemas.microsoft.com/office/drawing/2014/main" val="100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26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u="none" strike="noStrike">
                          <a:effectLst/>
                        </a:rPr>
                        <a:t>榆林</a:t>
                      </a:r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 dirty="0">
                          <a:effectLst/>
                        </a:rPr>
                        <a:t>13,556</a:t>
                      </a:r>
                      <a:endParaRPr lang="en-US" altLang="zh-CN" sz="6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270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172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-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30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extLst>
                  <a:ext uri="{0D108BD9-81ED-4DB2-BD59-A6C34878D82A}">
                    <a16:rowId xmlns:a16="http://schemas.microsoft.com/office/drawing/2014/main" val="100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27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u="none" strike="noStrike">
                          <a:effectLst/>
                        </a:rPr>
                        <a:t>莆田</a:t>
                      </a:r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 dirty="0">
                          <a:effectLst/>
                        </a:rPr>
                        <a:t>13,212</a:t>
                      </a:r>
                      <a:endParaRPr lang="en-US" altLang="zh-CN" sz="6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410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229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-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30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extLst>
                  <a:ext uri="{0D108BD9-81ED-4DB2-BD59-A6C34878D82A}">
                    <a16:rowId xmlns:a16="http://schemas.microsoft.com/office/drawing/2014/main" val="100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28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u="none" strike="noStrike">
                          <a:effectLst/>
                        </a:rPr>
                        <a:t>许昌</a:t>
                      </a:r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 dirty="0">
                          <a:effectLst/>
                        </a:rPr>
                        <a:t>12,731</a:t>
                      </a:r>
                      <a:endParaRPr lang="en-US" altLang="zh-CN" sz="6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434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297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-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30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extLst>
                  <a:ext uri="{0D108BD9-81ED-4DB2-BD59-A6C34878D82A}">
                    <a16:rowId xmlns:a16="http://schemas.microsoft.com/office/drawing/2014/main" val="100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29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u="none" strike="noStrike">
                          <a:effectLst/>
                        </a:rPr>
                        <a:t>汕尾</a:t>
                      </a:r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 dirty="0">
                          <a:effectLst/>
                        </a:rPr>
                        <a:t>12,611</a:t>
                      </a:r>
                      <a:endParaRPr lang="en-US" altLang="zh-CN" sz="6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261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179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-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30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extLst>
                  <a:ext uri="{0D108BD9-81ED-4DB2-BD59-A6C34878D82A}">
                    <a16:rowId xmlns:a16="http://schemas.microsoft.com/office/drawing/2014/main" val="100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30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u="none" strike="noStrike">
                          <a:effectLst/>
                        </a:rPr>
                        <a:t>鞍山</a:t>
                      </a:r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 dirty="0">
                          <a:effectLst/>
                        </a:rPr>
                        <a:t>12,323</a:t>
                      </a:r>
                      <a:endParaRPr lang="en-US" altLang="zh-CN" sz="6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362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249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-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 dirty="0">
                          <a:effectLst/>
                        </a:rPr>
                        <a:t>30</a:t>
                      </a:r>
                      <a:endParaRPr lang="en-US" altLang="zh-CN" sz="6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extLst>
                  <a:ext uri="{0D108BD9-81ED-4DB2-BD59-A6C34878D82A}">
                    <a16:rowId xmlns:a16="http://schemas.microsoft.com/office/drawing/2014/main" val="10032"/>
                  </a:ext>
                </a:extLst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395285" y="1265237"/>
          <a:ext cx="3686175" cy="1833364"/>
        </p:xfrm>
        <a:graphic>
          <a:graphicData uri="http://schemas.openxmlformats.org/drawingml/2006/table">
            <a:tbl>
              <a:tblPr>
                <a:tableStyleId>{0E3FDE45-AF77-4B5C-9715-49D594BDF05E}</a:tableStyleId>
              </a:tblPr>
              <a:tblGrid>
                <a:gridCol w="12522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63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68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50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6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7689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1" u="none" strike="noStrike" dirty="0">
                          <a:effectLst/>
                        </a:rPr>
                        <a:t>前台城市分布</a:t>
                      </a:r>
                      <a:endParaRPr lang="zh-CN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1" u="none" strike="noStrike" dirty="0">
                          <a:effectLst/>
                        </a:rPr>
                        <a:t>城市数量</a:t>
                      </a:r>
                      <a:endParaRPr lang="zh-CN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1" u="none" strike="noStrike" dirty="0">
                          <a:effectLst/>
                        </a:rPr>
                        <a:t>必吃榜覆盖城市数量</a:t>
                      </a:r>
                      <a:endParaRPr lang="zh-CN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1" u="none" strike="noStrike" dirty="0">
                          <a:effectLst/>
                        </a:rPr>
                        <a:t>覆盖率</a:t>
                      </a:r>
                      <a:endParaRPr lang="zh-CN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1" u="none" strike="noStrike" dirty="0">
                          <a:effectLst/>
                        </a:rPr>
                        <a:t>未覆盖城市数量</a:t>
                      </a:r>
                      <a:endParaRPr lang="zh-CN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142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u="none" strike="noStrike">
                          <a:effectLst/>
                        </a:rPr>
                        <a:t>门店数</a:t>
                      </a:r>
                      <a:r>
                        <a:rPr lang="en-US" altLang="zh-CN" sz="800" u="none" strike="noStrike">
                          <a:effectLst/>
                        </a:rPr>
                        <a:t>10</a:t>
                      </a:r>
                      <a:r>
                        <a:rPr lang="zh-CN" altLang="en-US" sz="800" u="none" strike="noStrike">
                          <a:effectLst/>
                        </a:rPr>
                        <a:t>万以上城市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u="none" strike="noStrike">
                          <a:effectLst/>
                        </a:rPr>
                        <a:t>6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u="none" strike="noStrike">
                          <a:effectLst/>
                        </a:rPr>
                        <a:t>6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u="none" strike="noStrike">
                          <a:effectLst/>
                        </a:rPr>
                        <a:t>100%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u="none" strike="noStrike">
                          <a:effectLst/>
                        </a:rPr>
                        <a:t>0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142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u="none" strike="noStrike">
                          <a:effectLst/>
                        </a:rPr>
                        <a:t>门店数</a:t>
                      </a:r>
                      <a:r>
                        <a:rPr lang="en-US" altLang="zh-CN" sz="800" u="none" strike="noStrike">
                          <a:effectLst/>
                        </a:rPr>
                        <a:t>3-10</a:t>
                      </a:r>
                      <a:r>
                        <a:rPr lang="zh-CN" altLang="en-US" sz="800" u="none" strike="noStrike">
                          <a:effectLst/>
                        </a:rPr>
                        <a:t>万以上城市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u="none" strike="noStrike">
                          <a:effectLst/>
                        </a:rPr>
                        <a:t>41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u="none" strike="noStrike">
                          <a:effectLst/>
                        </a:rPr>
                        <a:t>40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u="none" strike="noStrike">
                          <a:effectLst/>
                        </a:rPr>
                        <a:t>98%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u="none" strike="noStrike">
                          <a:effectLst/>
                        </a:rPr>
                        <a:t>1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142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u="none" strike="noStrike">
                          <a:effectLst/>
                        </a:rPr>
                        <a:t>门店数</a:t>
                      </a:r>
                      <a:r>
                        <a:rPr lang="en-US" altLang="zh-CN" sz="800" u="none" strike="noStrike">
                          <a:effectLst/>
                        </a:rPr>
                        <a:t>2-3</a:t>
                      </a:r>
                      <a:r>
                        <a:rPr lang="zh-CN" altLang="en-US" sz="800" u="none" strike="noStrike">
                          <a:effectLst/>
                        </a:rPr>
                        <a:t>万城市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u="none" strike="noStrike">
                          <a:effectLst/>
                        </a:rPr>
                        <a:t>27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u="none" strike="noStrike">
                          <a:effectLst/>
                        </a:rPr>
                        <a:t>18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u="none" strike="noStrike">
                          <a:effectLst/>
                        </a:rPr>
                        <a:t>67%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u="none" strike="noStrike">
                          <a:effectLst/>
                        </a:rPr>
                        <a:t>9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142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u="none" strike="noStrike">
                          <a:effectLst/>
                        </a:rPr>
                        <a:t>门店数</a:t>
                      </a:r>
                      <a:r>
                        <a:rPr lang="en-US" altLang="zh-CN" sz="800" u="none" strike="noStrike">
                          <a:effectLst/>
                        </a:rPr>
                        <a:t>1-2</a:t>
                      </a:r>
                      <a:r>
                        <a:rPr lang="zh-CN" altLang="en-US" sz="800" u="none" strike="noStrike">
                          <a:effectLst/>
                        </a:rPr>
                        <a:t>万城市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u="none" strike="noStrike">
                          <a:effectLst/>
                        </a:rPr>
                        <a:t>120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u="none" strike="noStrike">
                          <a:effectLst/>
                        </a:rPr>
                        <a:t>45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u="none" strike="noStrike">
                          <a:effectLst/>
                        </a:rPr>
                        <a:t>38%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u="none" strike="noStrike">
                          <a:effectLst/>
                        </a:rPr>
                        <a:t>75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142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u="none" strike="noStrike">
                          <a:effectLst/>
                        </a:rPr>
                        <a:t>门店数</a:t>
                      </a:r>
                      <a:r>
                        <a:rPr lang="en-US" altLang="zh-CN" sz="800" u="none" strike="noStrike">
                          <a:effectLst/>
                        </a:rPr>
                        <a:t>5k-1</a:t>
                      </a:r>
                      <a:r>
                        <a:rPr lang="zh-CN" altLang="en-US" sz="800" u="none" strike="noStrike">
                          <a:effectLst/>
                        </a:rPr>
                        <a:t>万城市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u="none" strike="noStrike">
                          <a:effectLst/>
                        </a:rPr>
                        <a:t>132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u="none" strike="noStrike" dirty="0">
                          <a:effectLst/>
                        </a:rPr>
                        <a:t>37</a:t>
                      </a:r>
                      <a:endParaRPr lang="en-US" altLang="zh-CN" sz="8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u="none" strike="noStrike" dirty="0">
                          <a:effectLst/>
                        </a:rPr>
                        <a:t>28%</a:t>
                      </a:r>
                      <a:endParaRPr lang="en-US" altLang="zh-CN" sz="8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u="none" strike="noStrike">
                          <a:effectLst/>
                        </a:rPr>
                        <a:t>95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4142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u="none" strike="noStrike">
                          <a:effectLst/>
                        </a:rPr>
                        <a:t>门店数</a:t>
                      </a:r>
                      <a:r>
                        <a:rPr lang="en-US" altLang="zh-CN" sz="800" u="none" strike="noStrike">
                          <a:effectLst/>
                        </a:rPr>
                        <a:t>3</a:t>
                      </a:r>
                      <a:r>
                        <a:rPr lang="en-US" sz="800" u="none" strike="noStrike">
                          <a:effectLst/>
                        </a:rPr>
                        <a:t>k-5k</a:t>
                      </a:r>
                      <a:r>
                        <a:rPr lang="zh-CN" altLang="en-US" sz="800" u="none" strike="noStrike">
                          <a:effectLst/>
                        </a:rPr>
                        <a:t>城市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u="none" strike="noStrike" dirty="0">
                          <a:effectLst/>
                        </a:rPr>
                        <a:t>131</a:t>
                      </a:r>
                      <a:endParaRPr lang="en-US" altLang="zh-CN" sz="8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u="none" strike="noStrike">
                          <a:effectLst/>
                        </a:rPr>
                        <a:t>39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u="none" strike="noStrike">
                          <a:effectLst/>
                        </a:rPr>
                        <a:t>30%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u="none" strike="noStrike">
                          <a:effectLst/>
                        </a:rPr>
                        <a:t>92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4142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u="none" strike="noStrike">
                          <a:effectLst/>
                        </a:rPr>
                        <a:t>门店数</a:t>
                      </a:r>
                      <a:r>
                        <a:rPr lang="en-US" altLang="zh-CN" sz="800" u="none" strike="noStrike">
                          <a:effectLst/>
                        </a:rPr>
                        <a:t>1</a:t>
                      </a:r>
                      <a:r>
                        <a:rPr lang="en-US" sz="800" u="none" strike="noStrike">
                          <a:effectLst/>
                        </a:rPr>
                        <a:t>k-3k</a:t>
                      </a:r>
                      <a:r>
                        <a:rPr lang="zh-CN" altLang="en-US" sz="800" u="none" strike="noStrike">
                          <a:effectLst/>
                        </a:rPr>
                        <a:t>城市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u="none" strike="noStrike">
                          <a:effectLst/>
                        </a:rPr>
                        <a:t>522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u="none" strike="noStrike">
                          <a:effectLst/>
                        </a:rPr>
                        <a:t>46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u="none" strike="noStrike">
                          <a:effectLst/>
                        </a:rPr>
                        <a:t>9%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u="none" strike="noStrike">
                          <a:effectLst/>
                        </a:rPr>
                        <a:t>476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4142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u="none" strike="noStrike">
                          <a:effectLst/>
                        </a:rPr>
                        <a:t>门店数</a:t>
                      </a:r>
                      <a:r>
                        <a:rPr lang="en-US" altLang="zh-CN" sz="800" u="none" strike="noStrike">
                          <a:effectLst/>
                        </a:rPr>
                        <a:t>500-1</a:t>
                      </a:r>
                      <a:r>
                        <a:rPr lang="en-US" sz="800" u="none" strike="noStrike">
                          <a:effectLst/>
                        </a:rPr>
                        <a:t>k</a:t>
                      </a:r>
                      <a:r>
                        <a:rPr lang="zh-CN" altLang="en-US" sz="800" u="none" strike="noStrike">
                          <a:effectLst/>
                        </a:rPr>
                        <a:t>城市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u="none" strike="noStrike">
                          <a:effectLst/>
                        </a:rPr>
                        <a:t>184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u="none" strike="noStrike">
                          <a:effectLst/>
                        </a:rPr>
                        <a:t>3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u="none" strike="noStrike">
                          <a:effectLst/>
                        </a:rPr>
                        <a:t>2%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u="none" strike="noStrike">
                          <a:effectLst/>
                        </a:rPr>
                        <a:t>181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4142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u="none" strike="noStrike">
                          <a:effectLst/>
                        </a:rPr>
                        <a:t>门店数</a:t>
                      </a:r>
                      <a:r>
                        <a:rPr lang="en-US" altLang="zh-CN" sz="800" u="none" strike="noStrike">
                          <a:effectLst/>
                        </a:rPr>
                        <a:t>300-500</a:t>
                      </a:r>
                      <a:r>
                        <a:rPr lang="zh-CN" altLang="en-US" sz="800" u="none" strike="noStrike">
                          <a:effectLst/>
                        </a:rPr>
                        <a:t>城市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u="none" strike="noStrike">
                          <a:effectLst/>
                        </a:rPr>
                        <a:t>19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u="none" strike="noStrike">
                          <a:effectLst/>
                        </a:rPr>
                        <a:t>3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u="none" strike="noStrike">
                          <a:effectLst/>
                        </a:rPr>
                        <a:t>16%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u="none" strike="noStrike">
                          <a:effectLst/>
                        </a:rPr>
                        <a:t>16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4142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u="none" strike="noStrike">
                          <a:effectLst/>
                        </a:rPr>
                        <a:t>门店数小于</a:t>
                      </a:r>
                      <a:r>
                        <a:rPr lang="en-US" altLang="zh-CN" sz="800" u="none" strike="noStrike">
                          <a:effectLst/>
                        </a:rPr>
                        <a:t>300</a:t>
                      </a:r>
                      <a:r>
                        <a:rPr lang="zh-CN" altLang="en-US" sz="800" u="none" strike="noStrike">
                          <a:effectLst/>
                        </a:rPr>
                        <a:t>城市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u="none" strike="noStrike">
                          <a:effectLst/>
                        </a:rPr>
                        <a:t>8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u="none" strike="noStrike">
                          <a:effectLst/>
                        </a:rPr>
                        <a:t>0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u="none" strike="noStrike">
                          <a:effectLst/>
                        </a:rPr>
                        <a:t>0%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u="none" strike="noStrike">
                          <a:effectLst/>
                        </a:rPr>
                        <a:t>8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4142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u="none" strike="noStrike">
                          <a:effectLst/>
                        </a:rPr>
                        <a:t>总计</a:t>
                      </a:r>
                      <a:endParaRPr lang="zh-CN" altLang="en-US" sz="800" b="1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u="none" strike="noStrike" dirty="0">
                          <a:effectLst/>
                        </a:rPr>
                        <a:t>1,190</a:t>
                      </a:r>
                      <a:endParaRPr lang="en-US" altLang="zh-CN" sz="800" b="1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u="none" strike="noStrike">
                          <a:effectLst/>
                        </a:rPr>
                        <a:t>237</a:t>
                      </a:r>
                      <a:endParaRPr lang="en-US" altLang="zh-CN" sz="800" b="1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u="none" strike="noStrike">
                          <a:effectLst/>
                        </a:rPr>
                        <a:t>20%</a:t>
                      </a:r>
                      <a:endParaRPr lang="en-US" altLang="zh-CN" sz="800" b="1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u="none" strike="noStrike" dirty="0">
                          <a:effectLst/>
                        </a:rPr>
                        <a:t>953</a:t>
                      </a:r>
                      <a:endParaRPr lang="en-US" altLang="zh-CN" sz="800" b="1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榜单</a:t>
            </a:r>
            <a:r>
              <a:rPr lang="zh-CN" altLang="en-US" dirty="0"/>
              <a:t>商圈</a:t>
            </a:r>
            <a:r>
              <a:rPr kumimoji="1" lang="zh-CN" altLang="en-US" dirty="0"/>
              <a:t>覆盖问题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kumimoji="1" lang="zh-CN" altLang="en-US" dirty="0"/>
              <a:t>榜单覆盖问题</a:t>
            </a:r>
          </a:p>
        </p:txBody>
      </p:sp>
      <p:graphicFrame>
        <p:nvGraphicFramePr>
          <p:cNvPr id="5" name="表格 5"/>
          <p:cNvGraphicFramePr>
            <a:graphicFrameLocks noGrp="1"/>
          </p:cNvGraphicFramePr>
          <p:nvPr/>
        </p:nvGraphicFramePr>
        <p:xfrm>
          <a:off x="522756" y="1440843"/>
          <a:ext cx="8369039" cy="4946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93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88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43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937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43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5389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9457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5082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全国商圈数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美团人气榜覆盖商圈数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覆盖率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美团好评榜覆盖商圈数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00" b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覆盖率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必吃榜覆盖商圈数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覆盖率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563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+mj-ea"/>
                          <a:ea typeface="+mj-ea"/>
                        </a:rPr>
                        <a:t>23,881</a:t>
                      </a:r>
                      <a:r>
                        <a:rPr lang="zh-CN" altLang="en-US" sz="1000" dirty="0">
                          <a:latin typeface="+mj-ea"/>
                          <a:ea typeface="+mj-ea"/>
                        </a:rPr>
                        <a:t>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+mj-ea"/>
                          <a:ea typeface="+mj-ea"/>
                        </a:rPr>
                        <a:t>20,101</a:t>
                      </a:r>
                      <a:r>
                        <a:rPr lang="zh-CN" altLang="en-US" sz="1000" dirty="0">
                          <a:latin typeface="+mj-ea"/>
                          <a:ea typeface="+mj-ea"/>
                        </a:rPr>
                        <a:t>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+mj-ea"/>
                          <a:ea typeface="+mj-ea"/>
                        </a:rPr>
                        <a:t>84%</a:t>
                      </a:r>
                      <a:endParaRPr lang="zh-CN" altLang="en-US" sz="1000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+mj-ea"/>
                          <a:ea typeface="+mj-ea"/>
                        </a:rPr>
                        <a:t>16,820</a:t>
                      </a:r>
                      <a:r>
                        <a:rPr lang="zh-CN" altLang="en-US" sz="1000" dirty="0">
                          <a:latin typeface="+mj-ea"/>
                          <a:ea typeface="+mj-ea"/>
                        </a:rPr>
                        <a:t>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+mj-ea"/>
                          <a:ea typeface="+mj-ea"/>
                        </a:rPr>
                        <a:t>70%</a:t>
                      </a:r>
                      <a:endParaRPr lang="zh-CN" altLang="en-US" sz="1000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+mj-ea"/>
                          <a:ea typeface="+mj-ea"/>
                        </a:rPr>
                        <a:t>1,627</a:t>
                      </a:r>
                      <a:r>
                        <a:rPr lang="zh-CN" altLang="en-US" sz="1000" dirty="0">
                          <a:latin typeface="+mj-ea"/>
                          <a:ea typeface="+mj-ea"/>
                        </a:rPr>
                        <a:t>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+mj-ea"/>
                          <a:ea typeface="+mj-ea"/>
                        </a:rPr>
                        <a:t>7%</a:t>
                      </a:r>
                      <a:endParaRPr lang="zh-CN" altLang="en-US" sz="1000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6282187" y="2054281"/>
            <a:ext cx="279772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100" dirty="0">
                <a:effectLst/>
              </a:rPr>
              <a:t>必吃榜未覆盖优质商圈门店供给情况：</a:t>
            </a:r>
            <a:endParaRPr lang="en-US" altLang="zh-CN" sz="1100" dirty="0">
              <a:effectLst/>
            </a:endParaRPr>
          </a:p>
        </p:txBody>
      </p:sp>
      <p:graphicFrame>
        <p:nvGraphicFramePr>
          <p:cNvPr id="8" name="表格 8"/>
          <p:cNvGraphicFramePr>
            <a:graphicFrameLocks noGrp="1"/>
          </p:cNvGraphicFramePr>
          <p:nvPr/>
        </p:nvGraphicFramePr>
        <p:xfrm>
          <a:off x="6470306" y="2355850"/>
          <a:ext cx="2421488" cy="1920240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454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53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39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3240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800" dirty="0">
                          <a:latin typeface="+mj-ea"/>
                          <a:ea typeface="+mj-ea"/>
                        </a:rPr>
                        <a:t>城市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800" dirty="0">
                          <a:latin typeface="+mj-ea"/>
                          <a:ea typeface="+mj-ea"/>
                        </a:rPr>
                        <a:t>行政区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800" dirty="0">
                          <a:latin typeface="+mj-ea"/>
                          <a:ea typeface="+mj-ea"/>
                        </a:rPr>
                        <a:t>商圈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800" dirty="0">
                          <a:latin typeface="+mj-ea"/>
                          <a:ea typeface="+mj-ea"/>
                        </a:rPr>
                        <a:t>营业门店数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240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800" dirty="0">
                          <a:latin typeface="+mj-ea"/>
                          <a:ea typeface="+mj-ea"/>
                        </a:rPr>
                        <a:t>深圳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800" dirty="0">
                          <a:latin typeface="+mj-ea"/>
                          <a:ea typeface="+mj-ea"/>
                        </a:rPr>
                        <a:t>宝安区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800" dirty="0">
                          <a:latin typeface="+mj-ea"/>
                          <a:ea typeface="+mj-ea"/>
                        </a:rPr>
                        <a:t>沙井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>
                          <a:latin typeface="+mj-ea"/>
                          <a:ea typeface="+mj-ea"/>
                        </a:rPr>
                        <a:t>13,232</a:t>
                      </a:r>
                      <a:r>
                        <a:rPr lang="zh-CN" altLang="en-US" sz="800" dirty="0">
                          <a:latin typeface="+mj-ea"/>
                          <a:ea typeface="+mj-ea"/>
                        </a:rPr>
                        <a:t>家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240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800" dirty="0">
                          <a:latin typeface="+mj-ea"/>
                          <a:ea typeface="+mj-ea"/>
                        </a:rPr>
                        <a:t>佛山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800" dirty="0">
                          <a:latin typeface="+mj-ea"/>
                          <a:ea typeface="+mj-ea"/>
                        </a:rPr>
                        <a:t>南海区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800" dirty="0">
                          <a:latin typeface="+mj-ea"/>
                          <a:ea typeface="+mj-ea"/>
                        </a:rPr>
                        <a:t>里水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>
                          <a:latin typeface="+mj-ea"/>
                          <a:ea typeface="+mj-ea"/>
                        </a:rPr>
                        <a:t>12,031</a:t>
                      </a:r>
                      <a:r>
                        <a:rPr lang="zh-CN" altLang="en-US" sz="800" dirty="0">
                          <a:latin typeface="+mj-ea"/>
                          <a:ea typeface="+mj-ea"/>
                        </a:rPr>
                        <a:t>家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240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800" dirty="0">
                          <a:latin typeface="+mj-ea"/>
                          <a:ea typeface="+mj-ea"/>
                        </a:rPr>
                        <a:t>厦门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800" dirty="0">
                          <a:latin typeface="+mj-ea"/>
                          <a:ea typeface="+mj-ea"/>
                        </a:rPr>
                        <a:t>思明区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800" dirty="0">
                          <a:latin typeface="+mj-ea"/>
                          <a:ea typeface="+mj-ea"/>
                        </a:rPr>
                        <a:t>市政府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>
                          <a:latin typeface="+mj-ea"/>
                          <a:ea typeface="+mj-ea"/>
                        </a:rPr>
                        <a:t>9,671</a:t>
                      </a:r>
                      <a:r>
                        <a:rPr lang="zh-CN" altLang="en-US" sz="800" dirty="0">
                          <a:latin typeface="+mj-ea"/>
                          <a:ea typeface="+mj-ea"/>
                        </a:rPr>
                        <a:t>家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240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800" dirty="0">
                          <a:latin typeface="+mj-ea"/>
                          <a:ea typeface="+mj-ea"/>
                        </a:rPr>
                        <a:t>广州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800" dirty="0">
                          <a:latin typeface="+mj-ea"/>
                          <a:ea typeface="+mj-ea"/>
                        </a:rPr>
                        <a:t>白云区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800" dirty="0">
                          <a:latin typeface="+mj-ea"/>
                          <a:ea typeface="+mj-ea"/>
                        </a:rPr>
                        <a:t>嘉禾</a:t>
                      </a:r>
                      <a:r>
                        <a:rPr lang="en-US" altLang="zh-CN" sz="800" dirty="0">
                          <a:latin typeface="+mj-ea"/>
                          <a:ea typeface="+mj-ea"/>
                        </a:rPr>
                        <a:t>/</a:t>
                      </a:r>
                      <a:r>
                        <a:rPr lang="zh-CN" altLang="en-US" sz="800" dirty="0">
                          <a:latin typeface="+mj-ea"/>
                          <a:ea typeface="+mj-ea"/>
                        </a:rPr>
                        <a:t>人和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>
                          <a:latin typeface="+mj-ea"/>
                          <a:ea typeface="+mj-ea"/>
                        </a:rPr>
                        <a:t>8,425</a:t>
                      </a:r>
                      <a:r>
                        <a:rPr lang="zh-CN" altLang="en-US" sz="800" dirty="0">
                          <a:latin typeface="+mj-ea"/>
                          <a:ea typeface="+mj-ea"/>
                        </a:rPr>
                        <a:t>家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240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800" dirty="0">
                          <a:latin typeface="+mj-ea"/>
                          <a:ea typeface="+mj-ea"/>
                        </a:rPr>
                        <a:t>深圳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800" dirty="0">
                          <a:latin typeface="+mj-ea"/>
                          <a:ea typeface="+mj-ea"/>
                        </a:rPr>
                        <a:t>龙岗区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800" dirty="0">
                          <a:latin typeface="+mj-ea"/>
                          <a:ea typeface="+mj-ea"/>
                        </a:rPr>
                        <a:t>横岗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>
                          <a:latin typeface="+mj-ea"/>
                          <a:ea typeface="+mj-ea"/>
                        </a:rPr>
                        <a:t>7,789</a:t>
                      </a:r>
                      <a:r>
                        <a:rPr lang="zh-CN" altLang="en-US" sz="800" dirty="0">
                          <a:latin typeface="+mj-ea"/>
                          <a:ea typeface="+mj-ea"/>
                        </a:rPr>
                        <a:t>家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240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800" dirty="0">
                          <a:latin typeface="+mj-ea"/>
                          <a:ea typeface="+mj-ea"/>
                        </a:rPr>
                        <a:t>深圳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800" dirty="0">
                          <a:latin typeface="+mj-ea"/>
                          <a:ea typeface="+mj-ea"/>
                        </a:rPr>
                        <a:t>宝安区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800" dirty="0">
                          <a:latin typeface="+mj-ea"/>
                          <a:ea typeface="+mj-ea"/>
                        </a:rPr>
                        <a:t>石岩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>
                          <a:latin typeface="+mj-ea"/>
                          <a:ea typeface="+mj-ea"/>
                        </a:rPr>
                        <a:t>6,899</a:t>
                      </a:r>
                      <a:r>
                        <a:rPr lang="zh-CN" altLang="en-US" sz="800" dirty="0">
                          <a:latin typeface="+mj-ea"/>
                          <a:ea typeface="+mj-ea"/>
                        </a:rPr>
                        <a:t>家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3240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800" dirty="0">
                          <a:latin typeface="+mj-ea"/>
                          <a:ea typeface="+mj-ea"/>
                        </a:rPr>
                        <a:t>佛山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800" dirty="0">
                          <a:latin typeface="+mj-ea"/>
                          <a:ea typeface="+mj-ea"/>
                        </a:rPr>
                        <a:t>顺德区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800" dirty="0">
                          <a:latin typeface="+mj-ea"/>
                          <a:ea typeface="+mj-ea"/>
                        </a:rPr>
                        <a:t>北滘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>
                          <a:latin typeface="+mj-ea"/>
                          <a:ea typeface="+mj-ea"/>
                        </a:rPr>
                        <a:t>6,631</a:t>
                      </a:r>
                      <a:r>
                        <a:rPr lang="zh-CN" altLang="en-US" sz="800" dirty="0">
                          <a:latin typeface="+mj-ea"/>
                          <a:ea typeface="+mj-ea"/>
                        </a:rPr>
                        <a:t>家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3240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800" dirty="0">
                          <a:latin typeface="+mj-ea"/>
                          <a:ea typeface="+mj-ea"/>
                        </a:rPr>
                        <a:t>重庆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800" dirty="0">
                          <a:latin typeface="+mj-ea"/>
                          <a:ea typeface="+mj-ea"/>
                        </a:rPr>
                        <a:t>沙坪坝区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800" dirty="0">
                          <a:latin typeface="+mj-ea"/>
                          <a:ea typeface="+mj-ea"/>
                        </a:rPr>
                        <a:t>大学城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>
                          <a:latin typeface="+mj-ea"/>
                          <a:ea typeface="+mj-ea"/>
                        </a:rPr>
                        <a:t>6,245</a:t>
                      </a:r>
                      <a:r>
                        <a:rPr lang="zh-CN" altLang="en-US" sz="800" dirty="0">
                          <a:latin typeface="+mj-ea"/>
                          <a:ea typeface="+mj-ea"/>
                        </a:rPr>
                        <a:t>家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308705" y="1985038"/>
            <a:ext cx="379308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100" dirty="0">
                <a:effectLst/>
              </a:rPr>
              <a:t>美团人气榜未覆盖热度商圈</a:t>
            </a:r>
            <a:r>
              <a:rPr lang="en-US" altLang="zh-CN" sz="1100" dirty="0">
                <a:effectLst/>
              </a:rPr>
              <a:t>VS</a:t>
            </a:r>
            <a:r>
              <a:rPr lang="zh-CN" altLang="en-US" sz="1100" dirty="0">
                <a:effectLst/>
              </a:rPr>
              <a:t>点评、竞品对比：</a:t>
            </a:r>
            <a:endParaRPr lang="en-US" altLang="zh-CN" sz="800" dirty="0">
              <a:solidFill>
                <a:srgbClr val="FF0000"/>
              </a:solidFill>
              <a:effectLst/>
            </a:endParaRPr>
          </a:p>
        </p:txBody>
      </p:sp>
      <p:graphicFrame>
        <p:nvGraphicFramePr>
          <p:cNvPr id="16" name="表格 15"/>
          <p:cNvGraphicFramePr/>
          <p:nvPr>
            <p:custDataLst>
              <p:tags r:id="rId1"/>
            </p:custDataLst>
          </p:nvPr>
        </p:nvGraphicFramePr>
        <p:xfrm>
          <a:off x="522756" y="2218721"/>
          <a:ext cx="5649445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83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22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4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95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805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7468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800" b="1" dirty="0">
                          <a:solidFill>
                            <a:schemeClr val="tx1"/>
                          </a:solidFill>
                        </a:rPr>
                        <a:t>商圈</a:t>
                      </a:r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case</a:t>
                      </a:r>
                      <a:r>
                        <a:rPr lang="zh-CN" altLang="en-US" sz="800" b="1" dirty="0">
                          <a:solidFill>
                            <a:schemeClr val="tx1"/>
                          </a:solidFill>
                        </a:rPr>
                        <a:t>已</a:t>
                      </a:r>
                    </a:p>
                  </a:txBody>
                  <a:tcPr marL="68580" marR="68580" marT="34290" marB="34290" anchor="ctr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3175" cmpd="sng">
                      <a:solidFill>
                        <a:schemeClr val="tx1"/>
                      </a:solidFill>
                      <a:prstDash val="sysDot"/>
                    </a:lnR>
                    <a:lnT w="3175" cmpd="sng">
                      <a:solidFill>
                        <a:schemeClr val="tx1"/>
                      </a:solidFill>
                      <a:prstDash val="sysDot"/>
                    </a:lnT>
                    <a:lnB w="3175" cmpd="sng">
                      <a:solidFill>
                        <a:schemeClr val="tx1"/>
                      </a:solidFill>
                      <a:prstDash val="sysDot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8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  <a:sym typeface="+mn-ea"/>
                        </a:rPr>
                        <a:t>美团侧问题诊断</a:t>
                      </a:r>
                    </a:p>
                  </a:txBody>
                  <a:tcPr marL="68580" marR="68580" marT="34290" marB="34290" anchor="b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mpd="sng">
                      <a:solidFill>
                        <a:schemeClr val="tx1"/>
                      </a:solidFill>
                      <a:prstDash val="sysDot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8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  <a:sym typeface="+mn-ea"/>
                        </a:rPr>
                        <a:t>美团</a:t>
                      </a:r>
                    </a:p>
                  </a:txBody>
                  <a:tcPr marL="68580" marR="68580" marT="34290" marB="34290" anchor="b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mpd="sng">
                      <a:solidFill>
                        <a:schemeClr val="tx1"/>
                      </a:solidFill>
                      <a:prstDash val="sysDot"/>
                    </a:lnT>
                    <a:lnB w="3175" cmpd="sng">
                      <a:solidFill>
                        <a:schemeClr val="tx1"/>
                      </a:solidFill>
                      <a:prstDash val="sysDot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8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  <a:sym typeface="+mn-ea"/>
                        </a:rPr>
                        <a:t>点评</a:t>
                      </a:r>
                    </a:p>
                  </a:txBody>
                  <a:tcPr marL="68580" marR="68580" marT="34290" marB="34290" anchor="b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mpd="sng">
                      <a:solidFill>
                        <a:schemeClr val="tx1"/>
                      </a:solidFill>
                      <a:prstDash val="sysDot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800" b="1" kern="12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  <a:sym typeface="+mn-ea"/>
                        </a:rPr>
                        <a:t>高德扫街榜</a:t>
                      </a:r>
                      <a:endParaRPr lang="zh-CN" altLang="en-US" sz="800" dirty="0">
                        <a:solidFill>
                          <a:schemeClr val="tx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  <a:sym typeface="+mn-ea"/>
                      </a:endParaRPr>
                    </a:p>
                  </a:txBody>
                  <a:tcPr marL="68580" marR="68580" marT="34290" marB="34290" anchor="b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mpd="sng">
                      <a:solidFill>
                        <a:schemeClr val="tx1"/>
                      </a:solidFill>
                      <a:prstDash val="sysDot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8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  <a:sym typeface="+mn-ea"/>
                        </a:rPr>
                        <a:t>D+</a:t>
                      </a:r>
                      <a:r>
                        <a:rPr lang="zh-CN" altLang="en-US" sz="8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  <a:sym typeface="+mn-ea"/>
                        </a:rPr>
                        <a:t>心动榜</a:t>
                      </a:r>
                    </a:p>
                  </a:txBody>
                  <a:tcPr marL="68580" marR="68580" marT="34290" marB="34290" anchor="b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3175" cmpd="sng">
                      <a:solidFill>
                        <a:schemeClr val="tx1"/>
                      </a:solidFill>
                      <a:prstDash val="sysDot"/>
                    </a:lnR>
                    <a:lnT w="3175" cmpd="sng">
                      <a:solidFill>
                        <a:schemeClr val="tx1"/>
                      </a:solidFill>
                      <a:prstDash val="sysDot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0448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800" b="1" dirty="0">
                          <a:solidFill>
                            <a:schemeClr val="tx1"/>
                          </a:solidFill>
                        </a:rPr>
                        <a:t>崇礼滑雪</a:t>
                      </a:r>
                      <a:endParaRPr lang="en-US" altLang="zh-CN" sz="800" b="1" dirty="0">
                        <a:solidFill>
                          <a:schemeClr val="tx1"/>
                        </a:solidFill>
                      </a:endParaRPr>
                    </a:p>
                    <a:p>
                      <a:pPr algn="ctr">
                        <a:buNone/>
                      </a:pPr>
                      <a:r>
                        <a:rPr lang="zh-CN" altLang="en-US" sz="800" b="1" dirty="0">
                          <a:solidFill>
                            <a:schemeClr val="tx1"/>
                          </a:solidFill>
                        </a:rPr>
                        <a:t>（</a:t>
                      </a:r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5000+</a:t>
                      </a:r>
                      <a:r>
                        <a:rPr lang="zh-CN" altLang="en-US" sz="800" b="1" dirty="0">
                          <a:solidFill>
                            <a:schemeClr val="tx1"/>
                          </a:solidFill>
                        </a:rPr>
                        <a:t>家门店）</a:t>
                      </a:r>
                    </a:p>
                  </a:txBody>
                  <a:tcPr marL="68580" marR="68580" marT="34290" marB="34290" anchor="ctr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3175" cmpd="sng">
                      <a:solidFill>
                        <a:schemeClr val="tx1"/>
                      </a:solidFill>
                      <a:prstDash val="sysDot"/>
                    </a:lnR>
                    <a:lnT w="3175" cmpd="sng">
                      <a:solidFill>
                        <a:schemeClr val="tx1"/>
                      </a:solidFill>
                      <a:prstDash val="sysDot"/>
                    </a:lnT>
                    <a:lnB w="3175" cmpd="sng">
                      <a:solidFill>
                        <a:schemeClr val="tx1"/>
                      </a:solidFill>
                      <a:prstDash val="sysDot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altLang="en-US" sz="800" b="0" dirty="0">
                          <a:solidFill>
                            <a:schemeClr val="tx1"/>
                          </a:solidFill>
                          <a:sym typeface="+mn-ea"/>
                        </a:rPr>
                        <a:t>有行政区，但无热门滑雪场周边榜单覆盖，</a:t>
                      </a:r>
                      <a:r>
                        <a:rPr lang="zh-CN" altLang="en-US" sz="800" b="1" dirty="0">
                          <a:solidFill>
                            <a:srgbClr val="FF0000"/>
                          </a:solidFill>
                          <a:sym typeface="+mn-ea"/>
                        </a:rPr>
                        <a:t>缺少由流量导向的榜单需求、缺少榜单地图需求</a:t>
                      </a:r>
                    </a:p>
                  </a:txBody>
                  <a:tcPr marL="68580" marR="68580" marT="34290" marB="34290" anchor="ctr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altLang="en-US" sz="800" b="0" dirty="0">
                          <a:solidFill>
                            <a:schemeClr val="tx1"/>
                          </a:solidFill>
                          <a:sym typeface="+mn-ea"/>
                        </a:rPr>
                        <a:t>崇礼三大滑雪热门区均无榜单门店</a:t>
                      </a:r>
                      <a:endParaRPr lang="en-US" altLang="zh-CN" sz="800" b="0" dirty="0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 indent="0">
                        <a:buNone/>
                      </a:pPr>
                      <a:endParaRPr lang="en-US" altLang="zh-CN" sz="800" b="0" dirty="0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 indent="0">
                        <a:buNone/>
                      </a:pPr>
                      <a:endParaRPr lang="en-US" altLang="zh-CN" sz="800" b="0" dirty="0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 indent="0">
                        <a:buNone/>
                      </a:pPr>
                      <a:endParaRPr lang="en-US" altLang="zh-CN" sz="800" b="0" dirty="0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 indent="0">
                        <a:buNone/>
                      </a:pPr>
                      <a:endParaRPr lang="en-US" altLang="zh-CN" sz="800" b="0" dirty="0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 indent="0">
                        <a:buNone/>
                      </a:pPr>
                      <a:endParaRPr lang="en-US" altLang="zh-CN" sz="800" b="0" dirty="0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 indent="0">
                        <a:buNone/>
                      </a:pPr>
                      <a:endParaRPr lang="en-US" altLang="zh-CN" sz="800" b="0" dirty="0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 indent="0">
                        <a:buNone/>
                      </a:pPr>
                      <a:endParaRPr lang="en-US" altLang="zh-CN" sz="800" b="0" dirty="0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 indent="0">
                        <a:buNone/>
                      </a:pPr>
                      <a:endParaRPr lang="en-US" altLang="zh-CN" sz="800" b="0" dirty="0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 indent="0">
                        <a:buNone/>
                      </a:pPr>
                      <a:endParaRPr lang="en-US" altLang="zh-CN" sz="800" b="0" dirty="0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 indent="0">
                        <a:buNone/>
                      </a:pPr>
                      <a:endParaRPr lang="zh-CN" altLang="en-US" sz="800" b="0" dirty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 marL="68580" marR="68580" marT="34290" marB="34290" anchor="ctr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mpd="sng">
                      <a:solidFill>
                        <a:schemeClr val="tx1"/>
                      </a:solidFill>
                      <a:prstDash val="sysDot"/>
                    </a:lnT>
                    <a:lnB w="3175" cmpd="sng">
                      <a:solidFill>
                        <a:schemeClr val="tx1"/>
                      </a:solidFill>
                      <a:prstDash val="sysDot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altLang="en-US" sz="800" b="0" dirty="0">
                          <a:solidFill>
                            <a:schemeClr val="tx1"/>
                          </a:solidFill>
                          <a:sym typeface="+mn-ea"/>
                        </a:rPr>
                        <a:t>点评热门榜已覆盖</a:t>
                      </a:r>
                      <a:endParaRPr lang="en-US" altLang="zh-CN" sz="800" b="0" dirty="0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 indent="0">
                        <a:buNone/>
                      </a:pPr>
                      <a:endParaRPr lang="en-US" altLang="zh-CN" sz="800" b="0" dirty="0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 indent="0">
                        <a:buNone/>
                      </a:pPr>
                      <a:endParaRPr lang="en-US" altLang="zh-CN" sz="800" b="0" dirty="0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 indent="0">
                        <a:buNone/>
                      </a:pPr>
                      <a:endParaRPr lang="en-US" altLang="zh-CN" sz="800" b="0" dirty="0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 indent="0">
                        <a:buNone/>
                      </a:pPr>
                      <a:endParaRPr lang="en-US" altLang="zh-CN" sz="800" b="0" dirty="0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 indent="0">
                        <a:buNone/>
                      </a:pPr>
                      <a:endParaRPr lang="en-US" altLang="zh-CN" sz="800" b="0" dirty="0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 indent="0">
                        <a:buNone/>
                      </a:pPr>
                      <a:endParaRPr lang="en-US" altLang="zh-CN" sz="800" b="0" dirty="0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 indent="0">
                        <a:buNone/>
                      </a:pPr>
                      <a:endParaRPr lang="en-US" altLang="zh-CN" sz="800" b="0" dirty="0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 indent="0">
                        <a:buNone/>
                      </a:pPr>
                      <a:endParaRPr lang="en-US" altLang="zh-CN" sz="800" b="0" dirty="0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 indent="0">
                        <a:buNone/>
                      </a:pPr>
                      <a:endParaRPr lang="en-US" altLang="zh-CN" sz="800" b="0" dirty="0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 indent="0">
                        <a:buNone/>
                      </a:pPr>
                      <a:endParaRPr lang="en-US" altLang="zh-CN" sz="800" b="0" dirty="0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 indent="0">
                        <a:buNone/>
                      </a:pPr>
                      <a:endParaRPr lang="zh-CN" altLang="en-US" sz="800" b="0" dirty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 marL="68580" marR="68580" marT="34290" marB="34290" anchor="ctr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dirty="0">
                          <a:effectLst/>
                        </a:rPr>
                        <a:t>能直接通过滑雪场定位展示周边上榜门店</a:t>
                      </a:r>
                      <a:endParaRPr lang="en-US" altLang="zh-CN" sz="800" dirty="0">
                        <a:effectLst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800" dirty="0">
                        <a:effectLst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800" dirty="0">
                        <a:effectLst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800" dirty="0">
                        <a:effectLst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800" dirty="0">
                        <a:effectLst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800" dirty="0">
                        <a:effectLst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800" dirty="0">
                        <a:effectLst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800" dirty="0">
                        <a:effectLst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800" dirty="0">
                        <a:effectLst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800" dirty="0">
                        <a:effectLst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800" dirty="0">
                        <a:effectLst/>
                      </a:endParaRPr>
                    </a:p>
                  </a:txBody>
                  <a:tcPr marL="68580" marR="68580" marT="34290" marB="34290" anchor="ctr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dirty="0">
                          <a:effectLst/>
                        </a:rPr>
                        <a:t>无“崇礼区”行政区划分，也无滑雪热门商圈划分，无上榜门店</a:t>
                      </a:r>
                      <a:endParaRPr lang="en-US" altLang="zh-CN" sz="800" dirty="0">
                        <a:effectLst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800" dirty="0">
                        <a:effectLst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800" dirty="0">
                        <a:effectLst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800" dirty="0">
                        <a:effectLst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800" dirty="0">
                        <a:effectLst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800" dirty="0">
                        <a:effectLst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800" dirty="0">
                        <a:effectLst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800" dirty="0">
                        <a:effectLst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800" dirty="0">
                        <a:effectLst/>
                      </a:endParaRPr>
                    </a:p>
                  </a:txBody>
                  <a:tcPr marL="68580" marR="68580" marT="34290" marB="34290" anchor="ctr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3175" cmpd="sng">
                      <a:solidFill>
                        <a:schemeClr val="tx1"/>
                      </a:solidFill>
                      <a:prstDash val="sysDot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008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800" b="1" dirty="0">
                          <a:solidFill>
                            <a:schemeClr val="tx1"/>
                          </a:solidFill>
                        </a:rPr>
                        <a:t>承德丰宁</a:t>
                      </a:r>
                      <a:endParaRPr lang="en-US" altLang="zh-CN" sz="800" b="1" dirty="0">
                        <a:solidFill>
                          <a:schemeClr val="tx1"/>
                        </a:solidFill>
                      </a:endParaRPr>
                    </a:p>
                    <a:p>
                      <a:pPr algn="ctr">
                        <a:buNone/>
                      </a:pPr>
                      <a:r>
                        <a:rPr lang="zh-CN" altLang="en-US" sz="800" b="1" dirty="0">
                          <a:solidFill>
                            <a:schemeClr val="tx1"/>
                          </a:solidFill>
                        </a:rPr>
                        <a:t>坝上草原</a:t>
                      </a:r>
                      <a:endParaRPr lang="en-US" altLang="zh-CN" sz="800" b="1" dirty="0">
                        <a:solidFill>
                          <a:schemeClr val="tx1"/>
                        </a:solidFill>
                      </a:endParaRPr>
                    </a:p>
                    <a:p>
                      <a:pPr algn="ctr">
                        <a:buNone/>
                      </a:pPr>
                      <a:r>
                        <a:rPr lang="zh-CN" altLang="en-US" sz="800" b="1" dirty="0">
                          <a:solidFill>
                            <a:schemeClr val="tx1"/>
                          </a:solidFill>
                        </a:rPr>
                        <a:t>（</a:t>
                      </a:r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500+</a:t>
                      </a:r>
                      <a:r>
                        <a:rPr lang="zh-CN" altLang="en-US" sz="800" b="1" dirty="0">
                          <a:solidFill>
                            <a:schemeClr val="tx1"/>
                          </a:solidFill>
                        </a:rPr>
                        <a:t>家门店）</a:t>
                      </a:r>
                    </a:p>
                  </a:txBody>
                  <a:tcPr marL="68580" marR="68580" marT="34290" marB="34290" anchor="ctr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3175" cmpd="sng">
                      <a:solidFill>
                        <a:schemeClr val="tx1"/>
                      </a:solidFill>
                      <a:prstDash val="sysDot"/>
                    </a:lnR>
                    <a:lnT w="3175" cmpd="sng">
                      <a:solidFill>
                        <a:schemeClr val="tx1"/>
                      </a:solidFill>
                      <a:prstDash val="sysDot"/>
                    </a:lnT>
                    <a:lnB w="3175" cmpd="sng">
                      <a:solidFill>
                        <a:schemeClr val="tx1"/>
                      </a:solidFill>
                      <a:prstDash val="sysDot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dirty="0">
                          <a:effectLst/>
                        </a:rPr>
                        <a:t>未覆盖商圈</a:t>
                      </a:r>
                      <a:endParaRPr lang="en-US" altLang="zh-CN" sz="800" dirty="0">
                        <a:effectLst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dirty="0">
                          <a:effectLst/>
                        </a:rPr>
                        <a:t>（</a:t>
                      </a:r>
                      <a:r>
                        <a:rPr lang="zh-CN" altLang="en-US" sz="800" b="1" dirty="0">
                          <a:solidFill>
                            <a:srgbClr val="FF0000"/>
                          </a:solidFill>
                          <a:effectLst/>
                        </a:rPr>
                        <a:t>热门景区空白</a:t>
                      </a:r>
                      <a:r>
                        <a:rPr lang="zh-CN" altLang="en-US" sz="800" dirty="0">
                          <a:effectLst/>
                        </a:rPr>
                        <a:t>）</a:t>
                      </a:r>
                    </a:p>
                  </a:txBody>
                  <a:tcPr marL="68580" marR="68580" marT="34290" marB="34290" anchor="ctr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dirty="0">
                          <a:effectLst/>
                        </a:rPr>
                        <a:t>美团无商圈榜单</a:t>
                      </a:r>
                      <a:endParaRPr lang="en-US" altLang="zh-CN" sz="800" dirty="0">
                        <a:effectLst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800" dirty="0">
                        <a:effectLst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800" dirty="0">
                        <a:effectLst/>
                      </a:endParaRPr>
                    </a:p>
                  </a:txBody>
                  <a:tcPr marL="68580" marR="68580" marT="34290" marB="34290" anchor="ctr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mpd="sng">
                      <a:solidFill>
                        <a:schemeClr val="tx1"/>
                      </a:solidFill>
                      <a:prstDash val="sysDot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b="0" dirty="0">
                          <a:solidFill>
                            <a:schemeClr val="tx1"/>
                          </a:solidFill>
                          <a:sym typeface="+mn-ea"/>
                        </a:rPr>
                        <a:t>点评多个数据榜已覆盖</a:t>
                      </a:r>
                      <a:endParaRPr lang="en-US" altLang="zh-CN" sz="800" b="0" dirty="0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800" b="0" dirty="0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800" dirty="0">
                        <a:effectLst/>
                      </a:endParaRPr>
                    </a:p>
                  </a:txBody>
                  <a:tcPr marL="68580" marR="68580" marT="34290" marB="34290" anchor="ctr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dirty="0">
                          <a:effectLst/>
                        </a:rPr>
                        <a:t>高德该地点上榜状元榜</a:t>
                      </a:r>
                      <a:r>
                        <a:rPr lang="en-US" altLang="zh-CN" sz="800" dirty="0">
                          <a:effectLst/>
                        </a:rPr>
                        <a:t>-</a:t>
                      </a:r>
                      <a:r>
                        <a:rPr lang="zh-CN" altLang="en-US" sz="800" dirty="0">
                          <a:effectLst/>
                        </a:rPr>
                        <a:t>必玩榜，但周边无扫街榜美食门店推荐</a:t>
                      </a:r>
                    </a:p>
                  </a:txBody>
                  <a:tcPr marL="68580" marR="68580" marT="34290" marB="34290" anchor="ctr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dirty="0">
                          <a:effectLst/>
                        </a:rPr>
                        <a:t>未覆盖该城市</a:t>
                      </a:r>
                    </a:p>
                  </a:txBody>
                  <a:tcPr marL="68580" marR="68580" marT="34290" marB="34290" anchor="ctr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3175" cmpd="sng">
                      <a:solidFill>
                        <a:schemeClr val="tx1"/>
                      </a:solidFill>
                      <a:prstDash val="sysDot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261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800" b="1" dirty="0">
                          <a:solidFill>
                            <a:schemeClr val="tx1"/>
                          </a:solidFill>
                        </a:rPr>
                        <a:t>新疆日喀则</a:t>
                      </a:r>
                      <a:endParaRPr lang="en-US" altLang="zh-CN" sz="800" b="1" dirty="0">
                        <a:solidFill>
                          <a:schemeClr val="tx1"/>
                        </a:solidFill>
                      </a:endParaRPr>
                    </a:p>
                    <a:p>
                      <a:pPr algn="ctr">
                        <a:buNone/>
                      </a:pPr>
                      <a:r>
                        <a:rPr lang="zh-CN" altLang="en-US" sz="800" b="1" dirty="0">
                          <a:solidFill>
                            <a:schemeClr val="tx1"/>
                          </a:solidFill>
                        </a:rPr>
                        <a:t>达热瓦公园（</a:t>
                      </a:r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300+</a:t>
                      </a:r>
                      <a:r>
                        <a:rPr lang="zh-CN" altLang="en-US" sz="800" b="1" dirty="0">
                          <a:solidFill>
                            <a:schemeClr val="tx1"/>
                          </a:solidFill>
                        </a:rPr>
                        <a:t>家门店）</a:t>
                      </a:r>
                    </a:p>
                  </a:txBody>
                  <a:tcPr marL="68580" marR="68580" marT="34290" marB="34290" anchor="ctr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mpd="sng">
                      <a:solidFill>
                        <a:schemeClr val="tx1"/>
                      </a:solidFill>
                      <a:prstDash val="sysDot"/>
                    </a:lnT>
                    <a:lnB w="3175" cmpd="sng">
                      <a:solidFill>
                        <a:schemeClr val="tx1"/>
                      </a:solidFill>
                      <a:prstDash val="sysDot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dirty="0">
                          <a:effectLst/>
                        </a:rPr>
                        <a:t>未覆盖商圈</a:t>
                      </a:r>
                      <a:endParaRPr lang="en-US" altLang="zh-CN" sz="800" dirty="0">
                        <a:effectLst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dirty="0">
                          <a:effectLst/>
                        </a:rPr>
                        <a:t>（</a:t>
                      </a:r>
                      <a:r>
                        <a:rPr lang="zh-CN" altLang="en-US" sz="800" b="1" dirty="0">
                          <a:solidFill>
                            <a:srgbClr val="FF0000"/>
                          </a:solidFill>
                          <a:effectLst/>
                        </a:rPr>
                        <a:t>热门景区空白</a:t>
                      </a:r>
                      <a:r>
                        <a:rPr lang="zh-CN" altLang="en-US" sz="800" dirty="0">
                          <a:effectLst/>
                        </a:rPr>
                        <a:t>）</a:t>
                      </a:r>
                    </a:p>
                  </a:txBody>
                  <a:tcPr marL="76200" marR="76200" marT="9525" marB="9525" anchor="ctr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dirty="0">
                          <a:effectLst/>
                        </a:rPr>
                        <a:t>美团无商圈榜单</a:t>
                      </a:r>
                      <a:endParaRPr lang="en-US" altLang="zh-CN" sz="800" dirty="0">
                        <a:effectLst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800" dirty="0">
                        <a:effectLst/>
                      </a:endParaRPr>
                    </a:p>
                  </a:txBody>
                  <a:tcPr marL="76200" marR="76200" marT="9525" marB="9525" anchor="ctr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mpd="sng">
                      <a:solidFill>
                        <a:schemeClr val="tx1"/>
                      </a:solidFill>
                      <a:prstDash val="sysDot"/>
                    </a:lnT>
                    <a:lnB w="3175" cmpd="sng">
                      <a:solidFill>
                        <a:schemeClr val="tx1"/>
                      </a:solidFill>
                      <a:prstDash val="sysDot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b="0" dirty="0">
                          <a:solidFill>
                            <a:schemeClr val="tx1"/>
                          </a:solidFill>
                          <a:sym typeface="+mn-ea"/>
                        </a:rPr>
                        <a:t>点评多个数据榜已覆盖</a:t>
                      </a:r>
                      <a:endParaRPr lang="en-US" altLang="zh-CN" sz="800" b="0" dirty="0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800" b="0" dirty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 marL="76200" marR="76200" marT="9525" marB="9525" anchor="ctr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dirty="0">
                          <a:effectLst/>
                        </a:rPr>
                        <a:t>周边有扫街榜上榜餐厅</a:t>
                      </a:r>
                      <a:endParaRPr lang="en-US" altLang="zh-CN" sz="800" dirty="0">
                        <a:effectLst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800" dirty="0">
                        <a:effectLst/>
                      </a:endParaRPr>
                    </a:p>
                  </a:txBody>
                  <a:tcPr marL="76200" marR="76200" marT="9525" marB="9525" anchor="ctr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dirty="0">
                          <a:effectLst/>
                        </a:rPr>
                        <a:t>未覆盖该城市</a:t>
                      </a:r>
                    </a:p>
                  </a:txBody>
                  <a:tcPr marL="76200" marR="76200" marT="9525" marB="9525" anchor="ctr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3175" cmpd="sng">
                      <a:solidFill>
                        <a:schemeClr val="tx1"/>
                      </a:solidFill>
                      <a:prstDash val="sysDot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9" name="图片 18"/>
          <p:cNvPicPr>
            <a:picLocks noChangeAspect="1"/>
          </p:cNvPicPr>
          <p:nvPr/>
        </p:nvPicPr>
        <p:blipFill rotWithShape="1">
          <a:blip r:embed="rId3"/>
          <a:srcRect r="36627"/>
          <a:stretch>
            <a:fillRect/>
          </a:stretch>
        </p:blipFill>
        <p:spPr>
          <a:xfrm>
            <a:off x="2126649" y="2698907"/>
            <a:ext cx="761043" cy="1234126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 rotWithShape="1">
          <a:blip r:embed="rId4"/>
          <a:srcRect r="30453"/>
          <a:stretch>
            <a:fillRect/>
          </a:stretch>
        </p:blipFill>
        <p:spPr>
          <a:xfrm>
            <a:off x="3117449" y="2585776"/>
            <a:ext cx="928965" cy="1335350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 rotWithShape="1">
          <a:blip r:embed="rId5"/>
          <a:srcRect t="12839" r="3301" b="7531"/>
          <a:stretch>
            <a:fillRect/>
          </a:stretch>
        </p:blipFill>
        <p:spPr>
          <a:xfrm>
            <a:off x="4236371" y="2698907"/>
            <a:ext cx="858595" cy="1212224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88361" y="4154809"/>
            <a:ext cx="680389" cy="333312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87934" y="4169709"/>
            <a:ext cx="946772" cy="303512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27682" y="4635777"/>
            <a:ext cx="915148" cy="269904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05072" y="4709897"/>
            <a:ext cx="915147" cy="195784"/>
          </a:xfrm>
          <a:prstGeom prst="rect">
            <a:avLst/>
          </a:prstGeom>
        </p:spPr>
      </p:pic>
      <p:pic>
        <p:nvPicPr>
          <p:cNvPr id="32" name="图片 3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17663" y="4658505"/>
            <a:ext cx="828751" cy="269877"/>
          </a:xfrm>
          <a:prstGeom prst="rect">
            <a:avLst/>
          </a:prstGeom>
        </p:spPr>
      </p:pic>
      <p:sp>
        <p:nvSpPr>
          <p:cNvPr id="23" name="内容占位符 2"/>
          <p:cNvSpPr>
            <a:spLocks noGrp="1"/>
          </p:cNvSpPr>
          <p:nvPr>
            <p:ph sz="quarter" idx="23"/>
          </p:nvPr>
        </p:nvSpPr>
        <p:spPr>
          <a:xfrm>
            <a:off x="301173" y="870473"/>
            <a:ext cx="8598154" cy="667388"/>
          </a:xfrm>
        </p:spPr>
        <p:txBody>
          <a:bodyPr>
            <a:normAutofit fontScale="90000"/>
          </a:bodyPr>
          <a:lstStyle/>
          <a:p>
            <a:r>
              <a:rPr lang="zh-CN" altLang="en-US" sz="1200" dirty="0"/>
              <a:t>人气榜商圈覆盖度较高，但存在热门流量空白区域未覆盖，点评数据榜基于流量角度成榜覆盖更全面，后续美团人气榜考虑进行商圈热度成榜补齐；必吃榜由于城市有限且城市内门店数较少，故总体商圈覆盖率较低，建议从覆盖城市×商圈角度补齐覆盖。</a:t>
            </a:r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榜单规则现状问题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kumimoji="1" lang="zh-CN" altLang="en-US" dirty="0"/>
              <a:t>榜单规则问题</a:t>
            </a:r>
          </a:p>
        </p:txBody>
      </p:sp>
      <p:sp>
        <p:nvSpPr>
          <p:cNvPr id="17" name="内容占位符 2"/>
          <p:cNvSpPr txBox="1"/>
          <p:nvPr/>
        </p:nvSpPr>
        <p:spPr>
          <a:xfrm>
            <a:off x="180981" y="1145474"/>
            <a:ext cx="2714619" cy="3855181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12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/>
                </a:solidFill>
                <a:latin typeface="Calibri" panose="020F0502020204030204" pitchFamily="34" charset="0"/>
                <a:ea typeface="楷体" panose="02010609060101010101" pitchFamily="49" charset="-122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12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12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12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12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100" b="1" dirty="0">
                <a:latin typeface="+mn-ea"/>
                <a:ea typeface="+mn-ea"/>
              </a:rPr>
              <a:t>目前美团榜单资产以销量或评价为主，单一资产虽牵引力强，但存在公信力弱问题：</a:t>
            </a:r>
            <a:endParaRPr lang="en-US" altLang="zh-CN" sz="1100" b="1" dirty="0">
              <a:latin typeface="+mn-ea"/>
              <a:ea typeface="+mn-ea"/>
            </a:endParaRPr>
          </a:p>
          <a:p>
            <a:pPr>
              <a:buClr>
                <a:schemeClr val="tx1"/>
              </a:buClr>
            </a:pPr>
            <a:r>
              <a:rPr lang="zh-CN" altLang="en-US" sz="1100" b="1" dirty="0">
                <a:latin typeface="+mn-ea"/>
                <a:ea typeface="+mn-ea"/>
              </a:rPr>
              <a:t>引用资产较单一，导致热门门店缺失：</a:t>
            </a:r>
            <a:r>
              <a:rPr lang="zh-CN" altLang="en-US" sz="1100" dirty="0">
                <a:latin typeface="+mn-ea"/>
                <a:ea typeface="+mn-ea"/>
              </a:rPr>
              <a:t>主要依赖核销量、星级评价，缺乏</a:t>
            </a:r>
            <a:r>
              <a:rPr lang="en-US" altLang="zh-CN" sz="1100" dirty="0">
                <a:latin typeface="+mn-ea"/>
                <a:ea typeface="+mn-ea"/>
              </a:rPr>
              <a:t>UGC</a:t>
            </a:r>
            <a:r>
              <a:rPr lang="zh-CN" altLang="en-US" sz="1100" dirty="0">
                <a:latin typeface="+mn-ea"/>
                <a:ea typeface="+mn-ea"/>
              </a:rPr>
              <a:t>内容、流量等多维度数据支持，考虑</a:t>
            </a:r>
            <a:r>
              <a:rPr lang="zh-CN" altLang="en-US" sz="1100" b="1" dirty="0">
                <a:latin typeface="+mn-ea"/>
                <a:ea typeface="+mn-ea"/>
              </a:rPr>
              <a:t>后续建设综合资产榜单</a:t>
            </a:r>
            <a:r>
              <a:rPr lang="zh-CN" altLang="en-US" sz="1100" dirty="0">
                <a:latin typeface="+mn-ea"/>
                <a:ea typeface="+mn-ea"/>
              </a:rPr>
              <a:t>（交易</a:t>
            </a:r>
            <a:r>
              <a:rPr lang="en-US" altLang="zh-CN" sz="1100" dirty="0">
                <a:latin typeface="+mn-ea"/>
                <a:ea typeface="+mn-ea"/>
              </a:rPr>
              <a:t>+</a:t>
            </a:r>
            <a:r>
              <a:rPr lang="zh-CN" altLang="en-US" sz="1100" dirty="0">
                <a:latin typeface="+mn-ea"/>
                <a:ea typeface="+mn-ea"/>
              </a:rPr>
              <a:t>评价</a:t>
            </a:r>
            <a:r>
              <a:rPr lang="en-US" altLang="zh-CN" sz="1100" dirty="0">
                <a:latin typeface="+mn-ea"/>
                <a:ea typeface="+mn-ea"/>
              </a:rPr>
              <a:t>+</a:t>
            </a:r>
            <a:r>
              <a:rPr lang="zh-CN" altLang="en-US" sz="1100" dirty="0">
                <a:latin typeface="+mn-ea"/>
                <a:ea typeface="+mn-ea"/>
              </a:rPr>
              <a:t>信息</a:t>
            </a:r>
            <a:r>
              <a:rPr lang="en-US" altLang="zh-CN" sz="1100" dirty="0">
                <a:latin typeface="+mn-ea"/>
                <a:ea typeface="+mn-ea"/>
              </a:rPr>
              <a:t>+</a:t>
            </a:r>
            <a:r>
              <a:rPr lang="zh-CN" altLang="en-US" sz="1100" dirty="0">
                <a:latin typeface="+mn-ea"/>
                <a:ea typeface="+mn-ea"/>
              </a:rPr>
              <a:t>服务等）</a:t>
            </a:r>
            <a:endParaRPr lang="en-US" altLang="zh-CN" sz="1100" b="1" dirty="0">
              <a:latin typeface="+mn-ea"/>
              <a:ea typeface="+mn-ea"/>
            </a:endParaRPr>
          </a:p>
          <a:p>
            <a:pPr>
              <a:buClr>
                <a:schemeClr val="tx1"/>
              </a:buClr>
            </a:pPr>
            <a:r>
              <a:rPr lang="zh-CN" altLang="en-US" sz="1100" b="1" dirty="0">
                <a:latin typeface="+mn-ea"/>
                <a:ea typeface="+mn-ea"/>
              </a:rPr>
              <a:t>上榜门槛宽松，导致上榜门店质量参差</a:t>
            </a:r>
            <a:r>
              <a:rPr lang="zh-CN" altLang="en-US" sz="1100" dirty="0">
                <a:latin typeface="+mn-ea"/>
                <a:ea typeface="+mn-ea"/>
              </a:rPr>
              <a:t>：</a:t>
            </a:r>
            <a:r>
              <a:rPr lang="zh-CN" altLang="en-US" sz="1100" dirty="0"/>
              <a:t>有过多商家上榜，其中有较大比例的商家压线上榜（周销量</a:t>
            </a:r>
            <a:r>
              <a:rPr lang="en-US" altLang="zh-CN" sz="1100" dirty="0"/>
              <a:t>10 </a:t>
            </a:r>
            <a:r>
              <a:rPr lang="zh-CN" altLang="en-US" sz="1100" dirty="0"/>
              <a:t>），</a:t>
            </a:r>
            <a:r>
              <a:rPr lang="zh-CN" altLang="en-US" sz="1100" dirty="0">
                <a:latin typeface="+mn-ea"/>
                <a:ea typeface="+mn-ea"/>
              </a:rPr>
              <a:t>降低了</a:t>
            </a:r>
            <a:r>
              <a:rPr lang="zh-CN" altLang="en-US" sz="1100" b="1" dirty="0">
                <a:latin typeface="+mn-ea"/>
                <a:ea typeface="+mn-ea"/>
              </a:rPr>
              <a:t>榜单的稀缺性和权威性</a:t>
            </a:r>
            <a:r>
              <a:rPr lang="zh-CN" altLang="en-US" sz="1100" dirty="0">
                <a:latin typeface="+mn-ea"/>
                <a:ea typeface="+mn-ea"/>
              </a:rPr>
              <a:t>，影响用户公信力，</a:t>
            </a:r>
            <a:r>
              <a:rPr lang="zh-CN" altLang="en-US" sz="1100" b="1" dirty="0">
                <a:latin typeface="+mn-ea"/>
                <a:ea typeface="+mn-ea"/>
              </a:rPr>
              <a:t>后续需优先确保上榜的含金量</a:t>
            </a:r>
            <a:r>
              <a:rPr lang="zh-CN" altLang="en-US" sz="1100" dirty="0">
                <a:latin typeface="+mn-ea"/>
                <a:ea typeface="+mn-ea"/>
              </a:rPr>
              <a:t>。</a:t>
            </a:r>
            <a:endParaRPr lang="en-US" altLang="zh-CN" sz="1100" dirty="0">
              <a:latin typeface="+mn-ea"/>
              <a:ea typeface="+mn-ea"/>
            </a:endParaRPr>
          </a:p>
          <a:p>
            <a:pPr>
              <a:buClr>
                <a:schemeClr val="tx1"/>
              </a:buClr>
            </a:pPr>
            <a:r>
              <a:rPr lang="zh-CN" altLang="en-US" sz="1100" b="1" dirty="0">
                <a:latin typeface="+mn-ea"/>
                <a:ea typeface="+mn-ea"/>
              </a:rPr>
              <a:t>对于价格带离散的品类，榜单未细分：</a:t>
            </a:r>
            <a:r>
              <a:rPr lang="zh-CN" altLang="en-US" sz="1100" dirty="0">
                <a:latin typeface="+mn-ea"/>
                <a:ea typeface="+mn-ea"/>
              </a:rPr>
              <a:t>例如海鲜、日料、烤鸭等品类下高低客单价在同一榜单，有失公允</a:t>
            </a:r>
            <a:endParaRPr lang="en-US" altLang="zh-CN" sz="1100" dirty="0">
              <a:latin typeface="+mn-ea"/>
              <a:ea typeface="+mn-ea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3032119" y="123823"/>
          <a:ext cx="5859675" cy="4876832"/>
        </p:xfrm>
        <a:graphic>
          <a:graphicData uri="http://schemas.openxmlformats.org/drawingml/2006/table">
            <a:tbl>
              <a:tblPr/>
              <a:tblGrid>
                <a:gridCol w="4829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20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20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84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21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05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8291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291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8291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8291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500" b="1" i="0" u="none" strike="noStrike" dirty="0">
                          <a:solidFill>
                            <a:srgbClr val="FFFFFF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平台</a:t>
                      </a:r>
                    </a:p>
                  </a:txBody>
                  <a:tcPr marL="1795" marR="1795" marT="179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zh-CN" alt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美团</a:t>
                      </a:r>
                    </a:p>
                  </a:txBody>
                  <a:tcPr marL="1795" marR="1795" marT="179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1795" marR="1795" marT="179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zh-CN" alt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点评</a:t>
                      </a:r>
                    </a:p>
                  </a:txBody>
                  <a:tcPr marL="1795" marR="1795" marT="179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4B38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500" b="1" i="0" u="none" strike="noStrike" dirty="0">
                          <a:solidFill>
                            <a:srgbClr val="FFFFFF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核心榜单</a:t>
                      </a:r>
                    </a:p>
                  </a:txBody>
                  <a:tcPr marL="1795" marR="1795" marT="179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人气榜</a:t>
                      </a:r>
                    </a:p>
                  </a:txBody>
                  <a:tcPr marL="1795" marR="1795" marT="179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3CA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好评榜</a:t>
                      </a:r>
                    </a:p>
                  </a:txBody>
                  <a:tcPr marL="1795" marR="1795" marT="179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3C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1795" marR="1795" marT="179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3C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必吃榜</a:t>
                      </a:r>
                    </a:p>
                  </a:txBody>
                  <a:tcPr marL="1795" marR="1795" marT="179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3C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热门榜</a:t>
                      </a:r>
                    </a:p>
                  </a:txBody>
                  <a:tcPr marL="1795" marR="1795" marT="179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3C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好评榜</a:t>
                      </a:r>
                    </a:p>
                  </a:txBody>
                  <a:tcPr marL="1795" marR="1795" marT="179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3C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销量榜</a:t>
                      </a:r>
                    </a:p>
                  </a:txBody>
                  <a:tcPr marL="1795" marR="1795" marT="179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3C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打卡人气榜</a:t>
                      </a:r>
                    </a:p>
                  </a:txBody>
                  <a:tcPr marL="1795" marR="1795" marT="179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3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5439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zh-CN" altLang="en-US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榜单规则</a:t>
                      </a:r>
                    </a:p>
                  </a:txBody>
                  <a:tcPr marL="1795" marR="1795" marT="179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3C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成榜门槛</a:t>
                      </a:r>
                    </a:p>
                  </a:txBody>
                  <a:tcPr marL="1795" marR="1795" marT="179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3CA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fontAlgn="ctr"/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排行榜每周一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10:00</a:t>
                      </a:r>
                      <a:r>
                        <a:rPr lang="zh-CN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发榜更新，按「区域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×</a:t>
                      </a:r>
                      <a:r>
                        <a:rPr lang="zh-CN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品类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×</a:t>
                      </a:r>
                      <a:r>
                        <a:rPr lang="zh-CN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排名方式」划分赛道，不同榜单依据不同的指标进行排名。每个赛道满足上榜条件的商家需≥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5</a:t>
                      </a:r>
                      <a:r>
                        <a:rPr lang="zh-CN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。</a:t>
                      </a:r>
                      <a:br>
                        <a:rPr lang="zh-CN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区域：全城评选前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50</a:t>
                      </a:r>
                      <a:r>
                        <a:rPr lang="zh-CN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名。行政区评选前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20</a:t>
                      </a:r>
                      <a:r>
                        <a:rPr lang="zh-CN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名。商圈评选前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20</a:t>
                      </a:r>
                      <a:r>
                        <a:rPr lang="zh-CN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名。</a:t>
                      </a:r>
                      <a:br>
                        <a:rPr lang="zh-CN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品类：美团前台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</a:t>
                      </a:r>
                      <a:r>
                        <a:rPr lang="zh-CN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、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3</a:t>
                      </a:r>
                      <a:r>
                        <a:rPr lang="zh-CN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级品类</a:t>
                      </a:r>
                    </a:p>
                  </a:txBody>
                  <a:tcPr marL="1795" marR="1795" marT="179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1795" marR="1795" marT="179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入围制：优中选优</a:t>
                      </a:r>
                    </a:p>
                  </a:txBody>
                  <a:tcPr marL="1795" marR="1795" marT="179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l" fontAlgn="ctr"/>
                      <a:r>
                        <a:rPr lang="en-US" altLang="zh-CN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排行榜每日发榜更新，按「区域</a:t>
                      </a:r>
                      <a:r>
                        <a:rPr lang="en-US" altLang="zh-CN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×</a:t>
                      </a:r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品类</a:t>
                      </a:r>
                      <a:r>
                        <a:rPr lang="en-US" altLang="zh-CN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×</a:t>
                      </a:r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排名方式」划分赛道，不同榜单依据不同的数据指标进行排名。每个赛道需满足正常营业的商户数≥</a:t>
                      </a:r>
                      <a:r>
                        <a:rPr lang="en-US" altLang="zh-CN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10</a:t>
                      </a:r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家 且 满足上榜门槛的正常营业商户数≥</a:t>
                      </a:r>
                      <a:r>
                        <a:rPr lang="en-US" altLang="zh-CN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3</a:t>
                      </a:r>
                      <a:br>
                        <a:rPr lang="en-US" altLang="zh-CN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区域：全城评选前</a:t>
                      </a:r>
                      <a:r>
                        <a:rPr lang="en-US" altLang="zh-CN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100</a:t>
                      </a:r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名。行政区评选前</a:t>
                      </a:r>
                      <a:r>
                        <a:rPr lang="en-US" altLang="zh-CN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20</a:t>
                      </a:r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名。商圈评选前</a:t>
                      </a:r>
                      <a:r>
                        <a:rPr lang="en-US" altLang="zh-CN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20</a:t>
                      </a:r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名。</a:t>
                      </a:r>
                      <a:b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品类：点评前台</a:t>
                      </a:r>
                      <a:r>
                        <a:rPr lang="en-US" altLang="zh-CN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</a:t>
                      </a:r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、</a:t>
                      </a:r>
                      <a:r>
                        <a:rPr lang="en-US" altLang="zh-CN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3</a:t>
                      </a:r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、</a:t>
                      </a:r>
                      <a:r>
                        <a:rPr lang="en-US" altLang="zh-CN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4</a:t>
                      </a:r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级品类</a:t>
                      </a:r>
                    </a:p>
                  </a:txBody>
                  <a:tcPr marL="1795" marR="1795" marT="179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9232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评选规则</a:t>
                      </a:r>
                      <a:r>
                        <a:rPr lang="en-US" altLang="zh-CN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&amp;</a:t>
                      </a:r>
                      <a:r>
                        <a:rPr lang="zh-CN" altLang="en-US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入榜门槛</a:t>
                      </a:r>
                    </a:p>
                  </a:txBody>
                  <a:tcPr marL="1795" marR="1795" marT="179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3CA"/>
                    </a:solidFill>
                  </a:tcPr>
                </a:tc>
                <a:tc rowSpan="2" gridSpan="2">
                  <a:txBody>
                    <a:bodyPr/>
                    <a:lstStyle/>
                    <a:p>
                      <a:pPr algn="l" fontAlgn="ctr"/>
                      <a:r>
                        <a:rPr lang="en-US" altLang="zh-CN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美团星级 ≥ </a:t>
                      </a:r>
                      <a:r>
                        <a:rPr lang="en-US" altLang="zh-CN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3</a:t>
                      </a:r>
                      <a:br>
                        <a:rPr lang="en-US" altLang="zh-CN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门店在线：门店在上一周榜单统计时间内处于营业中，未有停业歇业等行为</a:t>
                      </a:r>
                      <a:b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项目在线：① 门店当前项目（套餐或代金券）在美团侧或双平台可购买；② 门店当前项目（套餐或代金券或商家券包）在榜单统计时间内处于在线状态</a:t>
                      </a:r>
                      <a:b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门店周核销量 ≥ </a:t>
                      </a:r>
                      <a:r>
                        <a:rPr lang="en-US" altLang="zh-CN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10</a:t>
                      </a:r>
                    </a:p>
                  </a:txBody>
                  <a:tcPr marL="1795" marR="1795" marT="179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 lang="zh-CN"/>
                    </a:p>
                  </a:txBody>
                  <a:tcPr marL="1795" marR="1795" marT="179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美团星级 ≥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4</a:t>
                      </a:r>
                      <a:b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门店在线：门店在上一周榜单统计时间内处于营业中，未有停业歇业等行为</a:t>
                      </a:r>
                      <a:br>
                        <a:rPr lang="zh-CN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项目在线：门店在榜单时间内美团侧的套餐或代金券或买单在线</a:t>
                      </a:r>
                      <a:br>
                        <a:rPr lang="zh-CN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门店评价数：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30</a:t>
                      </a:r>
                      <a:r>
                        <a:rPr lang="zh-CN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天内有字过审评论，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mt</a:t>
                      </a:r>
                      <a:r>
                        <a:rPr lang="zh-CN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侧≥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5</a:t>
                      </a:r>
                      <a:r>
                        <a:rPr lang="zh-CN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条，双侧总和≥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50</a:t>
                      </a:r>
                      <a:r>
                        <a:rPr lang="zh-CN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条。</a:t>
                      </a:r>
                    </a:p>
                  </a:txBody>
                  <a:tcPr marL="1795" marR="1795" marT="179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必吃榜以上一年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</a:t>
                      </a:r>
                      <a:r>
                        <a:rPr lang="zh-CN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月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</a:t>
                      </a:r>
                      <a:r>
                        <a:rPr lang="zh-CN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日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-12</a:t>
                      </a:r>
                      <a:r>
                        <a:rPr lang="zh-CN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月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31</a:t>
                      </a:r>
                      <a:r>
                        <a:rPr lang="zh-CN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日为考察期，综合</a:t>
                      </a:r>
                      <a:r>
                        <a:rPr lang="zh-CN" altLang="en-US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评价真实可信、口味优中选优、长期稳定体验佳、符合日常消费水平、满足日常就餐</a:t>
                      </a:r>
                      <a:r>
                        <a:rPr lang="zh-CN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选择五大维度，进行评选。</a:t>
                      </a:r>
                      <a:br>
                        <a:rPr lang="zh-CN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评价真实可信：</a:t>
                      </a:r>
                      <a:r>
                        <a:rPr lang="zh-CN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考察评价诚信指标，餐厅评价真实可信，且在考察期内没有因为诱导好评、炒作等干扰评价秩序的行为被处罚记录。</a:t>
                      </a:r>
                      <a:br>
                        <a:rPr lang="zh-CN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口味优中选优：</a:t>
                      </a:r>
                      <a:r>
                        <a:rPr lang="zh-CN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考察口味分指标，餐厅在各个用户群体中的口味分位居本城前列。</a:t>
                      </a:r>
                      <a:br>
                        <a:rPr lang="zh-CN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长期稳定体验佳：</a:t>
                      </a:r>
                      <a:r>
                        <a:rPr lang="zh-CN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考察长期稳定指标，截至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2024</a:t>
                      </a:r>
                      <a:r>
                        <a:rPr lang="zh-CN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年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12</a:t>
                      </a:r>
                      <a:r>
                        <a:rPr lang="zh-CN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月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31</a:t>
                      </a:r>
                      <a:r>
                        <a:rPr lang="zh-CN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日，餐厅在大众点评上收录满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365</a:t>
                      </a:r>
                      <a:r>
                        <a:rPr lang="zh-CN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天，且正常营业时间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&gt;=182</a:t>
                      </a:r>
                      <a:r>
                        <a:rPr lang="zh-CN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天，星级评价数据稳定保持在本城排名前列。</a:t>
                      </a:r>
                      <a:br>
                        <a:rPr lang="zh-CN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符合日常消费水平：</a:t>
                      </a:r>
                      <a:r>
                        <a:rPr lang="zh-CN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考察性价比指标，餐厅价格符合本城用户日常外出用餐的消费水平，包括正餐和小吃。</a:t>
                      </a:r>
                      <a:br>
                        <a:rPr lang="zh-CN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满足日常用餐选择：</a:t>
                      </a:r>
                      <a:r>
                        <a:rPr lang="zh-CN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考察本城用户的用餐偏好，餐厅贴近本城用户的日常选择。</a:t>
                      </a:r>
                      <a:br>
                        <a:rPr lang="zh-CN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不受合作影响：</a:t>
                      </a:r>
                      <a:r>
                        <a:rPr lang="zh-CN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榜单评选秉承对所有餐厅一视同仁，餐厅是否与大众点评、美团合作均不影响评选过程及结果，同时评选数据中不纳入用户通过免费试等活动产生的评价。</a:t>
                      </a:r>
                      <a:br>
                        <a:rPr lang="zh-CN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无违法违规行为：</a:t>
                      </a:r>
                      <a:r>
                        <a:rPr lang="zh-CN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餐厅在考察期内未发生如证照不全、食品安全问题等违法违规行为。</a:t>
                      </a:r>
                    </a:p>
                  </a:txBody>
                  <a:tcPr marL="1795" marR="1795" marT="179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l" fontAlgn="ctr"/>
                      <a:r>
                        <a:rPr lang="en-US" altLang="zh-CN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点评评价总数：境内</a:t>
                      </a:r>
                      <a:r>
                        <a:rPr lang="en-US" altLang="zh-CN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S/A/B/C</a:t>
                      </a:r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级城市≥</a:t>
                      </a:r>
                      <a:r>
                        <a:rPr lang="en-US" altLang="zh-CN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50</a:t>
                      </a:r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条；境内</a:t>
                      </a:r>
                      <a:r>
                        <a:rPr lang="en-US" altLang="zh-CN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D/E</a:t>
                      </a:r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级城市≥</a:t>
                      </a:r>
                      <a:r>
                        <a:rPr lang="en-US" altLang="zh-CN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10</a:t>
                      </a:r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条；境外或境内</a:t>
                      </a:r>
                      <a:r>
                        <a:rPr lang="en-US" altLang="zh-CN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F/Z</a:t>
                      </a:r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级城市≥</a:t>
                      </a:r>
                      <a:r>
                        <a:rPr lang="en-US" altLang="zh-CN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5</a:t>
                      </a:r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条</a:t>
                      </a:r>
                      <a:b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点评新增评价：境内</a:t>
                      </a:r>
                      <a:r>
                        <a:rPr lang="en-US" altLang="zh-CN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S/A/B/C</a:t>
                      </a:r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级城市近</a:t>
                      </a:r>
                      <a:r>
                        <a:rPr lang="en-US" altLang="zh-CN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30</a:t>
                      </a:r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天至少有</a:t>
                      </a:r>
                      <a:r>
                        <a:rPr lang="en-US" altLang="zh-CN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</a:t>
                      </a:r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条新增评价；境外或</a:t>
                      </a:r>
                      <a:r>
                        <a:rPr lang="en-US" altLang="zh-CN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D</a:t>
                      </a:r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及</a:t>
                      </a:r>
                      <a:r>
                        <a:rPr lang="en-US" altLang="zh-CN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D</a:t>
                      </a:r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级以下城市近</a:t>
                      </a:r>
                      <a:r>
                        <a:rPr lang="en-US" altLang="zh-CN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90</a:t>
                      </a:r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天内至少有</a:t>
                      </a:r>
                      <a:r>
                        <a:rPr lang="en-US" altLang="zh-CN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</a:t>
                      </a:r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条新增评价</a:t>
                      </a:r>
                    </a:p>
                  </a:txBody>
                  <a:tcPr marL="1795" marR="1795" marT="179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5988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点评星级：≥</a:t>
                      </a:r>
                      <a:r>
                        <a:rPr lang="en-US" altLang="zh-CN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3.5</a:t>
                      </a:r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星</a:t>
                      </a:r>
                      <a:b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近一周点评</a:t>
                      </a:r>
                      <a:r>
                        <a:rPr lang="en-US" altLang="zh-CN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APP</a:t>
                      </a:r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端商详页流量不为</a:t>
                      </a:r>
                      <a:r>
                        <a:rPr lang="en-US" altLang="zh-CN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0</a:t>
                      </a:r>
                    </a:p>
                  </a:txBody>
                  <a:tcPr marL="1795" marR="1795" marT="179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点评星级：≥</a:t>
                      </a:r>
                      <a:r>
                        <a:rPr lang="en-US" altLang="zh-CN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4</a:t>
                      </a:r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星</a:t>
                      </a:r>
                    </a:p>
                  </a:txBody>
                  <a:tcPr marL="1795" marR="1795" marT="179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点评星级：≥</a:t>
                      </a:r>
                      <a:r>
                        <a:rPr lang="en-US" altLang="zh-CN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3.5</a:t>
                      </a:r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星</a:t>
                      </a:r>
                      <a:b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评选当日在点评</a:t>
                      </a:r>
                      <a:r>
                        <a:rPr lang="en-US" altLang="zh-CN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APP</a:t>
                      </a:r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有可售卖产品（代金券、团购套餐、商家券包、优惠买单、一键买单、智能点餐）</a:t>
                      </a:r>
                    </a:p>
                  </a:txBody>
                  <a:tcPr marL="1795" marR="1795" marT="179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点评星级：≥</a:t>
                      </a:r>
                      <a:r>
                        <a:rPr lang="en-US" altLang="zh-CN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3.5</a:t>
                      </a:r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星</a:t>
                      </a:r>
                      <a:b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近一周打卡人数≥</a:t>
                      </a:r>
                      <a:r>
                        <a:rPr lang="en-US" altLang="zh-CN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5</a:t>
                      </a:r>
                    </a:p>
                  </a:txBody>
                  <a:tcPr marL="1795" marR="1795" marT="179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5519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排序逻辑</a:t>
                      </a:r>
                    </a:p>
                  </a:txBody>
                  <a:tcPr marL="1795" marR="1795" marT="179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3CA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根据商户上周核销量（套餐、代金券、全包、买单以及智能点餐销量）总和进行排序。</a:t>
                      </a:r>
                    </a:p>
                  </a:txBody>
                  <a:tcPr marL="1795" marR="1795" marT="179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1795" marR="1795" marT="179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根据商户上周星级及好评数量计算综合好评值进行排序</a:t>
                      </a:r>
                    </a:p>
                  </a:txBody>
                  <a:tcPr marL="1795" marR="1795" marT="179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按热门指数排名。热门指数主要根据商户近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7</a:t>
                      </a:r>
                      <a:r>
                        <a:rPr lang="zh-CN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天的大众点评商详页真实访问人数综合计算。作弊流量会被剔除。</a:t>
                      </a:r>
                    </a:p>
                  </a:txBody>
                  <a:tcPr marL="1795" marR="1795" marT="179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境内非低线城市：按好评指数排名。</a:t>
                      </a:r>
                      <a:b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境外、境内低线城市：按星级分总分取两位小数排名，分值相同时再按热门指数排名</a:t>
                      </a:r>
                    </a:p>
                  </a:txBody>
                  <a:tcPr marL="1795" marR="1795" marT="179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根据销量指数排序，销量指数主要依据商户在点评平台近一周的真实销量和销售额、剔除刷单等作弊数据后进行综合排序</a:t>
                      </a:r>
                    </a:p>
                  </a:txBody>
                  <a:tcPr marL="1795" marR="1795" marT="179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按近</a:t>
                      </a:r>
                      <a:r>
                        <a:rPr lang="en-US" altLang="zh-CN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7</a:t>
                      </a:r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天有效打卡人数排名。作弊打卡数据会被剔除</a:t>
                      </a:r>
                    </a:p>
                  </a:txBody>
                  <a:tcPr marL="1795" marR="1795" marT="179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5564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更新频率</a:t>
                      </a:r>
                    </a:p>
                  </a:txBody>
                  <a:tcPr marL="1795" marR="1795" marT="179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3CA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每周一更新</a:t>
                      </a:r>
                    </a:p>
                  </a:txBody>
                  <a:tcPr marL="1795" marR="1795" marT="179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1795" marR="1795" marT="179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每周一更新</a:t>
                      </a:r>
                    </a:p>
                  </a:txBody>
                  <a:tcPr marL="1795" marR="1795" marT="179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一年一更</a:t>
                      </a:r>
                    </a:p>
                  </a:txBody>
                  <a:tcPr marL="1795" marR="1795" marT="179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每日更新</a:t>
                      </a:r>
                    </a:p>
                  </a:txBody>
                  <a:tcPr marL="1795" marR="1795" marT="179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962069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商家牵引</a:t>
                      </a:r>
                    </a:p>
                  </a:txBody>
                  <a:tcPr marL="1795" marR="1795" marT="179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3C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1795" marR="1795" marT="179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3CA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n-US" altLang="zh-CN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合作交易：上线套代买提升订单量</a:t>
                      </a:r>
                      <a:b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重视营销场：利用特团直营销场提升团购销量</a:t>
                      </a:r>
                      <a:b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线下店推：通过线下店推将线下流量转化为线上交易</a:t>
                      </a:r>
                      <a:b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广告投放：使用推广通、智选展位增加曝光</a:t>
                      </a:r>
                      <a:b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活动策划：结合节日热点推出限时活动</a:t>
                      </a:r>
                    </a:p>
                  </a:txBody>
                  <a:tcPr marL="1795" marR="1795" marT="179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1795" marR="1795" marT="179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鼓励消费者留下真实评价</a:t>
                      </a:r>
                      <a:br>
                        <a:rPr lang="zh-CN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维护星级评分，及时处理差评</a:t>
                      </a:r>
                      <a:br>
                        <a:rPr lang="zh-CN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zh-CN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高位运营动作</a:t>
                      </a:r>
                      <a:br>
                        <a:rPr lang="zh-CN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评价管理：定期分析评价，优化服务细节</a:t>
                      </a:r>
                      <a:br>
                        <a:rPr lang="zh-CN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会员运营：通过会员体系提升老客复购和评价率</a:t>
                      </a:r>
                    </a:p>
                  </a:txBody>
                  <a:tcPr marL="1795" marR="1795" marT="179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确保评价真实可信，杜绝刷评或虚假评价</a:t>
                      </a:r>
                      <a:b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菜品口味需达到较高水平并保持稳定</a:t>
                      </a:r>
                      <a:b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保持长期稳定的服务质量</a:t>
                      </a:r>
                      <a:b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控制差评率在较低水平，并及时处理</a:t>
                      </a:r>
                      <a:b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设定合理价位，符合同城就餐水平</a:t>
                      </a:r>
                      <a:b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菜品或服务反映当地特色</a:t>
                      </a:r>
                    </a:p>
                  </a:txBody>
                  <a:tcPr marL="1795" marR="1795" marT="179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门店装修、优化封面标签</a:t>
                      </a:r>
                      <a:b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引导用户扫码进入商详页或打卡</a:t>
                      </a:r>
                      <a:b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参与官方活动提升曝光</a:t>
                      </a:r>
                    </a:p>
                  </a:txBody>
                  <a:tcPr marL="1795" marR="1795" marT="179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优化口味：持续提升菜品质量</a:t>
                      </a:r>
                      <a:br>
                        <a:rPr lang="zh-CN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改善门店环境、特色环境布置</a:t>
                      </a:r>
                      <a:br>
                        <a:rPr lang="zh-CN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保证整体服务体验，提供特色服务</a:t>
                      </a:r>
                      <a:br>
                        <a:rPr lang="zh-CN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使用官方评价积累工具：如申领并铺设评价码</a:t>
                      </a:r>
                    </a:p>
                  </a:txBody>
                  <a:tcPr marL="1795" marR="1795" marT="179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提供更多优质优惠线上供给</a:t>
                      </a:r>
                      <a:br>
                        <a:rPr lang="zh-CN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引导用户在大众点评线上下单结账</a:t>
                      </a:r>
                    </a:p>
                  </a:txBody>
                  <a:tcPr marL="1795" marR="1795" marT="179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参与平台打卡活动</a:t>
                      </a:r>
                      <a:b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铺设官方打卡码物料</a:t>
                      </a:r>
                      <a:b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引导顾客打卡</a:t>
                      </a:r>
                    </a:p>
                  </a:txBody>
                  <a:tcPr marL="1795" marR="1795" marT="179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08433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公信力表达</a:t>
                      </a:r>
                    </a:p>
                  </a:txBody>
                  <a:tcPr marL="1795" marR="1795" marT="179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3C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1795" marR="1795" marT="179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3CA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fontAlgn="ctr"/>
                      <a:r>
                        <a:rPr lang="en-US" altLang="zh-CN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上榜指标清晰，</a:t>
                      </a:r>
                      <a:r>
                        <a:rPr lang="en-US" altLang="zh-CN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B</a:t>
                      </a:r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端公信力尚可</a:t>
                      </a:r>
                      <a:b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上榜门槛低，门店质量参差不齐，</a:t>
                      </a:r>
                      <a:r>
                        <a:rPr lang="en-US" altLang="zh-CN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C</a:t>
                      </a:r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端公信力低</a:t>
                      </a:r>
                    </a:p>
                  </a:txBody>
                  <a:tcPr marL="1795" marR="1795" marT="179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1795" marR="1795" marT="179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必吃榜是行业标杆榜单，公信力非常强</a:t>
                      </a:r>
                      <a:b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主要来源于：</a:t>
                      </a:r>
                      <a:b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①必吃榜以用户的真实评价数据为基础。通过大模型及人工审核，拦截恶意差评，并设置线索举报通道。</a:t>
                      </a:r>
                      <a:b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②坚持公平公正的原则，评选过程不牵涉任何经济利益和商业行为，不采纳人为提名，必吃榜不会以任何形式收取评选费用。</a:t>
                      </a:r>
                      <a:b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③所有评选结果受第三方公证机构权威监督公证。</a:t>
                      </a:r>
                    </a:p>
                  </a:txBody>
                  <a:tcPr marL="1795" marR="1795" marT="179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l" fontAlgn="ctr"/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上榜指标清晰，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B</a:t>
                      </a:r>
                      <a:r>
                        <a:rPr lang="zh-CN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端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&amp;C</a:t>
                      </a:r>
                      <a:r>
                        <a:rPr lang="zh-CN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端公信力尚可</a:t>
                      </a:r>
                    </a:p>
                  </a:txBody>
                  <a:tcPr marL="1795" marR="1795" marT="179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矩形 131"/>
          <p:cNvSpPr/>
          <p:nvPr/>
        </p:nvSpPr>
        <p:spPr>
          <a:xfrm>
            <a:off x="4027552" y="4605097"/>
            <a:ext cx="5059391" cy="399546"/>
          </a:xfrm>
          <a:prstGeom prst="rect">
            <a:avLst/>
          </a:prstGeom>
          <a:noFill/>
          <a:ln>
            <a:solidFill>
              <a:schemeClr val="accent4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1" name="矩形 130"/>
          <p:cNvSpPr/>
          <p:nvPr/>
        </p:nvSpPr>
        <p:spPr>
          <a:xfrm>
            <a:off x="4022073" y="3125527"/>
            <a:ext cx="5059391" cy="399546"/>
          </a:xfrm>
          <a:prstGeom prst="rect">
            <a:avLst/>
          </a:prstGeom>
          <a:noFill/>
          <a:ln>
            <a:solidFill>
              <a:schemeClr val="accent4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kumimoji="1" lang="zh-CN" altLang="en-US" dirty="0"/>
              <a:t>榜单规则问题：</a:t>
            </a:r>
            <a:r>
              <a:rPr lang="zh-CN" altLang="en-US" dirty="0"/>
              <a:t> ：导致商家牵引力</a:t>
            </a:r>
            <a:r>
              <a:rPr lang="en-US" altLang="zh-CN" dirty="0"/>
              <a:t>+</a:t>
            </a:r>
            <a:r>
              <a:rPr lang="zh-CN" altLang="en-US" dirty="0"/>
              <a:t>公信力问题</a:t>
            </a:r>
            <a:endParaRPr kumimoji="1" lang="zh-CN" altLang="en-US" dirty="0"/>
          </a:p>
        </p:txBody>
      </p:sp>
      <p:sp>
        <p:nvSpPr>
          <p:cNvPr id="168" name="米菲PPT1"/>
          <p:cNvSpPr/>
          <p:nvPr/>
        </p:nvSpPr>
        <p:spPr>
          <a:xfrm>
            <a:off x="19608" y="935458"/>
            <a:ext cx="3594168" cy="3539512"/>
          </a:xfrm>
          <a:prstGeom prst="triangle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miter lim="800000"/>
          </a:ln>
          <a:effectLst>
            <a:outerShdw blurRad="469900" dist="123444" dir="5400000" sx="99000" sy="99000" algn="ctr" rotWithShape="0">
              <a:srgbClr val="62799C">
                <a:alpha val="24000"/>
              </a:srgbClr>
            </a:outerShdw>
          </a:effectLst>
        </p:spPr>
        <p:txBody>
          <a:bodyPr wrap="square" lIns="98756" tIns="49375" rIns="98756" bIns="49375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945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355" name="米菲PPT51"/>
          <p:cNvSpPr txBox="1"/>
          <p:nvPr/>
        </p:nvSpPr>
        <p:spPr>
          <a:xfrm>
            <a:off x="891157" y="4258620"/>
            <a:ext cx="18488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/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全量营业门店 </a:t>
            </a:r>
            <a:r>
              <a: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1222</a:t>
            </a:r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万家</a:t>
            </a:r>
          </a:p>
        </p:txBody>
      </p:sp>
      <p:cxnSp>
        <p:nvCxnSpPr>
          <p:cNvPr id="357" name="直线连接符 356"/>
          <p:cNvCxnSpPr>
            <a:stCxn id="175" idx="0"/>
          </p:cNvCxnSpPr>
          <p:nvPr/>
        </p:nvCxnSpPr>
        <p:spPr>
          <a:xfrm flipH="1">
            <a:off x="19608" y="1145154"/>
            <a:ext cx="1799889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8" name="直线连接符 357"/>
          <p:cNvCxnSpPr/>
          <p:nvPr/>
        </p:nvCxnSpPr>
        <p:spPr>
          <a:xfrm flipH="1" flipV="1">
            <a:off x="149504" y="4165468"/>
            <a:ext cx="1613200" cy="9747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9" name="米菲PPT51"/>
          <p:cNvSpPr txBox="1"/>
          <p:nvPr/>
        </p:nvSpPr>
        <p:spPr>
          <a:xfrm>
            <a:off x="277390" y="1533022"/>
            <a:ext cx="353943" cy="183675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 defTabSz="457200"/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交易合作门店 </a:t>
            </a:r>
            <a:r>
              <a: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360</a:t>
            </a:r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万家</a:t>
            </a:r>
          </a:p>
        </p:txBody>
      </p:sp>
      <p:grpSp>
        <p:nvGrpSpPr>
          <p:cNvPr id="366" name="米菲PPT14"/>
          <p:cNvGrpSpPr/>
          <p:nvPr/>
        </p:nvGrpSpPr>
        <p:grpSpPr>
          <a:xfrm>
            <a:off x="1663111" y="2164121"/>
            <a:ext cx="1671631" cy="119907"/>
            <a:chOff x="9256258" y="2931456"/>
            <a:chExt cx="2401871" cy="99104"/>
          </a:xfrm>
        </p:grpSpPr>
        <p:cxnSp>
          <p:nvCxnSpPr>
            <p:cNvPr id="367" name="米菲PPT14-1"/>
            <p:cNvCxnSpPr/>
            <p:nvPr/>
          </p:nvCxnSpPr>
          <p:spPr>
            <a:xfrm>
              <a:off x="9385651" y="3028491"/>
              <a:ext cx="2272478" cy="0"/>
            </a:xfrm>
            <a:prstGeom prst="line">
              <a:avLst/>
            </a:prstGeom>
            <a:noFill/>
            <a:ln w="15875" cap="flat" cmpd="sng" algn="ctr">
              <a:solidFill>
                <a:srgbClr val="62799C">
                  <a:lumMod val="60000"/>
                  <a:lumOff val="40000"/>
                </a:srgbClr>
              </a:solidFill>
              <a:prstDash val="solid"/>
              <a:miter lim="800000"/>
            </a:ln>
            <a:effectLst/>
          </p:spPr>
        </p:cxnSp>
        <p:cxnSp>
          <p:nvCxnSpPr>
            <p:cNvPr id="368" name="米菲PPT14-2"/>
            <p:cNvCxnSpPr/>
            <p:nvPr/>
          </p:nvCxnSpPr>
          <p:spPr>
            <a:xfrm>
              <a:off x="9256258" y="2931456"/>
              <a:ext cx="129393" cy="99104"/>
            </a:xfrm>
            <a:prstGeom prst="line">
              <a:avLst/>
            </a:prstGeom>
            <a:noFill/>
            <a:ln w="15875" cap="flat" cmpd="sng" algn="ctr">
              <a:solidFill>
                <a:srgbClr val="62799C">
                  <a:lumMod val="60000"/>
                  <a:lumOff val="40000"/>
                </a:srgbClr>
              </a:solidFill>
              <a:prstDash val="solid"/>
              <a:miter lim="800000"/>
            </a:ln>
            <a:effectLst/>
          </p:spPr>
        </p:cxnSp>
      </p:grpSp>
      <p:sp>
        <p:nvSpPr>
          <p:cNvPr id="369" name="米菲PPT21"/>
          <p:cNvSpPr txBox="1"/>
          <p:nvPr/>
        </p:nvSpPr>
        <p:spPr>
          <a:xfrm>
            <a:off x="2397321" y="1912576"/>
            <a:ext cx="1173957" cy="415498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>
            <a:defPPr>
              <a:defRPr lang="en-US"/>
            </a:defPPr>
            <a:lvl1pPr marL="285750" indent="-285750" eaLnBrk="0">
              <a:lnSpc>
                <a:spcPct val="90000"/>
              </a:lnSpc>
              <a:buFont typeface="Arial" panose="020B0604020202020204" pitchFamily="34" charset="0"/>
              <a:buChar char="•"/>
              <a:defRPr sz="1405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  <a:cs typeface="MiSans Normal" panose="00000500000000000000" pitchFamily="2" charset="-122"/>
              </a:defRPr>
            </a:lvl1pPr>
          </a:lstStyle>
          <a:p>
            <a:pPr marL="0" indent="0" algn="just" defTabSz="457200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zh-CN" altLang="en-US" sz="1100" dirty="0">
                <a:solidFill>
                  <a:prstClr val="black">
                    <a:lumMod val="65000"/>
                    <a:lumOff val="35000"/>
                  </a:prstClr>
                </a:solidFill>
                <a:cs typeface="MiSans Medium" panose="00000600000000000000" pitchFamily="2" charset="-122"/>
              </a:rPr>
              <a:t>门店占比 </a:t>
            </a:r>
            <a:r>
              <a:rPr lang="en-US" altLang="zh-CN" sz="1100" dirty="0">
                <a:solidFill>
                  <a:prstClr val="black">
                    <a:lumMod val="65000"/>
                    <a:lumOff val="35000"/>
                  </a:prstClr>
                </a:solidFill>
                <a:cs typeface="MiSans Medium" panose="00000600000000000000" pitchFamily="2" charset="-122"/>
              </a:rPr>
              <a:t>1%</a:t>
            </a:r>
            <a:r>
              <a:rPr lang="zh-CN" altLang="en-US" sz="1100" dirty="0">
                <a:solidFill>
                  <a:prstClr val="black">
                    <a:lumMod val="65000"/>
                    <a:lumOff val="35000"/>
                  </a:prstClr>
                </a:solidFill>
                <a:cs typeface="MiSans Medium" panose="00000600000000000000" pitchFamily="2" charset="-122"/>
              </a:rPr>
              <a:t> </a:t>
            </a:r>
            <a:endParaRPr lang="en-US" altLang="zh-CN" sz="1100" dirty="0">
              <a:solidFill>
                <a:prstClr val="black">
                  <a:lumMod val="65000"/>
                  <a:lumOff val="35000"/>
                </a:prstClr>
              </a:solidFill>
              <a:cs typeface="MiSans Medium" panose="00000600000000000000" pitchFamily="2" charset="-122"/>
            </a:endParaRPr>
          </a:p>
          <a:p>
            <a:pPr marL="0" indent="0" algn="just" defTabSz="457200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en-US" altLang="zh-CN" sz="1100" dirty="0">
                <a:solidFill>
                  <a:prstClr val="black">
                    <a:lumMod val="65000"/>
                    <a:lumOff val="35000"/>
                  </a:prstClr>
                </a:solidFill>
                <a:cs typeface="MiSans Medium" panose="00000600000000000000" pitchFamily="2" charset="-122"/>
              </a:rPr>
              <a:t>GTV</a:t>
            </a:r>
            <a:r>
              <a:rPr lang="zh-CN" altLang="en-US" sz="1100" dirty="0">
                <a:solidFill>
                  <a:prstClr val="black">
                    <a:lumMod val="65000"/>
                    <a:lumOff val="35000"/>
                  </a:prstClr>
                </a:solidFill>
                <a:cs typeface="MiSans Medium" panose="00000600000000000000" pitchFamily="2" charset="-122"/>
              </a:rPr>
              <a:t> 占比 </a:t>
            </a:r>
            <a:r>
              <a:rPr lang="en-US" altLang="zh-CN" sz="1100" dirty="0">
                <a:solidFill>
                  <a:prstClr val="black">
                    <a:lumMod val="65000"/>
                    <a:lumOff val="35000"/>
                  </a:prstClr>
                </a:solidFill>
                <a:cs typeface="MiSans Medium" panose="00000600000000000000" pitchFamily="2" charset="-122"/>
              </a:rPr>
              <a:t>35%</a:t>
            </a:r>
            <a:endParaRPr lang="zh-CN" altLang="en-US" sz="1100" dirty="0">
              <a:solidFill>
                <a:prstClr val="black">
                  <a:lumMod val="65000"/>
                  <a:lumOff val="35000"/>
                </a:prstClr>
              </a:solidFill>
              <a:cs typeface="MiSans Medium" panose="00000600000000000000" pitchFamily="2" charset="-122"/>
            </a:endParaRPr>
          </a:p>
        </p:txBody>
      </p:sp>
      <p:grpSp>
        <p:nvGrpSpPr>
          <p:cNvPr id="377" name="米菲PPT14"/>
          <p:cNvGrpSpPr/>
          <p:nvPr/>
        </p:nvGrpSpPr>
        <p:grpSpPr>
          <a:xfrm>
            <a:off x="2130924" y="2790431"/>
            <a:ext cx="1671631" cy="119907"/>
            <a:chOff x="9256258" y="2931456"/>
            <a:chExt cx="2401871" cy="99104"/>
          </a:xfrm>
        </p:grpSpPr>
        <p:cxnSp>
          <p:nvCxnSpPr>
            <p:cNvPr id="378" name="米菲PPT14-1"/>
            <p:cNvCxnSpPr/>
            <p:nvPr/>
          </p:nvCxnSpPr>
          <p:spPr>
            <a:xfrm>
              <a:off x="9385651" y="3028491"/>
              <a:ext cx="2272478" cy="0"/>
            </a:xfrm>
            <a:prstGeom prst="line">
              <a:avLst/>
            </a:prstGeom>
            <a:noFill/>
            <a:ln w="15875" cap="flat" cmpd="sng" algn="ctr">
              <a:solidFill>
                <a:srgbClr val="62799C">
                  <a:lumMod val="60000"/>
                  <a:lumOff val="40000"/>
                </a:srgbClr>
              </a:solidFill>
              <a:prstDash val="solid"/>
              <a:miter lim="800000"/>
            </a:ln>
            <a:effectLst/>
          </p:spPr>
        </p:cxnSp>
        <p:cxnSp>
          <p:nvCxnSpPr>
            <p:cNvPr id="379" name="米菲PPT14-2"/>
            <p:cNvCxnSpPr/>
            <p:nvPr/>
          </p:nvCxnSpPr>
          <p:spPr>
            <a:xfrm>
              <a:off x="9256258" y="2931456"/>
              <a:ext cx="129393" cy="99104"/>
            </a:xfrm>
            <a:prstGeom prst="line">
              <a:avLst/>
            </a:prstGeom>
            <a:noFill/>
            <a:ln w="15875" cap="flat" cmpd="sng" algn="ctr">
              <a:solidFill>
                <a:srgbClr val="62799C">
                  <a:lumMod val="60000"/>
                  <a:lumOff val="40000"/>
                </a:srgbClr>
              </a:solidFill>
              <a:prstDash val="solid"/>
              <a:miter lim="800000"/>
            </a:ln>
            <a:effectLst/>
          </p:spPr>
        </p:cxnSp>
      </p:grpSp>
      <p:sp>
        <p:nvSpPr>
          <p:cNvPr id="380" name="米菲PPT21"/>
          <p:cNvSpPr txBox="1"/>
          <p:nvPr/>
        </p:nvSpPr>
        <p:spPr>
          <a:xfrm>
            <a:off x="2593673" y="2550137"/>
            <a:ext cx="1316879" cy="415498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>
            <a:defPPr>
              <a:defRPr lang="en-US"/>
            </a:defPPr>
            <a:lvl1pPr marL="285750" indent="-285750" eaLnBrk="0">
              <a:lnSpc>
                <a:spcPct val="90000"/>
              </a:lnSpc>
              <a:buFont typeface="Arial" panose="020B0604020202020204" pitchFamily="34" charset="0"/>
              <a:buChar char="•"/>
              <a:defRPr sz="1405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  <a:cs typeface="MiSans Normal" panose="00000500000000000000" pitchFamily="2" charset="-122"/>
              </a:defRPr>
            </a:lvl1pPr>
          </a:lstStyle>
          <a:p>
            <a:pPr marL="0" indent="0" algn="just" defTabSz="457200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zh-CN" altLang="en-US" sz="1100" dirty="0">
                <a:solidFill>
                  <a:prstClr val="black">
                    <a:lumMod val="65000"/>
                    <a:lumOff val="35000"/>
                  </a:prstClr>
                </a:solidFill>
                <a:cs typeface="MiSans Medium" panose="00000600000000000000" pitchFamily="2" charset="-122"/>
              </a:rPr>
              <a:t>门店占比 </a:t>
            </a:r>
            <a:r>
              <a:rPr lang="en-US" altLang="zh-CN" sz="1100" dirty="0">
                <a:solidFill>
                  <a:srgbClr val="C00000"/>
                </a:solidFill>
                <a:cs typeface="MiSans Medium" panose="00000600000000000000" pitchFamily="2" charset="-122"/>
              </a:rPr>
              <a:t>1.6%</a:t>
            </a:r>
            <a:r>
              <a:rPr lang="en-US" altLang="zh-CN" sz="1100" dirty="0">
                <a:solidFill>
                  <a:prstClr val="black">
                    <a:lumMod val="65000"/>
                    <a:lumOff val="35000"/>
                  </a:prstClr>
                </a:solidFill>
                <a:cs typeface="MiSans Medium" panose="00000600000000000000" pitchFamily="2" charset="-122"/>
              </a:rPr>
              <a:t>+3%</a:t>
            </a:r>
          </a:p>
          <a:p>
            <a:pPr marL="0" indent="0" algn="just" defTabSz="457200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en-US" altLang="zh-CN" sz="1100" dirty="0">
                <a:solidFill>
                  <a:prstClr val="black">
                    <a:lumMod val="65000"/>
                    <a:lumOff val="35000"/>
                  </a:prstClr>
                </a:solidFill>
                <a:cs typeface="MiSans Medium" panose="00000600000000000000" pitchFamily="2" charset="-122"/>
              </a:rPr>
              <a:t>GTV</a:t>
            </a:r>
            <a:r>
              <a:rPr lang="zh-CN" altLang="en-US" sz="1100" dirty="0">
                <a:solidFill>
                  <a:prstClr val="black">
                    <a:lumMod val="65000"/>
                    <a:lumOff val="35000"/>
                  </a:prstClr>
                </a:solidFill>
                <a:cs typeface="MiSans Medium" panose="00000600000000000000" pitchFamily="2" charset="-122"/>
              </a:rPr>
              <a:t> 占比 </a:t>
            </a:r>
            <a:r>
              <a:rPr lang="en-US" altLang="zh-CN" sz="1100" dirty="0">
                <a:solidFill>
                  <a:prstClr val="black">
                    <a:lumMod val="65000"/>
                    <a:lumOff val="35000"/>
                  </a:prstClr>
                </a:solidFill>
                <a:cs typeface="MiSans Medium" panose="00000600000000000000" pitchFamily="2" charset="-122"/>
              </a:rPr>
              <a:t>35%</a:t>
            </a:r>
            <a:endParaRPr lang="zh-CN" altLang="en-US" sz="1100" dirty="0">
              <a:solidFill>
                <a:prstClr val="black">
                  <a:lumMod val="65000"/>
                  <a:lumOff val="35000"/>
                </a:prstClr>
              </a:solidFill>
              <a:cs typeface="MiSans Medium" panose="00000600000000000000" pitchFamily="2" charset="-122"/>
            </a:endParaRPr>
          </a:p>
        </p:txBody>
      </p:sp>
      <p:grpSp>
        <p:nvGrpSpPr>
          <p:cNvPr id="381" name="米菲PPT14"/>
          <p:cNvGrpSpPr/>
          <p:nvPr/>
        </p:nvGrpSpPr>
        <p:grpSpPr>
          <a:xfrm>
            <a:off x="2252573" y="3417044"/>
            <a:ext cx="1652499" cy="119907"/>
            <a:chOff x="9256258" y="2931456"/>
            <a:chExt cx="2401871" cy="99104"/>
          </a:xfrm>
        </p:grpSpPr>
        <p:cxnSp>
          <p:nvCxnSpPr>
            <p:cNvPr id="382" name="米菲PPT14-1"/>
            <p:cNvCxnSpPr/>
            <p:nvPr/>
          </p:nvCxnSpPr>
          <p:spPr>
            <a:xfrm>
              <a:off x="9385651" y="3028491"/>
              <a:ext cx="2272478" cy="0"/>
            </a:xfrm>
            <a:prstGeom prst="line">
              <a:avLst/>
            </a:prstGeom>
            <a:noFill/>
            <a:ln w="15875" cap="flat" cmpd="sng" algn="ctr">
              <a:solidFill>
                <a:srgbClr val="62799C">
                  <a:lumMod val="60000"/>
                  <a:lumOff val="40000"/>
                </a:srgbClr>
              </a:solidFill>
              <a:prstDash val="solid"/>
              <a:miter lim="800000"/>
            </a:ln>
            <a:effectLst/>
          </p:spPr>
        </p:cxnSp>
        <p:cxnSp>
          <p:nvCxnSpPr>
            <p:cNvPr id="383" name="米菲PPT14-2"/>
            <p:cNvCxnSpPr/>
            <p:nvPr/>
          </p:nvCxnSpPr>
          <p:spPr>
            <a:xfrm>
              <a:off x="9256258" y="2931456"/>
              <a:ext cx="129393" cy="99104"/>
            </a:xfrm>
            <a:prstGeom prst="line">
              <a:avLst/>
            </a:prstGeom>
            <a:noFill/>
            <a:ln w="15875" cap="flat" cmpd="sng" algn="ctr">
              <a:solidFill>
                <a:srgbClr val="62799C">
                  <a:lumMod val="60000"/>
                  <a:lumOff val="40000"/>
                </a:srgbClr>
              </a:solidFill>
              <a:prstDash val="solid"/>
              <a:miter lim="800000"/>
            </a:ln>
            <a:effectLst/>
          </p:spPr>
        </p:cxnSp>
      </p:grpSp>
      <p:sp>
        <p:nvSpPr>
          <p:cNvPr id="384" name="米菲PPT21"/>
          <p:cNvSpPr txBox="1"/>
          <p:nvPr/>
        </p:nvSpPr>
        <p:spPr>
          <a:xfrm>
            <a:off x="2984300" y="3172941"/>
            <a:ext cx="1173957" cy="392673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>
            <a:defPPr>
              <a:defRPr lang="en-US"/>
            </a:defPPr>
            <a:lvl1pPr marL="285750" indent="-285750" eaLnBrk="0">
              <a:lnSpc>
                <a:spcPct val="90000"/>
              </a:lnSpc>
              <a:buFont typeface="Arial" panose="020B0604020202020204" pitchFamily="34" charset="0"/>
              <a:buChar char="•"/>
              <a:defRPr sz="1405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  <a:cs typeface="MiSans Normal" panose="00000500000000000000" pitchFamily="2" charset="-122"/>
              </a:defRPr>
            </a:lvl1pPr>
          </a:lstStyle>
          <a:p>
            <a:pPr marL="0" indent="0" algn="just" defTabSz="457200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zh-CN" altLang="en-US" sz="1100" dirty="0">
                <a:solidFill>
                  <a:prstClr val="black">
                    <a:lumMod val="65000"/>
                    <a:lumOff val="35000"/>
                  </a:prstClr>
                </a:solidFill>
                <a:cs typeface="MiSans Medium" panose="00000600000000000000" pitchFamily="2" charset="-122"/>
              </a:rPr>
              <a:t>门店占比 </a:t>
            </a:r>
            <a:r>
              <a:rPr lang="en-US" altLang="zh-CN" sz="1100" dirty="0">
                <a:solidFill>
                  <a:prstClr val="black">
                    <a:lumMod val="65000"/>
                    <a:lumOff val="35000"/>
                  </a:prstClr>
                </a:solidFill>
                <a:cs typeface="MiSans Medium" panose="00000600000000000000" pitchFamily="2" charset="-122"/>
              </a:rPr>
              <a:t>8%</a:t>
            </a:r>
            <a:r>
              <a:rPr lang="zh-CN" altLang="en-US" sz="1100" dirty="0">
                <a:solidFill>
                  <a:prstClr val="black">
                    <a:lumMod val="65000"/>
                    <a:lumOff val="35000"/>
                  </a:prstClr>
                </a:solidFill>
                <a:cs typeface="MiSans Medium" panose="00000600000000000000" pitchFamily="2" charset="-122"/>
              </a:rPr>
              <a:t> </a:t>
            </a:r>
            <a:endParaRPr lang="en-US" altLang="zh-CN" sz="1100" dirty="0">
              <a:solidFill>
                <a:prstClr val="black">
                  <a:lumMod val="65000"/>
                  <a:lumOff val="35000"/>
                </a:prstClr>
              </a:solidFill>
              <a:cs typeface="MiSans Medium" panose="00000600000000000000" pitchFamily="2" charset="-122"/>
            </a:endParaRPr>
          </a:p>
          <a:p>
            <a:pPr marL="0" indent="0" algn="just" defTabSz="457200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en-US" altLang="zh-CN" sz="1100" dirty="0">
                <a:solidFill>
                  <a:prstClr val="black">
                    <a:lumMod val="65000"/>
                    <a:lumOff val="35000"/>
                  </a:prstClr>
                </a:solidFill>
                <a:cs typeface="MiSans Medium" panose="00000600000000000000" pitchFamily="2" charset="-122"/>
              </a:rPr>
              <a:t>GTV</a:t>
            </a:r>
            <a:r>
              <a:rPr lang="zh-CN" altLang="en-US" sz="1100" dirty="0">
                <a:solidFill>
                  <a:prstClr val="black">
                    <a:lumMod val="65000"/>
                    <a:lumOff val="35000"/>
                  </a:prstClr>
                </a:solidFill>
                <a:cs typeface="MiSans Medium" panose="00000600000000000000" pitchFamily="2" charset="-122"/>
              </a:rPr>
              <a:t> 占比 </a:t>
            </a:r>
            <a:r>
              <a:rPr lang="en-US" altLang="zh-CN" sz="1100" dirty="0">
                <a:solidFill>
                  <a:prstClr val="black">
                    <a:lumMod val="65000"/>
                    <a:lumOff val="35000"/>
                  </a:prstClr>
                </a:solidFill>
                <a:cs typeface="MiSans Medium" panose="00000600000000000000" pitchFamily="2" charset="-122"/>
              </a:rPr>
              <a:t>20%</a:t>
            </a:r>
            <a:endParaRPr lang="zh-CN" altLang="en-US" sz="1100" dirty="0">
              <a:solidFill>
                <a:prstClr val="black">
                  <a:lumMod val="65000"/>
                  <a:lumOff val="35000"/>
                </a:prstClr>
              </a:solidFill>
              <a:cs typeface="MiSans Medium" panose="00000600000000000000" pitchFamily="2" charset="-122"/>
            </a:endParaRPr>
          </a:p>
        </p:txBody>
      </p:sp>
      <p:sp>
        <p:nvSpPr>
          <p:cNvPr id="418" name="米菲PPT45"/>
          <p:cNvSpPr/>
          <p:nvPr/>
        </p:nvSpPr>
        <p:spPr>
          <a:xfrm>
            <a:off x="5300520" y="329503"/>
            <a:ext cx="1132959" cy="203335"/>
          </a:xfrm>
          <a:prstGeom prst="parallelogram">
            <a:avLst>
              <a:gd name="adj" fmla="val 51891"/>
            </a:avLst>
          </a:prstGeom>
          <a:gradFill>
            <a:gsLst>
              <a:gs pos="0">
                <a:srgbClr val="F57359">
                  <a:lumMod val="89000"/>
                </a:srgbClr>
              </a:gs>
              <a:gs pos="100000">
                <a:srgbClr val="F57359"/>
              </a:gs>
            </a:gsLst>
            <a:path path="circle">
              <a:fillToRect l="100000" t="100000"/>
            </a:path>
          </a:gradFill>
          <a:ln w="12700" cap="flat" cmpd="sng" algn="ctr">
            <a:noFill/>
            <a:prstDash val="solid"/>
            <a:miter lim="800000"/>
          </a:ln>
          <a:effectLst>
            <a:outerShdw blurRad="228600" dist="139700" dir="5400000" algn="t" rotWithShape="0">
              <a:srgbClr val="F57359">
                <a:alpha val="26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95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419" name="米菲PPT46"/>
          <p:cNvSpPr txBox="1"/>
          <p:nvPr/>
        </p:nvSpPr>
        <p:spPr>
          <a:xfrm>
            <a:off x="5588087" y="313374"/>
            <a:ext cx="607859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1100" dirty="0">
                <a:solidFill>
                  <a:prstClr val="white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必吃榜</a:t>
            </a:r>
          </a:p>
        </p:txBody>
      </p:sp>
      <p:sp>
        <p:nvSpPr>
          <p:cNvPr id="422" name="米菲PPT45"/>
          <p:cNvSpPr/>
          <p:nvPr/>
        </p:nvSpPr>
        <p:spPr>
          <a:xfrm>
            <a:off x="6617175" y="329503"/>
            <a:ext cx="1132959" cy="203335"/>
          </a:xfrm>
          <a:prstGeom prst="parallelogram">
            <a:avLst>
              <a:gd name="adj" fmla="val 51891"/>
            </a:avLst>
          </a:prstGeom>
          <a:gradFill>
            <a:gsLst>
              <a:gs pos="0">
                <a:schemeClr val="accent2">
                  <a:lumMod val="89000"/>
                </a:schemeClr>
              </a:gs>
              <a:gs pos="100000">
                <a:schemeClr val="accent2"/>
              </a:gs>
            </a:gsLst>
            <a:path path="circle">
              <a:fillToRect l="100000" t="100000"/>
            </a:path>
          </a:gradFill>
          <a:ln>
            <a:noFill/>
          </a:ln>
          <a:effectLst>
            <a:outerShdw blurRad="228600" dist="139700" dir="5400000" algn="t" rotWithShape="0">
              <a:schemeClr val="accent2">
                <a:alpha val="26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5" dirty="0"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423" name="米菲PPT46"/>
          <p:cNvSpPr txBox="1"/>
          <p:nvPr/>
        </p:nvSpPr>
        <p:spPr>
          <a:xfrm>
            <a:off x="6904741" y="313374"/>
            <a:ext cx="607859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100" dirty="0">
                <a:solidFill>
                  <a:schemeClr val="bg1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人气榜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  <a:sym typeface="MiSans Medium" panose="00000600000000000000" pitchFamily="2" charset="-122"/>
            </a:endParaRPr>
          </a:p>
        </p:txBody>
      </p:sp>
      <p:sp>
        <p:nvSpPr>
          <p:cNvPr id="424" name="米菲PPT45"/>
          <p:cNvSpPr/>
          <p:nvPr/>
        </p:nvSpPr>
        <p:spPr>
          <a:xfrm>
            <a:off x="7883218" y="330378"/>
            <a:ext cx="1132959" cy="203335"/>
          </a:xfrm>
          <a:prstGeom prst="parallelogram">
            <a:avLst>
              <a:gd name="adj" fmla="val 51891"/>
            </a:avLst>
          </a:prstGeom>
          <a:gradFill>
            <a:gsLst>
              <a:gs pos="0">
                <a:schemeClr val="accent2">
                  <a:lumMod val="89000"/>
                </a:schemeClr>
              </a:gs>
              <a:gs pos="100000">
                <a:schemeClr val="accent2"/>
              </a:gs>
            </a:gsLst>
            <a:path path="circle">
              <a:fillToRect l="100000" t="100000"/>
            </a:path>
          </a:gradFill>
          <a:ln>
            <a:noFill/>
          </a:ln>
          <a:effectLst>
            <a:outerShdw blurRad="228600" dist="139700" dir="5400000" algn="t" rotWithShape="0">
              <a:schemeClr val="accent2">
                <a:alpha val="26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5" dirty="0"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425" name="米菲PPT46"/>
          <p:cNvSpPr txBox="1"/>
          <p:nvPr/>
        </p:nvSpPr>
        <p:spPr>
          <a:xfrm>
            <a:off x="8170784" y="314249"/>
            <a:ext cx="607859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好评榜</a:t>
            </a:r>
          </a:p>
        </p:txBody>
      </p:sp>
      <p:sp>
        <p:nvSpPr>
          <p:cNvPr id="426" name="米菲PPT21"/>
          <p:cNvSpPr txBox="1"/>
          <p:nvPr/>
        </p:nvSpPr>
        <p:spPr>
          <a:xfrm>
            <a:off x="5355425" y="647775"/>
            <a:ext cx="1173957" cy="415498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>
            <a:defPPr>
              <a:defRPr lang="en-US"/>
            </a:defPPr>
            <a:lvl1pPr marL="285750" indent="-285750" eaLnBrk="0">
              <a:lnSpc>
                <a:spcPct val="90000"/>
              </a:lnSpc>
              <a:buFont typeface="Arial" panose="020B0604020202020204" pitchFamily="34" charset="0"/>
              <a:buChar char="•"/>
              <a:defRPr sz="1405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  <a:cs typeface="MiSans Normal" panose="00000500000000000000" pitchFamily="2" charset="-122"/>
              </a:defRPr>
            </a:lvl1pPr>
          </a:lstStyle>
          <a:p>
            <a:pPr marL="0" indent="0" algn="just" defTabSz="457200">
              <a:lnSpc>
                <a:spcPct val="110000"/>
              </a:lnSpc>
              <a:buNone/>
            </a:pPr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cs typeface="MiSans Medium" panose="00000600000000000000" pitchFamily="2" charset="-122"/>
              </a:rPr>
              <a:t>上榜门店数量 </a:t>
            </a:r>
            <a:r>
              <a:rPr lang="en-US" altLang="zh-CN" sz="900" dirty="0">
                <a:solidFill>
                  <a:schemeClr val="bg1">
                    <a:lumMod val="50000"/>
                  </a:schemeClr>
                </a:solidFill>
              </a:rPr>
              <a:t>661</a:t>
            </a:r>
            <a:endParaRPr lang="en-US" altLang="zh-CN" sz="900" dirty="0">
              <a:solidFill>
                <a:schemeClr val="bg1">
                  <a:lumMod val="50000"/>
                </a:schemeClr>
              </a:solidFill>
              <a:cs typeface="MiSans Medium" panose="00000600000000000000" pitchFamily="2" charset="-122"/>
            </a:endParaRPr>
          </a:p>
          <a:p>
            <a:pPr marL="0" indent="0" algn="just" defTabSz="457200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cs typeface="MiSans Medium" panose="00000600000000000000" pitchFamily="2" charset="-122"/>
              </a:rPr>
              <a:t>占比头部门店 </a:t>
            </a:r>
            <a:r>
              <a:rPr lang="en-US" altLang="zh-CN" sz="900" dirty="0">
                <a:solidFill>
                  <a:schemeClr val="bg1">
                    <a:lumMod val="50000"/>
                  </a:schemeClr>
                </a:solidFill>
                <a:cs typeface="MiSans Medium" panose="00000600000000000000" pitchFamily="2" charset="-122"/>
              </a:rPr>
              <a:t>2.2%</a:t>
            </a:r>
            <a:endParaRPr lang="zh-CN" altLang="en-US" sz="900" dirty="0">
              <a:solidFill>
                <a:schemeClr val="bg1">
                  <a:lumMod val="50000"/>
                </a:schemeClr>
              </a:solidFill>
              <a:cs typeface="MiSans Medium" panose="00000600000000000000" pitchFamily="2" charset="-122"/>
            </a:endParaRPr>
          </a:p>
        </p:txBody>
      </p:sp>
      <p:sp>
        <p:nvSpPr>
          <p:cNvPr id="427" name="米菲PPT21"/>
          <p:cNvSpPr txBox="1"/>
          <p:nvPr/>
        </p:nvSpPr>
        <p:spPr>
          <a:xfrm>
            <a:off x="6628369" y="650038"/>
            <a:ext cx="1358186" cy="415498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>
            <a:defPPr>
              <a:defRPr lang="en-US"/>
            </a:defPPr>
            <a:lvl1pPr marL="285750" indent="-285750" eaLnBrk="0">
              <a:lnSpc>
                <a:spcPct val="90000"/>
              </a:lnSpc>
              <a:buFont typeface="Arial" panose="020B0604020202020204" pitchFamily="34" charset="0"/>
              <a:buChar char="•"/>
              <a:defRPr sz="1405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  <a:cs typeface="MiSans Normal" panose="00000500000000000000" pitchFamily="2" charset="-122"/>
              </a:defRPr>
            </a:lvl1pPr>
          </a:lstStyle>
          <a:p>
            <a:pPr marL="0" indent="0" algn="just" defTabSz="457200">
              <a:lnSpc>
                <a:spcPct val="110000"/>
              </a:lnSpc>
              <a:buNone/>
            </a:pPr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cs typeface="MiSans Medium" panose="00000600000000000000" pitchFamily="2" charset="-122"/>
              </a:rPr>
              <a:t>上榜门店数量 </a:t>
            </a:r>
            <a:r>
              <a:rPr lang="en-US" altLang="zh-CN" sz="900" dirty="0">
                <a:solidFill>
                  <a:schemeClr val="bg1">
                    <a:lumMod val="50000"/>
                  </a:schemeClr>
                </a:solidFill>
              </a:rPr>
              <a:t>29,269</a:t>
            </a:r>
            <a:endParaRPr lang="en-US" altLang="zh-CN" sz="900" dirty="0">
              <a:solidFill>
                <a:schemeClr val="bg1">
                  <a:lumMod val="50000"/>
                </a:schemeClr>
              </a:solidFill>
              <a:cs typeface="MiSans Medium" panose="00000600000000000000" pitchFamily="2" charset="-122"/>
            </a:endParaRPr>
          </a:p>
          <a:p>
            <a:pPr marL="0" indent="0" algn="just" defTabSz="457200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cs typeface="MiSans Medium" panose="00000600000000000000" pitchFamily="2" charset="-122"/>
              </a:rPr>
              <a:t>占比头部门店 </a:t>
            </a:r>
            <a:r>
              <a:rPr lang="en-US" altLang="zh-CN" sz="900" dirty="0">
                <a:solidFill>
                  <a:schemeClr val="bg1">
                    <a:lumMod val="50000"/>
                  </a:schemeClr>
                </a:solidFill>
                <a:cs typeface="MiSans Medium" panose="00000600000000000000" pitchFamily="2" charset="-122"/>
              </a:rPr>
              <a:t>97%</a:t>
            </a:r>
            <a:endParaRPr lang="zh-CN" altLang="en-US" sz="900" dirty="0">
              <a:solidFill>
                <a:schemeClr val="bg1">
                  <a:lumMod val="50000"/>
                </a:schemeClr>
              </a:solidFill>
              <a:cs typeface="MiSans Medium" panose="00000600000000000000" pitchFamily="2" charset="-122"/>
            </a:endParaRPr>
          </a:p>
        </p:txBody>
      </p:sp>
      <p:sp>
        <p:nvSpPr>
          <p:cNvPr id="428" name="米菲PPT21"/>
          <p:cNvSpPr txBox="1"/>
          <p:nvPr/>
        </p:nvSpPr>
        <p:spPr>
          <a:xfrm>
            <a:off x="7869437" y="649648"/>
            <a:ext cx="1358186" cy="415498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>
            <a:defPPr>
              <a:defRPr lang="en-US"/>
            </a:defPPr>
            <a:lvl1pPr marL="285750" indent="-285750" eaLnBrk="0">
              <a:lnSpc>
                <a:spcPct val="90000"/>
              </a:lnSpc>
              <a:buFont typeface="Arial" panose="020B0604020202020204" pitchFamily="34" charset="0"/>
              <a:buChar char="•"/>
              <a:defRPr sz="1405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  <a:cs typeface="MiSans Normal" panose="00000500000000000000" pitchFamily="2" charset="-122"/>
              </a:defRPr>
            </a:lvl1pPr>
          </a:lstStyle>
          <a:p>
            <a:pPr marL="0" indent="0" algn="just" defTabSz="457200">
              <a:lnSpc>
                <a:spcPct val="110000"/>
              </a:lnSpc>
              <a:buNone/>
            </a:pPr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cs typeface="MiSans Medium" panose="00000600000000000000" pitchFamily="2" charset="-122"/>
              </a:rPr>
              <a:t>上榜门店数量 </a:t>
            </a:r>
            <a:r>
              <a:rPr lang="en-US" altLang="zh-CN" sz="900" dirty="0">
                <a:solidFill>
                  <a:schemeClr val="bg1">
                    <a:lumMod val="50000"/>
                  </a:schemeClr>
                </a:solidFill>
              </a:rPr>
              <a:t>23,881</a:t>
            </a:r>
            <a:endParaRPr lang="en-US" altLang="zh-CN" sz="900" dirty="0">
              <a:solidFill>
                <a:schemeClr val="bg1">
                  <a:lumMod val="50000"/>
                </a:schemeClr>
              </a:solidFill>
              <a:cs typeface="MiSans Medium" panose="00000600000000000000" pitchFamily="2" charset="-122"/>
            </a:endParaRPr>
          </a:p>
          <a:p>
            <a:pPr marL="0" indent="0" algn="just" defTabSz="457200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cs typeface="MiSans Medium" panose="00000600000000000000" pitchFamily="2" charset="-122"/>
              </a:rPr>
              <a:t>占比头部门店 </a:t>
            </a:r>
            <a:r>
              <a:rPr lang="en-US" altLang="zh-CN" sz="900" dirty="0">
                <a:solidFill>
                  <a:schemeClr val="bg1">
                    <a:lumMod val="50000"/>
                  </a:schemeClr>
                </a:solidFill>
                <a:cs typeface="MiSans Medium" panose="00000600000000000000" pitchFamily="2" charset="-122"/>
              </a:rPr>
              <a:t>79%</a:t>
            </a:r>
            <a:endParaRPr lang="zh-CN" altLang="en-US" sz="900" dirty="0">
              <a:solidFill>
                <a:schemeClr val="bg1">
                  <a:lumMod val="50000"/>
                </a:schemeClr>
              </a:solidFill>
              <a:cs typeface="MiSans Medium" panose="00000600000000000000" pitchFamily="2" charset="-122"/>
            </a:endParaRPr>
          </a:p>
        </p:txBody>
      </p:sp>
      <p:sp>
        <p:nvSpPr>
          <p:cNvPr id="429" name="米菲PPT21"/>
          <p:cNvSpPr txBox="1"/>
          <p:nvPr/>
        </p:nvSpPr>
        <p:spPr>
          <a:xfrm>
            <a:off x="5365794" y="1331590"/>
            <a:ext cx="1302060" cy="415498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>
            <a:defPPr>
              <a:defRPr lang="en-US"/>
            </a:defPPr>
            <a:lvl1pPr marL="285750" indent="-285750" eaLnBrk="0">
              <a:lnSpc>
                <a:spcPct val="90000"/>
              </a:lnSpc>
              <a:buFont typeface="Arial" panose="020B0604020202020204" pitchFamily="34" charset="0"/>
              <a:buChar char="•"/>
              <a:defRPr sz="1405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  <a:cs typeface="MiSans Normal" panose="00000500000000000000" pitchFamily="2" charset="-122"/>
              </a:defRPr>
            </a:lvl1pPr>
          </a:lstStyle>
          <a:p>
            <a:pPr marL="0" indent="0" algn="just" defTabSz="457200">
              <a:lnSpc>
                <a:spcPct val="110000"/>
              </a:lnSpc>
              <a:buNone/>
            </a:pPr>
            <a:r>
              <a:rPr lang="en-US" altLang="zh-CN" sz="900" b="1" dirty="0">
                <a:solidFill>
                  <a:schemeClr val="accent4"/>
                </a:solidFill>
                <a:cs typeface="MiSans Medium" panose="00000600000000000000" pitchFamily="2" charset="-122"/>
              </a:rPr>
              <a:t>①</a:t>
            </a:r>
            <a:r>
              <a:rPr lang="zh-CN" altLang="en-US" sz="900" b="1" dirty="0">
                <a:solidFill>
                  <a:schemeClr val="accent4"/>
                </a:solidFill>
                <a:cs typeface="MiSans Medium" panose="00000600000000000000" pitchFamily="2" charset="-122"/>
              </a:rPr>
              <a:t>缺失门店数量 </a:t>
            </a:r>
            <a:r>
              <a:rPr lang="en-US" altLang="zh-CN" sz="900" b="1" dirty="0">
                <a:solidFill>
                  <a:schemeClr val="accent4"/>
                </a:solidFill>
              </a:rPr>
              <a:t>29,396</a:t>
            </a:r>
            <a:r>
              <a:rPr lang="zh-CN" altLang="en-US" sz="900" b="1" dirty="0">
                <a:solidFill>
                  <a:schemeClr val="accent4"/>
                </a:solidFill>
                <a:cs typeface="MiSans Medium" panose="00000600000000000000" pitchFamily="2" charset="-122"/>
              </a:rPr>
              <a:t> </a:t>
            </a:r>
            <a:endParaRPr lang="en-US" altLang="zh-CN" sz="900" b="1" dirty="0">
              <a:solidFill>
                <a:schemeClr val="accent4"/>
              </a:solidFill>
              <a:cs typeface="MiSans Medium" panose="00000600000000000000" pitchFamily="2" charset="-122"/>
            </a:endParaRPr>
          </a:p>
          <a:p>
            <a:pPr marL="0" indent="0" algn="just" defTabSz="457200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en-US" altLang="zh-CN" sz="900" b="1" dirty="0">
                <a:solidFill>
                  <a:schemeClr val="accent4"/>
                </a:solidFill>
                <a:cs typeface="MiSans Medium" panose="00000600000000000000" pitchFamily="2" charset="-122"/>
              </a:rPr>
              <a:t>GTV</a:t>
            </a:r>
            <a:r>
              <a:rPr lang="zh-CN" altLang="en-US" sz="900" b="1" dirty="0">
                <a:solidFill>
                  <a:schemeClr val="accent4"/>
                </a:solidFill>
                <a:cs typeface="MiSans Medium" panose="00000600000000000000" pitchFamily="2" charset="-122"/>
              </a:rPr>
              <a:t>贡献占比 </a:t>
            </a:r>
            <a:r>
              <a:rPr lang="en-US" altLang="zh-CN" sz="900" b="1" dirty="0">
                <a:solidFill>
                  <a:schemeClr val="accent4"/>
                </a:solidFill>
                <a:cs typeface="MiSans Medium" panose="00000600000000000000" pitchFamily="2" charset="-122"/>
              </a:rPr>
              <a:t>34%</a:t>
            </a:r>
            <a:endParaRPr lang="zh-CN" altLang="en-US" sz="900" b="1" dirty="0">
              <a:solidFill>
                <a:schemeClr val="accent4"/>
              </a:solidFill>
              <a:cs typeface="MiSans Medium" panose="00000600000000000000" pitchFamily="2" charset="-122"/>
            </a:endParaRPr>
          </a:p>
        </p:txBody>
      </p:sp>
      <p:sp>
        <p:nvSpPr>
          <p:cNvPr id="430" name="米菲PPT21"/>
          <p:cNvSpPr txBox="1"/>
          <p:nvPr/>
        </p:nvSpPr>
        <p:spPr>
          <a:xfrm>
            <a:off x="6667854" y="1329483"/>
            <a:ext cx="1173957" cy="415498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>
            <a:defPPr>
              <a:defRPr lang="en-US"/>
            </a:defPPr>
            <a:lvl1pPr marL="285750" indent="-285750" eaLnBrk="0">
              <a:lnSpc>
                <a:spcPct val="90000"/>
              </a:lnSpc>
              <a:buFont typeface="Arial" panose="020B0604020202020204" pitchFamily="34" charset="0"/>
              <a:buChar char="•"/>
              <a:defRPr sz="1405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  <a:cs typeface="MiSans Normal" panose="00000500000000000000" pitchFamily="2" charset="-122"/>
              </a:defRPr>
            </a:lvl1pPr>
          </a:lstStyle>
          <a:p>
            <a:pPr marL="0" indent="0" algn="just" defTabSz="457200">
              <a:lnSpc>
                <a:spcPct val="110000"/>
              </a:lnSpc>
              <a:buNone/>
            </a:pPr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cs typeface="MiSans Medium" panose="00000600000000000000" pitchFamily="2" charset="-122"/>
              </a:rPr>
              <a:t>缺失门店数量 </a:t>
            </a:r>
            <a:r>
              <a:rPr lang="en-US" altLang="zh-CN" sz="900" dirty="0">
                <a:solidFill>
                  <a:schemeClr val="bg1">
                    <a:lumMod val="50000"/>
                  </a:schemeClr>
                </a:solidFill>
              </a:rPr>
              <a:t>788</a:t>
            </a:r>
            <a:endParaRPr lang="en-US" altLang="zh-CN" sz="900" dirty="0">
              <a:solidFill>
                <a:schemeClr val="bg1">
                  <a:lumMod val="50000"/>
                </a:schemeClr>
              </a:solidFill>
              <a:cs typeface="MiSans Medium" panose="00000600000000000000" pitchFamily="2" charset="-122"/>
            </a:endParaRPr>
          </a:p>
          <a:p>
            <a:pPr marL="0" indent="0" algn="just" defTabSz="457200">
              <a:lnSpc>
                <a:spcPct val="110000"/>
              </a:lnSpc>
              <a:buNone/>
            </a:pPr>
            <a:r>
              <a:rPr lang="en-US" altLang="zh-CN" sz="900" dirty="0">
                <a:solidFill>
                  <a:schemeClr val="bg1">
                    <a:lumMod val="50000"/>
                  </a:schemeClr>
                </a:solidFill>
                <a:cs typeface="MiSans Medium" panose="00000600000000000000" pitchFamily="2" charset="-122"/>
              </a:rPr>
              <a:t>GTV</a:t>
            </a:r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cs typeface="MiSans Medium" panose="00000600000000000000" pitchFamily="2" charset="-122"/>
              </a:rPr>
              <a:t>贡献占比 </a:t>
            </a:r>
            <a:r>
              <a:rPr lang="en-US" altLang="zh-CN" sz="900" dirty="0">
                <a:solidFill>
                  <a:schemeClr val="bg1">
                    <a:lumMod val="50000"/>
                  </a:schemeClr>
                </a:solidFill>
                <a:cs typeface="MiSans Medium" panose="00000600000000000000" pitchFamily="2" charset="-122"/>
              </a:rPr>
              <a:t>0.7%</a:t>
            </a:r>
            <a:endParaRPr lang="zh-CN" altLang="en-US" sz="900" dirty="0">
              <a:solidFill>
                <a:schemeClr val="bg1">
                  <a:lumMod val="50000"/>
                </a:schemeClr>
              </a:solidFill>
              <a:cs typeface="MiSans Medium" panose="00000600000000000000" pitchFamily="2" charset="-122"/>
            </a:endParaRPr>
          </a:p>
        </p:txBody>
      </p:sp>
      <p:sp>
        <p:nvSpPr>
          <p:cNvPr id="431" name="米菲PPT21"/>
          <p:cNvSpPr txBox="1"/>
          <p:nvPr/>
        </p:nvSpPr>
        <p:spPr>
          <a:xfrm>
            <a:off x="7887734" y="1329483"/>
            <a:ext cx="1173957" cy="415498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>
            <a:defPPr>
              <a:defRPr lang="en-US"/>
            </a:defPPr>
            <a:lvl1pPr marL="285750" indent="-285750" eaLnBrk="0">
              <a:lnSpc>
                <a:spcPct val="90000"/>
              </a:lnSpc>
              <a:buFont typeface="Arial" panose="020B0604020202020204" pitchFamily="34" charset="0"/>
              <a:buChar char="•"/>
              <a:defRPr sz="1405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  <a:cs typeface="MiSans Normal" panose="00000500000000000000" pitchFamily="2" charset="-122"/>
              </a:defRPr>
            </a:lvl1pPr>
          </a:lstStyle>
          <a:p>
            <a:pPr marL="0" indent="0" algn="just" defTabSz="457200">
              <a:lnSpc>
                <a:spcPct val="110000"/>
              </a:lnSpc>
              <a:buNone/>
            </a:pPr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cs typeface="MiSans Medium" panose="00000600000000000000" pitchFamily="2" charset="-122"/>
              </a:rPr>
              <a:t>缺失门店数量</a:t>
            </a:r>
            <a:r>
              <a:rPr lang="en-US" altLang="zh-CN" sz="900" dirty="0">
                <a:solidFill>
                  <a:schemeClr val="bg1">
                    <a:lumMod val="50000"/>
                  </a:schemeClr>
                </a:solidFill>
              </a:rPr>
              <a:t>6,176</a:t>
            </a:r>
            <a:endParaRPr lang="en-US" altLang="zh-CN" sz="900" dirty="0">
              <a:solidFill>
                <a:schemeClr val="bg1">
                  <a:lumMod val="50000"/>
                </a:schemeClr>
              </a:solidFill>
              <a:cs typeface="MiSans Medium" panose="00000600000000000000" pitchFamily="2" charset="-122"/>
            </a:endParaRPr>
          </a:p>
          <a:p>
            <a:pPr marL="0" indent="0" algn="just" defTabSz="457200">
              <a:lnSpc>
                <a:spcPct val="110000"/>
              </a:lnSpc>
              <a:buNone/>
            </a:pPr>
            <a:r>
              <a:rPr lang="en-US" altLang="zh-CN" sz="900" dirty="0">
                <a:solidFill>
                  <a:schemeClr val="bg1">
                    <a:lumMod val="50000"/>
                  </a:schemeClr>
                </a:solidFill>
                <a:cs typeface="MiSans Medium" panose="00000600000000000000" pitchFamily="2" charset="-122"/>
              </a:rPr>
              <a:t>GTV</a:t>
            </a:r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cs typeface="MiSans Medium" panose="00000600000000000000" pitchFamily="2" charset="-122"/>
              </a:rPr>
              <a:t>贡献占比 </a:t>
            </a:r>
            <a:r>
              <a:rPr lang="en-US" altLang="zh-CN" sz="900" dirty="0">
                <a:solidFill>
                  <a:schemeClr val="bg1">
                    <a:lumMod val="50000"/>
                  </a:schemeClr>
                </a:solidFill>
                <a:cs typeface="MiSans Medium" panose="00000600000000000000" pitchFamily="2" charset="-122"/>
              </a:rPr>
              <a:t>6%</a:t>
            </a:r>
            <a:endParaRPr lang="zh-CN" altLang="en-US" sz="900" dirty="0">
              <a:solidFill>
                <a:schemeClr val="bg1">
                  <a:lumMod val="50000"/>
                </a:schemeClr>
              </a:solidFill>
              <a:cs typeface="MiSans Medium" panose="00000600000000000000" pitchFamily="2" charset="-122"/>
            </a:endParaRPr>
          </a:p>
        </p:txBody>
      </p:sp>
      <p:sp>
        <p:nvSpPr>
          <p:cNvPr id="434" name="文本框 433"/>
          <p:cNvSpPr txBox="1"/>
          <p:nvPr/>
        </p:nvSpPr>
        <p:spPr>
          <a:xfrm>
            <a:off x="0" y="4675522"/>
            <a:ext cx="395678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*</a:t>
            </a:r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门店占比及</a:t>
            </a: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GTV</a:t>
            </a:r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占比均按照到餐交易在线门店计算</a:t>
            </a:r>
            <a:endParaRPr lang="en-US" altLang="zh-CN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*</a:t>
            </a:r>
            <a:r>
              <a:rPr lang="en-GB" altLang="zh-CN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5w+</a:t>
            </a:r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高</a:t>
            </a:r>
            <a:r>
              <a:rPr lang="en-GB" altLang="zh-CN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UV</a:t>
            </a:r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门店筛选规则：未合作的门店中</a:t>
            </a: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2025</a:t>
            </a:r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年</a:t>
            </a: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</a:t>
            </a:r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月</a:t>
            </a: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-9</a:t>
            </a:r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月月均门店意向</a:t>
            </a:r>
            <a:r>
              <a:rPr lang="en-GB" altLang="zh-CN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UV&gt;1000</a:t>
            </a:r>
            <a:r>
              <a:rPr lang="zh-CN" altLang="en-GB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（</a:t>
            </a:r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参考必吃榜上榜商户最低平均</a:t>
            </a:r>
            <a:r>
              <a:rPr lang="en-GB" altLang="zh-CN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UV</a:t>
            </a:r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仅</a:t>
            </a: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581</a:t>
            </a:r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）</a:t>
            </a:r>
            <a:endParaRPr lang="en-US" altLang="zh-CN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437" name="直线连接符 436"/>
          <p:cNvCxnSpPr/>
          <p:nvPr/>
        </p:nvCxnSpPr>
        <p:spPr>
          <a:xfrm flipH="1">
            <a:off x="6195252" y="1084616"/>
            <a:ext cx="2811042" cy="5478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1" name="米菲PPT21"/>
          <p:cNvSpPr txBox="1"/>
          <p:nvPr/>
        </p:nvSpPr>
        <p:spPr>
          <a:xfrm>
            <a:off x="5218940" y="1973181"/>
            <a:ext cx="1173957" cy="415498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>
            <a:defPPr>
              <a:defRPr lang="en-US"/>
            </a:defPPr>
            <a:lvl1pPr marL="285750" indent="-285750" eaLnBrk="0">
              <a:lnSpc>
                <a:spcPct val="90000"/>
              </a:lnSpc>
              <a:buFont typeface="Arial" panose="020B0604020202020204" pitchFamily="34" charset="0"/>
              <a:buChar char="•"/>
              <a:defRPr sz="1405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  <a:cs typeface="MiSans Normal" panose="00000500000000000000" pitchFamily="2" charset="-122"/>
              </a:defRPr>
            </a:lvl1pPr>
          </a:lstStyle>
          <a:p>
            <a:pPr marL="0" indent="0" algn="just" defTabSz="457200">
              <a:lnSpc>
                <a:spcPct val="110000"/>
              </a:lnSpc>
              <a:buNone/>
            </a:pPr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cs typeface="MiSans Medium" panose="00000600000000000000" pitchFamily="2" charset="-122"/>
              </a:rPr>
              <a:t>上榜门店数量 </a:t>
            </a:r>
            <a:r>
              <a:rPr lang="en-US" altLang="zh-CN" sz="900" dirty="0">
                <a:solidFill>
                  <a:schemeClr val="bg1">
                    <a:lumMod val="50000"/>
                  </a:schemeClr>
                </a:solidFill>
              </a:rPr>
              <a:t>1,505</a:t>
            </a:r>
            <a:endParaRPr lang="en-US" altLang="zh-CN" sz="900" dirty="0">
              <a:solidFill>
                <a:schemeClr val="bg1">
                  <a:lumMod val="50000"/>
                </a:schemeClr>
              </a:solidFill>
              <a:cs typeface="MiSans Medium" panose="00000600000000000000" pitchFamily="2" charset="-122"/>
            </a:endParaRPr>
          </a:p>
          <a:p>
            <a:pPr marL="0" indent="0" algn="just" defTabSz="457200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cs typeface="MiSans Medium" panose="00000600000000000000" pitchFamily="2" charset="-122"/>
              </a:rPr>
              <a:t>占比颈部门店 </a:t>
            </a:r>
            <a:r>
              <a:rPr lang="en-US" altLang="zh-CN" sz="900" dirty="0">
                <a:solidFill>
                  <a:schemeClr val="bg1">
                    <a:lumMod val="50000"/>
                  </a:schemeClr>
                </a:solidFill>
                <a:cs typeface="MiSans Medium" panose="00000600000000000000" pitchFamily="2" charset="-122"/>
              </a:rPr>
              <a:t>35%</a:t>
            </a:r>
            <a:endParaRPr lang="zh-CN" altLang="en-US" sz="900" dirty="0">
              <a:solidFill>
                <a:schemeClr val="bg1">
                  <a:lumMod val="50000"/>
                </a:schemeClr>
              </a:solidFill>
              <a:cs typeface="MiSans Medium" panose="00000600000000000000" pitchFamily="2" charset="-122"/>
            </a:endParaRPr>
          </a:p>
        </p:txBody>
      </p:sp>
      <p:sp>
        <p:nvSpPr>
          <p:cNvPr id="442" name="米菲PPT21"/>
          <p:cNvSpPr txBox="1"/>
          <p:nvPr/>
        </p:nvSpPr>
        <p:spPr>
          <a:xfrm>
            <a:off x="6521131" y="1963619"/>
            <a:ext cx="1320680" cy="415498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>
            <a:defPPr>
              <a:defRPr lang="en-US"/>
            </a:defPPr>
            <a:lvl1pPr marL="285750" indent="-285750" eaLnBrk="0">
              <a:lnSpc>
                <a:spcPct val="90000"/>
              </a:lnSpc>
              <a:buFont typeface="Arial" panose="020B0604020202020204" pitchFamily="34" charset="0"/>
              <a:buChar char="•"/>
              <a:defRPr sz="1405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  <a:cs typeface="MiSans Normal" panose="00000500000000000000" pitchFamily="2" charset="-122"/>
              </a:defRPr>
            </a:lvl1pPr>
          </a:lstStyle>
          <a:p>
            <a:pPr marL="0" indent="0" algn="just" defTabSz="457200">
              <a:lnSpc>
                <a:spcPct val="110000"/>
              </a:lnSpc>
              <a:buNone/>
            </a:pPr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cs typeface="MiSans Medium" panose="00000600000000000000" pitchFamily="2" charset="-122"/>
              </a:rPr>
              <a:t>上榜门店数量 </a:t>
            </a:r>
            <a:r>
              <a:rPr lang="en-US" altLang="zh-CN" sz="900" dirty="0">
                <a:solidFill>
                  <a:schemeClr val="bg1">
                    <a:lumMod val="50000"/>
                  </a:schemeClr>
                </a:solidFill>
              </a:rPr>
              <a:t>111,262</a:t>
            </a:r>
            <a:endParaRPr lang="en-US" altLang="zh-CN" sz="900" dirty="0">
              <a:solidFill>
                <a:schemeClr val="bg1">
                  <a:lumMod val="50000"/>
                </a:schemeClr>
              </a:solidFill>
              <a:cs typeface="MiSans Medium" panose="00000600000000000000" pitchFamily="2" charset="-122"/>
            </a:endParaRPr>
          </a:p>
          <a:p>
            <a:pPr marL="0" indent="0" algn="just" defTabSz="457200">
              <a:lnSpc>
                <a:spcPct val="110000"/>
              </a:lnSpc>
              <a:buNone/>
            </a:pPr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cs typeface="MiSans Medium" panose="00000600000000000000" pitchFamily="2" charset="-122"/>
              </a:rPr>
              <a:t>占比颈部门店 </a:t>
            </a:r>
            <a:r>
              <a:rPr lang="en-US" altLang="zh-CN" sz="900" dirty="0">
                <a:solidFill>
                  <a:schemeClr val="bg1">
                    <a:lumMod val="50000"/>
                  </a:schemeClr>
                </a:solidFill>
                <a:cs typeface="MiSans Medium" panose="00000600000000000000" pitchFamily="2" charset="-122"/>
              </a:rPr>
              <a:t>62%</a:t>
            </a:r>
            <a:endParaRPr lang="zh-CN" altLang="en-US" sz="900" dirty="0">
              <a:solidFill>
                <a:schemeClr val="bg1">
                  <a:lumMod val="50000"/>
                </a:schemeClr>
              </a:solidFill>
              <a:cs typeface="MiSans Medium" panose="00000600000000000000" pitchFamily="2" charset="-122"/>
            </a:endParaRPr>
          </a:p>
        </p:txBody>
      </p:sp>
      <p:sp>
        <p:nvSpPr>
          <p:cNvPr id="443" name="米菲PPT21"/>
          <p:cNvSpPr txBox="1"/>
          <p:nvPr/>
        </p:nvSpPr>
        <p:spPr>
          <a:xfrm>
            <a:off x="7861558" y="1979421"/>
            <a:ext cx="1358186" cy="415498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>
            <a:defPPr>
              <a:defRPr lang="en-US"/>
            </a:defPPr>
            <a:lvl1pPr marL="285750" indent="-285750" eaLnBrk="0">
              <a:lnSpc>
                <a:spcPct val="90000"/>
              </a:lnSpc>
              <a:buFont typeface="Arial" panose="020B0604020202020204" pitchFamily="34" charset="0"/>
              <a:buChar char="•"/>
              <a:defRPr sz="1405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  <a:cs typeface="MiSans Normal" panose="00000500000000000000" pitchFamily="2" charset="-122"/>
              </a:defRPr>
            </a:lvl1pPr>
          </a:lstStyle>
          <a:p>
            <a:pPr marL="0" indent="0" algn="just" defTabSz="457200">
              <a:lnSpc>
                <a:spcPct val="110000"/>
              </a:lnSpc>
              <a:buNone/>
            </a:pPr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cs typeface="MiSans Medium" panose="00000600000000000000" pitchFamily="2" charset="-122"/>
              </a:rPr>
              <a:t>上榜门店数量 </a:t>
            </a:r>
            <a:r>
              <a:rPr lang="en-US" altLang="zh-CN" sz="900" dirty="0">
                <a:solidFill>
                  <a:schemeClr val="bg1">
                    <a:lumMod val="50000"/>
                  </a:schemeClr>
                </a:solidFill>
              </a:rPr>
              <a:t>82,184</a:t>
            </a:r>
            <a:endParaRPr lang="en-US" altLang="zh-CN" sz="900" dirty="0">
              <a:solidFill>
                <a:schemeClr val="bg1">
                  <a:lumMod val="50000"/>
                </a:schemeClr>
              </a:solidFill>
              <a:cs typeface="MiSans Medium" panose="00000600000000000000" pitchFamily="2" charset="-122"/>
            </a:endParaRPr>
          </a:p>
          <a:p>
            <a:pPr marL="0" indent="0" algn="just" defTabSz="457200">
              <a:lnSpc>
                <a:spcPct val="110000"/>
              </a:lnSpc>
              <a:buNone/>
            </a:pPr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cs typeface="MiSans Medium" panose="00000600000000000000" pitchFamily="2" charset="-122"/>
              </a:rPr>
              <a:t>占比颈部门店 </a:t>
            </a:r>
            <a:r>
              <a:rPr lang="en-US" altLang="zh-CN" sz="900" dirty="0">
                <a:solidFill>
                  <a:schemeClr val="bg1">
                    <a:lumMod val="50000"/>
                  </a:schemeClr>
                </a:solidFill>
                <a:cs typeface="MiSans Medium" panose="00000600000000000000" pitchFamily="2" charset="-122"/>
              </a:rPr>
              <a:t>46%</a:t>
            </a:r>
            <a:endParaRPr lang="zh-CN" altLang="en-US" sz="900" dirty="0">
              <a:solidFill>
                <a:schemeClr val="bg1">
                  <a:lumMod val="50000"/>
                </a:schemeClr>
              </a:solidFill>
              <a:cs typeface="MiSans Medium" panose="00000600000000000000" pitchFamily="2" charset="-122"/>
            </a:endParaRPr>
          </a:p>
        </p:txBody>
      </p:sp>
      <p:sp>
        <p:nvSpPr>
          <p:cNvPr id="444" name="米菲PPT21"/>
          <p:cNvSpPr txBox="1"/>
          <p:nvPr/>
        </p:nvSpPr>
        <p:spPr>
          <a:xfrm>
            <a:off x="5216128" y="2710105"/>
            <a:ext cx="1451726" cy="415498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>
            <a:defPPr>
              <a:defRPr lang="en-US"/>
            </a:defPPr>
            <a:lvl1pPr marL="285750" indent="-285750" eaLnBrk="0">
              <a:lnSpc>
                <a:spcPct val="90000"/>
              </a:lnSpc>
              <a:buFont typeface="Arial" panose="020B0604020202020204" pitchFamily="34" charset="0"/>
              <a:buChar char="•"/>
              <a:defRPr sz="1405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  <a:cs typeface="MiSans Normal" panose="00000500000000000000" pitchFamily="2" charset="-122"/>
              </a:defRPr>
            </a:lvl1pPr>
          </a:lstStyle>
          <a:p>
            <a:pPr marL="0" indent="0" algn="just" defTabSz="457200">
              <a:lnSpc>
                <a:spcPct val="110000"/>
              </a:lnSpc>
              <a:buNone/>
            </a:pPr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cs typeface="MiSans Medium" panose="00000600000000000000" pitchFamily="2" charset="-122"/>
              </a:rPr>
              <a:t>缺失门店数量 </a:t>
            </a:r>
            <a:r>
              <a:rPr lang="en-US" altLang="zh-CN" sz="900" dirty="0">
                <a:solidFill>
                  <a:schemeClr val="bg1">
                    <a:lumMod val="50000"/>
                  </a:schemeClr>
                </a:solidFill>
              </a:rPr>
              <a:t>119,613</a:t>
            </a:r>
            <a:endParaRPr lang="en-US" altLang="zh-CN" sz="900" dirty="0">
              <a:solidFill>
                <a:schemeClr val="bg1">
                  <a:lumMod val="50000"/>
                </a:schemeClr>
              </a:solidFill>
              <a:cs typeface="MiSans Medium" panose="00000600000000000000" pitchFamily="2" charset="-122"/>
            </a:endParaRPr>
          </a:p>
          <a:p>
            <a:pPr marL="0" indent="0" algn="just" defTabSz="457200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en-US" altLang="zh-CN" sz="900" dirty="0">
                <a:solidFill>
                  <a:schemeClr val="bg1">
                    <a:lumMod val="50000"/>
                  </a:schemeClr>
                </a:solidFill>
                <a:cs typeface="MiSans Medium" panose="00000600000000000000" pitchFamily="2" charset="-122"/>
              </a:rPr>
              <a:t>GTV</a:t>
            </a:r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cs typeface="MiSans Medium" panose="00000600000000000000" pitchFamily="2" charset="-122"/>
              </a:rPr>
              <a:t>贡献占比 </a:t>
            </a:r>
            <a:r>
              <a:rPr lang="en-US" altLang="zh-CN" sz="900" dirty="0">
                <a:solidFill>
                  <a:schemeClr val="bg1">
                    <a:lumMod val="50000"/>
                  </a:schemeClr>
                </a:solidFill>
                <a:cs typeface="MiSans Medium" panose="00000600000000000000" pitchFamily="2" charset="-122"/>
              </a:rPr>
              <a:t>34%</a:t>
            </a:r>
            <a:endParaRPr lang="zh-CN" altLang="en-US" sz="900" dirty="0">
              <a:solidFill>
                <a:schemeClr val="bg1">
                  <a:lumMod val="50000"/>
                </a:schemeClr>
              </a:solidFill>
              <a:cs typeface="MiSans Medium" panose="00000600000000000000" pitchFamily="2" charset="-122"/>
            </a:endParaRPr>
          </a:p>
        </p:txBody>
      </p:sp>
      <p:sp>
        <p:nvSpPr>
          <p:cNvPr id="445" name="米菲PPT21"/>
          <p:cNvSpPr txBox="1"/>
          <p:nvPr/>
        </p:nvSpPr>
        <p:spPr>
          <a:xfrm>
            <a:off x="6536094" y="2714878"/>
            <a:ext cx="1450461" cy="415498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>
            <a:defPPr>
              <a:defRPr lang="en-US"/>
            </a:defPPr>
            <a:lvl1pPr marL="285750" indent="-285750" eaLnBrk="0">
              <a:lnSpc>
                <a:spcPct val="90000"/>
              </a:lnSpc>
              <a:buFont typeface="Arial" panose="020B0604020202020204" pitchFamily="34" charset="0"/>
              <a:buChar char="•"/>
              <a:defRPr sz="1405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  <a:cs typeface="MiSans Normal" panose="00000500000000000000" pitchFamily="2" charset="-122"/>
              </a:defRPr>
            </a:lvl1pPr>
          </a:lstStyle>
          <a:p>
            <a:pPr marL="0" indent="0" algn="just" defTabSz="457200">
              <a:lnSpc>
                <a:spcPct val="110000"/>
              </a:lnSpc>
              <a:buNone/>
            </a:pPr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cs typeface="MiSans Medium" panose="00000600000000000000" pitchFamily="2" charset="-122"/>
              </a:rPr>
              <a:t>缺失门店数量 </a:t>
            </a:r>
            <a:r>
              <a:rPr lang="en-US" altLang="zh-CN" sz="900" dirty="0">
                <a:solidFill>
                  <a:schemeClr val="bg1">
                    <a:lumMod val="50000"/>
                  </a:schemeClr>
                </a:solidFill>
                <a:cs typeface="MiSans Medium" panose="00000600000000000000" pitchFamily="2" charset="-122"/>
              </a:rPr>
              <a:t>9,856</a:t>
            </a:r>
          </a:p>
          <a:p>
            <a:pPr marL="0" indent="0" algn="just" defTabSz="457200">
              <a:lnSpc>
                <a:spcPct val="110000"/>
              </a:lnSpc>
              <a:buNone/>
            </a:pPr>
            <a:r>
              <a:rPr lang="en-US" altLang="zh-CN" sz="900" dirty="0">
                <a:solidFill>
                  <a:schemeClr val="bg1">
                    <a:lumMod val="50000"/>
                  </a:schemeClr>
                </a:solidFill>
                <a:cs typeface="MiSans Medium" panose="00000600000000000000" pitchFamily="2" charset="-122"/>
              </a:rPr>
              <a:t>GTV</a:t>
            </a:r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cs typeface="MiSans Medium" panose="00000600000000000000" pitchFamily="2" charset="-122"/>
              </a:rPr>
              <a:t>贡献占比 </a:t>
            </a:r>
            <a:r>
              <a:rPr lang="en-US" altLang="zh-CN" sz="900" dirty="0">
                <a:solidFill>
                  <a:schemeClr val="bg1">
                    <a:lumMod val="50000"/>
                  </a:schemeClr>
                </a:solidFill>
                <a:cs typeface="MiSans Medium" panose="00000600000000000000" pitchFamily="2" charset="-122"/>
              </a:rPr>
              <a:t>2%</a:t>
            </a:r>
            <a:endParaRPr lang="zh-CN" altLang="en-US" sz="900" dirty="0">
              <a:solidFill>
                <a:schemeClr val="bg1">
                  <a:lumMod val="50000"/>
                </a:schemeClr>
              </a:solidFill>
              <a:cs typeface="MiSans Medium" panose="00000600000000000000" pitchFamily="2" charset="-122"/>
            </a:endParaRPr>
          </a:p>
        </p:txBody>
      </p:sp>
      <p:sp>
        <p:nvSpPr>
          <p:cNvPr id="446" name="米菲PPT21"/>
          <p:cNvSpPr txBox="1"/>
          <p:nvPr/>
        </p:nvSpPr>
        <p:spPr>
          <a:xfrm>
            <a:off x="7861558" y="2710105"/>
            <a:ext cx="1402261" cy="415498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>
            <a:defPPr>
              <a:defRPr lang="en-US"/>
            </a:defPPr>
            <a:lvl1pPr marL="285750" indent="-285750" eaLnBrk="0">
              <a:lnSpc>
                <a:spcPct val="90000"/>
              </a:lnSpc>
              <a:buFont typeface="Arial" panose="020B0604020202020204" pitchFamily="34" charset="0"/>
              <a:buChar char="•"/>
              <a:defRPr sz="1405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  <a:cs typeface="MiSans Normal" panose="00000500000000000000" pitchFamily="2" charset="-122"/>
              </a:defRPr>
            </a:lvl1pPr>
          </a:lstStyle>
          <a:p>
            <a:pPr marL="0" indent="0" algn="just" defTabSz="457200">
              <a:lnSpc>
                <a:spcPct val="110000"/>
              </a:lnSpc>
              <a:buNone/>
            </a:pPr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</a:rPr>
              <a:t>缺失门店数量 </a:t>
            </a:r>
            <a:r>
              <a:rPr lang="en-US" altLang="zh-CN" sz="900" dirty="0">
                <a:solidFill>
                  <a:schemeClr val="bg1">
                    <a:lumMod val="50000"/>
                  </a:schemeClr>
                </a:solidFill>
              </a:rPr>
              <a:t>38,934</a:t>
            </a:r>
          </a:p>
          <a:p>
            <a:pPr marL="0" indent="0" algn="just" defTabSz="457200">
              <a:lnSpc>
                <a:spcPct val="110000"/>
              </a:lnSpc>
              <a:buNone/>
            </a:pPr>
            <a:r>
              <a:rPr lang="en-US" altLang="zh-CN" sz="900" dirty="0">
                <a:solidFill>
                  <a:schemeClr val="bg1">
                    <a:lumMod val="50000"/>
                  </a:schemeClr>
                </a:solidFill>
              </a:rPr>
              <a:t>GTV</a:t>
            </a:r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</a:rPr>
              <a:t>贡献占比 </a:t>
            </a:r>
            <a:r>
              <a:rPr lang="en-US" altLang="zh-CN" sz="900" dirty="0">
                <a:solidFill>
                  <a:schemeClr val="bg1">
                    <a:lumMod val="50000"/>
                  </a:schemeClr>
                </a:solidFill>
              </a:rPr>
              <a:t>11%</a:t>
            </a:r>
            <a:endParaRPr lang="zh-CN" altLang="en-US" sz="9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448" name="直线连接符 447"/>
          <p:cNvCxnSpPr/>
          <p:nvPr/>
        </p:nvCxnSpPr>
        <p:spPr>
          <a:xfrm flipH="1">
            <a:off x="6051167" y="2480505"/>
            <a:ext cx="2955127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9" name="米菲PPT21"/>
          <p:cNvSpPr txBox="1"/>
          <p:nvPr/>
        </p:nvSpPr>
        <p:spPr>
          <a:xfrm>
            <a:off x="5022036" y="3624983"/>
            <a:ext cx="1173957" cy="415498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>
            <a:defPPr>
              <a:defRPr lang="en-US"/>
            </a:defPPr>
            <a:lvl1pPr marL="285750" indent="-285750" eaLnBrk="0">
              <a:lnSpc>
                <a:spcPct val="90000"/>
              </a:lnSpc>
              <a:buFont typeface="Arial" panose="020B0604020202020204" pitchFamily="34" charset="0"/>
              <a:buChar char="•"/>
              <a:defRPr sz="1405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  <a:cs typeface="MiSans Normal" panose="00000500000000000000" pitchFamily="2" charset="-122"/>
              </a:defRPr>
            </a:lvl1pPr>
          </a:lstStyle>
          <a:p>
            <a:pPr marL="0" indent="0" algn="just" defTabSz="457200">
              <a:lnSpc>
                <a:spcPct val="110000"/>
              </a:lnSpc>
              <a:buNone/>
            </a:pPr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cs typeface="MiSans Medium" panose="00000600000000000000" pitchFamily="2" charset="-122"/>
              </a:rPr>
              <a:t>上榜门店数量 </a:t>
            </a:r>
            <a:r>
              <a:rPr lang="en-US" altLang="zh-CN" sz="900" dirty="0">
                <a:solidFill>
                  <a:schemeClr val="bg1">
                    <a:lumMod val="50000"/>
                  </a:schemeClr>
                </a:solidFill>
              </a:rPr>
              <a:t>394</a:t>
            </a:r>
            <a:endParaRPr lang="en-US" altLang="zh-CN" sz="900" dirty="0">
              <a:solidFill>
                <a:schemeClr val="bg1">
                  <a:lumMod val="50000"/>
                </a:schemeClr>
              </a:solidFill>
              <a:cs typeface="MiSans Medium" panose="00000600000000000000" pitchFamily="2" charset="-122"/>
            </a:endParaRPr>
          </a:p>
          <a:p>
            <a:pPr marL="0" indent="0" algn="just" defTabSz="457200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cs typeface="MiSans Medium" panose="00000600000000000000" pitchFamily="2" charset="-122"/>
              </a:rPr>
              <a:t>占比腰部门店 </a:t>
            </a:r>
            <a:r>
              <a:rPr lang="en-US" altLang="zh-CN" sz="900" dirty="0">
                <a:solidFill>
                  <a:schemeClr val="bg1">
                    <a:lumMod val="50000"/>
                  </a:schemeClr>
                </a:solidFill>
                <a:cs typeface="MiSans Medium" panose="00000600000000000000" pitchFamily="2" charset="-122"/>
              </a:rPr>
              <a:t>0.1%</a:t>
            </a:r>
            <a:endParaRPr lang="zh-CN" altLang="en-US" sz="900" dirty="0">
              <a:solidFill>
                <a:schemeClr val="bg1">
                  <a:lumMod val="50000"/>
                </a:schemeClr>
              </a:solidFill>
              <a:cs typeface="MiSans Medium" panose="00000600000000000000" pitchFamily="2" charset="-122"/>
            </a:endParaRPr>
          </a:p>
        </p:txBody>
      </p:sp>
      <p:sp>
        <p:nvSpPr>
          <p:cNvPr id="450" name="米菲PPT21"/>
          <p:cNvSpPr txBox="1"/>
          <p:nvPr/>
        </p:nvSpPr>
        <p:spPr>
          <a:xfrm>
            <a:off x="6320683" y="3613711"/>
            <a:ext cx="1440669" cy="415498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>
            <a:defPPr>
              <a:defRPr lang="en-US"/>
            </a:defPPr>
            <a:lvl1pPr marL="285750" indent="-285750" eaLnBrk="0">
              <a:lnSpc>
                <a:spcPct val="90000"/>
              </a:lnSpc>
              <a:buFont typeface="Arial" panose="020B0604020202020204" pitchFamily="34" charset="0"/>
              <a:buChar char="•"/>
              <a:defRPr sz="1405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  <a:cs typeface="MiSans Normal" panose="00000500000000000000" pitchFamily="2" charset="-122"/>
              </a:defRPr>
            </a:lvl1pPr>
          </a:lstStyle>
          <a:p>
            <a:pPr marL="0" indent="0" algn="just" defTabSz="457200">
              <a:lnSpc>
                <a:spcPct val="110000"/>
              </a:lnSpc>
              <a:buNone/>
            </a:pPr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cs typeface="MiSans Medium" panose="00000600000000000000" pitchFamily="2" charset="-122"/>
              </a:rPr>
              <a:t>上榜门店数量 </a:t>
            </a:r>
            <a:r>
              <a:rPr lang="en-US" altLang="zh-CN" sz="900" dirty="0">
                <a:solidFill>
                  <a:schemeClr val="bg1">
                    <a:lumMod val="50000"/>
                  </a:schemeClr>
                </a:solidFill>
              </a:rPr>
              <a:t>223,901</a:t>
            </a:r>
            <a:endParaRPr lang="en-US" altLang="zh-CN" sz="900" dirty="0">
              <a:solidFill>
                <a:schemeClr val="bg1">
                  <a:lumMod val="50000"/>
                </a:schemeClr>
              </a:solidFill>
              <a:cs typeface="MiSans Medium" panose="00000600000000000000" pitchFamily="2" charset="-122"/>
            </a:endParaRPr>
          </a:p>
          <a:p>
            <a:pPr marL="0" indent="0" algn="just" defTabSz="457200">
              <a:lnSpc>
                <a:spcPct val="110000"/>
              </a:lnSpc>
              <a:buNone/>
            </a:pPr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cs typeface="MiSans Medium" panose="00000600000000000000" pitchFamily="2" charset="-122"/>
              </a:rPr>
              <a:t>占比腰部门店 </a:t>
            </a:r>
            <a:r>
              <a:rPr lang="en-US" altLang="zh-CN" sz="900" dirty="0">
                <a:solidFill>
                  <a:schemeClr val="bg1">
                    <a:lumMod val="50000"/>
                  </a:schemeClr>
                </a:solidFill>
                <a:cs typeface="MiSans Medium" panose="00000600000000000000" pitchFamily="2" charset="-122"/>
              </a:rPr>
              <a:t>74%</a:t>
            </a:r>
            <a:endParaRPr lang="zh-CN" altLang="en-US" sz="900" dirty="0">
              <a:solidFill>
                <a:schemeClr val="bg1">
                  <a:lumMod val="50000"/>
                </a:schemeClr>
              </a:solidFill>
              <a:cs typeface="MiSans Medium" panose="00000600000000000000" pitchFamily="2" charset="-122"/>
            </a:endParaRPr>
          </a:p>
        </p:txBody>
      </p:sp>
      <p:sp>
        <p:nvSpPr>
          <p:cNvPr id="451" name="米菲PPT21"/>
          <p:cNvSpPr txBox="1"/>
          <p:nvPr/>
        </p:nvSpPr>
        <p:spPr>
          <a:xfrm>
            <a:off x="7736080" y="3603655"/>
            <a:ext cx="1440669" cy="415498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>
            <a:defPPr>
              <a:defRPr lang="en-US"/>
            </a:defPPr>
            <a:lvl1pPr marL="285750" indent="-285750" eaLnBrk="0">
              <a:lnSpc>
                <a:spcPct val="90000"/>
              </a:lnSpc>
              <a:buFont typeface="Arial" panose="020B0604020202020204" pitchFamily="34" charset="0"/>
              <a:buChar char="•"/>
              <a:defRPr sz="1405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  <a:cs typeface="MiSans Normal" panose="00000500000000000000" pitchFamily="2" charset="-122"/>
              </a:defRPr>
            </a:lvl1pPr>
          </a:lstStyle>
          <a:p>
            <a:pPr marL="0" indent="0" algn="just" defTabSz="457200">
              <a:lnSpc>
                <a:spcPct val="110000"/>
              </a:lnSpc>
              <a:buNone/>
            </a:pPr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cs typeface="MiSans Medium" panose="00000600000000000000" pitchFamily="2" charset="-122"/>
              </a:rPr>
              <a:t>上榜门店数量 </a:t>
            </a:r>
            <a:r>
              <a:rPr lang="en-US" altLang="zh-CN" sz="900" dirty="0">
                <a:solidFill>
                  <a:schemeClr val="bg1">
                    <a:lumMod val="50000"/>
                  </a:schemeClr>
                </a:solidFill>
              </a:rPr>
              <a:t>118,623</a:t>
            </a:r>
            <a:endParaRPr lang="en-US" altLang="zh-CN" sz="900" dirty="0">
              <a:solidFill>
                <a:schemeClr val="bg1">
                  <a:lumMod val="50000"/>
                </a:schemeClr>
              </a:solidFill>
              <a:cs typeface="MiSans Medium" panose="00000600000000000000" pitchFamily="2" charset="-122"/>
            </a:endParaRPr>
          </a:p>
          <a:p>
            <a:pPr marL="0" indent="0" algn="just" defTabSz="457200">
              <a:lnSpc>
                <a:spcPct val="110000"/>
              </a:lnSpc>
              <a:buNone/>
            </a:pPr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cs typeface="MiSans Medium" panose="00000600000000000000" pitchFamily="2" charset="-122"/>
              </a:rPr>
              <a:t>占比腰部门店 </a:t>
            </a:r>
            <a:r>
              <a:rPr lang="en-US" altLang="zh-CN" sz="900" dirty="0">
                <a:solidFill>
                  <a:schemeClr val="bg1">
                    <a:lumMod val="50000"/>
                  </a:schemeClr>
                </a:solidFill>
                <a:cs typeface="MiSans Medium" panose="00000600000000000000" pitchFamily="2" charset="-122"/>
              </a:rPr>
              <a:t>39%</a:t>
            </a:r>
            <a:endParaRPr lang="zh-CN" altLang="en-US" sz="900" dirty="0">
              <a:solidFill>
                <a:schemeClr val="bg1">
                  <a:lumMod val="50000"/>
                </a:schemeClr>
              </a:solidFill>
              <a:cs typeface="MiSans Medium" panose="00000600000000000000" pitchFamily="2" charset="-122"/>
            </a:endParaRPr>
          </a:p>
        </p:txBody>
      </p:sp>
      <p:sp>
        <p:nvSpPr>
          <p:cNvPr id="452" name="米菲PPT21"/>
          <p:cNvSpPr txBox="1"/>
          <p:nvPr/>
        </p:nvSpPr>
        <p:spPr>
          <a:xfrm>
            <a:off x="4967704" y="4274009"/>
            <a:ext cx="1425193" cy="415498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>
            <a:defPPr>
              <a:defRPr lang="en-US"/>
            </a:defPPr>
            <a:lvl1pPr marL="285750" indent="-285750" eaLnBrk="0">
              <a:lnSpc>
                <a:spcPct val="90000"/>
              </a:lnSpc>
              <a:buFont typeface="Arial" panose="020B0604020202020204" pitchFamily="34" charset="0"/>
              <a:buChar char="•"/>
              <a:defRPr sz="1405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  <a:cs typeface="MiSans Normal" panose="00000500000000000000" pitchFamily="2" charset="-122"/>
              </a:defRPr>
            </a:lvl1pPr>
          </a:lstStyle>
          <a:p>
            <a:pPr marL="0" indent="0" algn="just" defTabSz="457200">
              <a:lnSpc>
                <a:spcPct val="110000"/>
              </a:lnSpc>
              <a:buNone/>
            </a:pPr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cs typeface="MiSans Medium" panose="00000600000000000000" pitchFamily="2" charset="-122"/>
              </a:rPr>
              <a:t>缺失门店数量 </a:t>
            </a:r>
            <a:r>
              <a:rPr lang="en-US" altLang="zh-CN" sz="900" dirty="0">
                <a:solidFill>
                  <a:schemeClr val="bg1">
                    <a:lumMod val="50000"/>
                  </a:schemeClr>
                </a:solidFill>
              </a:rPr>
              <a:t>300,562</a:t>
            </a:r>
            <a:endParaRPr lang="en-US" altLang="zh-CN" sz="900" dirty="0">
              <a:solidFill>
                <a:schemeClr val="bg1">
                  <a:lumMod val="50000"/>
                </a:schemeClr>
              </a:solidFill>
              <a:cs typeface="MiSans Medium" panose="00000600000000000000" pitchFamily="2" charset="-122"/>
            </a:endParaRPr>
          </a:p>
          <a:p>
            <a:pPr marL="0" indent="0" algn="just" defTabSz="457200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en-US" altLang="zh-CN" sz="900" dirty="0">
                <a:solidFill>
                  <a:schemeClr val="bg1">
                    <a:lumMod val="50000"/>
                  </a:schemeClr>
                </a:solidFill>
                <a:cs typeface="MiSans Medium" panose="00000600000000000000" pitchFamily="2" charset="-122"/>
              </a:rPr>
              <a:t>GTV</a:t>
            </a:r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cs typeface="MiSans Medium" panose="00000600000000000000" pitchFamily="2" charset="-122"/>
              </a:rPr>
              <a:t>贡献占比 </a:t>
            </a:r>
            <a:r>
              <a:rPr lang="en-US" altLang="zh-CN" sz="900" dirty="0">
                <a:solidFill>
                  <a:schemeClr val="bg1">
                    <a:lumMod val="50000"/>
                  </a:schemeClr>
                </a:solidFill>
                <a:cs typeface="MiSans Medium" panose="00000600000000000000" pitchFamily="2" charset="-122"/>
              </a:rPr>
              <a:t>20%</a:t>
            </a:r>
            <a:endParaRPr lang="zh-CN" altLang="en-US" sz="900" dirty="0">
              <a:solidFill>
                <a:schemeClr val="bg1">
                  <a:lumMod val="50000"/>
                </a:schemeClr>
              </a:solidFill>
              <a:cs typeface="MiSans Medium" panose="00000600000000000000" pitchFamily="2" charset="-122"/>
            </a:endParaRPr>
          </a:p>
        </p:txBody>
      </p:sp>
      <p:sp>
        <p:nvSpPr>
          <p:cNvPr id="453" name="米菲PPT21"/>
          <p:cNvSpPr txBox="1"/>
          <p:nvPr/>
        </p:nvSpPr>
        <p:spPr>
          <a:xfrm>
            <a:off x="6320683" y="4283469"/>
            <a:ext cx="1425193" cy="415498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>
            <a:defPPr>
              <a:defRPr lang="en-US"/>
            </a:defPPr>
            <a:lvl1pPr marL="285750" indent="-285750" eaLnBrk="0">
              <a:lnSpc>
                <a:spcPct val="90000"/>
              </a:lnSpc>
              <a:buFont typeface="Arial" panose="020B0604020202020204" pitchFamily="34" charset="0"/>
              <a:buChar char="•"/>
              <a:defRPr sz="1405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  <a:cs typeface="MiSans Normal" panose="00000500000000000000" pitchFamily="2" charset="-122"/>
              </a:defRPr>
            </a:lvl1pPr>
          </a:lstStyle>
          <a:p>
            <a:pPr marL="0" indent="0" algn="just" defTabSz="457200">
              <a:lnSpc>
                <a:spcPct val="110000"/>
              </a:lnSpc>
              <a:buNone/>
            </a:pPr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cs typeface="MiSans Medium" panose="00000600000000000000" pitchFamily="2" charset="-122"/>
              </a:rPr>
              <a:t>缺失门店数量 </a:t>
            </a:r>
            <a:r>
              <a:rPr lang="en-US" altLang="zh-CN" sz="900" dirty="0">
                <a:solidFill>
                  <a:schemeClr val="bg1">
                    <a:lumMod val="50000"/>
                  </a:schemeClr>
                </a:solidFill>
              </a:rPr>
              <a:t>77,055</a:t>
            </a:r>
            <a:endParaRPr lang="en-US" altLang="zh-CN" sz="900" dirty="0">
              <a:solidFill>
                <a:schemeClr val="bg1">
                  <a:lumMod val="50000"/>
                </a:schemeClr>
              </a:solidFill>
              <a:cs typeface="MiSans Medium" panose="00000600000000000000" pitchFamily="2" charset="-122"/>
            </a:endParaRPr>
          </a:p>
          <a:p>
            <a:pPr marL="0" indent="0" algn="just" defTabSz="457200">
              <a:lnSpc>
                <a:spcPct val="110000"/>
              </a:lnSpc>
              <a:buNone/>
            </a:pPr>
            <a:r>
              <a:rPr lang="en-US" altLang="zh-CN" sz="900" dirty="0">
                <a:solidFill>
                  <a:schemeClr val="bg1">
                    <a:lumMod val="50000"/>
                  </a:schemeClr>
                </a:solidFill>
                <a:cs typeface="MiSans Medium" panose="00000600000000000000" pitchFamily="2" charset="-122"/>
              </a:rPr>
              <a:t>GTV</a:t>
            </a:r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cs typeface="MiSans Medium" panose="00000600000000000000" pitchFamily="2" charset="-122"/>
              </a:rPr>
              <a:t>贡献占比 </a:t>
            </a:r>
            <a:r>
              <a:rPr lang="en-US" altLang="zh-CN" sz="900" dirty="0">
                <a:solidFill>
                  <a:schemeClr val="bg1">
                    <a:lumMod val="50000"/>
                  </a:schemeClr>
                </a:solidFill>
                <a:cs typeface="MiSans Medium" panose="00000600000000000000" pitchFamily="2" charset="-122"/>
              </a:rPr>
              <a:t>5%</a:t>
            </a:r>
            <a:endParaRPr lang="zh-CN" altLang="en-US" sz="900" dirty="0">
              <a:solidFill>
                <a:schemeClr val="bg1">
                  <a:lumMod val="50000"/>
                </a:schemeClr>
              </a:solidFill>
              <a:cs typeface="MiSans Medium" panose="00000600000000000000" pitchFamily="2" charset="-122"/>
            </a:endParaRPr>
          </a:p>
        </p:txBody>
      </p:sp>
      <p:sp>
        <p:nvSpPr>
          <p:cNvPr id="454" name="米菲PPT21"/>
          <p:cNvSpPr txBox="1"/>
          <p:nvPr/>
        </p:nvSpPr>
        <p:spPr>
          <a:xfrm>
            <a:off x="7736080" y="4271229"/>
            <a:ext cx="1491543" cy="415498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>
            <a:defPPr>
              <a:defRPr lang="en-US"/>
            </a:defPPr>
            <a:lvl1pPr marL="285750" indent="-285750" eaLnBrk="0">
              <a:lnSpc>
                <a:spcPct val="90000"/>
              </a:lnSpc>
              <a:buFont typeface="Arial" panose="020B0604020202020204" pitchFamily="34" charset="0"/>
              <a:buChar char="•"/>
              <a:defRPr sz="1405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  <a:cs typeface="MiSans Normal" panose="00000500000000000000" pitchFamily="2" charset="-122"/>
              </a:defRPr>
            </a:lvl1pPr>
          </a:lstStyle>
          <a:p>
            <a:pPr marL="0" indent="0" algn="just" defTabSz="457200">
              <a:lnSpc>
                <a:spcPct val="110000"/>
              </a:lnSpc>
              <a:buNone/>
            </a:pPr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cs typeface="MiSans Medium" panose="00000600000000000000" pitchFamily="2" charset="-122"/>
              </a:rPr>
              <a:t>缺失门店数量 </a:t>
            </a:r>
            <a:r>
              <a:rPr lang="en-US" altLang="zh-CN" sz="900" dirty="0">
                <a:solidFill>
                  <a:schemeClr val="bg1">
                    <a:lumMod val="50000"/>
                  </a:schemeClr>
                </a:solidFill>
              </a:rPr>
              <a:t>182,333</a:t>
            </a:r>
            <a:endParaRPr lang="en-US" altLang="zh-CN" sz="900" dirty="0">
              <a:solidFill>
                <a:schemeClr val="bg1">
                  <a:lumMod val="50000"/>
                </a:schemeClr>
              </a:solidFill>
              <a:cs typeface="MiSans Medium" panose="00000600000000000000" pitchFamily="2" charset="-122"/>
            </a:endParaRPr>
          </a:p>
          <a:p>
            <a:pPr marL="0" indent="0" algn="just" defTabSz="457200">
              <a:lnSpc>
                <a:spcPct val="110000"/>
              </a:lnSpc>
              <a:buNone/>
            </a:pPr>
            <a:r>
              <a:rPr lang="en-US" altLang="zh-CN" sz="900" dirty="0">
                <a:solidFill>
                  <a:schemeClr val="bg1">
                    <a:lumMod val="50000"/>
                  </a:schemeClr>
                </a:solidFill>
                <a:cs typeface="MiSans Medium" panose="00000600000000000000" pitchFamily="2" charset="-122"/>
              </a:rPr>
              <a:t>GTV</a:t>
            </a:r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cs typeface="MiSans Medium" panose="00000600000000000000" pitchFamily="2" charset="-122"/>
              </a:rPr>
              <a:t>贡献占比 </a:t>
            </a:r>
            <a:r>
              <a:rPr lang="en-US" altLang="zh-CN" sz="900" dirty="0">
                <a:solidFill>
                  <a:schemeClr val="bg1">
                    <a:lumMod val="50000"/>
                  </a:schemeClr>
                </a:solidFill>
                <a:cs typeface="MiSans Medium" panose="00000600000000000000" pitchFamily="2" charset="-122"/>
              </a:rPr>
              <a:t>11%</a:t>
            </a:r>
            <a:endParaRPr lang="zh-CN" altLang="en-US" sz="900" dirty="0">
              <a:solidFill>
                <a:schemeClr val="bg1">
                  <a:lumMod val="50000"/>
                </a:schemeClr>
              </a:solidFill>
              <a:cs typeface="MiSans Medium" panose="00000600000000000000" pitchFamily="2" charset="-122"/>
            </a:endParaRPr>
          </a:p>
        </p:txBody>
      </p:sp>
      <p:cxnSp>
        <p:nvCxnSpPr>
          <p:cNvPr id="456" name="直线连接符 455"/>
          <p:cNvCxnSpPr/>
          <p:nvPr/>
        </p:nvCxnSpPr>
        <p:spPr>
          <a:xfrm flipH="1">
            <a:off x="5889262" y="4078674"/>
            <a:ext cx="3126915" cy="14866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7" name="米菲PPT36"/>
          <p:cNvCxnSpPr/>
          <p:nvPr/>
        </p:nvCxnSpPr>
        <p:spPr>
          <a:xfrm flipV="1">
            <a:off x="5178345" y="1834236"/>
            <a:ext cx="3903119" cy="6759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61" name="米菲PPT14"/>
          <p:cNvGrpSpPr/>
          <p:nvPr/>
        </p:nvGrpSpPr>
        <p:grpSpPr>
          <a:xfrm>
            <a:off x="2584616" y="4046083"/>
            <a:ext cx="1438446" cy="119907"/>
            <a:chOff x="9256258" y="2931456"/>
            <a:chExt cx="2401871" cy="99104"/>
          </a:xfrm>
        </p:grpSpPr>
        <p:cxnSp>
          <p:nvCxnSpPr>
            <p:cNvPr id="462" name="米菲PPT14-1"/>
            <p:cNvCxnSpPr/>
            <p:nvPr/>
          </p:nvCxnSpPr>
          <p:spPr>
            <a:xfrm>
              <a:off x="9385651" y="3028491"/>
              <a:ext cx="2272478" cy="0"/>
            </a:xfrm>
            <a:prstGeom prst="line">
              <a:avLst/>
            </a:prstGeom>
            <a:noFill/>
            <a:ln w="15875" cap="flat" cmpd="sng" algn="ctr">
              <a:solidFill>
                <a:srgbClr val="62799C">
                  <a:lumMod val="60000"/>
                  <a:lumOff val="40000"/>
                </a:srgbClr>
              </a:solidFill>
              <a:prstDash val="solid"/>
              <a:miter lim="800000"/>
            </a:ln>
            <a:effectLst/>
          </p:spPr>
        </p:cxnSp>
        <p:cxnSp>
          <p:nvCxnSpPr>
            <p:cNvPr id="463" name="米菲PPT14-2"/>
            <p:cNvCxnSpPr/>
            <p:nvPr/>
          </p:nvCxnSpPr>
          <p:spPr>
            <a:xfrm>
              <a:off x="9256258" y="2931456"/>
              <a:ext cx="129393" cy="99104"/>
            </a:xfrm>
            <a:prstGeom prst="line">
              <a:avLst/>
            </a:prstGeom>
            <a:noFill/>
            <a:ln w="15875" cap="flat" cmpd="sng" algn="ctr">
              <a:solidFill>
                <a:srgbClr val="62799C">
                  <a:lumMod val="60000"/>
                  <a:lumOff val="40000"/>
                </a:srgbClr>
              </a:solidFill>
              <a:prstDash val="solid"/>
              <a:miter lim="800000"/>
            </a:ln>
            <a:effectLst/>
          </p:spPr>
        </p:cxnSp>
      </p:grpSp>
      <p:sp>
        <p:nvSpPr>
          <p:cNvPr id="464" name="米菲PPT21"/>
          <p:cNvSpPr txBox="1"/>
          <p:nvPr/>
        </p:nvSpPr>
        <p:spPr>
          <a:xfrm>
            <a:off x="3124874" y="3792544"/>
            <a:ext cx="1173957" cy="415498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>
            <a:defPPr>
              <a:defRPr lang="en-US"/>
            </a:defPPr>
            <a:lvl1pPr marL="285750" indent="-285750" eaLnBrk="0">
              <a:lnSpc>
                <a:spcPct val="90000"/>
              </a:lnSpc>
              <a:buFont typeface="Arial" panose="020B0604020202020204" pitchFamily="34" charset="0"/>
              <a:buChar char="•"/>
              <a:defRPr sz="1405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  <a:cs typeface="MiSans Normal" panose="00000500000000000000" pitchFamily="2" charset="-122"/>
              </a:defRPr>
            </a:lvl1pPr>
          </a:lstStyle>
          <a:p>
            <a:pPr marL="0" indent="0" algn="just" defTabSz="457200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zh-CN" altLang="en-US" sz="1100" dirty="0">
                <a:solidFill>
                  <a:prstClr val="black">
                    <a:lumMod val="65000"/>
                    <a:lumOff val="35000"/>
                  </a:prstClr>
                </a:solidFill>
                <a:cs typeface="MiSans Medium" panose="00000600000000000000" pitchFamily="2" charset="-122"/>
              </a:rPr>
              <a:t>门店占比 </a:t>
            </a:r>
            <a:r>
              <a:rPr lang="en-US" altLang="zh-CN" sz="1100" dirty="0">
                <a:solidFill>
                  <a:prstClr val="black">
                    <a:lumMod val="65000"/>
                    <a:lumOff val="35000"/>
                  </a:prstClr>
                </a:solidFill>
                <a:cs typeface="MiSans Medium" panose="00000600000000000000" pitchFamily="2" charset="-122"/>
              </a:rPr>
              <a:t>88%</a:t>
            </a:r>
            <a:r>
              <a:rPr lang="zh-CN" altLang="en-US" sz="1100" dirty="0">
                <a:solidFill>
                  <a:prstClr val="black">
                    <a:lumMod val="65000"/>
                    <a:lumOff val="35000"/>
                  </a:prstClr>
                </a:solidFill>
                <a:cs typeface="MiSans Medium" panose="00000600000000000000" pitchFamily="2" charset="-122"/>
              </a:rPr>
              <a:t> </a:t>
            </a:r>
            <a:endParaRPr lang="en-US" altLang="zh-CN" sz="1100" dirty="0">
              <a:solidFill>
                <a:prstClr val="black">
                  <a:lumMod val="65000"/>
                  <a:lumOff val="35000"/>
                </a:prstClr>
              </a:solidFill>
              <a:cs typeface="MiSans Medium" panose="00000600000000000000" pitchFamily="2" charset="-122"/>
            </a:endParaRPr>
          </a:p>
          <a:p>
            <a:pPr marL="0" indent="0" algn="just" defTabSz="457200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en-US" altLang="zh-CN" sz="1100" dirty="0">
                <a:solidFill>
                  <a:prstClr val="black">
                    <a:lumMod val="65000"/>
                    <a:lumOff val="35000"/>
                  </a:prstClr>
                </a:solidFill>
                <a:cs typeface="MiSans Medium" panose="00000600000000000000" pitchFamily="2" charset="-122"/>
              </a:rPr>
              <a:t>GTV</a:t>
            </a:r>
            <a:r>
              <a:rPr lang="zh-CN" altLang="en-US" sz="1100" dirty="0">
                <a:solidFill>
                  <a:prstClr val="black">
                    <a:lumMod val="65000"/>
                    <a:lumOff val="35000"/>
                  </a:prstClr>
                </a:solidFill>
                <a:cs typeface="MiSans Medium" panose="00000600000000000000" pitchFamily="2" charset="-122"/>
              </a:rPr>
              <a:t> 占比 </a:t>
            </a:r>
            <a:r>
              <a:rPr lang="en-US" altLang="zh-CN" sz="1100" dirty="0">
                <a:solidFill>
                  <a:prstClr val="black">
                    <a:lumMod val="65000"/>
                    <a:lumOff val="35000"/>
                  </a:prstClr>
                </a:solidFill>
                <a:cs typeface="MiSans Medium" panose="00000600000000000000" pitchFamily="2" charset="-122"/>
              </a:rPr>
              <a:t>10%</a:t>
            </a:r>
            <a:endParaRPr lang="zh-CN" altLang="en-US" sz="1100" dirty="0">
              <a:solidFill>
                <a:prstClr val="black">
                  <a:lumMod val="65000"/>
                  <a:lumOff val="35000"/>
                </a:prstClr>
              </a:solidFill>
              <a:cs typeface="MiSans Medium" panose="00000600000000000000" pitchFamily="2" charset="-122"/>
            </a:endParaRPr>
          </a:p>
        </p:txBody>
      </p:sp>
      <p:sp>
        <p:nvSpPr>
          <p:cNvPr id="401" name="米菲PPT26"/>
          <p:cNvSpPr/>
          <p:nvPr/>
        </p:nvSpPr>
        <p:spPr>
          <a:xfrm rot="10800000">
            <a:off x="4024892" y="3576854"/>
            <a:ext cx="860726" cy="1022049"/>
          </a:xfrm>
          <a:custGeom>
            <a:avLst/>
            <a:gdLst>
              <a:gd name="connsiteX0" fmla="*/ 251710 w 1099962"/>
              <a:gd name="connsiteY0" fmla="*/ 0 h 1472526"/>
              <a:gd name="connsiteX1" fmla="*/ 1099962 w 1099962"/>
              <a:gd name="connsiteY1" fmla="*/ 0 h 1472526"/>
              <a:gd name="connsiteX2" fmla="*/ 1099962 w 1099962"/>
              <a:gd name="connsiteY2" fmla="*/ 1472526 h 1472526"/>
              <a:gd name="connsiteX3" fmla="*/ 0 w 1099962"/>
              <a:gd name="connsiteY3" fmla="*/ 1472526 h 1472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99962" h="1472526">
                <a:moveTo>
                  <a:pt x="251710" y="0"/>
                </a:moveTo>
                <a:lnTo>
                  <a:pt x="1099962" y="0"/>
                </a:lnTo>
                <a:lnTo>
                  <a:pt x="1099962" y="1472526"/>
                </a:lnTo>
                <a:lnTo>
                  <a:pt x="0" y="1472526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 w="12700" cap="flat" cmpd="sng" algn="ctr">
            <a:noFill/>
            <a:prstDash val="solid"/>
            <a:miter lim="800000"/>
          </a:ln>
          <a:effectLst>
            <a:outerShdw blurRad="228600" dist="139700" dir="5400000" sx="91000" sy="91000" algn="t" rotWithShape="0">
              <a:schemeClr val="accent4">
                <a:alpha val="26255"/>
              </a:scheme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402" name="米菲PPT27"/>
          <p:cNvSpPr/>
          <p:nvPr/>
        </p:nvSpPr>
        <p:spPr>
          <a:xfrm rot="10800000">
            <a:off x="4024893" y="1891967"/>
            <a:ext cx="1141823" cy="1233559"/>
          </a:xfrm>
          <a:custGeom>
            <a:avLst/>
            <a:gdLst>
              <a:gd name="connsiteX0" fmla="*/ 252607 w 1367241"/>
              <a:gd name="connsiteY0" fmla="*/ 0 h 1477769"/>
              <a:gd name="connsiteX1" fmla="*/ 1367241 w 1367241"/>
              <a:gd name="connsiteY1" fmla="*/ 0 h 1477769"/>
              <a:gd name="connsiteX2" fmla="*/ 1367241 w 1367241"/>
              <a:gd name="connsiteY2" fmla="*/ 1477769 h 1477769"/>
              <a:gd name="connsiteX3" fmla="*/ 0 w 1367241"/>
              <a:gd name="connsiteY3" fmla="*/ 1477769 h 14777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67241" h="1477769">
                <a:moveTo>
                  <a:pt x="252607" y="0"/>
                </a:moveTo>
                <a:lnTo>
                  <a:pt x="1367241" y="0"/>
                </a:lnTo>
                <a:lnTo>
                  <a:pt x="1367241" y="1477769"/>
                </a:lnTo>
                <a:lnTo>
                  <a:pt x="0" y="1477769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>
            <a:outerShdw blurRad="228600" dist="139700" dir="5400000" algn="t" rotWithShape="0">
              <a:srgbClr val="F57359">
                <a:alpha val="26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403" name="米菲PPT28"/>
          <p:cNvSpPr/>
          <p:nvPr/>
        </p:nvSpPr>
        <p:spPr>
          <a:xfrm rot="10800000">
            <a:off x="4024893" y="601911"/>
            <a:ext cx="1340901" cy="1243458"/>
          </a:xfrm>
          <a:custGeom>
            <a:avLst/>
            <a:gdLst>
              <a:gd name="connsiteX0" fmla="*/ 223707 w 1605620"/>
              <a:gd name="connsiteY0" fmla="*/ 0 h 1308707"/>
              <a:gd name="connsiteX1" fmla="*/ 1605620 w 1605620"/>
              <a:gd name="connsiteY1" fmla="*/ 0 h 1308707"/>
              <a:gd name="connsiteX2" fmla="*/ 1605620 w 1605620"/>
              <a:gd name="connsiteY2" fmla="*/ 1308707 h 1308707"/>
              <a:gd name="connsiteX3" fmla="*/ 0 w 1605620"/>
              <a:gd name="connsiteY3" fmla="*/ 1308707 h 13087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5620" h="1308707">
                <a:moveTo>
                  <a:pt x="223707" y="0"/>
                </a:moveTo>
                <a:lnTo>
                  <a:pt x="1605620" y="0"/>
                </a:lnTo>
                <a:lnTo>
                  <a:pt x="1605620" y="1308707"/>
                </a:lnTo>
                <a:lnTo>
                  <a:pt x="0" y="1308707"/>
                </a:lnTo>
                <a:close/>
              </a:path>
            </a:pathLst>
          </a:custGeom>
          <a:solidFill>
            <a:schemeClr val="accent4"/>
          </a:solidFill>
          <a:ln w="12700" cap="flat" cmpd="sng" algn="ctr">
            <a:noFill/>
            <a:prstDash val="solid"/>
            <a:miter lim="800000"/>
          </a:ln>
          <a:effectLst>
            <a:outerShdw blurRad="228600" dist="139700" dir="5400000" algn="t" rotWithShape="0">
              <a:srgbClr val="F57359">
                <a:alpha val="26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grpSp>
        <p:nvGrpSpPr>
          <p:cNvPr id="473" name="组合 472"/>
          <p:cNvGrpSpPr/>
          <p:nvPr/>
        </p:nvGrpSpPr>
        <p:grpSpPr>
          <a:xfrm rot="10800000">
            <a:off x="4107158" y="816885"/>
            <a:ext cx="1118132" cy="769577"/>
            <a:chOff x="3880934" y="3782112"/>
            <a:chExt cx="1118132" cy="769577"/>
          </a:xfrm>
        </p:grpSpPr>
        <p:sp>
          <p:nvSpPr>
            <p:cNvPr id="404" name="米菲PPT29"/>
            <p:cNvSpPr txBox="1"/>
            <p:nvPr/>
          </p:nvSpPr>
          <p:spPr>
            <a:xfrm rot="10800000" flipH="1">
              <a:off x="4138519" y="4243912"/>
              <a:ext cx="76221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200"/>
              <a:r>
                <a:rPr lang="en-US" altLang="zh-CN" sz="1400" dirty="0">
                  <a:solidFill>
                    <a:prstClr val="white"/>
                  </a:solidFill>
                  <a:latin typeface="MiSans Bold" panose="00000800000000000000" pitchFamily="2" charset="-122"/>
                  <a:ea typeface="MiSans Bold" panose="00000800000000000000" pitchFamily="2" charset="-122"/>
                  <a:cs typeface="MiSans Medium" panose="00000600000000000000" pitchFamily="2" charset="-122"/>
                  <a:sym typeface="MiSans Bold" panose="00000800000000000000" pitchFamily="2" charset="-122"/>
                </a:rPr>
                <a:t>1%</a:t>
              </a:r>
              <a:endParaRPr lang="zh-CN" altLang="en-US" sz="1400" dirty="0">
                <a:solidFill>
                  <a:prstClr val="white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endParaRPr>
            </a:p>
          </p:txBody>
        </p:sp>
        <p:sp>
          <p:nvSpPr>
            <p:cNvPr id="405" name="米菲PPT30"/>
            <p:cNvSpPr txBox="1"/>
            <p:nvPr/>
          </p:nvSpPr>
          <p:spPr>
            <a:xfrm rot="10800000" flipH="1">
              <a:off x="3880934" y="3959469"/>
              <a:ext cx="111813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200"/>
              <a:r>
                <a:rPr lang="zh-CN" altLang="en-US" sz="1000" dirty="0">
                  <a:solidFill>
                    <a:prstClr val="white"/>
                  </a:solidFill>
                  <a:latin typeface="MiSans Bold" panose="00000800000000000000" pitchFamily="2" charset="-122"/>
                  <a:ea typeface="MiSans Bold" panose="00000800000000000000" pitchFamily="2" charset="-122"/>
                  <a:cs typeface="MiSans Medium" panose="00000600000000000000" pitchFamily="2" charset="-122"/>
                  <a:sym typeface="MiSans Bold" panose="00000800000000000000" pitchFamily="2" charset="-122"/>
                </a:rPr>
                <a:t>头部商户</a:t>
              </a:r>
              <a:r>
                <a:rPr lang="en-US" altLang="zh-CN" sz="1000" dirty="0">
                  <a:solidFill>
                    <a:prstClr val="white"/>
                  </a:solidFill>
                  <a:latin typeface="MiSans Bold" panose="00000800000000000000" pitchFamily="2" charset="-122"/>
                  <a:ea typeface="MiSans Bold" panose="00000800000000000000" pitchFamily="2" charset="-122"/>
                  <a:cs typeface="MiSans Medium" panose="00000600000000000000" pitchFamily="2" charset="-122"/>
                  <a:sym typeface="MiSans Bold" panose="00000800000000000000" pitchFamily="2" charset="-122"/>
                </a:rPr>
                <a:t>3w+</a:t>
              </a:r>
              <a:endParaRPr lang="zh-CN" altLang="en-US" sz="1000" dirty="0">
                <a:solidFill>
                  <a:prstClr val="white"/>
                </a:solidFill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endParaRPr>
            </a:p>
          </p:txBody>
        </p:sp>
        <p:sp>
          <p:nvSpPr>
            <p:cNvPr id="406" name="米菲PPT31"/>
            <p:cNvSpPr txBox="1"/>
            <p:nvPr/>
          </p:nvSpPr>
          <p:spPr>
            <a:xfrm rot="10800000" flipH="1">
              <a:off x="3926894" y="3782112"/>
              <a:ext cx="1072172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200"/>
              <a:r>
                <a:rPr lang="zh-CN" altLang="en-US" sz="700" dirty="0">
                  <a:solidFill>
                    <a:prstClr val="white"/>
                  </a:solidFill>
                  <a:latin typeface="MiSans Medium" panose="00000600000000000000" pitchFamily="2" charset="-122"/>
                  <a:ea typeface="MiSans Medium" panose="00000600000000000000" pitchFamily="2" charset="-122"/>
                  <a:cs typeface="MiSans Medium" panose="00000600000000000000" pitchFamily="2" charset="-122"/>
                </a:rPr>
                <a:t>店月均</a:t>
              </a:r>
              <a:r>
                <a:rPr lang="en-US" altLang="zh-CN" sz="700" dirty="0">
                  <a:solidFill>
                    <a:prstClr val="white"/>
                  </a:solidFill>
                  <a:latin typeface="MiSans Medium" panose="00000600000000000000" pitchFamily="2" charset="-122"/>
                  <a:ea typeface="MiSans Medium" panose="00000600000000000000" pitchFamily="2" charset="-122"/>
                  <a:cs typeface="MiSans Medium" panose="00000600000000000000" pitchFamily="2" charset="-122"/>
                </a:rPr>
                <a:t>GTV</a:t>
              </a:r>
              <a:r>
                <a:rPr lang="zh-CN" altLang="en-US" sz="700" dirty="0">
                  <a:solidFill>
                    <a:prstClr val="white"/>
                  </a:solidFill>
                  <a:latin typeface="MiSans Medium" panose="00000600000000000000" pitchFamily="2" charset="-122"/>
                  <a:ea typeface="MiSans Medium" panose="00000600000000000000" pitchFamily="2" charset="-122"/>
                  <a:cs typeface="MiSans Medium" panose="00000600000000000000" pitchFamily="2" charset="-122"/>
                </a:rPr>
                <a:t> </a:t>
              </a:r>
              <a:r>
                <a:rPr lang="en-US" altLang="zh-CN" sz="700" dirty="0">
                  <a:solidFill>
                    <a:prstClr val="white"/>
                  </a:solidFill>
                  <a:latin typeface="MiSans Medium" panose="00000600000000000000" pitchFamily="2" charset="-122"/>
                  <a:ea typeface="MiSans Medium" panose="00000600000000000000" pitchFamily="2" charset="-122"/>
                  <a:cs typeface="MiSans Medium" panose="00000600000000000000" pitchFamily="2" charset="-122"/>
                </a:rPr>
                <a:t>40</a:t>
              </a:r>
              <a:r>
                <a:rPr lang="zh-CN" altLang="en-US" sz="700" dirty="0">
                  <a:solidFill>
                    <a:prstClr val="white"/>
                  </a:solidFill>
                  <a:latin typeface="MiSans Medium" panose="00000600000000000000" pitchFamily="2" charset="-122"/>
                  <a:ea typeface="MiSans Medium" panose="00000600000000000000" pitchFamily="2" charset="-122"/>
                  <a:cs typeface="MiSans Medium" panose="00000600000000000000" pitchFamily="2" charset="-122"/>
                </a:rPr>
                <a:t>万</a:t>
              </a:r>
            </a:p>
          </p:txBody>
        </p:sp>
      </p:grpSp>
      <p:grpSp>
        <p:nvGrpSpPr>
          <p:cNvPr id="474" name="组合 473"/>
          <p:cNvGrpSpPr/>
          <p:nvPr/>
        </p:nvGrpSpPr>
        <p:grpSpPr>
          <a:xfrm rot="10800000">
            <a:off x="4014986" y="2109764"/>
            <a:ext cx="1350807" cy="769577"/>
            <a:chOff x="3920630" y="2300327"/>
            <a:chExt cx="1350807" cy="769577"/>
          </a:xfrm>
        </p:grpSpPr>
        <p:sp>
          <p:nvSpPr>
            <p:cNvPr id="407" name="米菲PPT32"/>
            <p:cNvSpPr txBox="1"/>
            <p:nvPr/>
          </p:nvSpPr>
          <p:spPr>
            <a:xfrm rot="10800000" flipH="1">
              <a:off x="4182203" y="2762127"/>
              <a:ext cx="97824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200"/>
              <a:r>
                <a:rPr lang="en-US" altLang="zh-CN" sz="1400" dirty="0">
                  <a:solidFill>
                    <a:prstClr val="white"/>
                  </a:solidFill>
                  <a:latin typeface="MiSans Bold" panose="00000800000000000000" pitchFamily="2" charset="-122"/>
                  <a:ea typeface="MiSans Bold" panose="00000800000000000000" pitchFamily="2" charset="-122"/>
                  <a:cs typeface="MiSans Medium" panose="00000600000000000000" pitchFamily="2" charset="-122"/>
                  <a:sym typeface="MiSans Bold" panose="00000800000000000000" pitchFamily="2" charset="-122"/>
                </a:rPr>
                <a:t>3%</a:t>
              </a:r>
              <a:endParaRPr lang="zh-CN" altLang="en-US" sz="1400" dirty="0">
                <a:solidFill>
                  <a:prstClr val="white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endParaRPr>
            </a:p>
          </p:txBody>
        </p:sp>
        <p:sp>
          <p:nvSpPr>
            <p:cNvPr id="408" name="米菲PPT33"/>
            <p:cNvSpPr txBox="1"/>
            <p:nvPr/>
          </p:nvSpPr>
          <p:spPr>
            <a:xfrm rot="10800000" flipH="1">
              <a:off x="3920630" y="2477002"/>
              <a:ext cx="135080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200"/>
              <a:r>
                <a:rPr lang="zh-CN" altLang="en-US" sz="1000" dirty="0">
                  <a:solidFill>
                    <a:prstClr val="white"/>
                  </a:solidFill>
                  <a:latin typeface="MiSans Bold" panose="00000800000000000000" pitchFamily="2" charset="-122"/>
                  <a:ea typeface="MiSans Bold" panose="00000800000000000000" pitchFamily="2" charset="-122"/>
                  <a:cs typeface="MiSans Medium" panose="00000600000000000000" pitchFamily="2" charset="-122"/>
                  <a:sym typeface="MiSans Bold" panose="00000800000000000000" pitchFamily="2" charset="-122"/>
                </a:rPr>
                <a:t>颈部商户</a:t>
              </a:r>
              <a:r>
                <a:rPr lang="en-US" altLang="zh-CN" sz="1000" dirty="0">
                  <a:solidFill>
                    <a:prstClr val="white"/>
                  </a:solidFill>
                  <a:latin typeface="MiSans Bold" panose="00000800000000000000" pitchFamily="2" charset="-122"/>
                  <a:ea typeface="MiSans Bold" panose="00000800000000000000" pitchFamily="2" charset="-122"/>
                  <a:cs typeface="MiSans Medium" panose="00000600000000000000" pitchFamily="2" charset="-122"/>
                  <a:sym typeface="MiSans Bold" panose="00000800000000000000" pitchFamily="2" charset="-122"/>
                </a:rPr>
                <a:t>12w+</a:t>
              </a:r>
              <a:endParaRPr lang="zh-CN" altLang="en-US" sz="1000" dirty="0">
                <a:solidFill>
                  <a:prstClr val="white"/>
                </a:solidFill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endParaRPr>
            </a:p>
          </p:txBody>
        </p:sp>
        <p:sp>
          <p:nvSpPr>
            <p:cNvPr id="409" name="米菲PPT34"/>
            <p:cNvSpPr txBox="1"/>
            <p:nvPr/>
          </p:nvSpPr>
          <p:spPr>
            <a:xfrm rot="10800000" flipH="1">
              <a:off x="4146478" y="2300327"/>
              <a:ext cx="112144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200"/>
              <a:r>
                <a:rPr lang="zh-CN" altLang="en-US" sz="700" dirty="0">
                  <a:solidFill>
                    <a:prstClr val="white"/>
                  </a:solidFill>
                  <a:latin typeface="MiSans Medium" panose="00000600000000000000" pitchFamily="2" charset="-122"/>
                  <a:ea typeface="MiSans Medium" panose="00000600000000000000" pitchFamily="2" charset="-122"/>
                  <a:cs typeface="MiSans Medium" panose="00000600000000000000" pitchFamily="2" charset="-122"/>
                </a:rPr>
                <a:t>店月均</a:t>
              </a:r>
              <a:r>
                <a:rPr lang="en-US" altLang="zh-CN" sz="700" dirty="0">
                  <a:solidFill>
                    <a:prstClr val="white"/>
                  </a:solidFill>
                  <a:latin typeface="MiSans Medium" panose="00000600000000000000" pitchFamily="2" charset="-122"/>
                  <a:ea typeface="MiSans Medium" panose="00000600000000000000" pitchFamily="2" charset="-122"/>
                  <a:cs typeface="MiSans Medium" panose="00000600000000000000" pitchFamily="2" charset="-122"/>
                </a:rPr>
                <a:t>GTV</a:t>
              </a:r>
              <a:r>
                <a:rPr lang="zh-CN" altLang="en-US" sz="700" dirty="0">
                  <a:solidFill>
                    <a:prstClr val="white"/>
                  </a:solidFill>
                  <a:latin typeface="MiSans Medium" panose="00000600000000000000" pitchFamily="2" charset="-122"/>
                  <a:ea typeface="MiSans Medium" panose="00000600000000000000" pitchFamily="2" charset="-122"/>
                  <a:cs typeface="MiSans Medium" panose="00000600000000000000" pitchFamily="2" charset="-122"/>
                </a:rPr>
                <a:t> </a:t>
              </a:r>
              <a:r>
                <a:rPr lang="en-US" altLang="zh-CN" sz="700" dirty="0">
                  <a:solidFill>
                    <a:prstClr val="white"/>
                  </a:solidFill>
                  <a:latin typeface="MiSans Medium" panose="00000600000000000000" pitchFamily="2" charset="-122"/>
                  <a:ea typeface="MiSans Medium" panose="00000600000000000000" pitchFamily="2" charset="-122"/>
                  <a:cs typeface="MiSans Medium" panose="00000600000000000000" pitchFamily="2" charset="-122"/>
                </a:rPr>
                <a:t>10</a:t>
              </a:r>
              <a:r>
                <a:rPr lang="zh-CN" altLang="en-US" sz="700" dirty="0">
                  <a:solidFill>
                    <a:prstClr val="white"/>
                  </a:solidFill>
                  <a:latin typeface="MiSans Medium" panose="00000600000000000000" pitchFamily="2" charset="-122"/>
                  <a:ea typeface="MiSans Medium" panose="00000600000000000000" pitchFamily="2" charset="-122"/>
                  <a:cs typeface="MiSans Medium" panose="00000600000000000000" pitchFamily="2" charset="-122"/>
                </a:rPr>
                <a:t>万</a:t>
              </a:r>
            </a:p>
          </p:txBody>
        </p:sp>
      </p:grpSp>
      <p:grpSp>
        <p:nvGrpSpPr>
          <p:cNvPr id="475" name="组合 474"/>
          <p:cNvGrpSpPr/>
          <p:nvPr/>
        </p:nvGrpSpPr>
        <p:grpSpPr>
          <a:xfrm rot="10800000">
            <a:off x="3953866" y="3696986"/>
            <a:ext cx="1401558" cy="770562"/>
            <a:chOff x="4200392" y="1261546"/>
            <a:chExt cx="1340874" cy="770562"/>
          </a:xfrm>
        </p:grpSpPr>
        <p:sp>
          <p:nvSpPr>
            <p:cNvPr id="410" name="米菲PPT35"/>
            <p:cNvSpPr txBox="1"/>
            <p:nvPr/>
          </p:nvSpPr>
          <p:spPr>
            <a:xfrm rot="10800000" flipH="1">
              <a:off x="4270053" y="1724331"/>
              <a:ext cx="112186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200"/>
              <a:r>
                <a:rPr lang="en-US" altLang="zh-CN" sz="1400" dirty="0">
                  <a:solidFill>
                    <a:prstClr val="white"/>
                  </a:solidFill>
                  <a:latin typeface="MiSans Bold" panose="00000800000000000000" pitchFamily="2" charset="-122"/>
                  <a:ea typeface="MiSans Bold" panose="00000800000000000000" pitchFamily="2" charset="-122"/>
                  <a:cs typeface="MiSans Medium" panose="00000600000000000000" pitchFamily="2" charset="-122"/>
                  <a:sym typeface="MiSans Bold" panose="00000800000000000000" pitchFamily="2" charset="-122"/>
                </a:rPr>
                <a:t>8%</a:t>
              </a:r>
              <a:endParaRPr lang="zh-CN" altLang="en-US" sz="1400" dirty="0">
                <a:solidFill>
                  <a:prstClr val="white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endParaRPr>
            </a:p>
          </p:txBody>
        </p:sp>
        <p:sp>
          <p:nvSpPr>
            <p:cNvPr id="411" name="米菲PPT36"/>
            <p:cNvSpPr txBox="1"/>
            <p:nvPr/>
          </p:nvSpPr>
          <p:spPr>
            <a:xfrm rot="10800000" flipH="1">
              <a:off x="4200392" y="1431465"/>
              <a:ext cx="133624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200"/>
              <a:r>
                <a:rPr lang="zh-CN" altLang="en-US" sz="1000" dirty="0">
                  <a:solidFill>
                    <a:prstClr val="white"/>
                  </a:solidFill>
                  <a:latin typeface="MiSans Bold" panose="00000800000000000000" pitchFamily="2" charset="-122"/>
                  <a:ea typeface="MiSans Bold" panose="00000800000000000000" pitchFamily="2" charset="-122"/>
                  <a:cs typeface="MiSans Medium" panose="00000600000000000000" pitchFamily="2" charset="-122"/>
                  <a:sym typeface="MiSans Bold" panose="00000800000000000000" pitchFamily="2" charset="-122"/>
                </a:rPr>
                <a:t>腰部商户</a:t>
              </a:r>
              <a:r>
                <a:rPr lang="en-US" altLang="zh-CN" sz="1000" dirty="0">
                  <a:solidFill>
                    <a:prstClr val="white"/>
                  </a:solidFill>
                  <a:latin typeface="MiSans Bold" panose="00000800000000000000" pitchFamily="2" charset="-122"/>
                  <a:ea typeface="MiSans Bold" panose="00000800000000000000" pitchFamily="2" charset="-122"/>
                  <a:cs typeface="MiSans Medium" panose="00000600000000000000" pitchFamily="2" charset="-122"/>
                  <a:sym typeface="MiSans Bold" panose="00000800000000000000" pitchFamily="2" charset="-122"/>
                </a:rPr>
                <a:t>30w+</a:t>
              </a:r>
              <a:endParaRPr lang="zh-CN" altLang="en-US" sz="1000" dirty="0">
                <a:solidFill>
                  <a:prstClr val="white"/>
                </a:solidFill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endParaRPr>
            </a:p>
          </p:txBody>
        </p:sp>
        <p:sp>
          <p:nvSpPr>
            <p:cNvPr id="412" name="米菲PPT37"/>
            <p:cNvSpPr txBox="1"/>
            <p:nvPr/>
          </p:nvSpPr>
          <p:spPr>
            <a:xfrm rot="10800000" flipH="1">
              <a:off x="4581912" y="1261546"/>
              <a:ext cx="959354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200"/>
              <a:r>
                <a:rPr lang="zh-CN" altLang="en-US" sz="700" dirty="0">
                  <a:solidFill>
                    <a:prstClr val="white"/>
                  </a:solidFill>
                  <a:latin typeface="MiSans Medium" panose="00000600000000000000" pitchFamily="2" charset="-122"/>
                  <a:ea typeface="MiSans Medium" panose="00000600000000000000" pitchFamily="2" charset="-122"/>
                  <a:cs typeface="MiSans Medium" panose="00000600000000000000" pitchFamily="2" charset="-122"/>
                </a:rPr>
                <a:t>店月均</a:t>
              </a:r>
              <a:r>
                <a:rPr lang="en-US" altLang="zh-CN" sz="700" dirty="0">
                  <a:solidFill>
                    <a:prstClr val="white"/>
                  </a:solidFill>
                  <a:latin typeface="MiSans Medium" panose="00000600000000000000" pitchFamily="2" charset="-122"/>
                  <a:ea typeface="MiSans Medium" panose="00000600000000000000" pitchFamily="2" charset="-122"/>
                  <a:cs typeface="MiSans Medium" panose="00000600000000000000" pitchFamily="2" charset="-122"/>
                </a:rPr>
                <a:t>GTV</a:t>
              </a:r>
              <a:r>
                <a:rPr lang="zh-CN" altLang="en-US" sz="700" dirty="0">
                  <a:solidFill>
                    <a:prstClr val="white"/>
                  </a:solidFill>
                  <a:latin typeface="MiSans Medium" panose="00000600000000000000" pitchFamily="2" charset="-122"/>
                  <a:ea typeface="MiSans Medium" panose="00000600000000000000" pitchFamily="2" charset="-122"/>
                  <a:cs typeface="MiSans Medium" panose="00000600000000000000" pitchFamily="2" charset="-122"/>
                </a:rPr>
                <a:t> </a:t>
              </a:r>
              <a:r>
                <a:rPr lang="en-US" altLang="zh-CN" sz="700" dirty="0">
                  <a:solidFill>
                    <a:prstClr val="white"/>
                  </a:solidFill>
                  <a:latin typeface="MiSans Medium" panose="00000600000000000000" pitchFamily="2" charset="-122"/>
                  <a:ea typeface="MiSans Medium" panose="00000600000000000000" pitchFamily="2" charset="-122"/>
                  <a:cs typeface="MiSans Medium" panose="00000600000000000000" pitchFamily="2" charset="-122"/>
                </a:rPr>
                <a:t>2.3</a:t>
              </a:r>
              <a:r>
                <a:rPr lang="zh-CN" altLang="en-US" sz="700" dirty="0">
                  <a:solidFill>
                    <a:prstClr val="white"/>
                  </a:solidFill>
                  <a:latin typeface="MiSans Medium" panose="00000600000000000000" pitchFamily="2" charset="-122"/>
                  <a:ea typeface="MiSans Medium" panose="00000600000000000000" pitchFamily="2" charset="-122"/>
                  <a:cs typeface="MiSans Medium" panose="00000600000000000000" pitchFamily="2" charset="-122"/>
                </a:rPr>
                <a:t>万</a:t>
              </a:r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551017" y="1145154"/>
            <a:ext cx="2536959" cy="3056043"/>
            <a:chOff x="612364" y="1547899"/>
            <a:chExt cx="2125539" cy="2560443"/>
          </a:xfrm>
        </p:grpSpPr>
        <p:sp>
          <p:nvSpPr>
            <p:cNvPr id="171" name="米菲PPT32"/>
            <p:cNvSpPr/>
            <p:nvPr/>
          </p:nvSpPr>
          <p:spPr>
            <a:xfrm>
              <a:off x="1053346" y="2545402"/>
              <a:ext cx="1243576" cy="487124"/>
            </a:xfrm>
            <a:custGeom>
              <a:avLst/>
              <a:gdLst>
                <a:gd name="connsiteX0" fmla="*/ 204016 w 1243576"/>
                <a:gd name="connsiteY0" fmla="*/ 0 h 487124"/>
                <a:gd name="connsiteX1" fmla="*/ 1039560 w 1243576"/>
                <a:gd name="connsiteY1" fmla="*/ 0 h 487124"/>
                <a:gd name="connsiteX2" fmla="*/ 1243576 w 1243576"/>
                <a:gd name="connsiteY2" fmla="*/ 487124 h 487124"/>
                <a:gd name="connsiteX3" fmla="*/ 0 w 1243576"/>
                <a:gd name="connsiteY3" fmla="*/ 487124 h 487124"/>
                <a:gd name="connsiteX4" fmla="*/ 204016 w 1243576"/>
                <a:gd name="connsiteY4" fmla="*/ 0 h 487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3576" h="487124">
                  <a:moveTo>
                    <a:pt x="204016" y="0"/>
                  </a:moveTo>
                  <a:lnTo>
                    <a:pt x="1039560" y="0"/>
                  </a:lnTo>
                  <a:lnTo>
                    <a:pt x="1243576" y="487124"/>
                  </a:lnTo>
                  <a:lnTo>
                    <a:pt x="0" y="487124"/>
                  </a:lnTo>
                  <a:lnTo>
                    <a:pt x="204016" y="0"/>
                  </a:ln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endParaRPr>
            </a:p>
          </p:txBody>
        </p:sp>
        <p:sp>
          <p:nvSpPr>
            <p:cNvPr id="172" name="米菲PPT33"/>
            <p:cNvSpPr/>
            <p:nvPr/>
          </p:nvSpPr>
          <p:spPr>
            <a:xfrm>
              <a:off x="832855" y="3071862"/>
              <a:ext cx="1684558" cy="487124"/>
            </a:xfrm>
            <a:custGeom>
              <a:avLst/>
              <a:gdLst>
                <a:gd name="connsiteX0" fmla="*/ 204016 w 1684558"/>
                <a:gd name="connsiteY0" fmla="*/ 0 h 487124"/>
                <a:gd name="connsiteX1" fmla="*/ 1480542 w 1684558"/>
                <a:gd name="connsiteY1" fmla="*/ 0 h 487124"/>
                <a:gd name="connsiteX2" fmla="*/ 1684558 w 1684558"/>
                <a:gd name="connsiteY2" fmla="*/ 487124 h 487124"/>
                <a:gd name="connsiteX3" fmla="*/ 0 w 1684558"/>
                <a:gd name="connsiteY3" fmla="*/ 487124 h 487124"/>
                <a:gd name="connsiteX4" fmla="*/ 204016 w 1684558"/>
                <a:gd name="connsiteY4" fmla="*/ 0 h 487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84558" h="487124">
                  <a:moveTo>
                    <a:pt x="204016" y="0"/>
                  </a:moveTo>
                  <a:lnTo>
                    <a:pt x="1480542" y="0"/>
                  </a:lnTo>
                  <a:lnTo>
                    <a:pt x="1684558" y="487124"/>
                  </a:lnTo>
                  <a:lnTo>
                    <a:pt x="0" y="487124"/>
                  </a:lnTo>
                  <a:lnTo>
                    <a:pt x="204016" y="0"/>
                  </a:ln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endParaRPr>
            </a:p>
          </p:txBody>
        </p:sp>
        <p:sp>
          <p:nvSpPr>
            <p:cNvPr id="173" name="米菲PPT34"/>
            <p:cNvSpPr/>
            <p:nvPr/>
          </p:nvSpPr>
          <p:spPr>
            <a:xfrm>
              <a:off x="612364" y="3598322"/>
              <a:ext cx="2125539" cy="487124"/>
            </a:xfrm>
            <a:custGeom>
              <a:avLst/>
              <a:gdLst>
                <a:gd name="connsiteX0" fmla="*/ 204017 w 2125539"/>
                <a:gd name="connsiteY0" fmla="*/ 0 h 487124"/>
                <a:gd name="connsiteX1" fmla="*/ 1921523 w 2125539"/>
                <a:gd name="connsiteY1" fmla="*/ 0 h 487124"/>
                <a:gd name="connsiteX2" fmla="*/ 2125539 w 2125539"/>
                <a:gd name="connsiteY2" fmla="*/ 487124 h 487124"/>
                <a:gd name="connsiteX3" fmla="*/ 0 w 2125539"/>
                <a:gd name="connsiteY3" fmla="*/ 487124 h 487124"/>
                <a:gd name="connsiteX4" fmla="*/ 204017 w 2125539"/>
                <a:gd name="connsiteY4" fmla="*/ 0 h 487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25539" h="487124">
                  <a:moveTo>
                    <a:pt x="204017" y="0"/>
                  </a:moveTo>
                  <a:lnTo>
                    <a:pt x="1921523" y="0"/>
                  </a:lnTo>
                  <a:lnTo>
                    <a:pt x="2125539" y="487124"/>
                  </a:lnTo>
                  <a:lnTo>
                    <a:pt x="0" y="487124"/>
                  </a:lnTo>
                  <a:lnTo>
                    <a:pt x="204017" y="0"/>
                  </a:lnTo>
                  <a:close/>
                </a:path>
              </a:pathLst>
            </a:custGeom>
            <a:solidFill>
              <a:srgbClr val="62799C">
                <a:lumMod val="40000"/>
                <a:lumOff val="6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endParaRPr>
            </a:p>
          </p:txBody>
        </p:sp>
        <p:sp>
          <p:nvSpPr>
            <p:cNvPr id="175" name="米菲PPT36"/>
            <p:cNvSpPr/>
            <p:nvPr/>
          </p:nvSpPr>
          <p:spPr>
            <a:xfrm>
              <a:off x="1273837" y="1547899"/>
              <a:ext cx="802594" cy="958166"/>
            </a:xfrm>
            <a:custGeom>
              <a:avLst/>
              <a:gdLst>
                <a:gd name="connsiteX0" fmla="*/ 401297 w 802594"/>
                <a:gd name="connsiteY0" fmla="*/ 0 h 958166"/>
                <a:gd name="connsiteX1" fmla="*/ 433569 w 802594"/>
                <a:gd name="connsiteY1" fmla="*/ 77054 h 958166"/>
                <a:gd name="connsiteX2" fmla="*/ 433569 w 802594"/>
                <a:gd name="connsiteY2" fmla="*/ 77054 h 958166"/>
                <a:gd name="connsiteX3" fmla="*/ 802594 w 802594"/>
                <a:gd name="connsiteY3" fmla="*/ 958166 h 958166"/>
                <a:gd name="connsiteX4" fmla="*/ 0 w 802594"/>
                <a:gd name="connsiteY4" fmla="*/ 958166 h 958166"/>
                <a:gd name="connsiteX5" fmla="*/ 369025 w 802594"/>
                <a:gd name="connsiteY5" fmla="*/ 77054 h 958166"/>
                <a:gd name="connsiteX6" fmla="*/ 369026 w 802594"/>
                <a:gd name="connsiteY6" fmla="*/ 77054 h 95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02594" h="958166">
                  <a:moveTo>
                    <a:pt x="401297" y="0"/>
                  </a:moveTo>
                  <a:lnTo>
                    <a:pt x="433569" y="77054"/>
                  </a:lnTo>
                  <a:lnTo>
                    <a:pt x="433569" y="77054"/>
                  </a:lnTo>
                  <a:lnTo>
                    <a:pt x="802594" y="958166"/>
                  </a:lnTo>
                  <a:lnTo>
                    <a:pt x="0" y="958166"/>
                  </a:lnTo>
                  <a:lnTo>
                    <a:pt x="369025" y="77054"/>
                  </a:lnTo>
                  <a:lnTo>
                    <a:pt x="369026" y="77054"/>
                  </a:lnTo>
                  <a:close/>
                </a:path>
              </a:pathLst>
            </a:custGeom>
            <a:solidFill>
              <a:schemeClr val="accent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endParaRPr>
            </a:p>
          </p:txBody>
        </p:sp>
        <p:sp>
          <p:nvSpPr>
            <p:cNvPr id="323" name="米菲PPT49"/>
            <p:cNvSpPr txBox="1"/>
            <p:nvPr/>
          </p:nvSpPr>
          <p:spPr>
            <a:xfrm>
              <a:off x="1105857" y="1974479"/>
              <a:ext cx="1120399" cy="3867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457200"/>
              <a:r>
                <a:rPr lang="zh-CN" altLang="en-US" sz="1200" dirty="0">
                  <a:solidFill>
                    <a:prstClr val="white"/>
                  </a:solidFill>
                  <a:latin typeface="MiSans Medium" panose="00000600000000000000" pitchFamily="2" charset="-122"/>
                  <a:ea typeface="MiSans Medium" panose="00000600000000000000" pitchFamily="2" charset="-122"/>
                  <a:cs typeface="MiSans Medium" panose="00000600000000000000" pitchFamily="2" charset="-122"/>
                  <a:sym typeface="MiSans Medium" panose="00000600000000000000" pitchFamily="2" charset="-122"/>
                </a:rPr>
                <a:t>头部</a:t>
              </a:r>
              <a:endParaRPr lang="en-US" altLang="zh-CN" sz="1200" dirty="0">
                <a:solidFill>
                  <a:prstClr val="white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endParaRPr>
            </a:p>
            <a:p>
              <a:pPr algn="ctr" defTabSz="457200"/>
              <a:r>
                <a:rPr lang="zh-CN" altLang="en-US" sz="1200" dirty="0">
                  <a:solidFill>
                    <a:prstClr val="white"/>
                  </a:solidFill>
                  <a:latin typeface="MiSans Medium" panose="00000600000000000000" pitchFamily="2" charset="-122"/>
                  <a:ea typeface="MiSans Medium" panose="00000600000000000000" pitchFamily="2" charset="-122"/>
                  <a:cs typeface="MiSans Medium" panose="00000600000000000000" pitchFamily="2" charset="-122"/>
                  <a:sym typeface="MiSans Medium" panose="00000600000000000000" pitchFamily="2" charset="-122"/>
                </a:rPr>
                <a:t>商户</a:t>
              </a:r>
            </a:p>
          </p:txBody>
        </p:sp>
        <p:sp>
          <p:nvSpPr>
            <p:cNvPr id="325" name="米菲PPT53"/>
            <p:cNvSpPr txBox="1"/>
            <p:nvPr/>
          </p:nvSpPr>
          <p:spPr>
            <a:xfrm>
              <a:off x="741653" y="3224002"/>
              <a:ext cx="1848806" cy="2320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457200"/>
              <a:r>
                <a:rPr lang="zh-CN" altLang="en-US" sz="1200" dirty="0">
                  <a:solidFill>
                    <a:schemeClr val="bg1"/>
                  </a:solidFill>
                  <a:latin typeface="MiSans Medium" panose="00000600000000000000" pitchFamily="2" charset="-122"/>
                  <a:ea typeface="MiSans Medium" panose="00000600000000000000" pitchFamily="2" charset="-122"/>
                  <a:cs typeface="MiSans Medium" panose="00000600000000000000" pitchFamily="2" charset="-122"/>
                  <a:sym typeface="MiSans Medium" panose="00000600000000000000" pitchFamily="2" charset="-122"/>
                </a:rPr>
                <a:t>腰部商户</a:t>
              </a:r>
            </a:p>
          </p:txBody>
        </p:sp>
        <p:sp>
          <p:nvSpPr>
            <p:cNvPr id="326" name="米菲PPT55"/>
            <p:cNvSpPr txBox="1"/>
            <p:nvPr/>
          </p:nvSpPr>
          <p:spPr>
            <a:xfrm>
              <a:off x="741653" y="3765342"/>
              <a:ext cx="1848806" cy="2320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457200"/>
              <a:r>
                <a:rPr lang="zh-CN" altLang="en-US" sz="1200" dirty="0">
                  <a:solidFill>
                    <a:srgbClr val="62799C"/>
                  </a:solidFill>
                  <a:latin typeface="MiSans Medium" panose="00000600000000000000" pitchFamily="2" charset="-122"/>
                  <a:ea typeface="MiSans Medium" panose="00000600000000000000" pitchFamily="2" charset="-122"/>
                  <a:cs typeface="MiSans Medium" panose="00000600000000000000" pitchFamily="2" charset="-122"/>
                  <a:sym typeface="MiSans Medium" panose="00000600000000000000" pitchFamily="2" charset="-122"/>
                </a:rPr>
                <a:t>尾部商户</a:t>
              </a:r>
            </a:p>
          </p:txBody>
        </p:sp>
        <p:sp>
          <p:nvSpPr>
            <p:cNvPr id="460" name="米菲PPT51"/>
            <p:cNvSpPr txBox="1"/>
            <p:nvPr/>
          </p:nvSpPr>
          <p:spPr>
            <a:xfrm>
              <a:off x="1295275" y="2362081"/>
              <a:ext cx="736005" cy="1805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457200"/>
              <a:r>
                <a:rPr lang="en-US" altLang="zh-CN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Sans Medium" panose="00000600000000000000" pitchFamily="2" charset="-122"/>
                  <a:ea typeface="MiSans Medium" panose="00000600000000000000" pitchFamily="2" charset="-122"/>
                  <a:cs typeface="MiSans Medium" panose="00000600000000000000" pitchFamily="2" charset="-122"/>
                  <a:sym typeface="MiSans Medium" panose="00000600000000000000" pitchFamily="2" charset="-122"/>
                </a:rPr>
                <a:t>3w+</a:t>
              </a:r>
              <a:r>
                <a:rPr lang="zh-CN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Sans Medium" panose="00000600000000000000" pitchFamily="2" charset="-122"/>
                  <a:ea typeface="MiSans Medium" panose="00000600000000000000" pitchFamily="2" charset="-122"/>
                  <a:cs typeface="MiSans Medium" panose="00000600000000000000" pitchFamily="2" charset="-122"/>
                  <a:sym typeface="MiSans Medium" panose="00000600000000000000" pitchFamily="2" charset="-122"/>
                </a:rPr>
                <a:t>家门店</a:t>
              </a:r>
            </a:p>
          </p:txBody>
        </p:sp>
        <p:sp>
          <p:nvSpPr>
            <p:cNvPr id="467" name="米菲PPT51"/>
            <p:cNvSpPr txBox="1"/>
            <p:nvPr/>
          </p:nvSpPr>
          <p:spPr>
            <a:xfrm>
              <a:off x="1595080" y="2879973"/>
              <a:ext cx="736005" cy="1805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457200"/>
              <a:r>
                <a:rPr lang="en-US" altLang="zh-CN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Sans Medium" panose="00000600000000000000" pitchFamily="2" charset="-122"/>
                  <a:ea typeface="MiSans Medium" panose="00000600000000000000" pitchFamily="2" charset="-122"/>
                  <a:cs typeface="MiSans Medium" panose="00000600000000000000" pitchFamily="2" charset="-122"/>
                  <a:sym typeface="MiSans Medium" panose="00000600000000000000" pitchFamily="2" charset="-122"/>
                </a:rPr>
                <a:t>12w+</a:t>
              </a:r>
              <a:r>
                <a:rPr lang="zh-CN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Sans Medium" panose="00000600000000000000" pitchFamily="2" charset="-122"/>
                  <a:ea typeface="MiSans Medium" panose="00000600000000000000" pitchFamily="2" charset="-122"/>
                  <a:cs typeface="MiSans Medium" panose="00000600000000000000" pitchFamily="2" charset="-122"/>
                  <a:sym typeface="MiSans Medium" panose="00000600000000000000" pitchFamily="2" charset="-122"/>
                </a:rPr>
                <a:t>家高</a:t>
              </a:r>
              <a:r>
                <a:rPr lang="en-US" altLang="zh-CN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Sans Medium" panose="00000600000000000000" pitchFamily="2" charset="-122"/>
                  <a:ea typeface="MiSans Medium" panose="00000600000000000000" pitchFamily="2" charset="-122"/>
                  <a:cs typeface="MiSans Medium" panose="00000600000000000000" pitchFamily="2" charset="-122"/>
                  <a:sym typeface="MiSans Medium" panose="00000600000000000000" pitchFamily="2" charset="-122"/>
                </a:rPr>
                <a:t>GTV</a:t>
              </a:r>
              <a:endParaRPr lang="zh-CN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endParaRPr>
            </a:p>
          </p:txBody>
        </p:sp>
        <p:sp>
          <p:nvSpPr>
            <p:cNvPr id="468" name="米菲PPT51"/>
            <p:cNvSpPr txBox="1"/>
            <p:nvPr/>
          </p:nvSpPr>
          <p:spPr>
            <a:xfrm>
              <a:off x="1304518" y="3416898"/>
              <a:ext cx="736005" cy="1805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457200"/>
              <a:r>
                <a:rPr lang="en-US" altLang="zh-CN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Sans Medium" panose="00000600000000000000" pitchFamily="2" charset="-122"/>
                  <a:ea typeface="MiSans Medium" panose="00000600000000000000" pitchFamily="2" charset="-122"/>
                  <a:cs typeface="MiSans Medium" panose="00000600000000000000" pitchFamily="2" charset="-122"/>
                  <a:sym typeface="MiSans Medium" panose="00000600000000000000" pitchFamily="2" charset="-122"/>
                </a:rPr>
                <a:t>30w+</a:t>
              </a:r>
              <a:r>
                <a:rPr lang="zh-CN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Sans Medium" panose="00000600000000000000" pitchFamily="2" charset="-122"/>
                  <a:ea typeface="MiSans Medium" panose="00000600000000000000" pitchFamily="2" charset="-122"/>
                  <a:cs typeface="MiSans Medium" panose="00000600000000000000" pitchFamily="2" charset="-122"/>
                  <a:sym typeface="MiSans Medium" panose="00000600000000000000" pitchFamily="2" charset="-122"/>
                </a:rPr>
                <a:t>家门店</a:t>
              </a:r>
            </a:p>
          </p:txBody>
        </p:sp>
        <p:sp>
          <p:nvSpPr>
            <p:cNvPr id="469" name="米菲PPT51"/>
            <p:cNvSpPr txBox="1"/>
            <p:nvPr/>
          </p:nvSpPr>
          <p:spPr>
            <a:xfrm>
              <a:off x="1308542" y="3927837"/>
              <a:ext cx="736005" cy="1805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457200"/>
              <a:r>
                <a:rPr lang="en-US" altLang="zh-CN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Sans Medium" panose="00000600000000000000" pitchFamily="2" charset="-122"/>
                  <a:ea typeface="MiSans Medium" panose="00000600000000000000" pitchFamily="2" charset="-122"/>
                  <a:cs typeface="MiSans Medium" panose="00000600000000000000" pitchFamily="2" charset="-122"/>
                  <a:sym typeface="MiSans Medium" panose="00000600000000000000" pitchFamily="2" charset="-122"/>
                </a:rPr>
                <a:t>315w+</a:t>
              </a:r>
              <a:r>
                <a:rPr lang="zh-CN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Sans Medium" panose="00000600000000000000" pitchFamily="2" charset="-122"/>
                  <a:ea typeface="MiSans Medium" panose="00000600000000000000" pitchFamily="2" charset="-122"/>
                  <a:cs typeface="MiSans Medium" panose="00000600000000000000" pitchFamily="2" charset="-122"/>
                  <a:sym typeface="MiSans Medium" panose="00000600000000000000" pitchFamily="2" charset="-122"/>
                </a:rPr>
                <a:t>家门店</a:t>
              </a:r>
            </a:p>
          </p:txBody>
        </p:sp>
        <p:sp>
          <p:nvSpPr>
            <p:cNvPr id="470" name="米菲PPT51"/>
            <p:cNvSpPr txBox="1"/>
            <p:nvPr/>
          </p:nvSpPr>
          <p:spPr>
            <a:xfrm>
              <a:off x="940962" y="2893980"/>
              <a:ext cx="736005" cy="1805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457200"/>
              <a:r>
                <a:rPr lang="en-US" altLang="zh-CN" sz="800" dirty="0">
                  <a:solidFill>
                    <a:srgbClr val="C00000"/>
                  </a:solidFill>
                  <a:latin typeface="MiSans Medium" panose="00000600000000000000" pitchFamily="2" charset="-122"/>
                  <a:ea typeface="MiSans Medium" panose="00000600000000000000" pitchFamily="2" charset="-122"/>
                  <a:cs typeface="MiSans Medium" panose="00000600000000000000" pitchFamily="2" charset="-122"/>
                  <a:sym typeface="MiSans Medium" panose="00000600000000000000" pitchFamily="2" charset="-122"/>
                </a:rPr>
                <a:t>5w+</a:t>
              </a:r>
              <a:r>
                <a:rPr lang="zh-CN" altLang="en-US" sz="800" dirty="0">
                  <a:solidFill>
                    <a:srgbClr val="C00000"/>
                  </a:solidFill>
                  <a:latin typeface="MiSans Medium" panose="00000600000000000000" pitchFamily="2" charset="-122"/>
                  <a:ea typeface="MiSans Medium" panose="00000600000000000000" pitchFamily="2" charset="-122"/>
                  <a:cs typeface="MiSans Medium" panose="00000600000000000000" pitchFamily="2" charset="-122"/>
                  <a:sym typeface="MiSans Medium" panose="00000600000000000000" pitchFamily="2" charset="-122"/>
                </a:rPr>
                <a:t>家高</a:t>
              </a:r>
              <a:r>
                <a:rPr lang="en-US" altLang="zh-CN" sz="800" dirty="0">
                  <a:solidFill>
                    <a:srgbClr val="C00000"/>
                  </a:solidFill>
                  <a:latin typeface="MiSans Medium" panose="00000600000000000000" pitchFamily="2" charset="-122"/>
                  <a:ea typeface="MiSans Medium" panose="00000600000000000000" pitchFamily="2" charset="-122"/>
                  <a:cs typeface="MiSans Medium" panose="00000600000000000000" pitchFamily="2" charset="-122"/>
                  <a:sym typeface="MiSans Medium" panose="00000600000000000000" pitchFamily="2" charset="-122"/>
                </a:rPr>
                <a:t>UV</a:t>
              </a:r>
              <a:endParaRPr lang="zh-CN" altLang="en-US" sz="800" dirty="0">
                <a:solidFill>
                  <a:srgbClr val="C00000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endParaRPr>
            </a:p>
          </p:txBody>
        </p:sp>
        <p:cxnSp>
          <p:nvCxnSpPr>
            <p:cNvPr id="466" name="直线连接符 465"/>
            <p:cNvCxnSpPr/>
            <p:nvPr/>
          </p:nvCxnSpPr>
          <p:spPr>
            <a:xfrm>
              <a:off x="1529855" y="2550310"/>
              <a:ext cx="0" cy="482216"/>
            </a:xfrm>
            <a:prstGeom prst="line">
              <a:avLst/>
            </a:prstGeom>
            <a:ln w="127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4" name="米菲PPT51"/>
            <p:cNvSpPr txBox="1"/>
            <p:nvPr/>
          </p:nvSpPr>
          <p:spPr>
            <a:xfrm>
              <a:off x="741653" y="2689746"/>
              <a:ext cx="1848806" cy="23207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 defTabSz="457200"/>
              <a:r>
                <a:rPr lang="zh-CN" altLang="en-US" sz="1200" dirty="0">
                  <a:solidFill>
                    <a:prstClr val="white"/>
                  </a:solidFill>
                  <a:latin typeface="MiSans Medium" panose="00000600000000000000" pitchFamily="2" charset="-122"/>
                  <a:ea typeface="MiSans Medium" panose="00000600000000000000" pitchFamily="2" charset="-122"/>
                  <a:cs typeface="MiSans Medium" panose="00000600000000000000" pitchFamily="2" charset="-122"/>
                  <a:sym typeface="MiSans Medium" panose="00000600000000000000" pitchFamily="2" charset="-122"/>
                </a:rPr>
                <a:t>颈部商户</a:t>
              </a:r>
            </a:p>
          </p:txBody>
        </p:sp>
      </p:grpSp>
      <p:sp>
        <p:nvSpPr>
          <p:cNvPr id="27" name="文本框 26"/>
          <p:cNvSpPr txBox="1"/>
          <p:nvPr/>
        </p:nvSpPr>
        <p:spPr>
          <a:xfrm>
            <a:off x="5216101" y="968891"/>
            <a:ext cx="107223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100" dirty="0">
                <a:solidFill>
                  <a:prstClr val="black">
                    <a:lumMod val="65000"/>
                    <a:lumOff val="35000"/>
                  </a:prstClr>
                </a:solidFill>
                <a:latin typeface="MiSans Medium" panose="00000600000000000000" pitchFamily="2" charset="-122"/>
                <a:ea typeface="MiSans Medium" panose="00000600000000000000" pitchFamily="2" charset="-122"/>
                <a:sym typeface="MiSans Bold" panose="00000800000000000000" pitchFamily="2" charset="-122"/>
              </a:rPr>
              <a:t>头部缺失门店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5143783" y="2357743"/>
            <a:ext cx="107223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100" dirty="0">
                <a:solidFill>
                  <a:prstClr val="black">
                    <a:lumMod val="65000"/>
                    <a:lumOff val="35000"/>
                  </a:prstClr>
                </a:solidFill>
                <a:latin typeface="MiSans Medium" panose="00000600000000000000" pitchFamily="2" charset="-122"/>
                <a:ea typeface="MiSans Medium" panose="00000600000000000000" pitchFamily="2" charset="-122"/>
                <a:sym typeface="MiSans Bold" panose="00000800000000000000" pitchFamily="2" charset="-122"/>
              </a:rPr>
              <a:t>颈部缺失门店</a:t>
            </a:r>
          </a:p>
        </p:txBody>
      </p:sp>
      <p:sp>
        <p:nvSpPr>
          <p:cNvPr id="29" name="文本框 28"/>
          <p:cNvSpPr txBox="1"/>
          <p:nvPr/>
        </p:nvSpPr>
        <p:spPr>
          <a:xfrm>
            <a:off x="4885618" y="3947869"/>
            <a:ext cx="107223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100" dirty="0">
                <a:solidFill>
                  <a:prstClr val="black">
                    <a:lumMod val="65000"/>
                    <a:lumOff val="35000"/>
                  </a:prstClr>
                </a:solidFill>
                <a:latin typeface="MiSans Medium" panose="00000600000000000000" pitchFamily="2" charset="-122"/>
                <a:ea typeface="MiSans Medium" panose="00000600000000000000" pitchFamily="2" charset="-122"/>
                <a:sym typeface="MiSans Bold" panose="00000800000000000000" pitchFamily="2" charset="-122"/>
              </a:rPr>
              <a:t>腰部缺失门店</a:t>
            </a:r>
          </a:p>
        </p:txBody>
      </p:sp>
      <p:sp>
        <p:nvSpPr>
          <p:cNvPr id="21" name="米菲PPT21"/>
          <p:cNvSpPr txBox="1"/>
          <p:nvPr/>
        </p:nvSpPr>
        <p:spPr>
          <a:xfrm>
            <a:off x="5111842" y="3179693"/>
            <a:ext cx="3776905" cy="3147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>
            <a:defPPr>
              <a:defRPr lang="en-US"/>
            </a:defPPr>
            <a:lvl1pPr marL="285750" indent="-285750" eaLnBrk="0">
              <a:lnSpc>
                <a:spcPct val="90000"/>
              </a:lnSpc>
              <a:buFont typeface="Arial" panose="020B0604020202020204" pitchFamily="34" charset="0"/>
              <a:buChar char="•"/>
              <a:defRPr sz="1405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  <a:cs typeface="MiSans Normal" panose="00000500000000000000" pitchFamily="2" charset="-122"/>
              </a:defRPr>
            </a:lvl1pPr>
          </a:lstStyle>
          <a:p>
            <a:pPr marL="0" indent="0" algn="just" defTabSz="457200">
              <a:lnSpc>
                <a:spcPct val="110000"/>
              </a:lnSpc>
              <a:buNone/>
            </a:pPr>
            <a:r>
              <a:rPr lang="zh-CN" altLang="en-US" sz="900" dirty="0">
                <a:solidFill>
                  <a:schemeClr val="accent4"/>
                </a:solidFill>
              </a:rPr>
              <a:t>这</a:t>
            </a:r>
            <a:r>
              <a:rPr lang="en-US" altLang="zh-CN" sz="900" dirty="0">
                <a:solidFill>
                  <a:schemeClr val="accent4"/>
                </a:solidFill>
              </a:rPr>
              <a:t>5w+</a:t>
            </a:r>
            <a:r>
              <a:rPr lang="zh-CN" altLang="en-US" sz="900" dirty="0">
                <a:solidFill>
                  <a:schemeClr val="accent4"/>
                </a:solidFill>
              </a:rPr>
              <a:t>门店中仅</a:t>
            </a:r>
            <a:r>
              <a:rPr lang="en-US" altLang="zh-CN" sz="900" dirty="0">
                <a:solidFill>
                  <a:schemeClr val="accent4"/>
                </a:solidFill>
              </a:rPr>
              <a:t>742</a:t>
            </a:r>
            <a:r>
              <a:rPr lang="zh-CN" altLang="en-US" sz="900" dirty="0">
                <a:solidFill>
                  <a:schemeClr val="accent4"/>
                </a:solidFill>
              </a:rPr>
              <a:t>家上了榜必吃榜，人气和好评榜均因没有合作没有上榜，但因为他们的</a:t>
            </a:r>
            <a:r>
              <a:rPr lang="en-US" altLang="zh-CN" sz="900" dirty="0">
                <a:solidFill>
                  <a:schemeClr val="accent4"/>
                </a:solidFill>
              </a:rPr>
              <a:t>UV</a:t>
            </a:r>
            <a:r>
              <a:rPr lang="zh-CN" altLang="en-US" sz="900" dirty="0">
                <a:solidFill>
                  <a:schemeClr val="accent4"/>
                </a:solidFill>
              </a:rPr>
              <a:t>较高，算是机会门店</a:t>
            </a:r>
          </a:p>
        </p:txBody>
      </p:sp>
      <p:sp>
        <p:nvSpPr>
          <p:cNvPr id="19" name="米菲PPT33"/>
          <p:cNvSpPr txBox="1"/>
          <p:nvPr/>
        </p:nvSpPr>
        <p:spPr>
          <a:xfrm flipH="1">
            <a:off x="4003006" y="3127154"/>
            <a:ext cx="1141823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457200"/>
            <a:r>
              <a:rPr lang="en-US" altLang="zh-CN" sz="1000" b="1" dirty="0">
                <a:solidFill>
                  <a:schemeClr val="accent4"/>
                </a:solidFill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rPr>
              <a:t>②</a:t>
            </a:r>
            <a:r>
              <a:rPr lang="zh-CN" altLang="en-US" sz="1000" b="1" dirty="0">
                <a:solidFill>
                  <a:schemeClr val="accent4"/>
                </a:solidFill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rPr>
              <a:t>未合作</a:t>
            </a:r>
            <a:endParaRPr lang="en-US" altLang="zh-CN" sz="1000" b="1" dirty="0">
              <a:solidFill>
                <a:schemeClr val="accent4"/>
              </a:solidFill>
              <a:latin typeface="MiSans Bold" panose="00000800000000000000" pitchFamily="2" charset="-122"/>
              <a:ea typeface="MiSans Bold" panose="00000800000000000000" pitchFamily="2" charset="-122"/>
              <a:cs typeface="MiSans Medium" panose="00000600000000000000" pitchFamily="2" charset="-122"/>
              <a:sym typeface="MiSans Bold" panose="00000800000000000000" pitchFamily="2" charset="-122"/>
            </a:endParaRPr>
          </a:p>
          <a:p>
            <a:pPr defTabSz="457200"/>
            <a:r>
              <a:rPr lang="zh-CN" altLang="en-US" sz="1000" b="1" dirty="0">
                <a:solidFill>
                  <a:schemeClr val="accent4"/>
                </a:solidFill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rPr>
              <a:t>高</a:t>
            </a:r>
            <a:r>
              <a:rPr lang="en-US" altLang="zh-CN" sz="1000" b="1" dirty="0">
                <a:solidFill>
                  <a:schemeClr val="accent4"/>
                </a:solidFill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rPr>
              <a:t>UV</a:t>
            </a:r>
            <a:r>
              <a:rPr lang="zh-CN" altLang="en-US" sz="1000" b="1" dirty="0">
                <a:solidFill>
                  <a:schemeClr val="accent4"/>
                </a:solidFill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rPr>
              <a:t>商户</a:t>
            </a:r>
            <a:r>
              <a:rPr lang="zh-CN" altLang="en-US" sz="800" b="1" dirty="0">
                <a:solidFill>
                  <a:schemeClr val="accent4"/>
                </a:solidFill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rPr>
              <a:t> </a:t>
            </a:r>
            <a:r>
              <a:rPr lang="en-US" altLang="zh-CN" sz="800" b="1" dirty="0">
                <a:solidFill>
                  <a:schemeClr val="accent4"/>
                </a:solidFill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rPr>
              <a:t>5w+</a:t>
            </a:r>
            <a:endParaRPr lang="zh-CN" altLang="en-US" sz="800" b="1" dirty="0">
              <a:solidFill>
                <a:schemeClr val="accent4"/>
              </a:solidFill>
              <a:latin typeface="MiSans Bold" panose="00000800000000000000" pitchFamily="2" charset="-122"/>
              <a:ea typeface="MiSans Bold" panose="00000800000000000000" pitchFamily="2" charset="-122"/>
              <a:cs typeface="MiSans Medium" panose="00000600000000000000" pitchFamily="2" charset="-122"/>
              <a:sym typeface="MiSans Bold" panose="00000800000000000000" pitchFamily="2" charset="-122"/>
            </a:endParaRPr>
          </a:p>
        </p:txBody>
      </p:sp>
      <p:sp>
        <p:nvSpPr>
          <p:cNvPr id="32" name="米菲PPT51"/>
          <p:cNvSpPr txBox="1"/>
          <p:nvPr/>
        </p:nvSpPr>
        <p:spPr>
          <a:xfrm>
            <a:off x="4022073" y="30883"/>
            <a:ext cx="512192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/>
            <a:r>
              <a:rPr lang="zh-CN" altLang="en-US" sz="1050" b="1" dirty="0">
                <a:solidFill>
                  <a:schemeClr val="accent4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未上榜的机会门店：</a:t>
            </a:r>
            <a:r>
              <a:rPr lang="en-US" altLang="zh-CN" sz="1050" b="1" dirty="0">
                <a:solidFill>
                  <a:schemeClr val="accent4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①</a:t>
            </a:r>
            <a:r>
              <a:rPr lang="zh-CN" altLang="en-US" sz="1050" b="1" dirty="0">
                <a:solidFill>
                  <a:schemeClr val="accent4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合作且高</a:t>
            </a:r>
            <a:r>
              <a:rPr lang="en-US" altLang="zh-CN" sz="1050" b="1" dirty="0">
                <a:solidFill>
                  <a:schemeClr val="accent4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GTV</a:t>
            </a:r>
            <a:r>
              <a:rPr lang="zh-CN" altLang="en-US" sz="1050" b="1" dirty="0">
                <a:solidFill>
                  <a:schemeClr val="accent4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  </a:t>
            </a:r>
            <a:r>
              <a:rPr lang="en-US" altLang="zh-CN" sz="1050" b="1" dirty="0">
                <a:solidFill>
                  <a:schemeClr val="accent4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②</a:t>
            </a:r>
            <a:r>
              <a:rPr lang="zh-CN" altLang="en-US" sz="1050" b="1" dirty="0">
                <a:solidFill>
                  <a:schemeClr val="accent4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未合作且高</a:t>
            </a:r>
            <a:r>
              <a:rPr lang="en-US" altLang="zh-CN" sz="1050" b="1" dirty="0">
                <a:solidFill>
                  <a:schemeClr val="accent4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UV</a:t>
            </a:r>
            <a:r>
              <a:rPr lang="zh-CN" altLang="en-US" sz="1050" b="1" dirty="0">
                <a:solidFill>
                  <a:schemeClr val="accent4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  </a:t>
            </a:r>
            <a:r>
              <a:rPr lang="en-US" altLang="zh-CN" sz="1050" b="1" dirty="0">
                <a:solidFill>
                  <a:schemeClr val="accent4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③</a:t>
            </a:r>
            <a:r>
              <a:rPr lang="zh-CN" altLang="en-US" sz="1050" b="1" dirty="0">
                <a:solidFill>
                  <a:schemeClr val="accent4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合作且高</a:t>
            </a:r>
            <a:r>
              <a:rPr lang="en-US" altLang="zh-CN" sz="1050" b="1" dirty="0">
                <a:solidFill>
                  <a:schemeClr val="accent4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UV</a:t>
            </a:r>
            <a:r>
              <a:rPr lang="zh-CN" altLang="en-US" sz="1050" b="1" dirty="0">
                <a:solidFill>
                  <a:schemeClr val="accent4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低</a:t>
            </a:r>
            <a:r>
              <a:rPr lang="en-US" altLang="zh-CN" sz="1050" b="1" dirty="0">
                <a:solidFill>
                  <a:schemeClr val="accent4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GTV</a:t>
            </a:r>
            <a:endParaRPr lang="zh-CN" altLang="en-US" sz="1050" b="1" dirty="0">
              <a:solidFill>
                <a:schemeClr val="accent4"/>
              </a:solidFill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  <a:sym typeface="MiSans Medium" panose="00000600000000000000" pitchFamily="2" charset="-122"/>
            </a:endParaRPr>
          </a:p>
        </p:txBody>
      </p:sp>
      <p:sp>
        <p:nvSpPr>
          <p:cNvPr id="51" name="米菲PPT36"/>
          <p:cNvSpPr txBox="1"/>
          <p:nvPr/>
        </p:nvSpPr>
        <p:spPr>
          <a:xfrm flipH="1">
            <a:off x="4003006" y="4709532"/>
            <a:ext cx="9484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altLang="zh-CN" sz="1000" b="1" dirty="0">
                <a:solidFill>
                  <a:schemeClr val="accent4"/>
                </a:solidFill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rPr>
              <a:t>③</a:t>
            </a:r>
            <a:r>
              <a:rPr lang="zh-CN" altLang="en-US" sz="1000" b="1" dirty="0">
                <a:solidFill>
                  <a:schemeClr val="accent4"/>
                </a:solidFill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rPr>
              <a:t>尾部商户</a:t>
            </a:r>
          </a:p>
        </p:txBody>
      </p:sp>
      <p:sp>
        <p:nvSpPr>
          <p:cNvPr id="53" name="米菲PPT21"/>
          <p:cNvSpPr txBox="1"/>
          <p:nvPr/>
        </p:nvSpPr>
        <p:spPr>
          <a:xfrm>
            <a:off x="4893705" y="4671462"/>
            <a:ext cx="3995042" cy="3147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>
            <a:defPPr>
              <a:defRPr lang="en-US"/>
            </a:defPPr>
            <a:lvl1pPr marL="285750" indent="-285750" eaLnBrk="0">
              <a:lnSpc>
                <a:spcPct val="90000"/>
              </a:lnSpc>
              <a:buFont typeface="Arial" panose="020B0604020202020204" pitchFamily="34" charset="0"/>
              <a:buChar char="•"/>
              <a:defRPr sz="1405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  <a:cs typeface="MiSans Normal" panose="00000500000000000000" pitchFamily="2" charset="-122"/>
              </a:defRPr>
            </a:lvl1pPr>
          </a:lstStyle>
          <a:p>
            <a:pPr marL="0" indent="0" algn="just" defTabSz="457200">
              <a:lnSpc>
                <a:spcPct val="110000"/>
              </a:lnSpc>
              <a:buNone/>
            </a:pPr>
            <a:r>
              <a:rPr lang="zh-CN" altLang="en-US" sz="900" dirty="0">
                <a:solidFill>
                  <a:schemeClr val="accent4"/>
                </a:solidFill>
              </a:rPr>
              <a:t>在</a:t>
            </a:r>
            <a:r>
              <a:rPr lang="en-US" altLang="zh-CN" sz="900" dirty="0">
                <a:solidFill>
                  <a:schemeClr val="accent4"/>
                </a:solidFill>
              </a:rPr>
              <a:t>315w+</a:t>
            </a:r>
            <a:r>
              <a:rPr lang="zh-CN" altLang="en-US" sz="900" dirty="0">
                <a:solidFill>
                  <a:schemeClr val="accent4"/>
                </a:solidFill>
              </a:rPr>
              <a:t>家的尾部商户中存在</a:t>
            </a:r>
            <a:r>
              <a:rPr lang="en-US" altLang="zh-CN" sz="900" dirty="0">
                <a:solidFill>
                  <a:schemeClr val="accent4"/>
                </a:solidFill>
              </a:rPr>
              <a:t>1w+</a:t>
            </a:r>
            <a:r>
              <a:rPr lang="zh-CN" altLang="en-US" sz="900" dirty="0">
                <a:solidFill>
                  <a:schemeClr val="accent4"/>
                </a:solidFill>
              </a:rPr>
              <a:t>高</a:t>
            </a:r>
            <a:r>
              <a:rPr lang="en-US" altLang="zh-CN" sz="900" dirty="0">
                <a:solidFill>
                  <a:schemeClr val="accent4"/>
                </a:solidFill>
              </a:rPr>
              <a:t>UV</a:t>
            </a:r>
            <a:r>
              <a:rPr lang="zh-CN" altLang="en-US" sz="900" dirty="0">
                <a:solidFill>
                  <a:schemeClr val="accent4"/>
                </a:solidFill>
              </a:rPr>
              <a:t>但低</a:t>
            </a:r>
            <a:r>
              <a:rPr lang="en-US" altLang="zh-CN" sz="900" dirty="0">
                <a:solidFill>
                  <a:schemeClr val="accent4"/>
                </a:solidFill>
              </a:rPr>
              <a:t>GTV</a:t>
            </a:r>
            <a:r>
              <a:rPr lang="zh-CN" altLang="en-US" sz="900" dirty="0">
                <a:solidFill>
                  <a:schemeClr val="accent4"/>
                </a:solidFill>
              </a:rPr>
              <a:t>非常差的门店，他们的套餐质量低，导致门店交易转化率低；如果可以推动商户优化套餐质量，有收益空间</a:t>
            </a:r>
          </a:p>
        </p:txBody>
      </p:sp>
      <p:sp>
        <p:nvSpPr>
          <p:cNvPr id="133" name="矩形 132"/>
          <p:cNvSpPr/>
          <p:nvPr/>
        </p:nvSpPr>
        <p:spPr>
          <a:xfrm>
            <a:off x="5331862" y="1293267"/>
            <a:ext cx="1285313" cy="399546"/>
          </a:xfrm>
          <a:prstGeom prst="rect">
            <a:avLst/>
          </a:prstGeom>
          <a:noFill/>
          <a:ln>
            <a:solidFill>
              <a:schemeClr val="accent4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1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8705" y="439479"/>
            <a:ext cx="4283020" cy="547945"/>
          </a:xfrm>
        </p:spPr>
        <p:txBody>
          <a:bodyPr>
            <a:normAutofit fontScale="90000"/>
          </a:bodyPr>
          <a:lstStyle/>
          <a:p>
            <a:r>
              <a:rPr kumimoji="1" lang="zh-CN" altLang="en-US" dirty="0"/>
              <a:t>规则问题：资产单一导致核心商户未上榜</a:t>
            </a:r>
          </a:p>
        </p:txBody>
      </p: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8705" y="381423"/>
            <a:ext cx="8584470" cy="547945"/>
          </a:xfrm>
        </p:spPr>
        <p:txBody>
          <a:bodyPr/>
          <a:lstStyle/>
          <a:p>
            <a:r>
              <a:rPr lang="zh-CN" altLang="en-US" dirty="0"/>
              <a:t>规则问题：对未上榜门店的机会探究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kumimoji="1" lang="zh-CN" altLang="en-US" dirty="0"/>
              <a:t>榜单规则问题</a:t>
            </a:r>
          </a:p>
        </p:txBody>
      </p:sp>
      <p:sp>
        <p:nvSpPr>
          <p:cNvPr id="5" name="内容占位符 2"/>
          <p:cNvSpPr>
            <a:spLocks noGrp="1"/>
          </p:cNvSpPr>
          <p:nvPr>
            <p:ph sz="quarter" idx="23"/>
          </p:nvPr>
        </p:nvSpPr>
        <p:spPr>
          <a:xfrm>
            <a:off x="252206" y="754403"/>
            <a:ext cx="8639588" cy="615950"/>
          </a:xfrm>
        </p:spPr>
        <p:txBody>
          <a:bodyPr>
            <a:normAutofit/>
          </a:bodyPr>
          <a:lstStyle/>
          <a:p>
            <a:r>
              <a:rPr lang="zh-CN" altLang="en-US" sz="1200" dirty="0"/>
              <a:t>当前未上榜门店主要三类划分，结合商户结构、当前供给问题、品牌等综合考虑与榜单联动的牵引思路。</a:t>
            </a:r>
            <a:endParaRPr lang="zh-CN" altLang="en-GB" sz="1200" dirty="0"/>
          </a:p>
        </p:txBody>
      </p:sp>
      <p:sp>
        <p:nvSpPr>
          <p:cNvPr id="8" name="米菲PPT32"/>
          <p:cNvSpPr/>
          <p:nvPr/>
        </p:nvSpPr>
        <p:spPr>
          <a:xfrm>
            <a:off x="585410" y="1045720"/>
            <a:ext cx="8069941" cy="21218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>
            <a:outerShdw blurRad="469900" dist="139700" dir="5400000" algn="t" rotWithShape="0">
              <a:srgbClr val="F57359">
                <a:alpha val="24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rPr>
              <a:t>高</a:t>
            </a:r>
            <a:r>
              <a:rPr kumimoji="0" lang="en-US" altLang="zh-CN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rPr>
              <a:t>UV</a:t>
            </a: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rPr>
              <a:t>未上榜门店分析</a:t>
            </a:r>
          </a:p>
        </p:txBody>
      </p:sp>
      <p:graphicFrame>
        <p:nvGraphicFramePr>
          <p:cNvPr id="12" name="表格 11"/>
          <p:cNvGraphicFramePr/>
          <p:nvPr>
            <p:custDataLst>
              <p:tags r:id="rId1"/>
            </p:custDataLst>
          </p:nvPr>
        </p:nvGraphicFramePr>
        <p:xfrm>
          <a:off x="585410" y="1293911"/>
          <a:ext cx="8069941" cy="37376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12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98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51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56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278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917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4182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4175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8457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800" b="1" dirty="0">
                          <a:solidFill>
                            <a:schemeClr val="tx1"/>
                          </a:solidFill>
                        </a:rPr>
                        <a:t>问题类型</a:t>
                      </a:r>
                    </a:p>
                  </a:txBody>
                  <a:tcPr marL="68580" marR="68580" marT="34290" marB="34290" anchor="ctr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3175" cmpd="sng">
                      <a:solidFill>
                        <a:schemeClr val="tx1"/>
                      </a:solidFill>
                      <a:prstDash val="sysDot"/>
                    </a:lnR>
                    <a:lnT w="3175" cmpd="sng">
                      <a:solidFill>
                        <a:schemeClr val="tx1"/>
                      </a:solidFill>
                      <a:prstDash val="sysDot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800" b="1" dirty="0">
                          <a:solidFill>
                            <a:schemeClr val="tx1"/>
                          </a:solidFill>
                        </a:rPr>
                        <a:t>店名</a:t>
                      </a: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mpd="sng">
                      <a:solidFill>
                        <a:schemeClr val="tx1"/>
                      </a:solidFill>
                      <a:prstDash val="sysDot"/>
                    </a:lnR>
                    <a:lnT w="3175" cmpd="sng">
                      <a:solidFill>
                        <a:schemeClr val="tx1"/>
                      </a:solidFill>
                      <a:prstDash val="sysDot"/>
                    </a:lnT>
                    <a:lnB w="3175" cmpd="sng">
                      <a:solidFill>
                        <a:schemeClr val="tx1"/>
                      </a:solidFill>
                      <a:prstDash val="sysDot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800" b="1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  <a:sym typeface="+mn-ea"/>
                        </a:rPr>
                        <a:t>月均</a:t>
                      </a:r>
                      <a:r>
                        <a:rPr lang="en-US" altLang="zh-CN" sz="800" b="1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  <a:sym typeface="+mn-ea"/>
                        </a:rPr>
                        <a:t>UV</a:t>
                      </a:r>
                      <a:endParaRPr lang="zh-CN" altLang="en-US" sz="800" b="1" dirty="0">
                        <a:solidFill>
                          <a:schemeClr val="tx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  <a:sym typeface="+mn-ea"/>
                      </a:endParaRPr>
                    </a:p>
                  </a:txBody>
                  <a:tcPr marL="68580" marR="68580" marT="34290" marB="34290" anchor="b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mpd="sng">
                      <a:solidFill>
                        <a:schemeClr val="tx1"/>
                      </a:solidFill>
                      <a:prstDash val="sysDot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800" b="1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  <a:sym typeface="+mn-ea"/>
                        </a:rPr>
                        <a:t>是否与美团合作</a:t>
                      </a:r>
                    </a:p>
                  </a:txBody>
                  <a:tcPr marL="68580" marR="68580" marT="34290" marB="34290" anchor="b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mpd="sng">
                      <a:solidFill>
                        <a:schemeClr val="tx1"/>
                      </a:solidFill>
                      <a:prstDash val="sysDot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800" b="1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  <a:sym typeface="+mn-ea"/>
                        </a:rPr>
                        <a:t>门店当前所属层级</a:t>
                      </a:r>
                    </a:p>
                  </a:txBody>
                  <a:tcPr marL="68580" marR="68580" marT="34290" marB="34290" anchor="b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mpd="sng">
                      <a:solidFill>
                        <a:schemeClr val="tx1"/>
                      </a:solidFill>
                      <a:prstDash val="sysDot"/>
                    </a:lnT>
                    <a:lnB w="3175" cmpd="sng">
                      <a:solidFill>
                        <a:schemeClr val="tx1"/>
                      </a:solidFill>
                      <a:prstDash val="sysDot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800" b="1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  <a:sym typeface="+mn-ea"/>
                        </a:rPr>
                        <a:t>是否与</a:t>
                      </a:r>
                      <a:r>
                        <a:rPr lang="en-US" altLang="zh-CN" sz="800" b="1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  <a:sym typeface="+mn-ea"/>
                        </a:rPr>
                        <a:t>D+</a:t>
                      </a:r>
                      <a:r>
                        <a:rPr lang="zh-CN" altLang="en-US" sz="800" b="1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  <a:sym typeface="+mn-ea"/>
                        </a:rPr>
                        <a:t>合作</a:t>
                      </a:r>
                    </a:p>
                  </a:txBody>
                  <a:tcPr marL="68580" marR="68580" marT="34290" marB="34290" anchor="b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mpd="sng">
                      <a:solidFill>
                        <a:schemeClr val="tx1"/>
                      </a:solidFill>
                      <a:prstDash val="sysDot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800" b="1" kern="12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  <a:sym typeface="+mn-ea"/>
                        </a:rPr>
                        <a:t>是否与</a:t>
                      </a:r>
                      <a:r>
                        <a:rPr lang="en-US" altLang="zh-CN" sz="800" b="1" kern="12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  <a:sym typeface="+mn-ea"/>
                        </a:rPr>
                        <a:t>B+</a:t>
                      </a:r>
                      <a:r>
                        <a:rPr lang="zh-CN" altLang="en-US" sz="800" b="1" kern="12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  <a:sym typeface="+mn-ea"/>
                        </a:rPr>
                        <a:t>合作</a:t>
                      </a:r>
                      <a:endParaRPr lang="zh-CN" altLang="en-US" sz="800" b="1" dirty="0">
                        <a:solidFill>
                          <a:schemeClr val="tx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  <a:sym typeface="+mn-ea"/>
                      </a:endParaRPr>
                    </a:p>
                  </a:txBody>
                  <a:tcPr marL="68580" marR="68580" marT="34290" marB="34290" anchor="b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mpd="sng">
                      <a:solidFill>
                        <a:schemeClr val="tx1"/>
                      </a:solidFill>
                      <a:prstDash val="sysDot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b="1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  <a:sym typeface="+mn-ea"/>
                        </a:rPr>
                        <a:t>榜单牵引思路（待完善）</a:t>
                      </a:r>
                    </a:p>
                  </a:txBody>
                  <a:tcPr marL="68580" marR="68580" marT="34290" marB="34290" anchor="b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3175" cmpd="sng">
                      <a:solidFill>
                        <a:schemeClr val="tx1"/>
                      </a:solidFill>
                      <a:prstDash val="sysDot"/>
                    </a:lnR>
                    <a:lnT w="3175" cmpd="sng">
                      <a:solidFill>
                        <a:schemeClr val="tx1"/>
                      </a:solidFill>
                      <a:prstDash val="sysDot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270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800" b="1" dirty="0">
                          <a:solidFill>
                            <a:schemeClr val="tx1"/>
                          </a:solidFill>
                        </a:rPr>
                        <a:t>①高</a:t>
                      </a:r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UV+</a:t>
                      </a:r>
                      <a:r>
                        <a:rPr lang="zh-CN" altLang="en-US" sz="800" b="1" dirty="0">
                          <a:solidFill>
                            <a:schemeClr val="tx1"/>
                          </a:solidFill>
                        </a:rPr>
                        <a:t>高</a:t>
                      </a:r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GTV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ctr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800" b="0" dirty="0">
                          <a:solidFill>
                            <a:schemeClr val="tx1"/>
                          </a:solidFill>
                        </a:rPr>
                        <a:t>御将军海鲜自助（徐州新都广场店）</a:t>
                      </a: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mpd="sng">
                      <a:solidFill>
                        <a:schemeClr val="tx1"/>
                      </a:solidFill>
                      <a:prstDash val="sysDot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800" b="0" dirty="0">
                          <a:solidFill>
                            <a:schemeClr val="tx1"/>
                          </a:solidFill>
                          <a:sym typeface="+mn-ea"/>
                        </a:rPr>
                        <a:t>3.0</a:t>
                      </a:r>
                      <a:r>
                        <a:rPr lang="zh-CN" altLang="en-US" sz="800" b="0" dirty="0">
                          <a:solidFill>
                            <a:schemeClr val="tx1"/>
                          </a:solidFill>
                          <a:sym typeface="+mn-ea"/>
                        </a:rPr>
                        <a:t>万</a:t>
                      </a: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800" b="0" dirty="0">
                          <a:solidFill>
                            <a:schemeClr val="tx1"/>
                          </a:solidFill>
                          <a:sym typeface="+mn-ea"/>
                        </a:rPr>
                        <a:t>是</a:t>
                      </a: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800" b="0" dirty="0">
                          <a:solidFill>
                            <a:schemeClr val="tx1"/>
                          </a:solidFill>
                          <a:sym typeface="+mn-ea"/>
                        </a:rPr>
                        <a:t>头部</a:t>
                      </a: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mpd="sng">
                      <a:solidFill>
                        <a:schemeClr val="tx1"/>
                      </a:solidFill>
                      <a:prstDash val="sysDot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b="0" dirty="0">
                          <a:solidFill>
                            <a:schemeClr val="tx1"/>
                          </a:solidFill>
                          <a:sym typeface="+mn-ea"/>
                        </a:rPr>
                        <a:t>是，上心动榜</a:t>
                      </a:r>
                      <a:endParaRPr lang="en-US" altLang="zh-CN" sz="800" b="0" dirty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 marL="76200" marR="76200" marT="9525" marB="9525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b="0" dirty="0">
                          <a:solidFill>
                            <a:schemeClr val="tx1"/>
                          </a:solidFill>
                          <a:sym typeface="+mn-ea"/>
                        </a:rPr>
                        <a:t>否，上状元榜</a:t>
                      </a:r>
                      <a:endParaRPr lang="en-US" altLang="zh-CN" sz="800" b="0" dirty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 marL="76200" marR="76200" marT="9525" marB="9525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b="0" dirty="0">
                          <a:solidFill>
                            <a:schemeClr val="tx1"/>
                          </a:solidFill>
                          <a:effectLst/>
                        </a:rPr>
                        <a:t>排查榜单门店空缺</a:t>
                      </a: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mpd="sng">
                      <a:solidFill>
                        <a:schemeClr val="tx1"/>
                      </a:solidFill>
                      <a:prstDash val="sysDot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2708">
                <a:tc rowSpan="4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b="1" dirty="0">
                          <a:solidFill>
                            <a:schemeClr val="tx1"/>
                          </a:solidFill>
                        </a:rPr>
                        <a:t>②高</a:t>
                      </a:r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UV+</a:t>
                      </a:r>
                      <a:r>
                        <a:rPr lang="zh-CN" altLang="en-US" sz="800" b="1" dirty="0">
                          <a:solidFill>
                            <a:schemeClr val="tx1"/>
                          </a:solidFill>
                        </a:rPr>
                        <a:t>未合作</a:t>
                      </a:r>
                    </a:p>
                  </a:txBody>
                  <a:tcPr marL="68580" marR="68580" marT="34290" marB="34290" anchor="ctr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3175" cmpd="sng">
                      <a:solidFill>
                        <a:schemeClr val="tx1"/>
                      </a:solidFill>
                      <a:prstDash val="sysDot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胡麻（上海静安嘉里店）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mpd="sng">
                      <a:solidFill>
                        <a:schemeClr val="tx1"/>
                      </a:solidFill>
                      <a:prstDash val="sysDot"/>
                    </a:lnR>
                    <a:lnT w="3175" cmpd="sng">
                      <a:solidFill>
                        <a:schemeClr val="tx1"/>
                      </a:solidFill>
                      <a:prstDash val="sysDot"/>
                    </a:lnT>
                    <a:lnB w="3175" cmpd="sng">
                      <a:solidFill>
                        <a:schemeClr val="tx1"/>
                      </a:solidFill>
                      <a:prstDash val="sysDot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800" b="0" dirty="0">
                          <a:solidFill>
                            <a:schemeClr val="tx1"/>
                          </a:solidFill>
                          <a:sym typeface="+mn-ea"/>
                        </a:rPr>
                        <a:t>15.1</a:t>
                      </a:r>
                      <a:r>
                        <a:rPr lang="zh-CN" altLang="en-US" sz="800" b="0" dirty="0">
                          <a:solidFill>
                            <a:schemeClr val="tx1"/>
                          </a:solidFill>
                          <a:sym typeface="+mn-ea"/>
                        </a:rPr>
                        <a:t>万</a:t>
                      </a:r>
                    </a:p>
                  </a:txBody>
                  <a:tcPr marL="68580" marR="68580" marT="34290" marB="34290" anchor="ctr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800" b="0" dirty="0">
                          <a:solidFill>
                            <a:schemeClr val="tx1"/>
                          </a:solidFill>
                          <a:sym typeface="+mn-ea"/>
                        </a:rPr>
                        <a:t>否</a:t>
                      </a:r>
                    </a:p>
                  </a:txBody>
                  <a:tcPr marL="68580" marR="68580" marT="34290" marB="34290" anchor="ctr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800" b="0" dirty="0">
                          <a:solidFill>
                            <a:schemeClr val="tx1"/>
                          </a:solidFill>
                          <a:sym typeface="+mn-ea"/>
                        </a:rPr>
                        <a:t>颈部</a:t>
                      </a:r>
                    </a:p>
                  </a:txBody>
                  <a:tcPr marL="68580" marR="68580" marT="34290" marB="34290" anchor="ctr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mpd="sng">
                      <a:solidFill>
                        <a:schemeClr val="tx1"/>
                      </a:solidFill>
                      <a:prstDash val="sysDot"/>
                    </a:lnT>
                    <a:lnB w="3175" cmpd="sng">
                      <a:solidFill>
                        <a:schemeClr val="tx1"/>
                      </a:solidFill>
                      <a:prstDash val="sysDot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b="0" dirty="0">
                          <a:solidFill>
                            <a:schemeClr val="tx1"/>
                          </a:solidFill>
                          <a:sym typeface="+mn-ea"/>
                        </a:rPr>
                        <a:t>否，未上心动榜</a:t>
                      </a:r>
                      <a:endParaRPr lang="en-US" altLang="zh-CN" sz="800" b="0" dirty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 marL="76200" marR="76200" marT="9525" marB="9525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b="0" dirty="0">
                          <a:solidFill>
                            <a:schemeClr val="tx1"/>
                          </a:solidFill>
                          <a:sym typeface="+mn-ea"/>
                        </a:rPr>
                        <a:t>否，上状元榜</a:t>
                      </a:r>
                      <a:endParaRPr lang="en-US" altLang="zh-CN" sz="800" b="0" dirty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 marL="76200" marR="76200" marT="9525" marB="9525" anchor="ctr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b="0" dirty="0">
                          <a:solidFill>
                            <a:schemeClr val="tx1"/>
                          </a:solidFill>
                          <a:effectLst/>
                        </a:rPr>
                        <a:t>价值证明，提供“</a:t>
                      </a:r>
                      <a:r>
                        <a:rPr lang="zh-CN" altLang="en-US" sz="800" b="1" dirty="0">
                          <a:solidFill>
                            <a:srgbClr val="FF0000"/>
                          </a:solidFill>
                          <a:effectLst/>
                        </a:rPr>
                        <a:t>数据诊断报告</a:t>
                      </a:r>
                      <a:r>
                        <a:rPr lang="zh-CN" altLang="en-US" sz="800" b="0" dirty="0">
                          <a:solidFill>
                            <a:schemeClr val="tx1"/>
                          </a:solidFill>
                          <a:effectLst/>
                        </a:rPr>
                        <a:t>”，进行流量孵化实验</a:t>
                      </a: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mpd="sng">
                      <a:solidFill>
                        <a:schemeClr val="tx1"/>
                      </a:solidFill>
                      <a:prstDash val="sysDot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2708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68580" marR="68580" marT="34290" marB="34290" anchor="ctr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笨罗卜浏阳菜馆（长沙多店）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mpd="sng">
                      <a:solidFill>
                        <a:schemeClr val="tx1"/>
                      </a:solidFill>
                      <a:prstDash val="sysDot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800" b="0" dirty="0">
                          <a:solidFill>
                            <a:schemeClr val="tx1"/>
                          </a:solidFill>
                          <a:effectLst/>
                        </a:rPr>
                        <a:t>14.6</a:t>
                      </a:r>
                      <a:r>
                        <a:rPr lang="zh-CN" altLang="en-US" sz="800" b="0" dirty="0">
                          <a:solidFill>
                            <a:schemeClr val="tx1"/>
                          </a:solidFill>
                          <a:effectLst/>
                        </a:rPr>
                        <a:t>万</a:t>
                      </a: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dirty="0">
                          <a:effectLst/>
                        </a:rPr>
                        <a:t>否</a:t>
                      </a: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dirty="0">
                          <a:effectLst/>
                        </a:rPr>
                        <a:t>颈部</a:t>
                      </a: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b="0" dirty="0">
                          <a:solidFill>
                            <a:schemeClr val="tx1"/>
                          </a:solidFill>
                          <a:sym typeface="+mn-ea"/>
                        </a:rPr>
                        <a:t>否，未上心动榜</a:t>
                      </a:r>
                      <a:endParaRPr lang="en-US" altLang="zh-CN" sz="800" b="0" dirty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 marL="76200" marR="76200" marT="9525" marB="9525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b="0" dirty="0">
                          <a:solidFill>
                            <a:schemeClr val="tx1"/>
                          </a:solidFill>
                          <a:sym typeface="+mn-ea"/>
                        </a:rPr>
                        <a:t>否，上状元榜</a:t>
                      </a:r>
                      <a:endParaRPr lang="en-US" altLang="zh-CN" sz="800" b="0" dirty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 marL="76200" marR="76200" marT="9525" marB="9525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dirty="0">
                          <a:effectLst/>
                        </a:rPr>
                        <a:t>竞争施压，做“</a:t>
                      </a:r>
                      <a:r>
                        <a:rPr lang="zh-CN" altLang="en-US" sz="800" b="1" dirty="0">
                          <a:solidFill>
                            <a:srgbClr val="FF0000"/>
                          </a:solidFill>
                          <a:effectLst/>
                        </a:rPr>
                        <a:t>品类造星</a:t>
                      </a:r>
                      <a:r>
                        <a:rPr lang="zh-CN" altLang="en-US" sz="800" dirty="0">
                          <a:effectLst/>
                        </a:rPr>
                        <a:t>”计划，打造同类新网红博弈</a:t>
                      </a: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mpd="sng">
                      <a:solidFill>
                        <a:schemeClr val="tx1"/>
                      </a:solidFill>
                      <a:prstDash val="sysDot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2848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68580" marR="68580" marT="34290" marB="34290" anchor="ctr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800" b="0" dirty="0">
                          <a:solidFill>
                            <a:schemeClr val="tx1"/>
                          </a:solidFill>
                        </a:rPr>
                        <a:t>凤临阁（大同）</a:t>
                      </a: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mpd="sng">
                      <a:solidFill>
                        <a:schemeClr val="tx1"/>
                      </a:solidFill>
                      <a:prstDash val="sysDot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800" b="0" dirty="0">
                          <a:solidFill>
                            <a:schemeClr val="tx1"/>
                          </a:solidFill>
                          <a:effectLst/>
                        </a:rPr>
                        <a:t>12.3</a:t>
                      </a:r>
                      <a:r>
                        <a:rPr lang="zh-CN" altLang="en-US" sz="800" b="0" dirty="0">
                          <a:solidFill>
                            <a:schemeClr val="tx1"/>
                          </a:solidFill>
                          <a:effectLst/>
                        </a:rPr>
                        <a:t>万</a:t>
                      </a:r>
                    </a:p>
                  </a:txBody>
                  <a:tcPr marL="76200" marR="76200" marT="9525" marB="9525" anchor="ctr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dirty="0">
                          <a:effectLst/>
                        </a:rPr>
                        <a:t>否</a:t>
                      </a:r>
                      <a:endParaRPr lang="en-US" altLang="zh-CN" sz="800" dirty="0">
                        <a:effectLst/>
                      </a:endParaRPr>
                    </a:p>
                  </a:txBody>
                  <a:tcPr marL="76200" marR="76200" marT="9525" marB="9525" anchor="ctr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dirty="0">
                          <a:effectLst/>
                        </a:rPr>
                        <a:t>颈部</a:t>
                      </a:r>
                      <a:endParaRPr lang="en-US" altLang="zh-CN" sz="800" dirty="0">
                        <a:effectLst/>
                      </a:endParaRPr>
                    </a:p>
                  </a:txBody>
                  <a:tcPr marL="76200" marR="76200" marT="9525" marB="9525" anchor="ctr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mpd="sng">
                      <a:solidFill>
                        <a:schemeClr val="tx1"/>
                      </a:solidFill>
                      <a:prstDash val="sysDot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b="0" dirty="0">
                          <a:solidFill>
                            <a:schemeClr val="tx1"/>
                          </a:solidFill>
                          <a:sym typeface="+mn-ea"/>
                        </a:rPr>
                        <a:t>否，上人气榜</a:t>
                      </a:r>
                      <a:endParaRPr lang="en-US" altLang="zh-CN" sz="800" b="0" dirty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 marL="76200" marR="76200" marT="9525" marB="9525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b="0" dirty="0">
                          <a:solidFill>
                            <a:schemeClr val="tx1"/>
                          </a:solidFill>
                          <a:sym typeface="+mn-ea"/>
                        </a:rPr>
                        <a:t>否，上状元榜</a:t>
                      </a:r>
                      <a:endParaRPr lang="en-US" altLang="zh-CN" sz="800" b="0" dirty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 marL="76200" marR="76200" marT="9525" marB="9525" anchor="ctr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b="0" dirty="0">
                          <a:solidFill>
                            <a:schemeClr val="tx1"/>
                          </a:solidFill>
                          <a:effectLst/>
                        </a:rPr>
                        <a:t>构建“</a:t>
                      </a:r>
                      <a:r>
                        <a:rPr lang="zh-CN" altLang="en-US" sz="800" b="1" dirty="0">
                          <a:solidFill>
                            <a:srgbClr val="FF0000"/>
                          </a:solidFill>
                          <a:effectLst/>
                        </a:rPr>
                        <a:t>榜单商家俱乐部</a:t>
                      </a:r>
                      <a:r>
                        <a:rPr lang="zh-CN" altLang="en-US" sz="800" b="0" dirty="0">
                          <a:solidFill>
                            <a:schemeClr val="tx1"/>
                          </a:solidFill>
                          <a:effectLst/>
                        </a:rPr>
                        <a:t>”，构建高端主厨峰会、打造明星旅游宣传片共创</a:t>
                      </a:r>
                    </a:p>
                  </a:txBody>
                  <a:tcPr marL="76200" marR="76200" marT="9525" marB="9525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mpd="sng">
                      <a:solidFill>
                        <a:schemeClr val="tx1"/>
                      </a:solidFill>
                      <a:prstDash val="sysDot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2708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68580" marR="68580" marT="34290" marB="34290" anchor="ctr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800" b="0" dirty="0">
                          <a:solidFill>
                            <a:schemeClr val="tx1"/>
                          </a:solidFill>
                        </a:rPr>
                        <a:t>浩海火烧云傣家菜（北京多店）</a:t>
                      </a: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mpd="sng">
                      <a:solidFill>
                        <a:schemeClr val="tx1"/>
                      </a:solidFill>
                      <a:prstDash val="sysDot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800" b="0" dirty="0">
                          <a:solidFill>
                            <a:schemeClr val="tx1"/>
                          </a:solidFill>
                          <a:effectLst/>
                        </a:rPr>
                        <a:t>9.2</a:t>
                      </a:r>
                      <a:r>
                        <a:rPr lang="zh-CN" altLang="en-US" sz="800" b="0" dirty="0">
                          <a:solidFill>
                            <a:schemeClr val="tx1"/>
                          </a:solidFill>
                          <a:effectLst/>
                        </a:rPr>
                        <a:t>万</a:t>
                      </a:r>
                    </a:p>
                  </a:txBody>
                  <a:tcPr marL="76200" marR="76200" marT="9525" marB="9525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dirty="0">
                          <a:effectLst/>
                        </a:rPr>
                        <a:t>否</a:t>
                      </a:r>
                      <a:endParaRPr lang="en-US" altLang="zh-CN" sz="800" dirty="0">
                        <a:effectLst/>
                      </a:endParaRPr>
                    </a:p>
                  </a:txBody>
                  <a:tcPr marL="76200" marR="76200" marT="9525" marB="9525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dirty="0">
                          <a:effectLst/>
                        </a:rPr>
                        <a:t>颈部</a:t>
                      </a:r>
                      <a:endParaRPr lang="en-US" altLang="zh-CN" sz="800" dirty="0">
                        <a:effectLst/>
                      </a:endParaRPr>
                    </a:p>
                  </a:txBody>
                  <a:tcPr marL="76200" marR="76200" marT="9525" marB="9525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mpd="sng">
                      <a:solidFill>
                        <a:schemeClr val="tx1"/>
                      </a:solidFill>
                      <a:prstDash val="sysDot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b="0" dirty="0">
                          <a:solidFill>
                            <a:schemeClr val="tx1"/>
                          </a:solidFill>
                          <a:sym typeface="+mn-ea"/>
                        </a:rPr>
                        <a:t>否，未上心动榜</a:t>
                      </a:r>
                      <a:endParaRPr lang="en-US" altLang="zh-CN" sz="800" b="0" dirty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 marL="76200" marR="76200" marT="9525" marB="9525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b="0" dirty="0">
                          <a:solidFill>
                            <a:schemeClr val="tx1"/>
                          </a:solidFill>
                          <a:sym typeface="+mn-ea"/>
                        </a:rPr>
                        <a:t>否，上状元榜</a:t>
                      </a:r>
                      <a:endParaRPr lang="en-US" altLang="zh-CN" sz="800" b="0" dirty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 marL="76200" marR="76200" marT="9525" marB="9525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dirty="0">
                          <a:effectLst/>
                        </a:rPr>
                        <a:t>资源置换，迎合品牌需求，</a:t>
                      </a:r>
                      <a:r>
                        <a:rPr lang="zh-CN" altLang="en-US" sz="800" b="1" dirty="0">
                          <a:solidFill>
                            <a:srgbClr val="FF0000"/>
                          </a:solidFill>
                          <a:effectLst/>
                        </a:rPr>
                        <a:t>榜单</a:t>
                      </a:r>
                      <a:r>
                        <a:rPr lang="en-US" altLang="zh-CN" sz="800" b="1" dirty="0">
                          <a:solidFill>
                            <a:srgbClr val="FF0000"/>
                          </a:solidFill>
                          <a:effectLst/>
                        </a:rPr>
                        <a:t>+</a:t>
                      </a:r>
                      <a:r>
                        <a:rPr lang="zh-CN" altLang="en-US" sz="800" b="1" dirty="0">
                          <a:solidFill>
                            <a:srgbClr val="FF0000"/>
                          </a:solidFill>
                          <a:effectLst/>
                        </a:rPr>
                        <a:t>履约产品提效</a:t>
                      </a:r>
                    </a:p>
                  </a:txBody>
                  <a:tcPr marL="76200" marR="76200" marT="9525" marB="9525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mpd="sng">
                      <a:solidFill>
                        <a:schemeClr val="tx1"/>
                      </a:solidFill>
                      <a:prstDash val="sysDot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0510">
                <a:tc rowSpan="5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800" b="1" dirty="0">
                          <a:solidFill>
                            <a:schemeClr val="tx1"/>
                          </a:solidFill>
                        </a:rPr>
                        <a:t>③高</a:t>
                      </a:r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UV+</a:t>
                      </a:r>
                      <a:r>
                        <a:rPr lang="zh-CN" altLang="en-US" sz="800" b="1" dirty="0">
                          <a:solidFill>
                            <a:schemeClr val="tx1"/>
                          </a:solidFill>
                        </a:rPr>
                        <a:t>低</a:t>
                      </a:r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GTV</a:t>
                      </a:r>
                      <a:endParaRPr lang="zh-CN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ctr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mpd="sng">
                      <a:solidFill>
                        <a:schemeClr val="tx1"/>
                      </a:solidFill>
                      <a:prstDash val="sysDot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800" b="0" dirty="0">
                          <a:solidFill>
                            <a:schemeClr val="tx1"/>
                          </a:solidFill>
                        </a:rPr>
                        <a:t>清平饭店</a:t>
                      </a:r>
                      <a:r>
                        <a:rPr lang="en-US" altLang="zh-CN" sz="800" b="0" dirty="0">
                          <a:solidFill>
                            <a:schemeClr val="tx1"/>
                          </a:solidFill>
                        </a:rPr>
                        <a:t>•</a:t>
                      </a:r>
                      <a:r>
                        <a:rPr lang="zh-CN" altLang="en-US" sz="800" b="0" dirty="0">
                          <a:solidFill>
                            <a:schemeClr val="tx1"/>
                          </a:solidFill>
                        </a:rPr>
                        <a:t>广州第一鸡（陈家祠店）</a:t>
                      </a: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800" b="0" dirty="0">
                          <a:solidFill>
                            <a:schemeClr val="tx1"/>
                          </a:solidFill>
                          <a:effectLst/>
                        </a:rPr>
                        <a:t>6.2</a:t>
                      </a:r>
                      <a:r>
                        <a:rPr lang="zh-CN" altLang="en-US" sz="800" b="0" dirty="0">
                          <a:solidFill>
                            <a:schemeClr val="tx1"/>
                          </a:solidFill>
                          <a:effectLst/>
                        </a:rPr>
                        <a:t>万</a:t>
                      </a:r>
                    </a:p>
                  </a:txBody>
                  <a:tcPr marL="76200" marR="76200" marT="9525" marB="9525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dirty="0">
                          <a:effectLst/>
                        </a:rPr>
                        <a:t>是，上线两个套餐</a:t>
                      </a:r>
                      <a:endParaRPr lang="en-US" altLang="zh-CN" sz="800" dirty="0">
                        <a:effectLst/>
                      </a:endParaRPr>
                    </a:p>
                  </a:txBody>
                  <a:tcPr marL="76200" marR="76200" marT="9525" marB="9525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dirty="0">
                          <a:effectLst/>
                        </a:rPr>
                        <a:t>颈部</a:t>
                      </a:r>
                      <a:endParaRPr lang="en-US" altLang="zh-CN" sz="800" dirty="0">
                        <a:effectLst/>
                      </a:endParaRPr>
                    </a:p>
                  </a:txBody>
                  <a:tcPr marL="76200" marR="76200" marT="9525" marB="9525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b="0" dirty="0">
                          <a:solidFill>
                            <a:schemeClr val="tx1"/>
                          </a:solidFill>
                          <a:sym typeface="+mn-ea"/>
                        </a:rPr>
                        <a:t>是，抖音上线</a:t>
                      </a:r>
                      <a:r>
                        <a:rPr lang="en-US" altLang="zh-CN" sz="800" b="0" dirty="0">
                          <a:solidFill>
                            <a:schemeClr val="tx1"/>
                          </a:solidFill>
                          <a:sym typeface="+mn-ea"/>
                        </a:rPr>
                        <a:t>5</a:t>
                      </a:r>
                      <a:r>
                        <a:rPr lang="zh-CN" altLang="en-US" sz="800" b="0" dirty="0">
                          <a:solidFill>
                            <a:schemeClr val="tx1"/>
                          </a:solidFill>
                          <a:sym typeface="+mn-ea"/>
                        </a:rPr>
                        <a:t>个套餐，美团价格</a:t>
                      </a:r>
                      <a:r>
                        <a:rPr lang="en-US" altLang="zh-CN" sz="800" b="0" dirty="0">
                          <a:solidFill>
                            <a:schemeClr val="tx1"/>
                          </a:solidFill>
                          <a:sym typeface="+mn-ea"/>
                        </a:rPr>
                        <a:t>lose</a:t>
                      </a:r>
                      <a:r>
                        <a:rPr lang="zh-CN" altLang="en-US" sz="800" b="0" dirty="0">
                          <a:solidFill>
                            <a:schemeClr val="tx1"/>
                          </a:solidFill>
                          <a:sym typeface="+mn-ea"/>
                        </a:rPr>
                        <a:t>，上评鉴官推荐</a:t>
                      </a:r>
                      <a:endParaRPr lang="en-US" altLang="zh-CN" sz="800" b="0" dirty="0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800" b="0" dirty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 marL="76200" marR="76200" marT="9525" marB="9525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b="0" dirty="0">
                          <a:solidFill>
                            <a:schemeClr val="tx1"/>
                          </a:solidFill>
                          <a:sym typeface="+mn-ea"/>
                        </a:rPr>
                        <a:t>否，上扫街榜</a:t>
                      </a:r>
                      <a:endParaRPr lang="en-US" altLang="zh-CN" sz="800" b="0" dirty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 marL="76200" marR="76200" marT="9525" marB="9525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dirty="0">
                          <a:effectLst/>
                        </a:rPr>
                        <a:t>补充更多高销套餐，</a:t>
                      </a:r>
                      <a:r>
                        <a:rPr lang="en-US" altLang="zh-CN" sz="800" dirty="0">
                          <a:effectLst/>
                        </a:rPr>
                        <a:t>beat</a:t>
                      </a:r>
                      <a:r>
                        <a:rPr lang="zh-CN" altLang="en-US" sz="800" dirty="0">
                          <a:effectLst/>
                        </a:rPr>
                        <a:t>竞对</a:t>
                      </a:r>
                    </a:p>
                  </a:txBody>
                  <a:tcPr marL="76200" marR="76200" marT="9525" marB="9525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mpd="sng">
                      <a:solidFill>
                        <a:schemeClr val="tx1"/>
                      </a:solidFill>
                      <a:prstDash val="sysDot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4718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68580" marR="68580" marT="34290" marB="34290" anchor="ctr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800" b="0" dirty="0">
                          <a:solidFill>
                            <a:schemeClr val="tx1"/>
                          </a:solidFill>
                        </a:rPr>
                        <a:t>北京大槐树烤肉馆</a:t>
                      </a: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mpd="sng">
                      <a:solidFill>
                        <a:schemeClr val="tx1"/>
                      </a:solidFill>
                      <a:prstDash val="sysDot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800" b="0" dirty="0">
                          <a:solidFill>
                            <a:schemeClr val="tx1"/>
                          </a:solidFill>
                          <a:effectLst/>
                        </a:rPr>
                        <a:t>7.5</a:t>
                      </a:r>
                      <a:r>
                        <a:rPr lang="zh-CN" altLang="en-US" sz="800" b="0" dirty="0">
                          <a:solidFill>
                            <a:schemeClr val="tx1"/>
                          </a:solidFill>
                          <a:effectLst/>
                        </a:rPr>
                        <a:t>万</a:t>
                      </a:r>
                    </a:p>
                  </a:txBody>
                  <a:tcPr marL="76200" marR="76200" marT="9525" marB="9525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dirty="0">
                          <a:effectLst/>
                        </a:rPr>
                        <a:t>是，仅上线买单满减</a:t>
                      </a:r>
                      <a:endParaRPr lang="en-US" altLang="zh-CN" sz="800" dirty="0">
                        <a:effectLst/>
                      </a:endParaRPr>
                    </a:p>
                  </a:txBody>
                  <a:tcPr marL="76200" marR="76200" marT="9525" marB="9525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dirty="0">
                          <a:effectLst/>
                        </a:rPr>
                        <a:t>颈部</a:t>
                      </a:r>
                      <a:endParaRPr lang="en-US" altLang="zh-CN" sz="800" dirty="0">
                        <a:effectLst/>
                      </a:endParaRPr>
                    </a:p>
                  </a:txBody>
                  <a:tcPr marL="76200" marR="76200" marT="9525" marB="9525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mpd="sng">
                      <a:solidFill>
                        <a:schemeClr val="tx1"/>
                      </a:solidFill>
                      <a:prstDash val="sysDot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b="0" dirty="0">
                          <a:solidFill>
                            <a:schemeClr val="tx1"/>
                          </a:solidFill>
                          <a:sym typeface="+mn-ea"/>
                        </a:rPr>
                        <a:t>否，上人气榜</a:t>
                      </a:r>
                      <a:endParaRPr lang="en-US" altLang="zh-CN" sz="800" b="0" dirty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 marL="76200" marR="76200" marT="9525" marB="9525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dirty="0">
                          <a:effectLst/>
                        </a:rPr>
                        <a:t>否，上状元榜</a:t>
                      </a:r>
                      <a:endParaRPr lang="en-US" altLang="zh-CN" sz="800" dirty="0">
                        <a:effectLst/>
                      </a:endParaRPr>
                    </a:p>
                  </a:txBody>
                  <a:tcPr marL="76200" marR="76200" marT="9525" marB="9525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dirty="0">
                          <a:effectLst/>
                        </a:rPr>
                        <a:t>完善套餐达成上榜</a:t>
                      </a:r>
                    </a:p>
                  </a:txBody>
                  <a:tcPr marL="76200" marR="76200" marT="9525" marB="9525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mpd="sng">
                      <a:solidFill>
                        <a:schemeClr val="tx1"/>
                      </a:solidFill>
                      <a:prstDash val="sysDot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2051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68580" marR="68580" marT="34290" marB="34290" anchor="ctr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800" b="0" dirty="0">
                          <a:solidFill>
                            <a:schemeClr val="tx1"/>
                          </a:solidFill>
                        </a:rPr>
                        <a:t>阿元来了（上海静安寺店、大悦城店）</a:t>
                      </a: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mpd="sng">
                      <a:solidFill>
                        <a:schemeClr val="tx1"/>
                      </a:solidFill>
                      <a:prstDash val="sysDot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800" b="0" dirty="0">
                          <a:solidFill>
                            <a:schemeClr val="tx1"/>
                          </a:solidFill>
                          <a:effectLst/>
                        </a:rPr>
                        <a:t>5.8</a:t>
                      </a:r>
                      <a:r>
                        <a:rPr lang="zh-CN" altLang="en-US" sz="800" b="0" dirty="0">
                          <a:solidFill>
                            <a:schemeClr val="tx1"/>
                          </a:solidFill>
                          <a:effectLst/>
                        </a:rPr>
                        <a:t>万</a:t>
                      </a:r>
                    </a:p>
                  </a:txBody>
                  <a:tcPr marL="76200" marR="76200" marT="9525" marB="9525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dirty="0">
                          <a:effectLst/>
                        </a:rPr>
                        <a:t>是，仅上线青岛啤酒</a:t>
                      </a:r>
                      <a:endParaRPr lang="en-US" altLang="zh-CN" sz="800" dirty="0">
                        <a:effectLst/>
                      </a:endParaRPr>
                    </a:p>
                  </a:txBody>
                  <a:tcPr marL="76200" marR="76200" marT="9525" marB="9525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dirty="0">
                          <a:effectLst/>
                        </a:rPr>
                        <a:t>尾部</a:t>
                      </a:r>
                      <a:endParaRPr lang="en-US" altLang="zh-CN" sz="800" dirty="0">
                        <a:effectLst/>
                      </a:endParaRPr>
                    </a:p>
                  </a:txBody>
                  <a:tcPr marL="76200" marR="76200" marT="9525" marB="9525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mpd="sng">
                      <a:solidFill>
                        <a:schemeClr val="tx1"/>
                      </a:solidFill>
                      <a:prstDash val="sysDot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b="0" dirty="0">
                          <a:solidFill>
                            <a:schemeClr val="tx1"/>
                          </a:solidFill>
                          <a:sym typeface="+mn-ea"/>
                        </a:rPr>
                        <a:t>是，且</a:t>
                      </a:r>
                      <a:r>
                        <a:rPr lang="en-US" altLang="zh-CN" sz="800" b="0" dirty="0">
                          <a:solidFill>
                            <a:schemeClr val="tx1"/>
                          </a:solidFill>
                          <a:sym typeface="+mn-ea"/>
                        </a:rPr>
                        <a:t>D+</a:t>
                      </a:r>
                      <a:r>
                        <a:rPr lang="zh-CN" altLang="en-US" sz="800" b="0" dirty="0">
                          <a:solidFill>
                            <a:schemeClr val="tx1"/>
                          </a:solidFill>
                          <a:sym typeface="+mn-ea"/>
                        </a:rPr>
                        <a:t>有招牌卤肉饭套餐，但美团侧无，未上心动榜</a:t>
                      </a:r>
                      <a:endParaRPr lang="en-US" altLang="zh-CN" sz="800" b="0" dirty="0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800" b="0" dirty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 marL="76200" marR="76200" marT="9525" marB="9525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dirty="0">
                          <a:effectLst/>
                        </a:rPr>
                        <a:t>否，未上榜</a:t>
                      </a:r>
                      <a:endParaRPr lang="en-US" altLang="zh-CN" sz="800" dirty="0">
                        <a:effectLst/>
                      </a:endParaRPr>
                    </a:p>
                  </a:txBody>
                  <a:tcPr marL="76200" marR="76200" marT="9525" marB="9525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dirty="0">
                          <a:effectLst/>
                        </a:rPr>
                        <a:t>补充核心菜品套餐，完善合作实现上榜</a:t>
                      </a:r>
                    </a:p>
                  </a:txBody>
                  <a:tcPr marL="76200" marR="76200" marT="9525" marB="9525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mpd="sng">
                      <a:solidFill>
                        <a:schemeClr val="tx1"/>
                      </a:solidFill>
                      <a:prstDash val="sysDot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4718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68580" marR="68580" marT="34290" marB="34290" anchor="ctr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800" b="0" dirty="0">
                          <a:solidFill>
                            <a:schemeClr val="tx1"/>
                          </a:solidFill>
                        </a:rPr>
                        <a:t>Meraki189 </a:t>
                      </a:r>
                      <a:r>
                        <a:rPr lang="zh-CN" altLang="en-US" sz="800" b="0" dirty="0">
                          <a:solidFill>
                            <a:schemeClr val="tx1"/>
                          </a:solidFill>
                        </a:rPr>
                        <a:t>麻吉（上海）</a:t>
                      </a: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mpd="sng">
                      <a:solidFill>
                        <a:schemeClr val="tx1"/>
                      </a:solidFill>
                      <a:prstDash val="sysDot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800" b="0" dirty="0">
                          <a:solidFill>
                            <a:schemeClr val="tx1"/>
                          </a:solidFill>
                          <a:effectLst/>
                        </a:rPr>
                        <a:t>5.1</a:t>
                      </a:r>
                      <a:r>
                        <a:rPr lang="zh-CN" altLang="en-US" sz="800" b="0" dirty="0">
                          <a:solidFill>
                            <a:schemeClr val="tx1"/>
                          </a:solidFill>
                          <a:effectLst/>
                        </a:rPr>
                        <a:t>万</a:t>
                      </a:r>
                    </a:p>
                  </a:txBody>
                  <a:tcPr marL="76200" marR="76200" marT="9525" marB="9525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dirty="0">
                          <a:effectLst/>
                        </a:rPr>
                        <a:t>是，仅上线微醺精酿</a:t>
                      </a:r>
                      <a:endParaRPr lang="en-US" altLang="zh-CN" sz="800" dirty="0">
                        <a:effectLst/>
                      </a:endParaRPr>
                    </a:p>
                  </a:txBody>
                  <a:tcPr marL="76200" marR="76200" marT="9525" marB="9525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dirty="0">
                          <a:effectLst/>
                        </a:rPr>
                        <a:t>尾部</a:t>
                      </a:r>
                      <a:endParaRPr lang="en-US" altLang="zh-CN" sz="800" dirty="0">
                        <a:effectLst/>
                      </a:endParaRPr>
                    </a:p>
                  </a:txBody>
                  <a:tcPr marL="76200" marR="76200" marT="9525" marB="9525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mpd="sng">
                      <a:solidFill>
                        <a:schemeClr val="tx1"/>
                      </a:solidFill>
                      <a:prstDash val="sysDot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b="0" dirty="0">
                          <a:solidFill>
                            <a:schemeClr val="tx1"/>
                          </a:solidFill>
                          <a:sym typeface="+mn-ea"/>
                        </a:rPr>
                        <a:t>否，未上心动榜</a:t>
                      </a:r>
                      <a:endParaRPr lang="en-US" altLang="zh-CN" sz="800" b="0" dirty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 marL="76200" marR="76200" marT="9525" marB="9525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dirty="0">
                          <a:effectLst/>
                        </a:rPr>
                        <a:t>否，上扫街榜</a:t>
                      </a:r>
                      <a:endParaRPr lang="en-US" altLang="zh-CN" sz="800" dirty="0">
                        <a:effectLst/>
                      </a:endParaRPr>
                    </a:p>
                  </a:txBody>
                  <a:tcPr marL="76200" marR="76200" marT="9525" marB="9525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dirty="0">
                          <a:effectLst/>
                        </a:rPr>
                        <a:t>补充核心菜品套餐，完善合作实现上榜</a:t>
                      </a:r>
                    </a:p>
                  </a:txBody>
                  <a:tcPr marL="76200" marR="76200" marT="9525" marB="9525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mpd="sng">
                      <a:solidFill>
                        <a:schemeClr val="tx1"/>
                      </a:solidFill>
                      <a:prstDash val="sysDot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2708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68580" marR="68580" marT="34290" marB="34290" anchor="ctr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mpd="sng">
                      <a:solidFill>
                        <a:schemeClr val="tx1"/>
                      </a:solidFill>
                      <a:prstDash val="sysDot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800" b="0" dirty="0">
                          <a:solidFill>
                            <a:schemeClr val="tx1"/>
                          </a:solidFill>
                        </a:rPr>
                        <a:t>Mercadito 166·</a:t>
                      </a:r>
                      <a:r>
                        <a:rPr lang="zh-CN" altLang="en-US" sz="800" b="0" dirty="0">
                          <a:solidFill>
                            <a:schemeClr val="tx1"/>
                          </a:solidFill>
                        </a:rPr>
                        <a:t>西班牙茶餐厅</a:t>
                      </a:r>
                      <a:r>
                        <a:rPr lang="en-US" altLang="zh-CN" sz="8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zh-CN" altLang="en-US" sz="800" b="0" dirty="0">
                          <a:solidFill>
                            <a:schemeClr val="tx1"/>
                          </a:solidFill>
                        </a:rPr>
                        <a:t>港汇恒隆广场店</a:t>
                      </a:r>
                      <a:r>
                        <a:rPr lang="en-US" altLang="zh-CN" sz="8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zh-CN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mpd="sng">
                      <a:solidFill>
                        <a:schemeClr val="tx1"/>
                      </a:solidFill>
                      <a:prstDash val="sysDot"/>
                    </a:lnT>
                    <a:lnB w="3175" cmpd="sng">
                      <a:solidFill>
                        <a:schemeClr val="tx1"/>
                      </a:solidFill>
                      <a:prstDash val="sysDot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800" b="0" dirty="0">
                          <a:solidFill>
                            <a:schemeClr val="tx1"/>
                          </a:solidFill>
                          <a:effectLst/>
                        </a:rPr>
                        <a:t>4.0</a:t>
                      </a:r>
                      <a:r>
                        <a:rPr lang="zh-CN" altLang="en-US" sz="800" b="0" dirty="0">
                          <a:solidFill>
                            <a:schemeClr val="tx1"/>
                          </a:solidFill>
                          <a:effectLst/>
                        </a:rPr>
                        <a:t>万</a:t>
                      </a:r>
                    </a:p>
                  </a:txBody>
                  <a:tcPr marL="76200" marR="76200" marT="9525" marB="9525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dirty="0">
                          <a:effectLst/>
                        </a:rPr>
                        <a:t>是，仅上线单一套餐，销量差</a:t>
                      </a:r>
                      <a:endParaRPr lang="en-US" altLang="zh-CN" sz="800" dirty="0">
                        <a:effectLst/>
                      </a:endParaRPr>
                    </a:p>
                  </a:txBody>
                  <a:tcPr marL="76200" marR="76200" marT="9525" marB="9525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mpd="sng">
                      <a:solidFill>
                        <a:schemeClr val="tx1"/>
                      </a:solidFill>
                      <a:prstDash val="sysDot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dirty="0">
                          <a:effectLst/>
                        </a:rPr>
                        <a:t>尾部</a:t>
                      </a:r>
                      <a:endParaRPr lang="en-US" altLang="zh-CN" sz="800" dirty="0">
                        <a:effectLst/>
                      </a:endParaRPr>
                    </a:p>
                  </a:txBody>
                  <a:tcPr marL="76200" marR="76200" marT="9525" marB="9525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mpd="sng">
                      <a:solidFill>
                        <a:schemeClr val="tx1"/>
                      </a:solidFill>
                      <a:prstDash val="sysDot"/>
                    </a:lnT>
                    <a:lnB w="3175" cmpd="sng">
                      <a:solidFill>
                        <a:schemeClr val="tx1"/>
                      </a:solidFill>
                      <a:prstDash val="sysDot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b="0" dirty="0">
                          <a:solidFill>
                            <a:schemeClr val="tx1"/>
                          </a:solidFill>
                          <a:sym typeface="+mn-ea"/>
                        </a:rPr>
                        <a:t>是，抖音和美团上线同款套餐，价格</a:t>
                      </a:r>
                      <a:r>
                        <a:rPr lang="en-US" altLang="zh-CN" sz="800" b="0" dirty="0">
                          <a:solidFill>
                            <a:schemeClr val="tx1"/>
                          </a:solidFill>
                          <a:sym typeface="+mn-ea"/>
                        </a:rPr>
                        <a:t>match</a:t>
                      </a:r>
                      <a:r>
                        <a:rPr lang="zh-CN" altLang="en-US" sz="800" b="0" dirty="0">
                          <a:solidFill>
                            <a:schemeClr val="tx1"/>
                          </a:solidFill>
                          <a:sym typeface="+mn-ea"/>
                        </a:rPr>
                        <a:t>，未上心动榜</a:t>
                      </a:r>
                      <a:endParaRPr lang="en-US" altLang="zh-CN" sz="800" b="0" dirty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 marL="76200" marR="76200" marT="9525" marB="9525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dirty="0">
                          <a:effectLst/>
                        </a:rPr>
                        <a:t>否，未上榜</a:t>
                      </a:r>
                      <a:endParaRPr lang="en-US" altLang="zh-CN" sz="800" dirty="0">
                        <a:effectLst/>
                      </a:endParaRPr>
                    </a:p>
                  </a:txBody>
                  <a:tcPr marL="76200" marR="76200" marT="9525" marB="9525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dirty="0">
                          <a:effectLst/>
                        </a:rPr>
                        <a:t>补充更多高销套餐，</a:t>
                      </a:r>
                      <a:r>
                        <a:rPr lang="en-US" altLang="zh-CN" sz="800" dirty="0">
                          <a:effectLst/>
                        </a:rPr>
                        <a:t>beat</a:t>
                      </a:r>
                      <a:r>
                        <a:rPr lang="zh-CN" altLang="en-US" sz="800" dirty="0">
                          <a:effectLst/>
                        </a:rPr>
                        <a:t>竞对</a:t>
                      </a:r>
                    </a:p>
                  </a:txBody>
                  <a:tcPr marL="76200" marR="76200" marT="9525" marB="9525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mpd="sng">
                      <a:solidFill>
                        <a:schemeClr val="tx1"/>
                      </a:solidFill>
                      <a:prstDash val="sysDot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0025" y="1567543"/>
            <a:ext cx="2758782" cy="2859512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0071" y="3241262"/>
            <a:ext cx="441340" cy="375137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规则问题：对上榜门店的价格带影响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kumimoji="1" lang="zh-CN" altLang="en-US" dirty="0"/>
              <a:t>榜单规则问题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181280" y="1623368"/>
            <a:ext cx="2478038" cy="301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楷体" panose="02010609060101010101" pitchFamily="49" charset="-122"/>
                <a:cs typeface="+mn-cs"/>
              </a:rPr>
              <a:t>对比各不同竞对价格带榜单：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楷体" panose="02010609060101010101" pitchFamily="49" charset="-122"/>
              <a:cs typeface="+mn-cs"/>
            </a:endParaRPr>
          </a:p>
          <a:p>
            <a:pPr lvl="1">
              <a:defRPr/>
            </a:pPr>
            <a:r>
              <a:rPr lang="zh-CN" altLang="en-US" sz="1000" dirty="0">
                <a:solidFill>
                  <a:srgbClr val="000000"/>
                </a:solidFill>
                <a:latin typeface="Calibri" panose="020F0502020204030204"/>
                <a:ea typeface="楷体" panose="02010609060101010101" pitchFamily="49" charset="-122"/>
              </a:rPr>
              <a:t>美团榜单总体停留在低价格带，而黑珍珠价格带过高，故介于均价在</a:t>
            </a:r>
            <a:r>
              <a:rPr lang="en-US" altLang="zh-CN" sz="1000" dirty="0">
                <a:solidFill>
                  <a:srgbClr val="000000"/>
                </a:solidFill>
                <a:latin typeface="Calibri" panose="020F0502020204030204"/>
                <a:ea typeface="楷体" panose="02010609060101010101" pitchFamily="49" charset="-122"/>
              </a:rPr>
              <a:t>100-500</a:t>
            </a:r>
            <a:r>
              <a:rPr lang="zh-CN" altLang="en-US" sz="1000" dirty="0">
                <a:solidFill>
                  <a:srgbClr val="000000"/>
                </a:solidFill>
                <a:latin typeface="Calibri" panose="020F0502020204030204"/>
                <a:ea typeface="楷体" panose="02010609060101010101" pitchFamily="49" charset="-122"/>
              </a:rPr>
              <a:t>元区间内为主的榜单暂时较为空白，而</a:t>
            </a:r>
            <a:r>
              <a:rPr lang="en-US" altLang="zh-CN" sz="1000" dirty="0">
                <a:solidFill>
                  <a:srgbClr val="000000"/>
                </a:solidFill>
                <a:latin typeface="Calibri" panose="020F0502020204030204"/>
                <a:ea typeface="楷体" panose="02010609060101010101" pitchFamily="49" charset="-122"/>
              </a:rPr>
              <a:t>D+</a:t>
            </a:r>
            <a:r>
              <a:rPr lang="zh-CN" altLang="en-US" sz="1000" dirty="0">
                <a:solidFill>
                  <a:srgbClr val="000000"/>
                </a:solidFill>
                <a:latin typeface="Calibri" panose="020F0502020204030204"/>
                <a:ea typeface="楷体" panose="02010609060101010101" pitchFamily="49" charset="-122"/>
              </a:rPr>
              <a:t>有心动榜作为平价榜，甄选榜作为品质榜，均更符合价格需求。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楷体" panose="02010609060101010101" pitchFamily="49" charset="-122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lang="en-US" altLang="zh-CN" sz="1000" dirty="0">
              <a:solidFill>
                <a:srgbClr val="000000"/>
              </a:solidFill>
              <a:latin typeface="Calibri" panose="020F0502020204030204"/>
              <a:ea typeface="楷体" panose="02010609060101010101" pitchFamily="49" charset="-122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楷体" panose="02010609060101010101" pitchFamily="49" charset="-122"/>
                <a:cs typeface="+mn-cs"/>
              </a:rPr>
              <a:t>品类价格带离散度较高，导致榜单有失公允：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楷体" panose="02010609060101010101" pitchFamily="49" charset="-122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楷体" panose="02010609060101010101" pitchFamily="49" charset="-122"/>
              <a:cs typeface="+mn-cs"/>
            </a:endParaRPr>
          </a:p>
          <a:p>
            <a:pPr lvl="1"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楷体" panose="02010609060101010101" pitchFamily="49" charset="-122"/>
                <a:cs typeface="+mn-cs"/>
              </a:rPr>
              <a:t>大盘中客单价大于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楷体" panose="02010609060101010101" pitchFamily="49" charset="-122"/>
                <a:cs typeface="+mn-cs"/>
              </a:rPr>
              <a:t>150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楷体" panose="02010609060101010101" pitchFamily="49" charset="-122"/>
                <a:cs typeface="+mn-cs"/>
              </a:rPr>
              <a:t>元门店在日料、异国料理、西餐、自助、鱼鲜海鲜、江浙菜、粤菜品类下门店数量占比相对更高，但上榜门店中品质型和商务型门店数量占比在异域料理、鱼鲜海鲜品类上有明显不足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楷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11" name="内容占位符 2"/>
          <p:cNvSpPr>
            <a:spLocks noGrp="1"/>
          </p:cNvSpPr>
          <p:nvPr>
            <p:ph sz="quarter" idx="23"/>
          </p:nvPr>
        </p:nvSpPr>
        <p:spPr>
          <a:xfrm>
            <a:off x="252194" y="870024"/>
            <a:ext cx="8639588" cy="613957"/>
          </a:xfrm>
        </p:spPr>
        <p:txBody>
          <a:bodyPr>
            <a:normAutofit fontScale="80000" lnSpcReduction="20000"/>
          </a:bodyPr>
          <a:lstStyle/>
          <a:p>
            <a:r>
              <a:rPr lang="zh-CN" altLang="en-US" dirty="0"/>
              <a:t>当前榜单门店价格带偏低：对比</a:t>
            </a:r>
            <a:r>
              <a:rPr lang="en-US" altLang="zh-CN" dirty="0"/>
              <a:t>D+</a:t>
            </a:r>
            <a:r>
              <a:rPr lang="zh-CN" altLang="en-US" dirty="0"/>
              <a:t>和高德的榜单，美团榜单是三个平台中客单价较低的，总体上榜门店客单价中：黑珍珠（</a:t>
            </a:r>
            <a:r>
              <a:rPr lang="en-US" altLang="zh-CN" dirty="0"/>
              <a:t>881</a:t>
            </a:r>
            <a:r>
              <a:rPr lang="zh-CN" altLang="en-US" dirty="0"/>
              <a:t>元）</a:t>
            </a:r>
            <a:r>
              <a:rPr lang="en-US" altLang="zh-CN" dirty="0"/>
              <a:t>&gt;</a:t>
            </a:r>
            <a:r>
              <a:rPr lang="zh-CN" altLang="en-US" dirty="0"/>
              <a:t>心动氛围榜（</a:t>
            </a:r>
            <a:r>
              <a:rPr lang="en-US" altLang="zh-CN" dirty="0"/>
              <a:t>123</a:t>
            </a:r>
            <a:r>
              <a:rPr lang="zh-CN" altLang="en-US" dirty="0"/>
              <a:t>元）＞心动人气榜（</a:t>
            </a:r>
            <a:r>
              <a:rPr lang="en-US" altLang="zh-CN" dirty="0"/>
              <a:t>96</a:t>
            </a:r>
            <a:r>
              <a:rPr lang="zh-CN" altLang="en-US" dirty="0"/>
              <a:t>元）＞高德状元榜（</a:t>
            </a:r>
            <a:r>
              <a:rPr lang="en-US" altLang="zh-CN" dirty="0"/>
              <a:t>92</a:t>
            </a:r>
            <a:r>
              <a:rPr lang="zh-CN" altLang="en-US" dirty="0"/>
              <a:t>元）＞心动风味榜（</a:t>
            </a:r>
            <a:r>
              <a:rPr lang="en-US" altLang="zh-CN" dirty="0"/>
              <a:t>86</a:t>
            </a:r>
            <a:r>
              <a:rPr lang="zh-CN" altLang="en-US" dirty="0"/>
              <a:t>元）＞必吃榜（</a:t>
            </a:r>
            <a:r>
              <a:rPr lang="en-US" altLang="zh-CN" dirty="0"/>
              <a:t>77</a:t>
            </a:r>
            <a:r>
              <a:rPr lang="zh-CN" altLang="en-US" dirty="0"/>
              <a:t>元）＞美团好评榜（</a:t>
            </a:r>
            <a:r>
              <a:rPr lang="en-US" altLang="zh-CN" dirty="0"/>
              <a:t>60</a:t>
            </a:r>
            <a:r>
              <a:rPr lang="zh-CN" altLang="en-US" dirty="0"/>
              <a:t>元）＞美团人气榜人（</a:t>
            </a:r>
            <a:r>
              <a:rPr lang="en-US" altLang="zh-CN" dirty="0"/>
              <a:t>55</a:t>
            </a:r>
            <a:r>
              <a:rPr lang="zh-CN" altLang="en-US" dirty="0"/>
              <a:t>元）部分共有城市上榜门店平均客单价对比</a:t>
            </a:r>
            <a:r>
              <a:rPr lang="zh-CN" altLang="en-US" b="1" dirty="0"/>
              <a:t>。</a:t>
            </a:r>
            <a:endParaRPr lang="en-GB" altLang="zh-CN" b="1" dirty="0">
              <a:effectLst/>
            </a:endParaRPr>
          </a:p>
        </p:txBody>
      </p:sp>
      <p:graphicFrame>
        <p:nvGraphicFramePr>
          <p:cNvPr id="9" name="图表 8"/>
          <p:cNvGraphicFramePr/>
          <p:nvPr/>
        </p:nvGraphicFramePr>
        <p:xfrm>
          <a:off x="2699656" y="1483981"/>
          <a:ext cx="3202819" cy="30668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6139661" y="1483981"/>
          <a:ext cx="2752121" cy="32719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4566285" imgH="5904230" progId="Excel.Sheet.12">
                  <p:embed/>
                </p:oleObj>
              </mc:Choice>
              <mc:Fallback>
                <p:oleObj name="Worksheet" r:id="rId3" imgW="4566285" imgH="5904230" progId="Excel.Sheet.12">
                  <p:embed/>
                  <p:pic>
                    <p:nvPicPr>
                      <p:cNvPr id="0" name="对象 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139661" y="1483981"/>
                        <a:ext cx="2752121" cy="327192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0" y="4449002"/>
            <a:ext cx="4900707" cy="5530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1000"/>
              <a:t>关键举措：</a:t>
            </a:r>
          </a:p>
          <a:p>
            <a:r>
              <a:rPr lang="en-US" altLang="zh-CN" sz="1000"/>
              <a:t>1. </a:t>
            </a:r>
            <a:r>
              <a:rPr lang="zh-CN" altLang="en-US" sz="1000"/>
              <a:t>补充价格带在</a:t>
            </a:r>
            <a:r>
              <a:rPr lang="en-US" altLang="zh-CN" sz="1000"/>
              <a:t>100-300</a:t>
            </a:r>
            <a:r>
              <a:rPr lang="zh-CN" altLang="en-US" sz="1000"/>
              <a:t>、</a:t>
            </a:r>
            <a:r>
              <a:rPr lang="en-US" altLang="zh-CN" sz="1000"/>
              <a:t>200-500</a:t>
            </a:r>
            <a:r>
              <a:rPr lang="zh-CN" altLang="en-US" sz="1000"/>
              <a:t>价格区间的榜单</a:t>
            </a:r>
          </a:p>
          <a:p>
            <a:r>
              <a:rPr lang="en-US" altLang="zh-CN" sz="1000"/>
              <a:t>2. </a:t>
            </a:r>
            <a:r>
              <a:rPr lang="zh-CN" altLang="en-US" sz="1000"/>
              <a:t>对于价格带离散的品类后续考虑拆分更细分的榜单维度，以保证赛道公允</a:t>
            </a:r>
          </a:p>
        </p:txBody>
      </p:sp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8705" y="363744"/>
            <a:ext cx="8584470" cy="547945"/>
          </a:xfrm>
        </p:spPr>
        <p:txBody>
          <a:bodyPr/>
          <a:lstStyle/>
          <a:p>
            <a:r>
              <a:rPr kumimoji="1" lang="zh-CN" altLang="en-US" dirty="0"/>
              <a:t>业务和榜单之间应加强互动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22"/>
          </p:nvPr>
        </p:nvSpPr>
        <p:spPr>
          <a:xfrm>
            <a:off x="307323" y="144749"/>
            <a:ext cx="8583088" cy="266037"/>
          </a:xfrm>
        </p:spPr>
        <p:txBody>
          <a:bodyPr/>
          <a:lstStyle/>
          <a:p>
            <a:r>
              <a:rPr kumimoji="1" lang="zh-CN" altLang="en-US" dirty="0"/>
              <a:t>榜单规则问题</a:t>
            </a:r>
          </a:p>
        </p:txBody>
      </p:sp>
      <p:sp>
        <p:nvSpPr>
          <p:cNvPr id="123" name="米菲PPT1"/>
          <p:cNvSpPr/>
          <p:nvPr/>
        </p:nvSpPr>
        <p:spPr>
          <a:xfrm>
            <a:off x="3149074" y="1039017"/>
            <a:ext cx="2870718" cy="3980660"/>
          </a:xfrm>
          <a:prstGeom prst="rect">
            <a:avLst/>
          </a:prstGeom>
          <a:solidFill>
            <a:srgbClr val="62799C">
              <a:alpha val="4000"/>
            </a:srgbClr>
          </a:solidFill>
          <a:ln w="19050" cap="flat" cmpd="sng" algn="ctr">
            <a:solidFill>
              <a:sysClr val="window" lastClr="FFFFFF">
                <a:lumMod val="75000"/>
                <a:alpha val="13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125" name="米菲PPT3"/>
          <p:cNvSpPr/>
          <p:nvPr/>
        </p:nvSpPr>
        <p:spPr>
          <a:xfrm>
            <a:off x="6066531" y="1039017"/>
            <a:ext cx="2793628" cy="3980660"/>
          </a:xfrm>
          <a:prstGeom prst="rect">
            <a:avLst/>
          </a:prstGeom>
          <a:solidFill>
            <a:srgbClr val="FCA072">
              <a:alpha val="4000"/>
            </a:srgbClr>
          </a:solidFill>
          <a:ln w="19050" cap="flat" cmpd="sng" algn="ctr">
            <a:solidFill>
              <a:sysClr val="window" lastClr="FFFFFF">
                <a:lumMod val="75000"/>
                <a:alpha val="13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cxnSp>
        <p:nvCxnSpPr>
          <p:cNvPr id="126" name="米菲PPT4"/>
          <p:cNvCxnSpPr/>
          <p:nvPr/>
        </p:nvCxnSpPr>
        <p:spPr>
          <a:xfrm>
            <a:off x="7482209" y="4239607"/>
            <a:ext cx="0" cy="203220"/>
          </a:xfrm>
          <a:prstGeom prst="line">
            <a:avLst/>
          </a:prstGeom>
          <a:noFill/>
          <a:ln w="190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cxnSp>
        <p:nvCxnSpPr>
          <p:cNvPr id="127" name="米菲PPT5"/>
          <p:cNvCxnSpPr/>
          <p:nvPr/>
        </p:nvCxnSpPr>
        <p:spPr>
          <a:xfrm>
            <a:off x="7483867" y="3643773"/>
            <a:ext cx="0" cy="435232"/>
          </a:xfrm>
          <a:prstGeom prst="line">
            <a:avLst/>
          </a:prstGeom>
          <a:noFill/>
          <a:ln w="190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128" name="米菲PPT8"/>
          <p:cNvSpPr/>
          <p:nvPr/>
        </p:nvSpPr>
        <p:spPr>
          <a:xfrm>
            <a:off x="308705" y="1039017"/>
            <a:ext cx="2793628" cy="3980660"/>
          </a:xfrm>
          <a:prstGeom prst="rect">
            <a:avLst/>
          </a:prstGeom>
          <a:solidFill>
            <a:srgbClr val="F57359">
              <a:alpha val="2000"/>
            </a:srgbClr>
          </a:solidFill>
          <a:ln w="19050" cap="flat" cmpd="sng" algn="ctr">
            <a:solidFill>
              <a:sysClr val="window" lastClr="FFFFFF">
                <a:lumMod val="75000"/>
                <a:alpha val="13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129" name="米菲PPT9"/>
          <p:cNvSpPr/>
          <p:nvPr/>
        </p:nvSpPr>
        <p:spPr>
          <a:xfrm flipH="1">
            <a:off x="1514433" y="1208039"/>
            <a:ext cx="403556" cy="128625"/>
          </a:xfrm>
          <a:custGeom>
            <a:avLst/>
            <a:gdLst>
              <a:gd name="connsiteX0" fmla="*/ 583499 w 1166998"/>
              <a:gd name="connsiteY0" fmla="*/ 369863 h 369863"/>
              <a:gd name="connsiteX1" fmla="*/ 0 w 1166998"/>
              <a:gd name="connsiteY1" fmla="*/ 0 h 369863"/>
              <a:gd name="connsiteX2" fmla="*/ 583499 w 1166998"/>
              <a:gd name="connsiteY2" fmla="*/ 0 h 369863"/>
              <a:gd name="connsiteX3" fmla="*/ 1166998 w 1166998"/>
              <a:gd name="connsiteY3" fmla="*/ 0 h 369863"/>
              <a:gd name="connsiteX4" fmla="*/ 583499 w 1166998"/>
              <a:gd name="connsiteY4" fmla="*/ 369863 h 369863"/>
              <a:gd name="connsiteX0-1" fmla="*/ 583499 w 1166998"/>
              <a:gd name="connsiteY0-2" fmla="*/ 369863 h 369863"/>
              <a:gd name="connsiteX1-3" fmla="*/ 0 w 1166998"/>
              <a:gd name="connsiteY1-4" fmla="*/ 0 h 369863"/>
              <a:gd name="connsiteX2-5" fmla="*/ 583499 w 1166998"/>
              <a:gd name="connsiteY2-6" fmla="*/ 0 h 369863"/>
              <a:gd name="connsiteX3-7" fmla="*/ 1166998 w 1166998"/>
              <a:gd name="connsiteY3-8" fmla="*/ 0 h 369863"/>
              <a:gd name="connsiteX4-9" fmla="*/ 583499 w 1166998"/>
              <a:gd name="connsiteY4-10" fmla="*/ 369863 h 369863"/>
              <a:gd name="connsiteX0-11" fmla="*/ 583499 w 1166998"/>
              <a:gd name="connsiteY0-12" fmla="*/ 369863 h 369863"/>
              <a:gd name="connsiteX1-13" fmla="*/ 0 w 1166998"/>
              <a:gd name="connsiteY1-14" fmla="*/ 0 h 369863"/>
              <a:gd name="connsiteX2-15" fmla="*/ 583499 w 1166998"/>
              <a:gd name="connsiteY2-16" fmla="*/ 0 h 369863"/>
              <a:gd name="connsiteX3-17" fmla="*/ 1166998 w 1166998"/>
              <a:gd name="connsiteY3-18" fmla="*/ 0 h 369863"/>
              <a:gd name="connsiteX4-19" fmla="*/ 583499 w 1166998"/>
              <a:gd name="connsiteY4-20" fmla="*/ 369863 h 36986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166998" h="369863">
                <a:moveTo>
                  <a:pt x="583499" y="369863"/>
                </a:moveTo>
                <a:cubicBezTo>
                  <a:pt x="489218" y="266576"/>
                  <a:pt x="442150" y="135988"/>
                  <a:pt x="0" y="0"/>
                </a:cubicBezTo>
                <a:lnTo>
                  <a:pt x="583499" y="0"/>
                </a:lnTo>
                <a:lnTo>
                  <a:pt x="1166998" y="0"/>
                </a:lnTo>
                <a:cubicBezTo>
                  <a:pt x="724848" y="135988"/>
                  <a:pt x="682852" y="271620"/>
                  <a:pt x="583499" y="369863"/>
                </a:cubicBezTo>
                <a:close/>
              </a:path>
            </a:pathLst>
          </a:custGeom>
          <a:gradFill>
            <a:gsLst>
              <a:gs pos="0">
                <a:srgbClr val="F57359">
                  <a:lumMod val="75000"/>
                </a:srgbClr>
              </a:gs>
              <a:gs pos="100000">
                <a:srgbClr val="F57359"/>
              </a:gs>
            </a:gsLst>
            <a:path path="circle">
              <a:fillToRect l="100000" t="100000"/>
            </a:path>
          </a:gradFill>
          <a:ln w="12700" cap="flat" cmpd="sng" algn="ctr">
            <a:noFill/>
            <a:prstDash val="solid"/>
            <a:miter lim="800000"/>
          </a:ln>
          <a:effectLst>
            <a:outerShdw blurRad="469900" dist="139700" dir="5400000" algn="t" rotWithShape="0">
              <a:srgbClr val="F57359">
                <a:alpha val="24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130" name="米菲PPT10"/>
          <p:cNvSpPr/>
          <p:nvPr/>
        </p:nvSpPr>
        <p:spPr>
          <a:xfrm>
            <a:off x="319398" y="843174"/>
            <a:ext cx="2793628" cy="405082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57359">
                  <a:lumMod val="85000"/>
                </a:srgbClr>
              </a:gs>
              <a:gs pos="100000">
                <a:srgbClr val="F57359">
                  <a:lumMod val="93000"/>
                  <a:lumOff val="7000"/>
                </a:srgbClr>
              </a:gs>
            </a:gsLst>
            <a:path path="circle">
              <a:fillToRect l="100000" t="100000"/>
            </a:path>
          </a:gradFill>
          <a:ln w="12700" cap="flat" cmpd="sng" algn="ctr">
            <a:noFill/>
            <a:prstDash val="solid"/>
            <a:miter lim="800000"/>
          </a:ln>
          <a:effectLst>
            <a:outerShdw blurRad="469900" dist="139700" dir="5400000" algn="t" rotWithShape="0">
              <a:srgbClr val="F57359">
                <a:alpha val="24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rPr>
              <a:t>加强对外合作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rPr>
              <a:t>cross</a:t>
            </a:r>
          </a:p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rPr>
              <a:t>（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rPr>
              <a:t>for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rPr>
              <a:t> 流量指标）</a:t>
            </a:r>
          </a:p>
        </p:txBody>
      </p:sp>
      <p:sp>
        <p:nvSpPr>
          <p:cNvPr id="131" name="米菲PPT11"/>
          <p:cNvSpPr/>
          <p:nvPr/>
        </p:nvSpPr>
        <p:spPr>
          <a:xfrm flipH="1">
            <a:off x="4377098" y="1208039"/>
            <a:ext cx="412848" cy="128625"/>
          </a:xfrm>
          <a:custGeom>
            <a:avLst/>
            <a:gdLst>
              <a:gd name="connsiteX0" fmla="*/ 583499 w 1166998"/>
              <a:gd name="connsiteY0" fmla="*/ 369863 h 369863"/>
              <a:gd name="connsiteX1" fmla="*/ 0 w 1166998"/>
              <a:gd name="connsiteY1" fmla="*/ 0 h 369863"/>
              <a:gd name="connsiteX2" fmla="*/ 583499 w 1166998"/>
              <a:gd name="connsiteY2" fmla="*/ 0 h 369863"/>
              <a:gd name="connsiteX3" fmla="*/ 1166998 w 1166998"/>
              <a:gd name="connsiteY3" fmla="*/ 0 h 369863"/>
              <a:gd name="connsiteX4" fmla="*/ 583499 w 1166998"/>
              <a:gd name="connsiteY4" fmla="*/ 369863 h 369863"/>
              <a:gd name="connsiteX0-1" fmla="*/ 583499 w 1166998"/>
              <a:gd name="connsiteY0-2" fmla="*/ 369863 h 369863"/>
              <a:gd name="connsiteX1-3" fmla="*/ 0 w 1166998"/>
              <a:gd name="connsiteY1-4" fmla="*/ 0 h 369863"/>
              <a:gd name="connsiteX2-5" fmla="*/ 583499 w 1166998"/>
              <a:gd name="connsiteY2-6" fmla="*/ 0 h 369863"/>
              <a:gd name="connsiteX3-7" fmla="*/ 1166998 w 1166998"/>
              <a:gd name="connsiteY3-8" fmla="*/ 0 h 369863"/>
              <a:gd name="connsiteX4-9" fmla="*/ 583499 w 1166998"/>
              <a:gd name="connsiteY4-10" fmla="*/ 369863 h 369863"/>
              <a:gd name="connsiteX0-11" fmla="*/ 583499 w 1166998"/>
              <a:gd name="connsiteY0-12" fmla="*/ 369863 h 369863"/>
              <a:gd name="connsiteX1-13" fmla="*/ 0 w 1166998"/>
              <a:gd name="connsiteY1-14" fmla="*/ 0 h 369863"/>
              <a:gd name="connsiteX2-15" fmla="*/ 583499 w 1166998"/>
              <a:gd name="connsiteY2-16" fmla="*/ 0 h 369863"/>
              <a:gd name="connsiteX3-17" fmla="*/ 1166998 w 1166998"/>
              <a:gd name="connsiteY3-18" fmla="*/ 0 h 369863"/>
              <a:gd name="connsiteX4-19" fmla="*/ 583499 w 1166998"/>
              <a:gd name="connsiteY4-20" fmla="*/ 369863 h 36986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166998" h="369863">
                <a:moveTo>
                  <a:pt x="583499" y="369863"/>
                </a:moveTo>
                <a:cubicBezTo>
                  <a:pt x="489218" y="266576"/>
                  <a:pt x="442150" y="135988"/>
                  <a:pt x="0" y="0"/>
                </a:cubicBezTo>
                <a:lnTo>
                  <a:pt x="583499" y="0"/>
                </a:lnTo>
                <a:lnTo>
                  <a:pt x="1166998" y="0"/>
                </a:lnTo>
                <a:cubicBezTo>
                  <a:pt x="724848" y="135988"/>
                  <a:pt x="682852" y="271620"/>
                  <a:pt x="583499" y="369863"/>
                </a:cubicBezTo>
                <a:close/>
              </a:path>
            </a:pathLst>
          </a:custGeom>
          <a:gradFill flip="none" rotWithShape="1">
            <a:gsLst>
              <a:gs pos="100000">
                <a:srgbClr val="62799C"/>
              </a:gs>
              <a:gs pos="0">
                <a:srgbClr val="62799C">
                  <a:lumMod val="75000"/>
                </a:srgbClr>
              </a:gs>
            </a:gsLst>
            <a:lin ang="19800000" scaled="0"/>
            <a:tileRect/>
          </a:gradFill>
          <a:ln w="38100" cap="flat" cmpd="sng" algn="ctr">
            <a:noFill/>
            <a:prstDash val="solid"/>
            <a:miter lim="800000"/>
          </a:ln>
          <a:effectLst>
            <a:outerShdw blurRad="469900" dist="123444" dir="5400000" sx="99000" sy="99000" algn="ctr" rotWithShape="0">
              <a:srgbClr val="62799C">
                <a:alpha val="24000"/>
              </a:srgbClr>
            </a:outerShdw>
          </a:effectLst>
        </p:spPr>
        <p:txBody>
          <a:bodyPr wrap="square" lIns="98756" tIns="49375" rIns="98756" bIns="49375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Sans Bold" panose="00000800000000000000" pitchFamily="2" charset="-122"/>
              <a:ea typeface="MiSans Bold" panose="000008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132" name="米菲PPT12"/>
          <p:cNvSpPr/>
          <p:nvPr/>
        </p:nvSpPr>
        <p:spPr>
          <a:xfrm>
            <a:off x="3154545" y="843174"/>
            <a:ext cx="2857956" cy="405082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100000">
                <a:srgbClr val="62799C"/>
              </a:gs>
              <a:gs pos="0">
                <a:srgbClr val="62799C">
                  <a:lumMod val="75000"/>
                </a:srgbClr>
              </a:gs>
            </a:gsLst>
            <a:lin ang="19800000" scaled="0"/>
            <a:tileRect/>
          </a:gradFill>
          <a:ln w="38100" cap="flat" cmpd="sng" algn="ctr">
            <a:noFill/>
            <a:prstDash val="solid"/>
            <a:miter lim="800000"/>
          </a:ln>
          <a:effectLst>
            <a:outerShdw blurRad="469900" dist="123444" dir="5400000" sx="99000" sy="99000" algn="ctr" rotWithShape="0">
              <a:srgbClr val="62799C">
                <a:alpha val="24000"/>
              </a:srgbClr>
            </a:outerShdw>
          </a:effectLst>
        </p:spPr>
        <p:txBody>
          <a:bodyPr wrap="square" lIns="98756" tIns="49375" rIns="98756" bIns="49375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rPr>
              <a:t>加强对内榜单规则互通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Sans Bold" panose="00000800000000000000" pitchFamily="2" charset="-122"/>
              <a:ea typeface="MiSans Bold" panose="00000800000000000000" pitchFamily="2" charset="-122"/>
              <a:cs typeface="MiSans Medium" panose="00000600000000000000" pitchFamily="2" charset="-122"/>
              <a:sym typeface="MiSans Bold" panose="00000800000000000000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rPr>
              <a:t>（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rPr>
              <a:t>for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rPr>
              <a:t> 产品基建）</a:t>
            </a:r>
          </a:p>
        </p:txBody>
      </p:sp>
      <p:sp>
        <p:nvSpPr>
          <p:cNvPr id="133" name="米菲PPT13"/>
          <p:cNvSpPr/>
          <p:nvPr/>
        </p:nvSpPr>
        <p:spPr>
          <a:xfrm flipH="1">
            <a:off x="7259747" y="1208039"/>
            <a:ext cx="403556" cy="128625"/>
          </a:xfrm>
          <a:custGeom>
            <a:avLst/>
            <a:gdLst>
              <a:gd name="connsiteX0" fmla="*/ 583499 w 1166998"/>
              <a:gd name="connsiteY0" fmla="*/ 369863 h 369863"/>
              <a:gd name="connsiteX1" fmla="*/ 0 w 1166998"/>
              <a:gd name="connsiteY1" fmla="*/ 0 h 369863"/>
              <a:gd name="connsiteX2" fmla="*/ 583499 w 1166998"/>
              <a:gd name="connsiteY2" fmla="*/ 0 h 369863"/>
              <a:gd name="connsiteX3" fmla="*/ 1166998 w 1166998"/>
              <a:gd name="connsiteY3" fmla="*/ 0 h 369863"/>
              <a:gd name="connsiteX4" fmla="*/ 583499 w 1166998"/>
              <a:gd name="connsiteY4" fmla="*/ 369863 h 369863"/>
              <a:gd name="connsiteX0-1" fmla="*/ 583499 w 1166998"/>
              <a:gd name="connsiteY0-2" fmla="*/ 369863 h 369863"/>
              <a:gd name="connsiteX1-3" fmla="*/ 0 w 1166998"/>
              <a:gd name="connsiteY1-4" fmla="*/ 0 h 369863"/>
              <a:gd name="connsiteX2-5" fmla="*/ 583499 w 1166998"/>
              <a:gd name="connsiteY2-6" fmla="*/ 0 h 369863"/>
              <a:gd name="connsiteX3-7" fmla="*/ 1166998 w 1166998"/>
              <a:gd name="connsiteY3-8" fmla="*/ 0 h 369863"/>
              <a:gd name="connsiteX4-9" fmla="*/ 583499 w 1166998"/>
              <a:gd name="connsiteY4-10" fmla="*/ 369863 h 369863"/>
              <a:gd name="connsiteX0-11" fmla="*/ 583499 w 1166998"/>
              <a:gd name="connsiteY0-12" fmla="*/ 369863 h 369863"/>
              <a:gd name="connsiteX1-13" fmla="*/ 0 w 1166998"/>
              <a:gd name="connsiteY1-14" fmla="*/ 0 h 369863"/>
              <a:gd name="connsiteX2-15" fmla="*/ 583499 w 1166998"/>
              <a:gd name="connsiteY2-16" fmla="*/ 0 h 369863"/>
              <a:gd name="connsiteX3-17" fmla="*/ 1166998 w 1166998"/>
              <a:gd name="connsiteY3-18" fmla="*/ 0 h 369863"/>
              <a:gd name="connsiteX4-19" fmla="*/ 583499 w 1166998"/>
              <a:gd name="connsiteY4-20" fmla="*/ 369863 h 36986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166998" h="369863">
                <a:moveTo>
                  <a:pt x="583499" y="369863"/>
                </a:moveTo>
                <a:cubicBezTo>
                  <a:pt x="489218" y="266576"/>
                  <a:pt x="442150" y="135988"/>
                  <a:pt x="0" y="0"/>
                </a:cubicBezTo>
                <a:lnTo>
                  <a:pt x="583499" y="0"/>
                </a:lnTo>
                <a:lnTo>
                  <a:pt x="1166998" y="0"/>
                </a:lnTo>
                <a:cubicBezTo>
                  <a:pt x="724848" y="135988"/>
                  <a:pt x="682852" y="271620"/>
                  <a:pt x="583499" y="369863"/>
                </a:cubicBezTo>
                <a:close/>
              </a:path>
            </a:pathLst>
          </a:custGeom>
          <a:gradFill flip="none" rotWithShape="1">
            <a:gsLst>
              <a:gs pos="100000">
                <a:srgbClr val="FCA072"/>
              </a:gs>
              <a:gs pos="1000">
                <a:srgbClr val="FCA072">
                  <a:lumMod val="75000"/>
                </a:srgbClr>
              </a:gs>
            </a:gsLst>
            <a:lin ang="19800000" scaled="0"/>
            <a:tileRect/>
          </a:gradFill>
          <a:ln w="38100" cap="flat" cmpd="sng" algn="ctr">
            <a:noFill/>
            <a:prstDash val="solid"/>
            <a:miter lim="800000"/>
          </a:ln>
          <a:effectLst>
            <a:outerShdw blurRad="469900" dist="123444" dir="5400000" sx="99000" sy="99000" algn="ctr" rotWithShape="0">
              <a:srgbClr val="FCA072">
                <a:alpha val="24000"/>
              </a:srgbClr>
            </a:outerShdw>
          </a:effectLst>
        </p:spPr>
        <p:txBody>
          <a:bodyPr wrap="square" lIns="98756" tIns="49375" rIns="98756" bIns="49375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Sans Bold" panose="00000800000000000000" pitchFamily="2" charset="-122"/>
              <a:ea typeface="MiSans Bold" panose="000008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134" name="米菲PPT14"/>
          <p:cNvSpPr/>
          <p:nvPr/>
        </p:nvSpPr>
        <p:spPr>
          <a:xfrm>
            <a:off x="6064712" y="843174"/>
            <a:ext cx="2793628" cy="405082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100000">
                <a:srgbClr val="FCA072"/>
              </a:gs>
              <a:gs pos="1000">
                <a:srgbClr val="FCA072">
                  <a:lumMod val="75000"/>
                </a:srgbClr>
              </a:gs>
            </a:gsLst>
            <a:lin ang="19800000" scaled="0"/>
            <a:tileRect/>
          </a:gradFill>
          <a:ln w="38100" cap="flat" cmpd="sng" algn="ctr">
            <a:noFill/>
            <a:prstDash val="solid"/>
            <a:miter lim="800000"/>
          </a:ln>
          <a:effectLst>
            <a:outerShdw blurRad="469900" dist="123444" dir="5400000" sx="99000" sy="99000" algn="ctr" rotWithShape="0">
              <a:srgbClr val="FCA072">
                <a:alpha val="24000"/>
              </a:srgbClr>
            </a:outerShdw>
          </a:effectLst>
        </p:spPr>
        <p:txBody>
          <a:bodyPr wrap="square" lIns="98756" tIns="49375" rIns="98756" bIns="49375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kern="0" dirty="0">
                <a:solidFill>
                  <a:srgbClr val="FFFFFF"/>
                </a:solidFill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rPr>
              <a:t>加强对商户榜单指导</a:t>
            </a:r>
            <a:endParaRPr lang="en-US" altLang="zh-CN" sz="1200" kern="0" dirty="0">
              <a:solidFill>
                <a:srgbClr val="FFFFFF"/>
              </a:solidFill>
              <a:latin typeface="MiSans Bold" panose="00000800000000000000" pitchFamily="2" charset="-122"/>
              <a:ea typeface="MiSans Bold" panose="00000800000000000000" pitchFamily="2" charset="-122"/>
              <a:cs typeface="MiSans Medium" panose="00000600000000000000" pitchFamily="2" charset="-122"/>
              <a:sym typeface="MiSans Bold" panose="00000800000000000000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kern="0" dirty="0">
                <a:solidFill>
                  <a:srgbClr val="FFFFFF"/>
                </a:solidFill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rPr>
              <a:t>（</a:t>
            </a:r>
            <a:r>
              <a:rPr lang="en-US" altLang="zh-CN" sz="1200" kern="0" dirty="0">
                <a:solidFill>
                  <a:srgbClr val="FFFFFF"/>
                </a:solidFill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rPr>
              <a:t>for</a:t>
            </a:r>
            <a:r>
              <a:rPr lang="zh-CN" altLang="en-US" sz="1200" kern="0" dirty="0">
                <a:solidFill>
                  <a:srgbClr val="FFFFFF"/>
                </a:solidFill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rPr>
              <a:t> 核心商户覆盖）</a:t>
            </a: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Sans Bold" panose="00000800000000000000" pitchFamily="2" charset="-122"/>
              <a:ea typeface="MiSans Bold" panose="00000800000000000000" pitchFamily="2" charset="-122"/>
              <a:cs typeface="MiSans Medium" panose="00000600000000000000" pitchFamily="2" charset="-122"/>
              <a:sym typeface="MiSans Bold" panose="00000800000000000000" pitchFamily="2" charset="-122"/>
            </a:endParaRPr>
          </a:p>
        </p:txBody>
      </p:sp>
      <p:sp>
        <p:nvSpPr>
          <p:cNvPr id="135" name="米菲PPT15"/>
          <p:cNvSpPr txBox="1"/>
          <p:nvPr/>
        </p:nvSpPr>
        <p:spPr>
          <a:xfrm>
            <a:off x="6250229" y="1365296"/>
            <a:ext cx="2560102" cy="660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lnSpc>
                <a:spcPct val="120000"/>
              </a:lnSpc>
            </a:pPr>
            <a:r>
              <a:rPr lang="zh-CN" altLang="en-US" sz="1050" dirty="0">
                <a:solidFill>
                  <a:prstClr val="black">
                    <a:lumMod val="65000"/>
                    <a:lumOff val="35000"/>
                  </a:prst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建立榜单</a:t>
            </a:r>
            <a:r>
              <a:rPr lang="en-US" altLang="zh-CN" sz="1050" dirty="0">
                <a:solidFill>
                  <a:prstClr val="black">
                    <a:lumMod val="65000"/>
                    <a:lumOff val="35000"/>
                  </a:prst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→</a:t>
            </a:r>
            <a:r>
              <a:rPr lang="zh-CN" altLang="en-US" sz="1050" dirty="0">
                <a:solidFill>
                  <a:prstClr val="black">
                    <a:lumMod val="65000"/>
                    <a:lumOff val="35000"/>
                  </a:prst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销运</a:t>
            </a:r>
            <a:r>
              <a:rPr lang="en-US" altLang="zh-CN" sz="1050" dirty="0">
                <a:solidFill>
                  <a:prstClr val="black">
                    <a:lumMod val="65000"/>
                    <a:lumOff val="35000"/>
                  </a:prst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→</a:t>
            </a:r>
            <a:r>
              <a:rPr lang="zh-CN" altLang="en-US" sz="1050" dirty="0">
                <a:solidFill>
                  <a:prstClr val="black">
                    <a:lumMod val="65000"/>
                    <a:lumOff val="35000"/>
                  </a:prst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销售</a:t>
            </a:r>
            <a:r>
              <a:rPr lang="en-US" altLang="zh-CN" sz="1050" dirty="0">
                <a:solidFill>
                  <a:prstClr val="black">
                    <a:lumMod val="65000"/>
                    <a:lumOff val="35000"/>
                  </a:prst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→</a:t>
            </a:r>
            <a:r>
              <a:rPr lang="zh-CN" altLang="en-US" sz="1050" dirty="0">
                <a:solidFill>
                  <a:prstClr val="black">
                    <a:lumMod val="65000"/>
                    <a:lumOff val="35000"/>
                  </a:prst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商户的培训</a:t>
            </a:r>
            <a:r>
              <a:rPr lang="en-US" altLang="zh-CN" sz="1050" dirty="0">
                <a:solidFill>
                  <a:prstClr val="black">
                    <a:lumMod val="65000"/>
                    <a:lumOff val="35000"/>
                  </a:prst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SOP</a:t>
            </a:r>
            <a:r>
              <a:rPr lang="zh-CN" altLang="en-US" sz="1050" dirty="0">
                <a:solidFill>
                  <a:prstClr val="black">
                    <a:lumMod val="65000"/>
                    <a:lumOff val="35000"/>
                  </a:prst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，同时尝试给出不同门店的冲榜诊断，最终可在经营宝中落地商户工具。</a:t>
            </a:r>
          </a:p>
        </p:txBody>
      </p:sp>
      <p:sp>
        <p:nvSpPr>
          <p:cNvPr id="136" name="米菲PPT16"/>
          <p:cNvSpPr/>
          <p:nvPr/>
        </p:nvSpPr>
        <p:spPr>
          <a:xfrm>
            <a:off x="6283996" y="2161998"/>
            <a:ext cx="2399743" cy="766157"/>
          </a:xfrm>
          <a:prstGeom prst="rect">
            <a:avLst/>
          </a:prstGeom>
          <a:gradFill>
            <a:gsLst>
              <a:gs pos="100000">
                <a:srgbClr val="FCA072">
                  <a:lumMod val="5000"/>
                  <a:lumOff val="95000"/>
                </a:srgbClr>
              </a:gs>
              <a:gs pos="1000">
                <a:sysClr val="window" lastClr="FFFFFF"/>
              </a:gs>
            </a:gsLst>
            <a:lin ang="19800000" scaled="0"/>
          </a:gradFill>
          <a:ln w="6350" cap="flat" cmpd="sng" algn="ctr">
            <a:solidFill>
              <a:srgbClr val="FCA072"/>
            </a:solidFill>
            <a:prstDash val="solid"/>
            <a:miter lim="800000"/>
          </a:ln>
          <a:effectLst>
            <a:outerShdw blurRad="469900" dist="123444" dir="5400000" sx="99000" sy="99000" algn="ctr" rotWithShape="0">
              <a:srgbClr val="FCA072">
                <a:alpha val="24000"/>
              </a:srgbClr>
            </a:outerShdw>
          </a:effectLst>
        </p:spPr>
        <p:txBody>
          <a:bodyPr wrap="square" lIns="98756" tIns="49375" rIns="98756" bIns="49375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137" name="米菲PPT17"/>
          <p:cNvSpPr/>
          <p:nvPr/>
        </p:nvSpPr>
        <p:spPr>
          <a:xfrm flipV="1">
            <a:off x="6900616" y="2945227"/>
            <a:ext cx="1270667" cy="276623"/>
          </a:xfrm>
          <a:prstGeom prst="triangle">
            <a:avLst/>
          </a:prstGeom>
          <a:gradFill flip="none" rotWithShape="1">
            <a:gsLst>
              <a:gs pos="0">
                <a:srgbClr val="FCA072">
                  <a:alpha val="0"/>
                </a:srgbClr>
              </a:gs>
              <a:gs pos="93000">
                <a:srgbClr val="FCA072">
                  <a:alpha val="65000"/>
                </a:srgbClr>
              </a:gs>
            </a:gsLst>
            <a:lin ang="16200000" scaled="1"/>
            <a:tileRect/>
          </a:gradFill>
          <a:ln w="38100" cap="flat" cmpd="sng" algn="ctr">
            <a:noFill/>
            <a:prstDash val="solid"/>
            <a:miter lim="800000"/>
          </a:ln>
          <a:effectLst/>
        </p:spPr>
        <p:txBody>
          <a:bodyPr wrap="square" lIns="98756" tIns="49375" rIns="98756" bIns="49375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138" name="米菲PPT18"/>
          <p:cNvSpPr/>
          <p:nvPr/>
        </p:nvSpPr>
        <p:spPr>
          <a:xfrm>
            <a:off x="6283996" y="2074554"/>
            <a:ext cx="2399743" cy="248126"/>
          </a:xfrm>
          <a:prstGeom prst="roundRect">
            <a:avLst>
              <a:gd name="adj" fmla="val 0"/>
            </a:avLst>
          </a:prstGeom>
          <a:gradFill flip="none" rotWithShape="1">
            <a:gsLst>
              <a:gs pos="100000">
                <a:srgbClr val="FCA072"/>
              </a:gs>
              <a:gs pos="1000">
                <a:srgbClr val="FCA072">
                  <a:lumMod val="75000"/>
                </a:srgbClr>
              </a:gs>
            </a:gsLst>
            <a:lin ang="19800000" scaled="0"/>
            <a:tileRect/>
          </a:gradFill>
          <a:ln w="6350" cap="flat" cmpd="sng" algn="ctr">
            <a:solidFill>
              <a:srgbClr val="FCA072"/>
            </a:solidFill>
            <a:prstDash val="solid"/>
            <a:miter lim="800000"/>
          </a:ln>
          <a:effectLst>
            <a:outerShdw blurRad="469900" dist="123444" dir="5400000" sx="99000" sy="99000" algn="ctr" rotWithShape="0">
              <a:srgbClr val="FCA072">
                <a:alpha val="24000"/>
              </a:srgbClr>
            </a:outerShdw>
          </a:effectLst>
        </p:spPr>
        <p:txBody>
          <a:bodyPr wrap="square" lIns="98756" tIns="49375" rIns="98756" bIns="49375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rPr>
              <a:t>商户冲榜指南</a:t>
            </a:r>
          </a:p>
        </p:txBody>
      </p:sp>
      <p:sp>
        <p:nvSpPr>
          <p:cNvPr id="139" name="米菲PPT19"/>
          <p:cNvSpPr txBox="1"/>
          <p:nvPr/>
        </p:nvSpPr>
        <p:spPr>
          <a:xfrm>
            <a:off x="6573758" y="2377292"/>
            <a:ext cx="1078852" cy="2811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lnSpc>
                <a:spcPct val="120000"/>
              </a:lnSpc>
            </a:pPr>
            <a:r>
              <a:rPr lang="zh-CN" altLang="en-US" sz="1100" dirty="0">
                <a:solidFill>
                  <a:prstClr val="black">
                    <a:lumMod val="65000"/>
                    <a:lumOff val="35000"/>
                  </a:prst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门店当前优势</a:t>
            </a:r>
          </a:p>
        </p:txBody>
      </p:sp>
      <p:sp>
        <p:nvSpPr>
          <p:cNvPr id="140" name="米菲PPT20"/>
          <p:cNvSpPr txBox="1"/>
          <p:nvPr/>
        </p:nvSpPr>
        <p:spPr>
          <a:xfrm>
            <a:off x="6573758" y="2613158"/>
            <a:ext cx="1078852" cy="2811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lnSpc>
                <a:spcPct val="120000"/>
              </a:lnSpc>
            </a:pPr>
            <a:r>
              <a:rPr lang="zh-CN" altLang="en-US" sz="1100" dirty="0">
                <a:solidFill>
                  <a:prstClr val="black">
                    <a:lumMod val="65000"/>
                    <a:lumOff val="35000"/>
                  </a:prst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有利上榜情况</a:t>
            </a:r>
          </a:p>
        </p:txBody>
      </p:sp>
      <p:sp>
        <p:nvSpPr>
          <p:cNvPr id="141" name="米菲PPT21"/>
          <p:cNvSpPr txBox="1"/>
          <p:nvPr/>
        </p:nvSpPr>
        <p:spPr>
          <a:xfrm>
            <a:off x="7902457" y="2377292"/>
            <a:ext cx="1078852" cy="2811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lnSpc>
                <a:spcPct val="120000"/>
              </a:lnSpc>
            </a:pPr>
            <a:r>
              <a:rPr lang="zh-CN" altLang="en-US" sz="1100" dirty="0">
                <a:solidFill>
                  <a:prstClr val="black">
                    <a:lumMod val="65000"/>
                    <a:lumOff val="35000"/>
                  </a:prst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竞店情况</a:t>
            </a:r>
          </a:p>
        </p:txBody>
      </p:sp>
      <p:sp>
        <p:nvSpPr>
          <p:cNvPr id="142" name="米菲PPT22"/>
          <p:cNvSpPr txBox="1"/>
          <p:nvPr/>
        </p:nvSpPr>
        <p:spPr>
          <a:xfrm>
            <a:off x="7902457" y="2615036"/>
            <a:ext cx="1078852" cy="2811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lnSpc>
                <a:spcPct val="120000"/>
              </a:lnSpc>
            </a:pPr>
            <a:r>
              <a:rPr lang="zh-CN" altLang="en-US" sz="1100" dirty="0">
                <a:solidFill>
                  <a:prstClr val="black">
                    <a:lumMod val="65000"/>
                    <a:lumOff val="35000"/>
                  </a:prst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诊断建议</a:t>
            </a:r>
          </a:p>
        </p:txBody>
      </p:sp>
      <p:sp>
        <p:nvSpPr>
          <p:cNvPr id="143" name="米菲PPT23"/>
          <p:cNvSpPr/>
          <p:nvPr/>
        </p:nvSpPr>
        <p:spPr>
          <a:xfrm>
            <a:off x="6463302" y="2697406"/>
            <a:ext cx="123979" cy="123978"/>
          </a:xfrm>
          <a:custGeom>
            <a:avLst/>
            <a:gdLst>
              <a:gd name="connsiteX0" fmla="*/ 63948 w 182707"/>
              <a:gd name="connsiteY0" fmla="*/ 146166 h 182707"/>
              <a:gd name="connsiteX1" fmla="*/ 122871 w 182707"/>
              <a:gd name="connsiteY1" fmla="*/ 146166 h 182707"/>
              <a:gd name="connsiteX2" fmla="*/ 146166 w 182707"/>
              <a:gd name="connsiteY2" fmla="*/ 92039 h 182707"/>
              <a:gd name="connsiteX3" fmla="*/ 146166 w 182707"/>
              <a:gd name="connsiteY3" fmla="*/ 73083 h 182707"/>
              <a:gd name="connsiteX4" fmla="*/ 95008 w 182707"/>
              <a:gd name="connsiteY4" fmla="*/ 73083 h 182707"/>
              <a:gd name="connsiteX5" fmla="*/ 101174 w 182707"/>
              <a:gd name="connsiteY5" fmla="*/ 37455 h 182707"/>
              <a:gd name="connsiteX6" fmla="*/ 91354 w 182707"/>
              <a:gd name="connsiteY6" fmla="*/ 27406 h 182707"/>
              <a:gd name="connsiteX7" fmla="*/ 45677 w 182707"/>
              <a:gd name="connsiteY7" fmla="*/ 77194 h 182707"/>
              <a:gd name="connsiteX8" fmla="*/ 45677 w 182707"/>
              <a:gd name="connsiteY8" fmla="*/ 127895 h 182707"/>
              <a:gd name="connsiteX9" fmla="*/ 51048 w 182707"/>
              <a:gd name="connsiteY9" fmla="*/ 140804 h 182707"/>
              <a:gd name="connsiteX10" fmla="*/ 63948 w 182707"/>
              <a:gd name="connsiteY10" fmla="*/ 146166 h 182707"/>
              <a:gd name="connsiteX11" fmla="*/ 91354 w 182707"/>
              <a:gd name="connsiteY11" fmla="*/ 182708 h 182707"/>
              <a:gd name="connsiteX12" fmla="*/ 55726 w 182707"/>
              <a:gd name="connsiteY12" fmla="*/ 175509 h 182707"/>
              <a:gd name="connsiteX13" fmla="*/ 26721 w 182707"/>
              <a:gd name="connsiteY13" fmla="*/ 155987 h 182707"/>
              <a:gd name="connsiteX14" fmla="*/ 7199 w 182707"/>
              <a:gd name="connsiteY14" fmla="*/ 126982 h 182707"/>
              <a:gd name="connsiteX15" fmla="*/ 0 w 182707"/>
              <a:gd name="connsiteY15" fmla="*/ 91354 h 182707"/>
              <a:gd name="connsiteX16" fmla="*/ 7199 w 182707"/>
              <a:gd name="connsiteY16" fmla="*/ 55726 h 182707"/>
              <a:gd name="connsiteX17" fmla="*/ 26721 w 182707"/>
              <a:gd name="connsiteY17" fmla="*/ 26721 h 182707"/>
              <a:gd name="connsiteX18" fmla="*/ 55726 w 182707"/>
              <a:gd name="connsiteY18" fmla="*/ 7199 h 182707"/>
              <a:gd name="connsiteX19" fmla="*/ 91354 w 182707"/>
              <a:gd name="connsiteY19" fmla="*/ 0 h 182707"/>
              <a:gd name="connsiteX20" fmla="*/ 126982 w 182707"/>
              <a:gd name="connsiteY20" fmla="*/ 7199 h 182707"/>
              <a:gd name="connsiteX21" fmla="*/ 155987 w 182707"/>
              <a:gd name="connsiteY21" fmla="*/ 26721 h 182707"/>
              <a:gd name="connsiteX22" fmla="*/ 175518 w 182707"/>
              <a:gd name="connsiteY22" fmla="*/ 55726 h 182707"/>
              <a:gd name="connsiteX23" fmla="*/ 182708 w 182707"/>
              <a:gd name="connsiteY23" fmla="*/ 91354 h 182707"/>
              <a:gd name="connsiteX24" fmla="*/ 175509 w 182707"/>
              <a:gd name="connsiteY24" fmla="*/ 126982 h 182707"/>
              <a:gd name="connsiteX25" fmla="*/ 155987 w 182707"/>
              <a:gd name="connsiteY25" fmla="*/ 155987 h 182707"/>
              <a:gd name="connsiteX26" fmla="*/ 126982 w 182707"/>
              <a:gd name="connsiteY26" fmla="*/ 175518 h 182707"/>
              <a:gd name="connsiteX27" fmla="*/ 91354 w 182707"/>
              <a:gd name="connsiteY27" fmla="*/ 182708 h 1827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82707" h="182707">
                <a:moveTo>
                  <a:pt x="63948" y="146166"/>
                </a:moveTo>
                <a:lnTo>
                  <a:pt x="122871" y="146166"/>
                </a:lnTo>
                <a:lnTo>
                  <a:pt x="146166" y="92039"/>
                </a:lnTo>
                <a:lnTo>
                  <a:pt x="146166" y="73083"/>
                </a:lnTo>
                <a:lnTo>
                  <a:pt x="95008" y="73083"/>
                </a:lnTo>
                <a:lnTo>
                  <a:pt x="101174" y="37455"/>
                </a:lnTo>
                <a:lnTo>
                  <a:pt x="91354" y="27406"/>
                </a:lnTo>
                <a:lnTo>
                  <a:pt x="45677" y="77194"/>
                </a:lnTo>
                <a:lnTo>
                  <a:pt x="45677" y="127895"/>
                </a:lnTo>
                <a:cubicBezTo>
                  <a:pt x="45677" y="132920"/>
                  <a:pt x="47467" y="137222"/>
                  <a:pt x="51048" y="140804"/>
                </a:cubicBezTo>
                <a:cubicBezTo>
                  <a:pt x="54630" y="144385"/>
                  <a:pt x="58929" y="146172"/>
                  <a:pt x="63948" y="146166"/>
                </a:cubicBezTo>
                <a:moveTo>
                  <a:pt x="91354" y="182708"/>
                </a:moveTo>
                <a:cubicBezTo>
                  <a:pt x="78716" y="182708"/>
                  <a:pt x="66841" y="180308"/>
                  <a:pt x="55726" y="175509"/>
                </a:cubicBezTo>
                <a:cubicBezTo>
                  <a:pt x="44611" y="170710"/>
                  <a:pt x="34943" y="164202"/>
                  <a:pt x="26721" y="155987"/>
                </a:cubicBezTo>
                <a:cubicBezTo>
                  <a:pt x="18499" y="147771"/>
                  <a:pt x="11992" y="138103"/>
                  <a:pt x="7199" y="126982"/>
                </a:cubicBezTo>
                <a:cubicBezTo>
                  <a:pt x="2406" y="115861"/>
                  <a:pt x="6" y="103985"/>
                  <a:pt x="0" y="91354"/>
                </a:cubicBezTo>
                <a:cubicBezTo>
                  <a:pt x="-6" y="78723"/>
                  <a:pt x="2393" y="66847"/>
                  <a:pt x="7199" y="55726"/>
                </a:cubicBezTo>
                <a:cubicBezTo>
                  <a:pt x="12004" y="44605"/>
                  <a:pt x="18511" y="34937"/>
                  <a:pt x="26721" y="26721"/>
                </a:cubicBezTo>
                <a:cubicBezTo>
                  <a:pt x="34931" y="18505"/>
                  <a:pt x="44599" y="11998"/>
                  <a:pt x="55726" y="7199"/>
                </a:cubicBezTo>
                <a:cubicBezTo>
                  <a:pt x="66853" y="2400"/>
                  <a:pt x="78729" y="0"/>
                  <a:pt x="91354" y="0"/>
                </a:cubicBezTo>
                <a:cubicBezTo>
                  <a:pt x="103979" y="0"/>
                  <a:pt x="115855" y="2400"/>
                  <a:pt x="126982" y="7199"/>
                </a:cubicBezTo>
                <a:cubicBezTo>
                  <a:pt x="138109" y="11998"/>
                  <a:pt x="147777" y="18505"/>
                  <a:pt x="155987" y="26721"/>
                </a:cubicBezTo>
                <a:cubicBezTo>
                  <a:pt x="164196" y="34937"/>
                  <a:pt x="170707" y="44605"/>
                  <a:pt x="175518" y="55726"/>
                </a:cubicBezTo>
                <a:cubicBezTo>
                  <a:pt x="180329" y="66847"/>
                  <a:pt x="182726" y="78723"/>
                  <a:pt x="182708" y="91354"/>
                </a:cubicBezTo>
                <a:cubicBezTo>
                  <a:pt x="182689" y="103985"/>
                  <a:pt x="180290" y="115861"/>
                  <a:pt x="175509" y="126982"/>
                </a:cubicBezTo>
                <a:cubicBezTo>
                  <a:pt x="170728" y="138103"/>
                  <a:pt x="164221" y="147771"/>
                  <a:pt x="155987" y="155987"/>
                </a:cubicBezTo>
                <a:cubicBezTo>
                  <a:pt x="147753" y="164202"/>
                  <a:pt x="138084" y="170713"/>
                  <a:pt x="126982" y="175518"/>
                </a:cubicBezTo>
                <a:cubicBezTo>
                  <a:pt x="115879" y="180323"/>
                  <a:pt x="104003" y="182720"/>
                  <a:pt x="91354" y="182708"/>
                </a:cubicBezTo>
              </a:path>
            </a:pathLst>
          </a:custGeom>
          <a:gradFill flip="none" rotWithShape="1">
            <a:gsLst>
              <a:gs pos="100000">
                <a:srgbClr val="FCA072"/>
              </a:gs>
              <a:gs pos="1000">
                <a:srgbClr val="FCA072">
                  <a:lumMod val="75000"/>
                </a:srgbClr>
              </a:gs>
            </a:gsLst>
            <a:lin ang="19800000" scaled="0"/>
            <a:tileRect/>
          </a:gradFill>
          <a:ln w="38100" cap="flat" cmpd="sng" algn="ctr">
            <a:noFill/>
            <a:prstDash val="solid"/>
            <a:miter lim="800000"/>
          </a:ln>
          <a:effectLst>
            <a:outerShdw blurRad="469900" dist="123444" dir="5400000" sx="99000" sy="99000" algn="ctr" rotWithShape="0">
              <a:srgbClr val="FCA072">
                <a:alpha val="24000"/>
              </a:srgbClr>
            </a:outerShdw>
          </a:effectLst>
        </p:spPr>
        <p:txBody>
          <a:bodyPr wrap="square" lIns="98756" tIns="49375" rIns="98756" bIns="49375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Sans Bold" panose="00000800000000000000" pitchFamily="2" charset="-122"/>
              <a:ea typeface="MiSans Bold" panose="000008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149" name="米菲PPT27"/>
          <p:cNvSpPr/>
          <p:nvPr/>
        </p:nvSpPr>
        <p:spPr>
          <a:xfrm>
            <a:off x="6157122" y="3234705"/>
            <a:ext cx="630000" cy="263059"/>
          </a:xfrm>
          <a:prstGeom prst="roundRect">
            <a:avLst>
              <a:gd name="adj" fmla="val 23630"/>
            </a:avLst>
          </a:prstGeom>
          <a:gradFill>
            <a:gsLst>
              <a:gs pos="100000">
                <a:srgbClr val="FCA072">
                  <a:lumMod val="5000"/>
                  <a:lumOff val="95000"/>
                </a:srgbClr>
              </a:gs>
              <a:gs pos="1000">
                <a:sysClr val="window" lastClr="FFFFFF"/>
              </a:gs>
            </a:gsLst>
            <a:lin ang="19800000" scaled="0"/>
          </a:gradFill>
          <a:ln w="6350" cap="flat" cmpd="sng" algn="ctr">
            <a:solidFill>
              <a:srgbClr val="FCA072"/>
            </a:solidFill>
            <a:prstDash val="solid"/>
            <a:miter lim="800000"/>
          </a:ln>
          <a:effectLst>
            <a:outerShdw blurRad="469900" dist="123444" dir="5400000" sx="99000" sy="99000" algn="ctr" rotWithShape="0">
              <a:srgbClr val="FCA072">
                <a:alpha val="24000"/>
              </a:srgbClr>
            </a:outerShdw>
          </a:effectLst>
        </p:spPr>
        <p:txBody>
          <a:bodyPr wrap="square" lIns="98756" tIns="49375" rIns="98756" bIns="49375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FCA072">
                    <a:lumMod val="75000"/>
                  </a:srgbClr>
                </a:solidFill>
                <a:effectLst/>
                <a:uLnTx/>
                <a:uFillTx/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所在城市*品类</a:t>
            </a:r>
            <a:r>
              <a:rPr kumimoji="0" lang="en-US" altLang="zh-CN" sz="700" b="0" i="0" u="none" strike="noStrike" kern="0" cap="none" spc="0" normalizeH="0" baseline="0" noProof="0" dirty="0">
                <a:ln>
                  <a:noFill/>
                </a:ln>
                <a:solidFill>
                  <a:srgbClr val="FCA072">
                    <a:lumMod val="75000"/>
                  </a:srgbClr>
                </a:solidFill>
                <a:effectLst/>
                <a:uLnTx/>
                <a:uFillTx/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xx%</a:t>
            </a:r>
            <a:endParaRPr kumimoji="0" lang="zh-CN" altLang="en-US" sz="700" b="0" i="0" u="none" strike="noStrike" kern="0" cap="none" spc="0" normalizeH="0" baseline="0" noProof="0" dirty="0">
              <a:ln>
                <a:noFill/>
              </a:ln>
              <a:solidFill>
                <a:srgbClr val="FCA072">
                  <a:lumMod val="75000"/>
                </a:srgbClr>
              </a:solidFill>
              <a:effectLst/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  <a:sym typeface="MiSans Medium" panose="00000600000000000000" pitchFamily="2" charset="-122"/>
            </a:endParaRPr>
          </a:p>
        </p:txBody>
      </p:sp>
      <p:sp>
        <p:nvSpPr>
          <p:cNvPr id="151" name="米菲PPT29"/>
          <p:cNvSpPr/>
          <p:nvPr/>
        </p:nvSpPr>
        <p:spPr>
          <a:xfrm>
            <a:off x="6831525" y="3238922"/>
            <a:ext cx="630000" cy="263059"/>
          </a:xfrm>
          <a:prstGeom prst="roundRect">
            <a:avLst>
              <a:gd name="adj" fmla="val 28425"/>
            </a:avLst>
          </a:prstGeom>
          <a:gradFill>
            <a:gsLst>
              <a:gs pos="100000">
                <a:srgbClr val="FCA072">
                  <a:lumMod val="5000"/>
                  <a:lumOff val="95000"/>
                </a:srgbClr>
              </a:gs>
              <a:gs pos="1000">
                <a:sysClr val="window" lastClr="FFFFFF"/>
              </a:gs>
            </a:gsLst>
            <a:lin ang="19800000" scaled="0"/>
          </a:gradFill>
          <a:ln w="6350" cap="flat" cmpd="sng" algn="ctr">
            <a:solidFill>
              <a:srgbClr val="FCA072"/>
            </a:solidFill>
            <a:prstDash val="solid"/>
            <a:miter lim="800000"/>
          </a:ln>
          <a:effectLst>
            <a:outerShdw blurRad="469900" dist="123444" dir="5400000" sx="99000" sy="99000" algn="ctr" rotWithShape="0">
              <a:srgbClr val="FCA072">
                <a:alpha val="24000"/>
              </a:srgbClr>
            </a:outerShdw>
          </a:effectLst>
        </p:spPr>
        <p:txBody>
          <a:bodyPr wrap="square" lIns="98756" tIns="49375" rIns="98756" bIns="49375" rtlCol="0" anchor="ctr">
            <a:noAutofit/>
          </a:bodyPr>
          <a:lstStyle/>
          <a:p>
            <a:pPr lvl="0" algn="ctr"/>
            <a:r>
              <a:rPr kumimoji="0" lang="zh-CN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FCA072">
                    <a:lumMod val="75000"/>
                  </a:srgbClr>
                </a:solidFill>
                <a:effectLst/>
                <a:uLnTx/>
                <a:uFillTx/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所在商圈*品类</a:t>
            </a:r>
            <a:r>
              <a:rPr lang="en-US" altLang="zh-CN" sz="700" kern="0" dirty="0">
                <a:solidFill>
                  <a:srgbClr val="FCA072">
                    <a:lumMod val="75000"/>
                  </a:srgb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xx%</a:t>
            </a:r>
            <a:endParaRPr kumimoji="0" lang="zh-CN" altLang="en-US" sz="700" b="0" i="0" u="none" strike="noStrike" kern="0" cap="none" spc="0" normalizeH="0" baseline="0" noProof="0" dirty="0">
              <a:ln>
                <a:noFill/>
              </a:ln>
              <a:solidFill>
                <a:srgbClr val="FCA072">
                  <a:lumMod val="75000"/>
                </a:srgbClr>
              </a:solidFill>
              <a:effectLst/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  <a:sym typeface="MiSans Medium" panose="00000600000000000000" pitchFamily="2" charset="-122"/>
            </a:endParaRPr>
          </a:p>
        </p:txBody>
      </p:sp>
      <p:sp>
        <p:nvSpPr>
          <p:cNvPr id="153" name="米菲PPT31"/>
          <p:cNvSpPr/>
          <p:nvPr/>
        </p:nvSpPr>
        <p:spPr>
          <a:xfrm>
            <a:off x="7505928" y="3238922"/>
            <a:ext cx="630000" cy="263059"/>
          </a:xfrm>
          <a:prstGeom prst="roundRect">
            <a:avLst>
              <a:gd name="adj" fmla="val 26028"/>
            </a:avLst>
          </a:prstGeom>
          <a:gradFill>
            <a:gsLst>
              <a:gs pos="100000">
                <a:srgbClr val="FCA072">
                  <a:lumMod val="5000"/>
                  <a:lumOff val="95000"/>
                </a:srgbClr>
              </a:gs>
              <a:gs pos="1000">
                <a:sysClr val="window" lastClr="FFFFFF"/>
              </a:gs>
            </a:gsLst>
            <a:lin ang="19800000" scaled="0"/>
          </a:gradFill>
          <a:ln w="6350" cap="flat" cmpd="sng" algn="ctr">
            <a:solidFill>
              <a:srgbClr val="FCA072"/>
            </a:solidFill>
            <a:prstDash val="solid"/>
            <a:miter lim="800000"/>
          </a:ln>
          <a:effectLst>
            <a:outerShdw blurRad="469900" dist="123444" dir="5400000" sx="99000" sy="99000" algn="ctr" rotWithShape="0">
              <a:srgbClr val="FCA072">
                <a:alpha val="24000"/>
              </a:srgbClr>
            </a:outerShdw>
          </a:effectLst>
        </p:spPr>
        <p:txBody>
          <a:bodyPr wrap="square" lIns="98756" tIns="49375" rIns="98756" bIns="49375" rtlCol="0" anchor="ctr">
            <a:noAutofit/>
          </a:bodyPr>
          <a:lstStyle/>
          <a:p>
            <a:pPr lvl="0" algn="ctr"/>
            <a:r>
              <a:rPr kumimoji="0" lang="zh-CN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FCA072">
                    <a:lumMod val="75000"/>
                  </a:srgbClr>
                </a:solidFill>
                <a:effectLst/>
                <a:uLnTx/>
                <a:uFillTx/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所在</a:t>
            </a:r>
            <a:r>
              <a:rPr kumimoji="0" lang="en-US" altLang="zh-CN" sz="700" b="0" i="0" u="none" strike="noStrike" kern="0" cap="none" spc="0" normalizeH="0" baseline="0" noProof="0" dirty="0">
                <a:ln>
                  <a:noFill/>
                </a:ln>
                <a:solidFill>
                  <a:srgbClr val="FCA072">
                    <a:lumMod val="75000"/>
                  </a:srgbClr>
                </a:solidFill>
                <a:effectLst/>
                <a:uLnTx/>
                <a:uFillTx/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XX</a:t>
            </a:r>
            <a:r>
              <a:rPr kumimoji="0" lang="zh-CN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FCA072">
                    <a:lumMod val="75000"/>
                  </a:srgbClr>
                </a:solidFill>
                <a:effectLst/>
                <a:uLnTx/>
                <a:uFillTx/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榜单</a:t>
            </a:r>
            <a:r>
              <a:rPr lang="zh-CN" altLang="en-US" sz="700" kern="0" dirty="0">
                <a:solidFill>
                  <a:srgbClr val="FCA072">
                    <a:lumMod val="75000"/>
                  </a:srgb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第</a:t>
            </a:r>
            <a:r>
              <a:rPr lang="en-US" altLang="zh-CN" sz="700" kern="0" dirty="0">
                <a:solidFill>
                  <a:srgbClr val="FCA072">
                    <a:lumMod val="75000"/>
                  </a:srgb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X</a:t>
            </a:r>
            <a:r>
              <a:rPr lang="zh-CN" altLang="en-US" sz="700" kern="0" dirty="0">
                <a:solidFill>
                  <a:srgbClr val="FCA072">
                    <a:lumMod val="75000"/>
                  </a:srgb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名</a:t>
            </a:r>
            <a:endParaRPr kumimoji="0" lang="zh-CN" altLang="en-US" sz="700" b="0" i="0" u="none" strike="noStrike" kern="0" cap="none" spc="0" normalizeH="0" baseline="0" noProof="0" dirty="0">
              <a:ln>
                <a:noFill/>
              </a:ln>
              <a:solidFill>
                <a:srgbClr val="FCA072">
                  <a:lumMod val="75000"/>
                </a:srgbClr>
              </a:solidFill>
              <a:effectLst/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  <a:sym typeface="MiSans Medium" panose="00000600000000000000" pitchFamily="2" charset="-122"/>
            </a:endParaRPr>
          </a:p>
        </p:txBody>
      </p:sp>
      <p:sp>
        <p:nvSpPr>
          <p:cNvPr id="155" name="米菲PPT33"/>
          <p:cNvSpPr/>
          <p:nvPr/>
        </p:nvSpPr>
        <p:spPr>
          <a:xfrm>
            <a:off x="8180331" y="3236454"/>
            <a:ext cx="630000" cy="263059"/>
          </a:xfrm>
          <a:prstGeom prst="roundRect">
            <a:avLst>
              <a:gd name="adj" fmla="val 26028"/>
            </a:avLst>
          </a:prstGeom>
          <a:gradFill>
            <a:gsLst>
              <a:gs pos="100000">
                <a:srgbClr val="FCA072">
                  <a:lumMod val="5000"/>
                  <a:lumOff val="95000"/>
                </a:srgbClr>
              </a:gs>
              <a:gs pos="1000">
                <a:sysClr val="window" lastClr="FFFFFF"/>
              </a:gs>
            </a:gsLst>
            <a:lin ang="19800000" scaled="0"/>
          </a:gradFill>
          <a:ln w="6350" cap="flat" cmpd="sng" algn="ctr">
            <a:solidFill>
              <a:srgbClr val="FCA072"/>
            </a:solidFill>
            <a:prstDash val="solid"/>
            <a:miter lim="800000"/>
          </a:ln>
          <a:effectLst>
            <a:outerShdw blurRad="469900" dist="123444" dir="5400000" sx="99000" sy="99000" algn="ctr" rotWithShape="0">
              <a:srgbClr val="FCA072">
                <a:alpha val="24000"/>
              </a:srgbClr>
            </a:outerShdw>
          </a:effectLst>
        </p:spPr>
        <p:txBody>
          <a:bodyPr wrap="square" lIns="98756" tIns="49375" rIns="98756" bIns="49375" rtlCol="0" anchor="ctr">
            <a:noAutofit/>
          </a:bodyPr>
          <a:lstStyle/>
          <a:p>
            <a:pPr lvl="0" algn="ctr"/>
            <a:r>
              <a:rPr lang="zh-CN" altLang="en-US" sz="700" kern="0" dirty="0">
                <a:solidFill>
                  <a:srgbClr val="FCA072">
                    <a:lumMod val="75000"/>
                  </a:srgb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距离上一名差</a:t>
            </a:r>
            <a:r>
              <a:rPr lang="en-US" altLang="zh-CN" sz="700" kern="0" dirty="0">
                <a:solidFill>
                  <a:srgbClr val="FCA072">
                    <a:lumMod val="75000"/>
                  </a:srgb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XX</a:t>
            </a:r>
            <a:r>
              <a:rPr lang="zh-CN" altLang="en-US" sz="700" kern="0" dirty="0">
                <a:solidFill>
                  <a:srgbClr val="FCA072">
                    <a:lumMod val="75000"/>
                  </a:srgb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单</a:t>
            </a:r>
            <a:endParaRPr kumimoji="0" lang="zh-CN" altLang="en-US" sz="700" b="0" i="0" u="none" strike="noStrike" kern="0" cap="none" spc="0" normalizeH="0" baseline="0" noProof="0" dirty="0">
              <a:ln>
                <a:noFill/>
              </a:ln>
              <a:solidFill>
                <a:srgbClr val="FCA072">
                  <a:lumMod val="75000"/>
                </a:srgbClr>
              </a:solidFill>
              <a:effectLst/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  <a:sym typeface="MiSans Medium" panose="00000600000000000000" pitchFamily="2" charset="-122"/>
            </a:endParaRPr>
          </a:p>
        </p:txBody>
      </p:sp>
      <p:sp>
        <p:nvSpPr>
          <p:cNvPr id="156" name="米菲PPT34"/>
          <p:cNvSpPr/>
          <p:nvPr/>
        </p:nvSpPr>
        <p:spPr>
          <a:xfrm rot="16200000">
            <a:off x="7498157" y="2458191"/>
            <a:ext cx="98932" cy="2272232"/>
          </a:xfrm>
          <a:prstGeom prst="leftBracket">
            <a:avLst>
              <a:gd name="adj" fmla="val 0"/>
            </a:avLst>
          </a:prstGeom>
          <a:noFill/>
          <a:ln w="190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cxnSp>
        <p:nvCxnSpPr>
          <p:cNvPr id="157" name="米菲PPT35"/>
          <p:cNvCxnSpPr/>
          <p:nvPr/>
        </p:nvCxnSpPr>
        <p:spPr>
          <a:xfrm>
            <a:off x="7123426" y="3544840"/>
            <a:ext cx="0" cy="98933"/>
          </a:xfrm>
          <a:prstGeom prst="line">
            <a:avLst/>
          </a:prstGeom>
          <a:noFill/>
          <a:ln w="190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cxnSp>
        <p:nvCxnSpPr>
          <p:cNvPr id="158" name="米菲PPT36"/>
          <p:cNvCxnSpPr/>
          <p:nvPr/>
        </p:nvCxnSpPr>
        <p:spPr>
          <a:xfrm>
            <a:off x="7971819" y="3544840"/>
            <a:ext cx="0" cy="98933"/>
          </a:xfrm>
          <a:prstGeom prst="line">
            <a:avLst/>
          </a:prstGeom>
          <a:noFill/>
          <a:ln w="190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159" name="米菲PPT37"/>
          <p:cNvSpPr/>
          <p:nvPr/>
        </p:nvSpPr>
        <p:spPr>
          <a:xfrm>
            <a:off x="6764711" y="3751047"/>
            <a:ext cx="1434995" cy="192154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100000">
                <a:srgbClr val="FCA072"/>
              </a:gs>
              <a:gs pos="1000">
                <a:srgbClr val="FCA072">
                  <a:lumMod val="75000"/>
                </a:srgbClr>
              </a:gs>
            </a:gsLst>
            <a:lin ang="19800000" scaled="0"/>
            <a:tileRect/>
          </a:gradFill>
          <a:ln w="6350" cap="flat" cmpd="sng" algn="ctr">
            <a:solidFill>
              <a:srgbClr val="FCA072"/>
            </a:solidFill>
            <a:prstDash val="solid"/>
            <a:miter lim="800000"/>
          </a:ln>
          <a:effectLst>
            <a:outerShdw blurRad="469900" dist="123444" dir="5400000" sx="99000" sy="99000" algn="ctr" rotWithShape="0">
              <a:srgbClr val="FCA072">
                <a:alpha val="24000"/>
              </a:srgbClr>
            </a:outerShdw>
          </a:effectLst>
        </p:spPr>
        <p:txBody>
          <a:bodyPr wrap="square" lIns="98756" tIns="49375" rIns="98756" bIns="49375" rtlCol="0" anchor="ctr">
            <a:noAutofit/>
          </a:bodyPr>
          <a:lstStyle/>
          <a:p>
            <a:pPr lvl="0" algn="ctr"/>
            <a:r>
              <a:rPr kumimoji="0" lang="zh-CN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</a:rPr>
              <a:t>预计</a:t>
            </a:r>
            <a:r>
              <a:rPr kumimoji="0" lang="en-US" altLang="zh-CN" sz="7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</a:rPr>
              <a:t>1</a:t>
            </a:r>
            <a:r>
              <a:rPr kumimoji="0" lang="zh-CN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</a:rPr>
              <a:t>周内可冲上</a:t>
            </a:r>
            <a:r>
              <a:rPr kumimoji="0" lang="en-US" altLang="zh-CN" sz="7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</a:rPr>
              <a:t>XX</a:t>
            </a:r>
            <a:r>
              <a:rPr kumimoji="0" lang="zh-CN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</a:rPr>
              <a:t>榜第</a:t>
            </a:r>
            <a:r>
              <a:rPr lang="en-US" altLang="zh-CN" sz="700" kern="0" dirty="0">
                <a:solidFill>
                  <a:srgbClr val="FFFFFF"/>
                </a:solidFill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</a:rPr>
              <a:t>X</a:t>
            </a:r>
            <a:r>
              <a:rPr lang="zh-CN" altLang="en-US" sz="700" kern="0" dirty="0">
                <a:solidFill>
                  <a:srgbClr val="FFFFFF"/>
                </a:solidFill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</a:rPr>
              <a:t>名</a:t>
            </a:r>
            <a:endParaRPr kumimoji="0" lang="zh-CN" altLang="en-US" sz="7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Sans Bold" panose="00000800000000000000" pitchFamily="2" charset="-122"/>
              <a:ea typeface="MiSans Bold" panose="000008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160" name="米菲PPT38"/>
          <p:cNvSpPr/>
          <p:nvPr/>
        </p:nvSpPr>
        <p:spPr>
          <a:xfrm>
            <a:off x="7098663" y="4065074"/>
            <a:ext cx="750751" cy="192154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rgbClr val="FCA072">
                  <a:lumMod val="5000"/>
                  <a:lumOff val="95000"/>
                </a:srgbClr>
              </a:gs>
              <a:gs pos="1000">
                <a:sysClr val="window" lastClr="FFFFFF"/>
              </a:gs>
            </a:gsLst>
            <a:lin ang="19800000" scaled="0"/>
          </a:gradFill>
          <a:ln w="6350" cap="flat" cmpd="sng" algn="ctr">
            <a:solidFill>
              <a:srgbClr val="FCA072"/>
            </a:solidFill>
            <a:prstDash val="solid"/>
            <a:miter lim="800000"/>
          </a:ln>
          <a:effectLst>
            <a:outerShdw blurRad="469900" dist="123444" dir="5400000" sx="99000" sy="99000" algn="ctr" rotWithShape="0">
              <a:srgbClr val="FCA072">
                <a:alpha val="24000"/>
              </a:srgbClr>
            </a:outerShdw>
          </a:effectLst>
        </p:spPr>
        <p:txBody>
          <a:bodyPr wrap="square" lIns="98756" tIns="49375" rIns="98756" bIns="49375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FCA072">
                    <a:lumMod val="75000"/>
                  </a:srgbClr>
                </a:solidFill>
                <a:effectLst/>
                <a:uLnTx/>
                <a:uFillTx/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诊断建议</a:t>
            </a:r>
          </a:p>
        </p:txBody>
      </p:sp>
      <p:sp>
        <p:nvSpPr>
          <p:cNvPr id="161" name="米菲PPT39"/>
          <p:cNvSpPr/>
          <p:nvPr/>
        </p:nvSpPr>
        <p:spPr>
          <a:xfrm>
            <a:off x="6458874" y="4442711"/>
            <a:ext cx="640800" cy="192154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rgbClr val="FCA072">
                  <a:lumMod val="5000"/>
                  <a:lumOff val="95000"/>
                </a:srgbClr>
              </a:gs>
              <a:gs pos="1000">
                <a:sysClr val="window" lastClr="FFFFFF"/>
              </a:gs>
            </a:gsLst>
            <a:lin ang="19800000" scaled="0"/>
          </a:gradFill>
          <a:ln w="6350" cap="flat" cmpd="sng" algn="ctr">
            <a:solidFill>
              <a:srgbClr val="FCA072"/>
            </a:solidFill>
            <a:prstDash val="solid"/>
            <a:miter lim="800000"/>
          </a:ln>
          <a:effectLst>
            <a:outerShdw blurRad="469900" dist="123444" dir="5400000" sx="99000" sy="99000" algn="ctr" rotWithShape="0">
              <a:srgbClr val="FCA072">
                <a:alpha val="24000"/>
              </a:srgbClr>
            </a:outerShdw>
          </a:effectLst>
        </p:spPr>
        <p:txBody>
          <a:bodyPr wrap="square" lIns="98756" tIns="49375" rIns="98756" bIns="49375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700" kern="0" dirty="0">
                <a:solidFill>
                  <a:srgbClr val="FCA072">
                    <a:lumMod val="75000"/>
                  </a:srgb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套餐数量</a:t>
            </a:r>
            <a:endParaRPr kumimoji="0" lang="zh-CN" altLang="en-US" sz="700" b="0" i="0" u="none" strike="noStrike" kern="0" cap="none" spc="0" normalizeH="0" baseline="0" noProof="0" dirty="0">
              <a:ln>
                <a:noFill/>
              </a:ln>
              <a:solidFill>
                <a:srgbClr val="FCA072">
                  <a:lumMod val="75000"/>
                </a:srgbClr>
              </a:solidFill>
              <a:effectLst/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  <a:sym typeface="MiSans Medium" panose="00000600000000000000" pitchFamily="2" charset="-122"/>
            </a:endParaRPr>
          </a:p>
        </p:txBody>
      </p:sp>
      <p:sp>
        <p:nvSpPr>
          <p:cNvPr id="162" name="米菲PPT40"/>
          <p:cNvSpPr/>
          <p:nvPr/>
        </p:nvSpPr>
        <p:spPr>
          <a:xfrm rot="5400000" flipV="1">
            <a:off x="7436005" y="3804772"/>
            <a:ext cx="107011" cy="1168865"/>
          </a:xfrm>
          <a:prstGeom prst="leftBracket">
            <a:avLst>
              <a:gd name="adj" fmla="val 0"/>
            </a:avLst>
          </a:prstGeom>
          <a:noFill/>
          <a:ln w="190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163" name="米菲PPT41"/>
          <p:cNvSpPr/>
          <p:nvPr/>
        </p:nvSpPr>
        <p:spPr>
          <a:xfrm>
            <a:off x="7163847" y="4442711"/>
            <a:ext cx="636722" cy="192154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rgbClr val="FCA072">
                  <a:lumMod val="5000"/>
                  <a:lumOff val="95000"/>
                </a:srgbClr>
              </a:gs>
              <a:gs pos="1000">
                <a:sysClr val="window" lastClr="FFFFFF"/>
              </a:gs>
            </a:gsLst>
            <a:lin ang="19800000" scaled="0"/>
          </a:gradFill>
          <a:ln w="6350" cap="flat" cmpd="sng" algn="ctr">
            <a:solidFill>
              <a:srgbClr val="FCA072"/>
            </a:solidFill>
            <a:prstDash val="solid"/>
            <a:miter lim="800000"/>
          </a:ln>
          <a:effectLst>
            <a:outerShdw blurRad="469900" dist="123444" dir="5400000" sx="99000" sy="99000" algn="ctr" rotWithShape="0">
              <a:srgbClr val="FCA072">
                <a:alpha val="24000"/>
              </a:srgbClr>
            </a:outerShdw>
          </a:effectLst>
        </p:spPr>
        <p:txBody>
          <a:bodyPr wrap="square" lIns="98756" tIns="49375" rIns="98756" bIns="49375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700" kern="0" dirty="0">
                <a:solidFill>
                  <a:srgbClr val="FCA072">
                    <a:lumMod val="75000"/>
                  </a:srgb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折扣力度</a:t>
            </a:r>
            <a:endParaRPr kumimoji="0" lang="zh-CN" altLang="en-US" sz="700" b="0" i="0" u="none" strike="noStrike" kern="0" cap="none" spc="0" normalizeH="0" baseline="0" noProof="0" dirty="0">
              <a:ln>
                <a:noFill/>
              </a:ln>
              <a:solidFill>
                <a:srgbClr val="FCA072">
                  <a:lumMod val="75000"/>
                </a:srgbClr>
              </a:solidFill>
              <a:effectLst/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  <a:sym typeface="MiSans Medium" panose="00000600000000000000" pitchFamily="2" charset="-122"/>
            </a:endParaRPr>
          </a:p>
        </p:txBody>
      </p:sp>
      <p:sp>
        <p:nvSpPr>
          <p:cNvPr id="164" name="米菲PPT42"/>
          <p:cNvSpPr/>
          <p:nvPr/>
        </p:nvSpPr>
        <p:spPr>
          <a:xfrm>
            <a:off x="7864742" y="4444871"/>
            <a:ext cx="640800" cy="192154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rgbClr val="FCA072">
                  <a:lumMod val="5000"/>
                  <a:lumOff val="95000"/>
                </a:srgbClr>
              </a:gs>
              <a:gs pos="1000">
                <a:sysClr val="window" lastClr="FFFFFF"/>
              </a:gs>
            </a:gsLst>
            <a:lin ang="19800000" scaled="0"/>
          </a:gradFill>
          <a:ln w="6350" cap="flat" cmpd="sng" algn="ctr">
            <a:solidFill>
              <a:srgbClr val="FCA072"/>
            </a:solidFill>
            <a:prstDash val="solid"/>
            <a:miter lim="800000"/>
          </a:ln>
          <a:effectLst>
            <a:outerShdw blurRad="469900" dist="123444" dir="5400000" sx="99000" sy="99000" algn="ctr" rotWithShape="0">
              <a:srgbClr val="FCA072">
                <a:alpha val="24000"/>
              </a:srgbClr>
            </a:outerShdw>
          </a:effectLst>
        </p:spPr>
        <p:txBody>
          <a:bodyPr wrap="square" lIns="98756" tIns="49375" rIns="98756" bIns="49375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700" kern="0" dirty="0">
                <a:solidFill>
                  <a:srgbClr val="FCA072">
                    <a:lumMod val="75000"/>
                  </a:srgb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套餐餐型</a:t>
            </a:r>
            <a:endParaRPr kumimoji="0" lang="zh-CN" altLang="en-US" sz="700" b="0" i="0" u="none" strike="noStrike" kern="0" cap="none" spc="0" normalizeH="0" baseline="0" noProof="0" dirty="0">
              <a:ln>
                <a:noFill/>
              </a:ln>
              <a:solidFill>
                <a:srgbClr val="FCA072">
                  <a:lumMod val="75000"/>
                </a:srgbClr>
              </a:solidFill>
              <a:effectLst/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  <a:sym typeface="MiSans Medium" panose="00000600000000000000" pitchFamily="2" charset="-122"/>
            </a:endParaRPr>
          </a:p>
        </p:txBody>
      </p:sp>
      <p:sp>
        <p:nvSpPr>
          <p:cNvPr id="165" name="米菲PPT43"/>
          <p:cNvSpPr txBox="1"/>
          <p:nvPr/>
        </p:nvSpPr>
        <p:spPr>
          <a:xfrm>
            <a:off x="525035" y="1365296"/>
            <a:ext cx="2447618" cy="6610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lnSpc>
                <a:spcPct val="120000"/>
              </a:lnSpc>
            </a:pPr>
            <a:r>
              <a:rPr lang="zh-CN" altLang="en-US" sz="1050" dirty="0">
                <a:solidFill>
                  <a:prstClr val="black">
                    <a:lumMod val="65000"/>
                    <a:lumOff val="35000"/>
                  </a:prst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将榜单作为优质门店的筛选器，与到餐外的业务合作，输出优质供给，提升转化效率，实现与餐外业务共赢。</a:t>
            </a:r>
          </a:p>
        </p:txBody>
      </p:sp>
      <p:sp>
        <p:nvSpPr>
          <p:cNvPr id="166" name="米菲PPT44"/>
          <p:cNvSpPr/>
          <p:nvPr/>
        </p:nvSpPr>
        <p:spPr>
          <a:xfrm>
            <a:off x="526358" y="2018109"/>
            <a:ext cx="2399743" cy="248126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F57359">
                  <a:lumMod val="75000"/>
                </a:srgbClr>
              </a:gs>
              <a:gs pos="100000">
                <a:srgbClr val="F57359"/>
              </a:gs>
            </a:gsLst>
            <a:path path="circle">
              <a:fillToRect l="100000" t="100000"/>
            </a:path>
          </a:gradFill>
          <a:ln w="12700" cap="flat" cmpd="sng" algn="ctr">
            <a:noFill/>
            <a:prstDash val="solid"/>
            <a:miter lim="800000"/>
          </a:ln>
          <a:effectLst>
            <a:outerShdw blurRad="469900" dist="139700" dir="5400000" algn="t" rotWithShape="0">
              <a:srgbClr val="F57359">
                <a:alpha val="24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rPr>
              <a:t>到餐外多触点合作</a:t>
            </a:r>
          </a:p>
        </p:txBody>
      </p:sp>
      <p:sp>
        <p:nvSpPr>
          <p:cNvPr id="167" name="米菲PPT45"/>
          <p:cNvSpPr/>
          <p:nvPr/>
        </p:nvSpPr>
        <p:spPr>
          <a:xfrm>
            <a:off x="526358" y="3689744"/>
            <a:ext cx="2399743" cy="248126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F57359">
                  <a:lumMod val="75000"/>
                </a:srgbClr>
              </a:gs>
              <a:gs pos="100000">
                <a:srgbClr val="F57359"/>
              </a:gs>
            </a:gsLst>
            <a:path path="circle">
              <a:fillToRect l="100000" t="100000"/>
            </a:path>
          </a:gradFill>
          <a:ln w="12700" cap="flat" cmpd="sng" algn="ctr">
            <a:noFill/>
            <a:prstDash val="solid"/>
            <a:miter lim="800000"/>
          </a:ln>
          <a:effectLst>
            <a:outerShdw blurRad="469900" dist="139700" dir="5400000" algn="t" rotWithShape="0">
              <a:srgbClr val="F57359">
                <a:alpha val="24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rPr>
              <a:t>沉淀美团榜单用户心智</a:t>
            </a:r>
          </a:p>
        </p:txBody>
      </p:sp>
      <p:sp>
        <p:nvSpPr>
          <p:cNvPr id="168" name="米菲PPT46"/>
          <p:cNvSpPr/>
          <p:nvPr/>
        </p:nvSpPr>
        <p:spPr>
          <a:xfrm>
            <a:off x="551534" y="4009154"/>
            <a:ext cx="1152283" cy="809654"/>
          </a:xfrm>
          <a:prstGeom prst="rect">
            <a:avLst/>
          </a:prstGeom>
          <a:gradFill>
            <a:gsLst>
              <a:gs pos="100000">
                <a:srgbClr val="F57359">
                  <a:lumMod val="5000"/>
                  <a:lumOff val="95000"/>
                </a:srgbClr>
              </a:gs>
              <a:gs pos="1000">
                <a:sysClr val="window" lastClr="FFFFFF"/>
              </a:gs>
            </a:gsLst>
            <a:lin ang="19800000" scaled="0"/>
          </a:gradFill>
          <a:ln w="6350" cap="flat" cmpd="sng" algn="ctr">
            <a:solidFill>
              <a:srgbClr val="F57359"/>
            </a:solidFill>
            <a:prstDash val="solid"/>
            <a:miter lim="800000"/>
          </a:ln>
          <a:effectLst>
            <a:outerShdw blurRad="469900" dist="139700" dir="5400000" algn="t" rotWithShape="0">
              <a:srgbClr val="F57359">
                <a:alpha val="24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169" name="米菲PPT47"/>
          <p:cNvSpPr/>
          <p:nvPr/>
        </p:nvSpPr>
        <p:spPr>
          <a:xfrm>
            <a:off x="1773818" y="4009154"/>
            <a:ext cx="1152283" cy="809654"/>
          </a:xfrm>
          <a:prstGeom prst="rect">
            <a:avLst/>
          </a:prstGeom>
          <a:gradFill>
            <a:gsLst>
              <a:gs pos="100000">
                <a:srgbClr val="F57359">
                  <a:lumMod val="5000"/>
                  <a:lumOff val="95000"/>
                </a:srgbClr>
              </a:gs>
              <a:gs pos="1000">
                <a:sysClr val="window" lastClr="FFFFFF"/>
              </a:gs>
            </a:gsLst>
            <a:lin ang="19800000" scaled="0"/>
          </a:gradFill>
          <a:ln w="6350" cap="flat" cmpd="sng" algn="ctr">
            <a:solidFill>
              <a:srgbClr val="F57359"/>
            </a:solidFill>
            <a:prstDash val="solid"/>
            <a:miter lim="800000"/>
          </a:ln>
          <a:effectLst>
            <a:outerShdw blurRad="469900" dist="139700" dir="5400000" algn="t" rotWithShape="0">
              <a:srgbClr val="F57359">
                <a:alpha val="24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174" name="米菲PPT50"/>
          <p:cNvSpPr txBox="1"/>
          <p:nvPr/>
        </p:nvSpPr>
        <p:spPr>
          <a:xfrm>
            <a:off x="613074" y="4284908"/>
            <a:ext cx="1029203" cy="2811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>
              <a:lnSpc>
                <a:spcPct val="120000"/>
              </a:lnSpc>
            </a:pPr>
            <a:r>
              <a:rPr lang="zh-CN" altLang="en-US" sz="1100" dirty="0">
                <a:solidFill>
                  <a:prstClr val="black">
                    <a:lumMod val="65000"/>
                    <a:lumOff val="35000"/>
                  </a:prst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建设榜单</a:t>
            </a:r>
            <a:r>
              <a:rPr lang="en-US" altLang="zh-CN" sz="1100" dirty="0">
                <a:solidFill>
                  <a:prstClr val="black">
                    <a:lumMod val="65000"/>
                    <a:lumOff val="35000"/>
                  </a:prst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IP</a:t>
            </a:r>
            <a:endParaRPr lang="zh-CN" altLang="en-US" sz="1100" dirty="0">
              <a:solidFill>
                <a:prstClr val="black">
                  <a:lumMod val="65000"/>
                  <a:lumOff val="35000"/>
                </a:prstClr>
              </a:solidFill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  <a:sym typeface="MiSans Medium" panose="00000600000000000000" pitchFamily="2" charset="-122"/>
            </a:endParaRPr>
          </a:p>
        </p:txBody>
      </p:sp>
      <p:sp>
        <p:nvSpPr>
          <p:cNvPr id="175" name="米菲PPT51"/>
          <p:cNvSpPr txBox="1"/>
          <p:nvPr/>
        </p:nvSpPr>
        <p:spPr>
          <a:xfrm>
            <a:off x="1781756" y="4206934"/>
            <a:ext cx="1147845" cy="4850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>
              <a:lnSpc>
                <a:spcPct val="120000"/>
              </a:lnSpc>
            </a:pPr>
            <a:r>
              <a:rPr lang="zh-CN" altLang="en-US" sz="1100" dirty="0">
                <a:solidFill>
                  <a:prstClr val="black">
                    <a:lumMod val="65000"/>
                    <a:lumOff val="35000"/>
                  </a:prst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引导回流榜单落地页</a:t>
            </a:r>
          </a:p>
        </p:txBody>
      </p:sp>
      <p:grpSp>
        <p:nvGrpSpPr>
          <p:cNvPr id="176" name="米菲PPT52"/>
          <p:cNvGrpSpPr/>
          <p:nvPr/>
        </p:nvGrpSpPr>
        <p:grpSpPr>
          <a:xfrm>
            <a:off x="1916492" y="2422125"/>
            <a:ext cx="678320" cy="395200"/>
            <a:chOff x="1721747" y="3023106"/>
            <a:chExt cx="990806" cy="577260"/>
          </a:xfrm>
        </p:grpSpPr>
        <p:sp>
          <p:nvSpPr>
            <p:cNvPr id="177" name="米菲PPT52-1"/>
            <p:cNvSpPr/>
            <p:nvPr/>
          </p:nvSpPr>
          <p:spPr>
            <a:xfrm>
              <a:off x="1913195" y="3023106"/>
              <a:ext cx="577260" cy="577260"/>
            </a:xfrm>
            <a:prstGeom prst="ellipse">
              <a:avLst/>
            </a:prstGeom>
            <a:gradFill>
              <a:gsLst>
                <a:gs pos="100000">
                  <a:srgbClr val="F57359">
                    <a:lumMod val="5000"/>
                    <a:lumOff val="95000"/>
                  </a:srgbClr>
                </a:gs>
                <a:gs pos="1000">
                  <a:sysClr val="window" lastClr="FFFFFF"/>
                </a:gs>
              </a:gsLst>
              <a:lin ang="19800000" scaled="0"/>
            </a:gradFill>
            <a:ln w="6350" cap="flat" cmpd="sng" algn="ctr">
              <a:solidFill>
                <a:srgbClr val="F57359"/>
              </a:solidFill>
              <a:prstDash val="solid"/>
              <a:miter lim="800000"/>
            </a:ln>
            <a:effectLst>
              <a:outerShdw blurRad="469900" dist="139700" dir="5400000" algn="t" rotWithShape="0">
                <a:srgbClr val="F57359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5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endParaRPr>
            </a:p>
          </p:txBody>
        </p:sp>
        <p:sp>
          <p:nvSpPr>
            <p:cNvPr id="178" name="米菲PPT52-2"/>
            <p:cNvSpPr txBox="1"/>
            <p:nvPr/>
          </p:nvSpPr>
          <p:spPr>
            <a:xfrm>
              <a:off x="1721747" y="3114826"/>
              <a:ext cx="990806" cy="3855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MiSans Medium" panose="00000600000000000000" pitchFamily="2" charset="-122"/>
                  <a:ea typeface="MiSans Medium" panose="00000600000000000000" pitchFamily="2" charset="-122"/>
                  <a:cs typeface="MiSans Medium" panose="00000600000000000000" pitchFamily="2" charset="-122"/>
                  <a:sym typeface="MiSans Medium" panose="00000600000000000000" pitchFamily="2" charset="-122"/>
                </a:rPr>
                <a:t>会员</a:t>
              </a:r>
            </a:p>
          </p:txBody>
        </p:sp>
      </p:grpSp>
      <p:grpSp>
        <p:nvGrpSpPr>
          <p:cNvPr id="179" name="米菲PPT53"/>
          <p:cNvGrpSpPr/>
          <p:nvPr/>
        </p:nvGrpSpPr>
        <p:grpSpPr>
          <a:xfrm>
            <a:off x="2167461" y="2927893"/>
            <a:ext cx="541506" cy="425276"/>
            <a:chOff x="1859930" y="3023106"/>
            <a:chExt cx="735028" cy="577260"/>
          </a:xfrm>
        </p:grpSpPr>
        <p:sp>
          <p:nvSpPr>
            <p:cNvPr id="180" name="米菲PPT53-1"/>
            <p:cNvSpPr/>
            <p:nvPr/>
          </p:nvSpPr>
          <p:spPr>
            <a:xfrm>
              <a:off x="1913195" y="3023106"/>
              <a:ext cx="577260" cy="577260"/>
            </a:xfrm>
            <a:prstGeom prst="ellipse">
              <a:avLst/>
            </a:prstGeom>
            <a:gradFill>
              <a:gsLst>
                <a:gs pos="100000">
                  <a:srgbClr val="F57359">
                    <a:lumMod val="5000"/>
                    <a:lumOff val="95000"/>
                  </a:srgbClr>
                </a:gs>
                <a:gs pos="1000">
                  <a:sysClr val="window" lastClr="FFFFFF"/>
                </a:gs>
              </a:gsLst>
              <a:lin ang="19800000" scaled="0"/>
            </a:gradFill>
            <a:ln w="6350" cap="flat" cmpd="sng" algn="ctr">
              <a:solidFill>
                <a:srgbClr val="F57359"/>
              </a:solidFill>
              <a:prstDash val="solid"/>
              <a:miter lim="800000"/>
            </a:ln>
            <a:effectLst>
              <a:outerShdw blurRad="469900" dist="139700" dir="5400000" algn="t" rotWithShape="0">
                <a:srgbClr val="F57359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5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endParaRPr>
            </a:p>
          </p:txBody>
        </p:sp>
        <p:sp>
          <p:nvSpPr>
            <p:cNvPr id="181" name="米菲PPT53-2"/>
            <p:cNvSpPr txBox="1"/>
            <p:nvPr/>
          </p:nvSpPr>
          <p:spPr>
            <a:xfrm>
              <a:off x="1859930" y="3039496"/>
              <a:ext cx="735028" cy="5431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MiSans Medium" panose="00000600000000000000" pitchFamily="2" charset="-122"/>
                  <a:ea typeface="MiSans Medium" panose="00000600000000000000" pitchFamily="2" charset="-122"/>
                  <a:cs typeface="MiSans Medium" panose="00000600000000000000" pitchFamily="2" charset="-122"/>
                  <a:sym typeface="MiSans Medium" panose="00000600000000000000" pitchFamily="2" charset="-122"/>
                </a:rPr>
                <a:t>营销活动</a:t>
              </a:r>
            </a:p>
          </p:txBody>
        </p:sp>
      </p:grpSp>
      <p:grpSp>
        <p:nvGrpSpPr>
          <p:cNvPr id="182" name="米菲PPT54"/>
          <p:cNvGrpSpPr/>
          <p:nvPr/>
        </p:nvGrpSpPr>
        <p:grpSpPr>
          <a:xfrm>
            <a:off x="1017379" y="2408502"/>
            <a:ext cx="464450" cy="425276"/>
            <a:chOff x="1895394" y="3023106"/>
            <a:chExt cx="630434" cy="577260"/>
          </a:xfrm>
        </p:grpSpPr>
        <p:sp>
          <p:nvSpPr>
            <p:cNvPr id="183" name="米菲PPT54-1"/>
            <p:cNvSpPr/>
            <p:nvPr/>
          </p:nvSpPr>
          <p:spPr>
            <a:xfrm>
              <a:off x="1913195" y="3023106"/>
              <a:ext cx="577260" cy="577260"/>
            </a:xfrm>
            <a:prstGeom prst="ellipse">
              <a:avLst/>
            </a:prstGeom>
            <a:gradFill>
              <a:gsLst>
                <a:gs pos="100000">
                  <a:srgbClr val="F57359">
                    <a:lumMod val="5000"/>
                    <a:lumOff val="95000"/>
                  </a:srgbClr>
                </a:gs>
                <a:gs pos="1000">
                  <a:sysClr val="window" lastClr="FFFFFF"/>
                </a:gs>
              </a:gsLst>
              <a:lin ang="19800000" scaled="0"/>
            </a:gradFill>
            <a:ln w="6350" cap="flat" cmpd="sng" algn="ctr">
              <a:solidFill>
                <a:srgbClr val="F57359"/>
              </a:solidFill>
              <a:prstDash val="solid"/>
              <a:miter lim="800000"/>
            </a:ln>
            <a:effectLst>
              <a:outerShdw blurRad="469900" dist="139700" dir="5400000" algn="t" rotWithShape="0">
                <a:srgbClr val="F57359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5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endParaRPr>
            </a:p>
          </p:txBody>
        </p:sp>
        <p:sp>
          <p:nvSpPr>
            <p:cNvPr id="184" name="米菲PPT54-2"/>
            <p:cNvSpPr txBox="1"/>
            <p:nvPr/>
          </p:nvSpPr>
          <p:spPr>
            <a:xfrm>
              <a:off x="1895394" y="3128505"/>
              <a:ext cx="630434" cy="3342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MiSans Medium" panose="00000600000000000000" pitchFamily="2" charset="-122"/>
                  <a:ea typeface="MiSans Medium" panose="00000600000000000000" pitchFamily="2" charset="-122"/>
                  <a:cs typeface="MiSans Medium" panose="00000600000000000000" pitchFamily="2" charset="-122"/>
                  <a:sym typeface="MiSans Medium" panose="00000600000000000000" pitchFamily="2" charset="-122"/>
                </a:rPr>
                <a:t>猜喜</a:t>
              </a:r>
              <a:endPara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endParaRPr>
            </a:p>
          </p:txBody>
        </p:sp>
      </p:grpSp>
      <p:grpSp>
        <p:nvGrpSpPr>
          <p:cNvPr id="185" name="米菲PPT55"/>
          <p:cNvGrpSpPr/>
          <p:nvPr/>
        </p:nvGrpSpPr>
        <p:grpSpPr>
          <a:xfrm>
            <a:off x="671471" y="2900540"/>
            <a:ext cx="492126" cy="425276"/>
            <a:chOff x="1867824" y="3023106"/>
            <a:chExt cx="668001" cy="577260"/>
          </a:xfrm>
        </p:grpSpPr>
        <p:sp>
          <p:nvSpPr>
            <p:cNvPr id="186" name="米菲PPT55-1"/>
            <p:cNvSpPr/>
            <p:nvPr/>
          </p:nvSpPr>
          <p:spPr>
            <a:xfrm>
              <a:off x="1913195" y="3023106"/>
              <a:ext cx="577260" cy="577260"/>
            </a:xfrm>
            <a:prstGeom prst="ellipse">
              <a:avLst/>
            </a:prstGeom>
            <a:gradFill>
              <a:gsLst>
                <a:gs pos="100000">
                  <a:srgbClr val="F57359">
                    <a:lumMod val="5000"/>
                    <a:lumOff val="95000"/>
                  </a:srgbClr>
                </a:gs>
                <a:gs pos="1000">
                  <a:sysClr val="window" lastClr="FFFFFF"/>
                </a:gs>
              </a:gsLst>
              <a:lin ang="19800000" scaled="0"/>
            </a:gradFill>
            <a:ln w="6350" cap="flat" cmpd="sng" algn="ctr">
              <a:solidFill>
                <a:srgbClr val="F57359"/>
              </a:solidFill>
              <a:prstDash val="solid"/>
              <a:miter lim="800000"/>
            </a:ln>
            <a:effectLst>
              <a:outerShdw blurRad="469900" dist="139700" dir="5400000" algn="t" rotWithShape="0">
                <a:srgbClr val="F57359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5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endParaRPr>
            </a:p>
          </p:txBody>
        </p:sp>
        <p:sp>
          <p:nvSpPr>
            <p:cNvPr id="187" name="米菲PPT55-2"/>
            <p:cNvSpPr txBox="1"/>
            <p:nvPr/>
          </p:nvSpPr>
          <p:spPr>
            <a:xfrm>
              <a:off x="1867824" y="3150473"/>
              <a:ext cx="668001" cy="3342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MiSans Medium" panose="00000600000000000000" pitchFamily="2" charset="-122"/>
                  <a:ea typeface="MiSans Medium" panose="00000600000000000000" pitchFamily="2" charset="-122"/>
                  <a:cs typeface="MiSans Medium" panose="00000600000000000000" pitchFamily="2" charset="-122"/>
                  <a:sym typeface="MiSans Medium" panose="00000600000000000000" pitchFamily="2" charset="-122"/>
                </a:rPr>
                <a:t>点评</a:t>
              </a:r>
            </a:p>
          </p:txBody>
        </p:sp>
      </p:grpSp>
      <p:grpSp>
        <p:nvGrpSpPr>
          <p:cNvPr id="188" name="米菲PPT56"/>
          <p:cNvGrpSpPr/>
          <p:nvPr/>
        </p:nvGrpSpPr>
        <p:grpSpPr>
          <a:xfrm>
            <a:off x="1474399" y="2730379"/>
            <a:ext cx="598837" cy="517491"/>
            <a:chOff x="1886191" y="3023106"/>
            <a:chExt cx="668001" cy="577260"/>
          </a:xfrm>
        </p:grpSpPr>
        <p:sp>
          <p:nvSpPr>
            <p:cNvPr id="189" name="米菲PPT56-1"/>
            <p:cNvSpPr/>
            <p:nvPr/>
          </p:nvSpPr>
          <p:spPr>
            <a:xfrm>
              <a:off x="1913195" y="3023106"/>
              <a:ext cx="577260" cy="577260"/>
            </a:xfrm>
            <a:prstGeom prst="ellipse">
              <a:avLst/>
            </a:prstGeom>
            <a:gradFill>
              <a:gsLst>
                <a:gs pos="100000">
                  <a:srgbClr val="F57359">
                    <a:lumMod val="5000"/>
                    <a:lumOff val="95000"/>
                  </a:srgbClr>
                </a:gs>
                <a:gs pos="1000">
                  <a:sysClr val="window" lastClr="FFFFFF"/>
                </a:gs>
              </a:gsLst>
              <a:lin ang="19800000" scaled="0"/>
            </a:gradFill>
            <a:ln w="6350" cap="flat" cmpd="sng" algn="ctr">
              <a:solidFill>
                <a:srgbClr val="F57359"/>
              </a:solidFill>
              <a:prstDash val="solid"/>
              <a:miter lim="800000"/>
            </a:ln>
            <a:effectLst>
              <a:outerShdw blurRad="469900" dist="139700" dir="5400000" algn="t" rotWithShape="0">
                <a:srgbClr val="F57359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endParaRPr>
            </a:p>
          </p:txBody>
        </p:sp>
        <p:sp>
          <p:nvSpPr>
            <p:cNvPr id="190" name="米菲PPT56-2"/>
            <p:cNvSpPr txBox="1"/>
            <p:nvPr/>
          </p:nvSpPr>
          <p:spPr>
            <a:xfrm>
              <a:off x="1886191" y="3175143"/>
              <a:ext cx="668001" cy="2832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MiSans Medium" panose="00000600000000000000" pitchFamily="2" charset="-122"/>
                  <a:ea typeface="MiSans Medium" panose="00000600000000000000" pitchFamily="2" charset="-122"/>
                  <a:cs typeface="MiSans Medium" panose="00000600000000000000" pitchFamily="2" charset="-122"/>
                  <a:sym typeface="MiSans Medium" panose="00000600000000000000" pitchFamily="2" charset="-122"/>
                </a:rPr>
                <a:t>大搜</a:t>
              </a:r>
            </a:p>
          </p:txBody>
        </p:sp>
      </p:grpSp>
      <p:cxnSp>
        <p:nvCxnSpPr>
          <p:cNvPr id="191" name="米菲PPT57"/>
          <p:cNvCxnSpPr>
            <a:stCxn id="183" idx="5"/>
          </p:cNvCxnSpPr>
          <p:nvPr/>
        </p:nvCxnSpPr>
        <p:spPr>
          <a:xfrm>
            <a:off x="1393489" y="2771497"/>
            <a:ext cx="119743" cy="83792"/>
          </a:xfrm>
          <a:prstGeom prst="line">
            <a:avLst/>
          </a:prstGeom>
          <a:noFill/>
          <a:ln w="190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cxnSp>
        <p:nvCxnSpPr>
          <p:cNvPr id="192" name="米菲PPT58"/>
          <p:cNvCxnSpPr>
            <a:endCxn id="177" idx="3"/>
          </p:cNvCxnSpPr>
          <p:nvPr/>
        </p:nvCxnSpPr>
        <p:spPr>
          <a:xfrm flipV="1">
            <a:off x="1983141" y="2759450"/>
            <a:ext cx="122295" cy="81722"/>
          </a:xfrm>
          <a:prstGeom prst="line">
            <a:avLst/>
          </a:prstGeom>
          <a:noFill/>
          <a:ln w="190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cxnSp>
        <p:nvCxnSpPr>
          <p:cNvPr id="193" name="米菲PPT59"/>
          <p:cNvCxnSpPr>
            <a:endCxn id="180" idx="2"/>
          </p:cNvCxnSpPr>
          <p:nvPr/>
        </p:nvCxnSpPr>
        <p:spPr>
          <a:xfrm>
            <a:off x="2007419" y="3100651"/>
            <a:ext cx="199283" cy="39879"/>
          </a:xfrm>
          <a:prstGeom prst="line">
            <a:avLst/>
          </a:prstGeom>
          <a:noFill/>
          <a:ln w="190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cxnSp>
        <p:nvCxnSpPr>
          <p:cNvPr id="194" name="米菲PPT60"/>
          <p:cNvCxnSpPr/>
          <p:nvPr/>
        </p:nvCxnSpPr>
        <p:spPr>
          <a:xfrm flipV="1">
            <a:off x="1115569" y="3008840"/>
            <a:ext cx="380691" cy="175343"/>
          </a:xfrm>
          <a:prstGeom prst="line">
            <a:avLst/>
          </a:prstGeom>
          <a:noFill/>
          <a:ln w="190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cxnSp>
        <p:nvCxnSpPr>
          <p:cNvPr id="195" name="米菲PPT61"/>
          <p:cNvCxnSpPr>
            <a:stCxn id="186" idx="0"/>
          </p:cNvCxnSpPr>
          <p:nvPr/>
        </p:nvCxnSpPr>
        <p:spPr>
          <a:xfrm flipH="1" flipV="1">
            <a:off x="805499" y="2784725"/>
            <a:ext cx="112035" cy="115815"/>
          </a:xfrm>
          <a:prstGeom prst="line">
            <a:avLst/>
          </a:prstGeom>
          <a:noFill/>
          <a:ln w="190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196" name="米菲PPT62"/>
          <p:cNvSpPr/>
          <p:nvPr/>
        </p:nvSpPr>
        <p:spPr>
          <a:xfrm>
            <a:off x="788718" y="2768815"/>
            <a:ext cx="45261" cy="45261"/>
          </a:xfrm>
          <a:prstGeom prst="ellipse">
            <a:avLst/>
          </a:prstGeom>
          <a:gradFill>
            <a:gsLst>
              <a:gs pos="0">
                <a:srgbClr val="F57359">
                  <a:lumMod val="75000"/>
                </a:srgbClr>
              </a:gs>
              <a:gs pos="100000">
                <a:srgbClr val="F57359"/>
              </a:gs>
            </a:gsLst>
            <a:path path="circle">
              <a:fillToRect l="100000" t="100000"/>
            </a:path>
          </a:gradFill>
          <a:ln w="12700" cap="flat" cmpd="sng" algn="ctr">
            <a:noFill/>
            <a:prstDash val="solid"/>
            <a:miter lim="800000"/>
          </a:ln>
          <a:effectLst>
            <a:outerShdw blurRad="469900" dist="139700" dir="5400000" algn="t" rotWithShape="0">
              <a:srgbClr val="F57359">
                <a:alpha val="24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Bold" panose="00000800000000000000" pitchFamily="2" charset="-122"/>
              <a:ea typeface="MiSans Bold" panose="000008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197" name="米菲PPT63"/>
          <p:cNvSpPr/>
          <p:nvPr/>
        </p:nvSpPr>
        <p:spPr>
          <a:xfrm>
            <a:off x="1297429" y="3048879"/>
            <a:ext cx="66682" cy="66682"/>
          </a:xfrm>
          <a:prstGeom prst="ellipse">
            <a:avLst/>
          </a:prstGeom>
          <a:gradFill>
            <a:gsLst>
              <a:gs pos="0">
                <a:srgbClr val="F57359">
                  <a:lumMod val="75000"/>
                </a:srgbClr>
              </a:gs>
              <a:gs pos="100000">
                <a:srgbClr val="F57359"/>
              </a:gs>
            </a:gsLst>
            <a:path path="circle">
              <a:fillToRect l="100000" t="100000"/>
            </a:path>
          </a:gradFill>
          <a:ln w="12700" cap="flat" cmpd="sng" algn="ctr">
            <a:noFill/>
            <a:prstDash val="solid"/>
            <a:miter lim="800000"/>
          </a:ln>
          <a:effectLst>
            <a:outerShdw blurRad="469900" dist="139700" dir="5400000" algn="t" rotWithShape="0">
              <a:srgbClr val="F57359">
                <a:alpha val="24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Bold" panose="00000800000000000000" pitchFamily="2" charset="-122"/>
              <a:ea typeface="MiSans Bold" panose="00000800000000000000" pitchFamily="2" charset="-122"/>
              <a:cs typeface="MiSans Medium" panose="00000600000000000000" pitchFamily="2" charset="-122"/>
            </a:endParaRPr>
          </a:p>
        </p:txBody>
      </p:sp>
      <p:cxnSp>
        <p:nvCxnSpPr>
          <p:cNvPr id="198" name="米菲PPT64"/>
          <p:cNvCxnSpPr/>
          <p:nvPr/>
        </p:nvCxnSpPr>
        <p:spPr>
          <a:xfrm flipH="1" flipV="1">
            <a:off x="2435827" y="2694461"/>
            <a:ext cx="172061" cy="42612"/>
          </a:xfrm>
          <a:prstGeom prst="line">
            <a:avLst/>
          </a:prstGeom>
          <a:noFill/>
          <a:ln w="190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199" name="米菲PPT65"/>
          <p:cNvSpPr/>
          <p:nvPr/>
        </p:nvSpPr>
        <p:spPr>
          <a:xfrm>
            <a:off x="2585698" y="2716405"/>
            <a:ext cx="75040" cy="75040"/>
          </a:xfrm>
          <a:prstGeom prst="ellipse">
            <a:avLst/>
          </a:prstGeom>
          <a:gradFill>
            <a:gsLst>
              <a:gs pos="0">
                <a:srgbClr val="F57359">
                  <a:lumMod val="75000"/>
                </a:srgbClr>
              </a:gs>
              <a:gs pos="100000">
                <a:srgbClr val="F57359"/>
              </a:gs>
            </a:gsLst>
            <a:path path="circle">
              <a:fillToRect l="100000" t="100000"/>
            </a:path>
          </a:gradFill>
          <a:ln w="12700" cap="flat" cmpd="sng" algn="ctr">
            <a:noFill/>
            <a:prstDash val="solid"/>
            <a:miter lim="800000"/>
          </a:ln>
          <a:effectLst>
            <a:outerShdw blurRad="469900" dist="139700" dir="5400000" algn="t" rotWithShape="0">
              <a:srgbClr val="F57359">
                <a:alpha val="24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Bold" panose="00000800000000000000" pitchFamily="2" charset="-122"/>
              <a:ea typeface="MiSans Bold" panose="00000800000000000000" pitchFamily="2" charset="-122"/>
              <a:cs typeface="MiSans Medium" panose="00000600000000000000" pitchFamily="2" charset="-122"/>
            </a:endParaRPr>
          </a:p>
        </p:txBody>
      </p:sp>
      <p:cxnSp>
        <p:nvCxnSpPr>
          <p:cNvPr id="200" name="米菲PPT66"/>
          <p:cNvCxnSpPr/>
          <p:nvPr/>
        </p:nvCxnSpPr>
        <p:spPr>
          <a:xfrm>
            <a:off x="1729722" y="2605222"/>
            <a:ext cx="10502" cy="125928"/>
          </a:xfrm>
          <a:prstGeom prst="line">
            <a:avLst/>
          </a:prstGeom>
          <a:noFill/>
          <a:ln w="190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cxnSp>
        <p:nvCxnSpPr>
          <p:cNvPr id="201" name="米菲PPT67"/>
          <p:cNvCxnSpPr>
            <a:stCxn id="197" idx="6"/>
          </p:cNvCxnSpPr>
          <p:nvPr/>
        </p:nvCxnSpPr>
        <p:spPr>
          <a:xfrm>
            <a:off x="1364111" y="3082220"/>
            <a:ext cx="199079" cy="210474"/>
          </a:xfrm>
          <a:prstGeom prst="line">
            <a:avLst/>
          </a:prstGeom>
          <a:noFill/>
          <a:ln w="190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cxnSp>
        <p:nvCxnSpPr>
          <p:cNvPr id="202" name="米菲PPT68"/>
          <p:cNvCxnSpPr/>
          <p:nvPr/>
        </p:nvCxnSpPr>
        <p:spPr>
          <a:xfrm flipH="1">
            <a:off x="2158788" y="3269767"/>
            <a:ext cx="92157" cy="89120"/>
          </a:xfrm>
          <a:prstGeom prst="line">
            <a:avLst/>
          </a:prstGeom>
          <a:noFill/>
          <a:ln w="190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203" name="米菲PPT69"/>
          <p:cNvSpPr/>
          <p:nvPr/>
        </p:nvSpPr>
        <p:spPr>
          <a:xfrm>
            <a:off x="1680402" y="2537362"/>
            <a:ext cx="106035" cy="106035"/>
          </a:xfrm>
          <a:prstGeom prst="ellipse">
            <a:avLst/>
          </a:prstGeom>
          <a:gradFill>
            <a:gsLst>
              <a:gs pos="0">
                <a:srgbClr val="F57359">
                  <a:lumMod val="75000"/>
                </a:srgbClr>
              </a:gs>
              <a:gs pos="100000">
                <a:srgbClr val="F57359"/>
              </a:gs>
            </a:gsLst>
            <a:path path="circle">
              <a:fillToRect l="100000" t="100000"/>
            </a:path>
          </a:gradFill>
          <a:ln w="12700" cap="flat" cmpd="sng" algn="ctr">
            <a:noFill/>
            <a:prstDash val="solid"/>
            <a:miter lim="800000"/>
          </a:ln>
          <a:effectLst>
            <a:outerShdw blurRad="469900" dist="139700" dir="5400000" algn="t" rotWithShape="0">
              <a:srgbClr val="F57359">
                <a:alpha val="24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Bold" panose="00000800000000000000" pitchFamily="2" charset="-122"/>
              <a:ea typeface="MiSans Bold" panose="000008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204" name="米菲PPT70"/>
          <p:cNvSpPr/>
          <p:nvPr/>
        </p:nvSpPr>
        <p:spPr>
          <a:xfrm>
            <a:off x="2132554" y="3349268"/>
            <a:ext cx="45261" cy="45261"/>
          </a:xfrm>
          <a:prstGeom prst="ellipse">
            <a:avLst/>
          </a:prstGeom>
          <a:gradFill>
            <a:gsLst>
              <a:gs pos="0">
                <a:srgbClr val="F57359">
                  <a:lumMod val="75000"/>
                </a:srgbClr>
              </a:gs>
              <a:gs pos="100000">
                <a:srgbClr val="F57359"/>
              </a:gs>
            </a:gsLst>
            <a:path path="circle">
              <a:fillToRect l="100000" t="100000"/>
            </a:path>
          </a:gradFill>
          <a:ln w="12700" cap="flat" cmpd="sng" algn="ctr">
            <a:noFill/>
            <a:prstDash val="solid"/>
            <a:miter lim="800000"/>
          </a:ln>
          <a:effectLst>
            <a:outerShdw blurRad="469900" dist="139700" dir="5400000" algn="t" rotWithShape="0">
              <a:srgbClr val="F57359">
                <a:alpha val="24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Bold" panose="00000800000000000000" pitchFamily="2" charset="-122"/>
              <a:ea typeface="MiSans Bold" panose="000008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205" name="米菲PPT71"/>
          <p:cNvSpPr/>
          <p:nvPr/>
        </p:nvSpPr>
        <p:spPr>
          <a:xfrm>
            <a:off x="1521682" y="3270731"/>
            <a:ext cx="70435" cy="70435"/>
          </a:xfrm>
          <a:prstGeom prst="ellipse">
            <a:avLst/>
          </a:prstGeom>
          <a:gradFill>
            <a:gsLst>
              <a:gs pos="0">
                <a:srgbClr val="F57359">
                  <a:lumMod val="40000"/>
                  <a:lumOff val="60000"/>
                </a:srgbClr>
              </a:gs>
              <a:gs pos="100000">
                <a:srgbClr val="F57359"/>
              </a:gs>
            </a:gsLst>
            <a:path path="circle">
              <a:fillToRect l="100000" t="100000"/>
            </a:path>
          </a:gradFill>
          <a:ln w="12700" cap="flat" cmpd="sng" algn="ctr">
            <a:noFill/>
            <a:prstDash val="solid"/>
            <a:miter lim="800000"/>
          </a:ln>
          <a:effectLst>
            <a:outerShdw blurRad="469900" dist="139700" dir="5400000" algn="t" rotWithShape="0">
              <a:srgbClr val="F57359">
                <a:alpha val="24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Bold" panose="00000800000000000000" pitchFamily="2" charset="-122"/>
              <a:ea typeface="MiSans Bold" panose="00000800000000000000" pitchFamily="2" charset="-122"/>
              <a:cs typeface="MiSans Medium" panose="00000600000000000000" pitchFamily="2" charset="-122"/>
            </a:endParaRPr>
          </a:p>
        </p:txBody>
      </p:sp>
      <p:grpSp>
        <p:nvGrpSpPr>
          <p:cNvPr id="206" name="米菲PPT72"/>
          <p:cNvGrpSpPr/>
          <p:nvPr/>
        </p:nvGrpSpPr>
        <p:grpSpPr>
          <a:xfrm rot="17753926" flipV="1">
            <a:off x="2188025" y="3370219"/>
            <a:ext cx="33682" cy="107273"/>
            <a:chOff x="3594613" y="3901055"/>
            <a:chExt cx="61436" cy="195666"/>
          </a:xfrm>
        </p:grpSpPr>
        <p:cxnSp>
          <p:nvCxnSpPr>
            <p:cNvPr id="207" name="米菲PPT72-1"/>
            <p:cNvCxnSpPr/>
            <p:nvPr/>
          </p:nvCxnSpPr>
          <p:spPr>
            <a:xfrm rot="16200000" flipV="1">
              <a:off x="3563836" y="4004508"/>
              <a:ext cx="158902" cy="25524"/>
            </a:xfrm>
            <a:prstGeom prst="line">
              <a:avLst/>
            </a:prstGeom>
            <a:noFill/>
            <a:ln w="6350" cap="flat" cmpd="sng" algn="ctr">
              <a:solidFill>
                <a:sysClr val="window" lastClr="FFFFFF">
                  <a:lumMod val="75000"/>
                </a:sysClr>
              </a:solidFill>
              <a:prstDash val="solid"/>
              <a:miter lim="800000"/>
            </a:ln>
            <a:effectLst/>
          </p:spPr>
        </p:cxnSp>
        <p:sp>
          <p:nvSpPr>
            <p:cNvPr id="208" name="米菲PPT72-2"/>
            <p:cNvSpPr/>
            <p:nvPr/>
          </p:nvSpPr>
          <p:spPr>
            <a:xfrm>
              <a:off x="3594613" y="3901055"/>
              <a:ext cx="61436" cy="61436"/>
            </a:xfrm>
            <a:prstGeom prst="ellipse">
              <a:avLst/>
            </a:prstGeom>
            <a:gradFill>
              <a:gsLst>
                <a:gs pos="0">
                  <a:srgbClr val="F57359">
                    <a:lumMod val="75000"/>
                  </a:srgbClr>
                </a:gs>
                <a:gs pos="100000">
                  <a:srgbClr val="F57359"/>
                </a:gs>
              </a:gsLst>
              <a:path path="circle">
                <a:fillToRect l="100000" t="100000"/>
              </a:path>
            </a:gradFill>
            <a:ln w="12700" cap="flat" cmpd="sng" algn="ctr">
              <a:noFill/>
              <a:prstDash val="solid"/>
              <a:miter lim="800000"/>
            </a:ln>
            <a:effectLst>
              <a:outerShdw blurRad="469900" dist="139700" dir="5400000" algn="t" rotWithShape="0">
                <a:srgbClr val="F57359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</a:endParaRPr>
            </a:p>
          </p:txBody>
        </p:sp>
      </p:grpSp>
      <p:sp>
        <p:nvSpPr>
          <p:cNvPr id="209" name="米菲PPT73"/>
          <p:cNvSpPr txBox="1"/>
          <p:nvPr/>
        </p:nvSpPr>
        <p:spPr>
          <a:xfrm>
            <a:off x="3385168" y="1365296"/>
            <a:ext cx="2447618" cy="854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lnSpc>
                <a:spcPct val="120000"/>
              </a:lnSpc>
            </a:pPr>
            <a:r>
              <a:rPr lang="zh-CN" altLang="en-US" sz="1050" dirty="0">
                <a:solidFill>
                  <a:prstClr val="black">
                    <a:lumMod val="65000"/>
                    <a:lumOff val="35000"/>
                  </a:prst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面对产运、下沉等业务发展，带来对榜单规则的调整（例如</a:t>
            </a:r>
            <a:r>
              <a:rPr lang="en-US" altLang="zh-CN" sz="1050" dirty="0">
                <a:solidFill>
                  <a:prstClr val="black">
                    <a:lumMod val="65000"/>
                    <a:lumOff val="35000"/>
                  </a:prst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3</a:t>
            </a:r>
            <a:r>
              <a:rPr lang="zh-CN" altLang="en-US" sz="1050" dirty="0">
                <a:solidFill>
                  <a:prstClr val="black">
                    <a:lumMod val="65000"/>
                    <a:lumOff val="35000"/>
                  </a:prst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单变</a:t>
            </a:r>
            <a:r>
              <a:rPr lang="en-US" altLang="zh-CN" sz="1050" dirty="0">
                <a:solidFill>
                  <a:prstClr val="black">
                    <a:lumMod val="65000"/>
                    <a:lumOff val="35000"/>
                  </a:prst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1</a:t>
            </a:r>
            <a:r>
              <a:rPr lang="zh-CN" altLang="en-US" sz="1050" dirty="0">
                <a:solidFill>
                  <a:prstClr val="black">
                    <a:lumMod val="65000"/>
                    <a:lumOff val="35000"/>
                  </a:prst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单），我们要建立定期的沟通机制，及时评估影响，并且跟进效果。</a:t>
            </a:r>
          </a:p>
        </p:txBody>
      </p:sp>
      <p:grpSp>
        <p:nvGrpSpPr>
          <p:cNvPr id="223" name="米菲PPT81"/>
          <p:cNvGrpSpPr/>
          <p:nvPr/>
        </p:nvGrpSpPr>
        <p:grpSpPr>
          <a:xfrm>
            <a:off x="3412808" y="2740229"/>
            <a:ext cx="2344937" cy="2231748"/>
            <a:chOff x="4506899" y="3262722"/>
            <a:chExt cx="3182963" cy="3029323"/>
          </a:xfrm>
        </p:grpSpPr>
        <p:sp>
          <p:nvSpPr>
            <p:cNvPr id="224" name="米菲PPT81-1"/>
            <p:cNvSpPr/>
            <p:nvPr/>
          </p:nvSpPr>
          <p:spPr>
            <a:xfrm flipV="1">
              <a:off x="4722758" y="3262722"/>
              <a:ext cx="2719667" cy="3029323"/>
            </a:xfrm>
            <a:prstGeom prst="triangle">
              <a:avLst/>
            </a:prstGeom>
            <a:gradFill flip="none" rotWithShape="1">
              <a:gsLst>
                <a:gs pos="0">
                  <a:srgbClr val="62799C">
                    <a:alpha val="2000"/>
                  </a:srgbClr>
                </a:gs>
                <a:gs pos="81000">
                  <a:srgbClr val="62799C">
                    <a:alpha val="65000"/>
                  </a:srgbClr>
                </a:gs>
              </a:gsLst>
              <a:lin ang="16200000" scaled="1"/>
              <a:tileRect/>
            </a:gra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wrap="square" lIns="98756" tIns="49375" rIns="98756" bIns="49375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137160" dist="41148" dir="2699997" algn="tl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endParaRPr>
            </a:p>
          </p:txBody>
        </p:sp>
        <p:sp>
          <p:nvSpPr>
            <p:cNvPr id="225" name="米菲PPT81-2"/>
            <p:cNvSpPr/>
            <p:nvPr/>
          </p:nvSpPr>
          <p:spPr>
            <a:xfrm>
              <a:off x="4506899" y="3577037"/>
              <a:ext cx="3178201" cy="726616"/>
            </a:xfrm>
            <a:prstGeom prst="flowChartProcess">
              <a:avLst/>
            </a:prstGeom>
            <a:gradFill>
              <a:gsLst>
                <a:gs pos="100000">
                  <a:srgbClr val="62799C">
                    <a:lumMod val="5000"/>
                    <a:lumOff val="95000"/>
                  </a:srgbClr>
                </a:gs>
                <a:gs pos="1000">
                  <a:sysClr val="window" lastClr="FFFFFF"/>
                </a:gs>
              </a:gsLst>
              <a:lin ang="19800000" scaled="0"/>
            </a:gradFill>
            <a:ln w="6350" cap="flat" cmpd="sng" algn="ctr">
              <a:noFill/>
              <a:prstDash val="solid"/>
              <a:miter lim="800000"/>
            </a:ln>
            <a:effectLst>
              <a:outerShdw blurRad="469900" dist="123444" dir="5400000" sx="99000" sy="99000" algn="ctr" rotWithShape="0">
                <a:srgbClr val="62799C">
                  <a:alpha val="24000"/>
                </a:srgbClr>
              </a:outerShdw>
            </a:effectLst>
          </p:spPr>
          <p:txBody>
            <a:bodyPr wrap="square" lIns="98756" tIns="49375" rIns="98756" bIns="49375" rtlCol="0" anchor="ctr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62799C"/>
                  </a:solidFill>
                  <a:effectLst/>
                  <a:uLnTx/>
                  <a:uFillTx/>
                  <a:latin typeface="MiSans Medium" panose="00000600000000000000" pitchFamily="2" charset="-122"/>
                  <a:ea typeface="MiSans Medium" panose="00000600000000000000" pitchFamily="2" charset="-122"/>
                  <a:cs typeface="MiSans Medium" panose="00000600000000000000" pitchFamily="2" charset="-122"/>
                  <a:sym typeface="MiSans Medium" panose="00000600000000000000" pitchFamily="2" charset="-122"/>
                </a:rPr>
                <a:t>建立机制：</a:t>
              </a:r>
              <a:r>
                <a:rPr lang="zh-CN" altLang="en-US" sz="1050" kern="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MiSans Medium" panose="00000600000000000000" pitchFamily="2" charset="-122"/>
                  <a:ea typeface="MiSans Medium" panose="00000600000000000000" pitchFamily="2" charset="-122"/>
                  <a:sym typeface="MiSans Medium" panose="00000600000000000000" pitchFamily="2" charset="-122"/>
                </a:rPr>
                <a:t>建立上</a:t>
              </a:r>
              <a:r>
                <a:rPr kumimoji="0" lang="zh-CN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MiSans Medium" panose="00000600000000000000" pitchFamily="2" charset="-122"/>
                  <a:ea typeface="MiSans Medium" panose="00000600000000000000" pitchFamily="2" charset="-122"/>
                  <a:cs typeface="MiSans Medium" panose="00000600000000000000" pitchFamily="2" charset="-122"/>
                  <a:sym typeface="MiSans Medium" panose="00000600000000000000" pitchFamily="2" charset="-122"/>
                </a:rPr>
                <a:t>线通报群，在立项之前尽早介入，了解背景需求</a:t>
              </a:r>
            </a:p>
          </p:txBody>
        </p:sp>
        <p:cxnSp>
          <p:nvCxnSpPr>
            <p:cNvPr id="226" name="米菲PPT81-3"/>
            <p:cNvCxnSpPr/>
            <p:nvPr/>
          </p:nvCxnSpPr>
          <p:spPr>
            <a:xfrm>
              <a:off x="4506899" y="3556889"/>
              <a:ext cx="1503743" cy="0"/>
            </a:xfrm>
            <a:prstGeom prst="line">
              <a:avLst/>
            </a:prstGeom>
            <a:noFill/>
            <a:ln w="47625" cap="flat" cmpd="sng" algn="ctr">
              <a:solidFill>
                <a:srgbClr val="62799C"/>
              </a:solidFill>
              <a:prstDash val="solid"/>
              <a:miter lim="800000"/>
            </a:ln>
            <a:effectLst/>
          </p:spPr>
        </p:cxnSp>
        <p:cxnSp>
          <p:nvCxnSpPr>
            <p:cNvPr id="227" name="米菲PPT81-4"/>
            <p:cNvCxnSpPr/>
            <p:nvPr/>
          </p:nvCxnSpPr>
          <p:spPr>
            <a:xfrm>
              <a:off x="6186119" y="3556889"/>
              <a:ext cx="1503743" cy="0"/>
            </a:xfrm>
            <a:prstGeom prst="line">
              <a:avLst/>
            </a:prstGeom>
            <a:noFill/>
            <a:ln w="47625" cap="flat" cmpd="sng" algn="ctr">
              <a:solidFill>
                <a:srgbClr val="62799C"/>
              </a:solidFill>
              <a:prstDash val="solid"/>
              <a:miter lim="800000"/>
            </a:ln>
            <a:effectLst/>
          </p:spPr>
        </p:cxnSp>
        <p:sp>
          <p:nvSpPr>
            <p:cNvPr id="228" name="米菲PPT81-5"/>
            <p:cNvSpPr/>
            <p:nvPr/>
          </p:nvSpPr>
          <p:spPr>
            <a:xfrm>
              <a:off x="5973968" y="3421647"/>
              <a:ext cx="244062" cy="244062"/>
            </a:xfrm>
            <a:prstGeom prst="ellipse">
              <a:avLst/>
            </a:prstGeom>
            <a:solidFill>
              <a:srgbClr val="F57359"/>
            </a:solidFill>
            <a:ln w="38100" cap="flat" cmpd="sng" algn="ctr">
              <a:noFill/>
              <a:prstDash val="solid"/>
              <a:miter lim="800000"/>
            </a:ln>
            <a:effectLst>
              <a:outerShdw blurRad="469900" dist="123444" dir="5400000" sx="99000" sy="99000" algn="ctr" rotWithShape="0">
                <a:srgbClr val="62799C">
                  <a:alpha val="24000"/>
                </a:srgbClr>
              </a:outerShdw>
            </a:effectLst>
          </p:spPr>
          <p:txBody>
            <a:bodyPr wrap="square" lIns="98756" tIns="49375" rIns="98756" bIns="49375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iSans Bold" panose="00000800000000000000" pitchFamily="2" charset="-122"/>
                  <a:ea typeface="MiSans Bold" panose="00000800000000000000" pitchFamily="2" charset="-122"/>
                  <a:cs typeface="MiSans Medium" panose="00000600000000000000" pitchFamily="2" charset="-122"/>
                </a:rPr>
                <a:t>1</a:t>
              </a:r>
              <a:endParaRPr kumimoji="0" lang="zh-CN" alt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</a:endParaRPr>
            </a:p>
          </p:txBody>
        </p:sp>
      </p:grpSp>
      <p:grpSp>
        <p:nvGrpSpPr>
          <p:cNvPr id="229" name="米菲PPT82"/>
          <p:cNvGrpSpPr/>
          <p:nvPr/>
        </p:nvGrpSpPr>
        <p:grpSpPr>
          <a:xfrm>
            <a:off x="3412808" y="3539858"/>
            <a:ext cx="2344937" cy="649787"/>
            <a:chOff x="4506899" y="4425941"/>
            <a:chExt cx="3182963" cy="882006"/>
          </a:xfrm>
        </p:grpSpPr>
        <p:sp>
          <p:nvSpPr>
            <p:cNvPr id="230" name="米菲PPT82-1"/>
            <p:cNvSpPr/>
            <p:nvPr/>
          </p:nvSpPr>
          <p:spPr>
            <a:xfrm>
              <a:off x="4506899" y="4581331"/>
              <a:ext cx="3178201" cy="726616"/>
            </a:xfrm>
            <a:prstGeom prst="flowChartProcess">
              <a:avLst/>
            </a:prstGeom>
            <a:gradFill>
              <a:gsLst>
                <a:gs pos="100000">
                  <a:srgbClr val="62799C">
                    <a:lumMod val="5000"/>
                    <a:lumOff val="95000"/>
                  </a:srgbClr>
                </a:gs>
                <a:gs pos="1000">
                  <a:sysClr val="window" lastClr="FFFFFF"/>
                </a:gs>
              </a:gsLst>
              <a:lin ang="19800000" scaled="0"/>
            </a:gradFill>
            <a:ln w="6350" cap="flat" cmpd="sng" algn="ctr">
              <a:noFill/>
              <a:prstDash val="solid"/>
              <a:miter lim="800000"/>
            </a:ln>
            <a:effectLst>
              <a:outerShdw blurRad="469900" dist="123444" dir="5400000" sx="99000" sy="99000" algn="ctr" rotWithShape="0">
                <a:srgbClr val="62799C">
                  <a:alpha val="24000"/>
                </a:srgbClr>
              </a:outerShdw>
            </a:effectLst>
          </p:spPr>
          <p:txBody>
            <a:bodyPr wrap="square" lIns="98756" tIns="49375" rIns="98756" bIns="49375" rtlCol="0" anchor="ctr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62799C"/>
                  </a:solidFill>
                  <a:effectLst/>
                  <a:uLnTx/>
                  <a:uFillTx/>
                  <a:latin typeface="MiSans Medium" panose="00000600000000000000" pitchFamily="2" charset="-122"/>
                  <a:ea typeface="MiSans Medium" panose="00000600000000000000" pitchFamily="2" charset="-122"/>
                  <a:cs typeface="MiSans Medium" panose="00000600000000000000" pitchFamily="2" charset="-122"/>
                  <a:sym typeface="MiSans Medium" panose="00000600000000000000" pitchFamily="2" charset="-122"/>
                </a:rPr>
                <a:t>把控规则：</a:t>
              </a:r>
              <a:r>
                <a:rPr kumimoji="0" lang="zh-CN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MiSans Medium" panose="00000600000000000000" pitchFamily="2" charset="-122"/>
                  <a:ea typeface="MiSans Medium" panose="00000600000000000000" pitchFamily="2" charset="-122"/>
                  <a:cs typeface="MiSans Medium" panose="00000600000000000000" pitchFamily="2" charset="-122"/>
                  <a:sym typeface="MiSans Medium" panose="00000600000000000000" pitchFamily="2" charset="-122"/>
                </a:rPr>
                <a:t>从平台、商户、用户视角评估规则的影响、价值，给出合理的规则判断</a:t>
              </a:r>
            </a:p>
          </p:txBody>
        </p:sp>
        <p:cxnSp>
          <p:nvCxnSpPr>
            <p:cNvPr id="231" name="米菲PPT82-2"/>
            <p:cNvCxnSpPr/>
            <p:nvPr/>
          </p:nvCxnSpPr>
          <p:spPr>
            <a:xfrm>
              <a:off x="4506899" y="4561183"/>
              <a:ext cx="1503743" cy="0"/>
            </a:xfrm>
            <a:prstGeom prst="line">
              <a:avLst/>
            </a:prstGeom>
            <a:noFill/>
            <a:ln w="47625" cap="flat" cmpd="sng" algn="ctr">
              <a:solidFill>
                <a:srgbClr val="62799C"/>
              </a:solidFill>
              <a:prstDash val="solid"/>
              <a:miter lim="800000"/>
            </a:ln>
            <a:effectLst/>
          </p:spPr>
        </p:cxnSp>
        <p:cxnSp>
          <p:nvCxnSpPr>
            <p:cNvPr id="232" name="米菲PPT82-3"/>
            <p:cNvCxnSpPr/>
            <p:nvPr/>
          </p:nvCxnSpPr>
          <p:spPr>
            <a:xfrm>
              <a:off x="6186119" y="4561183"/>
              <a:ext cx="1503743" cy="0"/>
            </a:xfrm>
            <a:prstGeom prst="line">
              <a:avLst/>
            </a:prstGeom>
            <a:noFill/>
            <a:ln w="47625" cap="flat" cmpd="sng" algn="ctr">
              <a:solidFill>
                <a:srgbClr val="62799C"/>
              </a:solidFill>
              <a:prstDash val="solid"/>
              <a:miter lim="800000"/>
            </a:ln>
            <a:effectLst/>
          </p:spPr>
        </p:cxnSp>
        <p:sp>
          <p:nvSpPr>
            <p:cNvPr id="233" name="米菲PPT82-4"/>
            <p:cNvSpPr/>
            <p:nvPr/>
          </p:nvSpPr>
          <p:spPr>
            <a:xfrm>
              <a:off x="5973968" y="4425941"/>
              <a:ext cx="244062" cy="244062"/>
            </a:xfrm>
            <a:prstGeom prst="ellipse">
              <a:avLst/>
            </a:prstGeom>
            <a:solidFill>
              <a:srgbClr val="F57359"/>
            </a:solidFill>
            <a:ln w="38100" cap="flat" cmpd="sng" algn="ctr">
              <a:noFill/>
              <a:prstDash val="solid"/>
              <a:miter lim="800000"/>
            </a:ln>
            <a:effectLst>
              <a:outerShdw blurRad="469900" dist="123444" dir="5400000" sx="99000" sy="99000" algn="ctr" rotWithShape="0">
                <a:srgbClr val="62799C">
                  <a:alpha val="24000"/>
                </a:srgbClr>
              </a:outerShdw>
            </a:effectLst>
          </p:spPr>
          <p:txBody>
            <a:bodyPr wrap="square" lIns="98756" tIns="49375" rIns="98756" bIns="49375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iSans Bold" panose="00000800000000000000" pitchFamily="2" charset="-122"/>
                  <a:ea typeface="MiSans Bold" panose="00000800000000000000" pitchFamily="2" charset="-122"/>
                  <a:cs typeface="MiSans Medium" panose="00000600000000000000" pitchFamily="2" charset="-122"/>
                </a:rPr>
                <a:t>2</a:t>
              </a:r>
              <a:endParaRPr kumimoji="0" lang="zh-CN" alt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</a:endParaRPr>
            </a:p>
          </p:txBody>
        </p:sp>
      </p:grpSp>
      <p:grpSp>
        <p:nvGrpSpPr>
          <p:cNvPr id="234" name="米菲PPT83"/>
          <p:cNvGrpSpPr/>
          <p:nvPr/>
        </p:nvGrpSpPr>
        <p:grpSpPr>
          <a:xfrm>
            <a:off x="3412808" y="4222404"/>
            <a:ext cx="2344937" cy="649787"/>
            <a:chOff x="4506899" y="5407512"/>
            <a:chExt cx="3182963" cy="882006"/>
          </a:xfrm>
        </p:grpSpPr>
        <p:sp>
          <p:nvSpPr>
            <p:cNvPr id="235" name="米菲PPT83-1"/>
            <p:cNvSpPr/>
            <p:nvPr/>
          </p:nvSpPr>
          <p:spPr>
            <a:xfrm>
              <a:off x="4506899" y="5562902"/>
              <a:ext cx="3178201" cy="726616"/>
            </a:xfrm>
            <a:prstGeom prst="flowChartProcess">
              <a:avLst/>
            </a:prstGeom>
            <a:gradFill>
              <a:gsLst>
                <a:gs pos="100000">
                  <a:srgbClr val="62799C">
                    <a:lumMod val="5000"/>
                    <a:lumOff val="95000"/>
                  </a:srgbClr>
                </a:gs>
                <a:gs pos="1000">
                  <a:sysClr val="window" lastClr="FFFFFF"/>
                </a:gs>
              </a:gsLst>
              <a:lin ang="19800000" scaled="0"/>
            </a:gradFill>
            <a:ln w="6350" cap="flat" cmpd="sng" algn="ctr">
              <a:noFill/>
              <a:prstDash val="solid"/>
              <a:miter lim="800000"/>
            </a:ln>
            <a:effectLst>
              <a:outerShdw blurRad="469900" dist="123444" dir="5400000" sx="99000" sy="99000" algn="ctr" rotWithShape="0">
                <a:srgbClr val="62799C">
                  <a:alpha val="24000"/>
                </a:srgbClr>
              </a:outerShdw>
            </a:effectLst>
          </p:spPr>
          <p:txBody>
            <a:bodyPr wrap="square" lIns="98756" tIns="49375" rIns="98756" bIns="49375" rtlCol="0" anchor="ctr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050" kern="0" dirty="0">
                  <a:solidFill>
                    <a:srgbClr val="62799C"/>
                  </a:solidFill>
                  <a:latin typeface="MiSans Medium" panose="00000600000000000000" pitchFamily="2" charset="-122"/>
                  <a:ea typeface="MiSans Medium" panose="00000600000000000000" pitchFamily="2" charset="-122"/>
                  <a:cs typeface="MiSans Medium" panose="00000600000000000000" pitchFamily="2" charset="-122"/>
                  <a:sym typeface="MiSans Medium" panose="00000600000000000000" pitchFamily="2" charset="-122"/>
                </a:rPr>
                <a:t>跟进效果</a:t>
              </a:r>
              <a:r>
                <a:rPr kumimoji="0" lang="zh-CN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62799C"/>
                  </a:solidFill>
                  <a:effectLst/>
                  <a:uLnTx/>
                  <a:uFillTx/>
                  <a:latin typeface="MiSans Medium" panose="00000600000000000000" pitchFamily="2" charset="-122"/>
                  <a:ea typeface="MiSans Medium" panose="00000600000000000000" pitchFamily="2" charset="-122"/>
                  <a:cs typeface="MiSans Medium" panose="00000600000000000000" pitchFamily="2" charset="-122"/>
                  <a:sym typeface="MiSans Medium" panose="00000600000000000000" pitchFamily="2" charset="-122"/>
                </a:rPr>
                <a:t>：</a:t>
              </a:r>
              <a:r>
                <a:rPr kumimoji="0" lang="zh-CN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MiSans Medium" panose="00000600000000000000" pitchFamily="2" charset="-122"/>
                  <a:ea typeface="MiSans Medium" panose="00000600000000000000" pitchFamily="2" charset="-122"/>
                  <a:cs typeface="MiSans Medium" panose="00000600000000000000" pitchFamily="2" charset="-122"/>
                  <a:sym typeface="MiSans Medium" panose="00000600000000000000" pitchFamily="2" charset="-122"/>
                </a:rPr>
                <a:t>跟进上线后效果，从用户心智、商户牵引力、平台价值出发</a:t>
              </a:r>
            </a:p>
          </p:txBody>
        </p:sp>
        <p:cxnSp>
          <p:nvCxnSpPr>
            <p:cNvPr id="236" name="米菲PPT83-2"/>
            <p:cNvCxnSpPr/>
            <p:nvPr/>
          </p:nvCxnSpPr>
          <p:spPr>
            <a:xfrm>
              <a:off x="4506899" y="5542754"/>
              <a:ext cx="1503743" cy="0"/>
            </a:xfrm>
            <a:prstGeom prst="line">
              <a:avLst/>
            </a:prstGeom>
            <a:noFill/>
            <a:ln w="47625" cap="flat" cmpd="sng" algn="ctr">
              <a:solidFill>
                <a:srgbClr val="62799C"/>
              </a:solidFill>
              <a:prstDash val="solid"/>
              <a:miter lim="800000"/>
            </a:ln>
            <a:effectLst/>
          </p:spPr>
        </p:cxnSp>
        <p:cxnSp>
          <p:nvCxnSpPr>
            <p:cNvPr id="237" name="米菲PPT83-3"/>
            <p:cNvCxnSpPr/>
            <p:nvPr/>
          </p:nvCxnSpPr>
          <p:spPr>
            <a:xfrm>
              <a:off x="6186119" y="5542754"/>
              <a:ext cx="1503743" cy="0"/>
            </a:xfrm>
            <a:prstGeom prst="line">
              <a:avLst/>
            </a:prstGeom>
            <a:noFill/>
            <a:ln w="47625" cap="flat" cmpd="sng" algn="ctr">
              <a:solidFill>
                <a:srgbClr val="62799C"/>
              </a:solidFill>
              <a:prstDash val="solid"/>
              <a:miter lim="800000"/>
            </a:ln>
            <a:effectLst/>
          </p:spPr>
        </p:cxnSp>
        <p:sp>
          <p:nvSpPr>
            <p:cNvPr id="238" name="米菲PPT83-4"/>
            <p:cNvSpPr/>
            <p:nvPr/>
          </p:nvSpPr>
          <p:spPr>
            <a:xfrm>
              <a:off x="5973968" y="5407512"/>
              <a:ext cx="244062" cy="244062"/>
            </a:xfrm>
            <a:prstGeom prst="ellipse">
              <a:avLst/>
            </a:prstGeom>
            <a:solidFill>
              <a:srgbClr val="F57359"/>
            </a:solidFill>
            <a:ln w="38100" cap="flat" cmpd="sng" algn="ctr">
              <a:noFill/>
              <a:prstDash val="solid"/>
              <a:miter lim="800000"/>
            </a:ln>
            <a:effectLst>
              <a:outerShdw blurRad="469900" dist="123444" dir="5400000" sx="99000" sy="99000" algn="ctr" rotWithShape="0">
                <a:srgbClr val="62799C">
                  <a:alpha val="24000"/>
                </a:srgbClr>
              </a:outerShdw>
            </a:effectLst>
          </p:spPr>
          <p:txBody>
            <a:bodyPr wrap="square" lIns="98756" tIns="49375" rIns="98756" bIns="49375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iSans Bold" panose="00000800000000000000" pitchFamily="2" charset="-122"/>
                  <a:ea typeface="MiSans Bold" panose="00000800000000000000" pitchFamily="2" charset="-122"/>
                  <a:cs typeface="MiSans Medium" panose="00000600000000000000" pitchFamily="2" charset="-122"/>
                </a:rPr>
                <a:t>3</a:t>
              </a:r>
              <a:endParaRPr kumimoji="0" lang="zh-CN" alt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</a:endParaRPr>
            </a:p>
          </p:txBody>
        </p:sp>
      </p:grpSp>
      <p:sp>
        <p:nvSpPr>
          <p:cNvPr id="124" name="米菲PPT2"/>
          <p:cNvSpPr/>
          <p:nvPr/>
        </p:nvSpPr>
        <p:spPr>
          <a:xfrm>
            <a:off x="3591297" y="2368601"/>
            <a:ext cx="1948377" cy="401652"/>
          </a:xfrm>
          <a:prstGeom prst="triangle">
            <a:avLst/>
          </a:prstGeom>
          <a:gradFill flip="none" rotWithShape="1">
            <a:gsLst>
              <a:gs pos="96000">
                <a:srgbClr val="62799C">
                  <a:alpha val="0"/>
                </a:srgbClr>
              </a:gs>
              <a:gs pos="0">
                <a:srgbClr val="62799C">
                  <a:alpha val="26000"/>
                </a:srgbClr>
              </a:gs>
            </a:gsLst>
            <a:lin ang="16200000" scaled="1"/>
            <a:tileRect/>
          </a:gradFill>
          <a:ln w="38100" cap="flat" cmpd="sng" algn="ctr">
            <a:noFill/>
            <a:prstDash val="solid"/>
            <a:miter lim="800000"/>
          </a:ln>
          <a:effectLst/>
        </p:spPr>
        <p:txBody>
          <a:bodyPr wrap="square" lIns="98756" tIns="49375" rIns="98756" bIns="49375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210" name="米菲PPT74"/>
          <p:cNvSpPr/>
          <p:nvPr/>
        </p:nvSpPr>
        <p:spPr>
          <a:xfrm>
            <a:off x="3901568" y="2208257"/>
            <a:ext cx="495123" cy="495123"/>
          </a:xfrm>
          <a:prstGeom prst="ellipse">
            <a:avLst/>
          </a:prstGeom>
          <a:gradFill flip="none" rotWithShape="1">
            <a:gsLst>
              <a:gs pos="100000">
                <a:srgbClr val="62799C"/>
              </a:gs>
              <a:gs pos="0">
                <a:srgbClr val="62799C">
                  <a:lumMod val="75000"/>
                </a:srgbClr>
              </a:gs>
            </a:gsLst>
            <a:lin ang="19800000" scaled="0"/>
            <a:tileRect/>
          </a:gradFill>
          <a:ln w="38100" cap="flat" cmpd="sng" algn="ctr">
            <a:noFill/>
            <a:prstDash val="solid"/>
            <a:miter lim="800000"/>
          </a:ln>
          <a:effectLst>
            <a:outerShdw blurRad="469900" dist="123444" dir="5400000" sx="99000" sy="99000" algn="ctr" rotWithShape="0">
              <a:srgbClr val="62799C">
                <a:alpha val="24000"/>
              </a:srgbClr>
            </a:outerShdw>
          </a:effectLst>
        </p:spPr>
        <p:txBody>
          <a:bodyPr wrap="square" lIns="98756" tIns="49375" rIns="98756" bIns="49375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1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Sans Bold" panose="00000800000000000000" pitchFamily="2" charset="-122"/>
              <a:ea typeface="MiSans Bold" panose="000008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211" name="米菲PPT75"/>
          <p:cNvSpPr/>
          <p:nvPr/>
        </p:nvSpPr>
        <p:spPr>
          <a:xfrm>
            <a:off x="4763770" y="2208257"/>
            <a:ext cx="495123" cy="495123"/>
          </a:xfrm>
          <a:prstGeom prst="ellipse">
            <a:avLst/>
          </a:prstGeom>
          <a:gradFill flip="none" rotWithShape="1">
            <a:gsLst>
              <a:gs pos="100000">
                <a:srgbClr val="62799C"/>
              </a:gs>
              <a:gs pos="0">
                <a:srgbClr val="62799C">
                  <a:lumMod val="75000"/>
                </a:srgbClr>
              </a:gs>
            </a:gsLst>
            <a:lin ang="19800000" scaled="0"/>
            <a:tileRect/>
          </a:gradFill>
          <a:ln w="38100" cap="flat" cmpd="sng" algn="ctr">
            <a:noFill/>
            <a:prstDash val="solid"/>
            <a:miter lim="800000"/>
          </a:ln>
          <a:effectLst>
            <a:outerShdw blurRad="469900" dist="123444" dir="5400000" sx="99000" sy="99000" algn="ctr" rotWithShape="0">
              <a:srgbClr val="62799C">
                <a:alpha val="24000"/>
              </a:srgbClr>
            </a:outerShdw>
          </a:effectLst>
        </p:spPr>
        <p:txBody>
          <a:bodyPr wrap="square" lIns="98756" tIns="49375" rIns="98756" bIns="49375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Sans Bold" panose="00000800000000000000" pitchFamily="2" charset="-122"/>
              <a:ea typeface="MiSans Bold" panose="000008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216" name="米菲PPT77-1"/>
          <p:cNvSpPr/>
          <p:nvPr/>
        </p:nvSpPr>
        <p:spPr>
          <a:xfrm>
            <a:off x="5076236" y="2532302"/>
            <a:ext cx="8429" cy="6754"/>
          </a:xfrm>
          <a:custGeom>
            <a:avLst/>
            <a:gdLst>
              <a:gd name="connsiteX0" fmla="*/ 8800 w 14201"/>
              <a:gd name="connsiteY0" fmla="*/ 1935 h 11379"/>
              <a:gd name="connsiteX1" fmla="*/ 8596 w 14201"/>
              <a:gd name="connsiteY1" fmla="*/ 1969 h 11379"/>
              <a:gd name="connsiteX2" fmla="*/ 7390 w 14201"/>
              <a:gd name="connsiteY2" fmla="*/ 2563 h 11379"/>
              <a:gd name="connsiteX3" fmla="*/ 7050 w 14201"/>
              <a:gd name="connsiteY3" fmla="*/ 2631 h 11379"/>
              <a:gd name="connsiteX4" fmla="*/ 6812 w 14201"/>
              <a:gd name="connsiteY4" fmla="*/ 2563 h 11379"/>
              <a:gd name="connsiteX5" fmla="*/ 5606 w 14201"/>
              <a:gd name="connsiteY5" fmla="*/ 1952 h 11379"/>
              <a:gd name="connsiteX6" fmla="*/ 5198 w 14201"/>
              <a:gd name="connsiteY6" fmla="*/ 2054 h 11379"/>
              <a:gd name="connsiteX7" fmla="*/ 5130 w 14201"/>
              <a:gd name="connsiteY7" fmla="*/ 2224 h 11379"/>
              <a:gd name="connsiteX8" fmla="*/ 4841 w 14201"/>
              <a:gd name="connsiteY8" fmla="*/ 9494 h 11379"/>
              <a:gd name="connsiteX9" fmla="*/ 4926 w 14201"/>
              <a:gd name="connsiteY9" fmla="*/ 9834 h 11379"/>
              <a:gd name="connsiteX10" fmla="*/ 5096 w 14201"/>
              <a:gd name="connsiteY10" fmla="*/ 10055 h 11379"/>
              <a:gd name="connsiteX11" fmla="*/ 6863 w 14201"/>
              <a:gd name="connsiteY11" fmla="*/ 11312 h 11379"/>
              <a:gd name="connsiteX12" fmla="*/ 7118 w 14201"/>
              <a:gd name="connsiteY12" fmla="*/ 11380 h 11379"/>
              <a:gd name="connsiteX13" fmla="*/ 7322 w 14201"/>
              <a:gd name="connsiteY13" fmla="*/ 11312 h 11379"/>
              <a:gd name="connsiteX14" fmla="*/ 9088 w 14201"/>
              <a:gd name="connsiteY14" fmla="*/ 10055 h 11379"/>
              <a:gd name="connsiteX15" fmla="*/ 9292 w 14201"/>
              <a:gd name="connsiteY15" fmla="*/ 9783 h 11379"/>
              <a:gd name="connsiteX16" fmla="*/ 9360 w 14201"/>
              <a:gd name="connsiteY16" fmla="*/ 9494 h 11379"/>
              <a:gd name="connsiteX17" fmla="*/ 9071 w 14201"/>
              <a:gd name="connsiteY17" fmla="*/ 2241 h 11379"/>
              <a:gd name="connsiteX18" fmla="*/ 8800 w 14201"/>
              <a:gd name="connsiteY18" fmla="*/ 1935 h 11379"/>
              <a:gd name="connsiteX19" fmla="*/ 13284 w 14201"/>
              <a:gd name="connsiteY19" fmla="*/ 15 h 11379"/>
              <a:gd name="connsiteX20" fmla="*/ 13046 w 14201"/>
              <a:gd name="connsiteY20" fmla="*/ 49 h 11379"/>
              <a:gd name="connsiteX21" fmla="*/ 9921 w 14201"/>
              <a:gd name="connsiteY21" fmla="*/ 1629 h 11379"/>
              <a:gd name="connsiteX22" fmla="*/ 9751 w 14201"/>
              <a:gd name="connsiteY22" fmla="*/ 1799 h 11379"/>
              <a:gd name="connsiteX23" fmla="*/ 9700 w 14201"/>
              <a:gd name="connsiteY23" fmla="*/ 1986 h 11379"/>
              <a:gd name="connsiteX24" fmla="*/ 10006 w 14201"/>
              <a:gd name="connsiteY24" fmla="*/ 9290 h 11379"/>
              <a:gd name="connsiteX25" fmla="*/ 10091 w 14201"/>
              <a:gd name="connsiteY25" fmla="*/ 9494 h 11379"/>
              <a:gd name="connsiteX26" fmla="*/ 10227 w 14201"/>
              <a:gd name="connsiteY26" fmla="*/ 9630 h 11379"/>
              <a:gd name="connsiteX27" fmla="*/ 13641 w 14201"/>
              <a:gd name="connsiteY27" fmla="*/ 11193 h 11379"/>
              <a:gd name="connsiteX28" fmla="*/ 14134 w 14201"/>
              <a:gd name="connsiteY28" fmla="*/ 11057 h 11379"/>
              <a:gd name="connsiteX29" fmla="*/ 14202 w 14201"/>
              <a:gd name="connsiteY29" fmla="*/ 10819 h 11379"/>
              <a:gd name="connsiteX30" fmla="*/ 13624 w 14201"/>
              <a:gd name="connsiteY30" fmla="*/ 389 h 11379"/>
              <a:gd name="connsiteX31" fmla="*/ 13284 w 14201"/>
              <a:gd name="connsiteY31" fmla="*/ 15 h 11379"/>
              <a:gd name="connsiteX32" fmla="*/ 1138 w 14201"/>
              <a:gd name="connsiteY32" fmla="*/ 49 h 11379"/>
              <a:gd name="connsiteX33" fmla="*/ 679 w 14201"/>
              <a:gd name="connsiteY33" fmla="*/ 151 h 11379"/>
              <a:gd name="connsiteX34" fmla="*/ 578 w 14201"/>
              <a:gd name="connsiteY34" fmla="*/ 389 h 11379"/>
              <a:gd name="connsiteX35" fmla="*/ 0 w 14201"/>
              <a:gd name="connsiteY35" fmla="*/ 10819 h 11379"/>
              <a:gd name="connsiteX36" fmla="*/ 289 w 14201"/>
              <a:gd name="connsiteY36" fmla="*/ 11227 h 11379"/>
              <a:gd name="connsiteX37" fmla="*/ 544 w 14201"/>
              <a:gd name="connsiteY37" fmla="*/ 11193 h 11379"/>
              <a:gd name="connsiteX38" fmla="*/ 3958 w 14201"/>
              <a:gd name="connsiteY38" fmla="*/ 9613 h 11379"/>
              <a:gd name="connsiteX39" fmla="*/ 4128 w 14201"/>
              <a:gd name="connsiteY39" fmla="*/ 9477 h 11379"/>
              <a:gd name="connsiteX40" fmla="*/ 4179 w 14201"/>
              <a:gd name="connsiteY40" fmla="*/ 9290 h 11379"/>
              <a:gd name="connsiteX41" fmla="*/ 4485 w 14201"/>
              <a:gd name="connsiteY41" fmla="*/ 1986 h 11379"/>
              <a:gd name="connsiteX42" fmla="*/ 4434 w 14201"/>
              <a:gd name="connsiteY42" fmla="*/ 1782 h 11379"/>
              <a:gd name="connsiteX43" fmla="*/ 4264 w 14201"/>
              <a:gd name="connsiteY43" fmla="*/ 1612 h 11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14201" h="11379">
                <a:moveTo>
                  <a:pt x="8800" y="1935"/>
                </a:moveTo>
                <a:lnTo>
                  <a:pt x="8596" y="1969"/>
                </a:lnTo>
                <a:lnTo>
                  <a:pt x="7390" y="2563"/>
                </a:lnTo>
                <a:lnTo>
                  <a:pt x="7050" y="2631"/>
                </a:lnTo>
                <a:lnTo>
                  <a:pt x="6812" y="2563"/>
                </a:lnTo>
                <a:lnTo>
                  <a:pt x="5606" y="1952"/>
                </a:lnTo>
                <a:cubicBezTo>
                  <a:pt x="5425" y="1907"/>
                  <a:pt x="5289" y="1941"/>
                  <a:pt x="5198" y="2054"/>
                </a:cubicBezTo>
                <a:lnTo>
                  <a:pt x="5130" y="2224"/>
                </a:lnTo>
                <a:lnTo>
                  <a:pt x="4841" y="9494"/>
                </a:lnTo>
                <a:lnTo>
                  <a:pt x="4926" y="9834"/>
                </a:lnTo>
                <a:lnTo>
                  <a:pt x="5096" y="10055"/>
                </a:lnTo>
                <a:lnTo>
                  <a:pt x="6863" y="11312"/>
                </a:lnTo>
                <a:lnTo>
                  <a:pt x="7118" y="11380"/>
                </a:lnTo>
                <a:lnTo>
                  <a:pt x="7322" y="11312"/>
                </a:lnTo>
                <a:lnTo>
                  <a:pt x="9088" y="10055"/>
                </a:lnTo>
                <a:lnTo>
                  <a:pt x="9292" y="9783"/>
                </a:lnTo>
                <a:lnTo>
                  <a:pt x="9360" y="9494"/>
                </a:lnTo>
                <a:lnTo>
                  <a:pt x="9071" y="2241"/>
                </a:lnTo>
                <a:cubicBezTo>
                  <a:pt x="9026" y="2059"/>
                  <a:pt x="8935" y="1957"/>
                  <a:pt x="8800" y="1935"/>
                </a:cubicBezTo>
                <a:moveTo>
                  <a:pt x="13284" y="15"/>
                </a:moveTo>
                <a:lnTo>
                  <a:pt x="13046" y="49"/>
                </a:lnTo>
                <a:lnTo>
                  <a:pt x="9921" y="1629"/>
                </a:lnTo>
                <a:lnTo>
                  <a:pt x="9751" y="1799"/>
                </a:lnTo>
                <a:lnTo>
                  <a:pt x="9700" y="1986"/>
                </a:lnTo>
                <a:lnTo>
                  <a:pt x="10006" y="9290"/>
                </a:lnTo>
                <a:lnTo>
                  <a:pt x="10091" y="9494"/>
                </a:lnTo>
                <a:lnTo>
                  <a:pt x="10227" y="9630"/>
                </a:lnTo>
                <a:lnTo>
                  <a:pt x="13641" y="11193"/>
                </a:lnTo>
                <a:cubicBezTo>
                  <a:pt x="13856" y="11250"/>
                  <a:pt x="14020" y="11204"/>
                  <a:pt x="14134" y="11057"/>
                </a:cubicBezTo>
                <a:lnTo>
                  <a:pt x="14202" y="10819"/>
                </a:lnTo>
                <a:lnTo>
                  <a:pt x="13624" y="389"/>
                </a:lnTo>
                <a:cubicBezTo>
                  <a:pt x="13567" y="174"/>
                  <a:pt x="13454" y="49"/>
                  <a:pt x="13284" y="15"/>
                </a:cubicBezTo>
                <a:moveTo>
                  <a:pt x="1138" y="49"/>
                </a:moveTo>
                <a:cubicBezTo>
                  <a:pt x="983" y="-45"/>
                  <a:pt x="780" y="0"/>
                  <a:pt x="679" y="151"/>
                </a:cubicBezTo>
                <a:lnTo>
                  <a:pt x="578" y="389"/>
                </a:lnTo>
                <a:lnTo>
                  <a:pt x="0" y="10819"/>
                </a:lnTo>
                <a:cubicBezTo>
                  <a:pt x="11" y="11023"/>
                  <a:pt x="108" y="11159"/>
                  <a:pt x="289" y="11227"/>
                </a:cubicBezTo>
                <a:lnTo>
                  <a:pt x="544" y="11193"/>
                </a:lnTo>
                <a:lnTo>
                  <a:pt x="3958" y="9613"/>
                </a:lnTo>
                <a:lnTo>
                  <a:pt x="4128" y="9477"/>
                </a:lnTo>
                <a:lnTo>
                  <a:pt x="4179" y="9290"/>
                </a:lnTo>
                <a:lnTo>
                  <a:pt x="4485" y="1986"/>
                </a:lnTo>
                <a:lnTo>
                  <a:pt x="4434" y="1782"/>
                </a:lnTo>
                <a:lnTo>
                  <a:pt x="4264" y="1612"/>
                </a:lnTo>
                <a:close/>
              </a:path>
            </a:pathLst>
          </a:custGeom>
          <a:solidFill>
            <a:sysClr val="window" lastClr="FFFFFF"/>
          </a:solidFill>
          <a:ln w="38100" cap="flat" cmpd="sng" algn="ctr">
            <a:noFill/>
            <a:prstDash val="solid"/>
            <a:miter lim="800000"/>
          </a:ln>
          <a:effectLst>
            <a:outerShdw blurRad="469900" dist="123444" dir="5400000" sx="99000" sy="99000" algn="ctr" rotWithShape="0">
              <a:srgbClr val="62799C">
                <a:alpha val="24000"/>
              </a:srgbClr>
            </a:outerShdw>
          </a:effectLst>
        </p:spPr>
        <p:txBody>
          <a:bodyPr wrap="square" lIns="98756" tIns="49375" rIns="98756" bIns="49375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Sans Bold" panose="00000800000000000000" pitchFamily="2" charset="-122"/>
              <a:ea typeface="MiSans Bold" panose="000008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218" name="米菲PPT78"/>
          <p:cNvSpPr txBox="1"/>
          <p:nvPr/>
        </p:nvSpPr>
        <p:spPr>
          <a:xfrm>
            <a:off x="3760867" y="2671272"/>
            <a:ext cx="736355" cy="2725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20000"/>
              </a:lnSpc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MiSans Medium" panose="00000600000000000000" pitchFamily="2" charset="-122"/>
                <a:ea typeface="MiSans Medium" panose="00000600000000000000" pitchFamily="2" charset="-122"/>
              </a:defRPr>
            </a:lvl1pPr>
          </a:lstStyle>
          <a:p>
            <a:pPr algn="ctr" defTabSz="457200"/>
            <a:r>
              <a:rPr lang="zh-CN" altLang="en-US" sz="1000" dirty="0">
                <a:solidFill>
                  <a:srgbClr val="62799C"/>
                </a:solidFill>
                <a:cs typeface="MiSans Medium" panose="00000600000000000000" pitchFamily="2" charset="-122"/>
              </a:rPr>
              <a:t>资产团队</a:t>
            </a:r>
          </a:p>
        </p:txBody>
      </p:sp>
      <p:sp>
        <p:nvSpPr>
          <p:cNvPr id="219" name="米菲PPT79"/>
          <p:cNvSpPr txBox="1"/>
          <p:nvPr/>
        </p:nvSpPr>
        <p:spPr>
          <a:xfrm>
            <a:off x="4576294" y="2668444"/>
            <a:ext cx="881146" cy="263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20000"/>
              </a:lnSpc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MiSans Medium" panose="00000600000000000000" pitchFamily="2" charset="-122"/>
                <a:ea typeface="MiSans Medium" panose="00000600000000000000" pitchFamily="2" charset="-122"/>
              </a:defRPr>
            </a:lvl1pPr>
          </a:lstStyle>
          <a:p>
            <a:pPr algn="ctr" defTabSz="457200"/>
            <a:r>
              <a:rPr lang="zh-CN" altLang="en-US" sz="1000" dirty="0">
                <a:solidFill>
                  <a:srgbClr val="62799C"/>
                </a:solidFill>
                <a:cs typeface="MiSans Medium" panose="00000600000000000000" pitchFamily="2" charset="-122"/>
              </a:rPr>
              <a:t>业务团队</a:t>
            </a:r>
          </a:p>
        </p:txBody>
      </p:sp>
      <p:grpSp>
        <p:nvGrpSpPr>
          <p:cNvPr id="247" name="米菲PPT90"/>
          <p:cNvGrpSpPr/>
          <p:nvPr/>
        </p:nvGrpSpPr>
        <p:grpSpPr>
          <a:xfrm>
            <a:off x="4421293" y="2420591"/>
            <a:ext cx="321628" cy="89826"/>
            <a:chOff x="1104388" y="5547020"/>
            <a:chExt cx="4890598" cy="306277"/>
          </a:xfrm>
        </p:grpSpPr>
        <p:sp>
          <p:nvSpPr>
            <p:cNvPr id="248" name="米菲PPT90-1"/>
            <p:cNvSpPr/>
            <p:nvPr/>
          </p:nvSpPr>
          <p:spPr>
            <a:xfrm flipV="1">
              <a:off x="1104388" y="5547020"/>
              <a:ext cx="4357166" cy="166876"/>
            </a:xfrm>
            <a:custGeom>
              <a:avLst/>
              <a:gdLst>
                <a:gd name="connsiteX0" fmla="*/ 0 w 8809388"/>
                <a:gd name="connsiteY0" fmla="*/ 0 h 777509"/>
                <a:gd name="connsiteX1" fmla="*/ 8803241 w 8809388"/>
                <a:gd name="connsiteY1" fmla="*/ 0 h 777509"/>
                <a:gd name="connsiteX2" fmla="*/ 8809388 w 8809388"/>
                <a:gd name="connsiteY2" fmla="*/ 5604 h 777509"/>
                <a:gd name="connsiteX3" fmla="*/ 7962716 w 8809388"/>
                <a:gd name="connsiteY3" fmla="*/ 777509 h 777509"/>
                <a:gd name="connsiteX4" fmla="*/ 7962716 w 8809388"/>
                <a:gd name="connsiteY4" fmla="*/ 328476 h 777509"/>
                <a:gd name="connsiteX5" fmla="*/ 0 w 8809388"/>
                <a:gd name="connsiteY5" fmla="*/ 328476 h 777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809388" h="777509">
                  <a:moveTo>
                    <a:pt x="0" y="0"/>
                  </a:moveTo>
                  <a:lnTo>
                    <a:pt x="8803241" y="0"/>
                  </a:lnTo>
                  <a:lnTo>
                    <a:pt x="8809388" y="5604"/>
                  </a:lnTo>
                  <a:lnTo>
                    <a:pt x="7962716" y="777509"/>
                  </a:lnTo>
                  <a:lnTo>
                    <a:pt x="7962716" y="328476"/>
                  </a:lnTo>
                  <a:lnTo>
                    <a:pt x="0" y="328476"/>
                  </a:lnTo>
                  <a:close/>
                </a:path>
              </a:pathLst>
            </a:custGeom>
            <a:gradFill flip="none" rotWithShape="1">
              <a:gsLst>
                <a:gs pos="100000">
                  <a:srgbClr val="F57359">
                    <a:alpha val="0"/>
                  </a:srgbClr>
                </a:gs>
                <a:gs pos="1000">
                  <a:srgbClr val="F57359">
                    <a:alpha val="81000"/>
                  </a:srgbClr>
                </a:gs>
              </a:gsLst>
              <a:lin ang="15600000" scaled="0"/>
              <a:tileRect/>
            </a:gra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wrap="square" lIns="98756" tIns="49375" rIns="98756" bIns="49375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945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137160" dist="41148" dir="2699997" algn="tl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endParaRPr>
            </a:p>
          </p:txBody>
        </p:sp>
        <p:sp>
          <p:nvSpPr>
            <p:cNvPr id="249" name="米菲PPT90-2"/>
            <p:cNvSpPr/>
            <p:nvPr/>
          </p:nvSpPr>
          <p:spPr>
            <a:xfrm flipH="1" flipV="1">
              <a:off x="1637821" y="5686421"/>
              <a:ext cx="4357165" cy="166876"/>
            </a:xfrm>
            <a:custGeom>
              <a:avLst/>
              <a:gdLst>
                <a:gd name="connsiteX0" fmla="*/ 0 w 8809388"/>
                <a:gd name="connsiteY0" fmla="*/ 0 h 777509"/>
                <a:gd name="connsiteX1" fmla="*/ 8803241 w 8809388"/>
                <a:gd name="connsiteY1" fmla="*/ 0 h 777509"/>
                <a:gd name="connsiteX2" fmla="*/ 8809388 w 8809388"/>
                <a:gd name="connsiteY2" fmla="*/ 5604 h 777509"/>
                <a:gd name="connsiteX3" fmla="*/ 7962716 w 8809388"/>
                <a:gd name="connsiteY3" fmla="*/ 777509 h 777509"/>
                <a:gd name="connsiteX4" fmla="*/ 7962716 w 8809388"/>
                <a:gd name="connsiteY4" fmla="*/ 328476 h 777509"/>
                <a:gd name="connsiteX5" fmla="*/ 0 w 8809388"/>
                <a:gd name="connsiteY5" fmla="*/ 328476 h 777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809388" h="777509">
                  <a:moveTo>
                    <a:pt x="0" y="0"/>
                  </a:moveTo>
                  <a:lnTo>
                    <a:pt x="8803241" y="0"/>
                  </a:lnTo>
                  <a:lnTo>
                    <a:pt x="8809388" y="5604"/>
                  </a:lnTo>
                  <a:lnTo>
                    <a:pt x="7962716" y="777509"/>
                  </a:lnTo>
                  <a:lnTo>
                    <a:pt x="7962716" y="328476"/>
                  </a:lnTo>
                  <a:lnTo>
                    <a:pt x="0" y="328476"/>
                  </a:lnTo>
                  <a:close/>
                </a:path>
              </a:pathLst>
            </a:custGeom>
            <a:gradFill flip="none" rotWithShape="1">
              <a:gsLst>
                <a:gs pos="100000">
                  <a:srgbClr val="FCA072">
                    <a:alpha val="0"/>
                  </a:srgbClr>
                </a:gs>
                <a:gs pos="1000">
                  <a:srgbClr val="FCA072">
                    <a:alpha val="74000"/>
                  </a:srgbClr>
                </a:gs>
              </a:gsLst>
              <a:lin ang="15600000" scaled="0"/>
              <a:tileRect/>
            </a:gra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wrap="square" lIns="98756" tIns="49375" rIns="98756" bIns="49375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945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137160" dist="41148" dir="2699997" algn="tl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endParaRPr>
            </a:p>
          </p:txBody>
        </p:sp>
      </p:grpSp>
      <p:sp>
        <p:nvSpPr>
          <p:cNvPr id="250" name="米菲PPT78"/>
          <p:cNvSpPr txBox="1"/>
          <p:nvPr/>
        </p:nvSpPr>
        <p:spPr>
          <a:xfrm>
            <a:off x="3781237" y="2227127"/>
            <a:ext cx="736355" cy="4486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20000"/>
              </a:lnSpc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MiSans Medium" panose="00000600000000000000" pitchFamily="2" charset="-122"/>
                <a:ea typeface="MiSans Medium" panose="00000600000000000000" pitchFamily="2" charset="-122"/>
              </a:defRPr>
            </a:lvl1pPr>
          </a:lstStyle>
          <a:p>
            <a:pPr algn="ctr" defTabSz="457200"/>
            <a:r>
              <a:rPr lang="zh-CN" altLang="en-US" sz="1000" dirty="0">
                <a:solidFill>
                  <a:schemeClr val="bg1"/>
                </a:solidFill>
                <a:cs typeface="MiSans Medium" panose="00000600000000000000" pitchFamily="2" charset="-122"/>
              </a:rPr>
              <a:t>榜单</a:t>
            </a:r>
            <a:endParaRPr lang="en-US" altLang="zh-CN" sz="1000" dirty="0">
              <a:solidFill>
                <a:schemeClr val="bg1"/>
              </a:solidFill>
              <a:cs typeface="MiSans Medium" panose="00000600000000000000" pitchFamily="2" charset="-122"/>
            </a:endParaRPr>
          </a:p>
          <a:p>
            <a:pPr algn="ctr" defTabSz="457200"/>
            <a:r>
              <a:rPr lang="zh-CN" altLang="en-US" sz="1000" dirty="0">
                <a:solidFill>
                  <a:schemeClr val="bg1"/>
                </a:solidFill>
                <a:cs typeface="MiSans Medium" panose="00000600000000000000" pitchFamily="2" charset="-122"/>
              </a:rPr>
              <a:t>规则</a:t>
            </a:r>
          </a:p>
        </p:txBody>
      </p:sp>
      <p:sp>
        <p:nvSpPr>
          <p:cNvPr id="251" name="米菲PPT78"/>
          <p:cNvSpPr txBox="1"/>
          <p:nvPr/>
        </p:nvSpPr>
        <p:spPr>
          <a:xfrm>
            <a:off x="4658293" y="2227127"/>
            <a:ext cx="736355" cy="4493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20000"/>
              </a:lnSpc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MiSans Medium" panose="00000600000000000000" pitchFamily="2" charset="-122"/>
                <a:ea typeface="MiSans Medium" panose="00000600000000000000" pitchFamily="2" charset="-122"/>
              </a:defRPr>
            </a:lvl1pPr>
          </a:lstStyle>
          <a:p>
            <a:pPr algn="ctr" defTabSz="457200"/>
            <a:r>
              <a:rPr lang="zh-CN" altLang="en-US" sz="1000" dirty="0">
                <a:solidFill>
                  <a:schemeClr val="bg1"/>
                </a:solidFill>
                <a:cs typeface="MiSans Medium" panose="00000600000000000000" pitchFamily="2" charset="-122"/>
              </a:rPr>
              <a:t>新功能</a:t>
            </a:r>
            <a:endParaRPr lang="en-US" altLang="zh-CN" sz="1000" dirty="0">
              <a:solidFill>
                <a:schemeClr val="bg1"/>
              </a:solidFill>
              <a:cs typeface="MiSans Medium" panose="00000600000000000000" pitchFamily="2" charset="-122"/>
            </a:endParaRPr>
          </a:p>
          <a:p>
            <a:pPr algn="ctr" defTabSz="457200"/>
            <a:r>
              <a:rPr lang="zh-CN" altLang="en-US" sz="1000" dirty="0">
                <a:solidFill>
                  <a:schemeClr val="bg1"/>
                </a:solidFill>
                <a:cs typeface="MiSans Medium" panose="00000600000000000000" pitchFamily="2" charset="-122"/>
              </a:rPr>
              <a:t>上线</a:t>
            </a:r>
          </a:p>
        </p:txBody>
      </p:sp>
      <p:sp>
        <p:nvSpPr>
          <p:cNvPr id="253" name="米菲PPT79"/>
          <p:cNvSpPr txBox="1"/>
          <p:nvPr/>
        </p:nvSpPr>
        <p:spPr>
          <a:xfrm>
            <a:off x="4244806" y="2294102"/>
            <a:ext cx="646104" cy="1781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20000"/>
              </a:lnSpc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MiSans Medium" panose="00000600000000000000" pitchFamily="2" charset="-122"/>
                <a:ea typeface="MiSans Medium" panose="00000600000000000000" pitchFamily="2" charset="-122"/>
              </a:defRPr>
            </a:lvl1pPr>
          </a:lstStyle>
          <a:p>
            <a:pPr algn="ctr" defTabSz="457200"/>
            <a:r>
              <a:rPr lang="zh-CN" altLang="en-US" sz="500" b="1" dirty="0">
                <a:solidFill>
                  <a:schemeClr val="tx1">
                    <a:lumMod val="75000"/>
                    <a:lumOff val="25000"/>
                  </a:schemeClr>
                </a:solidFill>
                <a:cs typeface="MiSans Medium" panose="00000600000000000000" pitchFamily="2" charset="-122"/>
              </a:rPr>
              <a:t>评估决策</a:t>
            </a:r>
          </a:p>
        </p:txBody>
      </p:sp>
      <p:sp>
        <p:nvSpPr>
          <p:cNvPr id="254" name="米菲PPT79"/>
          <p:cNvSpPr txBox="1"/>
          <p:nvPr/>
        </p:nvSpPr>
        <p:spPr>
          <a:xfrm>
            <a:off x="4241279" y="2472509"/>
            <a:ext cx="646104" cy="1781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20000"/>
              </a:lnSpc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MiSans Medium" panose="00000600000000000000" pitchFamily="2" charset="-122"/>
                <a:ea typeface="MiSans Medium" panose="00000600000000000000" pitchFamily="2" charset="-122"/>
              </a:defRPr>
            </a:lvl1pPr>
          </a:lstStyle>
          <a:p>
            <a:pPr algn="ctr" defTabSz="457200"/>
            <a:r>
              <a:rPr lang="zh-CN" altLang="en-US" sz="500" b="1" dirty="0">
                <a:solidFill>
                  <a:schemeClr val="tx1">
                    <a:lumMod val="75000"/>
                    <a:lumOff val="25000"/>
                  </a:schemeClr>
                </a:solidFill>
                <a:cs typeface="MiSans Medium" panose="00000600000000000000" pitchFamily="2" charset="-122"/>
              </a:rPr>
              <a:t>沟通机制</a:t>
            </a:r>
          </a:p>
        </p:txBody>
      </p:sp>
      <p:sp>
        <p:nvSpPr>
          <p:cNvPr id="258" name="米菲PPT162"/>
          <p:cNvSpPr/>
          <p:nvPr/>
        </p:nvSpPr>
        <p:spPr>
          <a:xfrm>
            <a:off x="7782665" y="2697406"/>
            <a:ext cx="123979" cy="123979"/>
          </a:xfrm>
          <a:custGeom>
            <a:avLst/>
            <a:gdLst>
              <a:gd name="connsiteX0" fmla="*/ 492760 w 1041400"/>
              <a:gd name="connsiteY0" fmla="*/ 812800 h 1041400"/>
              <a:gd name="connsiteX1" fmla="*/ 287020 w 1041400"/>
              <a:gd name="connsiteY1" fmla="*/ 718820 h 1041400"/>
              <a:gd name="connsiteX2" fmla="*/ 203200 w 1041400"/>
              <a:gd name="connsiteY2" fmla="*/ 508000 h 1041400"/>
              <a:gd name="connsiteX3" fmla="*/ 292100 w 1041400"/>
              <a:gd name="connsiteY3" fmla="*/ 292100 h 1041400"/>
              <a:gd name="connsiteX4" fmla="*/ 508000 w 1041400"/>
              <a:gd name="connsiteY4" fmla="*/ 203200 h 1041400"/>
              <a:gd name="connsiteX5" fmla="*/ 718820 w 1041400"/>
              <a:gd name="connsiteY5" fmla="*/ 287020 h 1041400"/>
              <a:gd name="connsiteX6" fmla="*/ 812800 w 1041400"/>
              <a:gd name="connsiteY6" fmla="*/ 492760 h 1041400"/>
              <a:gd name="connsiteX7" fmla="*/ 706120 w 1041400"/>
              <a:gd name="connsiteY7" fmla="*/ 461010 h 1041400"/>
              <a:gd name="connsiteX8" fmla="*/ 635000 w 1041400"/>
              <a:gd name="connsiteY8" fmla="*/ 348640 h 1041400"/>
              <a:gd name="connsiteX9" fmla="*/ 508000 w 1041400"/>
              <a:gd name="connsiteY9" fmla="*/ 304800 h 1041400"/>
              <a:gd name="connsiteX10" fmla="*/ 364490 w 1041400"/>
              <a:gd name="connsiteY10" fmla="*/ 364490 h 1041400"/>
              <a:gd name="connsiteX11" fmla="*/ 304800 w 1041400"/>
              <a:gd name="connsiteY11" fmla="*/ 508000 h 1041400"/>
              <a:gd name="connsiteX12" fmla="*/ 348640 w 1041400"/>
              <a:gd name="connsiteY12" fmla="*/ 635000 h 1041400"/>
              <a:gd name="connsiteX13" fmla="*/ 461010 w 1041400"/>
              <a:gd name="connsiteY13" fmla="*/ 706120 h 1041400"/>
              <a:gd name="connsiteX14" fmla="*/ 553720 w 1041400"/>
              <a:gd name="connsiteY14" fmla="*/ 1013460 h 1041400"/>
              <a:gd name="connsiteX15" fmla="*/ 530860 w 1041400"/>
              <a:gd name="connsiteY15" fmla="*/ 1016000 h 1041400"/>
              <a:gd name="connsiteX16" fmla="*/ 508000 w 1041400"/>
              <a:gd name="connsiteY16" fmla="*/ 1016000 h 1041400"/>
              <a:gd name="connsiteX17" fmla="*/ 309880 w 1041400"/>
              <a:gd name="connsiteY17" fmla="*/ 975970 h 1041400"/>
              <a:gd name="connsiteX18" fmla="*/ 148590 w 1041400"/>
              <a:gd name="connsiteY18" fmla="*/ 867410 h 1041400"/>
              <a:gd name="connsiteX19" fmla="*/ 40030 w 1041400"/>
              <a:gd name="connsiteY19" fmla="*/ 706120 h 1041400"/>
              <a:gd name="connsiteX20" fmla="*/ 0 w 1041400"/>
              <a:gd name="connsiteY20" fmla="*/ 508000 h 1041400"/>
              <a:gd name="connsiteX21" fmla="*/ 40030 w 1041400"/>
              <a:gd name="connsiteY21" fmla="*/ 309880 h 1041400"/>
              <a:gd name="connsiteX22" fmla="*/ 148590 w 1041400"/>
              <a:gd name="connsiteY22" fmla="*/ 148590 h 1041400"/>
              <a:gd name="connsiteX23" fmla="*/ 309880 w 1041400"/>
              <a:gd name="connsiteY23" fmla="*/ 40030 h 1041400"/>
              <a:gd name="connsiteX24" fmla="*/ 508000 w 1041400"/>
              <a:gd name="connsiteY24" fmla="*/ 0 h 1041400"/>
              <a:gd name="connsiteX25" fmla="*/ 706120 w 1041400"/>
              <a:gd name="connsiteY25" fmla="*/ 40030 h 1041400"/>
              <a:gd name="connsiteX26" fmla="*/ 867410 w 1041400"/>
              <a:gd name="connsiteY26" fmla="*/ 148590 h 1041400"/>
              <a:gd name="connsiteX27" fmla="*/ 976020 w 1041400"/>
              <a:gd name="connsiteY27" fmla="*/ 309880 h 1041400"/>
              <a:gd name="connsiteX28" fmla="*/ 1016000 w 1041400"/>
              <a:gd name="connsiteY28" fmla="*/ 508000 h 1041400"/>
              <a:gd name="connsiteX29" fmla="*/ 1016000 w 1041400"/>
              <a:gd name="connsiteY29" fmla="*/ 530860 h 1041400"/>
              <a:gd name="connsiteX30" fmla="*/ 1013460 w 1041400"/>
              <a:gd name="connsiteY30" fmla="*/ 553720 h 1041400"/>
              <a:gd name="connsiteX31" fmla="*/ 914400 w 1041400"/>
              <a:gd name="connsiteY31" fmla="*/ 523240 h 1041400"/>
              <a:gd name="connsiteX32" fmla="*/ 914400 w 1041400"/>
              <a:gd name="connsiteY32" fmla="*/ 508000 h 1041400"/>
              <a:gd name="connsiteX33" fmla="*/ 796290 w 1041400"/>
              <a:gd name="connsiteY33" fmla="*/ 219710 h 1041400"/>
              <a:gd name="connsiteX34" fmla="*/ 508000 w 1041400"/>
              <a:gd name="connsiteY34" fmla="*/ 101600 h 1041400"/>
              <a:gd name="connsiteX35" fmla="*/ 219710 w 1041400"/>
              <a:gd name="connsiteY35" fmla="*/ 219710 h 1041400"/>
              <a:gd name="connsiteX36" fmla="*/ 101600 w 1041400"/>
              <a:gd name="connsiteY36" fmla="*/ 508000 h 1041400"/>
              <a:gd name="connsiteX37" fmla="*/ 219710 w 1041400"/>
              <a:gd name="connsiteY37" fmla="*/ 796290 h 1041400"/>
              <a:gd name="connsiteX38" fmla="*/ 508000 w 1041400"/>
              <a:gd name="connsiteY38" fmla="*/ 914400 h 1041400"/>
              <a:gd name="connsiteX39" fmla="*/ 523240 w 1041400"/>
              <a:gd name="connsiteY39" fmla="*/ 914400 h 1041400"/>
              <a:gd name="connsiteX40" fmla="*/ 941070 w 1041400"/>
              <a:gd name="connsiteY40" fmla="*/ 1041400 h 1041400"/>
              <a:gd name="connsiteX41" fmla="*/ 723900 w 1041400"/>
              <a:gd name="connsiteY41" fmla="*/ 824230 h 1041400"/>
              <a:gd name="connsiteX42" fmla="*/ 660400 w 1041400"/>
              <a:gd name="connsiteY42" fmla="*/ 1016000 h 1041400"/>
              <a:gd name="connsiteX43" fmla="*/ 508000 w 1041400"/>
              <a:gd name="connsiteY43" fmla="*/ 508000 h 1041400"/>
              <a:gd name="connsiteX44" fmla="*/ 1016000 w 1041400"/>
              <a:gd name="connsiteY44" fmla="*/ 660400 h 1041400"/>
              <a:gd name="connsiteX45" fmla="*/ 824230 w 1041400"/>
              <a:gd name="connsiteY45" fmla="*/ 723900 h 1041400"/>
              <a:gd name="connsiteX46" fmla="*/ 1041400 w 1041400"/>
              <a:gd name="connsiteY46" fmla="*/ 941070 h 1041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</a:cxnLst>
            <a:rect l="l" t="t" r="r" b="b"/>
            <a:pathLst>
              <a:path w="1041400" h="1041400">
                <a:moveTo>
                  <a:pt x="492760" y="812800"/>
                </a:moveTo>
                <a:cubicBezTo>
                  <a:pt x="411480" y="808567"/>
                  <a:pt x="342900" y="777240"/>
                  <a:pt x="287020" y="718820"/>
                </a:cubicBezTo>
                <a:cubicBezTo>
                  <a:pt x="231140" y="660400"/>
                  <a:pt x="203200" y="590127"/>
                  <a:pt x="203200" y="508000"/>
                </a:cubicBezTo>
                <a:cubicBezTo>
                  <a:pt x="203200" y="423333"/>
                  <a:pt x="232833" y="351367"/>
                  <a:pt x="292100" y="292100"/>
                </a:cubicBezTo>
                <a:cubicBezTo>
                  <a:pt x="351367" y="232833"/>
                  <a:pt x="423333" y="203200"/>
                  <a:pt x="508000" y="203200"/>
                </a:cubicBezTo>
                <a:cubicBezTo>
                  <a:pt x="590127" y="203200"/>
                  <a:pt x="660400" y="231140"/>
                  <a:pt x="718820" y="287020"/>
                </a:cubicBezTo>
                <a:cubicBezTo>
                  <a:pt x="777240" y="342900"/>
                  <a:pt x="808567" y="411480"/>
                  <a:pt x="812800" y="492760"/>
                </a:cubicBezTo>
                <a:lnTo>
                  <a:pt x="706120" y="461010"/>
                </a:lnTo>
                <a:cubicBezTo>
                  <a:pt x="695113" y="415290"/>
                  <a:pt x="671407" y="377833"/>
                  <a:pt x="635000" y="348640"/>
                </a:cubicBezTo>
                <a:cubicBezTo>
                  <a:pt x="598593" y="319447"/>
                  <a:pt x="556260" y="304834"/>
                  <a:pt x="508000" y="304800"/>
                </a:cubicBezTo>
                <a:cubicBezTo>
                  <a:pt x="452120" y="304800"/>
                  <a:pt x="404283" y="324697"/>
                  <a:pt x="364490" y="364490"/>
                </a:cubicBezTo>
                <a:cubicBezTo>
                  <a:pt x="324697" y="404283"/>
                  <a:pt x="304800" y="452120"/>
                  <a:pt x="304800" y="508000"/>
                </a:cubicBezTo>
                <a:cubicBezTo>
                  <a:pt x="304800" y="556260"/>
                  <a:pt x="319414" y="598593"/>
                  <a:pt x="348640" y="635000"/>
                </a:cubicBezTo>
                <a:cubicBezTo>
                  <a:pt x="377867" y="671407"/>
                  <a:pt x="415324" y="695113"/>
                  <a:pt x="461010" y="706120"/>
                </a:cubicBezTo>
                <a:close/>
                <a:moveTo>
                  <a:pt x="553720" y="1013460"/>
                </a:moveTo>
                <a:cubicBezTo>
                  <a:pt x="546100" y="1015153"/>
                  <a:pt x="538480" y="1016000"/>
                  <a:pt x="530860" y="1016000"/>
                </a:cubicBezTo>
                <a:lnTo>
                  <a:pt x="508000" y="1016000"/>
                </a:lnTo>
                <a:cubicBezTo>
                  <a:pt x="437727" y="1016000"/>
                  <a:pt x="371687" y="1002657"/>
                  <a:pt x="309880" y="975970"/>
                </a:cubicBezTo>
                <a:cubicBezTo>
                  <a:pt x="248073" y="949283"/>
                  <a:pt x="194310" y="913096"/>
                  <a:pt x="148590" y="867410"/>
                </a:cubicBezTo>
                <a:cubicBezTo>
                  <a:pt x="102870" y="821724"/>
                  <a:pt x="66684" y="767961"/>
                  <a:pt x="40030" y="706120"/>
                </a:cubicBezTo>
                <a:cubicBezTo>
                  <a:pt x="13377" y="644280"/>
                  <a:pt x="34" y="578239"/>
                  <a:pt x="0" y="508000"/>
                </a:cubicBezTo>
                <a:cubicBezTo>
                  <a:pt x="-34" y="437761"/>
                  <a:pt x="13310" y="371721"/>
                  <a:pt x="40030" y="309880"/>
                </a:cubicBezTo>
                <a:cubicBezTo>
                  <a:pt x="66751" y="248039"/>
                  <a:pt x="102938" y="194276"/>
                  <a:pt x="148590" y="148590"/>
                </a:cubicBezTo>
                <a:cubicBezTo>
                  <a:pt x="194242" y="102904"/>
                  <a:pt x="248006" y="66717"/>
                  <a:pt x="309880" y="40030"/>
                </a:cubicBezTo>
                <a:cubicBezTo>
                  <a:pt x="371754" y="13343"/>
                  <a:pt x="437794" y="0"/>
                  <a:pt x="508000" y="0"/>
                </a:cubicBezTo>
                <a:cubicBezTo>
                  <a:pt x="578206" y="0"/>
                  <a:pt x="644246" y="13343"/>
                  <a:pt x="706120" y="40030"/>
                </a:cubicBezTo>
                <a:cubicBezTo>
                  <a:pt x="767994" y="66717"/>
                  <a:pt x="821758" y="102904"/>
                  <a:pt x="867410" y="148590"/>
                </a:cubicBezTo>
                <a:cubicBezTo>
                  <a:pt x="913062" y="194276"/>
                  <a:pt x="949266" y="248039"/>
                  <a:pt x="976020" y="309880"/>
                </a:cubicBezTo>
                <a:cubicBezTo>
                  <a:pt x="1002775" y="371721"/>
                  <a:pt x="1016102" y="437761"/>
                  <a:pt x="1016000" y="508000"/>
                </a:cubicBezTo>
                <a:lnTo>
                  <a:pt x="1016000" y="530860"/>
                </a:lnTo>
                <a:cubicBezTo>
                  <a:pt x="1016000" y="538480"/>
                  <a:pt x="1015153" y="546100"/>
                  <a:pt x="1013460" y="553720"/>
                </a:cubicBezTo>
                <a:lnTo>
                  <a:pt x="914400" y="523240"/>
                </a:lnTo>
                <a:lnTo>
                  <a:pt x="914400" y="508000"/>
                </a:lnTo>
                <a:cubicBezTo>
                  <a:pt x="914400" y="394547"/>
                  <a:pt x="875030" y="298450"/>
                  <a:pt x="796290" y="219710"/>
                </a:cubicBezTo>
                <a:cubicBezTo>
                  <a:pt x="717550" y="140970"/>
                  <a:pt x="621453" y="101600"/>
                  <a:pt x="508000" y="101600"/>
                </a:cubicBezTo>
                <a:cubicBezTo>
                  <a:pt x="394547" y="101600"/>
                  <a:pt x="298450" y="140970"/>
                  <a:pt x="219710" y="219710"/>
                </a:cubicBezTo>
                <a:cubicBezTo>
                  <a:pt x="140970" y="298450"/>
                  <a:pt x="101600" y="394547"/>
                  <a:pt x="101600" y="508000"/>
                </a:cubicBezTo>
                <a:cubicBezTo>
                  <a:pt x="101600" y="621453"/>
                  <a:pt x="140970" y="717550"/>
                  <a:pt x="219710" y="796290"/>
                </a:cubicBezTo>
                <a:cubicBezTo>
                  <a:pt x="298450" y="875030"/>
                  <a:pt x="394547" y="914400"/>
                  <a:pt x="508000" y="914400"/>
                </a:cubicBezTo>
                <a:lnTo>
                  <a:pt x="523240" y="914400"/>
                </a:lnTo>
                <a:close/>
                <a:moveTo>
                  <a:pt x="941070" y="1041400"/>
                </a:moveTo>
                <a:lnTo>
                  <a:pt x="723900" y="824230"/>
                </a:lnTo>
                <a:lnTo>
                  <a:pt x="660400" y="1016000"/>
                </a:lnTo>
                <a:lnTo>
                  <a:pt x="508000" y="508000"/>
                </a:lnTo>
                <a:lnTo>
                  <a:pt x="1016000" y="660400"/>
                </a:lnTo>
                <a:lnTo>
                  <a:pt x="824230" y="723900"/>
                </a:lnTo>
                <a:lnTo>
                  <a:pt x="1041400" y="941070"/>
                </a:lnTo>
                <a:close/>
              </a:path>
            </a:pathLst>
          </a:custGeom>
          <a:solidFill>
            <a:srgbClr val="F57359"/>
          </a:solidFill>
          <a:ln w="6846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36" tIns="45721" rIns="91436" bIns="45721" numCol="1" spcCol="0" rtlCol="0" fromWordArt="0" anchor="ctr" anchorCtr="0" forceAA="0" compatLnSpc="1">
            <a:no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5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260" name="米菲PPT161"/>
          <p:cNvSpPr>
            <a:spLocks noChangeAspect="1"/>
          </p:cNvSpPr>
          <p:nvPr/>
        </p:nvSpPr>
        <p:spPr>
          <a:xfrm>
            <a:off x="6454870" y="2455320"/>
            <a:ext cx="129600" cy="129600"/>
          </a:xfrm>
          <a:custGeom>
            <a:avLst/>
            <a:gdLst>
              <a:gd name="connsiteX0" fmla="*/ 96317 w 1016000"/>
              <a:gd name="connsiteY0" fmla="*/ 805739 h 1016000"/>
              <a:gd name="connsiteX1" fmla="*/ 294996 w 1016000"/>
              <a:gd name="connsiteY1" fmla="*/ 607060 h 1016000"/>
              <a:gd name="connsiteX2" fmla="*/ 438709 w 1016000"/>
              <a:gd name="connsiteY2" fmla="*/ 750722 h 1016000"/>
              <a:gd name="connsiteX3" fmla="*/ 670916 w 1016000"/>
              <a:gd name="connsiteY3" fmla="*/ 518516 h 1016000"/>
              <a:gd name="connsiteX4" fmla="*/ 762000 w 1016000"/>
              <a:gd name="connsiteY4" fmla="*/ 609600 h 1016000"/>
              <a:gd name="connsiteX5" fmla="*/ 762000 w 1016000"/>
              <a:gd name="connsiteY5" fmla="*/ 355600 h 1016000"/>
              <a:gd name="connsiteX6" fmla="*/ 508000 w 1016000"/>
              <a:gd name="connsiteY6" fmla="*/ 355600 h 1016000"/>
              <a:gd name="connsiteX7" fmla="*/ 599085 w 1016000"/>
              <a:gd name="connsiteY7" fmla="*/ 446684 h 1016000"/>
              <a:gd name="connsiteX8" fmla="*/ 438709 w 1016000"/>
              <a:gd name="connsiteY8" fmla="*/ 607060 h 1016000"/>
              <a:gd name="connsiteX9" fmla="*/ 294996 w 1016000"/>
              <a:gd name="connsiteY9" fmla="*/ 463347 h 1016000"/>
              <a:gd name="connsiteX10" fmla="*/ 43790 w 1016000"/>
              <a:gd name="connsiteY10" fmla="*/ 714604 h 1016000"/>
              <a:gd name="connsiteX11" fmla="*/ 0 w 1016000"/>
              <a:gd name="connsiteY11" fmla="*/ 508000 h 1016000"/>
              <a:gd name="connsiteX12" fmla="*/ 508000 w 1016000"/>
              <a:gd name="connsiteY12" fmla="*/ 0 h 1016000"/>
              <a:gd name="connsiteX13" fmla="*/ 1016000 w 1016000"/>
              <a:gd name="connsiteY13" fmla="*/ 508000 h 1016000"/>
              <a:gd name="connsiteX14" fmla="*/ 508000 w 1016000"/>
              <a:gd name="connsiteY14" fmla="*/ 1016000 h 1016000"/>
              <a:gd name="connsiteX15" fmla="*/ 96317 w 1016000"/>
              <a:gd name="connsiteY15" fmla="*/ 805688 h 10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016000" h="1016000">
                <a:moveTo>
                  <a:pt x="96317" y="805739"/>
                </a:moveTo>
                <a:lnTo>
                  <a:pt x="294996" y="607060"/>
                </a:lnTo>
                <a:lnTo>
                  <a:pt x="438709" y="750722"/>
                </a:lnTo>
                <a:lnTo>
                  <a:pt x="670916" y="518516"/>
                </a:lnTo>
                <a:lnTo>
                  <a:pt x="762000" y="609600"/>
                </a:lnTo>
                <a:lnTo>
                  <a:pt x="762000" y="355600"/>
                </a:lnTo>
                <a:lnTo>
                  <a:pt x="508000" y="355600"/>
                </a:lnTo>
                <a:lnTo>
                  <a:pt x="599085" y="446684"/>
                </a:lnTo>
                <a:lnTo>
                  <a:pt x="438709" y="607060"/>
                </a:lnTo>
                <a:lnTo>
                  <a:pt x="294996" y="463347"/>
                </a:lnTo>
                <a:lnTo>
                  <a:pt x="43790" y="714604"/>
                </a:lnTo>
                <a:cubicBezTo>
                  <a:pt x="14881" y="649564"/>
                  <a:pt x="-38" y="579175"/>
                  <a:pt x="0" y="508000"/>
                </a:cubicBezTo>
                <a:cubicBezTo>
                  <a:pt x="0" y="227432"/>
                  <a:pt x="227432" y="0"/>
                  <a:pt x="508000" y="0"/>
                </a:cubicBezTo>
                <a:cubicBezTo>
                  <a:pt x="788568" y="0"/>
                  <a:pt x="1016000" y="227432"/>
                  <a:pt x="1016000" y="508000"/>
                </a:cubicBezTo>
                <a:cubicBezTo>
                  <a:pt x="1016000" y="788568"/>
                  <a:pt x="788568" y="1016000"/>
                  <a:pt x="508000" y="1016000"/>
                </a:cubicBezTo>
                <a:cubicBezTo>
                  <a:pt x="344956" y="1016098"/>
                  <a:pt x="191793" y="937853"/>
                  <a:pt x="96317" y="805688"/>
                </a:cubicBezTo>
              </a:path>
            </a:pathLst>
          </a:custGeom>
          <a:solidFill>
            <a:schemeClr val="accent2"/>
          </a:solidFill>
          <a:ln w="5080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5" dirty="0"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263" name="米菲PPT37"/>
          <p:cNvSpPr>
            <a:spLocks noChangeAspect="1"/>
          </p:cNvSpPr>
          <p:nvPr/>
        </p:nvSpPr>
        <p:spPr>
          <a:xfrm>
            <a:off x="7782665" y="2455320"/>
            <a:ext cx="137608" cy="129600"/>
          </a:xfrm>
          <a:custGeom>
            <a:avLst/>
            <a:gdLst>
              <a:gd name="connsiteX0" fmla="*/ 50800 w 914400"/>
              <a:gd name="connsiteY0" fmla="*/ 101600 h 812800"/>
              <a:gd name="connsiteX1" fmla="*/ 50800 w 914400"/>
              <a:gd name="connsiteY1" fmla="*/ 0 h 812800"/>
              <a:gd name="connsiteX2" fmla="*/ 863600 w 914400"/>
              <a:gd name="connsiteY2" fmla="*/ 0 h 812800"/>
              <a:gd name="connsiteX3" fmla="*/ 863600 w 914400"/>
              <a:gd name="connsiteY3" fmla="*/ 101600 h 812800"/>
              <a:gd name="connsiteX4" fmla="*/ 50800 w 914400"/>
              <a:gd name="connsiteY4" fmla="*/ 812800 h 812800"/>
              <a:gd name="connsiteX5" fmla="*/ 50800 w 914400"/>
              <a:gd name="connsiteY5" fmla="*/ 508000 h 812800"/>
              <a:gd name="connsiteX6" fmla="*/ 0 w 914400"/>
              <a:gd name="connsiteY6" fmla="*/ 508000 h 812800"/>
              <a:gd name="connsiteX7" fmla="*/ 0 w 914400"/>
              <a:gd name="connsiteY7" fmla="*/ 406400 h 812800"/>
              <a:gd name="connsiteX8" fmla="*/ 50800 w 914400"/>
              <a:gd name="connsiteY8" fmla="*/ 152400 h 812800"/>
              <a:gd name="connsiteX9" fmla="*/ 863600 w 914400"/>
              <a:gd name="connsiteY9" fmla="*/ 152400 h 812800"/>
              <a:gd name="connsiteX10" fmla="*/ 914400 w 914400"/>
              <a:gd name="connsiteY10" fmla="*/ 406400 h 812800"/>
              <a:gd name="connsiteX11" fmla="*/ 914400 w 914400"/>
              <a:gd name="connsiteY11" fmla="*/ 508000 h 812800"/>
              <a:gd name="connsiteX12" fmla="*/ 863600 w 914400"/>
              <a:gd name="connsiteY12" fmla="*/ 508000 h 812800"/>
              <a:gd name="connsiteX13" fmla="*/ 863600 w 914400"/>
              <a:gd name="connsiteY13" fmla="*/ 812800 h 812800"/>
              <a:gd name="connsiteX14" fmla="*/ 762000 w 914400"/>
              <a:gd name="connsiteY14" fmla="*/ 812800 h 812800"/>
              <a:gd name="connsiteX15" fmla="*/ 762000 w 914400"/>
              <a:gd name="connsiteY15" fmla="*/ 508000 h 812800"/>
              <a:gd name="connsiteX16" fmla="*/ 558800 w 914400"/>
              <a:gd name="connsiteY16" fmla="*/ 508000 h 812800"/>
              <a:gd name="connsiteX17" fmla="*/ 558800 w 914400"/>
              <a:gd name="connsiteY17" fmla="*/ 812800 h 812800"/>
              <a:gd name="connsiteX18" fmla="*/ 152400 w 914400"/>
              <a:gd name="connsiteY18" fmla="*/ 711200 h 812800"/>
              <a:gd name="connsiteX19" fmla="*/ 457200 w 914400"/>
              <a:gd name="connsiteY19" fmla="*/ 711200 h 812800"/>
              <a:gd name="connsiteX20" fmla="*/ 457200 w 914400"/>
              <a:gd name="connsiteY20" fmla="*/ 508000 h 812800"/>
              <a:gd name="connsiteX21" fmla="*/ 152400 w 914400"/>
              <a:gd name="connsiteY21" fmla="*/ 508000 h 81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914400" h="812800">
                <a:moveTo>
                  <a:pt x="50800" y="101600"/>
                </a:moveTo>
                <a:lnTo>
                  <a:pt x="50800" y="0"/>
                </a:lnTo>
                <a:lnTo>
                  <a:pt x="863600" y="0"/>
                </a:lnTo>
                <a:lnTo>
                  <a:pt x="863600" y="101600"/>
                </a:lnTo>
                <a:close/>
                <a:moveTo>
                  <a:pt x="50800" y="812800"/>
                </a:moveTo>
                <a:lnTo>
                  <a:pt x="50800" y="508000"/>
                </a:lnTo>
                <a:lnTo>
                  <a:pt x="0" y="508000"/>
                </a:lnTo>
                <a:lnTo>
                  <a:pt x="0" y="406400"/>
                </a:lnTo>
                <a:lnTo>
                  <a:pt x="50800" y="152400"/>
                </a:lnTo>
                <a:lnTo>
                  <a:pt x="863600" y="152400"/>
                </a:lnTo>
                <a:lnTo>
                  <a:pt x="914400" y="406400"/>
                </a:lnTo>
                <a:lnTo>
                  <a:pt x="914400" y="508000"/>
                </a:lnTo>
                <a:lnTo>
                  <a:pt x="863600" y="508000"/>
                </a:lnTo>
                <a:lnTo>
                  <a:pt x="863600" y="812800"/>
                </a:lnTo>
                <a:lnTo>
                  <a:pt x="762000" y="812800"/>
                </a:lnTo>
                <a:lnTo>
                  <a:pt x="762000" y="508000"/>
                </a:lnTo>
                <a:lnTo>
                  <a:pt x="558800" y="508000"/>
                </a:lnTo>
                <a:lnTo>
                  <a:pt x="558800" y="812800"/>
                </a:lnTo>
                <a:close/>
                <a:moveTo>
                  <a:pt x="152400" y="711200"/>
                </a:moveTo>
                <a:lnTo>
                  <a:pt x="457200" y="711200"/>
                </a:lnTo>
                <a:lnTo>
                  <a:pt x="457200" y="508000"/>
                </a:lnTo>
                <a:lnTo>
                  <a:pt x="152400" y="508000"/>
                </a:lnTo>
                <a:close/>
              </a:path>
            </a:pathLst>
          </a:custGeom>
          <a:solidFill>
            <a:srgbClr val="F57359"/>
          </a:solidFill>
          <a:ln w="5080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5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米菲PPT2"/>
          <p:cNvSpPr/>
          <p:nvPr/>
        </p:nvSpPr>
        <p:spPr>
          <a:xfrm>
            <a:off x="2244837" y="2835865"/>
            <a:ext cx="597864" cy="1053979"/>
          </a:xfrm>
          <a:prstGeom prst="leftBrace">
            <a:avLst>
              <a:gd name="adj1" fmla="val 33433"/>
              <a:gd name="adj2" fmla="val 49404"/>
            </a:avLst>
          </a:prstGeom>
          <a:gradFill flip="none" rotWithShape="1">
            <a:gsLst>
              <a:gs pos="0">
                <a:srgbClr val="F57359">
                  <a:alpha val="53000"/>
                </a:srgbClr>
              </a:gs>
              <a:gs pos="100000">
                <a:srgbClr val="F57359">
                  <a:alpha val="0"/>
                </a:srgbClr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95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347" name="米菲PPT4"/>
          <p:cNvSpPr/>
          <p:nvPr/>
        </p:nvSpPr>
        <p:spPr>
          <a:xfrm rot="5400000" flipV="1">
            <a:off x="-1040205" y="1733749"/>
            <a:ext cx="4925725" cy="1676002"/>
          </a:xfrm>
          <a:prstGeom prst="roundRect">
            <a:avLst>
              <a:gd name="adj" fmla="val 1461"/>
            </a:avLst>
          </a:prstGeom>
          <a:solidFill>
            <a:srgbClr val="F57359">
              <a:lumMod val="20000"/>
              <a:lumOff val="80000"/>
              <a:alpha val="52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5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348" name="米菲PPT18"/>
          <p:cNvSpPr txBox="1"/>
          <p:nvPr/>
        </p:nvSpPr>
        <p:spPr>
          <a:xfrm>
            <a:off x="2820246" y="293120"/>
            <a:ext cx="1600156" cy="426414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rgbClr val="F57359"/>
            </a:solidFill>
            <a:prstDash val="solid"/>
            <a:miter lim="800000"/>
          </a:ln>
          <a:effectLst>
            <a:outerShdw blurRad="825500" dist="139700" dir="5400000" algn="t" rotWithShape="0">
              <a:srgbClr val="F57359">
                <a:alpha val="24000"/>
              </a:srgbClr>
            </a:outerShdw>
          </a:effectLst>
        </p:spPr>
        <p:txBody>
          <a:bodyPr rtlCol="0" anchor="ctr"/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795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Sans Medium" panose="00000600000000000000" pitchFamily="2" charset="-122"/>
                <a:ea typeface="MiSans Medium" panose="00000600000000000000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 defTabSz="457200">
              <a:defRPr/>
            </a:pPr>
            <a:r>
              <a:rPr lang="zh-CN" altLang="en-US" sz="1200" kern="0" dirty="0">
                <a:solidFill>
                  <a:prstClr val="black">
                    <a:lumMod val="75000"/>
                    <a:lumOff val="25000"/>
                  </a:prstClr>
                </a:solidFill>
                <a:cs typeface="MiSans Medium" panose="00000600000000000000" pitchFamily="2" charset="-122"/>
              </a:rPr>
              <a:t>活动页榜单</a:t>
            </a:r>
            <a:endParaRPr lang="en-US" altLang="zh-CN" sz="1200" kern="0" dirty="0">
              <a:solidFill>
                <a:prstClr val="black">
                  <a:lumMod val="75000"/>
                  <a:lumOff val="25000"/>
                </a:prstClr>
              </a:solidFill>
              <a:cs typeface="MiSans Medium" panose="00000600000000000000" pitchFamily="2" charset="-122"/>
            </a:endParaRPr>
          </a:p>
          <a:p>
            <a:pPr lvl="0" defTabSz="457200">
              <a:defRPr/>
            </a:pPr>
            <a:r>
              <a:rPr lang="zh-CN" altLang="en-US" sz="1200" kern="0" dirty="0">
                <a:solidFill>
                  <a:prstClr val="black">
                    <a:lumMod val="75000"/>
                    <a:lumOff val="25000"/>
                  </a:prstClr>
                </a:solidFill>
                <a:cs typeface="MiSans Medium" panose="00000600000000000000" pitchFamily="2" charset="-122"/>
              </a:rPr>
              <a:t>模块曝光</a:t>
            </a:r>
            <a:r>
              <a:rPr lang="en-US" altLang="zh-CN" sz="1200" kern="0" dirty="0">
                <a:solidFill>
                  <a:prstClr val="black">
                    <a:lumMod val="75000"/>
                    <a:lumOff val="25000"/>
                  </a:prstClr>
                </a:solidFill>
                <a:cs typeface="MiSans Medium" panose="00000600000000000000" pitchFamily="2" charset="-122"/>
              </a:rPr>
              <a:t>UV</a:t>
            </a:r>
            <a:endParaRPr lang="zh-CN" altLang="en-US" sz="1200" kern="0" dirty="0">
              <a:solidFill>
                <a:prstClr val="black">
                  <a:lumMod val="75000"/>
                  <a:lumOff val="25000"/>
                </a:prstClr>
              </a:solidFill>
              <a:cs typeface="MiSans Medium" panose="00000600000000000000" pitchFamily="2" charset="-122"/>
            </a:endParaRPr>
          </a:p>
        </p:txBody>
      </p:sp>
      <p:sp>
        <p:nvSpPr>
          <p:cNvPr id="349" name="米菲PPT34"/>
          <p:cNvSpPr/>
          <p:nvPr/>
        </p:nvSpPr>
        <p:spPr>
          <a:xfrm rot="5400000" flipV="1">
            <a:off x="881845" y="11134"/>
            <a:ext cx="1081098" cy="1644957"/>
          </a:xfrm>
          <a:prstGeom prst="roundRect">
            <a:avLst>
              <a:gd name="adj" fmla="val 0"/>
            </a:avLst>
          </a:prstGeom>
          <a:gradFill>
            <a:gsLst>
              <a:gs pos="100000">
                <a:srgbClr val="F57359">
                  <a:lumMod val="20000"/>
                  <a:lumOff val="80000"/>
                </a:srgbClr>
              </a:gs>
              <a:gs pos="1000">
                <a:sysClr val="window" lastClr="FFFFFF"/>
              </a:gs>
            </a:gsLst>
            <a:lin ang="19800000" scaled="0"/>
          </a:gradFill>
          <a:ln w="6350" cap="flat" cmpd="sng" algn="ctr">
            <a:solidFill>
              <a:srgbClr val="F57359"/>
            </a:solidFill>
            <a:prstDash val="solid"/>
            <a:miter lim="800000"/>
          </a:ln>
          <a:effectLst>
            <a:outerShdw blurRad="406400" dist="139700" dir="5400000" algn="t" rotWithShape="0">
              <a:srgbClr val="F57359">
                <a:alpha val="12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350" name="米菲PPT35"/>
          <p:cNvSpPr txBox="1"/>
          <p:nvPr/>
        </p:nvSpPr>
        <p:spPr>
          <a:xfrm>
            <a:off x="738245" y="332942"/>
            <a:ext cx="13682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tx1">
                    <a:lumMod val="100000"/>
                  </a:schemeClr>
                </a:solidFill>
                <a:effectLst/>
                <a:latin typeface="MiSans Normal" panose="00000500000000000000" pitchFamily="2" charset="-122"/>
                <a:ea typeface="MiSans Normal" panose="00000500000000000000" pitchFamily="2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57200"/>
            <a:r>
              <a:rPr lang="zh-CN" altLang="en-US" b="1" dirty="0">
                <a:solidFill>
                  <a:srgbClr val="F57359"/>
                </a:solidFill>
                <a:latin typeface="MiSans Bold"/>
                <a:ea typeface="MiSans Bold"/>
                <a:cs typeface="MiSans Medium" panose="00000600000000000000" pitchFamily="2" charset="-122"/>
              </a:rPr>
              <a:t>平台产运</a:t>
            </a:r>
            <a:r>
              <a:rPr lang="en-US" altLang="zh-CN" b="1" dirty="0">
                <a:solidFill>
                  <a:srgbClr val="F57359"/>
                </a:solidFill>
                <a:latin typeface="MiSans Bold"/>
                <a:ea typeface="MiSans Bold"/>
                <a:cs typeface="MiSans Medium" panose="00000600000000000000" pitchFamily="2" charset="-122"/>
              </a:rPr>
              <a:t>/</a:t>
            </a:r>
            <a:r>
              <a:rPr lang="zh-CN" altLang="en-US" b="1" dirty="0">
                <a:solidFill>
                  <a:srgbClr val="F57359"/>
                </a:solidFill>
                <a:latin typeface="MiSans Bold"/>
                <a:ea typeface="MiSans Bold"/>
                <a:cs typeface="MiSans Medium" panose="00000600000000000000" pitchFamily="2" charset="-122"/>
              </a:rPr>
              <a:t>用增</a:t>
            </a:r>
          </a:p>
        </p:txBody>
      </p:sp>
      <p:sp>
        <p:nvSpPr>
          <p:cNvPr id="351" name="米菲PPT36"/>
          <p:cNvSpPr txBox="1"/>
          <p:nvPr/>
        </p:nvSpPr>
        <p:spPr>
          <a:xfrm>
            <a:off x="738245" y="715418"/>
            <a:ext cx="13682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tx1">
                    <a:lumMod val="100000"/>
                  </a:schemeClr>
                </a:solidFill>
                <a:effectLst/>
                <a:latin typeface="MiSans Normal" panose="00000500000000000000" pitchFamily="2" charset="-122"/>
                <a:ea typeface="MiSans Normal" panose="00000500000000000000" pitchFamily="2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57200"/>
            <a:r>
              <a:rPr lang="zh-CN" altLang="en-US" sz="1200" dirty="0">
                <a:solidFill>
                  <a:prstClr val="black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rPr>
              <a:t>心智流量</a:t>
            </a:r>
          </a:p>
        </p:txBody>
      </p:sp>
      <p:sp>
        <p:nvSpPr>
          <p:cNvPr id="352" name="米菲PPT37"/>
          <p:cNvSpPr/>
          <p:nvPr/>
        </p:nvSpPr>
        <p:spPr>
          <a:xfrm rot="5400000" flipV="1">
            <a:off x="880762" y="2525856"/>
            <a:ext cx="1083027" cy="1644957"/>
          </a:xfrm>
          <a:prstGeom prst="roundRect">
            <a:avLst>
              <a:gd name="adj" fmla="val 0"/>
            </a:avLst>
          </a:prstGeom>
          <a:gradFill>
            <a:gsLst>
              <a:gs pos="100000">
                <a:srgbClr val="F57359">
                  <a:lumMod val="20000"/>
                  <a:lumOff val="80000"/>
                </a:srgbClr>
              </a:gs>
              <a:gs pos="1000">
                <a:sysClr val="window" lastClr="FFFFFF"/>
              </a:gs>
            </a:gsLst>
            <a:lin ang="19800000" scaled="0"/>
          </a:gradFill>
          <a:ln w="6350" cap="flat" cmpd="sng" algn="ctr">
            <a:solidFill>
              <a:srgbClr val="F57359"/>
            </a:solidFill>
            <a:prstDash val="solid"/>
            <a:miter lim="800000"/>
          </a:ln>
          <a:effectLst>
            <a:outerShdw blurRad="406400" dist="139700" dir="5400000" algn="t" rotWithShape="0">
              <a:srgbClr val="F57359">
                <a:alpha val="12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353" name="米菲PPT38"/>
          <p:cNvSpPr txBox="1"/>
          <p:nvPr/>
        </p:nvSpPr>
        <p:spPr>
          <a:xfrm>
            <a:off x="738127" y="2861613"/>
            <a:ext cx="13682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tx1">
                    <a:lumMod val="100000"/>
                  </a:schemeClr>
                </a:solidFill>
                <a:effectLst/>
                <a:latin typeface="MiSans Normal" panose="00000500000000000000" pitchFamily="2" charset="-122"/>
                <a:ea typeface="MiSans Normal" panose="00000500000000000000" pitchFamily="2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57200"/>
            <a:r>
              <a:rPr lang="zh-CN" altLang="en-US" b="1" dirty="0">
                <a:solidFill>
                  <a:srgbClr val="F57359"/>
                </a:solidFill>
                <a:latin typeface="MiSans Bold"/>
                <a:ea typeface="MiSans Bold"/>
                <a:cs typeface="MiSans Medium" panose="00000600000000000000" pitchFamily="2" charset="-122"/>
              </a:rPr>
              <a:t>到餐产运</a:t>
            </a:r>
          </a:p>
        </p:txBody>
      </p:sp>
      <p:sp>
        <p:nvSpPr>
          <p:cNvPr id="354" name="米菲PPT39"/>
          <p:cNvSpPr txBox="1"/>
          <p:nvPr/>
        </p:nvSpPr>
        <p:spPr>
          <a:xfrm>
            <a:off x="738127" y="3314074"/>
            <a:ext cx="13682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tx1">
                    <a:lumMod val="100000"/>
                  </a:schemeClr>
                </a:solidFill>
                <a:effectLst/>
                <a:latin typeface="MiSans Normal" panose="00000500000000000000" pitchFamily="2" charset="-122"/>
                <a:ea typeface="MiSans Normal" panose="00000500000000000000" pitchFamily="2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57200"/>
            <a:r>
              <a:rPr lang="zh-CN" altLang="en-US" sz="1200" dirty="0">
                <a:solidFill>
                  <a:prstClr val="black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rPr>
              <a:t>资产建设</a:t>
            </a:r>
          </a:p>
        </p:txBody>
      </p:sp>
      <p:sp>
        <p:nvSpPr>
          <p:cNvPr id="355" name="米菲PPT40"/>
          <p:cNvSpPr/>
          <p:nvPr/>
        </p:nvSpPr>
        <p:spPr>
          <a:xfrm rot="5400000" flipV="1">
            <a:off x="925475" y="3715216"/>
            <a:ext cx="993835" cy="1644957"/>
          </a:xfrm>
          <a:prstGeom prst="roundRect">
            <a:avLst>
              <a:gd name="adj" fmla="val 0"/>
            </a:avLst>
          </a:prstGeom>
          <a:gradFill>
            <a:gsLst>
              <a:gs pos="100000">
                <a:srgbClr val="F57359">
                  <a:lumMod val="20000"/>
                  <a:lumOff val="80000"/>
                </a:srgbClr>
              </a:gs>
              <a:gs pos="1000">
                <a:sysClr val="window" lastClr="FFFFFF"/>
              </a:gs>
            </a:gsLst>
            <a:lin ang="19800000" scaled="0"/>
          </a:gradFill>
          <a:ln w="6350" cap="flat" cmpd="sng" algn="ctr">
            <a:solidFill>
              <a:srgbClr val="F57359"/>
            </a:solidFill>
            <a:prstDash val="solid"/>
            <a:miter lim="800000"/>
          </a:ln>
          <a:effectLst>
            <a:outerShdw blurRad="406400" dist="139700" dir="5400000" algn="t" rotWithShape="0">
              <a:srgbClr val="F57359">
                <a:alpha val="12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356" name="米菲PPT41"/>
          <p:cNvSpPr txBox="1"/>
          <p:nvPr/>
        </p:nvSpPr>
        <p:spPr>
          <a:xfrm>
            <a:off x="738244" y="4115136"/>
            <a:ext cx="13682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tx1">
                    <a:lumMod val="100000"/>
                  </a:schemeClr>
                </a:solidFill>
                <a:effectLst/>
                <a:latin typeface="MiSans Normal" panose="00000500000000000000" pitchFamily="2" charset="-122"/>
                <a:ea typeface="MiSans Normal" panose="00000500000000000000" pitchFamily="2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57200"/>
            <a:r>
              <a:rPr lang="zh-CN" altLang="en-US" b="1" dirty="0">
                <a:solidFill>
                  <a:srgbClr val="F57359"/>
                </a:solidFill>
                <a:latin typeface="MiSans Bold"/>
                <a:ea typeface="MiSans Bold"/>
                <a:cs typeface="MiSans Medium" panose="00000600000000000000" pitchFamily="2" charset="-122"/>
              </a:rPr>
              <a:t>销运</a:t>
            </a:r>
            <a:r>
              <a:rPr lang="en-US" altLang="zh-CN" b="1" dirty="0">
                <a:solidFill>
                  <a:srgbClr val="F57359"/>
                </a:solidFill>
                <a:latin typeface="MiSans Bold"/>
                <a:ea typeface="MiSans Bold"/>
                <a:cs typeface="MiSans Medium" panose="00000600000000000000" pitchFamily="2" charset="-122"/>
              </a:rPr>
              <a:t>/</a:t>
            </a:r>
            <a:r>
              <a:rPr lang="zh-CN" altLang="en-US" b="1" dirty="0">
                <a:solidFill>
                  <a:srgbClr val="F57359"/>
                </a:solidFill>
                <a:latin typeface="MiSans Bold"/>
                <a:ea typeface="MiSans Bold"/>
                <a:cs typeface="MiSans Medium" panose="00000600000000000000" pitchFamily="2" charset="-122"/>
              </a:rPr>
              <a:t>销售</a:t>
            </a:r>
          </a:p>
        </p:txBody>
      </p:sp>
      <p:sp>
        <p:nvSpPr>
          <p:cNvPr id="357" name="米菲PPT42"/>
          <p:cNvSpPr txBox="1"/>
          <p:nvPr/>
        </p:nvSpPr>
        <p:spPr>
          <a:xfrm>
            <a:off x="738244" y="4515108"/>
            <a:ext cx="13682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tx1">
                    <a:lumMod val="100000"/>
                  </a:schemeClr>
                </a:solidFill>
                <a:effectLst/>
                <a:latin typeface="MiSans Normal" panose="00000500000000000000" pitchFamily="2" charset="-122"/>
                <a:ea typeface="MiSans Normal" panose="00000500000000000000" pitchFamily="2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57200"/>
            <a:r>
              <a:rPr lang="zh-CN" altLang="en-US" sz="1200" dirty="0">
                <a:solidFill>
                  <a:prstClr val="black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rPr>
              <a:t>资产覆盖</a:t>
            </a:r>
          </a:p>
        </p:txBody>
      </p:sp>
      <p:sp>
        <p:nvSpPr>
          <p:cNvPr id="358" name="米菲PPT45"/>
          <p:cNvSpPr txBox="1"/>
          <p:nvPr/>
        </p:nvSpPr>
        <p:spPr>
          <a:xfrm>
            <a:off x="2820298" y="790862"/>
            <a:ext cx="1600156" cy="316902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rgbClr val="F57359"/>
            </a:solidFill>
            <a:prstDash val="solid"/>
            <a:miter lim="800000"/>
          </a:ln>
          <a:effectLst>
            <a:outerShdw blurRad="825500" dist="139700" dir="5400000" algn="t" rotWithShape="0">
              <a:srgbClr val="F57359">
                <a:alpha val="24000"/>
              </a:srgbClr>
            </a:outerShdw>
          </a:effectLst>
        </p:spPr>
        <p:txBody>
          <a:bodyPr rtlCol="0" anchor="ctr"/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795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Sans Medium" panose="00000600000000000000" pitchFamily="2" charset="-122"/>
                <a:ea typeface="MiSans Medium" panose="00000600000000000000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kern="0" dirty="0">
                <a:solidFill>
                  <a:prstClr val="black">
                    <a:lumMod val="75000"/>
                    <a:lumOff val="25000"/>
                  </a:prstClr>
                </a:solidFill>
                <a:cs typeface="MiSans Medium" panose="00000600000000000000" pitchFamily="2" charset="-122"/>
              </a:rPr>
              <a:t>榜单落地页</a:t>
            </a:r>
            <a:r>
              <a:rPr lang="en-US" altLang="zh-CN" sz="1200" kern="0" dirty="0">
                <a:solidFill>
                  <a:prstClr val="black">
                    <a:lumMod val="75000"/>
                    <a:lumOff val="25000"/>
                  </a:prstClr>
                </a:solidFill>
                <a:cs typeface="MiSans Medium" panose="00000600000000000000" pitchFamily="2" charset="-122"/>
              </a:rPr>
              <a:t>UV</a:t>
            </a: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359" name="米菲PPT46"/>
          <p:cNvSpPr txBox="1"/>
          <p:nvPr/>
        </p:nvSpPr>
        <p:spPr>
          <a:xfrm>
            <a:off x="2820298" y="1212873"/>
            <a:ext cx="1600156" cy="274736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rgbClr val="F57359"/>
            </a:solidFill>
            <a:prstDash val="solid"/>
            <a:miter lim="800000"/>
          </a:ln>
          <a:effectLst>
            <a:outerShdw blurRad="825500" dist="139700" dir="5400000" algn="t" rotWithShape="0">
              <a:srgbClr val="F57359">
                <a:alpha val="24000"/>
              </a:srgbClr>
            </a:outerShdw>
          </a:effectLst>
        </p:spPr>
        <p:txBody>
          <a:bodyPr rtlCol="0" anchor="ctr"/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795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Sans Medium" panose="00000600000000000000" pitchFamily="2" charset="-122"/>
                <a:ea typeface="MiSans Medium" panose="00000600000000000000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rPr>
              <a:t>星级评价资产规模</a:t>
            </a:r>
          </a:p>
        </p:txBody>
      </p:sp>
      <p:sp>
        <p:nvSpPr>
          <p:cNvPr id="360" name="米菲PPT47"/>
          <p:cNvSpPr txBox="1"/>
          <p:nvPr/>
        </p:nvSpPr>
        <p:spPr>
          <a:xfrm>
            <a:off x="2820182" y="2835857"/>
            <a:ext cx="1600156" cy="299406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rgbClr val="F57359"/>
            </a:solidFill>
            <a:prstDash val="solid"/>
            <a:miter lim="800000"/>
          </a:ln>
          <a:effectLst>
            <a:outerShdw blurRad="825500" dist="139700" dir="5400000" algn="t" rotWithShape="0">
              <a:srgbClr val="F57359">
                <a:alpha val="24000"/>
              </a:srgbClr>
            </a:outerShdw>
          </a:effectLst>
        </p:spPr>
        <p:txBody>
          <a:bodyPr rtlCol="0" anchor="ctr"/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795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Sans Medium" panose="00000600000000000000" pitchFamily="2" charset="-122"/>
                <a:ea typeface="MiSans Medium" panose="00000600000000000000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kern="0" dirty="0">
                <a:solidFill>
                  <a:prstClr val="black">
                    <a:lumMod val="75000"/>
                    <a:lumOff val="25000"/>
                  </a:prstClr>
                </a:solidFill>
                <a:cs typeface="MiSans Medium" panose="00000600000000000000" pitchFamily="2" charset="-122"/>
              </a:rPr>
              <a:t>核心资产规模</a:t>
            </a: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361" name="米菲PPT48"/>
          <p:cNvSpPr txBox="1"/>
          <p:nvPr/>
        </p:nvSpPr>
        <p:spPr>
          <a:xfrm>
            <a:off x="2820182" y="3209054"/>
            <a:ext cx="1600156" cy="328799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rgbClr val="F57359"/>
            </a:solidFill>
            <a:prstDash val="solid"/>
            <a:miter lim="800000"/>
          </a:ln>
          <a:effectLst>
            <a:outerShdw blurRad="825500" dist="139700" dir="5400000" algn="t" rotWithShape="0">
              <a:srgbClr val="F57359">
                <a:alpha val="24000"/>
              </a:srgbClr>
            </a:outerShdw>
          </a:effectLst>
        </p:spPr>
        <p:txBody>
          <a:bodyPr rtlCol="0" anchor="ctr"/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795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Sans Medium" panose="00000600000000000000" pitchFamily="2" charset="-122"/>
                <a:ea typeface="MiSans Medium" panose="00000600000000000000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rPr>
              <a:t>核心资产准确率</a:t>
            </a:r>
          </a:p>
        </p:txBody>
      </p:sp>
      <p:sp>
        <p:nvSpPr>
          <p:cNvPr id="362" name="米菲PPT49"/>
          <p:cNvSpPr txBox="1"/>
          <p:nvPr/>
        </p:nvSpPr>
        <p:spPr>
          <a:xfrm>
            <a:off x="2820182" y="3607970"/>
            <a:ext cx="1600156" cy="288699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rgbClr val="F57359"/>
            </a:solidFill>
            <a:prstDash val="solid"/>
            <a:miter lim="800000"/>
          </a:ln>
          <a:effectLst>
            <a:outerShdw blurRad="825500" dist="139700" dir="5400000" algn="t" rotWithShape="0">
              <a:srgbClr val="F57359">
                <a:alpha val="24000"/>
              </a:srgbClr>
            </a:outerShdw>
          </a:effectLst>
        </p:spPr>
        <p:txBody>
          <a:bodyPr rtlCol="0" anchor="ctr"/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795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Sans Medium" panose="00000600000000000000" pitchFamily="2" charset="-122"/>
                <a:ea typeface="MiSans Medium" panose="00000600000000000000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rPr>
              <a:t>数据工具支持</a:t>
            </a:r>
          </a:p>
        </p:txBody>
      </p:sp>
      <p:sp>
        <p:nvSpPr>
          <p:cNvPr id="363" name="米菲PPT50"/>
          <p:cNvSpPr txBox="1"/>
          <p:nvPr/>
        </p:nvSpPr>
        <p:spPr>
          <a:xfrm>
            <a:off x="2820245" y="4167617"/>
            <a:ext cx="1600156" cy="311633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rgbClr val="F57359"/>
            </a:solidFill>
            <a:prstDash val="solid"/>
            <a:miter lim="800000"/>
          </a:ln>
          <a:effectLst>
            <a:outerShdw blurRad="825500" dist="139700" dir="5400000" algn="t" rotWithShape="0">
              <a:srgbClr val="F57359">
                <a:alpha val="24000"/>
              </a:srgbClr>
            </a:outerShdw>
          </a:effectLst>
        </p:spPr>
        <p:txBody>
          <a:bodyPr rtlCol="0" anchor="ctr"/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795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Sans Medium" panose="00000600000000000000" pitchFamily="2" charset="-122"/>
                <a:ea typeface="MiSans Medium" panose="00000600000000000000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rPr>
              <a:t>核心资产覆盖率</a:t>
            </a:r>
          </a:p>
        </p:txBody>
      </p:sp>
      <p:sp>
        <p:nvSpPr>
          <p:cNvPr id="364" name="米菲PPT51"/>
          <p:cNvSpPr txBox="1"/>
          <p:nvPr/>
        </p:nvSpPr>
        <p:spPr>
          <a:xfrm>
            <a:off x="2820245" y="4530316"/>
            <a:ext cx="1600156" cy="294157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rgbClr val="F57359"/>
            </a:solidFill>
            <a:prstDash val="solid"/>
            <a:miter lim="800000"/>
          </a:ln>
          <a:effectLst>
            <a:outerShdw blurRad="825500" dist="139700" dir="5400000" algn="t" rotWithShape="0">
              <a:srgbClr val="F57359">
                <a:alpha val="24000"/>
              </a:srgbClr>
            </a:outerShdw>
          </a:effectLst>
        </p:spPr>
        <p:txBody>
          <a:bodyPr rtlCol="0" anchor="ctr"/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795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Sans Medium" panose="00000600000000000000" pitchFamily="2" charset="-122"/>
                <a:ea typeface="MiSans Medium" panose="00000600000000000000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rPr>
              <a:t>核心商户覆盖率</a:t>
            </a:r>
          </a:p>
        </p:txBody>
      </p:sp>
      <p:sp>
        <p:nvSpPr>
          <p:cNvPr id="365" name="米菲PPT52"/>
          <p:cNvSpPr txBox="1"/>
          <p:nvPr/>
        </p:nvSpPr>
        <p:spPr>
          <a:xfrm>
            <a:off x="-172511" y="1695744"/>
            <a:ext cx="675005" cy="2179224"/>
          </a:xfrm>
          <a:prstGeom prst="rect">
            <a:avLst/>
          </a:prstGeom>
          <a:noFill/>
        </p:spPr>
        <p:txBody>
          <a:bodyPr vert="eaVert" wrap="square">
            <a:noAutofit/>
          </a:bodyPr>
          <a:lstStyle>
            <a:defPPr>
              <a:defRPr lang="en-US"/>
            </a:defPPr>
            <a:lvl1pPr>
              <a:defRPr sz="1400">
                <a:solidFill>
                  <a:schemeClr val="tx1">
                    <a:lumMod val="100000"/>
                  </a:schemeClr>
                </a:solidFill>
                <a:effectLst/>
                <a:latin typeface="MiSans Normal" panose="00000500000000000000" pitchFamily="2" charset="-122"/>
                <a:ea typeface="MiSans Normal" panose="00000500000000000000" pitchFamily="2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57200"/>
            <a:r>
              <a:rPr lang="zh-CN" altLang="en-US" sz="1600" b="1" dirty="0">
                <a:solidFill>
                  <a:prstClr val="black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rPr>
              <a:t>协同方及</a:t>
            </a:r>
            <a:r>
              <a:rPr lang="zh-CN" altLang="en-US" sz="1600" b="1" dirty="0">
                <a:solidFill>
                  <a:prstClr val="black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Arial" panose="020B0604020202020204" pitchFamily="34" charset="0"/>
              </a:rPr>
              <a:t>核心指标</a:t>
            </a:r>
            <a:endParaRPr lang="zh-CN" altLang="en-US" sz="1600" b="1" dirty="0">
              <a:solidFill>
                <a:prstClr val="black"/>
              </a:solidFill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366" name="米菲PPT2"/>
          <p:cNvSpPr/>
          <p:nvPr/>
        </p:nvSpPr>
        <p:spPr>
          <a:xfrm>
            <a:off x="2220567" y="293063"/>
            <a:ext cx="597864" cy="1194649"/>
          </a:xfrm>
          <a:prstGeom prst="leftBrace">
            <a:avLst>
              <a:gd name="adj1" fmla="val 32877"/>
              <a:gd name="adj2" fmla="val 49404"/>
            </a:avLst>
          </a:prstGeom>
          <a:gradFill flip="none" rotWithShape="1">
            <a:gsLst>
              <a:gs pos="0">
                <a:srgbClr val="F57359">
                  <a:alpha val="53000"/>
                </a:srgbClr>
              </a:gs>
              <a:gs pos="100000">
                <a:srgbClr val="F57359">
                  <a:alpha val="0"/>
                </a:srgbClr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95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367" name="米菲PPT2"/>
          <p:cNvSpPr/>
          <p:nvPr/>
        </p:nvSpPr>
        <p:spPr>
          <a:xfrm>
            <a:off x="2207337" y="4115136"/>
            <a:ext cx="597864" cy="827051"/>
          </a:xfrm>
          <a:prstGeom prst="leftBrace">
            <a:avLst>
              <a:gd name="adj1" fmla="val 22780"/>
              <a:gd name="adj2" fmla="val 49404"/>
            </a:avLst>
          </a:prstGeom>
          <a:gradFill flip="none" rotWithShape="1">
            <a:gsLst>
              <a:gs pos="0">
                <a:srgbClr val="F57359">
                  <a:alpha val="53000"/>
                </a:srgbClr>
              </a:gs>
              <a:gs pos="100000">
                <a:srgbClr val="F57359">
                  <a:alpha val="0"/>
                </a:srgbClr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95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372" name="米菲PPT63"/>
          <p:cNvSpPr/>
          <p:nvPr/>
        </p:nvSpPr>
        <p:spPr>
          <a:xfrm>
            <a:off x="4571999" y="290439"/>
            <a:ext cx="3830843" cy="432144"/>
          </a:xfrm>
          <a:prstGeom prst="roundRect">
            <a:avLst>
              <a:gd name="adj" fmla="val 10545"/>
            </a:avLst>
          </a:prstGeom>
          <a:solidFill>
            <a:sysClr val="window" lastClr="FFFFFF"/>
          </a:solidFill>
          <a:ln w="6350" cap="flat" cmpd="sng" algn="ctr">
            <a:noFill/>
            <a:prstDash val="solid"/>
            <a:miter lim="800000"/>
          </a:ln>
          <a:effectLst>
            <a:outerShdw blurRad="469900" dist="123444" dir="5400000" sx="99000" sy="99000" algn="ctr" rotWithShape="0">
              <a:srgbClr val="62799C">
                <a:alpha val="16000"/>
              </a:srgbClr>
            </a:outerShdw>
          </a:effectLst>
        </p:spPr>
        <p:txBody>
          <a:bodyPr wrap="square" lIns="98756" tIns="49375" rIns="98756" bIns="49375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945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uLnTx/>
              <a:uFillTx/>
              <a:latin typeface="MiSans Medium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373" name="米菲PPT69"/>
          <p:cNvSpPr txBox="1"/>
          <p:nvPr/>
        </p:nvSpPr>
        <p:spPr>
          <a:xfrm>
            <a:off x="4682317" y="343382"/>
            <a:ext cx="3720525" cy="27799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en-US"/>
            </a:defPPr>
            <a:lvl1pPr marR="0" lvl="0" indent="0" defTabSz="91440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defRPr>
            </a:lvl1pPr>
          </a:lstStyle>
          <a:p>
            <a:pPr lvl="0"/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MiSans Medium" panose="00000600000000000000" pitchFamily="2" charset="-122"/>
                <a:ea typeface="MiSans Medium" panose="00000600000000000000" pitchFamily="2" charset="-122"/>
              </a:rPr>
              <a:t>用户核心路径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MiSans Medium" panose="00000600000000000000" pitchFamily="2" charset="-122"/>
                <a:ea typeface="MiSans Medium" panose="00000600000000000000" pitchFamily="2" charset="-122"/>
              </a:rPr>
              <a:t>/</a:t>
            </a:r>
            <a:r>
              <a:rPr lang="zh-CN" altLang="en-US" kern="0" dirty="0"/>
              <a:t>营销活动下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MiSans Medium" panose="00000600000000000000" pitchFamily="2" charset="-122"/>
                <a:ea typeface="MiSans Medium" panose="00000600000000000000" pitchFamily="2" charset="-122"/>
              </a:rPr>
              <a:t>榜单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MiSans Medium" panose="00000600000000000000" pitchFamily="2" charset="-122"/>
                <a:ea typeface="MiSans Medium" panose="00000600000000000000" pitchFamily="2" charset="-122"/>
              </a:rPr>
              <a:t>/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MiSans Medium" panose="00000600000000000000" pitchFamily="2" charset="-122"/>
                <a:ea typeface="MiSans Medium" panose="00000600000000000000" pitchFamily="2" charset="-122"/>
              </a:rPr>
              <a:t>标签的曝光</a:t>
            </a:r>
            <a:r>
              <a:rPr lang="en-US" altLang="zh-CN" kern="0" dirty="0"/>
              <a:t>UV</a:t>
            </a: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</a:endParaRPr>
          </a:p>
        </p:txBody>
      </p:sp>
      <p:sp>
        <p:nvSpPr>
          <p:cNvPr id="374" name="米菲PPT63"/>
          <p:cNvSpPr/>
          <p:nvPr/>
        </p:nvSpPr>
        <p:spPr>
          <a:xfrm>
            <a:off x="4572051" y="790869"/>
            <a:ext cx="3830843" cy="322632"/>
          </a:xfrm>
          <a:prstGeom prst="roundRect">
            <a:avLst>
              <a:gd name="adj" fmla="val 10545"/>
            </a:avLst>
          </a:prstGeom>
          <a:solidFill>
            <a:sysClr val="window" lastClr="FFFFFF"/>
          </a:solidFill>
          <a:ln w="6350" cap="flat" cmpd="sng" algn="ctr">
            <a:noFill/>
            <a:prstDash val="solid"/>
            <a:miter lim="800000"/>
          </a:ln>
          <a:effectLst>
            <a:outerShdw blurRad="469900" dist="123444" dir="5400000" sx="99000" sy="99000" algn="ctr" rotWithShape="0">
              <a:srgbClr val="62799C">
                <a:alpha val="16000"/>
              </a:srgbClr>
            </a:outerShdw>
          </a:effectLst>
        </p:spPr>
        <p:txBody>
          <a:bodyPr wrap="square" lIns="98756" tIns="49375" rIns="98756" bIns="49375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945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uLnTx/>
              <a:uFillTx/>
              <a:latin typeface="MiSans Medium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375" name="米菲PPT69"/>
          <p:cNvSpPr txBox="1"/>
          <p:nvPr/>
        </p:nvSpPr>
        <p:spPr>
          <a:xfrm>
            <a:off x="4682369" y="791323"/>
            <a:ext cx="3720525" cy="168484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en-US"/>
            </a:defPPr>
            <a:lvl1pPr marR="0" lvl="0" indent="0" defTabSz="91440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defRPr>
            </a:lvl1pPr>
          </a:lstStyle>
          <a:p>
            <a:pPr marL="0" marR="0" lvl="0" indent="0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MiSans Medium" panose="00000600000000000000" pitchFamily="2" charset="-122"/>
                <a:ea typeface="MiSans Medium" panose="00000600000000000000" pitchFamily="2" charset="-122"/>
              </a:rPr>
              <a:t>所有路径下回流到榜单落地页的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MiSans Medium" panose="00000600000000000000" pitchFamily="2" charset="-122"/>
                <a:ea typeface="MiSans Medium" panose="00000600000000000000" pitchFamily="2" charset="-122"/>
              </a:rPr>
              <a:t>UV</a:t>
            </a: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</a:endParaRPr>
          </a:p>
        </p:txBody>
      </p:sp>
      <p:sp>
        <p:nvSpPr>
          <p:cNvPr id="376" name="米菲PPT63"/>
          <p:cNvSpPr/>
          <p:nvPr/>
        </p:nvSpPr>
        <p:spPr>
          <a:xfrm>
            <a:off x="4572051" y="1215046"/>
            <a:ext cx="3830843" cy="281204"/>
          </a:xfrm>
          <a:prstGeom prst="roundRect">
            <a:avLst>
              <a:gd name="adj" fmla="val 10545"/>
            </a:avLst>
          </a:prstGeom>
          <a:solidFill>
            <a:sysClr val="window" lastClr="FFFFFF"/>
          </a:solidFill>
          <a:ln w="6350" cap="flat" cmpd="sng" algn="ctr">
            <a:noFill/>
            <a:prstDash val="solid"/>
            <a:miter lim="800000"/>
          </a:ln>
          <a:effectLst>
            <a:outerShdw blurRad="469900" dist="123444" dir="5400000" sx="99000" sy="99000" algn="ctr" rotWithShape="0">
              <a:srgbClr val="62799C">
                <a:alpha val="16000"/>
              </a:srgbClr>
            </a:outerShdw>
          </a:effectLst>
        </p:spPr>
        <p:txBody>
          <a:bodyPr wrap="square" lIns="98756" tIns="49375" rIns="98756" bIns="49375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945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uLnTx/>
              <a:uFillTx/>
              <a:latin typeface="MiSans Medium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377" name="米菲PPT69"/>
          <p:cNvSpPr txBox="1"/>
          <p:nvPr/>
        </p:nvSpPr>
        <p:spPr>
          <a:xfrm>
            <a:off x="4682369" y="1198004"/>
            <a:ext cx="3720525" cy="12705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en-US"/>
            </a:defPPr>
            <a:lvl1pPr marR="0" lvl="0" indent="0" defTabSz="91440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defRPr>
            </a:lvl1pPr>
          </a:lstStyle>
          <a:p>
            <a:pPr marL="0" marR="0" lvl="0" indent="0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MiSans Medium" panose="00000600000000000000" pitchFamily="2" charset="-122"/>
                <a:ea typeface="MiSans Medium" panose="00000600000000000000" pitchFamily="2" charset="-122"/>
              </a:rPr>
              <a:t>星级评价资产的覆盖率、优质率、准确率等</a:t>
            </a:r>
          </a:p>
        </p:txBody>
      </p:sp>
      <p:sp>
        <p:nvSpPr>
          <p:cNvPr id="378" name="米菲PPT63"/>
          <p:cNvSpPr/>
          <p:nvPr/>
        </p:nvSpPr>
        <p:spPr>
          <a:xfrm>
            <a:off x="4571936" y="2835864"/>
            <a:ext cx="3830843" cy="305135"/>
          </a:xfrm>
          <a:prstGeom prst="roundRect">
            <a:avLst>
              <a:gd name="adj" fmla="val 10545"/>
            </a:avLst>
          </a:prstGeom>
          <a:solidFill>
            <a:sysClr val="window" lastClr="FFFFFF"/>
          </a:solidFill>
          <a:ln w="6350" cap="flat" cmpd="sng" algn="ctr">
            <a:noFill/>
            <a:prstDash val="solid"/>
            <a:miter lim="800000"/>
          </a:ln>
          <a:effectLst>
            <a:outerShdw blurRad="469900" dist="123444" dir="5400000" sx="99000" sy="99000" algn="ctr" rotWithShape="0">
              <a:srgbClr val="62799C">
                <a:alpha val="16000"/>
              </a:srgbClr>
            </a:outerShdw>
          </a:effectLst>
        </p:spPr>
        <p:txBody>
          <a:bodyPr wrap="square" lIns="98756" tIns="49375" rIns="98756" bIns="49375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945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uLnTx/>
              <a:uFillTx/>
              <a:latin typeface="MiSans Medium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379" name="米菲PPT69"/>
          <p:cNvSpPr txBox="1"/>
          <p:nvPr/>
        </p:nvSpPr>
        <p:spPr>
          <a:xfrm>
            <a:off x="4682254" y="2836318"/>
            <a:ext cx="3720525" cy="150987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en-US"/>
            </a:defPPr>
            <a:lvl1pPr marR="0" lvl="0" indent="0" defTabSz="91440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defRPr>
            </a:lvl1pPr>
          </a:lstStyle>
          <a:p>
            <a:pPr marL="0" marR="0" lvl="0" indent="0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MiSans Medium" panose="00000600000000000000" pitchFamily="2" charset="-122"/>
                <a:ea typeface="MiSans Medium" panose="00000600000000000000" pitchFamily="2" charset="-122"/>
              </a:rPr>
              <a:t>核心资产（商户信息、服务、互动等）的覆盖率</a:t>
            </a:r>
          </a:p>
        </p:txBody>
      </p:sp>
      <p:sp>
        <p:nvSpPr>
          <p:cNvPr id="380" name="米菲PPT63"/>
          <p:cNvSpPr/>
          <p:nvPr/>
        </p:nvSpPr>
        <p:spPr>
          <a:xfrm>
            <a:off x="4571936" y="3209062"/>
            <a:ext cx="3830843" cy="334528"/>
          </a:xfrm>
          <a:prstGeom prst="roundRect">
            <a:avLst>
              <a:gd name="adj" fmla="val 10545"/>
            </a:avLst>
          </a:prstGeom>
          <a:solidFill>
            <a:sysClr val="window" lastClr="FFFFFF"/>
          </a:solidFill>
          <a:ln w="6350" cap="flat" cmpd="sng" algn="ctr">
            <a:noFill/>
            <a:prstDash val="solid"/>
            <a:miter lim="800000"/>
          </a:ln>
          <a:effectLst>
            <a:outerShdw blurRad="469900" dist="123444" dir="5400000" sx="99000" sy="99000" algn="ctr" rotWithShape="0">
              <a:srgbClr val="62799C">
                <a:alpha val="16000"/>
              </a:srgbClr>
            </a:outerShdw>
          </a:effectLst>
        </p:spPr>
        <p:txBody>
          <a:bodyPr wrap="square" lIns="98756" tIns="49375" rIns="98756" bIns="49375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945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uLnTx/>
              <a:uFillTx/>
              <a:latin typeface="MiSans Medium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381" name="米菲PPT69"/>
          <p:cNvSpPr txBox="1"/>
          <p:nvPr/>
        </p:nvSpPr>
        <p:spPr>
          <a:xfrm>
            <a:off x="4682254" y="3209516"/>
            <a:ext cx="3720525" cy="18038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en-US"/>
            </a:defPPr>
            <a:lvl1pPr marR="0" lvl="0" indent="0" defTabSz="91440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defRPr>
            </a:lvl1pPr>
          </a:lstStyle>
          <a:p>
            <a:pPr lvl="0"/>
            <a:r>
              <a:rPr lang="zh-CN" altLang="en-US" kern="0" dirty="0"/>
              <a:t>核心资产（商户信息、服务、互动等）的准确率</a:t>
            </a: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</a:endParaRPr>
          </a:p>
        </p:txBody>
      </p:sp>
      <p:sp>
        <p:nvSpPr>
          <p:cNvPr id="382" name="米菲PPT63"/>
          <p:cNvSpPr/>
          <p:nvPr/>
        </p:nvSpPr>
        <p:spPr>
          <a:xfrm>
            <a:off x="4571936" y="3621073"/>
            <a:ext cx="3830843" cy="294428"/>
          </a:xfrm>
          <a:prstGeom prst="roundRect">
            <a:avLst>
              <a:gd name="adj" fmla="val 10545"/>
            </a:avLst>
          </a:prstGeom>
          <a:solidFill>
            <a:sysClr val="window" lastClr="FFFFFF"/>
          </a:solidFill>
          <a:ln w="6350" cap="flat" cmpd="sng" algn="ctr">
            <a:noFill/>
            <a:prstDash val="solid"/>
            <a:miter lim="800000"/>
          </a:ln>
          <a:effectLst>
            <a:outerShdw blurRad="469900" dist="123444" dir="5400000" sx="99000" sy="99000" algn="ctr" rotWithShape="0">
              <a:srgbClr val="62799C">
                <a:alpha val="16000"/>
              </a:srgbClr>
            </a:outerShdw>
          </a:effectLst>
        </p:spPr>
        <p:txBody>
          <a:bodyPr wrap="square" lIns="98756" tIns="49375" rIns="98756" bIns="49375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945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uLnTx/>
              <a:uFillTx/>
              <a:latin typeface="MiSans Medium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383" name="米菲PPT69"/>
          <p:cNvSpPr txBox="1"/>
          <p:nvPr/>
        </p:nvSpPr>
        <p:spPr>
          <a:xfrm>
            <a:off x="4682254" y="3604031"/>
            <a:ext cx="3720525" cy="14028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en-US"/>
            </a:defPPr>
            <a:lvl1pPr marR="0" lvl="0" indent="0" defTabSz="91440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defRPr>
            </a:lvl1pPr>
          </a:lstStyle>
          <a:p>
            <a:pPr marL="0" marR="0" lvl="0" indent="0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MiSans Medium" panose="00000600000000000000" pitchFamily="2" charset="-122"/>
                <a:ea typeface="MiSans Medium" panose="00000600000000000000" pitchFamily="2" charset="-122"/>
              </a:rPr>
              <a:t>榜单数据监测、看板，商户诊断工具的支持</a:t>
            </a:r>
          </a:p>
        </p:txBody>
      </p:sp>
      <p:sp>
        <p:nvSpPr>
          <p:cNvPr id="384" name="米菲PPT63"/>
          <p:cNvSpPr/>
          <p:nvPr/>
        </p:nvSpPr>
        <p:spPr>
          <a:xfrm>
            <a:off x="4571999" y="4152633"/>
            <a:ext cx="3830843" cy="317362"/>
          </a:xfrm>
          <a:prstGeom prst="roundRect">
            <a:avLst>
              <a:gd name="adj" fmla="val 10545"/>
            </a:avLst>
          </a:prstGeom>
          <a:solidFill>
            <a:sysClr val="window" lastClr="FFFFFF"/>
          </a:solidFill>
          <a:ln w="6350" cap="flat" cmpd="sng" algn="ctr">
            <a:noFill/>
            <a:prstDash val="solid"/>
            <a:miter lim="800000"/>
          </a:ln>
          <a:effectLst>
            <a:outerShdw blurRad="469900" dist="123444" dir="5400000" sx="99000" sy="99000" algn="ctr" rotWithShape="0">
              <a:srgbClr val="62799C">
                <a:alpha val="16000"/>
              </a:srgbClr>
            </a:outerShdw>
          </a:effectLst>
        </p:spPr>
        <p:txBody>
          <a:bodyPr wrap="square" lIns="98756" tIns="49375" rIns="98756" bIns="49375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945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uLnTx/>
              <a:uFillTx/>
              <a:latin typeface="MiSans Medium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385" name="米菲PPT69"/>
          <p:cNvSpPr txBox="1"/>
          <p:nvPr/>
        </p:nvSpPr>
        <p:spPr>
          <a:xfrm>
            <a:off x="4682317" y="4135591"/>
            <a:ext cx="3720525" cy="163214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en-US"/>
            </a:defPPr>
            <a:lvl1pPr marR="0" lvl="0" indent="0" defTabSz="91440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defRPr>
            </a:lvl1pPr>
          </a:lstStyle>
          <a:p>
            <a:pPr marL="0" marR="0" lvl="0" indent="0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MiSans Medium" panose="00000600000000000000" pitchFamily="2" charset="-122"/>
                <a:ea typeface="MiSans Medium" panose="00000600000000000000" pitchFamily="2" charset="-122"/>
              </a:rPr>
              <a:t>能够推动销售、商户侧按照榜单规则做资产优化</a:t>
            </a:r>
          </a:p>
        </p:txBody>
      </p:sp>
      <p:sp>
        <p:nvSpPr>
          <p:cNvPr id="3" name="米菲PPT63"/>
          <p:cNvSpPr/>
          <p:nvPr/>
        </p:nvSpPr>
        <p:spPr>
          <a:xfrm>
            <a:off x="4571999" y="4499052"/>
            <a:ext cx="3830843" cy="299887"/>
          </a:xfrm>
          <a:prstGeom prst="roundRect">
            <a:avLst>
              <a:gd name="adj" fmla="val 10545"/>
            </a:avLst>
          </a:prstGeom>
          <a:solidFill>
            <a:sysClr val="window" lastClr="FFFFFF"/>
          </a:solidFill>
          <a:ln w="6350" cap="flat" cmpd="sng" algn="ctr">
            <a:noFill/>
            <a:prstDash val="solid"/>
            <a:miter lim="800000"/>
          </a:ln>
          <a:effectLst>
            <a:outerShdw blurRad="469900" dist="123444" dir="5400000" sx="99000" sy="99000" algn="ctr" rotWithShape="0">
              <a:srgbClr val="62799C">
                <a:alpha val="16000"/>
              </a:srgbClr>
            </a:outerShdw>
          </a:effectLst>
        </p:spPr>
        <p:txBody>
          <a:bodyPr wrap="square" lIns="98756" tIns="49375" rIns="98756" bIns="49375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945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uLnTx/>
              <a:uFillTx/>
              <a:latin typeface="MiSans Medium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4" name="米菲PPT69"/>
          <p:cNvSpPr txBox="1"/>
          <p:nvPr/>
        </p:nvSpPr>
        <p:spPr>
          <a:xfrm>
            <a:off x="4682317" y="4482009"/>
            <a:ext cx="3720525" cy="145738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en-US"/>
            </a:defPPr>
            <a:lvl1pPr marR="0" lvl="0" indent="0" defTabSz="91440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defRPr>
            </a:lvl1pPr>
          </a:lstStyle>
          <a:p>
            <a:pPr marL="0" marR="0" lvl="0" indent="0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MiSans Medium" panose="00000600000000000000" pitchFamily="2" charset="-122"/>
                <a:ea typeface="MiSans Medium" panose="00000600000000000000" pitchFamily="2" charset="-122"/>
              </a:rPr>
              <a:t>围绕核心商户提升上榜门店的覆盖率</a:t>
            </a:r>
          </a:p>
        </p:txBody>
      </p:sp>
      <p:sp>
        <p:nvSpPr>
          <p:cNvPr id="2" name="米菲PPT36"/>
          <p:cNvSpPr txBox="1"/>
          <p:nvPr/>
        </p:nvSpPr>
        <p:spPr>
          <a:xfrm>
            <a:off x="2818430" y="12269"/>
            <a:ext cx="13682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tx1">
                    <a:lumMod val="100000"/>
                  </a:schemeClr>
                </a:solidFill>
                <a:effectLst/>
                <a:latin typeface="MiSans Normal" panose="00000500000000000000" pitchFamily="2" charset="-122"/>
                <a:ea typeface="MiSans Normal" panose="00000500000000000000" pitchFamily="2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57200"/>
            <a:r>
              <a:rPr lang="zh-CN" altLang="en-US" sz="1200" b="1" dirty="0">
                <a:solidFill>
                  <a:prstClr val="black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rPr>
              <a:t>输出指标</a:t>
            </a:r>
          </a:p>
        </p:txBody>
      </p:sp>
      <p:sp>
        <p:nvSpPr>
          <p:cNvPr id="5" name="米菲PPT36"/>
          <p:cNvSpPr txBox="1"/>
          <p:nvPr/>
        </p:nvSpPr>
        <p:spPr>
          <a:xfrm>
            <a:off x="5641347" y="23531"/>
            <a:ext cx="13682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tx1">
                    <a:lumMod val="100000"/>
                  </a:schemeClr>
                </a:solidFill>
                <a:effectLst/>
                <a:latin typeface="MiSans Normal" panose="00000500000000000000" pitchFamily="2" charset="-122"/>
                <a:ea typeface="MiSans Normal" panose="00000500000000000000" pitchFamily="2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57200"/>
            <a:r>
              <a:rPr lang="zh-CN" altLang="en-US" sz="1200" b="1" dirty="0">
                <a:solidFill>
                  <a:prstClr val="black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rPr>
              <a:t>输入指标</a:t>
            </a:r>
          </a:p>
        </p:txBody>
      </p:sp>
      <p:sp>
        <p:nvSpPr>
          <p:cNvPr id="6" name="米菲PPT36"/>
          <p:cNvSpPr txBox="1"/>
          <p:nvPr/>
        </p:nvSpPr>
        <p:spPr>
          <a:xfrm>
            <a:off x="599913" y="958624"/>
            <a:ext cx="1755277" cy="4140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tx1">
                    <a:lumMod val="100000"/>
                  </a:schemeClr>
                </a:solidFill>
                <a:effectLst/>
                <a:latin typeface="MiSans Normal" panose="00000500000000000000" pitchFamily="2" charset="-122"/>
                <a:ea typeface="MiSans Normal" panose="00000500000000000000" pitchFamily="2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57200"/>
            <a:r>
              <a:rPr lang="zh-CN" altLang="en-US" sz="1050" dirty="0">
                <a:solidFill>
                  <a:prstClr val="black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rPr>
              <a:t>（大搜、猜喜、团购、市场、公信力、设计）</a:t>
            </a:r>
          </a:p>
        </p:txBody>
      </p:sp>
      <p:sp>
        <p:nvSpPr>
          <p:cNvPr id="7" name="米菲PPT36"/>
          <p:cNvSpPr txBox="1"/>
          <p:nvPr/>
        </p:nvSpPr>
        <p:spPr>
          <a:xfrm>
            <a:off x="449139" y="3550630"/>
            <a:ext cx="1758118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tx1">
                    <a:lumMod val="100000"/>
                  </a:schemeClr>
                </a:solidFill>
                <a:effectLst/>
                <a:latin typeface="MiSans Normal" panose="00000500000000000000" pitchFamily="2" charset="-122"/>
                <a:ea typeface="MiSans Normal" panose="00000500000000000000" pitchFamily="2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57200"/>
            <a:r>
              <a:rPr lang="zh-CN" altLang="en-US" sz="1050" dirty="0">
                <a:solidFill>
                  <a:prstClr val="black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rPr>
              <a:t>（</a:t>
            </a:r>
            <a:r>
              <a:rPr lang="en-US" altLang="zh-CN" sz="1050" dirty="0">
                <a:solidFill>
                  <a:prstClr val="black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rPr>
              <a:t>C/B</a:t>
            </a:r>
            <a:r>
              <a:rPr lang="zh-CN" altLang="en-US" sz="1050" dirty="0">
                <a:solidFill>
                  <a:prstClr val="black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rPr>
              <a:t>端产运、算法、数据产品、用研）</a:t>
            </a:r>
          </a:p>
        </p:txBody>
      </p:sp>
      <p:sp>
        <p:nvSpPr>
          <p:cNvPr id="9" name="米菲PPT36"/>
          <p:cNvSpPr txBox="1"/>
          <p:nvPr/>
        </p:nvSpPr>
        <p:spPr>
          <a:xfrm>
            <a:off x="502541" y="4740317"/>
            <a:ext cx="175811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tx1">
                    <a:lumMod val="100000"/>
                  </a:schemeClr>
                </a:solidFill>
                <a:effectLst/>
                <a:latin typeface="MiSans Normal" panose="00000500000000000000" pitchFamily="2" charset="-122"/>
                <a:ea typeface="MiSans Normal" panose="00000500000000000000" pitchFamily="2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57200"/>
            <a:r>
              <a:rPr lang="zh-CN" altLang="en-US" sz="1050" dirty="0">
                <a:solidFill>
                  <a:prstClr val="black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rPr>
              <a:t>（销运、销售、销支）</a:t>
            </a:r>
          </a:p>
        </p:txBody>
      </p:sp>
      <p:sp>
        <p:nvSpPr>
          <p:cNvPr id="11" name="米菲PPT2"/>
          <p:cNvSpPr/>
          <p:nvPr/>
        </p:nvSpPr>
        <p:spPr>
          <a:xfrm>
            <a:off x="2229767" y="1621735"/>
            <a:ext cx="597864" cy="1053979"/>
          </a:xfrm>
          <a:prstGeom prst="leftBrace">
            <a:avLst>
              <a:gd name="adj1" fmla="val 33433"/>
              <a:gd name="adj2" fmla="val 49404"/>
            </a:avLst>
          </a:prstGeom>
          <a:gradFill flip="none" rotWithShape="1">
            <a:gsLst>
              <a:gs pos="0">
                <a:srgbClr val="F57359">
                  <a:alpha val="53000"/>
                </a:srgbClr>
              </a:gs>
              <a:gs pos="100000">
                <a:srgbClr val="F57359">
                  <a:alpha val="0"/>
                </a:srgbClr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95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12" name="米菲PPT37"/>
          <p:cNvSpPr/>
          <p:nvPr/>
        </p:nvSpPr>
        <p:spPr>
          <a:xfrm rot="5400000" flipV="1">
            <a:off x="865692" y="1311726"/>
            <a:ext cx="1083027" cy="1644957"/>
          </a:xfrm>
          <a:prstGeom prst="roundRect">
            <a:avLst>
              <a:gd name="adj" fmla="val 0"/>
            </a:avLst>
          </a:prstGeom>
          <a:gradFill>
            <a:gsLst>
              <a:gs pos="100000">
                <a:srgbClr val="F57359">
                  <a:lumMod val="20000"/>
                  <a:lumOff val="80000"/>
                </a:srgbClr>
              </a:gs>
              <a:gs pos="1000">
                <a:sysClr val="window" lastClr="FFFFFF"/>
              </a:gs>
            </a:gsLst>
            <a:lin ang="19800000" scaled="0"/>
          </a:gradFill>
          <a:ln w="6350" cap="flat" cmpd="sng" algn="ctr">
            <a:solidFill>
              <a:srgbClr val="F57359"/>
            </a:solidFill>
            <a:prstDash val="solid"/>
            <a:miter lim="800000"/>
          </a:ln>
          <a:effectLst>
            <a:outerShdw blurRad="406400" dist="139700" dir="5400000" algn="t" rotWithShape="0">
              <a:srgbClr val="F57359">
                <a:alpha val="12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13" name="米菲PPT38"/>
          <p:cNvSpPr txBox="1"/>
          <p:nvPr/>
        </p:nvSpPr>
        <p:spPr>
          <a:xfrm>
            <a:off x="723057" y="1647482"/>
            <a:ext cx="1368296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tx1">
                    <a:lumMod val="100000"/>
                  </a:schemeClr>
                </a:solidFill>
                <a:effectLst/>
                <a:latin typeface="MiSans Normal" panose="00000500000000000000" pitchFamily="2" charset="-122"/>
                <a:ea typeface="MiSans Normal" panose="00000500000000000000" pitchFamily="2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57200"/>
            <a:r>
              <a:rPr lang="zh-CN" altLang="en-US" b="1" dirty="0">
                <a:solidFill>
                  <a:srgbClr val="F57359"/>
                </a:solidFill>
                <a:latin typeface="MiSans Bold"/>
                <a:ea typeface="MiSans Bold"/>
                <a:cs typeface="MiSans Medium" panose="00000600000000000000" pitchFamily="2" charset="-122"/>
              </a:rPr>
              <a:t>点评</a:t>
            </a:r>
            <a:r>
              <a:rPr lang="zh-CN" altLang="en-US" b="1" dirty="0">
                <a:solidFill>
                  <a:srgbClr val="F57359"/>
                </a:solidFill>
                <a:latin typeface="MiSans Bold"/>
                <a:ea typeface="MiSans Bold"/>
                <a:cs typeface="Arial" panose="020B0604020202020204" pitchFamily="34" charset="0"/>
              </a:rPr>
              <a:t>产运</a:t>
            </a:r>
            <a:endParaRPr lang="zh-CN" altLang="en-US" b="1" dirty="0">
              <a:solidFill>
                <a:srgbClr val="F57359"/>
              </a:solidFill>
              <a:latin typeface="MiSans Bold"/>
              <a:ea typeface="MiSans Bold"/>
              <a:cs typeface="MiSans Medium" panose="00000600000000000000" pitchFamily="2" charset="-122"/>
            </a:endParaRPr>
          </a:p>
        </p:txBody>
      </p:sp>
      <p:sp>
        <p:nvSpPr>
          <p:cNvPr id="14" name="米菲PPT39"/>
          <p:cNvSpPr txBox="1"/>
          <p:nvPr/>
        </p:nvSpPr>
        <p:spPr>
          <a:xfrm>
            <a:off x="723057" y="2099943"/>
            <a:ext cx="1368296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tx1">
                    <a:lumMod val="100000"/>
                  </a:schemeClr>
                </a:solidFill>
                <a:effectLst/>
                <a:latin typeface="MiSans Normal" panose="00000500000000000000" pitchFamily="2" charset="-122"/>
                <a:ea typeface="MiSans Normal" panose="00000500000000000000" pitchFamily="2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57200"/>
            <a:r>
              <a:rPr lang="zh-CN" altLang="en-US" sz="1200" dirty="0">
                <a:solidFill>
                  <a:prstClr val="black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rPr>
              <a:t>榜单</a:t>
            </a:r>
            <a:r>
              <a:rPr lang="zh-CN" altLang="en-US" sz="1200" dirty="0">
                <a:solidFill>
                  <a:prstClr val="black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Arial" panose="020B0604020202020204" pitchFamily="34" charset="0"/>
              </a:rPr>
              <a:t>共建</a:t>
            </a:r>
            <a:endParaRPr lang="zh-CN" altLang="en-US" sz="1200" dirty="0">
              <a:solidFill>
                <a:prstClr val="black"/>
              </a:solidFill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15" name="米菲PPT47"/>
          <p:cNvSpPr txBox="1"/>
          <p:nvPr/>
        </p:nvSpPr>
        <p:spPr>
          <a:xfrm>
            <a:off x="2805113" y="1621727"/>
            <a:ext cx="1600156" cy="299406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rgbClr val="F57359"/>
            </a:solidFill>
            <a:prstDash val="solid"/>
            <a:miter lim="800000"/>
          </a:ln>
          <a:effectLst>
            <a:outerShdw blurRad="825500" dist="139700" dir="5400000" algn="t" rotWithShape="0">
              <a:srgbClr val="F57359">
                <a:alpha val="24000"/>
              </a:srgbClr>
            </a:outerShdw>
          </a:effectLst>
        </p:spPr>
        <p:txBody>
          <a:bodyPr rtlCol="0" anchor="ctr"/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795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Sans Medium" panose="00000600000000000000" pitchFamily="2" charset="-122"/>
                <a:ea typeface="MiSans Medium" panose="00000600000000000000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kern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FillTx/>
                <a:latin typeface="MiSans Medium" charset="0"/>
                <a:ea typeface="MiSans Medium" charset="0"/>
                <a:cs typeface="MiSans Medium" panose="00000600000000000000" pitchFamily="2" charset="-122"/>
              </a:rPr>
              <a:t>评价</a:t>
            </a:r>
            <a:r>
              <a:rPr lang="zh-CN" altLang="en-US" sz="1200" kern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FillTx/>
                <a:latin typeface="MiSans Medium" charset="0"/>
                <a:ea typeface="MiSans Medium" charset="0"/>
                <a:cs typeface="Arial" panose="020B0604020202020204" pitchFamily="34" charset="0"/>
              </a:rPr>
              <a:t>资产覆盖率</a:t>
            </a:r>
            <a:endParaRPr lang="zh-CN" altLang="en-US">
              <a:latin typeface="MiSans Medium" charset="0"/>
              <a:ea typeface="MiSans Medium" charset="0"/>
              <a:cs typeface="Arial" panose="020B0604020202020204" pitchFamily="34" charset="0"/>
            </a:endParaRPr>
          </a:p>
        </p:txBody>
      </p:sp>
      <p:sp>
        <p:nvSpPr>
          <p:cNvPr id="16" name="米菲PPT48"/>
          <p:cNvSpPr txBox="1"/>
          <p:nvPr/>
        </p:nvSpPr>
        <p:spPr>
          <a:xfrm>
            <a:off x="2805113" y="1994923"/>
            <a:ext cx="1600156" cy="328799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rgbClr val="F57359"/>
            </a:solidFill>
            <a:prstDash val="solid"/>
            <a:miter lim="800000"/>
          </a:ln>
          <a:effectLst>
            <a:outerShdw blurRad="825500" dist="139700" dir="5400000" algn="t" rotWithShape="0">
              <a:srgbClr val="F57359">
                <a:alpha val="24000"/>
              </a:srgbClr>
            </a:outerShdw>
          </a:effectLst>
        </p:spPr>
        <p:txBody>
          <a:bodyPr rtlCol="0" anchor="ctr"/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795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Sans Medium" panose="00000600000000000000" pitchFamily="2" charset="-122"/>
                <a:ea typeface="MiSans Medium" panose="00000600000000000000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kern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FillTx/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rPr>
              <a:t>榜单渗透率</a:t>
            </a:r>
            <a:endParaRPr lang="zh-CN" altLang="en-US"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17" name="米菲PPT49"/>
          <p:cNvSpPr txBox="1"/>
          <p:nvPr/>
        </p:nvSpPr>
        <p:spPr>
          <a:xfrm>
            <a:off x="2805113" y="2393839"/>
            <a:ext cx="1615217" cy="301856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rgbClr val="F57359"/>
            </a:solidFill>
            <a:prstDash val="solid"/>
            <a:miter lim="800000"/>
          </a:ln>
          <a:effectLst>
            <a:outerShdw blurRad="825500" dist="139700" dir="5400000" algn="t" rotWithShape="0">
              <a:srgbClr val="F57359">
                <a:alpha val="24000"/>
              </a:srgbClr>
            </a:outerShdw>
          </a:effectLst>
        </p:spPr>
        <p:txBody>
          <a:bodyPr rtlCol="0" anchor="ctr"/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795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Sans Medium" panose="00000600000000000000" pitchFamily="2" charset="-122"/>
                <a:ea typeface="MiSans Medium" panose="00000600000000000000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kern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FillTx/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rPr>
              <a:t>榜单规则策略</a:t>
            </a:r>
            <a:r>
              <a:rPr lang="zh-CN" altLang="en-US" sz="1200" kern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uFillTx/>
                <a:latin typeface="MiSans Medium" charset="0"/>
                <a:ea typeface="MiSans Medium" charset="0"/>
                <a:cs typeface="MiSans Medium" charset="0"/>
              </a:rPr>
              <a:t>合理性</a:t>
            </a:r>
            <a:endParaRPr lang="zh-CN" altLang="en-US"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18" name="米菲PPT63"/>
          <p:cNvSpPr/>
          <p:nvPr/>
        </p:nvSpPr>
        <p:spPr>
          <a:xfrm>
            <a:off x="4556866" y="1621734"/>
            <a:ext cx="3830843" cy="305135"/>
          </a:xfrm>
          <a:prstGeom prst="roundRect">
            <a:avLst>
              <a:gd name="adj" fmla="val 10545"/>
            </a:avLst>
          </a:prstGeom>
          <a:solidFill>
            <a:sysClr val="window" lastClr="FFFFFF"/>
          </a:solidFill>
          <a:ln w="6350" cap="flat" cmpd="sng" algn="ctr">
            <a:noFill/>
            <a:prstDash val="solid"/>
            <a:miter lim="800000"/>
          </a:ln>
          <a:effectLst>
            <a:outerShdw blurRad="469900" dist="123444" dir="5400000" sx="99000" sy="99000" algn="ctr" rotWithShape="0">
              <a:srgbClr val="62799C">
                <a:alpha val="16000"/>
              </a:srgbClr>
            </a:outerShdw>
          </a:effectLst>
        </p:spPr>
        <p:txBody>
          <a:bodyPr wrap="square" lIns="98756" tIns="49375" rIns="98756" bIns="49375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945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uLnTx/>
              <a:uFillTx/>
              <a:latin typeface="MiSans Medium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19" name="米菲PPT69"/>
          <p:cNvSpPr txBox="1"/>
          <p:nvPr/>
        </p:nvSpPr>
        <p:spPr>
          <a:xfrm>
            <a:off x="4667184" y="1622188"/>
            <a:ext cx="3720525" cy="304681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en-US"/>
            </a:defPPr>
            <a:lvl1pPr marR="0" lvl="0" indent="0" defTabSz="91440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defRPr>
            </a:lvl1pPr>
          </a:lstStyle>
          <a:p>
            <a:pPr marL="0" marR="0" lvl="0" indent="0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kern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uFillTx/>
                <a:latin typeface="MiSans Medium" panose="00000600000000000000" pitchFamily="2" charset="-122"/>
                <a:ea typeface="MiSans Medium" panose="00000600000000000000" pitchFamily="2" charset="-122"/>
              </a:rPr>
              <a:t>拉通</a:t>
            </a:r>
            <a:r>
              <a:rPr lang="zh-CN" altLang="en-US" kern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uFillTx/>
                <a:latin typeface="MiSans Medium" panose="00000600000000000000" pitchFamily="2" charset="-122"/>
                <a:ea typeface="MiSans Medium" panose="00000600000000000000" pitchFamily="2" charset="-122"/>
                <a:cs typeface="Arial" panose="020B0604020202020204" pitchFamily="34" charset="0"/>
              </a:rPr>
              <a:t>点评侧评价数据，包括规模、覆盖、策略等</a:t>
            </a:r>
            <a:endParaRPr lang="zh-CN" altLang="en-US">
              <a:latin typeface="MiSans Medium" panose="00000600000000000000" pitchFamily="2" charset="-122"/>
              <a:ea typeface="MiSans Medium" panose="00000600000000000000" pitchFamily="2" charset="-122"/>
            </a:endParaRPr>
          </a:p>
        </p:txBody>
      </p:sp>
      <p:sp>
        <p:nvSpPr>
          <p:cNvPr id="20" name="米菲PPT63"/>
          <p:cNvSpPr/>
          <p:nvPr/>
        </p:nvSpPr>
        <p:spPr>
          <a:xfrm>
            <a:off x="4556866" y="1994931"/>
            <a:ext cx="3830843" cy="334528"/>
          </a:xfrm>
          <a:prstGeom prst="roundRect">
            <a:avLst>
              <a:gd name="adj" fmla="val 10545"/>
            </a:avLst>
          </a:prstGeom>
          <a:solidFill>
            <a:sysClr val="window" lastClr="FFFFFF"/>
          </a:solidFill>
          <a:ln w="6350" cap="flat" cmpd="sng" algn="ctr">
            <a:noFill/>
            <a:prstDash val="solid"/>
            <a:miter lim="800000"/>
          </a:ln>
          <a:effectLst>
            <a:outerShdw blurRad="469900" dist="123444" dir="5400000" sx="99000" sy="99000" algn="ctr" rotWithShape="0">
              <a:srgbClr val="62799C">
                <a:alpha val="16000"/>
              </a:srgbClr>
            </a:outerShdw>
          </a:effectLst>
        </p:spPr>
        <p:txBody>
          <a:bodyPr wrap="square" lIns="98756" tIns="49375" rIns="98756" bIns="49375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945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uLnTx/>
              <a:uFillTx/>
              <a:latin typeface="MiSans Medium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21" name="米菲PPT69"/>
          <p:cNvSpPr txBox="1"/>
          <p:nvPr/>
        </p:nvSpPr>
        <p:spPr>
          <a:xfrm>
            <a:off x="4667184" y="1995385"/>
            <a:ext cx="3720525" cy="283277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en-US"/>
            </a:defPPr>
            <a:lvl1pPr marR="0" lvl="0" indent="0" defTabSz="91440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defRPr>
            </a:lvl1pPr>
          </a:lstStyle>
          <a:p>
            <a:pPr lvl="0"/>
            <a:r>
              <a:rPr lang="zh-CN" altLang="en-US" kern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FillTx/>
                <a:latin typeface="MiSans Medium" charset="0"/>
                <a:ea typeface="MiSans Medium" charset="0"/>
                <a:cs typeface="MiSans Medium" charset="0"/>
              </a:rPr>
              <a:t>拉通必吃榜、主题榜等榜单的建设，及心智建设</a:t>
            </a:r>
            <a:endParaRPr lang="zh-CN" altLang="en-US">
              <a:latin typeface="MiSans Medium" charset="0"/>
              <a:ea typeface="MiSans Medium" charset="0"/>
              <a:cs typeface="MiSans Medium" charset="0"/>
            </a:endParaRPr>
          </a:p>
        </p:txBody>
      </p:sp>
      <p:sp>
        <p:nvSpPr>
          <p:cNvPr id="22" name="米菲PPT63"/>
          <p:cNvSpPr/>
          <p:nvPr/>
        </p:nvSpPr>
        <p:spPr>
          <a:xfrm>
            <a:off x="4556866" y="2406942"/>
            <a:ext cx="3830843" cy="294490"/>
          </a:xfrm>
          <a:prstGeom prst="roundRect">
            <a:avLst>
              <a:gd name="adj" fmla="val 10545"/>
            </a:avLst>
          </a:prstGeom>
          <a:solidFill>
            <a:sysClr val="window" lastClr="FFFFFF"/>
          </a:solidFill>
          <a:ln w="6350" cap="flat" cmpd="sng" algn="ctr">
            <a:noFill/>
            <a:prstDash val="solid"/>
            <a:miter lim="800000"/>
          </a:ln>
          <a:effectLst>
            <a:outerShdw blurRad="469900" dist="123444" dir="5400000" sx="99000" sy="99000" algn="ctr" rotWithShape="0">
              <a:srgbClr val="62799C">
                <a:alpha val="16000"/>
              </a:srgbClr>
            </a:outerShdw>
          </a:effectLst>
        </p:spPr>
        <p:txBody>
          <a:bodyPr wrap="square" lIns="98756" tIns="49375" rIns="98756" bIns="49375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945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uLnTx/>
              <a:uFillTx/>
              <a:latin typeface="MiSans Medium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23" name="米菲PPT69"/>
          <p:cNvSpPr txBox="1"/>
          <p:nvPr/>
        </p:nvSpPr>
        <p:spPr>
          <a:xfrm>
            <a:off x="4667184" y="2389900"/>
            <a:ext cx="3720525" cy="241667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en-US"/>
            </a:defPPr>
            <a:lvl1pPr marR="0" lvl="0" indent="0" defTabSz="91440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defRPr>
            </a:lvl1pPr>
          </a:lstStyle>
          <a:p>
            <a:pPr marL="0" marR="0" lvl="0" indent="0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kern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uFillTx/>
                <a:latin typeface="MiSans Medium" panose="00000600000000000000" pitchFamily="2" charset="-122"/>
                <a:ea typeface="MiSans Medium" panose="00000600000000000000" pitchFamily="2" charset="-122"/>
                <a:cs typeface="MiSans Medium" charset="0"/>
              </a:rPr>
              <a:t>从城市、品类、商户覆盖情况衡量规则策略的合理性</a:t>
            </a:r>
            <a:endParaRPr lang="zh-CN" altLang="en-US">
              <a:latin typeface="MiSans Medium" panose="00000600000000000000" pitchFamily="2" charset="-122"/>
              <a:ea typeface="MiSans Medium" panose="00000600000000000000" pitchFamily="2" charset="-122"/>
              <a:cs typeface="MiSans Medium" charset="0"/>
            </a:endParaRPr>
          </a:p>
        </p:txBody>
      </p:sp>
      <p:sp>
        <p:nvSpPr>
          <p:cNvPr id="24" name="米菲PPT36"/>
          <p:cNvSpPr txBox="1"/>
          <p:nvPr/>
        </p:nvSpPr>
        <p:spPr>
          <a:xfrm>
            <a:off x="529591" y="2376351"/>
            <a:ext cx="1755277" cy="2527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tx1">
                    <a:lumMod val="100000"/>
                  </a:schemeClr>
                </a:solidFill>
                <a:effectLst/>
                <a:latin typeface="MiSans Normal" panose="00000500000000000000" pitchFamily="2" charset="-122"/>
                <a:ea typeface="MiSans Normal" panose="00000500000000000000" pitchFamily="2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57200"/>
            <a:r>
              <a:rPr lang="zh-CN" altLang="en-US" sz="1050" dirty="0">
                <a:solidFill>
                  <a:prstClr val="black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rPr>
              <a:t>（产运、用增、市场）</a:t>
            </a:r>
          </a:p>
        </p:txBody>
      </p:sp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榜单渗透率低及优化方向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kumimoji="1" lang="zh-CN" altLang="en-US" dirty="0"/>
              <a:t>用户心智问题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15026" y="1698127"/>
            <a:ext cx="4431394" cy="31639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2342" y="151420"/>
            <a:ext cx="831461" cy="18000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1272" y="151420"/>
            <a:ext cx="831461" cy="18000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98652" y="151420"/>
            <a:ext cx="831461" cy="180000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34962" y="164640"/>
            <a:ext cx="831461" cy="180000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56269" y="151420"/>
            <a:ext cx="831461" cy="1800000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4156269" y="1964640"/>
            <a:ext cx="831462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600" b="1" dirty="0"/>
              <a:t>美团首页猜喜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5062342" y="1977860"/>
            <a:ext cx="831462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600" b="1" dirty="0"/>
              <a:t>大搜结果列表页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5998651" y="1977860"/>
            <a:ext cx="831462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600" b="1" dirty="0"/>
              <a:t>商家详情页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6931684" y="1977860"/>
            <a:ext cx="831462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600" b="1" dirty="0"/>
              <a:t>美食首页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7871272" y="1977860"/>
            <a:ext cx="831462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600" b="1" dirty="0"/>
              <a:t>榜单聚合页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3670581" y="340284"/>
            <a:ext cx="492443" cy="1357843"/>
          </a:xfrm>
          <a:prstGeom prst="rect">
            <a:avLst/>
          </a:prstGeom>
          <a:noFill/>
        </p:spPr>
        <p:txBody>
          <a:bodyPr vert="eaVert" wrap="square">
            <a:spAutoFit/>
          </a:bodyPr>
          <a:lstStyle/>
          <a:p>
            <a:pPr algn="ctr"/>
            <a:r>
              <a:rPr lang="zh-CN" altLang="en-US" sz="1000" b="1" dirty="0"/>
              <a:t>美团榜单核心路径（现状）</a:t>
            </a:r>
          </a:p>
        </p:txBody>
      </p:sp>
      <p:sp>
        <p:nvSpPr>
          <p:cNvPr id="24" name="矩形 23"/>
          <p:cNvSpPr/>
          <p:nvPr/>
        </p:nvSpPr>
        <p:spPr>
          <a:xfrm>
            <a:off x="4164330" y="868203"/>
            <a:ext cx="390461" cy="5607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矩形 24"/>
          <p:cNvSpPr/>
          <p:nvPr/>
        </p:nvSpPr>
        <p:spPr>
          <a:xfrm>
            <a:off x="5271806" y="733113"/>
            <a:ext cx="328655" cy="5959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矩形 25"/>
          <p:cNvSpPr/>
          <p:nvPr/>
        </p:nvSpPr>
        <p:spPr>
          <a:xfrm>
            <a:off x="5998651" y="703316"/>
            <a:ext cx="420831" cy="4571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7" name="矩形 26"/>
          <p:cNvSpPr/>
          <p:nvPr/>
        </p:nvSpPr>
        <p:spPr>
          <a:xfrm>
            <a:off x="7241248" y="464119"/>
            <a:ext cx="160367" cy="1488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8" name="矩形 27"/>
          <p:cNvSpPr/>
          <p:nvPr/>
        </p:nvSpPr>
        <p:spPr>
          <a:xfrm>
            <a:off x="7267231" y="1337263"/>
            <a:ext cx="260175" cy="5270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9" name="文本框 28"/>
          <p:cNvSpPr txBox="1"/>
          <p:nvPr/>
        </p:nvSpPr>
        <p:spPr>
          <a:xfrm>
            <a:off x="3670572" y="2691716"/>
            <a:ext cx="492443" cy="1357843"/>
          </a:xfrm>
          <a:prstGeom prst="rect">
            <a:avLst/>
          </a:prstGeom>
          <a:noFill/>
        </p:spPr>
        <p:txBody>
          <a:bodyPr vert="eaVert" wrap="square">
            <a:spAutoFit/>
          </a:bodyPr>
          <a:lstStyle/>
          <a:p>
            <a:pPr algn="ctr"/>
            <a:r>
              <a:rPr lang="zh-CN" altLang="en-US" sz="1000" b="1" dirty="0"/>
              <a:t>优化用户主要动线（计划）</a:t>
            </a:r>
          </a:p>
        </p:txBody>
      </p:sp>
      <p:sp>
        <p:nvSpPr>
          <p:cNvPr id="30" name="内容占位符 2"/>
          <p:cNvSpPr>
            <a:spLocks noGrp="1"/>
          </p:cNvSpPr>
          <p:nvPr>
            <p:ph sz="quarter" idx="23"/>
          </p:nvPr>
        </p:nvSpPr>
        <p:spPr>
          <a:xfrm>
            <a:off x="252206" y="1131888"/>
            <a:ext cx="3610721" cy="925675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zh-CN" altLang="en-US" dirty="0"/>
              <a:t>美团榜单渗透率低</a:t>
            </a:r>
            <a:r>
              <a:rPr lang="en-US" altLang="zh-CN" dirty="0"/>
              <a:t>1.7%</a:t>
            </a:r>
            <a:r>
              <a:rPr lang="zh-CN" altLang="en-US" dirty="0"/>
              <a:t>（</a:t>
            </a:r>
            <a:r>
              <a:rPr lang="en-US" altLang="zh-CN" dirty="0"/>
              <a:t>66w/3950w</a:t>
            </a:r>
            <a:r>
              <a:rPr lang="zh-CN" altLang="en-US" dirty="0"/>
              <a:t>），我们的计划是在节日</a:t>
            </a:r>
            <a:r>
              <a:rPr lang="en-US" altLang="zh-CN" dirty="0"/>
              <a:t>/</a:t>
            </a:r>
            <a:r>
              <a:rPr lang="zh-CN" altLang="en-US" dirty="0"/>
              <a:t>节点</a:t>
            </a:r>
            <a:r>
              <a:rPr lang="en-US" altLang="zh-CN" dirty="0"/>
              <a:t>/</a:t>
            </a:r>
            <a:r>
              <a:rPr lang="zh-CN" altLang="en-US" dirty="0"/>
              <a:t>热点等，结合场景榜透出测试；在资产建设完善</a:t>
            </a:r>
            <a:r>
              <a:rPr lang="en-US" altLang="zh-CN" dirty="0"/>
              <a:t>+</a:t>
            </a:r>
            <a:r>
              <a:rPr lang="zh-CN" altLang="en-US" dirty="0"/>
              <a:t>榜单矩阵初具规模时，可以占据用户主要动线，承接美食消费决策主要需求。</a:t>
            </a:r>
            <a:endParaRPr kumimoji="1" lang="zh-CN" altLang="en-US" dirty="0"/>
          </a:p>
        </p:txBody>
      </p:sp>
      <p:sp>
        <p:nvSpPr>
          <p:cNvPr id="31" name="文本框 30"/>
          <p:cNvSpPr txBox="1"/>
          <p:nvPr/>
        </p:nvSpPr>
        <p:spPr>
          <a:xfrm flipH="1">
            <a:off x="335396" y="4457800"/>
            <a:ext cx="3130550" cy="369332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pPr algn="ctr"/>
            <a:r>
              <a:rPr lang="zh-CN" altLang="en-US" sz="1000" b="1" dirty="0"/>
              <a:t>美团榜单的主要流量来源</a:t>
            </a:r>
            <a:endParaRPr lang="en-US" altLang="zh-CN" sz="1000" b="1" dirty="0"/>
          </a:p>
          <a:p>
            <a:pPr algn="ctr"/>
            <a:r>
              <a:rPr lang="en-US" altLang="zh-CN" sz="800" dirty="0"/>
              <a:t>TOP</a:t>
            </a:r>
            <a:r>
              <a:rPr lang="zh-CN" altLang="en-US" sz="800" dirty="0"/>
              <a:t> </a:t>
            </a:r>
            <a:r>
              <a:rPr lang="en-US" altLang="zh-CN" sz="800" dirty="0"/>
              <a:t>3</a:t>
            </a:r>
            <a:r>
              <a:rPr lang="zh-CN" altLang="en-US" sz="800" dirty="0"/>
              <a:t>：</a:t>
            </a:r>
            <a:r>
              <a:rPr lang="en-US" altLang="zh-CN" sz="800" dirty="0"/>
              <a:t>①</a:t>
            </a:r>
            <a:r>
              <a:rPr lang="zh-CN" altLang="en-US" sz="800" dirty="0"/>
              <a:t>大搜搜索结果页 </a:t>
            </a:r>
            <a:r>
              <a:rPr lang="en-US" altLang="zh-CN" sz="800" dirty="0"/>
              <a:t>②</a:t>
            </a:r>
            <a:r>
              <a:rPr lang="zh-CN" altLang="en-US" sz="800" dirty="0"/>
              <a:t>商家详情页 </a:t>
            </a:r>
            <a:r>
              <a:rPr lang="en-US" altLang="zh-CN" sz="800" dirty="0"/>
              <a:t>③</a:t>
            </a:r>
            <a:r>
              <a:rPr lang="zh-CN" altLang="en-US" sz="800" dirty="0"/>
              <a:t>美食首页</a:t>
            </a:r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39539" y="2301259"/>
            <a:ext cx="1032267" cy="2235201"/>
          </a:xfrm>
          <a:prstGeom prst="rect">
            <a:avLst/>
          </a:prstGeom>
        </p:spPr>
      </p:pic>
      <p:pic>
        <p:nvPicPr>
          <p:cNvPr id="33" name="图片 3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87778" y="2304460"/>
            <a:ext cx="1031704" cy="2232000"/>
          </a:xfrm>
          <a:prstGeom prst="rect">
            <a:avLst/>
          </a:prstGeom>
        </p:spPr>
      </p:pic>
      <p:pic>
        <p:nvPicPr>
          <p:cNvPr id="34" name="图片 3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79830" y="2304460"/>
            <a:ext cx="1030788" cy="2232000"/>
          </a:xfrm>
          <a:prstGeom prst="rect">
            <a:avLst/>
          </a:prstGeom>
        </p:spPr>
      </p:pic>
      <p:sp>
        <p:nvSpPr>
          <p:cNvPr id="35" name="文本框 34"/>
          <p:cNvSpPr txBox="1"/>
          <p:nvPr/>
        </p:nvSpPr>
        <p:spPr>
          <a:xfrm flipH="1">
            <a:off x="4239538" y="4576648"/>
            <a:ext cx="1032267" cy="400110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pPr algn="ctr"/>
            <a:r>
              <a:rPr lang="zh-CN" altLang="en-US" sz="1000" b="1" dirty="0"/>
              <a:t>大搜</a:t>
            </a:r>
            <a:r>
              <a:rPr lang="en-US" altLang="zh-CN" sz="1000" b="1" dirty="0"/>
              <a:t>SUG</a:t>
            </a:r>
            <a:r>
              <a:rPr lang="zh-CN" altLang="en-US" sz="1000" b="1" dirty="0"/>
              <a:t>页</a:t>
            </a:r>
            <a:endParaRPr lang="en-US" altLang="zh-CN" sz="1000" b="1" dirty="0"/>
          </a:p>
          <a:p>
            <a:pPr algn="ctr"/>
            <a:r>
              <a:rPr lang="zh-CN" altLang="en-US" sz="1000" b="1" dirty="0"/>
              <a:t>增加榜单入口</a:t>
            </a:r>
          </a:p>
        </p:txBody>
      </p:sp>
      <p:sp>
        <p:nvSpPr>
          <p:cNvPr id="36" name="文本框 35"/>
          <p:cNvSpPr txBox="1"/>
          <p:nvPr/>
        </p:nvSpPr>
        <p:spPr>
          <a:xfrm flipH="1">
            <a:off x="5432153" y="4590919"/>
            <a:ext cx="1008478" cy="400110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pPr algn="ctr"/>
            <a:r>
              <a:rPr lang="zh-CN" altLang="en-US" sz="1000" b="1" dirty="0"/>
              <a:t>搜索结果页</a:t>
            </a:r>
            <a:endParaRPr lang="en-US" altLang="zh-CN" sz="1000" b="1" dirty="0"/>
          </a:p>
          <a:p>
            <a:pPr algn="ctr"/>
            <a:r>
              <a:rPr lang="zh-CN" altLang="en-US" sz="1000" b="1" dirty="0"/>
              <a:t>增加榜单模块</a:t>
            </a:r>
          </a:p>
        </p:txBody>
      </p:sp>
      <p:sp>
        <p:nvSpPr>
          <p:cNvPr id="37" name="文本框 36"/>
          <p:cNvSpPr txBox="1"/>
          <p:nvPr/>
        </p:nvSpPr>
        <p:spPr>
          <a:xfrm flipH="1">
            <a:off x="6590985" y="4578750"/>
            <a:ext cx="1008478" cy="400110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pPr algn="ctr"/>
            <a:r>
              <a:rPr lang="zh-CN" altLang="en-US" sz="1000" b="1" dirty="0"/>
              <a:t>美团首页</a:t>
            </a:r>
            <a:endParaRPr lang="en-US" altLang="zh-CN" sz="1000" b="1" dirty="0"/>
          </a:p>
          <a:p>
            <a:pPr algn="ctr"/>
            <a:r>
              <a:rPr lang="zh-CN" altLang="en-US" sz="1000" b="1" dirty="0"/>
              <a:t>增加榜单金刚</a:t>
            </a:r>
          </a:p>
        </p:txBody>
      </p:sp>
      <p:sp>
        <p:nvSpPr>
          <p:cNvPr id="39" name="文本框 38"/>
          <p:cNvSpPr txBox="1"/>
          <p:nvPr/>
        </p:nvSpPr>
        <p:spPr>
          <a:xfrm flipH="1">
            <a:off x="7725849" y="4578750"/>
            <a:ext cx="1008478" cy="400110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pPr algn="ctr"/>
            <a:r>
              <a:rPr lang="zh-CN" altLang="en-US" sz="1000" b="1" dirty="0"/>
              <a:t>节日</a:t>
            </a:r>
            <a:r>
              <a:rPr lang="en-US" altLang="zh-CN" sz="1000" b="1" dirty="0"/>
              <a:t>/</a:t>
            </a:r>
            <a:r>
              <a:rPr lang="zh-CN" altLang="en-US" sz="1000" b="1" dirty="0"/>
              <a:t>节点</a:t>
            </a:r>
            <a:r>
              <a:rPr lang="en-US" altLang="zh-CN" sz="1000" b="1" dirty="0"/>
              <a:t>/</a:t>
            </a:r>
          </a:p>
          <a:p>
            <a:pPr algn="ctr"/>
            <a:r>
              <a:rPr lang="zh-CN" altLang="en-US" sz="1000" b="1" dirty="0"/>
              <a:t>热点榜</a:t>
            </a:r>
          </a:p>
        </p:txBody>
      </p:sp>
      <p:pic>
        <p:nvPicPr>
          <p:cNvPr id="40" name="图片 39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770966" y="2304460"/>
            <a:ext cx="918244" cy="223200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椭圆 85"/>
          <p:cNvSpPr/>
          <p:nvPr/>
        </p:nvSpPr>
        <p:spPr>
          <a:xfrm>
            <a:off x="4873498" y="959674"/>
            <a:ext cx="720000" cy="720000"/>
          </a:xfrm>
          <a:prstGeom prst="ellipse">
            <a:avLst/>
          </a:prstGeom>
          <a:gradFill flip="none" rotWithShape="1">
            <a:gsLst>
              <a:gs pos="100000">
                <a:schemeClr val="bg1">
                  <a:lumMod val="38000"/>
                  <a:lumOff val="62000"/>
                </a:schemeClr>
              </a:gs>
              <a:gs pos="0">
                <a:schemeClr val="bg1"/>
              </a:gs>
            </a:gsLst>
            <a:lin ang="21000000" scaled="0"/>
            <a:tileRect/>
          </a:gradFill>
          <a:ln w="6350">
            <a:noFill/>
          </a:ln>
          <a:effectLst>
            <a:outerShdw blurRad="469900" dist="123444" dir="5400000" sx="99000" sy="99000" algn="ctr" rotWithShape="0">
              <a:schemeClr val="accent1"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4067" tIns="37031" rIns="74067" bIns="37031" rtlCol="0" anchor="ctr">
            <a:noAutofit/>
          </a:bodyPr>
          <a:lstStyle/>
          <a:p>
            <a:pPr algn="ctr" defTabSz="685800"/>
            <a:endParaRPr lang="zh-CN" altLang="en-US" sz="1400" dirty="0">
              <a:solidFill>
                <a:srgbClr val="FFFFFF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+mn-ea"/>
              <a:cs typeface="MiSans Medium" panose="00000600000000000000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quarter" idx="23"/>
          </p:nvPr>
        </p:nvSpPr>
        <p:spPr>
          <a:xfrm>
            <a:off x="0" y="-720341"/>
            <a:ext cx="8639588" cy="669132"/>
          </a:xfrm>
        </p:spPr>
        <p:txBody>
          <a:bodyPr>
            <a:normAutofit lnSpcReduction="10000"/>
          </a:bodyPr>
          <a:lstStyle/>
          <a:p>
            <a:r>
              <a:rPr lang="zh-CN" altLang="en-US" dirty="0"/>
              <a:t>营销活动以供给为主，加强两榜一会双节的</a:t>
            </a:r>
            <a:r>
              <a:rPr lang="en-GB" altLang="zh-CN" dirty="0"/>
              <a:t>C</a:t>
            </a:r>
            <a:r>
              <a:rPr lang="zh-CN" altLang="en-US" dirty="0"/>
              <a:t>端牵引；</a:t>
            </a:r>
            <a:r>
              <a:rPr lang="en-US" altLang="zh-CN" dirty="0"/>
              <a:t>1</a:t>
            </a:r>
            <a:r>
              <a:rPr lang="en-GB" altLang="zh-CN" dirty="0"/>
              <a:t>p</a:t>
            </a:r>
          </a:p>
          <a:p>
            <a:r>
              <a:rPr lang="zh-CN" altLang="en-US" dirty="0"/>
              <a:t>竞品的营销大会的玩法比对：融入消费者</a:t>
            </a:r>
            <a:endParaRPr lang="en-GB" altLang="zh-CN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22"/>
          </p:nvPr>
        </p:nvSpPr>
        <p:spPr>
          <a:xfrm>
            <a:off x="448208" y="128765"/>
            <a:ext cx="8583088" cy="266037"/>
          </a:xfrm>
        </p:spPr>
        <p:txBody>
          <a:bodyPr/>
          <a:lstStyle/>
          <a:p>
            <a:r>
              <a:rPr kumimoji="1" lang="zh-CN" altLang="en-US" dirty="0"/>
              <a:t>用户心智问题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394883" y="1062436"/>
            <a:ext cx="353300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4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「</a:t>
            </a:r>
            <a:r>
              <a:rPr lang="zh-CN" altLang="en-US" sz="24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两榜一会双节</a:t>
            </a:r>
            <a:r>
              <a:rPr lang="ja-JP" altLang="en-US" sz="24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」</a:t>
            </a:r>
            <a:endParaRPr lang="zh-CN" altLang="en-US" sz="2400" b="1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6" name="椭圆 5"/>
          <p:cNvSpPr/>
          <p:nvPr/>
        </p:nvSpPr>
        <p:spPr>
          <a:xfrm>
            <a:off x="3468080" y="954333"/>
            <a:ext cx="720000" cy="720000"/>
          </a:xfrm>
          <a:prstGeom prst="ellipse">
            <a:avLst/>
          </a:prstGeom>
          <a:gradFill flip="none" rotWithShape="1">
            <a:gsLst>
              <a:gs pos="100000">
                <a:schemeClr val="bg1">
                  <a:lumMod val="38000"/>
                  <a:lumOff val="62000"/>
                </a:schemeClr>
              </a:gs>
              <a:gs pos="0">
                <a:schemeClr val="bg1"/>
              </a:gs>
            </a:gsLst>
            <a:lin ang="21000000" scaled="0"/>
            <a:tileRect/>
          </a:gradFill>
          <a:ln w="6350">
            <a:noFill/>
          </a:ln>
          <a:effectLst>
            <a:outerShdw blurRad="469900" dist="123444" dir="5400000" sx="99000" sy="99000" algn="ctr" rotWithShape="0">
              <a:schemeClr val="accent1"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4067" tIns="37031" rIns="74067" bIns="37031" rtlCol="0" anchor="ctr">
            <a:noAutofit/>
          </a:bodyPr>
          <a:lstStyle/>
          <a:p>
            <a:pPr algn="ctr" defTabSz="685800"/>
            <a:endParaRPr lang="zh-CN" altLang="en-US" sz="1400" dirty="0">
              <a:solidFill>
                <a:srgbClr val="FFFFFF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+mn-ea"/>
              <a:cs typeface="MiSans Medium" panose="00000600000000000000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586692" y="1091492"/>
            <a:ext cx="8246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+mn-ea"/>
              </a:rPr>
              <a:t>B</a:t>
            </a:r>
            <a:r>
              <a:rPr lang="zh-CN" altLang="en-US" sz="2000" b="1" dirty="0">
                <a:latin typeface="+mn-ea"/>
              </a:rPr>
              <a:t>端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624636" y="1586381"/>
            <a:ext cx="1949091" cy="276999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algn="ctr"/>
            <a:r>
              <a:rPr lang="ja-JP" altLang="en-US" sz="1200" b="1" dirty="0">
                <a:solidFill>
                  <a:schemeClr val="bg1">
                    <a:lumMod val="9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＃</a:t>
            </a:r>
            <a:r>
              <a:rPr lang="zh-CN" altLang="en-US" sz="1200" b="1" dirty="0">
                <a:solidFill>
                  <a:schemeClr val="bg1">
                    <a:lumMod val="9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全民美食狂欢盛典策略</a:t>
            </a:r>
          </a:p>
        </p:txBody>
      </p:sp>
      <p:sp>
        <p:nvSpPr>
          <p:cNvPr id="26" name="文本框 25"/>
          <p:cNvSpPr txBox="1"/>
          <p:nvPr/>
        </p:nvSpPr>
        <p:spPr>
          <a:xfrm>
            <a:off x="4972114" y="1114144"/>
            <a:ext cx="8047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+mn-ea"/>
              </a:rPr>
              <a:t>C</a:t>
            </a:r>
            <a:r>
              <a:rPr lang="zh-CN" altLang="en-US" sz="2000" b="1" dirty="0">
                <a:latin typeface="+mn-ea"/>
              </a:rPr>
              <a:t>端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4353143" y="1026234"/>
            <a:ext cx="35964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8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+</a:t>
            </a:r>
            <a:endParaRPr lang="zh-CN" altLang="en-US" sz="2800" b="1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69" name="矩形: 圆角 68"/>
          <p:cNvSpPr/>
          <p:nvPr/>
        </p:nvSpPr>
        <p:spPr>
          <a:xfrm>
            <a:off x="6278916" y="901035"/>
            <a:ext cx="1554723" cy="720358"/>
          </a:xfrm>
          <a:prstGeom prst="roundRect">
            <a:avLst/>
          </a:prstGeom>
          <a:gradFill flip="none" rotWithShape="1">
            <a:gsLst>
              <a:gs pos="100000">
                <a:schemeClr val="bg1">
                  <a:lumMod val="38000"/>
                  <a:lumOff val="62000"/>
                </a:schemeClr>
              </a:gs>
              <a:gs pos="0">
                <a:schemeClr val="bg1"/>
              </a:gs>
            </a:gsLst>
            <a:lin ang="21000000" scaled="0"/>
            <a:tileRect/>
          </a:gradFill>
          <a:ln w="6350">
            <a:noFill/>
          </a:ln>
          <a:effectLst>
            <a:outerShdw blurRad="469900" dist="123444" dir="5400000" sx="99000" sy="99000" algn="ctr" rotWithShape="0">
              <a:schemeClr val="accent1"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4067" tIns="37031" rIns="74067" bIns="37031" rtlCol="0" anchor="ctr">
            <a:noAutofit/>
          </a:bodyPr>
          <a:lstStyle/>
          <a:p>
            <a:pPr algn="ctr" defTabSz="685800"/>
            <a:endParaRPr lang="zh-CN" altLang="en-US" sz="1400" dirty="0">
              <a:solidFill>
                <a:srgbClr val="FFFFFF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+mn-ea"/>
              <a:cs typeface="MiSans Medium" panose="00000600000000000000" pitchFamily="2" charset="-122"/>
            </a:endParaRPr>
          </a:p>
        </p:txBody>
      </p:sp>
      <p:sp>
        <p:nvSpPr>
          <p:cNvPr id="70" name="文本框 69"/>
          <p:cNvSpPr txBox="1"/>
          <p:nvPr/>
        </p:nvSpPr>
        <p:spPr>
          <a:xfrm>
            <a:off x="6290440" y="1089886"/>
            <a:ext cx="17036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+mn-ea"/>
              </a:rPr>
              <a:t>影响力渗透</a:t>
            </a:r>
          </a:p>
        </p:txBody>
      </p:sp>
      <p:sp>
        <p:nvSpPr>
          <p:cNvPr id="72" name="文本框 71"/>
          <p:cNvSpPr txBox="1"/>
          <p:nvPr/>
        </p:nvSpPr>
        <p:spPr>
          <a:xfrm>
            <a:off x="5757358" y="1077690"/>
            <a:ext cx="5215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＝</a:t>
            </a:r>
          </a:p>
        </p:txBody>
      </p:sp>
      <p:sp>
        <p:nvSpPr>
          <p:cNvPr id="53" name="文本框 52"/>
          <p:cNvSpPr txBox="1"/>
          <p:nvPr/>
        </p:nvSpPr>
        <p:spPr>
          <a:xfrm>
            <a:off x="-9741" y="2407214"/>
            <a:ext cx="14533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+mn-ea"/>
              </a:rPr>
              <a:t>竞品玩法亮点：</a:t>
            </a: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3"/>
          <a:srcRect l="15955" r="8441" b="21017"/>
          <a:stretch>
            <a:fillRect/>
          </a:stretch>
        </p:blipFill>
        <p:spPr>
          <a:xfrm>
            <a:off x="93687" y="3561846"/>
            <a:ext cx="876876" cy="62648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grpSp>
        <p:nvGrpSpPr>
          <p:cNvPr id="59" name="组合 58"/>
          <p:cNvGrpSpPr/>
          <p:nvPr/>
        </p:nvGrpSpPr>
        <p:grpSpPr>
          <a:xfrm>
            <a:off x="-2145" y="2929887"/>
            <a:ext cx="1482148" cy="1890399"/>
            <a:chOff x="-2145" y="2929887"/>
            <a:chExt cx="1482148" cy="1890399"/>
          </a:xfrm>
        </p:grpSpPr>
        <p:pic>
          <p:nvPicPr>
            <p:cNvPr id="22" name="图片 2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24636" y="2929887"/>
              <a:ext cx="855367" cy="1890399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  <p:sp>
          <p:nvSpPr>
            <p:cNvPr id="50" name="文本框 49"/>
            <p:cNvSpPr txBox="1"/>
            <p:nvPr/>
          </p:nvSpPr>
          <p:spPr>
            <a:xfrm>
              <a:off x="-2145" y="4298264"/>
              <a:ext cx="1144912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/>
              <a:r>
                <a:rPr lang="en-US" altLang="zh-CN" sz="800" dirty="0">
                  <a:effectLst/>
                </a:rPr>
                <a:t>D+</a:t>
              </a:r>
              <a:r>
                <a:rPr lang="zh-CN" altLang="en-US" sz="800" dirty="0">
                  <a:effectLst/>
                </a:rPr>
                <a:t>心动榜</a:t>
              </a:r>
              <a:endParaRPr lang="en-US" altLang="zh-CN" sz="800" dirty="0">
                <a:effectLst/>
              </a:endParaRPr>
            </a:p>
            <a:p>
              <a:pPr marL="0" marR="0"/>
              <a:r>
                <a:rPr lang="zh-CN" altLang="en-US" sz="800" dirty="0">
                  <a:effectLst/>
                </a:rPr>
                <a:t>成团夜活动</a:t>
              </a:r>
            </a:p>
          </p:txBody>
        </p:sp>
      </p:grpSp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49045" y="2804844"/>
            <a:ext cx="939442" cy="189120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37" name="图片 36"/>
          <p:cNvPicPr>
            <a:picLocks noChangeAspect="1"/>
          </p:cNvPicPr>
          <p:nvPr/>
        </p:nvPicPr>
        <p:blipFill rotWithShape="1">
          <a:blip r:embed="rId6"/>
          <a:srcRect l="19857" r="-12936"/>
          <a:stretch>
            <a:fillRect/>
          </a:stretch>
        </p:blipFill>
        <p:spPr>
          <a:xfrm>
            <a:off x="1496719" y="2813074"/>
            <a:ext cx="1387211" cy="102684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60" name="文本框 59"/>
          <p:cNvSpPr txBox="1"/>
          <p:nvPr/>
        </p:nvSpPr>
        <p:spPr>
          <a:xfrm>
            <a:off x="1496719" y="4255938"/>
            <a:ext cx="103307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/>
            <a:r>
              <a:rPr lang="zh-CN" altLang="en-US" sz="800" dirty="0">
                <a:effectLst/>
              </a:rPr>
              <a:t>高德扫街榜宣发</a:t>
            </a:r>
          </a:p>
        </p:txBody>
      </p:sp>
      <p:pic>
        <p:nvPicPr>
          <p:cNvPr id="44" name="图片 4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19382" y="2787475"/>
            <a:ext cx="882533" cy="115909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00" name="内容占位符 2"/>
          <p:cNvSpPr txBox="1"/>
          <p:nvPr/>
        </p:nvSpPr>
        <p:spPr>
          <a:xfrm>
            <a:off x="5110317" y="-890201"/>
            <a:ext cx="8523223" cy="1161844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12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/>
                </a:solidFill>
                <a:latin typeface="Calibri" panose="020F0502020204030204" pitchFamily="34" charset="0"/>
                <a:ea typeface="楷体" panose="02010609060101010101" pitchFamily="49" charset="-122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12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12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12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12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200" b="1" dirty="0"/>
              <a:t>线上发榜盛典</a:t>
            </a:r>
            <a:r>
              <a:rPr lang="zh-CN" altLang="en-US" sz="1200" dirty="0"/>
              <a:t>，现场直播并邀请明星、头部美食</a:t>
            </a:r>
            <a:r>
              <a:rPr lang="en-US" altLang="zh-CN" sz="1200" dirty="0"/>
              <a:t>KOL</a:t>
            </a:r>
            <a:r>
              <a:rPr lang="zh-CN" altLang="en-US" sz="1200" dirty="0"/>
              <a:t>、知名厨师等为商家颁奖，打造兼具趣味性和权威性的美食狂欢节。</a:t>
            </a:r>
            <a:endParaRPr lang="en-US" altLang="zh-CN" sz="1200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200" b="1" dirty="0"/>
              <a:t>全渠道内容同步，引爆线上线下流量：</a:t>
            </a:r>
            <a:r>
              <a:rPr lang="zh-CN" altLang="en-US" sz="1200" dirty="0"/>
              <a:t>微博、小红书、快手等社交媒体话题发布，</a:t>
            </a:r>
            <a:r>
              <a:rPr lang="en-US" altLang="zh-CN" sz="1200" dirty="0"/>
              <a:t>KOL</a:t>
            </a:r>
            <a:r>
              <a:rPr lang="zh-CN" altLang="en-US" sz="1200" dirty="0"/>
              <a:t>探店达人矩阵宣传，主流媒体宣发。</a:t>
            </a:r>
            <a:endParaRPr lang="en-US" altLang="zh-CN" sz="1200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200" b="1" i="0" dirty="0">
                <a:solidFill>
                  <a:srgbClr val="1F2328"/>
                </a:solidFill>
                <a:effectLst/>
                <a:latin typeface="PingFang SC"/>
              </a:rPr>
              <a:t>个性化推荐与互动玩法</a:t>
            </a:r>
            <a:r>
              <a:rPr lang="zh-CN" altLang="en-US" sz="1200" b="0" i="0" dirty="0">
                <a:solidFill>
                  <a:srgbClr val="1F2328"/>
                </a:solidFill>
                <a:effectLst/>
                <a:latin typeface="PingFang SC"/>
              </a:rPr>
              <a:t>：利用足迹点亮、美食打榜等互动性强的机制实现社交裂变，增强榜单传播，提高用户参与度。</a:t>
            </a:r>
            <a:endParaRPr lang="en-US" altLang="zh-CN" sz="1200" b="0" i="0" dirty="0">
              <a:solidFill>
                <a:srgbClr val="1F2328"/>
              </a:solidFill>
              <a:effectLst/>
              <a:latin typeface="PingFang SC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200" b="1" i="0" dirty="0">
                <a:solidFill>
                  <a:srgbClr val="1F2328"/>
                </a:solidFill>
                <a:effectLst/>
                <a:latin typeface="PingFang SC"/>
              </a:rPr>
              <a:t>一饭封神</a:t>
            </a:r>
            <a:r>
              <a:rPr lang="en-US" altLang="zh-CN" sz="1200" b="1" i="0" dirty="0">
                <a:solidFill>
                  <a:srgbClr val="1F2328"/>
                </a:solidFill>
                <a:effectLst/>
                <a:latin typeface="PingFang SC"/>
              </a:rPr>
              <a:t>IP</a:t>
            </a:r>
            <a:r>
              <a:rPr lang="zh-CN" altLang="en-US" sz="1200" b="1" dirty="0">
                <a:solidFill>
                  <a:srgbClr val="1F2328"/>
                </a:solidFill>
                <a:latin typeface="PingFang SC"/>
              </a:rPr>
              <a:t>联名造势，</a:t>
            </a:r>
            <a:r>
              <a:rPr lang="zh-CN" altLang="en-US" sz="1200" dirty="0">
                <a:solidFill>
                  <a:srgbClr val="1F2328"/>
                </a:solidFill>
                <a:latin typeface="PingFang SC"/>
              </a:rPr>
              <a:t>上线“封神同款套餐”，打造“封神探店路线”等活动，为榜单进行权威背书，持续扩大影响力。</a:t>
            </a:r>
            <a:endParaRPr lang="zh-CN" altLang="en-US" sz="1200" i="0" dirty="0">
              <a:solidFill>
                <a:srgbClr val="1F2328"/>
              </a:solidFill>
              <a:effectLst/>
              <a:latin typeface="PingFang SC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8705" y="439479"/>
            <a:ext cx="8584470" cy="547945"/>
          </a:xfrm>
        </p:spPr>
        <p:txBody>
          <a:bodyPr/>
          <a:lstStyle/>
          <a:p>
            <a:r>
              <a:rPr lang="zh-CN" altLang="en-US" dirty="0">
                <a:latin typeface="+mn-ea"/>
              </a:rPr>
              <a:t>强化榜单运营：提升榜单整体品牌力及认知度</a:t>
            </a:r>
            <a:endParaRPr kumimoji="1" lang="zh-CN" altLang="en-US" dirty="0"/>
          </a:p>
        </p:txBody>
      </p:sp>
      <p:sp>
        <p:nvSpPr>
          <p:cNvPr id="10" name="米菲PPT136"/>
          <p:cNvSpPr/>
          <p:nvPr/>
        </p:nvSpPr>
        <p:spPr>
          <a:xfrm>
            <a:off x="4188245" y="1893248"/>
            <a:ext cx="767840" cy="1908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000" kern="0" dirty="0">
                <a:solidFill>
                  <a:prstClr val="black">
                    <a:lumMod val="65000"/>
                    <a:lumOff val="35000"/>
                  </a:prst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rPr>
              <a:t>商家邀约</a:t>
            </a: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11" name="米菲PPT137"/>
          <p:cNvSpPr/>
          <p:nvPr/>
        </p:nvSpPr>
        <p:spPr>
          <a:xfrm>
            <a:off x="3320760" y="2203883"/>
            <a:ext cx="767840" cy="1908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000" kern="0" dirty="0">
                <a:solidFill>
                  <a:prstClr val="black">
                    <a:lumMod val="65000"/>
                    <a:lumOff val="35000"/>
                  </a:prst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rPr>
              <a:t>颁奖典礼</a:t>
            </a: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12" name="米菲PPT136"/>
          <p:cNvSpPr/>
          <p:nvPr/>
        </p:nvSpPr>
        <p:spPr>
          <a:xfrm>
            <a:off x="3320760" y="1893248"/>
            <a:ext cx="767840" cy="1908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000" kern="0" dirty="0">
                <a:solidFill>
                  <a:prstClr val="black">
                    <a:lumMod val="65000"/>
                    <a:lumOff val="35000"/>
                  </a:prst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rPr>
              <a:t>奖项划分</a:t>
            </a: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15" name="米菲PPT136"/>
          <p:cNvSpPr/>
          <p:nvPr/>
        </p:nvSpPr>
        <p:spPr>
          <a:xfrm>
            <a:off x="5049664" y="1888558"/>
            <a:ext cx="767840" cy="1908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rPr>
              <a:t>邀约明星</a:t>
            </a:r>
          </a:p>
        </p:txBody>
      </p:sp>
      <p:sp>
        <p:nvSpPr>
          <p:cNvPr id="16" name="米菲PPT137"/>
          <p:cNvSpPr/>
          <p:nvPr/>
        </p:nvSpPr>
        <p:spPr>
          <a:xfrm>
            <a:off x="5922887" y="1899068"/>
            <a:ext cx="767840" cy="1908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rPr>
              <a:t>线上预热</a:t>
            </a:r>
          </a:p>
        </p:txBody>
      </p:sp>
      <p:sp>
        <p:nvSpPr>
          <p:cNvPr id="17" name="米菲PPT136"/>
          <p:cNvSpPr/>
          <p:nvPr/>
        </p:nvSpPr>
        <p:spPr>
          <a:xfrm>
            <a:off x="5049664" y="2198117"/>
            <a:ext cx="767840" cy="1908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rPr>
              <a:t>粉丝互动</a:t>
            </a:r>
          </a:p>
        </p:txBody>
      </p:sp>
      <p:sp>
        <p:nvSpPr>
          <p:cNvPr id="18" name="米菲PPT137"/>
          <p:cNvSpPr/>
          <p:nvPr/>
        </p:nvSpPr>
        <p:spPr>
          <a:xfrm>
            <a:off x="5911248" y="2193004"/>
            <a:ext cx="767840" cy="1908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000" kern="0" dirty="0">
                <a:solidFill>
                  <a:prstClr val="black">
                    <a:lumMod val="65000"/>
                    <a:lumOff val="35000"/>
                  </a:prst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rPr>
              <a:t>抽奖造势</a:t>
            </a: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25" name="米菲PPT136"/>
          <p:cNvSpPr/>
          <p:nvPr/>
        </p:nvSpPr>
        <p:spPr>
          <a:xfrm>
            <a:off x="6784469" y="2191724"/>
            <a:ext cx="1554723" cy="1908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000" kern="0" dirty="0">
                <a:solidFill>
                  <a:prstClr val="black">
                    <a:lumMod val="65000"/>
                    <a:lumOff val="35000"/>
                  </a:prst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rPr>
              <a:t>线上流量矩阵</a:t>
            </a:r>
            <a:r>
              <a:rPr lang="en-US" altLang="zh-CN" sz="1000" kern="0" dirty="0">
                <a:solidFill>
                  <a:prstClr val="black">
                    <a:lumMod val="65000"/>
                    <a:lumOff val="35000"/>
                  </a:prst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rPr>
              <a:t>+</a:t>
            </a:r>
            <a:r>
              <a:rPr lang="zh-CN" altLang="en-US" sz="1000" kern="0" dirty="0">
                <a:solidFill>
                  <a:prstClr val="black">
                    <a:lumMod val="65000"/>
                    <a:lumOff val="35000"/>
                  </a:prst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rPr>
              <a:t>粉丝效能</a:t>
            </a: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30" name="米菲PPT137"/>
          <p:cNvSpPr/>
          <p:nvPr/>
        </p:nvSpPr>
        <p:spPr>
          <a:xfrm>
            <a:off x="3320760" y="2533170"/>
            <a:ext cx="1032383" cy="1908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rPr>
              <a:t>线下物料铺设</a:t>
            </a:r>
          </a:p>
        </p:txBody>
      </p:sp>
      <p:graphicFrame>
        <p:nvGraphicFramePr>
          <p:cNvPr id="36" name="表格 35"/>
          <p:cNvGraphicFramePr>
            <a:graphicFrameLocks noGrp="1"/>
          </p:cNvGraphicFramePr>
          <p:nvPr/>
        </p:nvGraphicFramePr>
        <p:xfrm>
          <a:off x="3953602" y="2824177"/>
          <a:ext cx="5190399" cy="21905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83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67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66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590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778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>
                          <a:solidFill>
                            <a:schemeClr val="tx1"/>
                          </a:solidFill>
                        </a:rPr>
                        <a:t>平台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>
                          <a:solidFill>
                            <a:schemeClr val="tx1"/>
                          </a:solidFill>
                        </a:rPr>
                        <a:t>发榜前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>
                          <a:solidFill>
                            <a:schemeClr val="tx1"/>
                          </a:solidFill>
                        </a:rPr>
                        <a:t>发榜中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>
                          <a:solidFill>
                            <a:schemeClr val="tx1"/>
                          </a:solidFill>
                        </a:rPr>
                        <a:t>发榜后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0924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100" b="1" dirty="0"/>
                        <a:t>D+</a:t>
                      </a:r>
                      <a:endParaRPr lang="zh-CN" altLang="en-US" sz="11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100" dirty="0"/>
                        <a:t>招商预热、</a:t>
                      </a:r>
                      <a:r>
                        <a:rPr lang="zh-CN" altLang="en-US" sz="1100" b="1" dirty="0"/>
                        <a:t>短视频挑战赛、粉丝打榜</a:t>
                      </a:r>
                      <a:r>
                        <a:rPr lang="zh-CN" altLang="en-US" sz="1100" dirty="0"/>
                        <a:t>解锁明星物料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 dirty="0"/>
                        <a:t>行业媒体</a:t>
                      </a:r>
                      <a:r>
                        <a:rPr lang="en-US" altLang="zh-CN" sz="1100" dirty="0"/>
                        <a:t>+</a:t>
                      </a:r>
                      <a:r>
                        <a:rPr lang="zh-CN" altLang="en-US" sz="1100" dirty="0"/>
                        <a:t>美食</a:t>
                      </a:r>
                      <a:r>
                        <a:rPr lang="en-GB" altLang="zh-CN" sz="1100" dirty="0"/>
                        <a:t>KOL</a:t>
                      </a:r>
                      <a:r>
                        <a:rPr lang="zh-CN" altLang="en-US" sz="1100" dirty="0"/>
                        <a:t>传播、明星商家同台、线上</a:t>
                      </a:r>
                      <a:r>
                        <a:rPr lang="zh-CN" altLang="en-US" sz="1100" b="1" dirty="0"/>
                        <a:t>直播盛典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 dirty="0"/>
                        <a:t>流量长效激励、引导用户打卡、精选商家</a:t>
                      </a:r>
                      <a:r>
                        <a:rPr lang="en-GB" altLang="zh-CN" sz="1100" dirty="0"/>
                        <a:t>showcase</a:t>
                      </a:r>
                      <a:r>
                        <a:rPr lang="zh-CN" altLang="en-US" sz="1100" dirty="0"/>
                        <a:t>宣传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0924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100" b="1" dirty="0"/>
                        <a:t>B+</a:t>
                      </a:r>
                      <a:endParaRPr lang="zh-CN" altLang="en-US" sz="11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100" b="1" dirty="0"/>
                        <a:t>王鹤棣短片宣传</a:t>
                      </a:r>
                      <a:r>
                        <a:rPr lang="zh-CN" altLang="en-US" sz="1100" dirty="0"/>
                        <a:t>、权威媒体预热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 b="1" dirty="0"/>
                        <a:t>线上刷屏线下硬广</a:t>
                      </a:r>
                      <a:r>
                        <a:rPr lang="zh-CN" altLang="en-US" sz="1100" dirty="0"/>
                        <a:t>、烟火好店支持计划、站内全域流量扶持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 dirty="0"/>
                        <a:t>写评价</a:t>
                      </a:r>
                      <a:r>
                        <a:rPr lang="zh-CN" altLang="en-US" sz="1100" b="1" dirty="0"/>
                        <a:t>抽手机</a:t>
                      </a:r>
                      <a:r>
                        <a:rPr lang="zh-CN" altLang="en-US" sz="1100" dirty="0"/>
                        <a:t>拉新促活、推出国庆热点榜单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0924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100" b="1" dirty="0"/>
                        <a:t>微博之夜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100" b="1" dirty="0"/>
                        <a:t>出席名单预热</a:t>
                      </a:r>
                      <a:r>
                        <a:rPr lang="zh-CN" altLang="en-US" sz="1100" dirty="0"/>
                        <a:t>、品牌宣传片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 b="1" dirty="0"/>
                        <a:t>红毯仪式直播</a:t>
                      </a:r>
                      <a:r>
                        <a:rPr lang="zh-CN" altLang="en-US" sz="1100" dirty="0"/>
                        <a:t>、趣味</a:t>
                      </a:r>
                      <a:r>
                        <a:rPr lang="zh-CN" altLang="en-US" sz="1100" b="1" dirty="0"/>
                        <a:t>颁奖环节</a:t>
                      </a:r>
                      <a:r>
                        <a:rPr lang="zh-CN" altLang="en-US" sz="1100" dirty="0"/>
                        <a:t>、</a:t>
                      </a:r>
                      <a:r>
                        <a:rPr lang="zh-CN" altLang="en-US" sz="1100" b="1" dirty="0"/>
                        <a:t>用户实时互动玩法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 dirty="0"/>
                        <a:t>话题长尾运营、品牌二次传播、</a:t>
                      </a:r>
                      <a:r>
                        <a:rPr lang="zh-CN" altLang="en-US" sz="1100" b="1" dirty="0"/>
                        <a:t>发布影响力数据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1" name="文本框 40"/>
          <p:cNvSpPr txBox="1"/>
          <p:nvPr/>
        </p:nvSpPr>
        <p:spPr>
          <a:xfrm>
            <a:off x="2365432" y="1830953"/>
            <a:ext cx="85568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 dirty="0">
                <a:solidFill>
                  <a:schemeClr val="tx1"/>
                </a:solidFill>
              </a:rPr>
              <a:t>发榜前</a:t>
            </a:r>
            <a:endParaRPr lang="zh-CN" altLang="en-US" sz="1400" b="1" dirty="0"/>
          </a:p>
        </p:txBody>
      </p:sp>
      <p:sp>
        <p:nvSpPr>
          <p:cNvPr id="42" name="文本框 41"/>
          <p:cNvSpPr txBox="1"/>
          <p:nvPr/>
        </p:nvSpPr>
        <p:spPr>
          <a:xfrm>
            <a:off x="2440775" y="2164891"/>
            <a:ext cx="7803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 dirty="0"/>
              <a:t>发榜中</a:t>
            </a:r>
          </a:p>
        </p:txBody>
      </p:sp>
      <p:sp>
        <p:nvSpPr>
          <p:cNvPr id="43" name="文本框 42"/>
          <p:cNvSpPr txBox="1"/>
          <p:nvPr/>
        </p:nvSpPr>
        <p:spPr>
          <a:xfrm>
            <a:off x="2338582" y="2497067"/>
            <a:ext cx="88253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 dirty="0"/>
              <a:t>发榜后</a:t>
            </a:r>
          </a:p>
        </p:txBody>
      </p:sp>
      <p:sp>
        <p:nvSpPr>
          <p:cNvPr id="57" name="米菲PPT137"/>
          <p:cNvSpPr/>
          <p:nvPr/>
        </p:nvSpPr>
        <p:spPr>
          <a:xfrm>
            <a:off x="4188080" y="2209619"/>
            <a:ext cx="767840" cy="1908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rPr>
              <a:t>直播盛典</a:t>
            </a:r>
          </a:p>
        </p:txBody>
      </p:sp>
      <p:sp>
        <p:nvSpPr>
          <p:cNvPr id="52" name="文本框 51"/>
          <p:cNvSpPr txBox="1"/>
          <p:nvPr/>
        </p:nvSpPr>
        <p:spPr>
          <a:xfrm>
            <a:off x="2161387" y="4740551"/>
            <a:ext cx="1063100" cy="1594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/>
            <a:r>
              <a:rPr lang="zh-CN" altLang="en-US" sz="800" dirty="0">
                <a:effectLst/>
              </a:rPr>
              <a:t>微博之夜热搜</a:t>
            </a:r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63695" y="3347311"/>
            <a:ext cx="1194411" cy="8520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7168" name="米菲PPT137"/>
          <p:cNvSpPr/>
          <p:nvPr/>
        </p:nvSpPr>
        <p:spPr>
          <a:xfrm>
            <a:off x="4794579" y="2533170"/>
            <a:ext cx="1032383" cy="1908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000" kern="0" dirty="0">
                <a:solidFill>
                  <a:prstClr val="black">
                    <a:lumMod val="65000"/>
                    <a:lumOff val="35000"/>
                  </a:prst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rPr>
              <a:t>抽奖活动促活</a:t>
            </a: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7169" name="米菲PPT137"/>
          <p:cNvSpPr/>
          <p:nvPr/>
        </p:nvSpPr>
        <p:spPr>
          <a:xfrm>
            <a:off x="6548801" y="2533170"/>
            <a:ext cx="1199653" cy="1908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rPr>
              <a:t>发布影响力数据</a:t>
            </a:r>
          </a:p>
        </p:txBody>
      </p:sp>
    </p:spTree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>
                <a:latin typeface="+mn-ea"/>
                <a:ea typeface="+mn-ea"/>
              </a:rPr>
              <a:t>美团榜单定位</a:t>
            </a: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-129540" y="-1015663"/>
            <a:ext cx="6791922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定位及差异化（核心资产、核心用户、核心供给、核心xx）：通过核心资产的xxx，巩固加强用户用餐重决策心智，长期成为用户餐饮决策的首选。同时帮助商家xx（待讨论）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</a:pP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信息→交易→评价→复购，更准确+筛选过的的高效信息-&gt;交易效率-&gt;验证一致性评价-&gt;验证一致性评复购-&gt;积累核心资产-&gt;更有公信力的信息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sp>
        <p:nvSpPr>
          <p:cNvPr id="8" name="内容占位符 2"/>
          <p:cNvSpPr txBox="1"/>
          <p:nvPr/>
        </p:nvSpPr>
        <p:spPr>
          <a:xfrm>
            <a:off x="394887" y="1037043"/>
            <a:ext cx="8410726" cy="342103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12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/>
                </a:solidFill>
                <a:latin typeface="Calibri" panose="020F0502020204030204" pitchFamily="34" charset="0"/>
                <a:ea typeface="楷体" panose="02010609060101010101" pitchFamily="49" charset="-122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12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12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12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12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300"/>
              </a:spcBef>
            </a:pPr>
            <a:r>
              <a:rPr lang="zh-CN" altLang="en-US" sz="1200" dirty="0">
                <a:latin typeface="+mn-ea"/>
                <a:ea typeface="+mn-ea"/>
              </a:rPr>
              <a:t>基于美团</a:t>
            </a:r>
            <a:r>
              <a:rPr lang="en-US" altLang="zh-CN" sz="1200" dirty="0">
                <a:latin typeface="+mn-ea"/>
                <a:ea typeface="+mn-ea"/>
              </a:rPr>
              <a:t>+</a:t>
            </a:r>
            <a:r>
              <a:rPr lang="zh-CN" altLang="en-US" sz="1200" dirty="0">
                <a:latin typeface="+mn-ea"/>
                <a:ea typeface="+mn-ea"/>
              </a:rPr>
              <a:t>点评双平台长期及先发优势而积累的交易、评价、服务履约及门店信息等核心资产构建公信力，覆盖、排筛用心经营的核心供给，牵引其成长，助力其增长及沉淀核心资产。进而，不断巩固加强用户用餐重决策心智，长期成为用户用餐决策首选。</a:t>
            </a:r>
            <a:endParaRPr lang="en-US" altLang="zh-CN" sz="1200" dirty="0">
              <a:latin typeface="+mn-ea"/>
              <a:ea typeface="+mn-ea"/>
            </a:endParaRPr>
          </a:p>
          <a:p>
            <a:pPr lvl="1">
              <a:lnSpc>
                <a:spcPct val="150000"/>
              </a:lnSpc>
              <a:spcBef>
                <a:spcPts val="300"/>
              </a:spcBef>
            </a:pPr>
            <a:r>
              <a:rPr lang="zh-CN" altLang="en-US" dirty="0">
                <a:latin typeface="+mn-ea"/>
              </a:rPr>
              <a:t>相对于</a:t>
            </a:r>
            <a:r>
              <a:rPr lang="en-US" altLang="zh-CN" dirty="0">
                <a:latin typeface="+mn-ea"/>
              </a:rPr>
              <a:t>D+</a:t>
            </a:r>
            <a:r>
              <a:rPr lang="zh-CN" altLang="en-US" dirty="0">
                <a:latin typeface="+mn-ea"/>
              </a:rPr>
              <a:t>、</a:t>
            </a:r>
            <a:r>
              <a:rPr lang="en-US" altLang="zh-CN" dirty="0">
                <a:latin typeface="+mn-ea"/>
              </a:rPr>
              <a:t>B+</a:t>
            </a:r>
            <a:r>
              <a:rPr lang="zh-CN" altLang="en-US" dirty="0">
                <a:latin typeface="+mn-ea"/>
              </a:rPr>
              <a:t>，定位差异在于</a:t>
            </a:r>
            <a:r>
              <a:rPr lang="zh-CN" altLang="en-US" b="1" dirty="0">
                <a:latin typeface="+mn-ea"/>
              </a:rPr>
              <a:t>核心资产的规模及丰富度</a:t>
            </a:r>
            <a:r>
              <a:rPr lang="zh-CN" altLang="en-US" dirty="0">
                <a:latin typeface="+mn-ea"/>
              </a:rPr>
              <a:t>，以及对</a:t>
            </a:r>
            <a:r>
              <a:rPr lang="zh-CN" altLang="en-US" b="1" dirty="0">
                <a:latin typeface="+mn-ea"/>
              </a:rPr>
              <a:t>核心供给</a:t>
            </a:r>
            <a:r>
              <a:rPr lang="zh-CN" altLang="en-US" dirty="0">
                <a:latin typeface="+mn-ea"/>
              </a:rPr>
              <a:t>选择、牵引、服务；</a:t>
            </a:r>
            <a:endParaRPr lang="en-US" altLang="zh-CN" dirty="0">
              <a:latin typeface="+mn-ea"/>
            </a:endParaRPr>
          </a:p>
          <a:p>
            <a:pPr lvl="1">
              <a:lnSpc>
                <a:spcPct val="150000"/>
              </a:lnSpc>
              <a:spcBef>
                <a:spcPts val="300"/>
              </a:spcBef>
            </a:pPr>
            <a:r>
              <a:rPr lang="zh-CN" altLang="en-US" dirty="0">
                <a:latin typeface="+mn-ea"/>
                <a:ea typeface="+mn-ea"/>
              </a:rPr>
              <a:t>相对于点评，定位差异在于</a:t>
            </a:r>
            <a:r>
              <a:rPr lang="zh-CN" altLang="en-US" b="1" dirty="0">
                <a:latin typeface="+mn-ea"/>
                <a:ea typeface="+mn-ea"/>
              </a:rPr>
              <a:t>核心资产的维度</a:t>
            </a:r>
            <a:r>
              <a:rPr lang="zh-CN" altLang="en-US" dirty="0">
                <a:latin typeface="+mn-ea"/>
                <a:ea typeface="+mn-ea"/>
              </a:rPr>
              <a:t>，对商家的</a:t>
            </a:r>
            <a:r>
              <a:rPr lang="zh-CN" altLang="en-US" b="1" dirty="0">
                <a:latin typeface="+mn-ea"/>
                <a:ea typeface="+mn-ea"/>
              </a:rPr>
              <a:t>牵引及助力，</a:t>
            </a:r>
            <a:r>
              <a:rPr lang="zh-CN" altLang="en-US" dirty="0">
                <a:latin typeface="+mn-ea"/>
                <a:ea typeface="+mn-ea"/>
              </a:rPr>
              <a:t>以及满足</a:t>
            </a:r>
            <a:r>
              <a:rPr lang="zh-CN" altLang="en-US" b="1" dirty="0">
                <a:latin typeface="+mn-ea"/>
                <a:ea typeface="+mn-ea"/>
              </a:rPr>
              <a:t>不同核心用户</a:t>
            </a:r>
            <a:r>
              <a:rPr lang="zh-CN" altLang="en-US" dirty="0">
                <a:latin typeface="+mn-ea"/>
                <a:ea typeface="+mn-ea"/>
              </a:rPr>
              <a:t>的需求；</a:t>
            </a:r>
            <a:endParaRPr lang="en-US" altLang="zh-CN" dirty="0">
              <a:latin typeface="+mn-ea"/>
              <a:ea typeface="+mn-ea"/>
            </a:endParaRPr>
          </a:p>
          <a:p>
            <a:pPr>
              <a:lnSpc>
                <a:spcPct val="150000"/>
              </a:lnSpc>
              <a:spcBef>
                <a:spcPts val="300"/>
              </a:spcBef>
            </a:pPr>
            <a:endParaRPr lang="en-US" altLang="zh-CN" sz="1200" dirty="0">
              <a:latin typeface="+mn-ea"/>
              <a:ea typeface="+mn-ea"/>
            </a:endParaRPr>
          </a:p>
          <a:p>
            <a:pPr>
              <a:lnSpc>
                <a:spcPct val="150000"/>
              </a:lnSpc>
              <a:spcBef>
                <a:spcPts val="300"/>
              </a:spcBef>
            </a:pPr>
            <a:r>
              <a:rPr lang="zh-CN" altLang="en-US" sz="1200" dirty="0">
                <a:latin typeface="+mn-ea"/>
                <a:ea typeface="+mn-ea"/>
              </a:rPr>
              <a:t>基于定位，榜单目前需要解决的核心问题包括：</a:t>
            </a:r>
            <a:endParaRPr lang="en-US" altLang="zh-CN" sz="1200" dirty="0">
              <a:latin typeface="+mn-ea"/>
              <a:ea typeface="+mn-ea"/>
            </a:endParaRPr>
          </a:p>
          <a:p>
            <a:pPr lvl="1">
              <a:lnSpc>
                <a:spcPct val="150000"/>
              </a:lnSpc>
              <a:spcBef>
                <a:spcPts val="300"/>
              </a:spcBef>
            </a:pPr>
            <a:r>
              <a:rPr lang="zh-CN" altLang="en-US" dirty="0">
                <a:latin typeface="+mn-ea"/>
              </a:rPr>
              <a:t>提升核心城市覆盖，提升品类、场景、细粒度</a:t>
            </a:r>
            <a:r>
              <a:rPr lang="en-US" altLang="zh-CN" dirty="0">
                <a:latin typeface="+mn-ea"/>
              </a:rPr>
              <a:t>LBS</a:t>
            </a:r>
            <a:r>
              <a:rPr lang="zh-CN" altLang="en-US" dirty="0">
                <a:latin typeface="+mn-ea"/>
              </a:rPr>
              <a:t>等覆盖，即提升对核心供给和核心用心智户的覆盖；</a:t>
            </a:r>
            <a:endParaRPr lang="en-US" altLang="zh-CN" dirty="0">
              <a:latin typeface="+mn-ea"/>
            </a:endParaRPr>
          </a:p>
          <a:p>
            <a:pPr lvl="1">
              <a:lnSpc>
                <a:spcPct val="150000"/>
              </a:lnSpc>
              <a:spcBef>
                <a:spcPts val="300"/>
              </a:spcBef>
            </a:pPr>
            <a:r>
              <a:rPr lang="zh-CN" altLang="en-US" dirty="0">
                <a:latin typeface="+mn-ea"/>
                <a:ea typeface="+mn-ea"/>
              </a:rPr>
              <a:t>优化榜单规则、完善榜单矩阵，加大、丰富榜单对核心资产的多维应用，强化公信力及牵引能力；</a:t>
            </a:r>
            <a:endParaRPr lang="en-US" altLang="zh-CN" dirty="0">
              <a:latin typeface="+mn-ea"/>
              <a:ea typeface="+mn-ea"/>
            </a:endParaRPr>
          </a:p>
          <a:p>
            <a:pPr lvl="1">
              <a:lnSpc>
                <a:spcPct val="150000"/>
              </a:lnSpc>
              <a:spcBef>
                <a:spcPts val="300"/>
              </a:spcBef>
            </a:pPr>
            <a:r>
              <a:rPr lang="zh-CN" altLang="en-US" dirty="0">
                <a:latin typeface="+mn-ea"/>
              </a:rPr>
              <a:t>强化榜单的服务能力，通过榜单，将流量和销量等权益导向核心供给；</a:t>
            </a:r>
            <a:endParaRPr lang="en-US" altLang="zh-CN" dirty="0">
              <a:latin typeface="+mn-ea"/>
            </a:endParaRPr>
          </a:p>
          <a:p>
            <a:pPr lvl="1">
              <a:lnSpc>
                <a:spcPct val="150000"/>
              </a:lnSpc>
              <a:spcBef>
                <a:spcPts val="300"/>
              </a:spcBef>
            </a:pPr>
            <a:r>
              <a:rPr lang="zh-CN" altLang="en-US" dirty="0">
                <a:latin typeface="+mn-ea"/>
              </a:rPr>
              <a:t>加强榜单运营。提升榜单整体品牌力及认知度；</a:t>
            </a:r>
          </a:p>
          <a:p>
            <a:pPr marL="342900" lvl="1" indent="0">
              <a:lnSpc>
                <a:spcPct val="150000"/>
              </a:lnSpc>
              <a:spcBef>
                <a:spcPts val="300"/>
              </a:spcBef>
              <a:buNone/>
            </a:pPr>
            <a:endParaRPr lang="en-US" altLang="zh-CN" dirty="0">
              <a:latin typeface="+mn-ea"/>
            </a:endParaRPr>
          </a:p>
        </p:txBody>
      </p:sp>
    </p:spTree>
  </p:cSld>
  <p:clrMapOvr>
    <a:masterClrMapping/>
  </p:clrMapOvr>
  <p:transition spd="med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332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Y/%#m/%#d&lt;/m_strFormatTime&gt;&lt;m_yearfmt&gt;&lt;begin val=&quot;0&quot;/&gt;&lt;end val=&quot;0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bNumberIsYear val=&quot;0&quot;/&gt;&lt;m_strFormatTime&gt;%m/%y&lt;/m_strFormatTime&gt;&lt;m_yearfmt&gt;&lt;begin val=&quot;4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10&quot;&gt;&lt;elem m_fUsage=&quot;2.30605181889226695802E+00&quot;&gt;&lt;m_msothmcolidx val=&quot;0&quot;/&gt;&lt;m_rgb r=&quot;FF&quot; g=&quot;DD&quot; b=&quot;3C&quot;/&gt;&lt;/elem&gt;&lt;elem m_fUsage=&quot;1.66791628982774908785E+00&quot;&gt;&lt;m_msothmcolidx val=&quot;0&quot;/&gt;&lt;m_rgb r=&quot;59&quot; g=&quot;8A&quot; b=&quot;39&quot;/&gt;&lt;/elem&gt;&lt;elem m_fUsage=&quot;1.31949000000000005173E+00&quot;&gt;&lt;m_msothmcolidx val=&quot;0&quot;/&gt;&lt;m_rgb r=&quot;81&quot; g=&quot;E1&quot; b=&quot;6B&quot;/&gt;&lt;/elem&gt;&lt;elem m_fUsage=&quot;1.20589113209464904308E+00&quot;&gt;&lt;m_msothmcolidx val=&quot;0&quot;/&gt;&lt;m_rgb r=&quot;F4&quot; g=&quot;80&quot; b=&quot;32&quot;/&gt;&lt;/elem&gt;&lt;elem m_fUsage=&quot;9.58879313086665852062E-01&quot;&gt;&lt;m_msothmcolidx val=&quot;0&quot;/&gt;&lt;m_rgb r=&quot;8D&quot; g=&quot;BA&quot; b=&quot;E2&quot;/&gt;&lt;/elem&gt;&lt;elem m_fUsage=&quot;9.03573802785075042010E-01&quot;&gt;&lt;m_msothmcolidx val=&quot;0&quot;/&gt;&lt;m_rgb r=&quot;FF&quot; g=&quot;E9&quot; b=&quot;7D&quot;/&gt;&lt;/elem&gt;&lt;elem m_fUsage=&quot;8.17887699000000023553E-01&quot;&gt;&lt;m_msothmcolidx val=&quot;0&quot;/&gt;&lt;m_rgb r=&quot;5F&quot; g=&quot;D5&quot; b=&quot;DE&quot;/&gt;&lt;/elem&gt;&lt;elem m_fUsage=&quot;2.54186582832900132001E-01&quot;&gt;&lt;m_msothmcolidx val=&quot;0&quot;/&gt;&lt;m_rgb r=&quot;FF&quot; g=&quot;B6&quot; b=&quot;5B&quot;/&gt;&lt;/elem&gt;&lt;elem m_fUsage=&quot;1.85302018885184188735E-01&quot;&gt;&lt;m_msothmcolidx val=&quot;0&quot;/&gt;&lt;m_rgb r=&quot;94&quot; g=&quot;E2&quot; b=&quot;E9&quot;/&gt;&lt;/elem&gt;&lt;elem m_fUsage=&quot;7.17897987691853145531E-02&quot;&gt;&lt;m_msothmcolidx val=&quot;0&quot;/&gt;&lt;m_rgb r=&quot;FF&quot; g=&quot;EF&quot; b=&quot;A2&quot;/&gt;&lt;/elem&gt;&lt;/m_vecMRU&gt;&lt;/m_mruColor&gt;&lt;m_eweekdayFirstOfWeek val=&quot;2&quot;/&gt;&lt;m_eweekdayFirstOfWorkweek val=&quot;2&quot;/&gt;&lt;m_eweekdayFirstOfWeekend val=&quot;7&quot;/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73*437"/>
  <p:tag name="TABLE_ENDDRAG_RECT" val="51*44*873*437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73*437"/>
  <p:tag name="TABLE_ENDDRAG_RECT" val="51*44*873*437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73*437"/>
  <p:tag name="TABLE_ENDDRAG_RECT" val="51*44*873*437"/>
</p:tagLst>
</file>

<file path=ppt/theme/theme1.xml><?xml version="1.0" encoding="utf-8"?>
<a:theme xmlns:a="http://schemas.openxmlformats.org/drawingml/2006/main" name="Office 主题​​">
  <a:themeElements>
    <a:clrScheme name="美团点评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FFD100"/>
      </a:accent1>
      <a:accent2>
        <a:srgbClr val="FE8C00"/>
      </a:accent2>
      <a:accent3>
        <a:srgbClr val="FF4949"/>
      </a:accent3>
      <a:accent4>
        <a:srgbClr val="FF6600"/>
      </a:accent4>
      <a:accent5>
        <a:srgbClr val="0079FF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2">
      <a:majorFont>
        <a:latin typeface="Calibri"/>
        <a:ea typeface="楷体"/>
        <a:cs typeface=""/>
      </a:majorFont>
      <a:minorFont>
        <a:latin typeface="Calibri"/>
        <a:ea typeface="楷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503</TotalTime>
  <Words>11339</Words>
  <Application>Microsoft Office PowerPoint</Application>
  <PresentationFormat>全屏显示(16:9)</PresentationFormat>
  <Paragraphs>1668</Paragraphs>
  <Slides>23</Slides>
  <Notes>17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23</vt:i4>
      </vt:variant>
    </vt:vector>
  </HeadingPairs>
  <TitlesOfParts>
    <vt:vector size="36" baseType="lpstr">
      <vt:lpstr>MiSans Bold</vt:lpstr>
      <vt:lpstr>MiSans Medium</vt:lpstr>
      <vt:lpstr>PingFang SC</vt:lpstr>
      <vt:lpstr>等线</vt:lpstr>
      <vt:lpstr>楷体</vt:lpstr>
      <vt:lpstr>宋体</vt:lpstr>
      <vt:lpstr>微软雅黑</vt:lpstr>
      <vt:lpstr>Arial</vt:lpstr>
      <vt:lpstr>Calibri</vt:lpstr>
      <vt:lpstr>Wingdings</vt:lpstr>
      <vt:lpstr>Office 主题​​</vt:lpstr>
      <vt:lpstr>think-cell 幻灯片</vt:lpstr>
      <vt:lpstr>Worksheet</vt:lpstr>
      <vt:lpstr>PowerPoint 演示文稿</vt:lpstr>
      <vt:lpstr>目录</vt:lpstr>
      <vt:lpstr>榜单资产矩阵现状</vt:lpstr>
      <vt:lpstr>榜单问题汇总</vt:lpstr>
      <vt:lpstr>PowerPoint 演示文稿</vt:lpstr>
      <vt:lpstr>双平台核心资产不一致</vt:lpstr>
      <vt:lpstr>刷好评、星级很难维持、不确定性</vt:lpstr>
      <vt:lpstr>核心资产未覆盖：评价星级</vt:lpstr>
      <vt:lpstr>品类资产-双平台不一致及链路复杂</vt:lpstr>
      <vt:lpstr>核心资产未覆盖：用户高搜需求 </vt:lpstr>
      <vt:lpstr>核心资产未覆盖：时令品类</vt:lpstr>
      <vt:lpstr>核心资产未覆盖：榜单场景心智缺失</vt:lpstr>
      <vt:lpstr>核心资产未覆盖：榜单城市覆盖问题</vt:lpstr>
      <vt:lpstr>榜单商圈覆盖问题</vt:lpstr>
      <vt:lpstr>榜单规则现状问题</vt:lpstr>
      <vt:lpstr>规则问题：资产单一导致核心商户未上榜</vt:lpstr>
      <vt:lpstr>规则问题：对未上榜门店的机会探究</vt:lpstr>
      <vt:lpstr>规则问题：对上榜门店的价格带影响</vt:lpstr>
      <vt:lpstr>业务和榜单之间应加强互动</vt:lpstr>
      <vt:lpstr>PowerPoint 演示文稿</vt:lpstr>
      <vt:lpstr>榜单渗透率低及优化方向</vt:lpstr>
      <vt:lpstr>强化榜单运营：提升榜单整体品牌力及认知度</vt:lpstr>
      <vt:lpstr>美团榜单定位</vt:lpstr>
    </vt:vector>
  </TitlesOfParts>
  <Company>windows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到餐商户供给的分析框架</dc:title>
  <dc:creator>陈婧佳</dc:creator>
  <cp:lastModifiedBy>韩速</cp:lastModifiedBy>
  <cp:revision>5</cp:revision>
  <cp:lastPrinted>2025-10-25T14:42:37Z</cp:lastPrinted>
  <dcterms:created xsi:type="dcterms:W3CDTF">2025-10-25T14:42:37Z</dcterms:created>
  <dcterms:modified xsi:type="dcterms:W3CDTF">2025-10-26T10:26:05Z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f">
    <vt:lpwstr>数据资产汇报-1024-20251024.pptx</vt:lpwstr>
  </property>
  <property fmtid="{D5CDD505-2E9C-101B-9397-08002B2CF9AE}" pid="3" name="o">
    <vt:lpwstr>ORG_INFO</vt:lpwstr>
  </property>
  <property fmtid="{D5CDD505-2E9C-101B-9397-08002B2CF9AE}" pid="4" name="d">
    <vt:lpwstr>XM</vt:lpwstr>
  </property>
  <property fmtid="{D5CDD505-2E9C-101B-9397-08002B2CF9AE}" pid="5" name="i">
    <vt:lpwstr>1</vt:lpwstr>
  </property>
  <property fmtid="{D5CDD505-2E9C-101B-9397-08002B2CF9AE}" pid="6" name="s">
    <vt:lpwstr>ea935c29d91d7cb59310689b2167b4fce4358977</vt:lpwstr>
  </property>
  <property fmtid="{D5CDD505-2E9C-101B-9397-08002B2CF9AE}" pid="7" name="ICV">
    <vt:lpwstr/>
  </property>
  <property fmtid="{D5CDD505-2E9C-101B-9397-08002B2CF9AE}" pid="8" name="KSOProductBuildVer">
    <vt:lpwstr>2052-0.0.0.0</vt:lpwstr>
  </property>
</Properties>
</file>