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14999171" r:id="rId2"/>
    <p:sldId id="15716338" r:id="rId3"/>
    <p:sldId id="15716333" r:id="rId4"/>
    <p:sldId id="15716343" r:id="rId5"/>
    <p:sldId id="15716286" r:id="rId6"/>
    <p:sldId id="14999201" r:id="rId7"/>
    <p:sldId id="15716337" r:id="rId8"/>
    <p:sldId id="257" r:id="rId9"/>
    <p:sldId id="15716340" r:id="rId10"/>
    <p:sldId id="15716347" r:id="rId11"/>
    <p:sldId id="15716336" r:id="rId12"/>
    <p:sldId id="15716342" r:id="rId13"/>
    <p:sldId id="15716334" r:id="rId14"/>
    <p:sldId id="15716335" r:id="rId15"/>
    <p:sldId id="15716345" r:id="rId16"/>
    <p:sldId id="15716275" r:id="rId17"/>
    <p:sldId id="15716221" r:id="rId18"/>
    <p:sldId id="15716258" r:id="rId19"/>
    <p:sldId id="15716344" r:id="rId20"/>
    <p:sldId id="15716339" r:id="rId21"/>
    <p:sldId id="15716341" r:id="rId22"/>
    <p:sldId id="15716346" r:id="rId23"/>
    <p:sldId id="15716328" r:id="rId24"/>
    <p:sldId id="15716329" r:id="rId25"/>
    <p:sldId id="256" r:id="rId26"/>
    <p:sldId id="15716325" r:id="rId27"/>
  </p:sldIdLst>
  <p:sldSz cx="9144000" cy="5143500" type="screen16x9"/>
  <p:notesSz cx="7104063" cy="10234613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正文" id="{F0977A69-A7A4-2A4D-B3D3-A38B1C7EA371}">
          <p14:sldIdLst>
            <p14:sldId id="14999171"/>
            <p14:sldId id="15716338"/>
            <p14:sldId id="15716333"/>
            <p14:sldId id="15716343"/>
            <p14:sldId id="15716286"/>
            <p14:sldId id="14999201"/>
            <p14:sldId id="15716337"/>
            <p14:sldId id="257"/>
            <p14:sldId id="15716340"/>
            <p14:sldId id="15716347"/>
            <p14:sldId id="15716336"/>
            <p14:sldId id="15716342"/>
            <p14:sldId id="15716334"/>
            <p14:sldId id="15716335"/>
            <p14:sldId id="15716345"/>
            <p14:sldId id="15716275"/>
            <p14:sldId id="15716221"/>
            <p14:sldId id="15716258"/>
            <p14:sldId id="15716344"/>
            <p14:sldId id="15716339"/>
            <p14:sldId id="15716341"/>
            <p14:sldId id="15716346"/>
            <p14:sldId id="15716328"/>
            <p14:sldId id="15716329"/>
            <p14:sldId id="256"/>
            <p14:sldId id="15716325"/>
          </p14:sldIdLst>
        </p14:section>
        <p14:section name="备注" id="{434DFA73-2E08-514A-BCEA-E728BA305965}">
          <p14:sldIdLst/>
        </p14:section>
      </p14:sectionLst>
    </p:ext>
    <p:ext uri="{EFAFB233-063F-42B5-8137-9DF3F51BA10A}">
      <p15:sldGuideLst xmlns:p15="http://schemas.microsoft.com/office/powerpoint/2012/main">
        <p15:guide id="1" pos="1701" userDrawn="1">
          <p15:clr>
            <a:srgbClr val="A4A3A4"/>
          </p15:clr>
        </p15:guide>
        <p15:guide id="2" orient="horz" pos="2346" userDrawn="1">
          <p15:clr>
            <a:srgbClr val="A4A3A4"/>
          </p15:clr>
        </p15:guide>
        <p15:guide id="3" orient="horz" pos="1688" userDrawn="1">
          <p15:clr>
            <a:srgbClr val="A4A3A4"/>
          </p15:clr>
        </p15:guide>
        <p15:guide id="4" pos="5670" userDrawn="1">
          <p15:clr>
            <a:srgbClr val="A4A3A4"/>
          </p15:clr>
        </p15:guide>
        <p15:guide id="5" orient="horz" pos="1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  <p:cmAuthor id="2" name="Luke Lu" initials="L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600"/>
    <a:srgbClr val="FF6600"/>
    <a:srgbClr val="FFF2EF"/>
    <a:srgbClr val="000000"/>
    <a:srgbClr val="E17B00"/>
    <a:srgbClr val="D1001B"/>
    <a:srgbClr val="FFFBEB"/>
    <a:srgbClr val="FFF9DD"/>
    <a:srgbClr val="FFFBF3"/>
    <a:srgbClr val="FFD7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2" autoAdjust="0"/>
    <p:restoredTop sz="94397" autoAdjust="0"/>
  </p:normalViewPr>
  <p:slideViewPr>
    <p:cSldViewPr snapToGrid="0" showGuides="1">
      <p:cViewPr>
        <p:scale>
          <a:sx n="125" d="100"/>
          <a:sy n="125" d="100"/>
        </p:scale>
        <p:origin x="1008" y="1242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68" tIns="47334" rIns="94668" bIns="47334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4024201" y="9721330"/>
            <a:ext cx="3078206" cy="513284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1" y="9721330"/>
            <a:ext cx="3078206" cy="513284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710739" y="4925235"/>
            <a:ext cx="5682588" cy="4029439"/>
          </a:xfrm>
          <a:prstGeom prst="rect">
            <a:avLst/>
          </a:prstGeom>
        </p:spPr>
        <p:txBody>
          <a:bodyPr vert="horz" lIns="94668" tIns="47334" rIns="94668" bIns="4733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03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27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65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5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989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305C-8DFF-5265-D10A-3A259E39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B4B0D0-A360-E409-75FF-34CA829B4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353A69-7B57-2784-53A7-A5BD093B8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dirty="0">
                <a:effectLst/>
              </a:rPr>
              <a:t>品类，</a:t>
            </a:r>
            <a:endParaRPr lang="en-US" altLang="zh-CN" sz="1050" dirty="0">
              <a:effectLst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50" dirty="0">
              <a:effectLst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dirty="0">
                <a:effectLst/>
              </a:rPr>
              <a:t>共</a:t>
            </a:r>
            <a:r>
              <a:rPr lang="en-US" altLang="zh-CN" sz="1050" dirty="0">
                <a:effectLst/>
              </a:rPr>
              <a:t>1187</a:t>
            </a:r>
            <a:r>
              <a:rPr lang="zh-CN" altLang="en-US" sz="1050" dirty="0">
                <a:effectLst/>
              </a:rPr>
              <a:t>个城市（高线</a:t>
            </a:r>
            <a:r>
              <a:rPr lang="en-US" altLang="zh-CN" sz="1050" dirty="0">
                <a:effectLst/>
              </a:rPr>
              <a:t>210</a:t>
            </a:r>
            <a:r>
              <a:rPr lang="zh-CN" altLang="en-US" sz="1050" dirty="0">
                <a:effectLst/>
              </a:rPr>
              <a:t>个，中低线</a:t>
            </a:r>
            <a:r>
              <a:rPr lang="en-US" altLang="zh-CN" sz="1050" dirty="0">
                <a:effectLst/>
              </a:rPr>
              <a:t>977</a:t>
            </a:r>
            <a:r>
              <a:rPr lang="zh-CN" altLang="en-US" sz="1050" dirty="0">
                <a:effectLst/>
              </a:rPr>
              <a:t>个），美团：点评到餐</a:t>
            </a:r>
            <a:r>
              <a:rPr lang="en-US" altLang="zh-CN" sz="1050" dirty="0">
                <a:effectLst/>
              </a:rPr>
              <a:t>DAU</a:t>
            </a:r>
            <a:r>
              <a:rPr lang="zh-CN" altLang="en-US" sz="1050" dirty="0">
                <a:effectLst/>
              </a:rPr>
              <a:t>占比</a:t>
            </a:r>
            <a:r>
              <a:rPr lang="en-US" altLang="zh-CN" sz="1050" dirty="0">
                <a:effectLst/>
              </a:rPr>
              <a:t>89%</a:t>
            </a:r>
            <a:r>
              <a:rPr lang="zh-CN" altLang="en-US" sz="1050" dirty="0">
                <a:effectLst/>
              </a:rPr>
              <a:t>：</a:t>
            </a:r>
            <a:r>
              <a:rPr lang="en-US" altLang="zh-CN" sz="1050" dirty="0">
                <a:effectLst/>
              </a:rPr>
              <a:t>11%</a:t>
            </a:r>
            <a:r>
              <a:rPr lang="zh-CN" altLang="en-US" sz="1050" dirty="0">
                <a:effectLst/>
              </a:rPr>
              <a:t>。高线</a:t>
            </a:r>
            <a:r>
              <a:rPr lang="en-US" altLang="zh-CN" sz="1050" dirty="0">
                <a:effectLst/>
              </a:rPr>
              <a:t>2</a:t>
            </a:r>
            <a:r>
              <a:rPr lang="zh-CN" altLang="en-US" sz="1050" dirty="0">
                <a:effectLst/>
              </a:rPr>
              <a:t>：</a:t>
            </a:r>
            <a:r>
              <a:rPr lang="en-US" altLang="zh-CN" sz="1050" dirty="0">
                <a:effectLst/>
              </a:rPr>
              <a:t>1</a:t>
            </a:r>
            <a:r>
              <a:rPr lang="zh-CN" altLang="en-US" sz="1050" dirty="0">
                <a:effectLst/>
              </a:rPr>
              <a:t>。</a:t>
            </a:r>
            <a:endParaRPr lang="en-US" altLang="zh-CN" sz="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dirty="0">
                <a:latin typeface="+mn-ea"/>
              </a:rPr>
              <a:t>1. </a:t>
            </a:r>
            <a:r>
              <a:rPr lang="zh-CN" altLang="en-US" sz="800" b="1" dirty="0">
                <a:latin typeface="+mn-ea"/>
              </a:rPr>
              <a:t>荣誉评审：</a:t>
            </a:r>
            <a:r>
              <a:rPr lang="zh-CN" altLang="en-US" sz="800" b="0" dirty="0">
                <a:latin typeface="+mn-ea"/>
              </a:rPr>
              <a:t>黑珍珠</a:t>
            </a:r>
            <a:r>
              <a:rPr lang="en-US" altLang="zh-CN" sz="800" b="0" dirty="0">
                <a:latin typeface="+mn-ea"/>
              </a:rPr>
              <a:t>32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263</a:t>
            </a:r>
            <a:r>
              <a:rPr lang="zh-CN" altLang="en-US" sz="800" b="0" dirty="0">
                <a:latin typeface="+mn-ea"/>
              </a:rPr>
              <a:t>家（</a:t>
            </a:r>
            <a:r>
              <a:rPr lang="en-US" altLang="zh-CN" sz="800" b="0" dirty="0">
                <a:latin typeface="+mn-ea"/>
              </a:rPr>
              <a:t>500-700+</a:t>
            </a:r>
            <a:r>
              <a:rPr lang="zh-CN" altLang="en-US" sz="800" b="0" dirty="0">
                <a:latin typeface="+mn-ea"/>
              </a:rPr>
              <a:t>），必吃榜</a:t>
            </a:r>
            <a:r>
              <a:rPr lang="en-US" altLang="zh-CN" sz="800" b="0" dirty="0">
                <a:latin typeface="+mn-ea"/>
              </a:rPr>
              <a:t>144</a:t>
            </a:r>
            <a:r>
              <a:rPr lang="zh-CN" altLang="en-US" sz="800" b="0" dirty="0">
                <a:latin typeface="+mn-ea"/>
              </a:rPr>
              <a:t>城（境内</a:t>
            </a:r>
            <a:r>
              <a:rPr lang="en-US" altLang="zh-CN" sz="800" b="0" dirty="0">
                <a:latin typeface="+mn-ea"/>
              </a:rPr>
              <a:t>116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2743</a:t>
            </a:r>
            <a:r>
              <a:rPr lang="zh-CN" altLang="en-US" sz="800" b="0" dirty="0">
                <a:latin typeface="+mn-ea"/>
              </a:rPr>
              <a:t>家），</a:t>
            </a:r>
            <a:r>
              <a:rPr lang="en-US" altLang="zh-CN" sz="800" b="0" dirty="0">
                <a:latin typeface="+mn-ea"/>
              </a:rPr>
              <a:t>D+</a:t>
            </a:r>
            <a:r>
              <a:rPr lang="zh-CN" altLang="en-US" sz="800" b="0" dirty="0">
                <a:latin typeface="+mn-ea"/>
              </a:rPr>
              <a:t>甄选榜</a:t>
            </a:r>
            <a:r>
              <a:rPr lang="en-US" altLang="zh-CN" sz="800" b="0" dirty="0">
                <a:latin typeface="+mn-ea"/>
              </a:rPr>
              <a:t>14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147</a:t>
            </a:r>
            <a:r>
              <a:rPr lang="zh-CN" altLang="en-US" sz="800" b="0" dirty="0">
                <a:latin typeface="+mn-ea"/>
              </a:rPr>
              <a:t>家（</a:t>
            </a:r>
            <a:r>
              <a:rPr lang="en-US" altLang="zh-CN" sz="800" b="0" dirty="0">
                <a:latin typeface="+mn-ea"/>
              </a:rPr>
              <a:t>300-700</a:t>
            </a:r>
            <a:r>
              <a:rPr lang="zh-CN" altLang="en-US" sz="800" b="0" dirty="0">
                <a:latin typeface="+mn-ea"/>
              </a:rPr>
              <a:t>元），心动榜三期</a:t>
            </a:r>
            <a:r>
              <a:rPr lang="en-US" altLang="zh-CN" sz="800" b="0" dirty="0">
                <a:latin typeface="+mn-ea"/>
              </a:rPr>
              <a:t>101</a:t>
            </a:r>
            <a:r>
              <a:rPr lang="zh-CN" altLang="en-US" sz="800" b="0" dirty="0">
                <a:latin typeface="+mn-ea"/>
              </a:rPr>
              <a:t>城市</a:t>
            </a:r>
            <a:r>
              <a:rPr lang="en-US" altLang="zh-CN" sz="800" b="0" dirty="0">
                <a:latin typeface="+mn-ea"/>
              </a:rPr>
              <a:t>3201</a:t>
            </a:r>
            <a:r>
              <a:rPr lang="zh-CN" altLang="en-US" sz="800" b="0" dirty="0">
                <a:latin typeface="+mn-ea"/>
              </a:rPr>
              <a:t>家。状元榜</a:t>
            </a:r>
            <a:r>
              <a:rPr lang="en-US" altLang="zh-CN" sz="800" b="0" dirty="0">
                <a:latin typeface="+mn-ea"/>
              </a:rPr>
              <a:t>370</a:t>
            </a:r>
            <a:r>
              <a:rPr lang="zh-CN" altLang="en-US" sz="800" b="0" dirty="0">
                <a:latin typeface="+mn-ea"/>
              </a:rPr>
              <a:t>城市（共</a:t>
            </a:r>
            <a:r>
              <a:rPr lang="en-US" altLang="zh-CN" sz="800" b="0" dirty="0">
                <a:latin typeface="+mn-ea"/>
              </a:rPr>
              <a:t>11,911</a:t>
            </a:r>
            <a:r>
              <a:rPr lang="zh-CN" altLang="en-US" sz="800" b="0" dirty="0">
                <a:latin typeface="+mn-ea"/>
              </a:rPr>
              <a:t>个）</a:t>
            </a:r>
            <a:endParaRPr lang="en-US" altLang="zh-CN" sz="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2. </a:t>
            </a:r>
            <a:r>
              <a:rPr lang="zh-CN" altLang="en-US" sz="1800" b="1" dirty="0">
                <a:latin typeface="+mn-ea"/>
              </a:rPr>
              <a:t>旅游、漂亮饭等氛围餐厅、时令等：</a:t>
            </a:r>
            <a:endParaRPr lang="en-US" altLang="zh-CN" sz="1800" b="1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美团当地人推荐扩至</a:t>
            </a:r>
            <a:r>
              <a:rPr lang="en-US" altLang="zh-CN" sz="1800" b="0" dirty="0">
                <a:latin typeface="+mn-ea"/>
              </a:rPr>
              <a:t>647</a:t>
            </a:r>
            <a:r>
              <a:rPr lang="zh-CN" altLang="en-US" sz="1800" b="0" dirty="0">
                <a:latin typeface="+mn-ea"/>
              </a:rPr>
              <a:t>城，特色菜扩至</a:t>
            </a:r>
            <a:r>
              <a:rPr lang="en-US" altLang="zh-CN" sz="1800" b="0" dirty="0">
                <a:latin typeface="+mn-ea"/>
              </a:rPr>
              <a:t>337</a:t>
            </a:r>
            <a:r>
              <a:rPr lang="zh-CN" altLang="en-US" sz="1800" b="0" dirty="0">
                <a:latin typeface="+mn-ea"/>
              </a:rPr>
              <a:t>城（主要为中低线旅游），点评同（原</a:t>
            </a:r>
            <a:r>
              <a:rPr lang="en-US" altLang="zh-CN" sz="1800" b="0" dirty="0">
                <a:latin typeface="+mn-ea"/>
              </a:rPr>
              <a:t>216</a:t>
            </a:r>
            <a:r>
              <a:rPr lang="zh-CN" altLang="en-US" sz="1800" b="0" dirty="0">
                <a:latin typeface="+mn-ea"/>
              </a:rPr>
              <a:t>个）。发现主题</a:t>
            </a:r>
            <a:r>
              <a:rPr lang="en-US" altLang="zh-CN" sz="1800" b="0" dirty="0">
                <a:latin typeface="+mn-ea"/>
              </a:rPr>
              <a:t>118</a:t>
            </a:r>
            <a:r>
              <a:rPr lang="zh-CN" altLang="en-US" sz="1800" b="0" dirty="0">
                <a:latin typeface="+mn-ea"/>
              </a:rPr>
              <a:t>城</a:t>
            </a:r>
            <a:endParaRPr lang="en-US" altLang="zh-CN" sz="1800" b="0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点评市井烟火榜</a:t>
            </a:r>
            <a:r>
              <a:rPr lang="en-US" altLang="zh-CN" sz="1800" b="0" dirty="0">
                <a:latin typeface="+mn-ea"/>
              </a:rPr>
              <a:t>337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247</a:t>
            </a:r>
            <a:r>
              <a:rPr lang="zh-CN" altLang="en-US" sz="1800" b="0" dirty="0">
                <a:latin typeface="+mn-ea"/>
              </a:rPr>
              <a:t>城），老店榜</a:t>
            </a:r>
            <a:r>
              <a:rPr lang="en-US" altLang="zh-CN" sz="1800" b="0" dirty="0">
                <a:latin typeface="+mn-ea"/>
              </a:rPr>
              <a:t>240</a:t>
            </a:r>
            <a:r>
              <a:rPr lang="zh-CN" altLang="en-US" sz="1800" b="0" dirty="0">
                <a:latin typeface="+mn-ea"/>
              </a:rPr>
              <a:t>城市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155</a:t>
            </a:r>
            <a:r>
              <a:rPr lang="zh-CN" altLang="en-US" sz="1800" b="0" dirty="0">
                <a:latin typeface="+mn-ea"/>
              </a:rPr>
              <a:t>城市）、新店榜较多。特色美食榜：</a:t>
            </a:r>
            <a:r>
              <a:rPr lang="zh-CN" altLang="en-US" sz="2800" b="0" dirty="0"/>
              <a:t>首批覆盖西安等</a:t>
            </a:r>
            <a:r>
              <a:rPr lang="en-US" altLang="zh-CN" sz="2800" b="0" dirty="0"/>
              <a:t>11</a:t>
            </a:r>
            <a:r>
              <a:rPr lang="zh-CN" altLang="en-US" sz="2800" b="0" dirty="0"/>
              <a:t>城，扩城长沙、宁波、佛山（大概</a:t>
            </a:r>
            <a:r>
              <a:rPr lang="en-US" altLang="zh-CN" sz="2800" b="0" dirty="0"/>
              <a:t>14</a:t>
            </a:r>
            <a:r>
              <a:rPr lang="zh-CN" altLang="en-US" sz="2800" b="0" dirty="0"/>
              <a:t>）。</a:t>
            </a:r>
            <a:endParaRPr lang="en-US" altLang="zh-CN" sz="2800" b="0" dirty="0"/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D+</a:t>
            </a:r>
            <a:r>
              <a:rPr lang="zh-CN" altLang="en-US" sz="1800" b="0" dirty="0">
                <a:latin typeface="+mn-ea"/>
              </a:rPr>
              <a:t>烟火榜</a:t>
            </a:r>
            <a:r>
              <a:rPr lang="en-US" altLang="zh-CN" sz="1800" b="0" dirty="0">
                <a:latin typeface="+mn-ea"/>
              </a:rPr>
              <a:t>10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360</a:t>
            </a:r>
            <a:r>
              <a:rPr lang="zh-CN" altLang="en-US" sz="1800" b="0" dirty="0">
                <a:latin typeface="+mn-ea"/>
              </a:rPr>
              <a:t>家，</a:t>
            </a:r>
            <a:r>
              <a:rPr lang="en-US" altLang="zh-CN" sz="1800" b="0" dirty="0">
                <a:latin typeface="+mn-ea"/>
              </a:rPr>
              <a:t>D+</a:t>
            </a:r>
            <a:r>
              <a:rPr lang="zh-CN" altLang="en-US" sz="1800" b="0" dirty="0">
                <a:latin typeface="+mn-ea"/>
              </a:rPr>
              <a:t>本地人推荐</a:t>
            </a:r>
            <a:r>
              <a:rPr lang="en-US" altLang="zh-CN" sz="1800" b="0" dirty="0">
                <a:latin typeface="+mn-ea"/>
              </a:rPr>
              <a:t>17</a:t>
            </a:r>
            <a:r>
              <a:rPr lang="zh-CN" altLang="en-US" sz="1800" b="0" dirty="0">
                <a:latin typeface="+mn-ea"/>
              </a:rPr>
              <a:t>城。</a:t>
            </a:r>
            <a:endParaRPr lang="en-US" altLang="zh-CN" sz="1800" b="0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B+</a:t>
            </a:r>
            <a:r>
              <a:rPr lang="zh-CN" altLang="en-US" sz="1800" b="0" dirty="0">
                <a:latin typeface="+mn-ea"/>
              </a:rPr>
              <a:t>主题餐厅数百城</a:t>
            </a:r>
            <a:endParaRPr lang="en-US" altLang="zh-CN" sz="1800" b="0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3. </a:t>
            </a:r>
            <a:r>
              <a:rPr lang="zh-CN" altLang="en-US" sz="1800" b="1" dirty="0">
                <a:latin typeface="+mn-ea"/>
              </a:rPr>
              <a:t>亲朋聚会、情侣约会、工作宴请、亲子 </a:t>
            </a:r>
            <a:r>
              <a:rPr lang="en-US" altLang="zh-CN" sz="1800" b="1" dirty="0">
                <a:latin typeface="+mn-ea"/>
              </a:rPr>
              <a:t>https://km.sankuai.com/collabpage/2734833943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美团：目前主要是夜宵榜（数百城），其余空缺。</a:t>
            </a:r>
            <a:endParaRPr lang="en-US" altLang="zh-CN" sz="1800" b="0" dirty="0">
              <a:latin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点评：聚餐去哪儿</a:t>
            </a:r>
            <a:r>
              <a:rPr lang="en-US" altLang="zh-CN" sz="1800" b="0" dirty="0">
                <a:latin typeface="+mn-ea"/>
              </a:rPr>
              <a:t>34</a:t>
            </a:r>
            <a:r>
              <a:rPr lang="zh-CN" altLang="en-US" sz="1800" b="0" dirty="0">
                <a:latin typeface="+mn-ea"/>
              </a:rPr>
              <a:t>城市，</a:t>
            </a:r>
            <a:r>
              <a:rPr lang="en-US" altLang="zh-CN" sz="1800" b="0" dirty="0">
                <a:latin typeface="+mn-ea"/>
              </a:rPr>
              <a:t>S-B</a:t>
            </a:r>
            <a:r>
              <a:rPr lang="zh-CN" altLang="en-US" sz="1800" b="0" dirty="0">
                <a:latin typeface="+mn-ea"/>
              </a:rPr>
              <a:t>。心动约会榜</a:t>
            </a:r>
            <a:r>
              <a:rPr lang="en-US" altLang="zh-CN" sz="1800" b="0" dirty="0">
                <a:latin typeface="+mn-ea"/>
              </a:rPr>
              <a:t>34</a:t>
            </a:r>
            <a:r>
              <a:rPr lang="zh-CN" altLang="en-US" sz="1800" b="0" dirty="0">
                <a:latin typeface="+mn-ea"/>
              </a:rPr>
              <a:t>城市，</a:t>
            </a:r>
            <a:r>
              <a:rPr lang="en-US" altLang="zh-CN" sz="1800" b="0" dirty="0">
                <a:latin typeface="+mn-ea"/>
              </a:rPr>
              <a:t>S-B</a:t>
            </a:r>
            <a:r>
              <a:rPr lang="zh-CN" altLang="en-US" sz="1800" b="0" dirty="0">
                <a:latin typeface="+mn-ea"/>
              </a:rPr>
              <a:t>。闺蜜约会餐厅</a:t>
            </a:r>
            <a:r>
              <a:rPr lang="en-US" altLang="zh-CN" sz="1800" b="0" dirty="0">
                <a:latin typeface="+mn-ea"/>
              </a:rPr>
              <a:t>189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99</a:t>
            </a:r>
            <a:r>
              <a:rPr lang="zh-CN" altLang="en-US" sz="1800" b="0" dirty="0">
                <a:latin typeface="+mn-ea"/>
              </a:rPr>
              <a:t>城），商务宴请</a:t>
            </a:r>
            <a:r>
              <a:rPr lang="en-US" altLang="zh-CN" sz="1800" b="0" dirty="0">
                <a:latin typeface="+mn-ea"/>
              </a:rPr>
              <a:t>33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S-B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B+</a:t>
            </a:r>
            <a:r>
              <a:rPr lang="zh-CN" altLang="en-US" sz="1800" b="0" dirty="0">
                <a:latin typeface="+mn-ea"/>
              </a:rPr>
              <a:t>主题餐厅数百城</a:t>
            </a:r>
            <a:endParaRPr lang="en-US" altLang="zh-CN" sz="1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4. </a:t>
            </a:r>
            <a:r>
              <a:rPr lang="zh-CN" altLang="en-US" sz="1800" b="1" dirty="0">
                <a:latin typeface="+mn-ea"/>
              </a:rPr>
              <a:t>人气榜、好评榜、点评榜、高德榜的覆盖，基本比较全面</a:t>
            </a:r>
            <a:endParaRPr lang="en-US" altLang="zh-CN" sz="1800" b="1" dirty="0">
              <a:latin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人气榜美团覆盖</a:t>
            </a:r>
            <a:r>
              <a:rPr lang="en-US" altLang="zh-CN" sz="1800" b="0" dirty="0">
                <a:latin typeface="+mn-ea"/>
              </a:rPr>
              <a:t>1183</a:t>
            </a:r>
            <a:r>
              <a:rPr lang="zh-CN" altLang="en-US" sz="1800" b="0" dirty="0">
                <a:latin typeface="+mn-ea"/>
              </a:rPr>
              <a:t>城市，点评销量榜</a:t>
            </a:r>
            <a:r>
              <a:rPr lang="en-US" altLang="zh-CN" sz="1800" b="0" dirty="0">
                <a:latin typeface="+mn-ea"/>
              </a:rPr>
              <a:t>841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点评整体共</a:t>
            </a:r>
            <a:r>
              <a:rPr lang="en-US" altLang="zh-CN" sz="1800" b="0" dirty="0">
                <a:latin typeface="+mn-ea"/>
              </a:rPr>
              <a:t>2743</a:t>
            </a:r>
            <a:r>
              <a:rPr lang="zh-CN" altLang="en-US" sz="1800" b="0" dirty="0">
                <a:latin typeface="+mn-ea"/>
              </a:rPr>
              <a:t>海内外城市</a:t>
            </a:r>
            <a:endParaRPr lang="en-US" altLang="zh-CN" sz="1800" b="0" dirty="0">
              <a:latin typeface="+mn-ea"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异地出行、约会、亲子</a:t>
            </a:r>
            <a:r>
              <a:rPr lang="en-US" altLang="zh-CN" sz="1800" dirty="0">
                <a:solidFill>
                  <a:srgbClr val="000000"/>
                </a:solidFill>
                <a:effectLst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欢聚。使用榜单的核心场景是“吃逛约聚游”，当前榜单能够满足基础找店需求，但仍可考虑一些细分场景需求，比如按“价格段”、“氛围环境”、“多人聚餐”等角度找店</a:t>
            </a:r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r>
              <a:rPr lang="zh-CN" altLang="en-US" sz="2800" dirty="0"/>
              <a:t>美团</a:t>
            </a:r>
            <a:r>
              <a:rPr lang="en-US" altLang="zh-CN" sz="2800" dirty="0"/>
              <a:t>+</a:t>
            </a:r>
            <a:r>
              <a:rPr lang="zh-CN" altLang="en-US" sz="2800" dirty="0"/>
              <a:t>点评榜单主要的一共</a:t>
            </a:r>
            <a:r>
              <a:rPr lang="en-US" altLang="zh-CN" sz="2800" dirty="0"/>
              <a:t>17</a:t>
            </a:r>
            <a:r>
              <a:rPr lang="zh-CN" altLang="en-US" sz="2800" dirty="0"/>
              <a:t>个：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其中</a:t>
            </a:r>
            <a:r>
              <a:rPr lang="en-US" altLang="zh-CN" sz="2800" dirty="0"/>
              <a:t>2</a:t>
            </a:r>
            <a:r>
              <a:rPr lang="zh-CN" altLang="en-US" sz="2800" dirty="0"/>
              <a:t>个荣誉评选榜单（黑珍珠、必吃榜）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/>
              <a:t>12</a:t>
            </a:r>
            <a:r>
              <a:rPr lang="zh-CN" altLang="en-US" sz="2800" dirty="0"/>
              <a:t>个指数榜单（美团：人气、好评、热订。点评：热门、好评、口味、环境、服务、销量、打卡人气、新店、奶茶新品</a:t>
            </a:r>
            <a:r>
              <a:rPr lang="en-US" altLang="zh-CN" sz="2800" dirty="0"/>
              <a:t>/</a:t>
            </a:r>
            <a:r>
              <a:rPr lang="zh-CN" altLang="en-US" sz="2800" dirty="0"/>
              <a:t>热门</a:t>
            </a:r>
            <a:r>
              <a:rPr lang="en-US" altLang="zh-CN" sz="2800" dirty="0"/>
              <a:t>/</a:t>
            </a:r>
            <a:r>
              <a:rPr lang="zh-CN" altLang="en-US" sz="2800" dirty="0"/>
              <a:t>好评榜）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主题类榜单，比较有特色的</a:t>
            </a:r>
            <a:r>
              <a:rPr lang="en-US" altLang="zh-CN" sz="2800" dirty="0"/>
              <a:t>3</a:t>
            </a:r>
            <a:r>
              <a:rPr lang="zh-CN" altLang="en-US" sz="2800" dirty="0"/>
              <a:t>个是满足异地旅游场景的本地人推荐、特色菜、市井烟火榜。其它小场景数量比较多，如点评侧城市生活指南有</a:t>
            </a:r>
            <a:r>
              <a:rPr lang="en-US" altLang="zh-CN" sz="2800" dirty="0"/>
              <a:t>102</a:t>
            </a:r>
            <a:r>
              <a:rPr lang="zh-CN" altLang="en-US" sz="2800" dirty="0"/>
              <a:t>个餐相关主题，美团的夜宵、发现主题等</a:t>
            </a: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美团：供给、交易、履约服务、交易星评、明确意向流量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点评：星评、打卡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en-US" altLang="zh-CN" sz="1800" dirty="0">
                <a:solidFill>
                  <a:srgbClr val="000000"/>
                </a:solidFill>
                <a:effectLst/>
              </a:rPr>
              <a:t>D+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：流量、内容互动、内容生态（明星</a:t>
            </a:r>
            <a:r>
              <a:rPr lang="en-US" altLang="zh-CN" sz="1800" dirty="0">
                <a:solidFill>
                  <a:srgbClr val="000000"/>
                </a:solidFill>
                <a:effectLst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达人等）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en-US" altLang="zh-CN" sz="1800" dirty="0">
                <a:solidFill>
                  <a:srgbClr val="000000"/>
                </a:solidFill>
                <a:effectLst/>
              </a:rPr>
              <a:t>B+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：流量、导航数据、淘系资产（芝麻信用等）</a:t>
            </a:r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zh-CN" altLang="en-US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当地特色菜即特色美食榜</a:t>
            </a:r>
            <a:endParaRPr lang="en-US" altLang="zh-CN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美团：黑珍珠、必吃榜、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人气榜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当地人推荐、特色菜、热订榜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点评：必吃榜、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好评榜、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口味榜、环境榜、服务榜、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销量榜、打卡人气榜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市井烟火榜、老店榜、本地人早餐榜、当地人推荐、当地特色菜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特色美食榜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)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、新店榜单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D+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热销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人气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回头客（核销人数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+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复购）、收藏、点亮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、心动榜、甄选榜、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烟火榜、本地人推荐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B+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：状元榜（甄选、必吃）、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烟火小店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、轮胎磨损、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本地人爱去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、饮品甜点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-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下午茶、主题餐厅（约聚漂亮饭、音乐、观景、商务等）、热门、飙升。食仙（地方特色、城市热门、热门菜系、烹饪方式、自然馈赠、食在四级）</a:t>
            </a: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59029-C88B-3FDE-B751-5D03DBDC4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9186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5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15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42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j-ea"/>
                <a:ea typeface="+mj-ea"/>
              </a:rPr>
              <a:t>当地人推荐：</a:t>
            </a:r>
            <a:r>
              <a:rPr lang="zh-CN" altLang="en-US" sz="1200" dirty="0">
                <a:latin typeface="+mj-ea"/>
                <a:ea typeface="+mj-ea"/>
              </a:rPr>
              <a:t>本地用户的评论数量、评价均分、推荐菜数量、城市特色品类等</a:t>
            </a:r>
            <a:endParaRPr lang="en-US" altLang="zh-CN" sz="1200" dirty="0">
              <a:latin typeface="+mj-ea"/>
              <a:ea typeface="+mj-ea"/>
            </a:endParaRPr>
          </a:p>
          <a:p>
            <a:r>
              <a:rPr lang="zh-CN" altLang="en-US" sz="1200" b="1" dirty="0">
                <a:latin typeface="+mj-ea"/>
                <a:ea typeface="+mj-ea"/>
              </a:rPr>
              <a:t>特色菜：</a:t>
            </a:r>
            <a:r>
              <a:rPr lang="zh-CN" altLang="en-US" sz="1200" dirty="0">
                <a:latin typeface="+mj-ea"/>
                <a:ea typeface="+mj-ea"/>
              </a:rPr>
              <a:t>推荐菜点赞数、评价数、流量等</a:t>
            </a:r>
            <a:endParaRPr lang="en-US" altLang="zh-CN" sz="1200" dirty="0"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j-ea"/>
                <a:ea typeface="+mj-ea"/>
                <a:sym typeface="Wingdings" panose="05000000000000000000" pitchFamily="2" charset="2"/>
              </a:rPr>
              <a:t>烟火榜：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烟火气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/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老店小店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/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口味地道等评论数量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&amp;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占比、门店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GTV&amp;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核销量、好评率、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POI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流量</a:t>
            </a:r>
            <a:endParaRPr lang="en-US" altLang="zh-CN" sz="1200" dirty="0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706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j-ea"/>
                <a:ea typeface="+mj-ea"/>
              </a:rPr>
              <a:t>当地人推荐：</a:t>
            </a:r>
            <a:r>
              <a:rPr lang="zh-CN" altLang="en-US" sz="1200" dirty="0">
                <a:latin typeface="+mj-ea"/>
                <a:ea typeface="+mj-ea"/>
              </a:rPr>
              <a:t>本地用户的评论数量、评价均分、推荐菜数量、城市特色品类等</a:t>
            </a:r>
            <a:endParaRPr lang="en-US" altLang="zh-CN" sz="1200" dirty="0">
              <a:latin typeface="+mj-ea"/>
              <a:ea typeface="+mj-ea"/>
            </a:endParaRPr>
          </a:p>
          <a:p>
            <a:r>
              <a:rPr lang="zh-CN" altLang="en-US" sz="1200" b="1" dirty="0">
                <a:latin typeface="+mj-ea"/>
                <a:ea typeface="+mj-ea"/>
              </a:rPr>
              <a:t>特色菜：</a:t>
            </a:r>
            <a:r>
              <a:rPr lang="zh-CN" altLang="en-US" sz="1200" dirty="0">
                <a:latin typeface="+mj-ea"/>
                <a:ea typeface="+mj-ea"/>
              </a:rPr>
              <a:t>推荐菜点赞数、评价数、流量等</a:t>
            </a:r>
            <a:endParaRPr lang="en-US" altLang="zh-CN" sz="1200" dirty="0">
              <a:latin typeface="+mj-ea"/>
              <a:ea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j-ea"/>
                <a:ea typeface="+mj-ea"/>
                <a:sym typeface="Wingdings" panose="05000000000000000000" pitchFamily="2" charset="2"/>
              </a:rPr>
              <a:t>烟火榜：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烟火气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/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老店小店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/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口味地道等评论数量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&amp;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占比、门店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GTV&amp;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核销量、好评率、</a:t>
            </a:r>
            <a:r>
              <a:rPr lang="en-US" altLang="zh-CN" sz="1200" dirty="0">
                <a:latin typeface="+mj-ea"/>
                <a:ea typeface="+mj-ea"/>
                <a:sym typeface="Wingdings" panose="05000000000000000000" pitchFamily="2" charset="2"/>
              </a:rPr>
              <a:t>POI</a:t>
            </a:r>
            <a:r>
              <a:rPr lang="zh-CN" altLang="en-US" sz="1200" dirty="0">
                <a:latin typeface="+mj-ea"/>
                <a:ea typeface="+mj-ea"/>
                <a:sym typeface="Wingdings" panose="05000000000000000000" pitchFamily="2" charset="2"/>
              </a:rPr>
              <a:t>流量</a:t>
            </a:r>
            <a:endParaRPr lang="en-US" altLang="zh-CN" sz="1200" dirty="0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BA940-0F17-EA99-BE9B-A5C0D82C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C2108F-3B22-32DF-CA1A-692493EE9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5C5DEF-FB91-154D-2108-ED1F65443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2CF409-86E1-37D9-99E2-D47BB5652D3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A2BCBC-C230-D0C9-231B-329954285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C54A68-AB88-944A-5A13-342E0E6068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834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春鲜套餐榜页面停留时长（</a:t>
            </a:r>
            <a:r>
              <a:rPr lang="en-US" altLang="zh-CN" dirty="0">
                <a:effectLst/>
              </a:rPr>
              <a:t>15.38s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vs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10.60s</a:t>
            </a:r>
            <a:r>
              <a:rPr lang="zh-CN" altLang="en-US" dirty="0">
                <a:effectLst/>
              </a:rPr>
              <a:t>）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访购率（</a:t>
            </a:r>
            <a:r>
              <a:rPr lang="en-US" altLang="zh-CN" dirty="0">
                <a:effectLst/>
              </a:rPr>
              <a:t>24.3% vs 7.8%</a:t>
            </a:r>
            <a:r>
              <a:rPr lang="zh-CN" altLang="en-US" dirty="0">
                <a:effectLst/>
              </a:rPr>
              <a:t>整体）</a:t>
            </a:r>
            <a:endParaRPr lang="en-US" altLang="zh-CN" dirty="0">
              <a:effectLst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2026/9/15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396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83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17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427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337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965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049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2026/9/6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7321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87426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6" y="288001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52000" y="298634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1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1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80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6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6" y="123826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1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1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80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7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4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5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117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283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75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单标题_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1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252000" y="288001"/>
            <a:ext cx="7664380" cy="427313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52207" y="871728"/>
            <a:ext cx="8639588" cy="377647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287903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0" imgH="0" progId="TCLayout.ActiveDocument.1">
                  <p:embed/>
                </p:oleObj>
              </mc:Choice>
              <mc:Fallback>
                <p:oleObj name="think-cell 幻灯片" r:id="rId11" imgW="0" imgH="0" progId="TCLayout.ActiveDocument.1">
                  <p:embed/>
                  <p:pic>
                    <p:nvPicPr>
                      <p:cNvPr id="5" name="对象 4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20" y="4739965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sz="1000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sz="1000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7.emf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15.png"/><Relationship Id="rId12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1.png"/><Relationship Id="rId9" Type="http://schemas.openxmlformats.org/officeDocument/2006/relationships/image" Target="../media/image10.png"/><Relationship Id="rId10" Type="http://schemas.openxmlformats.org/officeDocument/2006/relationships/image" Target="../media/image12.png"/><Relationship Id="rId11" Type="http://schemas.openxmlformats.org/officeDocument/2006/relationships/image" Target="../media/image7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6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1.png"/><Relationship Id="rId9" Type="http://schemas.openxmlformats.org/officeDocument/2006/relationships/image" Target="../media/image10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6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榜单决策大图</a:t>
            </a: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23777197-6C17-1E03-E0FB-7A08400971E6}"/>
              </a:ext>
            </a:extLst>
          </p:cNvPr>
          <p:cNvSpPr/>
          <p:nvPr/>
        </p:nvSpPr>
        <p:spPr>
          <a:xfrm>
            <a:off x="6824696" y="41432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到餐事业部</a:t>
            </a: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资产运营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3143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587BB6-0D97-CD7E-2201-C9D3ACC6E8BC}"/>
              </a:ext>
            </a:extLst>
          </p:cNvPr>
          <p:cNvSpPr txBox="1"/>
          <p:nvPr/>
        </p:nvSpPr>
        <p:spPr>
          <a:xfrm>
            <a:off x="111841" y="78165"/>
            <a:ext cx="87679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</a:rPr>
              <a:t>目标：热门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热点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视频后推荐。目标是热点（看事儿）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社交（看人</a:t>
            </a:r>
            <a:r>
              <a:rPr lang="en-US" altLang="zh-CN" sz="1200" dirty="0">
                <a:latin typeface="+mn-ea"/>
              </a:rPr>
              <a:t>)-&gt;</a:t>
            </a:r>
            <a:r>
              <a:rPr lang="zh-CN" altLang="en-US" sz="1200" dirty="0">
                <a:latin typeface="+mn-ea"/>
              </a:rPr>
              <a:t>兴趣（看内容）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结果：</a:t>
            </a:r>
            <a:r>
              <a:rPr lang="en-US" altLang="zh-CN" sz="1200" b="1" dirty="0">
                <a:latin typeface="+mn-ea"/>
              </a:rPr>
              <a:t>1.</a:t>
            </a:r>
            <a:r>
              <a:rPr lang="zh-CN" altLang="en-US" sz="1200" b="1" dirty="0">
                <a:latin typeface="+mn-ea"/>
              </a:rPr>
              <a:t>兴趣内容心智：</a:t>
            </a:r>
            <a:r>
              <a:rPr lang="zh-CN" altLang="en-US" sz="1200" dirty="0">
                <a:latin typeface="+mn-ea"/>
              </a:rPr>
              <a:t>三大之一，</a:t>
            </a:r>
            <a:r>
              <a:rPr lang="en-US" altLang="zh-CN" sz="1200" dirty="0">
                <a:latin typeface="+mn-ea"/>
              </a:rPr>
              <a:t>DAU</a:t>
            </a:r>
            <a:r>
              <a:rPr lang="zh-CN" altLang="en-US" sz="1200" dirty="0">
                <a:latin typeface="+mn-ea"/>
              </a:rPr>
              <a:t>渗透率</a:t>
            </a:r>
            <a:r>
              <a:rPr lang="en-US" altLang="zh-CN" sz="1200" dirty="0">
                <a:latin typeface="+mn-ea"/>
              </a:rPr>
              <a:t>20%-&gt;40%</a:t>
            </a:r>
            <a:r>
              <a:rPr lang="zh-CN" altLang="en-US" sz="1200" dirty="0">
                <a:latin typeface="+mn-ea"/>
              </a:rPr>
              <a:t>。</a:t>
            </a:r>
            <a:r>
              <a:rPr lang="en-US" altLang="zh-CN" sz="1200" dirty="0">
                <a:latin typeface="+mn-ea"/>
              </a:rPr>
              <a:t>DAU</a:t>
            </a:r>
            <a:r>
              <a:rPr lang="zh-CN" altLang="en-US" sz="1200" dirty="0">
                <a:latin typeface="+mn-ea"/>
              </a:rPr>
              <a:t>年对年</a:t>
            </a:r>
            <a:r>
              <a:rPr lang="en-US" altLang="zh-CN" sz="1200" dirty="0">
                <a:latin typeface="+mn-ea"/>
              </a:rPr>
              <a:t>+7%</a:t>
            </a:r>
            <a:r>
              <a:rPr lang="zh-CN" altLang="en-US" sz="1200" dirty="0">
                <a:latin typeface="+mn-ea"/>
              </a:rPr>
              <a:t>。</a:t>
            </a:r>
            <a:r>
              <a:rPr lang="en-US" altLang="zh-CN" sz="1200" dirty="0">
                <a:latin typeface="+mn-ea"/>
              </a:rPr>
              <a:t>2.</a:t>
            </a:r>
            <a:r>
              <a:rPr lang="zh-CN" altLang="en-US" sz="1200" dirty="0">
                <a:latin typeface="+mn-ea"/>
              </a:rPr>
              <a:t>强化内容核心竞争力：提升强兴趣、潜在兴趣用户规模，促进优质内容创作生态（腰尾部兴趣博主冷启、成长）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消费生态（长尾兴趣分发空间）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200" dirty="0">
                <a:latin typeface="+mn-ea"/>
              </a:rPr>
              <a:t>内容：内容理解：包括内容的分类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标注</a:t>
            </a:r>
            <a:r>
              <a:rPr lang="en-US" altLang="zh-CN" sz="1200" dirty="0">
                <a:latin typeface="+mn-ea"/>
              </a:rPr>
              <a:t>-</a:t>
            </a:r>
            <a:r>
              <a:rPr lang="zh-CN" altLang="en-US" sz="1200" dirty="0">
                <a:latin typeface="+mn-ea"/>
              </a:rPr>
              <a:t>引入领域信息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算法。和内容质量（先验的优质、劣质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后验的数据效率）。</a:t>
            </a:r>
            <a:endParaRPr lang="en-US" altLang="zh-CN" sz="12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200" dirty="0">
                <a:latin typeface="+mn-ea"/>
              </a:rPr>
              <a:t>博主：作者分层（头腰尾、</a:t>
            </a:r>
            <a:r>
              <a:rPr lang="en-US" altLang="zh-CN" sz="1200" dirty="0">
                <a:latin typeface="+mn-ea"/>
              </a:rPr>
              <a:t>UGC</a:t>
            </a:r>
            <a:r>
              <a:rPr lang="zh-CN" altLang="en-US" sz="1200" dirty="0">
                <a:latin typeface="+mn-ea"/>
              </a:rPr>
              <a:t>）与冷启、成长、扩圈。流量、经济与荣誉激励。供需分析、活动等促生产。</a:t>
            </a:r>
            <a:endParaRPr lang="en-US" altLang="zh-CN" sz="12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200" dirty="0">
                <a:latin typeface="+mn-ea"/>
              </a:rPr>
              <a:t>用户：</a:t>
            </a:r>
            <a:endParaRPr lang="en-US" altLang="zh-CN" sz="12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200" dirty="0">
                <a:latin typeface="+mn-ea"/>
              </a:rPr>
              <a:t>时点：</a:t>
            </a:r>
            <a:endParaRPr lang="en-US" altLang="zh-CN" sz="1200" dirty="0">
              <a:latin typeface="+mn-ea"/>
            </a:endParaRPr>
          </a:p>
          <a:p>
            <a:pPr marL="228600" indent="-228600">
              <a:buAutoNum type="arabicPeriod"/>
            </a:pPr>
            <a:r>
              <a:rPr lang="zh-CN" altLang="en-US" sz="1200" dirty="0">
                <a:latin typeface="+mn-ea"/>
              </a:rPr>
              <a:t>策略及算法：</a:t>
            </a:r>
            <a:endParaRPr lang="en-US" altLang="zh-CN" sz="1200" dirty="0">
              <a:latin typeface="+mn-ea"/>
            </a:endParaRPr>
          </a:p>
          <a:p>
            <a:pPr marL="685800" lvl="1" indent="-228600">
              <a:buAutoNum type="arabicPeriod"/>
            </a:pPr>
            <a:r>
              <a:rPr lang="zh-CN" altLang="en-US" sz="1200" dirty="0">
                <a:latin typeface="+mn-ea"/>
              </a:rPr>
              <a:t>召回层：</a:t>
            </a:r>
            <a:r>
              <a:rPr lang="en-US" altLang="zh-CN" sz="1200" dirty="0">
                <a:latin typeface="+mn-ea"/>
              </a:rPr>
              <a:t>CF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U2I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I2I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>
                <a:latin typeface="+mn-ea"/>
              </a:rPr>
              <a:t>FM</a:t>
            </a:r>
            <a:r>
              <a:rPr lang="zh-CN" altLang="en-US" sz="1200" dirty="0">
                <a:latin typeface="+mn-ea"/>
              </a:rPr>
              <a:t>、兴趣召回、社交召回等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685800" lvl="1" indent="-228600">
              <a:buAutoNum type="arabicPeriod"/>
            </a:pPr>
            <a:r>
              <a:rPr lang="zh-CN" altLang="en-US" sz="1200" dirty="0">
                <a:latin typeface="+mn-ea"/>
              </a:rPr>
              <a:t>粗、精排序层：</a:t>
            </a:r>
            <a:endParaRPr lang="en-US" altLang="zh-CN" sz="1200" dirty="0">
              <a:latin typeface="+mn-ea"/>
            </a:endParaRPr>
          </a:p>
          <a:p>
            <a:pPr marL="685800" lvl="1" indent="-228600">
              <a:buAutoNum type="arabicPeriod"/>
            </a:pPr>
            <a:r>
              <a:rPr lang="zh-CN" altLang="en-US" sz="1200" dirty="0">
                <a:latin typeface="+mn-ea"/>
              </a:rPr>
              <a:t>重排打散层：</a:t>
            </a:r>
            <a:endParaRPr lang="en-US" altLang="zh-CN" sz="1200" dirty="0">
              <a:latin typeface="+mn-ea"/>
            </a:endParaRPr>
          </a:p>
          <a:p>
            <a:pPr marL="685800" lvl="1" indent="-228600">
              <a:buAutoNum type="arabicPeriod"/>
            </a:pPr>
            <a:r>
              <a:rPr lang="en-US" altLang="zh-CN" sz="1200" dirty="0">
                <a:latin typeface="+mn-ea"/>
              </a:rPr>
              <a:t>EE</a:t>
            </a:r>
            <a:r>
              <a:rPr lang="zh-CN" altLang="en-US" sz="1200" dirty="0">
                <a:latin typeface="+mn-ea"/>
              </a:rPr>
              <a:t>兴趣试探：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8696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163DFC9-DB40-37DA-11D2-5142F9EE2D19}"/>
              </a:ext>
            </a:extLst>
          </p:cNvPr>
          <p:cNvSpPr txBox="1"/>
          <p:nvPr/>
        </p:nvSpPr>
        <p:spPr>
          <a:xfrm>
            <a:off x="188041" y="-83760"/>
            <a:ext cx="87679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</a:rPr>
              <a:t>读图逻辑：主矩阵按</a:t>
            </a:r>
            <a:r>
              <a:rPr lang="zh-CN" altLang="en-US" sz="1200" b="1" i="0" dirty="0">
                <a:effectLst/>
                <a:latin typeface="+mn-ea"/>
              </a:rPr>
              <a:t>场景</a:t>
            </a:r>
            <a:r>
              <a:rPr lang="en-US" altLang="zh-CN" sz="1200" b="1" i="0" dirty="0">
                <a:effectLst/>
                <a:latin typeface="+mn-ea"/>
              </a:rPr>
              <a:t>×</a:t>
            </a:r>
            <a:r>
              <a:rPr lang="zh-CN" altLang="en-US" sz="1200" b="1" i="0" dirty="0">
                <a:effectLst/>
                <a:latin typeface="+mn-ea"/>
              </a:rPr>
              <a:t>对象</a:t>
            </a:r>
            <a:r>
              <a:rPr lang="zh-CN" altLang="en-US" sz="1200" b="0" i="0" dirty="0">
                <a:effectLst/>
                <a:latin typeface="+mn-ea"/>
              </a:rPr>
              <a:t>切出</a:t>
            </a:r>
            <a:r>
              <a:rPr lang="en-US" altLang="zh-CN" sz="1200" b="0" i="0" dirty="0">
                <a:effectLst/>
                <a:latin typeface="+mn-ea"/>
              </a:rPr>
              <a:t>15</a:t>
            </a:r>
            <a:r>
              <a:rPr lang="zh-CN" altLang="en-US" sz="1200" b="0" i="0" dirty="0">
                <a:effectLst/>
                <a:latin typeface="+mn-ea"/>
              </a:rPr>
              <a:t>格，每格内的信息要素与决策依据取值遵循两条映射规则</a:t>
            </a:r>
            <a:r>
              <a:rPr lang="en-US" altLang="zh-CN" sz="1200" b="0" i="0" dirty="0">
                <a:effectLst/>
                <a:latin typeface="+mn-ea"/>
              </a:rPr>
              <a:t>——</a:t>
            </a:r>
            <a:r>
              <a:rPr lang="zh-CN" altLang="en-US" sz="1200" b="1" i="0" dirty="0">
                <a:effectLst/>
                <a:latin typeface="+mn-ea"/>
              </a:rPr>
              <a:t>规则</a:t>
            </a:r>
            <a:r>
              <a:rPr lang="en-US" altLang="zh-CN" sz="1200" b="1" i="0" dirty="0">
                <a:effectLst/>
                <a:latin typeface="+mn-ea"/>
              </a:rPr>
              <a:t>A</a:t>
            </a:r>
            <a:r>
              <a:rPr lang="zh-CN" altLang="en-US" sz="1200" b="1" i="0" dirty="0">
                <a:effectLst/>
                <a:latin typeface="+mn-ea"/>
              </a:rPr>
              <a:t>（场景→信息）</a:t>
            </a:r>
            <a:r>
              <a:rPr lang="zh-CN" altLang="en-US" sz="1200" b="0" i="0" dirty="0">
                <a:effectLst/>
                <a:latin typeface="+mn-ea"/>
              </a:rPr>
              <a:t>：</a:t>
            </a:r>
            <a:endParaRPr lang="en-US" altLang="zh-CN" sz="1200" b="0" i="0" dirty="0">
              <a:effectLst/>
              <a:latin typeface="+mn-ea"/>
            </a:endParaRPr>
          </a:p>
          <a:p>
            <a:r>
              <a:rPr lang="zh-CN" altLang="en-US" sz="1200" b="0" i="0" dirty="0">
                <a:effectLst/>
                <a:latin typeface="+mn-ea"/>
              </a:rPr>
              <a:t>决策压力越高，越依赖菜品完备性</a:t>
            </a:r>
            <a:r>
              <a:rPr lang="en-US" altLang="zh-CN" sz="1200" b="0" i="0" dirty="0">
                <a:effectLst/>
                <a:latin typeface="+mn-ea"/>
              </a:rPr>
              <a:t>/</a:t>
            </a:r>
            <a:r>
              <a:rPr lang="zh-CN" altLang="en-US" sz="1200" b="0" i="0" dirty="0">
                <a:effectLst/>
                <a:latin typeface="+mn-ea"/>
              </a:rPr>
              <a:t>价值感</a:t>
            </a:r>
            <a:r>
              <a:rPr lang="en-US" altLang="zh-CN" sz="1200" b="0" i="0" dirty="0">
                <a:effectLst/>
                <a:latin typeface="+mn-ea"/>
              </a:rPr>
              <a:t>+</a:t>
            </a:r>
            <a:r>
              <a:rPr lang="zh-CN" altLang="en-US" sz="1200" b="0" i="0" dirty="0">
                <a:effectLst/>
                <a:latin typeface="+mn-ea"/>
              </a:rPr>
              <a:t>空间</a:t>
            </a:r>
            <a:r>
              <a:rPr lang="en-US" altLang="zh-CN" sz="1200" b="0" i="0" dirty="0">
                <a:effectLst/>
                <a:latin typeface="+mn-ea"/>
              </a:rPr>
              <a:t>+</a:t>
            </a:r>
            <a:r>
              <a:rPr lang="zh-CN" altLang="en-US" sz="1200" b="0" i="0" dirty="0">
                <a:effectLst/>
                <a:latin typeface="+mn-ea"/>
              </a:rPr>
              <a:t>服务等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确定性信息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；压力越低，越依赖价格</a:t>
            </a:r>
            <a:r>
              <a:rPr lang="en-US" altLang="zh-CN" sz="1200" b="0" i="0" dirty="0">
                <a:effectLst/>
                <a:latin typeface="+mn-ea"/>
              </a:rPr>
              <a:t>+</a:t>
            </a:r>
            <a:r>
              <a:rPr lang="zh-CN" altLang="en-US" sz="1200" b="0" i="0" dirty="0">
                <a:effectLst/>
                <a:latin typeface="+mn-ea"/>
              </a:rPr>
              <a:t>距离等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效率信息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。</a:t>
            </a:r>
            <a:r>
              <a:rPr lang="zh-CN" altLang="en-US" sz="1200" b="1" i="0" dirty="0">
                <a:effectLst/>
                <a:latin typeface="+mn-ea"/>
              </a:rPr>
              <a:t>规则</a:t>
            </a:r>
            <a:r>
              <a:rPr lang="en-US" altLang="zh-CN" sz="1200" b="1" i="0" dirty="0">
                <a:effectLst/>
                <a:latin typeface="+mn-ea"/>
              </a:rPr>
              <a:t>B</a:t>
            </a:r>
            <a:r>
              <a:rPr lang="zh-CN" altLang="en-US" sz="1200" b="1" i="0" dirty="0">
                <a:effectLst/>
                <a:latin typeface="+mn-ea"/>
              </a:rPr>
              <a:t>（对象→依据）</a:t>
            </a:r>
            <a:r>
              <a:rPr lang="zh-CN" altLang="en-US" sz="1200" b="0" i="0" dirty="0">
                <a:effectLst/>
                <a:latin typeface="+mn-ea"/>
              </a:rPr>
              <a:t>：选店看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这家店行不行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（</a:t>
            </a:r>
            <a:r>
              <a:rPr lang="en-US" altLang="zh-CN" sz="1200" b="0" i="0" dirty="0">
                <a:effectLst/>
                <a:latin typeface="+mn-ea"/>
              </a:rPr>
              <a:t>UGC</a:t>
            </a:r>
            <a:r>
              <a:rPr lang="zh-CN" altLang="en-US" sz="1200" b="0" i="0" dirty="0">
                <a:effectLst/>
                <a:latin typeface="+mn-ea"/>
              </a:rPr>
              <a:t>评分</a:t>
            </a:r>
            <a:r>
              <a:rPr lang="en-US" altLang="zh-CN" sz="1200" b="0" i="0" dirty="0">
                <a:effectLst/>
                <a:latin typeface="+mn-ea"/>
              </a:rPr>
              <a:t>+</a:t>
            </a:r>
            <a:r>
              <a:rPr lang="zh-CN" altLang="en-US" sz="1200" b="0" i="0" dirty="0">
                <a:effectLst/>
                <a:latin typeface="+mn-ea"/>
              </a:rPr>
              <a:t>权威背书），选菜看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这个菜值不值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（菜品图</a:t>
            </a:r>
            <a:r>
              <a:rPr lang="en-US" altLang="zh-CN" sz="1200" b="0" i="0" dirty="0">
                <a:effectLst/>
                <a:latin typeface="+mn-ea"/>
              </a:rPr>
              <a:t>+</a:t>
            </a:r>
            <a:r>
              <a:rPr lang="zh-CN" altLang="en-US" sz="1200" b="0" i="0" dirty="0">
                <a:effectLst/>
                <a:latin typeface="+mn-ea"/>
              </a:rPr>
              <a:t>圈层验证），选体验看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这个内容稀缺不稀缺</a:t>
            </a:r>
            <a:r>
              <a:rPr lang="en-US" altLang="zh-CN" sz="1200" b="0" i="0" dirty="0">
                <a:effectLst/>
                <a:latin typeface="+mn-ea"/>
              </a:rPr>
              <a:t>"</a:t>
            </a:r>
            <a:r>
              <a:rPr lang="zh-CN" altLang="en-US" sz="1200" b="0" i="0" dirty="0">
                <a:effectLst/>
                <a:latin typeface="+mn-ea"/>
              </a:rPr>
              <a:t>（</a:t>
            </a:r>
            <a:r>
              <a:rPr lang="en-US" altLang="zh-CN" sz="1200" b="0" i="0" dirty="0">
                <a:effectLst/>
                <a:latin typeface="+mn-ea"/>
              </a:rPr>
              <a:t>KOL</a:t>
            </a:r>
            <a:r>
              <a:rPr lang="zh-CN" altLang="en-US" sz="1200" b="0" i="0" dirty="0">
                <a:effectLst/>
                <a:latin typeface="+mn-ea"/>
              </a:rPr>
              <a:t>种草）。</a:t>
            </a:r>
            <a:r>
              <a:rPr lang="zh-CN" altLang="en-US" sz="1200" b="1" i="0" dirty="0">
                <a:effectLst/>
                <a:latin typeface="+mn-ea"/>
              </a:rPr>
              <a:t>未被占位或弱覆盖的格子即需求缺口</a:t>
            </a:r>
            <a:r>
              <a:rPr lang="zh-CN" altLang="en-US" sz="1200" b="0" i="0" dirty="0">
                <a:effectLst/>
                <a:latin typeface="+mn-ea"/>
              </a:rPr>
              <a:t>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527645-3180-EC9D-028A-F68305095ACD}"/>
              </a:ext>
            </a:extLst>
          </p:cNvPr>
          <p:cNvSpPr txBox="1"/>
          <p:nvPr/>
        </p:nvSpPr>
        <p:spPr>
          <a:xfrm>
            <a:off x="376083" y="1145273"/>
            <a:ext cx="87679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</a:rPr>
              <a:t>决策对象：选店、选品</a:t>
            </a:r>
            <a:endParaRPr lang="en-US" altLang="zh-CN" sz="1200" b="0" i="0" dirty="0">
              <a:effectLst/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决策场景：旅游、日常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小聚、约会、宴会大聚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决策信息：空间、服务、生理、口味、价格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履约。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决策依据：自主判断、</a:t>
            </a:r>
            <a:r>
              <a:rPr lang="en-US" altLang="zh-CN" sz="1200" dirty="0">
                <a:latin typeface="+mn-ea"/>
              </a:rPr>
              <a:t>UGC</a:t>
            </a:r>
            <a:r>
              <a:rPr lang="zh-CN" altLang="en-US" sz="1200" dirty="0">
                <a:latin typeface="+mn-ea"/>
              </a:rPr>
              <a:t>大众、明星</a:t>
            </a:r>
            <a:r>
              <a:rPr lang="en-US" altLang="zh-CN" sz="1200" dirty="0">
                <a:latin typeface="+mn-ea"/>
              </a:rPr>
              <a:t>/KOL</a:t>
            </a:r>
            <a:r>
              <a:rPr lang="zh-CN" altLang="en-US" sz="1200" dirty="0">
                <a:latin typeface="+mn-ea"/>
              </a:rPr>
              <a:t>、圈层同好。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不让渡（自主）→让渡给强关系（熟人）→让渡给身份相似者（圈层）→让渡给公众（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-apple-system"/>
              </a:rPr>
              <a:t>UGC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）→让渡给权威人设（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-apple-system"/>
              </a:rPr>
              <a:t>KOL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）。压力越高越依赖强关系背书（降面子风险）；确定性越低越依赖圈层验证</a:t>
            </a:r>
            <a:endParaRPr lang="zh-CN" altLang="en-US" sz="1200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D28BD03-1ADD-0A7A-89E2-2335A41CD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85" y="1852152"/>
            <a:ext cx="5038725" cy="9525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C176464-607F-6E4F-8181-E82D2FB01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511531"/>
            <a:ext cx="83439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4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5">
            <a:extLst>
              <a:ext uri="{FF2B5EF4-FFF2-40B4-BE49-F238E27FC236}">
                <a16:creationId xmlns:a16="http://schemas.microsoft.com/office/drawing/2014/main" id="{9225CE6B-7450-5016-B81C-CC06DFEC439E}"/>
              </a:ext>
            </a:extLst>
          </p:cNvPr>
          <p:cNvSpPr/>
          <p:nvPr/>
        </p:nvSpPr>
        <p:spPr>
          <a:xfrm>
            <a:off x="3413026" y="2110949"/>
            <a:ext cx="2955349" cy="1365766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5C0DB1D5-7F65-5979-AD21-EAC628B51851}"/>
              </a:ext>
            </a:extLst>
          </p:cNvPr>
          <p:cNvSpPr/>
          <p:nvPr/>
        </p:nvSpPr>
        <p:spPr>
          <a:xfrm>
            <a:off x="0" y="2138562"/>
            <a:ext cx="2924216" cy="1365767"/>
          </a:xfrm>
          <a:prstGeom prst="roundRect">
            <a:avLst/>
          </a:prstGeom>
          <a:solidFill>
            <a:srgbClr val="FFF7EF"/>
          </a:solidFill>
          <a:ln>
            <a:solidFill>
              <a:srgbClr val="E86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F28A7DE-5C9D-0E44-0CCC-E4121A21C22E}"/>
              </a:ext>
            </a:extLst>
          </p:cNvPr>
          <p:cNvSpPr txBox="1"/>
          <p:nvPr/>
        </p:nvSpPr>
        <p:spPr>
          <a:xfrm>
            <a:off x="1012888" y="1710975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E86C1F"/>
                </a:solidFill>
                <a:latin typeface="Microsoft YaHei"/>
              </a:defRPr>
            </a:pPr>
            <a:r>
              <a:rPr lang="zh-CN" altLang="en-US" sz="1200" dirty="0">
                <a:latin typeface="+mn-ea"/>
              </a:rPr>
              <a:t>决策场景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1CC19F1-618C-82E5-8D24-9317481EC249}"/>
              </a:ext>
            </a:extLst>
          </p:cNvPr>
          <p:cNvSpPr txBox="1"/>
          <p:nvPr/>
        </p:nvSpPr>
        <p:spPr>
          <a:xfrm>
            <a:off x="824125" y="1907731"/>
            <a:ext cx="125142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E86C1F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为什么吃？什么场合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38B02AAB-DB50-FF1E-ADD0-7630320074A0}"/>
              </a:ext>
            </a:extLst>
          </p:cNvPr>
          <p:cNvSpPr/>
          <p:nvPr/>
        </p:nvSpPr>
        <p:spPr>
          <a:xfrm>
            <a:off x="6760443" y="2076821"/>
            <a:ext cx="2160000" cy="1365766"/>
          </a:xfrm>
          <a:prstGeom prst="roundRect">
            <a:avLst/>
          </a:prstGeom>
          <a:solidFill>
            <a:srgbClr val="F3F8FF"/>
          </a:solidFill>
          <a:ln>
            <a:solidFill>
              <a:srgbClr val="2D7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CEA41208-A56B-AA3F-F1CC-26CFE2CAB26E}"/>
              </a:ext>
            </a:extLst>
          </p:cNvPr>
          <p:cNvSpPr txBox="1"/>
          <p:nvPr/>
        </p:nvSpPr>
        <p:spPr>
          <a:xfrm>
            <a:off x="7426667" y="1643106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2D71D3"/>
                </a:solidFill>
                <a:latin typeface="Microsoft YaHei"/>
              </a:defRPr>
            </a:pPr>
            <a:r>
              <a:rPr sz="1200" dirty="0" err="1">
                <a:latin typeface="+mn-ea"/>
              </a:rPr>
              <a:t>决策对象</a:t>
            </a:r>
            <a:endParaRPr sz="1200" dirty="0">
              <a:latin typeface="+mn-ea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7BCFC1A4-E1DA-E6B8-FC4B-066C5D7E8D54}"/>
              </a:ext>
            </a:extLst>
          </p:cNvPr>
          <p:cNvSpPr txBox="1"/>
          <p:nvPr/>
        </p:nvSpPr>
        <p:spPr>
          <a:xfrm>
            <a:off x="7456398" y="1832123"/>
            <a:ext cx="83989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2D71D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我要选什么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7DCE7F57-0D69-C4B6-1C55-A443D31104F3}"/>
              </a:ext>
            </a:extLst>
          </p:cNvPr>
          <p:cNvSpPr txBox="1"/>
          <p:nvPr/>
        </p:nvSpPr>
        <p:spPr>
          <a:xfrm>
            <a:off x="4500128" y="1710975"/>
            <a:ext cx="884532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744BB4"/>
                </a:solidFill>
                <a:latin typeface="Microsoft YaHei"/>
              </a:defRPr>
            </a:pPr>
            <a:r>
              <a:rPr sz="1200" b="1" dirty="0" err="1">
                <a:solidFill>
                  <a:srgbClr val="3F975B"/>
                </a:solidFill>
                <a:latin typeface="+mn-ea"/>
              </a:rPr>
              <a:t>决策依据</a:t>
            </a:r>
            <a:endParaRPr sz="1200" b="1" dirty="0">
              <a:solidFill>
                <a:srgbClr val="3F975B"/>
              </a:solidFill>
              <a:latin typeface="+mn-ea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C3B90AA7-0CD3-2EAE-8FD9-98605C74722B}"/>
              </a:ext>
            </a:extLst>
          </p:cNvPr>
          <p:cNvSpPr txBox="1"/>
          <p:nvPr/>
        </p:nvSpPr>
        <p:spPr>
          <a:xfrm>
            <a:off x="4470524" y="1891045"/>
            <a:ext cx="103407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744BB4"/>
                </a:solidFill>
                <a:latin typeface="Microsoft YaHei"/>
              </a:defRPr>
            </a:pPr>
            <a:r>
              <a:rPr sz="900" b="1" dirty="0" err="1">
                <a:solidFill>
                  <a:srgbClr val="3F975B"/>
                </a:solidFill>
                <a:latin typeface="+mn-ea"/>
              </a:rPr>
              <a:t>我为什么相信它</a:t>
            </a:r>
            <a:r>
              <a:rPr sz="900" b="1" dirty="0">
                <a:solidFill>
                  <a:srgbClr val="3F975B"/>
                </a:solidFill>
                <a:latin typeface="+mn-ea"/>
              </a:rPr>
              <a:t>？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ECD9674-5F18-5E96-E3C9-7C0272E210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40556" y="2956062"/>
            <a:ext cx="283858" cy="28385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E3C2BD0-5D3D-7D2B-372B-5B11E2F9B18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8545" y="2252484"/>
            <a:ext cx="323272" cy="32327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A55A521-DE49-3E0D-0022-7E193BC5481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2502" y="2918991"/>
            <a:ext cx="308662" cy="30866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4F0047A-F975-25B1-7B9D-D7747D23D3E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6743" y="2929012"/>
            <a:ext cx="297462" cy="29746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9485CB7-54FA-2520-4B9C-2604EA65A48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54129" y="2278525"/>
            <a:ext cx="249934" cy="249934"/>
          </a:xfrm>
          <a:prstGeom prst="rect">
            <a:avLst/>
          </a:prstGeom>
        </p:spPr>
      </p:pic>
      <p:sp>
        <p:nvSpPr>
          <p:cNvPr id="20" name="TextBox 6">
            <a:extLst>
              <a:ext uri="{FF2B5EF4-FFF2-40B4-BE49-F238E27FC236}">
                <a16:creationId xmlns:a16="http://schemas.microsoft.com/office/drawing/2014/main" id="{A9712AB5-1B99-6A9A-D158-E870DC8974E6}"/>
              </a:ext>
            </a:extLst>
          </p:cNvPr>
          <p:cNvSpPr txBox="1"/>
          <p:nvPr/>
        </p:nvSpPr>
        <p:spPr>
          <a:xfrm>
            <a:off x="1497876" y="2513840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4B67F908-40AE-70ED-1A99-A7A18352CEB1}"/>
              </a:ext>
            </a:extLst>
          </p:cNvPr>
          <p:cNvSpPr txBox="1"/>
          <p:nvPr/>
        </p:nvSpPr>
        <p:spPr>
          <a:xfrm>
            <a:off x="153366" y="3197800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BF9DBDCE-FE83-F8A0-5E09-2C2B1CBBE5AB}"/>
              </a:ext>
            </a:extLst>
          </p:cNvPr>
          <p:cNvSpPr txBox="1"/>
          <p:nvPr/>
        </p:nvSpPr>
        <p:spPr>
          <a:xfrm>
            <a:off x="929958" y="3194455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574F9D5C-1334-8797-E840-D80214F4E3BF}"/>
              </a:ext>
            </a:extLst>
          </p:cNvPr>
          <p:cNvSpPr txBox="1"/>
          <p:nvPr/>
        </p:nvSpPr>
        <p:spPr>
          <a:xfrm>
            <a:off x="866591" y="2514249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D9165BA5-1510-DCBA-9D38-306AB3A20ACA}"/>
              </a:ext>
            </a:extLst>
          </p:cNvPr>
          <p:cNvSpPr txBox="1"/>
          <p:nvPr/>
        </p:nvSpPr>
        <p:spPr>
          <a:xfrm>
            <a:off x="1418768" y="3194455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92AD085-1553-383D-A11E-D2D56FB4BB7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74586" y="2939212"/>
            <a:ext cx="317127" cy="251688"/>
          </a:xfrm>
          <a:prstGeom prst="rect">
            <a:avLst/>
          </a:prstGeom>
        </p:spPr>
      </p:pic>
      <p:sp>
        <p:nvSpPr>
          <p:cNvPr id="26" name="TextBox 6">
            <a:extLst>
              <a:ext uri="{FF2B5EF4-FFF2-40B4-BE49-F238E27FC236}">
                <a16:creationId xmlns:a16="http://schemas.microsoft.com/office/drawing/2014/main" id="{9F60787B-0C78-7838-CC2E-CBD1A00725D7}"/>
              </a:ext>
            </a:extLst>
          </p:cNvPr>
          <p:cNvSpPr txBox="1"/>
          <p:nvPr/>
        </p:nvSpPr>
        <p:spPr>
          <a:xfrm>
            <a:off x="2027506" y="3188364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7C55D08-603C-E232-61B6-F6E6D80CB9ED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91639" y="2428944"/>
            <a:ext cx="574226" cy="574226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F509D41-9C89-58BD-175F-B95993A8620B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26155" y="2485578"/>
            <a:ext cx="467988" cy="467988"/>
          </a:xfrm>
          <a:prstGeom prst="rect">
            <a:avLst/>
          </a:prstGeom>
        </p:spPr>
      </p:pic>
      <p:sp>
        <p:nvSpPr>
          <p:cNvPr id="29" name="TextBox 6">
            <a:extLst>
              <a:ext uri="{FF2B5EF4-FFF2-40B4-BE49-F238E27FC236}">
                <a16:creationId xmlns:a16="http://schemas.microsoft.com/office/drawing/2014/main" id="{C18D5746-D492-4F32-F959-8EFBF5662606}"/>
              </a:ext>
            </a:extLst>
          </p:cNvPr>
          <p:cNvSpPr txBox="1"/>
          <p:nvPr/>
        </p:nvSpPr>
        <p:spPr>
          <a:xfrm>
            <a:off x="7177915" y="2895884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9E82DF7B-CF9B-1EE6-97EC-F0BCFA624376}"/>
              </a:ext>
            </a:extLst>
          </p:cNvPr>
          <p:cNvSpPr txBox="1"/>
          <p:nvPr/>
        </p:nvSpPr>
        <p:spPr>
          <a:xfrm>
            <a:off x="8146363" y="2895885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4AEC827B-84FB-8D75-C084-BDFE4DF2C386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79153" y="2245340"/>
            <a:ext cx="301862" cy="247428"/>
          </a:xfrm>
          <a:prstGeom prst="rect">
            <a:avLst/>
          </a:prstGeom>
        </p:spPr>
      </p:pic>
      <p:sp>
        <p:nvSpPr>
          <p:cNvPr id="32" name="TextBox 6">
            <a:extLst>
              <a:ext uri="{FF2B5EF4-FFF2-40B4-BE49-F238E27FC236}">
                <a16:creationId xmlns:a16="http://schemas.microsoft.com/office/drawing/2014/main" id="{3B664FB3-94A5-8214-5E2E-F78689FB3659}"/>
              </a:ext>
            </a:extLst>
          </p:cNvPr>
          <p:cNvSpPr txBox="1"/>
          <p:nvPr/>
        </p:nvSpPr>
        <p:spPr>
          <a:xfrm>
            <a:off x="4621485" y="2462851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410A70E5-F5B8-6AC3-35ED-7A299E06923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85322" y="2940943"/>
            <a:ext cx="314823" cy="314823"/>
          </a:xfrm>
          <a:prstGeom prst="rect">
            <a:avLst/>
          </a:prstGeom>
        </p:spPr>
      </p:pic>
      <p:sp>
        <p:nvSpPr>
          <p:cNvPr id="34" name="TextBox 6">
            <a:extLst>
              <a:ext uri="{FF2B5EF4-FFF2-40B4-BE49-F238E27FC236}">
                <a16:creationId xmlns:a16="http://schemas.microsoft.com/office/drawing/2014/main" id="{B0E026AD-6E36-3D34-532A-6F8D20961DE1}"/>
              </a:ext>
            </a:extLst>
          </p:cNvPr>
          <p:cNvSpPr txBox="1"/>
          <p:nvPr/>
        </p:nvSpPr>
        <p:spPr>
          <a:xfrm>
            <a:off x="4487258" y="3189412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1E2F85D9-A49D-DBCB-34F4-DC77F3A322AA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74718" y="2943097"/>
            <a:ext cx="314823" cy="314823"/>
          </a:xfrm>
          <a:prstGeom prst="rect">
            <a:avLst/>
          </a:prstGeom>
        </p:spPr>
      </p:pic>
      <p:sp>
        <p:nvSpPr>
          <p:cNvPr id="36" name="TextBox 6">
            <a:extLst>
              <a:ext uri="{FF2B5EF4-FFF2-40B4-BE49-F238E27FC236}">
                <a16:creationId xmlns:a16="http://schemas.microsoft.com/office/drawing/2014/main" id="{6CFAAD65-3EF4-1D9C-74D8-C1092D4BD182}"/>
              </a:ext>
            </a:extLst>
          </p:cNvPr>
          <p:cNvSpPr txBox="1"/>
          <p:nvPr/>
        </p:nvSpPr>
        <p:spPr>
          <a:xfrm>
            <a:off x="4935825" y="3192579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934E9429-3072-61CC-4107-51D7292B5E04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69024" y="2966913"/>
            <a:ext cx="296444" cy="286420"/>
          </a:xfrm>
          <a:prstGeom prst="rect">
            <a:avLst/>
          </a:prstGeom>
        </p:spPr>
      </p:pic>
      <p:sp>
        <p:nvSpPr>
          <p:cNvPr id="38" name="TextBox 6">
            <a:extLst>
              <a:ext uri="{FF2B5EF4-FFF2-40B4-BE49-F238E27FC236}">
                <a16:creationId xmlns:a16="http://schemas.microsoft.com/office/drawing/2014/main" id="{85EF9B17-AF2B-02CD-E6F8-6BDB3421D1FC}"/>
              </a:ext>
            </a:extLst>
          </p:cNvPr>
          <p:cNvSpPr txBox="1"/>
          <p:nvPr/>
        </p:nvSpPr>
        <p:spPr>
          <a:xfrm>
            <a:off x="5534700" y="3211755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5ECE6EE4-BC38-125D-819D-E668334069FE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05461" y="2967432"/>
            <a:ext cx="290761" cy="290761"/>
          </a:xfrm>
          <a:prstGeom prst="rect">
            <a:avLst/>
          </a:prstGeom>
        </p:spPr>
      </p:pic>
      <p:sp>
        <p:nvSpPr>
          <p:cNvPr id="40" name="TextBox 6">
            <a:extLst>
              <a:ext uri="{FF2B5EF4-FFF2-40B4-BE49-F238E27FC236}">
                <a16:creationId xmlns:a16="http://schemas.microsoft.com/office/drawing/2014/main" id="{D1A98AB3-A3EE-D4B7-DE28-3DD2E093C08C}"/>
              </a:ext>
            </a:extLst>
          </p:cNvPr>
          <p:cNvSpPr txBox="1"/>
          <p:nvPr/>
        </p:nvSpPr>
        <p:spPr>
          <a:xfrm>
            <a:off x="3762887" y="3190935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41" name="乘号 40">
            <a:extLst>
              <a:ext uri="{FF2B5EF4-FFF2-40B4-BE49-F238E27FC236}">
                <a16:creationId xmlns:a16="http://schemas.microsoft.com/office/drawing/2014/main" id="{08F66E3A-F927-B844-76A9-8036985C7679}"/>
              </a:ext>
            </a:extLst>
          </p:cNvPr>
          <p:cNvSpPr/>
          <p:nvPr/>
        </p:nvSpPr>
        <p:spPr>
          <a:xfrm>
            <a:off x="2967023" y="1819775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乘号 41">
            <a:extLst>
              <a:ext uri="{FF2B5EF4-FFF2-40B4-BE49-F238E27FC236}">
                <a16:creationId xmlns:a16="http://schemas.microsoft.com/office/drawing/2014/main" id="{164AB541-E45F-AEE5-AC44-109D90F8A493}"/>
              </a:ext>
            </a:extLst>
          </p:cNvPr>
          <p:cNvSpPr/>
          <p:nvPr/>
        </p:nvSpPr>
        <p:spPr>
          <a:xfrm>
            <a:off x="6424798" y="1757358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11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4AAE74E-3A0D-14D0-3244-F23C2B54B944}"/>
              </a:ext>
            </a:extLst>
          </p:cNvPr>
          <p:cNvCxnSpPr>
            <a:cxnSpLocks/>
            <a:stCxn id="15" idx="2"/>
            <a:endCxn id="34" idx="0"/>
          </p:cNvCxnSpPr>
          <p:nvPr/>
        </p:nvCxnSpPr>
        <p:spPr>
          <a:xfrm>
            <a:off x="4706805" y="2772691"/>
            <a:ext cx="0" cy="1416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图片 32">
            <a:extLst>
              <a:ext uri="{FF2B5EF4-FFF2-40B4-BE49-F238E27FC236}">
                <a16:creationId xmlns:a16="http://schemas.microsoft.com/office/drawing/2014/main" id="{47E09B0A-A8B2-5BBF-0D03-B15460805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90926" y="-9908577"/>
            <a:ext cx="13858875" cy="923925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5586EE97-A427-DAC2-E988-7E271F5C426C}"/>
              </a:ext>
            </a:extLst>
          </p:cNvPr>
          <p:cNvSpPr/>
          <p:nvPr/>
        </p:nvSpPr>
        <p:spPr>
          <a:xfrm>
            <a:off x="-3712938" y="1689089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逛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0E0FD4-0266-EE81-7D21-6C6FA75645A1}"/>
              </a:ext>
            </a:extLst>
          </p:cNvPr>
          <p:cNvGraphicFramePr>
            <a:graphicFrameLocks noGrp="1"/>
          </p:cNvGraphicFramePr>
          <p:nvPr/>
        </p:nvGraphicFramePr>
        <p:xfrm>
          <a:off x="5188996" y="-3713929"/>
          <a:ext cx="8750300" cy="2750820"/>
        </p:xfrm>
        <a:graphic>
          <a:graphicData uri="http://schemas.openxmlformats.org/drawingml/2006/table">
            <a:tbl>
              <a:tblPr/>
              <a:tblGrid>
                <a:gridCol w="1115959">
                  <a:extLst>
                    <a:ext uri="{9D8B030D-6E8A-4147-A177-3AD203B41FA5}">
                      <a16:colId xmlns:a16="http://schemas.microsoft.com/office/drawing/2014/main" val="1115712029"/>
                    </a:ext>
                  </a:extLst>
                </a:gridCol>
                <a:gridCol w="3643495">
                  <a:extLst>
                    <a:ext uri="{9D8B030D-6E8A-4147-A177-3AD203B41FA5}">
                      <a16:colId xmlns:a16="http://schemas.microsoft.com/office/drawing/2014/main" val="3292610611"/>
                    </a:ext>
                  </a:extLst>
                </a:gridCol>
                <a:gridCol w="1995423">
                  <a:extLst>
                    <a:ext uri="{9D8B030D-6E8A-4147-A177-3AD203B41FA5}">
                      <a16:colId xmlns:a16="http://schemas.microsoft.com/office/drawing/2014/main" val="2886858965"/>
                    </a:ext>
                  </a:extLst>
                </a:gridCol>
                <a:gridCol w="1995423">
                  <a:extLst>
                    <a:ext uri="{9D8B030D-6E8A-4147-A177-3AD203B41FA5}">
                      <a16:colId xmlns:a16="http://schemas.microsoft.com/office/drawing/2014/main" val="2935372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>
                          <a:effectLst/>
                        </a:rPr>
                        <a:t>用户环节及需求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>
                          <a:effectLst/>
                        </a:rPr>
                        <a:t>典型用户场景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>
                          <a:effectLst/>
                        </a:rPr>
                        <a:t>典型产品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>
                          <a:effectLst/>
                        </a:rPr>
                        <a:t>榜单组合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逛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灵感激发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“不知道吃啥，目的不明确，需要被刺激”。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新鲜、探索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推荐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榜单落地页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54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看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信息获取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“这家店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这道菜到底怎么样？详情是否满足我的需求？千万别是广告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照骗。”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丰富、个性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en-US" altLang="zh-CN">
                          <a:effectLst/>
                        </a:rPr>
                        <a:t>POI</a:t>
                      </a:r>
                      <a:r>
                        <a:rPr lang="zh-CN" altLang="en-US">
                          <a:effectLst/>
                        </a:rPr>
                        <a:t>、标签、评价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榜单内资产表达、榜单作为标签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86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比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对比选择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“有很多条件类似的店，优先选哪个？”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效率、可信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搜索、筛选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榜单内筛选，榜单作为标签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快筛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510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到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决策闭环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“想选这家，能确保吃上么？”“有没有优惠？”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确定、准确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预订、排队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榜单履约组合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768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馈</a:t>
                      </a:r>
                      <a:r>
                        <a:rPr lang="en-US" altLang="zh-CN" dirty="0">
                          <a:effectLst/>
                        </a:rPr>
                        <a:t>-</a:t>
                      </a:r>
                      <a:r>
                        <a:rPr lang="zh-CN" altLang="en-US" dirty="0">
                          <a:effectLst/>
                        </a:rPr>
                        <a:t>验证反馈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“这家店值不值？下次还来吗？是否愿意推荐给别人”</a:t>
                      </a:r>
                      <a:r>
                        <a:rPr lang="en-US" altLang="zh-CN" dirty="0">
                          <a:effectLst/>
                        </a:rPr>
                        <a:t>——</a:t>
                      </a:r>
                      <a:r>
                        <a:rPr lang="zh-CN" altLang="en-US" dirty="0">
                          <a:effectLst/>
                        </a:rPr>
                        <a:t>验证、口碑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收藏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榜单好店挖掘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8691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83352B49-BFE3-A40A-D0DE-94AF252C04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433785" y="307005"/>
            <a:ext cx="670262" cy="6702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DC85D2A-07F7-6569-0F9B-B06368C3E15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71425" y="1545607"/>
            <a:ext cx="569610" cy="5696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7786976-6D3C-6026-C16D-94A886CF7E4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594783" y="2285308"/>
            <a:ext cx="416326" cy="4163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2AEB873-A75F-656B-B965-04769E97CB6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7257" y="3515259"/>
            <a:ext cx="501275" cy="5012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48ADFD9-B93A-807F-457D-B17778AF8E6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13748" y="4114140"/>
            <a:ext cx="454257" cy="43889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BD349BA-1BB9-45E5-90EC-DD3148D03AB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7257" y="2882206"/>
            <a:ext cx="501274" cy="501274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DED3EA92-8845-4094-BE2F-E8F188B99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386" y="13799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9FD302-71BA-71F8-6065-87D2B85BAC16}"/>
              </a:ext>
            </a:extLst>
          </p:cNvPr>
          <p:cNvSpPr txBox="1"/>
          <p:nvPr/>
        </p:nvSpPr>
        <p:spPr>
          <a:xfrm>
            <a:off x="12554488" y="-629789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dirty="0">
                <a:latin typeface="+mn-ea"/>
              </a:rPr>
              <a:t>典型用户场景</a:t>
            </a:r>
            <a:endParaRPr lang="zh-CN" altLang="en-US" dirty="0">
              <a:effectLst/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831155A-C32C-5312-77B7-C3CA44945291}"/>
              </a:ext>
            </a:extLst>
          </p:cNvPr>
          <p:cNvSpPr txBox="1"/>
          <p:nvPr/>
        </p:nvSpPr>
        <p:spPr>
          <a:xfrm>
            <a:off x="12868990" y="-29874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  <a:latin typeface="+mn-ea"/>
              </a:rPr>
              <a:t>“不知道吃啥，需要被刺激”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DA93E40-283F-F7F7-DE95-3F5ADE1335BB}"/>
              </a:ext>
            </a:extLst>
          </p:cNvPr>
          <p:cNvSpPr txBox="1"/>
          <p:nvPr/>
        </p:nvSpPr>
        <p:spPr>
          <a:xfrm>
            <a:off x="12868990" y="1178477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  <a:latin typeface="+mn-ea"/>
              </a:rPr>
              <a:t>“到底怎么样？是否满足我？”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CA144B4-E939-E925-044A-6BD312CD71C2}"/>
              </a:ext>
            </a:extLst>
          </p:cNvPr>
          <p:cNvSpPr txBox="1"/>
          <p:nvPr/>
        </p:nvSpPr>
        <p:spPr>
          <a:xfrm>
            <a:off x="12912568" y="2201419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200" b="0" i="0" u="none" strike="noStrike" kern="1200" dirty="0">
                <a:solidFill>
                  <a:srgbClr val="000000"/>
                </a:solidFill>
                <a:effectLst/>
                <a:latin typeface="+mn-ea"/>
              </a:rPr>
              <a:t>“有很多，优先选哪个？”</a:t>
            </a:r>
            <a:endParaRPr lang="zh-CN" altLang="zh-CN" sz="1200" b="0" i="0" u="none" strike="noStrike" dirty="0">
              <a:effectLst/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FAC1D6A-F6D6-DE1F-FBDF-E978BC41B296}"/>
              </a:ext>
            </a:extLst>
          </p:cNvPr>
          <p:cNvSpPr txBox="1"/>
          <p:nvPr/>
        </p:nvSpPr>
        <p:spPr>
          <a:xfrm>
            <a:off x="12868990" y="3345732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</a:rPr>
              <a:t>“想选这家，能确保吃上么？”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622911F-50D8-1CDB-D92D-6723DF7554EE}"/>
              </a:ext>
            </a:extLst>
          </p:cNvPr>
          <p:cNvSpPr txBox="1"/>
          <p:nvPr/>
        </p:nvSpPr>
        <p:spPr>
          <a:xfrm>
            <a:off x="12912568" y="4443904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</a:rPr>
              <a:t>“下次还来吗？是否推荐给别人”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673E5F7-CD8B-E7A7-223A-A85617A3F3E2}"/>
              </a:ext>
            </a:extLst>
          </p:cNvPr>
          <p:cNvSpPr txBox="1"/>
          <p:nvPr/>
        </p:nvSpPr>
        <p:spPr>
          <a:xfrm>
            <a:off x="2726348" y="-617481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endParaRPr lang="zh-CN" altLang="en-US" dirty="0">
              <a:effectLst/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7041982-44C8-1944-74BB-353136615016}"/>
              </a:ext>
            </a:extLst>
          </p:cNvPr>
          <p:cNvSpPr txBox="1"/>
          <p:nvPr/>
        </p:nvSpPr>
        <p:spPr>
          <a:xfrm>
            <a:off x="4584811" y="-596716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endParaRPr lang="zh-CN" altLang="en-US" dirty="0">
              <a:effectLst/>
              <a:latin typeface="+mn-ea"/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4BDA1D71-B185-9A6D-E4A6-15899B4006E8}"/>
              </a:ext>
            </a:extLst>
          </p:cNvPr>
          <p:cNvGraphicFramePr>
            <a:graphicFrameLocks noGrp="1"/>
          </p:cNvGraphicFramePr>
          <p:nvPr/>
        </p:nvGraphicFramePr>
        <p:xfrm>
          <a:off x="-274906" y="862534"/>
          <a:ext cx="10542855" cy="3842497"/>
        </p:xfrm>
        <a:graphic>
          <a:graphicData uri="http://schemas.openxmlformats.org/drawingml/2006/table">
            <a:tbl>
              <a:tblPr/>
              <a:tblGrid>
                <a:gridCol w="1148053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18605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1250906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75410669"/>
                    </a:ext>
                  </a:extLst>
                </a:gridCol>
                <a:gridCol w="1274916">
                  <a:extLst>
                    <a:ext uri="{9D8B030D-6E8A-4147-A177-3AD203B41FA5}">
                      <a16:colId xmlns:a16="http://schemas.microsoft.com/office/drawing/2014/main" val="3811968680"/>
                    </a:ext>
                  </a:extLst>
                </a:gridCol>
                <a:gridCol w="2284368">
                  <a:extLst>
                    <a:ext uri="{9D8B030D-6E8A-4147-A177-3AD203B41FA5}">
                      <a16:colId xmlns:a16="http://schemas.microsoft.com/office/drawing/2014/main" val="1148278393"/>
                    </a:ext>
                  </a:extLst>
                </a:gridCol>
                <a:gridCol w="1352506">
                  <a:extLst>
                    <a:ext uri="{9D8B030D-6E8A-4147-A177-3AD203B41FA5}">
                      <a16:colId xmlns:a16="http://schemas.microsoft.com/office/drawing/2014/main" val="2000584080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典型产品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优势组合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MT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优势组合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对话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榜单原有价值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价值升级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推荐流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其它排名门店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44002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、标签、评价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上榜原因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搜索、筛选、</a:t>
                      </a:r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榜单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榜单列表</a:t>
                      </a:r>
                      <a:r>
                        <a:rPr lang="en-US" altLang="zh-CN" sz="1600" b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预排、优惠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产品组合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收藏、评价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分享复访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F231433-4C5A-028B-AFAF-3FF590639DE4}"/>
              </a:ext>
            </a:extLst>
          </p:cNvPr>
          <p:cNvGraphicFramePr>
            <a:graphicFrameLocks noGrp="1"/>
          </p:cNvGraphicFramePr>
          <p:nvPr/>
        </p:nvGraphicFramePr>
        <p:xfrm>
          <a:off x="-9713210" y="2873666"/>
          <a:ext cx="8272595" cy="3838194"/>
        </p:xfrm>
        <a:graphic>
          <a:graphicData uri="http://schemas.openxmlformats.org/drawingml/2006/table">
            <a:tbl>
              <a:tblPr/>
              <a:tblGrid>
                <a:gridCol w="1587804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17589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1657306">
                  <a:extLst>
                    <a:ext uri="{9D8B030D-6E8A-4147-A177-3AD203B41FA5}">
                      <a16:colId xmlns:a16="http://schemas.microsoft.com/office/drawing/2014/main" val="962167861"/>
                    </a:ext>
                  </a:extLst>
                </a:gridCol>
                <a:gridCol w="1657306">
                  <a:extLst>
                    <a:ext uri="{9D8B030D-6E8A-4147-A177-3AD203B41FA5}">
                      <a16:colId xmlns:a16="http://schemas.microsoft.com/office/drawing/2014/main" val="856839086"/>
                    </a:ext>
                  </a:extLst>
                </a:gridCol>
                <a:gridCol w="1611273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典型产品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榜单体验（内）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榜单组合（外）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D+/MT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推荐流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榜单页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、标签、评价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榜单资产表达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搜索、筛选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榜单内筛选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榜单筛选、标签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预排、优惠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履约深度结合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收藏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好店挖掘、异常剔除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77EDEBBF-0CBF-AC9B-AE8B-D31FD2148692}"/>
              </a:ext>
            </a:extLst>
          </p:cNvPr>
          <p:cNvSpPr/>
          <p:nvPr/>
        </p:nvSpPr>
        <p:spPr>
          <a:xfrm>
            <a:off x="2779650" y="1667384"/>
            <a:ext cx="1120925" cy="1002667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+mn-ea"/>
              </a:rPr>
              <a:t>推短视频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C055783-C06F-B776-FE9F-1885FB123A38}"/>
              </a:ext>
            </a:extLst>
          </p:cNvPr>
          <p:cNvSpPr/>
          <p:nvPr/>
        </p:nvSpPr>
        <p:spPr>
          <a:xfrm>
            <a:off x="2779650" y="3560674"/>
            <a:ext cx="1120925" cy="50127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+mn-ea"/>
              </a:rPr>
              <a:t>优惠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784CC56-5363-7C3D-1114-FB6EE33DF3B2}"/>
              </a:ext>
            </a:extLst>
          </p:cNvPr>
          <p:cNvCxnSpPr/>
          <p:nvPr/>
        </p:nvCxnSpPr>
        <p:spPr>
          <a:xfrm>
            <a:off x="3323304" y="2811697"/>
            <a:ext cx="0" cy="6365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1C41A0C-6843-09CF-029D-361D9D8E2F3A}"/>
              </a:ext>
            </a:extLst>
          </p:cNvPr>
          <p:cNvSpPr/>
          <p:nvPr/>
        </p:nvSpPr>
        <p:spPr>
          <a:xfrm>
            <a:off x="4102104" y="2271357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POI</a:t>
            </a:r>
            <a:r>
              <a:rPr lang="zh-CN" altLang="en-US" sz="1600" dirty="0">
                <a:solidFill>
                  <a:schemeClr val="tx1"/>
                </a:solidFill>
              </a:rPr>
              <a:t>、看评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0DB2C26-D559-CE8B-A78A-BCDD97874D61}"/>
              </a:ext>
            </a:extLst>
          </p:cNvPr>
          <p:cNvSpPr/>
          <p:nvPr/>
        </p:nvSpPr>
        <p:spPr>
          <a:xfrm>
            <a:off x="4102105" y="2923822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搜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榜列表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93F12C5-C929-6875-86C7-722F8B6FF537}"/>
              </a:ext>
            </a:extLst>
          </p:cNvPr>
          <p:cNvSpPr/>
          <p:nvPr/>
        </p:nvSpPr>
        <p:spPr>
          <a:xfrm>
            <a:off x="4102105" y="3557387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交履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73B7179-7FCA-73B7-E5E0-A8CDFAE87A57}"/>
              </a:ext>
            </a:extLst>
          </p:cNvPr>
          <p:cNvSpPr/>
          <p:nvPr/>
        </p:nvSpPr>
        <p:spPr>
          <a:xfrm>
            <a:off x="4102104" y="4188724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写评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56A2E59-6521-04A0-009D-B8BFCEFAED4E}"/>
              </a:ext>
            </a:extLst>
          </p:cNvPr>
          <p:cNvSpPr/>
          <p:nvPr/>
        </p:nvSpPr>
        <p:spPr>
          <a:xfrm>
            <a:off x="5444895" y="1701789"/>
            <a:ext cx="1120925" cy="30267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环节压缩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56F3037-436B-8BDE-4B13-10BDF34E3018}"/>
              </a:ext>
            </a:extLst>
          </p:cNvPr>
          <p:cNvCxnSpPr>
            <a:cxnSpLocks/>
          </p:cNvCxnSpPr>
          <p:nvPr/>
        </p:nvCxnSpPr>
        <p:spPr>
          <a:xfrm>
            <a:off x="6792757" y="879495"/>
            <a:ext cx="0" cy="40387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C9BDE866-267D-D316-0B20-425A89C5DB05}"/>
              </a:ext>
            </a:extLst>
          </p:cNvPr>
          <p:cNvGraphicFramePr>
            <a:graphicFrameLocks noGrp="1"/>
          </p:cNvGraphicFramePr>
          <p:nvPr/>
        </p:nvGraphicFramePr>
        <p:xfrm>
          <a:off x="10578585" y="5302900"/>
          <a:ext cx="8658048" cy="3838194"/>
        </p:xfrm>
        <a:graphic>
          <a:graphicData uri="http://schemas.openxmlformats.org/drawingml/2006/table">
            <a:tbl>
              <a:tblPr/>
              <a:tblGrid>
                <a:gridCol w="1250405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22669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2346737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  <a:gridCol w="1525113">
                  <a:extLst>
                    <a:ext uri="{9D8B030D-6E8A-4147-A177-3AD203B41FA5}">
                      <a16:colId xmlns:a16="http://schemas.microsoft.com/office/drawing/2014/main" val="510373423"/>
                    </a:ext>
                  </a:extLst>
                </a:gridCol>
                <a:gridCol w="1268887">
                  <a:extLst>
                    <a:ext uri="{9D8B030D-6E8A-4147-A177-3AD203B41FA5}">
                      <a16:colId xmlns:a16="http://schemas.microsoft.com/office/drawing/2014/main" val="3811968680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传统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决策入口：可优化动作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价值升级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榜单页改造（内）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动线前置触达（外）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资产表达强化（内）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榜单标签展示（外）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榜单内筛选（内）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搜、筛榜单标签（外）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履约深度结合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好店挖掘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异常剔除（内）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优化分享、召回（外）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B6026AC7-EAC0-ADA8-48CF-384FBF9BBA3B}"/>
              </a:ext>
            </a:extLst>
          </p:cNvPr>
          <p:cNvSpPr/>
          <p:nvPr/>
        </p:nvSpPr>
        <p:spPr>
          <a:xfrm>
            <a:off x="8987365" y="1701789"/>
            <a:ext cx="1209401" cy="30267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决策入口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⬇️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信任引用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EFBE1D69-1C24-B128-73AC-EE9895707806}"/>
              </a:ext>
            </a:extLst>
          </p:cNvPr>
          <p:cNvSpPr/>
          <p:nvPr/>
        </p:nvSpPr>
        <p:spPr>
          <a:xfrm>
            <a:off x="15404748" y="6821134"/>
            <a:ext cx="336885" cy="2747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5059656-75B4-355A-7E46-5315D42AD43E}"/>
              </a:ext>
            </a:extLst>
          </p:cNvPr>
          <p:cNvCxnSpPr>
            <a:cxnSpLocks/>
          </p:cNvCxnSpPr>
          <p:nvPr/>
        </p:nvCxnSpPr>
        <p:spPr>
          <a:xfrm>
            <a:off x="10709788" y="5155827"/>
            <a:ext cx="0" cy="3705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287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FE91-BD63-66BF-2F4D-AD574F5F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A187DF81-E258-67DE-70C7-630C64BD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32009"/>
            <a:ext cx="7664380" cy="427313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latin typeface="+mn-ea"/>
                <a:ea typeface="+mn-ea"/>
              </a:rPr>
              <a:t>行业榜单需求覆盖分析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D39A05-2F39-3D9D-9AF0-5D3BCD2EE168}"/>
              </a:ext>
            </a:extLst>
          </p:cNvPr>
          <p:cNvSpPr/>
          <p:nvPr/>
        </p:nvSpPr>
        <p:spPr>
          <a:xfrm>
            <a:off x="928236" y="910821"/>
            <a:ext cx="7042423" cy="37855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0F4010-0465-CAD3-6609-EBEB903758CD}"/>
              </a:ext>
            </a:extLst>
          </p:cNvPr>
          <p:cNvSpPr txBox="1"/>
          <p:nvPr/>
        </p:nvSpPr>
        <p:spPr>
          <a:xfrm>
            <a:off x="568335" y="464083"/>
            <a:ext cx="2948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尊重、审美、认知（如尝鲜）需求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98184E-CA29-BA40-E3C8-EABC8F21DFFA}"/>
              </a:ext>
            </a:extLst>
          </p:cNvPr>
          <p:cNvSpPr txBox="1"/>
          <p:nvPr/>
        </p:nvSpPr>
        <p:spPr>
          <a:xfrm>
            <a:off x="3390566" y="459322"/>
            <a:ext cx="18259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社交、情感与归属需求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9DB24E3-9990-75BA-B544-830E9F15585B}"/>
              </a:ext>
            </a:extLst>
          </p:cNvPr>
          <p:cNvSpPr txBox="1"/>
          <p:nvPr/>
        </p:nvSpPr>
        <p:spPr>
          <a:xfrm>
            <a:off x="5502515" y="453767"/>
            <a:ext cx="13630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功能需求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09DE7B-9554-ED9F-5DCA-0654073F3D58}"/>
              </a:ext>
            </a:extLst>
          </p:cNvPr>
          <p:cNvSpPr txBox="1"/>
          <p:nvPr/>
        </p:nvSpPr>
        <p:spPr>
          <a:xfrm>
            <a:off x="2936442" y="668168"/>
            <a:ext cx="2948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情侣约会、亲朋聚会、工作宴请、亲子等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7B6808-46AF-EC3D-B1E1-3A985F1C26B0}"/>
              </a:ext>
            </a:extLst>
          </p:cNvPr>
          <p:cNvSpPr txBox="1"/>
          <p:nvPr/>
        </p:nvSpPr>
        <p:spPr>
          <a:xfrm>
            <a:off x="708618" y="654218"/>
            <a:ext cx="266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旅游、漂亮饭等氛围餐厅、时令等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87005BE-C6EB-BCFB-CBF4-B647BCE45349}"/>
              </a:ext>
            </a:extLst>
          </p:cNvPr>
          <p:cNvSpPr txBox="1"/>
          <p:nvPr/>
        </p:nvSpPr>
        <p:spPr>
          <a:xfrm>
            <a:off x="5209877" y="648785"/>
            <a:ext cx="19482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品类、口味等</a:t>
            </a:r>
          </a:p>
        </p:txBody>
      </p:sp>
      <p:sp>
        <p:nvSpPr>
          <p:cNvPr id="28" name="矩形: 圆角 21">
            <a:extLst>
              <a:ext uri="{FF2B5EF4-FFF2-40B4-BE49-F238E27FC236}">
                <a16:creationId xmlns:a16="http://schemas.microsoft.com/office/drawing/2014/main" id="{776A4F49-D489-7B54-253C-40D90A8E9284}"/>
              </a:ext>
            </a:extLst>
          </p:cNvPr>
          <p:cNvSpPr/>
          <p:nvPr/>
        </p:nvSpPr>
        <p:spPr>
          <a:xfrm>
            <a:off x="4883895" y="957989"/>
            <a:ext cx="2274258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3" name="矩形: 圆角 21">
            <a:extLst>
              <a:ext uri="{FF2B5EF4-FFF2-40B4-BE49-F238E27FC236}">
                <a16:creationId xmlns:a16="http://schemas.microsoft.com/office/drawing/2014/main" id="{F6466A6D-3F62-C95F-4089-7B93F26E4E4F}"/>
              </a:ext>
            </a:extLst>
          </p:cNvPr>
          <p:cNvSpPr/>
          <p:nvPr/>
        </p:nvSpPr>
        <p:spPr>
          <a:xfrm>
            <a:off x="1059365" y="957989"/>
            <a:ext cx="3824529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0" name="矩形: 圆角 21">
            <a:extLst>
              <a:ext uri="{FF2B5EF4-FFF2-40B4-BE49-F238E27FC236}">
                <a16:creationId xmlns:a16="http://schemas.microsoft.com/office/drawing/2014/main" id="{537EA026-27E4-5E50-5F7D-6A040F841640}"/>
              </a:ext>
            </a:extLst>
          </p:cNvPr>
          <p:cNvSpPr/>
          <p:nvPr/>
        </p:nvSpPr>
        <p:spPr>
          <a:xfrm>
            <a:off x="4943596" y="1017854"/>
            <a:ext cx="1127093" cy="872653"/>
          </a:xfrm>
          <a:prstGeom prst="roundRect">
            <a:avLst>
              <a:gd name="adj" fmla="val 24241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人气榜、好评榜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3" name="矩形: 圆角 21">
            <a:extLst>
              <a:ext uri="{FF2B5EF4-FFF2-40B4-BE49-F238E27FC236}">
                <a16:creationId xmlns:a16="http://schemas.microsoft.com/office/drawing/2014/main" id="{33B98819-095F-D685-5F85-D8C71D373B94}"/>
              </a:ext>
            </a:extLst>
          </p:cNvPr>
          <p:cNvSpPr/>
          <p:nvPr/>
        </p:nvSpPr>
        <p:spPr>
          <a:xfrm>
            <a:off x="4969096" y="1915680"/>
            <a:ext cx="1999450" cy="890115"/>
          </a:xfrm>
          <a:prstGeom prst="roundRect">
            <a:avLst>
              <a:gd name="adj" fmla="val 1850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销量榜、好评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口味等榜、热门榜、打卡人气榜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4" name="矩形: 圆角 21">
            <a:extLst>
              <a:ext uri="{FF2B5EF4-FFF2-40B4-BE49-F238E27FC236}">
                <a16:creationId xmlns:a16="http://schemas.microsoft.com/office/drawing/2014/main" id="{FE7B4779-4340-5BAD-B64C-295EE7B6A17B}"/>
              </a:ext>
            </a:extLst>
          </p:cNvPr>
          <p:cNvSpPr/>
          <p:nvPr/>
        </p:nvSpPr>
        <p:spPr>
          <a:xfrm>
            <a:off x="4933839" y="2848199"/>
            <a:ext cx="2034707" cy="893506"/>
          </a:xfrm>
          <a:prstGeom prst="roundRect">
            <a:avLst>
              <a:gd name="adj" fmla="val 2526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热销、回头客榜、好评榜、人气榜、收藏榜、点亮榜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5" name="矩形: 圆角 21">
            <a:extLst>
              <a:ext uri="{FF2B5EF4-FFF2-40B4-BE49-F238E27FC236}">
                <a16:creationId xmlns:a16="http://schemas.microsoft.com/office/drawing/2014/main" id="{B2040DC1-119E-13C2-3571-BF2DEA7C7CB7}"/>
              </a:ext>
            </a:extLst>
          </p:cNvPr>
          <p:cNvSpPr/>
          <p:nvPr/>
        </p:nvSpPr>
        <p:spPr>
          <a:xfrm>
            <a:off x="1194143" y="4195033"/>
            <a:ext cx="1663098" cy="4256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烟火小店、本地人爱去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6" name="矩形: 圆角 21">
            <a:extLst>
              <a:ext uri="{FF2B5EF4-FFF2-40B4-BE49-F238E27FC236}">
                <a16:creationId xmlns:a16="http://schemas.microsoft.com/office/drawing/2014/main" id="{8F07F32E-A959-0EE5-B7AE-4546BEA7F881}"/>
              </a:ext>
            </a:extLst>
          </p:cNvPr>
          <p:cNvSpPr/>
          <p:nvPr/>
        </p:nvSpPr>
        <p:spPr>
          <a:xfrm>
            <a:off x="1168956" y="2374835"/>
            <a:ext cx="1703804" cy="4309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当地人推荐、烟火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老店榜等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8" name="矩形: 圆角 21">
            <a:extLst>
              <a:ext uri="{FF2B5EF4-FFF2-40B4-BE49-F238E27FC236}">
                <a16:creationId xmlns:a16="http://schemas.microsoft.com/office/drawing/2014/main" id="{3FB46306-640F-DAB5-471D-34592AE5021D}"/>
              </a:ext>
            </a:extLst>
          </p:cNvPr>
          <p:cNvSpPr/>
          <p:nvPr/>
        </p:nvSpPr>
        <p:spPr>
          <a:xfrm>
            <a:off x="1194144" y="1416484"/>
            <a:ext cx="872329" cy="4274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当地人推荐</a:t>
            </a:r>
            <a:endParaRPr lang="en-US" altLang="zh-CN" sz="900" dirty="0">
              <a:solidFill>
                <a:schemeClr val="accent5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61" name="矩形: 圆角 21">
            <a:extLst>
              <a:ext uri="{FF2B5EF4-FFF2-40B4-BE49-F238E27FC236}">
                <a16:creationId xmlns:a16="http://schemas.microsoft.com/office/drawing/2014/main" id="{10C10CC4-17AB-08D4-F1F5-B8F21579599F}"/>
              </a:ext>
            </a:extLst>
          </p:cNvPr>
          <p:cNvSpPr/>
          <p:nvPr/>
        </p:nvSpPr>
        <p:spPr>
          <a:xfrm>
            <a:off x="1194143" y="3275539"/>
            <a:ext cx="1680561" cy="46616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烟火榜、本地人推荐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25Q4-26Q1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新增，仅高线）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03" name="矩形: 圆角 21">
            <a:extLst>
              <a:ext uri="{FF2B5EF4-FFF2-40B4-BE49-F238E27FC236}">
                <a16:creationId xmlns:a16="http://schemas.microsoft.com/office/drawing/2014/main" id="{9326DC1B-14C7-7A53-69E8-8E700B49103C}"/>
              </a:ext>
            </a:extLst>
          </p:cNvPr>
          <p:cNvSpPr/>
          <p:nvPr/>
        </p:nvSpPr>
        <p:spPr>
          <a:xfrm>
            <a:off x="4943596" y="3790267"/>
            <a:ext cx="2024950" cy="83046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轮胎磨损、回头客榜（多次前往）、热门榜</a:t>
            </a:r>
            <a:endParaRPr lang="en-US" altLang="zh-CN" sz="900" dirty="0">
              <a:solidFill>
                <a:srgbClr val="FF0000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3A34AA70-28EB-2CD9-A768-ED377EE3D674}"/>
              </a:ext>
            </a:extLst>
          </p:cNvPr>
          <p:cNvSpPr txBox="1"/>
          <p:nvPr/>
        </p:nvSpPr>
        <p:spPr>
          <a:xfrm>
            <a:off x="4852377" y="4724119"/>
            <a:ext cx="20131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用户行为指数入围排序</a:t>
            </a:r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FDB072CD-99F7-DA82-BADA-ACE105F4FABA}"/>
              </a:ext>
            </a:extLst>
          </p:cNvPr>
          <p:cNvSpPr txBox="1"/>
          <p:nvPr/>
        </p:nvSpPr>
        <p:spPr>
          <a:xfrm>
            <a:off x="1266670" y="4732629"/>
            <a:ext cx="31439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主题场景相关性</a:t>
            </a:r>
            <a:r>
              <a:rPr lang="en-US" altLang="zh-CN" sz="900" dirty="0">
                <a:solidFill>
                  <a:schemeClr val="accent5"/>
                </a:solidFill>
                <a:latin typeface="+mn-ea"/>
              </a:rPr>
              <a:t>+</a:t>
            </a:r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用户行为综合入围排序</a:t>
            </a:r>
          </a:p>
        </p:txBody>
      </p:sp>
      <p:sp>
        <p:nvSpPr>
          <p:cNvPr id="224" name="矩形: 圆角 21">
            <a:extLst>
              <a:ext uri="{FF2B5EF4-FFF2-40B4-BE49-F238E27FC236}">
                <a16:creationId xmlns:a16="http://schemas.microsoft.com/office/drawing/2014/main" id="{E73C804F-B1A2-6F4A-6C90-02887C0549C7}"/>
              </a:ext>
            </a:extLst>
          </p:cNvPr>
          <p:cNvSpPr/>
          <p:nvPr/>
        </p:nvSpPr>
        <p:spPr>
          <a:xfrm>
            <a:off x="2927606" y="1017854"/>
            <a:ext cx="1696954" cy="84083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约会</a:t>
            </a:r>
            <a:r>
              <a:rPr lang="en-US" altLang="zh-CN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聚会</a:t>
            </a:r>
            <a:r>
              <a:rPr lang="en-US" altLang="zh-CN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亲子榜等</a:t>
            </a:r>
            <a:endParaRPr lang="en-US" altLang="zh-CN" sz="900" dirty="0">
              <a:solidFill>
                <a:srgbClr val="C00000"/>
              </a:solidFill>
              <a:sym typeface="MiSans Bold" panose="00000800000000000000" pitchFamily="2" charset="-122"/>
            </a:endParaRPr>
          </a:p>
        </p:txBody>
      </p:sp>
      <p:sp>
        <p:nvSpPr>
          <p:cNvPr id="4" name="矩形: 圆角 21">
            <a:extLst>
              <a:ext uri="{FF2B5EF4-FFF2-40B4-BE49-F238E27FC236}">
                <a16:creationId xmlns:a16="http://schemas.microsoft.com/office/drawing/2014/main" id="{78AE23BE-11B0-B356-16CD-A1BFE64FEB3E}"/>
              </a:ext>
            </a:extLst>
          </p:cNvPr>
          <p:cNvSpPr/>
          <p:nvPr/>
        </p:nvSpPr>
        <p:spPr>
          <a:xfrm>
            <a:off x="2936442" y="3796320"/>
            <a:ext cx="1695057" cy="8350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主题餐厅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26Q1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新增，高线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9" name="矩形: 圆角 21">
            <a:extLst>
              <a:ext uri="{FF2B5EF4-FFF2-40B4-BE49-F238E27FC236}">
                <a16:creationId xmlns:a16="http://schemas.microsoft.com/office/drawing/2014/main" id="{CE605E40-3CFC-BAA3-4C39-0430795ECB17}"/>
              </a:ext>
            </a:extLst>
          </p:cNvPr>
          <p:cNvSpPr/>
          <p:nvPr/>
        </p:nvSpPr>
        <p:spPr>
          <a:xfrm>
            <a:off x="1194143" y="3823646"/>
            <a:ext cx="1663098" cy="3647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食仙榜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11" name="矩形: 圆角 21">
            <a:extLst>
              <a:ext uri="{FF2B5EF4-FFF2-40B4-BE49-F238E27FC236}">
                <a16:creationId xmlns:a16="http://schemas.microsoft.com/office/drawing/2014/main" id="{CC4ACFEC-7F55-BBFC-AD87-3E20AE93E342}"/>
              </a:ext>
            </a:extLst>
          </p:cNvPr>
          <p:cNvSpPr/>
          <p:nvPr/>
        </p:nvSpPr>
        <p:spPr>
          <a:xfrm>
            <a:off x="2936443" y="1898504"/>
            <a:ext cx="1696954" cy="9072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城市生活指南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6" name="矩形: 圆角 21">
            <a:extLst>
              <a:ext uri="{FF2B5EF4-FFF2-40B4-BE49-F238E27FC236}">
                <a16:creationId xmlns:a16="http://schemas.microsoft.com/office/drawing/2014/main" id="{0A4D2ADB-7CF8-C7A8-6A22-55603AA9B1B4}"/>
              </a:ext>
            </a:extLst>
          </p:cNvPr>
          <p:cNvSpPr/>
          <p:nvPr/>
        </p:nvSpPr>
        <p:spPr>
          <a:xfrm>
            <a:off x="1173341" y="1906441"/>
            <a:ext cx="1703804" cy="4532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特色菜、特色美食榜等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8" name="矩形: 圆角 10">
            <a:extLst>
              <a:ext uri="{FF2B5EF4-FFF2-40B4-BE49-F238E27FC236}">
                <a16:creationId xmlns:a16="http://schemas.microsoft.com/office/drawing/2014/main" id="{8D5337B8-8086-B058-FA1A-D0D5BD2BBF0D}"/>
              </a:ext>
            </a:extLst>
          </p:cNvPr>
          <p:cNvSpPr/>
          <p:nvPr/>
        </p:nvSpPr>
        <p:spPr>
          <a:xfrm>
            <a:off x="448709" y="960531"/>
            <a:ext cx="429581" cy="90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美团</a:t>
            </a:r>
          </a:p>
        </p:txBody>
      </p:sp>
      <p:sp>
        <p:nvSpPr>
          <p:cNvPr id="19" name="矩形: 圆角 13">
            <a:extLst>
              <a:ext uri="{FF2B5EF4-FFF2-40B4-BE49-F238E27FC236}">
                <a16:creationId xmlns:a16="http://schemas.microsoft.com/office/drawing/2014/main" id="{2E266E46-74C2-5925-0215-30E2D262F423}"/>
              </a:ext>
            </a:extLst>
          </p:cNvPr>
          <p:cNvSpPr/>
          <p:nvPr/>
        </p:nvSpPr>
        <p:spPr>
          <a:xfrm>
            <a:off x="448218" y="1905794"/>
            <a:ext cx="429581" cy="90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点评</a:t>
            </a:r>
          </a:p>
        </p:txBody>
      </p:sp>
      <p:sp>
        <p:nvSpPr>
          <p:cNvPr id="25" name="矩形: 圆角 14">
            <a:extLst>
              <a:ext uri="{FF2B5EF4-FFF2-40B4-BE49-F238E27FC236}">
                <a16:creationId xmlns:a16="http://schemas.microsoft.com/office/drawing/2014/main" id="{1E96AE16-69D0-AB30-C22E-C829342B5CCF}"/>
              </a:ext>
            </a:extLst>
          </p:cNvPr>
          <p:cNvSpPr/>
          <p:nvPr/>
        </p:nvSpPr>
        <p:spPr>
          <a:xfrm>
            <a:off x="451523" y="2851057"/>
            <a:ext cx="413872" cy="90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D+</a:t>
            </a:r>
            <a:endParaRPr lang="zh-CN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矩形: 圆角 14">
            <a:extLst>
              <a:ext uri="{FF2B5EF4-FFF2-40B4-BE49-F238E27FC236}">
                <a16:creationId xmlns:a16="http://schemas.microsoft.com/office/drawing/2014/main" id="{DA8AD9CC-AA9E-D4BA-6690-C38EAED648CE}"/>
              </a:ext>
            </a:extLst>
          </p:cNvPr>
          <p:cNvSpPr/>
          <p:nvPr/>
        </p:nvSpPr>
        <p:spPr>
          <a:xfrm>
            <a:off x="461605" y="3796320"/>
            <a:ext cx="403790" cy="90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B+</a:t>
            </a:r>
            <a:endParaRPr lang="zh-CN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矩形: 圆角 21">
            <a:extLst>
              <a:ext uri="{FF2B5EF4-FFF2-40B4-BE49-F238E27FC236}">
                <a16:creationId xmlns:a16="http://schemas.microsoft.com/office/drawing/2014/main" id="{EFD36EFC-AE48-E024-AF83-28FD9D1177D6}"/>
              </a:ext>
            </a:extLst>
          </p:cNvPr>
          <p:cNvSpPr/>
          <p:nvPr/>
        </p:nvSpPr>
        <p:spPr>
          <a:xfrm>
            <a:off x="1194145" y="1017854"/>
            <a:ext cx="1675660" cy="3728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特色菜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1" name="矩形: 圆角 21">
            <a:extLst>
              <a:ext uri="{FF2B5EF4-FFF2-40B4-BE49-F238E27FC236}">
                <a16:creationId xmlns:a16="http://schemas.microsoft.com/office/drawing/2014/main" id="{24C13260-1858-7E13-2B48-CC82E9E7F109}"/>
              </a:ext>
            </a:extLst>
          </p:cNvPr>
          <p:cNvSpPr/>
          <p:nvPr/>
        </p:nvSpPr>
        <p:spPr>
          <a:xfrm>
            <a:off x="2116418" y="1422714"/>
            <a:ext cx="740823" cy="43597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烟火榜等</a:t>
            </a:r>
            <a:endParaRPr lang="en-US" altLang="zh-CN" sz="900" dirty="0">
              <a:solidFill>
                <a:srgbClr val="C00000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5" name="矩形: 圆角 21">
            <a:extLst>
              <a:ext uri="{FF2B5EF4-FFF2-40B4-BE49-F238E27FC236}">
                <a16:creationId xmlns:a16="http://schemas.microsoft.com/office/drawing/2014/main" id="{BA5DF595-EA94-0F7A-BE1B-523A38BFB0AA}"/>
              </a:ext>
            </a:extLst>
          </p:cNvPr>
          <p:cNvSpPr/>
          <p:nvPr/>
        </p:nvSpPr>
        <p:spPr>
          <a:xfrm>
            <a:off x="6130389" y="1049668"/>
            <a:ext cx="838157" cy="84083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回头客榜等</a:t>
            </a:r>
            <a:endParaRPr lang="en-US" altLang="zh-CN" sz="900" dirty="0">
              <a:solidFill>
                <a:srgbClr val="C00000"/>
              </a:solidFill>
              <a:sym typeface="MiSans Bold" panose="00000800000000000000" pitchFamily="2" charset="-122"/>
            </a:endParaRPr>
          </a:p>
        </p:txBody>
      </p:sp>
      <p:sp>
        <p:nvSpPr>
          <p:cNvPr id="38" name="矩形: 圆角 21">
            <a:extLst>
              <a:ext uri="{FF2B5EF4-FFF2-40B4-BE49-F238E27FC236}">
                <a16:creationId xmlns:a16="http://schemas.microsoft.com/office/drawing/2014/main" id="{A7A7B102-3A76-786F-ACE2-06C4EBECCCC0}"/>
              </a:ext>
            </a:extLst>
          </p:cNvPr>
          <p:cNvSpPr/>
          <p:nvPr/>
        </p:nvSpPr>
        <p:spPr>
          <a:xfrm>
            <a:off x="7155553" y="957377"/>
            <a:ext cx="760825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9A2A012-A1A9-E772-E6A1-B76DEEFA23A8}"/>
              </a:ext>
            </a:extLst>
          </p:cNvPr>
          <p:cNvSpPr txBox="1"/>
          <p:nvPr/>
        </p:nvSpPr>
        <p:spPr>
          <a:xfrm>
            <a:off x="6983431" y="4732629"/>
            <a:ext cx="10391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荣誉评审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FA55B88-297A-7E2E-A6B2-23A0766D3EB0}"/>
              </a:ext>
            </a:extLst>
          </p:cNvPr>
          <p:cNvSpPr txBox="1"/>
          <p:nvPr/>
        </p:nvSpPr>
        <p:spPr>
          <a:xfrm>
            <a:off x="7189380" y="442658"/>
            <a:ext cx="72699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综合需求</a:t>
            </a:r>
            <a:endParaRPr lang="en-US" altLang="zh-CN" sz="9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9" name="矩形: 圆角 21">
            <a:extLst>
              <a:ext uri="{FF2B5EF4-FFF2-40B4-BE49-F238E27FC236}">
                <a16:creationId xmlns:a16="http://schemas.microsoft.com/office/drawing/2014/main" id="{72C4B27C-25E2-8703-0273-69D5843DF3C9}"/>
              </a:ext>
            </a:extLst>
          </p:cNvPr>
          <p:cNvSpPr/>
          <p:nvPr/>
        </p:nvSpPr>
        <p:spPr>
          <a:xfrm>
            <a:off x="7201183" y="1054743"/>
            <a:ext cx="630649" cy="83576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黑珍珠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0" name="矩形: 圆角 21">
            <a:extLst>
              <a:ext uri="{FF2B5EF4-FFF2-40B4-BE49-F238E27FC236}">
                <a16:creationId xmlns:a16="http://schemas.microsoft.com/office/drawing/2014/main" id="{7F60CD27-BA34-4BA3-0789-07AB3CD7818E}"/>
              </a:ext>
            </a:extLst>
          </p:cNvPr>
          <p:cNvSpPr/>
          <p:nvPr/>
        </p:nvSpPr>
        <p:spPr>
          <a:xfrm>
            <a:off x="7209118" y="1924734"/>
            <a:ext cx="625846" cy="88105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必吃榜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1" name="矩形: 圆角 21">
            <a:extLst>
              <a:ext uri="{FF2B5EF4-FFF2-40B4-BE49-F238E27FC236}">
                <a16:creationId xmlns:a16="http://schemas.microsoft.com/office/drawing/2014/main" id="{C9703710-8C8C-1171-0D28-DD474C64D59E}"/>
              </a:ext>
            </a:extLst>
          </p:cNvPr>
          <p:cNvSpPr/>
          <p:nvPr/>
        </p:nvSpPr>
        <p:spPr>
          <a:xfrm>
            <a:off x="7222063" y="2845702"/>
            <a:ext cx="618010" cy="896003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甄选榜、心动榜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2" name="矩形: 圆角 21">
            <a:extLst>
              <a:ext uri="{FF2B5EF4-FFF2-40B4-BE49-F238E27FC236}">
                <a16:creationId xmlns:a16="http://schemas.microsoft.com/office/drawing/2014/main" id="{5C7B06AF-4AC5-711F-D295-D84FA06DA232}"/>
              </a:ext>
            </a:extLst>
          </p:cNvPr>
          <p:cNvSpPr/>
          <p:nvPr/>
        </p:nvSpPr>
        <p:spPr>
          <a:xfrm>
            <a:off x="7219694" y="3796320"/>
            <a:ext cx="618010" cy="83500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状元榜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1342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06670" y="1003783"/>
            <a:ext cx="8247310" cy="7101854"/>
          </a:xfrm>
          <a:prstGeom prst="roundRect">
            <a:avLst/>
          </a:prstGeom>
          <a:solidFill>
            <a:srgbClr val="F8F5FC"/>
          </a:solidFill>
          <a:ln>
            <a:solidFill>
              <a:srgbClr val="744B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15">
            <a:extLst>
              <a:ext uri="{FF2B5EF4-FFF2-40B4-BE49-F238E27FC236}">
                <a16:creationId xmlns:a16="http://schemas.microsoft.com/office/drawing/2014/main" id="{FF4791A2-6F37-0D4F-FAB1-E552048284D2}"/>
              </a:ext>
            </a:extLst>
          </p:cNvPr>
          <p:cNvSpPr/>
          <p:nvPr/>
        </p:nvSpPr>
        <p:spPr>
          <a:xfrm>
            <a:off x="2688778" y="1246900"/>
            <a:ext cx="1012416" cy="708448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40" name="Rounded Rectangle 15">
            <a:extLst>
              <a:ext uri="{FF2B5EF4-FFF2-40B4-BE49-F238E27FC236}">
                <a16:creationId xmlns:a16="http://schemas.microsoft.com/office/drawing/2014/main" id="{1B9B9796-EB9F-890D-E755-07B5A3168227}"/>
              </a:ext>
            </a:extLst>
          </p:cNvPr>
          <p:cNvSpPr/>
          <p:nvPr/>
        </p:nvSpPr>
        <p:spPr>
          <a:xfrm>
            <a:off x="15627914" y="5515330"/>
            <a:ext cx="6927485" cy="5605546"/>
          </a:xfrm>
          <a:prstGeom prst="roundRect">
            <a:avLst>
              <a:gd name="adj" fmla="val 471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7" name="Rounded Rectangle 15">
            <a:extLst>
              <a:ext uri="{FF2B5EF4-FFF2-40B4-BE49-F238E27FC236}">
                <a16:creationId xmlns:a16="http://schemas.microsoft.com/office/drawing/2014/main" id="{8421FCA4-3821-7521-B9AF-A1415F2BAC1B}"/>
              </a:ext>
            </a:extLst>
          </p:cNvPr>
          <p:cNvSpPr/>
          <p:nvPr/>
        </p:nvSpPr>
        <p:spPr>
          <a:xfrm>
            <a:off x="18202321" y="5606266"/>
            <a:ext cx="4152721" cy="616991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C91E1826-A525-60DC-ACF7-217E0FCA7F16}"/>
              </a:ext>
            </a:extLst>
          </p:cNvPr>
          <p:cNvSpPr/>
          <p:nvPr/>
        </p:nvSpPr>
        <p:spPr>
          <a:xfrm>
            <a:off x="2359196" y="2317903"/>
            <a:ext cx="4638331" cy="5633561"/>
          </a:xfrm>
          <a:prstGeom prst="roundRect">
            <a:avLst>
              <a:gd name="adj" fmla="val 557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98" name="Rounded Rectangle 15">
            <a:extLst>
              <a:ext uri="{FF2B5EF4-FFF2-40B4-BE49-F238E27FC236}">
                <a16:creationId xmlns:a16="http://schemas.microsoft.com/office/drawing/2014/main" id="{34E974CF-B3F9-7D7B-A531-B533510429C6}"/>
              </a:ext>
            </a:extLst>
          </p:cNvPr>
          <p:cNvSpPr/>
          <p:nvPr/>
        </p:nvSpPr>
        <p:spPr>
          <a:xfrm>
            <a:off x="3929472" y="2387172"/>
            <a:ext cx="2829082" cy="616991"/>
          </a:xfrm>
          <a:prstGeom prst="roundRect">
            <a:avLst/>
          </a:prstGeom>
          <a:solidFill>
            <a:srgbClr val="F3F8FF"/>
          </a:solidFill>
          <a:ln>
            <a:solidFill>
              <a:srgbClr val="2D7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24570" y="698223"/>
            <a:ext cx="2663137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3F975B"/>
                </a:solidFill>
                <a:latin typeface="Microsoft YaHei"/>
              </a:defRPr>
            </a:pPr>
            <a:r>
              <a:rPr sz="1200" b="1" dirty="0" err="1">
                <a:solidFill>
                  <a:srgbClr val="744BB4"/>
                </a:solidFill>
                <a:latin typeface="Microsoft YaHei"/>
              </a:rPr>
              <a:t>决策</a:t>
            </a:r>
            <a:r>
              <a:rPr lang="zh-CN" altLang="en-US" sz="1200" b="1" dirty="0">
                <a:solidFill>
                  <a:srgbClr val="744BB4"/>
                </a:solidFill>
                <a:latin typeface="Microsoft YaHei"/>
              </a:rPr>
              <a:t>资产</a:t>
            </a:r>
            <a:r>
              <a:rPr lang="en-US" altLang="zh-CN" sz="1200" b="1" dirty="0">
                <a:solidFill>
                  <a:srgbClr val="744BB4"/>
                </a:solidFill>
                <a:latin typeface="Microsoft YaHei"/>
              </a:rPr>
              <a:t>/</a:t>
            </a:r>
            <a:r>
              <a:rPr lang="zh-CN" altLang="en-US" sz="1200" b="1" dirty="0">
                <a:solidFill>
                  <a:srgbClr val="744BB4"/>
                </a:solidFill>
                <a:latin typeface="Microsoft YaHei"/>
              </a:rPr>
              <a:t>信息？</a:t>
            </a:r>
            <a:endParaRPr sz="1200" b="1" dirty="0">
              <a:solidFill>
                <a:srgbClr val="744BB4"/>
              </a:solidFill>
              <a:latin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473268" y="2292699"/>
            <a:ext cx="1638900" cy="24917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3F975B"/>
                </a:solidFill>
                <a:latin typeface="Microsoft YaHei"/>
              </a:defRPr>
            </a:pPr>
            <a:r>
              <a:rPr sz="1019" b="1" dirty="0" err="1">
                <a:solidFill>
                  <a:srgbClr val="744BB4"/>
                </a:solidFill>
                <a:latin typeface="Microsoft YaHei"/>
              </a:rPr>
              <a:t>关注什么信息？什么要求</a:t>
            </a:r>
            <a:r>
              <a:rPr sz="1019" b="1" dirty="0">
                <a:solidFill>
                  <a:srgbClr val="744BB4"/>
                </a:solidFill>
                <a:latin typeface="Microsoft YaHei"/>
              </a:rPr>
              <a:t>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15505" y="2461838"/>
            <a:ext cx="1609169" cy="1338828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供给信息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菜系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品类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特色菜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招牌菜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新品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联名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餐厅类型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风格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二次元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主题餐厅</a:t>
            </a:r>
            <a:br>
              <a:rPr sz="900" dirty="0">
                <a:latin typeface="+mn-ea"/>
              </a:rPr>
            </a:b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约束条件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包间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人数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停车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交通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可预约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排队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忌口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过敏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预算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价格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营业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互动</a:t>
            </a:r>
            <a:endParaRPr sz="900" dirty="0">
              <a:latin typeface="+mn-ea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9873626" y="2117790"/>
            <a:ext cx="1337878" cy="2768295"/>
          </a:xfrm>
          <a:prstGeom prst="roundRect">
            <a:avLst/>
          </a:prstGeom>
          <a:solidFill>
            <a:srgbClr val="FAFA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986169" y="2184685"/>
            <a:ext cx="115206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四维如何协同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66534" y="2407665"/>
            <a:ext cx="1133480" cy="64633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30" b="0">
                <a:solidFill>
                  <a:srgbClr val="696969"/>
                </a:solidFill>
                <a:latin typeface="Microsoft YaHei"/>
              </a:defRPr>
            </a:pPr>
            <a:r>
              <a:rPr sz="900">
                <a:latin typeface="+mn-ea"/>
              </a:rPr>
              <a:t>用户在特定场景下，基于关注的信息，选择对象，并结合不同信任依据做出决策。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85116" y="3203220"/>
            <a:ext cx="1114898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80" b="1">
                <a:solidFill>
                  <a:srgbClr val="232323"/>
                </a:solidFill>
                <a:latin typeface="Microsoft YaHei"/>
              </a:defRPr>
            </a:pPr>
            <a:r>
              <a:rPr sz="900">
                <a:latin typeface="+mn-ea"/>
              </a:rPr>
              <a:t>示例：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85115" y="3303561"/>
            <a:ext cx="1133480" cy="120032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900" dirty="0">
                <a:latin typeface="+mn-ea"/>
              </a:rPr>
              <a:t>场景：生日聚餐（8人）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信息：包间＋有生日服务＋停车方便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对象：选店（符合大聚餐的餐厅</a:t>
            </a:r>
            <a:r>
              <a:rPr sz="900" dirty="0">
                <a:latin typeface="+mn-ea"/>
              </a:rPr>
              <a:t>）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依据：朋友推荐＋大众好评</a:t>
            </a:r>
            <a:endParaRPr sz="900" dirty="0">
              <a:latin typeface="+mn-ea"/>
            </a:endParaRPr>
          </a:p>
        </p:txBody>
      </p:sp>
      <p:pic>
        <p:nvPicPr>
          <p:cNvPr id="150" name="Picture 1">
            <a:extLst>
              <a:ext uri="{FF2B5EF4-FFF2-40B4-BE49-F238E27FC236}">
                <a16:creationId xmlns:a16="http://schemas.microsoft.com/office/drawing/2014/main" id="{185A1C24-E037-2E54-67AB-4749B3776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09" y="8339415"/>
            <a:ext cx="9863056" cy="9092740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923C725F-4041-9D84-0119-19D076CE46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00160" y="5655868"/>
            <a:ext cx="283858" cy="283858"/>
          </a:xfrm>
          <a:prstGeom prst="rect">
            <a:avLst/>
          </a:prstGeom>
        </p:spPr>
      </p:pic>
      <p:pic>
        <p:nvPicPr>
          <p:cNvPr id="202" name="图片 201">
            <a:extLst>
              <a:ext uri="{FF2B5EF4-FFF2-40B4-BE49-F238E27FC236}">
                <a16:creationId xmlns:a16="http://schemas.microsoft.com/office/drawing/2014/main" id="{721838D5-5871-0A2B-DE31-5004BE2B72C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66801" y="3332965"/>
            <a:ext cx="323272" cy="323272"/>
          </a:xfrm>
          <a:prstGeom prst="rect">
            <a:avLst/>
          </a:prstGeom>
        </p:spPr>
      </p:pic>
      <p:pic>
        <p:nvPicPr>
          <p:cNvPr id="203" name="图片 202">
            <a:extLst>
              <a:ext uri="{FF2B5EF4-FFF2-40B4-BE49-F238E27FC236}">
                <a16:creationId xmlns:a16="http://schemas.microsoft.com/office/drawing/2014/main" id="{57B9198D-3445-2263-4CDB-386F7901A1C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75356" y="4957085"/>
            <a:ext cx="308662" cy="308662"/>
          </a:xfrm>
          <a:prstGeom prst="rect">
            <a:avLst/>
          </a:prstGeom>
        </p:spPr>
      </p:pic>
      <p:pic>
        <p:nvPicPr>
          <p:cNvPr id="205" name="图片 204">
            <a:extLst>
              <a:ext uri="{FF2B5EF4-FFF2-40B4-BE49-F238E27FC236}">
                <a16:creationId xmlns:a16="http://schemas.microsoft.com/office/drawing/2014/main" id="{015DC48D-02D8-0F91-958A-D3C5C03AAA0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15269" y="4304776"/>
            <a:ext cx="249934" cy="249934"/>
          </a:xfrm>
          <a:prstGeom prst="rect">
            <a:avLst/>
          </a:prstGeom>
        </p:spPr>
      </p:pic>
      <p:sp>
        <p:nvSpPr>
          <p:cNvPr id="206" name="TextBox 6">
            <a:extLst>
              <a:ext uri="{FF2B5EF4-FFF2-40B4-BE49-F238E27FC236}">
                <a16:creationId xmlns:a16="http://schemas.microsoft.com/office/drawing/2014/main" id="{3F8C7967-5556-1FA5-7243-71AE0DA07754}"/>
              </a:ext>
            </a:extLst>
          </p:cNvPr>
          <p:cNvSpPr txBox="1"/>
          <p:nvPr/>
        </p:nvSpPr>
        <p:spPr>
          <a:xfrm>
            <a:off x="2859016" y="4540091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207" name="TextBox 6">
            <a:extLst>
              <a:ext uri="{FF2B5EF4-FFF2-40B4-BE49-F238E27FC236}">
                <a16:creationId xmlns:a16="http://schemas.microsoft.com/office/drawing/2014/main" id="{1FECC15A-F915-BD74-23CE-9356EB8A21EC}"/>
              </a:ext>
            </a:extLst>
          </p:cNvPr>
          <p:cNvSpPr txBox="1"/>
          <p:nvPr/>
        </p:nvSpPr>
        <p:spPr>
          <a:xfrm>
            <a:off x="2806220" y="5235894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208" name="TextBox 6">
            <a:extLst>
              <a:ext uri="{FF2B5EF4-FFF2-40B4-BE49-F238E27FC236}">
                <a16:creationId xmlns:a16="http://schemas.microsoft.com/office/drawing/2014/main" id="{541DC738-BE79-92BB-57F0-02D8C5811195}"/>
              </a:ext>
            </a:extLst>
          </p:cNvPr>
          <p:cNvSpPr txBox="1"/>
          <p:nvPr/>
        </p:nvSpPr>
        <p:spPr>
          <a:xfrm>
            <a:off x="2889562" y="5894261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209" name="TextBox 6">
            <a:extLst>
              <a:ext uri="{FF2B5EF4-FFF2-40B4-BE49-F238E27FC236}">
                <a16:creationId xmlns:a16="http://schemas.microsoft.com/office/drawing/2014/main" id="{EA448922-C393-993F-1442-639AB3516CB3}"/>
              </a:ext>
            </a:extLst>
          </p:cNvPr>
          <p:cNvSpPr txBox="1"/>
          <p:nvPr/>
        </p:nvSpPr>
        <p:spPr>
          <a:xfrm>
            <a:off x="2864847" y="3594730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210" name="TextBox 6">
            <a:extLst>
              <a:ext uri="{FF2B5EF4-FFF2-40B4-BE49-F238E27FC236}">
                <a16:creationId xmlns:a16="http://schemas.microsoft.com/office/drawing/2014/main" id="{7524E602-99D0-9DE0-9E02-AEC54302FE40}"/>
              </a:ext>
            </a:extLst>
          </p:cNvPr>
          <p:cNvSpPr txBox="1"/>
          <p:nvPr/>
        </p:nvSpPr>
        <p:spPr>
          <a:xfrm>
            <a:off x="2752064" y="6550779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5B14AB64-5D4B-CB55-27DB-42020DC8E46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00039" y="7001745"/>
            <a:ext cx="317127" cy="251688"/>
          </a:xfrm>
          <a:prstGeom prst="rect">
            <a:avLst/>
          </a:prstGeom>
        </p:spPr>
      </p:pic>
      <p:sp>
        <p:nvSpPr>
          <p:cNvPr id="212" name="TextBox 6">
            <a:extLst>
              <a:ext uri="{FF2B5EF4-FFF2-40B4-BE49-F238E27FC236}">
                <a16:creationId xmlns:a16="http://schemas.microsoft.com/office/drawing/2014/main" id="{33DCD466-D8F5-7CE6-1103-252023DF0D32}"/>
              </a:ext>
            </a:extLst>
          </p:cNvPr>
          <p:cNvSpPr txBox="1"/>
          <p:nvPr/>
        </p:nvSpPr>
        <p:spPr>
          <a:xfrm>
            <a:off x="2752959" y="7250897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235" name="图片 234">
            <a:extLst>
              <a:ext uri="{FF2B5EF4-FFF2-40B4-BE49-F238E27FC236}">
                <a16:creationId xmlns:a16="http://schemas.microsoft.com/office/drawing/2014/main" id="{C88702EA-00CD-0128-99F3-C12EFE1C0757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76316" y="2461357"/>
            <a:ext cx="380552" cy="380552"/>
          </a:xfrm>
          <a:prstGeom prst="rect">
            <a:avLst/>
          </a:prstGeom>
        </p:spPr>
      </p:pic>
      <p:sp>
        <p:nvSpPr>
          <p:cNvPr id="236" name="TextBox 6">
            <a:extLst>
              <a:ext uri="{FF2B5EF4-FFF2-40B4-BE49-F238E27FC236}">
                <a16:creationId xmlns:a16="http://schemas.microsoft.com/office/drawing/2014/main" id="{006551F8-6824-35EE-A6FB-F9CF2BB04C77}"/>
              </a:ext>
            </a:extLst>
          </p:cNvPr>
          <p:cNvSpPr txBox="1"/>
          <p:nvPr/>
        </p:nvSpPr>
        <p:spPr>
          <a:xfrm>
            <a:off x="4487638" y="2767895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pic>
        <p:nvPicPr>
          <p:cNvPr id="239" name="图片 238">
            <a:extLst>
              <a:ext uri="{FF2B5EF4-FFF2-40B4-BE49-F238E27FC236}">
                <a16:creationId xmlns:a16="http://schemas.microsoft.com/office/drawing/2014/main" id="{1E1CA603-2A46-B16C-E625-A0045E55829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49125" y="2413341"/>
            <a:ext cx="450961" cy="450961"/>
          </a:xfrm>
          <a:prstGeom prst="rect">
            <a:avLst/>
          </a:prstGeom>
        </p:spPr>
      </p:pic>
      <p:sp>
        <p:nvSpPr>
          <p:cNvPr id="240" name="TextBox 6">
            <a:extLst>
              <a:ext uri="{FF2B5EF4-FFF2-40B4-BE49-F238E27FC236}">
                <a16:creationId xmlns:a16="http://schemas.microsoft.com/office/drawing/2014/main" id="{B53E261E-8F58-F73E-E9CB-28017EB5E25C}"/>
              </a:ext>
            </a:extLst>
          </p:cNvPr>
          <p:cNvSpPr txBox="1"/>
          <p:nvPr/>
        </p:nvSpPr>
        <p:spPr>
          <a:xfrm>
            <a:off x="5941429" y="2739269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4341BF97-A58C-C0AB-4EF4-F4BAEF122E64}"/>
              </a:ext>
            </a:extLst>
          </p:cNvPr>
          <p:cNvSpPr/>
          <p:nvPr/>
        </p:nvSpPr>
        <p:spPr>
          <a:xfrm>
            <a:off x="3923821" y="3137152"/>
            <a:ext cx="1331824" cy="4501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品类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菜系选择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Rounded Rectangle 3">
            <a:extLst>
              <a:ext uri="{FF2B5EF4-FFF2-40B4-BE49-F238E27FC236}">
                <a16:creationId xmlns:a16="http://schemas.microsoft.com/office/drawing/2014/main" id="{5E17C929-FFAE-7DFF-43E7-406DBE76770B}"/>
              </a:ext>
            </a:extLst>
          </p:cNvPr>
          <p:cNvSpPr/>
          <p:nvPr/>
        </p:nvSpPr>
        <p:spPr>
          <a:xfrm>
            <a:off x="5521461" y="4949301"/>
            <a:ext cx="1337879" cy="253242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兼顾场景匹配及众人口味。也包括招牌菜、有仪式感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记忆点的菜（高颜值、高价格、高复杂度）、匹配场景需求的菜品（如宝宝餐、生日面）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01B84C14-7A6C-266C-AD57-4BD6FC6626EA}"/>
              </a:ext>
            </a:extLst>
          </p:cNvPr>
          <p:cNvSpPr/>
          <p:nvPr/>
        </p:nvSpPr>
        <p:spPr>
          <a:xfrm>
            <a:off x="3917765" y="4949294"/>
            <a:ext cx="1337879" cy="26014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/>
            <a:r>
              <a:rPr lang="zh-CN" altLang="en-US" sz="1200" dirty="0">
                <a:solidFill>
                  <a:schemeClr val="tx1"/>
                </a:solidFill>
                <a:effectLst/>
              </a:rPr>
              <a:t>综合仪式氛围、服务环境、履约可得等，在重要场合</a:t>
            </a:r>
            <a:r>
              <a:rPr lang="zh-CN" altLang="en-US" sz="1200" dirty="0">
                <a:solidFill>
                  <a:schemeClr val="tx1"/>
                </a:solidFill>
              </a:rPr>
              <a:t>的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重</a:t>
            </a:r>
            <a:r>
              <a:rPr lang="zh-CN" altLang="en-US" sz="1200" dirty="0">
                <a:solidFill>
                  <a:schemeClr val="tx1"/>
                </a:solidFill>
              </a:rPr>
              <a:t>决策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需求</a:t>
            </a:r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CB03E0F5-D3B4-1AB7-5249-0AD921FF6DFE}"/>
              </a:ext>
            </a:extLst>
          </p:cNvPr>
          <p:cNvSpPr/>
          <p:nvPr/>
        </p:nvSpPr>
        <p:spPr>
          <a:xfrm>
            <a:off x="3923820" y="3638551"/>
            <a:ext cx="2834734" cy="467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尝新尝鲜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4FAD9AA-B4FF-05EE-03A7-633E0C71690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141392" y="5663748"/>
            <a:ext cx="301862" cy="247428"/>
          </a:xfrm>
          <a:prstGeom prst="rect">
            <a:avLst/>
          </a:prstGeom>
        </p:spPr>
      </p:pic>
      <p:sp>
        <p:nvSpPr>
          <p:cNvPr id="35" name="TextBox 6">
            <a:extLst>
              <a:ext uri="{FF2B5EF4-FFF2-40B4-BE49-F238E27FC236}">
                <a16:creationId xmlns:a16="http://schemas.microsoft.com/office/drawing/2014/main" id="{F9CF47AD-2830-7E1E-B018-95E041F4D396}"/>
              </a:ext>
            </a:extLst>
          </p:cNvPr>
          <p:cNvSpPr txBox="1"/>
          <p:nvPr/>
        </p:nvSpPr>
        <p:spPr>
          <a:xfrm>
            <a:off x="16983724" y="5881259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pic>
        <p:nvPicPr>
          <p:cNvPr id="141" name="图片 140">
            <a:extLst>
              <a:ext uri="{FF2B5EF4-FFF2-40B4-BE49-F238E27FC236}">
                <a16:creationId xmlns:a16="http://schemas.microsoft.com/office/drawing/2014/main" id="{F4777FFB-A2FF-618A-773A-D425A3A1DA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268879" y="8837598"/>
            <a:ext cx="283858" cy="283858"/>
          </a:xfrm>
          <a:prstGeom prst="rect">
            <a:avLst/>
          </a:prstGeom>
        </p:spPr>
      </p:pic>
      <p:pic>
        <p:nvPicPr>
          <p:cNvPr id="142" name="图片 141">
            <a:extLst>
              <a:ext uri="{FF2B5EF4-FFF2-40B4-BE49-F238E27FC236}">
                <a16:creationId xmlns:a16="http://schemas.microsoft.com/office/drawing/2014/main" id="{8E73EC4D-99BA-76FA-EBDA-E2B623CD5F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235520" y="6514695"/>
            <a:ext cx="323272" cy="323272"/>
          </a:xfrm>
          <a:prstGeom prst="rect">
            <a:avLst/>
          </a:prstGeom>
        </p:spPr>
      </p:pic>
      <p:pic>
        <p:nvPicPr>
          <p:cNvPr id="143" name="图片 142">
            <a:extLst>
              <a:ext uri="{FF2B5EF4-FFF2-40B4-BE49-F238E27FC236}">
                <a16:creationId xmlns:a16="http://schemas.microsoft.com/office/drawing/2014/main" id="{2543C798-51FF-03D6-3B6B-8AAE3EF55E1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244075" y="8138815"/>
            <a:ext cx="308662" cy="308662"/>
          </a:xfrm>
          <a:prstGeom prst="rect">
            <a:avLst/>
          </a:prstGeom>
        </p:spPr>
      </p:pic>
      <p:pic>
        <p:nvPicPr>
          <p:cNvPr id="144" name="图片 143">
            <a:extLst>
              <a:ext uri="{FF2B5EF4-FFF2-40B4-BE49-F238E27FC236}">
                <a16:creationId xmlns:a16="http://schemas.microsoft.com/office/drawing/2014/main" id="{E986179B-AD1B-8EE9-FECD-3DF23EBBE46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268758" y="9467066"/>
            <a:ext cx="297462" cy="297462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C83BDF38-C665-787B-A9F8-BA02328E11D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283988" y="7486506"/>
            <a:ext cx="249934" cy="249934"/>
          </a:xfrm>
          <a:prstGeom prst="rect">
            <a:avLst/>
          </a:prstGeom>
        </p:spPr>
      </p:pic>
      <p:sp>
        <p:nvSpPr>
          <p:cNvPr id="146" name="TextBox 6">
            <a:extLst>
              <a:ext uri="{FF2B5EF4-FFF2-40B4-BE49-F238E27FC236}">
                <a16:creationId xmlns:a16="http://schemas.microsoft.com/office/drawing/2014/main" id="{A971929F-623B-5696-CDAA-D5EB850D6B8F}"/>
              </a:ext>
            </a:extLst>
          </p:cNvPr>
          <p:cNvSpPr txBox="1"/>
          <p:nvPr/>
        </p:nvSpPr>
        <p:spPr>
          <a:xfrm>
            <a:off x="16127735" y="7721821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147" name="TextBox 6">
            <a:extLst>
              <a:ext uri="{FF2B5EF4-FFF2-40B4-BE49-F238E27FC236}">
                <a16:creationId xmlns:a16="http://schemas.microsoft.com/office/drawing/2014/main" id="{FE82151F-069C-E98C-BCC6-7C46DCCB623A}"/>
              </a:ext>
            </a:extLst>
          </p:cNvPr>
          <p:cNvSpPr txBox="1"/>
          <p:nvPr/>
        </p:nvSpPr>
        <p:spPr>
          <a:xfrm>
            <a:off x="16074939" y="8417624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148" name="TextBox 6">
            <a:extLst>
              <a:ext uri="{FF2B5EF4-FFF2-40B4-BE49-F238E27FC236}">
                <a16:creationId xmlns:a16="http://schemas.microsoft.com/office/drawing/2014/main" id="{49DAF4D1-30C4-4C95-3ECB-0CFB12AB151F}"/>
              </a:ext>
            </a:extLst>
          </p:cNvPr>
          <p:cNvSpPr txBox="1"/>
          <p:nvPr/>
        </p:nvSpPr>
        <p:spPr>
          <a:xfrm>
            <a:off x="16158281" y="9075991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149" name="TextBox 6">
            <a:extLst>
              <a:ext uri="{FF2B5EF4-FFF2-40B4-BE49-F238E27FC236}">
                <a16:creationId xmlns:a16="http://schemas.microsoft.com/office/drawing/2014/main" id="{CF5A844B-B9B0-4FD6-09A2-7F68EDB8C029}"/>
              </a:ext>
            </a:extLst>
          </p:cNvPr>
          <p:cNvSpPr txBox="1"/>
          <p:nvPr/>
        </p:nvSpPr>
        <p:spPr>
          <a:xfrm>
            <a:off x="16133566" y="6776460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151" name="TextBox 6">
            <a:extLst>
              <a:ext uri="{FF2B5EF4-FFF2-40B4-BE49-F238E27FC236}">
                <a16:creationId xmlns:a16="http://schemas.microsoft.com/office/drawing/2014/main" id="{C6557EBF-416E-B67B-22C8-63A50F47B4EA}"/>
              </a:ext>
            </a:extLst>
          </p:cNvPr>
          <p:cNvSpPr txBox="1"/>
          <p:nvPr/>
        </p:nvSpPr>
        <p:spPr>
          <a:xfrm>
            <a:off x="16020783" y="9732509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153" name="图片 152">
            <a:extLst>
              <a:ext uri="{FF2B5EF4-FFF2-40B4-BE49-F238E27FC236}">
                <a16:creationId xmlns:a16="http://schemas.microsoft.com/office/drawing/2014/main" id="{F8D1D29E-54D8-E251-A555-59A3147F06E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268758" y="10183475"/>
            <a:ext cx="317127" cy="251688"/>
          </a:xfrm>
          <a:prstGeom prst="rect">
            <a:avLst/>
          </a:prstGeom>
        </p:spPr>
      </p:pic>
      <p:sp>
        <p:nvSpPr>
          <p:cNvPr id="155" name="TextBox 6">
            <a:extLst>
              <a:ext uri="{FF2B5EF4-FFF2-40B4-BE49-F238E27FC236}">
                <a16:creationId xmlns:a16="http://schemas.microsoft.com/office/drawing/2014/main" id="{321C00FF-A4C1-FA03-CC44-4DCFFB1A319B}"/>
              </a:ext>
            </a:extLst>
          </p:cNvPr>
          <p:cNvSpPr txBox="1"/>
          <p:nvPr/>
        </p:nvSpPr>
        <p:spPr>
          <a:xfrm>
            <a:off x="16021678" y="10432627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sp>
        <p:nvSpPr>
          <p:cNvPr id="172" name="Rounded Rectangle 3">
            <a:extLst>
              <a:ext uri="{FF2B5EF4-FFF2-40B4-BE49-F238E27FC236}">
                <a16:creationId xmlns:a16="http://schemas.microsoft.com/office/drawing/2014/main" id="{5F5E509B-56E3-5A24-DBE9-C4B1843DDF86}"/>
              </a:ext>
            </a:extLst>
          </p:cNvPr>
          <p:cNvSpPr/>
          <p:nvPr/>
        </p:nvSpPr>
        <p:spPr>
          <a:xfrm>
            <a:off x="18212465" y="6289156"/>
            <a:ext cx="1337879" cy="434457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宝藏榜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探店合集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5" name="Rounded Rectangle 3">
            <a:extLst>
              <a:ext uri="{FF2B5EF4-FFF2-40B4-BE49-F238E27FC236}">
                <a16:creationId xmlns:a16="http://schemas.microsoft.com/office/drawing/2014/main" id="{9A9ACBB3-D27F-F354-C7EA-7F47F2C0685F}"/>
              </a:ext>
            </a:extLst>
          </p:cNvPr>
          <p:cNvSpPr/>
          <p:nvPr/>
        </p:nvSpPr>
        <p:spPr>
          <a:xfrm>
            <a:off x="19638040" y="6289156"/>
            <a:ext cx="1337879" cy="434457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UGC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美食合集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E777E9C4-4C15-8B34-FF54-E75A505DE6E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949790" y="5668263"/>
            <a:ext cx="314823" cy="314823"/>
          </a:xfrm>
          <a:prstGeom prst="rect">
            <a:avLst/>
          </a:prstGeom>
        </p:spPr>
      </p:pic>
      <p:sp>
        <p:nvSpPr>
          <p:cNvPr id="181" name="TextBox 6">
            <a:extLst>
              <a:ext uri="{FF2B5EF4-FFF2-40B4-BE49-F238E27FC236}">
                <a16:creationId xmlns:a16="http://schemas.microsoft.com/office/drawing/2014/main" id="{16C634D0-D611-1124-A900-E52D5EB8B3B1}"/>
              </a:ext>
            </a:extLst>
          </p:cNvPr>
          <p:cNvSpPr txBox="1"/>
          <p:nvPr/>
        </p:nvSpPr>
        <p:spPr>
          <a:xfrm>
            <a:off x="19851726" y="5916732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8A148EEF-DC3D-8AB6-9ACE-F397F0F3F220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439186" y="5670417"/>
            <a:ext cx="314823" cy="314823"/>
          </a:xfrm>
          <a:prstGeom prst="rect">
            <a:avLst/>
          </a:prstGeom>
        </p:spPr>
      </p:pic>
      <p:sp>
        <p:nvSpPr>
          <p:cNvPr id="185" name="TextBox 6">
            <a:extLst>
              <a:ext uri="{FF2B5EF4-FFF2-40B4-BE49-F238E27FC236}">
                <a16:creationId xmlns:a16="http://schemas.microsoft.com/office/drawing/2014/main" id="{B367FDED-D9A5-FE67-C837-43A12AD7F4CE}"/>
              </a:ext>
            </a:extLst>
          </p:cNvPr>
          <p:cNvSpPr txBox="1"/>
          <p:nvPr/>
        </p:nvSpPr>
        <p:spPr>
          <a:xfrm>
            <a:off x="20300293" y="5919899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188" name="图片 187">
            <a:extLst>
              <a:ext uri="{FF2B5EF4-FFF2-40B4-BE49-F238E27FC236}">
                <a16:creationId xmlns:a16="http://schemas.microsoft.com/office/drawing/2014/main" id="{74A1015C-C2B9-3126-68B1-D54BCFE7E0E6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540876" y="5675057"/>
            <a:ext cx="296444" cy="286420"/>
          </a:xfrm>
          <a:prstGeom prst="rect">
            <a:avLst/>
          </a:prstGeom>
        </p:spPr>
      </p:pic>
      <p:sp>
        <p:nvSpPr>
          <p:cNvPr id="191" name="TextBox 6">
            <a:extLst>
              <a:ext uri="{FF2B5EF4-FFF2-40B4-BE49-F238E27FC236}">
                <a16:creationId xmlns:a16="http://schemas.microsoft.com/office/drawing/2014/main" id="{824C803C-9D37-8BF4-15E0-C88A0C9E0D34}"/>
              </a:ext>
            </a:extLst>
          </p:cNvPr>
          <p:cNvSpPr txBox="1"/>
          <p:nvPr/>
        </p:nvSpPr>
        <p:spPr>
          <a:xfrm>
            <a:off x="21406552" y="5919899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pic>
        <p:nvPicPr>
          <p:cNvPr id="194" name="图片 193">
            <a:extLst>
              <a:ext uri="{FF2B5EF4-FFF2-40B4-BE49-F238E27FC236}">
                <a16:creationId xmlns:a16="http://schemas.microsoft.com/office/drawing/2014/main" id="{1C9D4AB7-381D-7D13-D455-E67E0714823F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682615" y="5663748"/>
            <a:ext cx="290761" cy="290761"/>
          </a:xfrm>
          <a:prstGeom prst="rect">
            <a:avLst/>
          </a:prstGeom>
        </p:spPr>
      </p:pic>
      <p:sp>
        <p:nvSpPr>
          <p:cNvPr id="197" name="TextBox 6">
            <a:extLst>
              <a:ext uri="{FF2B5EF4-FFF2-40B4-BE49-F238E27FC236}">
                <a16:creationId xmlns:a16="http://schemas.microsoft.com/office/drawing/2014/main" id="{49660B71-17A5-68C4-CBAE-FF0EE1964C24}"/>
              </a:ext>
            </a:extLst>
          </p:cNvPr>
          <p:cNvSpPr txBox="1"/>
          <p:nvPr/>
        </p:nvSpPr>
        <p:spPr>
          <a:xfrm>
            <a:off x="18540041" y="5887251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199" name="Rounded Rectangle 3">
            <a:extLst>
              <a:ext uri="{FF2B5EF4-FFF2-40B4-BE49-F238E27FC236}">
                <a16:creationId xmlns:a16="http://schemas.microsoft.com/office/drawing/2014/main" id="{0F3C4533-219B-1722-B06C-67199C4F131E}"/>
              </a:ext>
            </a:extLst>
          </p:cNvPr>
          <p:cNvSpPr/>
          <p:nvPr/>
        </p:nvSpPr>
        <p:spPr>
          <a:xfrm>
            <a:off x="21057265" y="6269773"/>
            <a:ext cx="1337879" cy="434457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个性化榜单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B7B17536-6B20-BFE4-A226-1E7BA18BF2C4}"/>
              </a:ext>
            </a:extLst>
          </p:cNvPr>
          <p:cNvSpPr txBox="1"/>
          <p:nvPr/>
        </p:nvSpPr>
        <p:spPr>
          <a:xfrm>
            <a:off x="20022286" y="5457901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真人分享</a:t>
            </a:r>
            <a:endParaRPr sz="900" b="1" dirty="0">
              <a:latin typeface="+mn-ea"/>
            </a:endParaRPr>
          </a:p>
        </p:txBody>
      </p:sp>
      <p:sp>
        <p:nvSpPr>
          <p:cNvPr id="56" name="Rounded Rectangle 3">
            <a:extLst>
              <a:ext uri="{FF2B5EF4-FFF2-40B4-BE49-F238E27FC236}">
                <a16:creationId xmlns:a16="http://schemas.microsoft.com/office/drawing/2014/main" id="{7CAD3707-B969-24B1-B874-D1BE3D4DAAEE}"/>
              </a:ext>
            </a:extLst>
          </p:cNvPr>
          <p:cNvSpPr/>
          <p:nvPr/>
        </p:nvSpPr>
        <p:spPr>
          <a:xfrm>
            <a:off x="3929472" y="4268470"/>
            <a:ext cx="2834734" cy="467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品尝地道风味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Rounded Rectangle 3">
            <a:extLst>
              <a:ext uri="{FF2B5EF4-FFF2-40B4-BE49-F238E27FC236}">
                <a16:creationId xmlns:a16="http://schemas.microsoft.com/office/drawing/2014/main" id="{025632E4-EDAD-FF0D-A766-23782D4557F2}"/>
              </a:ext>
            </a:extLst>
          </p:cNvPr>
          <p:cNvSpPr/>
          <p:nvPr/>
        </p:nvSpPr>
        <p:spPr>
          <a:xfrm>
            <a:off x="5336991" y="3137152"/>
            <a:ext cx="1421563" cy="45757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菜品选择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DB729874-0FE6-1484-09E4-EEF7E920641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02981" y="6253317"/>
            <a:ext cx="297462" cy="297462"/>
          </a:xfrm>
          <a:prstGeom prst="rect">
            <a:avLst/>
          </a:prstGeom>
        </p:spPr>
      </p:pic>
      <p:sp>
        <p:nvSpPr>
          <p:cNvPr id="231" name="Rounded Rectangle 3">
            <a:extLst>
              <a:ext uri="{FF2B5EF4-FFF2-40B4-BE49-F238E27FC236}">
                <a16:creationId xmlns:a16="http://schemas.microsoft.com/office/drawing/2014/main" id="{F7A4B70B-E513-011A-3F36-1E7A0B9BB2D3}"/>
              </a:ext>
            </a:extLst>
          </p:cNvPr>
          <p:cNvSpPr/>
          <p:nvPr/>
        </p:nvSpPr>
        <p:spPr>
          <a:xfrm>
            <a:off x="3875930" y="-1072200"/>
            <a:ext cx="2160000" cy="1440000"/>
          </a:xfrm>
          <a:prstGeom prst="roundRect">
            <a:avLst/>
          </a:prstGeom>
          <a:solidFill>
            <a:srgbClr val="FFF7EF"/>
          </a:solidFill>
          <a:ln>
            <a:solidFill>
              <a:srgbClr val="E86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32" name="TextBox 4">
            <a:extLst>
              <a:ext uri="{FF2B5EF4-FFF2-40B4-BE49-F238E27FC236}">
                <a16:creationId xmlns:a16="http://schemas.microsoft.com/office/drawing/2014/main" id="{F133F7FB-865E-A18C-C268-F3E73A0B2924}"/>
              </a:ext>
            </a:extLst>
          </p:cNvPr>
          <p:cNvSpPr txBox="1"/>
          <p:nvPr/>
        </p:nvSpPr>
        <p:spPr>
          <a:xfrm>
            <a:off x="4527391" y="-1048913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E86C1F"/>
                </a:solidFill>
                <a:latin typeface="Microsoft YaHei"/>
              </a:defRPr>
            </a:pPr>
            <a:r>
              <a:rPr lang="zh-CN" altLang="en-US" sz="1200" dirty="0">
                <a:latin typeface="+mn-ea"/>
              </a:rPr>
              <a:t>决策场景</a:t>
            </a:r>
          </a:p>
        </p:txBody>
      </p:sp>
      <p:sp>
        <p:nvSpPr>
          <p:cNvPr id="233" name="TextBox 5">
            <a:extLst>
              <a:ext uri="{FF2B5EF4-FFF2-40B4-BE49-F238E27FC236}">
                <a16:creationId xmlns:a16="http://schemas.microsoft.com/office/drawing/2014/main" id="{060BA349-1E1A-3769-BC35-0EC7EA304FAE}"/>
              </a:ext>
            </a:extLst>
          </p:cNvPr>
          <p:cNvSpPr txBox="1"/>
          <p:nvPr/>
        </p:nvSpPr>
        <p:spPr>
          <a:xfrm>
            <a:off x="4338628" y="-852157"/>
            <a:ext cx="125142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E86C1F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为什么吃？什么场合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234" name="Rounded Rectangle 11">
            <a:extLst>
              <a:ext uri="{FF2B5EF4-FFF2-40B4-BE49-F238E27FC236}">
                <a16:creationId xmlns:a16="http://schemas.microsoft.com/office/drawing/2014/main" id="{B32FF8BC-3FC7-DC9E-1287-06090783D384}"/>
              </a:ext>
            </a:extLst>
          </p:cNvPr>
          <p:cNvSpPr/>
          <p:nvPr/>
        </p:nvSpPr>
        <p:spPr>
          <a:xfrm>
            <a:off x="6205937" y="-1078076"/>
            <a:ext cx="2160000" cy="1440000"/>
          </a:xfrm>
          <a:prstGeom prst="roundRect">
            <a:avLst/>
          </a:prstGeom>
          <a:solidFill>
            <a:srgbClr val="F3F8FF"/>
          </a:solidFill>
          <a:ln>
            <a:solidFill>
              <a:srgbClr val="2D7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37" name="TextBox 12">
            <a:extLst>
              <a:ext uri="{FF2B5EF4-FFF2-40B4-BE49-F238E27FC236}">
                <a16:creationId xmlns:a16="http://schemas.microsoft.com/office/drawing/2014/main" id="{4ED4EC1E-AC5E-50D5-EBA6-41295AD56E9B}"/>
              </a:ext>
            </a:extLst>
          </p:cNvPr>
          <p:cNvSpPr txBox="1"/>
          <p:nvPr/>
        </p:nvSpPr>
        <p:spPr>
          <a:xfrm>
            <a:off x="6877955" y="-1045264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2D71D3"/>
                </a:solidFill>
                <a:latin typeface="Microsoft YaHei"/>
              </a:defRPr>
            </a:pPr>
            <a:r>
              <a:rPr sz="1200" dirty="0" err="1">
                <a:latin typeface="+mn-ea"/>
              </a:rPr>
              <a:t>决策对象</a:t>
            </a:r>
            <a:endParaRPr sz="1200" dirty="0">
              <a:latin typeface="+mn-ea"/>
            </a:endParaRPr>
          </a:p>
        </p:txBody>
      </p:sp>
      <p:sp>
        <p:nvSpPr>
          <p:cNvPr id="238" name="TextBox 13">
            <a:extLst>
              <a:ext uri="{FF2B5EF4-FFF2-40B4-BE49-F238E27FC236}">
                <a16:creationId xmlns:a16="http://schemas.microsoft.com/office/drawing/2014/main" id="{05E523E8-B134-06C4-B03C-0A9267FC05F9}"/>
              </a:ext>
            </a:extLst>
          </p:cNvPr>
          <p:cNvSpPr txBox="1"/>
          <p:nvPr/>
        </p:nvSpPr>
        <p:spPr>
          <a:xfrm>
            <a:off x="6907686" y="-856247"/>
            <a:ext cx="83989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2D71D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我要选什么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241" name="Rounded Rectangle 15">
            <a:extLst>
              <a:ext uri="{FF2B5EF4-FFF2-40B4-BE49-F238E27FC236}">
                <a16:creationId xmlns:a16="http://schemas.microsoft.com/office/drawing/2014/main" id="{6BCD072B-B75C-A819-AE5D-E791DE97DEF2}"/>
              </a:ext>
            </a:extLst>
          </p:cNvPr>
          <p:cNvSpPr/>
          <p:nvPr/>
        </p:nvSpPr>
        <p:spPr>
          <a:xfrm>
            <a:off x="1600625" y="-1099166"/>
            <a:ext cx="2160000" cy="1440000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42" name="TextBox 16">
            <a:extLst>
              <a:ext uri="{FF2B5EF4-FFF2-40B4-BE49-F238E27FC236}">
                <a16:creationId xmlns:a16="http://schemas.microsoft.com/office/drawing/2014/main" id="{5ED381F5-A1DA-D7A2-59FF-4A3695FFF74F}"/>
              </a:ext>
            </a:extLst>
          </p:cNvPr>
          <p:cNvSpPr txBox="1"/>
          <p:nvPr/>
        </p:nvSpPr>
        <p:spPr>
          <a:xfrm>
            <a:off x="2208276" y="-1072200"/>
            <a:ext cx="884532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744BB4"/>
                </a:solidFill>
                <a:latin typeface="Microsoft YaHei"/>
              </a:defRPr>
            </a:pPr>
            <a:r>
              <a:rPr sz="1200" b="1" dirty="0" err="1">
                <a:solidFill>
                  <a:srgbClr val="3F975B"/>
                </a:solidFill>
                <a:latin typeface="+mn-ea"/>
              </a:rPr>
              <a:t>决策依据</a:t>
            </a:r>
            <a:endParaRPr sz="1200" b="1" dirty="0">
              <a:solidFill>
                <a:srgbClr val="3F975B"/>
              </a:solidFill>
              <a:latin typeface="+mn-ea"/>
            </a:endParaRPr>
          </a:p>
        </p:txBody>
      </p:sp>
      <p:sp>
        <p:nvSpPr>
          <p:cNvPr id="243" name="TextBox 17">
            <a:extLst>
              <a:ext uri="{FF2B5EF4-FFF2-40B4-BE49-F238E27FC236}">
                <a16:creationId xmlns:a16="http://schemas.microsoft.com/office/drawing/2014/main" id="{C183E78B-2570-856F-F22A-30F85D465280}"/>
              </a:ext>
            </a:extLst>
          </p:cNvPr>
          <p:cNvSpPr txBox="1"/>
          <p:nvPr/>
        </p:nvSpPr>
        <p:spPr>
          <a:xfrm>
            <a:off x="2177121" y="-901338"/>
            <a:ext cx="103407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744BB4"/>
                </a:solidFill>
                <a:latin typeface="Microsoft YaHei"/>
              </a:defRPr>
            </a:pPr>
            <a:r>
              <a:rPr sz="900" b="1" dirty="0" err="1">
                <a:solidFill>
                  <a:srgbClr val="3F975B"/>
                </a:solidFill>
                <a:latin typeface="+mn-ea"/>
              </a:rPr>
              <a:t>我为什么相信它</a:t>
            </a:r>
            <a:r>
              <a:rPr sz="900" b="1" dirty="0">
                <a:solidFill>
                  <a:srgbClr val="3F975B"/>
                </a:solidFill>
                <a:latin typeface="+mn-ea"/>
              </a:rPr>
              <a:t>？</a:t>
            </a:r>
          </a:p>
        </p:txBody>
      </p:sp>
      <p:pic>
        <p:nvPicPr>
          <p:cNvPr id="244" name="图片 243">
            <a:extLst>
              <a:ext uri="{FF2B5EF4-FFF2-40B4-BE49-F238E27FC236}">
                <a16:creationId xmlns:a16="http://schemas.microsoft.com/office/drawing/2014/main" id="{329BE0CC-0947-6AC8-4BC4-589CCD26B9E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64400" y="-86721"/>
            <a:ext cx="283858" cy="283858"/>
          </a:xfrm>
          <a:prstGeom prst="rect">
            <a:avLst/>
          </a:prstGeom>
        </p:spPr>
      </p:pic>
      <p:pic>
        <p:nvPicPr>
          <p:cNvPr id="245" name="图片 244">
            <a:extLst>
              <a:ext uri="{FF2B5EF4-FFF2-40B4-BE49-F238E27FC236}">
                <a16:creationId xmlns:a16="http://schemas.microsoft.com/office/drawing/2014/main" id="{6D614E24-C583-7E3F-E036-3ED852D6E5C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37522" y="-575577"/>
            <a:ext cx="323272" cy="323272"/>
          </a:xfrm>
          <a:prstGeom prst="rect">
            <a:avLst/>
          </a:prstGeom>
        </p:spPr>
      </p:pic>
      <p:pic>
        <p:nvPicPr>
          <p:cNvPr id="246" name="图片 245">
            <a:extLst>
              <a:ext uri="{FF2B5EF4-FFF2-40B4-BE49-F238E27FC236}">
                <a16:creationId xmlns:a16="http://schemas.microsoft.com/office/drawing/2014/main" id="{E897820B-D323-CAF6-4CFB-47370139C63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29764" y="-593030"/>
            <a:ext cx="308662" cy="308662"/>
          </a:xfrm>
          <a:prstGeom prst="rect">
            <a:avLst/>
          </a:prstGeom>
        </p:spPr>
      </p:pic>
      <p:pic>
        <p:nvPicPr>
          <p:cNvPr id="247" name="图片 246">
            <a:extLst>
              <a:ext uri="{FF2B5EF4-FFF2-40B4-BE49-F238E27FC236}">
                <a16:creationId xmlns:a16="http://schemas.microsoft.com/office/drawing/2014/main" id="{793B721D-F731-9BFB-DA91-56D0A48E0A27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90587" y="-113771"/>
            <a:ext cx="297462" cy="297462"/>
          </a:xfrm>
          <a:prstGeom prst="rect">
            <a:avLst/>
          </a:prstGeom>
        </p:spPr>
      </p:pic>
      <p:pic>
        <p:nvPicPr>
          <p:cNvPr id="248" name="图片 247">
            <a:extLst>
              <a:ext uri="{FF2B5EF4-FFF2-40B4-BE49-F238E27FC236}">
                <a16:creationId xmlns:a16="http://schemas.microsoft.com/office/drawing/2014/main" id="{ADF58A6F-4E68-D919-826A-4AFFC5D4A63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23106" y="-549536"/>
            <a:ext cx="249934" cy="249934"/>
          </a:xfrm>
          <a:prstGeom prst="rect">
            <a:avLst/>
          </a:prstGeom>
        </p:spPr>
      </p:pic>
      <p:sp>
        <p:nvSpPr>
          <p:cNvPr id="249" name="TextBox 6">
            <a:extLst>
              <a:ext uri="{FF2B5EF4-FFF2-40B4-BE49-F238E27FC236}">
                <a16:creationId xmlns:a16="http://schemas.microsoft.com/office/drawing/2014/main" id="{95362FB8-6624-8EF6-7F05-82D18F36A923}"/>
              </a:ext>
            </a:extLst>
          </p:cNvPr>
          <p:cNvSpPr txBox="1"/>
          <p:nvPr/>
        </p:nvSpPr>
        <p:spPr>
          <a:xfrm>
            <a:off x="4666853" y="-314221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250" name="TextBox 6">
            <a:extLst>
              <a:ext uri="{FF2B5EF4-FFF2-40B4-BE49-F238E27FC236}">
                <a16:creationId xmlns:a16="http://schemas.microsoft.com/office/drawing/2014/main" id="{730500FE-1D83-5082-401E-D491D97C2922}"/>
              </a:ext>
            </a:extLst>
          </p:cNvPr>
          <p:cNvSpPr txBox="1"/>
          <p:nvPr/>
        </p:nvSpPr>
        <p:spPr>
          <a:xfrm>
            <a:off x="5260628" y="-314221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251" name="TextBox 6">
            <a:extLst>
              <a:ext uri="{FF2B5EF4-FFF2-40B4-BE49-F238E27FC236}">
                <a16:creationId xmlns:a16="http://schemas.microsoft.com/office/drawing/2014/main" id="{51A0F661-2BB2-AFCD-D7BC-469767FF7CAF}"/>
              </a:ext>
            </a:extLst>
          </p:cNvPr>
          <p:cNvSpPr txBox="1"/>
          <p:nvPr/>
        </p:nvSpPr>
        <p:spPr>
          <a:xfrm>
            <a:off x="4053802" y="151672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252" name="TextBox 6">
            <a:extLst>
              <a:ext uri="{FF2B5EF4-FFF2-40B4-BE49-F238E27FC236}">
                <a16:creationId xmlns:a16="http://schemas.microsoft.com/office/drawing/2014/main" id="{8742713A-9A74-21AA-D74E-27CB8A28B0C8}"/>
              </a:ext>
            </a:extLst>
          </p:cNvPr>
          <p:cNvSpPr txBox="1"/>
          <p:nvPr/>
        </p:nvSpPr>
        <p:spPr>
          <a:xfrm>
            <a:off x="4035568" y="-313812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253" name="TextBox 6">
            <a:extLst>
              <a:ext uri="{FF2B5EF4-FFF2-40B4-BE49-F238E27FC236}">
                <a16:creationId xmlns:a16="http://schemas.microsoft.com/office/drawing/2014/main" id="{7D732467-43D7-C924-3924-C7CF5F76F641}"/>
              </a:ext>
            </a:extLst>
          </p:cNvPr>
          <p:cNvSpPr txBox="1"/>
          <p:nvPr/>
        </p:nvSpPr>
        <p:spPr>
          <a:xfrm>
            <a:off x="4542612" y="151672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254" name="图片 253">
            <a:extLst>
              <a:ext uri="{FF2B5EF4-FFF2-40B4-BE49-F238E27FC236}">
                <a16:creationId xmlns:a16="http://schemas.microsoft.com/office/drawing/2014/main" id="{F63E101C-CA52-A0D1-B76D-9CC6B9BB5D2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56181" y="-103571"/>
            <a:ext cx="317127" cy="251688"/>
          </a:xfrm>
          <a:prstGeom prst="rect">
            <a:avLst/>
          </a:prstGeom>
        </p:spPr>
      </p:pic>
      <p:sp>
        <p:nvSpPr>
          <p:cNvPr id="255" name="TextBox 6">
            <a:extLst>
              <a:ext uri="{FF2B5EF4-FFF2-40B4-BE49-F238E27FC236}">
                <a16:creationId xmlns:a16="http://schemas.microsoft.com/office/drawing/2014/main" id="{1BAEEBD4-D39F-81B3-EA29-CB197FFDCA91}"/>
              </a:ext>
            </a:extLst>
          </p:cNvPr>
          <p:cNvSpPr txBox="1"/>
          <p:nvPr/>
        </p:nvSpPr>
        <p:spPr>
          <a:xfrm>
            <a:off x="5209101" y="145581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256" name="图片 255">
            <a:extLst>
              <a:ext uri="{FF2B5EF4-FFF2-40B4-BE49-F238E27FC236}">
                <a16:creationId xmlns:a16="http://schemas.microsoft.com/office/drawing/2014/main" id="{7E31D485-2094-01A4-7227-26611172EA4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31818" y="-617691"/>
            <a:ext cx="574226" cy="574226"/>
          </a:xfrm>
          <a:prstGeom prst="rect">
            <a:avLst/>
          </a:prstGeom>
        </p:spPr>
      </p:pic>
      <p:pic>
        <p:nvPicPr>
          <p:cNvPr id="257" name="图片 256">
            <a:extLst>
              <a:ext uri="{FF2B5EF4-FFF2-40B4-BE49-F238E27FC236}">
                <a16:creationId xmlns:a16="http://schemas.microsoft.com/office/drawing/2014/main" id="{911A3956-6C98-1609-357D-687F92F45C4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66334" y="-561057"/>
            <a:ext cx="467988" cy="467988"/>
          </a:xfrm>
          <a:prstGeom prst="rect">
            <a:avLst/>
          </a:prstGeom>
        </p:spPr>
      </p:pic>
      <p:sp>
        <p:nvSpPr>
          <p:cNvPr id="258" name="TextBox 6">
            <a:extLst>
              <a:ext uri="{FF2B5EF4-FFF2-40B4-BE49-F238E27FC236}">
                <a16:creationId xmlns:a16="http://schemas.microsoft.com/office/drawing/2014/main" id="{50FF011A-7200-169D-2E21-CA98A8DC9E38}"/>
              </a:ext>
            </a:extLst>
          </p:cNvPr>
          <p:cNvSpPr txBox="1"/>
          <p:nvPr/>
        </p:nvSpPr>
        <p:spPr>
          <a:xfrm>
            <a:off x="6618094" y="-150751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sp>
        <p:nvSpPr>
          <p:cNvPr id="259" name="TextBox 6">
            <a:extLst>
              <a:ext uri="{FF2B5EF4-FFF2-40B4-BE49-F238E27FC236}">
                <a16:creationId xmlns:a16="http://schemas.microsoft.com/office/drawing/2014/main" id="{90FE5FDD-ECD3-C58E-490D-4ACB8024D9EE}"/>
              </a:ext>
            </a:extLst>
          </p:cNvPr>
          <p:cNvSpPr txBox="1"/>
          <p:nvPr/>
        </p:nvSpPr>
        <p:spPr>
          <a:xfrm>
            <a:off x="7586542" y="-150750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pic>
        <p:nvPicPr>
          <p:cNvPr id="260" name="图片 259">
            <a:extLst>
              <a:ext uri="{FF2B5EF4-FFF2-40B4-BE49-F238E27FC236}">
                <a16:creationId xmlns:a16="http://schemas.microsoft.com/office/drawing/2014/main" id="{92728A45-532E-157B-7A06-C626055668C7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30843" y="-628450"/>
            <a:ext cx="290761" cy="290761"/>
          </a:xfrm>
          <a:prstGeom prst="rect">
            <a:avLst/>
          </a:prstGeom>
        </p:spPr>
      </p:pic>
      <p:pic>
        <p:nvPicPr>
          <p:cNvPr id="261" name="图片 260">
            <a:extLst>
              <a:ext uri="{FF2B5EF4-FFF2-40B4-BE49-F238E27FC236}">
                <a16:creationId xmlns:a16="http://schemas.microsoft.com/office/drawing/2014/main" id="{CFB2ABC6-4D9A-976B-97F1-354503CD941C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13958" y="-607173"/>
            <a:ext cx="301862" cy="247428"/>
          </a:xfrm>
          <a:prstGeom prst="rect">
            <a:avLst/>
          </a:prstGeom>
        </p:spPr>
      </p:pic>
      <p:pic>
        <p:nvPicPr>
          <p:cNvPr id="262" name="图片 261">
            <a:extLst>
              <a:ext uri="{FF2B5EF4-FFF2-40B4-BE49-F238E27FC236}">
                <a16:creationId xmlns:a16="http://schemas.microsoft.com/office/drawing/2014/main" id="{EC1D10A9-2765-D2C6-564C-F128A55685C0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96094" y="-126037"/>
            <a:ext cx="314823" cy="314823"/>
          </a:xfrm>
          <a:prstGeom prst="rect">
            <a:avLst/>
          </a:prstGeom>
        </p:spPr>
      </p:pic>
      <p:sp>
        <p:nvSpPr>
          <p:cNvPr id="263" name="TextBox 6">
            <a:extLst>
              <a:ext uri="{FF2B5EF4-FFF2-40B4-BE49-F238E27FC236}">
                <a16:creationId xmlns:a16="http://schemas.microsoft.com/office/drawing/2014/main" id="{5606F254-AFD2-99FD-950C-222D1D4D9E48}"/>
              </a:ext>
            </a:extLst>
          </p:cNvPr>
          <p:cNvSpPr txBox="1"/>
          <p:nvPr/>
        </p:nvSpPr>
        <p:spPr>
          <a:xfrm>
            <a:off x="1956290" y="-389662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sp>
        <p:nvSpPr>
          <p:cNvPr id="264" name="TextBox 6">
            <a:extLst>
              <a:ext uri="{FF2B5EF4-FFF2-40B4-BE49-F238E27FC236}">
                <a16:creationId xmlns:a16="http://schemas.microsoft.com/office/drawing/2014/main" id="{6002D9E6-B9E3-350E-FB3B-822F40014E72}"/>
              </a:ext>
            </a:extLst>
          </p:cNvPr>
          <p:cNvSpPr txBox="1"/>
          <p:nvPr/>
        </p:nvSpPr>
        <p:spPr>
          <a:xfrm>
            <a:off x="2688269" y="-404947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265" name="TextBox 6">
            <a:extLst>
              <a:ext uri="{FF2B5EF4-FFF2-40B4-BE49-F238E27FC236}">
                <a16:creationId xmlns:a16="http://schemas.microsoft.com/office/drawing/2014/main" id="{9BE59A69-2E5A-43BA-A277-C1C4278EB11C}"/>
              </a:ext>
            </a:extLst>
          </p:cNvPr>
          <p:cNvSpPr txBox="1"/>
          <p:nvPr/>
        </p:nvSpPr>
        <p:spPr>
          <a:xfrm>
            <a:off x="1798030" y="122432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266" name="图片 265">
            <a:extLst>
              <a:ext uri="{FF2B5EF4-FFF2-40B4-BE49-F238E27FC236}">
                <a16:creationId xmlns:a16="http://schemas.microsoft.com/office/drawing/2014/main" id="{BF725BFB-F4B2-8CB9-A985-57D671D3688F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66465" y="-133408"/>
            <a:ext cx="314823" cy="314823"/>
          </a:xfrm>
          <a:prstGeom prst="rect">
            <a:avLst/>
          </a:prstGeom>
        </p:spPr>
      </p:pic>
      <p:sp>
        <p:nvSpPr>
          <p:cNvPr id="267" name="TextBox 6">
            <a:extLst>
              <a:ext uri="{FF2B5EF4-FFF2-40B4-BE49-F238E27FC236}">
                <a16:creationId xmlns:a16="http://schemas.microsoft.com/office/drawing/2014/main" id="{FDB7EB1F-C0D2-16A8-C07B-C67C7D2B06BD}"/>
              </a:ext>
            </a:extLst>
          </p:cNvPr>
          <p:cNvSpPr txBox="1"/>
          <p:nvPr/>
        </p:nvSpPr>
        <p:spPr>
          <a:xfrm>
            <a:off x="2427572" y="116074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268" name="图片 267">
            <a:extLst>
              <a:ext uri="{FF2B5EF4-FFF2-40B4-BE49-F238E27FC236}">
                <a16:creationId xmlns:a16="http://schemas.microsoft.com/office/drawing/2014/main" id="{3324DAB9-9AA8-3DAF-9432-D09CAD612909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93083" y="-115873"/>
            <a:ext cx="296444" cy="286420"/>
          </a:xfrm>
          <a:prstGeom prst="rect">
            <a:avLst/>
          </a:prstGeom>
        </p:spPr>
      </p:pic>
      <p:sp>
        <p:nvSpPr>
          <p:cNvPr id="269" name="TextBox 6">
            <a:extLst>
              <a:ext uri="{FF2B5EF4-FFF2-40B4-BE49-F238E27FC236}">
                <a16:creationId xmlns:a16="http://schemas.microsoft.com/office/drawing/2014/main" id="{22E403AF-4668-8FF9-B776-05800BA29B93}"/>
              </a:ext>
            </a:extLst>
          </p:cNvPr>
          <p:cNvSpPr txBox="1"/>
          <p:nvPr/>
        </p:nvSpPr>
        <p:spPr>
          <a:xfrm>
            <a:off x="3011134" y="128969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pic>
        <p:nvPicPr>
          <p:cNvPr id="282" name="图片 281">
            <a:extLst>
              <a:ext uri="{FF2B5EF4-FFF2-40B4-BE49-F238E27FC236}">
                <a16:creationId xmlns:a16="http://schemas.microsoft.com/office/drawing/2014/main" id="{0DD75B7E-B6E6-B3DD-CD5E-DDFAE666A236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43813" y="1409374"/>
            <a:ext cx="301862" cy="247428"/>
          </a:xfrm>
          <a:prstGeom prst="rect">
            <a:avLst/>
          </a:prstGeom>
        </p:spPr>
      </p:pic>
      <p:sp>
        <p:nvSpPr>
          <p:cNvPr id="283" name="TextBox 6">
            <a:extLst>
              <a:ext uri="{FF2B5EF4-FFF2-40B4-BE49-F238E27FC236}">
                <a16:creationId xmlns:a16="http://schemas.microsoft.com/office/drawing/2014/main" id="{1ECD3639-9BB8-20A2-68FD-F35991231BF4}"/>
              </a:ext>
            </a:extLst>
          </p:cNvPr>
          <p:cNvSpPr txBox="1"/>
          <p:nvPr/>
        </p:nvSpPr>
        <p:spPr>
          <a:xfrm>
            <a:off x="2886145" y="1626885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sp>
        <p:nvSpPr>
          <p:cNvPr id="284" name="Rounded Rectangle 15">
            <a:extLst>
              <a:ext uri="{FF2B5EF4-FFF2-40B4-BE49-F238E27FC236}">
                <a16:creationId xmlns:a16="http://schemas.microsoft.com/office/drawing/2014/main" id="{44EF75E2-B5BF-66A4-B614-C594971D1842}"/>
              </a:ext>
            </a:extLst>
          </p:cNvPr>
          <p:cNvSpPr/>
          <p:nvPr/>
        </p:nvSpPr>
        <p:spPr>
          <a:xfrm>
            <a:off x="4104696" y="1246900"/>
            <a:ext cx="2670606" cy="720275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pic>
        <p:nvPicPr>
          <p:cNvPr id="287" name="图片 286">
            <a:extLst>
              <a:ext uri="{FF2B5EF4-FFF2-40B4-BE49-F238E27FC236}">
                <a16:creationId xmlns:a16="http://schemas.microsoft.com/office/drawing/2014/main" id="{FB94766F-FC8E-AA1A-7C08-FA7C732869C2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02637" y="1431404"/>
            <a:ext cx="314823" cy="314823"/>
          </a:xfrm>
          <a:prstGeom prst="rect">
            <a:avLst/>
          </a:prstGeom>
        </p:spPr>
      </p:pic>
      <p:sp>
        <p:nvSpPr>
          <p:cNvPr id="288" name="TextBox 6">
            <a:extLst>
              <a:ext uri="{FF2B5EF4-FFF2-40B4-BE49-F238E27FC236}">
                <a16:creationId xmlns:a16="http://schemas.microsoft.com/office/drawing/2014/main" id="{10E89D1F-48FE-9083-6567-9B867D876DF4}"/>
              </a:ext>
            </a:extLst>
          </p:cNvPr>
          <p:cNvSpPr txBox="1"/>
          <p:nvPr/>
        </p:nvSpPr>
        <p:spPr>
          <a:xfrm>
            <a:off x="5004573" y="1679873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289" name="图片 288">
            <a:extLst>
              <a:ext uri="{FF2B5EF4-FFF2-40B4-BE49-F238E27FC236}">
                <a16:creationId xmlns:a16="http://schemas.microsoft.com/office/drawing/2014/main" id="{26FFB871-069A-CE05-CD6F-28323CB98779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92033" y="1433558"/>
            <a:ext cx="314823" cy="314823"/>
          </a:xfrm>
          <a:prstGeom prst="rect">
            <a:avLst/>
          </a:prstGeom>
        </p:spPr>
      </p:pic>
      <p:sp>
        <p:nvSpPr>
          <p:cNvPr id="290" name="TextBox 6">
            <a:extLst>
              <a:ext uri="{FF2B5EF4-FFF2-40B4-BE49-F238E27FC236}">
                <a16:creationId xmlns:a16="http://schemas.microsoft.com/office/drawing/2014/main" id="{083A151B-972D-5A4E-70FC-398E9E7CB831}"/>
              </a:ext>
            </a:extLst>
          </p:cNvPr>
          <p:cNvSpPr txBox="1"/>
          <p:nvPr/>
        </p:nvSpPr>
        <p:spPr>
          <a:xfrm>
            <a:off x="5453140" y="1683040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291" name="图片 290">
            <a:extLst>
              <a:ext uri="{FF2B5EF4-FFF2-40B4-BE49-F238E27FC236}">
                <a16:creationId xmlns:a16="http://schemas.microsoft.com/office/drawing/2014/main" id="{A7C5C457-7396-CE17-7DA5-5287D4B3855C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86339" y="1457374"/>
            <a:ext cx="296444" cy="286420"/>
          </a:xfrm>
          <a:prstGeom prst="rect">
            <a:avLst/>
          </a:prstGeom>
        </p:spPr>
      </p:pic>
      <p:sp>
        <p:nvSpPr>
          <p:cNvPr id="292" name="TextBox 6">
            <a:extLst>
              <a:ext uri="{FF2B5EF4-FFF2-40B4-BE49-F238E27FC236}">
                <a16:creationId xmlns:a16="http://schemas.microsoft.com/office/drawing/2014/main" id="{CBAFCDEE-C7FD-BED5-42EA-F42F85B0154D}"/>
              </a:ext>
            </a:extLst>
          </p:cNvPr>
          <p:cNvSpPr txBox="1"/>
          <p:nvPr/>
        </p:nvSpPr>
        <p:spPr>
          <a:xfrm>
            <a:off x="6052015" y="1702216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pic>
        <p:nvPicPr>
          <p:cNvPr id="293" name="图片 292">
            <a:extLst>
              <a:ext uri="{FF2B5EF4-FFF2-40B4-BE49-F238E27FC236}">
                <a16:creationId xmlns:a16="http://schemas.microsoft.com/office/drawing/2014/main" id="{B7E84CF2-3D18-460A-079F-DB30C5589E14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2776" y="1457893"/>
            <a:ext cx="290761" cy="290761"/>
          </a:xfrm>
          <a:prstGeom prst="rect">
            <a:avLst/>
          </a:prstGeom>
        </p:spPr>
      </p:pic>
      <p:sp>
        <p:nvSpPr>
          <p:cNvPr id="294" name="TextBox 6">
            <a:extLst>
              <a:ext uri="{FF2B5EF4-FFF2-40B4-BE49-F238E27FC236}">
                <a16:creationId xmlns:a16="http://schemas.microsoft.com/office/drawing/2014/main" id="{1BE187CC-064E-9CCA-78C3-1E7FBF00D7CC}"/>
              </a:ext>
            </a:extLst>
          </p:cNvPr>
          <p:cNvSpPr txBox="1"/>
          <p:nvPr/>
        </p:nvSpPr>
        <p:spPr>
          <a:xfrm>
            <a:off x="4280202" y="1681396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875E9DEE-0060-A02D-F66B-4890B54C8222}"/>
              </a:ext>
            </a:extLst>
          </p:cNvPr>
          <p:cNvSpPr txBox="1"/>
          <p:nvPr/>
        </p:nvSpPr>
        <p:spPr>
          <a:xfrm>
            <a:off x="2482077" y="1974042"/>
            <a:ext cx="14215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规则统计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BA4440F6-CA5E-1557-12C7-087254759C79}"/>
              </a:ext>
            </a:extLst>
          </p:cNvPr>
          <p:cNvSpPr txBox="1"/>
          <p:nvPr/>
        </p:nvSpPr>
        <p:spPr>
          <a:xfrm>
            <a:off x="4741999" y="1966560"/>
            <a:ext cx="14215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身份画像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8" name="TextBox 16">
            <a:extLst>
              <a:ext uri="{FF2B5EF4-FFF2-40B4-BE49-F238E27FC236}">
                <a16:creationId xmlns:a16="http://schemas.microsoft.com/office/drawing/2014/main" id="{D799B10D-796C-E16E-3955-E4D997E937C0}"/>
              </a:ext>
            </a:extLst>
          </p:cNvPr>
          <p:cNvSpPr txBox="1"/>
          <p:nvPr/>
        </p:nvSpPr>
        <p:spPr>
          <a:xfrm>
            <a:off x="1158359" y="1460383"/>
            <a:ext cx="884532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744BB4"/>
                </a:solidFill>
                <a:latin typeface="Microsoft YaHei"/>
              </a:defRPr>
            </a:pPr>
            <a:r>
              <a:rPr sz="1200" b="1" dirty="0" err="1">
                <a:solidFill>
                  <a:srgbClr val="3F975B"/>
                </a:solidFill>
                <a:latin typeface="+mn-ea"/>
              </a:rPr>
              <a:t>决策依据</a:t>
            </a:r>
            <a:endParaRPr sz="1200" b="1" dirty="0">
              <a:solidFill>
                <a:srgbClr val="3F975B"/>
              </a:solidFill>
              <a:latin typeface="+mn-ea"/>
            </a:endParaRPr>
          </a:p>
        </p:txBody>
      </p:sp>
      <p:sp>
        <p:nvSpPr>
          <p:cNvPr id="309" name="TextBox 4">
            <a:extLst>
              <a:ext uri="{FF2B5EF4-FFF2-40B4-BE49-F238E27FC236}">
                <a16:creationId xmlns:a16="http://schemas.microsoft.com/office/drawing/2014/main" id="{A69564C3-FF96-512D-D33F-B8211EF89600}"/>
              </a:ext>
            </a:extLst>
          </p:cNvPr>
          <p:cNvSpPr txBox="1"/>
          <p:nvPr/>
        </p:nvSpPr>
        <p:spPr>
          <a:xfrm>
            <a:off x="1221660" y="4774360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E86C1F"/>
                </a:solidFill>
                <a:latin typeface="Microsoft YaHei"/>
              </a:defRPr>
            </a:pPr>
            <a:r>
              <a:rPr lang="zh-CN" altLang="en-US" sz="1200" dirty="0">
                <a:latin typeface="+mn-ea"/>
              </a:rPr>
              <a:t>决策场景</a:t>
            </a:r>
          </a:p>
        </p:txBody>
      </p:sp>
      <p:sp>
        <p:nvSpPr>
          <p:cNvPr id="310" name="TextBox 12">
            <a:extLst>
              <a:ext uri="{FF2B5EF4-FFF2-40B4-BE49-F238E27FC236}">
                <a16:creationId xmlns:a16="http://schemas.microsoft.com/office/drawing/2014/main" id="{4F204F4C-C699-AC4E-C2E5-EC86EABE62E8}"/>
              </a:ext>
            </a:extLst>
          </p:cNvPr>
          <p:cNvSpPr txBox="1"/>
          <p:nvPr/>
        </p:nvSpPr>
        <p:spPr>
          <a:xfrm>
            <a:off x="3122855" y="2555027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2D71D3"/>
                </a:solidFill>
                <a:latin typeface="Microsoft YaHei"/>
              </a:defRPr>
            </a:pPr>
            <a:r>
              <a:rPr sz="1200" dirty="0" err="1">
                <a:latin typeface="+mn-ea"/>
              </a:rPr>
              <a:t>决策对象</a:t>
            </a:r>
            <a:endParaRPr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3293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ounded Rectangle 15">
            <a:extLst>
              <a:ext uri="{FF2B5EF4-FFF2-40B4-BE49-F238E27FC236}">
                <a16:creationId xmlns:a16="http://schemas.microsoft.com/office/drawing/2014/main" id="{C6D088CC-9B75-09E2-5677-B0FA3F70F16C}"/>
              </a:ext>
            </a:extLst>
          </p:cNvPr>
          <p:cNvSpPr/>
          <p:nvPr/>
        </p:nvSpPr>
        <p:spPr>
          <a:xfrm>
            <a:off x="323079" y="2443795"/>
            <a:ext cx="9863056" cy="2564032"/>
          </a:xfrm>
          <a:prstGeom prst="roundRect">
            <a:avLst>
              <a:gd name="adj" fmla="val 745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dirty="0">
              <a:latin typeface="+mn-ea"/>
            </a:endParaRPr>
          </a:p>
        </p:txBody>
      </p:sp>
      <p:sp>
        <p:nvSpPr>
          <p:cNvPr id="285" name="等腰三角形 284">
            <a:extLst>
              <a:ext uri="{FF2B5EF4-FFF2-40B4-BE49-F238E27FC236}">
                <a16:creationId xmlns:a16="http://schemas.microsoft.com/office/drawing/2014/main" id="{0F5E06CA-D75F-A6F3-740E-7BB2DDB4117E}"/>
              </a:ext>
            </a:extLst>
          </p:cNvPr>
          <p:cNvSpPr/>
          <p:nvPr/>
        </p:nvSpPr>
        <p:spPr>
          <a:xfrm>
            <a:off x="402396" y="2854979"/>
            <a:ext cx="2142665" cy="184712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" name="TextBox 1"/>
          <p:cNvSpPr txBox="1"/>
          <p:nvPr/>
        </p:nvSpPr>
        <p:spPr>
          <a:xfrm>
            <a:off x="2018184" y="-28501"/>
            <a:ext cx="5202858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2500" b="1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用户选店选品决策四维模型</a:t>
            </a:r>
            <a:r>
              <a:rPr sz="900" dirty="0">
                <a:latin typeface="+mn-ea"/>
              </a:rPr>
              <a:t> × </a:t>
            </a:r>
            <a:r>
              <a:rPr sz="900" dirty="0" err="1">
                <a:latin typeface="+mn-ea"/>
              </a:rPr>
              <a:t>美团点评榜单体系全景图</a:t>
            </a:r>
            <a:endParaRPr sz="900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08364" y="189432"/>
            <a:ext cx="6865685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50" b="0">
                <a:solidFill>
                  <a:srgbClr val="365378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四维交叉覆盖用户全链路决策需求，驱动榜单体系分层分级、连接</a:t>
            </a:r>
            <a:r>
              <a:rPr sz="900" dirty="0">
                <a:latin typeface="+mn-ea"/>
              </a:rPr>
              <a:t>“</a:t>
            </a:r>
            <a:r>
              <a:rPr lang="zh-CN" altLang="en-US" sz="900" dirty="0">
                <a:latin typeface="+mn-ea"/>
              </a:rPr>
              <a:t>场景</a:t>
            </a:r>
            <a:r>
              <a:rPr sz="900" dirty="0">
                <a:latin typeface="+mn-ea"/>
              </a:rPr>
              <a:t>·</a:t>
            </a:r>
            <a:r>
              <a:rPr sz="900" dirty="0" err="1">
                <a:latin typeface="+mn-ea"/>
              </a:rPr>
              <a:t>对象·依据</a:t>
            </a:r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信息</a:t>
            </a:r>
            <a:r>
              <a:rPr sz="900" dirty="0">
                <a:latin typeface="+mn-ea"/>
              </a:rPr>
              <a:t>”</a:t>
            </a:r>
            <a:r>
              <a:rPr sz="900" dirty="0" err="1">
                <a:latin typeface="+mn-ea"/>
              </a:rPr>
              <a:t>到“榜单产品”的完整闭环</a:t>
            </a:r>
            <a:endParaRPr sz="900" dirty="0">
              <a:latin typeface="+mn-e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43806" y="602545"/>
            <a:ext cx="2160000" cy="1440000"/>
          </a:xfrm>
          <a:prstGeom prst="roundRect">
            <a:avLst/>
          </a:prstGeom>
          <a:solidFill>
            <a:srgbClr val="FFF7EF"/>
          </a:solidFill>
          <a:ln>
            <a:solidFill>
              <a:srgbClr val="E86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5267" y="625832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E86C1F"/>
                </a:solidFill>
                <a:latin typeface="Microsoft YaHei"/>
              </a:defRPr>
            </a:pPr>
            <a:r>
              <a:rPr lang="zh-CN" altLang="en-US" sz="1200" dirty="0">
                <a:latin typeface="+mn-ea"/>
              </a:rPr>
              <a:t>决策场景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504" y="822588"/>
            <a:ext cx="125142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E86C1F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为什么吃？什么场合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76937" y="579024"/>
            <a:ext cx="2160000" cy="1440000"/>
          </a:xfrm>
          <a:prstGeom prst="roundRect">
            <a:avLst/>
          </a:prstGeom>
          <a:solidFill>
            <a:srgbClr val="F8F5FC"/>
          </a:solidFill>
          <a:ln>
            <a:solidFill>
              <a:srgbClr val="744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4251" y="596274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3F975B"/>
                </a:solidFill>
                <a:latin typeface="Microsoft YaHei"/>
              </a:defRPr>
            </a:pPr>
            <a:r>
              <a:rPr sz="1200" b="1" dirty="0" err="1">
                <a:solidFill>
                  <a:srgbClr val="744BB4"/>
                </a:solidFill>
                <a:latin typeface="Microsoft YaHei"/>
              </a:rPr>
              <a:t>决策信息</a:t>
            </a:r>
            <a:endParaRPr sz="1200" b="1" dirty="0">
              <a:solidFill>
                <a:srgbClr val="744BB4"/>
              </a:solidFill>
              <a:latin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4626" y="770244"/>
            <a:ext cx="1638900" cy="24917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3F975B"/>
                </a:solidFill>
                <a:latin typeface="Microsoft YaHei"/>
              </a:defRPr>
            </a:pPr>
            <a:r>
              <a:rPr sz="1019" b="1" dirty="0" err="1">
                <a:solidFill>
                  <a:srgbClr val="744BB4"/>
                </a:solidFill>
                <a:latin typeface="Microsoft YaHei"/>
              </a:rPr>
              <a:t>关注什么信息？什么要求</a:t>
            </a:r>
            <a:r>
              <a:rPr sz="1019" b="1" dirty="0">
                <a:solidFill>
                  <a:srgbClr val="744BB4"/>
                </a:solidFill>
                <a:latin typeface="Microsoft YaHei"/>
              </a:rPr>
              <a:t>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6863" y="939383"/>
            <a:ext cx="1609169" cy="1338828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供给信息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菜系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品类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特色菜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招牌菜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新品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联名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餐厅类型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风格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二次元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主题餐厅</a:t>
            </a:r>
            <a:br>
              <a:rPr sz="900" dirty="0">
                <a:latin typeface="+mn-ea"/>
              </a:rPr>
            </a:b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约束条件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包间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人数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停车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交通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可预约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排队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忌口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过敏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预算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价格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营业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互动</a:t>
            </a:r>
            <a:endParaRPr sz="900" dirty="0">
              <a:latin typeface="+mn-e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73813" y="596669"/>
            <a:ext cx="2160000" cy="1440000"/>
          </a:xfrm>
          <a:prstGeom prst="roundRect">
            <a:avLst/>
          </a:prstGeom>
          <a:solidFill>
            <a:srgbClr val="F3F8FF"/>
          </a:solidFill>
          <a:ln>
            <a:solidFill>
              <a:srgbClr val="2D7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5831" y="629481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2D71D3"/>
                </a:solidFill>
                <a:latin typeface="Microsoft YaHei"/>
              </a:defRPr>
            </a:pPr>
            <a:r>
              <a:rPr sz="1200" dirty="0" err="1">
                <a:latin typeface="+mn-ea"/>
              </a:rPr>
              <a:t>决策对象</a:t>
            </a:r>
            <a:endParaRPr sz="1200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75562" y="818498"/>
            <a:ext cx="83989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2D71D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我要选什么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3819" y="596669"/>
            <a:ext cx="2160000" cy="1440000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11470" y="623635"/>
            <a:ext cx="884532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744BB4"/>
                </a:solidFill>
                <a:latin typeface="Microsoft YaHei"/>
              </a:defRPr>
            </a:pPr>
            <a:r>
              <a:rPr sz="1200" b="1" dirty="0" err="1">
                <a:solidFill>
                  <a:srgbClr val="3F975B"/>
                </a:solidFill>
                <a:latin typeface="+mn-ea"/>
              </a:rPr>
              <a:t>决策依据</a:t>
            </a:r>
            <a:endParaRPr sz="1200" b="1" dirty="0">
              <a:solidFill>
                <a:srgbClr val="3F975B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80315" y="794497"/>
            <a:ext cx="103407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744BB4"/>
                </a:solidFill>
                <a:latin typeface="Microsoft YaHei"/>
              </a:defRPr>
            </a:pPr>
            <a:r>
              <a:rPr sz="900" b="1" dirty="0" err="1">
                <a:solidFill>
                  <a:srgbClr val="3F975B"/>
                </a:solidFill>
                <a:latin typeface="+mn-ea"/>
              </a:rPr>
              <a:t>我为什么相信它</a:t>
            </a:r>
            <a:r>
              <a:rPr sz="900" b="1" dirty="0">
                <a:solidFill>
                  <a:srgbClr val="3F975B"/>
                </a:solidFill>
                <a:latin typeface="+mn-ea"/>
              </a:rPr>
              <a:t>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740318" y="-93260"/>
            <a:ext cx="1337878" cy="2768295"/>
          </a:xfrm>
          <a:prstGeom prst="roundRect">
            <a:avLst/>
          </a:prstGeom>
          <a:solidFill>
            <a:srgbClr val="FAFA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852861" y="-26365"/>
            <a:ext cx="115206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四维如何协同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33226" y="196615"/>
            <a:ext cx="1133480" cy="64633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30" b="0">
                <a:solidFill>
                  <a:srgbClr val="696969"/>
                </a:solidFill>
                <a:latin typeface="Microsoft YaHei"/>
              </a:defRPr>
            </a:pPr>
            <a:r>
              <a:rPr sz="900">
                <a:latin typeface="+mn-ea"/>
              </a:rPr>
              <a:t>用户在特定场景下，基于关注的信息，选择对象，并结合不同信任依据做出决策。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51808" y="992170"/>
            <a:ext cx="1114898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80" b="1">
                <a:solidFill>
                  <a:srgbClr val="232323"/>
                </a:solidFill>
                <a:latin typeface="Microsoft YaHei"/>
              </a:defRPr>
            </a:pPr>
            <a:r>
              <a:rPr sz="900">
                <a:latin typeface="+mn-ea"/>
              </a:rPr>
              <a:t>示例：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51807" y="1092511"/>
            <a:ext cx="1133480" cy="120032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900" dirty="0">
                <a:latin typeface="+mn-ea"/>
              </a:rPr>
              <a:t>场景：生日聚餐（8人）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信息：包间＋有生日服务＋停车方便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对象：选店（符合大聚餐的餐厅</a:t>
            </a:r>
            <a:r>
              <a:rPr sz="900" dirty="0">
                <a:latin typeface="+mn-ea"/>
              </a:rPr>
              <a:t>）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依据：朋友推荐＋大众好评</a:t>
            </a:r>
            <a:endParaRPr sz="900" dirty="0">
              <a:latin typeface="+mn-ea"/>
            </a:endParaRPr>
          </a:p>
        </p:txBody>
      </p:sp>
      <p:pic>
        <p:nvPicPr>
          <p:cNvPr id="150" name="Picture 1">
            <a:extLst>
              <a:ext uri="{FF2B5EF4-FFF2-40B4-BE49-F238E27FC236}">
                <a16:creationId xmlns:a16="http://schemas.microsoft.com/office/drawing/2014/main" id="{185A1C24-E037-2E54-67AB-4749B3776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6253" y="2553688"/>
            <a:ext cx="10307967" cy="9502903"/>
          </a:xfrm>
          <a:prstGeom prst="rect">
            <a:avLst/>
          </a:prstGeom>
        </p:spPr>
      </p:pic>
      <p:pic>
        <p:nvPicPr>
          <p:cNvPr id="152" name="图片 151">
            <a:extLst>
              <a:ext uri="{FF2B5EF4-FFF2-40B4-BE49-F238E27FC236}">
                <a16:creationId xmlns:a16="http://schemas.microsoft.com/office/drawing/2014/main" id="{586F05F5-2511-55CF-126B-7F9BE88C678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2276" y="1588024"/>
            <a:ext cx="283858" cy="283858"/>
          </a:xfrm>
          <a:prstGeom prst="rect">
            <a:avLst/>
          </a:prstGeom>
        </p:spPr>
      </p:pic>
      <p:pic>
        <p:nvPicPr>
          <p:cNvPr id="154" name="图片 153">
            <a:extLst>
              <a:ext uri="{FF2B5EF4-FFF2-40B4-BE49-F238E27FC236}">
                <a16:creationId xmlns:a16="http://schemas.microsoft.com/office/drawing/2014/main" id="{69F57832-4B98-0F26-1DE8-FC571D05D44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5398" y="1099168"/>
            <a:ext cx="323272" cy="323272"/>
          </a:xfrm>
          <a:prstGeom prst="rect">
            <a:avLst/>
          </a:prstGeom>
        </p:spPr>
      </p:pic>
      <p:pic>
        <p:nvPicPr>
          <p:cNvPr id="158" name="图片 157">
            <a:extLst>
              <a:ext uri="{FF2B5EF4-FFF2-40B4-BE49-F238E27FC236}">
                <a16:creationId xmlns:a16="http://schemas.microsoft.com/office/drawing/2014/main" id="{424E0CE5-6F46-FCB4-A24E-0A03D86C38C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97640" y="1081715"/>
            <a:ext cx="308662" cy="308662"/>
          </a:xfrm>
          <a:prstGeom prst="rect">
            <a:avLst/>
          </a:prstGeom>
        </p:spPr>
      </p:pic>
      <p:pic>
        <p:nvPicPr>
          <p:cNvPr id="160" name="图片 159">
            <a:extLst>
              <a:ext uri="{FF2B5EF4-FFF2-40B4-BE49-F238E27FC236}">
                <a16:creationId xmlns:a16="http://schemas.microsoft.com/office/drawing/2014/main" id="{A12C1891-0975-33CC-4A38-722A4961247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58463" y="1560974"/>
            <a:ext cx="297462" cy="297462"/>
          </a:xfrm>
          <a:prstGeom prst="rect">
            <a:avLst/>
          </a:prstGeom>
        </p:spPr>
      </p:pic>
      <p:pic>
        <p:nvPicPr>
          <p:cNvPr id="164" name="图片 163">
            <a:extLst>
              <a:ext uri="{FF2B5EF4-FFF2-40B4-BE49-F238E27FC236}">
                <a16:creationId xmlns:a16="http://schemas.microsoft.com/office/drawing/2014/main" id="{19C8418C-1C77-C0F8-2C21-80F19B66B63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90982" y="1125209"/>
            <a:ext cx="249934" cy="249934"/>
          </a:xfrm>
          <a:prstGeom prst="rect">
            <a:avLst/>
          </a:prstGeom>
        </p:spPr>
      </p:pic>
      <p:sp>
        <p:nvSpPr>
          <p:cNvPr id="165" name="TextBox 6">
            <a:extLst>
              <a:ext uri="{FF2B5EF4-FFF2-40B4-BE49-F238E27FC236}">
                <a16:creationId xmlns:a16="http://schemas.microsoft.com/office/drawing/2014/main" id="{93A32559-649D-12A7-588C-C212CDA9809E}"/>
              </a:ext>
            </a:extLst>
          </p:cNvPr>
          <p:cNvSpPr txBox="1"/>
          <p:nvPr/>
        </p:nvSpPr>
        <p:spPr>
          <a:xfrm>
            <a:off x="1134729" y="1360524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166" name="TextBox 6">
            <a:extLst>
              <a:ext uri="{FF2B5EF4-FFF2-40B4-BE49-F238E27FC236}">
                <a16:creationId xmlns:a16="http://schemas.microsoft.com/office/drawing/2014/main" id="{DC1AA6B8-58E8-66E9-9792-EF3A5C51E38A}"/>
              </a:ext>
            </a:extLst>
          </p:cNvPr>
          <p:cNvSpPr txBox="1"/>
          <p:nvPr/>
        </p:nvSpPr>
        <p:spPr>
          <a:xfrm>
            <a:off x="1728504" y="1360524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167" name="TextBox 6">
            <a:extLst>
              <a:ext uri="{FF2B5EF4-FFF2-40B4-BE49-F238E27FC236}">
                <a16:creationId xmlns:a16="http://schemas.microsoft.com/office/drawing/2014/main" id="{00681B47-4097-0CB1-7011-FCA257C9C2C5}"/>
              </a:ext>
            </a:extLst>
          </p:cNvPr>
          <p:cNvSpPr txBox="1"/>
          <p:nvPr/>
        </p:nvSpPr>
        <p:spPr>
          <a:xfrm>
            <a:off x="509703" y="1823698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170" name="TextBox 6">
            <a:extLst>
              <a:ext uri="{FF2B5EF4-FFF2-40B4-BE49-F238E27FC236}">
                <a16:creationId xmlns:a16="http://schemas.microsoft.com/office/drawing/2014/main" id="{C8B84D2A-F9BE-2AD3-17AD-3F365E47B28C}"/>
              </a:ext>
            </a:extLst>
          </p:cNvPr>
          <p:cNvSpPr txBox="1"/>
          <p:nvPr/>
        </p:nvSpPr>
        <p:spPr>
          <a:xfrm>
            <a:off x="503444" y="1360933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171" name="TextBox 6">
            <a:extLst>
              <a:ext uri="{FF2B5EF4-FFF2-40B4-BE49-F238E27FC236}">
                <a16:creationId xmlns:a16="http://schemas.microsoft.com/office/drawing/2014/main" id="{93F2D9C7-1796-24C2-DB1A-99CBD9725F93}"/>
              </a:ext>
            </a:extLst>
          </p:cNvPr>
          <p:cNvSpPr txBox="1"/>
          <p:nvPr/>
        </p:nvSpPr>
        <p:spPr>
          <a:xfrm>
            <a:off x="998513" y="1823698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173" name="图片 172">
            <a:extLst>
              <a:ext uri="{FF2B5EF4-FFF2-40B4-BE49-F238E27FC236}">
                <a16:creationId xmlns:a16="http://schemas.microsoft.com/office/drawing/2014/main" id="{11980ABA-8E9B-499C-8C5A-8EB1A342E2D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24057" y="1571174"/>
            <a:ext cx="317127" cy="251688"/>
          </a:xfrm>
          <a:prstGeom prst="rect">
            <a:avLst/>
          </a:prstGeom>
        </p:spPr>
      </p:pic>
      <p:sp>
        <p:nvSpPr>
          <p:cNvPr id="174" name="TextBox 6">
            <a:extLst>
              <a:ext uri="{FF2B5EF4-FFF2-40B4-BE49-F238E27FC236}">
                <a16:creationId xmlns:a16="http://schemas.microsoft.com/office/drawing/2014/main" id="{C784151D-B7EB-A953-8C1E-5A99FA69E16E}"/>
              </a:ext>
            </a:extLst>
          </p:cNvPr>
          <p:cNvSpPr txBox="1"/>
          <p:nvPr/>
        </p:nvSpPr>
        <p:spPr>
          <a:xfrm>
            <a:off x="1665002" y="1817607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176" name="图片 175">
            <a:extLst>
              <a:ext uri="{FF2B5EF4-FFF2-40B4-BE49-F238E27FC236}">
                <a16:creationId xmlns:a16="http://schemas.microsoft.com/office/drawing/2014/main" id="{EE893496-B8C0-6A17-A192-7F2521A36D5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99694" y="1057054"/>
            <a:ext cx="574226" cy="574226"/>
          </a:xfrm>
          <a:prstGeom prst="rect">
            <a:avLst/>
          </a:prstGeom>
        </p:spPr>
      </p:pic>
      <p:pic>
        <p:nvPicPr>
          <p:cNvPr id="178" name="图片 177">
            <a:extLst>
              <a:ext uri="{FF2B5EF4-FFF2-40B4-BE49-F238E27FC236}">
                <a16:creationId xmlns:a16="http://schemas.microsoft.com/office/drawing/2014/main" id="{6F95E1C9-251D-0D8A-CDDA-B7BA002D2BD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34210" y="1113688"/>
            <a:ext cx="467988" cy="467988"/>
          </a:xfrm>
          <a:prstGeom prst="rect">
            <a:avLst/>
          </a:prstGeom>
        </p:spPr>
      </p:pic>
      <p:sp>
        <p:nvSpPr>
          <p:cNvPr id="179" name="TextBox 6">
            <a:extLst>
              <a:ext uri="{FF2B5EF4-FFF2-40B4-BE49-F238E27FC236}">
                <a16:creationId xmlns:a16="http://schemas.microsoft.com/office/drawing/2014/main" id="{3EDC531C-8C17-FBD5-D66A-5AE7034D19F9}"/>
              </a:ext>
            </a:extLst>
          </p:cNvPr>
          <p:cNvSpPr txBox="1"/>
          <p:nvPr/>
        </p:nvSpPr>
        <p:spPr>
          <a:xfrm>
            <a:off x="3085970" y="1523994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sp>
        <p:nvSpPr>
          <p:cNvPr id="180" name="TextBox 6">
            <a:extLst>
              <a:ext uri="{FF2B5EF4-FFF2-40B4-BE49-F238E27FC236}">
                <a16:creationId xmlns:a16="http://schemas.microsoft.com/office/drawing/2014/main" id="{55131804-87B4-DD59-D689-CEE83DCBF6D7}"/>
              </a:ext>
            </a:extLst>
          </p:cNvPr>
          <p:cNvSpPr txBox="1"/>
          <p:nvPr/>
        </p:nvSpPr>
        <p:spPr>
          <a:xfrm>
            <a:off x="4054418" y="1523995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pic>
        <p:nvPicPr>
          <p:cNvPr id="182" name="图片 181">
            <a:extLst>
              <a:ext uri="{FF2B5EF4-FFF2-40B4-BE49-F238E27FC236}">
                <a16:creationId xmlns:a16="http://schemas.microsoft.com/office/drawing/2014/main" id="{F92945C7-0640-93D6-049A-F19EEC101C0D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34037" y="1067385"/>
            <a:ext cx="290761" cy="290761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EA395D6D-8992-306F-E085-8234EBD773D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17152" y="1088662"/>
            <a:ext cx="301862" cy="247428"/>
          </a:xfrm>
          <a:prstGeom prst="rect">
            <a:avLst/>
          </a:prstGeom>
        </p:spPr>
      </p:pic>
      <p:pic>
        <p:nvPicPr>
          <p:cNvPr id="186" name="图片 185">
            <a:extLst>
              <a:ext uri="{FF2B5EF4-FFF2-40B4-BE49-F238E27FC236}">
                <a16:creationId xmlns:a16="http://schemas.microsoft.com/office/drawing/2014/main" id="{39502FB4-9144-8601-F077-648A9BC92513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99288" y="1569798"/>
            <a:ext cx="314823" cy="314823"/>
          </a:xfrm>
          <a:prstGeom prst="rect">
            <a:avLst/>
          </a:prstGeom>
        </p:spPr>
      </p:pic>
      <p:sp>
        <p:nvSpPr>
          <p:cNvPr id="187" name="TextBox 6">
            <a:extLst>
              <a:ext uri="{FF2B5EF4-FFF2-40B4-BE49-F238E27FC236}">
                <a16:creationId xmlns:a16="http://schemas.microsoft.com/office/drawing/2014/main" id="{757E58E2-A63C-0D8D-1A42-1E78D07ED2C0}"/>
              </a:ext>
            </a:extLst>
          </p:cNvPr>
          <p:cNvSpPr txBox="1"/>
          <p:nvPr/>
        </p:nvSpPr>
        <p:spPr>
          <a:xfrm>
            <a:off x="5359484" y="1306173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sp>
        <p:nvSpPr>
          <p:cNvPr id="189" name="TextBox 6">
            <a:extLst>
              <a:ext uri="{FF2B5EF4-FFF2-40B4-BE49-F238E27FC236}">
                <a16:creationId xmlns:a16="http://schemas.microsoft.com/office/drawing/2014/main" id="{4A82372D-4040-B5E2-E1F7-EA8D8C2DF2B8}"/>
              </a:ext>
            </a:extLst>
          </p:cNvPr>
          <p:cNvSpPr txBox="1"/>
          <p:nvPr/>
        </p:nvSpPr>
        <p:spPr>
          <a:xfrm>
            <a:off x="6091463" y="1290888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190" name="TextBox 6">
            <a:extLst>
              <a:ext uri="{FF2B5EF4-FFF2-40B4-BE49-F238E27FC236}">
                <a16:creationId xmlns:a16="http://schemas.microsoft.com/office/drawing/2014/main" id="{19D83920-E534-73C8-7987-595689B39D50}"/>
              </a:ext>
            </a:extLst>
          </p:cNvPr>
          <p:cNvSpPr txBox="1"/>
          <p:nvPr/>
        </p:nvSpPr>
        <p:spPr>
          <a:xfrm>
            <a:off x="5192834" y="1835770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192" name="图片 191">
            <a:extLst>
              <a:ext uri="{FF2B5EF4-FFF2-40B4-BE49-F238E27FC236}">
                <a16:creationId xmlns:a16="http://schemas.microsoft.com/office/drawing/2014/main" id="{3612EE0A-A5FB-BA5E-6982-CA8E1242E07F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69659" y="1562427"/>
            <a:ext cx="314823" cy="314823"/>
          </a:xfrm>
          <a:prstGeom prst="rect">
            <a:avLst/>
          </a:prstGeom>
        </p:spPr>
      </p:pic>
      <p:sp>
        <p:nvSpPr>
          <p:cNvPr id="193" name="TextBox 6">
            <a:extLst>
              <a:ext uri="{FF2B5EF4-FFF2-40B4-BE49-F238E27FC236}">
                <a16:creationId xmlns:a16="http://schemas.microsoft.com/office/drawing/2014/main" id="{1647F924-B249-AA39-FB1E-84E1CF70B241}"/>
              </a:ext>
            </a:extLst>
          </p:cNvPr>
          <p:cNvSpPr txBox="1"/>
          <p:nvPr/>
        </p:nvSpPr>
        <p:spPr>
          <a:xfrm>
            <a:off x="5822376" y="1829412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195" name="图片 194">
            <a:extLst>
              <a:ext uri="{FF2B5EF4-FFF2-40B4-BE49-F238E27FC236}">
                <a16:creationId xmlns:a16="http://schemas.microsoft.com/office/drawing/2014/main" id="{1E4F833E-86E1-9EB3-E428-98AC1E2C7E40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96277" y="1579962"/>
            <a:ext cx="296444" cy="286420"/>
          </a:xfrm>
          <a:prstGeom prst="rect">
            <a:avLst/>
          </a:prstGeom>
        </p:spPr>
      </p:pic>
      <p:sp>
        <p:nvSpPr>
          <p:cNvPr id="196" name="TextBox 6">
            <a:extLst>
              <a:ext uri="{FF2B5EF4-FFF2-40B4-BE49-F238E27FC236}">
                <a16:creationId xmlns:a16="http://schemas.microsoft.com/office/drawing/2014/main" id="{15667B81-8BC6-D3D9-4BF6-9521489D7927}"/>
              </a:ext>
            </a:extLst>
          </p:cNvPr>
          <p:cNvSpPr txBox="1"/>
          <p:nvPr/>
        </p:nvSpPr>
        <p:spPr>
          <a:xfrm>
            <a:off x="6405938" y="1842307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sp>
        <p:nvSpPr>
          <p:cNvPr id="241" name="矩形: 圆角 240">
            <a:extLst>
              <a:ext uri="{FF2B5EF4-FFF2-40B4-BE49-F238E27FC236}">
                <a16:creationId xmlns:a16="http://schemas.microsoft.com/office/drawing/2014/main" id="{EDFD5D46-ED58-245C-B231-5ADB1B0656EB}"/>
              </a:ext>
            </a:extLst>
          </p:cNvPr>
          <p:cNvSpPr/>
          <p:nvPr/>
        </p:nvSpPr>
        <p:spPr>
          <a:xfrm>
            <a:off x="2804452" y="3085485"/>
            <a:ext cx="1381269" cy="24548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黑珍珠</a:t>
            </a:r>
          </a:p>
        </p:txBody>
      </p:sp>
      <p:sp>
        <p:nvSpPr>
          <p:cNvPr id="242" name="矩形: 圆角 241">
            <a:extLst>
              <a:ext uri="{FF2B5EF4-FFF2-40B4-BE49-F238E27FC236}">
                <a16:creationId xmlns:a16="http://schemas.microsoft.com/office/drawing/2014/main" id="{CAD1ADCE-D901-87F6-0D82-DAA19F70397D}"/>
              </a:ext>
            </a:extLst>
          </p:cNvPr>
          <p:cNvSpPr/>
          <p:nvPr/>
        </p:nvSpPr>
        <p:spPr>
          <a:xfrm>
            <a:off x="4267457" y="3085486"/>
            <a:ext cx="1683961" cy="2454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必吃榜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6FFE1291-A54C-368C-4791-DD17D3DB57F7}"/>
              </a:ext>
            </a:extLst>
          </p:cNvPr>
          <p:cNvSpPr txBox="1"/>
          <p:nvPr/>
        </p:nvSpPr>
        <p:spPr>
          <a:xfrm>
            <a:off x="718659" y="3745147"/>
            <a:ext cx="1585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场景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合适之选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9C882C7B-02ED-F443-E4FB-CE7C69EB2A14}"/>
              </a:ext>
            </a:extLst>
          </p:cNvPr>
          <p:cNvSpPr txBox="1"/>
          <p:nvPr/>
        </p:nvSpPr>
        <p:spPr>
          <a:xfrm>
            <a:off x="714815" y="4298653"/>
            <a:ext cx="16279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日常效率决策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7092F532-8918-7196-354F-74615C7EFFC7}"/>
              </a:ext>
            </a:extLst>
          </p:cNvPr>
          <p:cNvSpPr txBox="1"/>
          <p:nvPr/>
        </p:nvSpPr>
        <p:spPr>
          <a:xfrm>
            <a:off x="734827" y="3115806"/>
            <a:ext cx="15482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IP-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综合之选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46" name="矩形: 圆角 245">
            <a:extLst>
              <a:ext uri="{FF2B5EF4-FFF2-40B4-BE49-F238E27FC236}">
                <a16:creationId xmlns:a16="http://schemas.microsoft.com/office/drawing/2014/main" id="{5587A8D7-6C10-6190-3EF2-E4DD0F5A54C6}"/>
              </a:ext>
            </a:extLst>
          </p:cNvPr>
          <p:cNvSpPr/>
          <p:nvPr/>
        </p:nvSpPr>
        <p:spPr>
          <a:xfrm>
            <a:off x="2719307" y="2982097"/>
            <a:ext cx="3292169" cy="46569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7" name="矩形: 圆角 246">
            <a:extLst>
              <a:ext uri="{FF2B5EF4-FFF2-40B4-BE49-F238E27FC236}">
                <a16:creationId xmlns:a16="http://schemas.microsoft.com/office/drawing/2014/main" id="{18CB529D-B676-69C3-5F7D-497DDEEA23DC}"/>
              </a:ext>
            </a:extLst>
          </p:cNvPr>
          <p:cNvSpPr/>
          <p:nvPr/>
        </p:nvSpPr>
        <p:spPr>
          <a:xfrm>
            <a:off x="2691648" y="3681482"/>
            <a:ext cx="3319829" cy="4401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8" name="矩形: 圆角 247">
            <a:extLst>
              <a:ext uri="{FF2B5EF4-FFF2-40B4-BE49-F238E27FC236}">
                <a16:creationId xmlns:a16="http://schemas.microsoft.com/office/drawing/2014/main" id="{24E36D36-29AC-09B1-E039-D8533C188295}"/>
              </a:ext>
            </a:extLst>
          </p:cNvPr>
          <p:cNvSpPr/>
          <p:nvPr/>
        </p:nvSpPr>
        <p:spPr>
          <a:xfrm>
            <a:off x="2820785" y="3757780"/>
            <a:ext cx="1012346" cy="2977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当地人推荐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41BE05C7-099D-2E70-4404-78E33893F42C}"/>
              </a:ext>
            </a:extLst>
          </p:cNvPr>
          <p:cNvSpPr/>
          <p:nvPr/>
        </p:nvSpPr>
        <p:spPr>
          <a:xfrm>
            <a:off x="2816221" y="4370649"/>
            <a:ext cx="1369500" cy="28371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区域品类指数榜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50" name="矩形: 圆角 249">
            <a:extLst>
              <a:ext uri="{FF2B5EF4-FFF2-40B4-BE49-F238E27FC236}">
                <a16:creationId xmlns:a16="http://schemas.microsoft.com/office/drawing/2014/main" id="{492303EE-A972-43F6-5248-40F494B20CA7}"/>
              </a:ext>
            </a:extLst>
          </p:cNvPr>
          <p:cNvSpPr/>
          <p:nvPr/>
        </p:nvSpPr>
        <p:spPr>
          <a:xfrm>
            <a:off x="2734484" y="4297873"/>
            <a:ext cx="3276993" cy="4401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1" name="矩形: 圆角 250">
            <a:extLst>
              <a:ext uri="{FF2B5EF4-FFF2-40B4-BE49-F238E27FC236}">
                <a16:creationId xmlns:a16="http://schemas.microsoft.com/office/drawing/2014/main" id="{5B2194E2-B6E5-54BB-3D98-2BACF9A5A117}"/>
              </a:ext>
            </a:extLst>
          </p:cNvPr>
          <p:cNvSpPr/>
          <p:nvPr/>
        </p:nvSpPr>
        <p:spPr>
          <a:xfrm>
            <a:off x="4267457" y="4365805"/>
            <a:ext cx="1683961" cy="28371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新店榜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52" name="文本占位符 1">
            <a:extLst>
              <a:ext uri="{FF2B5EF4-FFF2-40B4-BE49-F238E27FC236}">
                <a16:creationId xmlns:a16="http://schemas.microsoft.com/office/drawing/2014/main" id="{8187D4B0-EDE9-19C3-8881-1634804C4D9A}"/>
              </a:ext>
            </a:extLst>
          </p:cNvPr>
          <p:cNvSpPr txBox="1">
            <a:spLocks/>
          </p:cNvSpPr>
          <p:nvPr/>
        </p:nvSpPr>
        <p:spPr>
          <a:xfrm>
            <a:off x="2367996" y="2601181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选店</a:t>
            </a:r>
            <a:endParaRPr lang="en-US" altLang="zh-CN" sz="1600" dirty="0"/>
          </a:p>
        </p:txBody>
      </p:sp>
      <p:sp>
        <p:nvSpPr>
          <p:cNvPr id="253" name="文本占位符 1">
            <a:extLst>
              <a:ext uri="{FF2B5EF4-FFF2-40B4-BE49-F238E27FC236}">
                <a16:creationId xmlns:a16="http://schemas.microsoft.com/office/drawing/2014/main" id="{EB22778F-D45E-E743-FE72-4AF7AA0F4DCB}"/>
              </a:ext>
            </a:extLst>
          </p:cNvPr>
          <p:cNvSpPr txBox="1">
            <a:spLocks/>
          </p:cNvSpPr>
          <p:nvPr/>
        </p:nvSpPr>
        <p:spPr>
          <a:xfrm>
            <a:off x="6011477" y="2604410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菜榜</a:t>
            </a:r>
            <a:endParaRPr lang="en-US" altLang="zh-CN" sz="1600" dirty="0"/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F2ED6D53-0171-5920-D80E-F84A402B7A34}"/>
              </a:ext>
            </a:extLst>
          </p:cNvPr>
          <p:cNvSpPr/>
          <p:nvPr/>
        </p:nvSpPr>
        <p:spPr>
          <a:xfrm>
            <a:off x="6275434" y="3683143"/>
            <a:ext cx="3593835" cy="438473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7" name="矩形: 圆角 256">
            <a:extLst>
              <a:ext uri="{FF2B5EF4-FFF2-40B4-BE49-F238E27FC236}">
                <a16:creationId xmlns:a16="http://schemas.microsoft.com/office/drawing/2014/main" id="{DB3D36A3-2E57-054F-E8AF-6002E073C85B}"/>
              </a:ext>
            </a:extLst>
          </p:cNvPr>
          <p:cNvSpPr/>
          <p:nvPr/>
        </p:nvSpPr>
        <p:spPr>
          <a:xfrm>
            <a:off x="6497766" y="3786122"/>
            <a:ext cx="1519464" cy="2541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特色小吃</a:t>
            </a:r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CEE767E0-C3C3-63AB-7C43-6B762325E64C}"/>
              </a:ext>
            </a:extLst>
          </p:cNvPr>
          <p:cNvSpPr/>
          <p:nvPr/>
        </p:nvSpPr>
        <p:spPr>
          <a:xfrm>
            <a:off x="6284482" y="4285930"/>
            <a:ext cx="3593835" cy="438473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9" name="矩形: 圆角 258">
            <a:extLst>
              <a:ext uri="{FF2B5EF4-FFF2-40B4-BE49-F238E27FC236}">
                <a16:creationId xmlns:a16="http://schemas.microsoft.com/office/drawing/2014/main" id="{EA769EF1-6424-3726-B1B3-6D247BCE6AE6}"/>
              </a:ext>
            </a:extLst>
          </p:cNvPr>
          <p:cNvSpPr/>
          <p:nvPr/>
        </p:nvSpPr>
        <p:spPr>
          <a:xfrm>
            <a:off x="6506814" y="4388909"/>
            <a:ext cx="1510416" cy="257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爆品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招牌菜榜</a:t>
            </a:r>
          </a:p>
        </p:txBody>
      </p:sp>
      <p:sp>
        <p:nvSpPr>
          <p:cNvPr id="260" name="矩形: 圆角 259">
            <a:extLst>
              <a:ext uri="{FF2B5EF4-FFF2-40B4-BE49-F238E27FC236}">
                <a16:creationId xmlns:a16="http://schemas.microsoft.com/office/drawing/2014/main" id="{6E4190F2-9537-5826-954F-F82FCFC5EAF6}"/>
              </a:ext>
            </a:extLst>
          </p:cNvPr>
          <p:cNvSpPr/>
          <p:nvPr/>
        </p:nvSpPr>
        <p:spPr>
          <a:xfrm>
            <a:off x="8179742" y="4388909"/>
            <a:ext cx="1510416" cy="2532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新品榜</a:t>
            </a:r>
          </a:p>
        </p:txBody>
      </p:sp>
      <p:sp>
        <p:nvSpPr>
          <p:cNvPr id="262" name="矩形: 圆角 261">
            <a:extLst>
              <a:ext uri="{FF2B5EF4-FFF2-40B4-BE49-F238E27FC236}">
                <a16:creationId xmlns:a16="http://schemas.microsoft.com/office/drawing/2014/main" id="{1F30B120-ADC5-4C2A-E83E-8EA4286F7C50}"/>
              </a:ext>
            </a:extLst>
          </p:cNvPr>
          <p:cNvSpPr/>
          <p:nvPr/>
        </p:nvSpPr>
        <p:spPr>
          <a:xfrm>
            <a:off x="3891748" y="3742550"/>
            <a:ext cx="1012346" cy="2977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约会榜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86" name="直接连接符 285">
            <a:extLst>
              <a:ext uri="{FF2B5EF4-FFF2-40B4-BE49-F238E27FC236}">
                <a16:creationId xmlns:a16="http://schemas.microsoft.com/office/drawing/2014/main" id="{CAB36CDC-A49C-CA6E-49EF-5FD396A76CD4}"/>
              </a:ext>
            </a:extLst>
          </p:cNvPr>
          <p:cNvCxnSpPr>
            <a:cxnSpLocks/>
          </p:cNvCxnSpPr>
          <p:nvPr/>
        </p:nvCxnSpPr>
        <p:spPr>
          <a:xfrm>
            <a:off x="1072652" y="3574878"/>
            <a:ext cx="7858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3F1D5F17-60D4-E290-A399-071ACABFBA3B}"/>
              </a:ext>
            </a:extLst>
          </p:cNvPr>
          <p:cNvCxnSpPr>
            <a:cxnSpLocks/>
          </p:cNvCxnSpPr>
          <p:nvPr/>
        </p:nvCxnSpPr>
        <p:spPr>
          <a:xfrm flipV="1">
            <a:off x="728494" y="4057893"/>
            <a:ext cx="1491697" cy="399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矩形: 圆角 296">
            <a:extLst>
              <a:ext uri="{FF2B5EF4-FFF2-40B4-BE49-F238E27FC236}">
                <a16:creationId xmlns:a16="http://schemas.microsoft.com/office/drawing/2014/main" id="{F4946295-E130-4298-DC2C-3C8CDE76D73B}"/>
              </a:ext>
            </a:extLst>
          </p:cNvPr>
          <p:cNvSpPr/>
          <p:nvPr/>
        </p:nvSpPr>
        <p:spPr>
          <a:xfrm>
            <a:off x="4939073" y="3752692"/>
            <a:ext cx="1012346" cy="2977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宴聚榜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9" name="Rounded Rectangle 15">
            <a:extLst>
              <a:ext uri="{FF2B5EF4-FFF2-40B4-BE49-F238E27FC236}">
                <a16:creationId xmlns:a16="http://schemas.microsoft.com/office/drawing/2014/main" id="{D266F37C-5BC7-1D3D-538F-7891E2379326}"/>
              </a:ext>
            </a:extLst>
          </p:cNvPr>
          <p:cNvSpPr/>
          <p:nvPr/>
        </p:nvSpPr>
        <p:spPr>
          <a:xfrm>
            <a:off x="343806" y="5183959"/>
            <a:ext cx="9863056" cy="2564032"/>
          </a:xfrm>
          <a:prstGeom prst="roundRect">
            <a:avLst>
              <a:gd name="adj" fmla="val 745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dirty="0">
              <a:latin typeface="+mn-ea"/>
            </a:endParaRPr>
          </a:p>
        </p:txBody>
      </p:sp>
      <p:sp>
        <p:nvSpPr>
          <p:cNvPr id="312" name="文本占位符 1">
            <a:extLst>
              <a:ext uri="{FF2B5EF4-FFF2-40B4-BE49-F238E27FC236}">
                <a16:creationId xmlns:a16="http://schemas.microsoft.com/office/drawing/2014/main" id="{3076E966-E860-B748-67BF-7D7873DBD9BD}"/>
              </a:ext>
            </a:extLst>
          </p:cNvPr>
          <p:cNvSpPr txBox="1">
            <a:spLocks/>
          </p:cNvSpPr>
          <p:nvPr/>
        </p:nvSpPr>
        <p:spPr>
          <a:xfrm>
            <a:off x="2367207" y="5276309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选店</a:t>
            </a:r>
            <a:endParaRPr lang="en-US" altLang="zh-CN" sz="1600" dirty="0"/>
          </a:p>
        </p:txBody>
      </p:sp>
      <p:sp>
        <p:nvSpPr>
          <p:cNvPr id="324" name="Rounded Rectangle 3">
            <a:extLst>
              <a:ext uri="{FF2B5EF4-FFF2-40B4-BE49-F238E27FC236}">
                <a16:creationId xmlns:a16="http://schemas.microsoft.com/office/drawing/2014/main" id="{44D09338-8542-6E52-8F1A-A8E9304A8F7E}"/>
              </a:ext>
            </a:extLst>
          </p:cNvPr>
          <p:cNvSpPr/>
          <p:nvPr/>
        </p:nvSpPr>
        <p:spPr>
          <a:xfrm>
            <a:off x="462689" y="5592272"/>
            <a:ext cx="2041117" cy="19731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主要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长尾场景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5" name="Rounded Rectangle 3">
            <a:extLst>
              <a:ext uri="{FF2B5EF4-FFF2-40B4-BE49-F238E27FC236}">
                <a16:creationId xmlns:a16="http://schemas.microsoft.com/office/drawing/2014/main" id="{E227E1EF-810E-8681-0DCA-D12FC8D6152C}"/>
              </a:ext>
            </a:extLst>
          </p:cNvPr>
          <p:cNvSpPr/>
          <p:nvPr/>
        </p:nvSpPr>
        <p:spPr>
          <a:xfrm>
            <a:off x="2745217" y="5592272"/>
            <a:ext cx="1663107" cy="19731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UGC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合集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6" name="Rounded Rectangle 3">
            <a:extLst>
              <a:ext uri="{FF2B5EF4-FFF2-40B4-BE49-F238E27FC236}">
                <a16:creationId xmlns:a16="http://schemas.microsoft.com/office/drawing/2014/main" id="{DCABCA8A-A24B-5218-8D51-F29804D4AB76}"/>
              </a:ext>
            </a:extLst>
          </p:cNvPr>
          <p:cNvSpPr/>
          <p:nvPr/>
        </p:nvSpPr>
        <p:spPr>
          <a:xfrm>
            <a:off x="4524548" y="5592272"/>
            <a:ext cx="1663107" cy="19731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个性化榜单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7" name="Rounded Rectangle 3">
            <a:extLst>
              <a:ext uri="{FF2B5EF4-FFF2-40B4-BE49-F238E27FC236}">
                <a16:creationId xmlns:a16="http://schemas.microsoft.com/office/drawing/2014/main" id="{A477D1FD-9ED3-DAFC-A742-EBAE7B5490FD}"/>
              </a:ext>
            </a:extLst>
          </p:cNvPr>
          <p:cNvSpPr/>
          <p:nvPr/>
        </p:nvSpPr>
        <p:spPr>
          <a:xfrm>
            <a:off x="6296610" y="5592273"/>
            <a:ext cx="3513788" cy="197318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无需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ounded Rectangle 15">
            <a:extLst>
              <a:ext uri="{FF2B5EF4-FFF2-40B4-BE49-F238E27FC236}">
                <a16:creationId xmlns:a16="http://schemas.microsoft.com/office/drawing/2014/main" id="{2C89BDB7-154C-E081-B1AE-E62C29B78B1F}"/>
              </a:ext>
            </a:extLst>
          </p:cNvPr>
          <p:cNvSpPr/>
          <p:nvPr/>
        </p:nvSpPr>
        <p:spPr>
          <a:xfrm>
            <a:off x="-1158985" y="462521"/>
            <a:ext cx="5188468" cy="4832811"/>
          </a:xfrm>
          <a:prstGeom prst="roundRect">
            <a:avLst>
              <a:gd name="adj" fmla="val 557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49" name="Rounded Rectangle 15">
            <a:extLst>
              <a:ext uri="{FF2B5EF4-FFF2-40B4-BE49-F238E27FC236}">
                <a16:creationId xmlns:a16="http://schemas.microsoft.com/office/drawing/2014/main" id="{7FE86D5E-705D-C88F-4F9F-EC1BB4C69666}"/>
              </a:ext>
            </a:extLst>
          </p:cNvPr>
          <p:cNvSpPr/>
          <p:nvPr/>
        </p:nvSpPr>
        <p:spPr>
          <a:xfrm>
            <a:off x="225843" y="752044"/>
            <a:ext cx="3426348" cy="616991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pic>
        <p:nvPicPr>
          <p:cNvPr id="250" name="图片 249">
            <a:extLst>
              <a:ext uri="{FF2B5EF4-FFF2-40B4-BE49-F238E27FC236}">
                <a16:creationId xmlns:a16="http://schemas.microsoft.com/office/drawing/2014/main" id="{DFEDBAC9-D864-F8D7-C7E3-07E650D71D0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9411" y="3692819"/>
            <a:ext cx="283858" cy="283858"/>
          </a:xfrm>
          <a:prstGeom prst="rect">
            <a:avLst/>
          </a:prstGeom>
        </p:spPr>
      </p:pic>
      <p:pic>
        <p:nvPicPr>
          <p:cNvPr id="251" name="图片 250">
            <a:extLst>
              <a:ext uri="{FF2B5EF4-FFF2-40B4-BE49-F238E27FC236}">
                <a16:creationId xmlns:a16="http://schemas.microsoft.com/office/drawing/2014/main" id="{FEEC24CB-89CC-8779-1F34-477CD967218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72770" y="1697837"/>
            <a:ext cx="323272" cy="323272"/>
          </a:xfrm>
          <a:prstGeom prst="rect">
            <a:avLst/>
          </a:prstGeom>
        </p:spPr>
      </p:pic>
      <p:pic>
        <p:nvPicPr>
          <p:cNvPr id="252" name="图片 251">
            <a:extLst>
              <a:ext uri="{FF2B5EF4-FFF2-40B4-BE49-F238E27FC236}">
                <a16:creationId xmlns:a16="http://schemas.microsoft.com/office/drawing/2014/main" id="{87FF1654-3867-A2FE-9F9C-830BCDCA22D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64215" y="3106805"/>
            <a:ext cx="308662" cy="308662"/>
          </a:xfrm>
          <a:prstGeom prst="rect">
            <a:avLst/>
          </a:prstGeom>
        </p:spPr>
      </p:pic>
      <p:pic>
        <p:nvPicPr>
          <p:cNvPr id="253" name="图片 252">
            <a:extLst>
              <a:ext uri="{FF2B5EF4-FFF2-40B4-BE49-F238E27FC236}">
                <a16:creationId xmlns:a16="http://schemas.microsoft.com/office/drawing/2014/main" id="{A1A165C5-4E88-691D-A5CE-05BD4CB24C8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9532" y="4157765"/>
            <a:ext cx="297462" cy="297462"/>
          </a:xfrm>
          <a:prstGeom prst="rect">
            <a:avLst/>
          </a:prstGeom>
        </p:spPr>
      </p:pic>
      <p:pic>
        <p:nvPicPr>
          <p:cNvPr id="254" name="图片 253">
            <a:extLst>
              <a:ext uri="{FF2B5EF4-FFF2-40B4-BE49-F238E27FC236}">
                <a16:creationId xmlns:a16="http://schemas.microsoft.com/office/drawing/2014/main" id="{18465D2E-3578-6C4D-5489-C29CA4F0B30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24302" y="2548625"/>
            <a:ext cx="249934" cy="249934"/>
          </a:xfrm>
          <a:prstGeom prst="rect">
            <a:avLst/>
          </a:prstGeom>
        </p:spPr>
      </p:pic>
      <p:sp>
        <p:nvSpPr>
          <p:cNvPr id="255" name="TextBox 6">
            <a:extLst>
              <a:ext uri="{FF2B5EF4-FFF2-40B4-BE49-F238E27FC236}">
                <a16:creationId xmlns:a16="http://schemas.microsoft.com/office/drawing/2014/main" id="{24443660-5CE5-06C3-8181-5F6D07BEEDB5}"/>
              </a:ext>
            </a:extLst>
          </p:cNvPr>
          <p:cNvSpPr txBox="1"/>
          <p:nvPr/>
        </p:nvSpPr>
        <p:spPr>
          <a:xfrm>
            <a:off x="-780555" y="2783940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256" name="TextBox 6">
            <a:extLst>
              <a:ext uri="{FF2B5EF4-FFF2-40B4-BE49-F238E27FC236}">
                <a16:creationId xmlns:a16="http://schemas.microsoft.com/office/drawing/2014/main" id="{596A7501-1650-6F76-9C75-0990896CC04D}"/>
              </a:ext>
            </a:extLst>
          </p:cNvPr>
          <p:cNvSpPr txBox="1"/>
          <p:nvPr/>
        </p:nvSpPr>
        <p:spPr>
          <a:xfrm>
            <a:off x="-833351" y="3385614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257" name="TextBox 6">
            <a:extLst>
              <a:ext uri="{FF2B5EF4-FFF2-40B4-BE49-F238E27FC236}">
                <a16:creationId xmlns:a16="http://schemas.microsoft.com/office/drawing/2014/main" id="{F936B148-2E01-433E-D63B-E6EF709E1AB8}"/>
              </a:ext>
            </a:extLst>
          </p:cNvPr>
          <p:cNvSpPr txBox="1"/>
          <p:nvPr/>
        </p:nvSpPr>
        <p:spPr>
          <a:xfrm>
            <a:off x="-750009" y="3931212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258" name="TextBox 6">
            <a:extLst>
              <a:ext uri="{FF2B5EF4-FFF2-40B4-BE49-F238E27FC236}">
                <a16:creationId xmlns:a16="http://schemas.microsoft.com/office/drawing/2014/main" id="{C58B705C-C292-2967-69D2-27C7CDDE2488}"/>
              </a:ext>
            </a:extLst>
          </p:cNvPr>
          <p:cNvSpPr txBox="1"/>
          <p:nvPr/>
        </p:nvSpPr>
        <p:spPr>
          <a:xfrm>
            <a:off x="-774724" y="1959602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259" name="TextBox 6">
            <a:extLst>
              <a:ext uri="{FF2B5EF4-FFF2-40B4-BE49-F238E27FC236}">
                <a16:creationId xmlns:a16="http://schemas.microsoft.com/office/drawing/2014/main" id="{D8D307C2-BD59-B434-63F8-4C0F3C87392B}"/>
              </a:ext>
            </a:extLst>
          </p:cNvPr>
          <p:cNvSpPr txBox="1"/>
          <p:nvPr/>
        </p:nvSpPr>
        <p:spPr>
          <a:xfrm>
            <a:off x="-887507" y="4423208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260" name="图片 259">
            <a:extLst>
              <a:ext uri="{FF2B5EF4-FFF2-40B4-BE49-F238E27FC236}">
                <a16:creationId xmlns:a16="http://schemas.microsoft.com/office/drawing/2014/main" id="{DD19A10A-833A-4B48-6BBB-034CDF91C2A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9532" y="4663516"/>
            <a:ext cx="317127" cy="251688"/>
          </a:xfrm>
          <a:prstGeom prst="rect">
            <a:avLst/>
          </a:prstGeom>
        </p:spPr>
      </p:pic>
      <p:sp>
        <p:nvSpPr>
          <p:cNvPr id="261" name="TextBox 6">
            <a:extLst>
              <a:ext uri="{FF2B5EF4-FFF2-40B4-BE49-F238E27FC236}">
                <a16:creationId xmlns:a16="http://schemas.microsoft.com/office/drawing/2014/main" id="{C98F54F6-351C-C362-6CE7-FA9F7AA1F76C}"/>
              </a:ext>
            </a:extLst>
          </p:cNvPr>
          <p:cNvSpPr txBox="1"/>
          <p:nvPr/>
        </p:nvSpPr>
        <p:spPr>
          <a:xfrm>
            <a:off x="-886612" y="4912668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262" name="图片 261">
            <a:extLst>
              <a:ext uri="{FF2B5EF4-FFF2-40B4-BE49-F238E27FC236}">
                <a16:creationId xmlns:a16="http://schemas.microsoft.com/office/drawing/2014/main" id="{AFE7B413-28A4-FDC5-D0D9-6DB44AD4A5F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6745" y="826229"/>
            <a:ext cx="380552" cy="380552"/>
          </a:xfrm>
          <a:prstGeom prst="rect">
            <a:avLst/>
          </a:prstGeom>
        </p:spPr>
      </p:pic>
      <p:sp>
        <p:nvSpPr>
          <p:cNvPr id="263" name="TextBox 6">
            <a:extLst>
              <a:ext uri="{FF2B5EF4-FFF2-40B4-BE49-F238E27FC236}">
                <a16:creationId xmlns:a16="http://schemas.microsoft.com/office/drawing/2014/main" id="{8EB3E9C4-E856-2437-908A-1030C2F34C83}"/>
              </a:ext>
            </a:extLst>
          </p:cNvPr>
          <p:cNvSpPr txBox="1"/>
          <p:nvPr/>
        </p:nvSpPr>
        <p:spPr>
          <a:xfrm>
            <a:off x="848067" y="1132767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pic>
        <p:nvPicPr>
          <p:cNvPr id="264" name="图片 263">
            <a:extLst>
              <a:ext uri="{FF2B5EF4-FFF2-40B4-BE49-F238E27FC236}">
                <a16:creationId xmlns:a16="http://schemas.microsoft.com/office/drawing/2014/main" id="{A6BBC81A-63A5-DD31-0594-1AA2EA6DDDB4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34942" y="809985"/>
            <a:ext cx="450961" cy="450961"/>
          </a:xfrm>
          <a:prstGeom prst="rect">
            <a:avLst/>
          </a:prstGeom>
        </p:spPr>
      </p:pic>
      <p:sp>
        <p:nvSpPr>
          <p:cNvPr id="265" name="TextBox 6">
            <a:extLst>
              <a:ext uri="{FF2B5EF4-FFF2-40B4-BE49-F238E27FC236}">
                <a16:creationId xmlns:a16="http://schemas.microsoft.com/office/drawing/2014/main" id="{E7469E34-0E83-6E2B-A5BF-174AFBAA8799}"/>
              </a:ext>
            </a:extLst>
          </p:cNvPr>
          <p:cNvSpPr txBox="1"/>
          <p:nvPr/>
        </p:nvSpPr>
        <p:spPr>
          <a:xfrm>
            <a:off x="2420972" y="1129578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266" name="Rounded Rectangle 3">
            <a:extLst>
              <a:ext uri="{FF2B5EF4-FFF2-40B4-BE49-F238E27FC236}">
                <a16:creationId xmlns:a16="http://schemas.microsoft.com/office/drawing/2014/main" id="{CC2EF442-9EB0-903F-647A-8C7FB7A880BB}"/>
              </a:ext>
            </a:extLst>
          </p:cNvPr>
          <p:cNvSpPr/>
          <p:nvPr/>
        </p:nvSpPr>
        <p:spPr>
          <a:xfrm>
            <a:off x="284249" y="1502024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品类指数榜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7" name="Rounded Rectangle 3">
            <a:extLst>
              <a:ext uri="{FF2B5EF4-FFF2-40B4-BE49-F238E27FC236}">
                <a16:creationId xmlns:a16="http://schemas.microsoft.com/office/drawing/2014/main" id="{CBCB24A5-5F69-3595-7582-83FF2B8EB519}"/>
              </a:ext>
            </a:extLst>
          </p:cNvPr>
          <p:cNvSpPr/>
          <p:nvPr/>
        </p:nvSpPr>
        <p:spPr>
          <a:xfrm>
            <a:off x="1929408" y="1502024"/>
            <a:ext cx="1547394" cy="467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爆品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招牌菜榜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8" name="Rounded Rectangle 3">
            <a:extLst>
              <a:ext uri="{FF2B5EF4-FFF2-40B4-BE49-F238E27FC236}">
                <a16:creationId xmlns:a16="http://schemas.microsoft.com/office/drawing/2014/main" id="{4A50936F-B634-0FAE-EB55-EC417B3B7B0C}"/>
              </a:ext>
            </a:extLst>
          </p:cNvPr>
          <p:cNvSpPr/>
          <p:nvPr/>
        </p:nvSpPr>
        <p:spPr>
          <a:xfrm>
            <a:off x="297622" y="2546784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当地人推荐榜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美团资产成榜</a:t>
            </a:r>
            <a:endParaRPr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69" name="Rounded Rectangle 3">
            <a:extLst>
              <a:ext uri="{FF2B5EF4-FFF2-40B4-BE49-F238E27FC236}">
                <a16:creationId xmlns:a16="http://schemas.microsoft.com/office/drawing/2014/main" id="{BD4E2A15-FA8D-4A5E-EE6A-ECCBA168460B}"/>
              </a:ext>
            </a:extLst>
          </p:cNvPr>
          <p:cNvSpPr/>
          <p:nvPr/>
        </p:nvSpPr>
        <p:spPr>
          <a:xfrm>
            <a:off x="1942781" y="2546784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团侧优化升级</a:t>
            </a:r>
            <a:endParaRPr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70" name="Rounded Rectangle 3">
            <a:extLst>
              <a:ext uri="{FF2B5EF4-FFF2-40B4-BE49-F238E27FC236}">
                <a16:creationId xmlns:a16="http://schemas.microsoft.com/office/drawing/2014/main" id="{2481A4F9-DC9E-1C4D-A17A-B74EA677C8C4}"/>
              </a:ext>
            </a:extLst>
          </p:cNvPr>
          <p:cNvSpPr/>
          <p:nvPr/>
        </p:nvSpPr>
        <p:spPr>
          <a:xfrm>
            <a:off x="278194" y="3099021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约会榜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1" name="Rounded Rectangle 3">
            <a:extLst>
              <a:ext uri="{FF2B5EF4-FFF2-40B4-BE49-F238E27FC236}">
                <a16:creationId xmlns:a16="http://schemas.microsoft.com/office/drawing/2014/main" id="{6FB600EB-0219-D73B-86C9-CC69D0242ABA}"/>
              </a:ext>
            </a:extLst>
          </p:cNvPr>
          <p:cNvSpPr/>
          <p:nvPr/>
        </p:nvSpPr>
        <p:spPr>
          <a:xfrm>
            <a:off x="1938582" y="3099021"/>
            <a:ext cx="1547394" cy="1902756"/>
          </a:xfrm>
          <a:prstGeom prst="roundRect">
            <a:avLst>
              <a:gd name="adj" fmla="val 11295"/>
            </a:avLst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优先级较低，一部分融入选店决策中作为补充，一部分需求同招牌菜，还有一小部分为特殊单品如蛋糕等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2" name="Rounded Rectangle 3">
            <a:extLst>
              <a:ext uri="{FF2B5EF4-FFF2-40B4-BE49-F238E27FC236}">
                <a16:creationId xmlns:a16="http://schemas.microsoft.com/office/drawing/2014/main" id="{724BF4AE-6F0B-69EE-DAAD-55FAA4798B57}"/>
              </a:ext>
            </a:extLst>
          </p:cNvPr>
          <p:cNvSpPr/>
          <p:nvPr/>
        </p:nvSpPr>
        <p:spPr>
          <a:xfrm>
            <a:off x="278194" y="3668272"/>
            <a:ext cx="1547394" cy="1333505"/>
          </a:xfrm>
          <a:prstGeom prst="roundRect">
            <a:avLst>
              <a:gd name="adj" fmla="val 7117"/>
            </a:avLst>
          </a:prstGeom>
          <a:solidFill>
            <a:schemeClr val="bg1"/>
          </a:solidFill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宴聚榜等场景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（合并商务宴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生日宴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工作家庭大聚）</a:t>
            </a:r>
            <a:endParaRPr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73" name="Rounded Rectangle 3">
            <a:extLst>
              <a:ext uri="{FF2B5EF4-FFF2-40B4-BE49-F238E27FC236}">
                <a16:creationId xmlns:a16="http://schemas.microsoft.com/office/drawing/2014/main" id="{74D89A76-2880-66DB-1D67-DCCFCCA6D90E}"/>
              </a:ext>
            </a:extLst>
          </p:cNvPr>
          <p:cNvSpPr/>
          <p:nvPr/>
        </p:nvSpPr>
        <p:spPr>
          <a:xfrm>
            <a:off x="284249" y="2003423"/>
            <a:ext cx="1547394" cy="467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新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店榜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4" name="Rounded Rectangle 3">
            <a:extLst>
              <a:ext uri="{FF2B5EF4-FFF2-40B4-BE49-F238E27FC236}">
                <a16:creationId xmlns:a16="http://schemas.microsoft.com/office/drawing/2014/main" id="{60B899E4-968D-6793-D2A5-2A06B8F7178D}"/>
              </a:ext>
            </a:extLst>
          </p:cNvPr>
          <p:cNvSpPr/>
          <p:nvPr/>
        </p:nvSpPr>
        <p:spPr>
          <a:xfrm>
            <a:off x="1929408" y="2003423"/>
            <a:ext cx="1547394" cy="46798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新品榜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75" name="图片 274">
            <a:extLst>
              <a:ext uri="{FF2B5EF4-FFF2-40B4-BE49-F238E27FC236}">
                <a16:creationId xmlns:a16="http://schemas.microsoft.com/office/drawing/2014/main" id="{BABD9B9C-761F-5328-0E47-D6CF438EB273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95068" y="885339"/>
            <a:ext cx="301862" cy="247428"/>
          </a:xfrm>
          <a:prstGeom prst="rect">
            <a:avLst/>
          </a:prstGeom>
        </p:spPr>
      </p:pic>
      <p:sp>
        <p:nvSpPr>
          <p:cNvPr id="276" name="TextBox 6">
            <a:extLst>
              <a:ext uri="{FF2B5EF4-FFF2-40B4-BE49-F238E27FC236}">
                <a16:creationId xmlns:a16="http://schemas.microsoft.com/office/drawing/2014/main" id="{328B2A08-4E65-D9DA-D00F-74614D4A49AE}"/>
              </a:ext>
            </a:extLst>
          </p:cNvPr>
          <p:cNvSpPr txBox="1"/>
          <p:nvPr/>
        </p:nvSpPr>
        <p:spPr>
          <a:xfrm>
            <a:off x="-452736" y="1102850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69D6B10B-DF7E-94B7-11DD-69298EAC397E}"/>
              </a:ext>
            </a:extLst>
          </p:cNvPr>
          <p:cNvSpPr txBox="1"/>
          <p:nvPr/>
        </p:nvSpPr>
        <p:spPr>
          <a:xfrm>
            <a:off x="-1034308" y="12868"/>
            <a:ext cx="44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基于大众资产数据和平台规则资产计算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8" name="Rounded Rectangle 3">
            <a:extLst>
              <a:ext uri="{FF2B5EF4-FFF2-40B4-BE49-F238E27FC236}">
                <a16:creationId xmlns:a16="http://schemas.microsoft.com/office/drawing/2014/main" id="{5F87FD39-182C-0A8E-09DB-8E1041D207BF}"/>
              </a:ext>
            </a:extLst>
          </p:cNvPr>
          <p:cNvSpPr/>
          <p:nvPr/>
        </p:nvSpPr>
        <p:spPr>
          <a:xfrm>
            <a:off x="-960580" y="5425862"/>
            <a:ext cx="550774" cy="27938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已有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9" name="Rounded Rectangle 3">
            <a:extLst>
              <a:ext uri="{FF2B5EF4-FFF2-40B4-BE49-F238E27FC236}">
                <a16:creationId xmlns:a16="http://schemas.microsoft.com/office/drawing/2014/main" id="{4C852980-929A-1CCC-F8D8-4AFFDE76BCAB}"/>
              </a:ext>
            </a:extLst>
          </p:cNvPr>
          <p:cNvSpPr/>
          <p:nvPr/>
        </p:nvSpPr>
        <p:spPr>
          <a:xfrm>
            <a:off x="-351205" y="5416629"/>
            <a:ext cx="1514527" cy="288615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今年计划占位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0" name="Rounded Rectangle 15">
            <a:extLst>
              <a:ext uri="{FF2B5EF4-FFF2-40B4-BE49-F238E27FC236}">
                <a16:creationId xmlns:a16="http://schemas.microsoft.com/office/drawing/2014/main" id="{BDC48D67-83E9-935C-EB94-F76989D6017A}"/>
              </a:ext>
            </a:extLst>
          </p:cNvPr>
          <p:cNvSpPr/>
          <p:nvPr/>
        </p:nvSpPr>
        <p:spPr>
          <a:xfrm>
            <a:off x="4162737" y="462522"/>
            <a:ext cx="5119469" cy="4832810"/>
          </a:xfrm>
          <a:prstGeom prst="roundRect">
            <a:avLst>
              <a:gd name="adj" fmla="val 471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81" name="Rounded Rectangle 15">
            <a:extLst>
              <a:ext uri="{FF2B5EF4-FFF2-40B4-BE49-F238E27FC236}">
                <a16:creationId xmlns:a16="http://schemas.microsoft.com/office/drawing/2014/main" id="{D7467180-10FB-EE4E-5DD1-AED9F09C4D28}"/>
              </a:ext>
            </a:extLst>
          </p:cNvPr>
          <p:cNvSpPr/>
          <p:nvPr/>
        </p:nvSpPr>
        <p:spPr>
          <a:xfrm>
            <a:off x="4734429" y="749899"/>
            <a:ext cx="4152721" cy="616991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82" name="Rounded Rectangle 3">
            <a:extLst>
              <a:ext uri="{FF2B5EF4-FFF2-40B4-BE49-F238E27FC236}">
                <a16:creationId xmlns:a16="http://schemas.microsoft.com/office/drawing/2014/main" id="{2A15FFF4-1363-0E22-4AAD-4299E62097D7}"/>
              </a:ext>
            </a:extLst>
          </p:cNvPr>
          <p:cNvSpPr/>
          <p:nvPr/>
        </p:nvSpPr>
        <p:spPr>
          <a:xfrm>
            <a:off x="4734429" y="1494064"/>
            <a:ext cx="1260000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主厨推荐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83" name="图片 282">
            <a:extLst>
              <a:ext uri="{FF2B5EF4-FFF2-40B4-BE49-F238E27FC236}">
                <a16:creationId xmlns:a16="http://schemas.microsoft.com/office/drawing/2014/main" id="{D3296E7D-8751-C322-0200-865D6039FF4B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58997" y="756770"/>
            <a:ext cx="314823" cy="314823"/>
          </a:xfrm>
          <a:prstGeom prst="rect">
            <a:avLst/>
          </a:prstGeom>
        </p:spPr>
      </p:pic>
      <p:sp>
        <p:nvSpPr>
          <p:cNvPr id="284" name="TextBox 6">
            <a:extLst>
              <a:ext uri="{FF2B5EF4-FFF2-40B4-BE49-F238E27FC236}">
                <a16:creationId xmlns:a16="http://schemas.microsoft.com/office/drawing/2014/main" id="{B68AA8A8-D203-D1B0-DC57-B1A1409EBF1C}"/>
              </a:ext>
            </a:extLst>
          </p:cNvPr>
          <p:cNvSpPr txBox="1"/>
          <p:nvPr/>
        </p:nvSpPr>
        <p:spPr>
          <a:xfrm>
            <a:off x="6375383" y="1010495"/>
            <a:ext cx="878892" cy="3693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好友</a:t>
            </a:r>
            <a:endParaRPr lang="en-US" altLang="zh-CN" sz="900" b="1" dirty="0">
              <a:latin typeface="+mn-ea"/>
            </a:endParaRPr>
          </a:p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信任</a:t>
            </a:r>
            <a:endParaRPr sz="900" b="1" dirty="0">
              <a:latin typeface="+mn-ea"/>
            </a:endParaRPr>
          </a:p>
        </p:txBody>
      </p:sp>
      <p:pic>
        <p:nvPicPr>
          <p:cNvPr id="285" name="图片 284">
            <a:extLst>
              <a:ext uri="{FF2B5EF4-FFF2-40B4-BE49-F238E27FC236}">
                <a16:creationId xmlns:a16="http://schemas.microsoft.com/office/drawing/2014/main" id="{7719EDEE-B5DD-1B1A-62F2-D37882BA625B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40262" y="767575"/>
            <a:ext cx="296444" cy="286420"/>
          </a:xfrm>
          <a:prstGeom prst="rect">
            <a:avLst/>
          </a:prstGeom>
        </p:spPr>
      </p:pic>
      <p:sp>
        <p:nvSpPr>
          <p:cNvPr id="286" name="TextBox 6">
            <a:extLst>
              <a:ext uri="{FF2B5EF4-FFF2-40B4-BE49-F238E27FC236}">
                <a16:creationId xmlns:a16="http://schemas.microsoft.com/office/drawing/2014/main" id="{A14824B7-A029-BA74-7071-2D9DDC7A8D7B}"/>
              </a:ext>
            </a:extLst>
          </p:cNvPr>
          <p:cNvSpPr txBox="1"/>
          <p:nvPr/>
        </p:nvSpPr>
        <p:spPr>
          <a:xfrm>
            <a:off x="7896749" y="1014151"/>
            <a:ext cx="574311" cy="3693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lang="en-US" altLang="zh-CN" sz="900" b="1" dirty="0">
              <a:latin typeface="+mn-ea"/>
            </a:endParaRPr>
          </a:p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自我</a:t>
            </a:r>
            <a:endParaRPr sz="900" b="1" dirty="0">
              <a:latin typeface="+mn-ea"/>
            </a:endParaRPr>
          </a:p>
        </p:txBody>
      </p:sp>
      <p:pic>
        <p:nvPicPr>
          <p:cNvPr id="287" name="图片 286">
            <a:extLst>
              <a:ext uri="{FF2B5EF4-FFF2-40B4-BE49-F238E27FC236}">
                <a16:creationId xmlns:a16="http://schemas.microsoft.com/office/drawing/2014/main" id="{4D727142-8532-1EE8-B918-F4BF40ECC233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37315" y="767575"/>
            <a:ext cx="290761" cy="290761"/>
          </a:xfrm>
          <a:prstGeom prst="rect">
            <a:avLst/>
          </a:prstGeom>
        </p:spPr>
      </p:pic>
      <p:sp>
        <p:nvSpPr>
          <p:cNvPr id="288" name="TextBox 6">
            <a:extLst>
              <a:ext uri="{FF2B5EF4-FFF2-40B4-BE49-F238E27FC236}">
                <a16:creationId xmlns:a16="http://schemas.microsoft.com/office/drawing/2014/main" id="{96B38F30-D611-1CC2-949A-B8862F449847}"/>
              </a:ext>
            </a:extLst>
          </p:cNvPr>
          <p:cNvSpPr txBox="1"/>
          <p:nvPr/>
        </p:nvSpPr>
        <p:spPr>
          <a:xfrm>
            <a:off x="5094741" y="991078"/>
            <a:ext cx="574311" cy="3693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</a:p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en-US" sz="900" b="1" dirty="0" err="1">
                <a:latin typeface="+mn-ea"/>
              </a:rPr>
              <a:t>追随</a:t>
            </a:r>
            <a:endParaRPr sz="900" b="1" dirty="0">
              <a:latin typeface="+mn-ea"/>
            </a:endParaRPr>
          </a:p>
        </p:txBody>
      </p:sp>
      <p:sp>
        <p:nvSpPr>
          <p:cNvPr id="289" name="TextBox 6">
            <a:extLst>
              <a:ext uri="{FF2B5EF4-FFF2-40B4-BE49-F238E27FC236}">
                <a16:creationId xmlns:a16="http://schemas.microsoft.com/office/drawing/2014/main" id="{A700F8FE-13FE-8923-3DE7-78FB67262E74}"/>
              </a:ext>
            </a:extLst>
          </p:cNvPr>
          <p:cNvSpPr txBox="1"/>
          <p:nvPr/>
        </p:nvSpPr>
        <p:spPr>
          <a:xfrm>
            <a:off x="4204575" y="914182"/>
            <a:ext cx="574311" cy="3693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真人</a:t>
            </a:r>
            <a:endParaRPr lang="en-US" altLang="zh-CN" sz="900" b="1" dirty="0">
              <a:latin typeface="+mn-ea"/>
            </a:endParaRPr>
          </a:p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分享</a:t>
            </a:r>
            <a:endParaRPr sz="900" b="1" dirty="0">
              <a:latin typeface="+mn-ea"/>
            </a:endParaRPr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1130CBFE-AEE4-1C03-F4C4-0EBC22A614F2}"/>
              </a:ext>
            </a:extLst>
          </p:cNvPr>
          <p:cNvSpPr txBox="1"/>
          <p:nvPr/>
        </p:nvSpPr>
        <p:spPr>
          <a:xfrm>
            <a:off x="4614548" y="0"/>
            <a:ext cx="44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基于个人资产数据或个人推荐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1" name="Rounded Rectangle 3">
            <a:extLst>
              <a:ext uri="{FF2B5EF4-FFF2-40B4-BE49-F238E27FC236}">
                <a16:creationId xmlns:a16="http://schemas.microsoft.com/office/drawing/2014/main" id="{F3B661D5-6BA3-08AA-0D28-BDE753A7C901}"/>
              </a:ext>
            </a:extLst>
          </p:cNvPr>
          <p:cNvSpPr/>
          <p:nvPr/>
        </p:nvSpPr>
        <p:spPr>
          <a:xfrm>
            <a:off x="4746304" y="2128034"/>
            <a:ext cx="1260000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明星打卡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2" name="Rounded Rectangle 3">
            <a:extLst>
              <a:ext uri="{FF2B5EF4-FFF2-40B4-BE49-F238E27FC236}">
                <a16:creationId xmlns:a16="http://schemas.microsoft.com/office/drawing/2014/main" id="{80CE4583-4CAD-E101-4F9E-D284E13644F6}"/>
              </a:ext>
            </a:extLst>
          </p:cNvPr>
          <p:cNvSpPr/>
          <p:nvPr/>
        </p:nvSpPr>
        <p:spPr>
          <a:xfrm>
            <a:off x="4734429" y="2779395"/>
            <a:ext cx="1260000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达人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探店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3" name="Rounded Rectangle 3">
            <a:extLst>
              <a:ext uri="{FF2B5EF4-FFF2-40B4-BE49-F238E27FC236}">
                <a16:creationId xmlns:a16="http://schemas.microsoft.com/office/drawing/2014/main" id="{5945D067-95D9-466F-FE83-F5C2CB2EFCBC}"/>
              </a:ext>
            </a:extLst>
          </p:cNvPr>
          <p:cNvSpPr/>
          <p:nvPr/>
        </p:nvSpPr>
        <p:spPr>
          <a:xfrm>
            <a:off x="6139559" y="3469553"/>
            <a:ext cx="1332000" cy="1532225"/>
          </a:xfrm>
          <a:prstGeom prst="roundRect">
            <a:avLst>
              <a:gd name="adj" fmla="val 7117"/>
            </a:avLst>
          </a:prstGeom>
          <a:solidFill>
            <a:schemeClr val="bg1"/>
          </a:solidFill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UGC</a:t>
            </a:r>
            <a:r>
              <a:rPr lang="zh-CN" altLang="en-US" sz="1200" dirty="0">
                <a:solidFill>
                  <a:schemeClr val="tx1"/>
                </a:solidFill>
              </a:rPr>
              <a:t>美食合集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（激励体系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+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工具）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4" name="Rounded Rectangle 3">
            <a:extLst>
              <a:ext uri="{FF2B5EF4-FFF2-40B4-BE49-F238E27FC236}">
                <a16:creationId xmlns:a16="http://schemas.microsoft.com/office/drawing/2014/main" id="{8C26A84E-FCF4-F81D-31DA-6A5DB36E52EE}"/>
              </a:ext>
            </a:extLst>
          </p:cNvPr>
          <p:cNvSpPr/>
          <p:nvPr/>
        </p:nvSpPr>
        <p:spPr>
          <a:xfrm>
            <a:off x="6139656" y="1438490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打工人最爱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5" name="Rounded Rectangle 3">
            <a:extLst>
              <a:ext uri="{FF2B5EF4-FFF2-40B4-BE49-F238E27FC236}">
                <a16:creationId xmlns:a16="http://schemas.microsoft.com/office/drawing/2014/main" id="{15446ABF-FB8D-6341-9CEB-C45B49714D50}"/>
              </a:ext>
            </a:extLst>
          </p:cNvPr>
          <p:cNvSpPr/>
          <p:nvPr/>
        </p:nvSpPr>
        <p:spPr>
          <a:xfrm>
            <a:off x="6139656" y="1769109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清真之选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6" name="Rounded Rectangle 3">
            <a:extLst>
              <a:ext uri="{FF2B5EF4-FFF2-40B4-BE49-F238E27FC236}">
                <a16:creationId xmlns:a16="http://schemas.microsoft.com/office/drawing/2014/main" id="{53FB049B-71D4-7C40-FD83-1436BD0087D8}"/>
              </a:ext>
            </a:extLst>
          </p:cNvPr>
          <p:cNvSpPr/>
          <p:nvPr/>
        </p:nvSpPr>
        <p:spPr>
          <a:xfrm>
            <a:off x="6139558" y="2426471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Citywalk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沿线店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7" name="Rounded Rectangle 3">
            <a:extLst>
              <a:ext uri="{FF2B5EF4-FFF2-40B4-BE49-F238E27FC236}">
                <a16:creationId xmlns:a16="http://schemas.microsoft.com/office/drawing/2014/main" id="{6C21B2B5-67E3-EBD3-7AEA-39AB5DFD0048}"/>
              </a:ext>
            </a:extLst>
          </p:cNvPr>
          <p:cNvSpPr/>
          <p:nvPr/>
        </p:nvSpPr>
        <p:spPr>
          <a:xfrm>
            <a:off x="6139558" y="2100353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不辣星人吃成都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8" name="Rounded Rectangle 3">
            <a:extLst>
              <a:ext uri="{FF2B5EF4-FFF2-40B4-BE49-F238E27FC236}">
                <a16:creationId xmlns:a16="http://schemas.microsoft.com/office/drawing/2014/main" id="{107991D7-FD00-9F07-88DA-E3165DAA6D3C}"/>
              </a:ext>
            </a:extLst>
          </p:cNvPr>
          <p:cNvSpPr/>
          <p:nvPr/>
        </p:nvSpPr>
        <p:spPr>
          <a:xfrm>
            <a:off x="6139558" y="2756484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学院路社团聚餐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9" name="Rounded Rectangle 3">
            <a:extLst>
              <a:ext uri="{FF2B5EF4-FFF2-40B4-BE49-F238E27FC236}">
                <a16:creationId xmlns:a16="http://schemas.microsoft.com/office/drawing/2014/main" id="{C1131F49-FA8D-77BB-9F9F-BA7CEE234E8D}"/>
              </a:ext>
            </a:extLst>
          </p:cNvPr>
          <p:cNvSpPr/>
          <p:nvPr/>
        </p:nvSpPr>
        <p:spPr>
          <a:xfrm>
            <a:off x="6139558" y="3098630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宠物友好餐厅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0" name="Rounded Rectangle 3">
            <a:extLst>
              <a:ext uri="{FF2B5EF4-FFF2-40B4-BE49-F238E27FC236}">
                <a16:creationId xmlns:a16="http://schemas.microsoft.com/office/drawing/2014/main" id="{3CDF0019-BF2E-72B6-762A-82EB9EF72EF8}"/>
              </a:ext>
            </a:extLst>
          </p:cNvPr>
          <p:cNvSpPr/>
          <p:nvPr/>
        </p:nvSpPr>
        <p:spPr>
          <a:xfrm>
            <a:off x="7555150" y="1438490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偏好品类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口味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1" name="Rounded Rectangle 3">
            <a:extLst>
              <a:ext uri="{FF2B5EF4-FFF2-40B4-BE49-F238E27FC236}">
                <a16:creationId xmlns:a16="http://schemas.microsoft.com/office/drawing/2014/main" id="{A73D0A9D-7431-0AF3-0B59-B35D6D8E34CD}"/>
              </a:ext>
            </a:extLst>
          </p:cNvPr>
          <p:cNvSpPr/>
          <p:nvPr/>
        </p:nvSpPr>
        <p:spPr>
          <a:xfrm>
            <a:off x="7555150" y="1769109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偏好商圈推荐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2" name="Rounded Rectangle 3">
            <a:extLst>
              <a:ext uri="{FF2B5EF4-FFF2-40B4-BE49-F238E27FC236}">
                <a16:creationId xmlns:a16="http://schemas.microsoft.com/office/drawing/2014/main" id="{0250CEE3-88A7-DB3A-332C-E5A156A61FA9}"/>
              </a:ext>
            </a:extLst>
          </p:cNvPr>
          <p:cNvSpPr/>
          <p:nvPr/>
        </p:nvSpPr>
        <p:spPr>
          <a:xfrm>
            <a:off x="7555150" y="2110034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相似用户协同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3" name="Rounded Rectangle 3">
            <a:extLst>
              <a:ext uri="{FF2B5EF4-FFF2-40B4-BE49-F238E27FC236}">
                <a16:creationId xmlns:a16="http://schemas.microsoft.com/office/drawing/2014/main" id="{865A0B54-7C23-B2F3-FC6E-600F2E04F671}"/>
              </a:ext>
            </a:extLst>
          </p:cNvPr>
          <p:cNvSpPr/>
          <p:nvPr/>
        </p:nvSpPr>
        <p:spPr>
          <a:xfrm>
            <a:off x="7555150" y="2426471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相似门店协同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4" name="Rounded Rectangle 3">
            <a:extLst>
              <a:ext uri="{FF2B5EF4-FFF2-40B4-BE49-F238E27FC236}">
                <a16:creationId xmlns:a16="http://schemas.microsoft.com/office/drawing/2014/main" id="{FE53FC81-FDB9-655A-3229-575FD0F5B09E}"/>
              </a:ext>
            </a:extLst>
          </p:cNvPr>
          <p:cNvSpPr/>
          <p:nvPr/>
        </p:nvSpPr>
        <p:spPr>
          <a:xfrm>
            <a:off x="7555150" y="2727738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尝鲜探索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5" name="Rounded Rectangle 3">
            <a:extLst>
              <a:ext uri="{FF2B5EF4-FFF2-40B4-BE49-F238E27FC236}">
                <a16:creationId xmlns:a16="http://schemas.microsoft.com/office/drawing/2014/main" id="{DA9275AF-5D12-A35F-C278-00A160FE16F2}"/>
              </a:ext>
            </a:extLst>
          </p:cNvPr>
          <p:cNvSpPr/>
          <p:nvPr/>
        </p:nvSpPr>
        <p:spPr>
          <a:xfrm>
            <a:off x="7555150" y="3100761"/>
            <a:ext cx="1332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节日节点探索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6" name="Rounded Rectangle 3">
            <a:extLst>
              <a:ext uri="{FF2B5EF4-FFF2-40B4-BE49-F238E27FC236}">
                <a16:creationId xmlns:a16="http://schemas.microsoft.com/office/drawing/2014/main" id="{2C30B6CC-FE81-2578-7C30-ADA5A1DAE7A7}"/>
              </a:ext>
            </a:extLst>
          </p:cNvPr>
          <p:cNvSpPr/>
          <p:nvPr/>
        </p:nvSpPr>
        <p:spPr>
          <a:xfrm>
            <a:off x="4734429" y="3469553"/>
            <a:ext cx="1271875" cy="1532224"/>
          </a:xfrm>
          <a:prstGeom prst="roundRect">
            <a:avLst>
              <a:gd name="adj" fmla="val 792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宝藏榜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发现合集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7" name="Rounded Rectangle 3">
            <a:extLst>
              <a:ext uri="{FF2B5EF4-FFF2-40B4-BE49-F238E27FC236}">
                <a16:creationId xmlns:a16="http://schemas.microsoft.com/office/drawing/2014/main" id="{85FB5D50-3A50-BE37-C93C-B04056252463}"/>
              </a:ext>
            </a:extLst>
          </p:cNvPr>
          <p:cNvSpPr/>
          <p:nvPr/>
        </p:nvSpPr>
        <p:spPr>
          <a:xfrm>
            <a:off x="7552394" y="3474842"/>
            <a:ext cx="1332000" cy="1532225"/>
          </a:xfrm>
          <a:prstGeom prst="roundRect">
            <a:avLst>
              <a:gd name="adj" fmla="val 7117"/>
            </a:avLst>
          </a:prstGeom>
          <a:solidFill>
            <a:schemeClr val="bg1"/>
          </a:solidFill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个性化合集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（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场景 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x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偏好 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x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空间 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x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时间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）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288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ounded Rectangle 15">
            <a:extLst>
              <a:ext uri="{FF2B5EF4-FFF2-40B4-BE49-F238E27FC236}">
                <a16:creationId xmlns:a16="http://schemas.microsoft.com/office/drawing/2014/main" id="{1B9B9796-EB9F-890D-E755-07B5A3168227}"/>
              </a:ext>
            </a:extLst>
          </p:cNvPr>
          <p:cNvSpPr/>
          <p:nvPr/>
        </p:nvSpPr>
        <p:spPr>
          <a:xfrm>
            <a:off x="2748181" y="3578018"/>
            <a:ext cx="5119469" cy="5514025"/>
          </a:xfrm>
          <a:prstGeom prst="roundRect">
            <a:avLst>
              <a:gd name="adj" fmla="val 471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FEEDCD97-0DB0-B1A5-89E9-856F29B59717}"/>
              </a:ext>
            </a:extLst>
          </p:cNvPr>
          <p:cNvSpPr txBox="1"/>
          <p:nvPr/>
        </p:nvSpPr>
        <p:spPr>
          <a:xfrm>
            <a:off x="4644195" y="4283187"/>
            <a:ext cx="1566105" cy="450409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b="1" dirty="0">
                <a:solidFill>
                  <a:schemeClr val="tx1"/>
                </a:solidFill>
              </a:rPr>
              <a:t>UGC</a:t>
            </a:r>
            <a:r>
              <a:rPr lang="zh-CN" altLang="en-US" b="1" dirty="0">
                <a:solidFill>
                  <a:schemeClr val="tx1"/>
                </a:solidFill>
              </a:rPr>
              <a:t>美食合集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54" name="Rounded Rectangle 15">
            <a:extLst>
              <a:ext uri="{FF2B5EF4-FFF2-40B4-BE49-F238E27FC236}">
                <a16:creationId xmlns:a16="http://schemas.microsoft.com/office/drawing/2014/main" id="{D8EA2347-822A-174F-F35F-5DFCE4C9FABF}"/>
              </a:ext>
            </a:extLst>
          </p:cNvPr>
          <p:cNvSpPr/>
          <p:nvPr/>
        </p:nvSpPr>
        <p:spPr>
          <a:xfrm>
            <a:off x="-1876675" y="957402"/>
            <a:ext cx="2955349" cy="1365766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7" name="Rounded Rectangle 15">
            <a:extLst>
              <a:ext uri="{FF2B5EF4-FFF2-40B4-BE49-F238E27FC236}">
                <a16:creationId xmlns:a16="http://schemas.microsoft.com/office/drawing/2014/main" id="{8421FCA4-3821-7521-B9AF-A1415F2BAC1B}"/>
              </a:ext>
            </a:extLst>
          </p:cNvPr>
          <p:cNvSpPr/>
          <p:nvPr/>
        </p:nvSpPr>
        <p:spPr>
          <a:xfrm>
            <a:off x="3441263" y="3645143"/>
            <a:ext cx="4152721" cy="616991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C91E1826-A525-60DC-ACF7-217E0FCA7F16}"/>
              </a:ext>
            </a:extLst>
          </p:cNvPr>
          <p:cNvSpPr/>
          <p:nvPr/>
        </p:nvSpPr>
        <p:spPr>
          <a:xfrm>
            <a:off x="-2530993" y="3578019"/>
            <a:ext cx="5188468" cy="5633561"/>
          </a:xfrm>
          <a:prstGeom prst="roundRect">
            <a:avLst>
              <a:gd name="adj" fmla="val 557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98" name="Rounded Rectangle 15">
            <a:extLst>
              <a:ext uri="{FF2B5EF4-FFF2-40B4-BE49-F238E27FC236}">
                <a16:creationId xmlns:a16="http://schemas.microsoft.com/office/drawing/2014/main" id="{34E974CF-B3F9-7D7B-A531-B533510429C6}"/>
              </a:ext>
            </a:extLst>
          </p:cNvPr>
          <p:cNvSpPr/>
          <p:nvPr/>
        </p:nvSpPr>
        <p:spPr>
          <a:xfrm>
            <a:off x="-1024775" y="3647288"/>
            <a:ext cx="3426348" cy="616991"/>
          </a:xfrm>
          <a:prstGeom prst="roundRect">
            <a:avLst/>
          </a:prstGeom>
          <a:solidFill>
            <a:srgbClr val="F4FAF6"/>
          </a:solidFill>
          <a:ln>
            <a:solidFill>
              <a:srgbClr val="3F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24895" y="-203418"/>
            <a:ext cx="5202858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2500" b="1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用户选店选品决策四维模型</a:t>
            </a:r>
            <a:r>
              <a:rPr sz="900" dirty="0">
                <a:latin typeface="+mn-ea"/>
              </a:rPr>
              <a:t> × </a:t>
            </a:r>
            <a:r>
              <a:rPr sz="900" dirty="0" err="1">
                <a:latin typeface="+mn-ea"/>
              </a:rPr>
              <a:t>美团点评榜单体系全景图</a:t>
            </a:r>
            <a:endParaRPr sz="900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15075" y="14515"/>
            <a:ext cx="6865685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50" b="0">
                <a:solidFill>
                  <a:srgbClr val="365378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四维交叉覆盖用户全链路决策需求，驱动榜单体系分层分级、连接</a:t>
            </a:r>
            <a:r>
              <a:rPr sz="900" dirty="0">
                <a:latin typeface="+mn-ea"/>
              </a:rPr>
              <a:t>“</a:t>
            </a:r>
            <a:r>
              <a:rPr lang="zh-CN" altLang="en-US" sz="900" dirty="0">
                <a:latin typeface="+mn-ea"/>
              </a:rPr>
              <a:t>场景</a:t>
            </a:r>
            <a:r>
              <a:rPr sz="900" dirty="0">
                <a:latin typeface="+mn-ea"/>
              </a:rPr>
              <a:t>·</a:t>
            </a:r>
            <a:r>
              <a:rPr sz="900" dirty="0" err="1">
                <a:latin typeface="+mn-ea"/>
              </a:rPr>
              <a:t>对象·依据</a:t>
            </a:r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信息</a:t>
            </a:r>
            <a:r>
              <a:rPr sz="900" dirty="0">
                <a:latin typeface="+mn-ea"/>
              </a:rPr>
              <a:t>”</a:t>
            </a:r>
            <a:r>
              <a:rPr sz="900" dirty="0" err="1">
                <a:latin typeface="+mn-ea"/>
              </a:rPr>
              <a:t>到“榜单产品”的完整闭环</a:t>
            </a:r>
            <a:endParaRPr sz="900" dirty="0">
              <a:latin typeface="+mn-e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45863" y="917965"/>
            <a:ext cx="2924216" cy="1365767"/>
          </a:xfrm>
          <a:prstGeom prst="roundRect">
            <a:avLst/>
          </a:prstGeom>
          <a:solidFill>
            <a:srgbClr val="FFF7EF"/>
          </a:solidFill>
          <a:ln>
            <a:solidFill>
              <a:srgbClr val="E86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8751" y="490378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E86C1F"/>
                </a:solidFill>
                <a:latin typeface="Microsoft YaHei"/>
              </a:defRPr>
            </a:pPr>
            <a:r>
              <a:rPr lang="zh-CN" altLang="en-US" sz="1200" dirty="0">
                <a:latin typeface="+mn-ea"/>
              </a:rPr>
              <a:t>决策场景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9988" y="687134"/>
            <a:ext cx="125142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E86C1F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为什么吃？什么场合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3614" y="904099"/>
            <a:ext cx="2068846" cy="1379632"/>
          </a:xfrm>
          <a:prstGeom prst="roundRect">
            <a:avLst/>
          </a:prstGeom>
          <a:solidFill>
            <a:srgbClr val="F8F5FC"/>
          </a:solidFill>
          <a:ln>
            <a:solidFill>
              <a:srgbClr val="744B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35157" y="950187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3F975B"/>
                </a:solidFill>
                <a:latin typeface="Microsoft YaHei"/>
              </a:defRPr>
            </a:pPr>
            <a:r>
              <a:rPr sz="1200" b="1" dirty="0" err="1">
                <a:solidFill>
                  <a:srgbClr val="744BB4"/>
                </a:solidFill>
                <a:latin typeface="Microsoft YaHei"/>
              </a:rPr>
              <a:t>决策信息</a:t>
            </a:r>
            <a:endParaRPr sz="1200" b="1" dirty="0">
              <a:solidFill>
                <a:srgbClr val="744BB4"/>
              </a:solidFill>
              <a:latin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65532" y="1124157"/>
            <a:ext cx="1638900" cy="24917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3F975B"/>
                </a:solidFill>
                <a:latin typeface="Microsoft YaHei"/>
              </a:defRPr>
            </a:pPr>
            <a:r>
              <a:rPr sz="1019" b="1" dirty="0" err="1">
                <a:solidFill>
                  <a:srgbClr val="744BB4"/>
                </a:solidFill>
                <a:latin typeface="Microsoft YaHei"/>
              </a:rPr>
              <a:t>关注什么信息？什么要求</a:t>
            </a:r>
            <a:r>
              <a:rPr sz="1019" b="1" dirty="0">
                <a:solidFill>
                  <a:srgbClr val="744BB4"/>
                </a:solidFill>
                <a:latin typeface="Microsoft YaHei"/>
              </a:rPr>
              <a:t>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7769" y="1293296"/>
            <a:ext cx="2358910" cy="1338828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供给信息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菜系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品类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特色菜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招牌菜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新品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联名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餐厅类型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风格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二次元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主题餐厅</a:t>
            </a:r>
            <a:br>
              <a:rPr sz="900" dirty="0">
                <a:latin typeface="+mn-ea"/>
              </a:rPr>
            </a:b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约束条件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包间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人数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停车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交通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可预约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排队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忌口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过敏</a:t>
            </a:r>
            <a:br>
              <a:rPr sz="900" dirty="0">
                <a:latin typeface="+mn-ea"/>
              </a:rPr>
            </a:br>
            <a:r>
              <a:rPr sz="900" dirty="0">
                <a:latin typeface="+mn-ea"/>
              </a:rPr>
              <a:t>• </a:t>
            </a:r>
            <a:r>
              <a:rPr sz="900" dirty="0" err="1">
                <a:latin typeface="+mn-ea"/>
              </a:rPr>
              <a:t>预算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价格</a:t>
            </a:r>
            <a:r>
              <a:rPr sz="900" dirty="0">
                <a:latin typeface="+mn-ea"/>
              </a:rPr>
              <a:t>  • </a:t>
            </a:r>
            <a:r>
              <a:rPr sz="900" dirty="0" err="1">
                <a:latin typeface="+mn-ea"/>
              </a:rPr>
              <a:t>营业</a:t>
            </a:r>
            <a:r>
              <a:rPr sz="900" dirty="0">
                <a:latin typeface="+mn-ea"/>
              </a:rPr>
              <a:t>/</a:t>
            </a:r>
            <a:r>
              <a:rPr sz="900" dirty="0" err="1">
                <a:latin typeface="+mn-ea"/>
              </a:rPr>
              <a:t>互动</a:t>
            </a:r>
            <a:endParaRPr sz="900" dirty="0">
              <a:latin typeface="+mn-e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952872" y="917965"/>
            <a:ext cx="2160000" cy="1365766"/>
          </a:xfrm>
          <a:prstGeom prst="roundRect">
            <a:avLst/>
          </a:prstGeom>
          <a:solidFill>
            <a:srgbClr val="F3F8FF"/>
          </a:solidFill>
          <a:ln>
            <a:solidFill>
              <a:srgbClr val="2D7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19096" y="484250"/>
            <a:ext cx="839890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2D71D3"/>
                </a:solidFill>
                <a:latin typeface="Microsoft YaHei"/>
              </a:defRPr>
            </a:pPr>
            <a:r>
              <a:rPr sz="1200" dirty="0" err="1">
                <a:latin typeface="+mn-ea"/>
              </a:rPr>
              <a:t>决策对象</a:t>
            </a:r>
            <a:endParaRPr sz="1200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48827" y="673267"/>
            <a:ext cx="83989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2D71D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我要选什么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789573" y="557428"/>
            <a:ext cx="884532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744BB4"/>
                </a:solidFill>
                <a:latin typeface="Microsoft YaHei"/>
              </a:defRPr>
            </a:pPr>
            <a:r>
              <a:rPr sz="1200" b="1" dirty="0" err="1">
                <a:solidFill>
                  <a:srgbClr val="3F975B"/>
                </a:solidFill>
                <a:latin typeface="+mn-ea"/>
              </a:rPr>
              <a:t>决策依据</a:t>
            </a:r>
            <a:endParaRPr sz="1200" b="1" dirty="0">
              <a:solidFill>
                <a:srgbClr val="3F975B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819177" y="737498"/>
            <a:ext cx="103407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744BB4"/>
                </a:solidFill>
                <a:latin typeface="Microsoft YaHei"/>
              </a:defRPr>
            </a:pPr>
            <a:r>
              <a:rPr sz="900" b="1" dirty="0" err="1">
                <a:solidFill>
                  <a:srgbClr val="3F975B"/>
                </a:solidFill>
                <a:latin typeface="+mn-ea"/>
              </a:rPr>
              <a:t>我为什么相信它</a:t>
            </a:r>
            <a:r>
              <a:rPr sz="900" b="1" dirty="0">
                <a:solidFill>
                  <a:srgbClr val="3F975B"/>
                </a:solidFill>
                <a:latin typeface="+mn-ea"/>
              </a:rPr>
              <a:t>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598978" y="148275"/>
            <a:ext cx="1337878" cy="2768295"/>
          </a:xfrm>
          <a:prstGeom prst="roundRect">
            <a:avLst/>
          </a:prstGeom>
          <a:solidFill>
            <a:srgbClr val="FAFA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11521" y="215170"/>
            <a:ext cx="115206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icrosoft YaHei"/>
              </a:defRPr>
            </a:pPr>
            <a:r>
              <a:rPr sz="900" dirty="0" err="1">
                <a:latin typeface="+mn-ea"/>
              </a:rPr>
              <a:t>四维如何协同</a:t>
            </a:r>
            <a:r>
              <a:rPr sz="900" dirty="0">
                <a:latin typeface="+mn-ea"/>
              </a:rPr>
              <a:t>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91886" y="438150"/>
            <a:ext cx="1133480" cy="64633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30" b="0">
                <a:solidFill>
                  <a:srgbClr val="696969"/>
                </a:solidFill>
                <a:latin typeface="Microsoft YaHei"/>
              </a:defRPr>
            </a:pPr>
            <a:r>
              <a:rPr sz="900">
                <a:latin typeface="+mn-ea"/>
              </a:rPr>
              <a:t>用户在特定场景下，基于关注的信息，选择对象，并结合不同信任依据做出决策。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0468" y="1233705"/>
            <a:ext cx="1114898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80" b="1">
                <a:solidFill>
                  <a:srgbClr val="232323"/>
                </a:solidFill>
                <a:latin typeface="Microsoft YaHei"/>
              </a:defRPr>
            </a:pPr>
            <a:r>
              <a:rPr sz="900">
                <a:latin typeface="+mn-ea"/>
              </a:rPr>
              <a:t>示例：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0467" y="1334046"/>
            <a:ext cx="1133480" cy="120032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900" dirty="0">
                <a:latin typeface="+mn-ea"/>
              </a:rPr>
              <a:t>场景：生日聚餐（8人）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信息：包间＋有生日服务＋停车方便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对象：选店（符合大聚餐的餐厅</a:t>
            </a:r>
            <a:r>
              <a:rPr sz="900" dirty="0">
                <a:latin typeface="+mn-ea"/>
              </a:rPr>
              <a:t>）</a:t>
            </a:r>
            <a:br>
              <a:rPr sz="900" dirty="0">
                <a:latin typeface="+mn-ea"/>
              </a:rPr>
            </a:br>
            <a:r>
              <a:rPr sz="900" dirty="0" err="1">
                <a:latin typeface="+mn-ea"/>
              </a:rPr>
              <a:t>依据：朋友推荐＋大众好评</a:t>
            </a:r>
            <a:endParaRPr sz="900" dirty="0">
              <a:latin typeface="+mn-ea"/>
            </a:endParaRPr>
          </a:p>
        </p:txBody>
      </p:sp>
      <p:pic>
        <p:nvPicPr>
          <p:cNvPr id="150" name="Picture 1">
            <a:extLst>
              <a:ext uri="{FF2B5EF4-FFF2-40B4-BE49-F238E27FC236}">
                <a16:creationId xmlns:a16="http://schemas.microsoft.com/office/drawing/2014/main" id="{185A1C24-E037-2E54-67AB-4749B3776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29" y="10825666"/>
            <a:ext cx="9863056" cy="9092740"/>
          </a:xfrm>
          <a:prstGeom prst="rect">
            <a:avLst/>
          </a:prstGeom>
        </p:spPr>
      </p:pic>
      <p:pic>
        <p:nvPicPr>
          <p:cNvPr id="152" name="图片 151">
            <a:extLst>
              <a:ext uri="{FF2B5EF4-FFF2-40B4-BE49-F238E27FC236}">
                <a16:creationId xmlns:a16="http://schemas.microsoft.com/office/drawing/2014/main" id="{586F05F5-2511-55CF-126B-7F9BE88C678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86419" y="1735465"/>
            <a:ext cx="283858" cy="283858"/>
          </a:xfrm>
          <a:prstGeom prst="rect">
            <a:avLst/>
          </a:prstGeom>
        </p:spPr>
      </p:pic>
      <p:pic>
        <p:nvPicPr>
          <p:cNvPr id="154" name="图片 153">
            <a:extLst>
              <a:ext uri="{FF2B5EF4-FFF2-40B4-BE49-F238E27FC236}">
                <a16:creationId xmlns:a16="http://schemas.microsoft.com/office/drawing/2014/main" id="{69F57832-4B98-0F26-1DE8-FC571D05D44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14408" y="1031887"/>
            <a:ext cx="323272" cy="323272"/>
          </a:xfrm>
          <a:prstGeom prst="rect">
            <a:avLst/>
          </a:prstGeom>
        </p:spPr>
      </p:pic>
      <p:pic>
        <p:nvPicPr>
          <p:cNvPr id="158" name="图片 157">
            <a:extLst>
              <a:ext uri="{FF2B5EF4-FFF2-40B4-BE49-F238E27FC236}">
                <a16:creationId xmlns:a16="http://schemas.microsoft.com/office/drawing/2014/main" id="{424E0CE5-6F46-FCB4-A24E-0A03D86C38C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68365" y="1698394"/>
            <a:ext cx="308662" cy="308662"/>
          </a:xfrm>
          <a:prstGeom prst="rect">
            <a:avLst/>
          </a:prstGeom>
        </p:spPr>
      </p:pic>
      <p:pic>
        <p:nvPicPr>
          <p:cNvPr id="160" name="图片 159">
            <a:extLst>
              <a:ext uri="{FF2B5EF4-FFF2-40B4-BE49-F238E27FC236}">
                <a16:creationId xmlns:a16="http://schemas.microsoft.com/office/drawing/2014/main" id="{A12C1891-0975-33CC-4A38-722A4961247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12606" y="1708415"/>
            <a:ext cx="297462" cy="297462"/>
          </a:xfrm>
          <a:prstGeom prst="rect">
            <a:avLst/>
          </a:prstGeom>
        </p:spPr>
      </p:pic>
      <p:pic>
        <p:nvPicPr>
          <p:cNvPr id="164" name="图片 163">
            <a:extLst>
              <a:ext uri="{FF2B5EF4-FFF2-40B4-BE49-F238E27FC236}">
                <a16:creationId xmlns:a16="http://schemas.microsoft.com/office/drawing/2014/main" id="{19C8418C-1C77-C0F8-2C21-80F19B66B63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99992" y="1057928"/>
            <a:ext cx="249934" cy="249934"/>
          </a:xfrm>
          <a:prstGeom prst="rect">
            <a:avLst/>
          </a:prstGeom>
        </p:spPr>
      </p:pic>
      <p:sp>
        <p:nvSpPr>
          <p:cNvPr id="165" name="TextBox 6">
            <a:extLst>
              <a:ext uri="{FF2B5EF4-FFF2-40B4-BE49-F238E27FC236}">
                <a16:creationId xmlns:a16="http://schemas.microsoft.com/office/drawing/2014/main" id="{93A32559-649D-12A7-588C-C212CDA9809E}"/>
              </a:ext>
            </a:extLst>
          </p:cNvPr>
          <p:cNvSpPr txBox="1"/>
          <p:nvPr/>
        </p:nvSpPr>
        <p:spPr>
          <a:xfrm>
            <a:off x="3043739" y="1293243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166" name="TextBox 6">
            <a:extLst>
              <a:ext uri="{FF2B5EF4-FFF2-40B4-BE49-F238E27FC236}">
                <a16:creationId xmlns:a16="http://schemas.microsoft.com/office/drawing/2014/main" id="{DC1AA6B8-58E8-66E9-9792-EF3A5C51E38A}"/>
              </a:ext>
            </a:extLst>
          </p:cNvPr>
          <p:cNvSpPr txBox="1"/>
          <p:nvPr/>
        </p:nvSpPr>
        <p:spPr>
          <a:xfrm>
            <a:off x="1699229" y="1977203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167" name="TextBox 6">
            <a:extLst>
              <a:ext uri="{FF2B5EF4-FFF2-40B4-BE49-F238E27FC236}">
                <a16:creationId xmlns:a16="http://schemas.microsoft.com/office/drawing/2014/main" id="{00681B47-4097-0CB1-7011-FCA257C9C2C5}"/>
              </a:ext>
            </a:extLst>
          </p:cNvPr>
          <p:cNvSpPr txBox="1"/>
          <p:nvPr/>
        </p:nvSpPr>
        <p:spPr>
          <a:xfrm>
            <a:off x="2475821" y="1973858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170" name="TextBox 6">
            <a:extLst>
              <a:ext uri="{FF2B5EF4-FFF2-40B4-BE49-F238E27FC236}">
                <a16:creationId xmlns:a16="http://schemas.microsoft.com/office/drawing/2014/main" id="{C8B84D2A-F9BE-2AD3-17AD-3F365E47B28C}"/>
              </a:ext>
            </a:extLst>
          </p:cNvPr>
          <p:cNvSpPr txBox="1"/>
          <p:nvPr/>
        </p:nvSpPr>
        <p:spPr>
          <a:xfrm>
            <a:off x="2412454" y="1293652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171" name="TextBox 6">
            <a:extLst>
              <a:ext uri="{FF2B5EF4-FFF2-40B4-BE49-F238E27FC236}">
                <a16:creationId xmlns:a16="http://schemas.microsoft.com/office/drawing/2014/main" id="{93F2D9C7-1796-24C2-DB1A-99CBD9725F93}"/>
              </a:ext>
            </a:extLst>
          </p:cNvPr>
          <p:cNvSpPr txBox="1"/>
          <p:nvPr/>
        </p:nvSpPr>
        <p:spPr>
          <a:xfrm>
            <a:off x="2964631" y="1973858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173" name="图片 172">
            <a:extLst>
              <a:ext uri="{FF2B5EF4-FFF2-40B4-BE49-F238E27FC236}">
                <a16:creationId xmlns:a16="http://schemas.microsoft.com/office/drawing/2014/main" id="{11980ABA-8E9B-499C-8C5A-8EB1A342E2D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20449" y="1718615"/>
            <a:ext cx="317127" cy="251688"/>
          </a:xfrm>
          <a:prstGeom prst="rect">
            <a:avLst/>
          </a:prstGeom>
        </p:spPr>
      </p:pic>
      <p:sp>
        <p:nvSpPr>
          <p:cNvPr id="174" name="TextBox 6">
            <a:extLst>
              <a:ext uri="{FF2B5EF4-FFF2-40B4-BE49-F238E27FC236}">
                <a16:creationId xmlns:a16="http://schemas.microsoft.com/office/drawing/2014/main" id="{C784151D-B7EB-A953-8C1E-5A99FA69E16E}"/>
              </a:ext>
            </a:extLst>
          </p:cNvPr>
          <p:cNvSpPr txBox="1"/>
          <p:nvPr/>
        </p:nvSpPr>
        <p:spPr>
          <a:xfrm>
            <a:off x="3573369" y="1967767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176" name="图片 175">
            <a:extLst>
              <a:ext uri="{FF2B5EF4-FFF2-40B4-BE49-F238E27FC236}">
                <a16:creationId xmlns:a16="http://schemas.microsoft.com/office/drawing/2014/main" id="{EE893496-B8C0-6A17-A192-7F2521A36D5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4068" y="1270088"/>
            <a:ext cx="574226" cy="574226"/>
          </a:xfrm>
          <a:prstGeom prst="rect">
            <a:avLst/>
          </a:prstGeom>
        </p:spPr>
      </p:pic>
      <p:pic>
        <p:nvPicPr>
          <p:cNvPr id="178" name="图片 177">
            <a:extLst>
              <a:ext uri="{FF2B5EF4-FFF2-40B4-BE49-F238E27FC236}">
                <a16:creationId xmlns:a16="http://schemas.microsoft.com/office/drawing/2014/main" id="{6F95E1C9-251D-0D8A-CDDA-B7BA002D2BD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18584" y="1326722"/>
            <a:ext cx="467988" cy="467988"/>
          </a:xfrm>
          <a:prstGeom prst="rect">
            <a:avLst/>
          </a:prstGeom>
        </p:spPr>
      </p:pic>
      <p:sp>
        <p:nvSpPr>
          <p:cNvPr id="179" name="TextBox 6">
            <a:extLst>
              <a:ext uri="{FF2B5EF4-FFF2-40B4-BE49-F238E27FC236}">
                <a16:creationId xmlns:a16="http://schemas.microsoft.com/office/drawing/2014/main" id="{3EDC531C-8C17-FBD5-D66A-5AE7034D19F9}"/>
              </a:ext>
            </a:extLst>
          </p:cNvPr>
          <p:cNvSpPr txBox="1"/>
          <p:nvPr/>
        </p:nvSpPr>
        <p:spPr>
          <a:xfrm>
            <a:off x="5370344" y="1737028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sp>
        <p:nvSpPr>
          <p:cNvPr id="180" name="TextBox 6">
            <a:extLst>
              <a:ext uri="{FF2B5EF4-FFF2-40B4-BE49-F238E27FC236}">
                <a16:creationId xmlns:a16="http://schemas.microsoft.com/office/drawing/2014/main" id="{55131804-87B4-DD59-D689-CEE83DCBF6D7}"/>
              </a:ext>
            </a:extLst>
          </p:cNvPr>
          <p:cNvSpPr txBox="1"/>
          <p:nvPr/>
        </p:nvSpPr>
        <p:spPr>
          <a:xfrm>
            <a:off x="6338792" y="1737029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pic>
        <p:nvPicPr>
          <p:cNvPr id="184" name="图片 183">
            <a:extLst>
              <a:ext uri="{FF2B5EF4-FFF2-40B4-BE49-F238E27FC236}">
                <a16:creationId xmlns:a16="http://schemas.microsoft.com/office/drawing/2014/main" id="{EA395D6D-8992-306F-E085-8234EBD773D7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510548" y="1091793"/>
            <a:ext cx="301862" cy="247428"/>
          </a:xfrm>
          <a:prstGeom prst="rect">
            <a:avLst/>
          </a:prstGeom>
        </p:spPr>
      </p:pic>
      <p:sp>
        <p:nvSpPr>
          <p:cNvPr id="187" name="TextBox 6">
            <a:extLst>
              <a:ext uri="{FF2B5EF4-FFF2-40B4-BE49-F238E27FC236}">
                <a16:creationId xmlns:a16="http://schemas.microsoft.com/office/drawing/2014/main" id="{757E58E2-A63C-0D8D-1A42-1E78D07ED2C0}"/>
              </a:ext>
            </a:extLst>
          </p:cNvPr>
          <p:cNvSpPr txBox="1"/>
          <p:nvPr/>
        </p:nvSpPr>
        <p:spPr>
          <a:xfrm>
            <a:off x="-668216" y="1309304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pic>
        <p:nvPicPr>
          <p:cNvPr id="201" name="图片 200">
            <a:extLst>
              <a:ext uri="{FF2B5EF4-FFF2-40B4-BE49-F238E27FC236}">
                <a16:creationId xmlns:a16="http://schemas.microsoft.com/office/drawing/2014/main" id="{923C725F-4041-9D84-0119-19D076CE46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890029" y="6915984"/>
            <a:ext cx="283858" cy="283858"/>
          </a:xfrm>
          <a:prstGeom prst="rect">
            <a:avLst/>
          </a:prstGeom>
        </p:spPr>
      </p:pic>
      <p:pic>
        <p:nvPicPr>
          <p:cNvPr id="202" name="图片 201">
            <a:extLst>
              <a:ext uri="{FF2B5EF4-FFF2-40B4-BE49-F238E27FC236}">
                <a16:creationId xmlns:a16="http://schemas.microsoft.com/office/drawing/2014/main" id="{721838D5-5871-0A2B-DE31-5004BE2B72C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923388" y="4593081"/>
            <a:ext cx="323272" cy="323272"/>
          </a:xfrm>
          <a:prstGeom prst="rect">
            <a:avLst/>
          </a:prstGeom>
        </p:spPr>
      </p:pic>
      <p:pic>
        <p:nvPicPr>
          <p:cNvPr id="203" name="图片 202">
            <a:extLst>
              <a:ext uri="{FF2B5EF4-FFF2-40B4-BE49-F238E27FC236}">
                <a16:creationId xmlns:a16="http://schemas.microsoft.com/office/drawing/2014/main" id="{57B9198D-3445-2263-4CDB-386F7901A1C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914833" y="6217201"/>
            <a:ext cx="308662" cy="308662"/>
          </a:xfrm>
          <a:prstGeom prst="rect">
            <a:avLst/>
          </a:prstGeom>
        </p:spPr>
      </p:pic>
      <p:pic>
        <p:nvPicPr>
          <p:cNvPr id="204" name="图片 203">
            <a:extLst>
              <a:ext uri="{FF2B5EF4-FFF2-40B4-BE49-F238E27FC236}">
                <a16:creationId xmlns:a16="http://schemas.microsoft.com/office/drawing/2014/main" id="{4F899DC9-C13F-2E3D-361A-8598F41E6A3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890150" y="7545452"/>
            <a:ext cx="297462" cy="297462"/>
          </a:xfrm>
          <a:prstGeom prst="rect">
            <a:avLst/>
          </a:prstGeom>
        </p:spPr>
      </p:pic>
      <p:pic>
        <p:nvPicPr>
          <p:cNvPr id="205" name="图片 204">
            <a:extLst>
              <a:ext uri="{FF2B5EF4-FFF2-40B4-BE49-F238E27FC236}">
                <a16:creationId xmlns:a16="http://schemas.microsoft.com/office/drawing/2014/main" id="{015DC48D-02D8-0F91-958A-D3C5C03AAA0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874920" y="5564892"/>
            <a:ext cx="249934" cy="249934"/>
          </a:xfrm>
          <a:prstGeom prst="rect">
            <a:avLst/>
          </a:prstGeom>
        </p:spPr>
      </p:pic>
      <p:sp>
        <p:nvSpPr>
          <p:cNvPr id="206" name="TextBox 6">
            <a:extLst>
              <a:ext uri="{FF2B5EF4-FFF2-40B4-BE49-F238E27FC236}">
                <a16:creationId xmlns:a16="http://schemas.microsoft.com/office/drawing/2014/main" id="{3F8C7967-5556-1FA5-7243-71AE0DA07754}"/>
              </a:ext>
            </a:extLst>
          </p:cNvPr>
          <p:cNvSpPr txBox="1"/>
          <p:nvPr/>
        </p:nvSpPr>
        <p:spPr>
          <a:xfrm>
            <a:off x="-2031173" y="5800207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207" name="TextBox 6">
            <a:extLst>
              <a:ext uri="{FF2B5EF4-FFF2-40B4-BE49-F238E27FC236}">
                <a16:creationId xmlns:a16="http://schemas.microsoft.com/office/drawing/2014/main" id="{1FECC15A-F915-BD74-23CE-9356EB8A21EC}"/>
              </a:ext>
            </a:extLst>
          </p:cNvPr>
          <p:cNvSpPr txBox="1"/>
          <p:nvPr/>
        </p:nvSpPr>
        <p:spPr>
          <a:xfrm>
            <a:off x="-2083969" y="6496010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208" name="TextBox 6">
            <a:extLst>
              <a:ext uri="{FF2B5EF4-FFF2-40B4-BE49-F238E27FC236}">
                <a16:creationId xmlns:a16="http://schemas.microsoft.com/office/drawing/2014/main" id="{541DC738-BE79-92BB-57F0-02D8C5811195}"/>
              </a:ext>
            </a:extLst>
          </p:cNvPr>
          <p:cNvSpPr txBox="1"/>
          <p:nvPr/>
        </p:nvSpPr>
        <p:spPr>
          <a:xfrm>
            <a:off x="-2000627" y="7154377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209" name="TextBox 6">
            <a:extLst>
              <a:ext uri="{FF2B5EF4-FFF2-40B4-BE49-F238E27FC236}">
                <a16:creationId xmlns:a16="http://schemas.microsoft.com/office/drawing/2014/main" id="{EA448922-C393-993F-1442-639AB3516CB3}"/>
              </a:ext>
            </a:extLst>
          </p:cNvPr>
          <p:cNvSpPr txBox="1"/>
          <p:nvPr/>
        </p:nvSpPr>
        <p:spPr>
          <a:xfrm>
            <a:off x="-2025342" y="4854846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210" name="TextBox 6">
            <a:extLst>
              <a:ext uri="{FF2B5EF4-FFF2-40B4-BE49-F238E27FC236}">
                <a16:creationId xmlns:a16="http://schemas.microsoft.com/office/drawing/2014/main" id="{7524E602-99D0-9DE0-9E02-AEC54302FE40}"/>
              </a:ext>
            </a:extLst>
          </p:cNvPr>
          <p:cNvSpPr txBox="1"/>
          <p:nvPr/>
        </p:nvSpPr>
        <p:spPr>
          <a:xfrm>
            <a:off x="-2138125" y="7810895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5B14AB64-5D4B-CB55-27DB-42020DC8E467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890150" y="8261861"/>
            <a:ext cx="317127" cy="251688"/>
          </a:xfrm>
          <a:prstGeom prst="rect">
            <a:avLst/>
          </a:prstGeom>
        </p:spPr>
      </p:pic>
      <p:sp>
        <p:nvSpPr>
          <p:cNvPr id="212" name="TextBox 6">
            <a:extLst>
              <a:ext uri="{FF2B5EF4-FFF2-40B4-BE49-F238E27FC236}">
                <a16:creationId xmlns:a16="http://schemas.microsoft.com/office/drawing/2014/main" id="{33DCD466-D8F5-7CE6-1103-252023DF0D32}"/>
              </a:ext>
            </a:extLst>
          </p:cNvPr>
          <p:cNvSpPr txBox="1"/>
          <p:nvPr/>
        </p:nvSpPr>
        <p:spPr>
          <a:xfrm>
            <a:off x="-2137230" y="8511013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235" name="图片 234">
            <a:extLst>
              <a:ext uri="{FF2B5EF4-FFF2-40B4-BE49-F238E27FC236}">
                <a16:creationId xmlns:a16="http://schemas.microsoft.com/office/drawing/2014/main" id="{C88702EA-00CD-0128-99F3-C12EFE1C0757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13873" y="3721473"/>
            <a:ext cx="380552" cy="380552"/>
          </a:xfrm>
          <a:prstGeom prst="rect">
            <a:avLst/>
          </a:prstGeom>
        </p:spPr>
      </p:pic>
      <p:sp>
        <p:nvSpPr>
          <p:cNvPr id="236" name="TextBox 6">
            <a:extLst>
              <a:ext uri="{FF2B5EF4-FFF2-40B4-BE49-F238E27FC236}">
                <a16:creationId xmlns:a16="http://schemas.microsoft.com/office/drawing/2014/main" id="{006551F8-6824-35EE-A6FB-F9CF2BB04C77}"/>
              </a:ext>
            </a:extLst>
          </p:cNvPr>
          <p:cNvSpPr txBox="1"/>
          <p:nvPr/>
        </p:nvSpPr>
        <p:spPr>
          <a:xfrm>
            <a:off x="-402551" y="4028011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pic>
        <p:nvPicPr>
          <p:cNvPr id="239" name="图片 238">
            <a:extLst>
              <a:ext uri="{FF2B5EF4-FFF2-40B4-BE49-F238E27FC236}">
                <a16:creationId xmlns:a16="http://schemas.microsoft.com/office/drawing/2014/main" id="{1E1CA603-2A46-B16C-E625-A0045E55829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80228" y="3672571"/>
            <a:ext cx="450961" cy="450961"/>
          </a:xfrm>
          <a:prstGeom prst="rect">
            <a:avLst/>
          </a:prstGeom>
        </p:spPr>
      </p:pic>
      <p:sp>
        <p:nvSpPr>
          <p:cNvPr id="240" name="TextBox 6">
            <a:extLst>
              <a:ext uri="{FF2B5EF4-FFF2-40B4-BE49-F238E27FC236}">
                <a16:creationId xmlns:a16="http://schemas.microsoft.com/office/drawing/2014/main" id="{B53E261E-8F58-F73E-E9CB-28017EB5E25C}"/>
              </a:ext>
            </a:extLst>
          </p:cNvPr>
          <p:cNvSpPr txBox="1"/>
          <p:nvPr/>
        </p:nvSpPr>
        <p:spPr>
          <a:xfrm>
            <a:off x="1389465" y="3998499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4341BF97-A58C-C0AB-4EF4-F4BAEF122E64}"/>
              </a:ext>
            </a:extLst>
          </p:cNvPr>
          <p:cNvSpPr/>
          <p:nvPr/>
        </p:nvSpPr>
        <p:spPr>
          <a:xfrm>
            <a:off x="-966369" y="4397268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品类指数榜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C66C7D2D-32F2-4AA6-C5DB-8F1F149C5BAF}"/>
              </a:ext>
            </a:extLst>
          </p:cNvPr>
          <p:cNvSpPr/>
          <p:nvPr/>
        </p:nvSpPr>
        <p:spPr>
          <a:xfrm>
            <a:off x="678790" y="4397268"/>
            <a:ext cx="1547394" cy="467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爆品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招牌菜榜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841AA8D8-D6C7-6555-35C4-719681800C73}"/>
              </a:ext>
            </a:extLst>
          </p:cNvPr>
          <p:cNvSpPr/>
          <p:nvPr/>
        </p:nvSpPr>
        <p:spPr>
          <a:xfrm>
            <a:off x="-957194" y="5480422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当地人推荐榜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美团资产成榜</a:t>
            </a:r>
            <a:endParaRPr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7134CDAF-79B5-C21F-4788-AAA427550DCC}"/>
              </a:ext>
            </a:extLst>
          </p:cNvPr>
          <p:cNvSpPr/>
          <p:nvPr/>
        </p:nvSpPr>
        <p:spPr>
          <a:xfrm>
            <a:off x="687965" y="5480422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团侧优化升级</a:t>
            </a:r>
            <a:endParaRPr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4B77DB2B-29DA-3A69-192B-6C33569CAC54}"/>
              </a:ext>
            </a:extLst>
          </p:cNvPr>
          <p:cNvSpPr/>
          <p:nvPr/>
        </p:nvSpPr>
        <p:spPr>
          <a:xfrm>
            <a:off x="-972424" y="6209417"/>
            <a:ext cx="1547394" cy="4679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约会榜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Rounded Rectangle 3">
            <a:extLst>
              <a:ext uri="{FF2B5EF4-FFF2-40B4-BE49-F238E27FC236}">
                <a16:creationId xmlns:a16="http://schemas.microsoft.com/office/drawing/2014/main" id="{5E17C929-FFAE-7DFF-43E7-406DBE76770B}"/>
              </a:ext>
            </a:extLst>
          </p:cNvPr>
          <p:cNvSpPr/>
          <p:nvPr/>
        </p:nvSpPr>
        <p:spPr>
          <a:xfrm>
            <a:off x="687964" y="6209417"/>
            <a:ext cx="1547394" cy="253242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优先级较低，一部分融入选店决策中作为补充，一部分需求同招牌菜，还有一小部分为特殊单品如蛋糕等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01B84C14-7A6C-266C-AD57-4BD6FC6626EA}"/>
              </a:ext>
            </a:extLst>
          </p:cNvPr>
          <p:cNvSpPr/>
          <p:nvPr/>
        </p:nvSpPr>
        <p:spPr>
          <a:xfrm>
            <a:off x="-972424" y="6778669"/>
            <a:ext cx="1547394" cy="196317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宴聚榜等场景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（合并商务宴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生日宴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工作家庭大聚）</a:t>
            </a:r>
            <a:endParaRPr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CB03E0F5-D3B4-1AB7-5249-0AD921FF6DFE}"/>
              </a:ext>
            </a:extLst>
          </p:cNvPr>
          <p:cNvSpPr/>
          <p:nvPr/>
        </p:nvSpPr>
        <p:spPr>
          <a:xfrm>
            <a:off x="-966369" y="4898667"/>
            <a:ext cx="1547394" cy="4679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新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店榜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Rounded Rectangle 3">
            <a:extLst>
              <a:ext uri="{FF2B5EF4-FFF2-40B4-BE49-F238E27FC236}">
                <a16:creationId xmlns:a16="http://schemas.microsoft.com/office/drawing/2014/main" id="{7D4F6FF6-F366-EDCE-4E15-5DD818FC628C}"/>
              </a:ext>
            </a:extLst>
          </p:cNvPr>
          <p:cNvSpPr/>
          <p:nvPr/>
        </p:nvSpPr>
        <p:spPr>
          <a:xfrm>
            <a:off x="678790" y="4898667"/>
            <a:ext cx="1547394" cy="46798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新品榜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4FAD9AA-B4FF-05EE-03A7-633E0C716901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545686" y="3780583"/>
            <a:ext cx="301862" cy="247428"/>
          </a:xfrm>
          <a:prstGeom prst="rect">
            <a:avLst/>
          </a:prstGeom>
        </p:spPr>
      </p:pic>
      <p:sp>
        <p:nvSpPr>
          <p:cNvPr id="35" name="TextBox 6">
            <a:extLst>
              <a:ext uri="{FF2B5EF4-FFF2-40B4-BE49-F238E27FC236}">
                <a16:creationId xmlns:a16="http://schemas.microsoft.com/office/drawing/2014/main" id="{F9CF47AD-2830-7E1E-B018-95E041F4D396}"/>
              </a:ext>
            </a:extLst>
          </p:cNvPr>
          <p:cNvSpPr txBox="1"/>
          <p:nvPr/>
        </p:nvSpPr>
        <p:spPr>
          <a:xfrm>
            <a:off x="-1703354" y="3998094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平台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大众</a:t>
            </a:r>
            <a:endParaRPr sz="900" b="1" dirty="0">
              <a:latin typeface="+mn-ea"/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AD58D8F5-702C-FBB3-5997-1FFA03A12072}"/>
              </a:ext>
            </a:extLst>
          </p:cNvPr>
          <p:cNvSpPr/>
          <p:nvPr/>
        </p:nvSpPr>
        <p:spPr>
          <a:xfrm>
            <a:off x="-4638331" y="10344556"/>
            <a:ext cx="4638331" cy="5605546"/>
          </a:xfrm>
          <a:prstGeom prst="roundRect">
            <a:avLst>
              <a:gd name="adj" fmla="val 845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+mn-ea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56FFA7FE-5E75-DAC2-0402-ADCDAB57C70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997367" y="13666824"/>
            <a:ext cx="283858" cy="283858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46630AFC-529A-3BD6-275D-5B66FA5B646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030726" y="11343921"/>
            <a:ext cx="323272" cy="323272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A6F6BB8B-D18D-864D-C9DE-B62C8847B7B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022171" y="12968041"/>
            <a:ext cx="308662" cy="308662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F22F1A49-5399-57A0-F921-B4DE72443AA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997488" y="14296292"/>
            <a:ext cx="297462" cy="297462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73E7BECF-0310-EDF1-8FA1-F503CA8E556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982258" y="12315732"/>
            <a:ext cx="249934" cy="249934"/>
          </a:xfrm>
          <a:prstGeom prst="rect">
            <a:avLst/>
          </a:prstGeom>
        </p:spPr>
      </p:pic>
      <p:sp>
        <p:nvSpPr>
          <p:cNvPr id="42" name="TextBox 6">
            <a:extLst>
              <a:ext uri="{FF2B5EF4-FFF2-40B4-BE49-F238E27FC236}">
                <a16:creationId xmlns:a16="http://schemas.microsoft.com/office/drawing/2014/main" id="{F9CB22E8-F866-4896-3F33-9551DD2E8005}"/>
              </a:ext>
            </a:extLst>
          </p:cNvPr>
          <p:cNvSpPr txBox="1"/>
          <p:nvPr/>
        </p:nvSpPr>
        <p:spPr>
          <a:xfrm>
            <a:off x="-4138511" y="12551047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43" name="TextBox 6">
            <a:extLst>
              <a:ext uri="{FF2B5EF4-FFF2-40B4-BE49-F238E27FC236}">
                <a16:creationId xmlns:a16="http://schemas.microsoft.com/office/drawing/2014/main" id="{E2FB1C06-9AE4-B448-4467-8D459C530339}"/>
              </a:ext>
            </a:extLst>
          </p:cNvPr>
          <p:cNvSpPr txBox="1"/>
          <p:nvPr/>
        </p:nvSpPr>
        <p:spPr>
          <a:xfrm>
            <a:off x="-4191307" y="13246850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44" name="TextBox 6">
            <a:extLst>
              <a:ext uri="{FF2B5EF4-FFF2-40B4-BE49-F238E27FC236}">
                <a16:creationId xmlns:a16="http://schemas.microsoft.com/office/drawing/2014/main" id="{4EDC7EE8-49CE-DC6A-66E4-D61317643C65}"/>
              </a:ext>
            </a:extLst>
          </p:cNvPr>
          <p:cNvSpPr txBox="1"/>
          <p:nvPr/>
        </p:nvSpPr>
        <p:spPr>
          <a:xfrm>
            <a:off x="-4107965" y="13905217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45" name="TextBox 6">
            <a:extLst>
              <a:ext uri="{FF2B5EF4-FFF2-40B4-BE49-F238E27FC236}">
                <a16:creationId xmlns:a16="http://schemas.microsoft.com/office/drawing/2014/main" id="{74D5EC7B-2E5F-658D-E2DC-B60E0DC06096}"/>
              </a:ext>
            </a:extLst>
          </p:cNvPr>
          <p:cNvSpPr txBox="1"/>
          <p:nvPr/>
        </p:nvSpPr>
        <p:spPr>
          <a:xfrm>
            <a:off x="-4132680" y="11605686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46" name="TextBox 6">
            <a:extLst>
              <a:ext uri="{FF2B5EF4-FFF2-40B4-BE49-F238E27FC236}">
                <a16:creationId xmlns:a16="http://schemas.microsoft.com/office/drawing/2014/main" id="{B9AFE5E1-B4A0-1F16-350C-5C40FF148EFD}"/>
              </a:ext>
            </a:extLst>
          </p:cNvPr>
          <p:cNvSpPr txBox="1"/>
          <p:nvPr/>
        </p:nvSpPr>
        <p:spPr>
          <a:xfrm>
            <a:off x="-4245463" y="14561735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FE892B0B-3CA8-90BB-89F1-D4DA53D48A7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997488" y="15012701"/>
            <a:ext cx="317127" cy="251688"/>
          </a:xfrm>
          <a:prstGeom prst="rect">
            <a:avLst/>
          </a:prstGeom>
        </p:spPr>
      </p:pic>
      <p:sp>
        <p:nvSpPr>
          <p:cNvPr id="48" name="TextBox 6">
            <a:extLst>
              <a:ext uri="{FF2B5EF4-FFF2-40B4-BE49-F238E27FC236}">
                <a16:creationId xmlns:a16="http://schemas.microsoft.com/office/drawing/2014/main" id="{A4BE363D-80A8-1508-33EA-AEA9E1DE1ADD}"/>
              </a:ext>
            </a:extLst>
          </p:cNvPr>
          <p:cNvSpPr txBox="1"/>
          <p:nvPr/>
        </p:nvSpPr>
        <p:spPr>
          <a:xfrm>
            <a:off x="-4244568" y="15261853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37022191-2D8C-1C58-72C5-516B400F7AC5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572971" y="10434595"/>
            <a:ext cx="467988" cy="467988"/>
          </a:xfrm>
          <a:prstGeom prst="rect">
            <a:avLst/>
          </a:prstGeom>
        </p:spPr>
      </p:pic>
      <p:sp>
        <p:nvSpPr>
          <p:cNvPr id="50" name="TextBox 6">
            <a:extLst>
              <a:ext uri="{FF2B5EF4-FFF2-40B4-BE49-F238E27FC236}">
                <a16:creationId xmlns:a16="http://schemas.microsoft.com/office/drawing/2014/main" id="{C6F6685D-F9D6-8AEC-6FD2-7C0F13E1AA74}"/>
              </a:ext>
            </a:extLst>
          </p:cNvPr>
          <p:cNvSpPr txBox="1"/>
          <p:nvPr/>
        </p:nvSpPr>
        <p:spPr>
          <a:xfrm>
            <a:off x="-2521211" y="10844901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6E519EA8-DBC9-06A2-FE8E-45002E5AD364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105211" y="10349334"/>
            <a:ext cx="574226" cy="574226"/>
          </a:xfrm>
          <a:prstGeom prst="rect">
            <a:avLst/>
          </a:prstGeom>
        </p:spPr>
      </p:pic>
      <p:sp>
        <p:nvSpPr>
          <p:cNvPr id="52" name="TextBox 6">
            <a:extLst>
              <a:ext uri="{FF2B5EF4-FFF2-40B4-BE49-F238E27FC236}">
                <a16:creationId xmlns:a16="http://schemas.microsoft.com/office/drawing/2014/main" id="{A3538516-56C7-CC8F-A098-FE7239155680}"/>
              </a:ext>
            </a:extLst>
          </p:cNvPr>
          <p:cNvSpPr txBox="1"/>
          <p:nvPr/>
        </p:nvSpPr>
        <p:spPr>
          <a:xfrm>
            <a:off x="-1050487" y="10816275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55" name="Rounded Rectangle 3">
            <a:extLst>
              <a:ext uri="{FF2B5EF4-FFF2-40B4-BE49-F238E27FC236}">
                <a16:creationId xmlns:a16="http://schemas.microsoft.com/office/drawing/2014/main" id="{9CE4128C-B953-D78E-237D-8007898D4D77}"/>
              </a:ext>
            </a:extLst>
          </p:cNvPr>
          <p:cNvSpPr/>
          <p:nvPr/>
        </p:nvSpPr>
        <p:spPr>
          <a:xfrm>
            <a:off x="-3064532" y="11297206"/>
            <a:ext cx="2917617" cy="140204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合集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Rounded Rectangle 3">
            <a:extLst>
              <a:ext uri="{FF2B5EF4-FFF2-40B4-BE49-F238E27FC236}">
                <a16:creationId xmlns:a16="http://schemas.microsoft.com/office/drawing/2014/main" id="{93FB9BFF-2D9A-9596-9A52-6E71F5174615}"/>
              </a:ext>
            </a:extLst>
          </p:cNvPr>
          <p:cNvSpPr/>
          <p:nvPr/>
        </p:nvSpPr>
        <p:spPr>
          <a:xfrm>
            <a:off x="-1476066" y="12960257"/>
            <a:ext cx="1337879" cy="24686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无需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28" name="图片 127">
            <a:extLst>
              <a:ext uri="{FF2B5EF4-FFF2-40B4-BE49-F238E27FC236}">
                <a16:creationId xmlns:a16="http://schemas.microsoft.com/office/drawing/2014/main" id="{BD7E5886-1B96-1BAF-C896-02925FC783FB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538298" y="16070280"/>
            <a:ext cx="290761" cy="290761"/>
          </a:xfrm>
          <a:prstGeom prst="rect">
            <a:avLst/>
          </a:prstGeom>
        </p:spPr>
      </p:pic>
      <p:sp>
        <p:nvSpPr>
          <p:cNvPr id="129" name="TextBox 6">
            <a:extLst>
              <a:ext uri="{FF2B5EF4-FFF2-40B4-BE49-F238E27FC236}">
                <a16:creationId xmlns:a16="http://schemas.microsoft.com/office/drawing/2014/main" id="{BF1E6307-DEB5-30B7-9183-1E1B6FD8532F}"/>
              </a:ext>
            </a:extLst>
          </p:cNvPr>
          <p:cNvSpPr txBox="1"/>
          <p:nvPr/>
        </p:nvSpPr>
        <p:spPr>
          <a:xfrm>
            <a:off x="-2680872" y="16293783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138" name="Rounded Rectangle 3">
            <a:extLst>
              <a:ext uri="{FF2B5EF4-FFF2-40B4-BE49-F238E27FC236}">
                <a16:creationId xmlns:a16="http://schemas.microsoft.com/office/drawing/2014/main" id="{28E32EE2-06CC-40CF-3600-C25A25C843AF}"/>
              </a:ext>
            </a:extLst>
          </p:cNvPr>
          <p:cNvSpPr/>
          <p:nvPr/>
        </p:nvSpPr>
        <p:spPr>
          <a:xfrm>
            <a:off x="-3078609" y="12921326"/>
            <a:ext cx="1337879" cy="252464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宝藏榜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41" name="图片 140">
            <a:extLst>
              <a:ext uri="{FF2B5EF4-FFF2-40B4-BE49-F238E27FC236}">
                <a16:creationId xmlns:a16="http://schemas.microsoft.com/office/drawing/2014/main" id="{F4777FFB-A2FF-618A-773A-D425A3A1DA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639380" y="6898298"/>
            <a:ext cx="283858" cy="283858"/>
          </a:xfrm>
          <a:prstGeom prst="rect">
            <a:avLst/>
          </a:prstGeom>
        </p:spPr>
      </p:pic>
      <p:pic>
        <p:nvPicPr>
          <p:cNvPr id="142" name="图片 141">
            <a:extLst>
              <a:ext uri="{FF2B5EF4-FFF2-40B4-BE49-F238E27FC236}">
                <a16:creationId xmlns:a16="http://schemas.microsoft.com/office/drawing/2014/main" id="{8E73EC4D-99BA-76FA-EBDA-E2B623CD5F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672739" y="4575395"/>
            <a:ext cx="323272" cy="323272"/>
          </a:xfrm>
          <a:prstGeom prst="rect">
            <a:avLst/>
          </a:prstGeom>
        </p:spPr>
      </p:pic>
      <p:pic>
        <p:nvPicPr>
          <p:cNvPr id="143" name="图片 142">
            <a:extLst>
              <a:ext uri="{FF2B5EF4-FFF2-40B4-BE49-F238E27FC236}">
                <a16:creationId xmlns:a16="http://schemas.microsoft.com/office/drawing/2014/main" id="{2543C798-51FF-03D6-3B6B-8AAE3EF55E1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664184" y="6199515"/>
            <a:ext cx="308662" cy="308662"/>
          </a:xfrm>
          <a:prstGeom prst="rect">
            <a:avLst/>
          </a:prstGeom>
        </p:spPr>
      </p:pic>
      <p:pic>
        <p:nvPicPr>
          <p:cNvPr id="144" name="图片 143">
            <a:extLst>
              <a:ext uri="{FF2B5EF4-FFF2-40B4-BE49-F238E27FC236}">
                <a16:creationId xmlns:a16="http://schemas.microsoft.com/office/drawing/2014/main" id="{E986179B-AD1B-8EE9-FECD-3DF23EBBE46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639501" y="7527766"/>
            <a:ext cx="297462" cy="297462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C83BDF38-C665-787B-A9F8-BA02328E11D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624271" y="5547206"/>
            <a:ext cx="249934" cy="249934"/>
          </a:xfrm>
          <a:prstGeom prst="rect">
            <a:avLst/>
          </a:prstGeom>
        </p:spPr>
      </p:pic>
      <p:sp>
        <p:nvSpPr>
          <p:cNvPr id="146" name="TextBox 6">
            <a:extLst>
              <a:ext uri="{FF2B5EF4-FFF2-40B4-BE49-F238E27FC236}">
                <a16:creationId xmlns:a16="http://schemas.microsoft.com/office/drawing/2014/main" id="{A971929F-623B-5696-CDAA-D5EB850D6B8F}"/>
              </a:ext>
            </a:extLst>
          </p:cNvPr>
          <p:cNvSpPr txBox="1"/>
          <p:nvPr/>
        </p:nvSpPr>
        <p:spPr>
          <a:xfrm>
            <a:off x="-3780524" y="5782521"/>
            <a:ext cx="5706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旅游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出行</a:t>
            </a:r>
            <a:endParaRPr sz="900" b="1" dirty="0">
              <a:latin typeface="+mn-ea"/>
            </a:endParaRPr>
          </a:p>
        </p:txBody>
      </p:sp>
      <p:sp>
        <p:nvSpPr>
          <p:cNvPr id="147" name="TextBox 6">
            <a:extLst>
              <a:ext uri="{FF2B5EF4-FFF2-40B4-BE49-F238E27FC236}">
                <a16:creationId xmlns:a16="http://schemas.microsoft.com/office/drawing/2014/main" id="{FE82151F-069C-E98C-BCC6-7C46DCCB623A}"/>
              </a:ext>
            </a:extLst>
          </p:cNvPr>
          <p:cNvSpPr txBox="1"/>
          <p:nvPr/>
        </p:nvSpPr>
        <p:spPr>
          <a:xfrm>
            <a:off x="-3833320" y="6478324"/>
            <a:ext cx="702344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约会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纪念日</a:t>
            </a:r>
            <a:endParaRPr sz="900" b="1" dirty="0">
              <a:latin typeface="+mn-ea"/>
            </a:endParaRPr>
          </a:p>
        </p:txBody>
      </p:sp>
      <p:sp>
        <p:nvSpPr>
          <p:cNvPr id="148" name="TextBox 6">
            <a:extLst>
              <a:ext uri="{FF2B5EF4-FFF2-40B4-BE49-F238E27FC236}">
                <a16:creationId xmlns:a16="http://schemas.microsoft.com/office/drawing/2014/main" id="{49DAF4D1-30C4-4C95-3ECB-0CFB12AB151F}"/>
              </a:ext>
            </a:extLst>
          </p:cNvPr>
          <p:cNvSpPr txBox="1"/>
          <p:nvPr/>
        </p:nvSpPr>
        <p:spPr>
          <a:xfrm>
            <a:off x="-3749978" y="7136691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商务宴请</a:t>
            </a:r>
            <a:endParaRPr sz="900" b="1" dirty="0">
              <a:latin typeface="+mn-ea"/>
            </a:endParaRPr>
          </a:p>
        </p:txBody>
      </p:sp>
      <p:sp>
        <p:nvSpPr>
          <p:cNvPr id="149" name="TextBox 6">
            <a:extLst>
              <a:ext uri="{FF2B5EF4-FFF2-40B4-BE49-F238E27FC236}">
                <a16:creationId xmlns:a16="http://schemas.microsoft.com/office/drawing/2014/main" id="{CF5A844B-B9B0-4FD6-09A2-7F68EDB8C029}"/>
              </a:ext>
            </a:extLst>
          </p:cNvPr>
          <p:cNvSpPr txBox="1"/>
          <p:nvPr/>
        </p:nvSpPr>
        <p:spPr>
          <a:xfrm>
            <a:off x="-3774693" y="4837160"/>
            <a:ext cx="4907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日常解馋</a:t>
            </a:r>
            <a:endParaRPr sz="900" b="1" dirty="0">
              <a:latin typeface="+mn-ea"/>
            </a:endParaRPr>
          </a:p>
        </p:txBody>
      </p:sp>
      <p:sp>
        <p:nvSpPr>
          <p:cNvPr id="151" name="TextBox 6">
            <a:extLst>
              <a:ext uri="{FF2B5EF4-FFF2-40B4-BE49-F238E27FC236}">
                <a16:creationId xmlns:a16="http://schemas.microsoft.com/office/drawing/2014/main" id="{C6557EBF-416E-B67B-22C8-63A50F47B4EA}"/>
              </a:ext>
            </a:extLst>
          </p:cNvPr>
          <p:cNvSpPr txBox="1"/>
          <p:nvPr/>
        </p:nvSpPr>
        <p:spPr>
          <a:xfrm>
            <a:off x="-3887476" y="7793209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生日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节日</a:t>
            </a:r>
            <a:endParaRPr sz="900" b="1" dirty="0">
              <a:latin typeface="+mn-ea"/>
            </a:endParaRPr>
          </a:p>
        </p:txBody>
      </p:sp>
      <p:pic>
        <p:nvPicPr>
          <p:cNvPr id="153" name="图片 152">
            <a:extLst>
              <a:ext uri="{FF2B5EF4-FFF2-40B4-BE49-F238E27FC236}">
                <a16:creationId xmlns:a16="http://schemas.microsoft.com/office/drawing/2014/main" id="{F8D1D29E-54D8-E251-A555-59A3147F06E4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639501" y="8244175"/>
            <a:ext cx="317127" cy="251688"/>
          </a:xfrm>
          <a:prstGeom prst="rect">
            <a:avLst/>
          </a:prstGeom>
        </p:spPr>
      </p:pic>
      <p:sp>
        <p:nvSpPr>
          <p:cNvPr id="155" name="TextBox 6">
            <a:extLst>
              <a:ext uri="{FF2B5EF4-FFF2-40B4-BE49-F238E27FC236}">
                <a16:creationId xmlns:a16="http://schemas.microsoft.com/office/drawing/2014/main" id="{321C00FF-A4C1-FA03-CC44-4DCFFB1A319B}"/>
              </a:ext>
            </a:extLst>
          </p:cNvPr>
          <p:cNvSpPr txBox="1"/>
          <p:nvPr/>
        </p:nvSpPr>
        <p:spPr>
          <a:xfrm>
            <a:off x="-3886581" y="8493327"/>
            <a:ext cx="790736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亲子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家庭</a:t>
            </a:r>
            <a:endParaRPr sz="900" b="1" dirty="0">
              <a:latin typeface="+mn-ea"/>
            </a:endParaRPr>
          </a:p>
        </p:txBody>
      </p:sp>
      <p:pic>
        <p:nvPicPr>
          <p:cNvPr id="156" name="图片 155">
            <a:extLst>
              <a:ext uri="{FF2B5EF4-FFF2-40B4-BE49-F238E27FC236}">
                <a16:creationId xmlns:a16="http://schemas.microsoft.com/office/drawing/2014/main" id="{F3A49A05-6D47-2624-6867-9B88BEB78AF7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03203" y="2283731"/>
            <a:ext cx="467988" cy="467988"/>
          </a:xfrm>
          <a:prstGeom prst="rect">
            <a:avLst/>
          </a:prstGeom>
        </p:spPr>
      </p:pic>
      <p:sp>
        <p:nvSpPr>
          <p:cNvPr id="157" name="TextBox 6">
            <a:extLst>
              <a:ext uri="{FF2B5EF4-FFF2-40B4-BE49-F238E27FC236}">
                <a16:creationId xmlns:a16="http://schemas.microsoft.com/office/drawing/2014/main" id="{E40F041C-732C-69FB-FD59-FF16F637A97E}"/>
              </a:ext>
            </a:extLst>
          </p:cNvPr>
          <p:cNvSpPr txBox="1"/>
          <p:nvPr/>
        </p:nvSpPr>
        <p:spPr>
          <a:xfrm>
            <a:off x="8954963" y="2694037"/>
            <a:ext cx="346449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选店</a:t>
            </a:r>
          </a:p>
        </p:txBody>
      </p:sp>
      <p:pic>
        <p:nvPicPr>
          <p:cNvPr id="159" name="图片 158">
            <a:extLst>
              <a:ext uri="{FF2B5EF4-FFF2-40B4-BE49-F238E27FC236}">
                <a16:creationId xmlns:a16="http://schemas.microsoft.com/office/drawing/2014/main" id="{7BEEC7F7-B3D0-33A8-38D1-5A6F3757DD25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9424" y="2226435"/>
            <a:ext cx="574226" cy="574226"/>
          </a:xfrm>
          <a:prstGeom prst="rect">
            <a:avLst/>
          </a:prstGeom>
        </p:spPr>
      </p:pic>
      <p:sp>
        <p:nvSpPr>
          <p:cNvPr id="161" name="TextBox 6">
            <a:extLst>
              <a:ext uri="{FF2B5EF4-FFF2-40B4-BE49-F238E27FC236}">
                <a16:creationId xmlns:a16="http://schemas.microsoft.com/office/drawing/2014/main" id="{B10AEA0D-A95E-43B5-5174-A91B2DE2E369}"/>
              </a:ext>
            </a:extLst>
          </p:cNvPr>
          <p:cNvSpPr txBox="1"/>
          <p:nvPr/>
        </p:nvSpPr>
        <p:spPr>
          <a:xfrm>
            <a:off x="9644148" y="2693376"/>
            <a:ext cx="478900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选品</a:t>
            </a:r>
            <a:endParaRPr lang="en-US" altLang="zh-CN" sz="900" b="1" dirty="0">
              <a:latin typeface="+mn-ea"/>
            </a:endParaRPr>
          </a:p>
        </p:txBody>
      </p:sp>
      <p:sp>
        <p:nvSpPr>
          <p:cNvPr id="172" name="Rounded Rectangle 3">
            <a:extLst>
              <a:ext uri="{FF2B5EF4-FFF2-40B4-BE49-F238E27FC236}">
                <a16:creationId xmlns:a16="http://schemas.microsoft.com/office/drawing/2014/main" id="{5F5E509B-56E3-5A24-DBE9-C4B1843DDF86}"/>
              </a:ext>
            </a:extLst>
          </p:cNvPr>
          <p:cNvSpPr/>
          <p:nvPr/>
        </p:nvSpPr>
        <p:spPr>
          <a:xfrm>
            <a:off x="3451408" y="4328033"/>
            <a:ext cx="1103364" cy="1368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宝藏榜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5" name="Rounded Rectangle 3">
            <a:extLst>
              <a:ext uri="{FF2B5EF4-FFF2-40B4-BE49-F238E27FC236}">
                <a16:creationId xmlns:a16="http://schemas.microsoft.com/office/drawing/2014/main" id="{9A9ACBB3-D27F-F354-C7EA-7F47F2C0685F}"/>
              </a:ext>
            </a:extLst>
          </p:cNvPr>
          <p:cNvSpPr/>
          <p:nvPr/>
        </p:nvSpPr>
        <p:spPr>
          <a:xfrm>
            <a:off x="4739798" y="4328033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打工人最爱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E777E9C4-4C15-8B34-FF54-E75A505DE6E4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88732" y="3707140"/>
            <a:ext cx="314823" cy="314823"/>
          </a:xfrm>
          <a:prstGeom prst="rect">
            <a:avLst/>
          </a:prstGeom>
        </p:spPr>
      </p:pic>
      <p:sp>
        <p:nvSpPr>
          <p:cNvPr id="181" name="TextBox 6">
            <a:extLst>
              <a:ext uri="{FF2B5EF4-FFF2-40B4-BE49-F238E27FC236}">
                <a16:creationId xmlns:a16="http://schemas.microsoft.com/office/drawing/2014/main" id="{16C634D0-D611-1124-A900-E52D5EB8B3B1}"/>
              </a:ext>
            </a:extLst>
          </p:cNvPr>
          <p:cNvSpPr txBox="1"/>
          <p:nvPr/>
        </p:nvSpPr>
        <p:spPr>
          <a:xfrm>
            <a:off x="5090668" y="3955609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8A148EEF-DC3D-8AB6-9ACE-F397F0F3F220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78128" y="3709294"/>
            <a:ext cx="314823" cy="314823"/>
          </a:xfrm>
          <a:prstGeom prst="rect">
            <a:avLst/>
          </a:prstGeom>
        </p:spPr>
      </p:pic>
      <p:sp>
        <p:nvSpPr>
          <p:cNvPr id="185" name="TextBox 6">
            <a:extLst>
              <a:ext uri="{FF2B5EF4-FFF2-40B4-BE49-F238E27FC236}">
                <a16:creationId xmlns:a16="http://schemas.microsoft.com/office/drawing/2014/main" id="{B367FDED-D9A5-FE67-C837-43A12AD7F4CE}"/>
              </a:ext>
            </a:extLst>
          </p:cNvPr>
          <p:cNvSpPr txBox="1"/>
          <p:nvPr/>
        </p:nvSpPr>
        <p:spPr>
          <a:xfrm>
            <a:off x="5539235" y="3958776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188" name="图片 187">
            <a:extLst>
              <a:ext uri="{FF2B5EF4-FFF2-40B4-BE49-F238E27FC236}">
                <a16:creationId xmlns:a16="http://schemas.microsoft.com/office/drawing/2014/main" id="{74A1015C-C2B9-3126-68B1-D54BCFE7E0E6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79818" y="3713934"/>
            <a:ext cx="296444" cy="286420"/>
          </a:xfrm>
          <a:prstGeom prst="rect">
            <a:avLst/>
          </a:prstGeom>
        </p:spPr>
      </p:pic>
      <p:sp>
        <p:nvSpPr>
          <p:cNvPr id="191" name="TextBox 6">
            <a:extLst>
              <a:ext uri="{FF2B5EF4-FFF2-40B4-BE49-F238E27FC236}">
                <a16:creationId xmlns:a16="http://schemas.microsoft.com/office/drawing/2014/main" id="{824C803C-9D37-8BF4-15E0-C88A0C9E0D34}"/>
              </a:ext>
            </a:extLst>
          </p:cNvPr>
          <p:cNvSpPr txBox="1"/>
          <p:nvPr/>
        </p:nvSpPr>
        <p:spPr>
          <a:xfrm>
            <a:off x="6645494" y="3958776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pic>
        <p:nvPicPr>
          <p:cNvPr id="194" name="图片 193">
            <a:extLst>
              <a:ext uri="{FF2B5EF4-FFF2-40B4-BE49-F238E27FC236}">
                <a16:creationId xmlns:a16="http://schemas.microsoft.com/office/drawing/2014/main" id="{1C9D4AB7-381D-7D13-D455-E67E0714823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21557" y="3702625"/>
            <a:ext cx="290761" cy="290761"/>
          </a:xfrm>
          <a:prstGeom prst="rect">
            <a:avLst/>
          </a:prstGeom>
        </p:spPr>
      </p:pic>
      <p:sp>
        <p:nvSpPr>
          <p:cNvPr id="197" name="TextBox 6">
            <a:extLst>
              <a:ext uri="{FF2B5EF4-FFF2-40B4-BE49-F238E27FC236}">
                <a16:creationId xmlns:a16="http://schemas.microsoft.com/office/drawing/2014/main" id="{49660B71-17A5-68C4-CBAE-FF0EE1964C24}"/>
              </a:ext>
            </a:extLst>
          </p:cNvPr>
          <p:cNvSpPr txBox="1"/>
          <p:nvPr/>
        </p:nvSpPr>
        <p:spPr>
          <a:xfrm>
            <a:off x="3778983" y="3926128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199" name="Rounded Rectangle 3">
            <a:extLst>
              <a:ext uri="{FF2B5EF4-FFF2-40B4-BE49-F238E27FC236}">
                <a16:creationId xmlns:a16="http://schemas.microsoft.com/office/drawing/2014/main" id="{0F3C4533-219B-1722-B06C-67199C4F131E}"/>
              </a:ext>
            </a:extLst>
          </p:cNvPr>
          <p:cNvSpPr/>
          <p:nvPr/>
        </p:nvSpPr>
        <p:spPr>
          <a:xfrm>
            <a:off x="6284068" y="4329259"/>
            <a:ext cx="1337879" cy="61699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偏好品类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口味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B7B17536-6B20-BFE4-A226-1E7BA18BF2C4}"/>
              </a:ext>
            </a:extLst>
          </p:cNvPr>
          <p:cNvSpPr txBox="1"/>
          <p:nvPr/>
        </p:nvSpPr>
        <p:spPr>
          <a:xfrm>
            <a:off x="2875615" y="3822897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真人分享</a:t>
            </a:r>
            <a:endParaRPr sz="900" b="1" dirty="0">
              <a:latin typeface="+mn-ea"/>
            </a:endParaRPr>
          </a:p>
        </p:txBody>
      </p:sp>
      <p:sp>
        <p:nvSpPr>
          <p:cNvPr id="53" name="Rounded Rectangle 15">
            <a:extLst>
              <a:ext uri="{FF2B5EF4-FFF2-40B4-BE49-F238E27FC236}">
                <a16:creationId xmlns:a16="http://schemas.microsoft.com/office/drawing/2014/main" id="{2BF3F847-57CB-3712-1D42-FF84F537BD10}"/>
              </a:ext>
            </a:extLst>
          </p:cNvPr>
          <p:cNvSpPr/>
          <p:nvPr/>
        </p:nvSpPr>
        <p:spPr>
          <a:xfrm>
            <a:off x="9673584" y="2876580"/>
            <a:ext cx="5852342" cy="5605546"/>
          </a:xfrm>
          <a:prstGeom prst="roundRect">
            <a:avLst>
              <a:gd name="adj" fmla="val 471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+mn-ea"/>
              </a:rPr>
              <a:t>d</a:t>
            </a:r>
            <a:endParaRPr sz="900" dirty="0">
              <a:latin typeface="+mn-ea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C291C5C5-ECA9-A246-D549-F1807E773541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704379" y="1787396"/>
            <a:ext cx="314823" cy="314823"/>
          </a:xfrm>
          <a:prstGeom prst="rect">
            <a:avLst/>
          </a:prstGeom>
        </p:spPr>
      </p:pic>
      <p:sp>
        <p:nvSpPr>
          <p:cNvPr id="57" name="TextBox 6">
            <a:extLst>
              <a:ext uri="{FF2B5EF4-FFF2-40B4-BE49-F238E27FC236}">
                <a16:creationId xmlns:a16="http://schemas.microsoft.com/office/drawing/2014/main" id="{C950DC73-8A51-E8E0-E6FC-C41CAB215FEA}"/>
              </a:ext>
            </a:extLst>
          </p:cNvPr>
          <p:cNvSpPr txBox="1"/>
          <p:nvPr/>
        </p:nvSpPr>
        <p:spPr>
          <a:xfrm>
            <a:off x="-802443" y="2035865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圈层</a:t>
            </a:r>
            <a:r>
              <a:rPr lang="en-US" altLang="zh-CN" sz="900" b="1" dirty="0">
                <a:latin typeface="+mn-ea"/>
              </a:rPr>
              <a:t>/</a:t>
            </a:r>
            <a:r>
              <a:rPr lang="zh-CN" altLang="en-US" sz="900" b="1" dirty="0">
                <a:latin typeface="+mn-ea"/>
              </a:rPr>
              <a:t>同好</a:t>
            </a:r>
            <a:endParaRPr sz="900" b="1" dirty="0">
              <a:latin typeface="+mn-ea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8B6EB6C2-A2D7-6B94-2502-E3B4E3A49C3B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14983" y="1789550"/>
            <a:ext cx="314823" cy="314823"/>
          </a:xfrm>
          <a:prstGeom prst="rect">
            <a:avLst/>
          </a:prstGeom>
        </p:spPr>
      </p:pic>
      <p:sp>
        <p:nvSpPr>
          <p:cNvPr id="60" name="TextBox 6">
            <a:extLst>
              <a:ext uri="{FF2B5EF4-FFF2-40B4-BE49-F238E27FC236}">
                <a16:creationId xmlns:a16="http://schemas.microsoft.com/office/drawing/2014/main" id="{7A74BB2C-60C4-2520-BFAD-20BBD68F8D6E}"/>
              </a:ext>
            </a:extLst>
          </p:cNvPr>
          <p:cNvSpPr txBox="1"/>
          <p:nvPr/>
        </p:nvSpPr>
        <p:spPr>
          <a:xfrm>
            <a:off x="-353876" y="2039032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好友</a:t>
            </a:r>
            <a:endParaRPr sz="900" b="1" dirty="0">
              <a:latin typeface="+mn-ea"/>
            </a:endParaRP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52B857F2-0C6A-B1B2-786A-D7E4586E81B7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9323" y="1813366"/>
            <a:ext cx="296444" cy="286420"/>
          </a:xfrm>
          <a:prstGeom prst="rect">
            <a:avLst/>
          </a:prstGeom>
        </p:spPr>
      </p:pic>
      <p:sp>
        <p:nvSpPr>
          <p:cNvPr id="62" name="TextBox 6">
            <a:extLst>
              <a:ext uri="{FF2B5EF4-FFF2-40B4-BE49-F238E27FC236}">
                <a16:creationId xmlns:a16="http://schemas.microsoft.com/office/drawing/2014/main" id="{47C254FD-C25A-0056-E569-780E9EB7EACF}"/>
              </a:ext>
            </a:extLst>
          </p:cNvPr>
          <p:cNvSpPr txBox="1"/>
          <p:nvPr/>
        </p:nvSpPr>
        <p:spPr>
          <a:xfrm>
            <a:off x="244999" y="2058208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自主判断</a:t>
            </a:r>
            <a:endParaRPr sz="900" b="1" dirty="0">
              <a:latin typeface="+mn-ea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3BDCB753-46F0-4CA0-E9D7-7AE5686CE9A9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384240" y="1813885"/>
            <a:ext cx="290761" cy="290761"/>
          </a:xfrm>
          <a:prstGeom prst="rect">
            <a:avLst/>
          </a:prstGeom>
        </p:spPr>
      </p:pic>
      <p:sp>
        <p:nvSpPr>
          <p:cNvPr id="130" name="TextBox 6">
            <a:extLst>
              <a:ext uri="{FF2B5EF4-FFF2-40B4-BE49-F238E27FC236}">
                <a16:creationId xmlns:a16="http://schemas.microsoft.com/office/drawing/2014/main" id="{17AB64FB-3914-D594-4037-DCF9F8D8F9BE}"/>
              </a:ext>
            </a:extLst>
          </p:cNvPr>
          <p:cNvSpPr txBox="1"/>
          <p:nvPr/>
        </p:nvSpPr>
        <p:spPr>
          <a:xfrm>
            <a:off x="-1526814" y="2037388"/>
            <a:ext cx="574311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lang="zh-CN" altLang="en-US" sz="900" b="1" dirty="0">
                <a:latin typeface="+mn-ea"/>
              </a:rPr>
              <a:t>明星</a:t>
            </a:r>
            <a:r>
              <a:rPr lang="en-US" altLang="zh-CN" sz="900" b="1" dirty="0">
                <a:latin typeface="+mn-ea"/>
              </a:rPr>
              <a:t>/KOL</a:t>
            </a:r>
            <a:endParaRPr sz="900" b="1" dirty="0">
              <a:latin typeface="+mn-ea"/>
            </a:endParaRPr>
          </a:p>
        </p:txBody>
      </p:sp>
      <p:sp>
        <p:nvSpPr>
          <p:cNvPr id="134" name="乘号 133">
            <a:extLst>
              <a:ext uri="{FF2B5EF4-FFF2-40B4-BE49-F238E27FC236}">
                <a16:creationId xmlns:a16="http://schemas.microsoft.com/office/drawing/2014/main" id="{94A6054C-795F-BB7E-9F5D-5AEEE7C9155A}"/>
              </a:ext>
            </a:extLst>
          </p:cNvPr>
          <p:cNvSpPr/>
          <p:nvPr/>
        </p:nvSpPr>
        <p:spPr>
          <a:xfrm>
            <a:off x="1134017" y="624317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乘号 134">
            <a:extLst>
              <a:ext uri="{FF2B5EF4-FFF2-40B4-BE49-F238E27FC236}">
                <a16:creationId xmlns:a16="http://schemas.microsoft.com/office/drawing/2014/main" id="{889A536F-311A-FBD4-5380-C934D7F8472D}"/>
              </a:ext>
            </a:extLst>
          </p:cNvPr>
          <p:cNvSpPr/>
          <p:nvPr/>
        </p:nvSpPr>
        <p:spPr>
          <a:xfrm>
            <a:off x="4617227" y="598502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箭头: 右 135">
            <a:extLst>
              <a:ext uri="{FF2B5EF4-FFF2-40B4-BE49-F238E27FC236}">
                <a16:creationId xmlns:a16="http://schemas.microsoft.com/office/drawing/2014/main" id="{E92D80E9-CFFC-A206-E885-F73612AC4BBF}"/>
              </a:ext>
            </a:extLst>
          </p:cNvPr>
          <p:cNvSpPr/>
          <p:nvPr/>
        </p:nvSpPr>
        <p:spPr>
          <a:xfrm>
            <a:off x="7595188" y="622082"/>
            <a:ext cx="315934" cy="2308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TextBox 12">
            <a:extLst>
              <a:ext uri="{FF2B5EF4-FFF2-40B4-BE49-F238E27FC236}">
                <a16:creationId xmlns:a16="http://schemas.microsoft.com/office/drawing/2014/main" id="{0FE2FA66-CF70-8D34-324B-35C3201CD6D6}"/>
              </a:ext>
            </a:extLst>
          </p:cNvPr>
          <p:cNvSpPr txBox="1"/>
          <p:nvPr/>
        </p:nvSpPr>
        <p:spPr>
          <a:xfrm>
            <a:off x="8280760" y="473052"/>
            <a:ext cx="1837491" cy="276999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500" b="1">
                <a:solidFill>
                  <a:srgbClr val="3F975B"/>
                </a:solidFill>
                <a:latin typeface="Microsoft YaHei"/>
              </a:defRPr>
            </a:pPr>
            <a:r>
              <a:rPr lang="zh-CN" altLang="en-US" sz="1200" b="1" dirty="0">
                <a:solidFill>
                  <a:srgbClr val="744BB4"/>
                </a:solidFill>
                <a:latin typeface="Microsoft YaHei"/>
              </a:rPr>
              <a:t>动线上的决策信息</a:t>
            </a:r>
            <a:r>
              <a:rPr lang="en-US" altLang="zh-CN" sz="1200" b="1" dirty="0">
                <a:solidFill>
                  <a:srgbClr val="744BB4"/>
                </a:solidFill>
                <a:latin typeface="Microsoft YaHei"/>
              </a:rPr>
              <a:t>/</a:t>
            </a:r>
            <a:r>
              <a:rPr lang="zh-CN" altLang="en-US" sz="1200" b="1" dirty="0">
                <a:solidFill>
                  <a:srgbClr val="744BB4"/>
                </a:solidFill>
                <a:latin typeface="Microsoft YaHei"/>
              </a:rPr>
              <a:t>资产</a:t>
            </a:r>
          </a:p>
        </p:txBody>
      </p:sp>
      <p:sp>
        <p:nvSpPr>
          <p:cNvPr id="163" name="TextBox 13">
            <a:extLst>
              <a:ext uri="{FF2B5EF4-FFF2-40B4-BE49-F238E27FC236}">
                <a16:creationId xmlns:a16="http://schemas.microsoft.com/office/drawing/2014/main" id="{E6175B2D-834D-F6C3-4439-938F4A64EE6E}"/>
              </a:ext>
            </a:extLst>
          </p:cNvPr>
          <p:cNvSpPr txBox="1"/>
          <p:nvPr/>
        </p:nvSpPr>
        <p:spPr>
          <a:xfrm>
            <a:off x="8348901" y="649515"/>
            <a:ext cx="1535845" cy="230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019" b="1">
                <a:solidFill>
                  <a:srgbClr val="3F975B"/>
                </a:solidFill>
                <a:latin typeface="Microsoft YaHei"/>
              </a:defRPr>
            </a:pPr>
            <a:r>
              <a:rPr lang="zh-CN" altLang="en-US" sz="900" b="1" dirty="0">
                <a:solidFill>
                  <a:srgbClr val="744BB4"/>
                </a:solidFill>
                <a:latin typeface="Microsoft YaHei"/>
              </a:rPr>
              <a:t>我在不同链路看到什么？</a:t>
            </a: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2E1AC1A3-50B9-73B4-250A-9D4CA587C14F}"/>
              </a:ext>
            </a:extLst>
          </p:cNvPr>
          <p:cNvSpPr txBox="1"/>
          <p:nvPr/>
        </p:nvSpPr>
        <p:spPr>
          <a:xfrm>
            <a:off x="-2406316" y="3128365"/>
            <a:ext cx="44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基于大众资产数据和平台规则资产计算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081E6BA5-C7AB-B458-BC49-F40CE0B5EB23}"/>
              </a:ext>
            </a:extLst>
          </p:cNvPr>
          <p:cNvSpPr txBox="1"/>
          <p:nvPr/>
        </p:nvSpPr>
        <p:spPr>
          <a:xfrm>
            <a:off x="3199992" y="3115497"/>
            <a:ext cx="443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基于个人资产数据或个人推荐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DDC607CB-316B-6698-F146-317A5938D2EF}"/>
              </a:ext>
            </a:extLst>
          </p:cNvPr>
          <p:cNvSpPr txBox="1"/>
          <p:nvPr/>
        </p:nvSpPr>
        <p:spPr>
          <a:xfrm>
            <a:off x="6400805" y="8778303"/>
            <a:ext cx="1142377" cy="27699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个性化合集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24" name="Rounded Rectangle 3">
            <a:extLst>
              <a:ext uri="{FF2B5EF4-FFF2-40B4-BE49-F238E27FC236}">
                <a16:creationId xmlns:a16="http://schemas.microsoft.com/office/drawing/2014/main" id="{BAC28A5D-E699-507D-3F8F-B3D0D606E93F}"/>
              </a:ext>
            </a:extLst>
          </p:cNvPr>
          <p:cNvSpPr/>
          <p:nvPr/>
        </p:nvSpPr>
        <p:spPr>
          <a:xfrm>
            <a:off x="4739798" y="4886062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清真之选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5" name="Rounded Rectangle 3">
            <a:extLst>
              <a:ext uri="{FF2B5EF4-FFF2-40B4-BE49-F238E27FC236}">
                <a16:creationId xmlns:a16="http://schemas.microsoft.com/office/drawing/2014/main" id="{CC2B978C-774D-C6FF-ED1A-C0AA50B5C587}"/>
              </a:ext>
            </a:extLst>
          </p:cNvPr>
          <p:cNvSpPr/>
          <p:nvPr/>
        </p:nvSpPr>
        <p:spPr>
          <a:xfrm>
            <a:off x="4739798" y="5455757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Citywalk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沿线店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6" name="Rounded Rectangle 3">
            <a:extLst>
              <a:ext uri="{FF2B5EF4-FFF2-40B4-BE49-F238E27FC236}">
                <a16:creationId xmlns:a16="http://schemas.microsoft.com/office/drawing/2014/main" id="{3156F3B5-444E-87E9-8397-9F722C8F5FD2}"/>
              </a:ext>
            </a:extLst>
          </p:cNvPr>
          <p:cNvSpPr/>
          <p:nvPr/>
        </p:nvSpPr>
        <p:spPr>
          <a:xfrm>
            <a:off x="4747418" y="7046472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不辣星人吃成都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7" name="Rounded Rectangle 3">
            <a:extLst>
              <a:ext uri="{FF2B5EF4-FFF2-40B4-BE49-F238E27FC236}">
                <a16:creationId xmlns:a16="http://schemas.microsoft.com/office/drawing/2014/main" id="{F268B88B-969D-14B2-7BFA-77551F500367}"/>
              </a:ext>
            </a:extLst>
          </p:cNvPr>
          <p:cNvSpPr/>
          <p:nvPr/>
        </p:nvSpPr>
        <p:spPr>
          <a:xfrm>
            <a:off x="6284068" y="5085464"/>
            <a:ext cx="1311574" cy="61699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偏好商圈推荐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0" name="Rounded Rectangle 3">
            <a:extLst>
              <a:ext uri="{FF2B5EF4-FFF2-40B4-BE49-F238E27FC236}">
                <a16:creationId xmlns:a16="http://schemas.microsoft.com/office/drawing/2014/main" id="{2ABFDAD1-8FEA-EE3F-59EF-4D32B26539C2}"/>
              </a:ext>
            </a:extLst>
          </p:cNvPr>
          <p:cNvSpPr/>
          <p:nvPr/>
        </p:nvSpPr>
        <p:spPr>
          <a:xfrm>
            <a:off x="3461762" y="5850939"/>
            <a:ext cx="1103364" cy="1368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明星打卡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1" name="Rounded Rectangle 3">
            <a:extLst>
              <a:ext uri="{FF2B5EF4-FFF2-40B4-BE49-F238E27FC236}">
                <a16:creationId xmlns:a16="http://schemas.microsoft.com/office/drawing/2014/main" id="{51D8AAFF-BDC8-D851-8682-C5598400F61B}"/>
              </a:ext>
            </a:extLst>
          </p:cNvPr>
          <p:cNvSpPr/>
          <p:nvPr/>
        </p:nvSpPr>
        <p:spPr>
          <a:xfrm>
            <a:off x="3468637" y="7373845"/>
            <a:ext cx="1103364" cy="1368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达人探店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2" name="Rounded Rectangle 3">
            <a:extLst>
              <a:ext uri="{FF2B5EF4-FFF2-40B4-BE49-F238E27FC236}">
                <a16:creationId xmlns:a16="http://schemas.microsoft.com/office/drawing/2014/main" id="{D354E16E-B0DB-D7E6-B32F-0F57603780AA}"/>
              </a:ext>
            </a:extLst>
          </p:cNvPr>
          <p:cNvSpPr/>
          <p:nvPr/>
        </p:nvSpPr>
        <p:spPr>
          <a:xfrm>
            <a:off x="4747418" y="7613809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学院路社团聚餐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3" name="Rounded Rectangle 3">
            <a:extLst>
              <a:ext uri="{FF2B5EF4-FFF2-40B4-BE49-F238E27FC236}">
                <a16:creationId xmlns:a16="http://schemas.microsoft.com/office/drawing/2014/main" id="{3DE1CB8A-D79B-1943-E195-15368FF95145}"/>
              </a:ext>
            </a:extLst>
          </p:cNvPr>
          <p:cNvSpPr/>
          <p:nvPr/>
        </p:nvSpPr>
        <p:spPr>
          <a:xfrm>
            <a:off x="4747418" y="8178269"/>
            <a:ext cx="1339200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宠物友好餐厅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4" name="Rounded Rectangle 3">
            <a:extLst>
              <a:ext uri="{FF2B5EF4-FFF2-40B4-BE49-F238E27FC236}">
                <a16:creationId xmlns:a16="http://schemas.microsoft.com/office/drawing/2014/main" id="{CD88DDDD-9A8C-E23D-FDE6-E4EDC1BD0C7B}"/>
              </a:ext>
            </a:extLst>
          </p:cNvPr>
          <p:cNvSpPr/>
          <p:nvPr/>
        </p:nvSpPr>
        <p:spPr>
          <a:xfrm>
            <a:off x="6282410" y="5822321"/>
            <a:ext cx="1311574" cy="61699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相似用户协同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7" name="Rounded Rectangle 3">
            <a:extLst>
              <a:ext uri="{FF2B5EF4-FFF2-40B4-BE49-F238E27FC236}">
                <a16:creationId xmlns:a16="http://schemas.microsoft.com/office/drawing/2014/main" id="{83D08323-778B-1A69-9E35-6ED298B1A349}"/>
              </a:ext>
            </a:extLst>
          </p:cNvPr>
          <p:cNvSpPr/>
          <p:nvPr/>
        </p:nvSpPr>
        <p:spPr>
          <a:xfrm>
            <a:off x="6282410" y="6525864"/>
            <a:ext cx="1311574" cy="62851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相似门店协同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8" name="Rounded Rectangle 3">
            <a:extLst>
              <a:ext uri="{FF2B5EF4-FFF2-40B4-BE49-F238E27FC236}">
                <a16:creationId xmlns:a16="http://schemas.microsoft.com/office/drawing/2014/main" id="{B52C122B-5CCD-79CF-A8FF-34C52F99491F}"/>
              </a:ext>
            </a:extLst>
          </p:cNvPr>
          <p:cNvSpPr/>
          <p:nvPr/>
        </p:nvSpPr>
        <p:spPr>
          <a:xfrm>
            <a:off x="6282410" y="7379108"/>
            <a:ext cx="1311574" cy="61699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尝鲜探索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1" name="Rounded Rectangle 3">
            <a:extLst>
              <a:ext uri="{FF2B5EF4-FFF2-40B4-BE49-F238E27FC236}">
                <a16:creationId xmlns:a16="http://schemas.microsoft.com/office/drawing/2014/main" id="{B3BD7E48-5DE1-4D4A-1861-7993940A3614}"/>
              </a:ext>
            </a:extLst>
          </p:cNvPr>
          <p:cNvSpPr/>
          <p:nvPr/>
        </p:nvSpPr>
        <p:spPr>
          <a:xfrm>
            <a:off x="6284068" y="8080026"/>
            <a:ext cx="1311574" cy="61699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节日节点探索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2" name="Rounded Rectangle 3">
            <a:extLst>
              <a:ext uri="{FF2B5EF4-FFF2-40B4-BE49-F238E27FC236}">
                <a16:creationId xmlns:a16="http://schemas.microsoft.com/office/drawing/2014/main" id="{1F1467DB-21BC-2A90-1213-A460A9D4C7B8}"/>
              </a:ext>
            </a:extLst>
          </p:cNvPr>
          <p:cNvSpPr/>
          <p:nvPr/>
        </p:nvSpPr>
        <p:spPr>
          <a:xfrm>
            <a:off x="-2332588" y="9289462"/>
            <a:ext cx="550774" cy="27938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已有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5" name="Rounded Rectangle 3">
            <a:extLst>
              <a:ext uri="{FF2B5EF4-FFF2-40B4-BE49-F238E27FC236}">
                <a16:creationId xmlns:a16="http://schemas.microsoft.com/office/drawing/2014/main" id="{69153D12-27A5-C077-DB7E-E7B0C0C412CD}"/>
              </a:ext>
            </a:extLst>
          </p:cNvPr>
          <p:cNvSpPr/>
          <p:nvPr/>
        </p:nvSpPr>
        <p:spPr>
          <a:xfrm>
            <a:off x="-1723213" y="9280229"/>
            <a:ext cx="1514527" cy="288615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今年计划占位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0841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1877663" y="1690929"/>
            <a:ext cx="3995052" cy="178384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51990" y="1728092"/>
            <a:ext cx="3809235" cy="170496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1250" b="1">
                <a:solidFill>
                  <a:srgbClr val="55506E"/>
                </a:solidFill>
                <a:latin typeface="Microsoft YaHei"/>
              </a:defRPr>
            </a:pPr>
            <a:r>
              <a:rPr sz="508">
                <a:latin typeface="+mn-ea"/>
              </a:rPr>
              <a:t>● 四维交叉矩阵：榜单体系全景（部分示例）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5255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约会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37498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聚会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9741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宴请/商务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1984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生日/纪念日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4226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旅游/打卡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6469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亲子/家庭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8712" y="1887894"/>
            <a:ext cx="431094" cy="14972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E86C1F"/>
                </a:solidFill>
                <a:latin typeface="Microsoft YaHei"/>
              </a:defRPr>
            </a:pPr>
            <a:r>
              <a:rPr sz="373"/>
              <a:t>日常/解馋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7663" y="1984519"/>
            <a:ext cx="390214" cy="1122331"/>
          </a:xfrm>
          <a:prstGeom prst="roundRect">
            <a:avLst/>
          </a:prstGeom>
          <a:solidFill>
            <a:srgbClr val="F3F8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35" name="TextBox 34"/>
          <p:cNvSpPr txBox="1"/>
          <p:nvPr/>
        </p:nvSpPr>
        <p:spPr>
          <a:xfrm>
            <a:off x="1925975" y="2285541"/>
            <a:ext cx="289874" cy="264496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305891"/>
                </a:solidFill>
                <a:latin typeface="Microsoft YaHei"/>
              </a:defRPr>
            </a:pPr>
            <a:r>
              <a:rPr sz="373"/>
              <a:t>决策信息</a:t>
            </a:r>
            <a:br>
              <a:rPr sz="373"/>
            </a:br>
            <a:r>
              <a:rPr sz="373"/>
              <a:t>（关注什么</a:t>
            </a:r>
            <a:br>
              <a:rPr sz="373"/>
            </a:br>
            <a:r>
              <a:rPr sz="373"/>
              <a:t>信息）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75310" y="1984519"/>
            <a:ext cx="390214" cy="1122331"/>
          </a:xfrm>
          <a:prstGeom prst="roundRect">
            <a:avLst/>
          </a:prstGeom>
          <a:solidFill>
            <a:srgbClr val="F3F8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37" name="TextBox 36"/>
          <p:cNvSpPr txBox="1"/>
          <p:nvPr/>
        </p:nvSpPr>
        <p:spPr>
          <a:xfrm>
            <a:off x="2312473" y="2229796"/>
            <a:ext cx="304739" cy="253916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860" b="1">
                <a:solidFill>
                  <a:srgbClr val="3F975B"/>
                </a:solidFill>
                <a:latin typeface="Microsoft YaHei"/>
              </a:defRPr>
            </a:pPr>
            <a:r>
              <a:rPr sz="350"/>
              <a:t>供给信息</a:t>
            </a:r>
            <a:br>
              <a:rPr sz="350"/>
            </a:br>
            <a:r>
              <a:rPr sz="350"/>
              <a:t>约束条件</a:t>
            </a:r>
            <a:br>
              <a:rPr sz="350"/>
            </a:br>
            <a:r>
              <a:rPr sz="350"/>
              <a:t>偏好体验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5255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39" name="TextBox 38"/>
          <p:cNvSpPr txBox="1"/>
          <p:nvPr/>
        </p:nvSpPr>
        <p:spPr>
          <a:xfrm>
            <a:off x="2704546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钓鱼餐厅榜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37498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41" name="TextBox 40"/>
          <p:cNvSpPr txBox="1"/>
          <p:nvPr/>
        </p:nvSpPr>
        <p:spPr>
          <a:xfrm>
            <a:off x="3146789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朋友聚会餐厅榜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79741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43" name="TextBox 42"/>
          <p:cNvSpPr txBox="1"/>
          <p:nvPr/>
        </p:nvSpPr>
        <p:spPr>
          <a:xfrm>
            <a:off x="3589031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商务宴请餐厅榜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21984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45" name="TextBox 44"/>
          <p:cNvSpPr txBox="1"/>
          <p:nvPr/>
        </p:nvSpPr>
        <p:spPr>
          <a:xfrm>
            <a:off x="4031274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生日餐厅榜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64227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47" name="TextBox 46"/>
          <p:cNvSpPr txBox="1"/>
          <p:nvPr/>
        </p:nvSpPr>
        <p:spPr>
          <a:xfrm>
            <a:off x="4473517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城市必吃榜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06469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49" name="TextBox 48"/>
          <p:cNvSpPr txBox="1"/>
          <p:nvPr/>
        </p:nvSpPr>
        <p:spPr>
          <a:xfrm>
            <a:off x="4915760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家庭友好餐厅榜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48713" y="199938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51" name="TextBox 50"/>
          <p:cNvSpPr txBox="1"/>
          <p:nvPr/>
        </p:nvSpPr>
        <p:spPr>
          <a:xfrm>
            <a:off x="5358003" y="206627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附近好店榜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95255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53" name="TextBox 52"/>
          <p:cNvSpPr txBox="1"/>
          <p:nvPr/>
        </p:nvSpPr>
        <p:spPr>
          <a:xfrm>
            <a:off x="2704546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安静私密餐厅榜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137498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55" name="TextBox 54"/>
          <p:cNvSpPr txBox="1"/>
          <p:nvPr/>
        </p:nvSpPr>
        <p:spPr>
          <a:xfrm>
            <a:off x="3146789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有包间餐厅榜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579741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57" name="TextBox 56"/>
          <p:cNvSpPr txBox="1"/>
          <p:nvPr/>
        </p:nvSpPr>
        <p:spPr>
          <a:xfrm>
            <a:off x="3589031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高端包间榜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21984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59" name="TextBox 58"/>
          <p:cNvSpPr txBox="1"/>
          <p:nvPr/>
        </p:nvSpPr>
        <p:spPr>
          <a:xfrm>
            <a:off x="4031274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生日服务榜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64227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61" name="TextBox 60"/>
          <p:cNvSpPr txBox="1"/>
          <p:nvPr/>
        </p:nvSpPr>
        <p:spPr>
          <a:xfrm>
            <a:off x="4473517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停车方便餐厅榜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906469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63" name="TextBox 62"/>
          <p:cNvSpPr txBox="1"/>
          <p:nvPr/>
        </p:nvSpPr>
        <p:spPr>
          <a:xfrm>
            <a:off x="4915760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儿童设施全榜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48713" y="2333854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65" name="TextBox 64"/>
          <p:cNvSpPr txBox="1"/>
          <p:nvPr/>
        </p:nvSpPr>
        <p:spPr>
          <a:xfrm>
            <a:off x="5358003" y="2400748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可预约餐厅榜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695255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67" name="TextBox 66"/>
          <p:cNvSpPr txBox="1"/>
          <p:nvPr/>
        </p:nvSpPr>
        <p:spPr>
          <a:xfrm>
            <a:off x="2704546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浪漫氛围榜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137498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69" name="TextBox 68"/>
          <p:cNvSpPr txBox="1"/>
          <p:nvPr/>
        </p:nvSpPr>
        <p:spPr>
          <a:xfrm>
            <a:off x="3146789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互动体验餐厅榜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579741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71" name="TextBox 70"/>
          <p:cNvSpPr txBox="1"/>
          <p:nvPr/>
        </p:nvSpPr>
        <p:spPr>
          <a:xfrm>
            <a:off x="3589031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高端环境榜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021984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73" name="TextBox 72"/>
          <p:cNvSpPr txBox="1"/>
          <p:nvPr/>
        </p:nvSpPr>
        <p:spPr>
          <a:xfrm>
            <a:off x="4031274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仪式感体验榜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464227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75" name="TextBox 74"/>
          <p:cNvSpPr txBox="1"/>
          <p:nvPr/>
        </p:nvSpPr>
        <p:spPr>
          <a:xfrm>
            <a:off x="4473517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网红打卡榜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06469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77" name="TextBox 76"/>
          <p:cNvSpPr txBox="1"/>
          <p:nvPr/>
        </p:nvSpPr>
        <p:spPr>
          <a:xfrm>
            <a:off x="4915760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儿童主题餐厅榜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348713" y="2668323"/>
            <a:ext cx="416228" cy="252710"/>
          </a:xfrm>
          <a:prstGeom prst="roundRect">
            <a:avLst/>
          </a:prstGeom>
          <a:solidFill>
            <a:srgbClr val="FAFDFA"/>
          </a:solidFill>
          <a:ln>
            <a:solidFill>
              <a:srgbClr val="84C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79" name="TextBox 78"/>
          <p:cNvSpPr txBox="1"/>
          <p:nvPr/>
        </p:nvSpPr>
        <p:spPr>
          <a:xfrm>
            <a:off x="5358003" y="2735217"/>
            <a:ext cx="397647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00" b="1">
                <a:solidFill>
                  <a:srgbClr val="3F975B"/>
                </a:solidFill>
                <a:latin typeface="Microsoft YaHei"/>
              </a:defRPr>
            </a:pPr>
            <a:r>
              <a:rPr sz="284"/>
              <a:t>性价比高餐榜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877663" y="3151446"/>
            <a:ext cx="390214" cy="947663"/>
          </a:xfrm>
          <a:prstGeom prst="roundRect">
            <a:avLst/>
          </a:prstGeom>
          <a:solidFill>
            <a:srgbClr val="F3F8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81" name="TextBox 80"/>
          <p:cNvSpPr txBox="1"/>
          <p:nvPr/>
        </p:nvSpPr>
        <p:spPr>
          <a:xfrm>
            <a:off x="1918542" y="3381858"/>
            <a:ext cx="304739" cy="264496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2D71D3"/>
                </a:solidFill>
                <a:latin typeface="Microsoft YaHei"/>
              </a:defRPr>
            </a:pPr>
            <a:r>
              <a:rPr sz="373"/>
              <a:t>决策对象</a:t>
            </a:r>
            <a:br>
              <a:rPr sz="373"/>
            </a:br>
            <a:r>
              <a:rPr sz="373"/>
              <a:t>（选店/选品/</a:t>
            </a:r>
            <a:br>
              <a:rPr sz="373"/>
            </a:br>
            <a:r>
              <a:rPr sz="373"/>
              <a:t>套餐）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275310" y="3151446"/>
            <a:ext cx="390214" cy="947663"/>
          </a:xfrm>
          <a:prstGeom prst="roundRect">
            <a:avLst/>
          </a:prstGeom>
          <a:solidFill>
            <a:srgbClr val="F3F8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83" name="TextBox 82"/>
          <p:cNvSpPr txBox="1"/>
          <p:nvPr/>
        </p:nvSpPr>
        <p:spPr>
          <a:xfrm>
            <a:off x="2327338" y="3426454"/>
            <a:ext cx="267576" cy="276038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80" b="1">
                <a:solidFill>
                  <a:srgbClr val="2D71D3"/>
                </a:solidFill>
                <a:latin typeface="Microsoft YaHei"/>
              </a:defRPr>
            </a:pPr>
            <a:r>
              <a:rPr sz="398"/>
              <a:t>选店</a:t>
            </a:r>
            <a:br>
              <a:rPr sz="398"/>
            </a:br>
            <a:r>
              <a:rPr sz="398"/>
              <a:t>选品</a:t>
            </a:r>
            <a:br>
              <a:rPr sz="398"/>
            </a:br>
            <a:r>
              <a:rPr sz="398"/>
              <a:t>选套餐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695255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85" name="TextBox 84"/>
          <p:cNvSpPr txBox="1"/>
          <p:nvPr/>
        </p:nvSpPr>
        <p:spPr>
          <a:xfrm>
            <a:off x="2704546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约会热门榜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137498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87" name="TextBox 86"/>
          <p:cNvSpPr txBox="1"/>
          <p:nvPr/>
        </p:nvSpPr>
        <p:spPr>
          <a:xfrm>
            <a:off x="3146789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聚会热门榜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579741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89" name="TextBox 88"/>
          <p:cNvSpPr txBox="1"/>
          <p:nvPr/>
        </p:nvSpPr>
        <p:spPr>
          <a:xfrm>
            <a:off x="3589031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商务热门榜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021984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91" name="TextBox 90"/>
          <p:cNvSpPr txBox="1"/>
          <p:nvPr/>
        </p:nvSpPr>
        <p:spPr>
          <a:xfrm>
            <a:off x="4031274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生日热门榜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464227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93" name="TextBox 92"/>
          <p:cNvSpPr txBox="1"/>
          <p:nvPr/>
        </p:nvSpPr>
        <p:spPr>
          <a:xfrm>
            <a:off x="4473517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旅游必去榜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906469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95" name="TextBox 94"/>
          <p:cNvSpPr txBox="1"/>
          <p:nvPr/>
        </p:nvSpPr>
        <p:spPr>
          <a:xfrm>
            <a:off x="4915760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亲子餐厅榜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348713" y="3166311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97" name="TextBox 96"/>
          <p:cNvSpPr txBox="1"/>
          <p:nvPr/>
        </p:nvSpPr>
        <p:spPr>
          <a:xfrm>
            <a:off x="5358003" y="3225772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附近热门榜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695255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99" name="TextBox 98"/>
          <p:cNvSpPr txBox="1"/>
          <p:nvPr/>
        </p:nvSpPr>
        <p:spPr>
          <a:xfrm>
            <a:off x="2704546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必点菜榜（按结果）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137498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01" name="TextBox 100"/>
          <p:cNvSpPr txBox="1"/>
          <p:nvPr/>
        </p:nvSpPr>
        <p:spPr>
          <a:xfrm>
            <a:off x="3146789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招牌菜榜（按菜系）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579741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03" name="TextBox 102"/>
          <p:cNvSpPr txBox="1"/>
          <p:nvPr/>
        </p:nvSpPr>
        <p:spPr>
          <a:xfrm>
            <a:off x="3589031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新品菜榜（按时间）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021984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05" name="TextBox 104"/>
          <p:cNvSpPr txBox="1"/>
          <p:nvPr/>
        </p:nvSpPr>
        <p:spPr>
          <a:xfrm>
            <a:off x="4031274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特色菜榜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464227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07" name="TextBox 106"/>
          <p:cNvSpPr txBox="1"/>
          <p:nvPr/>
        </p:nvSpPr>
        <p:spPr>
          <a:xfrm>
            <a:off x="4473517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地方特色菜榜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906469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09" name="TextBox 108"/>
          <p:cNvSpPr txBox="1"/>
          <p:nvPr/>
        </p:nvSpPr>
        <p:spPr>
          <a:xfrm>
            <a:off x="4915760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儿童友好菜榜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348713" y="3471050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11" name="TextBox 110"/>
          <p:cNvSpPr txBox="1"/>
          <p:nvPr/>
        </p:nvSpPr>
        <p:spPr>
          <a:xfrm>
            <a:off x="5358003" y="3530511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下饭菜榜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695255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13" name="TextBox 112"/>
          <p:cNvSpPr txBox="1"/>
          <p:nvPr/>
        </p:nvSpPr>
        <p:spPr>
          <a:xfrm>
            <a:off x="2704546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高性价比套餐榜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137498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15" name="TextBox 114"/>
          <p:cNvSpPr txBox="1"/>
          <p:nvPr/>
        </p:nvSpPr>
        <p:spPr>
          <a:xfrm>
            <a:off x="3146789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多人套餐榜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579741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17" name="TextBox 116"/>
          <p:cNvSpPr txBox="1"/>
          <p:nvPr/>
        </p:nvSpPr>
        <p:spPr>
          <a:xfrm>
            <a:off x="3589031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商务套餐榜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021984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19" name="TextBox 118"/>
          <p:cNvSpPr txBox="1"/>
          <p:nvPr/>
        </p:nvSpPr>
        <p:spPr>
          <a:xfrm>
            <a:off x="4031274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生日优惠榜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464227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21" name="TextBox 120"/>
          <p:cNvSpPr txBox="1"/>
          <p:nvPr/>
        </p:nvSpPr>
        <p:spPr>
          <a:xfrm>
            <a:off x="4473517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旅游优惠套餐榜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906469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23" name="TextBox 122"/>
          <p:cNvSpPr txBox="1"/>
          <p:nvPr/>
        </p:nvSpPr>
        <p:spPr>
          <a:xfrm>
            <a:off x="4915760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亲子套餐榜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348713" y="3775788"/>
            <a:ext cx="416228" cy="226696"/>
          </a:xfrm>
          <a:prstGeom prst="roundRect">
            <a:avLst/>
          </a:prstGeom>
          <a:solidFill>
            <a:srgbClr val="F9FBFF"/>
          </a:solidFill>
          <a:ln>
            <a:solidFill>
              <a:srgbClr val="7DA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25" name="TextBox 124"/>
          <p:cNvSpPr txBox="1"/>
          <p:nvPr/>
        </p:nvSpPr>
        <p:spPr>
          <a:xfrm>
            <a:off x="5358003" y="3835249"/>
            <a:ext cx="397647" cy="13542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690" b="1">
                <a:solidFill>
                  <a:srgbClr val="2D71D3"/>
                </a:solidFill>
                <a:latin typeface="Microsoft YaHei"/>
              </a:defRPr>
            </a:pPr>
            <a:r>
              <a:rPr sz="280"/>
              <a:t>今日优惠榜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877663" y="4117690"/>
            <a:ext cx="390214" cy="817592"/>
          </a:xfrm>
          <a:prstGeom prst="roundRect">
            <a:avLst/>
          </a:prstGeom>
          <a:solidFill>
            <a:srgbClr val="F8F5FC"/>
          </a:solidFill>
          <a:ln>
            <a:solidFill>
              <a:srgbClr val="E1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27" name="TextBox 126"/>
          <p:cNvSpPr txBox="1"/>
          <p:nvPr/>
        </p:nvSpPr>
        <p:spPr>
          <a:xfrm>
            <a:off x="1918542" y="4355536"/>
            <a:ext cx="304739" cy="264496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919" b="1">
                <a:solidFill>
                  <a:srgbClr val="744BB4"/>
                </a:solidFill>
                <a:latin typeface="Microsoft YaHei"/>
              </a:defRPr>
            </a:pPr>
            <a:r>
              <a:rPr sz="373"/>
              <a:t>决策依据</a:t>
            </a:r>
            <a:br>
              <a:rPr sz="373"/>
            </a:br>
            <a:r>
              <a:rPr sz="373"/>
              <a:t>（为什么相信）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275310" y="4117690"/>
            <a:ext cx="390214" cy="817592"/>
          </a:xfrm>
          <a:prstGeom prst="roundRect">
            <a:avLst/>
          </a:prstGeom>
          <a:solidFill>
            <a:srgbClr val="F8F5FC"/>
          </a:solidFill>
          <a:ln>
            <a:solidFill>
              <a:srgbClr val="E1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29" name="TextBox 128"/>
          <p:cNvSpPr txBox="1"/>
          <p:nvPr/>
        </p:nvSpPr>
        <p:spPr>
          <a:xfrm>
            <a:off x="2297608" y="4199450"/>
            <a:ext cx="341902" cy="333105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70" b="1">
                <a:solidFill>
                  <a:srgbClr val="744BB4"/>
                </a:solidFill>
                <a:latin typeface="Microsoft YaHei"/>
              </a:defRPr>
            </a:pPr>
            <a:r>
              <a:rPr sz="313"/>
              <a:t>自主判断</a:t>
            </a:r>
            <a:br>
              <a:rPr sz="313"/>
            </a:br>
            <a:r>
              <a:rPr sz="313"/>
              <a:t>大众评价/UGC</a:t>
            </a:r>
            <a:br>
              <a:rPr sz="313"/>
            </a:br>
            <a:r>
              <a:rPr sz="313"/>
              <a:t>明星/KOL/达人</a:t>
            </a:r>
            <a:br>
              <a:rPr sz="313"/>
            </a:br>
            <a:r>
              <a:rPr sz="313"/>
              <a:t>熟人推荐</a:t>
            </a:r>
            <a:br>
              <a:rPr sz="313"/>
            </a:br>
            <a:r>
              <a:rPr sz="313"/>
              <a:t>圈层/同好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695255" y="4132556"/>
            <a:ext cx="3077118" cy="107773"/>
          </a:xfrm>
          <a:prstGeom prst="roundRect">
            <a:avLst/>
          </a:prstGeom>
          <a:solidFill>
            <a:srgbClr val="FCFAFF"/>
          </a:solidFill>
          <a:ln>
            <a:solidFill>
              <a:srgbClr val="BE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31" name="TextBox 130"/>
          <p:cNvSpPr txBox="1"/>
          <p:nvPr/>
        </p:nvSpPr>
        <p:spPr>
          <a:xfrm>
            <a:off x="2713836" y="4152995"/>
            <a:ext cx="3039956" cy="136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10" b="1">
                <a:solidFill>
                  <a:srgbClr val="744BB4"/>
                </a:solidFill>
                <a:latin typeface="Microsoft YaHei"/>
              </a:defRPr>
            </a:pPr>
            <a:r>
              <a:rPr sz="289"/>
              <a:t>个性化榜（基于历史行为、偏好标签、AI推荐）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695255" y="4281209"/>
            <a:ext cx="3077118" cy="107773"/>
          </a:xfrm>
          <a:prstGeom prst="roundRect">
            <a:avLst/>
          </a:prstGeom>
          <a:solidFill>
            <a:srgbClr val="FCFAFF"/>
          </a:solidFill>
          <a:ln>
            <a:solidFill>
              <a:srgbClr val="BE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33" name="TextBox 132"/>
          <p:cNvSpPr txBox="1"/>
          <p:nvPr/>
        </p:nvSpPr>
        <p:spPr>
          <a:xfrm>
            <a:off x="2713836" y="4301648"/>
            <a:ext cx="3039956" cy="136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10" b="1">
                <a:solidFill>
                  <a:srgbClr val="744BB4"/>
                </a:solidFill>
                <a:latin typeface="Microsoft YaHei"/>
              </a:defRPr>
            </a:pPr>
            <a:r>
              <a:rPr sz="289"/>
              <a:t>大众好评榜 / 必吃榜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695255" y="4429862"/>
            <a:ext cx="3077118" cy="107773"/>
          </a:xfrm>
          <a:prstGeom prst="roundRect">
            <a:avLst/>
          </a:prstGeom>
          <a:solidFill>
            <a:srgbClr val="FCFAFF"/>
          </a:solidFill>
          <a:ln>
            <a:solidFill>
              <a:srgbClr val="BE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35" name="TextBox 134"/>
          <p:cNvSpPr txBox="1"/>
          <p:nvPr/>
        </p:nvSpPr>
        <p:spPr>
          <a:xfrm>
            <a:off x="2713836" y="4450302"/>
            <a:ext cx="3039956" cy="136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10" b="1">
                <a:solidFill>
                  <a:srgbClr val="744BB4"/>
                </a:solidFill>
                <a:latin typeface="Microsoft YaHei"/>
              </a:defRPr>
            </a:pPr>
            <a:r>
              <a:rPr sz="289"/>
              <a:t>明星同款榜｜达人探店榜｜KOL推荐榜｜联名/限定榜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695255" y="4578515"/>
            <a:ext cx="3077118" cy="107773"/>
          </a:xfrm>
          <a:prstGeom prst="roundRect">
            <a:avLst/>
          </a:prstGeom>
          <a:solidFill>
            <a:srgbClr val="FCFAFF"/>
          </a:solidFill>
          <a:ln>
            <a:solidFill>
              <a:srgbClr val="BE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37" name="TextBox 136"/>
          <p:cNvSpPr txBox="1"/>
          <p:nvPr/>
        </p:nvSpPr>
        <p:spPr>
          <a:xfrm>
            <a:off x="2713836" y="4598955"/>
            <a:ext cx="3039956" cy="136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10" b="1">
                <a:solidFill>
                  <a:srgbClr val="744BB4"/>
                </a:solidFill>
                <a:latin typeface="Microsoft YaHei"/>
              </a:defRPr>
            </a:pPr>
            <a:r>
              <a:rPr sz="289"/>
              <a:t>好友推荐榜（基于社交关系链）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695255" y="4727168"/>
            <a:ext cx="3077118" cy="107773"/>
          </a:xfrm>
          <a:prstGeom prst="roundRect">
            <a:avLst/>
          </a:prstGeom>
          <a:solidFill>
            <a:srgbClr val="FCFAFF"/>
          </a:solidFill>
          <a:ln>
            <a:solidFill>
              <a:srgbClr val="BE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39" name="TextBox 138"/>
          <p:cNvSpPr txBox="1"/>
          <p:nvPr/>
        </p:nvSpPr>
        <p:spPr>
          <a:xfrm>
            <a:off x="2713836" y="4747607"/>
            <a:ext cx="3039956" cy="136832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710" b="1">
                <a:solidFill>
                  <a:srgbClr val="744BB4"/>
                </a:solidFill>
                <a:latin typeface="Microsoft YaHei"/>
              </a:defRPr>
            </a:pPr>
            <a:r>
              <a:rPr sz="289"/>
              <a:t>二次元主题榜｜咖啡爱好榜｜川菜同好榜｜烧烤爱好榜｜旅行美食榜｜宝妈宝爸推荐榜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928459" y="1690929"/>
            <a:ext cx="1337878" cy="1486531"/>
          </a:xfrm>
          <a:prstGeom prst="roundRect">
            <a:avLst/>
          </a:prstGeom>
          <a:solidFill>
            <a:srgbClr val="FAFDFA"/>
          </a:solidFill>
          <a:ln>
            <a:solidFill>
              <a:srgbClr val="BED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41" name="TextBox 140"/>
          <p:cNvSpPr txBox="1"/>
          <p:nvPr/>
        </p:nvSpPr>
        <p:spPr>
          <a:xfrm>
            <a:off x="6013935" y="1757823"/>
            <a:ext cx="1159494" cy="173574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300" b="1">
                <a:solidFill>
                  <a:srgbClr val="3F975B"/>
                </a:solidFill>
                <a:latin typeface="Microsoft YaHei"/>
              </a:defRPr>
            </a:pPr>
            <a:r>
              <a:rPr sz="528"/>
              <a:t>美团点评榜单现状（部分）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028800" y="1902760"/>
            <a:ext cx="1133480" cy="14741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80" b="1">
                <a:solidFill>
                  <a:srgbClr val="232323"/>
                </a:solidFill>
                <a:latin typeface="Microsoft YaHei"/>
              </a:defRPr>
            </a:pPr>
            <a:r>
              <a:rPr sz="358"/>
              <a:t>已覆盖的主要组合（举例）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028800" y="2036548"/>
            <a:ext cx="1133480" cy="34849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19" b="0">
                <a:solidFill>
                  <a:srgbClr val="232323"/>
                </a:solidFill>
                <a:latin typeface="Microsoft YaHei"/>
              </a:defRPr>
            </a:pPr>
            <a:r>
              <a:rPr sz="333"/>
              <a:t>✓ 必吃榜（大众评价驱动）</a:t>
            </a:r>
            <a:br>
              <a:rPr sz="333"/>
            </a:br>
            <a:r>
              <a:rPr sz="333"/>
              <a:t>✓ 黑珍珠（高端/权威）</a:t>
            </a:r>
            <a:br>
              <a:rPr sz="333"/>
            </a:br>
            <a:r>
              <a:rPr sz="333"/>
              <a:t>✓ 附近好店榜（位置＋热度）</a:t>
            </a:r>
            <a:br>
              <a:rPr sz="333"/>
            </a:br>
            <a:r>
              <a:rPr sz="333"/>
              <a:t>✓ 亲子/家庭友好（亲子场景＋儿童友好）</a:t>
            </a:r>
            <a:br>
              <a:rPr sz="333"/>
            </a:br>
            <a:r>
              <a:rPr sz="333"/>
              <a:t>✓ 特色菜榜/招牌菜榜（供给信息＋大众评价）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928459" y="3240637"/>
            <a:ext cx="1337878" cy="1664915"/>
          </a:xfrm>
          <a:prstGeom prst="roundRect">
            <a:avLst/>
          </a:prstGeom>
          <a:solidFill>
            <a:srgbClr val="FFF9F2"/>
          </a:solidFill>
          <a:ln>
            <a:solidFill>
              <a:srgbClr val="EFB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45" name="TextBox 144"/>
          <p:cNvSpPr txBox="1"/>
          <p:nvPr/>
        </p:nvSpPr>
        <p:spPr>
          <a:xfrm>
            <a:off x="6013935" y="3314964"/>
            <a:ext cx="1159494" cy="173574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ctr">
              <a:defRPr sz="1300" b="1">
                <a:solidFill>
                  <a:srgbClr val="E86C1F"/>
                </a:solidFill>
                <a:latin typeface="Microsoft YaHei"/>
              </a:defRPr>
            </a:pPr>
            <a:r>
              <a:rPr sz="528"/>
              <a:t>未来潜力榜单方向（示例）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028800" y="3474766"/>
            <a:ext cx="1133480" cy="526811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icrosoft YaHei"/>
              </a:defRPr>
            </a:pPr>
            <a:r>
              <a:rPr sz="353"/>
              <a:t>💡 约会氛围榜（可约的＋好评）</a:t>
            </a:r>
            <a:br>
              <a:rPr sz="353"/>
            </a:br>
            <a:r>
              <a:rPr sz="353"/>
              <a:t>💡 生日宴请榜（有餐厅＋朋友推荐）</a:t>
            </a:r>
            <a:br>
              <a:rPr sz="353"/>
            </a:br>
            <a:r>
              <a:rPr sz="353"/>
              <a:t>💡 多人聚会榜（包间＋对比）</a:t>
            </a:r>
            <a:br>
              <a:rPr sz="353"/>
            </a:br>
            <a:r>
              <a:rPr sz="353"/>
              <a:t>💡 停车无忧榜（交通便利＋高好评）</a:t>
            </a:r>
            <a:br>
              <a:rPr sz="353"/>
            </a:br>
            <a:r>
              <a:rPr sz="353"/>
              <a:t>💡 漂亮饭榜（出片＋达人推荐）</a:t>
            </a:r>
            <a:br>
              <a:rPr sz="353"/>
            </a:br>
            <a:r>
              <a:rPr sz="353"/>
              <a:t>💡 二次元主题榜（兴趣圈＋内容热度）</a:t>
            </a:r>
            <a:br>
              <a:rPr sz="353"/>
            </a:br>
            <a:r>
              <a:rPr sz="353"/>
              <a:t>💡 新品尝鲜榜（新品＋KOL推荐）</a:t>
            </a:r>
            <a:br>
              <a:rPr sz="353"/>
            </a:br>
            <a:r>
              <a:rPr sz="353"/>
              <a:t>……更多组合待探索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877663" y="4924133"/>
            <a:ext cx="3995052" cy="156086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32"/>
          </a:p>
        </p:txBody>
      </p:sp>
      <p:sp>
        <p:nvSpPr>
          <p:cNvPr id="149" name="TextBox 148"/>
          <p:cNvSpPr txBox="1"/>
          <p:nvPr/>
        </p:nvSpPr>
        <p:spPr>
          <a:xfrm>
            <a:off x="6002786" y="4935283"/>
            <a:ext cx="1170643" cy="136063"/>
          </a:xfrm>
          <a:prstGeom prst="rect">
            <a:avLst/>
          </a:prstGeom>
          <a:noFill/>
        </p:spPr>
        <p:txBody>
          <a:bodyPr wrap="square" lIns="9291" rIns="9291">
            <a:spAutoFit/>
          </a:bodyPr>
          <a:lstStyle/>
          <a:p>
            <a:pPr algn="l">
              <a:defRPr sz="700" b="0">
                <a:solidFill>
                  <a:srgbClr val="696969"/>
                </a:solidFill>
                <a:latin typeface="Microsoft YaHei"/>
              </a:defRPr>
            </a:pPr>
            <a:r>
              <a:rPr sz="284"/>
              <a:t>可编辑重构：文字、卡片、矩阵格子均为独立PPT元素</a:t>
            </a:r>
          </a:p>
        </p:txBody>
      </p:sp>
    </p:spTree>
    <p:extLst>
      <p:ext uri="{BB962C8B-B14F-4D97-AF65-F5344CB8AC3E}">
        <p14:creationId xmlns:p14="http://schemas.microsoft.com/office/powerpoint/2010/main" val="2816477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>
            <a:extLst>
              <a:ext uri="{FF2B5EF4-FFF2-40B4-BE49-F238E27FC236}">
                <a16:creationId xmlns:a16="http://schemas.microsoft.com/office/drawing/2014/main" id="{E913FB53-C8D9-9011-5D43-11FA97A21399}"/>
              </a:ext>
            </a:extLst>
          </p:cNvPr>
          <p:cNvSpPr/>
          <p:nvPr/>
        </p:nvSpPr>
        <p:spPr>
          <a:xfrm rot="10800000">
            <a:off x="1711431" y="333159"/>
            <a:ext cx="4593260" cy="395970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5D68ED-71D5-7D6F-EF5A-86F9F36C79A3}"/>
              </a:ext>
            </a:extLst>
          </p:cNvPr>
          <p:cNvSpPr txBox="1"/>
          <p:nvPr/>
        </p:nvSpPr>
        <p:spPr>
          <a:xfrm>
            <a:off x="3029223" y="512079"/>
            <a:ext cx="1895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榜单（资产）曝光</a:t>
            </a:r>
            <a:endParaRPr lang="en-US" altLang="zh-CN" sz="1600" b="1" dirty="0">
              <a:solidFill>
                <a:srgbClr val="0D0D0D"/>
              </a:solidFill>
              <a:latin typeface="+mn-ea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B5B8628-A91D-77E6-D2D4-B66F98BA9848}"/>
              </a:ext>
            </a:extLst>
          </p:cNvPr>
          <p:cNvCxnSpPr>
            <a:cxnSpLocks/>
          </p:cNvCxnSpPr>
          <p:nvPr/>
        </p:nvCxnSpPr>
        <p:spPr>
          <a:xfrm>
            <a:off x="2208434" y="1053059"/>
            <a:ext cx="367260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5AAEB4A-5872-7965-977B-DEA65745BBCE}"/>
              </a:ext>
            </a:extLst>
          </p:cNvPr>
          <p:cNvSpPr txBox="1"/>
          <p:nvPr/>
        </p:nvSpPr>
        <p:spPr>
          <a:xfrm>
            <a:off x="2791273" y="1176743"/>
            <a:ext cx="24763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榜单（资产）的信任影响</a:t>
            </a:r>
            <a:endParaRPr lang="en-US" altLang="zh-CN" sz="1600" b="1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18546A-A8B3-AFD4-E5AC-13604859B412}"/>
              </a:ext>
            </a:extLst>
          </p:cNvPr>
          <p:cNvSpPr txBox="1"/>
          <p:nvPr/>
        </p:nvSpPr>
        <p:spPr>
          <a:xfrm>
            <a:off x="2716448" y="1907082"/>
            <a:ext cx="2656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榜单点击</a:t>
            </a:r>
            <a:r>
              <a:rPr lang="en-US" altLang="zh-CN" sz="1600" b="1" dirty="0">
                <a:solidFill>
                  <a:srgbClr val="0D0D0D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进入榜单页</a:t>
            </a:r>
            <a:endParaRPr lang="en-US" altLang="zh-CN" sz="1600" b="1" dirty="0">
              <a:solidFill>
                <a:srgbClr val="0D0D0D"/>
              </a:solidFill>
              <a:latin typeface="+mn-ea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17F5031-532B-E90F-EFA1-7C72F7032FDC}"/>
              </a:ext>
            </a:extLst>
          </p:cNvPr>
          <p:cNvCxnSpPr>
            <a:cxnSpLocks/>
          </p:cNvCxnSpPr>
          <p:nvPr/>
        </p:nvCxnSpPr>
        <p:spPr>
          <a:xfrm>
            <a:off x="2553339" y="1763726"/>
            <a:ext cx="293306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8254343-7AF1-18BB-BA54-5A5C59182DAC}"/>
              </a:ext>
            </a:extLst>
          </p:cNvPr>
          <p:cNvCxnSpPr>
            <a:cxnSpLocks/>
          </p:cNvCxnSpPr>
          <p:nvPr/>
        </p:nvCxnSpPr>
        <p:spPr>
          <a:xfrm>
            <a:off x="3009216" y="2531437"/>
            <a:ext cx="196704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D23BE1A-BFC5-F2B1-1607-E445016E6096}"/>
              </a:ext>
            </a:extLst>
          </p:cNvPr>
          <p:cNvSpPr txBox="1"/>
          <p:nvPr/>
        </p:nvSpPr>
        <p:spPr>
          <a:xfrm>
            <a:off x="2716448" y="2689743"/>
            <a:ext cx="2656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借助榜单（资产）决策</a:t>
            </a:r>
            <a:endParaRPr lang="en-US" altLang="zh-CN" sz="1600" b="1" dirty="0">
              <a:solidFill>
                <a:srgbClr val="0D0D0D"/>
              </a:solidFill>
              <a:latin typeface="+mn-ea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62C8EA8-3B70-9B3F-5276-C8A6D3798F67}"/>
              </a:ext>
            </a:extLst>
          </p:cNvPr>
          <p:cNvCxnSpPr>
            <a:cxnSpLocks/>
          </p:cNvCxnSpPr>
          <p:nvPr/>
        </p:nvCxnSpPr>
        <p:spPr>
          <a:xfrm>
            <a:off x="3405975" y="3222852"/>
            <a:ext cx="116532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FBE7ADC-5048-E2A7-D783-1139F3DE9C1B}"/>
              </a:ext>
            </a:extLst>
          </p:cNvPr>
          <p:cNvSpPr txBox="1"/>
          <p:nvPr/>
        </p:nvSpPr>
        <p:spPr>
          <a:xfrm>
            <a:off x="2648674" y="3322028"/>
            <a:ext cx="26565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决策后到店</a:t>
            </a:r>
            <a:endParaRPr lang="en-US" altLang="zh-CN" sz="1600" b="1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solidFill>
                  <a:srgbClr val="0D0D0D"/>
                </a:solidFill>
                <a:latin typeface="+mn-ea"/>
              </a:rPr>
              <a:t>到店且满意</a:t>
            </a:r>
            <a:endParaRPr lang="en-US" altLang="zh-CN" sz="1600" b="1" dirty="0">
              <a:solidFill>
                <a:srgbClr val="0D0D0D"/>
              </a:solidFill>
              <a:latin typeface="+mn-ea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F8BD30B-7685-F8DF-C3A6-B310D5DB1D5A}"/>
              </a:ext>
            </a:extLst>
          </p:cNvPr>
          <p:cNvCxnSpPr>
            <a:cxnSpLocks/>
          </p:cNvCxnSpPr>
          <p:nvPr/>
        </p:nvCxnSpPr>
        <p:spPr>
          <a:xfrm>
            <a:off x="4029434" y="1630005"/>
            <a:ext cx="0" cy="26744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A84CB10-F73C-1FC5-C81B-6DDF24484AAB}"/>
              </a:ext>
            </a:extLst>
          </p:cNvPr>
          <p:cNvCxnSpPr>
            <a:cxnSpLocks/>
          </p:cNvCxnSpPr>
          <p:nvPr/>
        </p:nvCxnSpPr>
        <p:spPr>
          <a:xfrm>
            <a:off x="4008060" y="2388789"/>
            <a:ext cx="0" cy="26744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EB1DC7CE-B683-DA8D-2EEB-986A74686753}"/>
              </a:ext>
            </a:extLst>
          </p:cNvPr>
          <p:cNvCxnSpPr>
            <a:cxnSpLocks/>
          </p:cNvCxnSpPr>
          <p:nvPr/>
        </p:nvCxnSpPr>
        <p:spPr>
          <a:xfrm rot="5400000">
            <a:off x="4538107" y="1898109"/>
            <a:ext cx="1466054" cy="794322"/>
          </a:xfrm>
          <a:prstGeom prst="bentConnector3">
            <a:avLst>
              <a:gd name="adj1" fmla="val 98584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D3921447-4429-7A3C-6695-021FFD8D6BD7}"/>
              </a:ext>
            </a:extLst>
          </p:cNvPr>
          <p:cNvSpPr txBox="1"/>
          <p:nvPr/>
        </p:nvSpPr>
        <p:spPr>
          <a:xfrm>
            <a:off x="3881637" y="1596571"/>
            <a:ext cx="689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①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C6275F6-847D-C8BC-0DCA-DA9742771CF3}"/>
              </a:ext>
            </a:extLst>
          </p:cNvPr>
          <p:cNvSpPr txBox="1"/>
          <p:nvPr/>
        </p:nvSpPr>
        <p:spPr>
          <a:xfrm>
            <a:off x="3870740" y="2392937"/>
            <a:ext cx="689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①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E269D02-D836-93B2-537C-290DD8D063B1}"/>
              </a:ext>
            </a:extLst>
          </p:cNvPr>
          <p:cNvSpPr txBox="1"/>
          <p:nvPr/>
        </p:nvSpPr>
        <p:spPr>
          <a:xfrm>
            <a:off x="5491737" y="2156770"/>
            <a:ext cx="689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②</a:t>
            </a:r>
            <a:endParaRPr lang="en-US" altLang="zh-CN" sz="12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5193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92E7247-A82C-05C1-084D-BEE1DB027A37}"/>
              </a:ext>
            </a:extLst>
          </p:cNvPr>
          <p:cNvSpPr/>
          <p:nvPr/>
        </p:nvSpPr>
        <p:spPr>
          <a:xfrm>
            <a:off x="5194004" y="4591483"/>
            <a:ext cx="3102533" cy="232287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C8434C04-0AAD-7D5D-A8E6-55FE6BF7484A}"/>
              </a:ext>
            </a:extLst>
          </p:cNvPr>
          <p:cNvSpPr/>
          <p:nvPr/>
        </p:nvSpPr>
        <p:spPr>
          <a:xfrm>
            <a:off x="2438660" y="4591483"/>
            <a:ext cx="1478485" cy="232287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FE3936-F586-0DBB-0321-973BAFE0697E}"/>
              </a:ext>
            </a:extLst>
          </p:cNvPr>
          <p:cNvSpPr txBox="1"/>
          <p:nvPr/>
        </p:nvSpPr>
        <p:spPr>
          <a:xfrm>
            <a:off x="863241" y="4688240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高线</a:t>
            </a:r>
            <a:endParaRPr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4DD0C0-9951-A410-702C-228A9164F865}"/>
              </a:ext>
            </a:extLst>
          </p:cNvPr>
          <p:cNvSpPr txBox="1"/>
          <p:nvPr/>
        </p:nvSpPr>
        <p:spPr>
          <a:xfrm>
            <a:off x="513480" y="5955474"/>
            <a:ext cx="1925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中低线</a:t>
            </a:r>
            <a:endParaRPr lang="zh-CN" altLang="en-US" sz="1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3C6A02-E866-5AD8-DAE2-649807DC42FC}"/>
              </a:ext>
            </a:extLst>
          </p:cNvPr>
          <p:cNvSpPr txBox="1"/>
          <p:nvPr/>
        </p:nvSpPr>
        <p:spPr>
          <a:xfrm>
            <a:off x="446029" y="7596098"/>
            <a:ext cx="20195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当地人线下资产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好店挖掘</a:t>
            </a:r>
            <a:endParaRPr lang="zh-CN" altLang="en-US" sz="12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6FFF2AF-BC00-013C-2AAB-B2A47C04B1F5}"/>
              </a:ext>
            </a:extLst>
          </p:cNvPr>
          <p:cNvSpPr/>
          <p:nvPr/>
        </p:nvSpPr>
        <p:spPr>
          <a:xfrm>
            <a:off x="2619154" y="4827929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点评生产榜单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BCCD1A3-09B2-B1A9-EBB5-25429813D166}"/>
              </a:ext>
            </a:extLst>
          </p:cNvPr>
          <p:cNvSpPr/>
          <p:nvPr/>
        </p:nvSpPr>
        <p:spPr>
          <a:xfrm>
            <a:off x="2619155" y="6075580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点评生产榜单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CEAC8DD-C436-551A-2231-E1B85874837C}"/>
              </a:ext>
            </a:extLst>
          </p:cNvPr>
          <p:cNvSpPr/>
          <p:nvPr/>
        </p:nvSpPr>
        <p:spPr>
          <a:xfrm>
            <a:off x="6895286" y="6081890"/>
            <a:ext cx="1291390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美团生产榜单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F494882-88D5-9126-875F-3CFD903CE4AF}"/>
              </a:ext>
            </a:extLst>
          </p:cNvPr>
          <p:cNvSpPr/>
          <p:nvPr/>
        </p:nvSpPr>
        <p:spPr>
          <a:xfrm>
            <a:off x="5319512" y="6081891"/>
            <a:ext cx="1253112" cy="484507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5ECA68-9C6A-62C7-C639-014DB9C733B0}"/>
              </a:ext>
            </a:extLst>
          </p:cNvPr>
          <p:cNvSpPr txBox="1"/>
          <p:nvPr/>
        </p:nvSpPr>
        <p:spPr>
          <a:xfrm>
            <a:off x="2174068" y="4200995"/>
            <a:ext cx="19498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点评侧当地人推荐榜展现</a:t>
            </a:r>
            <a:endParaRPr lang="zh-CN" altLang="en-US" sz="12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CBC8689-1683-B695-3BD1-12BB7605B6BB}"/>
              </a:ext>
            </a:extLst>
          </p:cNvPr>
          <p:cNvSpPr/>
          <p:nvPr/>
        </p:nvSpPr>
        <p:spPr>
          <a:xfrm>
            <a:off x="375667" y="3979424"/>
            <a:ext cx="8171591" cy="3237271"/>
          </a:xfrm>
          <a:prstGeom prst="roundRect">
            <a:avLst>
              <a:gd name="adj" fmla="val 11548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1907F1-B744-80AF-6043-6D3FBE604C21}"/>
              </a:ext>
            </a:extLst>
          </p:cNvPr>
          <p:cNvSpPr txBox="1"/>
          <p:nvPr/>
        </p:nvSpPr>
        <p:spPr>
          <a:xfrm>
            <a:off x="375667" y="4920972"/>
            <a:ext cx="2077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当地人线上流量、评价资产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点评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&gt;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美团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C66FC1-1CCD-F60E-99CC-4D26AFC3ECBE}"/>
              </a:ext>
            </a:extLst>
          </p:cNvPr>
          <p:cNvSpPr txBox="1"/>
          <p:nvPr/>
        </p:nvSpPr>
        <p:spPr>
          <a:xfrm>
            <a:off x="416905" y="6162714"/>
            <a:ext cx="2077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当地人线上流量、评价资产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点评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&lt;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美团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0E827A8-300C-0AB0-34A3-835E9355B8CD}"/>
              </a:ext>
            </a:extLst>
          </p:cNvPr>
          <p:cNvSpPr txBox="1"/>
          <p:nvPr/>
        </p:nvSpPr>
        <p:spPr>
          <a:xfrm>
            <a:off x="5495809" y="4200995"/>
            <a:ext cx="21536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美团侧当地人推荐榜展现</a:t>
            </a:r>
            <a:endParaRPr lang="zh-CN" altLang="en-US" sz="1200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D7130B2-7DBD-44FD-CCEB-521A3F917F24}"/>
              </a:ext>
            </a:extLst>
          </p:cNvPr>
          <p:cNvSpPr/>
          <p:nvPr/>
        </p:nvSpPr>
        <p:spPr>
          <a:xfrm>
            <a:off x="6214792" y="4775354"/>
            <a:ext cx="1158621" cy="5040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点评生产榜单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CCC1C23-90A2-D043-95B5-B73EEA94E1FD}"/>
              </a:ext>
            </a:extLst>
          </p:cNvPr>
          <p:cNvSpPr txBox="1"/>
          <p:nvPr/>
        </p:nvSpPr>
        <p:spPr>
          <a:xfrm>
            <a:off x="6522859" y="6175910"/>
            <a:ext cx="4203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+</a:t>
            </a:r>
            <a:endParaRPr lang="zh-CN" altLang="en-US" sz="1200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A44E19B-1184-710B-ABC4-7B0671843BC9}"/>
              </a:ext>
            </a:extLst>
          </p:cNvPr>
          <p:cNvCxnSpPr>
            <a:cxnSpLocks/>
          </p:cNvCxnSpPr>
          <p:nvPr/>
        </p:nvCxnSpPr>
        <p:spPr>
          <a:xfrm>
            <a:off x="3981771" y="5070182"/>
            <a:ext cx="1066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D10BD05D-4915-23B7-3420-2DA4C91D3A67}"/>
              </a:ext>
            </a:extLst>
          </p:cNvPr>
          <p:cNvSpPr txBox="1"/>
          <p:nvPr/>
        </p:nvSpPr>
        <p:spPr>
          <a:xfrm>
            <a:off x="3935825" y="4723424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复用</a:t>
            </a:r>
            <a:endParaRPr lang="zh-CN" altLang="en-US" sz="12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5F0DEB4-B24B-8C55-B7D4-CF0C8FEE79B4}"/>
              </a:ext>
            </a:extLst>
          </p:cNvPr>
          <p:cNvCxnSpPr>
            <a:cxnSpLocks/>
          </p:cNvCxnSpPr>
          <p:nvPr/>
        </p:nvCxnSpPr>
        <p:spPr>
          <a:xfrm>
            <a:off x="4048259" y="6302232"/>
            <a:ext cx="10002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4D8EA2EB-BCCE-558B-A666-475C5D63ED9E}"/>
              </a:ext>
            </a:extLst>
          </p:cNvPr>
          <p:cNvSpPr txBox="1"/>
          <p:nvPr/>
        </p:nvSpPr>
        <p:spPr>
          <a:xfrm>
            <a:off x="3889879" y="5955474"/>
            <a:ext cx="1253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先复用，再对比</a:t>
            </a:r>
            <a:endParaRPr lang="zh-CN" altLang="en-US" sz="1200" dirty="0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66CE594-0964-FA9A-F203-19F3276CE5E7}"/>
              </a:ext>
            </a:extLst>
          </p:cNvPr>
          <p:cNvSpPr/>
          <p:nvPr/>
        </p:nvSpPr>
        <p:spPr>
          <a:xfrm>
            <a:off x="5330944" y="6075580"/>
            <a:ext cx="869253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点评生产榜单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9756065-FFCD-5F5F-A8B3-159A411D5624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6284349" y="6314410"/>
            <a:ext cx="238510" cy="0"/>
          </a:xfrm>
          <a:prstGeom prst="straightConnector1">
            <a:avLst/>
          </a:prstGeom>
          <a:ln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箭头: 右 61">
            <a:extLst>
              <a:ext uri="{FF2B5EF4-FFF2-40B4-BE49-F238E27FC236}">
                <a16:creationId xmlns:a16="http://schemas.microsoft.com/office/drawing/2014/main" id="{8203EDF6-96E8-5ACA-A180-0612E6D4DCB2}"/>
              </a:ext>
            </a:extLst>
          </p:cNvPr>
          <p:cNvSpPr/>
          <p:nvPr/>
        </p:nvSpPr>
        <p:spPr>
          <a:xfrm rot="16200000">
            <a:off x="1349111" y="7289902"/>
            <a:ext cx="213360" cy="250094"/>
          </a:xfrm>
          <a:prstGeom prst="rightArrow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072F11E-4BC1-50EC-F6A7-D18D2899A66D}"/>
              </a:ext>
            </a:extLst>
          </p:cNvPr>
          <p:cNvCxnSpPr/>
          <p:nvPr/>
        </p:nvCxnSpPr>
        <p:spPr>
          <a:xfrm flipH="1">
            <a:off x="4048259" y="6724590"/>
            <a:ext cx="1000241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12EFFC36-4F37-AB94-937A-0138367E15B4}"/>
              </a:ext>
            </a:extLst>
          </p:cNvPr>
          <p:cNvSpPr txBox="1"/>
          <p:nvPr/>
        </p:nvSpPr>
        <p:spPr>
          <a:xfrm>
            <a:off x="3916501" y="6478407"/>
            <a:ext cx="1253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反向挖掘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3E87D6F-AEC6-9882-F217-0E097CBB47C5}"/>
              </a:ext>
            </a:extLst>
          </p:cNvPr>
          <p:cNvSpPr/>
          <p:nvPr/>
        </p:nvSpPr>
        <p:spPr>
          <a:xfrm>
            <a:off x="1781231" y="792355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本地特色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9228289-5C66-DB40-5D12-C0A5FFE0530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939852" y="1034609"/>
            <a:ext cx="1197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6857263-10D5-B93D-48DC-F8B176E159F8}"/>
              </a:ext>
            </a:extLst>
          </p:cNvPr>
          <p:cNvSpPr txBox="1"/>
          <p:nvPr/>
        </p:nvSpPr>
        <p:spPr>
          <a:xfrm>
            <a:off x="2939852" y="675856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美团侧试点</a:t>
            </a:r>
            <a:endParaRPr lang="zh-CN" altLang="en-US" sz="12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72835B4-8D8F-914F-BF94-F406DE0B4BFA}"/>
              </a:ext>
            </a:extLst>
          </p:cNvPr>
          <p:cNvSpPr/>
          <p:nvPr/>
        </p:nvSpPr>
        <p:spPr>
          <a:xfrm>
            <a:off x="4203193" y="792355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当地人推荐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6787931-0931-BB9C-C11C-4CA2B44E0407}"/>
              </a:ext>
            </a:extLst>
          </p:cNvPr>
          <p:cNvSpPr/>
          <p:nvPr/>
        </p:nvSpPr>
        <p:spPr>
          <a:xfrm>
            <a:off x="7544286" y="792355"/>
            <a:ext cx="1158621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异地游客体验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6" name="乘号 25">
            <a:extLst>
              <a:ext uri="{FF2B5EF4-FFF2-40B4-BE49-F238E27FC236}">
                <a16:creationId xmlns:a16="http://schemas.microsoft.com/office/drawing/2014/main" id="{CA034296-454A-BE6F-5E27-AB73C7913BCE}"/>
              </a:ext>
            </a:extLst>
          </p:cNvPr>
          <p:cNvSpPr/>
          <p:nvPr/>
        </p:nvSpPr>
        <p:spPr>
          <a:xfrm rot="2700000">
            <a:off x="5495325" y="901553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586AD21-C269-394C-3FE8-1D0E55C5BA80}"/>
              </a:ext>
            </a:extLst>
          </p:cNvPr>
          <p:cNvSpPr/>
          <p:nvPr/>
        </p:nvSpPr>
        <p:spPr>
          <a:xfrm>
            <a:off x="4227599" y="1314942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1B4BF87-DBB2-5E4F-EF76-C99F70F542E8}"/>
              </a:ext>
            </a:extLst>
          </p:cNvPr>
          <p:cNvSpPr/>
          <p:nvPr/>
        </p:nvSpPr>
        <p:spPr>
          <a:xfrm>
            <a:off x="4227599" y="1638333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当地人收藏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2BF5EAB-3595-15E4-ECEC-7F2EB6B5DE50}"/>
              </a:ext>
            </a:extLst>
          </p:cNvPr>
          <p:cNvSpPr/>
          <p:nvPr/>
        </p:nvSpPr>
        <p:spPr>
          <a:xfrm>
            <a:off x="4227599" y="1960232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当地人复购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DA4957B-51AF-BDDD-AEBD-B77423713E8E}"/>
              </a:ext>
            </a:extLst>
          </p:cNvPr>
          <p:cNvSpPr txBox="1"/>
          <p:nvPr/>
        </p:nvSpPr>
        <p:spPr>
          <a:xfrm>
            <a:off x="4087374" y="2300515"/>
            <a:ext cx="1414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引入团侧多维当地人资产，解决中低线资产不足问题，挖掘更多线下好店</a:t>
            </a:r>
            <a:endParaRPr lang="zh-CN" altLang="en-US" sz="1200" dirty="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F8C3695-1D93-0748-1DFC-6D1B1D0EC4CF}"/>
              </a:ext>
            </a:extLst>
          </p:cNvPr>
          <p:cNvSpPr/>
          <p:nvPr/>
        </p:nvSpPr>
        <p:spPr>
          <a:xfrm>
            <a:off x="5907538" y="812480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本地特色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1" name="乘号 40">
            <a:extLst>
              <a:ext uri="{FF2B5EF4-FFF2-40B4-BE49-F238E27FC236}">
                <a16:creationId xmlns:a16="http://schemas.microsoft.com/office/drawing/2014/main" id="{A82081CF-42EE-78A0-B820-85064F5D9A76}"/>
              </a:ext>
            </a:extLst>
          </p:cNvPr>
          <p:cNvSpPr/>
          <p:nvPr/>
        </p:nvSpPr>
        <p:spPr>
          <a:xfrm rot="2700000">
            <a:off x="7159266" y="875213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1002FE5-E68E-8C0E-B8B8-CF9A879616D6}"/>
              </a:ext>
            </a:extLst>
          </p:cNvPr>
          <p:cNvSpPr/>
          <p:nvPr/>
        </p:nvSpPr>
        <p:spPr>
          <a:xfrm>
            <a:off x="255054" y="792355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当地人推荐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3" name="乘号 42">
            <a:extLst>
              <a:ext uri="{FF2B5EF4-FFF2-40B4-BE49-F238E27FC236}">
                <a16:creationId xmlns:a16="http://schemas.microsoft.com/office/drawing/2014/main" id="{F7805E94-C0F7-652E-4002-06B1467F4B17}"/>
              </a:ext>
            </a:extLst>
          </p:cNvPr>
          <p:cNvSpPr/>
          <p:nvPr/>
        </p:nvSpPr>
        <p:spPr>
          <a:xfrm rot="2700000">
            <a:off x="1447841" y="921678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8DCE658-AD39-C55F-CA8D-A6BB1D61B736}"/>
              </a:ext>
            </a:extLst>
          </p:cNvPr>
          <p:cNvSpPr/>
          <p:nvPr/>
        </p:nvSpPr>
        <p:spPr>
          <a:xfrm>
            <a:off x="5919112" y="1655371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开业年限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35BE3681-A96C-1B70-1178-9E77C8B83754}"/>
              </a:ext>
            </a:extLst>
          </p:cNvPr>
          <p:cNvSpPr/>
          <p:nvPr/>
        </p:nvSpPr>
        <p:spPr>
          <a:xfrm>
            <a:off x="5919112" y="1319008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9899617-FD4F-8384-A94A-297ABFAB3CE5}"/>
              </a:ext>
            </a:extLst>
          </p:cNvPr>
          <p:cNvSpPr/>
          <p:nvPr/>
        </p:nvSpPr>
        <p:spPr>
          <a:xfrm>
            <a:off x="7544286" y="1319471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异地游客评价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97A24F94-9B10-08F3-9FE2-029F0A15B8E6}"/>
              </a:ext>
            </a:extLst>
          </p:cNvPr>
          <p:cNvSpPr/>
          <p:nvPr/>
        </p:nvSpPr>
        <p:spPr>
          <a:xfrm>
            <a:off x="7544285" y="1647740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可预订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排队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068ADD6-A2C1-EC4D-BA46-67CAE1E21FA8}"/>
              </a:ext>
            </a:extLst>
          </p:cNvPr>
          <p:cNvSpPr/>
          <p:nvPr/>
        </p:nvSpPr>
        <p:spPr>
          <a:xfrm>
            <a:off x="7559510" y="1977166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GC</a:t>
            </a:r>
            <a:r>
              <a:rPr lang="zh-CN" altLang="en-US" sz="1200" dirty="0">
                <a:solidFill>
                  <a:schemeClr val="tx1"/>
                </a:solidFill>
              </a:rPr>
              <a:t>线上决策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99CF4C0-DA8C-2F85-7D7F-2E72BC42F605}"/>
              </a:ext>
            </a:extLst>
          </p:cNvPr>
          <p:cNvSpPr/>
          <p:nvPr/>
        </p:nvSpPr>
        <p:spPr>
          <a:xfrm>
            <a:off x="255053" y="1323530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3BC3E3ED-B012-B686-FBA1-899081882ADE}"/>
              </a:ext>
            </a:extLst>
          </p:cNvPr>
          <p:cNvSpPr/>
          <p:nvPr/>
        </p:nvSpPr>
        <p:spPr>
          <a:xfrm>
            <a:off x="255053" y="1662516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当地人打卡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9FB2664-6209-5F27-2BBD-9932AFDEA387}"/>
              </a:ext>
            </a:extLst>
          </p:cNvPr>
          <p:cNvSpPr/>
          <p:nvPr/>
        </p:nvSpPr>
        <p:spPr>
          <a:xfrm>
            <a:off x="1781231" y="1655371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开业年限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846C1665-DAB9-C778-AB82-ED00668A169E}"/>
              </a:ext>
            </a:extLst>
          </p:cNvPr>
          <p:cNvSpPr/>
          <p:nvPr/>
        </p:nvSpPr>
        <p:spPr>
          <a:xfrm>
            <a:off x="1781231" y="1319008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4" name="Shape 46">
            <a:extLst>
              <a:ext uri="{FF2B5EF4-FFF2-40B4-BE49-F238E27FC236}">
                <a16:creationId xmlns:a16="http://schemas.microsoft.com/office/drawing/2014/main" id="{B8F6348C-8D72-D94C-64BB-F11347123EF0}"/>
              </a:ext>
            </a:extLst>
          </p:cNvPr>
          <p:cNvSpPr/>
          <p:nvPr/>
        </p:nvSpPr>
        <p:spPr>
          <a:xfrm>
            <a:off x="-1010694" y="26382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7" name="Shape 65">
            <a:extLst>
              <a:ext uri="{FF2B5EF4-FFF2-40B4-BE49-F238E27FC236}">
                <a16:creationId xmlns:a16="http://schemas.microsoft.com/office/drawing/2014/main" id="{41872BA8-CAA4-13DB-8C2C-29192EFDC64E}"/>
              </a:ext>
            </a:extLst>
          </p:cNvPr>
          <p:cNvSpPr/>
          <p:nvPr/>
        </p:nvSpPr>
        <p:spPr>
          <a:xfrm>
            <a:off x="-1010693" y="2010886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58" name="Shape 84">
            <a:extLst>
              <a:ext uri="{FF2B5EF4-FFF2-40B4-BE49-F238E27FC236}">
                <a16:creationId xmlns:a16="http://schemas.microsoft.com/office/drawing/2014/main" id="{93A3D8E7-1B58-4B78-EAD9-9BC7C5075A18}"/>
              </a:ext>
            </a:extLst>
          </p:cNvPr>
          <p:cNvSpPr/>
          <p:nvPr/>
        </p:nvSpPr>
        <p:spPr>
          <a:xfrm>
            <a:off x="-1010693" y="3087687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9" name="Shape 46">
            <a:extLst>
              <a:ext uri="{FF2B5EF4-FFF2-40B4-BE49-F238E27FC236}">
                <a16:creationId xmlns:a16="http://schemas.microsoft.com/office/drawing/2014/main" id="{980E4040-C075-B1B2-B8F6-3F3ECBCC7039}"/>
              </a:ext>
            </a:extLst>
          </p:cNvPr>
          <p:cNvSpPr/>
          <p:nvPr/>
        </p:nvSpPr>
        <p:spPr>
          <a:xfrm>
            <a:off x="-1019636" y="1002929"/>
            <a:ext cx="354711" cy="817977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表达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C2A7D29F-40C8-5B3E-DA2A-80D011050A80}"/>
              </a:ext>
            </a:extLst>
          </p:cNvPr>
          <p:cNvCxnSpPr/>
          <p:nvPr/>
        </p:nvCxnSpPr>
        <p:spPr>
          <a:xfrm rot="10800000" flipH="1" flipV="1">
            <a:off x="-1061367" y="446834"/>
            <a:ext cx="50673" cy="3299601"/>
          </a:xfrm>
          <a:prstGeom prst="bentConnector3">
            <a:avLst>
              <a:gd name="adj1" fmla="val -451128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D0961BD2-5CDD-B259-70E6-F6EFB464FC6F}"/>
              </a:ext>
            </a:extLst>
          </p:cNvPr>
          <p:cNvSpPr txBox="1"/>
          <p:nvPr/>
        </p:nvSpPr>
        <p:spPr>
          <a:xfrm>
            <a:off x="7416373" y="2309440"/>
            <a:ext cx="1414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引入利于异地游客体验视角，强化旅游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出行场景定位，减少工作餐等</a:t>
            </a:r>
            <a:r>
              <a:rPr lang="en-US" altLang="zh-CN" sz="1200" dirty="0">
                <a:latin typeface="+mn-ea"/>
              </a:rPr>
              <a:t>case</a:t>
            </a:r>
            <a:endParaRPr lang="zh-CN" altLang="en-US" sz="1200" dirty="0"/>
          </a:p>
        </p:txBody>
      </p:sp>
      <p:sp>
        <p:nvSpPr>
          <p:cNvPr id="67" name="右大括号 66">
            <a:extLst>
              <a:ext uri="{FF2B5EF4-FFF2-40B4-BE49-F238E27FC236}">
                <a16:creationId xmlns:a16="http://schemas.microsoft.com/office/drawing/2014/main" id="{EF4DB15F-9798-52CA-7F60-D0FBFC356A96}"/>
              </a:ext>
            </a:extLst>
          </p:cNvPr>
          <p:cNvSpPr/>
          <p:nvPr/>
        </p:nvSpPr>
        <p:spPr>
          <a:xfrm rot="5400000">
            <a:off x="5563110" y="1715235"/>
            <a:ext cx="164174" cy="28419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右大括号 67">
            <a:extLst>
              <a:ext uri="{FF2B5EF4-FFF2-40B4-BE49-F238E27FC236}">
                <a16:creationId xmlns:a16="http://schemas.microsoft.com/office/drawing/2014/main" id="{33789FF0-AE34-E75D-8DB8-5A6E3E46EF49}"/>
              </a:ext>
            </a:extLst>
          </p:cNvPr>
          <p:cNvSpPr/>
          <p:nvPr/>
        </p:nvSpPr>
        <p:spPr>
          <a:xfrm rot="5400000">
            <a:off x="7977552" y="2492933"/>
            <a:ext cx="164175" cy="12865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F23930B-6A1F-B3C8-9307-D210B9BFDEEB}"/>
              </a:ext>
            </a:extLst>
          </p:cNvPr>
          <p:cNvSpPr txBox="1"/>
          <p:nvPr/>
        </p:nvSpPr>
        <p:spPr>
          <a:xfrm>
            <a:off x="5094445" y="3295810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主</a:t>
            </a:r>
            <a:endParaRPr lang="zh-CN" altLang="en-US" sz="12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8327A4F-CC78-8F5C-C7E1-900C53AEA64E}"/>
              </a:ext>
            </a:extLst>
          </p:cNvPr>
          <p:cNvSpPr txBox="1"/>
          <p:nvPr/>
        </p:nvSpPr>
        <p:spPr>
          <a:xfrm>
            <a:off x="7480329" y="3268429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辅</a:t>
            </a:r>
            <a:endParaRPr lang="zh-CN" altLang="en-US" sz="12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956AC31-CD0B-D480-3121-7B97BAB66215}"/>
              </a:ext>
            </a:extLst>
          </p:cNvPr>
          <p:cNvSpPr txBox="1"/>
          <p:nvPr/>
        </p:nvSpPr>
        <p:spPr>
          <a:xfrm>
            <a:off x="4073689" y="-1027383"/>
            <a:ext cx="16000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中低线</a:t>
            </a:r>
            <a:r>
              <a:rPr lang="en-US" altLang="zh-CN" sz="1200" dirty="0"/>
              <a:t>/</a:t>
            </a:r>
            <a:r>
              <a:rPr lang="zh-CN" altLang="en-US" sz="1200" dirty="0"/>
              <a:t>下沉城市的资产分布。</a:t>
            </a:r>
          </a:p>
        </p:txBody>
      </p:sp>
    </p:spTree>
    <p:extLst>
      <p:ext uri="{BB962C8B-B14F-4D97-AF65-F5344CB8AC3E}">
        <p14:creationId xmlns:p14="http://schemas.microsoft.com/office/powerpoint/2010/main" val="3548662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E7F33C12-8391-897A-AFC9-B63FC6C71ECC}"/>
              </a:ext>
            </a:extLst>
          </p:cNvPr>
          <p:cNvSpPr/>
          <p:nvPr/>
        </p:nvSpPr>
        <p:spPr>
          <a:xfrm>
            <a:off x="1614704" y="43238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圈菜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6EA1CCD-0308-0DEB-BC56-5D5E95760336}"/>
              </a:ext>
            </a:extLst>
          </p:cNvPr>
          <p:cNvSpPr/>
          <p:nvPr/>
        </p:nvSpPr>
        <p:spPr>
          <a:xfrm>
            <a:off x="7240948" y="43238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排店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选店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0D1E7E-D9CD-16F0-F67B-B573594EE427}"/>
              </a:ext>
            </a:extLst>
          </p:cNvPr>
          <p:cNvSpPr txBox="1"/>
          <p:nvPr/>
        </p:nvSpPr>
        <p:spPr>
          <a:xfrm>
            <a:off x="3989722" y="160993"/>
            <a:ext cx="1504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这些菜召回哪些店？</a:t>
            </a:r>
            <a:endParaRPr lang="zh-CN" altLang="en-US" sz="12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2A6901F-AE50-9E7D-336A-9C1F599886CB}"/>
              </a:ext>
            </a:extLst>
          </p:cNvPr>
          <p:cNvSpPr/>
          <p:nvPr/>
        </p:nvSpPr>
        <p:spPr>
          <a:xfrm>
            <a:off x="4230490" y="437991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召店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12D663-2D8D-ED81-C529-3889FCA4F80D}"/>
              </a:ext>
            </a:extLst>
          </p:cNvPr>
          <p:cNvSpPr txBox="1"/>
          <p:nvPr/>
        </p:nvSpPr>
        <p:spPr>
          <a:xfrm>
            <a:off x="1440516" y="156946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确定有哪些菜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2C10BF-75AC-0198-6DE5-CF3DCDC513CC}"/>
              </a:ext>
            </a:extLst>
          </p:cNvPr>
          <p:cNvSpPr txBox="1"/>
          <p:nvPr/>
        </p:nvSpPr>
        <p:spPr>
          <a:xfrm>
            <a:off x="6544866" y="156946"/>
            <a:ext cx="21146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哪些店值得上榜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排名靠前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B12BD33-78AC-276A-1C79-9FBAEFE67221}"/>
              </a:ext>
            </a:extLst>
          </p:cNvPr>
          <p:cNvSpPr txBox="1"/>
          <p:nvPr/>
        </p:nvSpPr>
        <p:spPr>
          <a:xfrm>
            <a:off x="106820" y="1956119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特色菜链路</a:t>
            </a:r>
            <a:endParaRPr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AB48440-85E5-A30A-F32E-1C078FC34EB8}"/>
              </a:ext>
            </a:extLst>
          </p:cNvPr>
          <p:cNvSpPr txBox="1"/>
          <p:nvPr/>
        </p:nvSpPr>
        <p:spPr>
          <a:xfrm>
            <a:off x="106820" y="3220350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新品链路</a:t>
            </a:r>
            <a:endParaRPr lang="zh-CN" altLang="en-US" sz="1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3FF92F-0103-03FC-923C-FEB416134074}"/>
              </a:ext>
            </a:extLst>
          </p:cNvPr>
          <p:cNvSpPr txBox="1"/>
          <p:nvPr/>
        </p:nvSpPr>
        <p:spPr>
          <a:xfrm>
            <a:off x="106820" y="4494357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稳定大菜链路</a:t>
            </a:r>
            <a:endParaRPr lang="zh-CN" altLang="en-US" sz="1200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647869D-06D2-DF9C-0C9C-4320BB66D6C4}"/>
              </a:ext>
            </a:extLst>
          </p:cNvPr>
          <p:cNvSpPr/>
          <p:nvPr/>
        </p:nvSpPr>
        <p:spPr>
          <a:xfrm>
            <a:off x="1614704" y="1648470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8F78C75-CDA8-223D-0600-D4EBE2CAA425}"/>
              </a:ext>
            </a:extLst>
          </p:cNvPr>
          <p:cNvSpPr txBox="1"/>
          <p:nvPr/>
        </p:nvSpPr>
        <p:spPr>
          <a:xfrm>
            <a:off x="1565908" y="1829360"/>
            <a:ext cx="984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维护城市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特色菜字典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0B83B27-146B-2305-EF0E-11621EF64E0E}"/>
              </a:ext>
            </a:extLst>
          </p:cNvPr>
          <p:cNvSpPr/>
          <p:nvPr/>
        </p:nvSpPr>
        <p:spPr>
          <a:xfrm>
            <a:off x="1614704" y="4226409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E74CF24-3BF0-3D00-CEC1-E83F3220A162}"/>
              </a:ext>
            </a:extLst>
          </p:cNvPr>
          <p:cNvSpPr txBox="1"/>
          <p:nvPr/>
        </p:nvSpPr>
        <p:spPr>
          <a:xfrm>
            <a:off x="1565908" y="4446585"/>
            <a:ext cx="984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高搜等热门经典菜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67288A0-9868-174F-A75A-CA93082BD286}"/>
              </a:ext>
            </a:extLst>
          </p:cNvPr>
          <p:cNvSpPr/>
          <p:nvPr/>
        </p:nvSpPr>
        <p:spPr>
          <a:xfrm>
            <a:off x="1614704" y="2906027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EC87468-A79D-7A08-E69F-F00DF6B53BDA}"/>
              </a:ext>
            </a:extLst>
          </p:cNvPr>
          <p:cNvSpPr txBox="1"/>
          <p:nvPr/>
        </p:nvSpPr>
        <p:spPr>
          <a:xfrm>
            <a:off x="1565908" y="3216052"/>
            <a:ext cx="98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录入新品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34B397C-D8A9-A286-007E-A991561C2008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2501544" y="883389"/>
            <a:ext cx="1728946" cy="5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DF3507C-DD77-5533-D408-16AA750BD1A2}"/>
              </a:ext>
            </a:extLst>
          </p:cNvPr>
          <p:cNvCxnSpPr>
            <a:cxnSpLocks/>
            <a:stCxn id="15" idx="6"/>
            <a:endCxn id="12" idx="2"/>
          </p:cNvCxnSpPr>
          <p:nvPr/>
        </p:nvCxnSpPr>
        <p:spPr>
          <a:xfrm flipV="1">
            <a:off x="5117330" y="883389"/>
            <a:ext cx="2123618" cy="5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25497C5C-B052-EEB2-2395-E8FE8D1D685F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2550340" y="2060193"/>
            <a:ext cx="1680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19A9BD5-C3D1-123B-D50F-1A1033088818}"/>
              </a:ext>
            </a:extLst>
          </p:cNvPr>
          <p:cNvSpPr txBox="1"/>
          <p:nvPr/>
        </p:nvSpPr>
        <p:spPr>
          <a:xfrm>
            <a:off x="1314968" y="2226997"/>
            <a:ext cx="14987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小红书热度、城市地方志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4B2B0CA-127A-0364-C747-5A5D45493B72}"/>
              </a:ext>
            </a:extLst>
          </p:cNvPr>
          <p:cNvSpPr/>
          <p:nvPr/>
        </p:nvSpPr>
        <p:spPr>
          <a:xfrm>
            <a:off x="4230490" y="1609184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80205D-66AF-E584-19ED-853008E5A9A2}"/>
              </a:ext>
            </a:extLst>
          </p:cNvPr>
          <p:cNvSpPr txBox="1"/>
          <p:nvPr/>
        </p:nvSpPr>
        <p:spPr>
          <a:xfrm>
            <a:off x="4039051" y="1764247"/>
            <a:ext cx="13123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要求是推荐菜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菜名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店名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召回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评审过滤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200" dirty="0">
              <a:latin typeface="+mn-ea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0CB8D37-0126-A40B-B644-BEFBAEB6AA25}"/>
              </a:ext>
            </a:extLst>
          </p:cNvPr>
          <p:cNvSpPr/>
          <p:nvPr/>
        </p:nvSpPr>
        <p:spPr>
          <a:xfrm>
            <a:off x="7269538" y="1672282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E04CEB-7F11-1BA2-9E61-C77E130DE300}"/>
              </a:ext>
            </a:extLst>
          </p:cNvPr>
          <p:cNvSpPr txBox="1"/>
          <p:nvPr/>
        </p:nvSpPr>
        <p:spPr>
          <a:xfrm>
            <a:off x="7091754" y="1763957"/>
            <a:ext cx="1312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菜品资产（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推荐数</a:t>
            </a:r>
            <a:r>
              <a:rPr lang="zh-CN" altLang="en-US" sz="1200" dirty="0">
                <a:latin typeface="+mn-ea"/>
              </a:rPr>
              <a:t>、评论数）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门店资产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4ECEAB7-60A0-8F01-E34C-072114AB370C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117330" y="2060193"/>
            <a:ext cx="1974424" cy="2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175AE6A6-08B6-1572-566B-D5833A2C1FE1}"/>
              </a:ext>
            </a:extLst>
          </p:cNvPr>
          <p:cNvSpPr/>
          <p:nvPr/>
        </p:nvSpPr>
        <p:spPr>
          <a:xfrm>
            <a:off x="4197714" y="2954081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74AD183-F861-755C-BDD5-59F29FDD152B}"/>
              </a:ext>
            </a:extLst>
          </p:cNvPr>
          <p:cNvSpPr txBox="1"/>
          <p:nvPr/>
        </p:nvSpPr>
        <p:spPr>
          <a:xfrm>
            <a:off x="4197714" y="3190448"/>
            <a:ext cx="984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直接找回包含门店门店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5CE22E67-94D5-01BF-E323-884E25492BF9}"/>
              </a:ext>
            </a:extLst>
          </p:cNvPr>
          <p:cNvSpPr/>
          <p:nvPr/>
        </p:nvSpPr>
        <p:spPr>
          <a:xfrm>
            <a:off x="7280008" y="2906027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91BB358-A263-74CD-B637-168DF5F51A63}"/>
              </a:ext>
            </a:extLst>
          </p:cNvPr>
          <p:cNvSpPr txBox="1"/>
          <p:nvPr/>
        </p:nvSpPr>
        <p:spPr>
          <a:xfrm>
            <a:off x="7220742" y="3190448"/>
            <a:ext cx="98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新品热度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2659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740364BF-E8B2-BEB0-CB98-2E879F09F3F7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900" dirty="0">
                <a:latin typeface="+mn-ea"/>
                <a:ea typeface="+mn-ea"/>
              </a:rPr>
              <a:t>主</a:t>
            </a:r>
            <a:r>
              <a:rPr lang="en-US" altLang="zh-CN" sz="1900" dirty="0">
                <a:latin typeface="+mn-ea"/>
                <a:ea typeface="+mn-ea"/>
              </a:rPr>
              <a:t>-</a:t>
            </a:r>
            <a:r>
              <a:rPr lang="zh-CN" altLang="en-US" sz="1900" dirty="0">
                <a:latin typeface="+mn-ea"/>
                <a:ea typeface="+mn-ea"/>
              </a:rPr>
              <a:t>副榜单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29C4266-70E4-2ECC-6BD1-36F136D532C9}"/>
              </a:ext>
            </a:extLst>
          </p:cNvPr>
          <p:cNvSpPr/>
          <p:nvPr/>
        </p:nvSpPr>
        <p:spPr>
          <a:xfrm>
            <a:off x="2150038" y="2800135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本地特色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A1A3EFB-E6ED-78BF-D282-F4559AD5D06D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308659" y="3042389"/>
            <a:ext cx="1197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51A2345C-81A9-E55B-A10F-D787F14F2918}"/>
              </a:ext>
            </a:extLst>
          </p:cNvPr>
          <p:cNvSpPr txBox="1"/>
          <p:nvPr/>
        </p:nvSpPr>
        <p:spPr>
          <a:xfrm>
            <a:off x="619720" y="758322"/>
            <a:ext cx="13081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旅游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出行场景</a:t>
            </a:r>
            <a:endParaRPr lang="zh-CN" altLang="en-US" sz="1200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8F7DBE1-2C68-3408-2187-244525BFDD85}"/>
              </a:ext>
            </a:extLst>
          </p:cNvPr>
          <p:cNvSpPr/>
          <p:nvPr/>
        </p:nvSpPr>
        <p:spPr>
          <a:xfrm>
            <a:off x="4572000" y="2800135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当地人推荐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D612B97-0AEF-4A01-E1FA-5B289293AC32}"/>
              </a:ext>
            </a:extLst>
          </p:cNvPr>
          <p:cNvSpPr/>
          <p:nvPr/>
        </p:nvSpPr>
        <p:spPr>
          <a:xfrm>
            <a:off x="7913093" y="2800135"/>
            <a:ext cx="1158621" cy="4845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异地游客体验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2" name="乘号 21">
            <a:extLst>
              <a:ext uri="{FF2B5EF4-FFF2-40B4-BE49-F238E27FC236}">
                <a16:creationId xmlns:a16="http://schemas.microsoft.com/office/drawing/2014/main" id="{6ABA1940-A369-5979-23F2-56D80B76F4C8}"/>
              </a:ext>
            </a:extLst>
          </p:cNvPr>
          <p:cNvSpPr/>
          <p:nvPr/>
        </p:nvSpPr>
        <p:spPr>
          <a:xfrm rot="2700000">
            <a:off x="5864132" y="2909333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4BE186A-D5B1-6F0C-E4B3-F8C9A0FB06AB}"/>
              </a:ext>
            </a:extLst>
          </p:cNvPr>
          <p:cNvSpPr/>
          <p:nvPr/>
        </p:nvSpPr>
        <p:spPr>
          <a:xfrm>
            <a:off x="4596406" y="3322722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C961B51-4D4C-BD8C-A03E-B5152B01FD3A}"/>
              </a:ext>
            </a:extLst>
          </p:cNvPr>
          <p:cNvSpPr/>
          <p:nvPr/>
        </p:nvSpPr>
        <p:spPr>
          <a:xfrm>
            <a:off x="4596406" y="3646113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当地人收藏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50DEDFB-7802-48D2-5897-DE2B2616EF2C}"/>
              </a:ext>
            </a:extLst>
          </p:cNvPr>
          <p:cNvSpPr/>
          <p:nvPr/>
        </p:nvSpPr>
        <p:spPr>
          <a:xfrm>
            <a:off x="4596406" y="3968012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当地人复购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881798D-961E-BF62-F992-36BB9F52AE7C}"/>
              </a:ext>
            </a:extLst>
          </p:cNvPr>
          <p:cNvSpPr txBox="1"/>
          <p:nvPr/>
        </p:nvSpPr>
        <p:spPr>
          <a:xfrm>
            <a:off x="4456181" y="4308295"/>
            <a:ext cx="1414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引入团侧多维当地人资产，解决中低线资产不足问题，挖掘更多线下好店</a:t>
            </a:r>
            <a:endParaRPr lang="zh-CN" altLang="en-US" sz="1200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47F6509-9FC6-A645-2422-4A4DD3D06B45}"/>
              </a:ext>
            </a:extLst>
          </p:cNvPr>
          <p:cNvSpPr/>
          <p:nvPr/>
        </p:nvSpPr>
        <p:spPr>
          <a:xfrm>
            <a:off x="6276345" y="2820260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本地特色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8" name="乘号 27">
            <a:extLst>
              <a:ext uri="{FF2B5EF4-FFF2-40B4-BE49-F238E27FC236}">
                <a16:creationId xmlns:a16="http://schemas.microsoft.com/office/drawing/2014/main" id="{52BC88AF-F3E7-8715-0E3D-DFA7F1C392F5}"/>
              </a:ext>
            </a:extLst>
          </p:cNvPr>
          <p:cNvSpPr/>
          <p:nvPr/>
        </p:nvSpPr>
        <p:spPr>
          <a:xfrm rot="2700000">
            <a:off x="7528073" y="2882993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C752996-C170-9501-7DB7-FEAC8210EEDA}"/>
              </a:ext>
            </a:extLst>
          </p:cNvPr>
          <p:cNvSpPr/>
          <p:nvPr/>
        </p:nvSpPr>
        <p:spPr>
          <a:xfrm>
            <a:off x="171185" y="1251076"/>
            <a:ext cx="2411995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当地人推荐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0" name="乘号 29">
            <a:extLst>
              <a:ext uri="{FF2B5EF4-FFF2-40B4-BE49-F238E27FC236}">
                <a16:creationId xmlns:a16="http://schemas.microsoft.com/office/drawing/2014/main" id="{A69ADDBF-5FAE-AC5D-3DBB-932B5817CC1A}"/>
              </a:ext>
            </a:extLst>
          </p:cNvPr>
          <p:cNvSpPr/>
          <p:nvPr/>
        </p:nvSpPr>
        <p:spPr>
          <a:xfrm rot="2700000">
            <a:off x="1816648" y="2929458"/>
            <a:ext cx="291912" cy="318787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408A1A7-BC13-F5C2-0901-D54F0FA9A04C}"/>
              </a:ext>
            </a:extLst>
          </p:cNvPr>
          <p:cNvSpPr/>
          <p:nvPr/>
        </p:nvSpPr>
        <p:spPr>
          <a:xfrm>
            <a:off x="6287919" y="3663151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开业年限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045A6F6-8E2B-604A-ADCB-9FFFC426CE01}"/>
              </a:ext>
            </a:extLst>
          </p:cNvPr>
          <p:cNvSpPr/>
          <p:nvPr/>
        </p:nvSpPr>
        <p:spPr>
          <a:xfrm>
            <a:off x="6287919" y="3326788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C95BD20-EBED-64E8-D9FB-C687C63E896F}"/>
              </a:ext>
            </a:extLst>
          </p:cNvPr>
          <p:cNvSpPr/>
          <p:nvPr/>
        </p:nvSpPr>
        <p:spPr>
          <a:xfrm>
            <a:off x="7913093" y="3327251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异地游客评价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E3967EA-0FCA-A5D1-A843-530DB42ED823}"/>
              </a:ext>
            </a:extLst>
          </p:cNvPr>
          <p:cNvSpPr/>
          <p:nvPr/>
        </p:nvSpPr>
        <p:spPr>
          <a:xfrm>
            <a:off x="7913092" y="3655520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可预订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排队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C920FD2-0997-EAFD-1509-9D31B03291E8}"/>
              </a:ext>
            </a:extLst>
          </p:cNvPr>
          <p:cNvSpPr/>
          <p:nvPr/>
        </p:nvSpPr>
        <p:spPr>
          <a:xfrm>
            <a:off x="7928317" y="3984946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GC</a:t>
            </a:r>
            <a:r>
              <a:rPr lang="zh-CN" altLang="en-US" sz="1200" dirty="0">
                <a:solidFill>
                  <a:schemeClr val="tx1"/>
                </a:solidFill>
              </a:rPr>
              <a:t>线上决策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3332035-D900-0799-9A4D-E282E64CF08A}"/>
              </a:ext>
            </a:extLst>
          </p:cNvPr>
          <p:cNvSpPr/>
          <p:nvPr/>
        </p:nvSpPr>
        <p:spPr>
          <a:xfrm>
            <a:off x="171185" y="1808304"/>
            <a:ext cx="58319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老店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64C06D3-7103-6A1D-F1F0-2C412ED6D98B}"/>
              </a:ext>
            </a:extLst>
          </p:cNvPr>
          <p:cNvSpPr/>
          <p:nvPr/>
        </p:nvSpPr>
        <p:spPr>
          <a:xfrm>
            <a:off x="623860" y="3670296"/>
            <a:ext cx="1158621" cy="286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当地人打卡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58CE12A-9BE3-40E9-5DC9-F486118E7F8A}"/>
              </a:ext>
            </a:extLst>
          </p:cNvPr>
          <p:cNvSpPr/>
          <p:nvPr/>
        </p:nvSpPr>
        <p:spPr>
          <a:xfrm>
            <a:off x="2150038" y="3663151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开业年限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320EEEC-E22E-072A-9AFF-06B0ED5BCDA8}"/>
              </a:ext>
            </a:extLst>
          </p:cNvPr>
          <p:cNvSpPr/>
          <p:nvPr/>
        </p:nvSpPr>
        <p:spPr>
          <a:xfrm>
            <a:off x="2150038" y="3326788"/>
            <a:ext cx="1158621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特色菜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0C5DF82-CCF8-CC0A-8E43-F72A1ACEA45A}"/>
              </a:ext>
            </a:extLst>
          </p:cNvPr>
          <p:cNvSpPr txBox="1"/>
          <p:nvPr/>
        </p:nvSpPr>
        <p:spPr>
          <a:xfrm>
            <a:off x="7785180" y="4317220"/>
            <a:ext cx="1414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引入利于异地游客体验视角，强化旅游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出行场景定位，减少工作餐等</a:t>
            </a:r>
            <a:r>
              <a:rPr lang="en-US" altLang="zh-CN" sz="1200" dirty="0">
                <a:latin typeface="+mn-ea"/>
              </a:rPr>
              <a:t>case</a:t>
            </a:r>
            <a:endParaRPr lang="zh-CN" altLang="en-US" sz="1200" dirty="0"/>
          </a:p>
        </p:txBody>
      </p:sp>
      <p:sp>
        <p:nvSpPr>
          <p:cNvPr id="41" name="右大括号 40">
            <a:extLst>
              <a:ext uri="{FF2B5EF4-FFF2-40B4-BE49-F238E27FC236}">
                <a16:creationId xmlns:a16="http://schemas.microsoft.com/office/drawing/2014/main" id="{212B4F43-F4C4-1F31-DB10-43D0F3D1EE56}"/>
              </a:ext>
            </a:extLst>
          </p:cNvPr>
          <p:cNvSpPr/>
          <p:nvPr/>
        </p:nvSpPr>
        <p:spPr>
          <a:xfrm rot="5400000">
            <a:off x="5931917" y="3723015"/>
            <a:ext cx="164174" cy="28419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大括号 41">
            <a:extLst>
              <a:ext uri="{FF2B5EF4-FFF2-40B4-BE49-F238E27FC236}">
                <a16:creationId xmlns:a16="http://schemas.microsoft.com/office/drawing/2014/main" id="{634BC339-7CE9-33FC-A98D-D7B03F576EA6}"/>
              </a:ext>
            </a:extLst>
          </p:cNvPr>
          <p:cNvSpPr/>
          <p:nvPr/>
        </p:nvSpPr>
        <p:spPr>
          <a:xfrm rot="5400000">
            <a:off x="8346359" y="4500713"/>
            <a:ext cx="164175" cy="12865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8F5EAC8-EE43-C3B1-DAA6-32F8393EFD2F}"/>
              </a:ext>
            </a:extLst>
          </p:cNvPr>
          <p:cNvSpPr txBox="1"/>
          <p:nvPr/>
        </p:nvSpPr>
        <p:spPr>
          <a:xfrm>
            <a:off x="5463252" y="5303590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主</a:t>
            </a:r>
            <a:endParaRPr lang="zh-CN" altLang="en-US" sz="12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2076BC3-EB69-8F45-0AA8-7BF51B35D613}"/>
              </a:ext>
            </a:extLst>
          </p:cNvPr>
          <p:cNvSpPr txBox="1"/>
          <p:nvPr/>
        </p:nvSpPr>
        <p:spPr>
          <a:xfrm>
            <a:off x="7849136" y="5276209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辅</a:t>
            </a:r>
            <a:endParaRPr lang="zh-CN" altLang="en-US" sz="12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F725038-D155-B087-C7F1-7B851A3A41B4}"/>
              </a:ext>
            </a:extLst>
          </p:cNvPr>
          <p:cNvSpPr txBox="1"/>
          <p:nvPr/>
        </p:nvSpPr>
        <p:spPr>
          <a:xfrm>
            <a:off x="2668256" y="731755"/>
            <a:ext cx="34125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约会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纪念日场景（人数较少、注重仪式氛围）</a:t>
            </a:r>
            <a:endParaRPr lang="zh-CN" altLang="en-US" sz="12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CFEA7F8-D278-9639-B39E-0CA705348DC9}"/>
              </a:ext>
            </a:extLst>
          </p:cNvPr>
          <p:cNvSpPr txBox="1"/>
          <p:nvPr/>
        </p:nvSpPr>
        <p:spPr>
          <a:xfrm>
            <a:off x="6315352" y="731754"/>
            <a:ext cx="24130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宴会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大聚场景（人数较多）</a:t>
            </a:r>
            <a:endParaRPr lang="zh-CN" altLang="en-US" sz="1200" dirty="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69C895CC-798E-5448-B05F-8E34680D1B8D}"/>
              </a:ext>
            </a:extLst>
          </p:cNvPr>
          <p:cNvSpPr/>
          <p:nvPr/>
        </p:nvSpPr>
        <p:spPr>
          <a:xfrm>
            <a:off x="811265" y="1808304"/>
            <a:ext cx="85751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烟火小店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9FA36F3-4B67-122A-AC2F-11084227A072}"/>
              </a:ext>
            </a:extLst>
          </p:cNvPr>
          <p:cNvSpPr/>
          <p:nvPr/>
        </p:nvSpPr>
        <p:spPr>
          <a:xfrm>
            <a:off x="1725665" y="1815045"/>
            <a:ext cx="85751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非遗门店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07ED8C6-DBCE-B4EE-F846-51DB166C2BB1}"/>
              </a:ext>
            </a:extLst>
          </p:cNvPr>
          <p:cNvSpPr/>
          <p:nvPr/>
        </p:nvSpPr>
        <p:spPr>
          <a:xfrm>
            <a:off x="3051257" y="1257658"/>
            <a:ext cx="2411995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约会榜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AC3F37A-549D-A9F8-0A03-7CA580394D7A}"/>
              </a:ext>
            </a:extLst>
          </p:cNvPr>
          <p:cNvSpPr/>
          <p:nvPr/>
        </p:nvSpPr>
        <p:spPr>
          <a:xfrm>
            <a:off x="3051257" y="1814886"/>
            <a:ext cx="694238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景观位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6C8338FC-A8E0-226F-B3AD-43FDDE38C331}"/>
              </a:ext>
            </a:extLst>
          </p:cNvPr>
          <p:cNvSpPr/>
          <p:nvPr/>
        </p:nvSpPr>
        <p:spPr>
          <a:xfrm>
            <a:off x="3802380" y="1814886"/>
            <a:ext cx="746472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927D55AE-6CA7-4308-A4BC-2987EB808786}"/>
              </a:ext>
            </a:extLst>
          </p:cNvPr>
          <p:cNvSpPr/>
          <p:nvPr/>
        </p:nvSpPr>
        <p:spPr>
          <a:xfrm>
            <a:off x="4605737" y="1821627"/>
            <a:ext cx="85751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47124E12-CFB4-E6C2-6D5C-74E013D029EA}"/>
              </a:ext>
            </a:extLst>
          </p:cNvPr>
          <p:cNvSpPr/>
          <p:nvPr/>
        </p:nvSpPr>
        <p:spPr>
          <a:xfrm>
            <a:off x="5931330" y="1247537"/>
            <a:ext cx="3526020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宴聚榜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70C33109-979D-515E-37B4-2A3AD7FD1B22}"/>
              </a:ext>
            </a:extLst>
          </p:cNvPr>
          <p:cNvSpPr/>
          <p:nvPr/>
        </p:nvSpPr>
        <p:spPr>
          <a:xfrm>
            <a:off x="5931329" y="1804765"/>
            <a:ext cx="826737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商务宴请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D6CB1D94-5E17-0EE7-E21E-E3113EA09427}"/>
              </a:ext>
            </a:extLst>
          </p:cNvPr>
          <p:cNvSpPr/>
          <p:nvPr/>
        </p:nvSpPr>
        <p:spPr>
          <a:xfrm>
            <a:off x="6791962" y="1804765"/>
            <a:ext cx="882566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生日宴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90404C3-7422-1F8E-2397-C34025DFE3B5}"/>
              </a:ext>
            </a:extLst>
          </p:cNvPr>
          <p:cNvSpPr/>
          <p:nvPr/>
        </p:nvSpPr>
        <p:spPr>
          <a:xfrm>
            <a:off x="7708424" y="1804765"/>
            <a:ext cx="85751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团建聚餐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4FDD6A8B-727B-C8CA-9924-9F8C56214101}"/>
              </a:ext>
            </a:extLst>
          </p:cNvPr>
          <p:cNvSpPr/>
          <p:nvPr/>
        </p:nvSpPr>
        <p:spPr>
          <a:xfrm>
            <a:off x="8599834" y="1804765"/>
            <a:ext cx="857515" cy="2860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家庭聚餐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879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4"/>
          <p:cNvSpPr/>
          <p:nvPr/>
        </p:nvSpPr>
        <p:spPr>
          <a:xfrm>
            <a:off x="71649" y="1408243"/>
            <a:ext cx="727117" cy="7424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 sz="1200" dirty="0">
              <a:latin typeface="+mn-ea"/>
            </a:endParaRPr>
          </a:p>
        </p:txBody>
      </p:sp>
      <p:sp>
        <p:nvSpPr>
          <p:cNvPr id="5" name="Text 15"/>
          <p:cNvSpPr/>
          <p:nvPr/>
        </p:nvSpPr>
        <p:spPr>
          <a:xfrm>
            <a:off x="71649" y="1420996"/>
            <a:ext cx="727117" cy="71693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latin typeface="+mn-ea"/>
                <a:cs typeface="微软雅黑" panose="020B0503020204020204" pitchFamily="34" charset="-120"/>
              </a:rPr>
              <a:t>榜单</a:t>
            </a:r>
            <a:endParaRPr lang="en-US" altLang="zh-CN" sz="1200" b="1" dirty="0">
              <a:latin typeface="+mn-ea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sz="1200" b="1" dirty="0" err="1">
                <a:latin typeface="+mn-ea"/>
                <a:cs typeface="微软雅黑" panose="020B0503020204020204" pitchFamily="34" charset="-120"/>
              </a:rPr>
              <a:t>定位</a:t>
            </a:r>
            <a:endParaRPr lang="en-US" sz="1200" dirty="0">
              <a:latin typeface="+mn-ea"/>
            </a:endParaRPr>
          </a:p>
        </p:txBody>
      </p:sp>
      <p:sp>
        <p:nvSpPr>
          <p:cNvPr id="6" name="Shape 16"/>
          <p:cNvSpPr/>
          <p:nvPr/>
        </p:nvSpPr>
        <p:spPr>
          <a:xfrm>
            <a:off x="71649" y="761421"/>
            <a:ext cx="727117" cy="5609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7" name="Text 17"/>
          <p:cNvSpPr/>
          <p:nvPr/>
        </p:nvSpPr>
        <p:spPr>
          <a:xfrm>
            <a:off x="71649" y="761421"/>
            <a:ext cx="727117" cy="55893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+mn-ea"/>
                <a:cs typeface="微软雅黑" panose="020B0503020204020204" pitchFamily="34" charset="-120"/>
              </a:rPr>
              <a:t>用户</a:t>
            </a:r>
            <a:endParaRPr lang="en-US" sz="1200" b="1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需求</a:t>
            </a:r>
            <a:endParaRPr lang="en-US" sz="1200" b="1" dirty="0">
              <a:latin typeface="+mn-ea"/>
            </a:endParaRPr>
          </a:p>
        </p:txBody>
      </p:sp>
      <p:sp>
        <p:nvSpPr>
          <p:cNvPr id="12" name="Shape 22"/>
          <p:cNvSpPr/>
          <p:nvPr/>
        </p:nvSpPr>
        <p:spPr>
          <a:xfrm>
            <a:off x="66966" y="3114516"/>
            <a:ext cx="727117" cy="7446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13" name="Text 23"/>
          <p:cNvSpPr/>
          <p:nvPr/>
        </p:nvSpPr>
        <p:spPr>
          <a:xfrm>
            <a:off x="66966" y="3114516"/>
            <a:ext cx="727117" cy="740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latin typeface="+mn-ea"/>
                <a:cs typeface="微软雅黑" panose="020B0503020204020204" pitchFamily="34" charset="-120"/>
              </a:rPr>
              <a:t>当前</a:t>
            </a:r>
            <a:endParaRPr lang="en-US" sz="1200" b="1" dirty="0">
              <a:latin typeface="+mn-ea"/>
            </a:endParaRPr>
          </a:p>
          <a:p>
            <a:pPr marL="0" indent="0" algn="ctr">
              <a:buNone/>
            </a:pPr>
            <a:r>
              <a:rPr lang="en-US" sz="1200" b="1" dirty="0" err="1">
                <a:latin typeface="+mn-ea"/>
                <a:cs typeface="微软雅黑" panose="020B0503020204020204" pitchFamily="34" charset="-120"/>
              </a:rPr>
              <a:t>进展</a:t>
            </a:r>
            <a:endParaRPr lang="en-US" sz="1200" b="1" dirty="0">
              <a:latin typeface="+mn-ea"/>
            </a:endParaRPr>
          </a:p>
        </p:txBody>
      </p:sp>
      <p:sp>
        <p:nvSpPr>
          <p:cNvPr id="15" name="Shape 24"/>
          <p:cNvSpPr/>
          <p:nvPr/>
        </p:nvSpPr>
        <p:spPr>
          <a:xfrm>
            <a:off x="67623" y="3954050"/>
            <a:ext cx="727117" cy="7314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16" name="Text 25"/>
          <p:cNvSpPr/>
          <p:nvPr/>
        </p:nvSpPr>
        <p:spPr>
          <a:xfrm>
            <a:off x="67623" y="4040245"/>
            <a:ext cx="727117" cy="5656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+mn-ea"/>
                <a:cs typeface="微软雅黑" panose="020B0503020204020204" pitchFamily="34" charset="-120"/>
              </a:rPr>
              <a:t>未来</a:t>
            </a:r>
            <a:endParaRPr lang="en-US" sz="1200" b="1" dirty="0">
              <a:latin typeface="+mn-ea"/>
            </a:endParaRPr>
          </a:p>
          <a:p>
            <a:pPr marL="0" indent="0" algn="ctr">
              <a:buNone/>
            </a:pPr>
            <a:r>
              <a:rPr lang="en-US" sz="1200" b="1" dirty="0">
                <a:latin typeface="+mn-ea"/>
                <a:cs typeface="微软雅黑" panose="020B0503020204020204" pitchFamily="34" charset="-120"/>
              </a:rPr>
              <a:t>计划</a:t>
            </a:r>
            <a:endParaRPr lang="en-US" sz="1200" b="1" dirty="0">
              <a:latin typeface="+mn-ea"/>
            </a:endParaRPr>
          </a:p>
        </p:txBody>
      </p:sp>
      <p:sp>
        <p:nvSpPr>
          <p:cNvPr id="18" name="Shape 27"/>
          <p:cNvSpPr/>
          <p:nvPr/>
        </p:nvSpPr>
        <p:spPr>
          <a:xfrm>
            <a:off x="4423343" y="488112"/>
            <a:ext cx="2226041" cy="24180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约会</a:t>
            </a:r>
          </a:p>
        </p:txBody>
      </p:sp>
      <p:sp>
        <p:nvSpPr>
          <p:cNvPr id="56" name="Shape 64"/>
          <p:cNvSpPr/>
          <p:nvPr/>
        </p:nvSpPr>
        <p:spPr>
          <a:xfrm>
            <a:off x="838896" y="488112"/>
            <a:ext cx="3538291" cy="24180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旅游</a:t>
            </a:r>
          </a:p>
        </p:txBody>
      </p:sp>
      <p:sp>
        <p:nvSpPr>
          <p:cNvPr id="55" name="Shape 63"/>
          <p:cNvSpPr/>
          <p:nvPr/>
        </p:nvSpPr>
        <p:spPr>
          <a:xfrm>
            <a:off x="841493" y="1403554"/>
            <a:ext cx="1673107" cy="742437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62" name="Shape 70"/>
          <p:cNvSpPr/>
          <p:nvPr/>
        </p:nvSpPr>
        <p:spPr>
          <a:xfrm>
            <a:off x="846349" y="761421"/>
            <a:ext cx="3530837" cy="552839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63" name="Text 71"/>
          <p:cNvSpPr/>
          <p:nvPr/>
        </p:nvSpPr>
        <p:spPr>
          <a:xfrm>
            <a:off x="965233" y="761421"/>
            <a:ext cx="1911397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83" name="Shape 91"/>
          <p:cNvSpPr/>
          <p:nvPr/>
        </p:nvSpPr>
        <p:spPr>
          <a:xfrm>
            <a:off x="837467" y="3959065"/>
            <a:ext cx="1641271" cy="711983"/>
          </a:xfrm>
          <a:prstGeom prst="rect">
            <a:avLst/>
          </a:prstGeom>
          <a:solidFill>
            <a:srgbClr val="FFFAF0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89" name="Shape 97"/>
          <p:cNvSpPr/>
          <p:nvPr/>
        </p:nvSpPr>
        <p:spPr>
          <a:xfrm>
            <a:off x="6733555" y="488112"/>
            <a:ext cx="2287461" cy="24180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亲子</a:t>
            </a:r>
          </a:p>
        </p:txBody>
      </p:sp>
      <p:sp>
        <p:nvSpPr>
          <p:cNvPr id="136" name="Shape 63"/>
          <p:cNvSpPr/>
          <p:nvPr/>
        </p:nvSpPr>
        <p:spPr>
          <a:xfrm>
            <a:off x="2559734" y="1403554"/>
            <a:ext cx="1825248" cy="737748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139" name="Text 71"/>
          <p:cNvSpPr/>
          <p:nvPr/>
        </p:nvSpPr>
        <p:spPr>
          <a:xfrm>
            <a:off x="3010496" y="761421"/>
            <a:ext cx="1387058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144" name="Shape 91"/>
          <p:cNvSpPr/>
          <p:nvPr/>
        </p:nvSpPr>
        <p:spPr>
          <a:xfrm>
            <a:off x="2566102" y="3960646"/>
            <a:ext cx="1802625" cy="711983"/>
          </a:xfrm>
          <a:prstGeom prst="rect">
            <a:avLst/>
          </a:prstGeom>
          <a:solidFill>
            <a:srgbClr val="FFFAF0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146" name="Shape 63"/>
          <p:cNvSpPr/>
          <p:nvPr/>
        </p:nvSpPr>
        <p:spPr>
          <a:xfrm>
            <a:off x="4423343" y="1398866"/>
            <a:ext cx="2244460" cy="747126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47" name="Shape 70"/>
          <p:cNvSpPr/>
          <p:nvPr/>
        </p:nvSpPr>
        <p:spPr>
          <a:xfrm>
            <a:off x="4423343" y="761421"/>
            <a:ext cx="2244460" cy="56096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48" name="Text 71"/>
          <p:cNvSpPr/>
          <p:nvPr/>
        </p:nvSpPr>
        <p:spPr>
          <a:xfrm>
            <a:off x="4423343" y="761421"/>
            <a:ext cx="2129654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154" name="Shape 91"/>
          <p:cNvSpPr/>
          <p:nvPr/>
        </p:nvSpPr>
        <p:spPr>
          <a:xfrm>
            <a:off x="4419317" y="3954049"/>
            <a:ext cx="2251834" cy="711983"/>
          </a:xfrm>
          <a:prstGeom prst="rect">
            <a:avLst/>
          </a:prstGeom>
          <a:solidFill>
            <a:srgbClr val="FCF2F2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57" name="Shape 63"/>
          <p:cNvSpPr/>
          <p:nvPr/>
        </p:nvSpPr>
        <p:spPr>
          <a:xfrm>
            <a:off x="6750039" y="1408244"/>
            <a:ext cx="2264296" cy="737748"/>
          </a:xfrm>
          <a:prstGeom prst="rect">
            <a:avLst/>
          </a:prstGeom>
          <a:solidFill>
            <a:srgbClr val="FFFFFF"/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58" name="Shape 70"/>
          <p:cNvSpPr/>
          <p:nvPr/>
        </p:nvSpPr>
        <p:spPr>
          <a:xfrm>
            <a:off x="6756721" y="761420"/>
            <a:ext cx="2264296" cy="566405"/>
          </a:xfrm>
          <a:prstGeom prst="rect">
            <a:avLst/>
          </a:prstGeom>
          <a:solidFill>
            <a:srgbClr val="FFFFFF"/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59" name="Text 71"/>
          <p:cNvSpPr/>
          <p:nvPr/>
        </p:nvSpPr>
        <p:spPr>
          <a:xfrm>
            <a:off x="6861454" y="761421"/>
            <a:ext cx="2148475" cy="5199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164" name="Shape 91"/>
          <p:cNvSpPr/>
          <p:nvPr/>
        </p:nvSpPr>
        <p:spPr>
          <a:xfrm>
            <a:off x="6726796" y="3958647"/>
            <a:ext cx="2279107" cy="7119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68" name="文本框 167"/>
          <p:cNvSpPr txBox="1"/>
          <p:nvPr/>
        </p:nvSpPr>
        <p:spPr>
          <a:xfrm>
            <a:off x="834723" y="1504419"/>
            <a:ext cx="16240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latin typeface="+mn-ea"/>
              </a:rPr>
              <a:t>当地人推荐榜：</a:t>
            </a:r>
            <a:r>
              <a:rPr lang="zh-CN" altLang="en-US" sz="900" dirty="0">
                <a:latin typeface="+mn-ea"/>
              </a:rPr>
              <a:t>本地人真实消费评价，筛选本地特色好店，外地人跟着选</a:t>
            </a:r>
            <a:endParaRPr lang="en-US" altLang="zh-CN" sz="900" dirty="0">
              <a:latin typeface="+mn-ea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2563378" y="1504419"/>
            <a:ext cx="183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effectLst/>
                <a:latin typeface="+mn-ea"/>
              </a:rPr>
              <a:t>烟火榜：</a:t>
            </a:r>
            <a:r>
              <a:rPr lang="zh-CN" altLang="en-US" sz="900" dirty="0">
                <a:effectLst/>
                <a:latin typeface="+mn-ea"/>
              </a:rPr>
              <a:t>锅气十足</a:t>
            </a:r>
            <a:r>
              <a:rPr lang="zh-CN" altLang="en-US" sz="900" dirty="0">
                <a:latin typeface="+mn-ea"/>
              </a:rPr>
              <a:t>、口味地道、价格实惠</a:t>
            </a:r>
            <a:r>
              <a:rPr lang="zh-CN" altLang="en-US" sz="900" dirty="0">
                <a:effectLst/>
                <a:latin typeface="+mn-ea"/>
              </a:rPr>
              <a:t>的市井小店。</a:t>
            </a:r>
            <a:endParaRPr lang="zh-CN" altLang="en-US" sz="900" dirty="0">
              <a:latin typeface="+mn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794953" y="836838"/>
            <a:ext cx="3502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latin typeface="+mn-ea"/>
              </a:rPr>
              <a:t>异地旅游用户为主，吃得地道、品尝地方特色菜及小吃。吃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玩时间有一定规划</a:t>
            </a:r>
            <a:endParaRPr lang="en-US" altLang="zh-CN" sz="900" dirty="0">
              <a:latin typeface="+mn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9F6783F-EF36-44F5-8C56-9BCE3FE0BDAE}"/>
              </a:ext>
            </a:extLst>
          </p:cNvPr>
          <p:cNvGrpSpPr/>
          <p:nvPr/>
        </p:nvGrpSpPr>
        <p:grpSpPr>
          <a:xfrm>
            <a:off x="845171" y="3115299"/>
            <a:ext cx="1661134" cy="744643"/>
            <a:chOff x="911966" y="3493473"/>
            <a:chExt cx="1980477" cy="744643"/>
          </a:xfrm>
        </p:grpSpPr>
        <p:sp>
          <p:nvSpPr>
            <p:cNvPr id="78" name="Shape 86"/>
            <p:cNvSpPr/>
            <p:nvPr/>
          </p:nvSpPr>
          <p:spPr>
            <a:xfrm>
              <a:off x="911966" y="3493473"/>
              <a:ext cx="1980477" cy="744643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84" name="文本框 183"/>
            <p:cNvSpPr txBox="1"/>
            <p:nvPr/>
          </p:nvSpPr>
          <p:spPr>
            <a:xfrm>
              <a:off x="920938" y="3709770"/>
              <a:ext cx="19485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当地人推荐扩城至</a:t>
              </a:r>
              <a:r>
                <a:rPr lang="en-US" altLang="zh-CN" sz="900" dirty="0">
                  <a:latin typeface="+mn-ea"/>
                </a:rPr>
                <a:t>674</a:t>
              </a:r>
              <a:r>
                <a:rPr lang="zh-CN" altLang="en-US" sz="900" dirty="0">
                  <a:latin typeface="+mn-ea"/>
                </a:rPr>
                <a:t>；</a:t>
              </a:r>
              <a:endParaRPr lang="en-US" altLang="zh-CN" sz="900" dirty="0">
                <a:latin typeface="+mn-ea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C22A47A-B9A8-4075-902A-9FBBF0E87B46}"/>
              </a:ext>
            </a:extLst>
          </p:cNvPr>
          <p:cNvGrpSpPr/>
          <p:nvPr/>
        </p:nvGrpSpPr>
        <p:grpSpPr>
          <a:xfrm>
            <a:off x="2568099" y="3114516"/>
            <a:ext cx="1819512" cy="739415"/>
            <a:chOff x="2948938" y="3492690"/>
            <a:chExt cx="1493433" cy="739415"/>
          </a:xfrm>
        </p:grpSpPr>
        <p:sp>
          <p:nvSpPr>
            <p:cNvPr id="143" name="Shape 86"/>
            <p:cNvSpPr/>
            <p:nvPr/>
          </p:nvSpPr>
          <p:spPr>
            <a:xfrm>
              <a:off x="2948938" y="3492690"/>
              <a:ext cx="1468197" cy="739415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85" name="文本框 184"/>
            <p:cNvSpPr txBox="1"/>
            <p:nvPr/>
          </p:nvSpPr>
          <p:spPr>
            <a:xfrm>
              <a:off x="2948938" y="3730106"/>
              <a:ext cx="14934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上线</a:t>
              </a:r>
              <a:r>
                <a:rPr lang="en-US" altLang="zh-CN" sz="900" dirty="0">
                  <a:latin typeface="+mn-ea"/>
                </a:rPr>
                <a:t>10</a:t>
              </a:r>
              <a:r>
                <a:rPr lang="zh-CN" altLang="en-US" sz="900" dirty="0">
                  <a:latin typeface="+mn-ea"/>
                </a:rPr>
                <a:t>个试点城市，调优中</a:t>
              </a: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186" name="文本框 185"/>
          <p:cNvSpPr txBox="1"/>
          <p:nvPr/>
        </p:nvSpPr>
        <p:spPr>
          <a:xfrm>
            <a:off x="2521465" y="3944111"/>
            <a:ext cx="1772652" cy="73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b="1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成榜策略迭代，扩大覆盖</a:t>
            </a:r>
            <a:endParaRPr lang="en-US" altLang="zh-CN" sz="9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900" b="1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联动餐饮生态，推进点亮“烟火小店”计划，结合中餐申遗强化非遗表达</a:t>
            </a:r>
            <a:endParaRPr lang="en-US" altLang="zh-CN" sz="900" dirty="0">
              <a:latin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790057" y="3942164"/>
            <a:ext cx="1686236" cy="73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b="1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建立美团侧挖掘流程，扩大县域经济的中低线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下沉旅游城市</a:t>
            </a:r>
            <a:endParaRPr lang="en-US" altLang="zh-CN" sz="9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900" b="1" dirty="0"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加强商家荣誉，铺设物料</a:t>
            </a:r>
            <a:endParaRPr lang="en-US" altLang="zh-CN" sz="900" dirty="0">
              <a:latin typeface="+mn-ea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4423343" y="1504419"/>
            <a:ext cx="2172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effectLst/>
                <a:latin typeface="+mn-ea"/>
              </a:rPr>
              <a:t>约会榜：</a:t>
            </a:r>
            <a:r>
              <a:rPr lang="zh-CN" altLang="en-US" sz="900" dirty="0">
                <a:effectLst/>
                <a:latin typeface="+mn-ea"/>
              </a:rPr>
              <a:t>氛围</a:t>
            </a:r>
            <a:r>
              <a:rPr lang="zh-CN" altLang="en-US" sz="900" dirty="0">
                <a:latin typeface="+mn-ea"/>
              </a:rPr>
              <a:t>浪漫</a:t>
            </a:r>
            <a:r>
              <a:rPr lang="zh-CN" altLang="en-US" sz="900" dirty="0">
                <a:effectLst/>
                <a:latin typeface="+mn-ea"/>
              </a:rPr>
              <a:t>、服务优质、</a:t>
            </a:r>
            <a:r>
              <a:rPr lang="zh-CN" altLang="en-US" sz="900" dirty="0">
                <a:latin typeface="+mn-ea"/>
              </a:rPr>
              <a:t>出品精致</a:t>
            </a:r>
            <a:r>
              <a:rPr lang="zh-CN" altLang="en-US" sz="900" dirty="0">
                <a:effectLst/>
                <a:latin typeface="+mn-ea"/>
              </a:rPr>
              <a:t>的约会指南。</a:t>
            </a:r>
          </a:p>
        </p:txBody>
      </p:sp>
      <p:sp>
        <p:nvSpPr>
          <p:cNvPr id="198" name="文本框 197"/>
          <p:cNvSpPr txBox="1"/>
          <p:nvPr/>
        </p:nvSpPr>
        <p:spPr>
          <a:xfrm>
            <a:off x="4449148" y="815807"/>
            <a:ext cx="2129654" cy="41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effectLst/>
                <a:latin typeface="+mn-ea"/>
              </a:rPr>
              <a:t>年轻情侣、女性和部分闺蜜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朋友群体，注重用餐仪式感和社交体验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0D10832-FEB9-4B19-A2E4-79B80D35AF6B}"/>
              </a:ext>
            </a:extLst>
          </p:cNvPr>
          <p:cNvGrpSpPr/>
          <p:nvPr/>
        </p:nvGrpSpPr>
        <p:grpSpPr>
          <a:xfrm>
            <a:off x="4382727" y="3114516"/>
            <a:ext cx="2286637" cy="739415"/>
            <a:chOff x="4468198" y="3492690"/>
            <a:chExt cx="2286637" cy="739415"/>
          </a:xfrm>
        </p:grpSpPr>
        <p:sp>
          <p:nvSpPr>
            <p:cNvPr id="153" name="Shape 86"/>
            <p:cNvSpPr/>
            <p:nvPr/>
          </p:nvSpPr>
          <p:spPr>
            <a:xfrm>
              <a:off x="4504131" y="3492690"/>
              <a:ext cx="2250704" cy="739415"/>
            </a:xfrm>
            <a:prstGeom prst="rect">
              <a:avLst/>
            </a:prstGeom>
            <a:solidFill>
              <a:srgbClr val="FCF2F2"/>
            </a:solidFill>
            <a:ln w="6350">
              <a:solidFill>
                <a:schemeClr val="accent3"/>
              </a:solidFill>
              <a:prstDash val="solid"/>
            </a:ln>
          </p:spPr>
        </p:sp>
        <p:sp>
          <p:nvSpPr>
            <p:cNvPr id="199" name="文本框 198"/>
            <p:cNvSpPr txBox="1"/>
            <p:nvPr/>
          </p:nvSpPr>
          <p:spPr>
            <a:xfrm>
              <a:off x="4468198" y="3723111"/>
              <a:ext cx="2164881" cy="402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已覆盖</a:t>
              </a:r>
              <a:r>
                <a:rPr lang="en-US" altLang="zh-CN" sz="900" dirty="0">
                  <a:latin typeface="+mn-ea"/>
                </a:rPr>
                <a:t>SAB</a:t>
              </a:r>
              <a:r>
                <a:rPr lang="zh-CN" altLang="en-US" sz="900" dirty="0">
                  <a:latin typeface="+mn-ea"/>
                </a:rPr>
                <a:t>级</a:t>
              </a:r>
              <a:r>
                <a:rPr lang="en-US" altLang="zh-CN" sz="900" dirty="0">
                  <a:latin typeface="+mn-ea"/>
                </a:rPr>
                <a:t>35</a:t>
              </a:r>
              <a:r>
                <a:rPr lang="zh-CN" altLang="en-US" sz="900" dirty="0">
                  <a:latin typeface="+mn-ea"/>
                </a:rPr>
                <a:t>个城，进一步调优</a:t>
              </a:r>
            </a:p>
            <a:p>
              <a:pPr>
                <a:lnSpc>
                  <a:spcPct val="120000"/>
                </a:lnSpc>
              </a:pP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200" name="文本框 199"/>
          <p:cNvSpPr txBox="1"/>
          <p:nvPr/>
        </p:nvSpPr>
        <p:spPr>
          <a:xfrm>
            <a:off x="4419317" y="3942164"/>
            <a:ext cx="2140766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强化预约交履表达</a:t>
            </a:r>
            <a:endParaRPr lang="en-US" altLang="zh-CN" sz="9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加强商家宣导，铺设荣誉物料</a:t>
            </a:r>
            <a:endParaRPr lang="en-US" altLang="zh-CN" sz="900" dirty="0">
              <a:effectLst/>
              <a:latin typeface="+mn-ea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6782079" y="1517093"/>
            <a:ext cx="2213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latin typeface="+mn-ea"/>
              </a:rPr>
              <a:t>亲子</a:t>
            </a:r>
            <a:r>
              <a:rPr lang="zh-CN" altLang="en-US" sz="900" b="1" dirty="0">
                <a:effectLst/>
                <a:latin typeface="+mn-ea"/>
              </a:rPr>
              <a:t>榜：</a:t>
            </a:r>
            <a:r>
              <a:rPr lang="zh-CN" altLang="en-US" sz="900" dirty="0">
                <a:effectLst/>
                <a:latin typeface="+mn-ea"/>
              </a:rPr>
              <a:t>吃得放心、舒心、开心。</a:t>
            </a:r>
            <a:r>
              <a:rPr lang="zh-CN" altLang="en-US" sz="900" dirty="0">
                <a:latin typeface="+mn-ea"/>
              </a:rPr>
              <a:t>满足家长带孩子吃玩的一站式需求。</a:t>
            </a:r>
          </a:p>
        </p:txBody>
      </p:sp>
      <p:sp>
        <p:nvSpPr>
          <p:cNvPr id="211" name="文本框 210"/>
          <p:cNvSpPr txBox="1"/>
          <p:nvPr/>
        </p:nvSpPr>
        <p:spPr>
          <a:xfrm>
            <a:off x="6736991" y="820167"/>
            <a:ext cx="2264295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effectLst/>
                <a:latin typeface="+mn-ea"/>
              </a:rPr>
              <a:t>家长群体，母亲决策导向，注重儿童设施、安全和</a:t>
            </a:r>
            <a:r>
              <a:rPr lang="zh-CN" altLang="en-US" sz="900" dirty="0">
                <a:latin typeface="+mn-ea"/>
              </a:rPr>
              <a:t>营养</a:t>
            </a:r>
            <a:r>
              <a:rPr lang="zh-CN" altLang="en-US" sz="900" dirty="0">
                <a:effectLst/>
                <a:latin typeface="+mn-ea"/>
              </a:rPr>
              <a:t>搭配，兼顾</a:t>
            </a:r>
            <a:r>
              <a:rPr lang="zh-CN" altLang="en-US" sz="900" dirty="0">
                <a:latin typeface="+mn-ea"/>
              </a:rPr>
              <a:t>玩乐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大人口味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D4342C-2683-411A-A5E7-633677254BE7}"/>
              </a:ext>
            </a:extLst>
          </p:cNvPr>
          <p:cNvGrpSpPr/>
          <p:nvPr/>
        </p:nvGrpSpPr>
        <p:grpSpPr>
          <a:xfrm>
            <a:off x="6720452" y="3114516"/>
            <a:ext cx="2279106" cy="747108"/>
            <a:chOff x="6763835" y="3492690"/>
            <a:chExt cx="2279106" cy="747108"/>
          </a:xfrm>
        </p:grpSpPr>
        <p:sp>
          <p:nvSpPr>
            <p:cNvPr id="163" name="Shape 86"/>
            <p:cNvSpPr/>
            <p:nvPr/>
          </p:nvSpPr>
          <p:spPr>
            <a:xfrm>
              <a:off x="6763835" y="3492690"/>
              <a:ext cx="2279106" cy="747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rgbClr val="00B050"/>
              </a:solidFill>
              <a:prstDash val="solid"/>
            </a:ln>
          </p:spPr>
        </p:sp>
        <p:sp>
          <p:nvSpPr>
            <p:cNvPr id="212" name="文本框 211"/>
            <p:cNvSpPr txBox="1"/>
            <p:nvPr/>
          </p:nvSpPr>
          <p:spPr>
            <a:xfrm>
              <a:off x="6763835" y="3587878"/>
              <a:ext cx="2213129" cy="402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lang="en-US" altLang="zh-CN" sz="900" dirty="0">
                <a:latin typeface="+mn-ea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900" b="1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完成初步挖掘方案，评审中</a:t>
              </a:r>
              <a:endParaRPr lang="en-US" altLang="zh-CN" sz="900" dirty="0">
                <a:latin typeface="+mn-ea"/>
              </a:endParaRPr>
            </a:p>
          </p:txBody>
        </p:sp>
      </p:grpSp>
      <p:sp>
        <p:nvSpPr>
          <p:cNvPr id="213" name="文本框 212"/>
          <p:cNvSpPr txBox="1"/>
          <p:nvPr/>
        </p:nvSpPr>
        <p:spPr>
          <a:xfrm>
            <a:off x="6705023" y="3942164"/>
            <a:ext cx="2213129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</a:rPr>
              <a:t>·7</a:t>
            </a:r>
            <a:r>
              <a:rPr lang="zh-CN" altLang="en-US" sz="900" dirty="0">
                <a:latin typeface="+mn-ea"/>
              </a:rPr>
              <a:t>月初亲子榜上线，预计覆盖</a:t>
            </a:r>
            <a:r>
              <a:rPr lang="en-US" altLang="zh-CN" sz="900" dirty="0">
                <a:latin typeface="+mn-ea"/>
              </a:rPr>
              <a:t>30+ SAB</a:t>
            </a:r>
            <a:r>
              <a:rPr lang="zh-CN" altLang="en-US" sz="900" dirty="0">
                <a:latin typeface="+mn-ea"/>
              </a:rPr>
              <a:t>级城市，承接暑假亲子找店需求</a:t>
            </a:r>
            <a:endParaRPr lang="en-US" altLang="zh-CN" sz="900" dirty="0">
              <a:effectLst/>
              <a:latin typeface="+mn-ea"/>
            </a:endParaRPr>
          </a:p>
        </p:txBody>
      </p:sp>
      <p:sp>
        <p:nvSpPr>
          <p:cNvPr id="106" name="Shape 20">
            <a:extLst>
              <a:ext uri="{FF2B5EF4-FFF2-40B4-BE49-F238E27FC236}">
                <a16:creationId xmlns:a16="http://schemas.microsoft.com/office/drawing/2014/main" id="{4C159214-00A5-4025-81BD-C0DB2CC339C9}"/>
              </a:ext>
            </a:extLst>
          </p:cNvPr>
          <p:cNvSpPr/>
          <p:nvPr/>
        </p:nvSpPr>
        <p:spPr>
          <a:xfrm>
            <a:off x="71649" y="2210233"/>
            <a:ext cx="727117" cy="8380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107" name="Text 25">
            <a:extLst>
              <a:ext uri="{FF2B5EF4-FFF2-40B4-BE49-F238E27FC236}">
                <a16:creationId xmlns:a16="http://schemas.microsoft.com/office/drawing/2014/main" id="{0C4F8E77-09F2-4852-9468-44A1C9287DE4}"/>
              </a:ext>
            </a:extLst>
          </p:cNvPr>
          <p:cNvSpPr/>
          <p:nvPr/>
        </p:nvSpPr>
        <p:spPr>
          <a:xfrm>
            <a:off x="76852" y="2305728"/>
            <a:ext cx="727117" cy="62770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核心资产引用</a:t>
            </a:r>
            <a:endParaRPr lang="en-US" sz="1200" b="1" dirty="0">
              <a:latin typeface="+mn-ea"/>
            </a:endParaRP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81987A07-5BD7-4FDD-AA0E-B3158174501D}"/>
              </a:ext>
            </a:extLst>
          </p:cNvPr>
          <p:cNvGrpSpPr/>
          <p:nvPr/>
        </p:nvGrpSpPr>
        <p:grpSpPr>
          <a:xfrm>
            <a:off x="794083" y="2506374"/>
            <a:ext cx="1720517" cy="542182"/>
            <a:chOff x="826001" y="3486588"/>
            <a:chExt cx="2115811" cy="1051279"/>
          </a:xfrm>
        </p:grpSpPr>
        <p:sp>
          <p:nvSpPr>
            <p:cNvPr id="109" name="Shape 86">
              <a:extLst>
                <a:ext uri="{FF2B5EF4-FFF2-40B4-BE49-F238E27FC236}">
                  <a16:creationId xmlns:a16="http://schemas.microsoft.com/office/drawing/2014/main" id="{D9244994-12BC-4906-BB13-A60C6BBE1EC1}"/>
                </a:ext>
              </a:extLst>
            </p:cNvPr>
            <p:cNvSpPr/>
            <p:nvPr/>
          </p:nvSpPr>
          <p:spPr>
            <a:xfrm>
              <a:off x="873934" y="3493475"/>
              <a:ext cx="2067878" cy="1044392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21A58CF2-BC74-4F48-AF3C-87A14619309D}"/>
                </a:ext>
              </a:extLst>
            </p:cNvPr>
            <p:cNvSpPr txBox="1"/>
            <p:nvPr/>
          </p:nvSpPr>
          <p:spPr>
            <a:xfrm>
              <a:off x="826001" y="3486588"/>
              <a:ext cx="2115811" cy="984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b="1" dirty="0">
                  <a:latin typeface="+mn-ea"/>
                </a:rPr>
                <a:t>当地人推荐：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本地用户评价+城市特色品类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本地用户流量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（排队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多个</a:t>
              </a:r>
              <a:r>
                <a:rPr lang="zh-CN" altLang="en-US" sz="900" dirty="0">
                  <a:latin typeface="+mn-ea"/>
                </a:rPr>
                <a:t>特色菜套餐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）</a:t>
              </a:r>
              <a:endParaRPr lang="en-US" altLang="zh-CN" sz="9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373588B4-A10F-4D0A-93E4-36E708BAD948}"/>
              </a:ext>
            </a:extLst>
          </p:cNvPr>
          <p:cNvGrpSpPr/>
          <p:nvPr/>
        </p:nvGrpSpPr>
        <p:grpSpPr>
          <a:xfrm>
            <a:off x="2572783" y="2506374"/>
            <a:ext cx="1797228" cy="538630"/>
            <a:chOff x="2619908" y="3492690"/>
            <a:chExt cx="1797228" cy="1044393"/>
          </a:xfrm>
        </p:grpSpPr>
        <p:sp>
          <p:nvSpPr>
            <p:cNvPr id="112" name="Shape 86">
              <a:extLst>
                <a:ext uri="{FF2B5EF4-FFF2-40B4-BE49-F238E27FC236}">
                  <a16:creationId xmlns:a16="http://schemas.microsoft.com/office/drawing/2014/main" id="{509201E7-3860-4721-A674-E289896CA459}"/>
                </a:ext>
              </a:extLst>
            </p:cNvPr>
            <p:cNvSpPr/>
            <p:nvPr/>
          </p:nvSpPr>
          <p:spPr>
            <a:xfrm>
              <a:off x="2619908" y="3492690"/>
              <a:ext cx="1797228" cy="1044393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F2CF6561-B7E5-4853-BACE-2B6121393C09}"/>
                </a:ext>
              </a:extLst>
            </p:cNvPr>
            <p:cNvSpPr txBox="1"/>
            <p:nvPr/>
          </p:nvSpPr>
          <p:spPr>
            <a:xfrm>
              <a:off x="2619908" y="3539914"/>
              <a:ext cx="1719056" cy="984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latin typeface="+mn-ea"/>
                  <a:sym typeface="Wingdings" panose="05000000000000000000" pitchFamily="2" charset="2"/>
                </a:rPr>
                <a:t>烟火榜：</a:t>
              </a:r>
              <a:r>
                <a:rPr lang="zh-CN" altLang="en-US" sz="900" dirty="0">
                  <a:latin typeface="+mn-ea"/>
                  <a:sym typeface="Wingdings" panose="05000000000000000000" pitchFamily="2" charset="2"/>
                </a:rPr>
                <a:t>烟火主题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评价+现炒现制标签+GTV/核销量/流量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 （排队</a:t>
              </a:r>
              <a:r>
                <a:rPr lang="en-US" altLang="zh-CN" sz="900" dirty="0">
                  <a:latin typeface="+mn-ea"/>
                </a:rPr>
                <a:t>/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多个</a:t>
              </a:r>
              <a:r>
                <a:rPr lang="zh-CN" altLang="en-US" sz="900" dirty="0">
                  <a:latin typeface="+mn-ea"/>
                </a:rPr>
                <a:t>特色菜套餐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）</a:t>
              </a:r>
              <a:endPara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D2396428-152D-482C-BAAA-34E2B1463E25}"/>
              </a:ext>
            </a:extLst>
          </p:cNvPr>
          <p:cNvGrpSpPr/>
          <p:nvPr/>
        </p:nvGrpSpPr>
        <p:grpSpPr>
          <a:xfrm>
            <a:off x="4391593" y="2506374"/>
            <a:ext cx="2275357" cy="542182"/>
            <a:chOff x="4480520" y="3480783"/>
            <a:chExt cx="2275357" cy="1051278"/>
          </a:xfrm>
        </p:grpSpPr>
        <p:sp>
          <p:nvSpPr>
            <p:cNvPr id="115" name="Shape 86">
              <a:extLst>
                <a:ext uri="{FF2B5EF4-FFF2-40B4-BE49-F238E27FC236}">
                  <a16:creationId xmlns:a16="http://schemas.microsoft.com/office/drawing/2014/main" id="{D9EB7C8F-A58D-481B-9093-5E63D5CB832F}"/>
                </a:ext>
              </a:extLst>
            </p:cNvPr>
            <p:cNvSpPr/>
            <p:nvPr/>
          </p:nvSpPr>
          <p:spPr>
            <a:xfrm>
              <a:off x="4502619" y="3480783"/>
              <a:ext cx="2250704" cy="1051278"/>
            </a:xfrm>
            <a:prstGeom prst="rect">
              <a:avLst/>
            </a:prstGeom>
            <a:solidFill>
              <a:srgbClr val="FCF2F2"/>
            </a:solidFill>
            <a:ln w="635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zh-CN" altLang="en-US" dirty="0">
                <a:latin typeface="+mn-ea"/>
              </a:endParaRP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9C2798DC-A764-4603-A381-66C27F9264D3}"/>
                </a:ext>
              </a:extLst>
            </p:cNvPr>
            <p:cNvSpPr txBox="1"/>
            <p:nvPr/>
          </p:nvSpPr>
          <p:spPr>
            <a:xfrm>
              <a:off x="4480520" y="3546613"/>
              <a:ext cx="2275357" cy="650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900" b="1" dirty="0">
                  <a:latin typeface="+mn-ea"/>
                </a:rPr>
                <a:t>约会榜：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约会主题评价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+景观特色等标签+GTV/核销量/流量+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（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预订/双人餐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）</a:t>
              </a:r>
              <a:endPara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  <p:sp>
        <p:nvSpPr>
          <p:cNvPr id="118" name="Shape 86">
            <a:extLst>
              <a:ext uri="{FF2B5EF4-FFF2-40B4-BE49-F238E27FC236}">
                <a16:creationId xmlns:a16="http://schemas.microsoft.com/office/drawing/2014/main" id="{AA1E70C2-175F-4378-ADE7-6922A647FFB8}"/>
              </a:ext>
            </a:extLst>
          </p:cNvPr>
          <p:cNvSpPr/>
          <p:nvPr/>
        </p:nvSpPr>
        <p:spPr>
          <a:xfrm>
            <a:off x="6722391" y="2506374"/>
            <a:ext cx="2279106" cy="5421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FF3FC18F-CA2B-4C1E-9142-4B65F39DD163}"/>
              </a:ext>
            </a:extLst>
          </p:cNvPr>
          <p:cNvSpPr txBox="1"/>
          <p:nvPr/>
        </p:nvSpPr>
        <p:spPr>
          <a:xfrm>
            <a:off x="6722391" y="2506374"/>
            <a:ext cx="22507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latin typeface="+mn-ea"/>
              </a:rPr>
              <a:t>亲子榜：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亲子</a:t>
            </a:r>
            <a:r>
              <a:rPr lang="zh-CN" altLang="en-US" sz="900" dirty="0">
                <a:latin typeface="+mn-ea"/>
              </a:rPr>
              <a:t>主题评价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+亲子设施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不可吸烟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等标签+GTV/核销量/流量+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儿童套餐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）</a:t>
            </a: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endParaRPr lang="en-US" altLang="zh-CN" sz="9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40364BF-E8B2-BEB0-CB98-2E879F09F3F7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900" dirty="0">
                <a:latin typeface="+mn-ea"/>
              </a:rPr>
              <a:t>3.</a:t>
            </a:r>
            <a:r>
              <a:rPr lang="zh-CN" altLang="en-US" sz="1900" dirty="0">
                <a:latin typeface="+mn-ea"/>
              </a:rPr>
              <a:t>榜单矩阵建设</a:t>
            </a:r>
            <a:r>
              <a:rPr lang="en-US" altLang="zh-CN" sz="1900" dirty="0">
                <a:latin typeface="+mn-ea"/>
              </a:rPr>
              <a:t>-</a:t>
            </a:r>
            <a:r>
              <a:rPr lang="zh-CN" altLang="en-US" sz="1900" dirty="0">
                <a:latin typeface="+mn-ea"/>
                <a:ea typeface="+mn-ea"/>
              </a:rPr>
              <a:t>承接用户场景决策</a:t>
            </a:r>
          </a:p>
        </p:txBody>
      </p:sp>
      <p:sp>
        <p:nvSpPr>
          <p:cNvPr id="14" name="Shape 70">
            <a:extLst>
              <a:ext uri="{FF2B5EF4-FFF2-40B4-BE49-F238E27FC236}">
                <a16:creationId xmlns:a16="http://schemas.microsoft.com/office/drawing/2014/main" id="{6DED207E-D38A-1EE5-61D2-AEEE2F4A92EF}"/>
              </a:ext>
            </a:extLst>
          </p:cNvPr>
          <p:cNvSpPr/>
          <p:nvPr/>
        </p:nvSpPr>
        <p:spPr>
          <a:xfrm>
            <a:off x="833061" y="2210232"/>
            <a:ext cx="8172842" cy="21581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900" dirty="0">
                <a:latin typeface="+mn-ea"/>
              </a:rPr>
              <a:t>主</a:t>
            </a:r>
            <a:r>
              <a:rPr lang="en-US" altLang="zh-CN" sz="900" dirty="0">
                <a:latin typeface="+mn-ea"/>
              </a:rPr>
              <a:t>-</a:t>
            </a:r>
            <a:r>
              <a:rPr lang="zh-CN" altLang="en-US" sz="900" dirty="0">
                <a:latin typeface="+mn-ea"/>
              </a:rPr>
              <a:t>入围：</a:t>
            </a:r>
            <a:r>
              <a:rPr lang="en-US" altLang="zh-CN" sz="900" dirty="0">
                <a:latin typeface="+mn-ea"/>
              </a:rPr>
              <a:t>UGC</a:t>
            </a:r>
            <a:r>
              <a:rPr lang="zh-CN" altLang="en-US" sz="900" dirty="0">
                <a:latin typeface="+mn-ea"/>
              </a:rPr>
              <a:t>挖掘主题相关度。辅</a:t>
            </a:r>
            <a:r>
              <a:rPr lang="en-US" altLang="zh-CN" sz="900" dirty="0">
                <a:latin typeface="+mn-ea"/>
              </a:rPr>
              <a:t>-</a:t>
            </a:r>
            <a:r>
              <a:rPr lang="zh-CN" altLang="en-US" sz="900" dirty="0">
                <a:latin typeface="+mn-ea"/>
              </a:rPr>
              <a:t>排序：</a:t>
            </a:r>
            <a:r>
              <a:rPr lang="en-US" altLang="zh-CN" sz="900" dirty="0">
                <a:latin typeface="+mn-ea"/>
              </a:rPr>
              <a:t>B(D)GC</a:t>
            </a:r>
            <a:r>
              <a:rPr lang="zh-CN" altLang="en-US" sz="900" dirty="0">
                <a:latin typeface="+mn-ea"/>
              </a:rPr>
              <a:t>信息标签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用户行为资产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（交履服务）</a:t>
            </a:r>
            <a:r>
              <a:rPr lang="en-US" altLang="zh-CN" sz="900" dirty="0">
                <a:latin typeface="+mn-ea"/>
              </a:rPr>
              <a:t>	</a:t>
            </a:r>
            <a:endParaRPr lang="zh-CN" altLang="en-US" sz="900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8E3A-CD26-F660-55E0-ED1A65EF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米菲PPT3">
            <a:extLst>
              <a:ext uri="{FF2B5EF4-FFF2-40B4-BE49-F238E27FC236}">
                <a16:creationId xmlns:a16="http://schemas.microsoft.com/office/drawing/2014/main" id="{0E5917AE-B724-2E28-2958-236276368AFC}"/>
              </a:ext>
            </a:extLst>
          </p:cNvPr>
          <p:cNvSpPr/>
          <p:nvPr/>
        </p:nvSpPr>
        <p:spPr>
          <a:xfrm>
            <a:off x="0" y="-44556"/>
            <a:ext cx="9144000" cy="945201"/>
          </a:xfrm>
          <a:prstGeom prst="roundRect">
            <a:avLst>
              <a:gd name="adj" fmla="val 7474"/>
            </a:avLst>
          </a:prstGeom>
          <a:solidFill>
            <a:srgbClr val="FFD1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7" name="米菲PPT4">
            <a:extLst>
              <a:ext uri="{FF2B5EF4-FFF2-40B4-BE49-F238E27FC236}">
                <a16:creationId xmlns:a16="http://schemas.microsoft.com/office/drawing/2014/main" id="{DEEC2D26-3E1D-68C9-72AB-1060A94C1C7A}"/>
              </a:ext>
            </a:extLst>
          </p:cNvPr>
          <p:cNvSpPr txBox="1"/>
          <p:nvPr/>
        </p:nvSpPr>
        <p:spPr>
          <a:xfrm>
            <a:off x="845119" y="153421"/>
            <a:ext cx="74050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榜单建设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Road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Map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8" name="米菲PPT7">
            <a:extLst>
              <a:ext uri="{FF2B5EF4-FFF2-40B4-BE49-F238E27FC236}">
                <a16:creationId xmlns:a16="http://schemas.microsoft.com/office/drawing/2014/main" id="{F124440A-E4A6-683F-27F8-DDD035EB853B}"/>
              </a:ext>
            </a:extLst>
          </p:cNvPr>
          <p:cNvSpPr txBox="1"/>
          <p:nvPr/>
        </p:nvSpPr>
        <p:spPr>
          <a:xfrm>
            <a:off x="2912310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10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10" name="米菲PPT9">
            <a:extLst>
              <a:ext uri="{FF2B5EF4-FFF2-40B4-BE49-F238E27FC236}">
                <a16:creationId xmlns:a16="http://schemas.microsoft.com/office/drawing/2014/main" id="{06EA183B-3C5B-5DB3-E9C4-F14826C83AC6}"/>
              </a:ext>
            </a:extLst>
          </p:cNvPr>
          <p:cNvSpPr txBox="1"/>
          <p:nvPr/>
        </p:nvSpPr>
        <p:spPr>
          <a:xfrm>
            <a:off x="5310885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11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12" name="米菲PPT11">
            <a:extLst>
              <a:ext uri="{FF2B5EF4-FFF2-40B4-BE49-F238E27FC236}">
                <a16:creationId xmlns:a16="http://schemas.microsoft.com/office/drawing/2014/main" id="{EB27CF75-E6B0-D376-E4BE-82E8D9C0E1D7}"/>
              </a:ext>
            </a:extLst>
          </p:cNvPr>
          <p:cNvSpPr txBox="1"/>
          <p:nvPr/>
        </p:nvSpPr>
        <p:spPr>
          <a:xfrm>
            <a:off x="7405365" y="631836"/>
            <a:ext cx="1037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12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cxnSp>
        <p:nvCxnSpPr>
          <p:cNvPr id="13" name="米菲PPT25-1">
            <a:extLst>
              <a:ext uri="{FF2B5EF4-FFF2-40B4-BE49-F238E27FC236}">
                <a16:creationId xmlns:a16="http://schemas.microsoft.com/office/drawing/2014/main" id="{F29E028F-EA92-8A52-9BC9-91E7F4F9115C}"/>
              </a:ext>
            </a:extLst>
          </p:cNvPr>
          <p:cNvCxnSpPr>
            <a:cxnSpLocks/>
          </p:cNvCxnSpPr>
          <p:nvPr/>
        </p:nvCxnSpPr>
        <p:spPr>
          <a:xfrm>
            <a:off x="106625" y="908901"/>
            <a:ext cx="8960632" cy="0"/>
          </a:xfrm>
          <a:prstGeom prst="straightConnector1">
            <a:avLst/>
          </a:prstGeom>
          <a:ln w="47625">
            <a:solidFill>
              <a:srgbClr val="FFC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米菲PPT25-2">
            <a:extLst>
              <a:ext uri="{FF2B5EF4-FFF2-40B4-BE49-F238E27FC236}">
                <a16:creationId xmlns:a16="http://schemas.microsoft.com/office/drawing/2014/main" id="{3ABF131D-DBE2-1E94-BEF6-2D6604AAB0D9}"/>
              </a:ext>
            </a:extLst>
          </p:cNvPr>
          <p:cNvSpPr/>
          <p:nvPr/>
        </p:nvSpPr>
        <p:spPr>
          <a:xfrm>
            <a:off x="1012646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6" name="米菲PPT25-3">
            <a:extLst>
              <a:ext uri="{FF2B5EF4-FFF2-40B4-BE49-F238E27FC236}">
                <a16:creationId xmlns:a16="http://schemas.microsoft.com/office/drawing/2014/main" id="{A0725080-822A-A17E-6FDE-DB76CE24B244}"/>
              </a:ext>
            </a:extLst>
          </p:cNvPr>
          <p:cNvSpPr/>
          <p:nvPr/>
        </p:nvSpPr>
        <p:spPr>
          <a:xfrm>
            <a:off x="2050743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8" name="米菲PPT25-4">
            <a:extLst>
              <a:ext uri="{FF2B5EF4-FFF2-40B4-BE49-F238E27FC236}">
                <a16:creationId xmlns:a16="http://schemas.microsoft.com/office/drawing/2014/main" id="{BB4DFDCC-2929-634A-7FB0-9FEA1470C8D6}"/>
              </a:ext>
            </a:extLst>
          </p:cNvPr>
          <p:cNvSpPr/>
          <p:nvPr/>
        </p:nvSpPr>
        <p:spPr>
          <a:xfrm>
            <a:off x="6822169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9" name="米菲PPT25-5">
            <a:extLst>
              <a:ext uri="{FF2B5EF4-FFF2-40B4-BE49-F238E27FC236}">
                <a16:creationId xmlns:a16="http://schemas.microsoft.com/office/drawing/2014/main" id="{CC39FAA1-325F-B84F-DA9F-01C7EDBC86E8}"/>
              </a:ext>
            </a:extLst>
          </p:cNvPr>
          <p:cNvSpPr/>
          <p:nvPr/>
        </p:nvSpPr>
        <p:spPr>
          <a:xfrm>
            <a:off x="3170070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0" name="米菲PPT25-6">
            <a:extLst>
              <a:ext uri="{FF2B5EF4-FFF2-40B4-BE49-F238E27FC236}">
                <a16:creationId xmlns:a16="http://schemas.microsoft.com/office/drawing/2014/main" id="{369C7CB7-15FF-9649-7517-7065F533DA00}"/>
              </a:ext>
            </a:extLst>
          </p:cNvPr>
          <p:cNvSpPr/>
          <p:nvPr/>
        </p:nvSpPr>
        <p:spPr>
          <a:xfrm>
            <a:off x="5564649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1" name="米菲PPT25-7">
            <a:extLst>
              <a:ext uri="{FF2B5EF4-FFF2-40B4-BE49-F238E27FC236}">
                <a16:creationId xmlns:a16="http://schemas.microsoft.com/office/drawing/2014/main" id="{0CF13679-F1A3-636E-0E71-5B46B4508AFC}"/>
              </a:ext>
            </a:extLst>
          </p:cNvPr>
          <p:cNvSpPr/>
          <p:nvPr/>
        </p:nvSpPr>
        <p:spPr>
          <a:xfrm>
            <a:off x="4354636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3" name="米菲PPT28">
            <a:extLst>
              <a:ext uri="{FF2B5EF4-FFF2-40B4-BE49-F238E27FC236}">
                <a16:creationId xmlns:a16="http://schemas.microsoft.com/office/drawing/2014/main" id="{8B67F3EA-98EC-B574-FD7E-D05D2C56053A}"/>
              </a:ext>
            </a:extLst>
          </p:cNvPr>
          <p:cNvSpPr txBox="1"/>
          <p:nvPr/>
        </p:nvSpPr>
        <p:spPr>
          <a:xfrm>
            <a:off x="54606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时间</a:t>
            </a:r>
          </a:p>
        </p:txBody>
      </p:sp>
      <p:sp>
        <p:nvSpPr>
          <p:cNvPr id="24" name="米菲PPT77">
            <a:extLst>
              <a:ext uri="{FF2B5EF4-FFF2-40B4-BE49-F238E27FC236}">
                <a16:creationId xmlns:a16="http://schemas.microsoft.com/office/drawing/2014/main" id="{29CC2EF1-0903-C4BA-0B9F-F1CA951D4A20}"/>
              </a:ext>
            </a:extLst>
          </p:cNvPr>
          <p:cNvSpPr/>
          <p:nvPr/>
        </p:nvSpPr>
        <p:spPr>
          <a:xfrm>
            <a:off x="2491428" y="1500154"/>
            <a:ext cx="1150041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榜单页改版</a:t>
            </a:r>
          </a:p>
        </p:txBody>
      </p:sp>
      <p:sp>
        <p:nvSpPr>
          <p:cNvPr id="27" name="米菲PPT77">
            <a:extLst>
              <a:ext uri="{FF2B5EF4-FFF2-40B4-BE49-F238E27FC236}">
                <a16:creationId xmlns:a16="http://schemas.microsoft.com/office/drawing/2014/main" id="{D49B7C38-D9DC-B77C-5BEF-970443CD389E}"/>
              </a:ext>
            </a:extLst>
          </p:cNvPr>
          <p:cNvSpPr/>
          <p:nvPr/>
        </p:nvSpPr>
        <p:spPr>
          <a:xfrm>
            <a:off x="686259" y="1769061"/>
            <a:ext cx="2432513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猜喜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-feed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流榜单标签</a:t>
            </a:r>
          </a:p>
        </p:txBody>
      </p:sp>
      <p:sp>
        <p:nvSpPr>
          <p:cNvPr id="28" name="米菲PPT77">
            <a:extLst>
              <a:ext uri="{FF2B5EF4-FFF2-40B4-BE49-F238E27FC236}">
                <a16:creationId xmlns:a16="http://schemas.microsoft.com/office/drawing/2014/main" id="{059EFBD7-C22E-7E06-E2DE-D5075B663ADE}"/>
              </a:ext>
            </a:extLst>
          </p:cNvPr>
          <p:cNvSpPr/>
          <p:nvPr/>
        </p:nvSpPr>
        <p:spPr>
          <a:xfrm>
            <a:off x="686259" y="2023999"/>
            <a:ext cx="1591047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Push-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异地场景下根据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城市推榜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623598A-E55D-F2FE-E870-DA92F79D1A63}"/>
              </a:ext>
            </a:extLst>
          </p:cNvPr>
          <p:cNvSpPr/>
          <p:nvPr/>
        </p:nvSpPr>
        <p:spPr>
          <a:xfrm>
            <a:off x="106625" y="3071181"/>
            <a:ext cx="511603" cy="723052"/>
          </a:xfrm>
          <a:prstGeom prst="roundRect">
            <a:avLst/>
          </a:prstGeom>
          <a:solidFill>
            <a:srgbClr val="FFD6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主题榜单建设</a:t>
            </a:r>
            <a:endParaRPr kumimoji="1" lang="en-US" altLang="zh-CN" sz="900" dirty="0">
              <a:solidFill>
                <a:schemeClr val="tx1"/>
              </a:solidFill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CD9E96C-CD04-5A90-6B68-8921DC59F536}"/>
              </a:ext>
            </a:extLst>
          </p:cNvPr>
          <p:cNvSpPr/>
          <p:nvPr/>
        </p:nvSpPr>
        <p:spPr>
          <a:xfrm>
            <a:off x="106625" y="2272972"/>
            <a:ext cx="511603" cy="723052"/>
          </a:xfrm>
          <a:prstGeom prst="roundRect">
            <a:avLst/>
          </a:prstGeom>
          <a:solidFill>
            <a:srgbClr val="FFD64D">
              <a:alpha val="752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指数榜单建设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48026B6B-5AAE-AD59-CFEB-8FD18BEB823E}"/>
              </a:ext>
            </a:extLst>
          </p:cNvPr>
          <p:cNvSpPr/>
          <p:nvPr/>
        </p:nvSpPr>
        <p:spPr>
          <a:xfrm>
            <a:off x="106625" y="3882710"/>
            <a:ext cx="511603" cy="915614"/>
          </a:xfrm>
          <a:prstGeom prst="roundRect">
            <a:avLst/>
          </a:prstGeom>
          <a:solidFill>
            <a:srgbClr val="FFD64D">
              <a:alpha val="752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chemeClr val="tx1"/>
                </a:solidFill>
              </a:rPr>
              <a:t>AI</a:t>
            </a:r>
          </a:p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赋能</a:t>
            </a:r>
          </a:p>
        </p:txBody>
      </p:sp>
      <p:sp>
        <p:nvSpPr>
          <p:cNvPr id="40" name="米菲PPT26">
            <a:extLst>
              <a:ext uri="{FF2B5EF4-FFF2-40B4-BE49-F238E27FC236}">
                <a16:creationId xmlns:a16="http://schemas.microsoft.com/office/drawing/2014/main" id="{A3A60F65-53A6-AF11-319F-A1810FEB6BD3}"/>
              </a:ext>
            </a:extLst>
          </p:cNvPr>
          <p:cNvSpPr txBox="1"/>
          <p:nvPr/>
        </p:nvSpPr>
        <p:spPr>
          <a:xfrm>
            <a:off x="758882" y="635448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9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41" name="米菲PPT77">
            <a:extLst>
              <a:ext uri="{FF2B5EF4-FFF2-40B4-BE49-F238E27FC236}">
                <a16:creationId xmlns:a16="http://schemas.microsoft.com/office/drawing/2014/main" id="{CA56567A-1711-F100-61B0-9F4322927238}"/>
              </a:ext>
            </a:extLst>
          </p:cNvPr>
          <p:cNvSpPr/>
          <p:nvPr/>
        </p:nvSpPr>
        <p:spPr>
          <a:xfrm>
            <a:off x="686259" y="1231597"/>
            <a:ext cx="288000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-Sug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、快筛、图筛</a:t>
            </a:r>
          </a:p>
        </p:txBody>
      </p:sp>
      <p:sp>
        <p:nvSpPr>
          <p:cNvPr id="42" name="米菲PPT77">
            <a:extLst>
              <a:ext uri="{FF2B5EF4-FFF2-40B4-BE49-F238E27FC236}">
                <a16:creationId xmlns:a16="http://schemas.microsoft.com/office/drawing/2014/main" id="{07C1274F-E08D-F85E-B776-D9D7D83A8A63}"/>
              </a:ext>
            </a:extLst>
          </p:cNvPr>
          <p:cNvSpPr/>
          <p:nvPr/>
        </p:nvSpPr>
        <p:spPr>
          <a:xfrm>
            <a:off x="6480153" y="1496489"/>
            <a:ext cx="2048972" cy="180000"/>
          </a:xfrm>
          <a:prstGeom prst="rect">
            <a:avLst/>
          </a:prstGeom>
          <a:solidFill>
            <a:srgbClr val="FFD74C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-AI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问小团</a:t>
            </a:r>
          </a:p>
        </p:txBody>
      </p:sp>
      <p:sp>
        <p:nvSpPr>
          <p:cNvPr id="44" name="米菲PPT77">
            <a:extLst>
              <a:ext uri="{FF2B5EF4-FFF2-40B4-BE49-F238E27FC236}">
                <a16:creationId xmlns:a16="http://schemas.microsoft.com/office/drawing/2014/main" id="{AC83957E-3733-4557-94C6-9BF15150450B}"/>
              </a:ext>
            </a:extLst>
          </p:cNvPr>
          <p:cNvSpPr/>
          <p:nvPr/>
        </p:nvSpPr>
        <p:spPr>
          <a:xfrm>
            <a:off x="4033477" y="1494635"/>
            <a:ext cx="1600706" cy="180000"/>
          </a:xfrm>
          <a:prstGeom prst="rect">
            <a:avLst/>
          </a:prstGeom>
          <a:solidFill>
            <a:srgbClr val="FFD74C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下挂榜单标签</a:t>
            </a:r>
          </a:p>
        </p:txBody>
      </p:sp>
      <p:sp>
        <p:nvSpPr>
          <p:cNvPr id="51" name="米菲PPT25-4">
            <a:extLst>
              <a:ext uri="{FF2B5EF4-FFF2-40B4-BE49-F238E27FC236}">
                <a16:creationId xmlns:a16="http://schemas.microsoft.com/office/drawing/2014/main" id="{9D5B215E-E4B2-0AA0-4CF4-82E8750F1693}"/>
              </a:ext>
            </a:extLst>
          </p:cNvPr>
          <p:cNvSpPr/>
          <p:nvPr/>
        </p:nvSpPr>
        <p:spPr>
          <a:xfrm>
            <a:off x="7825925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07A015D6-1B7F-8324-5284-336D258A0DDF}"/>
              </a:ext>
            </a:extLst>
          </p:cNvPr>
          <p:cNvSpPr/>
          <p:nvPr/>
        </p:nvSpPr>
        <p:spPr>
          <a:xfrm>
            <a:off x="107666" y="1225815"/>
            <a:ext cx="511603" cy="972000"/>
          </a:xfrm>
          <a:prstGeom prst="roundRect">
            <a:avLst/>
          </a:prstGeom>
          <a:solidFill>
            <a:srgbClr val="FFD64D">
              <a:alpha val="752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动线建设</a:t>
            </a:r>
          </a:p>
        </p:txBody>
      </p:sp>
      <p:sp>
        <p:nvSpPr>
          <p:cNvPr id="56" name="米菲PPT77">
            <a:extLst>
              <a:ext uri="{FF2B5EF4-FFF2-40B4-BE49-F238E27FC236}">
                <a16:creationId xmlns:a16="http://schemas.microsoft.com/office/drawing/2014/main" id="{9A5ABE43-6CA2-D0C1-C695-BF2F2EC6EAB1}"/>
              </a:ext>
            </a:extLst>
          </p:cNvPr>
          <p:cNvSpPr/>
          <p:nvPr/>
        </p:nvSpPr>
        <p:spPr>
          <a:xfrm>
            <a:off x="686259" y="1497032"/>
            <a:ext cx="1248824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上榜门店提权</a:t>
            </a:r>
          </a:p>
        </p:txBody>
      </p:sp>
      <p:sp>
        <p:nvSpPr>
          <p:cNvPr id="2" name="米菲PPT77">
            <a:extLst>
              <a:ext uri="{FF2B5EF4-FFF2-40B4-BE49-F238E27FC236}">
                <a16:creationId xmlns:a16="http://schemas.microsoft.com/office/drawing/2014/main" id="{BF0F1809-7152-6FA6-FD62-820C96C5BCAF}"/>
              </a:ext>
            </a:extLst>
          </p:cNvPr>
          <p:cNvSpPr/>
          <p:nvPr/>
        </p:nvSpPr>
        <p:spPr>
          <a:xfrm>
            <a:off x="6749827" y="1761041"/>
            <a:ext cx="1921721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目的地页、场景页、地点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tab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" name="米菲PPT77">
            <a:extLst>
              <a:ext uri="{FF2B5EF4-FFF2-40B4-BE49-F238E27FC236}">
                <a16:creationId xmlns:a16="http://schemas.microsoft.com/office/drawing/2014/main" id="{89873AFC-C98E-5D3D-EB71-4AFCD7EFD011}"/>
              </a:ext>
            </a:extLst>
          </p:cNvPr>
          <p:cNvSpPr/>
          <p:nvPr/>
        </p:nvSpPr>
        <p:spPr>
          <a:xfrm>
            <a:off x="2088577" y="2278937"/>
            <a:ext cx="2432513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回头客榜建设</a:t>
            </a:r>
          </a:p>
        </p:txBody>
      </p:sp>
      <p:sp>
        <p:nvSpPr>
          <p:cNvPr id="6" name="米菲PPT77">
            <a:extLst>
              <a:ext uri="{FF2B5EF4-FFF2-40B4-BE49-F238E27FC236}">
                <a16:creationId xmlns:a16="http://schemas.microsoft.com/office/drawing/2014/main" id="{E9249AE0-36D5-FE30-E73A-FDD8F63BAAA1}"/>
              </a:ext>
            </a:extLst>
          </p:cNvPr>
          <p:cNvSpPr/>
          <p:nvPr/>
        </p:nvSpPr>
        <p:spPr>
          <a:xfrm>
            <a:off x="4430695" y="2527910"/>
            <a:ext cx="288000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指数榜城市*特色品类扩充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7" name="米菲PPT77">
            <a:extLst>
              <a:ext uri="{FF2B5EF4-FFF2-40B4-BE49-F238E27FC236}">
                <a16:creationId xmlns:a16="http://schemas.microsoft.com/office/drawing/2014/main" id="{3BD58427-8320-1875-FCA8-7895F5F32788}"/>
              </a:ext>
            </a:extLst>
          </p:cNvPr>
          <p:cNvSpPr/>
          <p:nvPr/>
        </p:nvSpPr>
        <p:spPr>
          <a:xfrm>
            <a:off x="5839166" y="2272972"/>
            <a:ext cx="2432513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AOI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扩充商场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9" name="米菲PPT77">
            <a:extLst>
              <a:ext uri="{FF2B5EF4-FFF2-40B4-BE49-F238E27FC236}">
                <a16:creationId xmlns:a16="http://schemas.microsoft.com/office/drawing/2014/main" id="{7D12299B-5331-12F5-4596-813FADFABC2D}"/>
              </a:ext>
            </a:extLst>
          </p:cNvPr>
          <p:cNvSpPr/>
          <p:nvPr/>
        </p:nvSpPr>
        <p:spPr>
          <a:xfrm>
            <a:off x="3750347" y="2816029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指数榜引入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GTV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0" name="米菲PPT77">
            <a:extLst>
              <a:ext uri="{FF2B5EF4-FFF2-40B4-BE49-F238E27FC236}">
                <a16:creationId xmlns:a16="http://schemas.microsoft.com/office/drawing/2014/main" id="{F34F7933-75EE-4000-1813-533F41540FAC}"/>
              </a:ext>
            </a:extLst>
          </p:cNvPr>
          <p:cNvSpPr/>
          <p:nvPr/>
        </p:nvSpPr>
        <p:spPr>
          <a:xfrm>
            <a:off x="5489827" y="2816029"/>
            <a:ext cx="252000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菜品榜建设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6" name="米菲PPT77">
            <a:extLst>
              <a:ext uri="{FF2B5EF4-FFF2-40B4-BE49-F238E27FC236}">
                <a16:creationId xmlns:a16="http://schemas.microsoft.com/office/drawing/2014/main" id="{35A7B18F-382C-D836-D4EC-19344F741B83}"/>
              </a:ext>
            </a:extLst>
          </p:cNvPr>
          <p:cNvSpPr/>
          <p:nvPr/>
        </p:nvSpPr>
        <p:spPr>
          <a:xfrm>
            <a:off x="983574" y="3110733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约会榜（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5.20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35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8" name="米菲PPT77">
            <a:extLst>
              <a:ext uri="{FF2B5EF4-FFF2-40B4-BE49-F238E27FC236}">
                <a16:creationId xmlns:a16="http://schemas.microsoft.com/office/drawing/2014/main" id="{FF79A3E5-D332-68AA-5D4E-C4A63C6B2CA5}"/>
              </a:ext>
            </a:extLst>
          </p:cNvPr>
          <p:cNvSpPr/>
          <p:nvPr/>
        </p:nvSpPr>
        <p:spPr>
          <a:xfrm>
            <a:off x="5377157" y="3359682"/>
            <a:ext cx="1891765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烟火榜（扩城）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9" name="米菲PPT77">
            <a:extLst>
              <a:ext uri="{FF2B5EF4-FFF2-40B4-BE49-F238E27FC236}">
                <a16:creationId xmlns:a16="http://schemas.microsoft.com/office/drawing/2014/main" id="{A761E21B-B711-91E0-BFBD-0D233E102E1E}"/>
              </a:ext>
            </a:extLst>
          </p:cNvPr>
          <p:cNvSpPr/>
          <p:nvPr/>
        </p:nvSpPr>
        <p:spPr>
          <a:xfrm>
            <a:off x="3668803" y="3353547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亲子榜（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7.10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SAB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9" name="米菲PPT77">
            <a:extLst>
              <a:ext uri="{FF2B5EF4-FFF2-40B4-BE49-F238E27FC236}">
                <a16:creationId xmlns:a16="http://schemas.microsoft.com/office/drawing/2014/main" id="{B0944F60-F492-7AB2-639F-AC979544F7F9}"/>
              </a:ext>
            </a:extLst>
          </p:cNvPr>
          <p:cNvSpPr/>
          <p:nvPr/>
        </p:nvSpPr>
        <p:spPr>
          <a:xfrm>
            <a:off x="983574" y="3602142"/>
            <a:ext cx="3371062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旅游榜扩城扩菜（当地人推荐、特色菜）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0" name="米菲PPT77">
            <a:extLst>
              <a:ext uri="{FF2B5EF4-FFF2-40B4-BE49-F238E27FC236}">
                <a16:creationId xmlns:a16="http://schemas.microsoft.com/office/drawing/2014/main" id="{2DDB55D7-EC9D-B54A-58A9-C31FBAE9FCA6}"/>
              </a:ext>
            </a:extLst>
          </p:cNvPr>
          <p:cNvSpPr/>
          <p:nvPr/>
        </p:nvSpPr>
        <p:spPr>
          <a:xfrm>
            <a:off x="4243885" y="3110733"/>
            <a:ext cx="162681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约会榜（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8.7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扩城）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9" name="米菲PPT77">
            <a:extLst>
              <a:ext uri="{FF2B5EF4-FFF2-40B4-BE49-F238E27FC236}">
                <a16:creationId xmlns:a16="http://schemas.microsoft.com/office/drawing/2014/main" id="{B14BF0D9-A578-3301-93CB-137A4BCE009D}"/>
              </a:ext>
            </a:extLst>
          </p:cNvPr>
          <p:cNvSpPr/>
          <p:nvPr/>
        </p:nvSpPr>
        <p:spPr>
          <a:xfrm>
            <a:off x="1579537" y="3880825"/>
            <a:ext cx="162681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榜单生产及投放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63" name="米菲PPT77">
            <a:extLst>
              <a:ext uri="{FF2B5EF4-FFF2-40B4-BE49-F238E27FC236}">
                <a16:creationId xmlns:a16="http://schemas.microsoft.com/office/drawing/2014/main" id="{C63BE82F-6E80-4FB6-329D-2DD5A5EC1461}"/>
              </a:ext>
            </a:extLst>
          </p:cNvPr>
          <p:cNvSpPr/>
          <p:nvPr/>
        </p:nvSpPr>
        <p:spPr>
          <a:xfrm>
            <a:off x="5619095" y="3603315"/>
            <a:ext cx="2419586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聚餐、商务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70" name="米菲PPT77">
            <a:extLst>
              <a:ext uri="{FF2B5EF4-FFF2-40B4-BE49-F238E27FC236}">
                <a16:creationId xmlns:a16="http://schemas.microsoft.com/office/drawing/2014/main" id="{204B416A-874F-A751-8C5B-C4B88BA392B8}"/>
              </a:ext>
            </a:extLst>
          </p:cNvPr>
          <p:cNvSpPr/>
          <p:nvPr/>
        </p:nvSpPr>
        <p:spPr>
          <a:xfrm>
            <a:off x="6480153" y="4374923"/>
            <a:ext cx="1878344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457200"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需求洞察及分析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Agent(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持续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)</a:t>
            </a:r>
            <a:endParaRPr lang="zh-CN" altLang="en-US" sz="9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5" name="米菲PPT77">
            <a:extLst>
              <a:ext uri="{FF2B5EF4-FFF2-40B4-BE49-F238E27FC236}">
                <a16:creationId xmlns:a16="http://schemas.microsoft.com/office/drawing/2014/main" id="{5589929C-38D3-9E98-1323-6C36CA0AB62B}"/>
              </a:ext>
            </a:extLst>
          </p:cNvPr>
          <p:cNvSpPr/>
          <p:nvPr/>
        </p:nvSpPr>
        <p:spPr>
          <a:xfrm>
            <a:off x="3238901" y="4618324"/>
            <a:ext cx="5791636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主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（持续）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6" name="米菲PPT77">
            <a:extLst>
              <a:ext uri="{FF2B5EF4-FFF2-40B4-BE49-F238E27FC236}">
                <a16:creationId xmlns:a16="http://schemas.microsoft.com/office/drawing/2014/main" id="{02F5D1D5-4A06-246A-B378-73A00B44F1BB}"/>
              </a:ext>
            </a:extLst>
          </p:cNvPr>
          <p:cNvSpPr/>
          <p:nvPr/>
        </p:nvSpPr>
        <p:spPr>
          <a:xfrm>
            <a:off x="3245739" y="3880061"/>
            <a:ext cx="162000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457200"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候选集数据生产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 (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持续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)</a:t>
            </a:r>
            <a:endParaRPr lang="zh-CN" altLang="en-US" sz="9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6" name="米菲PPT77">
            <a:extLst>
              <a:ext uri="{FF2B5EF4-FFF2-40B4-BE49-F238E27FC236}">
                <a16:creationId xmlns:a16="http://schemas.microsoft.com/office/drawing/2014/main" id="{36E08686-F21D-E8CE-FE85-BF998DD81E01}"/>
              </a:ext>
            </a:extLst>
          </p:cNvPr>
          <p:cNvSpPr/>
          <p:nvPr/>
        </p:nvSpPr>
        <p:spPr>
          <a:xfrm>
            <a:off x="1678023" y="3348003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烟火榜（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10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8" name="米菲PPT77">
            <a:extLst>
              <a:ext uri="{FF2B5EF4-FFF2-40B4-BE49-F238E27FC236}">
                <a16:creationId xmlns:a16="http://schemas.microsoft.com/office/drawing/2014/main" id="{998CF404-6008-A21F-621E-6BFCB397A89C}"/>
              </a:ext>
            </a:extLst>
          </p:cNvPr>
          <p:cNvSpPr/>
          <p:nvPr/>
        </p:nvSpPr>
        <p:spPr>
          <a:xfrm>
            <a:off x="4686482" y="4127492"/>
            <a:ext cx="1878344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457200"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数据监测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Agent (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持续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)</a:t>
            </a:r>
            <a:endParaRPr lang="zh-CN" altLang="en-US" sz="9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5" name="米菲PPT77">
            <a:extLst>
              <a:ext uri="{FF2B5EF4-FFF2-40B4-BE49-F238E27FC236}">
                <a16:creationId xmlns:a16="http://schemas.microsoft.com/office/drawing/2014/main" id="{C9ED504B-832B-9A18-8562-8BDD0B2D7986}"/>
              </a:ext>
            </a:extLst>
          </p:cNvPr>
          <p:cNvSpPr/>
          <p:nvPr/>
        </p:nvSpPr>
        <p:spPr>
          <a:xfrm>
            <a:off x="5936422" y="3103501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非遗榜（试点）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7" name="米菲PPT77">
            <a:extLst>
              <a:ext uri="{FF2B5EF4-FFF2-40B4-BE49-F238E27FC236}">
                <a16:creationId xmlns:a16="http://schemas.microsoft.com/office/drawing/2014/main" id="{38CA4CC1-60DE-4D56-03EB-17D374E0AE6D}"/>
              </a:ext>
            </a:extLst>
          </p:cNvPr>
          <p:cNvSpPr/>
          <p:nvPr/>
        </p:nvSpPr>
        <p:spPr>
          <a:xfrm>
            <a:off x="4482208" y="1754808"/>
            <a:ext cx="1591047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Push-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异地场景下产品化</a:t>
            </a:r>
          </a:p>
        </p:txBody>
      </p:sp>
      <p:sp>
        <p:nvSpPr>
          <p:cNvPr id="62" name="米菲PPT77">
            <a:extLst>
              <a:ext uri="{FF2B5EF4-FFF2-40B4-BE49-F238E27FC236}">
                <a16:creationId xmlns:a16="http://schemas.microsoft.com/office/drawing/2014/main" id="{74F360CC-CE39-C21F-EC90-68CF850A7F40}"/>
              </a:ext>
            </a:extLst>
          </p:cNvPr>
          <p:cNvSpPr/>
          <p:nvPr/>
        </p:nvSpPr>
        <p:spPr>
          <a:xfrm>
            <a:off x="4732027" y="1232546"/>
            <a:ext cx="2432513" cy="183600"/>
          </a:xfrm>
          <a:prstGeom prst="rect">
            <a:avLst/>
          </a:prstGeom>
          <a:solidFill>
            <a:srgbClr val="FFD74C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sug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品类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/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菜品扩充</a:t>
            </a:r>
          </a:p>
        </p:txBody>
      </p:sp>
    </p:spTree>
    <p:extLst>
      <p:ext uri="{BB962C8B-B14F-4D97-AF65-F5344CB8AC3E}">
        <p14:creationId xmlns:p14="http://schemas.microsoft.com/office/powerpoint/2010/main" val="1942530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E7EE0AB2-0602-02B6-078C-E4B83B4A43AA}"/>
              </a:ext>
            </a:extLst>
          </p:cNvPr>
          <p:cNvSpPr/>
          <p:nvPr/>
        </p:nvSpPr>
        <p:spPr>
          <a:xfrm>
            <a:off x="995746" y="1359660"/>
            <a:ext cx="1580444" cy="13216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E97726F-55C1-4761-FBB8-7E5C0A6739D0}"/>
              </a:ext>
            </a:extLst>
          </p:cNvPr>
          <p:cNvSpPr/>
          <p:nvPr/>
        </p:nvSpPr>
        <p:spPr>
          <a:xfrm>
            <a:off x="995746" y="2761316"/>
            <a:ext cx="1580444" cy="13216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FA8637E-162E-B572-2B62-1768E6175305}"/>
              </a:ext>
            </a:extLst>
          </p:cNvPr>
          <p:cNvSpPr/>
          <p:nvPr/>
        </p:nvSpPr>
        <p:spPr>
          <a:xfrm>
            <a:off x="2680223" y="1356064"/>
            <a:ext cx="1580444" cy="13252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D4DFE5E-4860-8947-8B36-88000244D56A}"/>
              </a:ext>
            </a:extLst>
          </p:cNvPr>
          <p:cNvSpPr/>
          <p:nvPr/>
        </p:nvSpPr>
        <p:spPr>
          <a:xfrm>
            <a:off x="2680223" y="2761316"/>
            <a:ext cx="1580444" cy="1321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10B3377-3EE7-069F-BD69-94153EA90EF5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900" dirty="0">
                <a:latin typeface="+mn-ea"/>
              </a:rPr>
              <a:t>3.</a:t>
            </a:r>
            <a:r>
              <a:rPr lang="zh-CN" altLang="en-US" sz="1900" dirty="0">
                <a:latin typeface="+mn-ea"/>
              </a:rPr>
              <a:t>榜单矩阵建设</a:t>
            </a:r>
            <a:r>
              <a:rPr lang="en-US" altLang="zh-CN" sz="1900" dirty="0">
                <a:latin typeface="+mn-ea"/>
              </a:rPr>
              <a:t>-</a:t>
            </a:r>
            <a:r>
              <a:rPr lang="zh-CN" altLang="en-US" sz="1900" dirty="0">
                <a:latin typeface="+mn-ea"/>
                <a:ea typeface="+mn-ea"/>
              </a:rPr>
              <a:t>承接用户菜品决策</a:t>
            </a:r>
            <a:endParaRPr lang="zh-CN" altLang="en-US" sz="19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9D0299-CADC-E2AA-8851-F595337E6624}"/>
              </a:ext>
            </a:extLst>
          </p:cNvPr>
          <p:cNvSpPr/>
          <p:nvPr/>
        </p:nvSpPr>
        <p:spPr>
          <a:xfrm>
            <a:off x="100584" y="428937"/>
            <a:ext cx="8933687" cy="486961"/>
          </a:xfrm>
          <a:prstGeom prst="rect">
            <a:avLst/>
          </a:prstGeom>
          <a:ln w="9525">
            <a:noFill/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5A4244C-3E74-4F47-2A18-B14CE966FAE1}"/>
              </a:ext>
            </a:extLst>
          </p:cNvPr>
          <p:cNvSpPr txBox="1"/>
          <p:nvPr/>
        </p:nvSpPr>
        <p:spPr>
          <a:xfrm>
            <a:off x="100584" y="457092"/>
            <a:ext cx="8872231" cy="45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  <a:tabLst>
                <a:tab pos="4664075" algn="l"/>
              </a:tabLst>
            </a:pPr>
            <a:r>
              <a:rPr lang="zh-CN" altLang="en-US" sz="1200" dirty="0">
                <a:latin typeface="+mn-ea"/>
              </a:rPr>
              <a:t>过去榜单主要以店为对象，满足用户找店决策。从搜索</a:t>
            </a:r>
            <a:r>
              <a:rPr lang="en-US" altLang="zh-CN" sz="1200" dirty="0">
                <a:latin typeface="+mn-ea"/>
              </a:rPr>
              <a:t>QV</a:t>
            </a:r>
            <a:r>
              <a:rPr lang="zh-CN" altLang="en-US" sz="1200" dirty="0">
                <a:latin typeface="+mn-ea"/>
              </a:rPr>
              <a:t>看，用户基于菜品决策的需求同样旺盛。一方面应持续扩展特色菜的城市、菜品覆盖。另一方面，基于</a:t>
            </a:r>
            <a:r>
              <a:rPr lang="zh-CN" altLang="en-US" sz="1200" dirty="0">
                <a:effectLst/>
              </a:rPr>
              <a:t>菜品信息的日益完善及智能点餐的覆盖提升，逐步</a:t>
            </a:r>
            <a:r>
              <a:rPr lang="zh-CN" altLang="en-US" sz="1200" dirty="0">
                <a:latin typeface="+mn-ea"/>
              </a:rPr>
              <a:t>试点时令尝新等菜品榜单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716FDCE-0712-85BB-01E3-25458D98F7D2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2622079" y="1232013"/>
            <a:ext cx="0" cy="3003829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8E061FC-1EA0-CFFC-BE6A-7ACC7D4B3A81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>
          <a:xfrm>
            <a:off x="853340" y="2712716"/>
            <a:ext cx="3496320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66A5902E-B87F-32D9-3B89-4F108FD1391E}"/>
              </a:ext>
            </a:extLst>
          </p:cNvPr>
          <p:cNvSpPr txBox="1"/>
          <p:nvPr/>
        </p:nvSpPr>
        <p:spPr>
          <a:xfrm>
            <a:off x="37078" y="2574216"/>
            <a:ext cx="816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菜品明确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55BF8CB-818C-005F-1B6B-FFF2CDAAD526}"/>
              </a:ext>
            </a:extLst>
          </p:cNvPr>
          <p:cNvSpPr txBox="1"/>
          <p:nvPr/>
        </p:nvSpPr>
        <p:spPr>
          <a:xfrm>
            <a:off x="4349660" y="2574216"/>
            <a:ext cx="852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菜品模糊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E3A63A1-6F44-5B81-4FAF-89043D124ED5}"/>
              </a:ext>
            </a:extLst>
          </p:cNvPr>
          <p:cNvSpPr txBox="1"/>
          <p:nvPr/>
        </p:nvSpPr>
        <p:spPr>
          <a:xfrm>
            <a:off x="1826869" y="4435154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门店明确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27F171B-8CB1-071A-6667-A29079C90CFC}"/>
              </a:ext>
            </a:extLst>
          </p:cNvPr>
          <p:cNvSpPr txBox="1"/>
          <p:nvPr/>
        </p:nvSpPr>
        <p:spPr>
          <a:xfrm>
            <a:off x="1826869" y="955014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门店模糊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F49705C-E95E-F93E-58E3-37D180459124}"/>
              </a:ext>
            </a:extLst>
          </p:cNvPr>
          <p:cNvSpPr txBox="1"/>
          <p:nvPr/>
        </p:nvSpPr>
        <p:spPr>
          <a:xfrm>
            <a:off x="1002588" y="3272555"/>
            <a:ext cx="159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无需决策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33CED8A-0A5B-F985-5D57-15519DC2375D}"/>
              </a:ext>
            </a:extLst>
          </p:cNvPr>
          <p:cNvSpPr txBox="1"/>
          <p:nvPr/>
        </p:nvSpPr>
        <p:spPr>
          <a:xfrm>
            <a:off x="2621611" y="3263256"/>
            <a:ext cx="15904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门店招牌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（推荐菜、热销菜）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46B0CD3-7EEB-0033-11BC-2457FEDB1C8B}"/>
              </a:ext>
            </a:extLst>
          </p:cNvPr>
          <p:cNvSpPr txBox="1"/>
          <p:nvPr/>
        </p:nvSpPr>
        <p:spPr>
          <a:xfrm>
            <a:off x="2258720" y="1891098"/>
            <a:ext cx="15794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时令菜品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5BE9C84-197F-3A7B-7EA4-0126AD7354F3}"/>
              </a:ext>
            </a:extLst>
          </p:cNvPr>
          <p:cNvSpPr txBox="1"/>
          <p:nvPr/>
        </p:nvSpPr>
        <p:spPr>
          <a:xfrm>
            <a:off x="1773306" y="1890928"/>
            <a:ext cx="846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当地特色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D424B1F-D92C-AFE8-DFF4-5E63B2781A9F}"/>
              </a:ext>
            </a:extLst>
          </p:cNvPr>
          <p:cNvSpPr txBox="1"/>
          <p:nvPr/>
        </p:nvSpPr>
        <p:spPr>
          <a:xfrm>
            <a:off x="983909" y="1900865"/>
            <a:ext cx="90096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特定菜品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（如战斧牛排）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900A4EE3-781D-6FE2-EF1A-0EEC9CC770DD}"/>
              </a:ext>
            </a:extLst>
          </p:cNvPr>
          <p:cNvCxnSpPr>
            <a:cxnSpLocks/>
          </p:cNvCxnSpPr>
          <p:nvPr/>
        </p:nvCxnSpPr>
        <p:spPr>
          <a:xfrm>
            <a:off x="1831997" y="1509194"/>
            <a:ext cx="0" cy="1080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82A7C1EE-7A1B-7654-4AAC-6D432D4CFE07}"/>
              </a:ext>
            </a:extLst>
          </p:cNvPr>
          <p:cNvSpPr txBox="1"/>
          <p:nvPr/>
        </p:nvSpPr>
        <p:spPr>
          <a:xfrm>
            <a:off x="2624204" y="1722355"/>
            <a:ext cx="84671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③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18F13FB-195C-BAEE-8A7E-823DAEE885F8}"/>
              </a:ext>
            </a:extLst>
          </p:cNvPr>
          <p:cNvSpPr txBox="1"/>
          <p:nvPr/>
        </p:nvSpPr>
        <p:spPr>
          <a:xfrm>
            <a:off x="1286354" y="1697359"/>
            <a:ext cx="3148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①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D915622-6876-78AD-30AE-DFADE431DB17}"/>
              </a:ext>
            </a:extLst>
          </p:cNvPr>
          <p:cNvSpPr txBox="1"/>
          <p:nvPr/>
        </p:nvSpPr>
        <p:spPr>
          <a:xfrm>
            <a:off x="2011617" y="1722355"/>
            <a:ext cx="3148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②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F104371-45A1-C91D-8CB7-56E2BDA4FA80}"/>
              </a:ext>
            </a:extLst>
          </p:cNvPr>
          <p:cNvSpPr txBox="1"/>
          <p:nvPr/>
        </p:nvSpPr>
        <p:spPr>
          <a:xfrm>
            <a:off x="3014914" y="3078252"/>
            <a:ext cx="8467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⑤</a:t>
            </a:r>
          </a:p>
        </p:txBody>
      </p:sp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964CC2ED-BA91-D8FF-3979-A3AD662E3C94}"/>
              </a:ext>
            </a:extLst>
          </p:cNvPr>
          <p:cNvGraphicFramePr>
            <a:graphicFrameLocks noGrp="1"/>
          </p:cNvGraphicFramePr>
          <p:nvPr/>
        </p:nvGraphicFramePr>
        <p:xfrm>
          <a:off x="5366773" y="1147611"/>
          <a:ext cx="3557419" cy="3428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2090">
                  <a:extLst>
                    <a:ext uri="{9D8B030D-6E8A-4147-A177-3AD203B41FA5}">
                      <a16:colId xmlns:a16="http://schemas.microsoft.com/office/drawing/2014/main" val="1332178433"/>
                    </a:ext>
                  </a:extLst>
                </a:gridCol>
                <a:gridCol w="599329">
                  <a:extLst>
                    <a:ext uri="{9D8B030D-6E8A-4147-A177-3AD203B41FA5}">
                      <a16:colId xmlns:a16="http://schemas.microsoft.com/office/drawing/2014/main" val="3016871320"/>
                    </a:ext>
                  </a:extLst>
                </a:gridCol>
                <a:gridCol w="641839">
                  <a:extLst>
                    <a:ext uri="{9D8B030D-6E8A-4147-A177-3AD203B41FA5}">
                      <a16:colId xmlns:a16="http://schemas.microsoft.com/office/drawing/2014/main" val="2121448744"/>
                    </a:ext>
                  </a:extLst>
                </a:gridCol>
                <a:gridCol w="958361">
                  <a:extLst>
                    <a:ext uri="{9D8B030D-6E8A-4147-A177-3AD203B41FA5}">
                      <a16:colId xmlns:a16="http://schemas.microsoft.com/office/drawing/2014/main" val="345367386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0246068"/>
                    </a:ext>
                  </a:extLst>
                </a:gridCol>
              </a:tblGrid>
              <a:tr h="2486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类型</a:t>
                      </a:r>
                      <a:endParaRPr lang="zh-CN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决策逻辑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选菜标准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资产引用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依赖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现状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634842"/>
                  </a:ext>
                </a:extLst>
              </a:tr>
              <a:tr h="4607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①特定菜品</a:t>
                      </a:r>
                      <a:endParaRPr lang="en-US" altLang="zh-CN" sz="9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以菜找店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一定需求规模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菜品信息</a:t>
                      </a:r>
                      <a:r>
                        <a:rPr lang="zh-CN" altLang="en-US" sz="8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（更新时间、原子菜关系、图谱关系等）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菜品资产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（搜索量、热度、评价量、交易量等）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菜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店关系资产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（店内点赞</a:t>
                      </a:r>
                      <a:r>
                        <a:rPr lang="en-US" altLang="zh-CN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收藏、评价、交易等）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</a:t>
                      </a:r>
                      <a:r>
                        <a:rPr lang="zh-CN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门店资产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031381"/>
                  </a:ext>
                </a:extLst>
              </a:tr>
              <a:tr h="96344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+mn-ea"/>
                        </a:rPr>
                        <a:t>②当地特色</a:t>
                      </a:r>
                      <a:endParaRPr lang="en-US" altLang="zh-CN" sz="90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以菜找店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城市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特色菜字典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latin typeface="+mn-ea"/>
                        </a:rPr>
                        <a:t>特色菜，陆续扩城扩菜</a:t>
                      </a:r>
                      <a:endParaRPr lang="en-US" altLang="zh-CN" sz="900" dirty="0">
                        <a:latin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115573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+mn-ea"/>
                        </a:rPr>
                        <a:t>③时令菜品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以菜找店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时令菜知识图谱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试点春鲜榜，验证迭代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061612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④尝新尝热</a:t>
                      </a:r>
                      <a:endParaRPr lang="zh-CN" altLang="en-US" sz="9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找菜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店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新品标准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一定热度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点评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奶茶新品榜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253701"/>
                  </a:ext>
                </a:extLst>
              </a:tr>
              <a:tr h="58527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</a:rPr>
                        <a:t>④</a:t>
                      </a:r>
                      <a:r>
                        <a:rPr lang="zh-CN" altLang="en-US" sz="900" b="1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门店招牌</a:t>
                      </a:r>
                      <a:endParaRPr lang="en" sz="900" b="1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进店选菜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满足定义</a:t>
                      </a:r>
                      <a:r>
                        <a:rPr lang="en-US" altLang="zh-CN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门槛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推荐菜为主</a:t>
                      </a:r>
                      <a:endParaRPr lang="en-US" altLang="zh-CN" sz="90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392682"/>
                  </a:ext>
                </a:extLst>
              </a:tr>
            </a:tbl>
          </a:graphicData>
        </a:graphic>
      </p:graphicFrame>
      <p:sp>
        <p:nvSpPr>
          <p:cNvPr id="100" name="文本框 99">
            <a:extLst>
              <a:ext uri="{FF2B5EF4-FFF2-40B4-BE49-F238E27FC236}">
                <a16:creationId xmlns:a16="http://schemas.microsoft.com/office/drawing/2014/main" id="{BDBA5D32-ED70-5EF4-7A52-9449ACDBC0B8}"/>
              </a:ext>
            </a:extLst>
          </p:cNvPr>
          <p:cNvSpPr txBox="1"/>
          <p:nvPr/>
        </p:nvSpPr>
        <p:spPr>
          <a:xfrm>
            <a:off x="3415230" y="1888164"/>
            <a:ext cx="8557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尝新尝热</a:t>
            </a:r>
            <a:endParaRPr lang="zh-CN" altLang="en-US" sz="1200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4E7EC94-F6DE-AB41-E14E-233B9DDE4FFB}"/>
              </a:ext>
            </a:extLst>
          </p:cNvPr>
          <p:cNvSpPr txBox="1"/>
          <p:nvPr/>
        </p:nvSpPr>
        <p:spPr>
          <a:xfrm>
            <a:off x="3409720" y="1722355"/>
            <a:ext cx="84671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④</a:t>
            </a: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3D2CE200-667C-CFC9-05F2-FA837E50FC27}"/>
              </a:ext>
            </a:extLst>
          </p:cNvPr>
          <p:cNvCxnSpPr>
            <a:cxnSpLocks/>
          </p:cNvCxnSpPr>
          <p:nvPr/>
        </p:nvCxnSpPr>
        <p:spPr>
          <a:xfrm>
            <a:off x="3432237" y="1509194"/>
            <a:ext cx="0" cy="1080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3EC90C5D-2C7B-2306-2CFB-B04CBAF3B5C6}"/>
              </a:ext>
            </a:extLst>
          </p:cNvPr>
          <p:cNvSpPr/>
          <p:nvPr/>
        </p:nvSpPr>
        <p:spPr>
          <a:xfrm>
            <a:off x="1414678" y="1224453"/>
            <a:ext cx="834599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菜品精搜</a:t>
            </a: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D325221A-BEE7-23B2-B058-2B9568E35A50}"/>
              </a:ext>
            </a:extLst>
          </p:cNvPr>
          <p:cNvSpPr/>
          <p:nvPr/>
        </p:nvSpPr>
        <p:spPr>
          <a:xfrm>
            <a:off x="2997384" y="3925168"/>
            <a:ext cx="893370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POI</a:t>
            </a:r>
            <a:r>
              <a:rPr lang="zh-CN" altLang="en-US" sz="1200" dirty="0">
                <a:solidFill>
                  <a:schemeClr val="tx1"/>
                </a:solidFill>
              </a:rPr>
              <a:t>、点餐</a:t>
            </a: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EE7A4142-340C-7219-0F03-5699592CD2D6}"/>
              </a:ext>
            </a:extLst>
          </p:cNvPr>
          <p:cNvSpPr/>
          <p:nvPr/>
        </p:nvSpPr>
        <p:spPr>
          <a:xfrm>
            <a:off x="2852838" y="1200463"/>
            <a:ext cx="1328305" cy="2500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菜品泛搜、推荐</a:t>
            </a:r>
          </a:p>
        </p:txBody>
      </p:sp>
    </p:spTree>
    <p:extLst>
      <p:ext uri="{BB962C8B-B14F-4D97-AF65-F5344CB8AC3E}">
        <p14:creationId xmlns:p14="http://schemas.microsoft.com/office/powerpoint/2010/main" val="717399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33C6A02-E866-5AD8-DAE2-649807DC42FC}"/>
              </a:ext>
            </a:extLst>
          </p:cNvPr>
          <p:cNvSpPr txBox="1"/>
          <p:nvPr/>
        </p:nvSpPr>
        <p:spPr>
          <a:xfrm>
            <a:off x="446029" y="7596098"/>
            <a:ext cx="20195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当地人线下资产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好店挖掘</a:t>
            </a:r>
            <a:endParaRPr lang="zh-CN" altLang="en-US" sz="1200" dirty="0"/>
          </a:p>
        </p:txBody>
      </p:sp>
      <p:sp>
        <p:nvSpPr>
          <p:cNvPr id="54" name="Shape 46">
            <a:extLst>
              <a:ext uri="{FF2B5EF4-FFF2-40B4-BE49-F238E27FC236}">
                <a16:creationId xmlns:a16="http://schemas.microsoft.com/office/drawing/2014/main" id="{B8F6348C-8D72-D94C-64BB-F11347123EF0}"/>
              </a:ext>
            </a:extLst>
          </p:cNvPr>
          <p:cNvSpPr/>
          <p:nvPr/>
        </p:nvSpPr>
        <p:spPr>
          <a:xfrm>
            <a:off x="-1010694" y="26382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7" name="Shape 65">
            <a:extLst>
              <a:ext uri="{FF2B5EF4-FFF2-40B4-BE49-F238E27FC236}">
                <a16:creationId xmlns:a16="http://schemas.microsoft.com/office/drawing/2014/main" id="{41872BA8-CAA4-13DB-8C2C-29192EFDC64E}"/>
              </a:ext>
            </a:extLst>
          </p:cNvPr>
          <p:cNvSpPr/>
          <p:nvPr/>
        </p:nvSpPr>
        <p:spPr>
          <a:xfrm>
            <a:off x="-1010693" y="2010886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58" name="Shape 84">
            <a:extLst>
              <a:ext uri="{FF2B5EF4-FFF2-40B4-BE49-F238E27FC236}">
                <a16:creationId xmlns:a16="http://schemas.microsoft.com/office/drawing/2014/main" id="{93A3D8E7-1B58-4B78-EAD9-9BC7C5075A18}"/>
              </a:ext>
            </a:extLst>
          </p:cNvPr>
          <p:cNvSpPr/>
          <p:nvPr/>
        </p:nvSpPr>
        <p:spPr>
          <a:xfrm>
            <a:off x="-1010693" y="3087687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9" name="Shape 46">
            <a:extLst>
              <a:ext uri="{FF2B5EF4-FFF2-40B4-BE49-F238E27FC236}">
                <a16:creationId xmlns:a16="http://schemas.microsoft.com/office/drawing/2014/main" id="{980E4040-C075-B1B2-B8F6-3F3ECBCC7039}"/>
              </a:ext>
            </a:extLst>
          </p:cNvPr>
          <p:cNvSpPr/>
          <p:nvPr/>
        </p:nvSpPr>
        <p:spPr>
          <a:xfrm>
            <a:off x="-1019636" y="1002929"/>
            <a:ext cx="354711" cy="817977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表达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C2A7D29F-40C8-5B3E-DA2A-80D011050A80}"/>
              </a:ext>
            </a:extLst>
          </p:cNvPr>
          <p:cNvCxnSpPr/>
          <p:nvPr/>
        </p:nvCxnSpPr>
        <p:spPr>
          <a:xfrm rot="10800000" flipH="1" flipV="1">
            <a:off x="-1061367" y="446834"/>
            <a:ext cx="50673" cy="3299601"/>
          </a:xfrm>
          <a:prstGeom prst="bentConnector3">
            <a:avLst>
              <a:gd name="adj1" fmla="val -451128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276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A3D66DB5-232B-D39D-A923-FFE127B08D33}"/>
              </a:ext>
            </a:extLst>
          </p:cNvPr>
          <p:cNvSpPr txBox="1">
            <a:spLocks/>
          </p:cNvSpPr>
          <p:nvPr/>
        </p:nvSpPr>
        <p:spPr>
          <a:xfrm>
            <a:off x="53128" y="112366"/>
            <a:ext cx="1448570" cy="45262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/>
              <a:t>指标体系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D6353CA-1DBB-BD3B-2A39-93A77DE5D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145259"/>
              </p:ext>
            </p:extLst>
          </p:nvPr>
        </p:nvGraphicFramePr>
        <p:xfrm>
          <a:off x="214473" y="564995"/>
          <a:ext cx="8715054" cy="6322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7231">
                  <a:extLst>
                    <a:ext uri="{9D8B030D-6E8A-4147-A177-3AD203B41FA5}">
                      <a16:colId xmlns:a16="http://schemas.microsoft.com/office/drawing/2014/main" val="1932755361"/>
                    </a:ext>
                  </a:extLst>
                </a:gridCol>
                <a:gridCol w="1739643">
                  <a:extLst>
                    <a:ext uri="{9D8B030D-6E8A-4147-A177-3AD203B41FA5}">
                      <a16:colId xmlns:a16="http://schemas.microsoft.com/office/drawing/2014/main" val="3415863413"/>
                    </a:ext>
                  </a:extLst>
                </a:gridCol>
                <a:gridCol w="2639852">
                  <a:extLst>
                    <a:ext uri="{9D8B030D-6E8A-4147-A177-3AD203B41FA5}">
                      <a16:colId xmlns:a16="http://schemas.microsoft.com/office/drawing/2014/main" val="2551781743"/>
                    </a:ext>
                  </a:extLst>
                </a:gridCol>
                <a:gridCol w="1607419">
                  <a:extLst>
                    <a:ext uri="{9D8B030D-6E8A-4147-A177-3AD203B41FA5}">
                      <a16:colId xmlns:a16="http://schemas.microsoft.com/office/drawing/2014/main" val="1103326203"/>
                    </a:ext>
                  </a:extLst>
                </a:gridCol>
                <a:gridCol w="1260909">
                  <a:extLst>
                    <a:ext uri="{9D8B030D-6E8A-4147-A177-3AD203B41FA5}">
                      <a16:colId xmlns:a16="http://schemas.microsoft.com/office/drawing/2014/main" val="4191450290"/>
                    </a:ext>
                  </a:extLst>
                </a:gridCol>
              </a:tblGrid>
              <a:tr h="39149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指标项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备注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口径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数据现状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渗透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2094633"/>
                  </a:ext>
                </a:extLst>
              </a:tr>
              <a:tr h="551656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资产归因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（最难的部分，在于如何归因）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资产归因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en-US" dirty="0"/>
                        <a:t>流量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用户决策链路中，深度交互过（点击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有效停留）带有资产标签或榜单的流量规模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点击包含跳转和未跳转标签区域，标签长停留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114800"/>
                  </a:ext>
                </a:extLst>
              </a:tr>
              <a:tr h="2313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资产归因</a:t>
                      </a:r>
                      <a:r>
                        <a:rPr lang="en-US" altLang="zh-CN" dirty="0"/>
                        <a:t>-GTV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上述的</a:t>
                      </a:r>
                      <a:r>
                        <a:rPr lang="en-US" altLang="zh-CN" dirty="0"/>
                        <a:t>GTV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461652"/>
                  </a:ext>
                </a:extLst>
              </a:tr>
              <a:tr h="551656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资产归因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en-US" dirty="0"/>
                        <a:t>有效交互率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点击</a:t>
                      </a:r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有效停留的转换率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点击</a:t>
                      </a:r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有效停留等</a:t>
                      </a:r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/ [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标签</a:t>
                      </a:r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榜单真实曝光量</a:t>
                      </a:r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658267"/>
                  </a:ext>
                </a:extLst>
              </a:tr>
              <a:tr h="151260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信任与决策提效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（难的部分在于上线后如何持续观测，以及对国模的影响）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rgbClr val="FF0000"/>
                          </a:solidFill>
                        </a:rPr>
                        <a:t>资产信任溢价率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zh-CN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zh-CN" altLang="en-US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带有某资产标签的转化率</a:t>
                      </a:r>
                      <a:r>
                        <a:rPr lang="en-US" altLang="zh-CN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- [</a:t>
                      </a:r>
                      <a:r>
                        <a:rPr lang="zh-CN" altLang="en-US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同商圈</a:t>
                      </a:r>
                      <a:r>
                        <a:rPr lang="en-US" altLang="zh-CN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同品类</a:t>
                      </a:r>
                      <a:r>
                        <a:rPr lang="en-US" altLang="zh-CN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同星级下，无资产标签的 </a:t>
                      </a:r>
                      <a:r>
                        <a:rPr lang="en-US" altLang="zh-CN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 </a:t>
                      </a:r>
                      <a:r>
                        <a:rPr lang="zh-CN" altLang="en-US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转化率</a:t>
                      </a:r>
                      <a:r>
                        <a:rPr lang="en-US" altLang="zh-CN" sz="135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]diff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A/B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口径（实验期间，反向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mask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分类口径（线上同口径同周期比较）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DID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口径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边缘商家掉榜前后口径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239473"/>
                  </a:ext>
                </a:extLst>
              </a:tr>
              <a:tr h="57933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增量信任认可度</a:t>
                      </a:r>
                      <a:endParaRPr lang="zh-CN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D0D0D"/>
                          </a:solidFill>
                          <a:effectLst/>
                        </a:rPr>
                        <a:t>NPS</a:t>
                      </a:r>
                      <a:r>
                        <a:rPr lang="zh-CN" altLang="en-US" dirty="0">
                          <a:solidFill>
                            <a:srgbClr val="0D0D0D"/>
                          </a:solidFill>
                          <a:effectLst/>
                        </a:rPr>
                        <a:t>等调研方式拿差异。参考</a:t>
                      </a:r>
                      <a:r>
                        <a:rPr lang="en-US" altLang="zh-CN" dirty="0">
                          <a:solidFill>
                            <a:srgbClr val="0D0D0D"/>
                          </a:solidFill>
                          <a:effectLst/>
                        </a:rPr>
                        <a:t>Google HEART </a:t>
                      </a:r>
                      <a:r>
                        <a:rPr lang="zh-CN" altLang="en-US" dirty="0">
                          <a:solidFill>
                            <a:srgbClr val="0D0D0D"/>
                          </a:solidFill>
                          <a:effectLst/>
                        </a:rPr>
                        <a:t>中的 </a:t>
                      </a:r>
                      <a:r>
                        <a:rPr lang="en-US" altLang="zh-CN" dirty="0">
                          <a:solidFill>
                            <a:srgbClr val="0D0D0D"/>
                          </a:solidFill>
                          <a:effectLst/>
                        </a:rPr>
                        <a:t>Happiness；</a:t>
                      </a:r>
                      <a:r>
                        <a:rPr lang="zh-CN" altLang="en-US" dirty="0">
                          <a:solidFill>
                            <a:srgbClr val="0D0D0D"/>
                          </a:solidFill>
                          <a:effectLst/>
                        </a:rPr>
                        <a:t>推荐系统的满意度调研。</a:t>
                      </a:r>
                    </a:p>
                  </a:txBody>
                  <a:tcPr marT="63500" marB="6350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dirty="0">
                        <a:solidFill>
                          <a:srgbClr val="0D0D0D"/>
                        </a:solidFill>
                        <a:effectLst/>
                      </a:endParaRPr>
                    </a:p>
                  </a:txBody>
                  <a:tcPr marT="63500" marB="6350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642181"/>
                  </a:ext>
                </a:extLst>
              </a:tr>
              <a:tr h="55165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信任与决策验证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（先有归因，后有下游）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决策后好评率</a:t>
                      </a:r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差评率</a:t>
                      </a:r>
                      <a:endParaRPr lang="zh-CN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跟着榜单吃后，好评率、差评率等，用于考核榜单选店选品质量</a:t>
                      </a:r>
                      <a:endParaRPr lang="zh-CN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类上口径的对比</a:t>
                      </a:r>
                      <a:endParaRPr lang="zh-CN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122464"/>
                  </a:ext>
                </a:extLst>
              </a:tr>
              <a:tr h="55165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商家牵引力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资产争夺</a:t>
                      </a:r>
                      <a:r>
                        <a:rPr lang="en-US" altLang="zh-CN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达标活跃度（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上榜及及处于边缘的商家，主动改善经营动作（如下发优惠、提升回复率、引导写评）的比例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待定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88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426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A3D66DB5-232B-D39D-A923-FFE127B08D33}"/>
              </a:ext>
            </a:extLst>
          </p:cNvPr>
          <p:cNvSpPr txBox="1">
            <a:spLocks/>
          </p:cNvSpPr>
          <p:nvPr/>
        </p:nvSpPr>
        <p:spPr>
          <a:xfrm>
            <a:off x="53128" y="112366"/>
            <a:ext cx="1448570" cy="45262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/>
              <a:t>指标体系</a:t>
            </a: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85621F28-9BE4-022A-37FE-A02B43641DBC}"/>
              </a:ext>
            </a:extLst>
          </p:cNvPr>
          <p:cNvSpPr/>
          <p:nvPr/>
        </p:nvSpPr>
        <p:spPr>
          <a:xfrm>
            <a:off x="402396" y="2854979"/>
            <a:ext cx="2142665" cy="184712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1A8C98-535C-1139-E954-C661892FCAE9}"/>
              </a:ext>
            </a:extLst>
          </p:cNvPr>
          <p:cNvSpPr txBox="1"/>
          <p:nvPr/>
        </p:nvSpPr>
        <p:spPr>
          <a:xfrm>
            <a:off x="697932" y="3750426"/>
            <a:ext cx="1585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用户决策资产表达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210B1E-09E2-169A-71E3-9C5D340FED71}"/>
              </a:ext>
            </a:extLst>
          </p:cNvPr>
          <p:cNvSpPr txBox="1"/>
          <p:nvPr/>
        </p:nvSpPr>
        <p:spPr>
          <a:xfrm>
            <a:off x="714815" y="4298653"/>
            <a:ext cx="16279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商户标签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03D605-5976-D37A-851A-06EB6511F720}"/>
              </a:ext>
            </a:extLst>
          </p:cNvPr>
          <p:cNvSpPr txBox="1"/>
          <p:nvPr/>
        </p:nvSpPr>
        <p:spPr>
          <a:xfrm>
            <a:off x="868084" y="3090695"/>
            <a:ext cx="1267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适配当下场景的资产表达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2C951CC-FDDB-2FCE-535E-BFC9770013E7}"/>
              </a:ext>
            </a:extLst>
          </p:cNvPr>
          <p:cNvCxnSpPr>
            <a:cxnSpLocks/>
          </p:cNvCxnSpPr>
          <p:nvPr/>
        </p:nvCxnSpPr>
        <p:spPr>
          <a:xfrm>
            <a:off x="1072652" y="3574878"/>
            <a:ext cx="80427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C7480D8-E0F2-B2E0-3361-C98587F49BDD}"/>
              </a:ext>
            </a:extLst>
          </p:cNvPr>
          <p:cNvCxnSpPr>
            <a:cxnSpLocks/>
          </p:cNvCxnSpPr>
          <p:nvPr/>
        </p:nvCxnSpPr>
        <p:spPr>
          <a:xfrm>
            <a:off x="734827" y="4225491"/>
            <a:ext cx="156893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71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046B2251-BF50-9E79-74EB-0B3810F2F618}"/>
              </a:ext>
            </a:extLst>
          </p:cNvPr>
          <p:cNvSpPr/>
          <p:nvPr/>
        </p:nvSpPr>
        <p:spPr>
          <a:xfrm>
            <a:off x="9741901" y="1610178"/>
            <a:ext cx="1406105" cy="1538574"/>
          </a:xfrm>
          <a:prstGeom prst="triangl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Shape 45">
            <a:extLst>
              <a:ext uri="{FF2B5EF4-FFF2-40B4-BE49-F238E27FC236}">
                <a16:creationId xmlns:a16="http://schemas.microsoft.com/office/drawing/2014/main" id="{517E4041-08AF-7754-2B2B-275A65A0EA2F}"/>
              </a:ext>
            </a:extLst>
          </p:cNvPr>
          <p:cNvSpPr/>
          <p:nvPr/>
        </p:nvSpPr>
        <p:spPr>
          <a:xfrm>
            <a:off x="392131" y="1172746"/>
            <a:ext cx="8234363" cy="974237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5">
                <a:lumMod val="40000"/>
                <a:lumOff val="6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5" name="弧形 154">
            <a:extLst>
              <a:ext uri="{FF2B5EF4-FFF2-40B4-BE49-F238E27FC236}">
                <a16:creationId xmlns:a16="http://schemas.microsoft.com/office/drawing/2014/main" id="{1F49FA56-5EB1-E501-CA99-A026FB9A5491}"/>
              </a:ext>
            </a:extLst>
          </p:cNvPr>
          <p:cNvSpPr/>
          <p:nvPr/>
        </p:nvSpPr>
        <p:spPr>
          <a:xfrm rot="7704953">
            <a:off x="4074046" y="2120968"/>
            <a:ext cx="1176764" cy="1179012"/>
          </a:xfrm>
          <a:prstGeom prst="arc">
            <a:avLst>
              <a:gd name="adj1" fmla="val 20022392"/>
              <a:gd name="adj2" fmla="val 186852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392131" y="235532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A5D6A7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42803" y="290139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38054" y="290139"/>
            <a:ext cx="1940541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店榜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97515" y="330591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923514" y="298067"/>
            <a:ext cx="2011265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菜榜</a:t>
            </a:r>
            <a:endParaRPr lang="zh-CN" alt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979698" y="306625"/>
            <a:ext cx="1765906" cy="8115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个性化合集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392131" y="2198633"/>
            <a:ext cx="8234363" cy="1013460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FCC8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442804" y="2274643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38055" y="2274643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规则计算</a:t>
            </a:r>
            <a:endParaRPr lang="en-US" sz="1200" dirty="0">
              <a:latin typeface="+mn-ea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878595" y="2274643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结构化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组织及</a:t>
            </a:r>
            <a:r>
              <a:rPr lang="en-US" sz="1200" b="1" dirty="0" err="1">
                <a:latin typeface="+mn-ea"/>
                <a:cs typeface="Microsoft YaHei" pitchFamily="34" charset="-120"/>
              </a:rPr>
              <a:t>质量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筛选</a:t>
            </a:r>
            <a:endParaRPr lang="en-US" sz="1200" dirty="0">
              <a:latin typeface="+mn-ea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672418" y="2566012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819135" y="2274643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 err="1">
                <a:latin typeface="+mn-ea"/>
              </a:rPr>
              <a:t>AI挖掘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420636" y="2312647"/>
            <a:ext cx="1710214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483977" y="2566012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759674" y="2274643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数据清洗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en-US" sz="1200" b="1" dirty="0" err="1">
                <a:latin typeface="+mn-ea"/>
              </a:rPr>
              <a:t>治理</a:t>
            </a:r>
            <a:endParaRPr lang="en-US" sz="1200" b="1" dirty="0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295537" y="2566012"/>
            <a:ext cx="217893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392131" y="3313439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442804" y="3351444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888956" y="3389449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873716" y="3389449"/>
            <a:ext cx="3800475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维度</a:t>
            </a:r>
            <a:endParaRPr lang="en-US" sz="1200" dirty="0">
              <a:latin typeface="+mn-ea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919863" y="3630146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交易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606712" y="3630146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2293561" y="3630146"/>
            <a:ext cx="948737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收藏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打卡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295734" y="3630146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履约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3982581" y="3630146"/>
            <a:ext cx="760095" cy="32568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GC信息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1046990" y="4031844"/>
            <a:ext cx="3597783" cy="468725"/>
          </a:xfrm>
          <a:prstGeom prst="roundRect">
            <a:avLst>
              <a:gd name="adj" fmla="val 5852"/>
            </a:avLst>
          </a:prstGeom>
          <a:solidFill>
            <a:schemeClr val="bg1">
              <a:lumMod val="95000"/>
            </a:schemeClr>
          </a:solidFill>
          <a:ln w="381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竞品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819135" y="3389449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762678" y="3389449"/>
            <a:ext cx="3775139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对象：物理世界的数字化映射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889361" y="3642814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5" name="Text 103"/>
          <p:cNvSpPr/>
          <p:nvPr/>
        </p:nvSpPr>
        <p:spPr>
          <a:xfrm>
            <a:off x="4889361" y="3642814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店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当前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重点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</a:t>
            </a:r>
            <a:r>
              <a:rPr lang="en-US" sz="900" dirty="0" err="1">
                <a:latin typeface="+mn-ea"/>
                <a:cs typeface="Microsoft YaHei" pitchFamily="34" charset="-120"/>
              </a:rPr>
              <a:t>找店决策」主阵地</a:t>
            </a:r>
            <a:endParaRPr lang="en-US" sz="900" dirty="0">
              <a:latin typeface="+mn-ea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296329" y="3642814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9" name="Text 107"/>
          <p:cNvSpPr/>
          <p:nvPr/>
        </p:nvSpPr>
        <p:spPr>
          <a:xfrm>
            <a:off x="7296329" y="3642814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人</a:t>
            </a:r>
            <a:endParaRPr lang="en-US" sz="1200" dirty="0">
              <a:latin typeface="+mn-ea"/>
            </a:endParaRPr>
          </a:p>
          <a:p>
            <a:pPr algn="ctr"/>
            <a:endParaRPr lang="en-US" sz="1200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待扩展方向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900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相信人，而到店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</a:endParaRPr>
          </a:p>
        </p:txBody>
      </p:sp>
      <p:sp>
        <p:nvSpPr>
          <p:cNvPr id="128" name="Text 105"/>
          <p:cNvSpPr/>
          <p:nvPr/>
        </p:nvSpPr>
        <p:spPr>
          <a:xfrm>
            <a:off x="6092845" y="3642814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</a:rPr>
              <a:t>菜</a:t>
            </a:r>
          </a:p>
          <a:p>
            <a:pPr algn="ctr"/>
            <a:r>
              <a:rPr lang="en-US" sz="1200" b="1" dirty="0">
                <a:latin typeface="+mn-ea"/>
              </a:rPr>
              <a:t> </a:t>
            </a:r>
          </a:p>
          <a:p>
            <a:pPr algn="ctr"/>
            <a:r>
              <a:rPr lang="zh-CN" altLang="en-US" sz="900" dirty="0">
                <a:latin typeface="+mn-ea"/>
              </a:rPr>
              <a:t>待</a:t>
            </a:r>
            <a:r>
              <a:rPr lang="en-US" sz="900" dirty="0" err="1">
                <a:latin typeface="+mn-ea"/>
              </a:rPr>
              <a:t>扩展方向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</a:rPr>
              <a:t>「</a:t>
            </a:r>
            <a:r>
              <a:rPr lang="en-US" sz="900" dirty="0" err="1">
                <a:latin typeface="+mn-ea"/>
              </a:rPr>
              <a:t>先选品，后到店</a:t>
            </a:r>
            <a:r>
              <a:rPr lang="en-US" sz="900" dirty="0">
                <a:latin typeface="+mn-ea"/>
              </a:rPr>
              <a:t>」</a:t>
            </a:r>
          </a:p>
        </p:txBody>
      </p:sp>
      <p:sp>
        <p:nvSpPr>
          <p:cNvPr id="156" name="Shape 46">
            <a:extLst>
              <a:ext uri="{FF2B5EF4-FFF2-40B4-BE49-F238E27FC236}">
                <a16:creationId xmlns:a16="http://schemas.microsoft.com/office/drawing/2014/main" id="{B9908C9A-22D1-B3E5-2FB8-7962E0D0F558}"/>
              </a:ext>
            </a:extLst>
          </p:cNvPr>
          <p:cNvSpPr/>
          <p:nvPr/>
        </p:nvSpPr>
        <p:spPr>
          <a:xfrm>
            <a:off x="433861" y="1266686"/>
            <a:ext cx="354711" cy="817977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表达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7" name="Shape 46">
            <a:extLst>
              <a:ext uri="{FF2B5EF4-FFF2-40B4-BE49-F238E27FC236}">
                <a16:creationId xmlns:a16="http://schemas.microsoft.com/office/drawing/2014/main" id="{2C49E12B-B887-9FD0-90D1-699DA5F47927}"/>
              </a:ext>
            </a:extLst>
          </p:cNvPr>
          <p:cNvSpPr/>
          <p:nvPr/>
        </p:nvSpPr>
        <p:spPr>
          <a:xfrm>
            <a:off x="945679" y="1374443"/>
            <a:ext cx="1792376" cy="72386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用户动线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8" name="Shape 46">
            <a:extLst>
              <a:ext uri="{FF2B5EF4-FFF2-40B4-BE49-F238E27FC236}">
                <a16:creationId xmlns:a16="http://schemas.microsoft.com/office/drawing/2014/main" id="{A481A4EB-90D9-CDE7-466B-6D6C76413D13}"/>
              </a:ext>
            </a:extLst>
          </p:cNvPr>
          <p:cNvSpPr/>
          <p:nvPr/>
        </p:nvSpPr>
        <p:spPr>
          <a:xfrm>
            <a:off x="2878595" y="1374443"/>
            <a:ext cx="1792376" cy="72386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活动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营销场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9" name="Shape 46">
            <a:extLst>
              <a:ext uri="{FF2B5EF4-FFF2-40B4-BE49-F238E27FC236}">
                <a16:creationId xmlns:a16="http://schemas.microsoft.com/office/drawing/2014/main" id="{C78AE707-AB2F-1431-029C-8D925395139E}"/>
              </a:ext>
            </a:extLst>
          </p:cNvPr>
          <p:cNvSpPr/>
          <p:nvPr/>
        </p:nvSpPr>
        <p:spPr>
          <a:xfrm>
            <a:off x="4830342" y="1374443"/>
            <a:ext cx="1792376" cy="71212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商家服务教育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90" name="Shape 46">
            <a:extLst>
              <a:ext uri="{FF2B5EF4-FFF2-40B4-BE49-F238E27FC236}">
                <a16:creationId xmlns:a16="http://schemas.microsoft.com/office/drawing/2014/main" id="{3F7ECDB6-C924-3C5A-E5A0-96E00F8779A3}"/>
              </a:ext>
            </a:extLst>
          </p:cNvPr>
          <p:cNvSpPr/>
          <p:nvPr/>
        </p:nvSpPr>
        <p:spPr>
          <a:xfrm>
            <a:off x="6759674" y="1380121"/>
            <a:ext cx="1792376" cy="716531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物料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荣誉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91" name="Shape 61">
            <a:extLst>
              <a:ext uri="{FF2B5EF4-FFF2-40B4-BE49-F238E27FC236}">
                <a16:creationId xmlns:a16="http://schemas.microsoft.com/office/drawing/2014/main" id="{1BF6A0E9-511D-134F-9490-C61765BD3FB1}"/>
              </a:ext>
            </a:extLst>
          </p:cNvPr>
          <p:cNvSpPr/>
          <p:nvPr/>
        </p:nvSpPr>
        <p:spPr>
          <a:xfrm>
            <a:off x="13778189" y="4995651"/>
            <a:ext cx="1800000" cy="82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智能掌柜</a:t>
            </a:r>
            <a:endParaRPr lang="en-US" altLang="zh-CN" sz="1200" dirty="0">
              <a:latin typeface="+mn-ea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6C8330B-D639-1AFA-D9B1-5D3DBB597366}"/>
              </a:ext>
            </a:extLst>
          </p:cNvPr>
          <p:cNvSpPr/>
          <p:nvPr/>
        </p:nvSpPr>
        <p:spPr>
          <a:xfrm>
            <a:off x="9796194" y="768462"/>
            <a:ext cx="1406106" cy="14301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大众资产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如消费人数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2k</a:t>
            </a:r>
            <a:endParaRPr lang="zh-CN" altLang="en-US" sz="9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A79F91D-CABD-1D24-C546-4494ACBB4BDB}"/>
              </a:ext>
            </a:extLst>
          </p:cNvPr>
          <p:cNvSpPr/>
          <p:nvPr/>
        </p:nvSpPr>
        <p:spPr>
          <a:xfrm>
            <a:off x="9093141" y="2405632"/>
            <a:ext cx="1406106" cy="14301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圈层资产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如当地人评鉴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770CE96-409D-7416-540B-7367716C4E91}"/>
              </a:ext>
            </a:extLst>
          </p:cNvPr>
          <p:cNvSpPr/>
          <p:nvPr/>
        </p:nvSpPr>
        <p:spPr>
          <a:xfrm>
            <a:off x="10564526" y="2361591"/>
            <a:ext cx="1406106" cy="14301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个性化资产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如你吃过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次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016CA76-CAE8-CC94-7DE2-4A760CE695FF}"/>
              </a:ext>
            </a:extLst>
          </p:cNvPr>
          <p:cNvCxnSpPr>
            <a:cxnSpLocks/>
          </p:cNvCxnSpPr>
          <p:nvPr/>
        </p:nvCxnSpPr>
        <p:spPr>
          <a:xfrm>
            <a:off x="8759527" y="189350"/>
            <a:ext cx="0" cy="45175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hape 6">
            <a:extLst>
              <a:ext uri="{FF2B5EF4-FFF2-40B4-BE49-F238E27FC236}">
                <a16:creationId xmlns:a16="http://schemas.microsoft.com/office/drawing/2014/main" id="{933A74BE-432D-4C6F-E93E-8A5E855B6327}"/>
              </a:ext>
            </a:extLst>
          </p:cNvPr>
          <p:cNvSpPr/>
          <p:nvPr/>
        </p:nvSpPr>
        <p:spPr>
          <a:xfrm>
            <a:off x="8920838" y="254309"/>
            <a:ext cx="3380895" cy="4452638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9ADEE565-0799-E6BF-61A8-00CA7D144829}"/>
              </a:ext>
            </a:extLst>
          </p:cNvPr>
          <p:cNvCxnSpPr>
            <a:stCxn id="47" idx="1"/>
            <a:endCxn id="85" idx="1"/>
          </p:cNvCxnSpPr>
          <p:nvPr/>
        </p:nvCxnSpPr>
        <p:spPr>
          <a:xfrm rot="10800000" flipH="1" flipV="1">
            <a:off x="392130" y="710591"/>
            <a:ext cx="50673" cy="3299601"/>
          </a:xfrm>
          <a:prstGeom prst="bentConnector3">
            <a:avLst>
              <a:gd name="adj1" fmla="val -451128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A92FEF6-F936-7DA2-CD52-E37C875A2DC5}"/>
              </a:ext>
            </a:extLst>
          </p:cNvPr>
          <p:cNvSpPr txBox="1"/>
          <p:nvPr/>
        </p:nvSpPr>
        <p:spPr>
          <a:xfrm>
            <a:off x="-465508" y="2084663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牵引</a:t>
            </a:r>
          </a:p>
        </p:txBody>
      </p:sp>
      <p:sp>
        <p:nvSpPr>
          <p:cNvPr id="15" name="Shape 94">
            <a:extLst>
              <a:ext uri="{FF2B5EF4-FFF2-40B4-BE49-F238E27FC236}">
                <a16:creationId xmlns:a16="http://schemas.microsoft.com/office/drawing/2014/main" id="{5C3AAAF8-71B1-8731-A1DD-45B97D5873C1}"/>
              </a:ext>
            </a:extLst>
          </p:cNvPr>
          <p:cNvSpPr/>
          <p:nvPr/>
        </p:nvSpPr>
        <p:spPr>
          <a:xfrm>
            <a:off x="13814237" y="8437397"/>
            <a:ext cx="948121" cy="25879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信息采集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7" name="Shape 83">
            <a:extLst>
              <a:ext uri="{FF2B5EF4-FFF2-40B4-BE49-F238E27FC236}">
                <a16:creationId xmlns:a16="http://schemas.microsoft.com/office/drawing/2014/main" id="{D8B90B42-7E36-DAFB-8084-F17A134DCA3D}"/>
              </a:ext>
            </a:extLst>
          </p:cNvPr>
          <p:cNvSpPr/>
          <p:nvPr/>
        </p:nvSpPr>
        <p:spPr>
          <a:xfrm>
            <a:off x="13727516" y="6733584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84">
            <a:extLst>
              <a:ext uri="{FF2B5EF4-FFF2-40B4-BE49-F238E27FC236}">
                <a16:creationId xmlns:a16="http://schemas.microsoft.com/office/drawing/2014/main" id="{6AA03F5A-E20F-BF38-296E-17CBAC82D593}"/>
              </a:ext>
            </a:extLst>
          </p:cNvPr>
          <p:cNvSpPr/>
          <p:nvPr/>
        </p:nvSpPr>
        <p:spPr>
          <a:xfrm>
            <a:off x="13778189" y="6771589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采集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9" name="Shape 86">
            <a:extLst>
              <a:ext uri="{FF2B5EF4-FFF2-40B4-BE49-F238E27FC236}">
                <a16:creationId xmlns:a16="http://schemas.microsoft.com/office/drawing/2014/main" id="{55DEE288-897E-9678-80E0-9C34C7978A40}"/>
              </a:ext>
            </a:extLst>
          </p:cNvPr>
          <p:cNvSpPr/>
          <p:nvPr/>
        </p:nvSpPr>
        <p:spPr>
          <a:xfrm>
            <a:off x="14224341" y="6809594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0" name="Shape 100">
            <a:extLst>
              <a:ext uri="{FF2B5EF4-FFF2-40B4-BE49-F238E27FC236}">
                <a16:creationId xmlns:a16="http://schemas.microsoft.com/office/drawing/2014/main" id="{CE840F19-82B7-BC9E-3E15-C40B93E6757A}"/>
              </a:ext>
            </a:extLst>
          </p:cNvPr>
          <p:cNvSpPr/>
          <p:nvPr/>
        </p:nvSpPr>
        <p:spPr>
          <a:xfrm>
            <a:off x="18154520" y="6809594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2" name="Shape 88">
            <a:extLst>
              <a:ext uri="{FF2B5EF4-FFF2-40B4-BE49-F238E27FC236}">
                <a16:creationId xmlns:a16="http://schemas.microsoft.com/office/drawing/2014/main" id="{87463E50-CFDF-93B3-0F6E-C0C52BBDE3F0}"/>
              </a:ext>
            </a:extLst>
          </p:cNvPr>
          <p:cNvSpPr/>
          <p:nvPr/>
        </p:nvSpPr>
        <p:spPr>
          <a:xfrm>
            <a:off x="14379078" y="7015112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BDGC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4" name="Shape 88">
            <a:extLst>
              <a:ext uri="{FF2B5EF4-FFF2-40B4-BE49-F238E27FC236}">
                <a16:creationId xmlns:a16="http://schemas.microsoft.com/office/drawing/2014/main" id="{185AB55D-B1F5-6F64-8B51-E6AFE4B3F1DB}"/>
              </a:ext>
            </a:extLst>
          </p:cNvPr>
          <p:cNvSpPr/>
          <p:nvPr/>
        </p:nvSpPr>
        <p:spPr>
          <a:xfrm>
            <a:off x="15559671" y="7013508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5" name="Shape 88">
            <a:extLst>
              <a:ext uri="{FF2B5EF4-FFF2-40B4-BE49-F238E27FC236}">
                <a16:creationId xmlns:a16="http://schemas.microsoft.com/office/drawing/2014/main" id="{872DD3BC-0D6E-10DF-AB13-64B6867F5408}"/>
              </a:ext>
            </a:extLst>
          </p:cNvPr>
          <p:cNvSpPr/>
          <p:nvPr/>
        </p:nvSpPr>
        <p:spPr>
          <a:xfrm>
            <a:off x="14367292" y="7483542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UGC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8" name="Shape 88">
            <a:extLst>
              <a:ext uri="{FF2B5EF4-FFF2-40B4-BE49-F238E27FC236}">
                <a16:creationId xmlns:a16="http://schemas.microsoft.com/office/drawing/2014/main" id="{FFEC33E4-5EEB-E25E-E0E8-53555445E5F1}"/>
              </a:ext>
            </a:extLst>
          </p:cNvPr>
          <p:cNvSpPr/>
          <p:nvPr/>
        </p:nvSpPr>
        <p:spPr>
          <a:xfrm>
            <a:off x="15571891" y="7496770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PGC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9" name="Shape 88">
            <a:extLst>
              <a:ext uri="{FF2B5EF4-FFF2-40B4-BE49-F238E27FC236}">
                <a16:creationId xmlns:a16="http://schemas.microsoft.com/office/drawing/2014/main" id="{AD2FBAF1-55B7-8FF6-3F22-8333DBE8D39B}"/>
              </a:ext>
            </a:extLst>
          </p:cNvPr>
          <p:cNvSpPr/>
          <p:nvPr/>
        </p:nvSpPr>
        <p:spPr>
          <a:xfrm>
            <a:off x="16814783" y="7216032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AIGC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0" name="Shape 88">
            <a:extLst>
              <a:ext uri="{FF2B5EF4-FFF2-40B4-BE49-F238E27FC236}">
                <a16:creationId xmlns:a16="http://schemas.microsoft.com/office/drawing/2014/main" id="{E3141B90-EC0A-D52C-5AF5-FB45D47247D0}"/>
              </a:ext>
            </a:extLst>
          </p:cNvPr>
          <p:cNvSpPr/>
          <p:nvPr/>
        </p:nvSpPr>
        <p:spPr>
          <a:xfrm>
            <a:off x="18222460" y="6974461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原始信息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2" name="Shape 88">
            <a:extLst>
              <a:ext uri="{FF2B5EF4-FFF2-40B4-BE49-F238E27FC236}">
                <a16:creationId xmlns:a16="http://schemas.microsoft.com/office/drawing/2014/main" id="{5AB27FDA-A779-B8D6-B813-4383D8CA38E6}"/>
              </a:ext>
            </a:extLst>
          </p:cNvPr>
          <p:cNvSpPr/>
          <p:nvPr/>
        </p:nvSpPr>
        <p:spPr>
          <a:xfrm>
            <a:off x="19428230" y="6974461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统计信息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3" name="Shape 88">
            <a:extLst>
              <a:ext uri="{FF2B5EF4-FFF2-40B4-BE49-F238E27FC236}">
                <a16:creationId xmlns:a16="http://schemas.microsoft.com/office/drawing/2014/main" id="{404C999B-2CA3-B8C5-D661-236655AA07D7}"/>
              </a:ext>
            </a:extLst>
          </p:cNvPr>
          <p:cNvSpPr/>
          <p:nvPr/>
        </p:nvSpPr>
        <p:spPr>
          <a:xfrm>
            <a:off x="20631714" y="6974461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</a:rPr>
              <a:t>业务定义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BADEA44-962E-0238-FB3A-D4008C7D5266}"/>
              </a:ext>
            </a:extLst>
          </p:cNvPr>
          <p:cNvSpPr txBox="1"/>
          <p:nvPr/>
        </p:nvSpPr>
        <p:spPr>
          <a:xfrm>
            <a:off x="13090358" y="5321246"/>
            <a:ext cx="6051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特征工程可以定义为：将一线业务的隐性经验显性化，让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AI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继承这些业务认知的过程。</a:t>
            </a:r>
            <a:endParaRPr lang="zh-CN" altLang="en-US" dirty="0"/>
          </a:p>
        </p:txBody>
      </p:sp>
      <p:sp>
        <p:nvSpPr>
          <p:cNvPr id="81" name="Shape 88">
            <a:extLst>
              <a:ext uri="{FF2B5EF4-FFF2-40B4-BE49-F238E27FC236}">
                <a16:creationId xmlns:a16="http://schemas.microsoft.com/office/drawing/2014/main" id="{77388D7F-8A7A-162A-8157-33B17A1CC4AC}"/>
              </a:ext>
            </a:extLst>
          </p:cNvPr>
          <p:cNvSpPr/>
          <p:nvPr/>
        </p:nvSpPr>
        <p:spPr>
          <a:xfrm>
            <a:off x="18224745" y="7482996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静态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动态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2" name="Shape 88">
            <a:extLst>
              <a:ext uri="{FF2B5EF4-FFF2-40B4-BE49-F238E27FC236}">
                <a16:creationId xmlns:a16="http://schemas.microsoft.com/office/drawing/2014/main" id="{8D6748E6-95D6-9406-804E-B7CBFBB7424A}"/>
              </a:ext>
            </a:extLst>
          </p:cNvPr>
          <p:cNvSpPr/>
          <p:nvPr/>
        </p:nvSpPr>
        <p:spPr>
          <a:xfrm>
            <a:off x="19428229" y="7473370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数值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类别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文本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图像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多模态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A890778-04AA-7996-290F-3BB3E6889D89}"/>
              </a:ext>
            </a:extLst>
          </p:cNvPr>
          <p:cNvSpPr txBox="1"/>
          <p:nvPr/>
        </p:nvSpPr>
        <p:spPr>
          <a:xfrm>
            <a:off x="2395863" y="1156144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面向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C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端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E1C2799D-EE6B-952C-A860-54E11D4AEBA5}"/>
              </a:ext>
            </a:extLst>
          </p:cNvPr>
          <p:cNvSpPr txBox="1"/>
          <p:nvPr/>
        </p:nvSpPr>
        <p:spPr>
          <a:xfrm>
            <a:off x="6255921" y="1143330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面向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B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端</a:t>
            </a:r>
          </a:p>
        </p:txBody>
      </p:sp>
      <p:sp>
        <p:nvSpPr>
          <p:cNvPr id="13" name="Shape 57">
            <a:extLst>
              <a:ext uri="{FF2B5EF4-FFF2-40B4-BE49-F238E27FC236}">
                <a16:creationId xmlns:a16="http://schemas.microsoft.com/office/drawing/2014/main" id="{4BC06664-C214-1687-AC0C-A5291807EAB2}"/>
              </a:ext>
            </a:extLst>
          </p:cNvPr>
          <p:cNvSpPr/>
          <p:nvPr/>
        </p:nvSpPr>
        <p:spPr>
          <a:xfrm>
            <a:off x="6790523" y="316407"/>
            <a:ext cx="1765906" cy="8115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>
                <a:latin typeface="+mn-ea"/>
              </a:rPr>
              <a:t>UGC</a:t>
            </a:r>
            <a:r>
              <a:rPr lang="zh-CN" altLang="en-US" sz="1200" b="1" dirty="0">
                <a:latin typeface="+mn-ea"/>
              </a:rPr>
              <a:t>合集</a:t>
            </a:r>
            <a:endParaRPr lang="en-US" altLang="zh-CN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606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046B2251-BF50-9E79-74EB-0B3810F2F618}"/>
              </a:ext>
            </a:extLst>
          </p:cNvPr>
          <p:cNvSpPr/>
          <p:nvPr/>
        </p:nvSpPr>
        <p:spPr>
          <a:xfrm>
            <a:off x="9822668" y="6639191"/>
            <a:ext cx="1406105" cy="1538574"/>
          </a:xfrm>
          <a:prstGeom prst="triangl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Shape 45">
            <a:extLst>
              <a:ext uri="{FF2B5EF4-FFF2-40B4-BE49-F238E27FC236}">
                <a16:creationId xmlns:a16="http://schemas.microsoft.com/office/drawing/2014/main" id="{517E4041-08AF-7754-2B2B-275A65A0EA2F}"/>
              </a:ext>
            </a:extLst>
          </p:cNvPr>
          <p:cNvSpPr/>
          <p:nvPr/>
        </p:nvSpPr>
        <p:spPr>
          <a:xfrm>
            <a:off x="253364" y="6201759"/>
            <a:ext cx="8234363" cy="974237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5">
                <a:lumMod val="40000"/>
                <a:lumOff val="6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5" name="弧形 154">
            <a:extLst>
              <a:ext uri="{FF2B5EF4-FFF2-40B4-BE49-F238E27FC236}">
                <a16:creationId xmlns:a16="http://schemas.microsoft.com/office/drawing/2014/main" id="{1F49FA56-5EB1-E501-CA99-A026FB9A5491}"/>
              </a:ext>
            </a:extLst>
          </p:cNvPr>
          <p:cNvSpPr/>
          <p:nvPr/>
        </p:nvSpPr>
        <p:spPr>
          <a:xfrm rot="7704953">
            <a:off x="3935279" y="7149981"/>
            <a:ext cx="1176764" cy="1179012"/>
          </a:xfrm>
          <a:prstGeom prst="arc">
            <a:avLst>
              <a:gd name="adj1" fmla="val 20022392"/>
              <a:gd name="adj2" fmla="val 186852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Shape 6">
            <a:extLst>
              <a:ext uri="{FF2B5EF4-FFF2-40B4-BE49-F238E27FC236}">
                <a16:creationId xmlns:a16="http://schemas.microsoft.com/office/drawing/2014/main" id="{1B87045B-2CBE-1A2D-B479-DF39BC9E17EE}"/>
              </a:ext>
            </a:extLst>
          </p:cNvPr>
          <p:cNvSpPr/>
          <p:nvPr/>
        </p:nvSpPr>
        <p:spPr>
          <a:xfrm>
            <a:off x="253365" y="2044368"/>
            <a:ext cx="12129135" cy="2921063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53365" y="126683"/>
            <a:ext cx="8234364" cy="354711"/>
          </a:xfrm>
          <a:prstGeom prst="roundRect">
            <a:avLst>
              <a:gd name="adj" fmla="val 154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53364" y="101284"/>
            <a:ext cx="12129135" cy="6255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到餐资产运营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强化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用户及商家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长期积累的差异化数据资产，构建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基于资产的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有壁垒的用户到店餐饮消费决策信任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服务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体系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 err="1">
                <a:latin typeface="+mn-ea"/>
              </a:rPr>
              <a:t>支持用户选店选品决策PMF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>
                <a:latin typeface="+mn-ea"/>
              </a:rPr>
              <a:t>，主要强化服务用户能力。</a:t>
            </a:r>
            <a:r>
              <a:rPr lang="en-US" altLang="zh-CN" sz="1200" dirty="0" err="1">
                <a:latin typeface="+mn-ea"/>
              </a:rPr>
              <a:t>兼助商户长效经营</a:t>
            </a:r>
            <a:r>
              <a:rPr lang="zh-CN" altLang="en-US" sz="1200" dirty="0">
                <a:latin typeface="+mn-ea"/>
              </a:rPr>
              <a:t>的流量、背书及牵引</a:t>
            </a:r>
            <a:r>
              <a:rPr lang="en-US" sz="1200" b="1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3365" y="557403"/>
            <a:ext cx="8234364" cy="41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3365" y="790261"/>
            <a:ext cx="12129135" cy="1162095"/>
          </a:xfrm>
          <a:prstGeom prst="roundRect">
            <a:avLst>
              <a:gd name="adj" fmla="val 2221"/>
            </a:avLst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5094" y="1074467"/>
            <a:ext cx="350766" cy="823269"/>
          </a:xfrm>
          <a:prstGeom prst="roundRect">
            <a:avLst>
              <a:gd name="adj" fmla="val 9843"/>
            </a:avLst>
          </a:prstGeom>
          <a:solidFill>
            <a:schemeClr val="bg1"/>
          </a:solidFill>
          <a:ln/>
        </p:spPr>
        <p:txBody>
          <a:bodyPr anchor="ctr"/>
          <a:lstStyle/>
          <a:p>
            <a:r>
              <a:rPr lang="zh-CN" altLang="en-US" sz="1200" b="1" dirty="0">
                <a:latin typeface="+mn-ea"/>
              </a:rPr>
              <a:t>资产价值</a:t>
            </a:r>
          </a:p>
        </p:txBody>
      </p:sp>
      <p:sp>
        <p:nvSpPr>
          <p:cNvPr id="47" name="Shape 45"/>
          <p:cNvSpPr/>
          <p:nvPr/>
        </p:nvSpPr>
        <p:spPr>
          <a:xfrm>
            <a:off x="253364" y="5264545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A5D6A7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04036" y="5319152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99287" y="5319152"/>
            <a:ext cx="1086765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榜单矩阵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8748" y="5359604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083439" y="5319152"/>
            <a:ext cx="1086765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合集</a:t>
            </a:r>
            <a:endParaRPr lang="zh-CN" alt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367591" y="5319152"/>
            <a:ext cx="1111259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标签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984883" y="5327910"/>
            <a:ext cx="1111259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游戏化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53364" y="7227646"/>
            <a:ext cx="8234363" cy="1013460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FCC8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304037" y="7303656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99288" y="7303656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规则计算</a:t>
            </a:r>
            <a:endParaRPr lang="en-US" sz="1200" dirty="0">
              <a:latin typeface="+mn-ea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739828" y="7303656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结构化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组织及</a:t>
            </a:r>
            <a:r>
              <a:rPr lang="en-US" sz="1200" b="1" dirty="0" err="1">
                <a:latin typeface="+mn-ea"/>
                <a:cs typeface="Microsoft YaHei" pitchFamily="34" charset="-120"/>
              </a:rPr>
              <a:t>质量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筛选</a:t>
            </a:r>
            <a:endParaRPr lang="en-US" sz="1200" dirty="0">
              <a:latin typeface="+mn-ea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33651" y="7595025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680368" y="7303656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 err="1">
                <a:latin typeface="+mn-ea"/>
              </a:rPr>
              <a:t>AI挖掘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281869" y="7341660"/>
            <a:ext cx="1710214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345210" y="7595025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620907" y="7303656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数据清洗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en-US" sz="1200" b="1" dirty="0" err="1">
                <a:latin typeface="+mn-ea"/>
              </a:rPr>
              <a:t>治理</a:t>
            </a:r>
            <a:endParaRPr lang="en-US" sz="1200" b="1" dirty="0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156770" y="7595025"/>
            <a:ext cx="217893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53364" y="8342452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304037" y="8380457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50189" y="8418462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734949" y="8418462"/>
            <a:ext cx="3800475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维度</a:t>
            </a:r>
            <a:endParaRPr lang="en-US" sz="1200" dirty="0">
              <a:latin typeface="+mn-ea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781096" y="8659159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交易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67945" y="8659159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2154794" y="8659159"/>
            <a:ext cx="948737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收藏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打卡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156967" y="8659159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履约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3843814" y="8659159"/>
            <a:ext cx="760095" cy="32568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GC信息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908223" y="9060857"/>
            <a:ext cx="3597783" cy="468725"/>
          </a:xfrm>
          <a:prstGeom prst="roundRect">
            <a:avLst>
              <a:gd name="adj" fmla="val 5852"/>
            </a:avLst>
          </a:prstGeom>
          <a:solidFill>
            <a:schemeClr val="bg1">
              <a:lumMod val="95000"/>
            </a:schemeClr>
          </a:solidFill>
          <a:ln w="381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竞品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680368" y="8418462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623911" y="8418462"/>
            <a:ext cx="3775139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对象：物理世界的数字化映射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750594" y="8671827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5" name="Text 103"/>
          <p:cNvSpPr/>
          <p:nvPr/>
        </p:nvSpPr>
        <p:spPr>
          <a:xfrm>
            <a:off x="4750594" y="8671827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店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当前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重点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</a:t>
            </a:r>
            <a:r>
              <a:rPr lang="en-US" sz="900" dirty="0" err="1">
                <a:latin typeface="+mn-ea"/>
                <a:cs typeface="Microsoft YaHei" pitchFamily="34" charset="-120"/>
              </a:rPr>
              <a:t>找店决策」主阵地</a:t>
            </a:r>
            <a:endParaRPr lang="en-US" sz="900" dirty="0">
              <a:latin typeface="+mn-ea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157562" y="8671827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9" name="Text 107"/>
          <p:cNvSpPr/>
          <p:nvPr/>
        </p:nvSpPr>
        <p:spPr>
          <a:xfrm>
            <a:off x="7157562" y="8671827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人</a:t>
            </a:r>
            <a:endParaRPr lang="en-US" sz="1200" dirty="0">
              <a:latin typeface="+mn-ea"/>
            </a:endParaRPr>
          </a:p>
          <a:p>
            <a:pPr algn="ctr"/>
            <a:endParaRPr lang="en-US" sz="1200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待扩展方向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900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相信人，而到店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5957850" y="1493326"/>
            <a:ext cx="2280285" cy="1988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altLang="zh-CN" sz="1200" b="1" dirty="0">
              <a:latin typeface="+mn-ea"/>
              <a:cs typeface="Microsoft YaHe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11797" y="4983033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↑ 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输出</a:t>
            </a:r>
            <a:endParaRPr lang="en-US" sz="1200" dirty="0"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0D215A-3764-1B17-D50E-D0E721AA1F69}"/>
              </a:ext>
            </a:extLst>
          </p:cNvPr>
          <p:cNvSpPr txBox="1"/>
          <p:nvPr/>
        </p:nvSpPr>
        <p:spPr>
          <a:xfrm>
            <a:off x="3068669" y="803449"/>
            <a:ext cx="6683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i="0" dirty="0">
                <a:effectLst/>
                <a:latin typeface="+mn-ea"/>
              </a:rPr>
              <a:t>C</a:t>
            </a:r>
            <a:r>
              <a:rPr lang="zh-CN" altLang="en-US" sz="1200" b="1" i="0" dirty="0">
                <a:effectLst/>
                <a:latin typeface="+mn-ea"/>
              </a:rPr>
              <a:t>端占心智 </a:t>
            </a:r>
            <a:r>
              <a:rPr lang="en-US" altLang="zh-CN" sz="1200" b="1" i="0" dirty="0">
                <a:effectLst/>
                <a:latin typeface="+mn-ea"/>
              </a:rPr>
              <a:t>× B</a:t>
            </a:r>
            <a:r>
              <a:rPr lang="zh-CN" altLang="en-US" sz="1200" b="1" i="0" dirty="0">
                <a:effectLst/>
                <a:latin typeface="+mn-ea"/>
              </a:rPr>
              <a:t>端促</a:t>
            </a:r>
            <a:r>
              <a:rPr lang="zh-CN" altLang="en-US" sz="1200" b="1" dirty="0">
                <a:latin typeface="+mn-ea"/>
              </a:rPr>
              <a:t>品质</a:t>
            </a:r>
            <a:r>
              <a:rPr lang="zh-CN" altLang="en-US" sz="1200" b="1" i="0" dirty="0">
                <a:effectLst/>
                <a:latin typeface="+mn-ea"/>
              </a:rPr>
              <a:t> </a:t>
            </a:r>
            <a:r>
              <a:rPr lang="en-US" altLang="zh-CN" sz="1200" b="1" i="0" dirty="0">
                <a:effectLst/>
                <a:latin typeface="+mn-ea"/>
              </a:rPr>
              <a:t>× </a:t>
            </a:r>
            <a:r>
              <a:rPr lang="zh-CN" altLang="en-US" sz="1200" b="1" i="0" dirty="0">
                <a:effectLst/>
                <a:latin typeface="+mn-ea"/>
              </a:rPr>
              <a:t>平台筑壁垒</a:t>
            </a:r>
            <a:r>
              <a:rPr lang="zh-CN" altLang="en-US" sz="1200" b="0" i="0" dirty="0">
                <a:effectLst/>
                <a:latin typeface="+mn-ea"/>
              </a:rPr>
              <a:t> 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" name="Text 15"/>
          <p:cNvSpPr/>
          <p:nvPr/>
        </p:nvSpPr>
        <p:spPr>
          <a:xfrm>
            <a:off x="4655946" y="1082377"/>
            <a:ext cx="3508994" cy="82326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B端：商户长效经营牵引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长效经营攒资产，沉淀信任正循环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" name="Text 11"/>
          <p:cNvSpPr/>
          <p:nvPr/>
        </p:nvSpPr>
        <p:spPr>
          <a:xfrm>
            <a:off x="759190" y="1083449"/>
            <a:ext cx="3508994" cy="8075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C端：用户选店选品决策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用户因信任而来，而转化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  <a:cs typeface="Microsoft YaHei" pitchFamily="34" charset="-120"/>
            </a:endParaRPr>
          </a:p>
        </p:txBody>
      </p:sp>
      <p:sp>
        <p:nvSpPr>
          <p:cNvPr id="7" name="Text 19"/>
          <p:cNvSpPr/>
          <p:nvPr/>
        </p:nvSpPr>
        <p:spPr>
          <a:xfrm>
            <a:off x="8552701" y="1069422"/>
            <a:ext cx="3508994" cy="8232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平台</a:t>
            </a:r>
            <a:r>
              <a:rPr lang="en-US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差异化竞争力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高价值用户及优质商户生态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9A62740-7819-6DB8-A118-B6E446CE1A50}"/>
              </a:ext>
            </a:extLst>
          </p:cNvPr>
          <p:cNvSpPr/>
          <p:nvPr/>
        </p:nvSpPr>
        <p:spPr>
          <a:xfrm>
            <a:off x="2568755" y="2978556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用户决策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484439-03E8-79FA-47D3-BC0F3AC06C12}"/>
              </a:ext>
            </a:extLst>
          </p:cNvPr>
          <p:cNvSpPr txBox="1"/>
          <p:nvPr/>
        </p:nvSpPr>
        <p:spPr>
          <a:xfrm>
            <a:off x="3670317" y="3200695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更多用户行为资产沉淀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B2B8402-BC49-0CBD-0FD2-B9ECA22392F4}"/>
              </a:ext>
            </a:extLst>
          </p:cNvPr>
          <p:cNvSpPr txBox="1"/>
          <p:nvPr/>
        </p:nvSpPr>
        <p:spPr>
          <a:xfrm>
            <a:off x="2341012" y="2282065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B988FBE-0D8A-B5FB-4927-7655C6C23C27}"/>
              </a:ext>
            </a:extLst>
          </p:cNvPr>
          <p:cNvSpPr txBox="1"/>
          <p:nvPr/>
        </p:nvSpPr>
        <p:spPr>
          <a:xfrm>
            <a:off x="2327482" y="4371754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更强信任壁垒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6FD191-0447-5214-2655-8E350AFA1F67}"/>
              </a:ext>
            </a:extLst>
          </p:cNvPr>
          <p:cNvSpPr txBox="1"/>
          <p:nvPr/>
        </p:nvSpPr>
        <p:spPr>
          <a:xfrm>
            <a:off x="1124479" y="3292713"/>
            <a:ext cx="1351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更好的决策体验</a:t>
            </a:r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4C754BEB-F055-4B22-8324-5B760BADE92A}"/>
              </a:ext>
            </a:extLst>
          </p:cNvPr>
          <p:cNvSpPr/>
          <p:nvPr/>
        </p:nvSpPr>
        <p:spPr>
          <a:xfrm>
            <a:off x="2819219" y="2410518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6D4F55BF-AE7C-5039-34F9-19FEB3E11B88}"/>
              </a:ext>
            </a:extLst>
          </p:cNvPr>
          <p:cNvSpPr/>
          <p:nvPr/>
        </p:nvSpPr>
        <p:spPr>
          <a:xfrm rot="5400000">
            <a:off x="2945901" y="3195964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52E9912B-B4F9-2895-D17C-5FC658F56764}"/>
              </a:ext>
            </a:extLst>
          </p:cNvPr>
          <p:cNvSpPr/>
          <p:nvPr/>
        </p:nvSpPr>
        <p:spPr>
          <a:xfrm rot="10800000">
            <a:off x="1742999" y="3216137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8" name="弧形 37">
            <a:extLst>
              <a:ext uri="{FF2B5EF4-FFF2-40B4-BE49-F238E27FC236}">
                <a16:creationId xmlns:a16="http://schemas.microsoft.com/office/drawing/2014/main" id="{DDCC8238-B56E-55A2-40B9-C6B4C96BF338}"/>
              </a:ext>
            </a:extLst>
          </p:cNvPr>
          <p:cNvSpPr/>
          <p:nvPr/>
        </p:nvSpPr>
        <p:spPr>
          <a:xfrm rot="16200000">
            <a:off x="1654970" y="2544204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9C8EC8F-3C2D-34C3-763C-BA0EB4ACC68B}"/>
              </a:ext>
            </a:extLst>
          </p:cNvPr>
          <p:cNvSpPr txBox="1"/>
          <p:nvPr/>
        </p:nvSpPr>
        <p:spPr>
          <a:xfrm>
            <a:off x="7400751" y="3233750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商家积累更多资产</a:t>
            </a: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86232731-405E-AA88-1A9A-6AF57221565B}"/>
              </a:ext>
            </a:extLst>
          </p:cNvPr>
          <p:cNvSpPr/>
          <p:nvPr/>
        </p:nvSpPr>
        <p:spPr>
          <a:xfrm>
            <a:off x="5867915" y="3297923"/>
            <a:ext cx="1180531" cy="24550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66339F-2020-09AF-6658-DA375BACAED1}"/>
              </a:ext>
            </a:extLst>
          </p:cNvPr>
          <p:cNvSpPr txBox="1"/>
          <p:nvPr/>
        </p:nvSpPr>
        <p:spPr>
          <a:xfrm>
            <a:off x="5969416" y="3055897"/>
            <a:ext cx="928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真实产生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0292F71-0E56-9B34-6137-74C52C6280CB}"/>
              </a:ext>
            </a:extLst>
          </p:cNvPr>
          <p:cNvSpPr txBox="1"/>
          <p:nvPr/>
        </p:nvSpPr>
        <p:spPr>
          <a:xfrm>
            <a:off x="8768921" y="4327232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更优质商户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62B163D-EA05-8BE6-E0FB-C97BB76180BA}"/>
              </a:ext>
            </a:extLst>
          </p:cNvPr>
          <p:cNvSpPr txBox="1"/>
          <p:nvPr/>
        </p:nvSpPr>
        <p:spPr>
          <a:xfrm>
            <a:off x="8768636" y="2311772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更多资产获得更多信任流量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772151B-F445-98D6-4BF8-ECF3D2957006}"/>
              </a:ext>
            </a:extLst>
          </p:cNvPr>
          <p:cNvSpPr txBox="1"/>
          <p:nvPr/>
        </p:nvSpPr>
        <p:spPr>
          <a:xfrm>
            <a:off x="9924179" y="3167239"/>
            <a:ext cx="128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更强改善经营的动力与合作意愿</a:t>
            </a:r>
          </a:p>
        </p:txBody>
      </p:sp>
      <p:sp>
        <p:nvSpPr>
          <p:cNvPr id="111" name="弧形 110">
            <a:extLst>
              <a:ext uri="{FF2B5EF4-FFF2-40B4-BE49-F238E27FC236}">
                <a16:creationId xmlns:a16="http://schemas.microsoft.com/office/drawing/2014/main" id="{5D1BD973-12FC-862D-0FB7-9B53B98F852D}"/>
              </a:ext>
            </a:extLst>
          </p:cNvPr>
          <p:cNvSpPr/>
          <p:nvPr/>
        </p:nvSpPr>
        <p:spPr>
          <a:xfrm rot="21160491">
            <a:off x="32717" y="2403158"/>
            <a:ext cx="9295299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4" name="弧形 113">
            <a:extLst>
              <a:ext uri="{FF2B5EF4-FFF2-40B4-BE49-F238E27FC236}">
                <a16:creationId xmlns:a16="http://schemas.microsoft.com/office/drawing/2014/main" id="{7EEF91F7-3F27-0595-D92B-329074960E76}"/>
              </a:ext>
            </a:extLst>
          </p:cNvPr>
          <p:cNvSpPr/>
          <p:nvPr/>
        </p:nvSpPr>
        <p:spPr>
          <a:xfrm rot="16200000">
            <a:off x="7903720" y="2563678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5" name="弧形 114">
            <a:extLst>
              <a:ext uri="{FF2B5EF4-FFF2-40B4-BE49-F238E27FC236}">
                <a16:creationId xmlns:a16="http://schemas.microsoft.com/office/drawing/2014/main" id="{DB554CBA-BCFF-9CE5-E3BD-4D34E9F2478E}"/>
              </a:ext>
            </a:extLst>
          </p:cNvPr>
          <p:cNvSpPr/>
          <p:nvPr/>
        </p:nvSpPr>
        <p:spPr>
          <a:xfrm>
            <a:off x="9272465" y="2530675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6" name="弧形 115">
            <a:extLst>
              <a:ext uri="{FF2B5EF4-FFF2-40B4-BE49-F238E27FC236}">
                <a16:creationId xmlns:a16="http://schemas.microsoft.com/office/drawing/2014/main" id="{73AB4FD1-4942-D0F9-AD11-438D0BB76B95}"/>
              </a:ext>
            </a:extLst>
          </p:cNvPr>
          <p:cNvSpPr/>
          <p:nvPr/>
        </p:nvSpPr>
        <p:spPr>
          <a:xfrm rot="5400000">
            <a:off x="9348475" y="3131946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7" name="弧形 116">
            <a:extLst>
              <a:ext uri="{FF2B5EF4-FFF2-40B4-BE49-F238E27FC236}">
                <a16:creationId xmlns:a16="http://schemas.microsoft.com/office/drawing/2014/main" id="{ADBA8071-DCCC-39D7-C769-D791F9FC8E53}"/>
              </a:ext>
            </a:extLst>
          </p:cNvPr>
          <p:cNvSpPr/>
          <p:nvPr/>
        </p:nvSpPr>
        <p:spPr>
          <a:xfrm rot="10800000">
            <a:off x="8026494" y="320692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AA23A51F-0C3D-18B0-10E0-332F27BC0A1E}"/>
              </a:ext>
            </a:extLst>
          </p:cNvPr>
          <p:cNvSpPr/>
          <p:nvPr/>
        </p:nvSpPr>
        <p:spPr>
          <a:xfrm>
            <a:off x="8916909" y="297678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商家经营</a:t>
            </a:r>
          </a:p>
        </p:txBody>
      </p:sp>
      <p:sp>
        <p:nvSpPr>
          <p:cNvPr id="123" name="弧形 122">
            <a:extLst>
              <a:ext uri="{FF2B5EF4-FFF2-40B4-BE49-F238E27FC236}">
                <a16:creationId xmlns:a16="http://schemas.microsoft.com/office/drawing/2014/main" id="{496D3895-36C6-3249-FA59-9A44C4088DEF}"/>
              </a:ext>
            </a:extLst>
          </p:cNvPr>
          <p:cNvSpPr/>
          <p:nvPr/>
        </p:nvSpPr>
        <p:spPr>
          <a:xfrm rot="10359915">
            <a:off x="3294907" y="1948917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8" name="Text 105"/>
          <p:cNvSpPr/>
          <p:nvPr/>
        </p:nvSpPr>
        <p:spPr>
          <a:xfrm>
            <a:off x="5954078" y="8671827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</a:rPr>
              <a:t>菜</a:t>
            </a:r>
          </a:p>
          <a:p>
            <a:pPr algn="ctr"/>
            <a:r>
              <a:rPr lang="en-US" sz="1200" b="1" dirty="0">
                <a:latin typeface="+mn-ea"/>
              </a:rPr>
              <a:t> </a:t>
            </a:r>
          </a:p>
          <a:p>
            <a:pPr algn="ctr"/>
            <a:r>
              <a:rPr lang="zh-CN" altLang="en-US" sz="900" dirty="0">
                <a:latin typeface="+mn-ea"/>
              </a:rPr>
              <a:t>待</a:t>
            </a:r>
            <a:r>
              <a:rPr lang="en-US" sz="900" dirty="0" err="1">
                <a:latin typeface="+mn-ea"/>
              </a:rPr>
              <a:t>扩展方向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</a:rPr>
              <a:t>「</a:t>
            </a:r>
            <a:r>
              <a:rPr lang="en-US" sz="900" dirty="0" err="1">
                <a:latin typeface="+mn-ea"/>
              </a:rPr>
              <a:t>先选品，后到店</a:t>
            </a:r>
            <a:r>
              <a:rPr lang="en-US" sz="900" dirty="0">
                <a:latin typeface="+mn-ea"/>
              </a:rPr>
              <a:t>」</a:t>
            </a:r>
          </a:p>
        </p:txBody>
      </p:sp>
      <p:sp>
        <p:nvSpPr>
          <p:cNvPr id="156" name="Shape 46">
            <a:extLst>
              <a:ext uri="{FF2B5EF4-FFF2-40B4-BE49-F238E27FC236}">
                <a16:creationId xmlns:a16="http://schemas.microsoft.com/office/drawing/2014/main" id="{B9908C9A-22D1-B3E5-2FB8-7962E0D0F558}"/>
              </a:ext>
            </a:extLst>
          </p:cNvPr>
          <p:cNvSpPr/>
          <p:nvPr/>
        </p:nvSpPr>
        <p:spPr>
          <a:xfrm>
            <a:off x="295094" y="6295699"/>
            <a:ext cx="354711" cy="817977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表达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7" name="Shape 46">
            <a:extLst>
              <a:ext uri="{FF2B5EF4-FFF2-40B4-BE49-F238E27FC236}">
                <a16:creationId xmlns:a16="http://schemas.microsoft.com/office/drawing/2014/main" id="{2C49E12B-B887-9FD0-90D1-699DA5F47927}"/>
              </a:ext>
            </a:extLst>
          </p:cNvPr>
          <p:cNvSpPr/>
          <p:nvPr/>
        </p:nvSpPr>
        <p:spPr>
          <a:xfrm>
            <a:off x="806912" y="6403456"/>
            <a:ext cx="1792376" cy="72386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用户动线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8" name="Shape 46">
            <a:extLst>
              <a:ext uri="{FF2B5EF4-FFF2-40B4-BE49-F238E27FC236}">
                <a16:creationId xmlns:a16="http://schemas.microsoft.com/office/drawing/2014/main" id="{A481A4EB-90D9-CDE7-466B-6D6C76413D13}"/>
              </a:ext>
            </a:extLst>
          </p:cNvPr>
          <p:cNvSpPr/>
          <p:nvPr/>
        </p:nvSpPr>
        <p:spPr>
          <a:xfrm>
            <a:off x="2739828" y="6403456"/>
            <a:ext cx="1792376" cy="72386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活动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营销场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9" name="Shape 46">
            <a:extLst>
              <a:ext uri="{FF2B5EF4-FFF2-40B4-BE49-F238E27FC236}">
                <a16:creationId xmlns:a16="http://schemas.microsoft.com/office/drawing/2014/main" id="{C78AE707-AB2F-1431-029C-8D925395139E}"/>
              </a:ext>
            </a:extLst>
          </p:cNvPr>
          <p:cNvSpPr/>
          <p:nvPr/>
        </p:nvSpPr>
        <p:spPr>
          <a:xfrm>
            <a:off x="4691575" y="6403456"/>
            <a:ext cx="1792376" cy="712128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商家服务教育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90" name="Shape 46">
            <a:extLst>
              <a:ext uri="{FF2B5EF4-FFF2-40B4-BE49-F238E27FC236}">
                <a16:creationId xmlns:a16="http://schemas.microsoft.com/office/drawing/2014/main" id="{3F7ECDB6-C924-3C5A-E5A0-96E00F8779A3}"/>
              </a:ext>
            </a:extLst>
          </p:cNvPr>
          <p:cNvSpPr/>
          <p:nvPr/>
        </p:nvSpPr>
        <p:spPr>
          <a:xfrm>
            <a:off x="6620907" y="6409134"/>
            <a:ext cx="1792376" cy="716531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物料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荣誉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91" name="Shape 61">
            <a:extLst>
              <a:ext uri="{FF2B5EF4-FFF2-40B4-BE49-F238E27FC236}">
                <a16:creationId xmlns:a16="http://schemas.microsoft.com/office/drawing/2014/main" id="{1BF6A0E9-511D-134F-9490-C61765BD3FB1}"/>
              </a:ext>
            </a:extLst>
          </p:cNvPr>
          <p:cNvSpPr/>
          <p:nvPr/>
        </p:nvSpPr>
        <p:spPr>
          <a:xfrm>
            <a:off x="13778189" y="4995651"/>
            <a:ext cx="1800000" cy="82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智能掌柜</a:t>
            </a:r>
            <a:endParaRPr lang="en-US" altLang="zh-CN" sz="1200" dirty="0">
              <a:latin typeface="+mn-ea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6C8330B-D639-1AFA-D9B1-5D3DBB597366}"/>
              </a:ext>
            </a:extLst>
          </p:cNvPr>
          <p:cNvSpPr/>
          <p:nvPr/>
        </p:nvSpPr>
        <p:spPr>
          <a:xfrm>
            <a:off x="9876961" y="5797475"/>
            <a:ext cx="1406106" cy="14301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大众资产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如消费人数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2k</a:t>
            </a:r>
            <a:endParaRPr lang="zh-CN" altLang="en-US" sz="9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A79F91D-CABD-1D24-C546-4494ACBB4BDB}"/>
              </a:ext>
            </a:extLst>
          </p:cNvPr>
          <p:cNvSpPr/>
          <p:nvPr/>
        </p:nvSpPr>
        <p:spPr>
          <a:xfrm>
            <a:off x="9173908" y="7434645"/>
            <a:ext cx="1406106" cy="14301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圈层资产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如当地人评鉴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6770CE96-409D-7416-540B-7367716C4E91}"/>
              </a:ext>
            </a:extLst>
          </p:cNvPr>
          <p:cNvSpPr/>
          <p:nvPr/>
        </p:nvSpPr>
        <p:spPr>
          <a:xfrm>
            <a:off x="10645293" y="7390604"/>
            <a:ext cx="1406106" cy="14301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个性化资产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如你吃过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次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016CA76-CAE8-CC94-7DE2-4A760CE695FF}"/>
              </a:ext>
            </a:extLst>
          </p:cNvPr>
          <p:cNvCxnSpPr>
            <a:cxnSpLocks/>
          </p:cNvCxnSpPr>
          <p:nvPr/>
        </p:nvCxnSpPr>
        <p:spPr>
          <a:xfrm>
            <a:off x="8839835" y="5218363"/>
            <a:ext cx="0" cy="44080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hape 6">
            <a:extLst>
              <a:ext uri="{FF2B5EF4-FFF2-40B4-BE49-F238E27FC236}">
                <a16:creationId xmlns:a16="http://schemas.microsoft.com/office/drawing/2014/main" id="{933A74BE-432D-4C6F-E93E-8A5E855B6327}"/>
              </a:ext>
            </a:extLst>
          </p:cNvPr>
          <p:cNvSpPr/>
          <p:nvPr/>
        </p:nvSpPr>
        <p:spPr>
          <a:xfrm>
            <a:off x="9001605" y="5283322"/>
            <a:ext cx="3380895" cy="4452638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9ADEE565-0799-E6BF-61A8-00CA7D144829}"/>
              </a:ext>
            </a:extLst>
          </p:cNvPr>
          <p:cNvCxnSpPr>
            <a:stCxn id="47" idx="1"/>
            <a:endCxn id="85" idx="1"/>
          </p:cNvCxnSpPr>
          <p:nvPr/>
        </p:nvCxnSpPr>
        <p:spPr>
          <a:xfrm rot="10800000" flipH="1" flipV="1">
            <a:off x="253363" y="5739604"/>
            <a:ext cx="50673" cy="3299601"/>
          </a:xfrm>
          <a:prstGeom prst="bentConnector3">
            <a:avLst>
              <a:gd name="adj1" fmla="val -451128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A92FEF6-F936-7DA2-CD52-E37C875A2DC5}"/>
              </a:ext>
            </a:extLst>
          </p:cNvPr>
          <p:cNvSpPr txBox="1"/>
          <p:nvPr/>
        </p:nvSpPr>
        <p:spPr>
          <a:xfrm>
            <a:off x="-765159" y="7342816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牵引</a:t>
            </a:r>
          </a:p>
        </p:txBody>
      </p:sp>
      <p:sp>
        <p:nvSpPr>
          <p:cNvPr id="15" name="Shape 94">
            <a:extLst>
              <a:ext uri="{FF2B5EF4-FFF2-40B4-BE49-F238E27FC236}">
                <a16:creationId xmlns:a16="http://schemas.microsoft.com/office/drawing/2014/main" id="{5C3AAAF8-71B1-8731-A1DD-45B97D5873C1}"/>
              </a:ext>
            </a:extLst>
          </p:cNvPr>
          <p:cNvSpPr/>
          <p:nvPr/>
        </p:nvSpPr>
        <p:spPr>
          <a:xfrm>
            <a:off x="13814237" y="8437397"/>
            <a:ext cx="948121" cy="25879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信息采集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7" name="Shape 83">
            <a:extLst>
              <a:ext uri="{FF2B5EF4-FFF2-40B4-BE49-F238E27FC236}">
                <a16:creationId xmlns:a16="http://schemas.microsoft.com/office/drawing/2014/main" id="{D8B90B42-7E36-DAFB-8084-F17A134DCA3D}"/>
              </a:ext>
            </a:extLst>
          </p:cNvPr>
          <p:cNvSpPr/>
          <p:nvPr/>
        </p:nvSpPr>
        <p:spPr>
          <a:xfrm>
            <a:off x="13727516" y="6733584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84">
            <a:extLst>
              <a:ext uri="{FF2B5EF4-FFF2-40B4-BE49-F238E27FC236}">
                <a16:creationId xmlns:a16="http://schemas.microsoft.com/office/drawing/2014/main" id="{6AA03F5A-E20F-BF38-296E-17CBAC82D593}"/>
              </a:ext>
            </a:extLst>
          </p:cNvPr>
          <p:cNvSpPr/>
          <p:nvPr/>
        </p:nvSpPr>
        <p:spPr>
          <a:xfrm>
            <a:off x="13778189" y="6771589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采集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9" name="Shape 86">
            <a:extLst>
              <a:ext uri="{FF2B5EF4-FFF2-40B4-BE49-F238E27FC236}">
                <a16:creationId xmlns:a16="http://schemas.microsoft.com/office/drawing/2014/main" id="{55DEE288-897E-9678-80E0-9C34C7978A40}"/>
              </a:ext>
            </a:extLst>
          </p:cNvPr>
          <p:cNvSpPr/>
          <p:nvPr/>
        </p:nvSpPr>
        <p:spPr>
          <a:xfrm>
            <a:off x="14224341" y="6809594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0" name="Shape 100">
            <a:extLst>
              <a:ext uri="{FF2B5EF4-FFF2-40B4-BE49-F238E27FC236}">
                <a16:creationId xmlns:a16="http://schemas.microsoft.com/office/drawing/2014/main" id="{CE840F19-82B7-BC9E-3E15-C40B93E6757A}"/>
              </a:ext>
            </a:extLst>
          </p:cNvPr>
          <p:cNvSpPr/>
          <p:nvPr/>
        </p:nvSpPr>
        <p:spPr>
          <a:xfrm>
            <a:off x="18154520" y="6809594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2" name="Shape 88">
            <a:extLst>
              <a:ext uri="{FF2B5EF4-FFF2-40B4-BE49-F238E27FC236}">
                <a16:creationId xmlns:a16="http://schemas.microsoft.com/office/drawing/2014/main" id="{87463E50-CFDF-93B3-0F6E-C0C52BBDE3F0}"/>
              </a:ext>
            </a:extLst>
          </p:cNvPr>
          <p:cNvSpPr/>
          <p:nvPr/>
        </p:nvSpPr>
        <p:spPr>
          <a:xfrm>
            <a:off x="14379078" y="7015112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BDGC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4" name="Shape 88">
            <a:extLst>
              <a:ext uri="{FF2B5EF4-FFF2-40B4-BE49-F238E27FC236}">
                <a16:creationId xmlns:a16="http://schemas.microsoft.com/office/drawing/2014/main" id="{185AB55D-B1F5-6F64-8B51-E6AFE4B3F1DB}"/>
              </a:ext>
            </a:extLst>
          </p:cNvPr>
          <p:cNvSpPr/>
          <p:nvPr/>
        </p:nvSpPr>
        <p:spPr>
          <a:xfrm>
            <a:off x="15559671" y="7013508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5" name="Shape 88">
            <a:extLst>
              <a:ext uri="{FF2B5EF4-FFF2-40B4-BE49-F238E27FC236}">
                <a16:creationId xmlns:a16="http://schemas.microsoft.com/office/drawing/2014/main" id="{872DD3BC-0D6E-10DF-AB13-64B6867F5408}"/>
              </a:ext>
            </a:extLst>
          </p:cNvPr>
          <p:cNvSpPr/>
          <p:nvPr/>
        </p:nvSpPr>
        <p:spPr>
          <a:xfrm>
            <a:off x="14367292" y="7483542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UGC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8" name="Shape 88">
            <a:extLst>
              <a:ext uri="{FF2B5EF4-FFF2-40B4-BE49-F238E27FC236}">
                <a16:creationId xmlns:a16="http://schemas.microsoft.com/office/drawing/2014/main" id="{FFEC33E4-5EEB-E25E-E0E8-53555445E5F1}"/>
              </a:ext>
            </a:extLst>
          </p:cNvPr>
          <p:cNvSpPr/>
          <p:nvPr/>
        </p:nvSpPr>
        <p:spPr>
          <a:xfrm>
            <a:off x="15571891" y="7496770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PGC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9" name="Shape 88">
            <a:extLst>
              <a:ext uri="{FF2B5EF4-FFF2-40B4-BE49-F238E27FC236}">
                <a16:creationId xmlns:a16="http://schemas.microsoft.com/office/drawing/2014/main" id="{AD2FBAF1-55B7-8FF6-3F22-8333DBE8D39B}"/>
              </a:ext>
            </a:extLst>
          </p:cNvPr>
          <p:cNvSpPr/>
          <p:nvPr/>
        </p:nvSpPr>
        <p:spPr>
          <a:xfrm>
            <a:off x="16814783" y="7216032"/>
            <a:ext cx="1029914" cy="351692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AIGC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0" name="Shape 88">
            <a:extLst>
              <a:ext uri="{FF2B5EF4-FFF2-40B4-BE49-F238E27FC236}">
                <a16:creationId xmlns:a16="http://schemas.microsoft.com/office/drawing/2014/main" id="{E3141B90-EC0A-D52C-5AF5-FB45D47247D0}"/>
              </a:ext>
            </a:extLst>
          </p:cNvPr>
          <p:cNvSpPr/>
          <p:nvPr/>
        </p:nvSpPr>
        <p:spPr>
          <a:xfrm>
            <a:off x="18222460" y="6974461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原始信息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2" name="Shape 88">
            <a:extLst>
              <a:ext uri="{FF2B5EF4-FFF2-40B4-BE49-F238E27FC236}">
                <a16:creationId xmlns:a16="http://schemas.microsoft.com/office/drawing/2014/main" id="{5AB27FDA-A779-B8D6-B813-4383D8CA38E6}"/>
              </a:ext>
            </a:extLst>
          </p:cNvPr>
          <p:cNvSpPr/>
          <p:nvPr/>
        </p:nvSpPr>
        <p:spPr>
          <a:xfrm>
            <a:off x="19428230" y="6974461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统计信息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3" name="Shape 88">
            <a:extLst>
              <a:ext uri="{FF2B5EF4-FFF2-40B4-BE49-F238E27FC236}">
                <a16:creationId xmlns:a16="http://schemas.microsoft.com/office/drawing/2014/main" id="{404C999B-2CA3-B8C5-D661-236655AA07D7}"/>
              </a:ext>
            </a:extLst>
          </p:cNvPr>
          <p:cNvSpPr/>
          <p:nvPr/>
        </p:nvSpPr>
        <p:spPr>
          <a:xfrm>
            <a:off x="20631714" y="6974461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</a:rPr>
              <a:t>业务定义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BADEA44-962E-0238-FB3A-D4008C7D5266}"/>
              </a:ext>
            </a:extLst>
          </p:cNvPr>
          <p:cNvSpPr txBox="1"/>
          <p:nvPr/>
        </p:nvSpPr>
        <p:spPr>
          <a:xfrm>
            <a:off x="13090358" y="5321246"/>
            <a:ext cx="6051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特征工程可以定义为：将一线业务的隐性经验显性化，让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AI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继承这些业务认知的过程。</a:t>
            </a:r>
            <a:endParaRPr lang="zh-CN" altLang="en-US" dirty="0"/>
          </a:p>
        </p:txBody>
      </p:sp>
      <p:sp>
        <p:nvSpPr>
          <p:cNvPr id="81" name="Shape 88">
            <a:extLst>
              <a:ext uri="{FF2B5EF4-FFF2-40B4-BE49-F238E27FC236}">
                <a16:creationId xmlns:a16="http://schemas.microsoft.com/office/drawing/2014/main" id="{77388D7F-8A7A-162A-8157-33B17A1CC4AC}"/>
              </a:ext>
            </a:extLst>
          </p:cNvPr>
          <p:cNvSpPr/>
          <p:nvPr/>
        </p:nvSpPr>
        <p:spPr>
          <a:xfrm>
            <a:off x="18224745" y="7482996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静态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动态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2" name="Shape 88">
            <a:extLst>
              <a:ext uri="{FF2B5EF4-FFF2-40B4-BE49-F238E27FC236}">
                <a16:creationId xmlns:a16="http://schemas.microsoft.com/office/drawing/2014/main" id="{8D6748E6-95D6-9406-804E-B7CBFBB7424A}"/>
              </a:ext>
            </a:extLst>
          </p:cNvPr>
          <p:cNvSpPr/>
          <p:nvPr/>
        </p:nvSpPr>
        <p:spPr>
          <a:xfrm>
            <a:off x="19428229" y="7473370"/>
            <a:ext cx="1076801" cy="328440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数值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类别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文本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图像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多模态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1" name="Shape 57">
            <a:extLst>
              <a:ext uri="{FF2B5EF4-FFF2-40B4-BE49-F238E27FC236}">
                <a16:creationId xmlns:a16="http://schemas.microsoft.com/office/drawing/2014/main" id="{518574E1-5E9C-3F73-E8CE-21791B6E2A83}"/>
              </a:ext>
            </a:extLst>
          </p:cNvPr>
          <p:cNvSpPr/>
          <p:nvPr/>
        </p:nvSpPr>
        <p:spPr>
          <a:xfrm>
            <a:off x="4676237" y="5327909"/>
            <a:ext cx="1111259" cy="8132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分层策略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A890778-04AA-7996-290F-3BB3E6889D89}"/>
              </a:ext>
            </a:extLst>
          </p:cNvPr>
          <p:cNvSpPr txBox="1"/>
          <p:nvPr/>
        </p:nvSpPr>
        <p:spPr>
          <a:xfrm>
            <a:off x="2257096" y="6185157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面向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C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端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E1C2799D-EE6B-952C-A860-54E11D4AEBA5}"/>
              </a:ext>
            </a:extLst>
          </p:cNvPr>
          <p:cNvSpPr txBox="1"/>
          <p:nvPr/>
        </p:nvSpPr>
        <p:spPr>
          <a:xfrm>
            <a:off x="6117154" y="6172343"/>
            <a:ext cx="75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面向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B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端</a:t>
            </a:r>
          </a:p>
        </p:txBody>
      </p:sp>
      <p:sp>
        <p:nvSpPr>
          <p:cNvPr id="99" name="Shape 57">
            <a:extLst>
              <a:ext uri="{FF2B5EF4-FFF2-40B4-BE49-F238E27FC236}">
                <a16:creationId xmlns:a16="http://schemas.microsoft.com/office/drawing/2014/main" id="{3670529E-6C3E-82FB-3EDE-EAEDE6FA48B0}"/>
              </a:ext>
            </a:extLst>
          </p:cNvPr>
          <p:cNvSpPr/>
          <p:nvPr/>
        </p:nvSpPr>
        <p:spPr>
          <a:xfrm>
            <a:off x="7293531" y="5327910"/>
            <a:ext cx="1111259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星级</a:t>
            </a:r>
            <a:endParaRPr lang="en-US" altLang="zh-CN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8294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6">
            <a:extLst>
              <a:ext uri="{FF2B5EF4-FFF2-40B4-BE49-F238E27FC236}">
                <a16:creationId xmlns:a16="http://schemas.microsoft.com/office/drawing/2014/main" id="{1B87045B-2CBE-1A2D-B479-DF39BC9E17EE}"/>
              </a:ext>
            </a:extLst>
          </p:cNvPr>
          <p:cNvSpPr/>
          <p:nvPr/>
        </p:nvSpPr>
        <p:spPr>
          <a:xfrm>
            <a:off x="253365" y="2044368"/>
            <a:ext cx="8234363" cy="2921063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9" name="Shape 26">
            <a:extLst>
              <a:ext uri="{FF2B5EF4-FFF2-40B4-BE49-F238E27FC236}">
                <a16:creationId xmlns:a16="http://schemas.microsoft.com/office/drawing/2014/main" id="{F399989F-46AA-3E6A-FC11-7BE566B2FFFB}"/>
              </a:ext>
            </a:extLst>
          </p:cNvPr>
          <p:cNvSpPr/>
          <p:nvPr/>
        </p:nvSpPr>
        <p:spPr>
          <a:xfrm>
            <a:off x="14702788" y="4810453"/>
            <a:ext cx="4845606" cy="137217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53365" y="126683"/>
            <a:ext cx="8234364" cy="354711"/>
          </a:xfrm>
          <a:prstGeom prst="roundRect">
            <a:avLst>
              <a:gd name="adj" fmla="val 154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53365" y="126684"/>
            <a:ext cx="8234364" cy="6255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到餐资产运营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强化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用户及商家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长期积累的差异化数据资产，构建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基于资产的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有壁垒的用户到店餐饮消费决策信任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服务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体系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 err="1">
                <a:latin typeface="+mn-ea"/>
              </a:rPr>
              <a:t>支持用户选店选品决策PMF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>
                <a:latin typeface="+mn-ea"/>
              </a:rPr>
              <a:t>，主要强化服务用户能力。</a:t>
            </a:r>
            <a:r>
              <a:rPr lang="en-US" altLang="zh-CN" sz="1200" dirty="0" err="1">
                <a:latin typeface="+mn-ea"/>
              </a:rPr>
              <a:t>兼助商户长效经营</a:t>
            </a:r>
            <a:r>
              <a:rPr lang="zh-CN" altLang="en-US" sz="1200" dirty="0">
                <a:latin typeface="+mn-ea"/>
              </a:rPr>
              <a:t>的流量、背书及牵引</a:t>
            </a:r>
            <a:r>
              <a:rPr lang="en-US" sz="1200" b="1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3365" y="557403"/>
            <a:ext cx="8234364" cy="41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3365" y="790261"/>
            <a:ext cx="8234363" cy="1162095"/>
          </a:xfrm>
          <a:prstGeom prst="roundRect">
            <a:avLst>
              <a:gd name="adj" fmla="val 2221"/>
            </a:avLst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5094" y="1074467"/>
            <a:ext cx="350766" cy="823269"/>
          </a:xfrm>
          <a:prstGeom prst="roundRect">
            <a:avLst>
              <a:gd name="adj" fmla="val 9843"/>
            </a:avLst>
          </a:prstGeom>
          <a:solidFill>
            <a:schemeClr val="bg1"/>
          </a:solidFill>
          <a:ln/>
        </p:spPr>
        <p:txBody>
          <a:bodyPr anchor="ctr"/>
          <a:lstStyle/>
          <a:p>
            <a:r>
              <a:rPr lang="zh-CN" altLang="en-US" sz="1200" b="1" dirty="0">
                <a:latin typeface="+mn-ea"/>
              </a:rPr>
              <a:t>资产价值</a:t>
            </a:r>
          </a:p>
        </p:txBody>
      </p:sp>
      <p:sp>
        <p:nvSpPr>
          <p:cNvPr id="47" name="Shape 45"/>
          <p:cNvSpPr/>
          <p:nvPr/>
        </p:nvSpPr>
        <p:spPr>
          <a:xfrm>
            <a:off x="240364" y="5242451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A5D6A7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91036" y="5297058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86287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榜单矩阵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45748" y="5337510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726827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个人合集</a:t>
            </a:r>
            <a:endParaRPr lang="zh-CN" alt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667367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多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GC/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607906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星级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40363" y="6281247"/>
            <a:ext cx="8234363" cy="1013460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FCC8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291036" y="6357257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86287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规则计算</a:t>
            </a:r>
            <a:endParaRPr lang="en-US" sz="1200" dirty="0">
              <a:latin typeface="+mn-ea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726827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结构化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及</a:t>
            </a:r>
            <a:r>
              <a:rPr lang="en-US" sz="1200" b="1" dirty="0" err="1">
                <a:latin typeface="+mn-ea"/>
                <a:cs typeface="Microsoft YaHei" pitchFamily="34" charset="-120"/>
              </a:rPr>
              <a:t>质量定义</a:t>
            </a:r>
            <a:endParaRPr lang="en-US" sz="1200" dirty="0">
              <a:latin typeface="+mn-ea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20650" y="6648626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667367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AI挖掘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268868" y="6395261"/>
            <a:ext cx="1710214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332209" y="6648626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607906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公信力治理</a:t>
            </a:r>
            <a:endParaRPr lang="en-US" sz="1200" dirty="0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143769" y="6648626"/>
            <a:ext cx="217893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40363" y="7396053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91036" y="7434058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37188" y="7472063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721948" y="7472063"/>
            <a:ext cx="3800475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维度</a:t>
            </a:r>
            <a:endParaRPr lang="en-US" sz="1200" dirty="0">
              <a:latin typeface="+mn-ea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768095" y="7712760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交易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54944" y="7712760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2141793" y="7712760"/>
            <a:ext cx="948737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收藏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打卡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143966" y="7712760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履约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3830813" y="7712760"/>
            <a:ext cx="760095" cy="32568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GC信息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895222" y="8114458"/>
            <a:ext cx="3597783" cy="468725"/>
          </a:xfrm>
          <a:prstGeom prst="roundRect">
            <a:avLst>
              <a:gd name="adj" fmla="val 5852"/>
            </a:avLst>
          </a:prstGeom>
          <a:solidFill>
            <a:schemeClr val="bg1">
              <a:lumMod val="95000"/>
            </a:schemeClr>
          </a:solidFill>
          <a:ln w="381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竞品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667367" y="7472063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610910" y="7472063"/>
            <a:ext cx="3775139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对象：物理世界的数字化映射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737593" y="7725428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5" name="Text 103"/>
          <p:cNvSpPr/>
          <p:nvPr/>
        </p:nvSpPr>
        <p:spPr>
          <a:xfrm>
            <a:off x="4737593" y="7725428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店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当前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重点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</a:t>
            </a:r>
            <a:r>
              <a:rPr lang="en-US" sz="900" dirty="0" err="1">
                <a:latin typeface="+mn-ea"/>
                <a:cs typeface="Microsoft YaHei" pitchFamily="34" charset="-120"/>
              </a:rPr>
              <a:t>找店决策」主阵地</a:t>
            </a:r>
            <a:endParaRPr lang="en-US" sz="900" dirty="0">
              <a:latin typeface="+mn-ea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144561" y="7725428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9" name="Text 107"/>
          <p:cNvSpPr/>
          <p:nvPr/>
        </p:nvSpPr>
        <p:spPr>
          <a:xfrm>
            <a:off x="7144561" y="7725428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人</a:t>
            </a:r>
            <a:endParaRPr lang="en-US" sz="1200" dirty="0">
              <a:latin typeface="+mn-ea"/>
            </a:endParaRPr>
          </a:p>
          <a:p>
            <a:pPr algn="ctr"/>
            <a:endParaRPr lang="en-US" sz="1200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扩展方向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900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相信人，而到店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</a:endParaRPr>
          </a:p>
        </p:txBody>
      </p:sp>
      <p:sp>
        <p:nvSpPr>
          <p:cNvPr id="112" name="Text 110"/>
          <p:cNvSpPr/>
          <p:nvPr/>
        </p:nvSpPr>
        <p:spPr>
          <a:xfrm rot="16200000">
            <a:off x="400335" y="9353464"/>
            <a:ext cx="228029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299624" y="9796244"/>
            <a:ext cx="8234363" cy="570071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 sz="1200" dirty="0">
              <a:latin typeface="+mn-ea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299624" y="9796244"/>
            <a:ext cx="8234363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资产飞轮：用户消费→行为沉淀为资产→计算加工为信任信号→驱动新用户决策→牵引商户改善经营→更多真实消费→更厚资产沉淀</a:t>
            </a:r>
            <a:endParaRPr lang="en-US" sz="1200" dirty="0">
              <a:latin typeface="+mn-ea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299624" y="10036940"/>
            <a:ext cx="8234363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用户到店消费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行为→资产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计算→信任信号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驱动新用户决策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牵引商户改善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更多真实消费 ↩</a:t>
            </a:r>
            <a:endParaRPr lang="en-US" sz="1200" dirty="0">
              <a:latin typeface="+mn-ea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299624" y="10214296"/>
            <a:ext cx="8234363" cy="126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飞轮越转越厚 → 竞品越难复制 → 壁垒不在产品形态，在数据资产的沉淀厚度</a:t>
            </a:r>
            <a:endParaRPr lang="en-US" sz="1200" dirty="0">
              <a:latin typeface="+mn-ea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772763" y="12313539"/>
            <a:ext cx="3521774" cy="962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4509897" y="11173397"/>
            <a:ext cx="3775139" cy="962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5957850" y="1493326"/>
            <a:ext cx="2280285" cy="1988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altLang="zh-CN" sz="1200" b="1" dirty="0">
              <a:latin typeface="+mn-ea"/>
              <a:cs typeface="Microsoft YaHei" pitchFamily="34" charset="-12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DBD553-D741-0C36-C916-B37A17B4D779}"/>
              </a:ext>
            </a:extLst>
          </p:cNvPr>
          <p:cNvSpPr txBox="1"/>
          <p:nvPr/>
        </p:nvSpPr>
        <p:spPr>
          <a:xfrm>
            <a:off x="10092985" y="1738766"/>
            <a:ext cx="43588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需求动线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流量背书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资产应用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经营诊断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资产沉淀画像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特色成长</a:t>
            </a:r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9F7CEEFC-714F-485C-0DDA-D9E3A23E5916}"/>
              </a:ext>
            </a:extLst>
          </p:cNvPr>
          <p:cNvSpPr/>
          <p:nvPr/>
        </p:nvSpPr>
        <p:spPr>
          <a:xfrm>
            <a:off x="9630251" y="3661681"/>
            <a:ext cx="8234363" cy="92478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3AA7B099-991E-84DF-871F-BE7B04C6F1E9}"/>
              </a:ext>
            </a:extLst>
          </p:cNvPr>
          <p:cNvSpPr/>
          <p:nvPr/>
        </p:nvSpPr>
        <p:spPr>
          <a:xfrm>
            <a:off x="1003563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9" name="Shape 30">
            <a:extLst>
              <a:ext uri="{FF2B5EF4-FFF2-40B4-BE49-F238E27FC236}">
                <a16:creationId xmlns:a16="http://schemas.microsoft.com/office/drawing/2014/main" id="{B6941492-2E9B-E247-53FF-8D76D59120EC}"/>
              </a:ext>
            </a:extLst>
          </p:cNvPr>
          <p:cNvSpPr/>
          <p:nvPr/>
        </p:nvSpPr>
        <p:spPr>
          <a:xfrm>
            <a:off x="1003563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66BFEECF-C9FC-79DC-3E1C-6279F2FA3ED0}"/>
              </a:ext>
            </a:extLst>
          </p:cNvPr>
          <p:cNvSpPr/>
          <p:nvPr/>
        </p:nvSpPr>
        <p:spPr>
          <a:xfrm>
            <a:off x="1003563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经营诊断</a:t>
            </a:r>
            <a:endParaRPr lang="en-US" sz="1200" dirty="0">
              <a:latin typeface="+mn-ea"/>
            </a:endParaRPr>
          </a:p>
        </p:txBody>
      </p:sp>
      <p:sp>
        <p:nvSpPr>
          <p:cNvPr id="87" name="Text 32">
            <a:extLst>
              <a:ext uri="{FF2B5EF4-FFF2-40B4-BE49-F238E27FC236}">
                <a16:creationId xmlns:a16="http://schemas.microsoft.com/office/drawing/2014/main" id="{50E61921-F511-2AA1-46D9-CB86E39FD6F1}"/>
              </a:ext>
            </a:extLst>
          </p:cNvPr>
          <p:cNvSpPr/>
          <p:nvPr/>
        </p:nvSpPr>
        <p:spPr>
          <a:xfrm>
            <a:off x="10098976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 err="1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人群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场景</a:t>
            </a:r>
            <a:endParaRPr lang="en-US" sz="1200" dirty="0">
              <a:latin typeface="+mn-ea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需求拉动资产，资产分析需求</a:t>
            </a:r>
            <a:endParaRPr lang="en-US" sz="1200" dirty="0">
              <a:latin typeface="+mn-ea"/>
            </a:endParaRPr>
          </a:p>
        </p:txBody>
      </p:sp>
      <p:sp>
        <p:nvSpPr>
          <p:cNvPr id="142" name="Shape 33">
            <a:extLst>
              <a:ext uri="{FF2B5EF4-FFF2-40B4-BE49-F238E27FC236}">
                <a16:creationId xmlns:a16="http://schemas.microsoft.com/office/drawing/2014/main" id="{C528FF29-E691-6DBA-BD28-8A0FE40ED554}"/>
              </a:ext>
            </a:extLst>
          </p:cNvPr>
          <p:cNvSpPr/>
          <p:nvPr/>
        </p:nvSpPr>
        <p:spPr>
          <a:xfrm>
            <a:off x="1177118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3" name="Shape 34">
            <a:extLst>
              <a:ext uri="{FF2B5EF4-FFF2-40B4-BE49-F238E27FC236}">
                <a16:creationId xmlns:a16="http://schemas.microsoft.com/office/drawing/2014/main" id="{48D0A522-C5BF-24FF-2988-6C5A2A986244}"/>
              </a:ext>
            </a:extLst>
          </p:cNvPr>
          <p:cNvSpPr/>
          <p:nvPr/>
        </p:nvSpPr>
        <p:spPr>
          <a:xfrm>
            <a:off x="1177118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5" name="Text 35">
            <a:extLst>
              <a:ext uri="{FF2B5EF4-FFF2-40B4-BE49-F238E27FC236}">
                <a16:creationId xmlns:a16="http://schemas.microsoft.com/office/drawing/2014/main" id="{279F16E6-DEAF-B56F-13D1-4D6080508A8F}"/>
              </a:ext>
            </a:extLst>
          </p:cNvPr>
          <p:cNvSpPr/>
          <p:nvPr/>
        </p:nvSpPr>
        <p:spPr>
          <a:xfrm>
            <a:off x="1177118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用户画像</a:t>
            </a:r>
            <a:endParaRPr lang="en-US" sz="1200" dirty="0">
              <a:latin typeface="+mn-ea"/>
            </a:endParaRPr>
          </a:p>
        </p:txBody>
      </p:sp>
      <p:sp>
        <p:nvSpPr>
          <p:cNvPr id="146" name="Text 36">
            <a:extLst>
              <a:ext uri="{FF2B5EF4-FFF2-40B4-BE49-F238E27FC236}">
                <a16:creationId xmlns:a16="http://schemas.microsoft.com/office/drawing/2014/main" id="{B8DB8286-32A8-EF58-DB16-26C9D6F01C45}"/>
              </a:ext>
            </a:extLst>
          </p:cNvPr>
          <p:cNvSpPr/>
          <p:nvPr/>
        </p:nvSpPr>
        <p:spPr>
          <a:xfrm>
            <a:off x="11834527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资产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行为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</a:rPr>
              <a:t>画像动态资产，资产决定画像</a:t>
            </a:r>
            <a:endParaRPr lang="en-US" sz="1200" dirty="0">
              <a:latin typeface="+mn-ea"/>
            </a:endParaRPr>
          </a:p>
        </p:txBody>
      </p:sp>
      <p:sp>
        <p:nvSpPr>
          <p:cNvPr id="147" name="Shape 37">
            <a:extLst>
              <a:ext uri="{FF2B5EF4-FFF2-40B4-BE49-F238E27FC236}">
                <a16:creationId xmlns:a16="http://schemas.microsoft.com/office/drawing/2014/main" id="{A8128954-0CB8-ACE4-17C3-4B860945C90E}"/>
              </a:ext>
            </a:extLst>
          </p:cNvPr>
          <p:cNvSpPr/>
          <p:nvPr/>
        </p:nvSpPr>
        <p:spPr>
          <a:xfrm>
            <a:off x="1350673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8" name="Shape 38">
            <a:extLst>
              <a:ext uri="{FF2B5EF4-FFF2-40B4-BE49-F238E27FC236}">
                <a16:creationId xmlns:a16="http://schemas.microsoft.com/office/drawing/2014/main" id="{3644D959-465A-3281-BB2E-4E4C858B3FF4}"/>
              </a:ext>
            </a:extLst>
          </p:cNvPr>
          <p:cNvSpPr/>
          <p:nvPr/>
        </p:nvSpPr>
        <p:spPr>
          <a:xfrm>
            <a:off x="1350673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9" name="Text 39">
            <a:extLst>
              <a:ext uri="{FF2B5EF4-FFF2-40B4-BE49-F238E27FC236}">
                <a16:creationId xmlns:a16="http://schemas.microsoft.com/office/drawing/2014/main" id="{7EA73321-5D99-A34D-B7FE-C76314C02594}"/>
              </a:ext>
            </a:extLst>
          </p:cNvPr>
          <p:cNvSpPr/>
          <p:nvPr/>
        </p:nvSpPr>
        <p:spPr>
          <a:xfrm>
            <a:off x="1350673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用户动线</a:t>
            </a:r>
            <a:endParaRPr lang="en-US" sz="1200" dirty="0">
              <a:latin typeface="+mn-ea"/>
            </a:endParaRPr>
          </a:p>
        </p:txBody>
      </p:sp>
      <p:sp>
        <p:nvSpPr>
          <p:cNvPr id="150" name="Text 40">
            <a:extLst>
              <a:ext uri="{FF2B5EF4-FFF2-40B4-BE49-F238E27FC236}">
                <a16:creationId xmlns:a16="http://schemas.microsoft.com/office/drawing/2014/main" id="{35EA1533-D84B-7191-549C-25D5912AC58A}"/>
              </a:ext>
            </a:extLst>
          </p:cNvPr>
          <p:cNvSpPr/>
          <p:nvPr/>
        </p:nvSpPr>
        <p:spPr>
          <a:xfrm>
            <a:off x="13570077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1200" dirty="0" err="1">
                <a:latin typeface="+mn-ea"/>
                <a:cs typeface="Microsoft YaHei" pitchFamily="34" charset="-120"/>
              </a:rPr>
              <a:t>激发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对比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闭环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资产应用承接需求，资产信任带动转化</a:t>
            </a:r>
            <a:endParaRPr lang="en-US" sz="1200" dirty="0">
              <a:latin typeface="+mn-ea"/>
            </a:endParaRPr>
          </a:p>
        </p:txBody>
      </p:sp>
      <p:sp>
        <p:nvSpPr>
          <p:cNvPr id="151" name="Shape 41">
            <a:extLst>
              <a:ext uri="{FF2B5EF4-FFF2-40B4-BE49-F238E27FC236}">
                <a16:creationId xmlns:a16="http://schemas.microsoft.com/office/drawing/2014/main" id="{083DB141-CADD-D878-76E7-0641448246A8}"/>
              </a:ext>
            </a:extLst>
          </p:cNvPr>
          <p:cNvSpPr/>
          <p:nvPr/>
        </p:nvSpPr>
        <p:spPr>
          <a:xfrm>
            <a:off x="15242286" y="3737690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2" name="Shape 42">
            <a:extLst>
              <a:ext uri="{FF2B5EF4-FFF2-40B4-BE49-F238E27FC236}">
                <a16:creationId xmlns:a16="http://schemas.microsoft.com/office/drawing/2014/main" id="{75E6FAED-2993-28CD-1639-4DEA03043685}"/>
              </a:ext>
            </a:extLst>
          </p:cNvPr>
          <p:cNvSpPr/>
          <p:nvPr/>
        </p:nvSpPr>
        <p:spPr>
          <a:xfrm>
            <a:off x="15242286" y="3737691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53" name="Text 43">
            <a:extLst>
              <a:ext uri="{FF2B5EF4-FFF2-40B4-BE49-F238E27FC236}">
                <a16:creationId xmlns:a16="http://schemas.microsoft.com/office/drawing/2014/main" id="{B662ED16-F21D-C084-2297-D8FE53DD6749}"/>
              </a:ext>
            </a:extLst>
          </p:cNvPr>
          <p:cNvSpPr/>
          <p:nvPr/>
        </p:nvSpPr>
        <p:spPr>
          <a:xfrm>
            <a:off x="15242286" y="3737691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个人资产</a:t>
            </a:r>
            <a:endParaRPr lang="en-US" sz="1200" b="1" dirty="0">
              <a:latin typeface="+mn-ea"/>
            </a:endParaRPr>
          </a:p>
        </p:txBody>
      </p:sp>
      <p:sp>
        <p:nvSpPr>
          <p:cNvPr id="154" name="Text 44">
            <a:extLst>
              <a:ext uri="{FF2B5EF4-FFF2-40B4-BE49-F238E27FC236}">
                <a16:creationId xmlns:a16="http://schemas.microsoft.com/office/drawing/2014/main" id="{90FEAAC1-B2A4-AF88-B1D8-60E4F6E05502}"/>
              </a:ext>
            </a:extLst>
          </p:cNvPr>
          <p:cNvSpPr/>
          <p:nvPr/>
        </p:nvSpPr>
        <p:spPr>
          <a:xfrm>
            <a:off x="15305627" y="3978387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记录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应用</a:t>
            </a:r>
            <a:endParaRPr lang="en-US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资产发现：</a:t>
            </a:r>
            <a:endParaRPr lang="en-US" sz="1200" dirty="0">
              <a:latin typeface="+mn-ea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9797413" y="4823923"/>
            <a:ext cx="4845606" cy="137217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9" name="Shape 27"/>
          <p:cNvSpPr/>
          <p:nvPr/>
        </p:nvSpPr>
        <p:spPr>
          <a:xfrm>
            <a:off x="9811397" y="6713458"/>
            <a:ext cx="278702" cy="848773"/>
          </a:xfrm>
          <a:prstGeom prst="roundRect">
            <a:avLst>
              <a:gd name="adj" fmla="val 984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需求层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60" name="Shape 29"/>
          <p:cNvSpPr/>
          <p:nvPr/>
        </p:nvSpPr>
        <p:spPr>
          <a:xfrm>
            <a:off x="10212298" y="525038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1" name="Shape 30"/>
          <p:cNvSpPr/>
          <p:nvPr/>
        </p:nvSpPr>
        <p:spPr>
          <a:xfrm>
            <a:off x="10212298" y="525038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62" name="Text 31"/>
          <p:cNvSpPr/>
          <p:nvPr/>
        </p:nvSpPr>
        <p:spPr>
          <a:xfrm>
            <a:off x="10212298" y="525038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需求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及动线</a:t>
            </a:r>
            <a:endParaRPr lang="en-US" sz="1200" dirty="0">
              <a:latin typeface="+mn-ea"/>
            </a:endParaRPr>
          </a:p>
        </p:txBody>
      </p:sp>
      <p:sp>
        <p:nvSpPr>
          <p:cNvPr id="163" name="Text 32"/>
          <p:cNvSpPr/>
          <p:nvPr/>
        </p:nvSpPr>
        <p:spPr>
          <a:xfrm>
            <a:off x="10275639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 err="1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人群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场景</a:t>
            </a:r>
            <a:endParaRPr lang="en-US" sz="1200" dirty="0">
              <a:latin typeface="+mn-ea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需求拉动资产，资产分析需求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+mn-ea"/>
                <a:cs typeface="Microsoft YaHei" pitchFamily="34" charset="-120"/>
              </a:rPr>
              <a:t>激发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对比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闭环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资产应用承接需求，资产信任带动转化</a:t>
            </a:r>
            <a:endParaRPr lang="en-US" altLang="zh-CN" sz="1200" dirty="0">
              <a:latin typeface="+mn-ea"/>
            </a:endParaRPr>
          </a:p>
          <a:p>
            <a:endParaRPr lang="en-US" sz="1200" dirty="0">
              <a:latin typeface="+mn-ea"/>
            </a:endParaRPr>
          </a:p>
        </p:txBody>
      </p:sp>
      <p:sp>
        <p:nvSpPr>
          <p:cNvPr id="165" name="Shape 33"/>
          <p:cNvSpPr/>
          <p:nvPr/>
        </p:nvSpPr>
        <p:spPr>
          <a:xfrm>
            <a:off x="11947848" y="525038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6" name="Shape 34"/>
          <p:cNvSpPr/>
          <p:nvPr/>
        </p:nvSpPr>
        <p:spPr>
          <a:xfrm>
            <a:off x="11947848" y="525038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67" name="Text 35"/>
          <p:cNvSpPr/>
          <p:nvPr/>
        </p:nvSpPr>
        <p:spPr>
          <a:xfrm>
            <a:off x="11947848" y="525038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用户画像</a:t>
            </a:r>
            <a:endParaRPr lang="en-US" sz="1200" dirty="0">
              <a:latin typeface="+mn-ea"/>
            </a:endParaRPr>
          </a:p>
        </p:txBody>
      </p:sp>
      <p:sp>
        <p:nvSpPr>
          <p:cNvPr id="168" name="Text 36"/>
          <p:cNvSpPr/>
          <p:nvPr/>
        </p:nvSpPr>
        <p:spPr>
          <a:xfrm>
            <a:off x="12011190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资产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行为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</a:rPr>
              <a:t>画像动态资产，资产决定画像</a:t>
            </a:r>
            <a:endParaRPr lang="en-US" sz="1200" dirty="0">
              <a:latin typeface="+mn-ea"/>
            </a:endParaRPr>
          </a:p>
        </p:txBody>
      </p:sp>
      <p:sp>
        <p:nvSpPr>
          <p:cNvPr id="169" name="Text 40"/>
          <p:cNvSpPr/>
          <p:nvPr/>
        </p:nvSpPr>
        <p:spPr>
          <a:xfrm>
            <a:off x="13746740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170" name="Shape 41"/>
          <p:cNvSpPr/>
          <p:nvPr/>
        </p:nvSpPr>
        <p:spPr>
          <a:xfrm>
            <a:off x="15137009" y="6875377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1" name="Shape 42"/>
          <p:cNvSpPr/>
          <p:nvPr/>
        </p:nvSpPr>
        <p:spPr>
          <a:xfrm>
            <a:off x="15137009" y="6875378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72" name="Text 43"/>
          <p:cNvSpPr/>
          <p:nvPr/>
        </p:nvSpPr>
        <p:spPr>
          <a:xfrm>
            <a:off x="15137009" y="6875378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个人资产</a:t>
            </a:r>
            <a:endParaRPr lang="en-US" sz="1200" b="1" dirty="0">
              <a:latin typeface="+mn-ea"/>
            </a:endParaRPr>
          </a:p>
        </p:txBody>
      </p:sp>
      <p:sp>
        <p:nvSpPr>
          <p:cNvPr id="173" name="Text 44"/>
          <p:cNvSpPr/>
          <p:nvPr/>
        </p:nvSpPr>
        <p:spPr>
          <a:xfrm>
            <a:off x="15200350" y="7116074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记录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应用</a:t>
            </a:r>
            <a:endParaRPr lang="en-US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资产发现：</a:t>
            </a:r>
            <a:endParaRPr lang="en-US" sz="1200" dirty="0">
              <a:latin typeface="+mn-ea"/>
            </a:endParaRPr>
          </a:p>
        </p:txBody>
      </p:sp>
      <p:sp>
        <p:nvSpPr>
          <p:cNvPr id="174" name="Shape 27">
            <a:extLst>
              <a:ext uri="{FF2B5EF4-FFF2-40B4-BE49-F238E27FC236}">
                <a16:creationId xmlns:a16="http://schemas.microsoft.com/office/drawing/2014/main" id="{63A739E2-8897-6D90-1155-CA517C8C85C1}"/>
              </a:ext>
            </a:extLst>
          </p:cNvPr>
          <p:cNvSpPr/>
          <p:nvPr/>
        </p:nvSpPr>
        <p:spPr>
          <a:xfrm>
            <a:off x="18022893" y="6423583"/>
            <a:ext cx="278702" cy="848773"/>
          </a:xfrm>
          <a:prstGeom prst="roundRect">
            <a:avLst>
              <a:gd name="adj" fmla="val 984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需求层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06D59FF6-99BD-B490-A8A3-C32212307AAE}"/>
              </a:ext>
            </a:extLst>
          </p:cNvPr>
          <p:cNvSpPr/>
          <p:nvPr/>
        </p:nvSpPr>
        <p:spPr>
          <a:xfrm>
            <a:off x="11738822" y="4901028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C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端</a:t>
            </a:r>
            <a:endParaRPr lang="en-US" sz="1200" dirty="0"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541FDAA4-BA2F-C04F-131A-F296FFA85A37}"/>
              </a:ext>
            </a:extLst>
          </p:cNvPr>
          <p:cNvSpPr txBox="1"/>
          <p:nvPr/>
        </p:nvSpPr>
        <p:spPr>
          <a:xfrm>
            <a:off x="235815" y="10582325"/>
            <a:ext cx="4358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信任输出层：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1.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心智锚点：用户决策的主动复访理由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商家品牌化理由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2.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好的定义：标杆模板、策略优先级、资源配给、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3.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决策信任信号：用户选择依据，商家背书学习？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4.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决策流量：到餐不等于团购，强找优惠心智到全旅程业务实质。也是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AI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分发全</a:t>
            </a:r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6EA77B0-6F16-6C48-A856-1BF63A26459C}"/>
              </a:ext>
            </a:extLst>
          </p:cNvPr>
          <p:cNvSpPr txBox="1"/>
          <p:nvPr/>
        </p:nvSpPr>
        <p:spPr>
          <a:xfrm>
            <a:off x="282005" y="10147637"/>
            <a:ext cx="4358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竞争：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高德扫街榜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小红书内容，先从决策心智入手</a:t>
            </a:r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180" name="Text 25">
            <a:extLst>
              <a:ext uri="{FF2B5EF4-FFF2-40B4-BE49-F238E27FC236}">
                <a16:creationId xmlns:a16="http://schemas.microsoft.com/office/drawing/2014/main" id="{B0853361-484F-4655-6A43-85D3C6AB4082}"/>
              </a:ext>
            </a:extLst>
          </p:cNvPr>
          <p:cNvSpPr/>
          <p:nvPr/>
        </p:nvSpPr>
        <p:spPr>
          <a:xfrm>
            <a:off x="16672772" y="4937135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端</a:t>
            </a:r>
            <a:endParaRPr lang="en-US" sz="1200" dirty="0">
              <a:latin typeface="+mn-ea"/>
            </a:endParaRPr>
          </a:p>
        </p:txBody>
      </p:sp>
      <p:sp>
        <p:nvSpPr>
          <p:cNvPr id="181" name="Shape 41">
            <a:extLst>
              <a:ext uri="{FF2B5EF4-FFF2-40B4-BE49-F238E27FC236}">
                <a16:creationId xmlns:a16="http://schemas.microsoft.com/office/drawing/2014/main" id="{5C6D3F00-2B5E-D730-7054-770852EE956B}"/>
              </a:ext>
            </a:extLst>
          </p:cNvPr>
          <p:cNvSpPr/>
          <p:nvPr/>
        </p:nvSpPr>
        <p:spPr>
          <a:xfrm>
            <a:off x="14946509" y="5194734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2" name="Shape 42">
            <a:extLst>
              <a:ext uri="{FF2B5EF4-FFF2-40B4-BE49-F238E27FC236}">
                <a16:creationId xmlns:a16="http://schemas.microsoft.com/office/drawing/2014/main" id="{008204F4-3840-DD4E-927D-F05BB9C8F63C}"/>
              </a:ext>
            </a:extLst>
          </p:cNvPr>
          <p:cNvSpPr/>
          <p:nvPr/>
        </p:nvSpPr>
        <p:spPr>
          <a:xfrm>
            <a:off x="14946509" y="5194735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83" name="Text 43">
            <a:extLst>
              <a:ext uri="{FF2B5EF4-FFF2-40B4-BE49-F238E27FC236}">
                <a16:creationId xmlns:a16="http://schemas.microsoft.com/office/drawing/2014/main" id="{8A3C9981-DF94-3CA1-3A90-7DDF60D161D4}"/>
              </a:ext>
            </a:extLst>
          </p:cNvPr>
          <p:cNvSpPr/>
          <p:nvPr/>
        </p:nvSpPr>
        <p:spPr>
          <a:xfrm>
            <a:off x="14946509" y="5194735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低成本</a:t>
            </a:r>
            <a:endParaRPr lang="en-US" sz="1200" b="1" dirty="0">
              <a:latin typeface="+mn-ea"/>
            </a:endParaRPr>
          </a:p>
        </p:txBody>
      </p:sp>
      <p:sp>
        <p:nvSpPr>
          <p:cNvPr id="184" name="Text 44">
            <a:extLst>
              <a:ext uri="{FF2B5EF4-FFF2-40B4-BE49-F238E27FC236}">
                <a16:creationId xmlns:a16="http://schemas.microsoft.com/office/drawing/2014/main" id="{1EB7E1A3-740C-1347-E686-50B9902FFB42}"/>
              </a:ext>
            </a:extLst>
          </p:cNvPr>
          <p:cNvSpPr/>
          <p:nvPr/>
        </p:nvSpPr>
        <p:spPr>
          <a:xfrm>
            <a:off x="15009850" y="5435431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>
                <a:latin typeface="+mn-ea"/>
                <a:cs typeface="Microsoft YaHei" pitchFamily="34" charset="-120"/>
              </a:rPr>
              <a:t>不用反复获取注意力</a:t>
            </a:r>
            <a:endParaRPr lang="en-US" sz="12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49469" y="5037792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↑ 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输出</a:t>
            </a:r>
            <a:endParaRPr lang="en-US" sz="1200" dirty="0"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0D215A-3764-1B17-D50E-D0E721AA1F69}"/>
              </a:ext>
            </a:extLst>
          </p:cNvPr>
          <p:cNvSpPr txBox="1"/>
          <p:nvPr/>
        </p:nvSpPr>
        <p:spPr>
          <a:xfrm>
            <a:off x="806912" y="802774"/>
            <a:ext cx="6683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i="0" dirty="0">
                <a:effectLst/>
                <a:latin typeface="+mn-ea"/>
              </a:rPr>
              <a:t>C</a:t>
            </a:r>
            <a:r>
              <a:rPr lang="zh-CN" altLang="en-US" sz="1200" b="1" i="0" dirty="0">
                <a:effectLst/>
                <a:latin typeface="+mn-ea"/>
              </a:rPr>
              <a:t>端占心智 </a:t>
            </a:r>
            <a:r>
              <a:rPr lang="en-US" altLang="zh-CN" sz="1200" b="1" i="0" dirty="0">
                <a:effectLst/>
                <a:latin typeface="+mn-ea"/>
              </a:rPr>
              <a:t>× B</a:t>
            </a:r>
            <a:r>
              <a:rPr lang="zh-CN" altLang="en-US" sz="1200" b="1" i="0" dirty="0">
                <a:effectLst/>
                <a:latin typeface="+mn-ea"/>
              </a:rPr>
              <a:t>端促</a:t>
            </a:r>
            <a:r>
              <a:rPr lang="zh-CN" altLang="en-US" sz="1200" b="1" dirty="0">
                <a:latin typeface="+mn-ea"/>
              </a:rPr>
              <a:t>品质</a:t>
            </a:r>
            <a:r>
              <a:rPr lang="zh-CN" altLang="en-US" sz="1200" b="1" i="0" dirty="0">
                <a:effectLst/>
                <a:latin typeface="+mn-ea"/>
              </a:rPr>
              <a:t> </a:t>
            </a:r>
            <a:r>
              <a:rPr lang="en-US" altLang="zh-CN" sz="1200" b="1" i="0" dirty="0">
                <a:effectLst/>
                <a:latin typeface="+mn-ea"/>
              </a:rPr>
              <a:t>× </a:t>
            </a:r>
            <a:r>
              <a:rPr lang="zh-CN" altLang="en-US" sz="1200" b="1" i="0" dirty="0">
                <a:effectLst/>
                <a:latin typeface="+mn-ea"/>
              </a:rPr>
              <a:t>平台筑壁垒</a:t>
            </a:r>
            <a:r>
              <a:rPr lang="zh-CN" altLang="en-US" sz="1200" b="0" i="0" dirty="0">
                <a:effectLst/>
                <a:latin typeface="+mn-ea"/>
              </a:rPr>
              <a:t> 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10D2C7F-7DAD-F7FA-371B-F02E9EF43BA9}"/>
              </a:ext>
            </a:extLst>
          </p:cNvPr>
          <p:cNvSpPr txBox="1"/>
          <p:nvPr/>
        </p:nvSpPr>
        <p:spPr>
          <a:xfrm>
            <a:off x="9215438" y="39402"/>
            <a:ext cx="39671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战略意义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endParaRPr lang="en-US" altLang="zh-CN" sz="1200" dirty="0">
              <a:latin typeface="+mn-ea"/>
            </a:endParaRPr>
          </a:p>
          <a:p>
            <a:r>
              <a:rPr lang="en-US" altLang="zh-CN" sz="1200" dirty="0" err="1">
                <a:latin typeface="+mn-ea"/>
                <a:cs typeface="Microsoft YaHei" pitchFamily="34" charset="-120"/>
              </a:rPr>
              <a:t>用户行为→资产→信任→商家沉淀→商家被牵引→平台沉淀差异化竞争力。飞轮效应，越转越厚，竞品越难追赶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。</a:t>
            </a:r>
          </a:p>
          <a:p>
            <a:r>
              <a:rPr lang="zh-CN" altLang="en-US" sz="1200" b="0" i="0" dirty="0">
                <a:effectLst/>
                <a:latin typeface="+mn-ea"/>
              </a:rPr>
              <a:t>优质经营→好评沉淀→信任标签→自然流量→更多优质用户。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用户行为产生的真实数据→驱动商户改善→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+mn-ea"/>
              </a:rPr>
              <a:t>形成</a:t>
            </a:r>
            <a:r>
              <a:rPr lang="en-US" altLang="zh-CN" sz="1200" b="1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+mn-ea"/>
              </a:rPr>
              <a:t>你变好，流量就来</a:t>
            </a:r>
            <a:r>
              <a:rPr lang="en-US" altLang="zh-CN" sz="1200" b="1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+mn-ea"/>
              </a:rPr>
              <a:t>的正向循环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，跳出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花钱买流量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的零和博弈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Text 15"/>
          <p:cNvSpPr/>
          <p:nvPr/>
        </p:nvSpPr>
        <p:spPr>
          <a:xfrm>
            <a:off x="3338520" y="1082916"/>
            <a:ext cx="2466000" cy="82326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B端：商户长效经营牵引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长效经营攒资产，沉淀信任正循环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" name="Text 11"/>
          <p:cNvSpPr/>
          <p:nvPr/>
        </p:nvSpPr>
        <p:spPr>
          <a:xfrm>
            <a:off x="759190" y="1083449"/>
            <a:ext cx="2466000" cy="8075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C端：用户选店选品决策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用户因信任而来，而转化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  <a:cs typeface="Microsoft YaHei" pitchFamily="34" charset="-120"/>
            </a:endParaRPr>
          </a:p>
        </p:txBody>
      </p:sp>
      <p:sp>
        <p:nvSpPr>
          <p:cNvPr id="7" name="Text 19"/>
          <p:cNvSpPr/>
          <p:nvPr/>
        </p:nvSpPr>
        <p:spPr>
          <a:xfrm>
            <a:off x="5917850" y="1082917"/>
            <a:ext cx="2466000" cy="8232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平台</a:t>
            </a:r>
            <a:r>
              <a:rPr lang="en-US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差异化竞争力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高价值用户及优质商户生态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9A62740-7819-6DB8-A118-B6E446CE1A50}"/>
              </a:ext>
            </a:extLst>
          </p:cNvPr>
          <p:cNvSpPr/>
          <p:nvPr/>
        </p:nvSpPr>
        <p:spPr>
          <a:xfrm>
            <a:off x="1668372" y="2939912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用户决策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484439-03E8-79FA-47D3-BC0F3AC06C12}"/>
              </a:ext>
            </a:extLst>
          </p:cNvPr>
          <p:cNvSpPr txBox="1"/>
          <p:nvPr/>
        </p:nvSpPr>
        <p:spPr>
          <a:xfrm>
            <a:off x="2769934" y="3162051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更多用户行为资产沉淀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B2B8402-BC49-0CBD-0FD2-B9ECA22392F4}"/>
              </a:ext>
            </a:extLst>
          </p:cNvPr>
          <p:cNvSpPr txBox="1"/>
          <p:nvPr/>
        </p:nvSpPr>
        <p:spPr>
          <a:xfrm>
            <a:off x="1440629" y="2243421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B988FBE-0D8A-B5FB-4927-7655C6C23C27}"/>
              </a:ext>
            </a:extLst>
          </p:cNvPr>
          <p:cNvSpPr txBox="1"/>
          <p:nvPr/>
        </p:nvSpPr>
        <p:spPr>
          <a:xfrm>
            <a:off x="1427099" y="4333110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更强信任壁垒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6FD191-0447-5214-2655-8E350AFA1F67}"/>
              </a:ext>
            </a:extLst>
          </p:cNvPr>
          <p:cNvSpPr txBox="1"/>
          <p:nvPr/>
        </p:nvSpPr>
        <p:spPr>
          <a:xfrm>
            <a:off x="224096" y="3254069"/>
            <a:ext cx="1351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更好的决策体验</a:t>
            </a:r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4C754BEB-F055-4B22-8324-5B760BADE92A}"/>
              </a:ext>
            </a:extLst>
          </p:cNvPr>
          <p:cNvSpPr/>
          <p:nvPr/>
        </p:nvSpPr>
        <p:spPr>
          <a:xfrm>
            <a:off x="1918836" y="2371874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6D4F55BF-AE7C-5039-34F9-19FEB3E11B88}"/>
              </a:ext>
            </a:extLst>
          </p:cNvPr>
          <p:cNvSpPr/>
          <p:nvPr/>
        </p:nvSpPr>
        <p:spPr>
          <a:xfrm rot="5400000">
            <a:off x="2045518" y="315732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52E9912B-B4F9-2895-D17C-5FC658F56764}"/>
              </a:ext>
            </a:extLst>
          </p:cNvPr>
          <p:cNvSpPr/>
          <p:nvPr/>
        </p:nvSpPr>
        <p:spPr>
          <a:xfrm rot="10800000">
            <a:off x="842616" y="3177493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8" name="弧形 37">
            <a:extLst>
              <a:ext uri="{FF2B5EF4-FFF2-40B4-BE49-F238E27FC236}">
                <a16:creationId xmlns:a16="http://schemas.microsoft.com/office/drawing/2014/main" id="{DDCC8238-B56E-55A2-40B9-C6B4C96BF338}"/>
              </a:ext>
            </a:extLst>
          </p:cNvPr>
          <p:cNvSpPr/>
          <p:nvPr/>
        </p:nvSpPr>
        <p:spPr>
          <a:xfrm rot="16200000">
            <a:off x="754587" y="250556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9C8EC8F-3C2D-34C3-763C-BA0EB4ACC68B}"/>
              </a:ext>
            </a:extLst>
          </p:cNvPr>
          <p:cNvSpPr txBox="1"/>
          <p:nvPr/>
        </p:nvSpPr>
        <p:spPr>
          <a:xfrm>
            <a:off x="4683125" y="3159710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商家积累更多资产</a:t>
            </a: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86232731-405E-AA88-1A9A-6AF57221565B}"/>
              </a:ext>
            </a:extLst>
          </p:cNvPr>
          <p:cNvSpPr/>
          <p:nvPr/>
        </p:nvSpPr>
        <p:spPr>
          <a:xfrm>
            <a:off x="4051533" y="3246675"/>
            <a:ext cx="662861" cy="25136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66339F-2020-09AF-6658-DA375BACAED1}"/>
              </a:ext>
            </a:extLst>
          </p:cNvPr>
          <p:cNvSpPr txBox="1"/>
          <p:nvPr/>
        </p:nvSpPr>
        <p:spPr>
          <a:xfrm>
            <a:off x="3914600" y="3017876"/>
            <a:ext cx="928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真实产生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0292F71-0E56-9B34-6137-74C52C6280CB}"/>
              </a:ext>
            </a:extLst>
          </p:cNvPr>
          <p:cNvSpPr txBox="1"/>
          <p:nvPr/>
        </p:nvSpPr>
        <p:spPr>
          <a:xfrm>
            <a:off x="6051295" y="4253192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更优质商户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62B163D-EA05-8BE6-E0FB-C97BB76180BA}"/>
              </a:ext>
            </a:extLst>
          </p:cNvPr>
          <p:cNvSpPr txBox="1"/>
          <p:nvPr/>
        </p:nvSpPr>
        <p:spPr>
          <a:xfrm>
            <a:off x="6051010" y="2237732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更多资产获得更多信任流量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772151B-F445-98D6-4BF8-ECF3D2957006}"/>
              </a:ext>
            </a:extLst>
          </p:cNvPr>
          <p:cNvSpPr txBox="1"/>
          <p:nvPr/>
        </p:nvSpPr>
        <p:spPr>
          <a:xfrm>
            <a:off x="7206553" y="3093199"/>
            <a:ext cx="128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更强改善经营的动力与合作意愿</a:t>
            </a:r>
          </a:p>
        </p:txBody>
      </p:sp>
      <p:sp>
        <p:nvSpPr>
          <p:cNvPr id="111" name="弧形 110">
            <a:extLst>
              <a:ext uri="{FF2B5EF4-FFF2-40B4-BE49-F238E27FC236}">
                <a16:creationId xmlns:a16="http://schemas.microsoft.com/office/drawing/2014/main" id="{5D1BD973-12FC-862D-0FB7-9B53B98F852D}"/>
              </a:ext>
            </a:extLst>
          </p:cNvPr>
          <p:cNvSpPr/>
          <p:nvPr/>
        </p:nvSpPr>
        <p:spPr>
          <a:xfrm rot="21160491">
            <a:off x="-1960542" y="2304719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4" name="弧形 113">
            <a:extLst>
              <a:ext uri="{FF2B5EF4-FFF2-40B4-BE49-F238E27FC236}">
                <a16:creationId xmlns:a16="http://schemas.microsoft.com/office/drawing/2014/main" id="{7EEF91F7-3F27-0595-D92B-329074960E76}"/>
              </a:ext>
            </a:extLst>
          </p:cNvPr>
          <p:cNvSpPr/>
          <p:nvPr/>
        </p:nvSpPr>
        <p:spPr>
          <a:xfrm rot="16200000">
            <a:off x="5186094" y="2489638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5" name="弧形 114">
            <a:extLst>
              <a:ext uri="{FF2B5EF4-FFF2-40B4-BE49-F238E27FC236}">
                <a16:creationId xmlns:a16="http://schemas.microsoft.com/office/drawing/2014/main" id="{DB554CBA-BCFF-9CE5-E3BD-4D34E9F2478E}"/>
              </a:ext>
            </a:extLst>
          </p:cNvPr>
          <p:cNvSpPr/>
          <p:nvPr/>
        </p:nvSpPr>
        <p:spPr>
          <a:xfrm>
            <a:off x="6554839" y="2456635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6" name="弧形 115">
            <a:extLst>
              <a:ext uri="{FF2B5EF4-FFF2-40B4-BE49-F238E27FC236}">
                <a16:creationId xmlns:a16="http://schemas.microsoft.com/office/drawing/2014/main" id="{73AB4FD1-4942-D0F9-AD11-438D0BB76B95}"/>
              </a:ext>
            </a:extLst>
          </p:cNvPr>
          <p:cNvSpPr/>
          <p:nvPr/>
        </p:nvSpPr>
        <p:spPr>
          <a:xfrm rot="5400000">
            <a:off x="6630849" y="3057906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7" name="弧形 116">
            <a:extLst>
              <a:ext uri="{FF2B5EF4-FFF2-40B4-BE49-F238E27FC236}">
                <a16:creationId xmlns:a16="http://schemas.microsoft.com/office/drawing/2014/main" id="{ADBA8071-DCCC-39D7-C769-D791F9FC8E53}"/>
              </a:ext>
            </a:extLst>
          </p:cNvPr>
          <p:cNvSpPr/>
          <p:nvPr/>
        </p:nvSpPr>
        <p:spPr>
          <a:xfrm rot="10800000">
            <a:off x="5308868" y="313288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AA23A51F-0C3D-18B0-10E0-332F27BC0A1E}"/>
              </a:ext>
            </a:extLst>
          </p:cNvPr>
          <p:cNvSpPr/>
          <p:nvPr/>
        </p:nvSpPr>
        <p:spPr>
          <a:xfrm>
            <a:off x="6199283" y="290274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商家经营</a:t>
            </a:r>
          </a:p>
        </p:txBody>
      </p:sp>
      <p:sp>
        <p:nvSpPr>
          <p:cNvPr id="123" name="弧形 122">
            <a:extLst>
              <a:ext uri="{FF2B5EF4-FFF2-40B4-BE49-F238E27FC236}">
                <a16:creationId xmlns:a16="http://schemas.microsoft.com/office/drawing/2014/main" id="{496D3895-36C6-3249-FA59-9A44C4088DEF}"/>
              </a:ext>
            </a:extLst>
          </p:cNvPr>
          <p:cNvSpPr/>
          <p:nvPr/>
        </p:nvSpPr>
        <p:spPr>
          <a:xfrm rot="10359915">
            <a:off x="1303764" y="1759770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4" name="Shape 100">
            <a:extLst>
              <a:ext uri="{FF2B5EF4-FFF2-40B4-BE49-F238E27FC236}">
                <a16:creationId xmlns:a16="http://schemas.microsoft.com/office/drawing/2014/main" id="{3818A530-BCFF-C64C-E7FC-CBE7F214F95E}"/>
              </a:ext>
            </a:extLst>
          </p:cNvPr>
          <p:cNvSpPr/>
          <p:nvPr/>
        </p:nvSpPr>
        <p:spPr>
          <a:xfrm>
            <a:off x="9630251" y="8966273"/>
            <a:ext cx="27775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5" name="Text 101">
            <a:extLst>
              <a:ext uri="{FF2B5EF4-FFF2-40B4-BE49-F238E27FC236}">
                <a16:creationId xmlns:a16="http://schemas.microsoft.com/office/drawing/2014/main" id="{6A9BC1B9-CE46-3831-D71A-EC54F74A9C57}"/>
              </a:ext>
            </a:extLst>
          </p:cNvPr>
          <p:cNvSpPr/>
          <p:nvPr/>
        </p:nvSpPr>
        <p:spPr>
          <a:xfrm>
            <a:off x="9808321" y="6672477"/>
            <a:ext cx="2784665" cy="19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分布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策略</a:t>
            </a:r>
            <a:r>
              <a:rPr lang="en-US" sz="1200" b="1" dirty="0">
                <a:latin typeface="+mn-ea"/>
                <a:cs typeface="Microsoft YaHei" pitchFamily="34" charset="-120"/>
              </a:rPr>
              <a:t>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28" name="Text 105"/>
          <p:cNvSpPr/>
          <p:nvPr/>
        </p:nvSpPr>
        <p:spPr>
          <a:xfrm>
            <a:off x="5941077" y="7725428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菜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扩展方向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「先选品，后到店」</a:t>
            </a:r>
            <a:endParaRPr lang="en-US" sz="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1188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26">
            <a:extLst>
              <a:ext uri="{FF2B5EF4-FFF2-40B4-BE49-F238E27FC236}">
                <a16:creationId xmlns:a16="http://schemas.microsoft.com/office/drawing/2014/main" id="{F399989F-46AA-3E6A-FC11-7BE566B2FFFB}"/>
              </a:ext>
            </a:extLst>
          </p:cNvPr>
          <p:cNvSpPr/>
          <p:nvPr/>
        </p:nvSpPr>
        <p:spPr>
          <a:xfrm>
            <a:off x="14702788" y="4810453"/>
            <a:ext cx="4845606" cy="137217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53365" y="126683"/>
            <a:ext cx="8234364" cy="354711"/>
          </a:xfrm>
          <a:prstGeom prst="roundRect">
            <a:avLst>
              <a:gd name="adj" fmla="val 154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53365" y="126684"/>
            <a:ext cx="8234364" cy="6255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到餐资产运营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强化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用户及商家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长期积累的差异化数据资产，构建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基于资产的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有壁垒的用户到店餐饮消费决策信任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服务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体系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 err="1">
                <a:latin typeface="+mn-ea"/>
              </a:rPr>
              <a:t>支持用户选店选品决策PMF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>
                <a:latin typeface="+mn-ea"/>
              </a:rPr>
              <a:t>，主要强化服务用户能力。</a:t>
            </a:r>
            <a:r>
              <a:rPr lang="en-US" altLang="zh-CN" sz="1200" dirty="0" err="1">
                <a:latin typeface="+mn-ea"/>
              </a:rPr>
              <a:t>兼助商户长效经营</a:t>
            </a:r>
            <a:r>
              <a:rPr lang="zh-CN" altLang="en-US" sz="1200" dirty="0">
                <a:latin typeface="+mn-ea"/>
              </a:rPr>
              <a:t>的流量、背书及牵引</a:t>
            </a:r>
            <a:r>
              <a:rPr lang="en-US" sz="1200" b="1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3365" y="557403"/>
            <a:ext cx="8234364" cy="41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9805" y="835554"/>
            <a:ext cx="8234364" cy="2699283"/>
          </a:xfrm>
          <a:prstGeom prst="roundRect">
            <a:avLst>
              <a:gd name="adj" fmla="val 2221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CE93D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5574" y="1103042"/>
            <a:ext cx="278702" cy="982465"/>
          </a:xfrm>
          <a:prstGeom prst="roundRect">
            <a:avLst>
              <a:gd name="adj" fmla="val 9843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anchor="ctr"/>
          <a:lstStyle/>
          <a:p>
            <a:r>
              <a:rPr lang="zh-CN" altLang="en-US" sz="900" b="1" dirty="0">
                <a:latin typeface="+mn-ea"/>
              </a:rPr>
              <a:t>资产价值</a:t>
            </a:r>
          </a:p>
        </p:txBody>
      </p:sp>
      <p:sp>
        <p:nvSpPr>
          <p:cNvPr id="11" name="Shape 9"/>
          <p:cNvSpPr/>
          <p:nvPr/>
        </p:nvSpPr>
        <p:spPr>
          <a:xfrm>
            <a:off x="660044" y="1129588"/>
            <a:ext cx="2448000" cy="956452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12700">
            <a:solidFill>
              <a:srgbClr val="AB47B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84216" y="1129589"/>
            <a:ext cx="1786223" cy="240697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3" name="Text 11"/>
          <p:cNvSpPr/>
          <p:nvPr/>
        </p:nvSpPr>
        <p:spPr>
          <a:xfrm>
            <a:off x="651487" y="1103575"/>
            <a:ext cx="2466000" cy="3353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C端：用户选店选品决策</a:t>
            </a:r>
            <a:endParaRPr lang="en-US" sz="9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用户因信任而来，而转化</a:t>
            </a:r>
            <a:endParaRPr lang="en-US" altLang="zh-CN" sz="900" b="1" dirty="0">
              <a:solidFill>
                <a:schemeClr val="bg1">
                  <a:lumMod val="50000"/>
                </a:schemeClr>
              </a:solidFill>
              <a:latin typeface="+mn-ea"/>
              <a:cs typeface="Microsoft YaHe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7924" y="1446295"/>
            <a:ext cx="2364693" cy="565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900" b="1" dirty="0">
                <a:latin typeface="+mn-ea"/>
                <a:cs typeface="Microsoft YaHei" pitchFamily="34" charset="-120"/>
              </a:rPr>
              <a:t>密度：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信息全、资产厚、密度大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900" b="1" dirty="0">
                <a:latin typeface="+mn-ea"/>
                <a:cs typeface="Microsoft YaHei" pitchFamily="34" charset="-120"/>
              </a:rPr>
              <a:t>信任：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资产表达信任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900" b="1" dirty="0">
                <a:latin typeface="+mn-ea"/>
                <a:cs typeface="Microsoft YaHei" pitchFamily="34" charset="-120"/>
              </a:rPr>
              <a:t>闭环：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信任直达交履，交履促成评价</a:t>
            </a:r>
            <a:endParaRPr lang="en-US" altLang="zh-CN" sz="900" dirty="0">
              <a:latin typeface="+mn-ea"/>
              <a:cs typeface="Microsoft YaHei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8839" y="1132400"/>
            <a:ext cx="2448000" cy="953107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12700">
            <a:solidFill>
              <a:srgbClr val="AB47B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Shape 14"/>
          <p:cNvSpPr/>
          <p:nvPr/>
        </p:nvSpPr>
        <p:spPr>
          <a:xfrm>
            <a:off x="3230101" y="1132933"/>
            <a:ext cx="1786223" cy="240697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3198350" y="1126583"/>
            <a:ext cx="2466000" cy="3315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B端：商户长效经营牵引</a:t>
            </a:r>
            <a:endParaRPr lang="en-US" sz="9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长效经营攒资产，沉淀信任正循环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13847" y="1455449"/>
            <a:ext cx="2272962" cy="606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900" b="1" dirty="0">
                <a:latin typeface="+mn-ea"/>
                <a:cs typeface="Microsoft YaHei" pitchFamily="34" charset="-120"/>
              </a:rPr>
              <a:t>背书：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资产是线上信用证明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900" b="1" dirty="0">
                <a:latin typeface="+mn-ea"/>
                <a:cs typeface="Microsoft YaHei" pitchFamily="34" charset="-120"/>
              </a:rPr>
              <a:t>指引：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筹备沉淀资产，改善经营动作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900" b="1" dirty="0">
                <a:latin typeface="+mn-ea"/>
                <a:cs typeface="Microsoft YaHei" pitchFamily="34" charset="-120"/>
              </a:rPr>
              <a:t>生意：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买流量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提品质、攒资产、赚流量</a:t>
            </a:r>
            <a:endParaRPr lang="en-US" altLang="zh-CN" sz="900" dirty="0">
              <a:latin typeface="+mn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34939" y="1132400"/>
            <a:ext cx="2448000" cy="953107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12700">
            <a:solidFill>
              <a:srgbClr val="AB47B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28589" y="1126049"/>
            <a:ext cx="2466000" cy="3256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</p:sp>
      <p:sp>
        <p:nvSpPr>
          <p:cNvPr id="21" name="Text 19"/>
          <p:cNvSpPr/>
          <p:nvPr/>
        </p:nvSpPr>
        <p:spPr>
          <a:xfrm>
            <a:off x="6164314" y="1126049"/>
            <a:ext cx="1786223" cy="341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平台</a:t>
            </a:r>
            <a:r>
              <a:rPr lang="en-US" sz="9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差异化竞争力</a:t>
            </a:r>
            <a:endParaRPr lang="en-US" sz="9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生态向好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57137" y="3733652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A5D6A7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07810" y="3771657"/>
            <a:ext cx="278702" cy="874109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900" b="1" dirty="0" err="1">
                <a:latin typeface="+mn-ea"/>
                <a:cs typeface="Microsoft YaHei" pitchFamily="34" charset="-120"/>
              </a:rPr>
              <a:t>资产应用层</a:t>
            </a:r>
            <a:endParaRPr lang="en-US" altLang="zh-CN" sz="900" dirty="0">
              <a:latin typeface="+mn-ea"/>
            </a:endParaRPr>
          </a:p>
          <a:p>
            <a:endParaRPr lang="zh-CN" altLang="en-US" sz="900" dirty="0">
              <a:latin typeface="+mn-ea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2521" y="3809661"/>
            <a:ext cx="1773555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81C78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62521" y="3809661"/>
            <a:ext cx="1773555" cy="228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52" name="Text 50"/>
          <p:cNvSpPr/>
          <p:nvPr/>
        </p:nvSpPr>
        <p:spPr>
          <a:xfrm>
            <a:off x="662521" y="3809661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榜单矩阵</a:t>
            </a:r>
            <a:endParaRPr lang="en-US" sz="900" dirty="0">
              <a:latin typeface="+mn-ea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25862" y="4063026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b="1" dirty="0">
                <a:latin typeface="+mn-ea"/>
                <a:cs typeface="Microsoft YaHei" pitchFamily="34" charset="-120"/>
              </a:rPr>
              <a:t>让用户「看榜决策」</a:t>
            </a:r>
            <a:endParaRPr lang="en-US" sz="900" dirty="0">
              <a:latin typeface="+mn-ea"/>
            </a:endParaRPr>
          </a:p>
          <a:p>
            <a:r>
              <a:rPr lang="en-US" sz="900" dirty="0">
                <a:latin typeface="+mn-ea"/>
                <a:cs typeface="Microsoft YaHei" pitchFamily="34" charset="-120"/>
              </a:rPr>
              <a:t>IP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榜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场景榜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指数榜</a:t>
            </a:r>
            <a:endParaRPr lang="en-US" sz="900" dirty="0">
              <a:latin typeface="+mn-ea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524754" y="3809661"/>
            <a:ext cx="1773555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81C78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524754" y="3809661"/>
            <a:ext cx="1773555" cy="228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56" name="Text 54"/>
          <p:cNvSpPr/>
          <p:nvPr/>
        </p:nvSpPr>
        <p:spPr>
          <a:xfrm>
            <a:off x="2524754" y="3809661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个性化合集</a:t>
            </a:r>
            <a:endParaRPr lang="en-US" sz="900" dirty="0">
              <a:latin typeface="+mn-ea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588095" y="4063026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b="1" dirty="0" err="1">
                <a:latin typeface="+mn-ea"/>
                <a:cs typeface="Microsoft YaHei" pitchFamily="34" charset="-120"/>
              </a:rPr>
              <a:t>让用户</a:t>
            </a:r>
            <a:r>
              <a:rPr lang="en-US" sz="900" b="1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个性化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/</a:t>
            </a:r>
            <a:r>
              <a:rPr lang="en-US" sz="900" b="1" dirty="0">
                <a:latin typeface="+mn-ea"/>
                <a:cs typeface="Microsoft YaHei" pitchFamily="34" charset="-120"/>
              </a:rPr>
              <a:t>看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人</a:t>
            </a:r>
            <a:r>
              <a:rPr lang="en-US" sz="900" b="1" dirty="0" err="1">
                <a:latin typeface="+mn-ea"/>
                <a:cs typeface="Microsoft YaHei" pitchFamily="34" charset="-120"/>
              </a:rPr>
              <a:t>决策</a:t>
            </a:r>
            <a:r>
              <a:rPr lang="en-US" sz="900" b="1" dirty="0">
                <a:latin typeface="+mn-ea"/>
                <a:cs typeface="Microsoft YaHei" pitchFamily="34" charset="-120"/>
              </a:rPr>
              <a:t>」</a:t>
            </a:r>
          </a:p>
          <a:p>
            <a:r>
              <a:rPr lang="zh-CN" altLang="en-US" sz="900" dirty="0">
                <a:latin typeface="+mn-ea"/>
              </a:rPr>
              <a:t>个性化合集</a:t>
            </a:r>
            <a:r>
              <a:rPr lang="en-US" altLang="zh-CN" sz="900" dirty="0">
                <a:latin typeface="+mn-ea"/>
              </a:rPr>
              <a:t>+UGC</a:t>
            </a:r>
            <a:r>
              <a:rPr lang="zh-CN" altLang="en-US" sz="900" dirty="0">
                <a:latin typeface="+mn-ea"/>
              </a:rPr>
              <a:t>合集</a:t>
            </a:r>
            <a:endParaRPr lang="en-US" sz="900" dirty="0">
              <a:latin typeface="+mn-ea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386987" y="3809661"/>
            <a:ext cx="1773555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81C78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386987" y="3809661"/>
            <a:ext cx="1773555" cy="228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60" name="Text 58"/>
          <p:cNvSpPr/>
          <p:nvPr/>
        </p:nvSpPr>
        <p:spPr>
          <a:xfrm>
            <a:off x="4386987" y="3809661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900" b="1" dirty="0">
                <a:latin typeface="+mn-ea"/>
                <a:cs typeface="Microsoft YaHei" pitchFamily="34" charset="-120"/>
              </a:rPr>
              <a:t>GC</a:t>
            </a:r>
            <a:endParaRPr lang="en-US" sz="900" dirty="0">
              <a:latin typeface="+mn-ea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450328" y="4063026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b="1" dirty="0" err="1">
                <a:latin typeface="+mn-ea"/>
                <a:cs typeface="Microsoft YaHei" pitchFamily="34" charset="-120"/>
              </a:rPr>
              <a:t>让用户「看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信息</a:t>
            </a:r>
            <a:r>
              <a:rPr lang="en-US" sz="900" b="1" dirty="0" err="1">
                <a:latin typeface="+mn-ea"/>
                <a:cs typeface="Microsoft YaHei" pitchFamily="34" charset="-120"/>
              </a:rPr>
              <a:t>决策</a:t>
            </a:r>
            <a:r>
              <a:rPr lang="en-US" sz="900" b="1" dirty="0">
                <a:latin typeface="+mn-ea"/>
                <a:cs typeface="Microsoft YaHei" pitchFamily="34" charset="-120"/>
              </a:rPr>
              <a:t>」</a:t>
            </a:r>
            <a:endParaRPr lang="en-US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基础信息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评价等非标长尾信息</a:t>
            </a:r>
            <a:endParaRPr lang="en-US" sz="900" dirty="0">
              <a:latin typeface="+mn-ea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249219" y="3809661"/>
            <a:ext cx="2153603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81C78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249219" y="3809661"/>
            <a:ext cx="2153603" cy="228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zh-CN" altLang="en-US" sz="900" dirty="0">
              <a:latin typeface="+mn-ea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6249219" y="3809661"/>
            <a:ext cx="2153603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00" b="1" dirty="0">
                <a:latin typeface="+mn-ea"/>
                <a:cs typeface="Microsoft YaHei" pitchFamily="34" charset="-120"/>
              </a:rPr>
              <a:t>星级</a:t>
            </a:r>
            <a:endParaRPr lang="en-US" sz="900" dirty="0">
              <a:latin typeface="+mn-ea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312561" y="4063026"/>
            <a:ext cx="2026920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900" b="1" dirty="0" err="1">
                <a:latin typeface="+mn-ea"/>
                <a:cs typeface="Microsoft YaHei" pitchFamily="34" charset="-120"/>
              </a:rPr>
              <a:t>让用户「看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分</a:t>
            </a:r>
            <a:r>
              <a:rPr lang="en-US" altLang="zh-CN" sz="900" b="1" dirty="0" err="1">
                <a:latin typeface="+mn-ea"/>
                <a:cs typeface="Microsoft YaHei" pitchFamily="34" charset="-120"/>
              </a:rPr>
              <a:t>决策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标准化分数</a:t>
            </a:r>
            <a:endParaRPr lang="en-US" sz="900" dirty="0">
              <a:latin typeface="+mn-ea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57137" y="4810453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FCC8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07810" y="4848458"/>
            <a:ext cx="278702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900" b="1" dirty="0" err="1">
                <a:latin typeface="+mn-ea"/>
                <a:cs typeface="Microsoft YaHei" pitchFamily="34" charset="-120"/>
              </a:rPr>
              <a:t>资产计算层</a:t>
            </a:r>
            <a:endParaRPr lang="en-US" altLang="zh-CN" sz="900" dirty="0">
              <a:latin typeface="+mn-ea"/>
            </a:endParaRPr>
          </a:p>
          <a:p>
            <a:endParaRPr lang="zh-CN" altLang="en-US" sz="900" dirty="0">
              <a:latin typeface="+mn-ea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662521" y="4886462"/>
            <a:ext cx="1710214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FFB74D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62521" y="4886462"/>
            <a:ext cx="1710214" cy="228029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1" name="Text 69"/>
          <p:cNvSpPr/>
          <p:nvPr/>
        </p:nvSpPr>
        <p:spPr>
          <a:xfrm>
            <a:off x="662521" y="4886462"/>
            <a:ext cx="1710214" cy="2280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规则计算</a:t>
            </a:r>
            <a:endParaRPr lang="en-US" sz="900" dirty="0">
              <a:latin typeface="+mn-ea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725863" y="5139827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多维数据综合计算</a:t>
            </a:r>
            <a:endParaRPr lang="en-US" sz="900" dirty="0">
              <a:latin typeface="+mn-ea"/>
              <a:cs typeface="Microsoft YaHei" pitchFamily="34" charset="-120"/>
            </a:endParaRPr>
          </a:p>
          <a:p>
            <a:r>
              <a:rPr lang="en-US" sz="900" dirty="0" err="1">
                <a:latin typeface="+mn-ea"/>
                <a:cs typeface="Microsoft YaHei" pitchFamily="34" charset="-120"/>
              </a:rPr>
              <a:t>非标体验→标准化信用体系</a:t>
            </a:r>
            <a:endParaRPr lang="en-US" sz="900" dirty="0">
              <a:latin typeface="+mn-ea"/>
            </a:endParaRPr>
          </a:p>
          <a:p>
            <a:r>
              <a:rPr lang="en-US" sz="900" dirty="0" err="1">
                <a:latin typeface="+mn-ea"/>
                <a:cs typeface="Microsoft YaHei" pitchFamily="34" charset="-120"/>
              </a:rPr>
              <a:t>可解释</a:t>
            </a:r>
            <a:r>
              <a:rPr lang="en-US" sz="900" dirty="0">
                <a:latin typeface="+mn-ea"/>
                <a:cs typeface="Microsoft YaHei" pitchFamily="34" charset="-120"/>
              </a:rPr>
              <a:t> · 可迭代 · </a:t>
            </a:r>
            <a:r>
              <a:rPr lang="en-US" sz="900" dirty="0" err="1">
                <a:latin typeface="+mn-ea"/>
                <a:cs typeface="Microsoft YaHei" pitchFamily="34" charset="-120"/>
              </a:rPr>
              <a:t>可审计</a:t>
            </a:r>
            <a:endParaRPr lang="en-US" sz="900" dirty="0">
              <a:latin typeface="+mn-ea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2474081" y="4886462"/>
            <a:ext cx="1710214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FFB74D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474081" y="4886462"/>
            <a:ext cx="1710214" cy="228029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75" name="Text 73"/>
          <p:cNvSpPr/>
          <p:nvPr/>
        </p:nvSpPr>
        <p:spPr>
          <a:xfrm>
            <a:off x="2474081" y="4886462"/>
            <a:ext cx="1710214" cy="2280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结构化 + 质量定义</a:t>
            </a:r>
            <a:endParaRPr lang="en-US" sz="900" dirty="0">
              <a:latin typeface="+mn-ea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37423" y="5139827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 err="1">
                <a:latin typeface="+mn-ea"/>
                <a:cs typeface="Microsoft YaHei" pitchFamily="34" charset="-120"/>
              </a:rPr>
              <a:t>资产分级（A</a:t>
            </a:r>
            <a:r>
              <a:rPr lang="en-US" sz="900" dirty="0">
                <a:latin typeface="+mn-ea"/>
                <a:cs typeface="Microsoft YaHei" pitchFamily="34" charset="-120"/>
              </a:rPr>
              <a:t>/B/</a:t>
            </a:r>
            <a:r>
              <a:rPr lang="en-US" sz="900" dirty="0" err="1">
                <a:latin typeface="+mn-ea"/>
                <a:cs typeface="Microsoft YaHei" pitchFamily="34" charset="-120"/>
              </a:rPr>
              <a:t>C类资产</a:t>
            </a:r>
            <a:r>
              <a:rPr lang="en-US" sz="900" dirty="0">
                <a:latin typeface="+mn-ea"/>
                <a:cs typeface="Microsoft YaHei" pitchFamily="34" charset="-120"/>
              </a:rPr>
              <a:t>）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、</a:t>
            </a:r>
            <a:endParaRPr lang="en-US" sz="900" dirty="0">
              <a:latin typeface="+mn-ea"/>
            </a:endParaRPr>
          </a:p>
          <a:p>
            <a:r>
              <a:rPr lang="en-US" sz="900" dirty="0" err="1">
                <a:latin typeface="+mn-ea"/>
                <a:cs typeface="Microsoft YaHei" pitchFamily="34" charset="-120"/>
              </a:rPr>
              <a:t>质量标准（有效</a:t>
            </a:r>
            <a:r>
              <a:rPr lang="en-US" sz="900" dirty="0">
                <a:latin typeface="+mn-ea"/>
                <a:cs typeface="Microsoft YaHei" pitchFamily="34" charset="-120"/>
              </a:rPr>
              <a:t>/</a:t>
            </a:r>
            <a:r>
              <a:rPr lang="en-US" sz="900" dirty="0" err="1">
                <a:latin typeface="+mn-ea"/>
                <a:cs typeface="Microsoft YaHei" pitchFamily="34" charset="-120"/>
              </a:rPr>
              <a:t>无效</a:t>
            </a:r>
            <a:r>
              <a:rPr lang="en-US" sz="900" dirty="0">
                <a:latin typeface="+mn-ea"/>
                <a:cs typeface="Microsoft YaHei" pitchFamily="34" charset="-120"/>
              </a:rPr>
              <a:t>/</a:t>
            </a:r>
            <a:r>
              <a:rPr lang="en-US" sz="900" dirty="0" err="1">
                <a:latin typeface="+mn-ea"/>
                <a:cs typeface="Microsoft YaHei" pitchFamily="34" charset="-120"/>
              </a:rPr>
              <a:t>低质</a:t>
            </a:r>
            <a:r>
              <a:rPr lang="en-US" sz="900" dirty="0">
                <a:latin typeface="+mn-ea"/>
                <a:cs typeface="Microsoft YaHei" pitchFamily="34" charset="-120"/>
              </a:rPr>
              <a:t>）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、</a:t>
            </a:r>
            <a:endParaRPr lang="en-US" sz="900" dirty="0">
              <a:latin typeface="+mn-ea"/>
            </a:endParaRPr>
          </a:p>
          <a:p>
            <a:r>
              <a:rPr lang="en-US" sz="900" b="1" dirty="0" err="1">
                <a:latin typeface="+mn-ea"/>
                <a:cs typeface="Microsoft YaHei" pitchFamily="34" charset="-120"/>
              </a:rPr>
              <a:t>标准即壁垒：定义「好</a:t>
            </a:r>
            <a:r>
              <a:rPr lang="en-US" sz="900" b="1" dirty="0">
                <a:latin typeface="+mn-ea"/>
                <a:cs typeface="Microsoft YaHei" pitchFamily="34" charset="-120"/>
              </a:rPr>
              <a:t>」</a:t>
            </a:r>
            <a:endParaRPr lang="en-US" sz="900" dirty="0">
              <a:latin typeface="+mn-ea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4285641" y="4886462"/>
            <a:ext cx="1710214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FFB74D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4285641" y="4886462"/>
            <a:ext cx="1710214" cy="2280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79" name="Text 77"/>
          <p:cNvSpPr/>
          <p:nvPr/>
        </p:nvSpPr>
        <p:spPr>
          <a:xfrm>
            <a:off x="4285641" y="4886462"/>
            <a:ext cx="1710214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AI挖掘</a:t>
            </a:r>
            <a:endParaRPr lang="en-US" sz="900" dirty="0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348982" y="5139827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语义理解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信息挖掘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识别</a:t>
            </a:r>
            <a:endParaRPr lang="en-US" sz="900" dirty="0">
              <a:latin typeface="+mn-ea"/>
            </a:endParaRPr>
          </a:p>
          <a:p>
            <a:r>
              <a:rPr lang="en-US" sz="900" b="1" dirty="0" err="1">
                <a:latin typeface="+mn-ea"/>
                <a:cs typeface="Microsoft YaHei" pitchFamily="34" charset="-120"/>
              </a:rPr>
              <a:t>符合物理世界AI战略</a:t>
            </a:r>
            <a:endParaRPr lang="en-US" sz="900" dirty="0">
              <a:latin typeface="+mn-ea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6097200" y="4886462"/>
            <a:ext cx="2305622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FFB74D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097200" y="4886462"/>
            <a:ext cx="2305622" cy="228029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83" name="Text 81"/>
          <p:cNvSpPr/>
          <p:nvPr/>
        </p:nvSpPr>
        <p:spPr>
          <a:xfrm>
            <a:off x="6097200" y="4886462"/>
            <a:ext cx="2305622" cy="2280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公信力治理</a:t>
            </a:r>
            <a:endParaRPr lang="en-US" sz="900" dirty="0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160542" y="5139827"/>
            <a:ext cx="217893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latin typeface="+mn-ea"/>
                <a:cs typeface="Microsoft YaHei" pitchFamily="34" charset="-120"/>
              </a:rPr>
              <a:t>反刷分/反虚假（底线红线）</a:t>
            </a:r>
            <a:endParaRPr lang="en-US" sz="900" dirty="0">
              <a:latin typeface="+mn-ea"/>
            </a:endParaRPr>
          </a:p>
          <a:p>
            <a:r>
              <a:rPr lang="en-US" sz="900" dirty="0">
                <a:latin typeface="+mn-ea"/>
                <a:cs typeface="Microsoft YaHei" pitchFamily="34" charset="-120"/>
              </a:rPr>
              <a:t>团购打卡/奖励评论的真实感稀释治理</a:t>
            </a:r>
            <a:endParaRPr lang="en-US" sz="900" dirty="0">
              <a:latin typeface="+mn-ea"/>
            </a:endParaRPr>
          </a:p>
          <a:p>
            <a:r>
              <a:rPr lang="en-US" sz="900" dirty="0">
                <a:latin typeface="+mn-ea"/>
                <a:cs typeface="Microsoft YaHei" pitchFamily="34" charset="-120"/>
              </a:rPr>
              <a:t>上下榜全生命周期 · 投诉/处置/沟通</a:t>
            </a:r>
            <a:endParaRPr lang="en-US" sz="900" dirty="0">
              <a:latin typeface="+mn-ea"/>
            </a:endParaRPr>
          </a:p>
          <a:p>
            <a:r>
              <a:rPr lang="en-US" sz="900" b="1" dirty="0">
                <a:latin typeface="+mn-ea"/>
                <a:cs typeface="Microsoft YaHei" pitchFamily="34" charset="-120"/>
              </a:rPr>
              <a:t>公信力=信任地基，不可妥协</a:t>
            </a:r>
            <a:endParaRPr lang="en-US" sz="9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57137" y="5887254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307810" y="5925259"/>
            <a:ext cx="278702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900" b="1" dirty="0" err="1">
                <a:latin typeface="+mn-ea"/>
                <a:cs typeface="Microsoft YaHei" pitchFamily="34" charset="-120"/>
              </a:rPr>
              <a:t>资产数据层</a:t>
            </a:r>
            <a:endParaRPr lang="en-US" altLang="zh-CN" sz="900" dirty="0">
              <a:latin typeface="+mn-ea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662521" y="5963264"/>
            <a:ext cx="3800475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62521" y="5963264"/>
            <a:ext cx="3800475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维度</a:t>
            </a:r>
            <a:endParaRPr lang="en-US" sz="900" dirty="0">
              <a:latin typeface="+mn-ea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763867" y="6216629"/>
            <a:ext cx="633413" cy="329375"/>
          </a:xfrm>
          <a:prstGeom prst="roundRect">
            <a:avLst>
              <a:gd name="adj" fmla="val 8329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3867" y="6216629"/>
            <a:ext cx="633413" cy="32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交易</a:t>
            </a:r>
            <a:endParaRPr lang="en-US" sz="900" dirty="0">
              <a:latin typeface="+mn-ea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73289" y="6216629"/>
            <a:ext cx="633413" cy="329375"/>
          </a:xfrm>
          <a:prstGeom prst="roundRect">
            <a:avLst>
              <a:gd name="adj" fmla="val 8329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473289" y="6216629"/>
            <a:ext cx="633413" cy="32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评价</a:t>
            </a:r>
            <a:endParaRPr lang="en-US" sz="900" dirty="0">
              <a:latin typeface="+mn-ea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2182711" y="6216629"/>
            <a:ext cx="633413" cy="329375"/>
          </a:xfrm>
          <a:prstGeom prst="roundRect">
            <a:avLst>
              <a:gd name="adj" fmla="val 8329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182711" y="6216629"/>
            <a:ext cx="633413" cy="32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收藏/</a:t>
            </a:r>
            <a:r>
              <a:rPr lang="en-US" sz="900" b="1" dirty="0" err="1">
                <a:latin typeface="+mn-ea"/>
                <a:cs typeface="Microsoft YaHei" pitchFamily="34" charset="-120"/>
              </a:rPr>
              <a:t>打卡</a:t>
            </a:r>
            <a:endParaRPr lang="en-US" sz="900" dirty="0">
              <a:latin typeface="+mn-ea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2892133" y="6216629"/>
            <a:ext cx="633413" cy="329375"/>
          </a:xfrm>
          <a:prstGeom prst="roundRect">
            <a:avLst>
              <a:gd name="adj" fmla="val 8329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892133" y="6216629"/>
            <a:ext cx="633413" cy="32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履约</a:t>
            </a:r>
            <a:endParaRPr lang="en-US" sz="900" dirty="0">
              <a:latin typeface="+mn-ea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3601555" y="6216629"/>
            <a:ext cx="760095" cy="329375"/>
          </a:xfrm>
          <a:prstGeom prst="roundRect">
            <a:avLst>
              <a:gd name="adj" fmla="val 8329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01555" y="6216629"/>
            <a:ext cx="760095" cy="32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GC信息</a:t>
            </a:r>
            <a:endParaRPr lang="en-US" sz="900" dirty="0">
              <a:latin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763867" y="6622013"/>
            <a:ext cx="3597783" cy="468725"/>
          </a:xfrm>
          <a:prstGeom prst="roundRect">
            <a:avLst>
              <a:gd name="adj" fmla="val 5852"/>
            </a:avLst>
          </a:prstGeom>
          <a:solidFill>
            <a:srgbClr val="D7CCC8"/>
          </a:solidFill>
          <a:ln w="3810">
            <a:solidFill>
              <a:srgbClr val="8D6E6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89204" y="6634681"/>
            <a:ext cx="3547110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sz="9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9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竞品</a:t>
            </a:r>
            <a:r>
              <a:rPr lang="en-US" sz="9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sz="900" dirty="0">
              <a:latin typeface="+mn-ea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4627683" y="5963264"/>
            <a:ext cx="3775139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627683" y="5963264"/>
            <a:ext cx="3775139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对象：物理世界的数字化映射</a:t>
            </a:r>
            <a:endParaRPr lang="en-US" sz="900" dirty="0">
              <a:latin typeface="+mn-ea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754366" y="6216629"/>
            <a:ext cx="1076801" cy="874109"/>
          </a:xfrm>
          <a:prstGeom prst="roundRect">
            <a:avLst>
              <a:gd name="adj" fmla="val 3138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54366" y="6216629"/>
            <a:ext cx="1076801" cy="874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店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 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当前核心对象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</a:t>
            </a:r>
            <a:r>
              <a:rPr lang="en-US" sz="900" dirty="0" err="1">
                <a:latin typeface="+mn-ea"/>
                <a:cs typeface="Microsoft YaHei" pitchFamily="34" charset="-120"/>
              </a:rPr>
              <a:t>找店决策」主阵地</a:t>
            </a:r>
            <a:endParaRPr lang="en-US" sz="900" dirty="0">
              <a:latin typeface="+mn-ea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5957850" y="6216629"/>
            <a:ext cx="1076801" cy="874109"/>
          </a:xfrm>
          <a:prstGeom prst="roundRect">
            <a:avLst>
              <a:gd name="adj" fmla="val 3138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957850" y="6216629"/>
            <a:ext cx="1076801" cy="874109"/>
          </a:xfrm>
          <a:prstGeom prst="rect">
            <a:avLst/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菜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 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扩展方向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「先选品，后到店」</a:t>
            </a:r>
            <a:endParaRPr lang="en-US" sz="900" dirty="0">
              <a:latin typeface="+mn-ea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161334" y="6216629"/>
            <a:ext cx="1076801" cy="874109"/>
          </a:xfrm>
          <a:prstGeom prst="roundRect">
            <a:avLst>
              <a:gd name="adj" fmla="val 3138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161334" y="6216629"/>
            <a:ext cx="1076801" cy="874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人</a:t>
            </a:r>
            <a:endParaRPr lang="en-US" sz="900" dirty="0">
              <a:latin typeface="+mn-ea"/>
            </a:endParaRPr>
          </a:p>
          <a:p>
            <a:pPr algn="ctr"/>
            <a:endParaRPr lang="en-US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扩展方向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900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信任人，而决策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</a:endParaRPr>
          </a:p>
        </p:txBody>
      </p:sp>
      <p:sp>
        <p:nvSpPr>
          <p:cNvPr id="112" name="Text 110"/>
          <p:cNvSpPr/>
          <p:nvPr/>
        </p:nvSpPr>
        <p:spPr>
          <a:xfrm rot="16200000">
            <a:off x="304038" y="8462391"/>
            <a:ext cx="228029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900" dirty="0">
              <a:latin typeface="+mn-ea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257137" y="7401110"/>
            <a:ext cx="8234363" cy="570071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 sz="900" dirty="0">
              <a:latin typeface="+mn-ea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257137" y="7401110"/>
            <a:ext cx="8234363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资产飞轮：用户消费→行为沉淀为资产→计算加工为信任信号→驱动新用户决策→牵引商户改善经营→更多真实消费→更厚资产沉淀</a:t>
            </a:r>
            <a:endParaRPr lang="en-US" sz="900" dirty="0">
              <a:latin typeface="+mn-ea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257137" y="7641806"/>
            <a:ext cx="8234363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用户到店消费</a:t>
            </a:r>
            <a:r>
              <a:rPr lang="en-US" sz="900" dirty="0">
                <a:latin typeface="+mn-ea"/>
                <a:cs typeface="Microsoft YaHei" pitchFamily="34" charset="-120"/>
              </a:rPr>
              <a:t>  →  </a:t>
            </a:r>
            <a:r>
              <a:rPr lang="en-US" sz="900" b="1" dirty="0">
                <a:latin typeface="+mn-ea"/>
                <a:cs typeface="Microsoft YaHei" pitchFamily="34" charset="-120"/>
              </a:rPr>
              <a:t>行为→资产</a:t>
            </a:r>
            <a:r>
              <a:rPr lang="en-US" sz="900" dirty="0">
                <a:latin typeface="+mn-ea"/>
                <a:cs typeface="Microsoft YaHei" pitchFamily="34" charset="-120"/>
              </a:rPr>
              <a:t>  →  </a:t>
            </a:r>
            <a:r>
              <a:rPr lang="en-US" sz="900" b="1" dirty="0">
                <a:latin typeface="+mn-ea"/>
                <a:cs typeface="Microsoft YaHei" pitchFamily="34" charset="-120"/>
              </a:rPr>
              <a:t>计算→信任信号</a:t>
            </a:r>
            <a:r>
              <a:rPr lang="en-US" sz="900" dirty="0">
                <a:latin typeface="+mn-ea"/>
                <a:cs typeface="Microsoft YaHei" pitchFamily="34" charset="-120"/>
              </a:rPr>
              <a:t>  →  </a:t>
            </a:r>
            <a:r>
              <a:rPr lang="en-US" sz="900" b="1" dirty="0">
                <a:latin typeface="+mn-ea"/>
                <a:cs typeface="Microsoft YaHei" pitchFamily="34" charset="-120"/>
              </a:rPr>
              <a:t>驱动新用户决策</a:t>
            </a:r>
            <a:r>
              <a:rPr lang="en-US" sz="900" dirty="0">
                <a:latin typeface="+mn-ea"/>
                <a:cs typeface="Microsoft YaHei" pitchFamily="34" charset="-120"/>
              </a:rPr>
              <a:t>  →  </a:t>
            </a:r>
            <a:r>
              <a:rPr lang="en-US" sz="900" b="1" dirty="0">
                <a:latin typeface="+mn-ea"/>
                <a:cs typeface="Microsoft YaHei" pitchFamily="34" charset="-120"/>
              </a:rPr>
              <a:t>牵引商户改善</a:t>
            </a:r>
            <a:r>
              <a:rPr lang="en-US" sz="900" dirty="0">
                <a:latin typeface="+mn-ea"/>
                <a:cs typeface="Microsoft YaHei" pitchFamily="34" charset="-120"/>
              </a:rPr>
              <a:t>  →  </a:t>
            </a:r>
            <a:r>
              <a:rPr lang="en-US" sz="900" b="1" dirty="0">
                <a:latin typeface="+mn-ea"/>
                <a:cs typeface="Microsoft YaHei" pitchFamily="34" charset="-120"/>
              </a:rPr>
              <a:t>更多真实消费 ↩</a:t>
            </a:r>
            <a:endParaRPr lang="en-US" sz="900" dirty="0">
              <a:latin typeface="+mn-ea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257137" y="7819162"/>
            <a:ext cx="8234363" cy="126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飞轮越转越厚 → 竞品越难复制 → 壁垒不在产品形态，在数据资产的沉淀厚度</a:t>
            </a:r>
            <a:endParaRPr lang="en-US" sz="900" dirty="0">
              <a:latin typeface="+mn-ea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772763" y="12313539"/>
            <a:ext cx="3521774" cy="962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900" dirty="0">
              <a:latin typeface="+mn-ea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4509897" y="11173397"/>
            <a:ext cx="3775139" cy="962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900" dirty="0">
              <a:latin typeface="+mn-ea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5917282" y="1334717"/>
            <a:ext cx="2280285" cy="1988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900" b="1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定位：</a:t>
            </a:r>
            <a:r>
              <a:rPr lang="zh-CN" altLang="en-US" sz="900" b="0" i="0" dirty="0">
                <a:solidFill>
                  <a:srgbClr val="1B1B1E"/>
                </a:solidFill>
                <a:effectLst/>
                <a:latin typeface="Inter"/>
              </a:rPr>
              <a:t>到餐</a:t>
            </a:r>
            <a:r>
              <a:rPr lang="zh-CN" altLang="en-US" sz="900" dirty="0">
                <a:solidFill>
                  <a:srgbClr val="1B1B1E"/>
                </a:solidFill>
                <a:latin typeface="Inter"/>
              </a:rPr>
              <a:t>≠</a:t>
            </a:r>
            <a:r>
              <a:rPr lang="zh-CN" altLang="en-US" sz="900" b="0" i="0" dirty="0">
                <a:solidFill>
                  <a:srgbClr val="1B1B1E"/>
                </a:solidFill>
                <a:effectLst/>
                <a:latin typeface="Inter"/>
              </a:rPr>
              <a:t>团购，信任资产支撑全旅程的高客单、高品质变现底座</a:t>
            </a:r>
            <a:endParaRPr lang="en-US" altLang="zh-CN" sz="900" b="1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生态：</a:t>
            </a:r>
            <a:r>
              <a:rPr lang="zh-CN" altLang="en-US" sz="900" dirty="0">
                <a:latin typeface="+mn-ea"/>
              </a:rPr>
              <a:t>筛选高价值用户</a:t>
            </a:r>
            <a:r>
              <a:rPr lang="en-US" altLang="zh-CN" sz="900" dirty="0">
                <a:latin typeface="+mn-ea"/>
              </a:rPr>
              <a:t>x</a:t>
            </a:r>
            <a:r>
              <a:rPr lang="zh-CN" altLang="en-US" sz="900" dirty="0">
                <a:latin typeface="+mn-ea"/>
              </a:rPr>
              <a:t>优质商户</a:t>
            </a:r>
            <a:endParaRPr lang="en-US" altLang="zh-CN" sz="900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粘性：</a:t>
            </a:r>
            <a:r>
              <a:rPr lang="zh-CN" altLang="en-US" sz="900" dirty="0">
                <a:latin typeface="+mn-ea"/>
              </a:rPr>
              <a:t>用户依赖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商户稳定</a:t>
            </a:r>
            <a:endParaRPr lang="en-US" altLang="zh-CN" sz="900" dirty="0">
              <a:latin typeface="+mn-ea"/>
            </a:endParaRPr>
          </a:p>
          <a:p>
            <a:endParaRPr lang="en-US" altLang="zh-CN" sz="900" b="1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生态：</a:t>
            </a:r>
            <a:r>
              <a:rPr lang="zh-CN" altLang="en-US" sz="900" dirty="0">
                <a:latin typeface="+mn-ea"/>
              </a:rPr>
              <a:t>头腰尾，成长生态</a:t>
            </a:r>
            <a:endParaRPr lang="en-US" altLang="zh-CN" sz="900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合作协同：</a:t>
            </a:r>
            <a:r>
              <a:rPr lang="zh-CN" altLang="en-US" sz="900" dirty="0">
                <a:latin typeface="+mn-ea"/>
              </a:rPr>
              <a:t>约束确定性，稳态服务。杠杆其它业务。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粘性：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资产越厚迁移成本越高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、合作意向越强。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endParaRPr lang="en-US" altLang="zh-CN" sz="900" dirty="0">
              <a:latin typeface="+mn-ea"/>
            </a:endParaRPr>
          </a:p>
          <a:p>
            <a:r>
              <a:rPr lang="en-US" altLang="zh-CN" sz="900" b="1" dirty="0">
                <a:latin typeface="+mn-ea"/>
              </a:rPr>
              <a:t>AI</a:t>
            </a:r>
            <a:r>
              <a:rPr lang="zh-CN" altLang="en-US" sz="900" b="1" dirty="0">
                <a:latin typeface="+mn-ea"/>
              </a:rPr>
              <a:t>：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“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避免幻觉的公共信任源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”</a:t>
            </a:r>
          </a:p>
          <a:p>
            <a:r>
              <a:rPr lang="en-US" altLang="zh-CN" sz="900" dirty="0" err="1">
                <a:latin typeface="+mn-ea"/>
                <a:cs typeface="Microsoft YaHei" pitchFamily="34" charset="-120"/>
              </a:rPr>
              <a:t>谁的数据被AI引用，谁就掌握AI时代的流量分发权。资产运营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=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AI推荐的信任锚点和知识供给方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。</a:t>
            </a:r>
            <a:endParaRPr lang="en-US" altLang="zh-CN" sz="900" b="1" dirty="0">
              <a:latin typeface="+mn-ea"/>
            </a:endParaRPr>
          </a:p>
          <a:p>
            <a:endParaRPr lang="en-US" sz="900" b="1" dirty="0">
              <a:latin typeface="+mn-ea"/>
              <a:cs typeface="Microsoft YaHei" pitchFamily="34" charset="-120"/>
            </a:endParaRPr>
          </a:p>
          <a:p>
            <a:r>
              <a:rPr lang="zh-CN" altLang="en-US" sz="900" b="1" dirty="0">
                <a:latin typeface="+mn-ea"/>
                <a:cs typeface="Microsoft YaHei" pitchFamily="34" charset="-120"/>
              </a:rPr>
              <a:t>战略意义：到餐不等于团购迁移，逐渐强化品质、服务。</a:t>
            </a:r>
            <a:r>
              <a:rPr lang="en-US" altLang="zh-CN" sz="900" b="1" dirty="0" err="1">
                <a:latin typeface="+mn-ea"/>
                <a:cs typeface="Microsoft YaHei" pitchFamily="34" charset="-120"/>
              </a:rPr>
              <a:t>战略意义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：</a:t>
            </a:r>
            <a:endParaRPr lang="en-US" altLang="zh-CN" sz="900" dirty="0">
              <a:latin typeface="+mn-e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900" b="0" i="1" dirty="0">
                <a:solidFill>
                  <a:srgbClr val="1B1B1E"/>
                </a:solidFill>
                <a:effectLst/>
                <a:latin typeface="Inter"/>
              </a:rPr>
              <a:t>战略意义（重点标红这句话）：</a:t>
            </a:r>
            <a:r>
              <a:rPr lang="zh-CN" altLang="en-US" sz="900" b="0" i="0" dirty="0">
                <a:solidFill>
                  <a:srgbClr val="1B1B1E"/>
                </a:solidFill>
                <a:effectLst/>
                <a:latin typeface="Inter"/>
              </a:rPr>
              <a:t> </a:t>
            </a:r>
            <a:r>
              <a:rPr lang="zh-CN" altLang="en-US" sz="900" b="1" i="0" dirty="0">
                <a:solidFill>
                  <a:srgbClr val="1B1B1E"/>
                </a:solidFill>
                <a:effectLst/>
                <a:latin typeface="Inter"/>
              </a:rPr>
              <a:t>谁的数据被大模型引用，谁就掌握下一代分发入口！</a:t>
            </a:r>
            <a:r>
              <a:rPr lang="zh-CN" altLang="en-US" sz="900" b="0" i="0" dirty="0">
                <a:solidFill>
                  <a:srgbClr val="1B1B1E"/>
                </a:solidFill>
                <a:effectLst/>
                <a:latin typeface="Inter"/>
              </a:rPr>
              <a:t> 我们沉淀的十年多维资产，是大模型消除“物理世界幻觉”的唯一解药。同时，</a:t>
            </a:r>
            <a:endParaRPr lang="en-US" altLang="zh-CN" sz="900" dirty="0">
              <a:latin typeface="+mn-ea"/>
            </a:endParaRPr>
          </a:p>
          <a:p>
            <a:endParaRPr lang="en-US" altLang="zh-CN" sz="900" b="1" dirty="0">
              <a:latin typeface="+mn-ea"/>
              <a:cs typeface="Microsoft YaHei" pitchFamily="34" charset="-12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DBD553-D741-0C36-C916-B37A17B4D779}"/>
              </a:ext>
            </a:extLst>
          </p:cNvPr>
          <p:cNvSpPr txBox="1"/>
          <p:nvPr/>
        </p:nvSpPr>
        <p:spPr>
          <a:xfrm>
            <a:off x="10092985" y="1738766"/>
            <a:ext cx="4358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需求动线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流量背书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资产应用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经营诊断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资产沉淀画像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特色成长</a:t>
            </a:r>
            <a:endParaRPr lang="en-US" altLang="zh-CN" sz="900" dirty="0">
              <a:latin typeface="+mn-ea"/>
              <a:cs typeface="Microsoft YaHei" pitchFamily="34" charset="-120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9F7CEEFC-714F-485C-0DDA-D9E3A23E5916}"/>
              </a:ext>
            </a:extLst>
          </p:cNvPr>
          <p:cNvSpPr/>
          <p:nvPr/>
        </p:nvSpPr>
        <p:spPr>
          <a:xfrm>
            <a:off x="9630251" y="3661681"/>
            <a:ext cx="8234363" cy="92478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3AA7B099-991E-84DF-871F-BE7B04C6F1E9}"/>
              </a:ext>
            </a:extLst>
          </p:cNvPr>
          <p:cNvSpPr/>
          <p:nvPr/>
        </p:nvSpPr>
        <p:spPr>
          <a:xfrm>
            <a:off x="1003563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9" name="Shape 30">
            <a:extLst>
              <a:ext uri="{FF2B5EF4-FFF2-40B4-BE49-F238E27FC236}">
                <a16:creationId xmlns:a16="http://schemas.microsoft.com/office/drawing/2014/main" id="{B6941492-2E9B-E247-53FF-8D76D59120EC}"/>
              </a:ext>
            </a:extLst>
          </p:cNvPr>
          <p:cNvSpPr/>
          <p:nvPr/>
        </p:nvSpPr>
        <p:spPr>
          <a:xfrm>
            <a:off x="1003563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66BFEECF-C9FC-79DC-3E1C-6279F2FA3ED0}"/>
              </a:ext>
            </a:extLst>
          </p:cNvPr>
          <p:cNvSpPr/>
          <p:nvPr/>
        </p:nvSpPr>
        <p:spPr>
          <a:xfrm>
            <a:off x="1003563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00" b="1" dirty="0">
                <a:latin typeface="+mn-ea"/>
                <a:cs typeface="Microsoft YaHei" pitchFamily="34" charset="-120"/>
              </a:rPr>
              <a:t>经营诊断</a:t>
            </a:r>
            <a:endParaRPr lang="en-US" sz="900" dirty="0">
              <a:latin typeface="+mn-ea"/>
            </a:endParaRPr>
          </a:p>
        </p:txBody>
      </p:sp>
      <p:sp>
        <p:nvSpPr>
          <p:cNvPr id="87" name="Text 32">
            <a:extLst>
              <a:ext uri="{FF2B5EF4-FFF2-40B4-BE49-F238E27FC236}">
                <a16:creationId xmlns:a16="http://schemas.microsoft.com/office/drawing/2014/main" id="{50E61921-F511-2AA1-46D9-CB86E39FD6F1}"/>
              </a:ext>
            </a:extLst>
          </p:cNvPr>
          <p:cNvSpPr/>
          <p:nvPr/>
        </p:nvSpPr>
        <p:spPr>
          <a:xfrm>
            <a:off x="10098976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 err="1">
                <a:latin typeface="+mn-ea"/>
                <a:cs typeface="Microsoft YaHei" pitchFamily="34" charset="-120"/>
              </a:rPr>
              <a:t>区域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x</a:t>
            </a:r>
            <a:r>
              <a:rPr lang="en-US" sz="900" dirty="0" err="1">
                <a:latin typeface="+mn-ea"/>
                <a:cs typeface="Microsoft YaHei" pitchFamily="34" charset="-120"/>
              </a:rPr>
              <a:t>人群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x</a:t>
            </a:r>
            <a:r>
              <a:rPr lang="en-US" sz="900" dirty="0" err="1">
                <a:latin typeface="+mn-ea"/>
                <a:cs typeface="Microsoft YaHei" pitchFamily="34" charset="-120"/>
              </a:rPr>
              <a:t>品类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x</a:t>
            </a:r>
            <a:r>
              <a:rPr lang="en-US" sz="900" dirty="0" err="1">
                <a:latin typeface="+mn-ea"/>
                <a:cs typeface="Microsoft YaHei" pitchFamily="34" charset="-120"/>
              </a:rPr>
              <a:t>场景</a:t>
            </a:r>
            <a:endParaRPr lang="en-US" sz="900" dirty="0">
              <a:latin typeface="+mn-ea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需求拉动资产，资产分析需求</a:t>
            </a:r>
            <a:endParaRPr lang="en-US" sz="900" dirty="0">
              <a:latin typeface="+mn-ea"/>
            </a:endParaRPr>
          </a:p>
        </p:txBody>
      </p:sp>
      <p:sp>
        <p:nvSpPr>
          <p:cNvPr id="142" name="Shape 33">
            <a:extLst>
              <a:ext uri="{FF2B5EF4-FFF2-40B4-BE49-F238E27FC236}">
                <a16:creationId xmlns:a16="http://schemas.microsoft.com/office/drawing/2014/main" id="{C528FF29-E691-6DBA-BD28-8A0FE40ED554}"/>
              </a:ext>
            </a:extLst>
          </p:cNvPr>
          <p:cNvSpPr/>
          <p:nvPr/>
        </p:nvSpPr>
        <p:spPr>
          <a:xfrm>
            <a:off x="1177118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3" name="Shape 34">
            <a:extLst>
              <a:ext uri="{FF2B5EF4-FFF2-40B4-BE49-F238E27FC236}">
                <a16:creationId xmlns:a16="http://schemas.microsoft.com/office/drawing/2014/main" id="{48D0A522-C5BF-24FF-2988-6C5A2A986244}"/>
              </a:ext>
            </a:extLst>
          </p:cNvPr>
          <p:cNvSpPr/>
          <p:nvPr/>
        </p:nvSpPr>
        <p:spPr>
          <a:xfrm>
            <a:off x="1177118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5" name="Text 35">
            <a:extLst>
              <a:ext uri="{FF2B5EF4-FFF2-40B4-BE49-F238E27FC236}">
                <a16:creationId xmlns:a16="http://schemas.microsoft.com/office/drawing/2014/main" id="{279F16E6-DEAF-B56F-13D1-4D6080508A8F}"/>
              </a:ext>
            </a:extLst>
          </p:cNvPr>
          <p:cNvSpPr/>
          <p:nvPr/>
        </p:nvSpPr>
        <p:spPr>
          <a:xfrm>
            <a:off x="1177118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用户画像</a:t>
            </a:r>
            <a:endParaRPr lang="en-US" sz="900" dirty="0">
              <a:latin typeface="+mn-ea"/>
            </a:endParaRPr>
          </a:p>
        </p:txBody>
      </p:sp>
      <p:sp>
        <p:nvSpPr>
          <p:cNvPr id="146" name="Text 36">
            <a:extLst>
              <a:ext uri="{FF2B5EF4-FFF2-40B4-BE49-F238E27FC236}">
                <a16:creationId xmlns:a16="http://schemas.microsoft.com/office/drawing/2014/main" id="{B8DB8286-32A8-EF58-DB16-26C9D6F01C45}"/>
              </a:ext>
            </a:extLst>
          </p:cNvPr>
          <p:cNvSpPr/>
          <p:nvPr/>
        </p:nvSpPr>
        <p:spPr>
          <a:xfrm>
            <a:off x="11834527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资产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行为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</a:rPr>
              <a:t>画像动态资产，资产决定画像</a:t>
            </a:r>
            <a:endParaRPr lang="en-US" sz="900" dirty="0">
              <a:latin typeface="+mn-ea"/>
            </a:endParaRPr>
          </a:p>
        </p:txBody>
      </p:sp>
      <p:sp>
        <p:nvSpPr>
          <p:cNvPr id="147" name="Shape 37">
            <a:extLst>
              <a:ext uri="{FF2B5EF4-FFF2-40B4-BE49-F238E27FC236}">
                <a16:creationId xmlns:a16="http://schemas.microsoft.com/office/drawing/2014/main" id="{A8128954-0CB8-ACE4-17C3-4B860945C90E}"/>
              </a:ext>
            </a:extLst>
          </p:cNvPr>
          <p:cNvSpPr/>
          <p:nvPr/>
        </p:nvSpPr>
        <p:spPr>
          <a:xfrm>
            <a:off x="1350673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8" name="Shape 38">
            <a:extLst>
              <a:ext uri="{FF2B5EF4-FFF2-40B4-BE49-F238E27FC236}">
                <a16:creationId xmlns:a16="http://schemas.microsoft.com/office/drawing/2014/main" id="{3644D959-465A-3281-BB2E-4E4C858B3FF4}"/>
              </a:ext>
            </a:extLst>
          </p:cNvPr>
          <p:cNvSpPr/>
          <p:nvPr/>
        </p:nvSpPr>
        <p:spPr>
          <a:xfrm>
            <a:off x="1350673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9" name="Text 39">
            <a:extLst>
              <a:ext uri="{FF2B5EF4-FFF2-40B4-BE49-F238E27FC236}">
                <a16:creationId xmlns:a16="http://schemas.microsoft.com/office/drawing/2014/main" id="{7EA73321-5D99-A34D-B7FE-C76314C02594}"/>
              </a:ext>
            </a:extLst>
          </p:cNvPr>
          <p:cNvSpPr/>
          <p:nvPr/>
        </p:nvSpPr>
        <p:spPr>
          <a:xfrm>
            <a:off x="1350673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用户动线</a:t>
            </a:r>
            <a:endParaRPr lang="en-US" sz="900" dirty="0">
              <a:latin typeface="+mn-ea"/>
            </a:endParaRPr>
          </a:p>
        </p:txBody>
      </p:sp>
      <p:sp>
        <p:nvSpPr>
          <p:cNvPr id="150" name="Text 40">
            <a:extLst>
              <a:ext uri="{FF2B5EF4-FFF2-40B4-BE49-F238E27FC236}">
                <a16:creationId xmlns:a16="http://schemas.microsoft.com/office/drawing/2014/main" id="{35EA1533-D84B-7191-549C-25D5912AC58A}"/>
              </a:ext>
            </a:extLst>
          </p:cNvPr>
          <p:cNvSpPr/>
          <p:nvPr/>
        </p:nvSpPr>
        <p:spPr>
          <a:xfrm>
            <a:off x="13570077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900" dirty="0" err="1">
                <a:latin typeface="+mn-ea"/>
                <a:cs typeface="Microsoft YaHei" pitchFamily="34" charset="-120"/>
              </a:rPr>
              <a:t>激发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对比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闭环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评价</a:t>
            </a:r>
            <a:endParaRPr lang="en-US" altLang="zh-CN" sz="900" dirty="0">
              <a:latin typeface="+mn-ea"/>
            </a:endParaRPr>
          </a:p>
          <a:p>
            <a:r>
              <a:rPr lang="zh-CN" altLang="en-US" sz="900" dirty="0">
                <a:latin typeface="+mn-ea"/>
              </a:rPr>
              <a:t>资产应用承接需求，资产信任带动转化</a:t>
            </a:r>
            <a:endParaRPr lang="en-US" sz="900" dirty="0">
              <a:latin typeface="+mn-ea"/>
            </a:endParaRPr>
          </a:p>
        </p:txBody>
      </p:sp>
      <p:sp>
        <p:nvSpPr>
          <p:cNvPr id="151" name="Shape 41">
            <a:extLst>
              <a:ext uri="{FF2B5EF4-FFF2-40B4-BE49-F238E27FC236}">
                <a16:creationId xmlns:a16="http://schemas.microsoft.com/office/drawing/2014/main" id="{083DB141-CADD-D878-76E7-0641448246A8}"/>
              </a:ext>
            </a:extLst>
          </p:cNvPr>
          <p:cNvSpPr/>
          <p:nvPr/>
        </p:nvSpPr>
        <p:spPr>
          <a:xfrm>
            <a:off x="15242286" y="3737690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2" name="Shape 42">
            <a:extLst>
              <a:ext uri="{FF2B5EF4-FFF2-40B4-BE49-F238E27FC236}">
                <a16:creationId xmlns:a16="http://schemas.microsoft.com/office/drawing/2014/main" id="{75E6FAED-2993-28CD-1639-4DEA03043685}"/>
              </a:ext>
            </a:extLst>
          </p:cNvPr>
          <p:cNvSpPr/>
          <p:nvPr/>
        </p:nvSpPr>
        <p:spPr>
          <a:xfrm>
            <a:off x="15242286" y="3737691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53" name="Text 43">
            <a:extLst>
              <a:ext uri="{FF2B5EF4-FFF2-40B4-BE49-F238E27FC236}">
                <a16:creationId xmlns:a16="http://schemas.microsoft.com/office/drawing/2014/main" id="{B662ED16-F21D-C084-2297-D8FE53DD6749}"/>
              </a:ext>
            </a:extLst>
          </p:cNvPr>
          <p:cNvSpPr/>
          <p:nvPr/>
        </p:nvSpPr>
        <p:spPr>
          <a:xfrm>
            <a:off x="15242286" y="3737691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00" b="1" dirty="0">
                <a:latin typeface="+mn-ea"/>
              </a:rPr>
              <a:t>个人资产</a:t>
            </a:r>
            <a:endParaRPr lang="en-US" sz="900" b="1" dirty="0">
              <a:latin typeface="+mn-ea"/>
            </a:endParaRPr>
          </a:p>
        </p:txBody>
      </p:sp>
      <p:sp>
        <p:nvSpPr>
          <p:cNvPr id="154" name="Text 44">
            <a:extLst>
              <a:ext uri="{FF2B5EF4-FFF2-40B4-BE49-F238E27FC236}">
                <a16:creationId xmlns:a16="http://schemas.microsoft.com/office/drawing/2014/main" id="{90FEAAC1-B2A4-AF88-B1D8-60E4F6E05502}"/>
              </a:ext>
            </a:extLst>
          </p:cNvPr>
          <p:cNvSpPr/>
          <p:nvPr/>
        </p:nvSpPr>
        <p:spPr>
          <a:xfrm>
            <a:off x="15305627" y="3978387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个人资产沉淀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记录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应用</a:t>
            </a:r>
            <a:endParaRPr lang="en-US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个人资产沉淀：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资产发现：</a:t>
            </a:r>
            <a:endParaRPr lang="en-US" sz="900" dirty="0">
              <a:latin typeface="+mn-ea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9797413" y="4823923"/>
            <a:ext cx="4845606" cy="137217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9" name="Shape 27"/>
          <p:cNvSpPr/>
          <p:nvPr/>
        </p:nvSpPr>
        <p:spPr>
          <a:xfrm>
            <a:off x="9857587" y="5196730"/>
            <a:ext cx="278702" cy="848773"/>
          </a:xfrm>
          <a:prstGeom prst="roundRect">
            <a:avLst>
              <a:gd name="adj" fmla="val 984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900" b="1" dirty="0" err="1">
                <a:latin typeface="+mn-ea"/>
                <a:cs typeface="Microsoft YaHei" pitchFamily="34" charset="-120"/>
              </a:rPr>
              <a:t>需求层</a:t>
            </a:r>
            <a:endParaRPr lang="en-US" altLang="zh-CN" sz="900" dirty="0">
              <a:latin typeface="+mn-ea"/>
            </a:endParaRPr>
          </a:p>
        </p:txBody>
      </p:sp>
      <p:sp>
        <p:nvSpPr>
          <p:cNvPr id="160" name="Shape 29"/>
          <p:cNvSpPr/>
          <p:nvPr/>
        </p:nvSpPr>
        <p:spPr>
          <a:xfrm>
            <a:off x="10212298" y="525038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1" name="Shape 30"/>
          <p:cNvSpPr/>
          <p:nvPr/>
        </p:nvSpPr>
        <p:spPr>
          <a:xfrm>
            <a:off x="10212298" y="525038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62" name="Text 31"/>
          <p:cNvSpPr/>
          <p:nvPr/>
        </p:nvSpPr>
        <p:spPr>
          <a:xfrm>
            <a:off x="10212298" y="525038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需求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及动线</a:t>
            </a:r>
            <a:endParaRPr lang="en-US" sz="900" dirty="0">
              <a:latin typeface="+mn-ea"/>
            </a:endParaRPr>
          </a:p>
        </p:txBody>
      </p:sp>
      <p:sp>
        <p:nvSpPr>
          <p:cNvPr id="163" name="Text 32"/>
          <p:cNvSpPr/>
          <p:nvPr/>
        </p:nvSpPr>
        <p:spPr>
          <a:xfrm>
            <a:off x="10275639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 err="1">
                <a:latin typeface="+mn-ea"/>
                <a:cs typeface="Microsoft YaHei" pitchFamily="34" charset="-120"/>
              </a:rPr>
              <a:t>区域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x</a:t>
            </a:r>
            <a:r>
              <a:rPr lang="en-US" sz="900" dirty="0" err="1">
                <a:latin typeface="+mn-ea"/>
                <a:cs typeface="Microsoft YaHei" pitchFamily="34" charset="-120"/>
              </a:rPr>
              <a:t>人群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x</a:t>
            </a:r>
            <a:r>
              <a:rPr lang="en-US" sz="900" dirty="0" err="1">
                <a:latin typeface="+mn-ea"/>
                <a:cs typeface="Microsoft YaHei" pitchFamily="34" charset="-120"/>
              </a:rPr>
              <a:t>品类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x</a:t>
            </a:r>
            <a:r>
              <a:rPr lang="en-US" sz="900" dirty="0" err="1">
                <a:latin typeface="+mn-ea"/>
                <a:cs typeface="Microsoft YaHei" pitchFamily="34" charset="-120"/>
              </a:rPr>
              <a:t>场景</a:t>
            </a:r>
            <a:endParaRPr lang="en-US" sz="900" dirty="0">
              <a:latin typeface="+mn-ea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需求拉动资产，资产分析需求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dirty="0" err="1">
                <a:latin typeface="+mn-ea"/>
                <a:cs typeface="Microsoft YaHei" pitchFamily="34" charset="-120"/>
              </a:rPr>
              <a:t>激发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对比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闭环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评价</a:t>
            </a:r>
            <a:endParaRPr lang="en-US" altLang="zh-CN" sz="900" dirty="0">
              <a:latin typeface="+mn-ea"/>
            </a:endParaRPr>
          </a:p>
          <a:p>
            <a:r>
              <a:rPr lang="zh-CN" altLang="en-US" sz="900" dirty="0">
                <a:latin typeface="+mn-ea"/>
              </a:rPr>
              <a:t>资产应用承接需求，资产信任带动转化</a:t>
            </a:r>
            <a:endParaRPr lang="en-US" altLang="zh-CN" sz="900" dirty="0">
              <a:latin typeface="+mn-ea"/>
            </a:endParaRPr>
          </a:p>
          <a:p>
            <a:endParaRPr lang="en-US" sz="900" dirty="0">
              <a:latin typeface="+mn-ea"/>
            </a:endParaRPr>
          </a:p>
        </p:txBody>
      </p:sp>
      <p:sp>
        <p:nvSpPr>
          <p:cNvPr id="165" name="Shape 33"/>
          <p:cNvSpPr/>
          <p:nvPr/>
        </p:nvSpPr>
        <p:spPr>
          <a:xfrm>
            <a:off x="11947848" y="525038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6" name="Shape 34"/>
          <p:cNvSpPr/>
          <p:nvPr/>
        </p:nvSpPr>
        <p:spPr>
          <a:xfrm>
            <a:off x="11947848" y="525038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67" name="Text 35"/>
          <p:cNvSpPr/>
          <p:nvPr/>
        </p:nvSpPr>
        <p:spPr>
          <a:xfrm>
            <a:off x="11947848" y="525038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用户画像</a:t>
            </a:r>
            <a:endParaRPr lang="en-US" sz="900" dirty="0">
              <a:latin typeface="+mn-ea"/>
            </a:endParaRPr>
          </a:p>
        </p:txBody>
      </p:sp>
      <p:sp>
        <p:nvSpPr>
          <p:cNvPr id="168" name="Text 36"/>
          <p:cNvSpPr/>
          <p:nvPr/>
        </p:nvSpPr>
        <p:spPr>
          <a:xfrm>
            <a:off x="12011190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资产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行为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</a:rPr>
              <a:t>画像动态资产，资产决定画像</a:t>
            </a:r>
            <a:endParaRPr lang="en-US" sz="900" dirty="0">
              <a:latin typeface="+mn-ea"/>
            </a:endParaRPr>
          </a:p>
        </p:txBody>
      </p:sp>
      <p:sp>
        <p:nvSpPr>
          <p:cNvPr id="169" name="Text 40"/>
          <p:cNvSpPr/>
          <p:nvPr/>
        </p:nvSpPr>
        <p:spPr>
          <a:xfrm>
            <a:off x="13746740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170" name="Shape 41"/>
          <p:cNvSpPr/>
          <p:nvPr/>
        </p:nvSpPr>
        <p:spPr>
          <a:xfrm>
            <a:off x="15137009" y="6875377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1" name="Shape 42"/>
          <p:cNvSpPr/>
          <p:nvPr/>
        </p:nvSpPr>
        <p:spPr>
          <a:xfrm>
            <a:off x="15137009" y="6875378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72" name="Text 43"/>
          <p:cNvSpPr/>
          <p:nvPr/>
        </p:nvSpPr>
        <p:spPr>
          <a:xfrm>
            <a:off x="15137009" y="6875378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00" b="1" dirty="0">
                <a:latin typeface="+mn-ea"/>
              </a:rPr>
              <a:t>个人资产</a:t>
            </a:r>
            <a:endParaRPr lang="en-US" sz="900" b="1" dirty="0">
              <a:latin typeface="+mn-ea"/>
            </a:endParaRPr>
          </a:p>
        </p:txBody>
      </p:sp>
      <p:sp>
        <p:nvSpPr>
          <p:cNvPr id="173" name="Text 44"/>
          <p:cNvSpPr/>
          <p:nvPr/>
        </p:nvSpPr>
        <p:spPr>
          <a:xfrm>
            <a:off x="15200350" y="7116074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个人资产沉淀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记录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应用</a:t>
            </a:r>
            <a:endParaRPr lang="en-US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个人资产沉淀：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资产发现：</a:t>
            </a:r>
            <a:endParaRPr lang="en-US" sz="900" dirty="0">
              <a:latin typeface="+mn-ea"/>
            </a:endParaRPr>
          </a:p>
        </p:txBody>
      </p:sp>
      <p:sp>
        <p:nvSpPr>
          <p:cNvPr id="174" name="Shape 27">
            <a:extLst>
              <a:ext uri="{FF2B5EF4-FFF2-40B4-BE49-F238E27FC236}">
                <a16:creationId xmlns:a16="http://schemas.microsoft.com/office/drawing/2014/main" id="{63A739E2-8897-6D90-1155-CA517C8C85C1}"/>
              </a:ext>
            </a:extLst>
          </p:cNvPr>
          <p:cNvSpPr/>
          <p:nvPr/>
        </p:nvSpPr>
        <p:spPr>
          <a:xfrm>
            <a:off x="18022893" y="6423583"/>
            <a:ext cx="278702" cy="848773"/>
          </a:xfrm>
          <a:prstGeom prst="roundRect">
            <a:avLst>
              <a:gd name="adj" fmla="val 984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900" b="1" dirty="0" err="1">
                <a:latin typeface="+mn-ea"/>
                <a:cs typeface="Microsoft YaHei" pitchFamily="34" charset="-120"/>
              </a:rPr>
              <a:t>需求层</a:t>
            </a:r>
            <a:endParaRPr lang="en-US" altLang="zh-CN" sz="900" dirty="0">
              <a:latin typeface="+mn-ea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06D59FF6-99BD-B490-A8A3-C32212307AAE}"/>
              </a:ext>
            </a:extLst>
          </p:cNvPr>
          <p:cNvSpPr/>
          <p:nvPr/>
        </p:nvSpPr>
        <p:spPr>
          <a:xfrm>
            <a:off x="11738822" y="4901028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900" b="1" dirty="0">
                <a:latin typeface="+mn-ea"/>
                <a:cs typeface="Microsoft YaHei" pitchFamily="34" charset="-120"/>
              </a:rPr>
              <a:t>C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端</a:t>
            </a:r>
            <a:endParaRPr lang="en-US" sz="900" dirty="0"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541FDAA4-BA2F-C04F-131A-F296FFA85A37}"/>
              </a:ext>
            </a:extLst>
          </p:cNvPr>
          <p:cNvSpPr txBox="1"/>
          <p:nvPr/>
        </p:nvSpPr>
        <p:spPr>
          <a:xfrm>
            <a:off x="193328" y="8187191"/>
            <a:ext cx="435881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信任输出层：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en-US" altLang="zh-CN" sz="900" dirty="0">
                <a:latin typeface="+mn-ea"/>
                <a:cs typeface="Microsoft YaHei" pitchFamily="34" charset="-120"/>
              </a:rPr>
              <a:t>1.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心智锚点：用户决策的主动复访理由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商家品牌化理由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en-US" altLang="zh-CN" sz="900" dirty="0">
                <a:latin typeface="+mn-ea"/>
                <a:cs typeface="Microsoft YaHei" pitchFamily="34" charset="-120"/>
              </a:rPr>
              <a:t>2.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好的定义：标杆模板、策略优先级、资源配给、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en-US" altLang="zh-CN" sz="900" dirty="0">
                <a:latin typeface="+mn-ea"/>
                <a:cs typeface="Microsoft YaHei" pitchFamily="34" charset="-120"/>
              </a:rPr>
              <a:t>3.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决策信任信号：用户选择依据，商家背书学习？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en-US" altLang="zh-CN" sz="900" dirty="0">
                <a:latin typeface="+mn-ea"/>
                <a:cs typeface="Microsoft YaHei" pitchFamily="34" charset="-120"/>
              </a:rPr>
              <a:t>4.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决策流量：到餐不等于团购，强找优惠心智到全旅程业务实质。也是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AI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分发全</a:t>
            </a:r>
            <a:endParaRPr lang="en-US" altLang="zh-CN" sz="900" dirty="0">
              <a:latin typeface="+mn-ea"/>
              <a:cs typeface="Microsoft YaHei" pitchFamily="34" charset="-12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6EA77B0-6F16-6C48-A856-1BF63A26459C}"/>
              </a:ext>
            </a:extLst>
          </p:cNvPr>
          <p:cNvSpPr txBox="1"/>
          <p:nvPr/>
        </p:nvSpPr>
        <p:spPr>
          <a:xfrm>
            <a:off x="193328" y="9269231"/>
            <a:ext cx="435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竞争：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高德扫街榜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小红书内容，先从决策心智入手</a:t>
            </a:r>
            <a:endParaRPr lang="en-US" altLang="zh-CN" sz="900" dirty="0">
              <a:latin typeface="+mn-ea"/>
              <a:cs typeface="Microsoft YaHei" pitchFamily="34" charset="-120"/>
            </a:endParaRPr>
          </a:p>
        </p:txBody>
      </p:sp>
      <p:sp>
        <p:nvSpPr>
          <p:cNvPr id="180" name="Text 25">
            <a:extLst>
              <a:ext uri="{FF2B5EF4-FFF2-40B4-BE49-F238E27FC236}">
                <a16:creationId xmlns:a16="http://schemas.microsoft.com/office/drawing/2014/main" id="{B0853361-484F-4655-6A43-85D3C6AB4082}"/>
              </a:ext>
            </a:extLst>
          </p:cNvPr>
          <p:cNvSpPr/>
          <p:nvPr/>
        </p:nvSpPr>
        <p:spPr>
          <a:xfrm>
            <a:off x="16672772" y="4937135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900" b="1" dirty="0">
                <a:latin typeface="+mn-ea"/>
                <a:cs typeface="Microsoft YaHei" pitchFamily="34" charset="-120"/>
              </a:rPr>
              <a:t>B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端</a:t>
            </a:r>
            <a:endParaRPr lang="en-US" sz="900" dirty="0">
              <a:latin typeface="+mn-ea"/>
            </a:endParaRPr>
          </a:p>
        </p:txBody>
      </p:sp>
      <p:sp>
        <p:nvSpPr>
          <p:cNvPr id="181" name="Shape 41">
            <a:extLst>
              <a:ext uri="{FF2B5EF4-FFF2-40B4-BE49-F238E27FC236}">
                <a16:creationId xmlns:a16="http://schemas.microsoft.com/office/drawing/2014/main" id="{5C6D3F00-2B5E-D730-7054-770852EE956B}"/>
              </a:ext>
            </a:extLst>
          </p:cNvPr>
          <p:cNvSpPr/>
          <p:nvPr/>
        </p:nvSpPr>
        <p:spPr>
          <a:xfrm>
            <a:off x="14946509" y="5194734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2" name="Shape 42">
            <a:extLst>
              <a:ext uri="{FF2B5EF4-FFF2-40B4-BE49-F238E27FC236}">
                <a16:creationId xmlns:a16="http://schemas.microsoft.com/office/drawing/2014/main" id="{008204F4-3840-DD4E-927D-F05BB9C8F63C}"/>
              </a:ext>
            </a:extLst>
          </p:cNvPr>
          <p:cNvSpPr/>
          <p:nvPr/>
        </p:nvSpPr>
        <p:spPr>
          <a:xfrm>
            <a:off x="14946509" y="5194735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83" name="Text 43">
            <a:extLst>
              <a:ext uri="{FF2B5EF4-FFF2-40B4-BE49-F238E27FC236}">
                <a16:creationId xmlns:a16="http://schemas.microsoft.com/office/drawing/2014/main" id="{8A3C9981-DF94-3CA1-3A90-7DDF60D161D4}"/>
              </a:ext>
            </a:extLst>
          </p:cNvPr>
          <p:cNvSpPr/>
          <p:nvPr/>
        </p:nvSpPr>
        <p:spPr>
          <a:xfrm>
            <a:off x="14946509" y="5194735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00" b="1" dirty="0">
                <a:latin typeface="+mn-ea"/>
              </a:rPr>
              <a:t>低成本</a:t>
            </a:r>
            <a:endParaRPr lang="en-US" sz="900" b="1" dirty="0">
              <a:latin typeface="+mn-ea"/>
            </a:endParaRPr>
          </a:p>
        </p:txBody>
      </p:sp>
      <p:sp>
        <p:nvSpPr>
          <p:cNvPr id="184" name="Text 44">
            <a:extLst>
              <a:ext uri="{FF2B5EF4-FFF2-40B4-BE49-F238E27FC236}">
                <a16:creationId xmlns:a16="http://schemas.microsoft.com/office/drawing/2014/main" id="{1EB7E1A3-740C-1347-E686-50B9902FFB42}"/>
              </a:ext>
            </a:extLst>
          </p:cNvPr>
          <p:cNvSpPr/>
          <p:nvPr/>
        </p:nvSpPr>
        <p:spPr>
          <a:xfrm>
            <a:off x="15009850" y="5435431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>
                <a:latin typeface="+mn-ea"/>
                <a:cs typeface="Microsoft YaHei" pitchFamily="34" charset="-120"/>
              </a:rPr>
              <a:t>不用反复获取注意力</a:t>
            </a:r>
            <a:endParaRPr lang="en-US" sz="9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00475" y="3638640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↑ 输出价值</a:t>
            </a:r>
            <a:endParaRPr lang="en-US" sz="900" dirty="0"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0D215A-3764-1B17-D50E-D0E721AA1F69}"/>
              </a:ext>
            </a:extLst>
          </p:cNvPr>
          <p:cNvSpPr txBox="1"/>
          <p:nvPr/>
        </p:nvSpPr>
        <p:spPr>
          <a:xfrm>
            <a:off x="806912" y="802774"/>
            <a:ext cx="6683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i="0" dirty="0">
                <a:effectLst/>
                <a:latin typeface="+mn-ea"/>
              </a:rPr>
              <a:t>C</a:t>
            </a:r>
            <a:r>
              <a:rPr lang="zh-CN" altLang="en-US" sz="1200" b="1" i="0" dirty="0">
                <a:effectLst/>
                <a:latin typeface="+mn-ea"/>
              </a:rPr>
              <a:t>端占心智 </a:t>
            </a:r>
            <a:r>
              <a:rPr lang="en-US" altLang="zh-CN" sz="1200" b="1" i="0" dirty="0">
                <a:effectLst/>
                <a:latin typeface="+mn-ea"/>
              </a:rPr>
              <a:t>× B</a:t>
            </a:r>
            <a:r>
              <a:rPr lang="zh-CN" altLang="en-US" sz="1200" b="1" i="0" dirty="0">
                <a:effectLst/>
                <a:latin typeface="+mn-ea"/>
              </a:rPr>
              <a:t>端促</a:t>
            </a:r>
            <a:r>
              <a:rPr lang="zh-CN" altLang="en-US" sz="1200" b="1" dirty="0">
                <a:latin typeface="+mn-ea"/>
              </a:rPr>
              <a:t>品质</a:t>
            </a:r>
            <a:r>
              <a:rPr lang="zh-CN" altLang="en-US" sz="1200" b="1" i="0" dirty="0">
                <a:effectLst/>
                <a:latin typeface="+mn-ea"/>
              </a:rPr>
              <a:t> </a:t>
            </a:r>
            <a:r>
              <a:rPr lang="en-US" altLang="zh-CN" sz="1200" b="1" i="0" dirty="0">
                <a:effectLst/>
                <a:latin typeface="+mn-ea"/>
              </a:rPr>
              <a:t>× </a:t>
            </a:r>
            <a:r>
              <a:rPr lang="zh-CN" altLang="en-US" sz="1200" b="1" i="0" dirty="0">
                <a:effectLst/>
                <a:latin typeface="+mn-ea"/>
              </a:rPr>
              <a:t>平台筑壁垒</a:t>
            </a:r>
            <a:r>
              <a:rPr lang="zh-CN" altLang="en-US" sz="1200" b="0" i="0" dirty="0">
                <a:effectLst/>
                <a:latin typeface="+mn-ea"/>
              </a:rPr>
              <a:t> 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10D2C7F-7DAD-F7FA-371B-F02E9EF43BA9}"/>
              </a:ext>
            </a:extLst>
          </p:cNvPr>
          <p:cNvSpPr txBox="1"/>
          <p:nvPr/>
        </p:nvSpPr>
        <p:spPr>
          <a:xfrm>
            <a:off x="9215438" y="39402"/>
            <a:ext cx="39671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战略意义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endParaRPr lang="en-US" altLang="zh-CN" sz="1200" dirty="0">
              <a:latin typeface="+mn-ea"/>
            </a:endParaRPr>
          </a:p>
          <a:p>
            <a:r>
              <a:rPr lang="en-US" altLang="zh-CN" sz="1200" dirty="0" err="1">
                <a:latin typeface="+mn-ea"/>
                <a:cs typeface="Microsoft YaHei" pitchFamily="34" charset="-120"/>
              </a:rPr>
              <a:t>用户行为→资产→信任→商家沉淀→商家被牵引→平台沉淀差异化竞争力。飞轮效应，越转越厚，竞品越难追赶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。</a:t>
            </a:r>
          </a:p>
          <a:p>
            <a:r>
              <a:rPr lang="zh-CN" altLang="en-US" sz="1200" b="0" i="0" dirty="0">
                <a:effectLst/>
                <a:latin typeface="-apple-system"/>
              </a:rPr>
              <a:t>优质经营→好评沉淀→信任标签→自然流量→更多优质用户。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用户行为产生的真实数据→驱动商户改善→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-apple-system"/>
              </a:rPr>
              <a:t>形成</a:t>
            </a:r>
            <a:r>
              <a:rPr lang="en-US" altLang="zh-CN" sz="1200" b="1" i="0" dirty="0">
                <a:solidFill>
                  <a:srgbClr val="666666"/>
                </a:solidFill>
                <a:effectLst/>
                <a:latin typeface="-apple-system"/>
              </a:rPr>
              <a:t>"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-apple-system"/>
              </a:rPr>
              <a:t>你变好，流量就来</a:t>
            </a:r>
            <a:r>
              <a:rPr lang="en-US" altLang="zh-CN" sz="1200" b="1" i="0" dirty="0">
                <a:solidFill>
                  <a:srgbClr val="666666"/>
                </a:solidFill>
                <a:effectLst/>
                <a:latin typeface="-apple-system"/>
              </a:rPr>
              <a:t>"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-apple-system"/>
              </a:rPr>
              <a:t>的正向循环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，跳出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-apple-system"/>
              </a:rPr>
              <a:t>"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花钱买流量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-apple-system"/>
              </a:rPr>
              <a:t>"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的零和博弈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51A5D107-8811-352E-2CC2-42421CFA26EA}"/>
              </a:ext>
            </a:extLst>
          </p:cNvPr>
          <p:cNvSpPr/>
          <p:nvPr/>
        </p:nvSpPr>
        <p:spPr>
          <a:xfrm>
            <a:off x="1041683" y="6448267"/>
            <a:ext cx="2818200" cy="4137703"/>
          </a:xfrm>
          <a:prstGeom prst="roundRect">
            <a:avLst>
              <a:gd name="adj" fmla="val 1328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个人食单</a:t>
            </a:r>
            <a:r>
              <a:rPr lang="en-US" altLang="zh-CN" sz="1200" dirty="0">
                <a:solidFill>
                  <a:schemeClr val="tx1"/>
                </a:solidFill>
              </a:rPr>
              <a:t>-</a:t>
            </a:r>
            <a:r>
              <a:rPr lang="zh-CN" altLang="en-US" sz="1200" dirty="0">
                <a:solidFill>
                  <a:schemeClr val="tx1"/>
                </a:solidFill>
              </a:rPr>
              <a:t>标题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0E6EBBFB-1C2D-D610-86B4-0621E666E4C6}"/>
              </a:ext>
            </a:extLst>
          </p:cNvPr>
          <p:cNvSpPr/>
          <p:nvPr/>
        </p:nvSpPr>
        <p:spPr>
          <a:xfrm>
            <a:off x="1969064" y="7851391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个人资产证据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41D41667-3E3B-D85E-D36B-55625D73177B}"/>
              </a:ext>
            </a:extLst>
          </p:cNvPr>
          <p:cNvSpPr/>
          <p:nvPr/>
        </p:nvSpPr>
        <p:spPr>
          <a:xfrm>
            <a:off x="1165248" y="6913883"/>
            <a:ext cx="534695" cy="5346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1DB01F2D-126B-8AF7-71D9-FEB4949C3061}"/>
              </a:ext>
            </a:extLst>
          </p:cNvPr>
          <p:cNvSpPr/>
          <p:nvPr/>
        </p:nvSpPr>
        <p:spPr>
          <a:xfrm>
            <a:off x="1697355" y="6913882"/>
            <a:ext cx="534695" cy="5346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4B67665B-8E94-1380-4053-B662375EFDD2}"/>
              </a:ext>
            </a:extLst>
          </p:cNvPr>
          <p:cNvSpPr/>
          <p:nvPr/>
        </p:nvSpPr>
        <p:spPr>
          <a:xfrm>
            <a:off x="1073089" y="7300207"/>
            <a:ext cx="1377694" cy="1596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证据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身份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圈层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312B5E8-A284-9204-B33A-052313195E4C}"/>
              </a:ext>
            </a:extLst>
          </p:cNvPr>
          <p:cNvSpPr txBox="1"/>
          <p:nvPr/>
        </p:nvSpPr>
        <p:spPr>
          <a:xfrm>
            <a:off x="976962" y="7042729"/>
            <a:ext cx="8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创建者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332ACEC1-4AE8-0662-5B9A-2A6D6007335F}"/>
              </a:ext>
            </a:extLst>
          </p:cNvPr>
          <p:cNvSpPr txBox="1"/>
          <p:nvPr/>
        </p:nvSpPr>
        <p:spPr>
          <a:xfrm>
            <a:off x="1615360" y="7033079"/>
            <a:ext cx="7215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共建者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68834A0A-392E-98EA-1227-D7CF03A775BD}"/>
              </a:ext>
            </a:extLst>
          </p:cNvPr>
          <p:cNvSpPr/>
          <p:nvPr/>
        </p:nvSpPr>
        <p:spPr>
          <a:xfrm>
            <a:off x="1194083" y="7564403"/>
            <a:ext cx="2541976" cy="2437448"/>
          </a:xfrm>
          <a:prstGeom prst="roundRect">
            <a:avLst>
              <a:gd name="adj" fmla="val 516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D06CA56F-9BBB-329F-1C3D-1C7DBCF606CA}"/>
              </a:ext>
            </a:extLst>
          </p:cNvPr>
          <p:cNvSpPr/>
          <p:nvPr/>
        </p:nvSpPr>
        <p:spPr>
          <a:xfrm>
            <a:off x="1232521" y="7628490"/>
            <a:ext cx="693788" cy="62580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门店</a:t>
            </a:r>
            <a:endParaRPr lang="en-US" altLang="zh-CN" sz="1200" dirty="0"/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2CC9666D-089D-257A-DF07-DB7738ACD17C}"/>
              </a:ext>
            </a:extLst>
          </p:cNvPr>
          <p:cNvSpPr/>
          <p:nvPr/>
        </p:nvSpPr>
        <p:spPr>
          <a:xfrm>
            <a:off x="3278378" y="7838837"/>
            <a:ext cx="390058" cy="432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36AA6886-D143-9A0A-D15B-296A651911D2}"/>
              </a:ext>
            </a:extLst>
          </p:cNvPr>
          <p:cNvSpPr txBox="1"/>
          <p:nvPr/>
        </p:nvSpPr>
        <p:spPr>
          <a:xfrm>
            <a:off x="3263095" y="7869849"/>
            <a:ext cx="45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用户状态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F8853F7A-5C94-B3D8-B1C7-A7836B43B174}"/>
              </a:ext>
            </a:extLst>
          </p:cNvPr>
          <p:cNvSpPr/>
          <p:nvPr/>
        </p:nvSpPr>
        <p:spPr>
          <a:xfrm>
            <a:off x="2174685" y="10149031"/>
            <a:ext cx="1476323" cy="34012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互动区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F39DBDFB-AD67-61AA-6324-FED3F5087A16}"/>
              </a:ext>
            </a:extLst>
          </p:cNvPr>
          <p:cNvSpPr/>
          <p:nvPr/>
        </p:nvSpPr>
        <p:spPr>
          <a:xfrm>
            <a:off x="1964702" y="8074292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组合动态信息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81FE88D3-1013-FA72-0DD6-5EF71C0A27C8}"/>
              </a:ext>
            </a:extLst>
          </p:cNvPr>
          <p:cNvSpPr/>
          <p:nvPr/>
        </p:nvSpPr>
        <p:spPr>
          <a:xfrm>
            <a:off x="1969064" y="7628490"/>
            <a:ext cx="1681944" cy="18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门店基本信息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63B8336B-5B72-7E54-52BB-18092CDB6F9B}"/>
              </a:ext>
            </a:extLst>
          </p:cNvPr>
          <p:cNvSpPr/>
          <p:nvPr/>
        </p:nvSpPr>
        <p:spPr>
          <a:xfrm>
            <a:off x="5240471" y="-3750620"/>
            <a:ext cx="4334274" cy="4959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流量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动线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B366FDD7-A207-30AD-BB47-3C475FC5D52E}"/>
              </a:ext>
            </a:extLst>
          </p:cNvPr>
          <p:cNvSpPr/>
          <p:nvPr/>
        </p:nvSpPr>
        <p:spPr>
          <a:xfrm>
            <a:off x="2819857" y="7309296"/>
            <a:ext cx="960308" cy="1487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食单数据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55A3F7D3-5E77-FF11-1C49-1E9FC2D0EC30}"/>
              </a:ext>
            </a:extLst>
          </p:cNvPr>
          <p:cNvSpPr/>
          <p:nvPr/>
        </p:nvSpPr>
        <p:spPr>
          <a:xfrm>
            <a:off x="9842440" y="-3740983"/>
            <a:ext cx="4115972" cy="4959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价值激励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06" name="矩形: 圆角 21">
            <a:extLst>
              <a:ext uri="{FF2B5EF4-FFF2-40B4-BE49-F238E27FC236}">
                <a16:creationId xmlns:a16="http://schemas.microsoft.com/office/drawing/2014/main" id="{0625382B-2BB0-B461-D65B-29B0D1F0EC1F}"/>
              </a:ext>
            </a:extLst>
          </p:cNvPr>
          <p:cNvSpPr/>
          <p:nvPr/>
        </p:nvSpPr>
        <p:spPr>
          <a:xfrm>
            <a:off x="5294713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个性化推荐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7" name="矩形: 圆角 21">
            <a:extLst>
              <a:ext uri="{FF2B5EF4-FFF2-40B4-BE49-F238E27FC236}">
                <a16:creationId xmlns:a16="http://schemas.microsoft.com/office/drawing/2014/main" id="{ABFE74FB-9B2A-C8DB-9A26-00287B7A5E81}"/>
              </a:ext>
            </a:extLst>
          </p:cNvPr>
          <p:cNvSpPr/>
          <p:nvPr/>
        </p:nvSpPr>
        <p:spPr>
          <a:xfrm>
            <a:off x="6310137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搜索关联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8" name="矩形: 圆角 21">
            <a:extLst>
              <a:ext uri="{FF2B5EF4-FFF2-40B4-BE49-F238E27FC236}">
                <a16:creationId xmlns:a16="http://schemas.microsoft.com/office/drawing/2014/main" id="{5AA03130-6EDC-B63C-8295-0A700A5E96BD}"/>
              </a:ext>
            </a:extLst>
          </p:cNvPr>
          <p:cNvSpPr/>
          <p:nvPr/>
        </p:nvSpPr>
        <p:spPr>
          <a:xfrm>
            <a:off x="7511337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POI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9" name="矩形: 圆角 21">
            <a:extLst>
              <a:ext uri="{FF2B5EF4-FFF2-40B4-BE49-F238E27FC236}">
                <a16:creationId xmlns:a16="http://schemas.microsoft.com/office/drawing/2014/main" id="{73600A22-54B8-6946-6B99-F515715B355D}"/>
              </a:ext>
            </a:extLst>
          </p:cNvPr>
          <p:cNvSpPr/>
          <p:nvPr/>
        </p:nvSpPr>
        <p:spPr>
          <a:xfrm>
            <a:off x="8528753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频道入口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E4611570-9D18-3719-140C-9208A763C18F}"/>
              </a:ext>
            </a:extLst>
          </p:cNvPr>
          <p:cNvSpPr/>
          <p:nvPr/>
        </p:nvSpPr>
        <p:spPr>
          <a:xfrm>
            <a:off x="7896043" y="-2969728"/>
            <a:ext cx="1607202" cy="3582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分发策略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E6EB596F-C1A9-AB96-1437-15A7A9F461F2}"/>
              </a:ext>
            </a:extLst>
          </p:cNvPr>
          <p:cNvSpPr/>
          <p:nvPr/>
        </p:nvSpPr>
        <p:spPr>
          <a:xfrm>
            <a:off x="10143841" y="-2979188"/>
            <a:ext cx="1607202" cy="3582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激励策略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34" name="矩形: 圆角 21">
            <a:extLst>
              <a:ext uri="{FF2B5EF4-FFF2-40B4-BE49-F238E27FC236}">
                <a16:creationId xmlns:a16="http://schemas.microsoft.com/office/drawing/2014/main" id="{E5888875-1FFF-D73A-1825-6E9ACB595842}"/>
              </a:ext>
            </a:extLst>
          </p:cNvPr>
          <p:cNvSpPr/>
          <p:nvPr/>
        </p:nvSpPr>
        <p:spPr>
          <a:xfrm>
            <a:off x="9863412" y="-3403367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荣誉价值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5" name="矩形: 圆角 21">
            <a:extLst>
              <a:ext uri="{FF2B5EF4-FFF2-40B4-BE49-F238E27FC236}">
                <a16:creationId xmlns:a16="http://schemas.microsoft.com/office/drawing/2014/main" id="{41C28451-2C75-29CD-FD8D-7CC4B353CFD9}"/>
              </a:ext>
            </a:extLst>
          </p:cNvPr>
          <p:cNvSpPr/>
          <p:nvPr/>
        </p:nvSpPr>
        <p:spPr>
          <a:xfrm>
            <a:off x="10893579" y="-3402937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反馈价值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6" name="矩形: 圆角 21">
            <a:extLst>
              <a:ext uri="{FF2B5EF4-FFF2-40B4-BE49-F238E27FC236}">
                <a16:creationId xmlns:a16="http://schemas.microsoft.com/office/drawing/2014/main" id="{CBA98609-777D-E476-B5F1-05F529C11946}"/>
              </a:ext>
            </a:extLst>
          </p:cNvPr>
          <p:cNvSpPr/>
          <p:nvPr/>
        </p:nvSpPr>
        <p:spPr>
          <a:xfrm>
            <a:off x="11921845" y="-3383492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体验价值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7" name="矩形: 圆角 21">
            <a:extLst>
              <a:ext uri="{FF2B5EF4-FFF2-40B4-BE49-F238E27FC236}">
                <a16:creationId xmlns:a16="http://schemas.microsoft.com/office/drawing/2014/main" id="{6D9458B4-C314-5767-0C83-C42E36C82B18}"/>
              </a:ext>
            </a:extLst>
          </p:cNvPr>
          <p:cNvSpPr/>
          <p:nvPr/>
        </p:nvSpPr>
        <p:spPr>
          <a:xfrm>
            <a:off x="12932900" y="-3383492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金钱价值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5" name="矩形: 圆角 21">
            <a:extLst>
              <a:ext uri="{FF2B5EF4-FFF2-40B4-BE49-F238E27FC236}">
                <a16:creationId xmlns:a16="http://schemas.microsoft.com/office/drawing/2014/main" id="{189D5EB3-EE0B-DF17-8F0F-252D6D11D4FB}"/>
              </a:ext>
            </a:extLst>
          </p:cNvPr>
          <p:cNvSpPr/>
          <p:nvPr/>
        </p:nvSpPr>
        <p:spPr>
          <a:xfrm>
            <a:off x="4225047" y="-3393128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地图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2BBFC738-B7D7-97B0-CF81-DFAD5355872F}"/>
              </a:ext>
            </a:extLst>
          </p:cNvPr>
          <p:cNvSpPr/>
          <p:nvPr/>
        </p:nvSpPr>
        <p:spPr>
          <a:xfrm>
            <a:off x="1974644" y="8543762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消费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次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5" name="矩形: 圆角 254">
            <a:extLst>
              <a:ext uri="{FF2B5EF4-FFF2-40B4-BE49-F238E27FC236}">
                <a16:creationId xmlns:a16="http://schemas.microsoft.com/office/drawing/2014/main" id="{9457C1D8-FCCD-5F64-717B-A057DE6F32BE}"/>
              </a:ext>
            </a:extLst>
          </p:cNvPr>
          <p:cNvSpPr/>
          <p:nvPr/>
        </p:nvSpPr>
        <p:spPr>
          <a:xfrm>
            <a:off x="1238101" y="8320861"/>
            <a:ext cx="693788" cy="62580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门店</a:t>
            </a:r>
            <a:endParaRPr lang="en-US" altLang="zh-CN" sz="1200" dirty="0"/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DDA3E5AB-4850-2345-A5FB-978B13294A6F}"/>
              </a:ext>
            </a:extLst>
          </p:cNvPr>
          <p:cNvSpPr/>
          <p:nvPr/>
        </p:nvSpPr>
        <p:spPr>
          <a:xfrm>
            <a:off x="3283958" y="8531208"/>
            <a:ext cx="390058" cy="432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7593A903-A83A-8CAD-836B-8B396256E0AF}"/>
              </a:ext>
            </a:extLst>
          </p:cNvPr>
          <p:cNvSpPr txBox="1"/>
          <p:nvPr/>
        </p:nvSpPr>
        <p:spPr>
          <a:xfrm>
            <a:off x="3256961" y="8551024"/>
            <a:ext cx="45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用户状态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624443FA-0F72-F4B4-E960-E6B5A4DD33AA}"/>
              </a:ext>
            </a:extLst>
          </p:cNvPr>
          <p:cNvSpPr/>
          <p:nvPr/>
        </p:nvSpPr>
        <p:spPr>
          <a:xfrm>
            <a:off x="1970282" y="8766663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有包间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/100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人跟吃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9" name="矩形: 圆角 258">
            <a:extLst>
              <a:ext uri="{FF2B5EF4-FFF2-40B4-BE49-F238E27FC236}">
                <a16:creationId xmlns:a16="http://schemas.microsoft.com/office/drawing/2014/main" id="{38C1F2B8-27E1-66FF-CD32-ECB5C8234F66}"/>
              </a:ext>
            </a:extLst>
          </p:cNvPr>
          <p:cNvSpPr/>
          <p:nvPr/>
        </p:nvSpPr>
        <p:spPr>
          <a:xfrm>
            <a:off x="1974644" y="8320861"/>
            <a:ext cx="1681944" cy="18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火锅店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26478BD-C9A7-D7A9-9906-312C2D087333}"/>
              </a:ext>
            </a:extLst>
          </p:cNvPr>
          <p:cNvSpPr/>
          <p:nvPr/>
        </p:nvSpPr>
        <p:spPr>
          <a:xfrm>
            <a:off x="2569989" y="7070727"/>
            <a:ext cx="1214619" cy="2725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食单简介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C9E06FA-A954-C47B-9DC4-F81B47091C43}"/>
              </a:ext>
            </a:extLst>
          </p:cNvPr>
          <p:cNvSpPr/>
          <p:nvPr/>
        </p:nvSpPr>
        <p:spPr>
          <a:xfrm>
            <a:off x="2149591" y="687533"/>
            <a:ext cx="1512353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需求探测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932E324-D94B-FAE6-F182-B50232B6A482}"/>
              </a:ext>
            </a:extLst>
          </p:cNvPr>
          <p:cNvSpPr/>
          <p:nvPr/>
        </p:nvSpPr>
        <p:spPr>
          <a:xfrm>
            <a:off x="3771656" y="687533"/>
            <a:ext cx="1510416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用户画像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34B022A-6548-6662-5BC0-EA55CB0D880E}"/>
              </a:ext>
            </a:extLst>
          </p:cNvPr>
          <p:cNvSpPr/>
          <p:nvPr/>
        </p:nvSpPr>
        <p:spPr>
          <a:xfrm>
            <a:off x="5391784" y="687533"/>
            <a:ext cx="1523730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用户动线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F5D5724-99A8-B350-873B-2922354377E6}"/>
              </a:ext>
            </a:extLst>
          </p:cNvPr>
          <p:cNvSpPr/>
          <p:nvPr/>
        </p:nvSpPr>
        <p:spPr>
          <a:xfrm>
            <a:off x="7014877" y="707204"/>
            <a:ext cx="1512353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成长体系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F8C6C87-A747-B456-18AE-7742E02BFA8C}"/>
              </a:ext>
            </a:extLst>
          </p:cNvPr>
          <p:cNvSpPr txBox="1"/>
          <p:nvPr/>
        </p:nvSpPr>
        <p:spPr>
          <a:xfrm>
            <a:off x="1169020" y="1441596"/>
            <a:ext cx="717848" cy="6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资产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应用层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D3D6D25-977A-4EF2-F289-632E1A9682E3}"/>
              </a:ext>
            </a:extLst>
          </p:cNvPr>
          <p:cNvSpPr/>
          <p:nvPr/>
        </p:nvSpPr>
        <p:spPr>
          <a:xfrm>
            <a:off x="2141231" y="1576415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榜单矩阵</a:t>
            </a:r>
            <a:endParaRPr lang="en-US" altLang="zh-CN" sz="1200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F9C9F03-C620-E091-3071-7B4D5C17C5C3}"/>
              </a:ext>
            </a:extLst>
          </p:cNvPr>
          <p:cNvSpPr/>
          <p:nvPr/>
        </p:nvSpPr>
        <p:spPr>
          <a:xfrm>
            <a:off x="3770687" y="1602564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个性化合集</a:t>
            </a:r>
            <a:endParaRPr lang="en-US" altLang="zh-CN" sz="1200" dirty="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68145DA-1ED5-7844-5E1D-8FC07F273861}"/>
              </a:ext>
            </a:extLst>
          </p:cNvPr>
          <p:cNvSpPr/>
          <p:nvPr/>
        </p:nvSpPr>
        <p:spPr>
          <a:xfrm>
            <a:off x="5384073" y="1576415"/>
            <a:ext cx="1521792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POI/GC</a:t>
            </a:r>
            <a:endParaRPr lang="zh-CN" altLang="en-US" sz="1200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462B18F-58A7-52CE-91E9-0CCB290F2D9B}"/>
              </a:ext>
            </a:extLst>
          </p:cNvPr>
          <p:cNvSpPr/>
          <p:nvPr/>
        </p:nvSpPr>
        <p:spPr>
          <a:xfrm>
            <a:off x="7014932" y="1585846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策略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BB96981-3323-2509-5986-14CF69801B3F}"/>
              </a:ext>
            </a:extLst>
          </p:cNvPr>
          <p:cNvSpPr txBox="1"/>
          <p:nvPr/>
        </p:nvSpPr>
        <p:spPr>
          <a:xfrm>
            <a:off x="1169020" y="544734"/>
            <a:ext cx="717848" cy="6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用户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需求层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E1D6FF6-3978-07DA-D21C-30B4F1C88128}"/>
              </a:ext>
            </a:extLst>
          </p:cNvPr>
          <p:cNvSpPr/>
          <p:nvPr/>
        </p:nvSpPr>
        <p:spPr>
          <a:xfrm>
            <a:off x="9109879" y="6341966"/>
            <a:ext cx="6583988" cy="579601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44252AD-D663-035D-F060-83C935A20DCC}"/>
              </a:ext>
            </a:extLst>
          </p:cNvPr>
          <p:cNvSpPr txBox="1"/>
          <p:nvPr/>
        </p:nvSpPr>
        <p:spPr>
          <a:xfrm>
            <a:off x="1169073" y="3274516"/>
            <a:ext cx="717848" cy="60568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资产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数据层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1A8E6FA-4CAC-EDCF-4B8A-AD13D36D4927}"/>
              </a:ext>
            </a:extLst>
          </p:cNvPr>
          <p:cNvSpPr/>
          <p:nvPr/>
        </p:nvSpPr>
        <p:spPr>
          <a:xfrm>
            <a:off x="9227843" y="64121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endParaRPr lang="en-US" altLang="zh-CN" sz="1200" dirty="0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6EF89FD7-17F4-9BCB-8DC9-72AB45A6E3C6}"/>
              </a:ext>
            </a:extLst>
          </p:cNvPr>
          <p:cNvSpPr/>
          <p:nvPr/>
        </p:nvSpPr>
        <p:spPr>
          <a:xfrm>
            <a:off x="14070662" y="64121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GC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E1481548-C889-4953-2972-5F25293F2BD5}"/>
              </a:ext>
            </a:extLst>
          </p:cNvPr>
          <p:cNvSpPr/>
          <p:nvPr/>
        </p:nvSpPr>
        <p:spPr>
          <a:xfrm>
            <a:off x="10842116" y="64121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689F3F5-3BAB-3338-0C34-4FFAFB5563D9}"/>
              </a:ext>
            </a:extLst>
          </p:cNvPr>
          <p:cNvSpPr/>
          <p:nvPr/>
        </p:nvSpPr>
        <p:spPr>
          <a:xfrm>
            <a:off x="12456389" y="64121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收藏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打卡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85DCDD6-FC1E-A792-1E69-1AED4ED9A1E5}"/>
              </a:ext>
            </a:extLst>
          </p:cNvPr>
          <p:cNvSpPr txBox="1"/>
          <p:nvPr/>
        </p:nvSpPr>
        <p:spPr>
          <a:xfrm>
            <a:off x="1169020" y="2362491"/>
            <a:ext cx="717848" cy="6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资产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计算层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2" name="AutoShape 2">
            <a:extLst>
              <a:ext uri="{FF2B5EF4-FFF2-40B4-BE49-F238E27FC236}">
                <a16:creationId xmlns:a16="http://schemas.microsoft.com/office/drawing/2014/main" id="{14D192E0-ADBF-D68F-26EF-D464CEB6A6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56972" y="25385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8FB316A6-1566-FB3E-0AA0-50503BF1E789}"/>
              </a:ext>
            </a:extLst>
          </p:cNvPr>
          <p:cNvSpPr/>
          <p:nvPr/>
        </p:nvSpPr>
        <p:spPr>
          <a:xfrm>
            <a:off x="2059358" y="2321904"/>
            <a:ext cx="6594283" cy="727252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229DB4C7-2267-A237-D9A6-6A1736FAD8AF}"/>
              </a:ext>
            </a:extLst>
          </p:cNvPr>
          <p:cNvSpPr/>
          <p:nvPr/>
        </p:nvSpPr>
        <p:spPr>
          <a:xfrm>
            <a:off x="2123242" y="247148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规则计算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CEFCF87F-B582-7059-AC7C-45A8109C5EDF}"/>
              </a:ext>
            </a:extLst>
          </p:cNvPr>
          <p:cNvSpPr/>
          <p:nvPr/>
        </p:nvSpPr>
        <p:spPr>
          <a:xfrm>
            <a:off x="3745605" y="247148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结构化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A23A366A-12C7-06FE-328E-1FFD132F307D}"/>
              </a:ext>
            </a:extLst>
          </p:cNvPr>
          <p:cNvSpPr/>
          <p:nvPr/>
        </p:nvSpPr>
        <p:spPr>
          <a:xfrm>
            <a:off x="5393878" y="247148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质量定义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E0FBC00E-5D62-7DDC-35E5-B8591B3DA6FB}"/>
              </a:ext>
            </a:extLst>
          </p:cNvPr>
          <p:cNvSpPr/>
          <p:nvPr/>
        </p:nvSpPr>
        <p:spPr>
          <a:xfrm>
            <a:off x="7033348" y="247148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AI</a:t>
            </a:r>
            <a:r>
              <a:rPr lang="zh-CN" altLang="en-US" sz="1200" dirty="0"/>
              <a:t>挖掘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F094BA67-9822-AC61-936D-8B8B9D125F6B}"/>
              </a:ext>
            </a:extLst>
          </p:cNvPr>
          <p:cNvSpPr/>
          <p:nvPr/>
        </p:nvSpPr>
        <p:spPr>
          <a:xfrm>
            <a:off x="2054148" y="1513313"/>
            <a:ext cx="659433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BE65FA7E-ED77-08A2-68A5-045F56E7EB1D}"/>
              </a:ext>
            </a:extLst>
          </p:cNvPr>
          <p:cNvSpPr/>
          <p:nvPr/>
        </p:nvSpPr>
        <p:spPr>
          <a:xfrm>
            <a:off x="2054094" y="625378"/>
            <a:ext cx="659433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7EA882D-4EE7-D21D-D51C-622AB32A5AEC}"/>
              </a:ext>
            </a:extLst>
          </p:cNvPr>
          <p:cNvSpPr/>
          <p:nvPr/>
        </p:nvSpPr>
        <p:spPr>
          <a:xfrm>
            <a:off x="9998378" y="5496602"/>
            <a:ext cx="658398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717A28-863C-55BA-2AA3-3260F9A2B4DB}"/>
              </a:ext>
            </a:extLst>
          </p:cNvPr>
          <p:cNvSpPr txBox="1"/>
          <p:nvPr/>
        </p:nvSpPr>
        <p:spPr>
          <a:xfrm>
            <a:off x="9113249" y="5523231"/>
            <a:ext cx="717848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资产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输入层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677D2BE-C957-CDCD-FD70-2D5F7D309D72}"/>
              </a:ext>
            </a:extLst>
          </p:cNvPr>
          <p:cNvSpPr/>
          <p:nvPr/>
        </p:nvSpPr>
        <p:spPr>
          <a:xfrm>
            <a:off x="10073175" y="5559686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/>
              <a:t>提升交易</a:t>
            </a:r>
            <a:endParaRPr lang="en-US" altLang="zh-CN" sz="120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38E03B9-B0A9-B78D-C00E-E6F6418A5324}"/>
              </a:ext>
            </a:extLst>
          </p:cNvPr>
          <p:cNvSpPr/>
          <p:nvPr/>
        </p:nvSpPr>
        <p:spPr>
          <a:xfrm>
            <a:off x="11698387" y="55537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提升评价</a:t>
            </a:r>
            <a:endParaRPr lang="en-US" altLang="zh-CN" sz="1200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EDFE4AB-5CA9-B8FF-B868-0BDBCCABCF80}"/>
              </a:ext>
            </a:extLst>
          </p:cNvPr>
          <p:cNvSpPr/>
          <p:nvPr/>
        </p:nvSpPr>
        <p:spPr>
          <a:xfrm>
            <a:off x="13323599" y="55537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收藏打卡送菜</a:t>
            </a:r>
            <a:endParaRPr lang="en-US" altLang="zh-CN" sz="12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B15BE2D-43CC-DE56-560D-6DF71C5ABC0B}"/>
              </a:ext>
            </a:extLst>
          </p:cNvPr>
          <p:cNvSpPr/>
          <p:nvPr/>
        </p:nvSpPr>
        <p:spPr>
          <a:xfrm>
            <a:off x="14948812" y="55537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GC</a:t>
            </a:r>
            <a:r>
              <a:rPr lang="zh-CN" altLang="en-US" sz="1200" dirty="0"/>
              <a:t>输入</a:t>
            </a:r>
            <a:endParaRPr lang="en-US" altLang="zh-CN" sz="1200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4785FA3-0F57-176E-6694-B1B389EA715C}"/>
              </a:ext>
            </a:extLst>
          </p:cNvPr>
          <p:cNvSpPr/>
          <p:nvPr/>
        </p:nvSpPr>
        <p:spPr>
          <a:xfrm>
            <a:off x="2054148" y="3173916"/>
            <a:ext cx="3286874" cy="76884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t"/>
          <a:lstStyle/>
          <a:p>
            <a:pPr algn="ctr"/>
            <a:r>
              <a:rPr lang="zh-CN" altLang="en-US" sz="1200" dirty="0">
                <a:latin typeface="+mn-ea"/>
              </a:rPr>
              <a:t>维度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13289-AD59-3B15-CE5F-2B9A43748164}"/>
              </a:ext>
            </a:extLst>
          </p:cNvPr>
          <p:cNvSpPr/>
          <p:nvPr/>
        </p:nvSpPr>
        <p:spPr>
          <a:xfrm>
            <a:off x="2091391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endParaRPr lang="en-US" altLang="zh-CN" sz="1200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316062C-B207-C142-91D4-9E4A87014CC6}"/>
              </a:ext>
            </a:extLst>
          </p:cNvPr>
          <p:cNvSpPr/>
          <p:nvPr/>
        </p:nvSpPr>
        <p:spPr>
          <a:xfrm>
            <a:off x="5775000" y="3182965"/>
            <a:ext cx="2863188" cy="742031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t"/>
          <a:lstStyle/>
          <a:p>
            <a:pPr algn="ctr"/>
            <a:r>
              <a:rPr lang="zh-CN" altLang="en-US" sz="1200" dirty="0">
                <a:latin typeface="+mn-ea"/>
              </a:rPr>
              <a:t>对象</a:t>
            </a:r>
          </a:p>
        </p:txBody>
      </p:sp>
      <p:sp>
        <p:nvSpPr>
          <p:cNvPr id="14" name="乘号 13">
            <a:extLst>
              <a:ext uri="{FF2B5EF4-FFF2-40B4-BE49-F238E27FC236}">
                <a16:creationId xmlns:a16="http://schemas.microsoft.com/office/drawing/2014/main" id="{8F373740-ED88-705D-4CBF-C1CC4204FD0E}"/>
              </a:ext>
            </a:extLst>
          </p:cNvPr>
          <p:cNvSpPr/>
          <p:nvPr/>
        </p:nvSpPr>
        <p:spPr>
          <a:xfrm>
            <a:off x="5351371" y="3349271"/>
            <a:ext cx="413280" cy="413280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1798796-00D6-2669-5E48-C7D681E79000}"/>
              </a:ext>
            </a:extLst>
          </p:cNvPr>
          <p:cNvSpPr/>
          <p:nvPr/>
        </p:nvSpPr>
        <p:spPr>
          <a:xfrm>
            <a:off x="2736952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评价</a:t>
            </a:r>
            <a:endParaRPr lang="en-US" altLang="zh-CN" sz="12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32345DF-FABF-FE78-5428-8D97BBC04DB1}"/>
              </a:ext>
            </a:extLst>
          </p:cNvPr>
          <p:cNvSpPr/>
          <p:nvPr/>
        </p:nvSpPr>
        <p:spPr>
          <a:xfrm>
            <a:off x="3392787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收藏</a:t>
            </a:r>
            <a:r>
              <a:rPr lang="en-US" altLang="zh-CN" sz="1200" dirty="0"/>
              <a:t>/</a:t>
            </a:r>
            <a:r>
              <a:rPr lang="zh-CN" altLang="en-US" sz="1200" dirty="0"/>
              <a:t>打卡</a:t>
            </a:r>
            <a:endParaRPr lang="en-US" altLang="zh-CN" sz="12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070DCF7-80C3-9A29-8E39-69D2D014CBD9}"/>
              </a:ext>
            </a:extLst>
          </p:cNvPr>
          <p:cNvSpPr/>
          <p:nvPr/>
        </p:nvSpPr>
        <p:spPr>
          <a:xfrm>
            <a:off x="4030436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履约</a:t>
            </a:r>
            <a:endParaRPr lang="en-US" altLang="zh-CN" sz="1200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4F32078-F4CB-38D1-8E16-FAD32F07EBF5}"/>
              </a:ext>
            </a:extLst>
          </p:cNvPr>
          <p:cNvSpPr/>
          <p:nvPr/>
        </p:nvSpPr>
        <p:spPr>
          <a:xfrm>
            <a:off x="4680537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GC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F4D2B31-C9AD-2B12-21C1-F772614B54C4}"/>
              </a:ext>
            </a:extLst>
          </p:cNvPr>
          <p:cNvSpPr/>
          <p:nvPr/>
        </p:nvSpPr>
        <p:spPr>
          <a:xfrm>
            <a:off x="5813225" y="3553980"/>
            <a:ext cx="896606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店</a:t>
            </a:r>
            <a:endParaRPr lang="en-US" altLang="zh-CN" sz="1200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48197AD-A015-8BF4-87E3-175658631BCC}"/>
              </a:ext>
            </a:extLst>
          </p:cNvPr>
          <p:cNvSpPr/>
          <p:nvPr/>
        </p:nvSpPr>
        <p:spPr>
          <a:xfrm>
            <a:off x="6758291" y="3553980"/>
            <a:ext cx="896606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菜</a:t>
            </a:r>
            <a:endParaRPr lang="en-US" altLang="zh-CN" sz="1200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253ED0B-3A3E-9F33-648C-5669A37A9C12}"/>
              </a:ext>
            </a:extLst>
          </p:cNvPr>
          <p:cNvSpPr/>
          <p:nvPr/>
        </p:nvSpPr>
        <p:spPr>
          <a:xfrm>
            <a:off x="7694047" y="3553980"/>
            <a:ext cx="896606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人</a:t>
            </a:r>
            <a:endParaRPr lang="en-US" altLang="zh-CN" sz="1200" dirty="0"/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21D3ABC3-34B7-3643-0198-F374DFD30C02}"/>
              </a:ext>
            </a:extLst>
          </p:cNvPr>
          <p:cNvCxnSpPr>
            <a:stCxn id="25" idx="1"/>
            <a:endCxn id="45" idx="1"/>
          </p:cNvCxnSpPr>
          <p:nvPr/>
        </p:nvCxnSpPr>
        <p:spPr>
          <a:xfrm rot="10800000" flipH="1" flipV="1">
            <a:off x="1169019" y="1743995"/>
            <a:ext cx="53" cy="1833365"/>
          </a:xfrm>
          <a:prstGeom prst="bentConnector3">
            <a:avLst>
              <a:gd name="adj1" fmla="val -4313207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C9635E2-A967-4A30-B722-6E08056B0E0D}"/>
              </a:ext>
            </a:extLst>
          </p:cNvPr>
          <p:cNvSpPr txBox="1"/>
          <p:nvPr/>
        </p:nvSpPr>
        <p:spPr>
          <a:xfrm>
            <a:off x="286398" y="2546641"/>
            <a:ext cx="6815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牵引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8AF69EB-AF9A-0A3E-8174-1955BEE8A231}"/>
              </a:ext>
            </a:extLst>
          </p:cNvPr>
          <p:cNvSpPr/>
          <p:nvPr/>
        </p:nvSpPr>
        <p:spPr>
          <a:xfrm>
            <a:off x="8779539" y="625378"/>
            <a:ext cx="1143393" cy="3317384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公信力治理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41704485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30605181889226695802E+00&quot;&gt;&lt;m_msothmcolidx val=&quot;0&quot;/&gt;&lt;m_rgb r=&quot;FF&quot; g=&quot;DD&quot; b=&quot;3C&quot;/&gt;&lt;/elem&gt;&lt;elem m_fUsage=&quot;1.66791628982774908785E+00&quot;&gt;&lt;m_msothmcolidx val=&quot;0&quot;/&gt;&lt;m_rgb r=&quot;59&quot; g=&quot;8A&quot; b=&quot;39&quot;/&gt;&lt;/elem&gt;&lt;elem m_fUsage=&quot;1.31949000000000005173E+00&quot;&gt;&lt;m_msothmcolidx val=&quot;0&quot;/&gt;&lt;m_rgb r=&quot;81&quot; g=&quot;E1&quot; b=&quot;6B&quot;/&gt;&lt;/elem&gt;&lt;elem m_fUsage=&quot;1.20589113209464904308E+00&quot;&gt;&lt;m_msothmcolidx val=&quot;0&quot;/&gt;&lt;m_rgb r=&quot;F4&quot; g=&quot;80&quot; b=&quot;32&quot;/&gt;&lt;/elem&gt;&lt;elem m_fUsage=&quot;9.58879313086665852062E-01&quot;&gt;&lt;m_msothmcolidx val=&quot;0&quot;/&gt;&lt;m_rgb r=&quot;8D&quot; g=&quot;BA&quot; b=&quot;E2&quot;/&gt;&lt;/elem&gt;&lt;elem m_fUsage=&quot;9.03573802785075042010E-01&quot;&gt;&lt;m_msothmcolidx val=&quot;0&quot;/&gt;&lt;m_rgb r=&quot;FF&quot; g=&quot;E9&quot; b=&quot;7D&quot;/&gt;&lt;/elem&gt;&lt;elem m_fUsage=&quot;8.17887699000000023553E-01&quot;&gt;&lt;m_msothmcolidx val=&quot;0&quot;/&gt;&lt;m_rgb r=&quot;5F&quot; g=&quot;D5&quot; b=&quot;DE&quot;/&gt;&lt;/elem&gt;&lt;elem m_fUsage=&quot;2.54186582832900132001E-01&quot;&gt;&lt;m_msothmcolidx val=&quot;0&quot;/&gt;&lt;m_rgb r=&quot;FF&quot; g=&quot;B6&quot; b=&quot;5B&quot;/&gt;&lt;/elem&gt;&lt;elem m_fUsage=&quot;1.85302018885184188735E-01&quot;&gt;&lt;m_msothmcolidx val=&quot;0&quot;/&gt;&lt;m_rgb r=&quot;94&quot; g=&quot;E2&quot; b=&quot;E9&quot;/&gt;&lt;/elem&gt;&lt;elem m_fUsage=&quot;7.17897987691853145531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225488</TotalTime>
  <Words>9257</Words>
  <Application>Microsoft Office PowerPoint</Application>
  <PresentationFormat>全屏显示(16:9)</PresentationFormat>
  <Paragraphs>1462</Paragraphs>
  <Slides>26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-apple-system</vt:lpstr>
      <vt:lpstr>Inter</vt:lpstr>
      <vt:lpstr>MiSans Bold</vt:lpstr>
      <vt:lpstr>等线</vt:lpstr>
      <vt:lpstr>楷体</vt:lpstr>
      <vt:lpstr>Microsoft YaHei</vt:lpstr>
      <vt:lpstr>Microsoft YaHei</vt:lpstr>
      <vt:lpstr>Arial</vt:lpstr>
      <vt:lpstr>Calibri</vt:lpstr>
      <vt:lpstr>Wingdings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行业榜单需求覆盖分析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到餐商户供给的分析框架</dc:title>
  <dc:creator>陈婧佳</dc:creator>
  <cp:lastModifiedBy>Han Su</cp:lastModifiedBy>
  <cp:revision>3855</cp:revision>
  <cp:lastPrinted>2026-03-16T07:19:48Z</cp:lastPrinted>
  <dcterms:created xsi:type="dcterms:W3CDTF">2026-01-26T07:38:34Z</dcterms:created>
  <dcterms:modified xsi:type="dcterms:W3CDTF">2026-09-15T10:08:00Z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榜单汇报-双周会 6月-20260612.pptx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a81e92534a5fabc87cd5c945c9f539fb01f4ef34</vt:lpwstr>
  </property>
  <property fmtid="{D5CDD505-2E9C-101B-9397-08002B2CF9AE}" pid="7" name="ICV">
    <vt:lpwstr/>
  </property>
  <property fmtid="{D5CDD505-2E9C-101B-9397-08002B2CF9AE}" pid="8" name="KSOProductBuildVer">
    <vt:lpwstr>2052-0.0.0.0</vt:lpwstr>
  </property>
</Properties>
</file>