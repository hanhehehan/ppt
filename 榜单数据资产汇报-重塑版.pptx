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上榜门店平均客单价（元）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黑珍珠</c:v>
                  </c:pt>
                  <c:pt idx="1">
                    <c:v>心动氛围榜</c:v>
                  </c:pt>
                  <c:pt idx="2">
                    <c:v>心动人气榜</c:v>
                  </c:pt>
                  <c:pt idx="3">
                    <c:v>高德状元榜</c:v>
                  </c:pt>
                  <c:pt idx="4">
                    <c:v>心动风味榜</c:v>
                  </c:pt>
                  <c:pt idx="5">
                    <c:v>必吃榜</c:v>
                  </c:pt>
                  <c:pt idx="6">
                    <c:v>美团好评榜</c:v>
                  </c:pt>
                  <c:pt idx="7">
                    <c:v>美团人气榜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881</c:v>
                </c:pt>
                <c:pt idx="1">
                  <c:v>123</c:v>
                </c:pt>
                <c:pt idx="2">
                  <c:v>96</c:v>
                </c:pt>
                <c:pt idx="3">
                  <c:v>92</c:v>
                </c:pt>
                <c:pt idx="4">
                  <c:v>86</c:v>
                </c:pt>
                <c:pt idx="5">
                  <c:v>77</c:v>
                </c:pt>
                <c:pt idx="6">
                  <c:v>60</c:v>
                </c:pt>
                <c:pt idx="7">
                  <c:v>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" name="Shape 2"/>
          <p:cNvSpPr/>
          <p:nvPr/>
        </p:nvSpPr>
        <p:spPr>
          <a:xfrm>
            <a:off x="9326880" y="-1463040"/>
            <a:ext cx="4572000" cy="45720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0" y="4389120"/>
            <a:ext cx="3291840" cy="3291840"/>
          </a:xfrm>
          <a:prstGeom prst="ellipse">
            <a:avLst/>
          </a:prstGeom>
          <a:solidFill>
            <a:srgbClr val="1E2761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-1280160" y="4754880"/>
            <a:ext cx="3108960" cy="3108960"/>
          </a:xfrm>
          <a:prstGeom prst="ellipse">
            <a:avLst/>
          </a:prstGeom>
          <a:solidFill>
            <a:srgbClr val="1E2761">
              <a:alpha val="45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66928" cy="5669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1031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榜单数据资产汇报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548640" y="3200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资产矩阵 · 问题诊断 · 竞品分析 · 关键举措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977640"/>
            <a:ext cx="2377440" cy="4114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年 10 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280160" cy="4572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737360"/>
            <a:ext cx="53949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64008" cy="10058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4708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5257800" y="202996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88366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榜单资产矩阵现状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45920" y="22860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量化数据 × 标签信息的资产组合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63640" y="1737360"/>
            <a:ext cx="53949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63640" y="1737360"/>
            <a:ext cx="64008" cy="10058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184708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0972800" y="2029968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60920" y="188366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榜单问题一览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360920" y="22860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用户心智 / 规则 / 覆盖三类问题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2944368"/>
            <a:ext cx="53949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8640" y="2944368"/>
            <a:ext cx="64008" cy="10058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8" name="Text 14"/>
          <p:cNvSpPr/>
          <p:nvPr/>
        </p:nvSpPr>
        <p:spPr>
          <a:xfrm>
            <a:off x="777240" y="305409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0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5257800" y="3236976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0906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竞品分析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645920" y="34930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美团 · 点评 · 抖音 · 高德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263640" y="2944368"/>
            <a:ext cx="53949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263640" y="2944368"/>
            <a:ext cx="64008" cy="10058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4" name="Text 19"/>
          <p:cNvSpPr/>
          <p:nvPr/>
        </p:nvSpPr>
        <p:spPr>
          <a:xfrm>
            <a:off x="6492240" y="305409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30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10972800" y="3236976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60920" y="30906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问题分析及关键举措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7360920" y="34930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资产建设与规则优化方向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548640" y="4151376"/>
            <a:ext cx="36118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548640" y="4151376"/>
            <a:ext cx="64008" cy="10058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0" name="Text 24"/>
          <p:cNvSpPr/>
          <p:nvPr/>
        </p:nvSpPr>
        <p:spPr>
          <a:xfrm>
            <a:off x="777240" y="42611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30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3474720" y="4443984"/>
            <a:ext cx="384048" cy="38404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645920" y="42976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资产建设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1645920" y="470001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品类 · 场景 · 城市 · 商圈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4389120" y="4151376"/>
            <a:ext cx="36118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4389120" y="4151376"/>
            <a:ext cx="64008" cy="10058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6" name="Text 29"/>
          <p:cNvSpPr/>
          <p:nvPr/>
        </p:nvSpPr>
        <p:spPr>
          <a:xfrm>
            <a:off x="4617720" y="42611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3000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7315200" y="4443984"/>
            <a:ext cx="384048" cy="38404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5486400" y="42976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榜单规则</a:t>
            </a:r>
            <a:endParaRPr lang="en-US" sz="1600" dirty="0"/>
          </a:p>
        </p:txBody>
      </p:sp>
      <p:sp>
        <p:nvSpPr>
          <p:cNvPr id="39" name="Text 31"/>
          <p:cNvSpPr/>
          <p:nvPr/>
        </p:nvSpPr>
        <p:spPr>
          <a:xfrm>
            <a:off x="5486400" y="470001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评选规则与商家牵引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8229600" y="4151376"/>
            <a:ext cx="36118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8229600" y="4151376"/>
            <a:ext cx="64008" cy="10058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2" name="Text 34"/>
          <p:cNvSpPr/>
          <p:nvPr/>
        </p:nvSpPr>
        <p:spPr>
          <a:xfrm>
            <a:off x="8458200" y="42611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3000" dirty="0"/>
          </a:p>
        </p:txBody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>
            <a:alphaModFix amt="70000"/>
          </a:blip>
          <a:stretch>
            <a:fillRect/>
          </a:stretch>
        </p:blipFill>
        <p:spPr>
          <a:xfrm>
            <a:off x="11155680" y="4443984"/>
            <a:ext cx="384048" cy="384048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9326880" y="42976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用户心智</a:t>
            </a:r>
            <a:endParaRPr lang="en-US" sz="1600" dirty="0"/>
          </a:p>
        </p:txBody>
      </p:sp>
      <p:sp>
        <p:nvSpPr>
          <p:cNvPr id="45" name="Text 36"/>
          <p:cNvSpPr/>
          <p:nvPr/>
        </p:nvSpPr>
        <p:spPr>
          <a:xfrm>
            <a:off x="9326880" y="470001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渗透率 · 营销运营 · 定位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92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9264"/>
            <a:ext cx="12188952" cy="27432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56032"/>
            <a:ext cx="82296" cy="47548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19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 · 榜单资产矩阵现状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457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榜单是什么：量化数据 × 标签信息的资产组合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B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565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榜单数据资产汇报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3112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C5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280160"/>
            <a:ext cx="53949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280160"/>
            <a:ext cx="64008" cy="18288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1810512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对同类事物客观实力的反映，通过预设规则对不同个体相互比较</a:t>
            </a:r>
            <a:endParaRPr lang="en-US" sz="110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量化数据：用于统计比较（意向/流量、服务、交易、评价量），影响用户决策顺序</a:t>
            </a:r>
            <a:endParaRPr lang="en-US" sz="110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标签信息：描述事物属类（区域、品类、场景主题、价格），用于筛选聚合特定供给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2148840" cy="8686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29184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量化数据资产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97480" y="329184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C5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3429000" y="3291840"/>
            <a:ext cx="2148840" cy="8686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29000" y="329184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标签信息资产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77840" y="329184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C5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48640" y="434340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榜单矩阵：通过不同榜单规则，组合应用两类资产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937760"/>
            <a:ext cx="16916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029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 / 半年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" y="5440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必吃榜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377440" y="4937760"/>
            <a:ext cx="16916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77440" y="5029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 / 月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377440" y="5440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热门·好评榜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06240" y="4937760"/>
            <a:ext cx="16916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0" y="5029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 / 日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206240" y="5440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人气·销量榜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5943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累积周期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09360" y="1280160"/>
            <a:ext cx="5349240" cy="4892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09360" y="1280160"/>
            <a:ext cx="64008" cy="4892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6537960" y="14630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必吃榜 vs 美团榜单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537960" y="1965960"/>
            <a:ext cx="4892040" cy="1600200"/>
          </a:xfrm>
          <a:prstGeom prst="rect">
            <a:avLst/>
          </a:prstGeom>
          <a:solidFill>
            <a:srgbClr val="F0F4FE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0" y="210312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5C518"/>
          </a:solidFill>
          <a:ln/>
        </p:spPr>
      </p:sp>
      <p:sp>
        <p:nvSpPr>
          <p:cNvPr id="36" name="Text 34"/>
          <p:cNvSpPr/>
          <p:nvPr/>
        </p:nvSpPr>
        <p:spPr>
          <a:xfrm>
            <a:off x="6675120" y="21031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必吃榜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720840" y="2487168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多维量化数据资产，累积周期最长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标签信息过滤保证高质量供给</a:t>
            </a:r>
            <a:endParaRPr lang="en-US" sz="1050" dirty="0"/>
          </a:p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心智和公信力最强（覆盖城市 144，正餐非标 / 长期稳定 / 日常消费）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537960" y="3703320"/>
            <a:ext cx="4892040" cy="1600200"/>
          </a:xfrm>
          <a:prstGeom prst="rect">
            <a:avLst/>
          </a:prstGeom>
          <a:solidFill>
            <a:srgbClr val="FFF7E8"/>
          </a:solidFill>
          <a:ln/>
        </p:spPr>
      </p:sp>
      <p:sp>
        <p:nvSpPr>
          <p:cNvPr id="39" name="Shape 37"/>
          <p:cNvSpPr/>
          <p:nvPr/>
        </p:nvSpPr>
        <p:spPr>
          <a:xfrm>
            <a:off x="6675120" y="384048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0" y="38404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美团榜单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720840" y="4224528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量化数据维度相对单一，累积周期短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标签信息使用较泛（区域、品类筛选，基本不过滤）</a:t>
            </a:r>
            <a:endParaRPr lang="en-US" sz="1050" dirty="0"/>
          </a:p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公信力和特色度上均有空间（覆盖城市 759，多为周/日榜）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537960" y="54406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资产视角的优化方向：沿量化数据维度的选用、累积周期计算、标签筛选过滤，固化并强化榜单矩阵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92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9264"/>
            <a:ext cx="12188952" cy="27432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56032"/>
            <a:ext cx="82296" cy="47548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19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· 榜单问题一览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457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榜单问题汇总：三大类问题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B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565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榜单数据资产汇报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3112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C5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325880"/>
            <a:ext cx="35661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325880"/>
            <a:ext cx="64008" cy="2743200"/>
          </a:xfrm>
          <a:prstGeom prst="rect">
            <a:avLst/>
          </a:prstGeom>
          <a:solidFill>
            <a:srgbClr val="F5C518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554480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17320" y="15819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用户心智问题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04672" y="224028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榜单路径单一且深，仅 56% 用户能找到榜单</a:t>
            </a:r>
            <a:endParaRPr lang="en-US" sz="11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缺乏美团榜单心智，营销活动中榜单缺失</a:t>
            </a:r>
            <a:endParaRPr lang="en-US" sz="11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指数榜过“松”、必吃榜过“严”，影响公信力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43400" y="1325880"/>
            <a:ext cx="35661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43400" y="1325880"/>
            <a:ext cx="64008" cy="2743200"/>
          </a:xfrm>
          <a:prstGeom prst="rect">
            <a:avLst/>
          </a:prstGeom>
          <a:solidFill>
            <a:srgbClr val="F5C518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155448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212080" y="15819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榜单规则影响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599432" y="224028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评选维度单一，牵引路径受限</a:t>
            </a:r>
            <a:endParaRPr lang="en-US" sz="11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上榜门槛低，门店质量参差不齐</a:t>
            </a:r>
            <a:endParaRPr lang="en-US" sz="11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榜单赛道不细分，业务/商户/规则未对齐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138160" y="1325880"/>
            <a:ext cx="35661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138160" y="1325880"/>
            <a:ext cx="64008" cy="2743200"/>
          </a:xfrm>
          <a:prstGeom prst="rect">
            <a:avLst/>
          </a:prstGeom>
          <a:solidFill>
            <a:srgbClr val="F5C518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155448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006840" y="15819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资产建设问题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8394192" y="224028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品类缺失/过粗过细，场景主题覆盖不足</a:t>
            </a:r>
            <a:endParaRPr lang="en-US" sz="11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城市覆盖失衡，中低线城市与旅游城市缺失</a:t>
            </a:r>
            <a:endParaRPr lang="en-US" sz="11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双平台资产不一致，核心资产覆盖不足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548640" y="4343400"/>
            <a:ext cx="5486400" cy="1417320"/>
          </a:xfrm>
          <a:prstGeom prst="rect">
            <a:avLst/>
          </a:prstGeom>
          <a:solidFill>
            <a:srgbClr val="FDF6E3"/>
          </a:solidFill>
          <a:ln w="9525">
            <a:solidFill>
              <a:srgbClr val="EED98F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85800" y="4416552"/>
            <a:ext cx="52120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7A5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 60% 用户愿意体验上榜商家，77% 体验后愿意继续使用，但仅有 56% 用户能找到榜单，入口较深 ”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685800" y="543153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业务原声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6355080" y="4343400"/>
            <a:ext cx="5303520" cy="1417320"/>
          </a:xfrm>
          <a:prstGeom prst="rect">
            <a:avLst/>
          </a:prstGeom>
          <a:solidFill>
            <a:srgbClr val="FDF6E3"/>
          </a:solidFill>
          <a:ln w="9525">
            <a:solidFill>
              <a:srgbClr val="EED98F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492240" y="4416552"/>
            <a:ext cx="502920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7A5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 站内搜索“必吃榜”点评侧日均 UV 1W，是点评热门榜搜索量的一百倍；站外小红书搜索指数逐年增加 ”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6492240" y="54315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业务原声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54864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核心矛盾：优质门店无法上榜 + 上榜门店不够“优”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92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9264"/>
            <a:ext cx="12188952" cy="27432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56032"/>
            <a:ext cx="82296" cy="47548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19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· 竞品分析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457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各大平台榜单资产对比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B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565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榜单数据资产汇报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3112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C5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325880"/>
            <a:ext cx="26517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325880"/>
            <a:ext cx="64008" cy="393192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1325880"/>
            <a:ext cx="265176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3258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美团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20116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核心资产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31520" y="22585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交易履约行为 + UGC 评价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2807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核心榜单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31520" y="305409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人气榜 / 好评榜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36118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公信力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31520" y="3858768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牵引路径最直接（套代买），但上榜门槛低、门店质量参差，C 端公信力弱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10712" y="1325880"/>
            <a:ext cx="26517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10712" y="1325880"/>
            <a:ext cx="64008" cy="393192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2" name="Shape 20"/>
          <p:cNvSpPr/>
          <p:nvPr/>
        </p:nvSpPr>
        <p:spPr>
          <a:xfrm>
            <a:off x="3410712" y="1325880"/>
            <a:ext cx="265176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3410712" y="13258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点评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593592" y="20116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核心资产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593592" y="22585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UGC 评价 + 评价交易行为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93592" y="2807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核心榜单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593592" y="305409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必吃榜 / 热门榜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593592" y="36118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公信力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593592" y="3858768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行业标杆，评选规则严谨公正，公信力最强，第三方公证机构监督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72784" y="1325880"/>
            <a:ext cx="26517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72784" y="1325880"/>
            <a:ext cx="64008" cy="393192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2" name="Shape 30"/>
          <p:cNvSpPr/>
          <p:nvPr/>
        </p:nvSpPr>
        <p:spPr>
          <a:xfrm>
            <a:off x="6272784" y="1325880"/>
            <a:ext cx="265176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6272784" y="13258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抖音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455664" y="20116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核心资产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55664" y="22585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内容互动 + 达人矩阵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55664" y="2807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核心榜单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455664" y="305409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心动榜（人气/氛围/风味）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55664" y="36118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公信力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455664" y="3858768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强内容生态，商家权益最丰富（佣金至低 1% + 流量加权 30%），公信力较弱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134856" y="1325880"/>
            <a:ext cx="26517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134856" y="1325880"/>
            <a:ext cx="64008" cy="393192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2" name="Shape 40"/>
          <p:cNvSpPr/>
          <p:nvPr/>
        </p:nvSpPr>
        <p:spPr>
          <a:xfrm>
            <a:off x="9134856" y="1325880"/>
            <a:ext cx="265176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3" name="Text 41"/>
          <p:cNvSpPr/>
          <p:nvPr/>
        </p:nvSpPr>
        <p:spPr>
          <a:xfrm>
            <a:off x="9134856" y="13258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高德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9317736" y="20116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核心资产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9317736" y="22585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导航出行 + 地图信息库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317736" y="2807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核心榜单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9317736" y="305409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扫街榜（状元榜）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317736" y="36118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公信力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9317736" y="3858768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亿次导航真实行为数据 + 芝麻信用 + AI 风控，数据真实性高、公信力较强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48640" y="5486400"/>
            <a:ext cx="11091672" cy="777240"/>
          </a:xfrm>
          <a:prstGeom prst="rect">
            <a:avLst/>
          </a:prstGeom>
          <a:solidFill>
            <a:srgbClr val="141B3C"/>
          </a:solidFill>
          <a:ln/>
        </p:spPr>
      </p:sp>
      <p:sp>
        <p:nvSpPr>
          <p:cNvPr id="51" name="Text 49"/>
          <p:cNvSpPr/>
          <p:nvPr/>
        </p:nvSpPr>
        <p:spPr>
          <a:xfrm>
            <a:off x="777240" y="54864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5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必吃榜公信力最强 · 抖音商家权益最丰富 · 高德数据真实性最高 · 美团牵引路径最直接——美团榜单需补多维资产与公信力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92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9264"/>
            <a:ext cx="12188952" cy="27432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56032"/>
            <a:ext cx="82296" cy="47548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19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· 竞品分析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457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双平台核心资产不一致，覆盖率不足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B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565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榜单数据资产汇报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3112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C5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325880"/>
            <a:ext cx="26060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325880"/>
            <a:ext cx="64008" cy="12344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417320"/>
            <a:ext cx="22402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26.8%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31520" y="2041855"/>
            <a:ext cx="2240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套代买供给覆盖率（328 万家）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37560" y="1325880"/>
            <a:ext cx="26060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1325880"/>
            <a:ext cx="64008" cy="12344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6" name="Text 14"/>
          <p:cNvSpPr/>
          <p:nvPr/>
        </p:nvSpPr>
        <p:spPr>
          <a:xfrm>
            <a:off x="3520440" y="1417320"/>
            <a:ext cx="22402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520440" y="2041855"/>
            <a:ext cx="2240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评价覆盖率（503 万家有评价）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1325880"/>
            <a:ext cx="26060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325880"/>
            <a:ext cx="64008" cy="12344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1417320"/>
            <a:ext cx="22402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41.75% / 35.72%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309360" y="2041855"/>
            <a:ext cx="2240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星级覆盖率（美团 / 点评）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915400" y="1325880"/>
            <a:ext cx="272491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15400" y="1325880"/>
            <a:ext cx="64008" cy="12344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4" name="Text 22"/>
          <p:cNvSpPr/>
          <p:nvPr/>
        </p:nvSpPr>
        <p:spPr>
          <a:xfrm>
            <a:off x="9098280" y="1417320"/>
            <a:ext cx="235915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&lt;1%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9098280" y="2041855"/>
            <a:ext cx="2359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排队 / 智能点餐覆盖率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2880360"/>
            <a:ext cx="53949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2880360"/>
            <a:ext cx="64008" cy="13716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3017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双平台核心资产不一致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77240" y="3410712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前台品类、星级、门店收藏打卡各一套；门店信息、供给、评价等基础资产已打通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63640" y="2880360"/>
            <a:ext cx="53949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63640" y="2880360"/>
            <a:ext cx="64008" cy="13716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3017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美团榜单资产应用单一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492240" y="3410712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榜单指标集中在星级评分及交易；点评侧指标较复合，美团侧较单一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434840"/>
            <a:ext cx="53949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48640" y="4434840"/>
            <a:ext cx="64008" cy="13716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6" name="Text 34"/>
          <p:cNvSpPr/>
          <p:nvPr/>
        </p:nvSpPr>
        <p:spPr>
          <a:xfrm>
            <a:off x="777240" y="4572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刷好评 / 星级难维持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777240" y="4965192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评价和星级应用高频、对排序影响大，商户缺乏明确规则感知，不确定性高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263640" y="4434840"/>
            <a:ext cx="53949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63640" y="4434840"/>
            <a:ext cx="64008" cy="13716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0" name="Text 38"/>
          <p:cNvSpPr/>
          <p:nvPr/>
        </p:nvSpPr>
        <p:spPr>
          <a:xfrm>
            <a:off x="6492240" y="4572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资产覆盖率不足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6492240" y="4965192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核心资产覆盖与规模不足，直接限制榜单筛选空间与上榜质量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48640" y="60533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 统计周期截止 2025/09/30，覆盖率分母为 1223 万家营业中门店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92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9264"/>
            <a:ext cx="12188952" cy="27432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56032"/>
            <a:ext cx="82296" cy="47548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19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问题分析及关键举措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457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刷好评、星级难以维持、不确定性高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B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565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榜单数据资产汇报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3112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C5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325880"/>
            <a:ext cx="557784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325880"/>
            <a:ext cx="64008" cy="42062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4813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四大问题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7240" y="1956816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计算因子多、权重不清晰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234440" y="22402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评分分值/数量/时间/长度综合计算，权重与补救路径不透明，商家难以精准维护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77240" y="285292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852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34440" y="28163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恶意 / 虚假评价干扰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234440" y="313639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刷好评或恶意差评无法完全杜绝，直接影响评分公正性和可信度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77240" y="374904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749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34440" y="371246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美团星级统计门槛低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234440" y="403250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全部打星评价计入（含无字评价），简短好评易被批量操作，稀释真实口碑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77240" y="4645152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645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34440" y="460857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缺乏明确反馈与优化通道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234440" y="492861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商户难以获知哪些行为能有效提升星级，缺乏清晰指引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92240" y="1325880"/>
            <a:ext cx="516636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92240" y="1325880"/>
            <a:ext cx="64008" cy="4206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720840" y="14813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星级基础规则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720840" y="1920240"/>
            <a:ext cx="4709160" cy="1143000"/>
          </a:xfrm>
          <a:prstGeom prst="rect">
            <a:avLst/>
          </a:prstGeom>
          <a:solidFill>
            <a:srgbClr val="F0F4FE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0" y="201168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点评与美团星级体系各自独立，同店双平台星级无直接相关性</a:t>
            </a:r>
            <a:endParaRPr lang="en-US" sz="1000" dirty="0"/>
          </a:p>
          <a:p>
            <a:pPr marL="342900" indent="-342900">
              <a:buSzPct val="100000"/>
              <a:buChar char="▪"/>
            </a:pPr>
            <a:r>
              <a:rPr lang="en-US" sz="10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美团：统计双平台全部打星评价（有字+无字）；点评：仅计算点评发表的非折叠评价 + 折叠区≤15字真实评价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20840" y="32461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美团星级计算步骤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720840" y="3611880"/>
            <a:ext cx="141732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6720840" y="361188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商户、评论筛选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092440" y="361188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C5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348472" y="3611880"/>
            <a:ext cx="141732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9" name="Text 37"/>
          <p:cNvSpPr/>
          <p:nvPr/>
        </p:nvSpPr>
        <p:spPr>
          <a:xfrm>
            <a:off x="8348472" y="361188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评论权重计算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9720072" y="361188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C5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976104" y="3611880"/>
            <a:ext cx="141732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2" name="Text 40"/>
          <p:cNvSpPr/>
          <p:nvPr/>
        </p:nvSpPr>
        <p:spPr>
          <a:xfrm>
            <a:off x="9976104" y="361188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固定+动态阈值映射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720840" y="45720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计算因子：评价分值 · 评价数量 · 评价时间 · 评价长度 等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720840" y="4983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最终影响商户上榜资格及榜单排名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48640" y="5715000"/>
            <a:ext cx="11109960" cy="685800"/>
          </a:xfrm>
          <a:prstGeom prst="rect">
            <a:avLst/>
          </a:prstGeom>
          <a:solidFill>
            <a:srgbClr val="FDF6E3"/>
          </a:solidFill>
          <a:ln w="9525">
            <a:solidFill>
              <a:srgbClr val="EED98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5800" y="5788152"/>
            <a:ext cx="108356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7A5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 刷好评、星级很难维持、不确定性 —— 评分参考价值下降 ”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85800" y="6071616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业务原声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92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9264"/>
            <a:ext cx="12188952" cy="27432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56032"/>
            <a:ext cx="82296" cy="47548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19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· 问题分析及关键举措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457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核心资产未覆盖：评价与星级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B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565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榜单数据资产汇报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3112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C5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325880"/>
            <a:ext cx="35204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325880"/>
            <a:ext cx="64008" cy="13716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41732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74%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31520" y="212140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营业中门店评价数 &lt; 5 条，因评价数量不足无法上榜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51960" y="1325880"/>
            <a:ext cx="35204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51960" y="1325880"/>
            <a:ext cx="64008" cy="13716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6" name="Text 14"/>
          <p:cNvSpPr/>
          <p:nvPr/>
        </p:nvSpPr>
        <p:spPr>
          <a:xfrm>
            <a:off x="4434840" y="141732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434840" y="212140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 90 天新增评论 &gt; 0 的门店占比，新增不足难以上榜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955280" y="1325880"/>
            <a:ext cx="363931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955280" y="1325880"/>
            <a:ext cx="64008" cy="13716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0" name="Text 18"/>
          <p:cNvSpPr/>
          <p:nvPr/>
        </p:nvSpPr>
        <p:spPr>
          <a:xfrm>
            <a:off x="8138160" y="1417320"/>
            <a:ext cx="3273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分起步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138160" y="2121408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美团星级起始分即 3 分，星级对上榜门槛（≥3）无帮助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2971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全国门店评价分布（营业中 / 营业且交易在线）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3756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737360"/>
                <a:gridCol w="1737360"/>
                <a:gridCol w="1737360"/>
                <a:gridCol w="1737360"/>
                <a:gridCol w="176479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范围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门店数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无评论占比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评价渗透率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5≤评价数占比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10≤评价数占比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全国 · 营业中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12,233,409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58.7%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41.3%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25.9%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20.6%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高线城市 · 营业中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5,812,391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56.8%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43.2%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30.3%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25.1%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中低线 · 营业中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6,421,018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60.4%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39.6%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22.0%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16.5%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全国 · 交易在线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3,135,574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15.3%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84.7%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66.5%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57.5%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高线 · 交易在线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1,396,171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9.6%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90.4%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78.0%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70.7%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中低线 · 交易在线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1,739,403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19.9%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80.1%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57.2%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46.9%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548640" y="6080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门槛参考：人气榜星级≥3 · 好评榜≥4 · 热门/销量/打卡榜点评星级≥3.5 · 口味/服务榜≥4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92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9264"/>
            <a:ext cx="12188952" cy="27432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56032"/>
            <a:ext cx="82296" cy="47548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19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· 资产建设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457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品类资产：三套品类、链路复杂、双平台不一致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B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565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榜单数据资产汇报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3112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C5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325880"/>
            <a:ext cx="35661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325880"/>
            <a:ext cx="64008" cy="19202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2" name="Shape 10"/>
          <p:cNvSpPr/>
          <p:nvPr/>
        </p:nvSpPr>
        <p:spPr>
          <a:xfrm>
            <a:off x="749808" y="150876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150876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后台品类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9808" y="19659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服务商户品类理解，影响佣金费率及后续品类生产；PDC 维护（2015 年起迭代少），机审+人工审核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9808" y="286207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例：[主] 小吃快餐-小龙虾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43400" y="1325880"/>
            <a:ext cx="35661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43400" y="1325880"/>
            <a:ext cx="64008" cy="19202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8" name="Shape 16"/>
          <p:cNvSpPr/>
          <p:nvPr/>
        </p:nvSpPr>
        <p:spPr>
          <a:xfrm>
            <a:off x="4544568" y="150876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4544568" y="150876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经营品类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44568" y="19659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服务经营分析、竞争策略和资源投入；由后台品类重新归类映射得到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44568" y="286207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例：类标品-地方菜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138160" y="1325880"/>
            <a:ext cx="35661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38160" y="1325880"/>
            <a:ext cx="64008" cy="19202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4" name="Shape 22"/>
          <p:cNvSpPr/>
          <p:nvPr/>
        </p:nvSpPr>
        <p:spPr>
          <a:xfrm>
            <a:off x="8339328" y="150876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8339328" y="150876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前台品类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39328" y="19659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服务用户品类理解（筛选、榜单、搜索）；PDC 根据后台品类映射得到，C 端产品加工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39328" y="286207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例：[主] 鱼鲜海鲜-小龙虾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3474720"/>
            <a:ext cx="53949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3474720"/>
            <a:ext cx="64008" cy="2377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运营复杂度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77240" y="4023360"/>
            <a:ext cx="4983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影响业务多：三套品类各自应用场景，品类修改生效周期约 1 个月</a:t>
            </a:r>
            <a:endParaRPr lang="en-US" sz="10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双平台差异大：美团与点评前台类目各一套，修改需双侧同步输出</a:t>
            </a:r>
            <a:endParaRPr lang="en-US" sz="105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美团应用路径长：后台→前台多一层丛林服务，映射出错、更新不及时风险高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30936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双侧前台类目差异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3977640"/>
          <a:ext cx="534924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011680"/>
                <a:gridCol w="2103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点评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美团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类目数量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937 个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937 个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独有类目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独有 439 个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独有 765 个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类目结构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分城市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不分城市，含团购类目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前台类目已落地（PDC 推导）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前台类目未落地（丛林服务实时推导）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92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9264"/>
            <a:ext cx="12188952" cy="27432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56032"/>
            <a:ext cx="82296" cy="47548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19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· 资产建设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457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核心资产未覆盖：用户高搜需求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B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565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榜单数据资产汇报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3112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C5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554480"/>
                <a:gridCol w="1737360"/>
                <a:gridCol w="1371600"/>
                <a:gridCol w="1463040"/>
                <a:gridCol w="1188720"/>
                <a:gridCol w="2907792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Query 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搜索排名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搜索 QV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搜索 GTV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访购率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覆盖情况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品类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铁锅炖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全国 TOP 40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57,028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870,294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12.67%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平台未覆盖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品类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地锅鸡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全国 TOP 98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26,071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401,049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14.64%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平台未覆盖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品类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大闸蟹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全国 TOP 136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17,486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27,969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0.96%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榜单未覆盖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豆米火锅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贵阳 TOP 20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2,714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20,231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9.74%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平台未覆盖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模糊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美食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TOP 35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73,774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311,132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4.30%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承接弱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场景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早茶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TOP 120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20,911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89,944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4.19%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承接弱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节日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年夜饭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TOP 52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24,042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457,233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4.72%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WoW +259%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热点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长安的荔枝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TOP 292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32,156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152,109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8.57%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WoW +427%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4864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 统计周期 2025 年 1 月 - 6 月（大闸蟹为 2024 年 10 月）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4983480"/>
            <a:ext cx="35661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4983480"/>
            <a:ext cx="64008" cy="132588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4" name="Text 11"/>
          <p:cNvSpPr/>
          <p:nvPr/>
        </p:nvSpPr>
        <p:spPr>
          <a:xfrm>
            <a:off x="749808" y="50932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举措 1 · 美团榜单品类优化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49808" y="5458968"/>
            <a:ext cx="3182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高搜但榜单未覆盖的热门品类，在人气榜、好评榜中拆分成榜（大闸蟹、泰国菜、农家乐等）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343400" y="4983480"/>
            <a:ext cx="35661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343400" y="4983480"/>
            <a:ext cx="64008" cy="132588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8" name="Text 15"/>
          <p:cNvSpPr/>
          <p:nvPr/>
        </p:nvSpPr>
        <p:spPr>
          <a:xfrm>
            <a:off x="4544568" y="50932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举措 2 · 供给特色标签建设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544568" y="5458968"/>
            <a:ext cx="3182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高需但平台未覆盖的供给进行识别打标，增强召回精度（铁锅炖、烙锅等）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138160" y="4983480"/>
            <a:ext cx="35661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138160" y="4983480"/>
            <a:ext cx="64008" cy="132588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2" name="Text 19"/>
          <p:cNvSpPr/>
          <p:nvPr/>
        </p:nvSpPr>
        <p:spPr>
          <a:xfrm>
            <a:off x="8339328" y="50932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举措 3 · 大搜核心入口承接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8339328" y="5458968"/>
            <a:ext cx="3182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内容榜单承接节日热点、场景化、泛模糊需求（附近的美食、夜宵、年夜饭）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92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9264"/>
            <a:ext cx="12188952" cy="27432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56032"/>
            <a:ext cx="82296" cy="47548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19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· 资产建设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457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核心资产未覆盖：时令品类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B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565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榜单数据资产汇报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3112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C5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时令筛选规则：按 2024 年各月 GTV 占比，取极大值月 − 极小值月，极差 &gt; 5.5% 的品类（仅正餐）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1783080"/>
            <a:ext cx="21031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1783080"/>
            <a:ext cx="64008" cy="10515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8562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大闸蟹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85800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时令 9-12月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5800" y="24780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极差 16.39%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807208" y="1783080"/>
            <a:ext cx="21031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807208" y="1783080"/>
            <a:ext cx="64008" cy="10515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2944368" y="18562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小龙虾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944368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时令 4-7月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944368" y="24780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极差 13.66%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65776" y="1783080"/>
            <a:ext cx="21031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65776" y="1783080"/>
            <a:ext cx="64008" cy="10515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5202936" y="18562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菌菇火锅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202936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时令 7-8月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202936" y="24780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极差 10.52%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24344" y="1783080"/>
            <a:ext cx="21031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24344" y="1783080"/>
            <a:ext cx="64008" cy="105156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8" name="Text 26"/>
          <p:cNvSpPr/>
          <p:nvPr/>
        </p:nvSpPr>
        <p:spPr>
          <a:xfrm>
            <a:off x="7461504" y="18562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海鲜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461504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时令 7-8月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461504" y="24780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极差 6.91%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582912" y="1783080"/>
            <a:ext cx="21031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582912" y="1783080"/>
            <a:ext cx="64008" cy="105156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3" name="Text 31"/>
          <p:cNvSpPr/>
          <p:nvPr/>
        </p:nvSpPr>
        <p:spPr>
          <a:xfrm>
            <a:off x="9720072" y="18562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东北菜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720072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时令 1-3月/10-12月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720072" y="24780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极差 6.61%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3017520"/>
            <a:ext cx="21031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48640" y="3017520"/>
            <a:ext cx="64008" cy="105156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" y="30906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贵州菜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85800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时令 7-8月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85800" y="37124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极差 6.56%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807208" y="3017520"/>
            <a:ext cx="21031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807208" y="3017520"/>
            <a:ext cx="64008" cy="105156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3" name="Text 41"/>
          <p:cNvSpPr/>
          <p:nvPr/>
        </p:nvSpPr>
        <p:spPr>
          <a:xfrm>
            <a:off x="2944368" y="30906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豫菜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2944368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时令 1-3月/8月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944368" y="37124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极差 6.44%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065776" y="3017520"/>
            <a:ext cx="21031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065776" y="3017520"/>
            <a:ext cx="64008" cy="105156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8" name="Text 46"/>
          <p:cNvSpPr/>
          <p:nvPr/>
        </p:nvSpPr>
        <p:spPr>
          <a:xfrm>
            <a:off x="5202936" y="30906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闽菜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5202936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时令 10-12月/1-3月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202936" y="37124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极差 6.28%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324344" y="3017520"/>
            <a:ext cx="21031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324344" y="3017520"/>
            <a:ext cx="64008" cy="105156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53" name="Text 51"/>
          <p:cNvSpPr/>
          <p:nvPr/>
        </p:nvSpPr>
        <p:spPr>
          <a:xfrm>
            <a:off x="7461504" y="30906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江西菜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7461504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时令 1-3月/8月等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461504" y="37124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极差 6.10%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9582912" y="3017520"/>
            <a:ext cx="21031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9582912" y="3017520"/>
            <a:ext cx="64008" cy="105156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58" name="Text 56"/>
          <p:cNvSpPr/>
          <p:nvPr/>
        </p:nvSpPr>
        <p:spPr>
          <a:xfrm>
            <a:off x="9720072" y="30906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老北京火锅</a:t>
            </a:r>
            <a:endParaRPr lang="en-US" sz="1250" dirty="0"/>
          </a:p>
        </p:txBody>
      </p:sp>
      <p:sp>
        <p:nvSpPr>
          <p:cNvPr id="59" name="Text 57"/>
          <p:cNvSpPr/>
          <p:nvPr/>
        </p:nvSpPr>
        <p:spPr>
          <a:xfrm>
            <a:off x="9720072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时令 1-3月/10-12月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9720072" y="37124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极差 5.62%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48640" y="4434840"/>
            <a:ext cx="1109167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548640" y="4434840"/>
            <a:ext cx="64008" cy="169164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6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617720"/>
            <a:ext cx="365760" cy="365760"/>
          </a:xfrm>
          <a:prstGeom prst="rect">
            <a:avLst/>
          </a:prstGeom>
        </p:spPr>
      </p:pic>
      <p:sp>
        <p:nvSpPr>
          <p:cNvPr id="64" name="Text 61"/>
          <p:cNvSpPr/>
          <p:nvPr/>
        </p:nvSpPr>
        <p:spPr>
          <a:xfrm>
            <a:off x="1280160" y="4617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后续举措</a:t>
            </a:r>
            <a:endParaRPr lang="en-US" sz="1300" dirty="0"/>
          </a:p>
        </p:txBody>
      </p:sp>
      <p:sp>
        <p:nvSpPr>
          <p:cNvPr id="65" name="Text 62"/>
          <p:cNvSpPr/>
          <p:nvPr/>
        </p:nvSpPr>
        <p:spPr>
          <a:xfrm>
            <a:off x="1280160" y="502920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针对时令高热品类，提前进行时令榜单运营</a:t>
            </a:r>
            <a:endParaRPr lang="en-US" sz="11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联动 AI、数据挖掘团队，进行微博热搜、抖音热榜、小红书、各地文旅局热榜等站外美食热词定期预警</a:t>
            </a:r>
            <a:endParaRPr lang="en-US" sz="1150" dirty="0"/>
          </a:p>
        </p:txBody>
      </p:sp>
      <p:sp>
        <p:nvSpPr>
          <p:cNvPr id="66" name="Text 63"/>
          <p:cNvSpPr/>
          <p:nvPr/>
        </p:nvSpPr>
        <p:spPr>
          <a:xfrm>
            <a:off x="1280160" y="61447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美食热词：</a:t>
            </a:r>
            <a:endParaRPr lang="en-US" sz="1050" dirty="0"/>
          </a:p>
        </p:txBody>
      </p:sp>
      <p:sp>
        <p:nvSpPr>
          <p:cNvPr id="67" name="Shape 64"/>
          <p:cNvSpPr/>
          <p:nvPr/>
        </p:nvSpPr>
        <p:spPr>
          <a:xfrm>
            <a:off x="3063240" y="6144768"/>
            <a:ext cx="932688" cy="347472"/>
          </a:xfrm>
          <a:prstGeom prst="roundRect">
            <a:avLst>
              <a:gd name="adj" fmla="val 50000"/>
            </a:avLst>
          </a:prstGeom>
          <a:solidFill>
            <a:srgbClr val="F0F4FE"/>
          </a:solidFill>
          <a:ln/>
        </p:spPr>
      </p:sp>
      <p:sp>
        <p:nvSpPr>
          <p:cNvPr id="68" name="Text 65"/>
          <p:cNvSpPr/>
          <p:nvPr/>
        </p:nvSpPr>
        <p:spPr>
          <a:xfrm>
            <a:off x="3063240" y="6144768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地摊火锅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4133088" y="6144768"/>
            <a:ext cx="768096" cy="347472"/>
          </a:xfrm>
          <a:prstGeom prst="roundRect">
            <a:avLst>
              <a:gd name="adj" fmla="val 50000"/>
            </a:avLst>
          </a:prstGeom>
          <a:solidFill>
            <a:srgbClr val="F0F4FE"/>
          </a:solidFill>
          <a:ln/>
        </p:spPr>
      </p:sp>
      <p:sp>
        <p:nvSpPr>
          <p:cNvPr id="70" name="Text 67"/>
          <p:cNvSpPr/>
          <p:nvPr/>
        </p:nvSpPr>
        <p:spPr>
          <a:xfrm>
            <a:off x="4133088" y="6144768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鸡排哥</a:t>
            </a:r>
            <a:endParaRPr lang="en-US" sz="1000" dirty="0"/>
          </a:p>
        </p:txBody>
      </p:sp>
      <p:sp>
        <p:nvSpPr>
          <p:cNvPr id="71" name="Shape 68"/>
          <p:cNvSpPr/>
          <p:nvPr/>
        </p:nvSpPr>
        <p:spPr>
          <a:xfrm>
            <a:off x="5038344" y="6144768"/>
            <a:ext cx="768096" cy="347472"/>
          </a:xfrm>
          <a:prstGeom prst="roundRect">
            <a:avLst>
              <a:gd name="adj" fmla="val 50000"/>
            </a:avLst>
          </a:prstGeom>
          <a:solidFill>
            <a:srgbClr val="F0F4FE"/>
          </a:solidFill>
          <a:ln/>
        </p:spPr>
      </p:sp>
      <p:sp>
        <p:nvSpPr>
          <p:cNvPr id="72" name="Text 69"/>
          <p:cNvSpPr/>
          <p:nvPr/>
        </p:nvSpPr>
        <p:spPr>
          <a:xfrm>
            <a:off x="5038344" y="6144768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干蒸菜</a:t>
            </a:r>
            <a:endParaRPr lang="en-US" sz="1000" dirty="0"/>
          </a:p>
        </p:txBody>
      </p:sp>
      <p:sp>
        <p:nvSpPr>
          <p:cNvPr id="73" name="Shape 70"/>
          <p:cNvSpPr/>
          <p:nvPr/>
        </p:nvSpPr>
        <p:spPr>
          <a:xfrm>
            <a:off x="5943600" y="6144768"/>
            <a:ext cx="932688" cy="347472"/>
          </a:xfrm>
          <a:prstGeom prst="roundRect">
            <a:avLst>
              <a:gd name="adj" fmla="val 50000"/>
            </a:avLst>
          </a:prstGeom>
          <a:solidFill>
            <a:srgbClr val="F0F4FE"/>
          </a:solidFill>
          <a:ln/>
        </p:spPr>
      </p:sp>
      <p:sp>
        <p:nvSpPr>
          <p:cNvPr id="74" name="Text 71"/>
          <p:cNvSpPr/>
          <p:nvPr/>
        </p:nvSpPr>
        <p:spPr>
          <a:xfrm>
            <a:off x="5943600" y="6144768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贵州酸汤</a:t>
            </a:r>
            <a:endParaRPr lang="en-US" sz="1000" dirty="0"/>
          </a:p>
        </p:txBody>
      </p:sp>
      <p:sp>
        <p:nvSpPr>
          <p:cNvPr id="75" name="Shape 72"/>
          <p:cNvSpPr/>
          <p:nvPr/>
        </p:nvSpPr>
        <p:spPr>
          <a:xfrm>
            <a:off x="7013448" y="6144768"/>
            <a:ext cx="768096" cy="347472"/>
          </a:xfrm>
          <a:prstGeom prst="roundRect">
            <a:avLst>
              <a:gd name="adj" fmla="val 50000"/>
            </a:avLst>
          </a:prstGeom>
          <a:solidFill>
            <a:srgbClr val="F0F4FE"/>
          </a:solidFill>
          <a:ln/>
        </p:spPr>
      </p:sp>
      <p:sp>
        <p:nvSpPr>
          <p:cNvPr id="76" name="Text 73"/>
          <p:cNvSpPr/>
          <p:nvPr/>
        </p:nvSpPr>
        <p:spPr>
          <a:xfrm>
            <a:off x="7013448" y="6144768"/>
            <a:ext cx="76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水火锅</a:t>
            </a:r>
            <a:endParaRPr lang="en-US" sz="1000" dirty="0"/>
          </a:p>
        </p:txBody>
      </p:sp>
      <p:sp>
        <p:nvSpPr>
          <p:cNvPr id="77" name="Shape 74"/>
          <p:cNvSpPr/>
          <p:nvPr/>
        </p:nvSpPr>
        <p:spPr>
          <a:xfrm>
            <a:off x="7918704" y="6144768"/>
            <a:ext cx="932688" cy="347472"/>
          </a:xfrm>
          <a:prstGeom prst="roundRect">
            <a:avLst>
              <a:gd name="adj" fmla="val 50000"/>
            </a:avLst>
          </a:prstGeom>
          <a:solidFill>
            <a:srgbClr val="F0F4FE"/>
          </a:solidFill>
          <a:ln/>
        </p:spPr>
      </p:sp>
      <p:sp>
        <p:nvSpPr>
          <p:cNvPr id="78" name="Text 75"/>
          <p:cNvSpPr/>
          <p:nvPr/>
        </p:nvSpPr>
        <p:spPr>
          <a:xfrm>
            <a:off x="7918704" y="6144768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荔枝排骨</a:t>
            </a:r>
            <a:endParaRPr lang="en-US" sz="1000" dirty="0"/>
          </a:p>
        </p:txBody>
      </p:sp>
      <p:sp>
        <p:nvSpPr>
          <p:cNvPr id="79" name="Shape 76"/>
          <p:cNvSpPr/>
          <p:nvPr/>
        </p:nvSpPr>
        <p:spPr>
          <a:xfrm>
            <a:off x="8988552" y="6144768"/>
            <a:ext cx="603504" cy="347472"/>
          </a:xfrm>
          <a:prstGeom prst="roundRect">
            <a:avLst>
              <a:gd name="adj" fmla="val 50000"/>
            </a:avLst>
          </a:prstGeom>
          <a:solidFill>
            <a:srgbClr val="F0F4FE"/>
          </a:solidFill>
          <a:ln/>
        </p:spPr>
      </p:sp>
      <p:sp>
        <p:nvSpPr>
          <p:cNvPr id="80" name="Text 77"/>
          <p:cNvSpPr/>
          <p:nvPr/>
        </p:nvSpPr>
        <p:spPr>
          <a:xfrm>
            <a:off x="8988552" y="6144768"/>
            <a:ext cx="603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鸡煲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92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9264"/>
            <a:ext cx="12188952" cy="27432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56032"/>
            <a:ext cx="82296" cy="47548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19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· 资产建设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457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核心资产未覆盖：榜单场景心智缺失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B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565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榜单数据资产汇报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3112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C5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91840"/>
                <a:gridCol w="2834640"/>
                <a:gridCol w="295351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覆盖范围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上榜商户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 端数据（日均）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点评主题榜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759 城 × 140 主题，日更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9.8 万（占 1.16%）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万 UV · 支付 UV 80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点评当地人推荐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419 城，日更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 万（占 0.94%）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 万 UV · 支付 UV 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美团当地人推荐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410 城，日更，收录满 3 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4.6 万（占 0.47%）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万 UV · 支付 UV 250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美食发现 Tab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 主题 × 118 城，AI 总结，半年更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北上每城约 2500 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万 UV · 支付 UV 30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48640" y="39776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双侧均有满足场景需求的榜单和主题，但城市覆盖、商户覆盖及用户渗透率均未达到可对标必吃榜和人气榜的效果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5029200"/>
            <a:ext cx="11091672" cy="1051560"/>
          </a:xfrm>
          <a:prstGeom prst="rect">
            <a:avLst/>
          </a:prstGeom>
          <a:solidFill>
            <a:srgbClr val="141B3C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502920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方向：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加强场景榜覆盖提升 + 用户心智教育，向必吃榜 / 人气榜的对标水平看齐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92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9264"/>
            <a:ext cx="12188952" cy="27432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56032"/>
            <a:ext cx="82296" cy="47548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19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· 资产建设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457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核心资产未覆盖：榜单城市覆盖问题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B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565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榜单数据资产汇报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3112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C5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55778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60120"/>
                <a:gridCol w="1051560"/>
                <a:gridCol w="91440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城市规模（门店数）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城市数量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必吃榜覆盖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覆盖率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未覆盖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 万以上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3-10 万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98%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2-3 万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67%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1-2 万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38%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5k-1 万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28%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3k-5k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1k-3k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522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46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476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500-1k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181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小于 500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总计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1,190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237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20%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446520" y="1325880"/>
            <a:ext cx="521208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46520" y="1325880"/>
            <a:ext cx="64008" cy="21031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0"/>
          <p:cNvSpPr/>
          <p:nvPr/>
        </p:nvSpPr>
        <p:spPr>
          <a:xfrm>
            <a:off x="667512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675120" y="18745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必吃榜覆盖 237 城，总覆盖率仅 20%</a:t>
            </a:r>
            <a:endParaRPr lang="en-US" sz="11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主要覆盖中高线城市，中低线覆盖不足</a:t>
            </a:r>
            <a:endParaRPr lang="en-US" sz="11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1k-3k 门店城市数量最多（522 个），覆盖率仅 9%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46520" y="3611880"/>
            <a:ext cx="521208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46520" y="3611880"/>
            <a:ext cx="64008" cy="26060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7" name="Text 14"/>
          <p:cNvSpPr/>
          <p:nvPr/>
        </p:nvSpPr>
        <p:spPr>
          <a:xfrm>
            <a:off x="6675120" y="37490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建议：补充高 UV 30 城（对标 D+ 心动榜 / 高德状元榜）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675120" y="4224528"/>
            <a:ext cx="2414016" cy="329184"/>
          </a:xfrm>
          <a:prstGeom prst="roundRect">
            <a:avLst>
              <a:gd name="adj" fmla="val 50000"/>
            </a:avLst>
          </a:prstGeom>
          <a:solidFill>
            <a:srgbClr val="F0F4FE"/>
          </a:solidFill>
          <a:ln/>
        </p:spPr>
      </p:sp>
      <p:sp>
        <p:nvSpPr>
          <p:cNvPr id="19" name="Text 16"/>
          <p:cNvSpPr/>
          <p:nvPr/>
        </p:nvSpPr>
        <p:spPr>
          <a:xfrm>
            <a:off x="6675120" y="4224528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济宁 3.1万店 · 758万GTV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9198864" y="4224528"/>
            <a:ext cx="1225296" cy="329184"/>
          </a:xfrm>
          <a:prstGeom prst="roundRect">
            <a:avLst>
              <a:gd name="adj" fmla="val 50000"/>
            </a:avLst>
          </a:prstGeom>
          <a:solidFill>
            <a:srgbClr val="F0F4FE"/>
          </a:solidFill>
          <a:ln/>
        </p:spPr>
      </p:sp>
      <p:sp>
        <p:nvSpPr>
          <p:cNvPr id="21" name="Text 18"/>
          <p:cNvSpPr/>
          <p:nvPr/>
        </p:nvSpPr>
        <p:spPr>
          <a:xfrm>
            <a:off x="9198864" y="4224528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赣州 2.9万店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675120" y="4645152"/>
            <a:ext cx="1225296" cy="329184"/>
          </a:xfrm>
          <a:prstGeom prst="roundRect">
            <a:avLst>
              <a:gd name="adj" fmla="val 50000"/>
            </a:avLst>
          </a:prstGeom>
          <a:solidFill>
            <a:srgbClr val="F0F4FE"/>
          </a:solidFill>
          <a:ln/>
        </p:spPr>
      </p:sp>
      <p:sp>
        <p:nvSpPr>
          <p:cNvPr id="23" name="Text 20"/>
          <p:cNvSpPr/>
          <p:nvPr/>
        </p:nvSpPr>
        <p:spPr>
          <a:xfrm>
            <a:off x="6675120" y="4645152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南阳 2.7万店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010144" y="4645152"/>
            <a:ext cx="1225296" cy="329184"/>
          </a:xfrm>
          <a:prstGeom prst="roundRect">
            <a:avLst>
              <a:gd name="adj" fmla="val 50000"/>
            </a:avLst>
          </a:prstGeom>
          <a:solidFill>
            <a:srgbClr val="F0F4FE"/>
          </a:solidFill>
          <a:ln/>
        </p:spPr>
      </p:sp>
      <p:sp>
        <p:nvSpPr>
          <p:cNvPr id="25" name="Text 22"/>
          <p:cNvSpPr/>
          <p:nvPr/>
        </p:nvSpPr>
        <p:spPr>
          <a:xfrm>
            <a:off x="8010144" y="4645152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邯郸 2.6万店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9345168" y="4645152"/>
            <a:ext cx="1225296" cy="329184"/>
          </a:xfrm>
          <a:prstGeom prst="roundRect">
            <a:avLst>
              <a:gd name="adj" fmla="val 50000"/>
            </a:avLst>
          </a:prstGeom>
          <a:solidFill>
            <a:srgbClr val="F0F4FE"/>
          </a:solidFill>
          <a:ln/>
        </p:spPr>
      </p:sp>
      <p:sp>
        <p:nvSpPr>
          <p:cNvPr id="27" name="Text 24"/>
          <p:cNvSpPr/>
          <p:nvPr/>
        </p:nvSpPr>
        <p:spPr>
          <a:xfrm>
            <a:off x="9345168" y="4645152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菏泽 2.5万店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675120" y="5065776"/>
            <a:ext cx="1225296" cy="329184"/>
          </a:xfrm>
          <a:prstGeom prst="roundRect">
            <a:avLst>
              <a:gd name="adj" fmla="val 50000"/>
            </a:avLst>
          </a:prstGeom>
          <a:solidFill>
            <a:srgbClr val="F0F4FE"/>
          </a:solidFill>
          <a:ln/>
        </p:spPr>
      </p:sp>
      <p:sp>
        <p:nvSpPr>
          <p:cNvPr id="29" name="Text 26"/>
          <p:cNvSpPr/>
          <p:nvPr/>
        </p:nvSpPr>
        <p:spPr>
          <a:xfrm>
            <a:off x="6675120" y="5065776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周口 2.4万店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010144" y="5065776"/>
            <a:ext cx="1225296" cy="329184"/>
          </a:xfrm>
          <a:prstGeom prst="roundRect">
            <a:avLst>
              <a:gd name="adj" fmla="val 50000"/>
            </a:avLst>
          </a:prstGeom>
          <a:solidFill>
            <a:srgbClr val="F0F4FE"/>
          </a:solidFill>
          <a:ln/>
        </p:spPr>
      </p:sp>
      <p:sp>
        <p:nvSpPr>
          <p:cNvPr id="31" name="Text 28"/>
          <p:cNvSpPr/>
          <p:nvPr/>
        </p:nvSpPr>
        <p:spPr>
          <a:xfrm>
            <a:off x="8010144" y="5065776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阜阳 2.4万店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9345168" y="5065776"/>
            <a:ext cx="1225296" cy="329184"/>
          </a:xfrm>
          <a:prstGeom prst="roundRect">
            <a:avLst>
              <a:gd name="adj" fmla="val 50000"/>
            </a:avLst>
          </a:prstGeom>
          <a:solidFill>
            <a:srgbClr val="F0F4FE"/>
          </a:solidFill>
          <a:ln/>
        </p:spPr>
      </p:sp>
      <p:sp>
        <p:nvSpPr>
          <p:cNvPr id="33" name="Text 30"/>
          <p:cNvSpPr/>
          <p:nvPr/>
        </p:nvSpPr>
        <p:spPr>
          <a:xfrm>
            <a:off x="9345168" y="5065776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商丘 2.3万店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675120" y="5486400"/>
            <a:ext cx="1225296" cy="329184"/>
          </a:xfrm>
          <a:prstGeom prst="roundRect">
            <a:avLst>
              <a:gd name="adj" fmla="val 50000"/>
            </a:avLst>
          </a:prstGeom>
          <a:solidFill>
            <a:srgbClr val="F0F4FE"/>
          </a:solidFill>
          <a:ln/>
        </p:spPr>
      </p:sp>
      <p:sp>
        <p:nvSpPr>
          <p:cNvPr id="35" name="Text 32"/>
          <p:cNvSpPr/>
          <p:nvPr/>
        </p:nvSpPr>
        <p:spPr>
          <a:xfrm>
            <a:off x="6675120" y="5486400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沧州 2.2万店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675120" y="58521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必吃榜上榜城市中位数：门店 9,276 · 日均 GTV 328 万 · 日均 UV 214 万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 例：济宁门店超 3 万家，必吃榜未覆盖，而 D+ 心动榜与高德扫街榜均已覆盖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92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9264"/>
            <a:ext cx="12188952" cy="27432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56032"/>
            <a:ext cx="82296" cy="47548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19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· 资产建设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457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榜单商圈覆盖问题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B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565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榜单数据资产汇报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3112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C5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280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全国商圈覆盖率（全国 23,881 个商圈）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1737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美团人气榜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03120" y="1755648"/>
            <a:ext cx="4206240" cy="274320"/>
          </a:xfrm>
          <a:prstGeom prst="rect">
            <a:avLst/>
          </a:prstGeom>
          <a:solidFill>
            <a:srgbClr val="E4EAF5"/>
          </a:solidFill>
          <a:ln/>
        </p:spPr>
      </p:sp>
      <p:sp>
        <p:nvSpPr>
          <p:cNvPr id="13" name="Shape 11"/>
          <p:cNvSpPr/>
          <p:nvPr/>
        </p:nvSpPr>
        <p:spPr>
          <a:xfrm>
            <a:off x="2103120" y="1755648"/>
            <a:ext cx="3533242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1737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84%  20,101 / 23,881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2423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美团好评榜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03120" y="2441448"/>
            <a:ext cx="4206240" cy="274320"/>
          </a:xfrm>
          <a:prstGeom prst="rect">
            <a:avLst/>
          </a:prstGeom>
          <a:solidFill>
            <a:srgbClr val="E4EAF5"/>
          </a:solidFill>
          <a:ln/>
        </p:spPr>
      </p:sp>
      <p:sp>
        <p:nvSpPr>
          <p:cNvPr id="17" name="Shape 15"/>
          <p:cNvSpPr/>
          <p:nvPr/>
        </p:nvSpPr>
        <p:spPr>
          <a:xfrm>
            <a:off x="2103120" y="2441448"/>
            <a:ext cx="2944368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24231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70%  16,820 / 23,881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3108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必吃榜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03120" y="3127248"/>
            <a:ext cx="4206240" cy="274320"/>
          </a:xfrm>
          <a:prstGeom prst="rect">
            <a:avLst/>
          </a:prstGeom>
          <a:solidFill>
            <a:srgbClr val="E4EAF5"/>
          </a:solidFill>
          <a:ln/>
        </p:spPr>
      </p:sp>
      <p:sp>
        <p:nvSpPr>
          <p:cNvPr id="21" name="Shape 19"/>
          <p:cNvSpPr/>
          <p:nvPr/>
        </p:nvSpPr>
        <p:spPr>
          <a:xfrm>
            <a:off x="2103120" y="3127248"/>
            <a:ext cx="294437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3108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7%  1,627 / 23,881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典型空白商圈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315968"/>
            <a:ext cx="539496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4315968"/>
            <a:ext cx="64008" cy="896112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4389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崇礼滑雪（5000+ 店）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49808" y="473659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三大滑雪热门区均无榜单门店；点评热门榜已覆盖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63640" y="4315968"/>
            <a:ext cx="539496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63640" y="4315968"/>
            <a:ext cx="64008" cy="896112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0" name="Text 28"/>
          <p:cNvSpPr/>
          <p:nvPr/>
        </p:nvSpPr>
        <p:spPr>
          <a:xfrm>
            <a:off x="6464808" y="4389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承德丰宁坝上草原（500+ 店）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464808" y="473659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美团无商圈榜单；点评多个数据榜已覆盖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8640" y="5367528"/>
            <a:ext cx="539496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8640" y="5367528"/>
            <a:ext cx="64008" cy="896112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4" name="Text 32"/>
          <p:cNvSpPr/>
          <p:nvPr/>
        </p:nvSpPr>
        <p:spPr>
          <a:xfrm>
            <a:off x="749808" y="5440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深圳沙井（13,232 家）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49808" y="578815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未覆盖优质商圈，门店供给充足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63640" y="5367528"/>
            <a:ext cx="539496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63640" y="5367528"/>
            <a:ext cx="64008" cy="896112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8" name="Text 36"/>
          <p:cNvSpPr/>
          <p:nvPr/>
        </p:nvSpPr>
        <p:spPr>
          <a:xfrm>
            <a:off x="6464808" y="5440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佛山里水（12,031 家）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464808" y="578815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未覆盖优质商圈，门店供给充足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589520" y="1737360"/>
            <a:ext cx="4069080" cy="1828800"/>
          </a:xfrm>
          <a:prstGeom prst="rect">
            <a:avLst/>
          </a:prstGeom>
          <a:solidFill>
            <a:srgbClr val="141B3C"/>
          </a:solidFill>
          <a:ln/>
        </p:spPr>
      </p:sp>
      <p:sp>
        <p:nvSpPr>
          <p:cNvPr id="41" name="Text 39"/>
          <p:cNvSpPr/>
          <p:nvPr/>
        </p:nvSpPr>
        <p:spPr>
          <a:xfrm>
            <a:off x="7818120" y="1874520"/>
            <a:ext cx="3657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5C5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
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美团人气榜：商圈热度成榜补齐流量空白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必吃榜：从「覆盖城市 × 商圈」补齐覆盖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点评数据榜：基于流量角度成榜，覆盖更全面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92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9264"/>
            <a:ext cx="12188952" cy="27432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56032"/>
            <a:ext cx="82296" cy="47548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19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 · 榜单规则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457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榜单规则现状问题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B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565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榜单数据资产汇报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3112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C5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美团榜单以销量或评价为主：单一资产牵引力强，但存在公信力弱的问题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1783080"/>
            <a:ext cx="11091672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1783080"/>
            <a:ext cx="64008" cy="129844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216712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167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5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19202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引用资产较单一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480560" y="192024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主要依赖核销量、星级评价，缺乏 UGC 内容、流量等多维数据支持，导致热门门店缺失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89720" y="1920240"/>
            <a:ext cx="2240280" cy="1005840"/>
          </a:xfrm>
          <a:prstGeom prst="rect">
            <a:avLst/>
          </a:prstGeom>
          <a:solidFill>
            <a:srgbClr val="F0F4FE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0" y="1984248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举措：建设综合资产榜单（交易 + 评价 + 信息 + 服务）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264408"/>
            <a:ext cx="11091672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264408"/>
            <a:ext cx="64008" cy="129844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364845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648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5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08760" y="3401568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上榜门槛宽松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480560" y="3401568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过多商家上榜，较大比例压线（周销量 10）上榜，降低稀缺性和权威性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189720" y="3401568"/>
            <a:ext cx="2240280" cy="1005840"/>
          </a:xfrm>
          <a:prstGeom prst="rect">
            <a:avLst/>
          </a:prstGeom>
          <a:solidFill>
            <a:srgbClr val="F0F4FE"/>
          </a:solidFill>
          <a:ln/>
        </p:spPr>
      </p:sp>
      <p:sp>
        <p:nvSpPr>
          <p:cNvPr id="26" name="Text 24"/>
          <p:cNvSpPr/>
          <p:nvPr/>
        </p:nvSpPr>
        <p:spPr>
          <a:xfrm>
            <a:off x="9326880" y="346557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举措：优先确保上榜含金量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745736"/>
            <a:ext cx="11091672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" y="4745736"/>
            <a:ext cx="64008" cy="129844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9" name="Shape 27"/>
          <p:cNvSpPr/>
          <p:nvPr/>
        </p:nvSpPr>
        <p:spPr>
          <a:xfrm>
            <a:off x="777240" y="512978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5129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5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508760" y="4882896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价格带未细分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4480560" y="4882896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海鲜、日料、烤鸭等品类高低客单价同榜，有失公允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189720" y="4882896"/>
            <a:ext cx="2240280" cy="1005840"/>
          </a:xfrm>
          <a:prstGeom prst="rect">
            <a:avLst/>
          </a:prstGeom>
          <a:solidFill>
            <a:srgbClr val="F0F4FE"/>
          </a:solidFill>
          <a:ln/>
        </p:spPr>
      </p:sp>
      <p:sp>
        <p:nvSpPr>
          <p:cNvPr id="34" name="Text 32"/>
          <p:cNvSpPr/>
          <p:nvPr/>
        </p:nvSpPr>
        <p:spPr>
          <a:xfrm>
            <a:off x="9326880" y="4946904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举措：按价格带拆分更细分的榜单维度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92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9264"/>
            <a:ext cx="12188952" cy="27432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56032"/>
            <a:ext cx="82296" cy="47548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19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 · 榜单规则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457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规则问题：资产单一导致核心商户未上榜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B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565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榜单数据资产汇报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3112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C5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325880"/>
            <a:ext cx="11091672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325880"/>
            <a:ext cx="64008" cy="93268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1325880"/>
            <a:ext cx="1234440" cy="9326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325880"/>
            <a:ext cx="1234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5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头部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965960" y="1399032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3w+ 家门店 · 月均 GTV 40 万　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门店 1% / GTV 35%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必吃榜 661 家（2.2%）· 人气榜 23,881（79%）· 好评榜 29,269（97%）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缺失 6,176 家，GTV 贡献 6%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404872"/>
            <a:ext cx="11091672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2404872"/>
            <a:ext cx="64008" cy="93268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2404872"/>
            <a:ext cx="1234440" cy="9326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404872"/>
            <a:ext cx="1234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5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颈部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965960" y="2478024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12w+ 家门店 · 月均 GTV 10 万　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门店 4% / GTV 35%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必吃榜 1,505（35%）· 人气榜 111,262（62%）· 好评榜 82,184（46%）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缺失 119,613 家，GTV 贡献 34%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483864"/>
            <a:ext cx="11091672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483864"/>
            <a:ext cx="64008" cy="93268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3483864"/>
            <a:ext cx="1234440" cy="9326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483864"/>
            <a:ext cx="1234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5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腰部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965960" y="3557016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30w+ 家门店 · 月均 GTV 2.3 万　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门店 8% / GTV 10%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必吃榜 394（0.1%）· 人气榜 223,901（74%）· 好评榜 118,623（39%）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缺失 300,562 家，GTV 贡献 20%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562856"/>
            <a:ext cx="11091672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4562856"/>
            <a:ext cx="64008" cy="93268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4562856"/>
            <a:ext cx="1234440" cy="9326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562856"/>
            <a:ext cx="1234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5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尾部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965960" y="4636008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315w+ 家门店　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门店 88% / GTV 10%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内含 1w+ 高 UV 低 GTV 门店，套餐质量低、转化率低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优化套餐质量有收益空间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5742432"/>
            <a:ext cx="11091672" cy="640080"/>
          </a:xfrm>
          <a:prstGeom prst="rect">
            <a:avLst/>
          </a:prstGeom>
          <a:solidFill>
            <a:srgbClr val="141B3C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7424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5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机会门店三类：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合作且高 GTV　② 未合作且高 UV（5w+ 家中仅 742 家上榜必吃榜）　③ 合作且高 UV 低 GTV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92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9264"/>
            <a:ext cx="12188952" cy="27432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56032"/>
            <a:ext cx="82296" cy="47548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19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 · 榜单规则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457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规则问题：未上榜门店的机会探究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B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565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榜单数据资产汇报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3112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C5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834640"/>
                <a:gridCol w="1097280"/>
                <a:gridCol w="1691640"/>
                <a:gridCol w="4005072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问题类型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店名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月均 UV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合作情况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榜单牵引思路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高UV+高GTV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御将军海鲜自助（徐州）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3.0 万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美团合作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排查榜单门店空缺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高UV+未合作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胡麻（上海静安嘉里）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15.1 万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未合作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价值证明，数据诊断报告 + 流量孵化实验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高UV+未合作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笨罗卜浏阳菜馆（长沙）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14.6 万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未合作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竞争施压，“品类造星”计划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高UV+未合作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凤临阁（大同）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12.3 万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未合作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榜单商家俱乐部、主厨峰会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高UV+未合作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浩海火烧云傣家菜（北京）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9.2 万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未合作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资源置换，榜单+履约产品提效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高UV+低GTV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清平饭店·广州第一鸡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6.2 万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 2 个套餐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补充更多高销套餐，beat 竞对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高UV+低GTV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北京大槐树烤肉馆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7.5 万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仅买单满减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完善套餐达成上榜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高UV+低GTV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阿元来了（上海）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5.8 万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仅青岛啤酒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补充核心菜品套餐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高UV+低GTV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Mercadito 166（港汇恒隆）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4.0 万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单一套餐销量差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补充更多高销套餐，beat 竞对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结合商户结构、供给问题、品牌等综合考虑与榜单联动的牵引思路；高 UV 未上榜门店为榜单核心增量机会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92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9264"/>
            <a:ext cx="12188952" cy="27432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56032"/>
            <a:ext cx="82296" cy="47548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19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 · 榜单规则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457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规则问题：上榜门店价格带偏低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B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565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榜单数据资产汇报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3112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C5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48640" y="132588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7818120" y="1325880"/>
            <a:ext cx="384048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818120" y="1325880"/>
            <a:ext cx="64008" cy="21031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0"/>
          <p:cNvSpPr/>
          <p:nvPr/>
        </p:nvSpPr>
        <p:spPr>
          <a:xfrm>
            <a:off x="8046720" y="14630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046720" y="1847088"/>
            <a:ext cx="3429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美团榜单为三平台中客单价最低</a:t>
            </a:r>
            <a:endParaRPr lang="en-US" sz="10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100-500 元区间榜单暂时空白（D+ 有心动榜平价 + 甄选榜品质）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818120" y="3611880"/>
            <a:ext cx="38404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818120" y="3611880"/>
            <a:ext cx="64008" cy="19202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7" name="Text 14"/>
          <p:cNvSpPr/>
          <p:nvPr/>
        </p:nvSpPr>
        <p:spPr>
          <a:xfrm>
            <a:off x="8046720" y="37490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关键举措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046720" y="4133088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 100-300、200-500 价格区间榜单</a:t>
            </a:r>
            <a:endParaRPr lang="en-US" sz="105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价格带离散品类拆分更细榜单维度，保证赛道公允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48640" y="5760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 部分共有城市上榜门店平均客单价对比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92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9264"/>
            <a:ext cx="12188952" cy="27432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56032"/>
            <a:ext cx="82296" cy="47548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19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 · 榜单规则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457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业务和榜单之间应加强互动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B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565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榜单数据资产汇报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3112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C5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371600"/>
            <a:ext cx="35661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371600"/>
            <a:ext cx="64008" cy="32918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1371600"/>
            <a:ext cx="356616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4447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加强对外合作 cross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3152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 流量指标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77240" y="2331720"/>
            <a:ext cx="3108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将榜单作为优质门店筛选器，与到餐外业务合作输出优质供给，提升转化效率，实现共赢（大搜、猜喜、会员、营销活动等多触点）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43400" y="1371600"/>
            <a:ext cx="35661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43400" y="1371600"/>
            <a:ext cx="64008" cy="32918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8" name="Shape 16"/>
          <p:cNvSpPr/>
          <p:nvPr/>
        </p:nvSpPr>
        <p:spPr>
          <a:xfrm>
            <a:off x="4343400" y="1371600"/>
            <a:ext cx="356616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4526280" y="14447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加强对内规则互通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2628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 产品基建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0" y="2331720"/>
            <a:ext cx="3108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面对产运、下沉等业务带来的规则调整（如 3 单变 1 单），建立定期沟通机制：上线通报群尽早介入 → 评估规则影响 → 跟进效果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138160" y="1371600"/>
            <a:ext cx="35661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38160" y="1371600"/>
            <a:ext cx="64008" cy="32918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4" name="Shape 22"/>
          <p:cNvSpPr/>
          <p:nvPr/>
        </p:nvSpPr>
        <p:spPr>
          <a:xfrm>
            <a:off x="8138160" y="1371600"/>
            <a:ext cx="356616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8321040" y="14447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加强商户榜单指导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32104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 核心商户覆盖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366760" y="2331720"/>
            <a:ext cx="3108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建立榜单→销运→销售→商户的培训 SOP；给出不同门店的冲榜诊断（当前优势 / 竞店情况 / 有利上榜情况），最终在经营宝落地商户工具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937760"/>
            <a:ext cx="1109167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4937760"/>
            <a:ext cx="64008" cy="1234440"/>
          </a:xfrm>
          <a:prstGeom prst="rect">
            <a:avLst/>
          </a:prstGeom>
          <a:solidFill>
            <a:srgbClr val="F5C518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257800"/>
            <a:ext cx="457200" cy="45720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508760" y="4937760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共同目标：</a:t>
            </a:r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沉淀美团榜单用户心智 · 建设榜单 IP · 引导回流榜单落地页，从用户心智、商户牵引力、平台价值三个维度衡量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92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9264"/>
            <a:ext cx="12188952" cy="27432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56032"/>
            <a:ext cx="82296" cy="47548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19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 · 榜单规则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457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榜单指标体系：输入与输出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B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565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榜单数据资产汇报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3112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C5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99832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输出指标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定义与协同方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活动页榜单模块曝光 UV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平台产运/用增 · 用户核心路径曝光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榜单落地页 UV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所有路径回流（大搜、猜喜、团购、市场等）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榜单渗透率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榜单共建（产运、用增、市场）· 拉通必吃榜/主题榜建设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2900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9983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输入指标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定义与协同方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评价资产覆盖率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点评产运 · 拉通评价规模/覆盖/策略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核心资产规模 / 覆盖率 / 准确率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到餐产运（C/B 端、算法、数据产品、用研）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榜单规则策略合理性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从城市、品类、商户覆盖衡量规则策略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数据工具支持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榜单数据监测、看板、商户诊断工具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核心商户覆盖率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销运/销售/销支 · 推动销售商户侧资产优化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输出指标衡量心智流量，输入指标衡量资产与规则建设，双向闭环驱动榜单增长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92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9264"/>
            <a:ext cx="12188952" cy="27432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56032"/>
            <a:ext cx="82296" cy="47548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19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07 · 用户心智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457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榜单渗透率低及优化方向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B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565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榜单数据资产汇报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3112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C5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325880"/>
            <a:ext cx="35661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325880"/>
            <a:ext cx="64008" cy="14630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4173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1.7%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31520" y="2174443"/>
            <a:ext cx="3200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美团榜单渗透率（66w / 3950w）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97680" y="1325880"/>
            <a:ext cx="73152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0" y="1325880"/>
            <a:ext cx="64008" cy="14630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榜单流量来源 TOP 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26280" y="192024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F0F4FE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1920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大搜搜索结果页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12280" y="192024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F0F4FE"/>
          </a:solidFill>
          <a:ln/>
        </p:spPr>
      </p:sp>
      <p:sp>
        <p:nvSpPr>
          <p:cNvPr id="20" name="Text 18"/>
          <p:cNvSpPr/>
          <p:nvPr/>
        </p:nvSpPr>
        <p:spPr>
          <a:xfrm>
            <a:off x="6812280" y="1920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商家详情页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098280" y="192024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F0F4FE"/>
          </a:solidFill>
          <a:ln/>
        </p:spPr>
      </p:sp>
      <p:sp>
        <p:nvSpPr>
          <p:cNvPr id="22" name="Text 20"/>
          <p:cNvSpPr/>
          <p:nvPr/>
        </p:nvSpPr>
        <p:spPr>
          <a:xfrm>
            <a:off x="9098280" y="1920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美食首页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现状核心路径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3456432"/>
            <a:ext cx="1554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45643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美团首页猜喜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03120" y="3456432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C5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487168" y="3456432"/>
            <a:ext cx="1554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87168" y="345643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大搜结果列表页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041648" y="3456432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C5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425696" y="3456432"/>
            <a:ext cx="1554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25696" y="345643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商家详情页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80176" y="3456432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C5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364224" y="3456432"/>
            <a:ext cx="1554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64224" y="345643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美食首页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918704" y="3456432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C5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302752" y="3456432"/>
            <a:ext cx="1554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02752" y="345643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榜单聚合页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4343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优化用户主要动线（计划）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48640" y="4754880"/>
            <a:ext cx="26517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48640" y="4754880"/>
            <a:ext cx="64008" cy="11430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" y="4864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大搜 SUG 页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731520" y="52120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增加榜单入口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10712" y="4754880"/>
            <a:ext cx="26517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410712" y="4754880"/>
            <a:ext cx="64008" cy="11430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5" name="Text 43"/>
          <p:cNvSpPr/>
          <p:nvPr/>
        </p:nvSpPr>
        <p:spPr>
          <a:xfrm>
            <a:off x="3593592" y="4864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搜索结果页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3593592" y="52120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增加榜单模块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272784" y="4754880"/>
            <a:ext cx="26517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272784" y="4754880"/>
            <a:ext cx="64008" cy="11430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9" name="Text 47"/>
          <p:cNvSpPr/>
          <p:nvPr/>
        </p:nvSpPr>
        <p:spPr>
          <a:xfrm>
            <a:off x="6455664" y="4864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美团首页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455664" y="52120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增加榜单金刚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9134856" y="4754880"/>
            <a:ext cx="26517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9134856" y="4754880"/>
            <a:ext cx="64008" cy="11430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53" name="Text 51"/>
          <p:cNvSpPr/>
          <p:nvPr/>
        </p:nvSpPr>
        <p:spPr>
          <a:xfrm>
            <a:off x="9317736" y="4864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节日 / 节点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9317736" y="52120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结合热点场景榜透出测试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48640" y="6080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在资产建设完善 + 榜单矩阵初具规模时，占据用户主要动线，承接美食消费决策主要需求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92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9264"/>
            <a:ext cx="12188952" cy="27432"/>
          </a:xfrm>
          <a:prstGeom prst="rect">
            <a:avLst/>
          </a:prstGeom>
          <a:solidFill>
            <a:srgbClr val="DDE4F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56032"/>
            <a:ext cx="82296" cy="47548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19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07 · 用户心智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457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强化榜单运营：提升品牌力及认知度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1B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565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榜单数据资产汇报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3112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C5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325880"/>
            <a:ext cx="11091672" cy="914400"/>
          </a:xfrm>
          <a:prstGeom prst="rect">
            <a:avLst/>
          </a:prstGeom>
          <a:solidFill>
            <a:srgbClr val="141B3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3258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C5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「两榜一会双节」 ＝ 影响力渗透（B 端 × C 端）　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营销活动以供给为主，加强 C 端牵引 · IP 联名造势（如“封神同款套餐”）为榜单权威背书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2468880"/>
            <a:ext cx="35661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468880"/>
            <a:ext cx="64008" cy="178308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4" name="Shape 12"/>
          <p:cNvSpPr/>
          <p:nvPr/>
        </p:nvSpPr>
        <p:spPr>
          <a:xfrm>
            <a:off x="749808" y="260604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5C518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26060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发榜前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9808" y="3063240"/>
            <a:ext cx="3163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邀约明星 / 奖项划分 / 商家邀约</a:t>
            </a:r>
            <a:endParaRPr lang="en-US" sz="95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线上预热：微博、小红书、快手话题发布，KOL 探店矩阵宣传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43400" y="2468880"/>
            <a:ext cx="35661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43400" y="2468880"/>
            <a:ext cx="64008" cy="178308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9" name="Shape 17"/>
          <p:cNvSpPr/>
          <p:nvPr/>
        </p:nvSpPr>
        <p:spPr>
          <a:xfrm>
            <a:off x="4544568" y="260604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5C518"/>
          </a:solidFill>
          <a:ln/>
        </p:spPr>
      </p:sp>
      <p:sp>
        <p:nvSpPr>
          <p:cNvPr id="20" name="Text 18"/>
          <p:cNvSpPr/>
          <p:nvPr/>
        </p:nvSpPr>
        <p:spPr>
          <a:xfrm>
            <a:off x="4544568" y="26060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发榜中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44568" y="3063240"/>
            <a:ext cx="3163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线上流量矩阵 + 粉丝效能，直播盛典颁奖</a:t>
            </a:r>
            <a:endParaRPr lang="en-US" sz="95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抽奖造势 · 粉丝互动 · 全渠道内容同步引爆流量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138160" y="2468880"/>
            <a:ext cx="35661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1E2761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38160" y="2468880"/>
            <a:ext cx="64008" cy="178308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4" name="Shape 22"/>
          <p:cNvSpPr/>
          <p:nvPr/>
        </p:nvSpPr>
        <p:spPr>
          <a:xfrm>
            <a:off x="8339328" y="260604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5C518"/>
          </a:solidFill>
          <a:ln/>
        </p:spPr>
      </p:sp>
      <p:sp>
        <p:nvSpPr>
          <p:cNvPr id="25" name="Text 23"/>
          <p:cNvSpPr/>
          <p:nvPr/>
        </p:nvSpPr>
        <p:spPr>
          <a:xfrm>
            <a:off x="8339328" y="26060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发榜后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39328" y="3063240"/>
            <a:ext cx="3163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线下物料铺设 · 抽奖促活</a:t>
            </a:r>
            <a:endParaRPr lang="en-US" sz="95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1F2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发布影响力数据，话题长尾运营、品牌二次传播</a:t>
            </a:r>
            <a:endParaRPr lang="en-US" sz="9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1109167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200400"/>
                <a:gridCol w="3566160"/>
                <a:gridCol w="313639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发榜前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发榜中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发榜后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D+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招商预热、短视频挑战赛、粉丝打榜解锁明星物料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行业媒体+KOL 传播、明星商家同台、线上直播盛典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流量长效激励、用户打卡、精选商家 showcase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B+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王鹤棣短片宣传、权威媒体预热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线上刷屏线下硬广、烟火好店支持计划、全域流量扶持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写评价抽手机拉新促活、国庆热点榜单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微博之夜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出席名单预热、品牌宣传片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红毯直播、趣味颁奖、用户实时互动玩法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4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话题长尾运营、二次传播、影响力数据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645920"/>
            <a:ext cx="4572000" cy="4572000"/>
          </a:xfrm>
          <a:prstGeom prst="ellipse">
            <a:avLst/>
          </a:prstGeom>
          <a:solidFill>
            <a:srgbClr val="1E2761">
              <a:alpha val="5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0058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美团榜单定位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2011680" cy="4114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21031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美团+点评双平台长期及先发优势积累的交易、评价、服务履约及门店信息等核心资产构建公信力，覆盖、排筛用心经营的核心供给，牵引其成长，助力其增长及沉淀核心资产——不断巩固加强用户用餐重决策心智，长期成为用户用餐决策首选。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差异定位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37490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 D+、B+：核心资产的规模及丰富度，以及对核心供给的选择、牵引、服务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相对点评：核心资产的维度、对商家的牵引及助力、满足不同核心用户的需求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4617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5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需要解决的四个核心问题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5074920"/>
            <a:ext cx="525780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5074920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提升核心城市 / 品类 / 场景 / LBS 覆盖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126480" y="5074920"/>
            <a:ext cx="525780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6309360" y="5074920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优化规则、完善矩阵，多维应用资产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5760720"/>
            <a:ext cx="525780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5760720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 强化榜单服务能力，权益导向核心供给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126480" y="5760720"/>
            <a:ext cx="525780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5"/>
          <p:cNvSpPr/>
          <p:nvPr/>
        </p:nvSpPr>
        <p:spPr>
          <a:xfrm>
            <a:off x="6309360" y="5760720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 加强榜单运营，提升品牌力认知度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5C51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榜单数据资产汇报</dc:title>
  <dc:subject>PptxGenJS Presentation</dc:subject>
  <dc:creator>PptxGenJS</dc:creator>
  <cp:lastModifiedBy>PptxGenJS</cp:lastModifiedBy>
  <cp:revision>1</cp:revision>
  <dcterms:created xsi:type="dcterms:W3CDTF">2026-10-22T16:50:24Z</dcterms:created>
  <dcterms:modified xsi:type="dcterms:W3CDTF">2026-10-22T16:50:24Z</dcterms:modified>
</cp:coreProperties>
</file>